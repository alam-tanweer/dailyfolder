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72" r:id="rId1"/>
  </p:sldMasterIdLst>
  <p:notesMasterIdLst>
    <p:notesMasterId r:id="rId14"/>
  </p:notesMasterIdLst>
  <p:sldIdLst>
    <p:sldId id="278" r:id="rId2"/>
    <p:sldId id="276" r:id="rId3"/>
    <p:sldId id="286" r:id="rId4"/>
    <p:sldId id="281" r:id="rId5"/>
    <p:sldId id="287" r:id="rId6"/>
    <p:sldId id="285" r:id="rId7"/>
    <p:sldId id="284" r:id="rId8"/>
    <p:sldId id="277" r:id="rId9"/>
    <p:sldId id="280" r:id="rId10"/>
    <p:sldId id="279" r:id="rId11"/>
    <p:sldId id="283" r:id="rId12"/>
    <p:sldId id="282" r:id="rId13"/>
  </p:sldIdLst>
  <p:sldSz cx="9144000" cy="5143500" type="screen16x9"/>
  <p:notesSz cx="7010400" cy="9296400"/>
  <p:embeddedFontLst>
    <p:embeddedFont>
      <p:font typeface="Merriweather" panose="00000500000000000000" pitchFamily="2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Phil Ganem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E86BE5-DEAD-47DA-858E-511CBEF46327}">
  <a:tblStyle styleId="{A3E86BE5-DEAD-47DA-858E-511CBEF463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46" autoAdjust="0"/>
    <p:restoredTop sz="94660"/>
  </p:normalViewPr>
  <p:slideViewPr>
    <p:cSldViewPr snapToGrid="0">
      <p:cViewPr varScale="1">
        <p:scale>
          <a:sx n="141" d="100"/>
          <a:sy n="141" d="100"/>
        </p:scale>
        <p:origin x="1182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9188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62" tIns="93162" rIns="93162" bIns="93162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73906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5E82D901-7A14-0382-4365-722182C68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B8D16220-AF50-7601-71A9-4952749D32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AEA302D2-52D7-97D7-BF6C-781234E92D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35249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81348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AF38A373-9ECB-533B-3DE6-D15673FB0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E31AA3A3-F4DD-22BC-FF74-3E11975D4E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E134EAC7-0101-665A-63A7-A233E5D345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89430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39711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32048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02016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100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36593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39379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2097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body" idx="2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 hasCustomPrompt="1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>
            <a:spLocks noGrp="1"/>
          </p:cNvSpPr>
          <p:nvPr>
            <p:ph type="body" idx="1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radig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29845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4621" y="235914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0" y="185625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Quiz – Midterm Exam 2</a:t>
            </a:r>
          </a:p>
          <a:p>
            <a:pPr marL="146050" indent="0" algn="ctr">
              <a:buNone/>
            </a:pPr>
            <a:r>
              <a:rPr lang="en-US" sz="3200" b="1" dirty="0">
                <a:solidFill>
                  <a:schemeClr val="tx1"/>
                </a:solidFill>
              </a:rPr>
              <a:t>Password -</a:t>
            </a:r>
            <a:r>
              <a:rPr lang="en-US" sz="3200" b="1">
                <a:solidFill>
                  <a:schemeClr val="tx1"/>
                </a:solidFill>
              </a:rPr>
              <a:t>CompareIterators</a:t>
            </a:r>
            <a:endParaRPr sz="3200" b="1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-5842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Midterm Exam 2 - Written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A19346-2F9F-0DB9-0B08-CF872EB1D563}"/>
              </a:ext>
            </a:extLst>
          </p:cNvPr>
          <p:cNvSpPr txBox="1"/>
          <p:nvPr/>
        </p:nvSpPr>
        <p:spPr>
          <a:xfrm>
            <a:off x="0" y="3313985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Practicum</a:t>
            </a:r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11D0E6FB-E344-369B-CE83-B3CF5834F823}"/>
              </a:ext>
            </a:extLst>
          </p:cNvPr>
          <p:cNvSpPr txBox="1">
            <a:spLocks/>
          </p:cNvSpPr>
          <p:nvPr/>
        </p:nvSpPr>
        <p:spPr>
          <a:xfrm>
            <a:off x="122842" y="3621762"/>
            <a:ext cx="8478300" cy="143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342900" indent="-342900">
              <a:spcAft>
                <a:spcPts val="1600"/>
              </a:spcAft>
            </a:pPr>
            <a:r>
              <a:rPr lang="en-US" sz="1600" dirty="0"/>
              <a:t>Accept assignment Mid Exam 2 under Instructor -&gt; Alam -&gt; Exam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dirty="0">
                <a:solidFill>
                  <a:schemeClr val="tx1"/>
                </a:solidFill>
              </a:rPr>
              <a:t>Clone the repository for </a:t>
            </a:r>
            <a:r>
              <a:rPr lang="en-US" sz="1600" dirty="0"/>
              <a:t>Mid Exam 2 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30559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273819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-5842" y="172114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</a:t>
            </a:r>
            <a:r>
              <a:rPr lang="pl-PL" sz="2400" dirty="0"/>
              <a:t>Quiz </a:t>
            </a:r>
            <a:r>
              <a:rPr lang="en-US" sz="2400" dirty="0"/>
              <a:t>7</a:t>
            </a:r>
            <a:r>
              <a:rPr lang="pl-PL" sz="2400" dirty="0"/>
              <a:t>.</a:t>
            </a:r>
            <a:r>
              <a:rPr lang="en-US" sz="2400" dirty="0"/>
              <a:t>1</a:t>
            </a:r>
            <a:r>
              <a:rPr lang="pl-PL" sz="2400" dirty="0"/>
              <a:t>: </a:t>
            </a:r>
            <a:r>
              <a:rPr lang="en-US" sz="2400" dirty="0"/>
              <a:t>Sets, Maps, and Hashing</a:t>
            </a:r>
          </a:p>
          <a:p>
            <a:pPr marL="146050" indent="0" algn="ctr">
              <a:buNone/>
            </a:pPr>
            <a:r>
              <a:rPr lang="en-US" sz="2400" dirty="0"/>
              <a:t>Password - </a:t>
            </a:r>
            <a:r>
              <a:rPr lang="en-US" sz="2400" dirty="0" err="1"/>
              <a:t>NoMoreDictionaries</a:t>
            </a:r>
            <a:endParaRPr sz="2400"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C19922-6A1B-1404-5104-DC43E4C67861}"/>
              </a:ext>
            </a:extLst>
          </p:cNvPr>
          <p:cNvSpPr txBox="1"/>
          <p:nvPr/>
        </p:nvSpPr>
        <p:spPr>
          <a:xfrm>
            <a:off x="-5842" y="3031063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E455EA58-F56D-AF58-E97D-95A77E0AB6CF}"/>
              </a:ext>
            </a:extLst>
          </p:cNvPr>
          <p:cNvSpPr txBox="1">
            <a:spLocks/>
          </p:cNvSpPr>
          <p:nvPr/>
        </p:nvSpPr>
        <p:spPr>
          <a:xfrm>
            <a:off x="-5842" y="3422352"/>
            <a:ext cx="9149842" cy="1721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2400" dirty="0"/>
              <a:t>Clone/Pull Unit6 – git hub classroom repo for class activities</a:t>
            </a:r>
          </a:p>
          <a:p>
            <a:pPr marL="342900" indent="-342900">
              <a:spcAft>
                <a:spcPts val="1600"/>
              </a:spcAft>
            </a:pPr>
            <a:r>
              <a:rPr lang="en-US" sz="2400" dirty="0"/>
              <a:t>Last week Class activity is uploaded in my courses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9512066-5980-8A8B-BE30-C4FB3AC7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CDF56279-13BE-3C44-BBEF-E7DC5D1E88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5A9661D1-8430-BF80-279A-41B28CA042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5" y="1758316"/>
            <a:ext cx="4000496" cy="137840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Quiz 6.2: Comparable and Comparator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– </a:t>
            </a:r>
            <a:r>
              <a:rPr lang="en-US" sz="1600" dirty="0" err="1">
                <a:solidFill>
                  <a:schemeClr val="tx1"/>
                </a:solidFill>
              </a:rPr>
              <a:t>comparisonsGalore</a:t>
            </a:r>
            <a:endParaRPr sz="16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8A14E227-935A-FBD8-6BD5-CBCE8D13EE8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960589-7B12-D7F7-6452-D45441D8CA95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D526CA-3FDB-A5C2-36D9-69A3252D5E9A}"/>
              </a:ext>
            </a:extLst>
          </p:cNvPr>
          <p:cNvSpPr txBox="1"/>
          <p:nvPr/>
        </p:nvSpPr>
        <p:spPr>
          <a:xfrm>
            <a:off x="0" y="3254487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DC50CCB1-5AFE-1F52-8B22-87EB927965B4}"/>
              </a:ext>
            </a:extLst>
          </p:cNvPr>
          <p:cNvSpPr txBox="1">
            <a:spLocks/>
          </p:cNvSpPr>
          <p:nvPr/>
        </p:nvSpPr>
        <p:spPr>
          <a:xfrm>
            <a:off x="-5842" y="3562264"/>
            <a:ext cx="9149842" cy="1494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14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Accept GitHub Classroom Assignment for Unit 07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Clone/pull GitHub classroom repo for Unit 07 under </a:t>
            </a:r>
            <a:r>
              <a:rPr lang="en-US" sz="1200" dirty="0" err="1"/>
              <a:t>softdevII</a:t>
            </a:r>
            <a:r>
              <a:rPr lang="en-US" sz="1200" dirty="0"/>
              <a:t> folder. Download Starter code from </a:t>
            </a:r>
            <a:r>
              <a:rPr lang="en-US" sz="1200" dirty="0" err="1"/>
              <a:t>myCourses</a:t>
            </a:r>
            <a:r>
              <a:rPr lang="en-US" sz="1200" dirty="0"/>
              <a:t> under Alam-&gt;Class Activities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7B85466C-6200-EE66-9396-7DECA70CDF53}"/>
              </a:ext>
            </a:extLst>
          </p:cNvPr>
          <p:cNvSpPr txBox="1">
            <a:spLocks/>
          </p:cNvSpPr>
          <p:nvPr/>
        </p:nvSpPr>
        <p:spPr>
          <a:xfrm>
            <a:off x="4303618" y="1737005"/>
            <a:ext cx="4516998" cy="13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Quiz 6.3 Heap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- </a:t>
            </a:r>
            <a:r>
              <a:rPr lang="en-US" sz="1600" dirty="0" err="1">
                <a:solidFill>
                  <a:schemeClr val="tx1"/>
                </a:solidFill>
              </a:rPr>
              <a:t>heapingHelping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4272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9648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Commands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C13871-BA68-90A2-E0DD-5DAACCB7EB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5858" y="2871299"/>
            <a:ext cx="3999900" cy="1275285"/>
          </a:xfrm>
        </p:spPr>
        <p:txBody>
          <a:bodyPr/>
          <a:lstStyle/>
          <a:p>
            <a:pPr marL="146050" indent="0">
              <a:buNone/>
            </a:pPr>
            <a:r>
              <a:rPr lang="en-US" b="1" dirty="0" err="1"/>
              <a:t>PyTest</a:t>
            </a:r>
            <a:r>
              <a:rPr lang="en-US" b="1" dirty="0"/>
              <a:t> Installation</a:t>
            </a: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python -m 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22DB3C6-5E7A-434B-841D-514A2E6AB40F}"/>
              </a:ext>
            </a:extLst>
          </p:cNvPr>
          <p:cNvSpPr txBox="1">
            <a:spLocks/>
          </p:cNvSpPr>
          <p:nvPr/>
        </p:nvSpPr>
        <p:spPr>
          <a:xfrm>
            <a:off x="221333" y="1476922"/>
            <a:ext cx="6359438" cy="1275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Font typeface="Roboto"/>
              <a:buNone/>
            </a:pPr>
            <a:r>
              <a:rPr lang="en-US" b="1" dirty="0"/>
              <a:t>Git Configuration</a:t>
            </a:r>
          </a:p>
          <a:p>
            <a:pPr marL="127000" indent="0">
              <a:spcBef>
                <a:spcPts val="1000"/>
              </a:spcBef>
              <a:buFont typeface="Roboto"/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user.name “NAME”</a:t>
            </a:r>
          </a:p>
          <a:p>
            <a:pPr marL="146050" indent="0"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user.email</a:t>
            </a: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 “EMAIL Address”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42944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AC6523E-CC83-B7B9-B47C-949A9C720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72CBC233-9E04-A188-2584-2CE1B0FE8F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E665F298-5025-E429-9EE6-CD009824AD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4" y="1758316"/>
            <a:ext cx="4271627" cy="111319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2000" dirty="0"/>
              <a:t>Take Quiz 12.3: Choose data structure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– </a:t>
            </a:r>
            <a:r>
              <a:rPr lang="en-US" sz="2000" dirty="0" err="1">
                <a:solidFill>
                  <a:schemeClr val="tx1"/>
                </a:solidFill>
              </a:rPr>
              <a:t>StackEmUp</a:t>
            </a:r>
            <a:endParaRPr sz="20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06900A1A-D8D4-052D-4D61-A00A33A0490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7E7EBF-24E3-825A-A968-FA4B0D04DF1F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3F795-9329-8722-EA48-35E2E42958B6}"/>
              </a:ext>
            </a:extLst>
          </p:cNvPr>
          <p:cNvSpPr txBox="1"/>
          <p:nvPr/>
        </p:nvSpPr>
        <p:spPr>
          <a:xfrm>
            <a:off x="-5842" y="316884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0AF88843-F54E-EF33-F5A4-A1A3C1D40E0E}"/>
              </a:ext>
            </a:extLst>
          </p:cNvPr>
          <p:cNvSpPr txBox="1">
            <a:spLocks/>
          </p:cNvSpPr>
          <p:nvPr/>
        </p:nvSpPr>
        <p:spPr>
          <a:xfrm>
            <a:off x="-5842" y="3527388"/>
            <a:ext cx="9149842" cy="152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0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Accept GitHub Classroom Assignment for Unit 12, if not done already.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Clone/pull GitHub classroom repo for Unit 12 under softdev1 folder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10D23636-E122-E0ED-219C-67DCAA8D64BE}"/>
              </a:ext>
            </a:extLst>
          </p:cNvPr>
          <p:cNvSpPr txBox="1">
            <a:spLocks/>
          </p:cNvSpPr>
          <p:nvPr/>
        </p:nvSpPr>
        <p:spPr>
          <a:xfrm>
            <a:off x="4303618" y="1844958"/>
            <a:ext cx="4516998" cy="893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n-US" sz="2000" dirty="0"/>
              <a:t>Quiz 12.2 Queues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- </a:t>
            </a:r>
            <a:r>
              <a:rPr lang="en-US" sz="2000" dirty="0" err="1">
                <a:solidFill>
                  <a:schemeClr val="tx1"/>
                </a:solidFill>
              </a:rPr>
              <a:t>queue_not_cue</a:t>
            </a:r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5810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0587100"/>
              </p:ext>
            </p:extLst>
          </p:nvPr>
        </p:nvGraphicFramePr>
        <p:xfrm>
          <a:off x="0" y="1273458"/>
          <a:ext cx="9144000" cy="3870960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29183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3850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12.2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Queues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 err="1">
                          <a:highlight>
                            <a:srgbClr val="FFFF00"/>
                          </a:highlight>
                        </a:rPr>
                        <a:t>nodesAreGood</a:t>
                      </a:r>
                      <a:endParaRPr lang="en-US" sz="140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/>
                        <a:t>Quiz 11.3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More Stack &amp; Queues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b="0" i="0" u="none" strike="noStrike" cap="none" dirty="0" err="1">
                          <a:solidFill>
                            <a:srgbClr val="000000"/>
                          </a:solidFill>
                          <a:highlight>
                            <a:srgbClr val="FFFF00"/>
                          </a:highlight>
                          <a:latin typeface="Arial"/>
                          <a:cs typeface="Arial"/>
                          <a:sym typeface="Arial"/>
                        </a:rPr>
                        <a:t>whamBamQuizMan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highlight>
                          <a:srgbClr val="FFFF00"/>
                        </a:highlight>
                        <a:latin typeface="Arial"/>
                        <a:cs typeface="Arial"/>
                        <a:sym typeface="Arial"/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b="1" dirty="0"/>
                        <a:t>If you have not taken survey for this class (Section 13), Take survey at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3600" b="1" dirty="0">
                          <a:solidFill>
                            <a:srgbClr val="FF0000"/>
                          </a:solidFill>
                        </a:rPr>
                        <a:t>https://rit.smartevals.com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============================================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Clone Git Repository for assignment “Assignment-Unit13”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Steps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Click on Assignment Link and copy the git repo URL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Execute following command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~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softdev1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git clone &lt;Replace with Assignment URL&gt;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>
                          <a:sym typeface="Wingdings" panose="05000000000000000000" pitchFamily="2" charset="2"/>
                        </a:rPr>
                        <a:t> Open the cloned repository folder in VS Code Editor</a:t>
                      </a:r>
                      <a:endParaRPr lang="en-US" sz="1600" dirty="0"/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13384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249193"/>
              </p:ext>
            </p:extLst>
          </p:nvPr>
        </p:nvGraphicFramePr>
        <p:xfrm>
          <a:off x="0" y="1273458"/>
          <a:ext cx="9144000" cy="3870041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37941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90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</a:t>
                      </a:r>
                      <a:r>
                        <a:rPr lang="en-US" sz="1400"/>
                        <a:t>12.1</a:t>
                      </a: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Stacks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dirty="0" err="1">
                          <a:highlight>
                            <a:srgbClr val="FFFF00"/>
                          </a:highlight>
                        </a:rPr>
                        <a:t>nodeNodeNode</a:t>
                      </a:r>
                      <a:endParaRPr lang="en-US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endParaRPr lang="en-US" sz="1600" dirty="0"/>
                    </a:p>
                    <a:p>
                      <a:pPr marL="342900" indent="-342900">
                        <a:spcAft>
                          <a:spcPts val="1600"/>
                        </a:spcAft>
                      </a:pPr>
                      <a:r>
                        <a:rPr lang="en-US" sz="1600" dirty="0"/>
                        <a:t>Git Pull Assignment-Unit-12 for class activities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0924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269400" y="1731134"/>
            <a:ext cx="8478300" cy="157650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13.1 –</a:t>
            </a:r>
            <a:r>
              <a:rPr lang="en-US" sz="1600" dirty="0">
                <a:highlight>
                  <a:srgbClr val="FFFF00"/>
                </a:highlight>
              </a:rPr>
              <a:t>10QuestionQuiz</a:t>
            </a:r>
          </a:p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13.2 – Review Part 2- </a:t>
            </a:r>
            <a:r>
              <a:rPr lang="en-US" sz="1600" dirty="0">
                <a:highlight>
                  <a:srgbClr val="FFFF00"/>
                </a:highlight>
              </a:rPr>
              <a:t>10MoreQuestions</a:t>
            </a: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540133-E9A5-2E60-80A1-2A18FE75CEE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77F35E-D936-5B9A-52BF-1CFF096913DC}"/>
              </a:ext>
            </a:extLst>
          </p:cNvPr>
          <p:cNvSpPr txBox="1"/>
          <p:nvPr/>
        </p:nvSpPr>
        <p:spPr>
          <a:xfrm>
            <a:off x="0" y="3359671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F1433D15-B1D6-F76F-A0A6-57FA2842E1B7}"/>
              </a:ext>
            </a:extLst>
          </p:cNvPr>
          <p:cNvSpPr txBox="1">
            <a:spLocks/>
          </p:cNvSpPr>
          <p:nvPr/>
        </p:nvSpPr>
        <p:spPr>
          <a:xfrm>
            <a:off x="122842" y="3719477"/>
            <a:ext cx="8478300" cy="133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Font typeface="Roboto"/>
              <a:buNone/>
            </a:pPr>
            <a:r>
              <a:rPr lang="en-US" sz="1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600" dirty="0"/>
              <a:t>Clone or Pull Assignment-Unit13 for class activities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b="1" dirty="0">
                <a:solidFill>
                  <a:schemeClr val="tx1"/>
                </a:solidFill>
              </a:rPr>
              <a:t>Fill Out the </a:t>
            </a:r>
            <a:r>
              <a:rPr lang="en-US" sz="1600" b="1" dirty="0">
                <a:solidFill>
                  <a:schemeClr val="tx1"/>
                </a:solidFill>
                <a:highlight>
                  <a:srgbClr val="FFFF00"/>
                </a:highlight>
              </a:rPr>
              <a:t>CLASS EVALUATION </a:t>
            </a:r>
            <a:r>
              <a:rPr lang="en-US" sz="1600" b="1" dirty="0">
                <a:solidFill>
                  <a:schemeClr val="tx1"/>
                </a:solidFill>
              </a:rPr>
              <a:t>if you have not done yet.</a:t>
            </a:r>
          </a:p>
        </p:txBody>
      </p:sp>
    </p:spTree>
    <p:extLst>
      <p:ext uri="{BB962C8B-B14F-4D97-AF65-F5344CB8AC3E}">
        <p14:creationId xmlns:p14="http://schemas.microsoft.com/office/powerpoint/2010/main" val="42060041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5A4964-E8A9-A46D-F4BE-E7D41C14E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9220"/>
            <a:ext cx="9144000" cy="4471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5098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D32793-7C09-E3A3-94E5-B5D46727A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551663"/>
            <a:ext cx="9144001" cy="459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3484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DE4AAC-70FE-A114-5258-F5B22EDDE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16280"/>
            <a:ext cx="9144000" cy="4427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4030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D752B9-EFAE-AFC1-7D39-6763B89DE8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2130"/>
            <a:ext cx="9144000" cy="4491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057756"/>
      </p:ext>
    </p:extLst>
  </p:cSld>
  <p:clrMapOvr>
    <a:masterClrMapping/>
  </p:clrMapOvr>
</p:sld>
</file>

<file path=ppt/theme/theme1.xml><?xml version="1.0" encoding="utf-8"?>
<a:theme xmlns:a="http://schemas.openxmlformats.org/drawingml/2006/main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575</TotalTime>
  <Words>435</Words>
  <Application>Microsoft Office PowerPoint</Application>
  <PresentationFormat>On-screen Show (16:9)</PresentationFormat>
  <Paragraphs>96</Paragraphs>
  <Slides>12</Slides>
  <Notes>12</Notes>
  <HiddenSlides>12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Courier New</vt:lpstr>
      <vt:lpstr>Merriweather</vt:lpstr>
      <vt:lpstr>Wingdings</vt:lpstr>
      <vt:lpstr>Roboto</vt:lpstr>
      <vt:lpstr>Arial</vt:lpstr>
      <vt:lpstr>Paradigm</vt:lpstr>
      <vt:lpstr>GCIS – Software Development and Problem Solving</vt:lpstr>
      <vt:lpstr>GCIS – Software Development and Problem Solving</vt:lpstr>
      <vt:lpstr>GCIS – Software Development and Problem Solving</vt:lpstr>
      <vt:lpstr>Git Commands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Use Assigned Seat</vt:lpstr>
      <vt:lpstr>Use Assigned Seat</vt:lpstr>
      <vt:lpstr>Use Assigned Seat</vt:lpstr>
      <vt:lpstr>Use Assigned Seat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GCIS-123 Software Development &amp; Problem Solving</dc:title>
  <cp:lastModifiedBy>Tanweer</cp:lastModifiedBy>
  <cp:revision>149</cp:revision>
  <cp:lastPrinted>2023-10-24T20:13:22Z</cp:lastPrinted>
  <dcterms:modified xsi:type="dcterms:W3CDTF">2026-03-03T23:00:24Z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d54f1a3-9ed5-415d-ba95-38401c4b8817_Enabled">
    <vt:lpwstr>true</vt:lpwstr>
  </property>
  <property fmtid="{D5CDD505-2E9C-101B-9397-08002B2CF9AE}" pid="3" name="MSIP_Label_5d54f1a3-9ed5-415d-ba95-38401c4b8817_SetDate">
    <vt:lpwstr>2023-08-21T19:59:00Z</vt:lpwstr>
  </property>
  <property fmtid="{D5CDD505-2E9C-101B-9397-08002B2CF9AE}" pid="4" name="MSIP_Label_5d54f1a3-9ed5-415d-ba95-38401c4b8817_Method">
    <vt:lpwstr>Standard</vt:lpwstr>
  </property>
  <property fmtid="{D5CDD505-2E9C-101B-9397-08002B2CF9AE}" pid="5" name="MSIP_Label_5d54f1a3-9ed5-415d-ba95-38401c4b8817_Name">
    <vt:lpwstr>Peraton Proprietary</vt:lpwstr>
  </property>
  <property fmtid="{D5CDD505-2E9C-101B-9397-08002B2CF9AE}" pid="6" name="MSIP_Label_5d54f1a3-9ed5-415d-ba95-38401c4b8817_SiteId">
    <vt:lpwstr>2a6ae295-f13d-4948-ba78-332742ce9097</vt:lpwstr>
  </property>
  <property fmtid="{D5CDD505-2E9C-101B-9397-08002B2CF9AE}" pid="7" name="MSIP_Label_5d54f1a3-9ed5-415d-ba95-38401c4b8817_ActionId">
    <vt:lpwstr>744b29f9-739a-4469-91a6-785f9d8fb005</vt:lpwstr>
  </property>
  <property fmtid="{D5CDD505-2E9C-101B-9397-08002B2CF9AE}" pid="8" name="MSIP_Label_5d54f1a3-9ed5-415d-ba95-38401c4b8817_ContentBits">
    <vt:lpwstr>1</vt:lpwstr>
  </property>
</Properties>
</file>