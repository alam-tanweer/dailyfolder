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76" r:id="rId2"/>
    <p:sldId id="286" r:id="rId3"/>
    <p:sldId id="278" r:id="rId4"/>
    <p:sldId id="281" r:id="rId5"/>
    <p:sldId id="287" r:id="rId6"/>
    <p:sldId id="285" r:id="rId7"/>
    <p:sldId id="284" r:id="rId8"/>
    <p:sldId id="277" r:id="rId9"/>
    <p:sldId id="280" r:id="rId10"/>
    <p:sldId id="279" r:id="rId11"/>
    <p:sldId id="283" r:id="rId12"/>
    <p:sldId id="282" r:id="rId13"/>
  </p:sldIdLst>
  <p:sldSz cx="9144000" cy="5143500" type="screen16x9"/>
  <p:notesSz cx="7010400" cy="9296400"/>
  <p:embeddedFontLst>
    <p:embeddedFont>
      <p:font typeface="Merriweather" panose="000005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hil Ganem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E86BE5-DEAD-47DA-858E-511CBEF46327}">
  <a:tblStyle styleId="{A3E86BE5-DEAD-47DA-858E-511CBEF463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44" y="8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5E82D901-7A14-0382-4365-722182C6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>
            <a:extLst>
              <a:ext uri="{FF2B5EF4-FFF2-40B4-BE49-F238E27FC236}">
                <a16:creationId xmlns:a16="http://schemas.microsoft.com/office/drawing/2014/main" id="{B8D16220-AF50-7601-71A9-4952749D3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>
            <a:extLst>
              <a:ext uri="{FF2B5EF4-FFF2-40B4-BE49-F238E27FC236}">
                <a16:creationId xmlns:a16="http://schemas.microsoft.com/office/drawing/2014/main" id="{AEA302D2-52D7-97D7-BF6C-781234E92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524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390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134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AF38A373-9ECB-533B-3DE6-D15673FB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>
            <a:extLst>
              <a:ext uri="{FF2B5EF4-FFF2-40B4-BE49-F238E27FC236}">
                <a16:creationId xmlns:a16="http://schemas.microsoft.com/office/drawing/2014/main" id="{E31AA3A3-F4DD-22BC-FF74-3E11975D4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>
            <a:extLst>
              <a:ext uri="{FF2B5EF4-FFF2-40B4-BE49-F238E27FC236}">
                <a16:creationId xmlns:a16="http://schemas.microsoft.com/office/drawing/2014/main" id="{E134EAC7-0101-665A-63A7-A233E5D34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943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971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3204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201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0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659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937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f52c9b70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8f52c9b70a_3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09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305858" y="273819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5" name="Google Shape;325;p47"/>
          <p:cNvSpPr txBox="1">
            <a:spLocks noGrp="1"/>
          </p:cNvSpPr>
          <p:nvPr>
            <p:ph type="body" idx="1"/>
          </p:nvPr>
        </p:nvSpPr>
        <p:spPr>
          <a:xfrm>
            <a:off x="-5842" y="1721147"/>
            <a:ext cx="9149842" cy="12264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46050" indent="0" algn="ctr">
              <a:buNone/>
            </a:pPr>
            <a:r>
              <a:rPr lang="en-US" sz="2400" dirty="0"/>
              <a:t>Take </a:t>
            </a:r>
            <a:r>
              <a:rPr lang="pl-PL" sz="2400" dirty="0"/>
              <a:t>Quiz </a:t>
            </a:r>
            <a:r>
              <a:rPr lang="en-US" sz="2400" dirty="0"/>
              <a:t>3</a:t>
            </a:r>
            <a:r>
              <a:rPr lang="pl-PL" sz="2400" dirty="0"/>
              <a:t>.</a:t>
            </a:r>
            <a:r>
              <a:rPr lang="en-US" sz="2400" dirty="0"/>
              <a:t>1</a:t>
            </a:r>
            <a:r>
              <a:rPr lang="pl-PL" sz="2400" dirty="0"/>
              <a:t>: </a:t>
            </a:r>
            <a:r>
              <a:rPr lang="en-US" sz="2400" dirty="0"/>
              <a:t>Inner Class &amp; </a:t>
            </a:r>
            <a:r>
              <a:rPr lang="en-US" sz="2400" dirty="0" err="1"/>
              <a:t>Annonymous</a:t>
            </a:r>
            <a:r>
              <a:rPr lang="en-US" sz="2400" dirty="0"/>
              <a:t> class</a:t>
            </a:r>
          </a:p>
          <a:p>
            <a:pPr algn="ctr"/>
            <a:r>
              <a:rPr lang="en-US" sz="2400" dirty="0"/>
              <a:t>Password - </a:t>
            </a:r>
            <a:r>
              <a:rPr lang="en-US" sz="2400" dirty="0" err="1"/>
              <a:t>inner_strength_class</a:t>
            </a:r>
            <a:endParaRPr sz="2400"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33EBB-1C9D-B9A9-88E6-F3466077417F}"/>
              </a:ext>
            </a:extLst>
          </p:cNvPr>
          <p:cNvSpPr txBox="1"/>
          <p:nvPr/>
        </p:nvSpPr>
        <p:spPr>
          <a:xfrm>
            <a:off x="0" y="1277369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19922-6A1B-1404-5104-DC43E4C67861}"/>
              </a:ext>
            </a:extLst>
          </p:cNvPr>
          <p:cNvSpPr txBox="1"/>
          <p:nvPr/>
        </p:nvSpPr>
        <p:spPr>
          <a:xfrm>
            <a:off x="-5842" y="3031063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Next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</p:txBody>
      </p:sp>
      <p:sp>
        <p:nvSpPr>
          <p:cNvPr id="4" name="Google Shape;325;p47">
            <a:extLst>
              <a:ext uri="{FF2B5EF4-FFF2-40B4-BE49-F238E27FC236}">
                <a16:creationId xmlns:a16="http://schemas.microsoft.com/office/drawing/2014/main" id="{E455EA58-F56D-AF58-E97D-95A77E0AB6CF}"/>
              </a:ext>
            </a:extLst>
          </p:cNvPr>
          <p:cNvSpPr txBox="1">
            <a:spLocks/>
          </p:cNvSpPr>
          <p:nvPr/>
        </p:nvSpPr>
        <p:spPr>
          <a:xfrm>
            <a:off x="-5842" y="3422352"/>
            <a:ext cx="9149842" cy="172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2800" dirty="0"/>
              <a:t>After completing the Quiz </a:t>
            </a:r>
          </a:p>
          <a:p>
            <a:pPr marL="342900" indent="-342900">
              <a:spcAft>
                <a:spcPts val="1600"/>
              </a:spcAft>
            </a:pPr>
            <a:r>
              <a:rPr lang="en-US" sz="2400" dirty="0"/>
              <a:t>Clone/Pull Unit4 – git hub classroom repo for class activities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>
          <a:extLst>
            <a:ext uri="{FF2B5EF4-FFF2-40B4-BE49-F238E27FC236}">
              <a16:creationId xmlns:a16="http://schemas.microsoft.com/office/drawing/2014/main" id="{19512066-5980-8A8B-BE30-C4FB3AC7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>
            <a:extLst>
              <a:ext uri="{FF2B5EF4-FFF2-40B4-BE49-F238E27FC236}">
                <a16:creationId xmlns:a16="http://schemas.microsoft.com/office/drawing/2014/main" id="{CDF56279-13BE-3C44-BBEF-E7DC5D1E88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016" y="26919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5" name="Google Shape;325;p47">
            <a:extLst>
              <a:ext uri="{FF2B5EF4-FFF2-40B4-BE49-F238E27FC236}">
                <a16:creationId xmlns:a16="http://schemas.microsoft.com/office/drawing/2014/main" id="{5A9661D1-8430-BF80-279A-41B28CA04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5" y="1758316"/>
            <a:ext cx="4000496" cy="13784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46050" indent="0">
              <a:buNone/>
            </a:pPr>
            <a:r>
              <a:rPr lang="en-US" sz="1600" dirty="0"/>
              <a:t>Take Quiz 3.2: Abstract Classes</a:t>
            </a:r>
          </a:p>
          <a:p>
            <a:pPr marL="14605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Password – </a:t>
            </a:r>
            <a:r>
              <a:rPr lang="en-US" sz="1600" dirty="0" err="1">
                <a:solidFill>
                  <a:schemeClr val="tx1"/>
                </a:solidFill>
              </a:rPr>
              <a:t>abstractPassword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326" name="Google Shape;326;p47">
            <a:extLst>
              <a:ext uri="{FF2B5EF4-FFF2-40B4-BE49-F238E27FC236}">
                <a16:creationId xmlns:a16="http://schemas.microsoft.com/office/drawing/2014/main" id="{8A14E227-935A-FBD8-6BD5-CBCE8D13EE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960589-7B12-D7F7-6452-D45441D8CA95}"/>
              </a:ext>
            </a:extLst>
          </p:cNvPr>
          <p:cNvSpPr txBox="1"/>
          <p:nvPr/>
        </p:nvSpPr>
        <p:spPr>
          <a:xfrm>
            <a:off x="-11684" y="1287037"/>
            <a:ext cx="9144000" cy="33855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26CA-3FDB-A5C2-36D9-69A3252D5E9A}"/>
              </a:ext>
            </a:extLst>
          </p:cNvPr>
          <p:cNvSpPr txBox="1"/>
          <p:nvPr/>
        </p:nvSpPr>
        <p:spPr>
          <a:xfrm>
            <a:off x="0" y="3507404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Next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</p:txBody>
      </p:sp>
      <p:sp>
        <p:nvSpPr>
          <p:cNvPr id="4" name="Google Shape;325;p47">
            <a:extLst>
              <a:ext uri="{FF2B5EF4-FFF2-40B4-BE49-F238E27FC236}">
                <a16:creationId xmlns:a16="http://schemas.microsoft.com/office/drawing/2014/main" id="{DC50CCB1-5AFE-1F52-8B22-87EB927965B4}"/>
              </a:ext>
            </a:extLst>
          </p:cNvPr>
          <p:cNvSpPr txBox="1">
            <a:spLocks/>
          </p:cNvSpPr>
          <p:nvPr/>
        </p:nvSpPr>
        <p:spPr>
          <a:xfrm>
            <a:off x="-5842" y="3848100"/>
            <a:ext cx="9149842" cy="1208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400" dirty="0"/>
              <a:t>After completing the Quiz </a:t>
            </a:r>
          </a:p>
          <a:p>
            <a:pPr marL="342900" indent="-342900">
              <a:spcAft>
                <a:spcPts val="1600"/>
              </a:spcAft>
            </a:pPr>
            <a:r>
              <a:rPr lang="en-US" sz="1200" dirty="0"/>
              <a:t>Accept GitHub Classroom Assignment for Unit 04</a:t>
            </a:r>
          </a:p>
          <a:p>
            <a:pPr marL="342900" indent="-342900">
              <a:spcAft>
                <a:spcPts val="1600"/>
              </a:spcAft>
            </a:pPr>
            <a:r>
              <a:rPr lang="en-US" sz="1200" dirty="0"/>
              <a:t>Clone/pull GitHub classroom repo for Unit 04 under </a:t>
            </a:r>
            <a:r>
              <a:rPr lang="en-US" sz="1200" dirty="0" err="1"/>
              <a:t>softdevII</a:t>
            </a:r>
            <a:r>
              <a:rPr lang="en-US" sz="1200" dirty="0"/>
              <a:t> folder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Google Shape;325;p47">
            <a:extLst>
              <a:ext uri="{FF2B5EF4-FFF2-40B4-BE49-F238E27FC236}">
                <a16:creationId xmlns:a16="http://schemas.microsoft.com/office/drawing/2014/main" id="{7B85466C-6200-EE66-9396-7DECA70CDF53}"/>
              </a:ext>
            </a:extLst>
          </p:cNvPr>
          <p:cNvSpPr txBox="1">
            <a:spLocks/>
          </p:cNvSpPr>
          <p:nvPr/>
        </p:nvSpPr>
        <p:spPr>
          <a:xfrm>
            <a:off x="4303618" y="1737005"/>
            <a:ext cx="4516998" cy="13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46050" indent="0">
              <a:buNone/>
            </a:pPr>
            <a:r>
              <a:rPr lang="en-US" sz="1600" dirty="0"/>
              <a:t>Quiz 3.3 Interfaces</a:t>
            </a:r>
          </a:p>
          <a:p>
            <a:pPr marL="14605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Password - </a:t>
            </a:r>
            <a:r>
              <a:rPr lang="en-US" sz="1600" dirty="0" err="1">
                <a:solidFill>
                  <a:schemeClr val="tx1"/>
                </a:solidFill>
              </a:rPr>
              <a:t>InterstellarFaces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7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314621" y="235914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5" name="Google Shape;325;p47"/>
          <p:cNvSpPr txBox="1">
            <a:spLocks noGrp="1"/>
          </p:cNvSpPr>
          <p:nvPr>
            <p:ph type="body" idx="1"/>
          </p:nvPr>
        </p:nvSpPr>
        <p:spPr>
          <a:xfrm>
            <a:off x="0" y="1856257"/>
            <a:ext cx="9149842" cy="12264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46050" indent="0" algn="ctr">
              <a:buNone/>
            </a:pPr>
            <a:r>
              <a:rPr lang="en-US" sz="2400" dirty="0"/>
              <a:t>Take Quiz – Final Exam</a:t>
            </a:r>
          </a:p>
          <a:p>
            <a:pPr marL="14605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Password - 2025FinalCountdown</a:t>
            </a:r>
            <a:endParaRPr sz="32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33EBB-1C9D-B9A9-88E6-F3466077417F}"/>
              </a:ext>
            </a:extLst>
          </p:cNvPr>
          <p:cNvSpPr txBox="1"/>
          <p:nvPr/>
        </p:nvSpPr>
        <p:spPr>
          <a:xfrm>
            <a:off x="-5842" y="1277369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Exam - Written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19346-2F9F-0DB9-0B08-CF872EB1D563}"/>
              </a:ext>
            </a:extLst>
          </p:cNvPr>
          <p:cNvSpPr txBox="1"/>
          <p:nvPr/>
        </p:nvSpPr>
        <p:spPr>
          <a:xfrm>
            <a:off x="0" y="3313985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Practicum</a:t>
            </a:r>
          </a:p>
        </p:txBody>
      </p:sp>
      <p:sp>
        <p:nvSpPr>
          <p:cNvPr id="4" name="Google Shape;325;p47">
            <a:extLst>
              <a:ext uri="{FF2B5EF4-FFF2-40B4-BE49-F238E27FC236}">
                <a16:creationId xmlns:a16="http://schemas.microsoft.com/office/drawing/2014/main" id="{11D0E6FB-E344-369B-CE83-B3CF5834F823}"/>
              </a:ext>
            </a:extLst>
          </p:cNvPr>
          <p:cNvSpPr txBox="1">
            <a:spLocks/>
          </p:cNvSpPr>
          <p:nvPr/>
        </p:nvSpPr>
        <p:spPr>
          <a:xfrm>
            <a:off x="122842" y="3621762"/>
            <a:ext cx="8478300" cy="143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>
              <a:spcAft>
                <a:spcPts val="1600"/>
              </a:spcAft>
            </a:pPr>
            <a:r>
              <a:rPr lang="en-US" sz="1600" dirty="0"/>
              <a:t>Accept assignment Final Exam under Instructor -&gt; Alam -&gt; Exam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600"/>
              </a:spcAft>
            </a:pPr>
            <a:r>
              <a:rPr lang="en-US" sz="1600" dirty="0">
                <a:solidFill>
                  <a:schemeClr val="tx1"/>
                </a:solidFill>
              </a:rPr>
              <a:t>Clone the repository for </a:t>
            </a:r>
            <a:r>
              <a:rPr lang="en-US" sz="1600" dirty="0"/>
              <a:t>Final Exam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5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305858" y="9648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 Commands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13871-BA68-90A2-E0DD-5DAACCB7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858" y="2871299"/>
            <a:ext cx="3999900" cy="1275285"/>
          </a:xfrm>
        </p:spPr>
        <p:txBody>
          <a:bodyPr/>
          <a:lstStyle/>
          <a:p>
            <a:pPr marL="146050" indent="0">
              <a:buNone/>
            </a:pPr>
            <a:r>
              <a:rPr lang="en-US" b="1" dirty="0" err="1"/>
              <a:t>PyTest</a:t>
            </a:r>
            <a:r>
              <a:rPr lang="en-US" b="1" dirty="0"/>
              <a:t> Installation</a:t>
            </a:r>
          </a:p>
          <a:p>
            <a:pPr marL="1270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pip install -U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pytest</a:t>
            </a: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270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python -m pip install -U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pytest</a:t>
            </a: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2DB3C6-5E7A-434B-841D-514A2E6AB40F}"/>
              </a:ext>
            </a:extLst>
          </p:cNvPr>
          <p:cNvSpPr txBox="1">
            <a:spLocks/>
          </p:cNvSpPr>
          <p:nvPr/>
        </p:nvSpPr>
        <p:spPr>
          <a:xfrm>
            <a:off x="221333" y="1476922"/>
            <a:ext cx="6359438" cy="127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46050" indent="0">
              <a:buFont typeface="Roboto"/>
              <a:buNone/>
            </a:pPr>
            <a:r>
              <a:rPr lang="en-US" b="1" dirty="0"/>
              <a:t>Git Configuration</a:t>
            </a:r>
          </a:p>
          <a:p>
            <a:pPr marL="127000" indent="0">
              <a:spcBef>
                <a:spcPts val="1000"/>
              </a:spcBef>
              <a:buFont typeface="Roboto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git config –global user.name “NAME”</a:t>
            </a:r>
          </a:p>
          <a:p>
            <a:pPr marL="146050" indent="0"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git config –global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user.email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“EMAIL Address”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4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>
          <a:extLst>
            <a:ext uri="{FF2B5EF4-FFF2-40B4-BE49-F238E27FC236}">
              <a16:creationId xmlns:a16="http://schemas.microsoft.com/office/drawing/2014/main" id="{1AC6523E-CC83-B7B9-B47C-949A9C72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>
            <a:extLst>
              <a:ext uri="{FF2B5EF4-FFF2-40B4-BE49-F238E27FC236}">
                <a16:creationId xmlns:a16="http://schemas.microsoft.com/office/drawing/2014/main" id="{72CBC233-9E04-A188-2584-2CE1B0FE8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016" y="269197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5" name="Google Shape;325;p47">
            <a:extLst>
              <a:ext uri="{FF2B5EF4-FFF2-40B4-BE49-F238E27FC236}">
                <a16:creationId xmlns:a16="http://schemas.microsoft.com/office/drawing/2014/main" id="{E665F298-5025-E429-9EE6-CD009824A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4" y="1758316"/>
            <a:ext cx="4271627" cy="11131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46050" indent="0">
              <a:buNone/>
            </a:pPr>
            <a:r>
              <a:rPr lang="en-US" sz="2000" dirty="0"/>
              <a:t>Take Quiz 12.3: Choose data structure</a:t>
            </a:r>
          </a:p>
          <a:p>
            <a:pPr marL="14605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Password – </a:t>
            </a:r>
            <a:r>
              <a:rPr lang="en-US" sz="2000" dirty="0" err="1">
                <a:solidFill>
                  <a:schemeClr val="tx1"/>
                </a:solidFill>
              </a:rPr>
              <a:t>StackEmUp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326" name="Google Shape;326;p47">
            <a:extLst>
              <a:ext uri="{FF2B5EF4-FFF2-40B4-BE49-F238E27FC236}">
                <a16:creationId xmlns:a16="http://schemas.microsoft.com/office/drawing/2014/main" id="{06900A1A-D8D4-052D-4D61-A00A33A049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7E7EBF-24E3-825A-A968-FA4B0D04DF1F}"/>
              </a:ext>
            </a:extLst>
          </p:cNvPr>
          <p:cNvSpPr txBox="1"/>
          <p:nvPr/>
        </p:nvSpPr>
        <p:spPr>
          <a:xfrm>
            <a:off x="-11684" y="1287037"/>
            <a:ext cx="9144000" cy="33855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3F795-9329-8722-EA48-35E2E42958B6}"/>
              </a:ext>
            </a:extLst>
          </p:cNvPr>
          <p:cNvSpPr txBox="1"/>
          <p:nvPr/>
        </p:nvSpPr>
        <p:spPr>
          <a:xfrm>
            <a:off x="-5842" y="3168849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Next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dirty="0"/>
          </a:p>
        </p:txBody>
      </p:sp>
      <p:sp>
        <p:nvSpPr>
          <p:cNvPr id="4" name="Google Shape;325;p47">
            <a:extLst>
              <a:ext uri="{FF2B5EF4-FFF2-40B4-BE49-F238E27FC236}">
                <a16:creationId xmlns:a16="http://schemas.microsoft.com/office/drawing/2014/main" id="{0AF88843-F54E-EF33-F5A4-A1A3C1D40E0E}"/>
              </a:ext>
            </a:extLst>
          </p:cNvPr>
          <p:cNvSpPr txBox="1">
            <a:spLocks/>
          </p:cNvSpPr>
          <p:nvPr/>
        </p:nvSpPr>
        <p:spPr>
          <a:xfrm>
            <a:off x="-5842" y="3527388"/>
            <a:ext cx="9149842" cy="1529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2000" dirty="0"/>
              <a:t>After completing the Quiz </a:t>
            </a:r>
          </a:p>
          <a:p>
            <a:pPr marL="342900" indent="-342900">
              <a:spcAft>
                <a:spcPts val="1600"/>
              </a:spcAft>
            </a:pPr>
            <a:r>
              <a:rPr lang="en-US" sz="1800" dirty="0"/>
              <a:t>Accept GitHub Classroom Assignment for Unit 12, if not done already.</a:t>
            </a:r>
          </a:p>
          <a:p>
            <a:pPr marL="342900" indent="-342900">
              <a:spcAft>
                <a:spcPts val="1600"/>
              </a:spcAft>
            </a:pPr>
            <a:r>
              <a:rPr lang="en-US" sz="1800" dirty="0"/>
              <a:t>Clone/pull GitHub classroom repo for Unit 12 under softdev1 folder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Google Shape;325;p47">
            <a:extLst>
              <a:ext uri="{FF2B5EF4-FFF2-40B4-BE49-F238E27FC236}">
                <a16:creationId xmlns:a16="http://schemas.microsoft.com/office/drawing/2014/main" id="{10D23636-E122-E0ED-219C-67DCAA8D64BE}"/>
              </a:ext>
            </a:extLst>
          </p:cNvPr>
          <p:cNvSpPr txBox="1">
            <a:spLocks/>
          </p:cNvSpPr>
          <p:nvPr/>
        </p:nvSpPr>
        <p:spPr>
          <a:xfrm>
            <a:off x="4303618" y="1844958"/>
            <a:ext cx="4516998" cy="893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/>
              <a:t>Quiz 12.2 Queues</a:t>
            </a:r>
          </a:p>
          <a:p>
            <a:pPr marL="14605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Password - </a:t>
            </a:r>
            <a:r>
              <a:rPr lang="en-US" sz="2000" dirty="0" err="1">
                <a:solidFill>
                  <a:schemeClr val="tx1"/>
                </a:solidFill>
              </a:rPr>
              <a:t>queue_not_cue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810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311700" y="281600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367527-C843-CD39-04E6-09623F872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87100"/>
              </p:ext>
            </p:extLst>
          </p:nvPr>
        </p:nvGraphicFramePr>
        <p:xfrm>
          <a:off x="0" y="1273458"/>
          <a:ext cx="9144000" cy="3870960"/>
        </p:xfrm>
        <a:graphic>
          <a:graphicData uri="http://schemas.openxmlformats.org/drawingml/2006/table">
            <a:tbl>
              <a:tblPr firstRow="1" bandRow="1">
                <a:tableStyleId>{A3E86BE5-DEAD-47DA-858E-511CBEF46327}</a:tableStyleId>
              </a:tblPr>
              <a:tblGrid>
                <a:gridCol w="2718707">
                  <a:extLst>
                    <a:ext uri="{9D8B030D-6E8A-4147-A177-3AD203B41FA5}">
                      <a16:colId xmlns:a16="http://schemas.microsoft.com/office/drawing/2014/main" val="225349855"/>
                    </a:ext>
                  </a:extLst>
                </a:gridCol>
                <a:gridCol w="6425293">
                  <a:extLst>
                    <a:ext uri="{9D8B030D-6E8A-4147-A177-3AD203B41FA5}">
                      <a16:colId xmlns:a16="http://schemas.microsoft.com/office/drawing/2014/main" val="894846783"/>
                    </a:ext>
                  </a:extLst>
                </a:gridCol>
              </a:tblGrid>
              <a:tr h="291836">
                <a:tc>
                  <a:txBody>
                    <a:bodyPr/>
                    <a:lstStyle/>
                    <a:p>
                      <a:r>
                        <a:rPr lang="en-US" dirty="0"/>
                        <a:t>Take Quiz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Quiz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40697"/>
                  </a:ext>
                </a:extLst>
              </a:tr>
              <a:tr h="34385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US" sz="1400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/>
                        <a:t>Quiz 12.2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Queues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Password: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err="1">
                          <a:highlight>
                            <a:srgbClr val="FFFF00"/>
                          </a:highlight>
                        </a:rPr>
                        <a:t>nodesAreGood</a:t>
                      </a:r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/>
                        <a:t>Quiz 11.3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More Stack &amp; Queues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Password: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whamBamQuizMan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/>
                        <a:cs typeface="Arial"/>
                        <a:sym typeface="Arial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dirty="0"/>
                        <a:t>If you have not taken survey for this class (Section 13), Take survey at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https://rit.smartevals.com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dirty="0"/>
                        <a:t>============================================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dirty="0"/>
                        <a:t>Clone Git Repository for assignment “Assignment-Unit13”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dirty="0"/>
                        <a:t>Steps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è"/>
                      </a:pPr>
                      <a:r>
                        <a:rPr lang="en-US" sz="1600" dirty="0"/>
                        <a:t>Click on Assignment Link and copy the git repo URL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è"/>
                      </a:pPr>
                      <a:r>
                        <a:rPr lang="en-US" sz="1600" dirty="0"/>
                        <a:t>Execute following command</a:t>
                      </a:r>
                    </a:p>
                    <a:p>
                      <a:pPr marL="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dirty="0"/>
                        <a:t>cd ~</a:t>
                      </a:r>
                    </a:p>
                    <a:p>
                      <a:pPr marL="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dirty="0"/>
                        <a:t>cd softdev1</a:t>
                      </a:r>
                    </a:p>
                    <a:p>
                      <a:pPr marL="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dirty="0"/>
                        <a:t>git clone &lt;Replace with Assignment URL&gt;</a:t>
                      </a:r>
                    </a:p>
                    <a:p>
                      <a:pPr marL="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dirty="0">
                          <a:sym typeface="Wingdings" panose="05000000000000000000" pitchFamily="2" charset="2"/>
                        </a:rPr>
                        <a:t> Open the cloned repository folder in VS Code Editor</a:t>
                      </a:r>
                      <a:endParaRPr lang="en-US" sz="16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01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33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311700" y="281600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367527-C843-CD39-04E6-09623F872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49193"/>
              </p:ext>
            </p:extLst>
          </p:nvPr>
        </p:nvGraphicFramePr>
        <p:xfrm>
          <a:off x="0" y="1273458"/>
          <a:ext cx="9144000" cy="3870041"/>
        </p:xfrm>
        <a:graphic>
          <a:graphicData uri="http://schemas.openxmlformats.org/drawingml/2006/table">
            <a:tbl>
              <a:tblPr firstRow="1" bandRow="1">
                <a:tableStyleId>{A3E86BE5-DEAD-47DA-858E-511CBEF46327}</a:tableStyleId>
              </a:tblPr>
              <a:tblGrid>
                <a:gridCol w="2718707">
                  <a:extLst>
                    <a:ext uri="{9D8B030D-6E8A-4147-A177-3AD203B41FA5}">
                      <a16:colId xmlns:a16="http://schemas.microsoft.com/office/drawing/2014/main" val="225349855"/>
                    </a:ext>
                  </a:extLst>
                </a:gridCol>
                <a:gridCol w="6425293">
                  <a:extLst>
                    <a:ext uri="{9D8B030D-6E8A-4147-A177-3AD203B41FA5}">
                      <a16:colId xmlns:a16="http://schemas.microsoft.com/office/drawing/2014/main" val="894846783"/>
                    </a:ext>
                  </a:extLst>
                </a:gridCol>
              </a:tblGrid>
              <a:tr h="379416">
                <a:tc>
                  <a:txBody>
                    <a:bodyPr/>
                    <a:lstStyle/>
                    <a:p>
                      <a:r>
                        <a:rPr lang="en-US" dirty="0"/>
                        <a:t>Take Quiz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Quiz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40697"/>
                  </a:ext>
                </a:extLst>
              </a:tr>
              <a:tr h="349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lang="en-US" sz="1400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/>
                        <a:t>Quiz </a:t>
                      </a:r>
                      <a:r>
                        <a:rPr lang="en-US" sz="1400"/>
                        <a:t>12.1</a:t>
                      </a: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Stacks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Password: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nodeNodeNode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sz="1600" dirty="0"/>
                    </a:p>
                    <a:p>
                      <a:pPr marL="342900" indent="-342900">
                        <a:spcAft>
                          <a:spcPts val="1600"/>
                        </a:spcAft>
                      </a:pPr>
                      <a:r>
                        <a:rPr lang="en-US" sz="1600" dirty="0"/>
                        <a:t>Git Pull Assignment-Unit-12 for class activities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01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924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311700" y="281600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GCIS – Software Development and Problem Solving</a:t>
            </a:r>
            <a:endParaRPr dirty="0"/>
          </a:p>
        </p:txBody>
      </p:sp>
      <p:sp>
        <p:nvSpPr>
          <p:cNvPr id="325" name="Google Shape;325;p47"/>
          <p:cNvSpPr txBox="1">
            <a:spLocks noGrp="1"/>
          </p:cNvSpPr>
          <p:nvPr>
            <p:ph type="body" idx="1"/>
          </p:nvPr>
        </p:nvSpPr>
        <p:spPr>
          <a:xfrm>
            <a:off x="269400" y="1731134"/>
            <a:ext cx="8478300" cy="15765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/>
              <a:t>Take Quiz 13.1 –</a:t>
            </a:r>
            <a:r>
              <a:rPr lang="en-US" sz="1600" dirty="0">
                <a:highlight>
                  <a:srgbClr val="FFFF00"/>
                </a:highlight>
              </a:rPr>
              <a:t>10QuestionQuiz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/>
              <a:t>Take Quiz 13.2 – Review Part 2- </a:t>
            </a:r>
            <a:r>
              <a:rPr lang="en-US" sz="1600" dirty="0">
                <a:highlight>
                  <a:srgbClr val="FFFF00"/>
                </a:highlight>
              </a:rPr>
              <a:t>10MoreQuestions</a:t>
            </a:r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540133-E9A5-2E60-80A1-2A18FE75CEEF}"/>
              </a:ext>
            </a:extLst>
          </p:cNvPr>
          <p:cNvSpPr txBox="1"/>
          <p:nvPr/>
        </p:nvSpPr>
        <p:spPr>
          <a:xfrm>
            <a:off x="0" y="1277369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7F35E-D936-5B9A-52BF-1CFF096913DC}"/>
              </a:ext>
            </a:extLst>
          </p:cNvPr>
          <p:cNvSpPr txBox="1"/>
          <p:nvPr/>
        </p:nvSpPr>
        <p:spPr>
          <a:xfrm>
            <a:off x="0" y="3359671"/>
            <a:ext cx="9144000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Next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4" name="Google Shape;325;p47">
            <a:extLst>
              <a:ext uri="{FF2B5EF4-FFF2-40B4-BE49-F238E27FC236}">
                <a16:creationId xmlns:a16="http://schemas.microsoft.com/office/drawing/2014/main" id="{F1433D15-B1D6-F76F-A0A6-57FA2842E1B7}"/>
              </a:ext>
            </a:extLst>
          </p:cNvPr>
          <p:cNvSpPr txBox="1">
            <a:spLocks/>
          </p:cNvSpPr>
          <p:nvPr/>
        </p:nvSpPr>
        <p:spPr>
          <a:xfrm>
            <a:off x="122842" y="3719477"/>
            <a:ext cx="8478300" cy="133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Font typeface="Roboto"/>
              <a:buNone/>
            </a:pPr>
            <a:r>
              <a:rPr lang="en-US" sz="1800" dirty="0"/>
              <a:t>After completing the Quiz </a:t>
            </a:r>
          </a:p>
          <a:p>
            <a:pPr marL="342900" indent="-342900">
              <a:spcAft>
                <a:spcPts val="1600"/>
              </a:spcAft>
            </a:pPr>
            <a:r>
              <a:rPr lang="en-US" sz="1600" dirty="0"/>
              <a:t>Clone or Pull Assignment-Unit13 for class activities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600"/>
              </a:spcAft>
            </a:pPr>
            <a:r>
              <a:rPr lang="en-US" sz="1600" b="1" dirty="0">
                <a:solidFill>
                  <a:schemeClr val="tx1"/>
                </a:solidFill>
              </a:rPr>
              <a:t>Fill Out the </a:t>
            </a:r>
            <a:r>
              <a:rPr lang="en-US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CLASS EVALUATION </a:t>
            </a:r>
            <a:r>
              <a:rPr lang="en-US" sz="1600" b="1" dirty="0">
                <a:solidFill>
                  <a:schemeClr val="tx1"/>
                </a:solidFill>
              </a:rPr>
              <a:t>if you have not done yet.</a:t>
            </a:r>
          </a:p>
        </p:txBody>
      </p:sp>
    </p:spTree>
    <p:extLst>
      <p:ext uri="{BB962C8B-B14F-4D97-AF65-F5344CB8AC3E}">
        <p14:creationId xmlns:p14="http://schemas.microsoft.com/office/powerpoint/2010/main" val="420600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226208" y="1"/>
            <a:ext cx="8520600" cy="464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</a:t>
            </a:r>
            <a:r>
              <a:rPr lang="en-US" sz="2400" dirty="0"/>
              <a:t>Assigned</a:t>
            </a:r>
            <a:r>
              <a:rPr lang="en-US" dirty="0"/>
              <a:t> Seat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5A4964-E8A9-A46D-F4BE-E7D41C14E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9220"/>
            <a:ext cx="9144000" cy="447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0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226208" y="1"/>
            <a:ext cx="8520600" cy="464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</a:t>
            </a:r>
            <a:r>
              <a:rPr lang="en-US" sz="2400" dirty="0"/>
              <a:t>Assigned</a:t>
            </a:r>
            <a:r>
              <a:rPr lang="en-US" dirty="0"/>
              <a:t> Seat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32793-7C09-E3A3-94E5-B5D46727A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51663"/>
            <a:ext cx="9144001" cy="45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4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226208" y="1"/>
            <a:ext cx="8520600" cy="464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</a:t>
            </a:r>
            <a:r>
              <a:rPr lang="en-US" sz="2400" dirty="0"/>
              <a:t>Assigned</a:t>
            </a:r>
            <a:r>
              <a:rPr lang="en-US" dirty="0"/>
              <a:t> Seat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E4AAC-70FE-A114-5258-F5B22EDDE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280"/>
            <a:ext cx="9144000" cy="44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03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title"/>
          </p:nvPr>
        </p:nvSpPr>
        <p:spPr>
          <a:xfrm>
            <a:off x="226208" y="1"/>
            <a:ext cx="8520600" cy="464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</a:t>
            </a:r>
            <a:r>
              <a:rPr lang="en-US" sz="2400" dirty="0"/>
              <a:t>Assigned</a:t>
            </a:r>
            <a:r>
              <a:rPr lang="en-US" dirty="0"/>
              <a:t> Seat</a:t>
            </a:r>
            <a:endParaRPr dirty="0"/>
          </a:p>
        </p:txBody>
      </p:sp>
      <p:sp>
        <p:nvSpPr>
          <p:cNvPr id="326" name="Google Shape;3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752B9-EFAE-AFC1-7D39-6763B89DE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130"/>
            <a:ext cx="9144000" cy="449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57756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414</Words>
  <Application>Microsoft Office PowerPoint</Application>
  <PresentationFormat>On-screen Show (16:9)</PresentationFormat>
  <Paragraphs>95</Paragraphs>
  <Slides>12</Slides>
  <Notes>12</Notes>
  <HiddenSlides>12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Roboto</vt:lpstr>
      <vt:lpstr>Wingdings</vt:lpstr>
      <vt:lpstr>Courier New</vt:lpstr>
      <vt:lpstr>Merriweather</vt:lpstr>
      <vt:lpstr>Paradigm</vt:lpstr>
      <vt:lpstr>GCIS – Software Development and Problem Solving</vt:lpstr>
      <vt:lpstr>GCIS – Software Development and Problem Solving</vt:lpstr>
      <vt:lpstr>GCIS – Software Development and Problem Solving</vt:lpstr>
      <vt:lpstr>Git Commands</vt:lpstr>
      <vt:lpstr>GCIS – Software Development and Problem Solving</vt:lpstr>
      <vt:lpstr>GCIS – Software Development and Problem Solving</vt:lpstr>
      <vt:lpstr>GCIS – Software Development and Problem Solving</vt:lpstr>
      <vt:lpstr>GCIS – Software Development and Problem Solving</vt:lpstr>
      <vt:lpstr>Use Assigned Seat</vt:lpstr>
      <vt:lpstr>Use Assigned Seat</vt:lpstr>
      <vt:lpstr>Use Assigned Seat</vt:lpstr>
      <vt:lpstr>Use Assigned Seat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GCIS-123 Software Development &amp; Problem Solving</dc:title>
  <cp:lastModifiedBy>Tanweer Alam</cp:lastModifiedBy>
  <cp:revision>136</cp:revision>
  <cp:lastPrinted>2023-10-24T20:13:22Z</cp:lastPrinted>
  <dcterms:modified xsi:type="dcterms:W3CDTF">2026-02-05T20:27:58Z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d54f1a3-9ed5-415d-ba95-38401c4b8817_Enabled">
    <vt:lpwstr>true</vt:lpwstr>
  </property>
  <property fmtid="{D5CDD505-2E9C-101B-9397-08002B2CF9AE}" pid="3" name="MSIP_Label_5d54f1a3-9ed5-415d-ba95-38401c4b8817_SetDate">
    <vt:lpwstr>2023-08-21T19:59:00Z</vt:lpwstr>
  </property>
  <property fmtid="{D5CDD505-2E9C-101B-9397-08002B2CF9AE}" pid="4" name="MSIP_Label_5d54f1a3-9ed5-415d-ba95-38401c4b8817_Method">
    <vt:lpwstr>Standard</vt:lpwstr>
  </property>
  <property fmtid="{D5CDD505-2E9C-101B-9397-08002B2CF9AE}" pid="5" name="MSIP_Label_5d54f1a3-9ed5-415d-ba95-38401c4b8817_Name">
    <vt:lpwstr>Peraton Proprietary</vt:lpwstr>
  </property>
  <property fmtid="{D5CDD505-2E9C-101B-9397-08002B2CF9AE}" pid="6" name="MSIP_Label_5d54f1a3-9ed5-415d-ba95-38401c4b8817_SiteId">
    <vt:lpwstr>2a6ae295-f13d-4948-ba78-332742ce9097</vt:lpwstr>
  </property>
  <property fmtid="{D5CDD505-2E9C-101B-9397-08002B2CF9AE}" pid="7" name="MSIP_Label_5d54f1a3-9ed5-415d-ba95-38401c4b8817_ActionId">
    <vt:lpwstr>744b29f9-739a-4469-91a6-785f9d8fb005</vt:lpwstr>
  </property>
  <property fmtid="{D5CDD505-2E9C-101B-9397-08002B2CF9AE}" pid="8" name="MSIP_Label_5d54f1a3-9ed5-415d-ba95-38401c4b8817_ContentBits">
    <vt:lpwstr>1</vt:lpwstr>
  </property>
</Properties>
</file>