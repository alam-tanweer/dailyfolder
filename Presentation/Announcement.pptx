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72" r:id="rId1"/>
  </p:sldMasterIdLst>
  <p:notesMasterIdLst>
    <p:notesMasterId r:id="rId14"/>
  </p:notesMasterIdLst>
  <p:sldIdLst>
    <p:sldId id="286" r:id="rId2"/>
    <p:sldId id="276" r:id="rId3"/>
    <p:sldId id="278" r:id="rId4"/>
    <p:sldId id="281" r:id="rId5"/>
    <p:sldId id="287" r:id="rId6"/>
    <p:sldId id="285" r:id="rId7"/>
    <p:sldId id="284" r:id="rId8"/>
    <p:sldId id="277" r:id="rId9"/>
    <p:sldId id="280" r:id="rId10"/>
    <p:sldId id="279" r:id="rId11"/>
    <p:sldId id="283" r:id="rId12"/>
    <p:sldId id="282" r:id="rId13"/>
  </p:sldIdLst>
  <p:sldSz cx="9144000" cy="5143500" type="screen16x9"/>
  <p:notesSz cx="7010400" cy="9296400"/>
  <p:embeddedFontLst>
    <p:embeddedFont>
      <p:font typeface="Merriweather" panose="00000500000000000000" pitchFamily="2" charset="0"/>
      <p:regular r:id="rId15"/>
      <p:bold r:id="rId16"/>
      <p:italic r:id="rId17"/>
      <p:boldItalic r:id="rId18"/>
    </p:embeddedFont>
    <p:embeddedFont>
      <p:font typeface="Roboto" panose="02000000000000000000" pitchFamily="2" charset="0"/>
      <p:regular r:id="rId19"/>
      <p:bold r:id="rId20"/>
      <p:italic r:id="rId21"/>
      <p:boldItalic r:id="rId2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Phil Ganem" initials="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A3E86BE5-DEAD-47DA-858E-511CBEF46327}">
  <a:tblStyle styleId="{A3E86BE5-DEAD-47DA-858E-511CBEF46327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9" d="100"/>
          <a:sy n="119" d="100"/>
        </p:scale>
        <p:origin x="102" y="139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4.fntdata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font" Target="fonts/font7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23" Type="http://schemas.openxmlformats.org/officeDocument/2006/relationships/commentAuthors" Target="commentAuthors.xml"/><Relationship Id="rId10" Type="http://schemas.openxmlformats.org/officeDocument/2006/relationships/slide" Target="slides/slide9.xml"/><Relationship Id="rId19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22" Type="http://schemas.openxmlformats.org/officeDocument/2006/relationships/font" Target="fonts/font8.fntdata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9188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3162" tIns="93162" rIns="93162" bIns="93162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>
          <a:extLst>
            <a:ext uri="{FF2B5EF4-FFF2-40B4-BE49-F238E27FC236}">
              <a16:creationId xmlns:a16="http://schemas.microsoft.com/office/drawing/2014/main" id="{5E82D901-7A14-0382-4365-722182C687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>
            <a:extLst>
              <a:ext uri="{FF2B5EF4-FFF2-40B4-BE49-F238E27FC236}">
                <a16:creationId xmlns:a16="http://schemas.microsoft.com/office/drawing/2014/main" id="{B8D16220-AF50-7601-71A9-4952749D32C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>
            <a:extLst>
              <a:ext uri="{FF2B5EF4-FFF2-40B4-BE49-F238E27FC236}">
                <a16:creationId xmlns:a16="http://schemas.microsoft.com/office/drawing/2014/main" id="{AEA302D2-52D7-97D7-BF6C-781234E92D4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8352494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9739063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5813482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>
          <a:extLst>
            <a:ext uri="{FF2B5EF4-FFF2-40B4-BE49-F238E27FC236}">
              <a16:creationId xmlns:a16="http://schemas.microsoft.com/office/drawing/2014/main" id="{AF38A373-9ECB-533B-3DE6-D15673FB0A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>
            <a:extLst>
              <a:ext uri="{FF2B5EF4-FFF2-40B4-BE49-F238E27FC236}">
                <a16:creationId xmlns:a16="http://schemas.microsoft.com/office/drawing/2014/main" id="{E31AA3A3-F4DD-22BC-FF74-3E11975D4EE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>
            <a:extLst>
              <a:ext uri="{FF2B5EF4-FFF2-40B4-BE49-F238E27FC236}">
                <a16:creationId xmlns:a16="http://schemas.microsoft.com/office/drawing/2014/main" id="{E134EAC7-0101-665A-63A7-A233E5D3458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3894300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3397115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0320487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4020168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61007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2365930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4393795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920976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chemeClr val="accent3"/>
        </a:solidFill>
        <a:effectLst/>
      </p:bgPr>
    </p:bg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/>
          <p:nvPr/>
        </p:nvSpPr>
        <p:spPr>
          <a:xfrm>
            <a:off x="0" y="48099"/>
            <a:ext cx="9144250" cy="4398100"/>
          </a:xfrm>
          <a:custGeom>
            <a:avLst/>
            <a:gdLst/>
            <a:ahLst/>
            <a:cxnLst/>
            <a:rect l="l" t="t" r="r" b="b"/>
            <a:pathLst>
              <a:path w="365770" h="175924" extrusionOk="0">
                <a:moveTo>
                  <a:pt x="0" y="0"/>
                </a:moveTo>
                <a:lnTo>
                  <a:pt x="365770" y="0"/>
                </a:lnTo>
                <a:lnTo>
                  <a:pt x="365760" y="70914"/>
                </a:lnTo>
                <a:lnTo>
                  <a:pt x="0" y="175924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</p:sp>
      <p:sp>
        <p:nvSpPr>
          <p:cNvPr id="16" name="Google Shape;16;p3"/>
          <p:cNvSpPr/>
          <p:nvPr/>
        </p:nvSpPr>
        <p:spPr>
          <a:xfrm>
            <a:off x="0" y="0"/>
            <a:ext cx="9144250" cy="4398100"/>
          </a:xfrm>
          <a:custGeom>
            <a:avLst/>
            <a:gdLst/>
            <a:ahLst/>
            <a:cxnLst/>
            <a:rect l="l" t="t" r="r" b="b"/>
            <a:pathLst>
              <a:path w="365770" h="175924" extrusionOk="0">
                <a:moveTo>
                  <a:pt x="0" y="0"/>
                </a:moveTo>
                <a:lnTo>
                  <a:pt x="365770" y="0"/>
                </a:lnTo>
                <a:lnTo>
                  <a:pt x="365760" y="70914"/>
                </a:lnTo>
                <a:lnTo>
                  <a:pt x="0" y="175924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</p:sp>
      <p:sp>
        <p:nvSpPr>
          <p:cNvPr id="17" name="Google Shape;17;p3"/>
          <p:cNvSpPr txBox="1">
            <a:spLocks noGrp="1"/>
          </p:cNvSpPr>
          <p:nvPr>
            <p:ph type="title"/>
          </p:nvPr>
        </p:nvSpPr>
        <p:spPr>
          <a:xfrm>
            <a:off x="311700" y="539725"/>
            <a:ext cx="8520600" cy="1282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/>
          <p:nvPr/>
        </p:nvSpPr>
        <p:spPr>
          <a:xfrm>
            <a:off x="0" y="0"/>
            <a:ext cx="9144000" cy="12771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body" idx="1"/>
          </p:nvPr>
        </p:nvSpPr>
        <p:spPr>
          <a:xfrm>
            <a:off x="311700" y="1505700"/>
            <a:ext cx="3999900" cy="307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body" idx="2"/>
          </p:nvPr>
        </p:nvSpPr>
        <p:spPr>
          <a:xfrm>
            <a:off x="4832400" y="1505700"/>
            <a:ext cx="3999900" cy="307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/>
          <p:nvPr/>
        </p:nvSpPr>
        <p:spPr>
          <a:xfrm>
            <a:off x="0" y="0"/>
            <a:ext cx="9144000" cy="12771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chemeClr val="accent3"/>
        </a:solidFill>
        <a:effectLst/>
      </p:bgPr>
    </p:bg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8"/>
          <p:cNvSpPr txBox="1">
            <a:spLocks noGrp="1"/>
          </p:cNvSpPr>
          <p:nvPr>
            <p:ph type="title"/>
          </p:nvPr>
        </p:nvSpPr>
        <p:spPr>
          <a:xfrm>
            <a:off x="311675" y="798600"/>
            <a:ext cx="6247800" cy="3546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47" name="Google Shape;47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9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50;p9"/>
          <p:cNvSpPr txBox="1">
            <a:spLocks noGrp="1"/>
          </p:cNvSpPr>
          <p:nvPr>
            <p:ph type="title"/>
          </p:nvPr>
        </p:nvSpPr>
        <p:spPr>
          <a:xfrm>
            <a:off x="311300" y="500925"/>
            <a:ext cx="3704400" cy="204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51" name="Google Shape;51;p9"/>
          <p:cNvSpPr txBox="1">
            <a:spLocks noGrp="1"/>
          </p:cNvSpPr>
          <p:nvPr>
            <p:ph type="subTitle" idx="1"/>
          </p:nvPr>
        </p:nvSpPr>
        <p:spPr>
          <a:xfrm>
            <a:off x="304800" y="2626725"/>
            <a:ext cx="3704400" cy="92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2" name="Google Shape;52;p9"/>
          <p:cNvSpPr txBox="1">
            <a:spLocks noGrp="1"/>
          </p:cNvSpPr>
          <p:nvPr>
            <p:ph type="body" idx="2"/>
          </p:nvPr>
        </p:nvSpPr>
        <p:spPr>
          <a:xfrm>
            <a:off x="4879025" y="500925"/>
            <a:ext cx="3954000" cy="411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53" name="Google Shape;53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0"/>
          <p:cNvSpPr/>
          <p:nvPr/>
        </p:nvSpPr>
        <p:spPr>
          <a:xfrm>
            <a:off x="0" y="4369000"/>
            <a:ext cx="9144000" cy="7743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" name="Google Shape;56;p10"/>
          <p:cNvSpPr txBox="1">
            <a:spLocks noGrp="1"/>
          </p:cNvSpPr>
          <p:nvPr>
            <p:ph type="body" idx="1"/>
          </p:nvPr>
        </p:nvSpPr>
        <p:spPr>
          <a:xfrm>
            <a:off x="311700" y="4521400"/>
            <a:ext cx="7979400" cy="460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Merriweather"/>
              <a:buNone/>
              <a:defRPr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defRPr>
            </a:lvl1pPr>
          </a:lstStyle>
          <a:p>
            <a:endParaRPr/>
          </a:p>
        </p:txBody>
      </p:sp>
      <p:sp>
        <p:nvSpPr>
          <p:cNvPr id="57" name="Google Shape;57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bg>
      <p:bgPr>
        <a:solidFill>
          <a:schemeClr val="dk1"/>
        </a:solidFill>
        <a:effectLst/>
      </p:bgPr>
    </p:bg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1"/>
          <p:cNvSpPr txBox="1">
            <a:spLocks noGrp="1"/>
          </p:cNvSpPr>
          <p:nvPr>
            <p:ph type="title" hasCustomPrompt="1"/>
          </p:nvPr>
        </p:nvSpPr>
        <p:spPr>
          <a:xfrm>
            <a:off x="311750" y="831175"/>
            <a:ext cx="5334900" cy="1244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0" name="Google Shape;60;p11"/>
          <p:cNvSpPr txBox="1">
            <a:spLocks noGrp="1"/>
          </p:cNvSpPr>
          <p:nvPr>
            <p:ph type="body" idx="1"/>
          </p:nvPr>
        </p:nvSpPr>
        <p:spPr>
          <a:xfrm>
            <a:off x="311700" y="2121425"/>
            <a:ext cx="5334900" cy="94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300"/>
              <a:buChar char="●"/>
              <a:defRPr>
                <a:solidFill>
                  <a:schemeClr val="accent2"/>
                </a:solidFill>
              </a:defRPr>
            </a:lvl1pPr>
            <a:lvl2pPr marL="914400" lvl="1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2pPr>
            <a:lvl3pPr marL="1371600" lvl="2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3pPr>
            <a:lvl4pPr marL="1828800" lvl="3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>
                <a:solidFill>
                  <a:schemeClr val="accent2"/>
                </a:solidFill>
              </a:defRPr>
            </a:lvl4pPr>
            <a:lvl5pPr marL="2286000" lvl="4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5pPr>
            <a:lvl6pPr marL="2743200" lvl="5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6pPr>
            <a:lvl7pPr marL="3200400" lvl="6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>
                <a:solidFill>
                  <a:schemeClr val="accent2"/>
                </a:solidFill>
              </a:defRPr>
            </a:lvl7pPr>
            <a:lvl8pPr marL="3657600" lvl="7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8pPr>
            <a:lvl9pPr marL="4114800" lvl="8" indent="-298450">
              <a:spcBef>
                <a:spcPts val="1600"/>
              </a:spcBef>
              <a:spcAft>
                <a:spcPts val="160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61" name="Google Shape;61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paradigm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29845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2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>
          <a:extLst>
            <a:ext uri="{FF2B5EF4-FFF2-40B4-BE49-F238E27FC236}">
              <a16:creationId xmlns:a16="http://schemas.microsoft.com/office/drawing/2014/main" id="{19512066-5980-8A8B-BE30-C4FB3AC722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>
            <a:extLst>
              <a:ext uri="{FF2B5EF4-FFF2-40B4-BE49-F238E27FC236}">
                <a16:creationId xmlns:a16="http://schemas.microsoft.com/office/drawing/2014/main" id="{CDF56279-13BE-3C44-BBEF-E7DC5D1E88D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00016" y="269197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5" name="Google Shape;325;p47">
            <a:extLst>
              <a:ext uri="{FF2B5EF4-FFF2-40B4-BE49-F238E27FC236}">
                <a16:creationId xmlns:a16="http://schemas.microsoft.com/office/drawing/2014/main" id="{5A9661D1-8430-BF80-279A-41B28CA0427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5" y="1758316"/>
            <a:ext cx="4000496" cy="1378401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46050" indent="0">
              <a:buNone/>
            </a:pPr>
            <a:r>
              <a:rPr lang="en-US" sz="1600" dirty="0"/>
              <a:t>Take Quiz 1.2: Testing Array &amp; Exception</a:t>
            </a:r>
          </a:p>
          <a:p>
            <a:pPr marL="14605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Password – camelCase</a:t>
            </a:r>
            <a:endParaRPr sz="1600" dirty="0">
              <a:solidFill>
                <a:schemeClr val="tx1"/>
              </a:solidFill>
            </a:endParaRPr>
          </a:p>
        </p:txBody>
      </p:sp>
      <p:sp>
        <p:nvSpPr>
          <p:cNvPr id="326" name="Google Shape;326;p47">
            <a:extLst>
              <a:ext uri="{FF2B5EF4-FFF2-40B4-BE49-F238E27FC236}">
                <a16:creationId xmlns:a16="http://schemas.microsoft.com/office/drawing/2014/main" id="{8A14E227-935A-FBD8-6BD5-CBCE8D13EE8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E960589-7B12-D7F7-6452-D45441D8CA95}"/>
              </a:ext>
            </a:extLst>
          </p:cNvPr>
          <p:cNvSpPr txBox="1"/>
          <p:nvPr/>
        </p:nvSpPr>
        <p:spPr>
          <a:xfrm>
            <a:off x="-11684" y="1287037"/>
            <a:ext cx="9144000" cy="338555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Quiz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FD526CA-3FDB-A5C2-36D9-69A3252D5E9A}"/>
              </a:ext>
            </a:extLst>
          </p:cNvPr>
          <p:cNvSpPr txBox="1"/>
          <p:nvPr/>
        </p:nvSpPr>
        <p:spPr>
          <a:xfrm>
            <a:off x="0" y="3507404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Next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endParaRPr lang="en-US" dirty="0"/>
          </a:p>
        </p:txBody>
      </p:sp>
      <p:sp>
        <p:nvSpPr>
          <p:cNvPr id="4" name="Google Shape;325;p47">
            <a:extLst>
              <a:ext uri="{FF2B5EF4-FFF2-40B4-BE49-F238E27FC236}">
                <a16:creationId xmlns:a16="http://schemas.microsoft.com/office/drawing/2014/main" id="{DC50CCB1-5AFE-1F52-8B22-87EB927965B4}"/>
              </a:ext>
            </a:extLst>
          </p:cNvPr>
          <p:cNvSpPr txBox="1">
            <a:spLocks/>
          </p:cNvSpPr>
          <p:nvPr/>
        </p:nvSpPr>
        <p:spPr>
          <a:xfrm>
            <a:off x="-5842" y="3848100"/>
            <a:ext cx="9149842" cy="1208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spcAft>
                <a:spcPts val="1600"/>
              </a:spcAft>
              <a:buNone/>
            </a:pPr>
            <a:r>
              <a:rPr lang="en-US" sz="1400" dirty="0"/>
              <a:t>After completing the Quiz </a:t>
            </a:r>
          </a:p>
          <a:p>
            <a:pPr marL="342900" indent="-342900">
              <a:spcAft>
                <a:spcPts val="1600"/>
              </a:spcAft>
            </a:pPr>
            <a:r>
              <a:rPr lang="en-US" sz="1200" dirty="0"/>
              <a:t>Accept GitHub Classroom Assignment for Unit 02</a:t>
            </a:r>
          </a:p>
          <a:p>
            <a:pPr marL="342900" indent="-342900">
              <a:spcAft>
                <a:spcPts val="1600"/>
              </a:spcAft>
            </a:pPr>
            <a:r>
              <a:rPr lang="en-US" sz="1200" dirty="0"/>
              <a:t>Clone/pull GitHub classroom repo for Unit 02 under </a:t>
            </a:r>
            <a:r>
              <a:rPr lang="en-US" sz="1200" dirty="0" err="1"/>
              <a:t>softdevII</a:t>
            </a:r>
            <a:r>
              <a:rPr lang="en-US" sz="1200" dirty="0"/>
              <a:t> folder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5" name="Google Shape;325;p47">
            <a:extLst>
              <a:ext uri="{FF2B5EF4-FFF2-40B4-BE49-F238E27FC236}">
                <a16:creationId xmlns:a16="http://schemas.microsoft.com/office/drawing/2014/main" id="{7B85466C-6200-EE66-9396-7DECA70CDF53}"/>
              </a:ext>
            </a:extLst>
          </p:cNvPr>
          <p:cNvSpPr txBox="1">
            <a:spLocks/>
          </p:cNvSpPr>
          <p:nvPr/>
        </p:nvSpPr>
        <p:spPr>
          <a:xfrm>
            <a:off x="4303618" y="1737005"/>
            <a:ext cx="4516998" cy="137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146050" indent="0">
              <a:buNone/>
            </a:pPr>
            <a:r>
              <a:rPr lang="en-US" sz="1600" dirty="0"/>
              <a:t>Quiz 1.3 Java Classes</a:t>
            </a:r>
          </a:p>
          <a:p>
            <a:pPr marL="14605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Password - </a:t>
            </a:r>
            <a:r>
              <a:rPr lang="en-US" sz="1600" dirty="0" err="1">
                <a:solidFill>
                  <a:schemeClr val="tx1"/>
                </a:solidFill>
              </a:rPr>
              <a:t>goTo</a:t>
            </a:r>
            <a:r>
              <a:rPr lang="en-US" sz="1600" dirty="0">
                <a:solidFill>
                  <a:schemeClr val="tx1"/>
                </a:solidFill>
              </a:rPr>
              <a:t>(Java)Class</a:t>
            </a:r>
          </a:p>
        </p:txBody>
      </p:sp>
    </p:spTree>
    <p:extLst>
      <p:ext uri="{BB962C8B-B14F-4D97-AF65-F5344CB8AC3E}">
        <p14:creationId xmlns:p14="http://schemas.microsoft.com/office/powerpoint/2010/main" val="6742721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05858" y="273819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5" name="Google Shape;325;p47"/>
          <p:cNvSpPr txBox="1">
            <a:spLocks noGrp="1"/>
          </p:cNvSpPr>
          <p:nvPr>
            <p:ph type="body" idx="1"/>
          </p:nvPr>
        </p:nvSpPr>
        <p:spPr>
          <a:xfrm>
            <a:off x="-5842" y="1721147"/>
            <a:ext cx="9149842" cy="122640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46050" indent="0" algn="ctr">
              <a:buNone/>
            </a:pPr>
            <a:r>
              <a:rPr lang="en-US" sz="2400" dirty="0"/>
              <a:t>Take </a:t>
            </a:r>
            <a:r>
              <a:rPr lang="pl-PL" sz="2400" dirty="0"/>
              <a:t>Quiz </a:t>
            </a:r>
            <a:r>
              <a:rPr lang="en-US" sz="2400" dirty="0"/>
              <a:t>1</a:t>
            </a:r>
            <a:r>
              <a:rPr lang="pl-PL" sz="2400" dirty="0"/>
              <a:t>.</a:t>
            </a:r>
            <a:r>
              <a:rPr lang="en-US" sz="2400" dirty="0"/>
              <a:t>1</a:t>
            </a:r>
            <a:r>
              <a:rPr lang="pl-PL" sz="2400" dirty="0"/>
              <a:t>: </a:t>
            </a:r>
            <a:r>
              <a:rPr lang="en-US" sz="2400" dirty="0"/>
              <a:t>Procedural Programming</a:t>
            </a:r>
          </a:p>
          <a:p>
            <a:pPr algn="ctr"/>
            <a:r>
              <a:rPr lang="en-US" sz="3200" dirty="0">
                <a:solidFill>
                  <a:schemeClr val="tx1"/>
                </a:solidFill>
              </a:rPr>
              <a:t>Password - </a:t>
            </a:r>
            <a:r>
              <a:rPr lang="en-US" sz="3200" dirty="0" err="1">
                <a:solidFill>
                  <a:schemeClr val="tx1"/>
                </a:solidFill>
              </a:rPr>
              <a:t>proceduralJava</a:t>
            </a:r>
            <a:endParaRPr sz="3200" dirty="0">
              <a:solidFill>
                <a:schemeClr val="tx1"/>
              </a:solidFill>
            </a:endParaRPr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CC33EBB-1C9D-B9A9-88E6-F3466077417F}"/>
              </a:ext>
            </a:extLst>
          </p:cNvPr>
          <p:cNvSpPr txBox="1"/>
          <p:nvPr/>
        </p:nvSpPr>
        <p:spPr>
          <a:xfrm>
            <a:off x="0" y="1277369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Quiz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4C19922-6A1B-1404-5104-DC43E4C67861}"/>
              </a:ext>
            </a:extLst>
          </p:cNvPr>
          <p:cNvSpPr txBox="1"/>
          <p:nvPr/>
        </p:nvSpPr>
        <p:spPr>
          <a:xfrm>
            <a:off x="-5842" y="3031063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Next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endParaRPr lang="en-US" dirty="0"/>
          </a:p>
        </p:txBody>
      </p:sp>
      <p:sp>
        <p:nvSpPr>
          <p:cNvPr id="4" name="Google Shape;325;p47">
            <a:extLst>
              <a:ext uri="{FF2B5EF4-FFF2-40B4-BE49-F238E27FC236}">
                <a16:creationId xmlns:a16="http://schemas.microsoft.com/office/drawing/2014/main" id="{E455EA58-F56D-AF58-E97D-95A77E0AB6CF}"/>
              </a:ext>
            </a:extLst>
          </p:cNvPr>
          <p:cNvSpPr txBox="1">
            <a:spLocks/>
          </p:cNvSpPr>
          <p:nvPr/>
        </p:nvSpPr>
        <p:spPr>
          <a:xfrm>
            <a:off x="-5842" y="3422352"/>
            <a:ext cx="9149842" cy="17211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spcAft>
                <a:spcPts val="1600"/>
              </a:spcAft>
              <a:buNone/>
            </a:pPr>
            <a:r>
              <a:rPr lang="en-US" sz="2800" dirty="0"/>
              <a:t>After completing the Quiz </a:t>
            </a:r>
          </a:p>
          <a:p>
            <a:pPr marL="342900" indent="-342900">
              <a:spcAft>
                <a:spcPts val="1600"/>
              </a:spcAft>
            </a:pPr>
            <a:r>
              <a:rPr lang="en-US" sz="2400" dirty="0"/>
              <a:t>Clone/Pull Unit1 – git hub classroom repo for class activities</a:t>
            </a:r>
            <a:endParaRPr lang="en-US" sz="2400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14621" y="235914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5" name="Google Shape;325;p47"/>
          <p:cNvSpPr txBox="1">
            <a:spLocks noGrp="1"/>
          </p:cNvSpPr>
          <p:nvPr>
            <p:ph type="body" idx="1"/>
          </p:nvPr>
        </p:nvSpPr>
        <p:spPr>
          <a:xfrm>
            <a:off x="0" y="1856257"/>
            <a:ext cx="9149842" cy="122640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46050" indent="0" algn="ctr">
              <a:buNone/>
            </a:pPr>
            <a:r>
              <a:rPr lang="en-US" sz="2400" dirty="0"/>
              <a:t>Take Quiz – Final Exam</a:t>
            </a:r>
          </a:p>
          <a:p>
            <a:pPr marL="146050" indent="0" algn="ctr">
              <a:buNone/>
            </a:pPr>
            <a:r>
              <a:rPr lang="en-US" sz="3200" b="1" dirty="0">
                <a:solidFill>
                  <a:schemeClr val="tx1"/>
                </a:solidFill>
              </a:rPr>
              <a:t>Password - 2025FinalCountdown</a:t>
            </a:r>
            <a:endParaRPr sz="3200" b="1" dirty="0">
              <a:solidFill>
                <a:schemeClr val="tx1"/>
              </a:solidFill>
              <a:highlight>
                <a:srgbClr val="FFFF00"/>
              </a:highlight>
            </a:endParaRPr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CC33EBB-1C9D-B9A9-88E6-F3466077417F}"/>
              </a:ext>
            </a:extLst>
          </p:cNvPr>
          <p:cNvSpPr txBox="1"/>
          <p:nvPr/>
        </p:nvSpPr>
        <p:spPr>
          <a:xfrm>
            <a:off x="-5842" y="1277369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Final Exam - Written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5A19346-2F9F-0DB9-0B08-CF872EB1D563}"/>
              </a:ext>
            </a:extLst>
          </p:cNvPr>
          <p:cNvSpPr txBox="1"/>
          <p:nvPr/>
        </p:nvSpPr>
        <p:spPr>
          <a:xfrm>
            <a:off x="0" y="3313985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Practicum</a:t>
            </a:r>
          </a:p>
        </p:txBody>
      </p:sp>
      <p:sp>
        <p:nvSpPr>
          <p:cNvPr id="4" name="Google Shape;325;p47">
            <a:extLst>
              <a:ext uri="{FF2B5EF4-FFF2-40B4-BE49-F238E27FC236}">
                <a16:creationId xmlns:a16="http://schemas.microsoft.com/office/drawing/2014/main" id="{11D0E6FB-E344-369B-CE83-B3CF5834F823}"/>
              </a:ext>
            </a:extLst>
          </p:cNvPr>
          <p:cNvSpPr txBox="1">
            <a:spLocks/>
          </p:cNvSpPr>
          <p:nvPr/>
        </p:nvSpPr>
        <p:spPr>
          <a:xfrm>
            <a:off x="122842" y="3621762"/>
            <a:ext cx="8478300" cy="1435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342900" indent="-342900">
              <a:spcAft>
                <a:spcPts val="1600"/>
              </a:spcAft>
            </a:pPr>
            <a:r>
              <a:rPr lang="en-US" sz="1600" dirty="0"/>
              <a:t>Accept assignment Final Exam under Instructor -&gt; Alam -&gt; Exam</a:t>
            </a:r>
            <a:endParaRPr lang="en-US" sz="1600" dirty="0">
              <a:solidFill>
                <a:schemeClr val="tx1"/>
              </a:solidFill>
            </a:endParaRPr>
          </a:p>
          <a:p>
            <a:pPr marL="342900" indent="-342900">
              <a:spcAft>
                <a:spcPts val="1600"/>
              </a:spcAft>
            </a:pPr>
            <a:r>
              <a:rPr lang="en-US" sz="1600" dirty="0">
                <a:solidFill>
                  <a:schemeClr val="tx1"/>
                </a:solidFill>
              </a:rPr>
              <a:t>Clone the repository for </a:t>
            </a:r>
            <a:r>
              <a:rPr lang="en-US" sz="1600" dirty="0"/>
              <a:t>Final Exam</a:t>
            </a:r>
            <a:endParaRPr lang="en-US" sz="16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430559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05858" y="96487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Git Commands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4</a:t>
            </a:fld>
            <a:endParaRPr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C13871-BA68-90A2-E0DD-5DAACCB7EB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05858" y="2871299"/>
            <a:ext cx="3999900" cy="1275285"/>
          </a:xfrm>
        </p:spPr>
        <p:txBody>
          <a:bodyPr/>
          <a:lstStyle/>
          <a:p>
            <a:pPr marL="146050" indent="0">
              <a:buNone/>
            </a:pPr>
            <a:r>
              <a:rPr lang="en-US" b="1" dirty="0" err="1"/>
              <a:t>PyTest</a:t>
            </a:r>
            <a:r>
              <a:rPr lang="en-US" b="1" dirty="0"/>
              <a:t> Installation</a:t>
            </a:r>
          </a:p>
          <a:p>
            <a:pPr marL="12700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dirty="0">
                <a:latin typeface="Courier New"/>
                <a:ea typeface="Courier New"/>
                <a:cs typeface="Courier New"/>
                <a:sym typeface="Courier New"/>
              </a:rPr>
              <a:t>pip install -U </a:t>
            </a:r>
            <a:r>
              <a:rPr lang="en-US" dirty="0" err="1">
                <a:latin typeface="Courier New"/>
                <a:ea typeface="Courier New"/>
                <a:cs typeface="Courier New"/>
                <a:sym typeface="Courier New"/>
              </a:rPr>
              <a:t>pytest</a:t>
            </a:r>
            <a:endParaRPr lang="en-US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12700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dirty="0">
                <a:latin typeface="Courier New"/>
                <a:ea typeface="Courier New"/>
                <a:cs typeface="Courier New"/>
                <a:sym typeface="Courier New"/>
              </a:rPr>
              <a:t>python -m pip install -U </a:t>
            </a:r>
            <a:r>
              <a:rPr lang="en-US" dirty="0" err="1">
                <a:latin typeface="Courier New"/>
                <a:ea typeface="Courier New"/>
                <a:cs typeface="Courier New"/>
                <a:sym typeface="Courier New"/>
              </a:rPr>
              <a:t>pytest</a:t>
            </a:r>
            <a:endParaRPr lang="en-US" dirty="0">
              <a:latin typeface="Courier New"/>
              <a:ea typeface="Courier New"/>
              <a:cs typeface="Courier New"/>
              <a:sym typeface="Courier New"/>
            </a:endParaRPr>
          </a:p>
          <a:p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022DB3C6-5E7A-434B-841D-514A2E6AB40F}"/>
              </a:ext>
            </a:extLst>
          </p:cNvPr>
          <p:cNvSpPr txBox="1">
            <a:spLocks/>
          </p:cNvSpPr>
          <p:nvPr/>
        </p:nvSpPr>
        <p:spPr>
          <a:xfrm>
            <a:off x="221333" y="1476922"/>
            <a:ext cx="6359438" cy="12752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146050" indent="0">
              <a:buFont typeface="Roboto"/>
              <a:buNone/>
            </a:pPr>
            <a:r>
              <a:rPr lang="en-US" b="1" dirty="0"/>
              <a:t>Git Configuration</a:t>
            </a:r>
          </a:p>
          <a:p>
            <a:pPr marL="127000" indent="0">
              <a:spcBef>
                <a:spcPts val="1000"/>
              </a:spcBef>
              <a:buFont typeface="Roboto"/>
              <a:buNone/>
            </a:pPr>
            <a:r>
              <a:rPr lang="en-US" dirty="0">
                <a:latin typeface="Courier New"/>
                <a:ea typeface="Courier New"/>
                <a:cs typeface="Courier New"/>
                <a:sym typeface="Courier New"/>
              </a:rPr>
              <a:t>git config –global user.name “NAME”</a:t>
            </a:r>
          </a:p>
          <a:p>
            <a:pPr marL="146050" indent="0">
              <a:buNone/>
            </a:pPr>
            <a:r>
              <a:rPr lang="en-US" dirty="0">
                <a:latin typeface="Courier New"/>
                <a:ea typeface="Courier New"/>
                <a:cs typeface="Courier New"/>
                <a:sym typeface="Courier New"/>
              </a:rPr>
              <a:t>git config –global </a:t>
            </a:r>
            <a:r>
              <a:rPr lang="en-US" dirty="0" err="1">
                <a:latin typeface="Courier New"/>
                <a:ea typeface="Courier New"/>
                <a:cs typeface="Courier New"/>
                <a:sym typeface="Courier New"/>
              </a:rPr>
              <a:t>user.email</a:t>
            </a:r>
            <a:r>
              <a:rPr lang="en-US" dirty="0">
                <a:latin typeface="Courier New"/>
                <a:ea typeface="Courier New"/>
                <a:cs typeface="Courier New"/>
                <a:sym typeface="Courier New"/>
              </a:rPr>
              <a:t> “EMAIL Address”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42944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>
          <a:extLst>
            <a:ext uri="{FF2B5EF4-FFF2-40B4-BE49-F238E27FC236}">
              <a16:creationId xmlns:a16="http://schemas.microsoft.com/office/drawing/2014/main" id="{1AC6523E-CC83-B7B9-B47C-949A9C7203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>
            <a:extLst>
              <a:ext uri="{FF2B5EF4-FFF2-40B4-BE49-F238E27FC236}">
                <a16:creationId xmlns:a16="http://schemas.microsoft.com/office/drawing/2014/main" id="{72CBC233-9E04-A188-2584-2CE1B0FE8F3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00016" y="269197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5" name="Google Shape;325;p47">
            <a:extLst>
              <a:ext uri="{FF2B5EF4-FFF2-40B4-BE49-F238E27FC236}">
                <a16:creationId xmlns:a16="http://schemas.microsoft.com/office/drawing/2014/main" id="{E665F298-5025-E429-9EE6-CD009824AD8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4" y="1758316"/>
            <a:ext cx="4271627" cy="111319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46050" indent="0">
              <a:buNone/>
            </a:pPr>
            <a:r>
              <a:rPr lang="en-US" sz="2000" dirty="0"/>
              <a:t>Take Quiz 12.3: Choose data structure</a:t>
            </a:r>
          </a:p>
          <a:p>
            <a:pPr marL="146050" indent="0">
              <a:buNone/>
            </a:pPr>
            <a:r>
              <a:rPr lang="en-US" sz="2000" dirty="0">
                <a:solidFill>
                  <a:schemeClr val="tx1"/>
                </a:solidFill>
              </a:rPr>
              <a:t>Password – </a:t>
            </a:r>
            <a:r>
              <a:rPr lang="en-US" sz="2000" dirty="0" err="1">
                <a:solidFill>
                  <a:schemeClr val="tx1"/>
                </a:solidFill>
              </a:rPr>
              <a:t>StackEmUp</a:t>
            </a:r>
            <a:endParaRPr sz="2000" dirty="0">
              <a:solidFill>
                <a:schemeClr val="tx1"/>
              </a:solidFill>
            </a:endParaRPr>
          </a:p>
        </p:txBody>
      </p:sp>
      <p:sp>
        <p:nvSpPr>
          <p:cNvPr id="326" name="Google Shape;326;p47">
            <a:extLst>
              <a:ext uri="{FF2B5EF4-FFF2-40B4-BE49-F238E27FC236}">
                <a16:creationId xmlns:a16="http://schemas.microsoft.com/office/drawing/2014/main" id="{06900A1A-D8D4-052D-4D61-A00A33A0490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5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97E7EBF-24E3-825A-A968-FA4B0D04DF1F}"/>
              </a:ext>
            </a:extLst>
          </p:cNvPr>
          <p:cNvSpPr txBox="1"/>
          <p:nvPr/>
        </p:nvSpPr>
        <p:spPr>
          <a:xfrm>
            <a:off x="-11684" y="1287037"/>
            <a:ext cx="9144000" cy="338555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Quiz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823F795-9329-8722-EA48-35E2E42958B6}"/>
              </a:ext>
            </a:extLst>
          </p:cNvPr>
          <p:cNvSpPr txBox="1"/>
          <p:nvPr/>
        </p:nvSpPr>
        <p:spPr>
          <a:xfrm>
            <a:off x="-5842" y="3168849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Next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endParaRPr lang="en-US" dirty="0"/>
          </a:p>
        </p:txBody>
      </p:sp>
      <p:sp>
        <p:nvSpPr>
          <p:cNvPr id="4" name="Google Shape;325;p47">
            <a:extLst>
              <a:ext uri="{FF2B5EF4-FFF2-40B4-BE49-F238E27FC236}">
                <a16:creationId xmlns:a16="http://schemas.microsoft.com/office/drawing/2014/main" id="{0AF88843-F54E-EF33-F5A4-A1A3C1D40E0E}"/>
              </a:ext>
            </a:extLst>
          </p:cNvPr>
          <p:cNvSpPr txBox="1">
            <a:spLocks/>
          </p:cNvSpPr>
          <p:nvPr/>
        </p:nvSpPr>
        <p:spPr>
          <a:xfrm>
            <a:off x="-5842" y="3527388"/>
            <a:ext cx="9149842" cy="15294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spcAft>
                <a:spcPts val="1600"/>
              </a:spcAft>
              <a:buNone/>
            </a:pPr>
            <a:r>
              <a:rPr lang="en-US" sz="2000" dirty="0"/>
              <a:t>After completing the Quiz </a:t>
            </a:r>
          </a:p>
          <a:p>
            <a:pPr marL="342900" indent="-342900">
              <a:spcAft>
                <a:spcPts val="1600"/>
              </a:spcAft>
            </a:pPr>
            <a:r>
              <a:rPr lang="en-US" sz="1800" dirty="0"/>
              <a:t>Accept GitHub Classroom Assignment for Unit 12, if not done already.</a:t>
            </a:r>
          </a:p>
          <a:p>
            <a:pPr marL="342900" indent="-342900">
              <a:spcAft>
                <a:spcPts val="1600"/>
              </a:spcAft>
            </a:pPr>
            <a:r>
              <a:rPr lang="en-US" sz="1800" dirty="0"/>
              <a:t>Clone/pull GitHub classroom repo for Unit 12 under softdev1 folder</a:t>
            </a:r>
            <a:endParaRPr lang="en-US" sz="1800" dirty="0">
              <a:solidFill>
                <a:schemeClr val="tx1"/>
              </a:solidFill>
            </a:endParaRPr>
          </a:p>
        </p:txBody>
      </p:sp>
      <p:sp>
        <p:nvSpPr>
          <p:cNvPr id="5" name="Google Shape;325;p47">
            <a:extLst>
              <a:ext uri="{FF2B5EF4-FFF2-40B4-BE49-F238E27FC236}">
                <a16:creationId xmlns:a16="http://schemas.microsoft.com/office/drawing/2014/main" id="{10D23636-E122-E0ED-219C-67DCAA8D64BE}"/>
              </a:ext>
            </a:extLst>
          </p:cNvPr>
          <p:cNvSpPr txBox="1">
            <a:spLocks/>
          </p:cNvSpPr>
          <p:nvPr/>
        </p:nvSpPr>
        <p:spPr>
          <a:xfrm>
            <a:off x="4303618" y="1844958"/>
            <a:ext cx="4516998" cy="8930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r>
              <a:rPr lang="en-US" sz="2000" dirty="0"/>
              <a:t>Quiz 12.2 Queues</a:t>
            </a:r>
          </a:p>
          <a:p>
            <a:pPr marL="146050" indent="0">
              <a:buNone/>
            </a:pPr>
            <a:r>
              <a:rPr lang="en-US" sz="2000" dirty="0">
                <a:solidFill>
                  <a:schemeClr val="tx1"/>
                </a:solidFill>
              </a:rPr>
              <a:t>Password - </a:t>
            </a:r>
            <a:r>
              <a:rPr lang="en-US" sz="2000" dirty="0" err="1">
                <a:solidFill>
                  <a:schemeClr val="tx1"/>
                </a:solidFill>
              </a:rPr>
              <a:t>queue_not_cue</a:t>
            </a:r>
            <a:endParaRPr lang="en-US" sz="2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358100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11700" y="281600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6</a:t>
            </a:fld>
            <a:endParaRPr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2367527-C843-CD39-04E6-09623F872B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0587100"/>
              </p:ext>
            </p:extLst>
          </p:nvPr>
        </p:nvGraphicFramePr>
        <p:xfrm>
          <a:off x="0" y="1273458"/>
          <a:ext cx="9144000" cy="3870960"/>
        </p:xfrm>
        <a:graphic>
          <a:graphicData uri="http://schemas.openxmlformats.org/drawingml/2006/table">
            <a:tbl>
              <a:tblPr firstRow="1" bandRow="1">
                <a:tableStyleId>{A3E86BE5-DEAD-47DA-858E-511CBEF46327}</a:tableStyleId>
              </a:tblPr>
              <a:tblGrid>
                <a:gridCol w="2718707">
                  <a:extLst>
                    <a:ext uri="{9D8B030D-6E8A-4147-A177-3AD203B41FA5}">
                      <a16:colId xmlns:a16="http://schemas.microsoft.com/office/drawing/2014/main" val="225349855"/>
                    </a:ext>
                  </a:extLst>
                </a:gridCol>
                <a:gridCol w="6425293">
                  <a:extLst>
                    <a:ext uri="{9D8B030D-6E8A-4147-A177-3AD203B41FA5}">
                      <a16:colId xmlns:a16="http://schemas.microsoft.com/office/drawing/2014/main" val="894846783"/>
                    </a:ext>
                  </a:extLst>
                </a:gridCol>
              </a:tblGrid>
              <a:tr h="291836">
                <a:tc>
                  <a:txBody>
                    <a:bodyPr/>
                    <a:lstStyle/>
                    <a:p>
                      <a:r>
                        <a:rPr lang="en-US" dirty="0"/>
                        <a:t>Take Quiz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After Quiz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2440697"/>
                  </a:ext>
                </a:extLst>
              </a:tr>
              <a:tr h="3438506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endParaRPr lang="en-US" sz="1400" dirty="0"/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400" dirty="0"/>
                        <a:t>Quiz 12.2</a:t>
                      </a: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 Queues</a:t>
                      </a: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400" dirty="0">
                          <a:highlight>
                            <a:srgbClr val="FFFF00"/>
                          </a:highlight>
                        </a:rPr>
                        <a:t>Password: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400" dirty="0" err="1">
                          <a:highlight>
                            <a:srgbClr val="FFFF00"/>
                          </a:highlight>
                        </a:rPr>
                        <a:t>nodesAreGood</a:t>
                      </a:r>
                      <a:endParaRPr lang="en-US" sz="1400" dirty="0">
                        <a:highlight>
                          <a:srgbClr val="FFFF00"/>
                        </a:highlight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400" dirty="0"/>
                        <a:t>Quiz 11.3</a:t>
                      </a: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 More Stack &amp; Queues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400" dirty="0">
                          <a:highlight>
                            <a:srgbClr val="FFFF00"/>
                          </a:highlight>
                        </a:rPr>
                        <a:t>Password: </a:t>
                      </a: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400" b="0" i="0" u="none" strike="noStrike" cap="none" dirty="0" err="1">
                          <a:solidFill>
                            <a:srgbClr val="000000"/>
                          </a:solidFill>
                          <a:highlight>
                            <a:srgbClr val="FFFF00"/>
                          </a:highlight>
                          <a:latin typeface="Arial"/>
                          <a:cs typeface="Arial"/>
                          <a:sym typeface="Arial"/>
                        </a:rPr>
                        <a:t>whamBamQuizMan</a:t>
                      </a:r>
                      <a:endParaRPr lang="en-US" sz="1400" b="0" i="0" u="none" strike="noStrike" cap="none" dirty="0">
                        <a:solidFill>
                          <a:srgbClr val="000000"/>
                        </a:solidFill>
                        <a:highlight>
                          <a:srgbClr val="FFFF00"/>
                        </a:highlight>
                        <a:latin typeface="Arial"/>
                        <a:cs typeface="Arial"/>
                        <a:sym typeface="Arial"/>
                      </a:endParaRP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+mj-lt"/>
                        <a:buNone/>
                      </a:pPr>
                      <a:r>
                        <a:rPr lang="en-US" sz="1600" b="1" dirty="0"/>
                        <a:t>If you have not taken survey for this class (Section 13), Take survey at</a:t>
                      </a:r>
                    </a:p>
                    <a:p>
                      <a:pPr marL="0" indent="0">
                        <a:buFont typeface="+mj-lt"/>
                        <a:buNone/>
                      </a:pPr>
                      <a:r>
                        <a:rPr lang="en-US" sz="3600" b="1" dirty="0">
                          <a:solidFill>
                            <a:srgbClr val="FF0000"/>
                          </a:solidFill>
                        </a:rPr>
                        <a:t>https://rit.smartevals.com</a:t>
                      </a:r>
                    </a:p>
                    <a:p>
                      <a:pPr marL="0" indent="0">
                        <a:buFont typeface="+mj-lt"/>
                        <a:buNone/>
                      </a:pPr>
                      <a:r>
                        <a:rPr lang="en-US" sz="1600" dirty="0"/>
                        <a:t>============================================</a:t>
                      </a:r>
                    </a:p>
                    <a:p>
                      <a:pPr marL="0" indent="0">
                        <a:buFont typeface="+mj-lt"/>
                        <a:buNone/>
                      </a:pPr>
                      <a:r>
                        <a:rPr lang="en-US" sz="1600" dirty="0"/>
                        <a:t>Clone Git Repository for assignment “Assignment-Unit13”</a:t>
                      </a:r>
                    </a:p>
                    <a:p>
                      <a:pPr marL="0" indent="0">
                        <a:buFont typeface="+mj-lt"/>
                        <a:buNone/>
                      </a:pPr>
                      <a:r>
                        <a:rPr lang="en-US" sz="1600" dirty="0"/>
                        <a:t>Steps</a:t>
                      </a:r>
                    </a:p>
                    <a:p>
                      <a:pPr marL="285750" indent="-285750">
                        <a:lnSpc>
                          <a:spcPct val="100000"/>
                        </a:lnSpc>
                        <a:buFont typeface="Wingdings" panose="05000000000000000000" pitchFamily="2" charset="2"/>
                        <a:buChar char="è"/>
                      </a:pPr>
                      <a:r>
                        <a:rPr lang="en-US" sz="1600" dirty="0"/>
                        <a:t>Click on Assignment Link and copy the git repo URL</a:t>
                      </a:r>
                    </a:p>
                    <a:p>
                      <a:pPr marL="285750" indent="-285750">
                        <a:lnSpc>
                          <a:spcPct val="100000"/>
                        </a:lnSpc>
                        <a:buFont typeface="Wingdings" panose="05000000000000000000" pitchFamily="2" charset="2"/>
                        <a:buChar char="è"/>
                      </a:pPr>
                      <a:r>
                        <a:rPr lang="en-US" sz="1600" dirty="0"/>
                        <a:t>Execute following command</a:t>
                      </a:r>
                    </a:p>
                    <a:p>
                      <a:pPr marL="0" lvl="1" indent="0">
                        <a:lnSpc>
                          <a:spcPct val="100000"/>
                        </a:lnSpc>
                        <a:buFont typeface="+mj-lt"/>
                        <a:buNone/>
                      </a:pPr>
                      <a:r>
                        <a:rPr lang="en-US" sz="1600" dirty="0"/>
                        <a:t>cd ~</a:t>
                      </a:r>
                    </a:p>
                    <a:p>
                      <a:pPr marL="0" lvl="1" indent="0">
                        <a:lnSpc>
                          <a:spcPct val="100000"/>
                        </a:lnSpc>
                        <a:buFont typeface="+mj-lt"/>
                        <a:buNone/>
                      </a:pPr>
                      <a:r>
                        <a:rPr lang="en-US" sz="1600" dirty="0"/>
                        <a:t>cd softdev1</a:t>
                      </a:r>
                    </a:p>
                    <a:p>
                      <a:pPr marL="0" lvl="1" indent="0">
                        <a:lnSpc>
                          <a:spcPct val="100000"/>
                        </a:lnSpc>
                        <a:buFont typeface="+mj-lt"/>
                        <a:buNone/>
                      </a:pPr>
                      <a:r>
                        <a:rPr lang="en-US" sz="1600" dirty="0"/>
                        <a:t>git clone &lt;Replace with Assignment URL&gt;</a:t>
                      </a:r>
                    </a:p>
                    <a:p>
                      <a:pPr marL="0" lvl="1" indent="0">
                        <a:lnSpc>
                          <a:spcPct val="100000"/>
                        </a:lnSpc>
                        <a:buFont typeface="+mj-lt"/>
                        <a:buNone/>
                      </a:pPr>
                      <a:r>
                        <a:rPr lang="en-US" sz="1600" dirty="0">
                          <a:sym typeface="Wingdings" panose="05000000000000000000" pitchFamily="2" charset="2"/>
                        </a:rPr>
                        <a:t> Open the cloned repository folder in VS Code Editor</a:t>
                      </a:r>
                      <a:endParaRPr lang="en-US" sz="1600" dirty="0"/>
                    </a:p>
                    <a:p>
                      <a:pPr marL="342900" indent="-342900">
                        <a:buFont typeface="+mj-lt"/>
                        <a:buAutoNum type="arabicPeriod"/>
                      </a:pPr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99015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113384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11700" y="281600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7</a:t>
            </a:fld>
            <a:endParaRPr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2367527-C843-CD39-04E6-09623F872B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9249193"/>
              </p:ext>
            </p:extLst>
          </p:nvPr>
        </p:nvGraphicFramePr>
        <p:xfrm>
          <a:off x="0" y="1273458"/>
          <a:ext cx="9144000" cy="3870041"/>
        </p:xfrm>
        <a:graphic>
          <a:graphicData uri="http://schemas.openxmlformats.org/drawingml/2006/table">
            <a:tbl>
              <a:tblPr firstRow="1" bandRow="1">
                <a:tableStyleId>{A3E86BE5-DEAD-47DA-858E-511CBEF46327}</a:tableStyleId>
              </a:tblPr>
              <a:tblGrid>
                <a:gridCol w="2718707">
                  <a:extLst>
                    <a:ext uri="{9D8B030D-6E8A-4147-A177-3AD203B41FA5}">
                      <a16:colId xmlns:a16="http://schemas.microsoft.com/office/drawing/2014/main" val="225349855"/>
                    </a:ext>
                  </a:extLst>
                </a:gridCol>
                <a:gridCol w="6425293">
                  <a:extLst>
                    <a:ext uri="{9D8B030D-6E8A-4147-A177-3AD203B41FA5}">
                      <a16:colId xmlns:a16="http://schemas.microsoft.com/office/drawing/2014/main" val="894846783"/>
                    </a:ext>
                  </a:extLst>
                </a:gridCol>
              </a:tblGrid>
              <a:tr h="379416">
                <a:tc>
                  <a:txBody>
                    <a:bodyPr/>
                    <a:lstStyle/>
                    <a:p>
                      <a:r>
                        <a:rPr lang="en-US" dirty="0"/>
                        <a:t>Take Quiz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After Quiz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2440697"/>
                  </a:ext>
                </a:extLst>
              </a:tr>
              <a:tr h="34906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endParaRPr lang="en-US" sz="1400" dirty="0"/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400" dirty="0"/>
                        <a:t>Quiz </a:t>
                      </a:r>
                      <a:r>
                        <a:rPr lang="en-US" sz="1400"/>
                        <a:t>12.1</a:t>
                      </a:r>
                      <a:r>
                        <a:rPr lang="en-US" sz="1400" b="0" i="0" u="none" strike="noStrike" cap="none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 Stacks</a:t>
                      </a:r>
                      <a:endParaRPr lang="en-US" sz="1400" b="0" i="0" u="none" strike="noStrike" cap="none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400" dirty="0">
                          <a:highlight>
                            <a:srgbClr val="FFFF00"/>
                          </a:highlight>
                        </a:rPr>
                        <a:t>Password: </a:t>
                      </a: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dirty="0" err="1">
                          <a:highlight>
                            <a:srgbClr val="FFFF00"/>
                          </a:highlight>
                        </a:rPr>
                        <a:t>nodeNodeNode</a:t>
                      </a:r>
                      <a:endParaRPr lang="en-US" dirty="0">
                        <a:highlight>
                          <a:srgbClr val="FFFF00"/>
                        </a:highlight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+mj-lt"/>
                        <a:buNone/>
                      </a:pPr>
                      <a:endParaRPr lang="en-US" sz="1600" dirty="0"/>
                    </a:p>
                    <a:p>
                      <a:pPr marL="342900" indent="-342900">
                        <a:spcAft>
                          <a:spcPts val="1600"/>
                        </a:spcAft>
                      </a:pPr>
                      <a:r>
                        <a:rPr lang="en-US" sz="1600" dirty="0"/>
                        <a:t>Git Pull Assignment-Unit-12 for class activities</a:t>
                      </a:r>
                      <a:endParaRPr lang="en-US" sz="1600" dirty="0">
                        <a:solidFill>
                          <a:schemeClr val="tx1"/>
                        </a:solidFill>
                      </a:endParaRPr>
                    </a:p>
                    <a:p>
                      <a:pPr marL="342900" indent="-342900">
                        <a:buFont typeface="+mj-lt"/>
                        <a:buAutoNum type="arabicPeriod"/>
                      </a:pPr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99015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309242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11700" y="281600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5" name="Google Shape;325;p47"/>
          <p:cNvSpPr txBox="1">
            <a:spLocks noGrp="1"/>
          </p:cNvSpPr>
          <p:nvPr>
            <p:ph type="body" idx="1"/>
          </p:nvPr>
        </p:nvSpPr>
        <p:spPr>
          <a:xfrm>
            <a:off x="269400" y="1731134"/>
            <a:ext cx="8478300" cy="1576508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-US" sz="1600" dirty="0"/>
              <a:t>Take Quiz 13.1 –</a:t>
            </a:r>
            <a:r>
              <a:rPr lang="en-US" sz="1600" dirty="0">
                <a:highlight>
                  <a:srgbClr val="FFFF00"/>
                </a:highlight>
              </a:rPr>
              <a:t>10QuestionQuiz</a:t>
            </a:r>
          </a:p>
          <a:p>
            <a:pPr marL="0" lvl="0" indent="0" algn="ctr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-US" sz="1600" dirty="0"/>
              <a:t>Take Quiz 13.2 – Review Part 2- </a:t>
            </a:r>
            <a:r>
              <a:rPr lang="en-US" sz="1600" dirty="0">
                <a:highlight>
                  <a:srgbClr val="FFFF00"/>
                </a:highlight>
              </a:rPr>
              <a:t>10MoreQuestions</a:t>
            </a:r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8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0540133-E9A5-2E60-80A1-2A18FE75CEEF}"/>
              </a:ext>
            </a:extLst>
          </p:cNvPr>
          <p:cNvSpPr txBox="1"/>
          <p:nvPr/>
        </p:nvSpPr>
        <p:spPr>
          <a:xfrm>
            <a:off x="0" y="1277369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Quiz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C77F35E-D936-5B9A-52BF-1CFF096913DC}"/>
              </a:ext>
            </a:extLst>
          </p:cNvPr>
          <p:cNvSpPr txBox="1"/>
          <p:nvPr/>
        </p:nvSpPr>
        <p:spPr>
          <a:xfrm>
            <a:off x="0" y="3359671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Next </a:t>
            </a:r>
            <a:r>
              <a:rPr lang="en-US" dirty="0">
                <a:sym typeface="Wingdings" panose="05000000000000000000" pitchFamily="2" charset="2"/>
              </a:rPr>
              <a:t></a:t>
            </a:r>
            <a:endParaRPr lang="en-US" dirty="0"/>
          </a:p>
        </p:txBody>
      </p:sp>
      <p:sp>
        <p:nvSpPr>
          <p:cNvPr id="4" name="Google Shape;325;p47">
            <a:extLst>
              <a:ext uri="{FF2B5EF4-FFF2-40B4-BE49-F238E27FC236}">
                <a16:creationId xmlns:a16="http://schemas.microsoft.com/office/drawing/2014/main" id="{F1433D15-B1D6-F76F-A0A6-57FA2842E1B7}"/>
              </a:ext>
            </a:extLst>
          </p:cNvPr>
          <p:cNvSpPr txBox="1">
            <a:spLocks/>
          </p:cNvSpPr>
          <p:nvPr/>
        </p:nvSpPr>
        <p:spPr>
          <a:xfrm>
            <a:off x="122842" y="3719477"/>
            <a:ext cx="8478300" cy="133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spcAft>
                <a:spcPts val="1600"/>
              </a:spcAft>
              <a:buFont typeface="Roboto"/>
              <a:buNone/>
            </a:pPr>
            <a:r>
              <a:rPr lang="en-US" sz="1800" dirty="0"/>
              <a:t>After completing the Quiz </a:t>
            </a:r>
          </a:p>
          <a:p>
            <a:pPr marL="342900" indent="-342900">
              <a:spcAft>
                <a:spcPts val="1600"/>
              </a:spcAft>
            </a:pPr>
            <a:r>
              <a:rPr lang="en-US" sz="1600" dirty="0"/>
              <a:t>Clone or Pull Assignment-Unit13 for class activities</a:t>
            </a:r>
            <a:endParaRPr lang="en-US" sz="1600" dirty="0">
              <a:solidFill>
                <a:schemeClr val="tx1"/>
              </a:solidFill>
            </a:endParaRPr>
          </a:p>
          <a:p>
            <a:pPr marL="342900" indent="-342900">
              <a:spcAft>
                <a:spcPts val="1600"/>
              </a:spcAft>
            </a:pPr>
            <a:r>
              <a:rPr lang="en-US" sz="1600" b="1" dirty="0">
                <a:solidFill>
                  <a:schemeClr val="tx1"/>
                </a:solidFill>
              </a:rPr>
              <a:t>Fill Out the </a:t>
            </a:r>
            <a:r>
              <a:rPr lang="en-US" sz="1600" b="1" dirty="0">
                <a:solidFill>
                  <a:schemeClr val="tx1"/>
                </a:solidFill>
                <a:highlight>
                  <a:srgbClr val="FFFF00"/>
                </a:highlight>
              </a:rPr>
              <a:t>CLASS EVALUATION </a:t>
            </a:r>
            <a:r>
              <a:rPr lang="en-US" sz="1600" b="1" dirty="0">
                <a:solidFill>
                  <a:schemeClr val="tx1"/>
                </a:solidFill>
              </a:rPr>
              <a:t>if you have not done yet.</a:t>
            </a:r>
          </a:p>
        </p:txBody>
      </p:sp>
    </p:spTree>
    <p:extLst>
      <p:ext uri="{BB962C8B-B14F-4D97-AF65-F5344CB8AC3E}">
        <p14:creationId xmlns:p14="http://schemas.microsoft.com/office/powerpoint/2010/main" val="42060041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226208" y="1"/>
            <a:ext cx="8520600" cy="4649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Use </a:t>
            </a:r>
            <a:r>
              <a:rPr lang="en-US" sz="2400" dirty="0"/>
              <a:t>Assigned</a:t>
            </a:r>
            <a:r>
              <a:rPr lang="en-US" dirty="0"/>
              <a:t> Seat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9</a:t>
            </a:fld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65A4964-E8A9-A46D-F4BE-E7D41C14EF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59220"/>
            <a:ext cx="9144000" cy="4471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55098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226208" y="1"/>
            <a:ext cx="8520600" cy="4649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Use </a:t>
            </a:r>
            <a:r>
              <a:rPr lang="en-US" sz="2400" dirty="0"/>
              <a:t>Assigned</a:t>
            </a:r>
            <a:r>
              <a:rPr lang="en-US" dirty="0"/>
              <a:t> Seat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10</a:t>
            </a:fld>
            <a:endParaRPr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ED32793-7C09-E3A3-94E5-B5D46727A1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551663"/>
            <a:ext cx="9144001" cy="4591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63484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226208" y="1"/>
            <a:ext cx="8520600" cy="4649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Use </a:t>
            </a:r>
            <a:r>
              <a:rPr lang="en-US" sz="2400" dirty="0"/>
              <a:t>Assigned</a:t>
            </a:r>
            <a:r>
              <a:rPr lang="en-US" dirty="0"/>
              <a:t> Seat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11</a:t>
            </a:fld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2DE4AAC-70FE-A114-5258-F5B22EDDED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716280"/>
            <a:ext cx="9144000" cy="44272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64030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226208" y="1"/>
            <a:ext cx="8520600" cy="4649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Use </a:t>
            </a:r>
            <a:r>
              <a:rPr lang="en-US" sz="2400" dirty="0"/>
              <a:t>Assigned</a:t>
            </a:r>
            <a:r>
              <a:rPr lang="en-US" dirty="0"/>
              <a:t> Seat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12</a:t>
            </a:fld>
            <a:endParaRPr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CD752B9-EFAE-AFC1-7D39-6763B89DE8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52130"/>
            <a:ext cx="9144000" cy="44913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5057756"/>
      </p:ext>
    </p:extLst>
  </p:cSld>
  <p:clrMapOvr>
    <a:masterClrMapping/>
  </p:clrMapOvr>
</p:sld>
</file>

<file path=ppt/theme/theme1.xml><?xml version="1.0" encoding="utf-8"?>
<a:theme xmlns:a="http://schemas.openxmlformats.org/drawingml/2006/main" name="Paradigm">
  <a:themeElements>
    <a:clrScheme name="Paradigm">
      <a:dk1>
        <a:srgbClr val="31394D"/>
      </a:dk1>
      <a:lt1>
        <a:srgbClr val="FFFFFF"/>
      </a:lt1>
      <a:dk2>
        <a:srgbClr val="666666"/>
      </a:dk2>
      <a:lt2>
        <a:srgbClr val="626B73"/>
      </a:lt2>
      <a:accent1>
        <a:srgbClr val="002F4A"/>
      </a:accent1>
      <a:accent2>
        <a:srgbClr val="D9C4B1"/>
      </a:accent2>
      <a:accent3>
        <a:srgbClr val="EDE3DA"/>
      </a:accent3>
      <a:accent4>
        <a:srgbClr val="B85741"/>
      </a:accent4>
      <a:accent5>
        <a:srgbClr val="009384"/>
      </a:accent5>
      <a:accent6>
        <a:srgbClr val="D0F6FF"/>
      </a:accent6>
      <a:hlink>
        <a:srgbClr val="009384"/>
      </a:hlink>
      <a:folHlink>
        <a:srgbClr val="009384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530</TotalTime>
  <Words>414</Words>
  <Application>Microsoft Office PowerPoint</Application>
  <PresentationFormat>On-screen Show (16:9)</PresentationFormat>
  <Paragraphs>95</Paragraphs>
  <Slides>12</Slides>
  <Notes>12</Notes>
  <HiddenSlides>12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Courier New</vt:lpstr>
      <vt:lpstr>Arial</vt:lpstr>
      <vt:lpstr>Wingdings</vt:lpstr>
      <vt:lpstr>Merriweather</vt:lpstr>
      <vt:lpstr>Roboto</vt:lpstr>
      <vt:lpstr>Paradigm</vt:lpstr>
      <vt:lpstr>GCIS – Software Development and Problem Solving</vt:lpstr>
      <vt:lpstr>GCIS – Software Development and Problem Solving</vt:lpstr>
      <vt:lpstr>GCIS – Software Development and Problem Solving</vt:lpstr>
      <vt:lpstr>Git Commands</vt:lpstr>
      <vt:lpstr>GCIS – Software Development and Problem Solving</vt:lpstr>
      <vt:lpstr>GCIS – Software Development and Problem Solving</vt:lpstr>
      <vt:lpstr>GCIS – Software Development and Problem Solving</vt:lpstr>
      <vt:lpstr>GCIS – Software Development and Problem Solving</vt:lpstr>
      <vt:lpstr>Use Assigned Seat</vt:lpstr>
      <vt:lpstr>Use Assigned Seat</vt:lpstr>
      <vt:lpstr>Use Assigned Seat</vt:lpstr>
      <vt:lpstr>Use Assigned Seat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GCIS-123 Software Development &amp; Problem Solving</dc:title>
  <cp:lastModifiedBy>Tanweer Alam</cp:lastModifiedBy>
  <cp:revision>131</cp:revision>
  <cp:lastPrinted>2023-10-24T20:13:22Z</cp:lastPrinted>
  <dcterms:modified xsi:type="dcterms:W3CDTF">2026-01-20T03:00:20Z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5d54f1a3-9ed5-415d-ba95-38401c4b8817_Enabled">
    <vt:lpwstr>true</vt:lpwstr>
  </property>
  <property fmtid="{D5CDD505-2E9C-101B-9397-08002B2CF9AE}" pid="3" name="MSIP_Label_5d54f1a3-9ed5-415d-ba95-38401c4b8817_SetDate">
    <vt:lpwstr>2023-08-21T19:59:00Z</vt:lpwstr>
  </property>
  <property fmtid="{D5CDD505-2E9C-101B-9397-08002B2CF9AE}" pid="4" name="MSIP_Label_5d54f1a3-9ed5-415d-ba95-38401c4b8817_Method">
    <vt:lpwstr>Standard</vt:lpwstr>
  </property>
  <property fmtid="{D5CDD505-2E9C-101B-9397-08002B2CF9AE}" pid="5" name="MSIP_Label_5d54f1a3-9ed5-415d-ba95-38401c4b8817_Name">
    <vt:lpwstr>Peraton Proprietary</vt:lpwstr>
  </property>
  <property fmtid="{D5CDD505-2E9C-101B-9397-08002B2CF9AE}" pid="6" name="MSIP_Label_5d54f1a3-9ed5-415d-ba95-38401c4b8817_SiteId">
    <vt:lpwstr>2a6ae295-f13d-4948-ba78-332742ce9097</vt:lpwstr>
  </property>
  <property fmtid="{D5CDD505-2E9C-101B-9397-08002B2CF9AE}" pid="7" name="MSIP_Label_5d54f1a3-9ed5-415d-ba95-38401c4b8817_ActionId">
    <vt:lpwstr>744b29f9-739a-4469-91a6-785f9d8fb005</vt:lpwstr>
  </property>
  <property fmtid="{D5CDD505-2E9C-101B-9397-08002B2CF9AE}" pid="8" name="MSIP_Label_5d54f1a3-9ed5-415d-ba95-38401c4b8817_ContentBits">
    <vt:lpwstr>1</vt:lpwstr>
  </property>
</Properties>
</file>