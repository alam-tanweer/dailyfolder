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Amatic SC"/>
      <p:regular r:id="rId27"/>
      <p:bold r:id="rId28"/>
    </p:embeddedFont>
    <p:embeddedFont>
      <p:font typeface="Merriweather"/>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37212C-CA35-4980-8892-C8B34478D71A}">
  <a:tblStyle styleId="{1B37212C-CA35-4980-8892-C8B34478D71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AmaticSC-bold.fntdata"/><Relationship Id="rId27" Type="http://schemas.openxmlformats.org/officeDocument/2006/relationships/font" Target="fonts/AmaticSC-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Merriweather-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d7374f6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cd7374f6c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1975dcaf28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11975dcaf28_1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dca79495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dca79495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dca794952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cdca794952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dca7949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cdca7949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dca79495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cdca794952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dca794952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cdca794952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dca794952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cdca794952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 name="Shape 9"/>
        <p:cNvGrpSpPr/>
        <p:nvPr/>
      </p:nvGrpSpPr>
      <p:grpSpPr>
        <a:xfrm>
          <a:off x="0" y="0"/>
          <a:ext cx="0" cy="0"/>
          <a:chOff x="0" y="0"/>
          <a:chExt cx="0" cy="0"/>
        </a:xfrm>
      </p:grpSpPr>
      <p:sp>
        <p:nvSpPr>
          <p:cNvPr id="10" name="Google Shape;10;p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2" name="Google Shape;12;p2"/>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3" name="Google Shape;13;p2"/>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4" name="Google Shape;14;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 name="Google Shape;17;p3"/>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9" name="Google Shape;19;p3"/>
          <p:cNvSpPr txBox="1"/>
          <p:nvPr>
            <p:ph idx="1" type="body"/>
          </p:nvPr>
        </p:nvSpPr>
        <p:spPr>
          <a:xfrm>
            <a:off x="46446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0" name="Google Shape;2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3"/>
          <p:cNvSpPr txBox="1"/>
          <p:nvPr>
            <p:ph idx="2" type="body"/>
          </p:nvPr>
        </p:nvSpPr>
        <p:spPr>
          <a:xfrm>
            <a:off x="3154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22" name="Google Shape;22;p3"/>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 name="Shape 23"/>
        <p:cNvGrpSpPr/>
        <p:nvPr/>
      </p:nvGrpSpPr>
      <p:grpSpPr>
        <a:xfrm>
          <a:off x="0" y="0"/>
          <a:ext cx="0" cy="0"/>
          <a:chOff x="0" y="0"/>
          <a:chExt cx="0" cy="0"/>
        </a:xfrm>
      </p:grpSpPr>
      <p:sp>
        <p:nvSpPr>
          <p:cNvPr id="24" name="Google Shape;24;p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6" name="Google Shape;26;p4"/>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8" name="Google Shape;28;p4"/>
          <p:cNvSpPr txBox="1"/>
          <p:nvPr>
            <p:ph idx="1" type="body"/>
          </p:nvPr>
        </p:nvSpPr>
        <p:spPr>
          <a:xfrm>
            <a:off x="3012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9" name="Google Shape;29;p4"/>
          <p:cNvSpPr txBox="1"/>
          <p:nvPr>
            <p:ph idx="2" type="body"/>
          </p:nvPr>
        </p:nvSpPr>
        <p:spPr>
          <a:xfrm>
            <a:off x="51922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30" name="Google Shape;30;p4"/>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5"/>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4" name="Google Shape;3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35" name="Shape 35"/>
        <p:cNvGrpSpPr/>
        <p:nvPr/>
      </p:nvGrpSpPr>
      <p:grpSpPr>
        <a:xfrm>
          <a:off x="0" y="0"/>
          <a:ext cx="0" cy="0"/>
          <a:chOff x="0" y="0"/>
          <a:chExt cx="0" cy="0"/>
        </a:xfrm>
      </p:grpSpPr>
      <p:sp>
        <p:nvSpPr>
          <p:cNvPr id="36" name="Google Shape;36;p6"/>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7" name="Google Shape;37;p6"/>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38" name="Google Shape;38;p6"/>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39" name="Google Shape;3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0" name="Shape 40"/>
        <p:cNvGrpSpPr/>
        <p:nvPr/>
      </p:nvGrpSpPr>
      <p:grpSpPr>
        <a:xfrm>
          <a:off x="0" y="0"/>
          <a:ext cx="0" cy="0"/>
          <a:chOff x="0" y="0"/>
          <a:chExt cx="0" cy="0"/>
        </a:xfrm>
      </p:grpSpPr>
      <p:sp>
        <p:nvSpPr>
          <p:cNvPr id="41" name="Google Shape;41;p7"/>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42" name="Google Shape;42;p7"/>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43" name="Google Shape;43;p7"/>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44" name="Google Shape;4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9"/>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0"/>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1600"/>
              </a:spcBef>
              <a:spcAft>
                <a:spcPts val="0"/>
              </a:spcAft>
              <a:buClr>
                <a:schemeClr val="accent2"/>
              </a:buClr>
              <a:buSzPts val="1100"/>
              <a:buChar char="○"/>
              <a:defRPr>
                <a:solidFill>
                  <a:schemeClr val="accent2"/>
                </a:solidFill>
              </a:defRPr>
            </a:lvl2pPr>
            <a:lvl3pPr indent="-298450" lvl="2" marL="1371600" algn="l">
              <a:lnSpc>
                <a:spcPct val="115000"/>
              </a:lnSpc>
              <a:spcBef>
                <a:spcPts val="1600"/>
              </a:spcBef>
              <a:spcAft>
                <a:spcPts val="0"/>
              </a:spcAft>
              <a:buClr>
                <a:schemeClr val="accent2"/>
              </a:buClr>
              <a:buSzPts val="1100"/>
              <a:buChar char="■"/>
              <a:defRPr>
                <a:solidFill>
                  <a:schemeClr val="accent2"/>
                </a:solidFill>
              </a:defRPr>
            </a:lvl3pPr>
            <a:lvl4pPr indent="-298450" lvl="3" marL="1828800" algn="l">
              <a:lnSpc>
                <a:spcPct val="115000"/>
              </a:lnSpc>
              <a:spcBef>
                <a:spcPts val="1600"/>
              </a:spcBef>
              <a:spcAft>
                <a:spcPts val="0"/>
              </a:spcAft>
              <a:buClr>
                <a:schemeClr val="accent2"/>
              </a:buClr>
              <a:buSzPts val="1100"/>
              <a:buChar char="●"/>
              <a:defRPr>
                <a:solidFill>
                  <a:schemeClr val="accent2"/>
                </a:solidFill>
              </a:defRPr>
            </a:lvl4pPr>
            <a:lvl5pPr indent="-298450" lvl="4" marL="2286000" algn="l">
              <a:lnSpc>
                <a:spcPct val="115000"/>
              </a:lnSpc>
              <a:spcBef>
                <a:spcPts val="1600"/>
              </a:spcBef>
              <a:spcAft>
                <a:spcPts val="0"/>
              </a:spcAft>
              <a:buClr>
                <a:schemeClr val="accent2"/>
              </a:buClr>
              <a:buSzPts val="1100"/>
              <a:buChar char="○"/>
              <a:defRPr>
                <a:solidFill>
                  <a:schemeClr val="accent2"/>
                </a:solidFill>
              </a:defRPr>
            </a:lvl5pPr>
            <a:lvl6pPr indent="-298450" lvl="5" marL="2743200" algn="l">
              <a:lnSpc>
                <a:spcPct val="115000"/>
              </a:lnSpc>
              <a:spcBef>
                <a:spcPts val="1600"/>
              </a:spcBef>
              <a:spcAft>
                <a:spcPts val="0"/>
              </a:spcAft>
              <a:buClr>
                <a:schemeClr val="accent2"/>
              </a:buClr>
              <a:buSzPts val="1100"/>
              <a:buChar char="■"/>
              <a:defRPr>
                <a:solidFill>
                  <a:schemeClr val="accent2"/>
                </a:solidFill>
              </a:defRPr>
            </a:lvl6pPr>
            <a:lvl7pPr indent="-298450" lvl="6" marL="3200400" algn="l">
              <a:lnSpc>
                <a:spcPct val="115000"/>
              </a:lnSpc>
              <a:spcBef>
                <a:spcPts val="1600"/>
              </a:spcBef>
              <a:spcAft>
                <a:spcPts val="0"/>
              </a:spcAft>
              <a:buClr>
                <a:schemeClr val="accent2"/>
              </a:buClr>
              <a:buSzPts val="1100"/>
              <a:buChar char="●"/>
              <a:defRPr>
                <a:solidFill>
                  <a:schemeClr val="accent2"/>
                </a:solidFill>
              </a:defRPr>
            </a:lvl7pPr>
            <a:lvl8pPr indent="-298450" lvl="7" marL="3657600" algn="l">
              <a:lnSpc>
                <a:spcPct val="115000"/>
              </a:lnSpc>
              <a:spcBef>
                <a:spcPts val="1600"/>
              </a:spcBef>
              <a:spcAft>
                <a:spcPts val="0"/>
              </a:spcAft>
              <a:buClr>
                <a:schemeClr val="accent2"/>
              </a:buClr>
              <a:buSzPts val="1100"/>
              <a:buChar char="○"/>
              <a:defRPr>
                <a:solidFill>
                  <a:schemeClr val="accent2"/>
                </a:solidFill>
              </a:defRPr>
            </a:lvl8pPr>
            <a:lvl9pPr indent="-298450" lvl="8" marL="4114800" algn="l">
              <a:lnSpc>
                <a:spcPct val="115000"/>
              </a:lnSpc>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1600"/>
              </a:spcBef>
              <a:spcAft>
                <a:spcPts val="160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youtube.com/watch?v=ET3Q6zNK3Io" TargetMode="External"/><Relationship Id="rId4" Type="http://schemas.openxmlformats.org/officeDocument/2006/relationships/hyperlink" Target="https://www.youtube.com/watch?v=ET3Q6zNK3Io" TargetMode="External"/><Relationship Id="rId5" Type="http://schemas.openxmlformats.org/officeDocument/2006/relationships/image" Target="../media/image3.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233150" y="27947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a:t>
            </a:r>
            <a:r>
              <a:rPr lang="en"/>
              <a:t>Part 1: </a:t>
            </a:r>
            <a:r>
              <a:rPr lang="en"/>
              <a:t>Kick-Off</a:t>
            </a:r>
            <a:endParaRPr/>
          </a:p>
        </p:txBody>
      </p:sp>
      <p:sp>
        <p:nvSpPr>
          <p:cNvPr id="69" name="Google Shape;6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0" name="Google Shape;70;p13"/>
          <p:cNvSpPr txBox="1"/>
          <p:nvPr/>
        </p:nvSpPr>
        <p:spPr>
          <a:xfrm>
            <a:off x="128925" y="1716118"/>
            <a:ext cx="4691400" cy="2742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Today's class will be devoted to getting started on your team project.</a:t>
            </a:r>
            <a:endParaRPr b="0" i="0" u="none" cap="none" strike="noStrike">
              <a:solidFill>
                <a:srgbClr val="666666"/>
              </a:solidFill>
              <a:latin typeface="Roboto"/>
              <a:ea typeface="Roboto"/>
              <a:cs typeface="Roboto"/>
              <a:sym typeface="Roboto"/>
            </a:endParaRPr>
          </a:p>
          <a:p>
            <a:pPr indent="-317500" lvl="0" marL="457200" marR="0" rtl="0" algn="l">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If y</a:t>
            </a:r>
            <a:r>
              <a:rPr b="0" i="0" lang="en" u="none" cap="none" strike="noStrike">
                <a:solidFill>
                  <a:srgbClr val="666666"/>
                </a:solidFill>
                <a:latin typeface="Roboto"/>
                <a:ea typeface="Roboto"/>
                <a:cs typeface="Roboto"/>
                <a:sym typeface="Roboto"/>
              </a:rPr>
              <a:t>our instructor has not already done so, you will be divided into </a:t>
            </a:r>
            <a:r>
              <a:rPr b="1" i="1" lang="en" u="none" cap="none" strike="noStrike">
                <a:solidFill>
                  <a:srgbClr val="FF0000"/>
                </a:solidFill>
                <a:latin typeface="Roboto"/>
                <a:ea typeface="Roboto"/>
                <a:cs typeface="Roboto"/>
                <a:sym typeface="Roboto"/>
              </a:rPr>
              <a:t>teams of 3 or 4 students</a:t>
            </a:r>
            <a:r>
              <a:rPr b="0" i="0" lang="en" u="none" cap="none" strike="noStrike">
                <a:solidFill>
                  <a:srgbClr val="666666"/>
                </a:solidFill>
                <a:latin typeface="Roboto"/>
                <a:ea typeface="Roboto"/>
                <a:cs typeface="Roboto"/>
                <a:sym typeface="Roboto"/>
              </a:rPr>
              <a:t>.</a:t>
            </a:r>
            <a:endParaRPr b="0" i="0" u="none" cap="none" strike="noStrike">
              <a:solidFill>
                <a:srgbClr val="666666"/>
              </a:solidFill>
              <a:latin typeface="Roboto"/>
              <a:ea typeface="Roboto"/>
              <a:cs typeface="Roboto"/>
              <a:sym typeface="Roboto"/>
            </a:endParaRPr>
          </a:p>
          <a:p>
            <a:pPr indent="-317500" lvl="0" marL="4572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Each team will </a:t>
            </a:r>
            <a:r>
              <a:rPr b="1" i="1" lang="en" u="none" cap="none" strike="noStrike">
                <a:solidFill>
                  <a:srgbClr val="FF0000"/>
                </a:solidFill>
                <a:latin typeface="Roboto"/>
                <a:ea typeface="Roboto"/>
                <a:cs typeface="Roboto"/>
                <a:sym typeface="Roboto"/>
              </a:rPr>
              <a:t>work together</a:t>
            </a:r>
            <a:r>
              <a:rPr b="0" i="0" lang="en" u="none" cap="none" strike="noStrike">
                <a:solidFill>
                  <a:srgbClr val="666666"/>
                </a:solidFill>
                <a:latin typeface="Roboto"/>
                <a:ea typeface="Roboto"/>
                <a:cs typeface="Roboto"/>
                <a:sym typeface="Roboto"/>
              </a:rPr>
              <a:t> to</a:t>
            </a:r>
            <a:r>
              <a:rPr lang="en">
                <a:solidFill>
                  <a:srgbClr val="666666"/>
                </a:solidFill>
                <a:latin typeface="Roboto"/>
                <a:ea typeface="Roboto"/>
                <a:cs typeface="Roboto"/>
                <a:sym typeface="Roboto"/>
              </a:rPr>
              <a:t>:</a:t>
            </a:r>
            <a:endParaRPr>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Set up the team repository.</a:t>
            </a:r>
            <a:endParaRPr>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Discuss and design the project.</a:t>
            </a:r>
            <a:endParaRPr>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Plan meeting times.</a:t>
            </a:r>
            <a:endParaRPr>
              <a:solidFill>
                <a:srgbClr val="666666"/>
              </a:solidFill>
              <a:latin typeface="Roboto"/>
              <a:ea typeface="Roboto"/>
              <a:cs typeface="Roboto"/>
              <a:sym typeface="Roboto"/>
            </a:endParaRPr>
          </a:p>
          <a:p>
            <a:pPr indent="-317500" lvl="1" marL="914400" rtl="0" algn="l">
              <a:lnSpc>
                <a:spcPct val="115000"/>
              </a:lnSpc>
              <a:spcBef>
                <a:spcPts val="0"/>
              </a:spcBef>
              <a:spcAft>
                <a:spcPts val="0"/>
              </a:spcAft>
              <a:buClr>
                <a:srgbClr val="666666"/>
              </a:buClr>
              <a:buSzPts val="1400"/>
              <a:buFont typeface="Roboto"/>
              <a:buChar char="○"/>
            </a:pPr>
            <a:r>
              <a:rPr lang="en">
                <a:solidFill>
                  <a:schemeClr val="dk2"/>
                </a:solidFill>
                <a:latin typeface="Roboto"/>
                <a:ea typeface="Roboto"/>
                <a:cs typeface="Roboto"/>
                <a:sym typeface="Roboto"/>
              </a:rPr>
              <a:t>Practice pair programming.</a:t>
            </a:r>
            <a:endParaRPr>
              <a:solidFill>
                <a:schemeClr val="dk2"/>
              </a:solidFill>
              <a:latin typeface="Roboto"/>
              <a:ea typeface="Roboto"/>
              <a:cs typeface="Roboto"/>
              <a:sym typeface="Roboto"/>
            </a:endParaRPr>
          </a:p>
          <a:p>
            <a:pPr indent="-317500" lvl="1" marL="914400" rtl="0" algn="l">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Start the project!</a:t>
            </a:r>
            <a:endParaRPr b="0" i="0" u="none" cap="none" strike="noStrike">
              <a:solidFill>
                <a:srgbClr val="666666"/>
              </a:solidFill>
              <a:latin typeface="Roboto"/>
              <a:ea typeface="Roboto"/>
              <a:cs typeface="Roboto"/>
              <a:sym typeface="Roboto"/>
            </a:endParaRPr>
          </a:p>
        </p:txBody>
      </p:sp>
      <p:pic>
        <p:nvPicPr>
          <p:cNvPr id="71" name="Google Shape;71;p13"/>
          <p:cNvPicPr preferRelativeResize="0"/>
          <p:nvPr/>
        </p:nvPicPr>
        <p:blipFill>
          <a:blip r:embed="rId3">
            <a:alphaModFix/>
          </a:blip>
          <a:stretch>
            <a:fillRect/>
          </a:stretch>
        </p:blipFill>
        <p:spPr>
          <a:xfrm>
            <a:off x="5084775" y="1599218"/>
            <a:ext cx="3777325" cy="2976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Submissions</a:t>
            </a:r>
            <a:endParaRPr/>
          </a:p>
        </p:txBody>
      </p:sp>
      <p:sp>
        <p:nvSpPr>
          <p:cNvPr id="77" name="Google Shape;7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78" name="Google Shape;78;p14"/>
          <p:cNvSpPr txBox="1"/>
          <p:nvPr/>
        </p:nvSpPr>
        <p:spPr>
          <a:xfrm>
            <a:off x="4432725" y="500925"/>
            <a:ext cx="4361100" cy="41622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15000"/>
              </a:lnSpc>
              <a:spcBef>
                <a:spcPts val="0"/>
              </a:spcBef>
              <a:spcAft>
                <a:spcPts val="0"/>
              </a:spcAft>
              <a:buClr>
                <a:srgbClr val="666666"/>
              </a:buClr>
              <a:buSzPts val="1300"/>
              <a:buFont typeface="Roboto"/>
              <a:buChar char="●"/>
            </a:pPr>
            <a:r>
              <a:rPr lang="en" sz="1300">
                <a:solidFill>
                  <a:srgbClr val="666666"/>
                </a:solidFill>
                <a:latin typeface="Roboto"/>
                <a:ea typeface="Roboto"/>
                <a:cs typeface="Roboto"/>
                <a:sym typeface="Roboto"/>
              </a:rPr>
              <a:t>This project is organized into </a:t>
            </a:r>
            <a:r>
              <a:rPr b="1" i="1" lang="en" sz="1300">
                <a:solidFill>
                  <a:srgbClr val="FF0000"/>
                </a:solidFill>
                <a:latin typeface="Roboto"/>
                <a:ea typeface="Roboto"/>
                <a:cs typeface="Roboto"/>
                <a:sym typeface="Roboto"/>
              </a:rPr>
              <a:t>three parts</a:t>
            </a:r>
            <a:r>
              <a:rPr lang="en" sz="1300">
                <a:solidFill>
                  <a:srgbClr val="666666"/>
                </a:solidFill>
                <a:latin typeface="Roboto"/>
                <a:ea typeface="Roboto"/>
                <a:cs typeface="Roboto"/>
                <a:sym typeface="Roboto"/>
              </a:rPr>
              <a:t> with part 1 counting as 2 homework assignments and parts 2 and 3 counting as 1 homework assignment each.</a:t>
            </a:r>
            <a:endParaRPr sz="1300">
              <a:solidFill>
                <a:srgbClr val="666666"/>
              </a:solidFill>
              <a:latin typeface="Roboto"/>
              <a:ea typeface="Roboto"/>
              <a:cs typeface="Roboto"/>
              <a:sym typeface="Roboto"/>
            </a:endParaRPr>
          </a:p>
          <a:p>
            <a:pPr indent="-311150" lvl="0" marL="457200" marR="0" rtl="0" algn="l">
              <a:lnSpc>
                <a:spcPct val="115000"/>
              </a:lnSpc>
              <a:spcBef>
                <a:spcPts val="0"/>
              </a:spcBef>
              <a:spcAft>
                <a:spcPts val="0"/>
              </a:spcAft>
              <a:buClr>
                <a:srgbClr val="666666"/>
              </a:buClr>
              <a:buSzPts val="1300"/>
              <a:buFont typeface="Roboto"/>
              <a:buChar char="●"/>
            </a:pPr>
            <a:r>
              <a:rPr lang="en" sz="1300">
                <a:solidFill>
                  <a:srgbClr val="666666"/>
                </a:solidFill>
                <a:latin typeface="Roboto"/>
                <a:ea typeface="Roboto"/>
                <a:cs typeface="Roboto"/>
                <a:sym typeface="Roboto"/>
              </a:rPr>
              <a:t>You will have at least 4 days to complete each part.</a:t>
            </a:r>
            <a:endParaRPr sz="1300">
              <a:solidFill>
                <a:srgbClr val="666666"/>
              </a:solidFill>
              <a:latin typeface="Roboto"/>
              <a:ea typeface="Roboto"/>
              <a:cs typeface="Roboto"/>
              <a:sym typeface="Roboto"/>
            </a:endParaRPr>
          </a:p>
          <a:p>
            <a:pPr indent="-311150" lvl="0" marL="457200" marR="0" rtl="0" algn="l">
              <a:lnSpc>
                <a:spcPct val="115000"/>
              </a:lnSpc>
              <a:spcBef>
                <a:spcPts val="0"/>
              </a:spcBef>
              <a:spcAft>
                <a:spcPts val="0"/>
              </a:spcAft>
              <a:buClr>
                <a:srgbClr val="666666"/>
              </a:buClr>
              <a:buSzPts val="1300"/>
              <a:buFont typeface="Roboto"/>
              <a:buChar char="●"/>
            </a:pPr>
            <a:r>
              <a:rPr lang="en" sz="1300">
                <a:solidFill>
                  <a:srgbClr val="666666"/>
                </a:solidFill>
                <a:latin typeface="Roboto"/>
                <a:ea typeface="Roboto"/>
                <a:cs typeface="Roboto"/>
                <a:sym typeface="Roboto"/>
              </a:rPr>
              <a:t>Each part will be submitted via GitHub, just like regular assignments, except that your team will be working in </a:t>
            </a:r>
            <a:r>
              <a:rPr b="1" i="1" lang="en" sz="1300">
                <a:solidFill>
                  <a:srgbClr val="FF0000"/>
                </a:solidFill>
                <a:latin typeface="Roboto"/>
                <a:ea typeface="Roboto"/>
                <a:cs typeface="Roboto"/>
                <a:sym typeface="Roboto"/>
              </a:rPr>
              <a:t>one repository</a:t>
            </a:r>
            <a:r>
              <a:rPr lang="en" sz="1300">
                <a:solidFill>
                  <a:srgbClr val="666666"/>
                </a:solidFill>
                <a:latin typeface="Roboto"/>
                <a:ea typeface="Roboto"/>
                <a:cs typeface="Roboto"/>
                <a:sym typeface="Roboto"/>
              </a:rPr>
              <a:t>.</a:t>
            </a:r>
            <a:endParaRPr sz="1300">
              <a:solidFill>
                <a:srgbClr val="666666"/>
              </a:solidFill>
              <a:latin typeface="Roboto"/>
              <a:ea typeface="Roboto"/>
              <a:cs typeface="Roboto"/>
              <a:sym typeface="Roboto"/>
            </a:endParaRPr>
          </a:p>
          <a:p>
            <a:pPr indent="-311150" lvl="0" marL="457200" marR="0" rtl="0" algn="l">
              <a:lnSpc>
                <a:spcPct val="115000"/>
              </a:lnSpc>
              <a:spcBef>
                <a:spcPts val="0"/>
              </a:spcBef>
              <a:spcAft>
                <a:spcPts val="0"/>
              </a:spcAft>
              <a:buClr>
                <a:srgbClr val="666666"/>
              </a:buClr>
              <a:buSzPts val="1300"/>
              <a:buFont typeface="Roboto"/>
              <a:buChar char="●"/>
            </a:pPr>
            <a:r>
              <a:rPr lang="en" sz="1300">
                <a:solidFill>
                  <a:srgbClr val="666666"/>
                </a:solidFill>
                <a:latin typeface="Roboto"/>
                <a:ea typeface="Roboto"/>
                <a:cs typeface="Roboto"/>
                <a:sym typeface="Roboto"/>
              </a:rPr>
              <a:t>While each project part will receive a grade, your </a:t>
            </a:r>
            <a:r>
              <a:rPr b="1" i="1" lang="en" sz="1300">
                <a:solidFill>
                  <a:srgbClr val="FF0000"/>
                </a:solidFill>
                <a:latin typeface="Roboto"/>
                <a:ea typeface="Roboto"/>
                <a:cs typeface="Roboto"/>
                <a:sym typeface="Roboto"/>
              </a:rPr>
              <a:t>individual grade</a:t>
            </a:r>
            <a:r>
              <a:rPr lang="en" sz="1300">
                <a:solidFill>
                  <a:srgbClr val="666666"/>
                </a:solidFill>
                <a:latin typeface="Roboto"/>
                <a:ea typeface="Roboto"/>
                <a:cs typeface="Roboto"/>
                <a:sym typeface="Roboto"/>
              </a:rPr>
              <a:t> may be </a:t>
            </a:r>
            <a:r>
              <a:rPr b="1" i="1" lang="en" sz="1300">
                <a:solidFill>
                  <a:srgbClr val="FF0000"/>
                </a:solidFill>
                <a:latin typeface="Roboto"/>
                <a:ea typeface="Roboto"/>
                <a:cs typeface="Roboto"/>
                <a:sym typeface="Roboto"/>
              </a:rPr>
              <a:t>adjusted</a:t>
            </a:r>
            <a:r>
              <a:rPr lang="en" sz="1300">
                <a:solidFill>
                  <a:srgbClr val="666666"/>
                </a:solidFill>
                <a:latin typeface="Roboto"/>
                <a:ea typeface="Roboto"/>
                <a:cs typeface="Roboto"/>
                <a:sym typeface="Roboto"/>
              </a:rPr>
              <a:t> to be less or more than the team grade.  Or it may be left the same as the team grade.</a:t>
            </a:r>
            <a:endParaRPr sz="1300">
              <a:solidFill>
                <a:srgbClr val="666666"/>
              </a:solidFill>
              <a:latin typeface="Roboto"/>
              <a:ea typeface="Roboto"/>
              <a:cs typeface="Roboto"/>
              <a:sym typeface="Roboto"/>
            </a:endParaRPr>
          </a:p>
          <a:p>
            <a:pPr indent="-311150" lvl="0" marL="457200" marR="0" rtl="0" algn="l">
              <a:lnSpc>
                <a:spcPct val="115000"/>
              </a:lnSpc>
              <a:spcBef>
                <a:spcPts val="0"/>
              </a:spcBef>
              <a:spcAft>
                <a:spcPts val="0"/>
              </a:spcAft>
              <a:buClr>
                <a:srgbClr val="666666"/>
              </a:buClr>
              <a:buSzPts val="1300"/>
              <a:buFont typeface="Roboto"/>
              <a:buChar char="●"/>
            </a:pPr>
            <a:r>
              <a:rPr lang="en" sz="1300">
                <a:solidFill>
                  <a:srgbClr val="666666"/>
                </a:solidFill>
                <a:latin typeface="Roboto"/>
                <a:ea typeface="Roboto"/>
                <a:cs typeface="Roboto"/>
                <a:sym typeface="Roboto"/>
              </a:rPr>
              <a:t>Adjustments to your team grade will be based on your </a:t>
            </a:r>
            <a:r>
              <a:rPr b="1" i="1" lang="en" sz="1300">
                <a:solidFill>
                  <a:srgbClr val="FF0000"/>
                </a:solidFill>
                <a:latin typeface="Roboto"/>
                <a:ea typeface="Roboto"/>
                <a:cs typeface="Roboto"/>
                <a:sym typeface="Roboto"/>
              </a:rPr>
              <a:t>contributions</a:t>
            </a:r>
            <a:r>
              <a:rPr lang="en" sz="1300">
                <a:solidFill>
                  <a:srgbClr val="666666"/>
                </a:solidFill>
                <a:latin typeface="Roboto"/>
                <a:ea typeface="Roboto"/>
                <a:cs typeface="Roboto"/>
                <a:sym typeface="Roboto"/>
              </a:rPr>
              <a:t>, measured in GitHub </a:t>
            </a:r>
            <a:r>
              <a:rPr lang="en" sz="1300">
                <a:solidFill>
                  <a:srgbClr val="666666"/>
                </a:solidFill>
                <a:latin typeface="Roboto"/>
                <a:ea typeface="Roboto"/>
                <a:cs typeface="Roboto"/>
                <a:sym typeface="Roboto"/>
              </a:rPr>
              <a:t>metrics, e.g commits, as well as </a:t>
            </a:r>
            <a:r>
              <a:rPr b="1" i="1" lang="en" sz="1300">
                <a:solidFill>
                  <a:srgbClr val="FF0000"/>
                </a:solidFill>
                <a:latin typeface="Roboto"/>
                <a:ea typeface="Roboto"/>
                <a:cs typeface="Roboto"/>
                <a:sym typeface="Roboto"/>
              </a:rPr>
              <a:t>peer evaluations</a:t>
            </a:r>
            <a:r>
              <a:rPr lang="en" sz="1300">
                <a:solidFill>
                  <a:srgbClr val="666666"/>
                </a:solidFill>
                <a:latin typeface="Roboto"/>
                <a:ea typeface="Roboto"/>
                <a:cs typeface="Roboto"/>
                <a:sym typeface="Roboto"/>
              </a:rPr>
              <a:t> conducted at the end of the project.</a:t>
            </a:r>
            <a:endParaRPr b="0" i="0" sz="1300" u="none" cap="none" strike="noStrike">
              <a:solidFill>
                <a:srgbClr val="666666"/>
              </a:solidFill>
              <a:latin typeface="Roboto"/>
              <a:ea typeface="Roboto"/>
              <a:cs typeface="Roboto"/>
              <a:sym typeface="Roboto"/>
            </a:endParaRPr>
          </a:p>
        </p:txBody>
      </p:sp>
      <p:sp>
        <p:nvSpPr>
          <p:cNvPr id="79" name="Google Shape;79;p14"/>
          <p:cNvSpPr txBox="1"/>
          <p:nvPr>
            <p:ph idx="3" type="body"/>
          </p:nvPr>
        </p:nvSpPr>
        <p:spPr>
          <a:xfrm>
            <a:off x="232075" y="3515452"/>
            <a:ext cx="3865800" cy="1510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FF0000"/>
                </a:solidFill>
              </a:rPr>
              <a:t>Equal</a:t>
            </a:r>
            <a:r>
              <a:rPr lang="en" sz="1200"/>
              <a:t> contribution is expected from every team member. Dominating the work at the expense of others' participation is just as problematic as not contributing enough</a:t>
            </a:r>
            <a:endParaRPr sz="1200"/>
          </a:p>
          <a:p>
            <a:pPr indent="0" lvl="0" marL="0" rtl="0" algn="l">
              <a:lnSpc>
                <a:spcPct val="100000"/>
              </a:lnSpc>
              <a:spcBef>
                <a:spcPts val="0"/>
              </a:spcBef>
              <a:spcAft>
                <a:spcPts val="0"/>
              </a:spcAft>
              <a:buNone/>
            </a:pPr>
            <a:r>
              <a:t/>
            </a:r>
            <a:endParaRPr sz="1200"/>
          </a:p>
          <a:p>
            <a:pPr indent="0" lvl="0" marL="0" rtl="0" algn="l">
              <a:lnSpc>
                <a:spcPct val="100000"/>
              </a:lnSpc>
              <a:spcBef>
                <a:spcPts val="0"/>
              </a:spcBef>
              <a:spcAft>
                <a:spcPts val="0"/>
              </a:spcAft>
              <a:buNone/>
            </a:pPr>
            <a:r>
              <a:rPr lang="en" sz="1200"/>
              <a:t>This project is a </a:t>
            </a:r>
            <a:r>
              <a:rPr b="1" lang="en" sz="1200">
                <a:solidFill>
                  <a:srgbClr val="FF0000"/>
                </a:solidFill>
              </a:rPr>
              <a:t>team effort</a:t>
            </a:r>
            <a:r>
              <a:rPr lang="en" sz="1200"/>
              <a:t>, and everyone deserves the opportunity to </a:t>
            </a:r>
            <a:r>
              <a:rPr b="1" lang="en" sz="1200">
                <a:solidFill>
                  <a:srgbClr val="FF0000"/>
                </a:solidFill>
              </a:rPr>
              <a:t>learn</a:t>
            </a:r>
            <a:r>
              <a:rPr lang="en" sz="1200"/>
              <a:t> and </a:t>
            </a:r>
            <a:r>
              <a:rPr b="1" lang="en" sz="1200">
                <a:solidFill>
                  <a:srgbClr val="FF0000"/>
                </a:solidFill>
              </a:rPr>
              <a:t>participate</a:t>
            </a:r>
            <a:r>
              <a:rPr lang="en" sz="1200"/>
              <a:t>.</a:t>
            </a:r>
            <a:endParaRPr sz="1200"/>
          </a:p>
        </p:txBody>
      </p:sp>
      <p:pic>
        <p:nvPicPr>
          <p:cNvPr id="80" name="Google Shape;80;p14"/>
          <p:cNvPicPr preferRelativeResize="0"/>
          <p:nvPr/>
        </p:nvPicPr>
        <p:blipFill>
          <a:blip r:embed="rId3">
            <a:alphaModFix/>
          </a:blip>
          <a:stretch>
            <a:fillRect/>
          </a:stretch>
        </p:blipFill>
        <p:spPr>
          <a:xfrm>
            <a:off x="235775" y="1139025"/>
            <a:ext cx="3865825" cy="2052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Backyard Bone Brawl</a:t>
            </a:r>
            <a:endParaRPr/>
          </a:p>
          <a:p>
            <a:pPr indent="0" lvl="0" marL="0" rtl="0" algn="l">
              <a:lnSpc>
                <a:spcPct val="100000"/>
              </a:lnSpc>
              <a:spcBef>
                <a:spcPts val="0"/>
              </a:spcBef>
              <a:spcAft>
                <a:spcPts val="0"/>
              </a:spcAft>
              <a:buSzPts val="2800"/>
              <a:buNone/>
            </a:pPr>
            <a:r>
              <a:t/>
            </a:r>
            <a:endParaRPr/>
          </a:p>
        </p:txBody>
      </p:sp>
      <p:sp>
        <p:nvSpPr>
          <p:cNvPr id="86" name="Google Shape;86;p15"/>
          <p:cNvSpPr txBox="1"/>
          <p:nvPr>
            <p:ph idx="1" type="body"/>
          </p:nvPr>
        </p:nvSpPr>
        <p:spPr>
          <a:xfrm>
            <a:off x="297900" y="1505700"/>
            <a:ext cx="4990800" cy="358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i="1" lang="en">
                <a:solidFill>
                  <a:srgbClr val="FF0000"/>
                </a:solidFill>
              </a:rPr>
              <a:t>Backyard Bone </a:t>
            </a:r>
            <a:r>
              <a:rPr b="1" i="1" lang="en">
                <a:solidFill>
                  <a:srgbClr val="FF0000"/>
                </a:solidFill>
              </a:rPr>
              <a:t>Brawl</a:t>
            </a:r>
            <a:r>
              <a:rPr lang="en">
                <a:solidFill>
                  <a:schemeClr val="dk1"/>
                </a:solidFill>
              </a:rPr>
              <a:t> Is</a:t>
            </a:r>
            <a:r>
              <a:rPr lang="en"/>
              <a:t> a turn-based </a:t>
            </a:r>
            <a:r>
              <a:rPr lang="en"/>
              <a:t>strategy</a:t>
            </a:r>
            <a:r>
              <a:rPr lang="en"/>
              <a:t> game where two rival dogs compete to dig up each other's buried toys </a:t>
            </a:r>
            <a:r>
              <a:rPr lang="en"/>
              <a:t>hidden</a:t>
            </a:r>
            <a:r>
              <a:rPr lang="en"/>
              <a:t> across their backyard.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The game begins with each dog secretly burying five different toys (e.g. stick, bone, squeaky toy, etc) of varying lengths in the </a:t>
            </a:r>
            <a:r>
              <a:rPr lang="en"/>
              <a:t>backyard</a:t>
            </a:r>
            <a:r>
              <a:rPr lang="en"/>
              <a:t> -  a 10x10 grid. Grid rows are identified with  letters and the columns with numbers.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Players take turns digging at a coordinate, e.g. A5, and the </a:t>
            </a:r>
            <a:r>
              <a:rPr lang="en"/>
              <a:t>defender</a:t>
            </a:r>
            <a:r>
              <a:rPr lang="en"/>
              <a:t> reports whether the dig resulted in::</a:t>
            </a:r>
            <a:endParaRPr/>
          </a:p>
          <a:p>
            <a:pPr indent="-311150" lvl="0" marL="457200" rtl="0" algn="l">
              <a:lnSpc>
                <a:spcPct val="100000"/>
              </a:lnSpc>
              <a:spcBef>
                <a:spcPts val="0"/>
              </a:spcBef>
              <a:spcAft>
                <a:spcPts val="0"/>
              </a:spcAft>
              <a:buSzPts val="1300"/>
              <a:buChar char="●"/>
            </a:pPr>
            <a:r>
              <a:rPr lang="en"/>
              <a:t>A hole (nothing)</a:t>
            </a:r>
            <a:endParaRPr/>
          </a:p>
          <a:p>
            <a:pPr indent="-311150" lvl="0" marL="457200" rtl="0" algn="l">
              <a:lnSpc>
                <a:spcPct val="100000"/>
              </a:lnSpc>
              <a:spcBef>
                <a:spcPts val="0"/>
              </a:spcBef>
              <a:spcAft>
                <a:spcPts val="0"/>
              </a:spcAft>
              <a:buSzPts val="1300"/>
              <a:buChar char="●"/>
            </a:pPr>
            <a:r>
              <a:rPr lang="en"/>
              <a:t>A toy part (hit)</a:t>
            </a:r>
            <a:endParaRPr/>
          </a:p>
          <a:p>
            <a:pPr indent="-311150" lvl="0" marL="457200" rtl="0" algn="l">
              <a:lnSpc>
                <a:spcPct val="100000"/>
              </a:lnSpc>
              <a:spcBef>
                <a:spcPts val="0"/>
              </a:spcBef>
              <a:spcAft>
                <a:spcPts val="0"/>
              </a:spcAft>
              <a:buSzPts val="1300"/>
              <a:buChar char="●"/>
            </a:pPr>
            <a:r>
              <a:rPr lang="en"/>
              <a:t>The final toy part (toy has been completely uncovered)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The game ends when all five toys belonging to one dog have been found.</a:t>
            </a:r>
            <a:endParaRPr/>
          </a:p>
        </p:txBody>
      </p:sp>
      <p:sp>
        <p:nvSpPr>
          <p:cNvPr id="87" name="Google Shape;87;p15"/>
          <p:cNvSpPr txBox="1"/>
          <p:nvPr>
            <p:ph idx="12" type="sldNum"/>
          </p:nvPr>
        </p:nvSpPr>
        <p:spPr>
          <a:xfrm>
            <a:off x="8169908" y="468756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88" name="Google Shape;88;p15"/>
          <p:cNvPicPr preferRelativeResize="0"/>
          <p:nvPr/>
        </p:nvPicPr>
        <p:blipFill>
          <a:blip r:embed="rId3">
            <a:alphaModFix/>
          </a:blip>
          <a:stretch>
            <a:fillRect/>
          </a:stretch>
        </p:blipFill>
        <p:spPr>
          <a:xfrm>
            <a:off x="5207350" y="1839800"/>
            <a:ext cx="3872287" cy="2581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208800" y="119925"/>
            <a:ext cx="39006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Join the Team</a:t>
            </a:r>
            <a:endParaRPr/>
          </a:p>
        </p:txBody>
      </p:sp>
      <p:sp>
        <p:nvSpPr>
          <p:cNvPr id="94" name="Google Shape;94;p16"/>
          <p:cNvSpPr txBox="1"/>
          <p:nvPr>
            <p:ph idx="1" type="body"/>
          </p:nvPr>
        </p:nvSpPr>
        <p:spPr>
          <a:xfrm>
            <a:off x="4568475" y="272325"/>
            <a:ext cx="4166400" cy="445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1300"/>
              <a:buNone/>
            </a:pPr>
            <a:r>
              <a:rPr lang="en"/>
              <a:t>Your instructor will share a GitHub Classroom assignment invitation with you. Unlike the other assignments you have done for this course, the project will require you to create or join a </a:t>
            </a:r>
            <a:r>
              <a:rPr b="1" i="1" lang="en">
                <a:solidFill>
                  <a:srgbClr val="FF0000"/>
                </a:solidFill>
              </a:rPr>
              <a:t>team</a:t>
            </a:r>
            <a:r>
              <a:rPr lang="en"/>
              <a:t>.</a:t>
            </a:r>
            <a:endParaRPr/>
          </a:p>
          <a:p>
            <a:pPr indent="0" lvl="0" marL="0" rtl="0" algn="l">
              <a:lnSpc>
                <a:spcPct val="115000"/>
              </a:lnSpc>
              <a:spcBef>
                <a:spcPts val="1600"/>
              </a:spcBef>
              <a:spcAft>
                <a:spcPts val="0"/>
              </a:spcAft>
              <a:buSzPts val="1300"/>
              <a:buNone/>
            </a:pPr>
            <a:r>
              <a:rPr b="1" i="1" lang="en">
                <a:solidFill>
                  <a:srgbClr val="FF0000"/>
                </a:solidFill>
              </a:rPr>
              <a:t>Before proceeding further</a:t>
            </a:r>
            <a:r>
              <a:rPr lang="en"/>
              <a:t> ask your instructor for guidelines regarding team names.</a:t>
            </a:r>
            <a:endParaRPr/>
          </a:p>
          <a:p>
            <a:pPr indent="0" lvl="0" marL="0" rtl="0" algn="l">
              <a:lnSpc>
                <a:spcPct val="115000"/>
              </a:lnSpc>
              <a:spcBef>
                <a:spcPts val="1600"/>
              </a:spcBef>
              <a:spcAft>
                <a:spcPts val="0"/>
              </a:spcAft>
              <a:buSzPts val="1300"/>
              <a:buNone/>
            </a:pPr>
            <a:r>
              <a:rPr lang="en"/>
              <a:t>Select </a:t>
            </a:r>
            <a:r>
              <a:rPr b="1" i="1" lang="en">
                <a:solidFill>
                  <a:srgbClr val="FF0000"/>
                </a:solidFill>
              </a:rPr>
              <a:t>one </a:t>
            </a:r>
            <a:r>
              <a:rPr lang="en"/>
              <a:t>member of your team to be the </a:t>
            </a:r>
            <a:r>
              <a:rPr b="1" i="1" lang="en">
                <a:solidFill>
                  <a:srgbClr val="FF0000"/>
                </a:solidFill>
              </a:rPr>
              <a:t>first </a:t>
            </a:r>
            <a:r>
              <a:rPr lang="en"/>
              <a:t>to click on the assignment invitation. GitHub will present that person with the option of creating or joining a new team. This person should </a:t>
            </a:r>
            <a:r>
              <a:rPr b="1" i="1" lang="en">
                <a:solidFill>
                  <a:srgbClr val="FF0000"/>
                </a:solidFill>
              </a:rPr>
              <a:t>create the new team</a:t>
            </a:r>
            <a:r>
              <a:rPr lang="en"/>
              <a:t>. This will automatically create a new repository with any starter code for the team to use. Be sure to name the team according to your instructor's guidelines!</a:t>
            </a:r>
            <a:endParaRPr/>
          </a:p>
          <a:p>
            <a:pPr indent="0" lvl="0" marL="0" rtl="0" algn="l">
              <a:lnSpc>
                <a:spcPct val="115000"/>
              </a:lnSpc>
              <a:spcBef>
                <a:spcPts val="1600"/>
              </a:spcBef>
              <a:spcAft>
                <a:spcPts val="1600"/>
              </a:spcAft>
              <a:buSzPts val="1300"/>
              <a:buNone/>
            </a:pPr>
            <a:r>
              <a:rPr b="1" i="1" lang="en">
                <a:solidFill>
                  <a:srgbClr val="FF0000"/>
                </a:solidFill>
              </a:rPr>
              <a:t>Only after</a:t>
            </a:r>
            <a:r>
              <a:rPr lang="en"/>
              <a:t> the team has been successfully created should the remaining team members click the assignment link and join the team.</a:t>
            </a:r>
            <a:endParaRPr/>
          </a:p>
        </p:txBody>
      </p:sp>
      <p:sp>
        <p:nvSpPr>
          <p:cNvPr id="95" name="Google Shape;9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96" name="Google Shape;96;p16"/>
          <p:cNvPicPr preferRelativeResize="0"/>
          <p:nvPr/>
        </p:nvPicPr>
        <p:blipFill rotWithShape="1">
          <a:blip r:embed="rId3">
            <a:alphaModFix/>
          </a:blip>
          <a:srcRect b="0" l="0" r="0" t="0"/>
          <a:stretch/>
        </p:blipFill>
        <p:spPr>
          <a:xfrm>
            <a:off x="208725" y="755450"/>
            <a:ext cx="3900749" cy="3305774"/>
          </a:xfrm>
          <a:prstGeom prst="rect">
            <a:avLst/>
          </a:prstGeom>
          <a:noFill/>
          <a:ln>
            <a:noFill/>
          </a:ln>
        </p:spPr>
      </p:pic>
      <p:sp>
        <p:nvSpPr>
          <p:cNvPr id="97" name="Google Shape;97;p16"/>
          <p:cNvSpPr txBox="1"/>
          <p:nvPr>
            <p:ph idx="3" type="body"/>
          </p:nvPr>
        </p:nvSpPr>
        <p:spPr>
          <a:xfrm>
            <a:off x="152400" y="4211050"/>
            <a:ext cx="40134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b="1" i="1" lang="en" sz="1200">
                <a:solidFill>
                  <a:srgbClr val="FF0000"/>
                </a:solidFill>
              </a:rPr>
              <a:t>Do not</a:t>
            </a:r>
            <a:r>
              <a:rPr lang="en" sz="1200"/>
              <a:t> race each other to click the link! Choose </a:t>
            </a:r>
            <a:r>
              <a:rPr b="1" i="1" lang="en" sz="1200">
                <a:solidFill>
                  <a:srgbClr val="FF0000"/>
                </a:solidFill>
              </a:rPr>
              <a:t>one</a:t>
            </a:r>
            <a:r>
              <a:rPr lang="en" sz="1200">
                <a:solidFill>
                  <a:srgbClr val="FF0000"/>
                </a:solidFill>
              </a:rPr>
              <a:t> </a:t>
            </a:r>
            <a:r>
              <a:rPr lang="en" sz="1200"/>
              <a:t>team member to create the team. Be sure to follow any </a:t>
            </a:r>
            <a:r>
              <a:rPr b="1" i="1" lang="en" sz="1200">
                <a:solidFill>
                  <a:srgbClr val="FF0000"/>
                </a:solidFill>
              </a:rPr>
              <a:t>team naming guidelines</a:t>
            </a:r>
            <a:r>
              <a:rPr lang="en" sz="1200">
                <a:solidFill>
                  <a:srgbClr val="FF0000"/>
                </a:solidFill>
              </a:rPr>
              <a:t> </a:t>
            </a:r>
            <a:r>
              <a:rPr lang="en" sz="1200"/>
              <a:t>provided by your instructor.</a:t>
            </a:r>
            <a:endParaRPr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103" name="Google Shape;103;p17"/>
          <p:cNvSpPr txBox="1"/>
          <p:nvPr>
            <p:ph type="title"/>
          </p:nvPr>
        </p:nvSpPr>
        <p:spPr>
          <a:xfrm>
            <a:off x="5137150" y="1961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Teamwork</a:t>
            </a:r>
            <a:endParaRPr/>
          </a:p>
        </p:txBody>
      </p:sp>
      <p:sp>
        <p:nvSpPr>
          <p:cNvPr id="104" name="Google Shape;104;p17"/>
          <p:cNvSpPr txBox="1"/>
          <p:nvPr>
            <p:ph idx="1" type="body"/>
          </p:nvPr>
        </p:nvSpPr>
        <p:spPr>
          <a:xfrm>
            <a:off x="377475" y="196125"/>
            <a:ext cx="4353300" cy="464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1300"/>
              <a:buNone/>
            </a:pPr>
            <a:r>
              <a:rPr lang="en"/>
              <a:t>Once everyone on the team has accepted the assignment, you should each clone a copy of the GitHub repository to the computer that you will be using for the rest of today's exercises.</a:t>
            </a:r>
            <a:endParaRPr/>
          </a:p>
          <a:p>
            <a:pPr indent="0" lvl="0" marL="0" rtl="0" algn="l">
              <a:lnSpc>
                <a:spcPct val="115000"/>
              </a:lnSpc>
              <a:spcBef>
                <a:spcPts val="1600"/>
              </a:spcBef>
              <a:spcAft>
                <a:spcPts val="0"/>
              </a:spcAft>
              <a:buSzPts val="1300"/>
              <a:buNone/>
            </a:pPr>
            <a:r>
              <a:rPr lang="en"/>
              <a:t>You should then</a:t>
            </a:r>
            <a:r>
              <a:rPr lang="en">
                <a:solidFill>
                  <a:srgbClr val="FF0000"/>
                </a:solidFill>
              </a:rPr>
              <a:t> </a:t>
            </a:r>
            <a:r>
              <a:rPr b="1" i="1" lang="en">
                <a:solidFill>
                  <a:srgbClr val="FF0000"/>
                </a:solidFill>
              </a:rPr>
              <a:t>take turns</a:t>
            </a:r>
            <a:r>
              <a:rPr lang="en"/>
              <a:t> working through the following steps (</a:t>
            </a:r>
            <a:r>
              <a:rPr b="1" i="1" lang="en">
                <a:solidFill>
                  <a:srgbClr val="FF0000"/>
                </a:solidFill>
              </a:rPr>
              <a:t>do</a:t>
            </a:r>
            <a:r>
              <a:rPr b="1" i="1" lang="en"/>
              <a:t> </a:t>
            </a:r>
            <a:r>
              <a:rPr b="1" i="1" lang="en">
                <a:solidFill>
                  <a:srgbClr val="FF0000"/>
                </a:solidFill>
              </a:rPr>
              <a:t>not</a:t>
            </a:r>
            <a:r>
              <a:rPr lang="en">
                <a:solidFill>
                  <a:srgbClr val="FF0000"/>
                </a:solidFill>
              </a:rPr>
              <a:t> </a:t>
            </a:r>
            <a:r>
              <a:rPr lang="en"/>
              <a:t>try to do this all at once):</a:t>
            </a:r>
            <a:endParaRPr/>
          </a:p>
          <a:p>
            <a:pPr indent="-311150" lvl="0" marL="457200" rtl="0" algn="l">
              <a:lnSpc>
                <a:spcPct val="115000"/>
              </a:lnSpc>
              <a:spcBef>
                <a:spcPts val="1600"/>
              </a:spcBef>
              <a:spcAft>
                <a:spcPts val="0"/>
              </a:spcAft>
              <a:buSzPts val="1300"/>
              <a:buChar char="●"/>
            </a:pPr>
            <a:r>
              <a:rPr lang="en"/>
              <a:t>S</a:t>
            </a:r>
            <a:r>
              <a:rPr lang="en"/>
              <a:t>it so that you can see each other's screens.</a:t>
            </a:r>
            <a:endParaRPr/>
          </a:p>
          <a:p>
            <a:pPr indent="-311150" lvl="1" marL="914400" rtl="0" algn="l">
              <a:lnSpc>
                <a:spcPct val="115000"/>
              </a:lnSpc>
              <a:spcBef>
                <a:spcPts val="0"/>
              </a:spcBef>
              <a:spcAft>
                <a:spcPts val="0"/>
              </a:spcAft>
              <a:buSzPts val="1300"/>
              <a:buChar char="○"/>
            </a:pPr>
            <a:r>
              <a:rPr lang="en"/>
              <a:t>If working remotely,</a:t>
            </a:r>
            <a:r>
              <a:rPr lang="en"/>
              <a:t> </a:t>
            </a:r>
            <a:r>
              <a:rPr b="1" i="1" lang="en">
                <a:solidFill>
                  <a:srgbClr val="FF0000"/>
                </a:solidFill>
              </a:rPr>
              <a:t>share</a:t>
            </a:r>
            <a:r>
              <a:rPr lang="en">
                <a:solidFill>
                  <a:srgbClr val="FF0000"/>
                </a:solidFill>
              </a:rPr>
              <a:t> </a:t>
            </a:r>
            <a:r>
              <a:rPr lang="en"/>
              <a:t>your screen with your team so that they can see while you work.</a:t>
            </a:r>
            <a:endParaRPr/>
          </a:p>
          <a:p>
            <a:pPr indent="-311150" lvl="0" marL="457200" rtl="0" algn="l">
              <a:lnSpc>
                <a:spcPct val="115000"/>
              </a:lnSpc>
              <a:spcBef>
                <a:spcPts val="0"/>
              </a:spcBef>
              <a:spcAft>
                <a:spcPts val="0"/>
              </a:spcAft>
              <a:buSzPts val="1300"/>
              <a:buChar char="●"/>
            </a:pPr>
            <a:r>
              <a:rPr b="1" i="1" lang="en">
                <a:solidFill>
                  <a:srgbClr val="FF0000"/>
                </a:solidFill>
              </a:rPr>
              <a:t>Pull</a:t>
            </a:r>
            <a:r>
              <a:rPr lang="en">
                <a:solidFill>
                  <a:srgbClr val="FF0000"/>
                </a:solidFill>
              </a:rPr>
              <a:t> </a:t>
            </a:r>
            <a:r>
              <a:rPr lang="en"/>
              <a:t>the latest version of the repository. If you do not pull first, you may get an error.</a:t>
            </a:r>
            <a:endParaRPr/>
          </a:p>
          <a:p>
            <a:pPr indent="-311150" lvl="0" marL="457200" rtl="0" algn="l">
              <a:lnSpc>
                <a:spcPct val="115000"/>
              </a:lnSpc>
              <a:spcBef>
                <a:spcPts val="0"/>
              </a:spcBef>
              <a:spcAft>
                <a:spcPts val="0"/>
              </a:spcAft>
              <a:buSzPts val="1300"/>
              <a:buChar char="●"/>
            </a:pPr>
            <a:r>
              <a:rPr lang="en"/>
              <a:t>Add your </a:t>
            </a:r>
            <a:r>
              <a:rPr b="1" i="1" lang="en">
                <a:solidFill>
                  <a:srgbClr val="FF0000"/>
                </a:solidFill>
              </a:rPr>
              <a:t>name</a:t>
            </a:r>
            <a:r>
              <a:rPr lang="en">
                <a:solidFill>
                  <a:srgbClr val="FF0000"/>
                </a:solidFill>
              </a:rPr>
              <a:t> </a:t>
            </a:r>
            <a:r>
              <a:rPr lang="en"/>
              <a:t>and </a:t>
            </a:r>
            <a:r>
              <a:rPr b="1" i="1" lang="en">
                <a:solidFill>
                  <a:srgbClr val="FF0000"/>
                </a:solidFill>
              </a:rPr>
              <a:t>email</a:t>
            </a:r>
            <a:r>
              <a:rPr lang="en">
                <a:solidFill>
                  <a:srgbClr val="FF0000"/>
                </a:solidFill>
              </a:rPr>
              <a:t> </a:t>
            </a:r>
            <a:r>
              <a:rPr lang="en"/>
              <a:t>to a file named "</a:t>
            </a:r>
            <a:r>
              <a:rPr lang="en">
                <a:solidFill>
                  <a:srgbClr val="FF0000"/>
                </a:solidFill>
                <a:latin typeface="Courier New"/>
                <a:ea typeface="Courier New"/>
                <a:cs typeface="Courier New"/>
                <a:sym typeface="Courier New"/>
              </a:rPr>
              <a:t>readme.txt</a:t>
            </a:r>
            <a:r>
              <a:rPr lang="en"/>
              <a:t>" in the </a:t>
            </a:r>
            <a:r>
              <a:rPr lang="en">
                <a:latin typeface="Courier New"/>
                <a:ea typeface="Courier New"/>
                <a:cs typeface="Courier New"/>
                <a:sym typeface="Courier New"/>
              </a:rPr>
              <a:t>data</a:t>
            </a:r>
            <a:r>
              <a:rPr lang="en"/>
              <a:t> directory of your repository.</a:t>
            </a:r>
            <a:endParaRPr/>
          </a:p>
          <a:p>
            <a:pPr indent="-311150" lvl="0" marL="457200" rtl="0" algn="l">
              <a:lnSpc>
                <a:spcPct val="115000"/>
              </a:lnSpc>
              <a:spcBef>
                <a:spcPts val="0"/>
              </a:spcBef>
              <a:spcAft>
                <a:spcPts val="0"/>
              </a:spcAft>
              <a:buSzPts val="1300"/>
              <a:buChar char="●"/>
            </a:pPr>
            <a:r>
              <a:rPr b="1" i="1" lang="en">
                <a:solidFill>
                  <a:srgbClr val="FF0000"/>
                </a:solidFill>
              </a:rPr>
              <a:t>Commit</a:t>
            </a:r>
            <a:r>
              <a:rPr lang="en">
                <a:solidFill>
                  <a:srgbClr val="FF0000"/>
                </a:solidFill>
              </a:rPr>
              <a:t> </a:t>
            </a:r>
            <a:r>
              <a:rPr lang="en"/>
              <a:t>and </a:t>
            </a:r>
            <a:r>
              <a:rPr b="1" i="1" lang="en">
                <a:solidFill>
                  <a:srgbClr val="FF0000"/>
                </a:solidFill>
              </a:rPr>
              <a:t>push</a:t>
            </a:r>
            <a:r>
              <a:rPr lang="en">
                <a:solidFill>
                  <a:srgbClr val="FF0000"/>
                </a:solidFill>
              </a:rPr>
              <a:t> </a:t>
            </a:r>
            <a:r>
              <a:rPr lang="en"/>
              <a:t>the file to the repository.</a:t>
            </a:r>
            <a:endParaRPr/>
          </a:p>
          <a:p>
            <a:pPr indent="0" lvl="0" marL="0" rtl="0" algn="l">
              <a:lnSpc>
                <a:spcPct val="115000"/>
              </a:lnSpc>
              <a:spcBef>
                <a:spcPts val="1600"/>
              </a:spcBef>
              <a:spcAft>
                <a:spcPts val="1600"/>
              </a:spcAft>
              <a:buSzPts val="1300"/>
              <a:buNone/>
            </a:pPr>
            <a:r>
              <a:rPr b="1" i="1" lang="en">
                <a:solidFill>
                  <a:srgbClr val="FF0000"/>
                </a:solidFill>
              </a:rPr>
              <a:t>Repeat </a:t>
            </a:r>
            <a:r>
              <a:rPr lang="en"/>
              <a:t>until every team member has added their name and email to the repository.</a:t>
            </a:r>
            <a:endParaRPr/>
          </a:p>
        </p:txBody>
      </p:sp>
      <p:sp>
        <p:nvSpPr>
          <p:cNvPr id="105" name="Google Shape;105;p17"/>
          <p:cNvSpPr txBox="1"/>
          <p:nvPr>
            <p:ph idx="3" type="body"/>
          </p:nvPr>
        </p:nvSpPr>
        <p:spPr>
          <a:xfrm>
            <a:off x="5192225" y="3403850"/>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The purpose of this exercise is to make sure that </a:t>
            </a:r>
            <a:r>
              <a:rPr b="1" i="1" lang="en" sz="1200">
                <a:solidFill>
                  <a:srgbClr val="FF0000"/>
                </a:solidFill>
              </a:rPr>
              <a:t>everyone </a:t>
            </a:r>
            <a:r>
              <a:rPr lang="en" sz="1200"/>
              <a:t>on the team has access to clone, pull from, and push to the repository.</a:t>
            </a:r>
            <a:endParaRPr sz="1200"/>
          </a:p>
        </p:txBody>
      </p:sp>
      <p:grpSp>
        <p:nvGrpSpPr>
          <p:cNvPr id="106" name="Google Shape;106;p17"/>
          <p:cNvGrpSpPr/>
          <p:nvPr/>
        </p:nvGrpSpPr>
        <p:grpSpPr>
          <a:xfrm rot="-778724">
            <a:off x="5682222" y="986520"/>
            <a:ext cx="2999718" cy="2048447"/>
            <a:chOff x="5681927" y="1291425"/>
            <a:chExt cx="2999574" cy="2048350"/>
          </a:xfrm>
        </p:grpSpPr>
        <p:pic>
          <p:nvPicPr>
            <p:cNvPr id="107" name="Google Shape;107;p17"/>
            <p:cNvPicPr preferRelativeResize="0"/>
            <p:nvPr/>
          </p:nvPicPr>
          <p:blipFill rotWithShape="1">
            <a:blip r:embed="rId3">
              <a:alphaModFix/>
            </a:blip>
            <a:srcRect b="0" l="0" r="0" t="0"/>
            <a:stretch/>
          </p:blipFill>
          <p:spPr>
            <a:xfrm>
              <a:off x="5681927" y="1291425"/>
              <a:ext cx="2999574" cy="2048350"/>
            </a:xfrm>
            <a:prstGeom prst="rect">
              <a:avLst/>
            </a:prstGeom>
            <a:noFill/>
            <a:ln>
              <a:noFill/>
            </a:ln>
          </p:spPr>
        </p:pic>
        <p:sp>
          <p:nvSpPr>
            <p:cNvPr id="108" name="Google Shape;108;p17"/>
            <p:cNvSpPr txBox="1"/>
            <p:nvPr/>
          </p:nvSpPr>
          <p:spPr>
            <a:xfrm>
              <a:off x="5873411" y="2024200"/>
              <a:ext cx="2595900" cy="892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600"/>
                <a:buFont typeface="Arial"/>
                <a:buNone/>
              </a:pPr>
              <a:r>
                <a:rPr b="1" i="0" lang="en" sz="4600" u="none" cap="none" strike="noStrike">
                  <a:solidFill>
                    <a:srgbClr val="FF0000"/>
                  </a:solidFill>
                  <a:latin typeface="Amatic SC"/>
                  <a:ea typeface="Amatic SC"/>
                  <a:cs typeface="Amatic SC"/>
                  <a:sym typeface="Amatic SC"/>
                </a:rPr>
                <a:t>TEAM PLAYER</a:t>
              </a:r>
              <a:endParaRPr b="1" i="0" sz="4600" u="none" cap="none" strike="noStrike">
                <a:solidFill>
                  <a:srgbClr val="FF0000"/>
                </a:solidFill>
                <a:latin typeface="Amatic SC"/>
                <a:ea typeface="Amatic SC"/>
                <a:cs typeface="Amatic SC"/>
                <a:sym typeface="Amatic SC"/>
              </a:endParaRPr>
            </a:p>
          </p:txBody>
        </p:sp>
      </p:grpSp>
      <p:sp>
        <p:nvSpPr>
          <p:cNvPr id="109" name="Google Shape;109;p17"/>
          <p:cNvSpPr txBox="1"/>
          <p:nvPr>
            <p:ph idx="3" type="body"/>
          </p:nvPr>
        </p:nvSpPr>
        <p:spPr>
          <a:xfrm>
            <a:off x="5192225" y="4270250"/>
            <a:ext cx="370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Please</a:t>
            </a:r>
            <a:r>
              <a:rPr lang="en" sz="1200">
                <a:solidFill>
                  <a:srgbClr val="FF0000"/>
                </a:solidFill>
              </a:rPr>
              <a:t> </a:t>
            </a:r>
            <a:r>
              <a:rPr b="1" i="1" lang="en" sz="1200">
                <a:solidFill>
                  <a:srgbClr val="FF0000"/>
                </a:solidFill>
              </a:rPr>
              <a:t>take turns</a:t>
            </a:r>
            <a:r>
              <a:rPr lang="en" sz="1200"/>
              <a:t> and work so that your team members can </a:t>
            </a:r>
            <a:r>
              <a:rPr b="1" i="1" lang="en" sz="1200">
                <a:solidFill>
                  <a:srgbClr val="FF0000"/>
                </a:solidFill>
              </a:rPr>
              <a:t>see </a:t>
            </a:r>
            <a:r>
              <a:rPr b="1" i="1" lang="en" sz="1200">
                <a:solidFill>
                  <a:srgbClr val="FF0000"/>
                </a:solidFill>
              </a:rPr>
              <a:t>your screen</a:t>
            </a:r>
            <a:r>
              <a:rPr lang="en" sz="1200"/>
              <a:t>.</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152400" y="196125"/>
            <a:ext cx="39996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Merge Conflicts</a:t>
            </a:r>
            <a:endParaRPr/>
          </a:p>
        </p:txBody>
      </p:sp>
      <p:sp>
        <p:nvSpPr>
          <p:cNvPr id="115" name="Google Shape;115;p18"/>
          <p:cNvSpPr txBox="1"/>
          <p:nvPr>
            <p:ph idx="1" type="body"/>
          </p:nvPr>
        </p:nvSpPr>
        <p:spPr>
          <a:xfrm>
            <a:off x="4489425" y="196125"/>
            <a:ext cx="4420500" cy="46155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Practice resolving merge conflicts by following these steps:</a:t>
            </a:r>
            <a:endParaRPr/>
          </a:p>
          <a:p>
            <a:pPr indent="-298450" lvl="1" marL="914400" rtl="0" algn="l">
              <a:lnSpc>
                <a:spcPct val="115000"/>
              </a:lnSpc>
              <a:spcBef>
                <a:spcPts val="0"/>
              </a:spcBef>
              <a:spcAft>
                <a:spcPts val="0"/>
              </a:spcAft>
              <a:buSzPts val="1100"/>
              <a:buChar char="○"/>
            </a:pPr>
            <a:r>
              <a:rPr lang="en"/>
              <a:t>Make sure that everyone on the team has pulled the </a:t>
            </a:r>
            <a:r>
              <a:rPr b="1" i="1" lang="en">
                <a:solidFill>
                  <a:srgbClr val="FF0000"/>
                </a:solidFill>
              </a:rPr>
              <a:t>latest version</a:t>
            </a:r>
            <a:r>
              <a:rPr lang="en"/>
              <a:t> of the repository.</a:t>
            </a:r>
            <a:endParaRPr/>
          </a:p>
          <a:p>
            <a:pPr indent="-298450" lvl="1" marL="914400" rtl="0" algn="l">
              <a:lnSpc>
                <a:spcPct val="115000"/>
              </a:lnSpc>
              <a:spcBef>
                <a:spcPts val="0"/>
              </a:spcBef>
              <a:spcAft>
                <a:spcPts val="0"/>
              </a:spcAft>
              <a:buSzPts val="1100"/>
              <a:buChar char="○"/>
            </a:pPr>
            <a:r>
              <a:rPr lang="en"/>
              <a:t>Two team members should </a:t>
            </a:r>
            <a:r>
              <a:rPr b="1" i="1" lang="en">
                <a:solidFill>
                  <a:srgbClr val="FF0000"/>
                </a:solidFill>
              </a:rPr>
              <a:t>simultaneously</a:t>
            </a:r>
            <a:r>
              <a:rPr lang="en"/>
              <a:t> edit the </a:t>
            </a:r>
            <a:r>
              <a:rPr lang="en">
                <a:latin typeface="Courier New"/>
                <a:ea typeface="Courier New"/>
                <a:cs typeface="Courier New"/>
                <a:sym typeface="Courier New"/>
              </a:rPr>
              <a:t>readme.txt</a:t>
            </a:r>
            <a:r>
              <a:rPr lang="en"/>
              <a:t> file and </a:t>
            </a:r>
            <a:r>
              <a:rPr b="1" i="1" lang="en">
                <a:solidFill>
                  <a:srgbClr val="FF0000"/>
                </a:solidFill>
              </a:rPr>
              <a:t>add a new line to the bottom</a:t>
            </a:r>
            <a:r>
              <a:rPr lang="en"/>
              <a:t> of the file. It does not matter what the text says as long as each person types something </a:t>
            </a:r>
            <a:r>
              <a:rPr b="1" i="1" lang="en">
                <a:solidFill>
                  <a:srgbClr val="FF0000"/>
                </a:solidFill>
              </a:rPr>
              <a:t>different</a:t>
            </a:r>
            <a:r>
              <a:rPr lang="en"/>
              <a:t>.</a:t>
            </a:r>
            <a:endParaRPr/>
          </a:p>
          <a:p>
            <a:pPr indent="-298450" lvl="1" marL="914400" rtl="0" algn="l">
              <a:lnSpc>
                <a:spcPct val="115000"/>
              </a:lnSpc>
              <a:spcBef>
                <a:spcPts val="0"/>
              </a:spcBef>
              <a:spcAft>
                <a:spcPts val="0"/>
              </a:spcAft>
              <a:buSzPts val="1100"/>
              <a:buChar char="○"/>
            </a:pPr>
            <a:r>
              <a:rPr lang="en"/>
              <a:t>One team member should push their code </a:t>
            </a:r>
            <a:r>
              <a:rPr b="1" i="1" lang="en">
                <a:solidFill>
                  <a:srgbClr val="FF0000"/>
                </a:solidFill>
              </a:rPr>
              <a:t>first</a:t>
            </a:r>
            <a:r>
              <a:rPr lang="en"/>
              <a:t>. </a:t>
            </a:r>
            <a:r>
              <a:rPr b="1" i="1" lang="en">
                <a:solidFill>
                  <a:srgbClr val="FF0000"/>
                </a:solidFill>
              </a:rPr>
              <a:t>Wait</a:t>
            </a:r>
            <a:r>
              <a:rPr i="1" lang="en">
                <a:solidFill>
                  <a:srgbClr val="FF0000"/>
                </a:solidFill>
              </a:rPr>
              <a:t> </a:t>
            </a:r>
            <a:r>
              <a:rPr lang="en"/>
              <a:t> until the push completes.</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second</a:t>
            </a:r>
            <a:r>
              <a:rPr lang="en">
                <a:solidFill>
                  <a:srgbClr val="FF0000"/>
                </a:solidFill>
              </a:rPr>
              <a:t> </a:t>
            </a:r>
            <a:r>
              <a:rPr lang="en"/>
              <a:t>team member should then try to push their changes. The push should be </a:t>
            </a:r>
            <a:r>
              <a:rPr b="1" i="1" lang="en">
                <a:solidFill>
                  <a:srgbClr val="FF0000"/>
                </a:solidFill>
              </a:rPr>
              <a:t>rejected</a:t>
            </a:r>
            <a:r>
              <a:rPr lang="en">
                <a:solidFill>
                  <a:srgbClr val="FF0000"/>
                </a:solidFill>
              </a:rPr>
              <a:t> </a:t>
            </a:r>
            <a:r>
              <a:rPr lang="en"/>
              <a:t>forcing them to </a:t>
            </a:r>
            <a:r>
              <a:rPr b="1" i="1" lang="en">
                <a:solidFill>
                  <a:srgbClr val="FF0000"/>
                </a:solidFill>
              </a:rPr>
              <a:t>pull first</a:t>
            </a:r>
            <a:r>
              <a:rPr lang="en"/>
              <a:t>.</a:t>
            </a:r>
            <a:endParaRPr/>
          </a:p>
          <a:p>
            <a:pPr indent="-298450" lvl="1" marL="914400" rtl="0" algn="l">
              <a:lnSpc>
                <a:spcPct val="115000"/>
              </a:lnSpc>
              <a:spcBef>
                <a:spcPts val="0"/>
              </a:spcBef>
              <a:spcAft>
                <a:spcPts val="0"/>
              </a:spcAft>
              <a:buSzPts val="1100"/>
              <a:buChar char="○"/>
            </a:pPr>
            <a:r>
              <a:rPr lang="en"/>
              <a:t>The pull will cause a </a:t>
            </a:r>
            <a:r>
              <a:rPr b="1" i="1" lang="en">
                <a:solidFill>
                  <a:srgbClr val="FF0000"/>
                </a:solidFill>
              </a:rPr>
              <a:t>merge conflict</a:t>
            </a:r>
            <a:r>
              <a:rPr lang="en"/>
              <a:t>.</a:t>
            </a:r>
            <a:endParaRPr/>
          </a:p>
          <a:p>
            <a:pPr indent="-298450" lvl="1" marL="914400" rtl="0" algn="l">
              <a:lnSpc>
                <a:spcPct val="115000"/>
              </a:lnSpc>
              <a:spcBef>
                <a:spcPts val="0"/>
              </a:spcBef>
              <a:spcAft>
                <a:spcPts val="0"/>
              </a:spcAft>
              <a:buSzPts val="1100"/>
              <a:buChar char="○"/>
            </a:pPr>
            <a:r>
              <a:rPr b="1" i="1" lang="en">
                <a:solidFill>
                  <a:srgbClr val="FF0000"/>
                </a:solidFill>
              </a:rPr>
              <a:t>Resolve</a:t>
            </a:r>
            <a:r>
              <a:rPr lang="en">
                <a:solidFill>
                  <a:srgbClr val="FF0000"/>
                </a:solidFill>
              </a:rPr>
              <a:t> </a:t>
            </a:r>
            <a:r>
              <a:rPr lang="en"/>
              <a:t>the conflict by opening the file, scrolling to the conflict (if necessary), and </a:t>
            </a:r>
            <a:r>
              <a:rPr b="1" i="1" lang="en">
                <a:solidFill>
                  <a:srgbClr val="FF0000"/>
                </a:solidFill>
              </a:rPr>
              <a:t>accepting both changes</a:t>
            </a:r>
            <a:r>
              <a:rPr lang="en"/>
              <a:t> (see left).</a:t>
            </a:r>
            <a:endParaRPr/>
          </a:p>
          <a:p>
            <a:pPr indent="-298450" lvl="1" marL="914400" rtl="0" algn="l">
              <a:lnSpc>
                <a:spcPct val="115000"/>
              </a:lnSpc>
              <a:spcBef>
                <a:spcPts val="0"/>
              </a:spcBef>
              <a:spcAft>
                <a:spcPts val="0"/>
              </a:spcAft>
              <a:buSzPts val="1100"/>
              <a:buChar char="○"/>
            </a:pPr>
            <a:r>
              <a:rPr lang="en"/>
              <a:t>Follow the Git workflow to push the merged file to GitHub.</a:t>
            </a:r>
            <a:endParaRPr/>
          </a:p>
          <a:p>
            <a:pPr indent="-311150" lvl="0" marL="457200" rtl="0" algn="l">
              <a:lnSpc>
                <a:spcPct val="115000"/>
              </a:lnSpc>
              <a:spcBef>
                <a:spcPts val="0"/>
              </a:spcBef>
              <a:spcAft>
                <a:spcPts val="0"/>
              </a:spcAft>
              <a:buSzPts val="1300"/>
              <a:buChar char="●"/>
            </a:pPr>
            <a:r>
              <a:rPr lang="en"/>
              <a:t>Repeat the above until every member of the team has had a chance to resolve at least one merge conflict.</a:t>
            </a:r>
            <a:endParaRPr/>
          </a:p>
        </p:txBody>
      </p:sp>
      <p:sp>
        <p:nvSpPr>
          <p:cNvPr id="116" name="Google Shape;1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7" name="Google Shape;117;p18"/>
          <p:cNvSpPr txBox="1"/>
          <p:nvPr>
            <p:ph idx="3" type="body"/>
          </p:nvPr>
        </p:nvSpPr>
        <p:spPr>
          <a:xfrm>
            <a:off x="152413" y="956825"/>
            <a:ext cx="3999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If a file with a </a:t>
            </a:r>
            <a:r>
              <a:rPr b="1" i="1" lang="en" sz="1200">
                <a:solidFill>
                  <a:srgbClr val="FF0000"/>
                </a:solidFill>
              </a:rPr>
              <a:t>merge conflict</a:t>
            </a:r>
            <a:r>
              <a:rPr lang="en" sz="1200"/>
              <a:t> is opened in VS Code, it will helpfully highlight the conflict and provide links to fix the problem quickly.</a:t>
            </a:r>
            <a:endParaRPr sz="1200"/>
          </a:p>
        </p:txBody>
      </p:sp>
      <p:pic>
        <p:nvPicPr>
          <p:cNvPr id="118" name="Google Shape;118;p18"/>
          <p:cNvPicPr preferRelativeResize="0"/>
          <p:nvPr/>
        </p:nvPicPr>
        <p:blipFill rotWithShape="1">
          <a:blip r:embed="rId3">
            <a:alphaModFix/>
          </a:blip>
          <a:srcRect b="0" l="0" r="0" t="0"/>
          <a:stretch/>
        </p:blipFill>
        <p:spPr>
          <a:xfrm>
            <a:off x="152400" y="1818325"/>
            <a:ext cx="3999625" cy="1715100"/>
          </a:xfrm>
          <a:prstGeom prst="rect">
            <a:avLst/>
          </a:prstGeom>
          <a:noFill/>
          <a:ln cap="flat" cmpd="sng" w="19050">
            <a:solidFill>
              <a:schemeClr val="dk2"/>
            </a:solidFill>
            <a:prstDash val="solid"/>
            <a:round/>
            <a:headEnd len="sm" w="sm" type="none"/>
            <a:tailEnd len="sm" w="sm" type="none"/>
          </a:ln>
        </p:spPr>
      </p:pic>
      <p:sp>
        <p:nvSpPr>
          <p:cNvPr id="119" name="Google Shape;119;p18"/>
          <p:cNvSpPr txBox="1"/>
          <p:nvPr>
            <p:ph idx="3" type="body"/>
          </p:nvPr>
        </p:nvSpPr>
        <p:spPr>
          <a:xfrm>
            <a:off x="152413" y="4115912"/>
            <a:ext cx="3999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In the event that </a:t>
            </a:r>
            <a:r>
              <a:rPr b="1" i="1" lang="en" sz="1200">
                <a:solidFill>
                  <a:srgbClr val="FF0000"/>
                </a:solidFill>
              </a:rPr>
              <a:t>multiple merge conflicts</a:t>
            </a:r>
            <a:r>
              <a:rPr lang="en" sz="1200"/>
              <a:t> occur (in the same or different files), you will need to resolve them all before you can push your code.</a:t>
            </a:r>
            <a:endParaRPr sz="1200"/>
          </a:p>
        </p:txBody>
      </p:sp>
      <p:sp>
        <p:nvSpPr>
          <p:cNvPr id="120" name="Google Shape;120;p18"/>
          <p:cNvSpPr txBox="1"/>
          <p:nvPr>
            <p:ph idx="3" type="body"/>
          </p:nvPr>
        </p:nvSpPr>
        <p:spPr>
          <a:xfrm>
            <a:off x="152413" y="3658712"/>
            <a:ext cx="39996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For today, choose the </a:t>
            </a:r>
            <a:r>
              <a:rPr b="1" i="1" lang="en" sz="1200">
                <a:solidFill>
                  <a:srgbClr val="FF0000"/>
                </a:solidFill>
              </a:rPr>
              <a:t>Accept Both Changes</a:t>
            </a:r>
            <a:r>
              <a:rPr lang="en" sz="1200"/>
              <a:t> option.</a:t>
            </a:r>
            <a:endParaRPr sz="1200"/>
          </a:p>
        </p:txBody>
      </p:sp>
      <p:sp>
        <p:nvSpPr>
          <p:cNvPr id="121" name="Google Shape;121;p18"/>
          <p:cNvSpPr/>
          <p:nvPr/>
        </p:nvSpPr>
        <p:spPr>
          <a:xfrm>
            <a:off x="2982950" y="1969951"/>
            <a:ext cx="829950" cy="1723900"/>
          </a:xfrm>
          <a:custGeom>
            <a:rect b="b" l="l" r="r" t="t"/>
            <a:pathLst>
              <a:path extrusionOk="0" h="68956" w="33198">
                <a:moveTo>
                  <a:pt x="14497" y="68956"/>
                </a:moveTo>
                <a:cubicBezTo>
                  <a:pt x="17564" y="57805"/>
                  <a:pt x="35312" y="10504"/>
                  <a:pt x="32896" y="2048"/>
                </a:cubicBezTo>
                <a:cubicBezTo>
                  <a:pt x="30480" y="-6408"/>
                  <a:pt x="5483" y="15523"/>
                  <a:pt x="0" y="18218"/>
                </a:cubicBezTo>
              </a:path>
            </a:pathLst>
          </a:custGeom>
          <a:noFill/>
          <a:ln cap="flat" cmpd="sng" w="19050">
            <a:solidFill>
              <a:srgbClr val="FF0000"/>
            </a:solidFill>
            <a:prstDash val="solid"/>
            <a:round/>
            <a:headEnd len="med" w="med" type="none"/>
            <a:tailEnd len="med" w="med" type="triangle"/>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127" name="Google Shape;127;p19"/>
          <p:cNvSpPr txBox="1"/>
          <p:nvPr>
            <p:ph type="title"/>
          </p:nvPr>
        </p:nvSpPr>
        <p:spPr>
          <a:xfrm>
            <a:off x="5095775" y="272325"/>
            <a:ext cx="38754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Organization</a:t>
            </a:r>
            <a:endParaRPr/>
          </a:p>
        </p:txBody>
      </p:sp>
      <p:sp>
        <p:nvSpPr>
          <p:cNvPr id="128" name="Google Shape;128;p19"/>
          <p:cNvSpPr txBox="1"/>
          <p:nvPr>
            <p:ph idx="1" type="body"/>
          </p:nvPr>
        </p:nvSpPr>
        <p:spPr>
          <a:xfrm>
            <a:off x="160125" y="149538"/>
            <a:ext cx="4301700" cy="4987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When working on a large project with a team, it is very important to keep your project package structure </a:t>
            </a:r>
            <a:r>
              <a:rPr b="1" i="1" lang="en">
                <a:solidFill>
                  <a:srgbClr val="FF0000"/>
                </a:solidFill>
              </a:rPr>
              <a:t>organized</a:t>
            </a:r>
            <a:r>
              <a:rPr lang="en"/>
              <a:t>. Doing so not only supports collaboration and maintainability, but will be beneficial in the next parts of the project.</a:t>
            </a:r>
            <a:endParaRPr/>
          </a:p>
          <a:p>
            <a:pPr indent="-311150" lvl="0" marL="457200" rtl="0" algn="l">
              <a:lnSpc>
                <a:spcPct val="115000"/>
              </a:lnSpc>
              <a:spcBef>
                <a:spcPts val="0"/>
              </a:spcBef>
              <a:spcAft>
                <a:spcPts val="0"/>
              </a:spcAft>
              <a:buSzPts val="1300"/>
              <a:buChar char="●"/>
            </a:pPr>
            <a:r>
              <a:rPr lang="en"/>
              <a:t>You will notice that your project starter </a:t>
            </a:r>
            <a:r>
              <a:rPr b="1" i="1" lang="en">
                <a:solidFill>
                  <a:srgbClr val="FF0000"/>
                </a:solidFill>
              </a:rPr>
              <a:t>repository</a:t>
            </a:r>
            <a:r>
              <a:rPr lang="en"/>
              <a:t> includes two packages. Each package has distinct responsibilities:</a:t>
            </a:r>
            <a:endParaRPr/>
          </a:p>
          <a:p>
            <a:pPr indent="-311150" lvl="1" marL="914400" rtl="0" algn="l">
              <a:lnSpc>
                <a:spcPct val="115000"/>
              </a:lnSpc>
              <a:spcBef>
                <a:spcPts val="0"/>
              </a:spcBef>
              <a:spcAft>
                <a:spcPts val="0"/>
              </a:spcAft>
              <a:buSzPts val="1300"/>
              <a:buChar char="○"/>
            </a:pPr>
            <a:r>
              <a:rPr b="1" i="1" lang="en" sz="1300">
                <a:solidFill>
                  <a:srgbClr val="FF0000"/>
                </a:solidFill>
                <a:latin typeface="Courier New"/>
                <a:ea typeface="Courier New"/>
                <a:cs typeface="Courier New"/>
                <a:sym typeface="Courier New"/>
              </a:rPr>
              <a:t>view</a:t>
            </a:r>
            <a:r>
              <a:rPr lang="en" sz="1300"/>
              <a:t> - In this package, you will place classes that only deal with user interaction via the Command Line Interface (CLI). This includes reading commands from the user and displaying game information.  Be careful not to place any game logic in this package.</a:t>
            </a:r>
            <a:endParaRPr sz="1300"/>
          </a:p>
          <a:p>
            <a:pPr indent="-311150" lvl="1" marL="914400" rtl="0" algn="l">
              <a:lnSpc>
                <a:spcPct val="115000"/>
              </a:lnSpc>
              <a:spcBef>
                <a:spcPts val="0"/>
              </a:spcBef>
              <a:spcAft>
                <a:spcPts val="0"/>
              </a:spcAft>
              <a:buSzPts val="1300"/>
              <a:buChar char="○"/>
            </a:pPr>
            <a:r>
              <a:rPr b="1" i="1" lang="en" sz="1300">
                <a:solidFill>
                  <a:srgbClr val="FF0000"/>
                </a:solidFill>
                <a:latin typeface="Courier New"/>
                <a:ea typeface="Courier New"/>
                <a:cs typeface="Courier New"/>
                <a:sym typeface="Courier New"/>
              </a:rPr>
              <a:t>model</a:t>
            </a:r>
            <a:r>
              <a:rPr lang="en" sz="1300"/>
              <a:t> - In this package you will place classes that control the game logic and state. Be careful not to place any direct user interaction code (Scanner, System.out) in this package.</a:t>
            </a:r>
            <a:endParaRPr sz="1300"/>
          </a:p>
          <a:p>
            <a:pPr indent="-311150" lvl="1" marL="914400" rtl="0" algn="l">
              <a:lnSpc>
                <a:spcPct val="115000"/>
              </a:lnSpc>
              <a:spcBef>
                <a:spcPts val="0"/>
              </a:spcBef>
              <a:spcAft>
                <a:spcPts val="0"/>
              </a:spcAft>
              <a:buSzPts val="1300"/>
              <a:buChar char="○"/>
            </a:pPr>
            <a:r>
              <a:rPr lang="en" sz="1300"/>
              <a:t>This is known as </a:t>
            </a:r>
            <a:r>
              <a:rPr b="1" i="1" lang="en" sz="1300">
                <a:solidFill>
                  <a:srgbClr val="FF0000"/>
                </a:solidFill>
              </a:rPr>
              <a:t>Separation of Concerns</a:t>
            </a:r>
            <a:r>
              <a:rPr lang="en" sz="1300"/>
              <a:t>.</a:t>
            </a:r>
            <a:endParaRPr sz="1300"/>
          </a:p>
        </p:txBody>
      </p:sp>
      <p:sp>
        <p:nvSpPr>
          <p:cNvPr id="129" name="Google Shape;129;p19"/>
          <p:cNvSpPr txBox="1"/>
          <p:nvPr>
            <p:ph idx="3" type="body"/>
          </p:nvPr>
        </p:nvSpPr>
        <p:spPr>
          <a:xfrm>
            <a:off x="5180225" y="3869700"/>
            <a:ext cx="3706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Maintaining project </a:t>
            </a:r>
            <a:r>
              <a:rPr b="1" lang="en" sz="1200">
                <a:solidFill>
                  <a:srgbClr val="FF0000"/>
                </a:solidFill>
              </a:rPr>
              <a:t>organization</a:t>
            </a:r>
            <a:r>
              <a:rPr lang="en" sz="1200"/>
              <a:t> will make </a:t>
            </a:r>
            <a:r>
              <a:rPr b="1" lang="en" sz="1200">
                <a:solidFill>
                  <a:srgbClr val="FF0000"/>
                </a:solidFill>
              </a:rPr>
              <a:t>collaboration</a:t>
            </a:r>
            <a:r>
              <a:rPr lang="en" sz="1200"/>
              <a:t> easier, reduce the likelihood of merge conflicts, and make your code easier to test, debug, and enhance in future parts of the project.</a:t>
            </a:r>
            <a:endParaRPr/>
          </a:p>
        </p:txBody>
      </p:sp>
      <p:pic>
        <p:nvPicPr>
          <p:cNvPr id="130" name="Google Shape;130;p19"/>
          <p:cNvPicPr preferRelativeResize="0"/>
          <p:nvPr/>
        </p:nvPicPr>
        <p:blipFill rotWithShape="1">
          <a:blip r:embed="rId3">
            <a:alphaModFix/>
          </a:blip>
          <a:srcRect b="20" l="0" r="0" t="20"/>
          <a:stretch/>
        </p:blipFill>
        <p:spPr>
          <a:xfrm>
            <a:off x="4979065" y="1281050"/>
            <a:ext cx="4046477" cy="20855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36" name="Google Shape;136;p20"/>
          <p:cNvSpPr txBox="1"/>
          <p:nvPr>
            <p:ph type="title"/>
          </p:nvPr>
        </p:nvSpPr>
        <p:spPr>
          <a:xfrm>
            <a:off x="5264725" y="435486"/>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 Constraints</a:t>
            </a:r>
            <a:endParaRPr/>
          </a:p>
        </p:txBody>
      </p:sp>
      <p:sp>
        <p:nvSpPr>
          <p:cNvPr id="137" name="Google Shape;137;p20"/>
          <p:cNvSpPr txBox="1"/>
          <p:nvPr>
            <p:ph idx="1" type="body"/>
          </p:nvPr>
        </p:nvSpPr>
        <p:spPr>
          <a:xfrm>
            <a:off x="90450" y="-41377"/>
            <a:ext cx="4774200" cy="46230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To ensure the project remains achievable within the timeframe, the implementation will adhere to the following constraints.</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The User Interface for Part 1 will be a Command Line Interface (</a:t>
            </a:r>
            <a:r>
              <a:rPr b="1" i="1" lang="en">
                <a:solidFill>
                  <a:srgbClr val="FF0000"/>
                </a:solidFill>
                <a:latin typeface="Arial"/>
                <a:ea typeface="Arial"/>
                <a:cs typeface="Arial"/>
                <a:sym typeface="Arial"/>
              </a:rPr>
              <a:t>CLI</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The game will be played by a </a:t>
            </a:r>
            <a:r>
              <a:rPr b="1" i="1" lang="en">
                <a:solidFill>
                  <a:srgbClr val="FF0000"/>
                </a:solidFill>
                <a:latin typeface="Arial"/>
                <a:ea typeface="Arial"/>
                <a:cs typeface="Arial"/>
                <a:sym typeface="Arial"/>
              </a:rPr>
              <a:t>single player</a:t>
            </a:r>
            <a:r>
              <a:rPr lang="en">
                <a:solidFill>
                  <a:srgbClr val="000000"/>
                </a:solidFill>
                <a:latin typeface="Arial"/>
                <a:ea typeface="Arial"/>
                <a:cs typeface="Arial"/>
                <a:sym typeface="Arial"/>
              </a:rPr>
              <a:t>, squaring off against a Cyber Pup (computer).</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At the start of the game, one of each toy for both the player and the Cyber Pup will be </a:t>
            </a:r>
            <a:r>
              <a:rPr b="1" i="1" lang="en">
                <a:solidFill>
                  <a:srgbClr val="FF0000"/>
                </a:solidFill>
                <a:latin typeface="Arial"/>
                <a:ea typeface="Arial"/>
                <a:cs typeface="Arial"/>
                <a:sym typeface="Arial"/>
              </a:rPr>
              <a:t>randomly</a:t>
            </a:r>
            <a:r>
              <a:rPr lang="en">
                <a:solidFill>
                  <a:srgbClr val="000000"/>
                </a:solidFill>
                <a:latin typeface="Arial"/>
                <a:ea typeface="Arial"/>
                <a:cs typeface="Arial"/>
                <a:sym typeface="Arial"/>
              </a:rPr>
              <a:t> </a:t>
            </a:r>
            <a:r>
              <a:rPr b="1" i="1" lang="en">
                <a:solidFill>
                  <a:srgbClr val="FF0000"/>
                </a:solidFill>
                <a:latin typeface="Arial"/>
                <a:ea typeface="Arial"/>
                <a:cs typeface="Arial"/>
                <a:sym typeface="Arial"/>
              </a:rPr>
              <a:t>buried</a:t>
            </a:r>
            <a:r>
              <a:rPr lang="en">
                <a:solidFill>
                  <a:srgbClr val="000000"/>
                </a:solidFill>
                <a:latin typeface="Arial"/>
                <a:ea typeface="Arial"/>
                <a:cs typeface="Arial"/>
                <a:sym typeface="Arial"/>
              </a:rPr>
              <a:t> in yard coordinates on the grid. Toys may not overlap yard coordinates.</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The player will always go first.</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Immediately after each dig by the player, the Cyber Pup will automatically take their turn and dig (unless the player has uncovered the final toy part with their dig and hence has won the game).</a:t>
            </a:r>
            <a:endParaRPr>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The grid rows will be lettered </a:t>
            </a:r>
            <a:r>
              <a:rPr b="1" i="1" lang="en">
                <a:solidFill>
                  <a:srgbClr val="FF0000"/>
                </a:solidFill>
                <a:latin typeface="Arial"/>
                <a:ea typeface="Arial"/>
                <a:cs typeface="Arial"/>
                <a:sym typeface="Arial"/>
              </a:rPr>
              <a:t>'A' - 'J'</a:t>
            </a:r>
            <a:r>
              <a:rPr lang="en">
                <a:solidFill>
                  <a:srgbClr val="000000"/>
                </a:solidFill>
                <a:latin typeface="Arial"/>
                <a:ea typeface="Arial"/>
                <a:cs typeface="Arial"/>
                <a:sym typeface="Arial"/>
              </a:rPr>
              <a:t> and columns will be numbered </a:t>
            </a:r>
            <a:r>
              <a:rPr b="1" i="1" lang="en">
                <a:solidFill>
                  <a:srgbClr val="FF0000"/>
                </a:solidFill>
                <a:latin typeface="Arial"/>
                <a:ea typeface="Arial"/>
                <a:cs typeface="Arial"/>
                <a:sym typeface="Arial"/>
              </a:rPr>
              <a:t>0 - 9</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Font typeface="Arial"/>
              <a:buChar char="●"/>
            </a:pPr>
            <a:r>
              <a:rPr lang="en">
                <a:solidFill>
                  <a:schemeClr val="dk1"/>
                </a:solidFill>
                <a:latin typeface="Arial"/>
                <a:ea typeface="Arial"/>
                <a:cs typeface="Arial"/>
                <a:sym typeface="Arial"/>
              </a:rPr>
              <a:t>Once the game is over or the player quits, the client should terminate.</a:t>
            </a:r>
            <a:endParaRPr>
              <a:solidFill>
                <a:schemeClr val="dk1"/>
              </a:solidFill>
              <a:latin typeface="Arial"/>
              <a:ea typeface="Arial"/>
              <a:cs typeface="Arial"/>
              <a:sym typeface="Arial"/>
            </a:endParaRPr>
          </a:p>
        </p:txBody>
      </p:sp>
      <p:sp>
        <p:nvSpPr>
          <p:cNvPr id="138" name="Google Shape;138;p20"/>
          <p:cNvSpPr txBox="1"/>
          <p:nvPr>
            <p:ph idx="3" type="body"/>
          </p:nvPr>
        </p:nvSpPr>
        <p:spPr>
          <a:xfrm>
            <a:off x="4992675" y="4089650"/>
            <a:ext cx="40794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While a head-to-head game with players burying their own toys would be more exciting, there is only so many hours in a day.</a:t>
            </a:r>
            <a:endParaRPr/>
          </a:p>
        </p:txBody>
      </p:sp>
      <p:pic>
        <p:nvPicPr>
          <p:cNvPr id="139" name="Google Shape;139;p20"/>
          <p:cNvPicPr preferRelativeResize="0"/>
          <p:nvPr/>
        </p:nvPicPr>
        <p:blipFill rotWithShape="1">
          <a:blip r:embed="rId3">
            <a:alphaModFix/>
          </a:blip>
          <a:srcRect b="40" l="0" r="0" t="40"/>
          <a:stretch/>
        </p:blipFill>
        <p:spPr>
          <a:xfrm>
            <a:off x="4992677" y="1333063"/>
            <a:ext cx="4079475" cy="2372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51922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Pair Programming</a:t>
            </a:r>
            <a:endParaRPr/>
          </a:p>
        </p:txBody>
      </p:sp>
      <p:sp>
        <p:nvSpPr>
          <p:cNvPr id="145" name="Google Shape;145;p21"/>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6" name="Google Shape;146;p21"/>
          <p:cNvSpPr txBox="1"/>
          <p:nvPr>
            <p:ph idx="1" type="body"/>
          </p:nvPr>
        </p:nvSpPr>
        <p:spPr>
          <a:xfrm>
            <a:off x="301275" y="119925"/>
            <a:ext cx="4443000" cy="48987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b="1" i="1" lang="en" u="sng">
                <a:solidFill>
                  <a:srgbClr val="4A86E8"/>
                </a:solidFill>
                <a:hlinkClick r:id="rId3">
                  <a:extLst>
                    <a:ext uri="{A12FA001-AC4F-418D-AE19-62706E023703}">
                      <ahyp:hlinkClr val="tx"/>
                    </a:ext>
                  </a:extLst>
                </a:hlinkClick>
              </a:rPr>
              <a:t>Pair programming</a:t>
            </a:r>
            <a:r>
              <a:rPr lang="en"/>
              <a:t> is a technique during which two developers collaborate to solve a software problem by writing code together.</a:t>
            </a:r>
            <a:endParaRPr/>
          </a:p>
          <a:p>
            <a:pPr indent="-311150" lvl="0" marL="457200" rtl="0" algn="l">
              <a:lnSpc>
                <a:spcPct val="115000"/>
              </a:lnSpc>
              <a:spcBef>
                <a:spcPts val="0"/>
              </a:spcBef>
              <a:spcAft>
                <a:spcPts val="0"/>
              </a:spcAft>
              <a:buSzPts val="1300"/>
              <a:buChar char="●"/>
            </a:pPr>
            <a:r>
              <a:rPr lang="en"/>
              <a:t>One developer takes on the role of </a:t>
            </a:r>
            <a:r>
              <a:rPr b="1" i="1" lang="en">
                <a:solidFill>
                  <a:srgbClr val="FF0000"/>
                </a:solidFill>
              </a:rPr>
              <a:t>the driver</a:t>
            </a:r>
            <a:r>
              <a:rPr lang="en"/>
              <a:t>.</a:t>
            </a:r>
            <a:endParaRPr/>
          </a:p>
          <a:p>
            <a:pPr indent="-298450" lvl="1" marL="914400" rtl="0" algn="l">
              <a:lnSpc>
                <a:spcPct val="115000"/>
              </a:lnSpc>
              <a:spcBef>
                <a:spcPts val="0"/>
              </a:spcBef>
              <a:spcAft>
                <a:spcPts val="0"/>
              </a:spcAft>
              <a:buSzPts val="1100"/>
              <a:buChar char="○"/>
            </a:pPr>
            <a:r>
              <a:rPr lang="en"/>
              <a:t>Shares their screen.</a:t>
            </a:r>
            <a:endParaRPr/>
          </a:p>
          <a:p>
            <a:pPr indent="-298450" lvl="1" marL="914400" rtl="0" algn="l">
              <a:lnSpc>
                <a:spcPct val="115000"/>
              </a:lnSpc>
              <a:spcBef>
                <a:spcPts val="0"/>
              </a:spcBef>
              <a:spcAft>
                <a:spcPts val="0"/>
              </a:spcAft>
              <a:buSzPts val="1100"/>
              <a:buChar char="○"/>
            </a:pPr>
            <a:r>
              <a:rPr lang="en"/>
              <a:t>Is actively writing code.</a:t>
            </a:r>
            <a:endParaRPr/>
          </a:p>
          <a:p>
            <a:pPr indent="-311150" lvl="0" marL="457200" rtl="0" algn="l">
              <a:lnSpc>
                <a:spcPct val="115000"/>
              </a:lnSpc>
              <a:spcBef>
                <a:spcPts val="0"/>
              </a:spcBef>
              <a:spcAft>
                <a:spcPts val="0"/>
              </a:spcAft>
              <a:buSzPts val="1300"/>
              <a:buChar char="●"/>
            </a:pPr>
            <a:r>
              <a:rPr lang="en"/>
              <a:t>The other developer(s) takes on the role of </a:t>
            </a:r>
            <a:r>
              <a:rPr b="1" i="1" lang="en">
                <a:solidFill>
                  <a:srgbClr val="FF0000"/>
                </a:solidFill>
              </a:rPr>
              <a:t>the navigator</a:t>
            </a:r>
            <a:r>
              <a:rPr lang="en"/>
              <a:t>.</a:t>
            </a:r>
            <a:endParaRPr/>
          </a:p>
          <a:p>
            <a:pPr indent="-298450" lvl="1" marL="914400" rtl="0" algn="l">
              <a:lnSpc>
                <a:spcPct val="115000"/>
              </a:lnSpc>
              <a:spcBef>
                <a:spcPts val="0"/>
              </a:spcBef>
              <a:spcAft>
                <a:spcPts val="0"/>
              </a:spcAft>
              <a:buSzPts val="1100"/>
              <a:buChar char="○"/>
            </a:pPr>
            <a:r>
              <a:rPr lang="en"/>
              <a:t>Watches while the driver codes.</a:t>
            </a:r>
            <a:endParaRPr/>
          </a:p>
          <a:p>
            <a:pPr indent="-298450" lvl="1" marL="914400" rtl="0" algn="l">
              <a:lnSpc>
                <a:spcPct val="115000"/>
              </a:lnSpc>
              <a:spcBef>
                <a:spcPts val="0"/>
              </a:spcBef>
              <a:spcAft>
                <a:spcPts val="0"/>
              </a:spcAft>
              <a:buSzPts val="1100"/>
              <a:buChar char="○"/>
            </a:pPr>
            <a:r>
              <a:rPr lang="en"/>
              <a:t>Takes notes.</a:t>
            </a:r>
            <a:endParaRPr/>
          </a:p>
          <a:p>
            <a:pPr indent="-298450" lvl="1" marL="914400" rtl="0" algn="l">
              <a:lnSpc>
                <a:spcPct val="115000"/>
              </a:lnSpc>
              <a:spcBef>
                <a:spcPts val="0"/>
              </a:spcBef>
              <a:spcAft>
                <a:spcPts val="0"/>
              </a:spcAft>
              <a:buSzPts val="1100"/>
              <a:buChar char="○"/>
            </a:pPr>
            <a:r>
              <a:rPr lang="en"/>
              <a:t>Asks questions.</a:t>
            </a:r>
            <a:endParaRPr/>
          </a:p>
          <a:p>
            <a:pPr indent="-298450" lvl="1" marL="914400" rtl="0" algn="l">
              <a:lnSpc>
                <a:spcPct val="115000"/>
              </a:lnSpc>
              <a:spcBef>
                <a:spcPts val="0"/>
              </a:spcBef>
              <a:spcAft>
                <a:spcPts val="0"/>
              </a:spcAft>
              <a:buSzPts val="1100"/>
              <a:buChar char="○"/>
            </a:pPr>
            <a:r>
              <a:rPr lang="en"/>
              <a:t>Points out potential errors.</a:t>
            </a:r>
            <a:endParaRPr/>
          </a:p>
          <a:p>
            <a:pPr indent="-298450" lvl="1" marL="914400" rtl="0" algn="l">
              <a:lnSpc>
                <a:spcPct val="115000"/>
              </a:lnSpc>
              <a:spcBef>
                <a:spcPts val="0"/>
              </a:spcBef>
              <a:spcAft>
                <a:spcPts val="0"/>
              </a:spcAft>
              <a:buSzPts val="1100"/>
              <a:buChar char="○"/>
            </a:pPr>
            <a:r>
              <a:rPr lang="en"/>
              <a:t>Makes suggestions for improvements.</a:t>
            </a:r>
            <a:endParaRPr/>
          </a:p>
          <a:p>
            <a:pPr indent="-311150" lvl="0" marL="457200" rtl="0" algn="l">
              <a:lnSpc>
                <a:spcPct val="115000"/>
              </a:lnSpc>
              <a:spcBef>
                <a:spcPts val="0"/>
              </a:spcBef>
              <a:spcAft>
                <a:spcPts val="0"/>
              </a:spcAft>
              <a:buSzPts val="1300"/>
              <a:buChar char="●"/>
            </a:pPr>
            <a:r>
              <a:rPr lang="en"/>
              <a:t>The driver and navigator regularly</a:t>
            </a:r>
            <a:r>
              <a:rPr lang="en">
                <a:solidFill>
                  <a:srgbClr val="FF0000"/>
                </a:solidFill>
              </a:rPr>
              <a:t> </a:t>
            </a:r>
            <a:r>
              <a:rPr b="1" i="1" lang="en">
                <a:solidFill>
                  <a:srgbClr val="FF0000"/>
                </a:solidFill>
              </a:rPr>
              <a:t>switch roles</a:t>
            </a:r>
            <a:r>
              <a:rPr lang="en"/>
              <a:t>, e.g. every </a:t>
            </a:r>
            <a:r>
              <a:rPr b="1" i="1" lang="en">
                <a:solidFill>
                  <a:srgbClr val="FF0000"/>
                </a:solidFill>
              </a:rPr>
              <a:t>10-20 minutes</a:t>
            </a:r>
            <a:r>
              <a:rPr lang="en"/>
              <a:t>.</a:t>
            </a:r>
            <a:endParaRPr/>
          </a:p>
          <a:p>
            <a:pPr indent="-298450" lvl="1" marL="914400" rtl="0" algn="l">
              <a:lnSpc>
                <a:spcPct val="115000"/>
              </a:lnSpc>
              <a:spcBef>
                <a:spcPts val="0"/>
              </a:spcBef>
              <a:spcAft>
                <a:spcPts val="0"/>
              </a:spcAft>
              <a:buSzPts val="1100"/>
              <a:buChar char="○"/>
            </a:pPr>
            <a:r>
              <a:rPr lang="en"/>
              <a:t>Set a timer!</a:t>
            </a:r>
            <a:endParaRPr/>
          </a:p>
          <a:p>
            <a:pPr indent="-298450" lvl="1" marL="914400" rtl="0" algn="l">
              <a:lnSpc>
                <a:spcPct val="115000"/>
              </a:lnSpc>
              <a:spcBef>
                <a:spcPts val="0"/>
              </a:spcBef>
              <a:spcAft>
                <a:spcPts val="0"/>
              </a:spcAft>
              <a:buSzPts val="1100"/>
              <a:buChar char="○"/>
            </a:pPr>
            <a:r>
              <a:rPr b="1" i="1" lang="en">
                <a:solidFill>
                  <a:srgbClr val="FF0000"/>
                </a:solidFill>
              </a:rPr>
              <a:t>Push your code!</a:t>
            </a:r>
            <a:endParaRPr b="1" i="1">
              <a:solidFill>
                <a:srgbClr val="FF0000"/>
              </a:solidFill>
            </a:endParaRPr>
          </a:p>
          <a:p>
            <a:pPr indent="-311150" lvl="0" marL="457200" rtl="0" algn="l">
              <a:lnSpc>
                <a:spcPct val="115000"/>
              </a:lnSpc>
              <a:spcBef>
                <a:spcPts val="0"/>
              </a:spcBef>
              <a:spcAft>
                <a:spcPts val="0"/>
              </a:spcAft>
              <a:buSzPts val="1300"/>
              <a:buChar char="●"/>
            </a:pPr>
            <a:r>
              <a:rPr lang="en"/>
              <a:t>For the rest of today's class as you begin work on your project,  you and your team will practice pair programming with </a:t>
            </a:r>
            <a:r>
              <a:rPr b="1" i="1" lang="en">
                <a:solidFill>
                  <a:srgbClr val="FF0000"/>
                </a:solidFill>
              </a:rPr>
              <a:t>one</a:t>
            </a:r>
            <a:r>
              <a:rPr lang="en">
                <a:solidFill>
                  <a:srgbClr val="FF0000"/>
                </a:solidFill>
              </a:rPr>
              <a:t> </a:t>
            </a:r>
            <a:r>
              <a:rPr lang="en"/>
              <a:t>team member acting as the driver and the </a:t>
            </a:r>
            <a:r>
              <a:rPr b="1" i="1" lang="en">
                <a:solidFill>
                  <a:srgbClr val="FF0000"/>
                </a:solidFill>
              </a:rPr>
              <a:t>remaining</a:t>
            </a:r>
            <a:r>
              <a:rPr lang="en">
                <a:solidFill>
                  <a:srgbClr val="FF0000"/>
                </a:solidFill>
              </a:rPr>
              <a:t> </a:t>
            </a:r>
            <a:r>
              <a:rPr lang="en"/>
              <a:t>team members acting as the navigators.</a:t>
            </a:r>
            <a:endParaRPr/>
          </a:p>
        </p:txBody>
      </p:sp>
      <p:sp>
        <p:nvSpPr>
          <p:cNvPr id="147" name="Google Shape;147;p21"/>
          <p:cNvSpPr txBox="1"/>
          <p:nvPr>
            <p:ph idx="3" type="body"/>
          </p:nvPr>
        </p:nvSpPr>
        <p:spPr>
          <a:xfrm>
            <a:off x="5192225" y="1017325"/>
            <a:ext cx="370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Everyone on the team should take a moment to watch </a:t>
            </a:r>
            <a:r>
              <a:rPr lang="en" sz="1200" u="sng">
                <a:solidFill>
                  <a:srgbClr val="4A86E8"/>
                </a:solidFill>
                <a:hlinkClick r:id="rId4">
                  <a:extLst>
                    <a:ext uri="{A12FA001-AC4F-418D-AE19-62706E023703}">
                      <ahyp:hlinkClr val="tx"/>
                    </a:ext>
                  </a:extLst>
                </a:hlinkClick>
              </a:rPr>
              <a:t>this short video on pair programming</a:t>
            </a:r>
            <a:r>
              <a:rPr lang="en" sz="1200"/>
              <a:t>.</a:t>
            </a:r>
            <a:endParaRPr sz="1200"/>
          </a:p>
        </p:txBody>
      </p:sp>
      <p:pic>
        <p:nvPicPr>
          <p:cNvPr id="148" name="Google Shape;148;p21"/>
          <p:cNvPicPr preferRelativeResize="0"/>
          <p:nvPr/>
        </p:nvPicPr>
        <p:blipFill rotWithShape="1">
          <a:blip r:embed="rId5">
            <a:alphaModFix/>
          </a:blip>
          <a:srcRect b="0" l="0" r="0" t="0"/>
          <a:stretch/>
        </p:blipFill>
        <p:spPr>
          <a:xfrm>
            <a:off x="5499700" y="1792346"/>
            <a:ext cx="3091550" cy="701800"/>
          </a:xfrm>
          <a:prstGeom prst="rect">
            <a:avLst/>
          </a:prstGeom>
          <a:noFill/>
          <a:ln>
            <a:noFill/>
          </a:ln>
        </p:spPr>
      </p:pic>
      <p:pic>
        <p:nvPicPr>
          <p:cNvPr id="149" name="Google Shape;149;p21"/>
          <p:cNvPicPr preferRelativeResize="0"/>
          <p:nvPr/>
        </p:nvPicPr>
        <p:blipFill rotWithShape="1">
          <a:blip r:embed="rId6">
            <a:alphaModFix/>
          </a:blip>
          <a:srcRect b="29902" l="0" r="0" t="28981"/>
          <a:stretch/>
        </p:blipFill>
        <p:spPr>
          <a:xfrm>
            <a:off x="5099263" y="2849797"/>
            <a:ext cx="3892425" cy="1066930"/>
          </a:xfrm>
          <a:prstGeom prst="rect">
            <a:avLst/>
          </a:prstGeom>
          <a:noFill/>
          <a:ln>
            <a:noFill/>
          </a:ln>
        </p:spPr>
      </p:pic>
      <p:sp>
        <p:nvSpPr>
          <p:cNvPr id="150" name="Google Shape;150;p21"/>
          <p:cNvSpPr txBox="1"/>
          <p:nvPr>
            <p:ph idx="3" type="body"/>
          </p:nvPr>
        </p:nvSpPr>
        <p:spPr>
          <a:xfrm>
            <a:off x="5192225" y="398912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When you are the driver, you should be using Zoom or Discord to </a:t>
            </a:r>
            <a:r>
              <a:rPr b="1" i="1" lang="en" sz="1200">
                <a:solidFill>
                  <a:srgbClr val="FF0000"/>
                </a:solidFill>
              </a:rPr>
              <a:t>share your screen</a:t>
            </a:r>
            <a:r>
              <a:rPr lang="en" sz="1200"/>
              <a:t>. Be sure to </a:t>
            </a:r>
            <a:r>
              <a:rPr b="1" i="1" lang="en" sz="1200">
                <a:solidFill>
                  <a:srgbClr val="FF0000"/>
                </a:solidFill>
              </a:rPr>
              <a:t>push your code</a:t>
            </a:r>
            <a:r>
              <a:rPr lang="en" sz="1200"/>
              <a:t> and </a:t>
            </a:r>
            <a:r>
              <a:rPr b="1" i="1" lang="en" sz="1200">
                <a:solidFill>
                  <a:srgbClr val="FF0000"/>
                </a:solidFill>
              </a:rPr>
              <a:t>switch roles</a:t>
            </a:r>
            <a:r>
              <a:rPr lang="en" sz="1200"/>
              <a:t> every 10-20 minutes!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56" name="Google Shape;156;p22"/>
          <p:cNvSpPr txBox="1"/>
          <p:nvPr>
            <p:ph idx="4294967295" type="body"/>
          </p:nvPr>
        </p:nvSpPr>
        <p:spPr>
          <a:xfrm>
            <a:off x="6037846" y="2682725"/>
            <a:ext cx="2533500" cy="1046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300"/>
              <a:buNone/>
            </a:pPr>
            <a:r>
              <a:rPr lang="en" sz="1400">
                <a:solidFill>
                  <a:srgbClr val="000000"/>
                </a:solidFill>
                <a:latin typeface="Arial"/>
                <a:ea typeface="Arial"/>
                <a:cs typeface="Arial"/>
                <a:sym typeface="Arial"/>
              </a:rPr>
              <a:t>Refer to this full UML class diagram as needed while you and your team work through the rest of this assignment.</a:t>
            </a:r>
            <a:endParaRPr sz="1400">
              <a:solidFill>
                <a:srgbClr val="000000"/>
              </a:solidFill>
              <a:latin typeface="Arial"/>
              <a:ea typeface="Arial"/>
              <a:cs typeface="Arial"/>
              <a:sym typeface="Arial"/>
            </a:endParaRPr>
          </a:p>
        </p:txBody>
      </p:sp>
      <p:sp>
        <p:nvSpPr>
          <p:cNvPr id="157" name="Google Shape;157;p2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Partial Design</a:t>
            </a:r>
            <a:endParaRPr/>
          </a:p>
        </p:txBody>
      </p:sp>
      <p:pic>
        <p:nvPicPr>
          <p:cNvPr id="158" name="Google Shape;158;p22"/>
          <p:cNvPicPr preferRelativeResize="0"/>
          <p:nvPr/>
        </p:nvPicPr>
        <p:blipFill>
          <a:blip r:embed="rId3">
            <a:alphaModFix/>
          </a:blip>
          <a:stretch>
            <a:fillRect/>
          </a:stretch>
        </p:blipFill>
        <p:spPr>
          <a:xfrm>
            <a:off x="152400" y="1277025"/>
            <a:ext cx="5544044" cy="3714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3154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YardCoordinate</a:t>
            </a:r>
            <a:endParaRPr/>
          </a:p>
        </p:txBody>
      </p:sp>
      <p:sp>
        <p:nvSpPr>
          <p:cNvPr id="164" name="Google Shape;164;p23"/>
          <p:cNvSpPr txBox="1"/>
          <p:nvPr>
            <p:ph idx="1" type="body"/>
          </p:nvPr>
        </p:nvSpPr>
        <p:spPr>
          <a:xfrm>
            <a:off x="4644675" y="272325"/>
            <a:ext cx="4166400" cy="4432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The game is driven by </a:t>
            </a:r>
            <a:r>
              <a:rPr b="1" i="1" lang="en">
                <a:solidFill>
                  <a:srgbClr val="FF0000"/>
                </a:solidFill>
              </a:rPr>
              <a:t>coordinates</a:t>
            </a:r>
            <a:r>
              <a:rPr lang="en"/>
              <a:t> - toys are placed at coordinates and players dig at a location specified by a coordinate.</a:t>
            </a:r>
            <a:endParaRPr/>
          </a:p>
          <a:p>
            <a:pPr indent="-311150" lvl="0" marL="457200" rtl="0" algn="l">
              <a:lnSpc>
                <a:spcPct val="115000"/>
              </a:lnSpc>
              <a:spcBef>
                <a:spcPts val="0"/>
              </a:spcBef>
              <a:spcAft>
                <a:spcPts val="0"/>
              </a:spcAft>
              <a:buSzPts val="1300"/>
              <a:buChar char="●"/>
            </a:pPr>
            <a:r>
              <a:rPr lang="en"/>
              <a:t>Recall that each row on the grid is specified by a letter, </a:t>
            </a:r>
            <a:r>
              <a:rPr b="1" i="1" lang="en">
                <a:solidFill>
                  <a:srgbClr val="FF0000"/>
                </a:solidFill>
              </a:rPr>
              <a:t>'A' - 'J'.</a:t>
            </a:r>
            <a:r>
              <a:rPr lang="en"/>
              <a:t> Columns will be numbered </a:t>
            </a:r>
            <a:r>
              <a:rPr b="1" i="1" lang="en">
                <a:solidFill>
                  <a:srgbClr val="FF0000"/>
                </a:solidFill>
              </a:rPr>
              <a:t>0 - 9</a:t>
            </a:r>
            <a:r>
              <a:rPr lang="en"/>
              <a:t>.</a:t>
            </a:r>
            <a:endParaRPr/>
          </a:p>
          <a:p>
            <a:pPr indent="-311150" lvl="0" marL="457200" rtl="0" algn="l">
              <a:lnSpc>
                <a:spcPct val="115000"/>
              </a:lnSpc>
              <a:spcBef>
                <a:spcPts val="0"/>
              </a:spcBef>
              <a:spcAft>
                <a:spcPts val="0"/>
              </a:spcAft>
              <a:buSzPts val="1300"/>
              <a:buChar char="●"/>
            </a:pPr>
            <a:r>
              <a:rPr lang="en"/>
              <a:t>Using the UML to the left, implement the </a:t>
            </a:r>
            <a:r>
              <a:rPr lang="en">
                <a:solidFill>
                  <a:srgbClr val="FF0000"/>
                </a:solidFill>
                <a:latin typeface="Courier New"/>
                <a:ea typeface="Courier New"/>
                <a:cs typeface="Courier New"/>
                <a:sym typeface="Courier New"/>
              </a:rPr>
              <a:t>YardCoordinate</a:t>
            </a:r>
            <a:r>
              <a:rPr lang="en"/>
              <a:t> class enumeration in the </a:t>
            </a:r>
            <a:r>
              <a:rPr lang="en">
                <a:solidFill>
                  <a:srgbClr val="FF0000"/>
                </a:solidFill>
                <a:latin typeface="Courier New"/>
                <a:ea typeface="Courier New"/>
                <a:cs typeface="Courier New"/>
                <a:sym typeface="Courier New"/>
              </a:rPr>
              <a:t>bbb</a:t>
            </a:r>
            <a:r>
              <a:rPr lang="en">
                <a:solidFill>
                  <a:srgbClr val="FF0000"/>
                </a:solidFill>
                <a:latin typeface="Courier New"/>
                <a:ea typeface="Courier New"/>
                <a:cs typeface="Courier New"/>
                <a:sym typeface="Courier New"/>
              </a:rPr>
              <a:t>.model</a:t>
            </a:r>
            <a:r>
              <a:rPr lang="en">
                <a:solidFill>
                  <a:srgbClr val="FF0000"/>
                </a:solidFill>
              </a:rPr>
              <a:t> </a:t>
            </a:r>
            <a:r>
              <a:rPr lang="en"/>
              <a:t>package.</a:t>
            </a:r>
            <a:endParaRPr/>
          </a:p>
          <a:p>
            <a:pPr indent="-311150" lvl="0" marL="457200" rtl="0" algn="l">
              <a:lnSpc>
                <a:spcPct val="115000"/>
              </a:lnSpc>
              <a:spcBef>
                <a:spcPts val="0"/>
              </a:spcBef>
              <a:spcAft>
                <a:spcPts val="0"/>
              </a:spcAft>
              <a:buSzPts val="1300"/>
              <a:buChar char="●"/>
            </a:pPr>
            <a:r>
              <a:rPr lang="en"/>
              <a:t>The </a:t>
            </a:r>
            <a:r>
              <a:rPr lang="en">
                <a:latin typeface="Courier New"/>
                <a:ea typeface="Courier New"/>
                <a:cs typeface="Courier New"/>
                <a:sym typeface="Courier New"/>
              </a:rPr>
              <a:t>YardCoordinate(coordinate: String)</a:t>
            </a:r>
            <a:r>
              <a:rPr lang="en"/>
              <a:t> constructor is a convenience constructor and can accept a string in the format of </a:t>
            </a:r>
            <a:r>
              <a:rPr lang="en">
                <a:latin typeface="Courier New"/>
                <a:ea typeface="Courier New"/>
                <a:cs typeface="Courier New"/>
                <a:sym typeface="Courier New"/>
              </a:rPr>
              <a:t>"&lt;row&gt;&lt;col&gt;"</a:t>
            </a:r>
            <a:r>
              <a:rPr lang="en"/>
              <a:t>, e.g. </a:t>
            </a:r>
            <a:r>
              <a:rPr lang="en">
                <a:latin typeface="Courier New"/>
                <a:ea typeface="Courier New"/>
                <a:cs typeface="Courier New"/>
                <a:sym typeface="Courier New"/>
              </a:rPr>
              <a:t>"A5"</a:t>
            </a:r>
            <a:r>
              <a:rPr lang="en"/>
              <a:t>.</a:t>
            </a:r>
            <a:endParaRPr/>
          </a:p>
          <a:p>
            <a:pPr indent="-311150" lvl="0" marL="457200" rtl="0" algn="l">
              <a:lnSpc>
                <a:spcPct val="115000"/>
              </a:lnSpc>
              <a:spcBef>
                <a:spcPts val="0"/>
              </a:spcBef>
              <a:spcAft>
                <a:spcPts val="0"/>
              </a:spcAft>
              <a:buSzPts val="1300"/>
              <a:buChar char="●"/>
            </a:pPr>
            <a:r>
              <a:rPr lang="en"/>
              <a:t>You </a:t>
            </a:r>
            <a:r>
              <a:rPr b="1" i="1" lang="en">
                <a:solidFill>
                  <a:srgbClr val="FF0000"/>
                </a:solidFill>
              </a:rPr>
              <a:t>must</a:t>
            </a:r>
            <a:r>
              <a:rPr lang="en">
                <a:solidFill>
                  <a:srgbClr val="FF0000"/>
                </a:solidFill>
              </a:rPr>
              <a:t> </a:t>
            </a:r>
            <a:r>
              <a:rPr lang="en"/>
              <a:t>include the attributes and methods in the UML.  Consider:</a:t>
            </a:r>
            <a:endParaRPr/>
          </a:p>
          <a:p>
            <a:pPr indent="-298450" lvl="1" marL="914400" rtl="0" algn="l">
              <a:lnSpc>
                <a:spcPct val="115000"/>
              </a:lnSpc>
              <a:spcBef>
                <a:spcPts val="0"/>
              </a:spcBef>
              <a:spcAft>
                <a:spcPts val="0"/>
              </a:spcAft>
              <a:buSzPts val="1100"/>
              <a:buChar char="○"/>
            </a:pPr>
            <a:r>
              <a:rPr lang="en"/>
              <a:t>Will you need additional attributes?</a:t>
            </a:r>
            <a:endParaRPr/>
          </a:p>
          <a:p>
            <a:pPr indent="-298450" lvl="1" marL="914400" rtl="0" algn="l">
              <a:lnSpc>
                <a:spcPct val="115000"/>
              </a:lnSpc>
              <a:spcBef>
                <a:spcPts val="0"/>
              </a:spcBef>
              <a:spcAft>
                <a:spcPts val="0"/>
              </a:spcAft>
              <a:buSzPts val="1100"/>
              <a:buChar char="○"/>
            </a:pPr>
            <a:r>
              <a:rPr lang="en"/>
              <a:t>Will you need additional methods, non-static or static?</a:t>
            </a:r>
            <a:endParaRPr/>
          </a:p>
          <a:p>
            <a:pPr indent="-311150" lvl="0" marL="457200" rtl="0" algn="l">
              <a:lnSpc>
                <a:spcPct val="115000"/>
              </a:lnSpc>
              <a:spcBef>
                <a:spcPts val="0"/>
              </a:spcBef>
              <a:spcAft>
                <a:spcPts val="0"/>
              </a:spcAft>
              <a:buSzPts val="1300"/>
              <a:buChar char="●"/>
            </a:pPr>
            <a:r>
              <a:rPr lang="en"/>
              <a:t>Once created, you may remove the </a:t>
            </a:r>
            <a:r>
              <a:rPr lang="en">
                <a:solidFill>
                  <a:srgbClr val="FF0000"/>
                </a:solidFill>
                <a:latin typeface="Courier New"/>
                <a:ea typeface="Courier New"/>
                <a:cs typeface="Courier New"/>
                <a:sym typeface="Courier New"/>
              </a:rPr>
              <a:t>delete_me.txt</a:t>
            </a:r>
            <a:r>
              <a:rPr lang="en"/>
              <a:t> file from the </a:t>
            </a:r>
            <a:r>
              <a:rPr lang="en">
                <a:solidFill>
                  <a:srgbClr val="FF0000"/>
                </a:solidFill>
                <a:latin typeface="Courier New"/>
                <a:ea typeface="Courier New"/>
                <a:cs typeface="Courier New"/>
                <a:sym typeface="Courier New"/>
              </a:rPr>
              <a:t>bbb</a:t>
            </a:r>
            <a:r>
              <a:rPr lang="en">
                <a:solidFill>
                  <a:srgbClr val="FF0000"/>
                </a:solidFill>
                <a:latin typeface="Courier New"/>
                <a:ea typeface="Courier New"/>
                <a:cs typeface="Courier New"/>
                <a:sym typeface="Courier New"/>
              </a:rPr>
              <a:t>.model</a:t>
            </a:r>
            <a:r>
              <a:rPr lang="en"/>
              <a:t> package.</a:t>
            </a:r>
            <a:endParaRPr/>
          </a:p>
        </p:txBody>
      </p:sp>
      <p:sp>
        <p:nvSpPr>
          <p:cNvPr id="165" name="Google Shape;16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66" name="Google Shape;166;p23"/>
          <p:cNvSpPr txBox="1"/>
          <p:nvPr>
            <p:ph idx="3" type="body"/>
          </p:nvPr>
        </p:nvSpPr>
        <p:spPr>
          <a:xfrm>
            <a:off x="315425" y="3784850"/>
            <a:ext cx="3706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While you are </a:t>
            </a:r>
            <a:r>
              <a:rPr b="1" i="1" lang="en" sz="1200">
                <a:solidFill>
                  <a:srgbClr val="FF0000"/>
                </a:solidFill>
              </a:rPr>
              <a:t>required </a:t>
            </a:r>
            <a:r>
              <a:rPr lang="en" sz="1200"/>
              <a:t>to include the attributes and methods in the diagram above, you may add additional state and behavior if you find it necessary to do so.</a:t>
            </a:r>
            <a:endParaRPr sz="1200"/>
          </a:p>
        </p:txBody>
      </p:sp>
      <p:pic>
        <p:nvPicPr>
          <p:cNvPr id="167" name="Google Shape;167;p23"/>
          <p:cNvPicPr preferRelativeResize="0"/>
          <p:nvPr/>
        </p:nvPicPr>
        <p:blipFill>
          <a:blip r:embed="rId3">
            <a:alphaModFix/>
          </a:blip>
          <a:stretch>
            <a:fillRect/>
          </a:stretch>
        </p:blipFill>
        <p:spPr>
          <a:xfrm>
            <a:off x="152400" y="1193703"/>
            <a:ext cx="3972875" cy="22759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Symbols</a:t>
            </a:r>
            <a:endParaRPr/>
          </a:p>
        </p:txBody>
      </p:sp>
      <p:sp>
        <p:nvSpPr>
          <p:cNvPr id="173" name="Google Shape;173;p24"/>
          <p:cNvSpPr txBox="1"/>
          <p:nvPr>
            <p:ph idx="1" type="body"/>
          </p:nvPr>
        </p:nvSpPr>
        <p:spPr>
          <a:xfrm>
            <a:off x="4644675" y="272325"/>
            <a:ext cx="4166400" cy="4549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Next, you'll need to be able to track and communicate what is happening at each coordinate in the yard.</a:t>
            </a:r>
            <a:endParaRPr/>
          </a:p>
          <a:p>
            <a:pPr indent="-311150" lvl="1" marL="914400" rtl="0" algn="l">
              <a:lnSpc>
                <a:spcPct val="115000"/>
              </a:lnSpc>
              <a:spcBef>
                <a:spcPts val="0"/>
              </a:spcBef>
              <a:spcAft>
                <a:spcPts val="0"/>
              </a:spcAft>
              <a:buSzPts val="1300"/>
              <a:buChar char="○"/>
            </a:pPr>
            <a:r>
              <a:rPr lang="en"/>
              <a:t>Has a coordinate been dug yet?</a:t>
            </a:r>
            <a:endParaRPr/>
          </a:p>
          <a:p>
            <a:pPr indent="-298450" lvl="1" marL="914400" rtl="0" algn="l">
              <a:lnSpc>
                <a:spcPct val="115000"/>
              </a:lnSpc>
              <a:spcBef>
                <a:spcPts val="0"/>
              </a:spcBef>
              <a:spcAft>
                <a:spcPts val="0"/>
              </a:spcAft>
              <a:buSzPts val="1100"/>
              <a:buChar char="○"/>
            </a:pPr>
            <a:r>
              <a:rPr lang="en"/>
              <a:t>Did it reveal a Toy Part or a Hole?</a:t>
            </a:r>
            <a:endParaRPr/>
          </a:p>
          <a:p>
            <a:pPr indent="-311150" lvl="0" marL="457200" rtl="0" algn="l">
              <a:lnSpc>
                <a:spcPct val="115000"/>
              </a:lnSpc>
              <a:spcBef>
                <a:spcPts val="0"/>
              </a:spcBef>
              <a:spcAft>
                <a:spcPts val="0"/>
              </a:spcAft>
              <a:buSzPts val="1300"/>
              <a:buChar char="●"/>
            </a:pPr>
            <a:r>
              <a:rPr lang="en"/>
              <a:t>Using the UML to the left, implement a </a:t>
            </a:r>
            <a:r>
              <a:rPr lang="en">
                <a:solidFill>
                  <a:srgbClr val="FF0000"/>
                </a:solidFill>
                <a:latin typeface="Courier New"/>
                <a:ea typeface="Courier New"/>
                <a:cs typeface="Courier New"/>
                <a:sym typeface="Courier New"/>
              </a:rPr>
              <a:t>Symbol</a:t>
            </a:r>
            <a:r>
              <a:rPr lang="en"/>
              <a:t> enumeration in the </a:t>
            </a:r>
            <a:r>
              <a:rPr lang="en">
                <a:solidFill>
                  <a:srgbClr val="FF0000"/>
                </a:solidFill>
                <a:latin typeface="Courier New"/>
                <a:ea typeface="Courier New"/>
                <a:cs typeface="Courier New"/>
                <a:sym typeface="Courier New"/>
              </a:rPr>
              <a:t>bbb</a:t>
            </a:r>
            <a:r>
              <a:rPr lang="en">
                <a:solidFill>
                  <a:srgbClr val="FF0000"/>
                </a:solidFill>
                <a:latin typeface="Courier New"/>
                <a:ea typeface="Courier New"/>
                <a:cs typeface="Courier New"/>
                <a:sym typeface="Courier New"/>
              </a:rPr>
              <a:t>.model</a:t>
            </a:r>
            <a:r>
              <a:rPr lang="en">
                <a:solidFill>
                  <a:srgbClr val="FF0000"/>
                </a:solidFill>
              </a:rPr>
              <a:t> </a:t>
            </a:r>
            <a:r>
              <a:rPr lang="en"/>
              <a:t>package.</a:t>
            </a:r>
            <a:endParaRPr/>
          </a:p>
          <a:p>
            <a:pPr indent="-311150" lvl="1" marL="914400" rtl="0" algn="l">
              <a:lnSpc>
                <a:spcPct val="115000"/>
              </a:lnSpc>
              <a:spcBef>
                <a:spcPts val="0"/>
              </a:spcBef>
              <a:spcAft>
                <a:spcPts val="0"/>
              </a:spcAft>
              <a:buSzPts val="1300"/>
              <a:buChar char="○"/>
            </a:pPr>
            <a:r>
              <a:rPr lang="en">
                <a:solidFill>
                  <a:srgbClr val="FF0000"/>
                </a:solidFill>
                <a:latin typeface="Courier New"/>
                <a:ea typeface="Courier New"/>
                <a:cs typeface="Courier New"/>
                <a:sym typeface="Courier New"/>
              </a:rPr>
              <a:t>GRASS</a:t>
            </a:r>
            <a:r>
              <a:rPr lang="en"/>
              <a:t> - a coordinate that has not been dug at yet.</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HOLE</a:t>
            </a:r>
            <a:r>
              <a:rPr lang="en"/>
              <a:t> -  a coordinate that has been dug and contains no toy part.</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PART</a:t>
            </a:r>
            <a:r>
              <a:rPr lang="en"/>
              <a:t> - a coordinate that has been dug and contains a part.</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STICK, BONE, SQUEAKER, SHOE, CHEW_ROPE</a:t>
            </a:r>
            <a:r>
              <a:rPr lang="en"/>
              <a:t> - indicates that a part of the corresponding toy is located at that coordinate. If an opponent digs at this coordinate, the yard will be updated to be a </a:t>
            </a:r>
            <a:r>
              <a:rPr lang="en">
                <a:solidFill>
                  <a:srgbClr val="FF0000"/>
                </a:solidFill>
                <a:latin typeface="Courier New"/>
                <a:ea typeface="Courier New"/>
                <a:cs typeface="Courier New"/>
                <a:sym typeface="Courier New"/>
              </a:rPr>
              <a:t>PART</a:t>
            </a:r>
            <a:r>
              <a:rPr lang="en"/>
              <a:t> symbol.</a:t>
            </a:r>
            <a:endParaRPr/>
          </a:p>
        </p:txBody>
      </p:sp>
      <p:sp>
        <p:nvSpPr>
          <p:cNvPr id="174" name="Google Shape;17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75" name="Google Shape;175;p24"/>
          <p:cNvSpPr txBox="1"/>
          <p:nvPr>
            <p:ph idx="3" type="body"/>
          </p:nvPr>
        </p:nvSpPr>
        <p:spPr>
          <a:xfrm>
            <a:off x="311725" y="4072798"/>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While you are </a:t>
            </a:r>
            <a:r>
              <a:rPr b="1" i="1" lang="en" sz="1200">
                <a:solidFill>
                  <a:srgbClr val="FF0000"/>
                </a:solidFill>
              </a:rPr>
              <a:t>required </a:t>
            </a:r>
            <a:r>
              <a:rPr lang="en" sz="1200"/>
              <a:t>to include the </a:t>
            </a:r>
            <a:r>
              <a:rPr b="1" i="1" lang="en" sz="1200">
                <a:solidFill>
                  <a:srgbClr val="FF0000"/>
                </a:solidFill>
              </a:rPr>
              <a:t>values</a:t>
            </a:r>
            <a:r>
              <a:rPr lang="en" sz="1200"/>
              <a:t> in the diagram above, you may add additional state and behavior if you find it necessary to do so.</a:t>
            </a:r>
            <a:endParaRPr sz="1200"/>
          </a:p>
        </p:txBody>
      </p:sp>
      <p:pic>
        <p:nvPicPr>
          <p:cNvPr id="176" name="Google Shape;176;p24"/>
          <p:cNvPicPr preferRelativeResize="0"/>
          <p:nvPr/>
        </p:nvPicPr>
        <p:blipFill rotWithShape="1">
          <a:blip r:embed="rId3">
            <a:alphaModFix/>
          </a:blip>
          <a:srcRect b="3755" l="3755" r="3755" t="3755"/>
          <a:stretch/>
        </p:blipFill>
        <p:spPr>
          <a:xfrm>
            <a:off x="786376" y="1160547"/>
            <a:ext cx="2652470" cy="2707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Toys</a:t>
            </a:r>
            <a:endParaRPr/>
          </a:p>
        </p:txBody>
      </p:sp>
      <p:sp>
        <p:nvSpPr>
          <p:cNvPr id="182" name="Google Shape;182;p25"/>
          <p:cNvSpPr txBox="1"/>
          <p:nvPr>
            <p:ph idx="1" type="body"/>
          </p:nvPr>
        </p:nvSpPr>
        <p:spPr>
          <a:xfrm>
            <a:off x="4644675" y="646525"/>
            <a:ext cx="4166400" cy="36645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The game has a variety of toys  of varying lengths. Each toy has a </a:t>
            </a:r>
            <a:r>
              <a:rPr lang="en">
                <a:solidFill>
                  <a:srgbClr val="FF0000"/>
                </a:solidFill>
                <a:latin typeface="Courier New"/>
                <a:ea typeface="Courier New"/>
                <a:cs typeface="Courier New"/>
                <a:sym typeface="Courier New"/>
              </a:rPr>
              <a:t>Symbol</a:t>
            </a:r>
            <a:r>
              <a:rPr lang="en"/>
              <a:t> that represents it in the game.</a:t>
            </a:r>
            <a:endParaRPr/>
          </a:p>
          <a:p>
            <a:pPr indent="-311150" lvl="0" marL="457200" rtl="0" algn="l">
              <a:lnSpc>
                <a:spcPct val="115000"/>
              </a:lnSpc>
              <a:spcBef>
                <a:spcPts val="0"/>
              </a:spcBef>
              <a:spcAft>
                <a:spcPts val="0"/>
              </a:spcAft>
              <a:buSzPts val="1300"/>
              <a:buChar char="●"/>
            </a:pPr>
            <a:r>
              <a:rPr lang="en"/>
              <a:t>Using the UML to the left, implement a </a:t>
            </a:r>
            <a:r>
              <a:rPr lang="en">
                <a:solidFill>
                  <a:srgbClr val="FF0000"/>
                </a:solidFill>
                <a:latin typeface="Courier New"/>
                <a:ea typeface="Courier New"/>
                <a:cs typeface="Courier New"/>
                <a:sym typeface="Courier New"/>
              </a:rPr>
              <a:t>Toy</a:t>
            </a:r>
            <a:r>
              <a:rPr lang="en"/>
              <a:t> enumeration in the </a:t>
            </a:r>
            <a:r>
              <a:rPr lang="en">
                <a:solidFill>
                  <a:srgbClr val="FF0000"/>
                </a:solidFill>
                <a:latin typeface="Courier New"/>
                <a:ea typeface="Courier New"/>
                <a:cs typeface="Courier New"/>
                <a:sym typeface="Courier New"/>
              </a:rPr>
              <a:t>bbb</a:t>
            </a:r>
            <a:r>
              <a:rPr lang="en">
                <a:solidFill>
                  <a:srgbClr val="FF0000"/>
                </a:solidFill>
                <a:latin typeface="Courier New"/>
                <a:ea typeface="Courier New"/>
                <a:cs typeface="Courier New"/>
                <a:sym typeface="Courier New"/>
              </a:rPr>
              <a:t>.model</a:t>
            </a:r>
            <a:r>
              <a:rPr lang="en">
                <a:solidFill>
                  <a:srgbClr val="FF0000"/>
                </a:solidFill>
              </a:rPr>
              <a:t> </a:t>
            </a:r>
            <a:r>
              <a:rPr lang="en"/>
              <a:t>package.</a:t>
            </a:r>
            <a:endParaRPr/>
          </a:p>
          <a:p>
            <a:pPr indent="-311150" lvl="0" marL="457200" rtl="0" algn="l">
              <a:lnSpc>
                <a:spcPct val="115000"/>
              </a:lnSpc>
              <a:spcBef>
                <a:spcPts val="0"/>
              </a:spcBef>
              <a:spcAft>
                <a:spcPts val="0"/>
              </a:spcAft>
              <a:buSzPts val="1300"/>
              <a:buChar char="●"/>
            </a:pPr>
            <a:r>
              <a:rPr lang="en"/>
              <a:t>You </a:t>
            </a:r>
            <a:r>
              <a:rPr b="1" i="1" lang="en">
                <a:solidFill>
                  <a:srgbClr val="FF0000"/>
                </a:solidFill>
              </a:rPr>
              <a:t>must</a:t>
            </a:r>
            <a:r>
              <a:rPr lang="en">
                <a:solidFill>
                  <a:srgbClr val="FF0000"/>
                </a:solidFill>
              </a:rPr>
              <a:t> </a:t>
            </a:r>
            <a:r>
              <a:rPr lang="en"/>
              <a:t>include the values in the UML.  Consider:</a:t>
            </a:r>
            <a:endParaRPr/>
          </a:p>
          <a:p>
            <a:pPr indent="-298450" lvl="1" marL="914400" rtl="0" algn="l">
              <a:lnSpc>
                <a:spcPct val="115000"/>
              </a:lnSpc>
              <a:spcBef>
                <a:spcPts val="0"/>
              </a:spcBef>
              <a:spcAft>
                <a:spcPts val="0"/>
              </a:spcAft>
              <a:buSzPts val="1100"/>
              <a:buChar char="○"/>
            </a:pPr>
            <a:r>
              <a:rPr lang="en"/>
              <a:t>Will you need additional attributes associated with each value?</a:t>
            </a:r>
            <a:endParaRPr/>
          </a:p>
          <a:p>
            <a:pPr indent="-298450" lvl="1" marL="914400" rtl="0" algn="l">
              <a:lnSpc>
                <a:spcPct val="115000"/>
              </a:lnSpc>
              <a:spcBef>
                <a:spcPts val="0"/>
              </a:spcBef>
              <a:spcAft>
                <a:spcPts val="0"/>
              </a:spcAft>
              <a:buSzPts val="1100"/>
              <a:buChar char="○"/>
            </a:pPr>
            <a:r>
              <a:rPr lang="en"/>
              <a:t>Will you need additional methods, non-static or static?</a:t>
            </a:r>
            <a:endParaRPr/>
          </a:p>
          <a:p>
            <a:pPr indent="-298450" lvl="1" marL="914400" rtl="0" algn="l">
              <a:lnSpc>
                <a:spcPct val="115000"/>
              </a:lnSpc>
              <a:spcBef>
                <a:spcPts val="0"/>
              </a:spcBef>
              <a:spcAft>
                <a:spcPts val="0"/>
              </a:spcAft>
              <a:buSzPts val="1100"/>
              <a:buChar char="○"/>
            </a:pPr>
            <a:r>
              <a:rPr lang="en"/>
              <a:t>Will you want to print a nicely formatted version of the enumeration?</a:t>
            </a:r>
            <a:endParaRPr/>
          </a:p>
        </p:txBody>
      </p:sp>
      <p:sp>
        <p:nvSpPr>
          <p:cNvPr id="183" name="Google Shape;18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25"/>
          <p:cNvSpPr txBox="1"/>
          <p:nvPr>
            <p:ph idx="3" type="body"/>
          </p:nvPr>
        </p:nvSpPr>
        <p:spPr>
          <a:xfrm>
            <a:off x="311725" y="415132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t>While you are </a:t>
            </a:r>
            <a:r>
              <a:rPr b="1" i="1" lang="en" sz="1200">
                <a:solidFill>
                  <a:srgbClr val="FF0000"/>
                </a:solidFill>
              </a:rPr>
              <a:t>required </a:t>
            </a:r>
            <a:r>
              <a:rPr lang="en" sz="1200"/>
              <a:t>to include the values in the diagram above, you may add additional state and behavior if you find it necessary to do so.</a:t>
            </a:r>
            <a:endParaRPr sz="1200"/>
          </a:p>
        </p:txBody>
      </p:sp>
      <p:pic>
        <p:nvPicPr>
          <p:cNvPr id="185" name="Google Shape;185;p25"/>
          <p:cNvPicPr preferRelativeResize="0"/>
          <p:nvPr/>
        </p:nvPicPr>
        <p:blipFill>
          <a:blip r:embed="rId3">
            <a:alphaModFix/>
          </a:blip>
          <a:stretch>
            <a:fillRect/>
          </a:stretch>
        </p:blipFill>
        <p:spPr>
          <a:xfrm>
            <a:off x="431400" y="1136038"/>
            <a:ext cx="3467149" cy="28714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91" name="Google Shape;191;p26"/>
          <p:cNvSpPr txBox="1"/>
          <p:nvPr>
            <p:ph type="title"/>
          </p:nvPr>
        </p:nvSpPr>
        <p:spPr>
          <a:xfrm>
            <a:off x="52647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Thinking Logically</a:t>
            </a:r>
            <a:endParaRPr/>
          </a:p>
        </p:txBody>
      </p:sp>
      <p:sp>
        <p:nvSpPr>
          <p:cNvPr id="192" name="Google Shape;192;p26"/>
          <p:cNvSpPr txBox="1"/>
          <p:nvPr>
            <p:ph idx="1" type="body"/>
          </p:nvPr>
        </p:nvSpPr>
        <p:spPr>
          <a:xfrm>
            <a:off x="314350" y="208650"/>
            <a:ext cx="4374000" cy="4726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Now that you have a good starting point of data structures and attributes, discuss the </a:t>
            </a:r>
            <a:r>
              <a:rPr b="1" i="1" lang="en">
                <a:solidFill>
                  <a:srgbClr val="FF0000"/>
                </a:solidFill>
              </a:rPr>
              <a:t>logic </a:t>
            </a:r>
            <a:r>
              <a:rPr lang="en"/>
              <a:t>needed to implement the </a:t>
            </a:r>
            <a:r>
              <a:rPr b="1" i="1" lang="en">
                <a:solidFill>
                  <a:srgbClr val="FF0000"/>
                </a:solidFill>
              </a:rPr>
              <a:t>gameplay</a:t>
            </a:r>
            <a:r>
              <a:rPr lang="en"/>
              <a:t> and maintain the </a:t>
            </a:r>
            <a:r>
              <a:rPr b="1" i="1" lang="en">
                <a:solidFill>
                  <a:srgbClr val="FF0000"/>
                </a:solidFill>
              </a:rPr>
              <a:t>game state</a:t>
            </a:r>
            <a:r>
              <a:rPr lang="en"/>
              <a:t>.</a:t>
            </a:r>
            <a:endParaRPr/>
          </a:p>
          <a:p>
            <a:pPr indent="0" lvl="0" marL="0" rtl="0" algn="l">
              <a:lnSpc>
                <a:spcPct val="115000"/>
              </a:lnSpc>
              <a:spcBef>
                <a:spcPts val="0"/>
              </a:spcBef>
              <a:spcAft>
                <a:spcPts val="0"/>
              </a:spcAft>
              <a:buNone/>
            </a:pPr>
            <a:r>
              <a:rPr lang="en"/>
              <a:t>	How will your implementation</a:t>
            </a:r>
            <a:endParaRPr/>
          </a:p>
          <a:p>
            <a:pPr indent="-311150" lvl="0" marL="914400" rtl="0" algn="l">
              <a:lnSpc>
                <a:spcPct val="115000"/>
              </a:lnSpc>
              <a:spcBef>
                <a:spcPts val="0"/>
              </a:spcBef>
              <a:spcAft>
                <a:spcPts val="0"/>
              </a:spcAft>
              <a:buSzPts val="1300"/>
              <a:buChar char="●"/>
            </a:pPr>
            <a:r>
              <a:rPr lang="en"/>
              <a:t>Represent the yard and/or grid?</a:t>
            </a:r>
            <a:endParaRPr/>
          </a:p>
          <a:p>
            <a:pPr indent="-311150" lvl="0" marL="914400" rtl="0" algn="l">
              <a:lnSpc>
                <a:spcPct val="115000"/>
              </a:lnSpc>
              <a:spcBef>
                <a:spcPts val="0"/>
              </a:spcBef>
              <a:spcAft>
                <a:spcPts val="0"/>
              </a:spcAft>
              <a:buSzPts val="1300"/>
              <a:buChar char="●"/>
            </a:pPr>
            <a:r>
              <a:rPr lang="en"/>
              <a:t>Randomly place the toys?</a:t>
            </a:r>
            <a:endParaRPr/>
          </a:p>
          <a:p>
            <a:pPr indent="-311150" lvl="0" marL="914400" rtl="0" algn="l">
              <a:lnSpc>
                <a:spcPct val="115000"/>
              </a:lnSpc>
              <a:spcBef>
                <a:spcPts val="0"/>
              </a:spcBef>
              <a:spcAft>
                <a:spcPts val="0"/>
              </a:spcAft>
              <a:buSzPts val="1300"/>
              <a:buChar char="●"/>
            </a:pPr>
            <a:r>
              <a:rPr lang="en"/>
              <a:t>Determine where the Cyber Pup will dig next?</a:t>
            </a:r>
            <a:endParaRPr/>
          </a:p>
          <a:p>
            <a:pPr indent="-311150" lvl="0" marL="914400" rtl="0" algn="l">
              <a:lnSpc>
                <a:spcPct val="115000"/>
              </a:lnSpc>
              <a:spcBef>
                <a:spcPts val="0"/>
              </a:spcBef>
              <a:spcAft>
                <a:spcPts val="0"/>
              </a:spcAft>
              <a:buSzPts val="1300"/>
              <a:buChar char="●"/>
            </a:pPr>
            <a:r>
              <a:rPr lang="en"/>
              <a:t>How will you know if an entire toy has been dug up?</a:t>
            </a:r>
            <a:endParaRPr/>
          </a:p>
          <a:p>
            <a:pPr indent="-311150" lvl="0" marL="914400" rtl="0" algn="l">
              <a:lnSpc>
                <a:spcPct val="115000"/>
              </a:lnSpc>
              <a:spcBef>
                <a:spcPts val="0"/>
              </a:spcBef>
              <a:spcAft>
                <a:spcPts val="0"/>
              </a:spcAft>
              <a:buSzPts val="1300"/>
              <a:buChar char="●"/>
            </a:pPr>
            <a:r>
              <a:rPr lang="en"/>
              <a:t>How about if all toys are dug up?</a:t>
            </a:r>
            <a:endParaRPr/>
          </a:p>
          <a:p>
            <a:pPr indent="-311150" lvl="0" marL="914400" rtl="0" algn="l">
              <a:lnSpc>
                <a:spcPct val="115000"/>
              </a:lnSpc>
              <a:spcBef>
                <a:spcPts val="0"/>
              </a:spcBef>
              <a:spcAft>
                <a:spcPts val="0"/>
              </a:spcAft>
              <a:buSzPts val="1300"/>
              <a:buChar char="●"/>
            </a:pPr>
            <a:r>
              <a:rPr lang="en"/>
              <a:t>Manage game state?</a:t>
            </a:r>
            <a:endParaRPr/>
          </a:p>
          <a:p>
            <a:pPr indent="-311150" lvl="0" marL="914400" rtl="0" algn="l">
              <a:lnSpc>
                <a:spcPct val="115000"/>
              </a:lnSpc>
              <a:spcBef>
                <a:spcPts val="0"/>
              </a:spcBef>
              <a:spcAft>
                <a:spcPts val="0"/>
              </a:spcAft>
              <a:buSzPts val="1300"/>
              <a:buChar char="●"/>
            </a:pPr>
            <a:r>
              <a:rPr lang="en"/>
              <a:t>Return a representation of the yard to the UI?</a:t>
            </a:r>
            <a:endParaRPr/>
          </a:p>
          <a:p>
            <a:pPr indent="-311150" lvl="0" marL="457200" rtl="0" algn="l">
              <a:lnSpc>
                <a:spcPct val="115000"/>
              </a:lnSpc>
              <a:spcBef>
                <a:spcPts val="0"/>
              </a:spcBef>
              <a:spcAft>
                <a:spcPts val="0"/>
              </a:spcAft>
              <a:buSzPts val="1300"/>
              <a:buChar char="●"/>
            </a:pPr>
            <a:r>
              <a:rPr lang="en"/>
              <a:t>Take some time to </a:t>
            </a:r>
            <a:r>
              <a:rPr b="1" i="1" lang="en">
                <a:solidFill>
                  <a:srgbClr val="FF0000"/>
                </a:solidFill>
              </a:rPr>
              <a:t>design</a:t>
            </a:r>
            <a:r>
              <a:rPr lang="en"/>
              <a:t> the yard and/or grid on paper or a whiteboard. You won't regret it.</a:t>
            </a:r>
            <a:endParaRPr/>
          </a:p>
          <a:p>
            <a:pPr indent="-311150" lvl="0" marL="457200" rtl="0" algn="l">
              <a:lnSpc>
                <a:spcPct val="115000"/>
              </a:lnSpc>
              <a:spcBef>
                <a:spcPts val="0"/>
              </a:spcBef>
              <a:spcAft>
                <a:spcPts val="0"/>
              </a:spcAft>
              <a:buSzPts val="1300"/>
              <a:buChar char="●"/>
            </a:pPr>
            <a:r>
              <a:rPr lang="en"/>
              <a:t>Once your team feels comfortable with the </a:t>
            </a:r>
            <a:r>
              <a:rPr b="1" i="1" lang="en">
                <a:solidFill>
                  <a:srgbClr val="FF0000"/>
                </a:solidFill>
              </a:rPr>
              <a:t>design decisions</a:t>
            </a:r>
            <a:r>
              <a:rPr lang="en"/>
              <a:t> made, begin implementing the methods in the UML diagram.</a:t>
            </a:r>
            <a:endParaRPr/>
          </a:p>
          <a:p>
            <a:pPr indent="-298450" lvl="1" marL="914400" rtl="0" algn="l">
              <a:lnSpc>
                <a:spcPct val="115000"/>
              </a:lnSpc>
              <a:spcBef>
                <a:spcPts val="0"/>
              </a:spcBef>
              <a:spcAft>
                <a:spcPts val="0"/>
              </a:spcAft>
              <a:buSzPts val="1100"/>
              <a:buChar char="○"/>
            </a:pPr>
            <a:r>
              <a:rPr lang="en"/>
              <a:t>Add attributes and methods as needed.</a:t>
            </a:r>
            <a:endParaRPr/>
          </a:p>
        </p:txBody>
      </p:sp>
      <p:sp>
        <p:nvSpPr>
          <p:cNvPr id="193" name="Google Shape;193;p26"/>
          <p:cNvSpPr txBox="1"/>
          <p:nvPr>
            <p:ph idx="3" type="body"/>
          </p:nvPr>
        </p:nvSpPr>
        <p:spPr>
          <a:xfrm>
            <a:off x="5192225" y="4165850"/>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b="1" i="1" lang="en" sz="1200">
                <a:solidFill>
                  <a:srgbClr val="FF0000"/>
                </a:solidFill>
              </a:rPr>
              <a:t>Resist </a:t>
            </a:r>
            <a:r>
              <a:rPr lang="en" sz="1200"/>
              <a:t>the urge to zip by design discussions and dive into coding.  The further into a project a design flaw is discovered, the more costly it is to fix.</a:t>
            </a:r>
            <a:endParaRPr sz="1200"/>
          </a:p>
        </p:txBody>
      </p:sp>
      <p:pic>
        <p:nvPicPr>
          <p:cNvPr id="194" name="Google Shape;194;p26"/>
          <p:cNvPicPr preferRelativeResize="0"/>
          <p:nvPr/>
        </p:nvPicPr>
        <p:blipFill>
          <a:blip r:embed="rId3">
            <a:alphaModFix/>
          </a:blip>
          <a:stretch>
            <a:fillRect/>
          </a:stretch>
        </p:blipFill>
        <p:spPr>
          <a:xfrm>
            <a:off x="5647050" y="1005600"/>
            <a:ext cx="2796825" cy="2796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0" name="Google Shape;200;p27"/>
          <p:cNvSpPr txBox="1"/>
          <p:nvPr>
            <p:ph type="title"/>
          </p:nvPr>
        </p:nvSpPr>
        <p:spPr>
          <a:xfrm>
            <a:off x="315425" y="54433"/>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Meeting Times</a:t>
            </a:r>
            <a:endParaRPr/>
          </a:p>
        </p:txBody>
      </p:sp>
      <p:sp>
        <p:nvSpPr>
          <p:cNvPr id="201" name="Google Shape;201;p27"/>
          <p:cNvSpPr txBox="1"/>
          <p:nvPr>
            <p:ph idx="2" type="body"/>
          </p:nvPr>
        </p:nvSpPr>
        <p:spPr>
          <a:xfrm>
            <a:off x="315425" y="639008"/>
            <a:ext cx="3706500" cy="42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1300"/>
              <a:buNone/>
            </a:pPr>
            <a:r>
              <a:rPr lang="en"/>
              <a:t>Part 1 of the project counts </a:t>
            </a:r>
            <a:r>
              <a:rPr b="1" i="1" lang="en">
                <a:solidFill>
                  <a:srgbClr val="EA9999"/>
                </a:solidFill>
              </a:rPr>
              <a:t>twice </a:t>
            </a:r>
            <a:r>
              <a:rPr lang="en"/>
              <a:t>as much as a normal homework assignment. You and your team should plan on spending more time than usual working on it.</a:t>
            </a:r>
            <a:endParaRPr/>
          </a:p>
          <a:p>
            <a:pPr indent="0" lvl="0" marL="0" rtl="0" algn="l">
              <a:lnSpc>
                <a:spcPct val="115000"/>
              </a:lnSpc>
              <a:spcBef>
                <a:spcPts val="1600"/>
              </a:spcBef>
              <a:spcAft>
                <a:spcPts val="0"/>
              </a:spcAft>
              <a:buSzPts val="1300"/>
              <a:buNone/>
            </a:pPr>
            <a:r>
              <a:rPr lang="en"/>
              <a:t>You should also plan to</a:t>
            </a:r>
            <a:r>
              <a:rPr lang="en">
                <a:solidFill>
                  <a:srgbClr val="EA9999"/>
                </a:solidFill>
              </a:rPr>
              <a:t> </a:t>
            </a:r>
            <a:r>
              <a:rPr b="1" i="1" lang="en">
                <a:solidFill>
                  <a:srgbClr val="EA9999"/>
                </a:solidFill>
              </a:rPr>
              <a:t>work together</a:t>
            </a:r>
            <a:r>
              <a:rPr lang="en">
                <a:solidFill>
                  <a:srgbClr val="EA9999"/>
                </a:solidFill>
              </a:rPr>
              <a:t> </a:t>
            </a:r>
            <a:r>
              <a:rPr lang="en"/>
              <a:t>as much as you can, even if that means setting up a remote meeting using Zoom or Discord.</a:t>
            </a:r>
            <a:endParaRPr/>
          </a:p>
          <a:p>
            <a:pPr indent="0" lvl="0" marL="0" rtl="0" algn="l">
              <a:lnSpc>
                <a:spcPct val="115000"/>
              </a:lnSpc>
              <a:spcBef>
                <a:spcPts val="1600"/>
              </a:spcBef>
              <a:spcAft>
                <a:spcPts val="0"/>
              </a:spcAft>
              <a:buSzPts val="1300"/>
              <a:buNone/>
            </a:pPr>
            <a:r>
              <a:rPr lang="en"/>
              <a:t>Plan </a:t>
            </a:r>
            <a:r>
              <a:rPr b="1" i="1" lang="en">
                <a:solidFill>
                  <a:srgbClr val="EA9999"/>
                </a:solidFill>
              </a:rPr>
              <a:t>at least 2 meetings</a:t>
            </a:r>
            <a:r>
              <a:rPr lang="en">
                <a:solidFill>
                  <a:srgbClr val="EA9999"/>
                </a:solidFill>
              </a:rPr>
              <a:t> </a:t>
            </a:r>
            <a:r>
              <a:rPr lang="en"/>
              <a:t>over the course of this part of the project. Each meeting should be at least </a:t>
            </a:r>
            <a:r>
              <a:rPr b="1" i="1" lang="en">
                <a:solidFill>
                  <a:srgbClr val="EA9999"/>
                </a:solidFill>
              </a:rPr>
              <a:t>1 hour</a:t>
            </a:r>
            <a:r>
              <a:rPr lang="en"/>
              <a:t>.  Following the example on the right, put the information for all scheduled meetings in a </a:t>
            </a:r>
            <a:r>
              <a:rPr i="1" lang="en">
                <a:solidFill>
                  <a:srgbClr val="EA9999"/>
                </a:solidFill>
              </a:rPr>
              <a:t>meetings.txt</a:t>
            </a:r>
            <a:r>
              <a:rPr lang="en"/>
              <a:t> file and </a:t>
            </a:r>
            <a:r>
              <a:rPr i="1" lang="en">
                <a:solidFill>
                  <a:srgbClr val="EA9999"/>
                </a:solidFill>
              </a:rPr>
              <a:t>push to the root directory of your repository.</a:t>
            </a:r>
            <a:endParaRPr i="1">
              <a:solidFill>
                <a:srgbClr val="EA9999"/>
              </a:solidFill>
            </a:endParaRPr>
          </a:p>
          <a:p>
            <a:pPr indent="0" lvl="0" marL="0" rtl="0" algn="l">
              <a:spcBef>
                <a:spcPts val="0"/>
              </a:spcBef>
              <a:spcAft>
                <a:spcPts val="0"/>
              </a:spcAft>
              <a:buSzPts val="1300"/>
              <a:buNone/>
            </a:pPr>
            <a:r>
              <a:t/>
            </a:r>
            <a:endParaRPr>
              <a:solidFill>
                <a:schemeClr val="lt1"/>
              </a:solidFill>
            </a:endParaRPr>
          </a:p>
          <a:p>
            <a:pPr indent="0" lvl="0" marL="0" rtl="0" algn="l">
              <a:spcBef>
                <a:spcPts val="0"/>
              </a:spcBef>
              <a:spcAft>
                <a:spcPts val="0"/>
              </a:spcAft>
              <a:buSzPts val="1300"/>
              <a:buNone/>
            </a:pPr>
            <a:r>
              <a:rPr lang="en">
                <a:solidFill>
                  <a:schemeClr val="lt1"/>
                </a:solidFill>
              </a:rPr>
              <a:t>This part of the project is due </a:t>
            </a:r>
            <a:r>
              <a:rPr lang="en">
                <a:solidFill>
                  <a:srgbClr val="EA9999"/>
                </a:solidFill>
              </a:rPr>
              <a:t>Monday, March 30, </a:t>
            </a:r>
            <a:r>
              <a:rPr lang="en">
                <a:solidFill>
                  <a:srgbClr val="EA9999"/>
                </a:solidFill>
              </a:rPr>
              <a:t>2026</a:t>
            </a:r>
            <a:r>
              <a:rPr lang="en">
                <a:solidFill>
                  <a:schemeClr val="lt1"/>
                </a:solidFill>
              </a:rPr>
              <a:t> at the start of class. </a:t>
            </a:r>
            <a:endParaRPr i="1">
              <a:solidFill>
                <a:srgbClr val="EA9999"/>
              </a:solidFill>
            </a:endParaRPr>
          </a:p>
        </p:txBody>
      </p:sp>
      <p:graphicFrame>
        <p:nvGraphicFramePr>
          <p:cNvPr id="202" name="Google Shape;202;p27"/>
          <p:cNvGraphicFramePr/>
          <p:nvPr/>
        </p:nvGraphicFramePr>
        <p:xfrm>
          <a:off x="4571975" y="348525"/>
          <a:ext cx="3000000" cy="3000000"/>
        </p:xfrm>
        <a:graphic>
          <a:graphicData uri="http://schemas.openxmlformats.org/drawingml/2006/table">
            <a:tbl>
              <a:tblPr>
                <a:noFill/>
                <a:tableStyleId>{1B37212C-CA35-4980-8892-C8B34478D71A}</a:tableStyleId>
              </a:tblPr>
              <a:tblGrid>
                <a:gridCol w="1470450"/>
                <a:gridCol w="1470450"/>
                <a:gridCol w="14704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FFFF"/>
                          </a:solidFill>
                        </a:rPr>
                        <a:t>Date/Time</a:t>
                      </a:r>
                      <a:endParaRPr sz="14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FFFF"/>
                          </a:solidFill>
                        </a:rPr>
                        <a:t>Location</a:t>
                      </a:r>
                      <a:endParaRPr sz="14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FFFF"/>
                          </a:solidFill>
                        </a:rPr>
                        <a:t>Area of Focus</a:t>
                      </a:r>
                      <a:endParaRPr sz="14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983425">
                <a:tc>
                  <a:txBody>
                    <a:bodyPr/>
                    <a:lstStyle/>
                    <a:p>
                      <a:pPr indent="0" lvl="0" marL="0" marR="0" rtl="0" algn="l">
                        <a:lnSpc>
                          <a:spcPct val="100000"/>
                        </a:lnSpc>
                        <a:spcBef>
                          <a:spcPts val="0"/>
                        </a:spcBef>
                        <a:spcAft>
                          <a:spcPts val="0"/>
                        </a:spcAft>
                        <a:buClr>
                          <a:srgbClr val="000000"/>
                        </a:buClr>
                        <a:buSzPts val="1400"/>
                        <a:buFont typeface="Arial"/>
                        <a:buNone/>
                      </a:pPr>
                      <a:r>
                        <a:rPr lang="en">
                          <a:solidFill>
                            <a:srgbClr val="FF0000"/>
                          </a:solidFill>
                          <a:latin typeface="Consolas"/>
                          <a:ea typeface="Consolas"/>
                          <a:cs typeface="Consolas"/>
                          <a:sym typeface="Consolas"/>
                        </a:rPr>
                        <a:t>3/25</a:t>
                      </a:r>
                      <a:r>
                        <a:rPr lang="en" sz="1400" u="none" cap="none" strike="noStrike">
                          <a:solidFill>
                            <a:srgbClr val="FF0000"/>
                          </a:solidFill>
                          <a:latin typeface="Consolas"/>
                          <a:ea typeface="Consolas"/>
                          <a:cs typeface="Consolas"/>
                          <a:sym typeface="Consolas"/>
                        </a:rPr>
                        <a:t> @ 1:00PM</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latin typeface="Consolas"/>
                          <a:ea typeface="Consolas"/>
                          <a:cs typeface="Consolas"/>
                          <a:sym typeface="Consolas"/>
                        </a:rPr>
                        <a:t>Discord</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a:solidFill>
                            <a:srgbClr val="FF0000"/>
                          </a:solidFill>
                          <a:latin typeface="Consolas"/>
                          <a:ea typeface="Consolas"/>
                          <a:cs typeface="Consolas"/>
                          <a:sym typeface="Consolas"/>
                        </a:rPr>
                        <a:t>Yard class</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83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83425">
                <a:tc>
                  <a:txBody>
                    <a:bodyPr/>
                    <a:lstStyle/>
                    <a:p>
                      <a:pPr indent="0" lvl="0" marL="0" marR="0" rtl="0" algn="l">
                        <a:lnSpc>
                          <a:spcPct val="100000"/>
                        </a:lnSpc>
                        <a:spcBef>
                          <a:spcPts val="0"/>
                        </a:spcBef>
                        <a:spcAft>
                          <a:spcPts val="0"/>
                        </a:spcAft>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03" name="Google Shape;203;p27"/>
          <p:cNvSpPr txBox="1"/>
          <p:nvPr>
            <p:ph idx="3" type="body"/>
          </p:nvPr>
        </p:nvSpPr>
        <p:spPr>
          <a:xfrm>
            <a:off x="4571900" y="3836450"/>
            <a:ext cx="4411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300"/>
              <a:buNone/>
            </a:pPr>
            <a:r>
              <a:rPr lang="en" sz="1200">
                <a:solidFill>
                  <a:schemeClr val="dk1"/>
                </a:solidFill>
              </a:rPr>
              <a:t>It is </a:t>
            </a:r>
            <a:r>
              <a:rPr b="1" i="1" lang="en" sz="1200">
                <a:solidFill>
                  <a:srgbClr val="FF0000"/>
                </a:solidFill>
              </a:rPr>
              <a:t>highly recommended</a:t>
            </a:r>
            <a:r>
              <a:rPr lang="en" sz="1200">
                <a:solidFill>
                  <a:schemeClr val="dk1"/>
                </a:solidFill>
              </a:rPr>
              <a:t> that you also establish a means of </a:t>
            </a:r>
            <a:r>
              <a:rPr b="1" i="1" lang="en" sz="1200">
                <a:solidFill>
                  <a:srgbClr val="FF0000"/>
                </a:solidFill>
              </a:rPr>
              <a:t>asynchronous communication</a:t>
            </a:r>
            <a:r>
              <a:rPr lang="en" sz="1200">
                <a:solidFill>
                  <a:schemeClr val="dk1"/>
                </a:solidFill>
              </a:rPr>
              <a:t>, e.g. Discord channel, Slack channel, group text, etc, where you can post updates, ask questions, and coordinate.</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9" name="Google Shape;209;p2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If You Made it This Far...</a:t>
            </a:r>
            <a:endParaRPr/>
          </a:p>
        </p:txBody>
      </p:sp>
      <p:pic>
        <p:nvPicPr>
          <p:cNvPr id="210" name="Google Shape;210;p28"/>
          <p:cNvPicPr preferRelativeResize="0"/>
          <p:nvPr/>
        </p:nvPicPr>
        <p:blipFill rotWithShape="1">
          <a:blip r:embed="rId3">
            <a:alphaModFix/>
          </a:blip>
          <a:srcRect b="0" l="0" r="0" t="0"/>
          <a:stretch/>
        </p:blipFill>
        <p:spPr>
          <a:xfrm flipH="1">
            <a:off x="5137550" y="1507875"/>
            <a:ext cx="3421251" cy="3421251"/>
          </a:xfrm>
          <a:prstGeom prst="rect">
            <a:avLst/>
          </a:prstGeom>
          <a:noFill/>
          <a:ln cap="flat" cmpd="sng" w="19050">
            <a:solidFill>
              <a:schemeClr val="dk2"/>
            </a:solidFill>
            <a:prstDash val="solid"/>
            <a:round/>
            <a:headEnd len="sm" w="sm" type="none"/>
            <a:tailEnd len="sm" w="sm" type="none"/>
          </a:ln>
        </p:spPr>
      </p:pic>
      <p:sp>
        <p:nvSpPr>
          <p:cNvPr id="211" name="Google Shape;211;p28"/>
          <p:cNvSpPr txBox="1"/>
          <p:nvPr>
            <p:ph idx="4294967295" type="body"/>
          </p:nvPr>
        </p:nvSpPr>
        <p:spPr>
          <a:xfrm>
            <a:off x="193751" y="1507421"/>
            <a:ext cx="4775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300"/>
              <a:buNone/>
            </a:pPr>
            <a:r>
              <a:rPr lang="en" sz="1200">
                <a:solidFill>
                  <a:srgbClr val="000000"/>
                </a:solidFill>
                <a:latin typeface="Arial"/>
                <a:ea typeface="Arial"/>
                <a:cs typeface="Arial"/>
                <a:sym typeface="Arial"/>
              </a:rPr>
              <a:t>Your team is off to a good start, but much work on </a:t>
            </a:r>
            <a:r>
              <a:rPr b="1" i="1" lang="en" sz="1200">
                <a:solidFill>
                  <a:srgbClr val="FF0000"/>
                </a:solidFill>
                <a:latin typeface="Arial"/>
                <a:ea typeface="Arial"/>
                <a:cs typeface="Arial"/>
                <a:sym typeface="Arial"/>
              </a:rPr>
              <a:t>Part 1</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Project is to be done.</a:t>
            </a:r>
            <a:endParaRPr sz="1200">
              <a:solidFill>
                <a:srgbClr val="000000"/>
              </a:solidFill>
              <a:latin typeface="Arial"/>
              <a:ea typeface="Arial"/>
              <a:cs typeface="Arial"/>
              <a:sym typeface="Arial"/>
            </a:endParaRPr>
          </a:p>
        </p:txBody>
      </p:sp>
      <p:sp>
        <p:nvSpPr>
          <p:cNvPr id="212" name="Google Shape;212;p28"/>
          <p:cNvSpPr txBox="1"/>
          <p:nvPr>
            <p:ph idx="4294967295" type="body"/>
          </p:nvPr>
        </p:nvSpPr>
        <p:spPr>
          <a:xfrm>
            <a:off x="193751" y="2286592"/>
            <a:ext cx="4775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300"/>
              <a:buNone/>
            </a:pPr>
            <a:r>
              <a:rPr lang="en" sz="1200">
                <a:solidFill>
                  <a:srgbClr val="000000"/>
                </a:solidFill>
                <a:latin typeface="Arial"/>
                <a:ea typeface="Arial"/>
                <a:cs typeface="Arial"/>
                <a:sym typeface="Arial"/>
              </a:rPr>
              <a:t>You still need to create a </a:t>
            </a:r>
            <a:r>
              <a:rPr b="1" i="1" lang="en" sz="1200">
                <a:solidFill>
                  <a:srgbClr val="FF0000"/>
                </a:solidFill>
                <a:latin typeface="Arial"/>
                <a:ea typeface="Arial"/>
                <a:cs typeface="Arial"/>
                <a:sym typeface="Arial"/>
              </a:rPr>
              <a:t>working implementation </a:t>
            </a:r>
            <a:r>
              <a:rPr lang="en" sz="1200">
                <a:solidFill>
                  <a:srgbClr val="000000"/>
                </a:solidFill>
                <a:latin typeface="Arial"/>
                <a:ea typeface="Arial"/>
                <a:cs typeface="Arial"/>
                <a:sym typeface="Arial"/>
              </a:rPr>
              <a:t>of Backyard Bone Brawl that can be played by a single user via a </a:t>
            </a:r>
            <a:r>
              <a:rPr b="1" i="1" lang="en" sz="1200">
                <a:solidFill>
                  <a:srgbClr val="FF0000"/>
                </a:solidFill>
                <a:latin typeface="Arial"/>
                <a:ea typeface="Arial"/>
                <a:cs typeface="Arial"/>
                <a:sym typeface="Arial"/>
              </a:rPr>
              <a:t>command-line interface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213" name="Google Shape;213;p28"/>
          <p:cNvSpPr txBox="1"/>
          <p:nvPr>
            <p:ph idx="4294967295" type="body"/>
          </p:nvPr>
        </p:nvSpPr>
        <p:spPr>
          <a:xfrm>
            <a:off x="193751" y="3250562"/>
            <a:ext cx="4775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300"/>
              <a:buNone/>
            </a:pPr>
            <a:r>
              <a:rPr lang="en" sz="1200">
                <a:solidFill>
                  <a:srgbClr val="000000"/>
                </a:solidFill>
                <a:latin typeface="Arial"/>
                <a:ea typeface="Arial"/>
                <a:cs typeface="Arial"/>
                <a:sym typeface="Arial"/>
              </a:rPr>
              <a:t>If you have time remaining in class, you should begin reading the </a:t>
            </a:r>
            <a:r>
              <a:rPr b="1" i="1" lang="en" sz="1200">
                <a:solidFill>
                  <a:srgbClr val="FF0000"/>
                </a:solidFill>
                <a:latin typeface="Arial"/>
                <a:ea typeface="Arial"/>
                <a:cs typeface="Arial"/>
                <a:sym typeface="Arial"/>
              </a:rPr>
              <a:t>full project description</a:t>
            </a:r>
            <a:r>
              <a:rPr lang="en" sz="1200">
                <a:solidFill>
                  <a:srgbClr val="000000"/>
                </a:solidFill>
                <a:latin typeface="Arial"/>
                <a:ea typeface="Arial"/>
                <a:cs typeface="Arial"/>
                <a:sym typeface="Arial"/>
              </a:rPr>
              <a:t>, which you will find on MyCourses.</a:t>
            </a:r>
            <a:endParaRPr sz="1200">
              <a:solidFill>
                <a:srgbClr val="000000"/>
              </a:solidFill>
              <a:latin typeface="Arial"/>
              <a:ea typeface="Arial"/>
              <a:cs typeface="Arial"/>
              <a:sym typeface="Arial"/>
            </a:endParaRPr>
          </a:p>
        </p:txBody>
      </p:sp>
      <p:sp>
        <p:nvSpPr>
          <p:cNvPr id="214" name="Google Shape;214;p28"/>
          <p:cNvSpPr/>
          <p:nvPr/>
        </p:nvSpPr>
        <p:spPr>
          <a:xfrm>
            <a:off x="5494700" y="1632175"/>
            <a:ext cx="1996800" cy="785100"/>
          </a:xfrm>
          <a:prstGeom prst="wedgeRoundRectCallout">
            <a:avLst>
              <a:gd fmla="val -63103" name="adj1"/>
              <a:gd fmla="val 2621" name="adj2"/>
              <a:gd fmla="val 0" name="adj3"/>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000000"/>
                </a:solidFill>
                <a:latin typeface="Arial"/>
                <a:ea typeface="Arial"/>
                <a:cs typeface="Arial"/>
                <a:sym typeface="Arial"/>
              </a:rPr>
              <a:t>Not quite...</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