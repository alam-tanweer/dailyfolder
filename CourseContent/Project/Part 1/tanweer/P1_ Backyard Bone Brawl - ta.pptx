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embeddedFontLst>
    <p:embeddedFont>
      <p:font typeface="Amatic SC" panose="00000500000000000000" pitchFamily="2" charset="-79"/>
      <p:regular r:id="rId19"/>
      <p:bold r:id="rId20"/>
    </p:embeddedFont>
    <p:embeddedFont>
      <p:font typeface="Consolas" panose="020B0609020204030204" pitchFamily="49" charset="0"/>
      <p:regular r:id="rId21"/>
      <p:bold r:id="rId22"/>
      <p:italic r:id="rId23"/>
      <p:boldItalic r:id="rId24"/>
    </p:embeddedFont>
    <p:embeddedFont>
      <p:font typeface="Merriweather" panose="00000500000000000000" pitchFamily="2" charset="0"/>
      <p:regular r:id="rId25"/>
      <p:bold r:id="rId26"/>
      <p:italic r:id="rId27"/>
      <p:boldItalic r:id="rId28"/>
    </p:embeddedFont>
    <p:embeddedFont>
      <p:font typeface="Roboto" panose="02000000000000000000"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B37212C-CA35-4980-8892-C8B34478D71A}">
  <a:tblStyle styleId="{1B37212C-CA35-4980-8892-C8B34478D71A}"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2" d="100"/>
          <a:sy n="132" d="100"/>
        </p:scale>
        <p:origin x="120" y="119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cd7374f6c2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 name="Google Shape;74;g3cd7374f6c2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11975dcaf28_1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g11975dcaf28_1_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cdca794952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cdca794952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 name="Google Shape;14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cdca794952_0_1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g3cdca794952_0_1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dca79495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dca79495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cdca794952_0_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g3cdca794952_0_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cdca794952_0_1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g3cdca794952_0_1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cdca794952_0_2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g3cdca794952_0_2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 name="Google Shape;19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6" name="Google Shape;206;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
        <p:cNvGrpSpPr/>
        <p:nvPr/>
      </p:nvGrpSpPr>
      <p:grpSpPr>
        <a:xfrm>
          <a:off x="0" y="0"/>
          <a:ext cx="0" cy="0"/>
          <a:chOff x="0" y="0"/>
          <a:chExt cx="0" cy="0"/>
        </a:xfrm>
      </p:grpSpPr>
      <p:sp>
        <p:nvSpPr>
          <p:cNvPr id="10" name="Google Shape;10;p2"/>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12" name="Google Shape;12;p2"/>
          <p:cNvSpPr txBox="1">
            <a:spLocks noGrp="1"/>
          </p:cNvSpPr>
          <p:nvPr>
            <p:ph type="body" idx="1"/>
          </p:nvPr>
        </p:nvSpPr>
        <p:spPr>
          <a:xfrm>
            <a:off x="311700" y="1505700"/>
            <a:ext cx="3999900" cy="30762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13" name="Google Shape;13;p2"/>
          <p:cNvSpPr txBox="1">
            <a:spLocks noGrp="1"/>
          </p:cNvSpPr>
          <p:nvPr>
            <p:ph type="body" idx="2"/>
          </p:nvPr>
        </p:nvSpPr>
        <p:spPr>
          <a:xfrm>
            <a:off x="4832400" y="1505700"/>
            <a:ext cx="3999900" cy="30762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3"/>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17" name="Google Shape;17;p3"/>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3"/>
          <p:cNvSpPr txBox="1">
            <a:spLocks noGrp="1"/>
          </p:cNvSpPr>
          <p:nvPr>
            <p:ph type="title"/>
          </p:nvPr>
        </p:nvSpPr>
        <p:spPr>
          <a:xfrm>
            <a:off x="311725" y="500925"/>
            <a:ext cx="3706500" cy="638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19" name="Google Shape;19;p3"/>
          <p:cNvSpPr txBox="1">
            <a:spLocks noGrp="1"/>
          </p:cNvSpPr>
          <p:nvPr>
            <p:ph type="body" idx="1"/>
          </p:nvPr>
        </p:nvSpPr>
        <p:spPr>
          <a:xfrm>
            <a:off x="4644675" y="500925"/>
            <a:ext cx="4166400" cy="44322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20" name="Google Shape;20;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21" name="Google Shape;21;p3"/>
          <p:cNvSpPr txBox="1">
            <a:spLocks noGrp="1"/>
          </p:cNvSpPr>
          <p:nvPr>
            <p:ph type="body" idx="2"/>
          </p:nvPr>
        </p:nvSpPr>
        <p:spPr>
          <a:xfrm>
            <a:off x="315425" y="1286175"/>
            <a:ext cx="3706500" cy="26973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Clr>
                <a:srgbClr val="FFFFFF"/>
              </a:buClr>
              <a:buSzPts val="1300"/>
              <a:buChar char="●"/>
              <a:defRPr>
                <a:solidFill>
                  <a:srgbClr val="FFFFFF"/>
                </a:solidFill>
              </a:defRPr>
            </a:lvl1pPr>
            <a:lvl2pPr marL="914400" lvl="1" indent="-298450" algn="l">
              <a:lnSpc>
                <a:spcPct val="115000"/>
              </a:lnSpc>
              <a:spcBef>
                <a:spcPts val="1600"/>
              </a:spcBef>
              <a:spcAft>
                <a:spcPts val="0"/>
              </a:spcAft>
              <a:buClr>
                <a:srgbClr val="FFFFFF"/>
              </a:buClr>
              <a:buSzPts val="1100"/>
              <a:buChar char="○"/>
              <a:defRPr>
                <a:solidFill>
                  <a:srgbClr val="FFFFFF"/>
                </a:solidFill>
              </a:defRPr>
            </a:lvl2pPr>
            <a:lvl3pPr marL="1371600" lvl="2" indent="-298450" algn="l">
              <a:lnSpc>
                <a:spcPct val="115000"/>
              </a:lnSpc>
              <a:spcBef>
                <a:spcPts val="1600"/>
              </a:spcBef>
              <a:spcAft>
                <a:spcPts val="0"/>
              </a:spcAft>
              <a:buClr>
                <a:srgbClr val="FFFFFF"/>
              </a:buClr>
              <a:buSzPts val="1100"/>
              <a:buChar char="■"/>
              <a:defRPr>
                <a:solidFill>
                  <a:srgbClr val="FFFFFF"/>
                </a:solidFill>
              </a:defRPr>
            </a:lvl3pPr>
            <a:lvl4pPr marL="1828800" lvl="3" indent="-298450" algn="l">
              <a:lnSpc>
                <a:spcPct val="115000"/>
              </a:lnSpc>
              <a:spcBef>
                <a:spcPts val="1600"/>
              </a:spcBef>
              <a:spcAft>
                <a:spcPts val="0"/>
              </a:spcAft>
              <a:buClr>
                <a:srgbClr val="FFFFFF"/>
              </a:buClr>
              <a:buSzPts val="1100"/>
              <a:buChar char="●"/>
              <a:defRPr>
                <a:solidFill>
                  <a:srgbClr val="FFFFFF"/>
                </a:solidFill>
              </a:defRPr>
            </a:lvl4pPr>
            <a:lvl5pPr marL="2286000" lvl="4" indent="-298450" algn="l">
              <a:lnSpc>
                <a:spcPct val="115000"/>
              </a:lnSpc>
              <a:spcBef>
                <a:spcPts val="1600"/>
              </a:spcBef>
              <a:spcAft>
                <a:spcPts val="0"/>
              </a:spcAft>
              <a:buClr>
                <a:srgbClr val="FFFFFF"/>
              </a:buClr>
              <a:buSzPts val="1100"/>
              <a:buChar char="○"/>
              <a:defRPr>
                <a:solidFill>
                  <a:srgbClr val="FFFFFF"/>
                </a:solidFill>
              </a:defRPr>
            </a:lvl5pPr>
            <a:lvl6pPr marL="2743200" lvl="5" indent="-298450" algn="l">
              <a:lnSpc>
                <a:spcPct val="115000"/>
              </a:lnSpc>
              <a:spcBef>
                <a:spcPts val="1600"/>
              </a:spcBef>
              <a:spcAft>
                <a:spcPts val="0"/>
              </a:spcAft>
              <a:buClr>
                <a:srgbClr val="FFFFFF"/>
              </a:buClr>
              <a:buSzPts val="1100"/>
              <a:buChar char="■"/>
              <a:defRPr>
                <a:solidFill>
                  <a:srgbClr val="FFFFFF"/>
                </a:solidFill>
              </a:defRPr>
            </a:lvl6pPr>
            <a:lvl7pPr marL="3200400" lvl="6" indent="-298450" algn="l">
              <a:lnSpc>
                <a:spcPct val="115000"/>
              </a:lnSpc>
              <a:spcBef>
                <a:spcPts val="1600"/>
              </a:spcBef>
              <a:spcAft>
                <a:spcPts val="0"/>
              </a:spcAft>
              <a:buClr>
                <a:srgbClr val="FFFFFF"/>
              </a:buClr>
              <a:buSzPts val="1100"/>
              <a:buChar char="●"/>
              <a:defRPr>
                <a:solidFill>
                  <a:srgbClr val="FFFFFF"/>
                </a:solidFill>
              </a:defRPr>
            </a:lvl7pPr>
            <a:lvl8pPr marL="3657600" lvl="7" indent="-298450" algn="l">
              <a:lnSpc>
                <a:spcPct val="115000"/>
              </a:lnSpc>
              <a:spcBef>
                <a:spcPts val="1600"/>
              </a:spcBef>
              <a:spcAft>
                <a:spcPts val="0"/>
              </a:spcAft>
              <a:buClr>
                <a:srgbClr val="FFFFFF"/>
              </a:buClr>
              <a:buSzPts val="1100"/>
              <a:buChar char="○"/>
              <a:defRPr>
                <a:solidFill>
                  <a:srgbClr val="FFFFFF"/>
                </a:solidFill>
              </a:defRPr>
            </a:lvl8pPr>
            <a:lvl9pPr marL="4114800" lvl="8" indent="-298450" algn="l">
              <a:lnSpc>
                <a:spcPct val="115000"/>
              </a:lnSpc>
              <a:spcBef>
                <a:spcPts val="1600"/>
              </a:spcBef>
              <a:spcAft>
                <a:spcPts val="1600"/>
              </a:spcAft>
              <a:buClr>
                <a:srgbClr val="FFFFFF"/>
              </a:buClr>
              <a:buSzPts val="1100"/>
              <a:buChar char="■"/>
              <a:defRPr>
                <a:solidFill>
                  <a:srgbClr val="FFFFFF"/>
                </a:solidFill>
              </a:defRPr>
            </a:lvl9pPr>
          </a:lstStyle>
          <a:p>
            <a:endParaRPr/>
          </a:p>
        </p:txBody>
      </p:sp>
      <p:sp>
        <p:nvSpPr>
          <p:cNvPr id="22" name="Google Shape;22;p3"/>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algn="l">
              <a:lnSpc>
                <a:spcPct val="115000"/>
              </a:lnSpc>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3"/>
        <p:cNvGrpSpPr/>
        <p:nvPr/>
      </p:nvGrpSpPr>
      <p:grpSpPr>
        <a:xfrm>
          <a:off x="0" y="0"/>
          <a:ext cx="0" cy="0"/>
          <a:chOff x="0" y="0"/>
          <a:chExt cx="0" cy="0"/>
        </a:xfrm>
      </p:grpSpPr>
      <p:sp>
        <p:nvSpPr>
          <p:cNvPr id="24" name="Google Shape;24;p4"/>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4"/>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26" name="Google Shape;26;p4"/>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27" name="Google Shape;27;p4"/>
          <p:cNvSpPr txBox="1">
            <a:spLocks noGrp="1"/>
          </p:cNvSpPr>
          <p:nvPr>
            <p:ph type="title"/>
          </p:nvPr>
        </p:nvSpPr>
        <p:spPr>
          <a:xfrm>
            <a:off x="5264725" y="500925"/>
            <a:ext cx="3706500" cy="638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28" name="Google Shape;28;p4"/>
          <p:cNvSpPr txBox="1">
            <a:spLocks noGrp="1"/>
          </p:cNvSpPr>
          <p:nvPr>
            <p:ph type="body" idx="1"/>
          </p:nvPr>
        </p:nvSpPr>
        <p:spPr>
          <a:xfrm>
            <a:off x="301275" y="500925"/>
            <a:ext cx="4166400" cy="44322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29" name="Google Shape;29;p4"/>
          <p:cNvSpPr txBox="1">
            <a:spLocks noGrp="1"/>
          </p:cNvSpPr>
          <p:nvPr>
            <p:ph type="body" idx="2"/>
          </p:nvPr>
        </p:nvSpPr>
        <p:spPr>
          <a:xfrm>
            <a:off x="5192225" y="1286175"/>
            <a:ext cx="3706500" cy="26973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Clr>
                <a:srgbClr val="FFFFFF"/>
              </a:buClr>
              <a:buSzPts val="1300"/>
              <a:buChar char="●"/>
              <a:defRPr>
                <a:solidFill>
                  <a:srgbClr val="FFFFFF"/>
                </a:solidFill>
              </a:defRPr>
            </a:lvl1pPr>
            <a:lvl2pPr marL="914400" lvl="1" indent="-298450" algn="l">
              <a:lnSpc>
                <a:spcPct val="115000"/>
              </a:lnSpc>
              <a:spcBef>
                <a:spcPts val="1600"/>
              </a:spcBef>
              <a:spcAft>
                <a:spcPts val="0"/>
              </a:spcAft>
              <a:buClr>
                <a:srgbClr val="FFFFFF"/>
              </a:buClr>
              <a:buSzPts val="1100"/>
              <a:buChar char="○"/>
              <a:defRPr>
                <a:solidFill>
                  <a:srgbClr val="FFFFFF"/>
                </a:solidFill>
              </a:defRPr>
            </a:lvl2pPr>
            <a:lvl3pPr marL="1371600" lvl="2" indent="-298450" algn="l">
              <a:lnSpc>
                <a:spcPct val="115000"/>
              </a:lnSpc>
              <a:spcBef>
                <a:spcPts val="1600"/>
              </a:spcBef>
              <a:spcAft>
                <a:spcPts val="0"/>
              </a:spcAft>
              <a:buClr>
                <a:srgbClr val="FFFFFF"/>
              </a:buClr>
              <a:buSzPts val="1100"/>
              <a:buChar char="■"/>
              <a:defRPr>
                <a:solidFill>
                  <a:srgbClr val="FFFFFF"/>
                </a:solidFill>
              </a:defRPr>
            </a:lvl3pPr>
            <a:lvl4pPr marL="1828800" lvl="3" indent="-298450" algn="l">
              <a:lnSpc>
                <a:spcPct val="115000"/>
              </a:lnSpc>
              <a:spcBef>
                <a:spcPts val="1600"/>
              </a:spcBef>
              <a:spcAft>
                <a:spcPts val="0"/>
              </a:spcAft>
              <a:buClr>
                <a:srgbClr val="FFFFFF"/>
              </a:buClr>
              <a:buSzPts val="1100"/>
              <a:buChar char="●"/>
              <a:defRPr>
                <a:solidFill>
                  <a:srgbClr val="FFFFFF"/>
                </a:solidFill>
              </a:defRPr>
            </a:lvl4pPr>
            <a:lvl5pPr marL="2286000" lvl="4" indent="-298450" algn="l">
              <a:lnSpc>
                <a:spcPct val="115000"/>
              </a:lnSpc>
              <a:spcBef>
                <a:spcPts val="1600"/>
              </a:spcBef>
              <a:spcAft>
                <a:spcPts val="0"/>
              </a:spcAft>
              <a:buClr>
                <a:srgbClr val="FFFFFF"/>
              </a:buClr>
              <a:buSzPts val="1100"/>
              <a:buChar char="○"/>
              <a:defRPr>
                <a:solidFill>
                  <a:srgbClr val="FFFFFF"/>
                </a:solidFill>
              </a:defRPr>
            </a:lvl5pPr>
            <a:lvl6pPr marL="2743200" lvl="5" indent="-298450" algn="l">
              <a:lnSpc>
                <a:spcPct val="115000"/>
              </a:lnSpc>
              <a:spcBef>
                <a:spcPts val="1600"/>
              </a:spcBef>
              <a:spcAft>
                <a:spcPts val="0"/>
              </a:spcAft>
              <a:buClr>
                <a:srgbClr val="FFFFFF"/>
              </a:buClr>
              <a:buSzPts val="1100"/>
              <a:buChar char="■"/>
              <a:defRPr>
                <a:solidFill>
                  <a:srgbClr val="FFFFFF"/>
                </a:solidFill>
              </a:defRPr>
            </a:lvl6pPr>
            <a:lvl7pPr marL="3200400" lvl="6" indent="-298450" algn="l">
              <a:lnSpc>
                <a:spcPct val="115000"/>
              </a:lnSpc>
              <a:spcBef>
                <a:spcPts val="1600"/>
              </a:spcBef>
              <a:spcAft>
                <a:spcPts val="0"/>
              </a:spcAft>
              <a:buClr>
                <a:srgbClr val="FFFFFF"/>
              </a:buClr>
              <a:buSzPts val="1100"/>
              <a:buChar char="●"/>
              <a:defRPr>
                <a:solidFill>
                  <a:srgbClr val="FFFFFF"/>
                </a:solidFill>
              </a:defRPr>
            </a:lvl7pPr>
            <a:lvl8pPr marL="3657600" lvl="7" indent="-298450" algn="l">
              <a:lnSpc>
                <a:spcPct val="115000"/>
              </a:lnSpc>
              <a:spcBef>
                <a:spcPts val="1600"/>
              </a:spcBef>
              <a:spcAft>
                <a:spcPts val="0"/>
              </a:spcAft>
              <a:buClr>
                <a:srgbClr val="FFFFFF"/>
              </a:buClr>
              <a:buSzPts val="1100"/>
              <a:buChar char="○"/>
              <a:defRPr>
                <a:solidFill>
                  <a:srgbClr val="FFFFFF"/>
                </a:solidFill>
              </a:defRPr>
            </a:lvl8pPr>
            <a:lvl9pPr marL="4114800" lvl="8" indent="-298450" algn="l">
              <a:lnSpc>
                <a:spcPct val="115000"/>
              </a:lnSpc>
              <a:spcBef>
                <a:spcPts val="1600"/>
              </a:spcBef>
              <a:spcAft>
                <a:spcPts val="1600"/>
              </a:spcAft>
              <a:buClr>
                <a:srgbClr val="FFFFFF"/>
              </a:buClr>
              <a:buSzPts val="1100"/>
              <a:buChar char="■"/>
              <a:defRPr>
                <a:solidFill>
                  <a:srgbClr val="FFFFFF"/>
                </a:solidFill>
              </a:defRPr>
            </a:lvl9pPr>
          </a:lstStyle>
          <a:p>
            <a:endParaRPr/>
          </a:p>
        </p:txBody>
      </p:sp>
      <p:sp>
        <p:nvSpPr>
          <p:cNvPr id="30" name="Google Shape;30;p4"/>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algn="l">
              <a:lnSpc>
                <a:spcPct val="115000"/>
              </a:lnSpc>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5"/>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34" name="Google Shape;3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35"/>
        <p:cNvGrpSpPr/>
        <p:nvPr/>
      </p:nvGrpSpPr>
      <p:grpSpPr>
        <a:xfrm>
          <a:off x="0" y="0"/>
          <a:ext cx="0" cy="0"/>
          <a:chOff x="0" y="0"/>
          <a:chExt cx="0" cy="0"/>
        </a:xfrm>
      </p:grpSpPr>
      <p:sp>
        <p:nvSpPr>
          <p:cNvPr id="36" name="Google Shape;36;p6"/>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37" name="Google Shape;37;p6"/>
          <p:cNvSpPr txBox="1">
            <a:spLocks noGrp="1"/>
          </p:cNvSpPr>
          <p:nvPr>
            <p:ph type="ctrTitle"/>
          </p:nvPr>
        </p:nvSpPr>
        <p:spPr>
          <a:xfrm>
            <a:off x="311700" y="539725"/>
            <a:ext cx="8520600" cy="1282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38" name="Google Shape;38;p6"/>
          <p:cNvSpPr txBox="1">
            <a:spLocks noGrp="1"/>
          </p:cNvSpPr>
          <p:nvPr>
            <p:ph type="subTitle" idx="1"/>
          </p:nvPr>
        </p:nvSpPr>
        <p:spPr>
          <a:xfrm>
            <a:off x="311700" y="1878560"/>
            <a:ext cx="4242600" cy="738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2"/>
              </a:buClr>
              <a:buSzPts val="1600"/>
              <a:buNone/>
              <a:defRPr sz="1600">
                <a:solidFill>
                  <a:schemeClr val="lt2"/>
                </a:solidFill>
              </a:defRPr>
            </a:lvl1pPr>
            <a:lvl2pPr lvl="1" algn="l">
              <a:lnSpc>
                <a:spcPct val="100000"/>
              </a:lnSpc>
              <a:spcBef>
                <a:spcPts val="0"/>
              </a:spcBef>
              <a:spcAft>
                <a:spcPts val="0"/>
              </a:spcAft>
              <a:buClr>
                <a:schemeClr val="lt2"/>
              </a:buClr>
              <a:buSzPts val="1600"/>
              <a:buNone/>
              <a:defRPr sz="1600">
                <a:solidFill>
                  <a:schemeClr val="lt2"/>
                </a:solidFill>
              </a:defRPr>
            </a:lvl2pPr>
            <a:lvl3pPr lvl="2" algn="l">
              <a:lnSpc>
                <a:spcPct val="100000"/>
              </a:lnSpc>
              <a:spcBef>
                <a:spcPts val="0"/>
              </a:spcBef>
              <a:spcAft>
                <a:spcPts val="0"/>
              </a:spcAft>
              <a:buClr>
                <a:schemeClr val="lt2"/>
              </a:buClr>
              <a:buSzPts val="1600"/>
              <a:buNone/>
              <a:defRPr sz="1600">
                <a:solidFill>
                  <a:schemeClr val="lt2"/>
                </a:solidFill>
              </a:defRPr>
            </a:lvl3pPr>
            <a:lvl4pPr lvl="3" algn="l">
              <a:lnSpc>
                <a:spcPct val="100000"/>
              </a:lnSpc>
              <a:spcBef>
                <a:spcPts val="0"/>
              </a:spcBef>
              <a:spcAft>
                <a:spcPts val="0"/>
              </a:spcAft>
              <a:buClr>
                <a:schemeClr val="lt2"/>
              </a:buClr>
              <a:buSzPts val="1600"/>
              <a:buNone/>
              <a:defRPr sz="1600">
                <a:solidFill>
                  <a:schemeClr val="lt2"/>
                </a:solidFill>
              </a:defRPr>
            </a:lvl4pPr>
            <a:lvl5pPr lvl="4" algn="l">
              <a:lnSpc>
                <a:spcPct val="100000"/>
              </a:lnSpc>
              <a:spcBef>
                <a:spcPts val="0"/>
              </a:spcBef>
              <a:spcAft>
                <a:spcPts val="0"/>
              </a:spcAft>
              <a:buClr>
                <a:schemeClr val="lt2"/>
              </a:buClr>
              <a:buSzPts val="1600"/>
              <a:buNone/>
              <a:defRPr sz="1600">
                <a:solidFill>
                  <a:schemeClr val="lt2"/>
                </a:solidFill>
              </a:defRPr>
            </a:lvl5pPr>
            <a:lvl6pPr lvl="5" algn="l">
              <a:lnSpc>
                <a:spcPct val="100000"/>
              </a:lnSpc>
              <a:spcBef>
                <a:spcPts val="0"/>
              </a:spcBef>
              <a:spcAft>
                <a:spcPts val="0"/>
              </a:spcAft>
              <a:buClr>
                <a:schemeClr val="lt2"/>
              </a:buClr>
              <a:buSzPts val="1600"/>
              <a:buNone/>
              <a:defRPr sz="1600">
                <a:solidFill>
                  <a:schemeClr val="lt2"/>
                </a:solidFill>
              </a:defRPr>
            </a:lvl6pPr>
            <a:lvl7pPr lvl="6" algn="l">
              <a:lnSpc>
                <a:spcPct val="100000"/>
              </a:lnSpc>
              <a:spcBef>
                <a:spcPts val="0"/>
              </a:spcBef>
              <a:spcAft>
                <a:spcPts val="0"/>
              </a:spcAft>
              <a:buClr>
                <a:schemeClr val="lt2"/>
              </a:buClr>
              <a:buSzPts val="1600"/>
              <a:buNone/>
              <a:defRPr sz="1600">
                <a:solidFill>
                  <a:schemeClr val="lt2"/>
                </a:solidFill>
              </a:defRPr>
            </a:lvl7pPr>
            <a:lvl8pPr lvl="7" algn="l">
              <a:lnSpc>
                <a:spcPct val="100000"/>
              </a:lnSpc>
              <a:spcBef>
                <a:spcPts val="0"/>
              </a:spcBef>
              <a:spcAft>
                <a:spcPts val="0"/>
              </a:spcAft>
              <a:buClr>
                <a:schemeClr val="lt2"/>
              </a:buClr>
              <a:buSzPts val="1600"/>
              <a:buNone/>
              <a:defRPr sz="1600">
                <a:solidFill>
                  <a:schemeClr val="lt2"/>
                </a:solidFill>
              </a:defRPr>
            </a:lvl8pPr>
            <a:lvl9pPr lvl="8" algn="l">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39" name="Google Shape;39;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40"/>
        <p:cNvGrpSpPr/>
        <p:nvPr/>
      </p:nvGrpSpPr>
      <p:grpSpPr>
        <a:xfrm>
          <a:off x="0" y="0"/>
          <a:ext cx="0" cy="0"/>
          <a:chOff x="0" y="0"/>
          <a:chExt cx="0" cy="0"/>
        </a:xfrm>
      </p:grpSpPr>
      <p:sp>
        <p:nvSpPr>
          <p:cNvPr id="41" name="Google Shape;41;p7"/>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42" name="Google Shape;42;p7"/>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43" name="Google Shape;43;p7"/>
          <p:cNvSpPr txBox="1">
            <a:spLocks noGrp="1"/>
          </p:cNvSpPr>
          <p:nvPr>
            <p:ph type="title"/>
          </p:nvPr>
        </p:nvSpPr>
        <p:spPr>
          <a:xfrm>
            <a:off x="311700" y="539725"/>
            <a:ext cx="8520600" cy="1282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44" name="Google Shape;44;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311675" y="798600"/>
            <a:ext cx="6247800" cy="3546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47" name="Google Shape;47;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9"/>
          <p:cNvSpPr txBox="1">
            <a:spLocks noGrp="1"/>
          </p:cNvSpPr>
          <p:nvPr>
            <p:ph type="title"/>
          </p:nvPr>
        </p:nvSpPr>
        <p:spPr>
          <a:xfrm>
            <a:off x="311300" y="500925"/>
            <a:ext cx="3704400" cy="2049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51" name="Google Shape;51;p9"/>
          <p:cNvSpPr txBox="1">
            <a:spLocks noGrp="1"/>
          </p:cNvSpPr>
          <p:nvPr>
            <p:ph type="subTitle" idx="1"/>
          </p:nvPr>
        </p:nvSpPr>
        <p:spPr>
          <a:xfrm>
            <a:off x="304800" y="2626725"/>
            <a:ext cx="3704400" cy="926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accent2"/>
              </a:buClr>
              <a:buSzPts val="1600"/>
              <a:buNone/>
              <a:defRPr sz="1600">
                <a:solidFill>
                  <a:schemeClr val="accent2"/>
                </a:solidFill>
              </a:defRPr>
            </a:lvl1pPr>
            <a:lvl2pPr lvl="1" algn="l">
              <a:lnSpc>
                <a:spcPct val="100000"/>
              </a:lnSpc>
              <a:spcBef>
                <a:spcPts val="0"/>
              </a:spcBef>
              <a:spcAft>
                <a:spcPts val="0"/>
              </a:spcAft>
              <a:buClr>
                <a:schemeClr val="accent2"/>
              </a:buClr>
              <a:buSzPts val="1600"/>
              <a:buNone/>
              <a:defRPr sz="1600">
                <a:solidFill>
                  <a:schemeClr val="accent2"/>
                </a:solidFill>
              </a:defRPr>
            </a:lvl2pPr>
            <a:lvl3pPr lvl="2" algn="l">
              <a:lnSpc>
                <a:spcPct val="100000"/>
              </a:lnSpc>
              <a:spcBef>
                <a:spcPts val="0"/>
              </a:spcBef>
              <a:spcAft>
                <a:spcPts val="0"/>
              </a:spcAft>
              <a:buClr>
                <a:schemeClr val="accent2"/>
              </a:buClr>
              <a:buSzPts val="1600"/>
              <a:buNone/>
              <a:defRPr sz="1600">
                <a:solidFill>
                  <a:schemeClr val="accent2"/>
                </a:solidFill>
              </a:defRPr>
            </a:lvl3pPr>
            <a:lvl4pPr lvl="3" algn="l">
              <a:lnSpc>
                <a:spcPct val="100000"/>
              </a:lnSpc>
              <a:spcBef>
                <a:spcPts val="0"/>
              </a:spcBef>
              <a:spcAft>
                <a:spcPts val="0"/>
              </a:spcAft>
              <a:buClr>
                <a:schemeClr val="accent2"/>
              </a:buClr>
              <a:buSzPts val="1600"/>
              <a:buNone/>
              <a:defRPr sz="1600">
                <a:solidFill>
                  <a:schemeClr val="accent2"/>
                </a:solidFill>
              </a:defRPr>
            </a:lvl4pPr>
            <a:lvl5pPr lvl="4" algn="l">
              <a:lnSpc>
                <a:spcPct val="100000"/>
              </a:lnSpc>
              <a:spcBef>
                <a:spcPts val="0"/>
              </a:spcBef>
              <a:spcAft>
                <a:spcPts val="0"/>
              </a:spcAft>
              <a:buClr>
                <a:schemeClr val="accent2"/>
              </a:buClr>
              <a:buSzPts val="1600"/>
              <a:buNone/>
              <a:defRPr sz="1600">
                <a:solidFill>
                  <a:schemeClr val="accent2"/>
                </a:solidFill>
              </a:defRPr>
            </a:lvl5pPr>
            <a:lvl6pPr lvl="5" algn="l">
              <a:lnSpc>
                <a:spcPct val="100000"/>
              </a:lnSpc>
              <a:spcBef>
                <a:spcPts val="0"/>
              </a:spcBef>
              <a:spcAft>
                <a:spcPts val="0"/>
              </a:spcAft>
              <a:buClr>
                <a:schemeClr val="accent2"/>
              </a:buClr>
              <a:buSzPts val="1600"/>
              <a:buNone/>
              <a:defRPr sz="1600">
                <a:solidFill>
                  <a:schemeClr val="accent2"/>
                </a:solidFill>
              </a:defRPr>
            </a:lvl6pPr>
            <a:lvl7pPr lvl="6" algn="l">
              <a:lnSpc>
                <a:spcPct val="100000"/>
              </a:lnSpc>
              <a:spcBef>
                <a:spcPts val="0"/>
              </a:spcBef>
              <a:spcAft>
                <a:spcPts val="0"/>
              </a:spcAft>
              <a:buClr>
                <a:schemeClr val="accent2"/>
              </a:buClr>
              <a:buSzPts val="1600"/>
              <a:buNone/>
              <a:defRPr sz="1600">
                <a:solidFill>
                  <a:schemeClr val="accent2"/>
                </a:solidFill>
              </a:defRPr>
            </a:lvl7pPr>
            <a:lvl8pPr lvl="7" algn="l">
              <a:lnSpc>
                <a:spcPct val="100000"/>
              </a:lnSpc>
              <a:spcBef>
                <a:spcPts val="0"/>
              </a:spcBef>
              <a:spcAft>
                <a:spcPts val="0"/>
              </a:spcAft>
              <a:buClr>
                <a:schemeClr val="accent2"/>
              </a:buClr>
              <a:buSzPts val="1600"/>
              <a:buNone/>
              <a:defRPr sz="1600">
                <a:solidFill>
                  <a:schemeClr val="accent2"/>
                </a:solidFill>
              </a:defRPr>
            </a:lvl8pPr>
            <a:lvl9pPr lvl="8" algn="l">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52" name="Google Shape;52;p9"/>
          <p:cNvSpPr txBox="1">
            <a:spLocks noGrp="1"/>
          </p:cNvSpPr>
          <p:nvPr>
            <p:ph type="body" idx="2"/>
          </p:nvPr>
        </p:nvSpPr>
        <p:spPr>
          <a:xfrm>
            <a:off x="4879025" y="500925"/>
            <a:ext cx="3954000" cy="41115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53" name="Google Shape;53;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10"/>
          <p:cNvSpPr txBox="1">
            <a:spLocks noGrp="1"/>
          </p:cNvSpPr>
          <p:nvPr>
            <p:ph type="body" idx="1"/>
          </p:nvPr>
        </p:nvSpPr>
        <p:spPr>
          <a:xfrm>
            <a:off x="311700" y="4521400"/>
            <a:ext cx="7979400" cy="4605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7" name="Google Shape;57;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8"/>
        <p:cNvGrpSpPr/>
        <p:nvPr/>
      </p:nvGrpSpPr>
      <p:grpSpPr>
        <a:xfrm>
          <a:off x="0" y="0"/>
          <a:ext cx="0" cy="0"/>
          <a:chOff x="0" y="0"/>
          <a:chExt cx="0" cy="0"/>
        </a:xfrm>
      </p:grpSpPr>
      <p:sp>
        <p:nvSpPr>
          <p:cNvPr id="59" name="Google Shape;59;p11"/>
          <p:cNvSpPr txBox="1">
            <a:spLocks noGrp="1"/>
          </p:cNvSpPr>
          <p:nvPr>
            <p:ph type="title" hasCustomPrompt="1"/>
          </p:nvPr>
        </p:nvSpPr>
        <p:spPr>
          <a:xfrm>
            <a:off x="311750" y="831175"/>
            <a:ext cx="5334900" cy="1244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lt1"/>
              </a:buClr>
              <a:buSzPts val="10000"/>
              <a:buNone/>
              <a:defRPr sz="10000">
                <a:solidFill>
                  <a:schemeClr val="lt1"/>
                </a:solidFill>
              </a:defRPr>
            </a:lvl1pPr>
            <a:lvl2pPr lvl="1" algn="l">
              <a:lnSpc>
                <a:spcPct val="100000"/>
              </a:lnSpc>
              <a:spcBef>
                <a:spcPts val="0"/>
              </a:spcBef>
              <a:spcAft>
                <a:spcPts val="0"/>
              </a:spcAft>
              <a:buClr>
                <a:schemeClr val="lt1"/>
              </a:buClr>
              <a:buSzPts val="10000"/>
              <a:buNone/>
              <a:defRPr sz="10000">
                <a:solidFill>
                  <a:schemeClr val="lt1"/>
                </a:solidFill>
              </a:defRPr>
            </a:lvl2pPr>
            <a:lvl3pPr lvl="2" algn="l">
              <a:lnSpc>
                <a:spcPct val="100000"/>
              </a:lnSpc>
              <a:spcBef>
                <a:spcPts val="0"/>
              </a:spcBef>
              <a:spcAft>
                <a:spcPts val="0"/>
              </a:spcAft>
              <a:buClr>
                <a:schemeClr val="lt1"/>
              </a:buClr>
              <a:buSzPts val="10000"/>
              <a:buNone/>
              <a:defRPr sz="10000">
                <a:solidFill>
                  <a:schemeClr val="lt1"/>
                </a:solidFill>
              </a:defRPr>
            </a:lvl3pPr>
            <a:lvl4pPr lvl="3" algn="l">
              <a:lnSpc>
                <a:spcPct val="100000"/>
              </a:lnSpc>
              <a:spcBef>
                <a:spcPts val="0"/>
              </a:spcBef>
              <a:spcAft>
                <a:spcPts val="0"/>
              </a:spcAft>
              <a:buClr>
                <a:schemeClr val="lt1"/>
              </a:buClr>
              <a:buSzPts val="10000"/>
              <a:buNone/>
              <a:defRPr sz="10000">
                <a:solidFill>
                  <a:schemeClr val="lt1"/>
                </a:solidFill>
              </a:defRPr>
            </a:lvl4pPr>
            <a:lvl5pPr lvl="4" algn="l">
              <a:lnSpc>
                <a:spcPct val="100000"/>
              </a:lnSpc>
              <a:spcBef>
                <a:spcPts val="0"/>
              </a:spcBef>
              <a:spcAft>
                <a:spcPts val="0"/>
              </a:spcAft>
              <a:buClr>
                <a:schemeClr val="lt1"/>
              </a:buClr>
              <a:buSzPts val="10000"/>
              <a:buNone/>
              <a:defRPr sz="10000">
                <a:solidFill>
                  <a:schemeClr val="lt1"/>
                </a:solidFill>
              </a:defRPr>
            </a:lvl5pPr>
            <a:lvl6pPr lvl="5" algn="l">
              <a:lnSpc>
                <a:spcPct val="100000"/>
              </a:lnSpc>
              <a:spcBef>
                <a:spcPts val="0"/>
              </a:spcBef>
              <a:spcAft>
                <a:spcPts val="0"/>
              </a:spcAft>
              <a:buClr>
                <a:schemeClr val="lt1"/>
              </a:buClr>
              <a:buSzPts val="10000"/>
              <a:buNone/>
              <a:defRPr sz="10000">
                <a:solidFill>
                  <a:schemeClr val="lt1"/>
                </a:solidFill>
              </a:defRPr>
            </a:lvl6pPr>
            <a:lvl7pPr lvl="6" algn="l">
              <a:lnSpc>
                <a:spcPct val="100000"/>
              </a:lnSpc>
              <a:spcBef>
                <a:spcPts val="0"/>
              </a:spcBef>
              <a:spcAft>
                <a:spcPts val="0"/>
              </a:spcAft>
              <a:buClr>
                <a:schemeClr val="lt1"/>
              </a:buClr>
              <a:buSzPts val="10000"/>
              <a:buNone/>
              <a:defRPr sz="10000">
                <a:solidFill>
                  <a:schemeClr val="lt1"/>
                </a:solidFill>
              </a:defRPr>
            </a:lvl7pPr>
            <a:lvl8pPr lvl="7" algn="l">
              <a:lnSpc>
                <a:spcPct val="100000"/>
              </a:lnSpc>
              <a:spcBef>
                <a:spcPts val="0"/>
              </a:spcBef>
              <a:spcAft>
                <a:spcPts val="0"/>
              </a:spcAft>
              <a:buClr>
                <a:schemeClr val="lt1"/>
              </a:buClr>
              <a:buSzPts val="10000"/>
              <a:buNone/>
              <a:defRPr sz="10000">
                <a:solidFill>
                  <a:schemeClr val="lt1"/>
                </a:solidFill>
              </a:defRPr>
            </a:lvl8pPr>
            <a:lvl9pPr lvl="8" algn="l">
              <a:lnSpc>
                <a:spcPct val="100000"/>
              </a:lnSpc>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a:spLocks noGrp="1"/>
          </p:cNvSpPr>
          <p:nvPr>
            <p:ph type="body" idx="1"/>
          </p:nvPr>
        </p:nvSpPr>
        <p:spPr>
          <a:xfrm>
            <a:off x="311700" y="2121425"/>
            <a:ext cx="5334900" cy="9426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Clr>
                <a:schemeClr val="accent2"/>
              </a:buClr>
              <a:buSzPts val="1300"/>
              <a:buChar char="●"/>
              <a:defRPr>
                <a:solidFill>
                  <a:schemeClr val="accent2"/>
                </a:solidFill>
              </a:defRPr>
            </a:lvl1pPr>
            <a:lvl2pPr marL="914400" lvl="1" indent="-298450" algn="l">
              <a:lnSpc>
                <a:spcPct val="115000"/>
              </a:lnSpc>
              <a:spcBef>
                <a:spcPts val="1600"/>
              </a:spcBef>
              <a:spcAft>
                <a:spcPts val="0"/>
              </a:spcAft>
              <a:buClr>
                <a:schemeClr val="accent2"/>
              </a:buClr>
              <a:buSzPts val="1100"/>
              <a:buChar char="○"/>
              <a:defRPr>
                <a:solidFill>
                  <a:schemeClr val="accent2"/>
                </a:solidFill>
              </a:defRPr>
            </a:lvl2pPr>
            <a:lvl3pPr marL="1371600" lvl="2" indent="-298450" algn="l">
              <a:lnSpc>
                <a:spcPct val="115000"/>
              </a:lnSpc>
              <a:spcBef>
                <a:spcPts val="1600"/>
              </a:spcBef>
              <a:spcAft>
                <a:spcPts val="0"/>
              </a:spcAft>
              <a:buClr>
                <a:schemeClr val="accent2"/>
              </a:buClr>
              <a:buSzPts val="1100"/>
              <a:buChar char="■"/>
              <a:defRPr>
                <a:solidFill>
                  <a:schemeClr val="accent2"/>
                </a:solidFill>
              </a:defRPr>
            </a:lvl3pPr>
            <a:lvl4pPr marL="1828800" lvl="3" indent="-298450" algn="l">
              <a:lnSpc>
                <a:spcPct val="115000"/>
              </a:lnSpc>
              <a:spcBef>
                <a:spcPts val="1600"/>
              </a:spcBef>
              <a:spcAft>
                <a:spcPts val="0"/>
              </a:spcAft>
              <a:buClr>
                <a:schemeClr val="accent2"/>
              </a:buClr>
              <a:buSzPts val="1100"/>
              <a:buChar char="●"/>
              <a:defRPr>
                <a:solidFill>
                  <a:schemeClr val="accent2"/>
                </a:solidFill>
              </a:defRPr>
            </a:lvl4pPr>
            <a:lvl5pPr marL="2286000" lvl="4" indent="-298450" algn="l">
              <a:lnSpc>
                <a:spcPct val="115000"/>
              </a:lnSpc>
              <a:spcBef>
                <a:spcPts val="1600"/>
              </a:spcBef>
              <a:spcAft>
                <a:spcPts val="0"/>
              </a:spcAft>
              <a:buClr>
                <a:schemeClr val="accent2"/>
              </a:buClr>
              <a:buSzPts val="1100"/>
              <a:buChar char="○"/>
              <a:defRPr>
                <a:solidFill>
                  <a:schemeClr val="accent2"/>
                </a:solidFill>
              </a:defRPr>
            </a:lvl5pPr>
            <a:lvl6pPr marL="2743200" lvl="5" indent="-298450" algn="l">
              <a:lnSpc>
                <a:spcPct val="115000"/>
              </a:lnSpc>
              <a:spcBef>
                <a:spcPts val="1600"/>
              </a:spcBef>
              <a:spcAft>
                <a:spcPts val="0"/>
              </a:spcAft>
              <a:buClr>
                <a:schemeClr val="accent2"/>
              </a:buClr>
              <a:buSzPts val="1100"/>
              <a:buChar char="■"/>
              <a:defRPr>
                <a:solidFill>
                  <a:schemeClr val="accent2"/>
                </a:solidFill>
              </a:defRPr>
            </a:lvl6pPr>
            <a:lvl7pPr marL="3200400" lvl="6" indent="-298450" algn="l">
              <a:lnSpc>
                <a:spcPct val="115000"/>
              </a:lnSpc>
              <a:spcBef>
                <a:spcPts val="1600"/>
              </a:spcBef>
              <a:spcAft>
                <a:spcPts val="0"/>
              </a:spcAft>
              <a:buClr>
                <a:schemeClr val="accent2"/>
              </a:buClr>
              <a:buSzPts val="1100"/>
              <a:buChar char="●"/>
              <a:defRPr>
                <a:solidFill>
                  <a:schemeClr val="accent2"/>
                </a:solidFill>
              </a:defRPr>
            </a:lvl7pPr>
            <a:lvl8pPr marL="3657600" lvl="7" indent="-298450" algn="l">
              <a:lnSpc>
                <a:spcPct val="115000"/>
              </a:lnSpc>
              <a:spcBef>
                <a:spcPts val="1600"/>
              </a:spcBef>
              <a:spcAft>
                <a:spcPts val="0"/>
              </a:spcAft>
              <a:buClr>
                <a:schemeClr val="accent2"/>
              </a:buClr>
              <a:buSzPts val="1100"/>
              <a:buChar char="○"/>
              <a:defRPr>
                <a:solidFill>
                  <a:schemeClr val="accent2"/>
                </a:solidFill>
              </a:defRPr>
            </a:lvl8pPr>
            <a:lvl9pPr marL="4114800" lvl="8" indent="-298450" algn="l">
              <a:lnSpc>
                <a:spcPct val="115000"/>
              </a:lnSpc>
              <a:spcBef>
                <a:spcPts val="1600"/>
              </a:spcBef>
              <a:spcAft>
                <a:spcPts val="1600"/>
              </a:spcAft>
              <a:buClr>
                <a:schemeClr val="accent2"/>
              </a:buClr>
              <a:buSzPts val="1100"/>
              <a:buChar char="■"/>
              <a:defRPr>
                <a:solidFill>
                  <a:schemeClr val="accent2"/>
                </a:solidFill>
              </a:defRPr>
            </a:lvl9pPr>
          </a:lstStyle>
          <a:p>
            <a:endParaRPr/>
          </a:p>
        </p:txBody>
      </p:sp>
      <p:sp>
        <p:nvSpPr>
          <p:cNvPr id="61" name="Google Shape;61;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1pPr>
            <a:lvl2pPr marR="0" lvl="1"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2pPr>
            <a:lvl3pPr marR="0" lvl="2"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3pPr>
            <a:lvl4pPr marR="0" lvl="3"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4pPr>
            <a:lvl5pPr marR="0" lvl="4"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5pPr>
            <a:lvl6pPr marR="0" lvl="5"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6pPr>
            <a:lvl7pPr marR="0" lvl="6"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7pPr>
            <a:lvl8pPr marR="0" lvl="7"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8pPr>
            <a:lvl9pPr marR="0" lvl="8"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watch?v=ET3Q6zNK3Io"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3"/>
          <p:cNvSpPr txBox="1">
            <a:spLocks noGrp="1"/>
          </p:cNvSpPr>
          <p:nvPr>
            <p:ph type="title"/>
          </p:nvPr>
        </p:nvSpPr>
        <p:spPr>
          <a:xfrm>
            <a:off x="233150" y="27947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Project Part 1: Kick-Off</a:t>
            </a:r>
            <a:endParaRPr/>
          </a:p>
        </p:txBody>
      </p:sp>
      <p:sp>
        <p:nvSpPr>
          <p:cNvPr id="69" name="Google Shape;69;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a:t>
            </a:fld>
            <a:endParaRPr/>
          </a:p>
        </p:txBody>
      </p:sp>
      <p:sp>
        <p:nvSpPr>
          <p:cNvPr id="70" name="Google Shape;70;p13"/>
          <p:cNvSpPr txBox="1"/>
          <p:nvPr/>
        </p:nvSpPr>
        <p:spPr>
          <a:xfrm>
            <a:off x="128925" y="1716118"/>
            <a:ext cx="4691400" cy="27423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115000"/>
              </a:lnSpc>
              <a:spcBef>
                <a:spcPts val="0"/>
              </a:spcBef>
              <a:spcAft>
                <a:spcPts val="0"/>
              </a:spcAft>
              <a:buClr>
                <a:srgbClr val="666666"/>
              </a:buClr>
              <a:buSzPts val="1400"/>
              <a:buFont typeface="Roboto"/>
              <a:buChar char="●"/>
            </a:pPr>
            <a:r>
              <a:rPr lang="en">
                <a:solidFill>
                  <a:srgbClr val="666666"/>
                </a:solidFill>
                <a:latin typeface="Roboto"/>
                <a:ea typeface="Roboto"/>
                <a:cs typeface="Roboto"/>
                <a:sym typeface="Roboto"/>
              </a:rPr>
              <a:t>Today's class will be devoted to getting started on your team project.</a:t>
            </a:r>
            <a:endParaRPr b="0" i="0" u="none" strike="noStrike" cap="none">
              <a:solidFill>
                <a:srgbClr val="666666"/>
              </a:solidFill>
              <a:latin typeface="Roboto"/>
              <a:ea typeface="Roboto"/>
              <a:cs typeface="Roboto"/>
              <a:sym typeface="Roboto"/>
            </a:endParaRPr>
          </a:p>
          <a:p>
            <a:pPr marL="457200" marR="0" lvl="0" indent="-317500" algn="l" rtl="0">
              <a:lnSpc>
                <a:spcPct val="115000"/>
              </a:lnSpc>
              <a:spcBef>
                <a:spcPts val="0"/>
              </a:spcBef>
              <a:spcAft>
                <a:spcPts val="0"/>
              </a:spcAft>
              <a:buClr>
                <a:srgbClr val="666666"/>
              </a:buClr>
              <a:buSzPts val="1400"/>
              <a:buFont typeface="Roboto"/>
              <a:buChar char="●"/>
            </a:pPr>
            <a:r>
              <a:rPr lang="en">
                <a:solidFill>
                  <a:srgbClr val="666666"/>
                </a:solidFill>
                <a:latin typeface="Roboto"/>
                <a:ea typeface="Roboto"/>
                <a:cs typeface="Roboto"/>
                <a:sym typeface="Roboto"/>
              </a:rPr>
              <a:t>If y</a:t>
            </a:r>
            <a:r>
              <a:rPr lang="en" b="0" i="0" u="none" strike="noStrike" cap="none">
                <a:solidFill>
                  <a:srgbClr val="666666"/>
                </a:solidFill>
                <a:latin typeface="Roboto"/>
                <a:ea typeface="Roboto"/>
                <a:cs typeface="Roboto"/>
                <a:sym typeface="Roboto"/>
              </a:rPr>
              <a:t>our instructor has not already done so, you will be divided into </a:t>
            </a:r>
            <a:r>
              <a:rPr lang="en" b="1" i="1" u="none" strike="noStrike" cap="none">
                <a:solidFill>
                  <a:srgbClr val="FF0000"/>
                </a:solidFill>
                <a:latin typeface="Roboto"/>
                <a:ea typeface="Roboto"/>
                <a:cs typeface="Roboto"/>
                <a:sym typeface="Roboto"/>
              </a:rPr>
              <a:t>teams of 3 or 4 students</a:t>
            </a:r>
            <a:r>
              <a:rPr lang="en" b="0" i="0" u="none" strike="noStrike" cap="none">
                <a:solidFill>
                  <a:srgbClr val="666666"/>
                </a:solidFill>
                <a:latin typeface="Roboto"/>
                <a:ea typeface="Roboto"/>
                <a:cs typeface="Roboto"/>
                <a:sym typeface="Roboto"/>
              </a:rPr>
              <a:t>.</a:t>
            </a:r>
            <a:endParaRPr b="0" i="0" u="none" strike="noStrike" cap="none">
              <a:solidFill>
                <a:srgbClr val="666666"/>
              </a:solidFill>
              <a:latin typeface="Roboto"/>
              <a:ea typeface="Roboto"/>
              <a:cs typeface="Roboto"/>
              <a:sym typeface="Roboto"/>
            </a:endParaRPr>
          </a:p>
          <a:p>
            <a:pPr marL="457200" marR="0" lvl="0" indent="-317500" algn="l" rtl="0">
              <a:lnSpc>
                <a:spcPct val="115000"/>
              </a:lnSpc>
              <a:spcBef>
                <a:spcPts val="0"/>
              </a:spcBef>
              <a:spcAft>
                <a:spcPts val="0"/>
              </a:spcAft>
              <a:buClr>
                <a:srgbClr val="666666"/>
              </a:buClr>
              <a:buSzPts val="1400"/>
              <a:buFont typeface="Roboto"/>
              <a:buChar char="●"/>
            </a:pPr>
            <a:r>
              <a:rPr lang="en" b="0" i="0" u="none" strike="noStrike" cap="none">
                <a:solidFill>
                  <a:srgbClr val="666666"/>
                </a:solidFill>
                <a:latin typeface="Roboto"/>
                <a:ea typeface="Roboto"/>
                <a:cs typeface="Roboto"/>
                <a:sym typeface="Roboto"/>
              </a:rPr>
              <a:t>Each team will </a:t>
            </a:r>
            <a:r>
              <a:rPr lang="en" b="1" i="1" u="none" strike="noStrike" cap="none">
                <a:solidFill>
                  <a:srgbClr val="FF0000"/>
                </a:solidFill>
                <a:latin typeface="Roboto"/>
                <a:ea typeface="Roboto"/>
                <a:cs typeface="Roboto"/>
                <a:sym typeface="Roboto"/>
              </a:rPr>
              <a:t>work together</a:t>
            </a:r>
            <a:r>
              <a:rPr lang="en" b="0" i="0" u="none" strike="noStrike" cap="none">
                <a:solidFill>
                  <a:srgbClr val="666666"/>
                </a:solidFill>
                <a:latin typeface="Roboto"/>
                <a:ea typeface="Roboto"/>
                <a:cs typeface="Roboto"/>
                <a:sym typeface="Roboto"/>
              </a:rPr>
              <a:t> to</a:t>
            </a:r>
            <a:r>
              <a:rPr lang="en">
                <a:solidFill>
                  <a:srgbClr val="666666"/>
                </a:solidFill>
                <a:latin typeface="Roboto"/>
                <a:ea typeface="Roboto"/>
                <a:cs typeface="Roboto"/>
                <a:sym typeface="Roboto"/>
              </a:rPr>
              <a:t>:</a:t>
            </a:r>
            <a:endParaRPr>
              <a:solidFill>
                <a:srgbClr val="666666"/>
              </a:solidFill>
              <a:latin typeface="Roboto"/>
              <a:ea typeface="Roboto"/>
              <a:cs typeface="Roboto"/>
              <a:sym typeface="Roboto"/>
            </a:endParaRPr>
          </a:p>
          <a:p>
            <a:pPr marL="914400" marR="0" lvl="1" indent="-317500" algn="l" rtl="0">
              <a:lnSpc>
                <a:spcPct val="115000"/>
              </a:lnSpc>
              <a:spcBef>
                <a:spcPts val="0"/>
              </a:spcBef>
              <a:spcAft>
                <a:spcPts val="0"/>
              </a:spcAft>
              <a:buClr>
                <a:srgbClr val="666666"/>
              </a:buClr>
              <a:buSzPts val="1400"/>
              <a:buFont typeface="Roboto"/>
              <a:buChar char="○"/>
            </a:pPr>
            <a:r>
              <a:rPr lang="en">
                <a:solidFill>
                  <a:srgbClr val="666666"/>
                </a:solidFill>
                <a:latin typeface="Roboto"/>
                <a:ea typeface="Roboto"/>
                <a:cs typeface="Roboto"/>
                <a:sym typeface="Roboto"/>
              </a:rPr>
              <a:t>Set up the team repository.</a:t>
            </a:r>
            <a:endParaRPr>
              <a:solidFill>
                <a:srgbClr val="666666"/>
              </a:solidFill>
              <a:latin typeface="Roboto"/>
              <a:ea typeface="Roboto"/>
              <a:cs typeface="Roboto"/>
              <a:sym typeface="Roboto"/>
            </a:endParaRPr>
          </a:p>
          <a:p>
            <a:pPr marL="914400" marR="0" lvl="1" indent="-317500" algn="l" rtl="0">
              <a:lnSpc>
                <a:spcPct val="115000"/>
              </a:lnSpc>
              <a:spcBef>
                <a:spcPts val="0"/>
              </a:spcBef>
              <a:spcAft>
                <a:spcPts val="0"/>
              </a:spcAft>
              <a:buClr>
                <a:srgbClr val="666666"/>
              </a:buClr>
              <a:buSzPts val="1400"/>
              <a:buFont typeface="Roboto"/>
              <a:buChar char="○"/>
            </a:pPr>
            <a:r>
              <a:rPr lang="en">
                <a:solidFill>
                  <a:srgbClr val="666666"/>
                </a:solidFill>
                <a:latin typeface="Roboto"/>
                <a:ea typeface="Roboto"/>
                <a:cs typeface="Roboto"/>
                <a:sym typeface="Roboto"/>
              </a:rPr>
              <a:t>Discuss and design the project.</a:t>
            </a:r>
            <a:endParaRPr>
              <a:solidFill>
                <a:srgbClr val="666666"/>
              </a:solidFill>
              <a:latin typeface="Roboto"/>
              <a:ea typeface="Roboto"/>
              <a:cs typeface="Roboto"/>
              <a:sym typeface="Roboto"/>
            </a:endParaRPr>
          </a:p>
          <a:p>
            <a:pPr marL="914400" marR="0" lvl="1" indent="-317500" algn="l" rtl="0">
              <a:lnSpc>
                <a:spcPct val="115000"/>
              </a:lnSpc>
              <a:spcBef>
                <a:spcPts val="0"/>
              </a:spcBef>
              <a:spcAft>
                <a:spcPts val="0"/>
              </a:spcAft>
              <a:buClr>
                <a:srgbClr val="666666"/>
              </a:buClr>
              <a:buSzPts val="1400"/>
              <a:buFont typeface="Roboto"/>
              <a:buChar char="○"/>
            </a:pPr>
            <a:r>
              <a:rPr lang="en">
                <a:solidFill>
                  <a:srgbClr val="666666"/>
                </a:solidFill>
                <a:latin typeface="Roboto"/>
                <a:ea typeface="Roboto"/>
                <a:cs typeface="Roboto"/>
                <a:sym typeface="Roboto"/>
              </a:rPr>
              <a:t>Plan meeting times.</a:t>
            </a:r>
            <a:endParaRPr>
              <a:solidFill>
                <a:srgbClr val="666666"/>
              </a:solidFill>
              <a:latin typeface="Roboto"/>
              <a:ea typeface="Roboto"/>
              <a:cs typeface="Roboto"/>
              <a:sym typeface="Roboto"/>
            </a:endParaRPr>
          </a:p>
          <a:p>
            <a:pPr marL="914400" lvl="1" indent="-317500" algn="l" rtl="0">
              <a:lnSpc>
                <a:spcPct val="115000"/>
              </a:lnSpc>
              <a:spcBef>
                <a:spcPts val="0"/>
              </a:spcBef>
              <a:spcAft>
                <a:spcPts val="0"/>
              </a:spcAft>
              <a:buClr>
                <a:srgbClr val="666666"/>
              </a:buClr>
              <a:buSzPts val="1400"/>
              <a:buFont typeface="Roboto"/>
              <a:buChar char="○"/>
            </a:pPr>
            <a:r>
              <a:rPr lang="en">
                <a:solidFill>
                  <a:schemeClr val="dk2"/>
                </a:solidFill>
                <a:latin typeface="Roboto"/>
                <a:ea typeface="Roboto"/>
                <a:cs typeface="Roboto"/>
                <a:sym typeface="Roboto"/>
              </a:rPr>
              <a:t>Practice pair programming.</a:t>
            </a:r>
            <a:endParaRPr>
              <a:solidFill>
                <a:schemeClr val="dk2"/>
              </a:solidFill>
              <a:latin typeface="Roboto"/>
              <a:ea typeface="Roboto"/>
              <a:cs typeface="Roboto"/>
              <a:sym typeface="Roboto"/>
            </a:endParaRPr>
          </a:p>
          <a:p>
            <a:pPr marL="914400" lvl="1" indent="-317500" algn="l" rtl="0">
              <a:lnSpc>
                <a:spcPct val="115000"/>
              </a:lnSpc>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Start the project!</a:t>
            </a:r>
            <a:endParaRPr b="0" i="0" u="none" strike="noStrike" cap="none">
              <a:solidFill>
                <a:srgbClr val="666666"/>
              </a:solidFill>
              <a:latin typeface="Roboto"/>
              <a:ea typeface="Roboto"/>
              <a:cs typeface="Roboto"/>
              <a:sym typeface="Roboto"/>
            </a:endParaRPr>
          </a:p>
        </p:txBody>
      </p:sp>
      <p:pic>
        <p:nvPicPr>
          <p:cNvPr id="71" name="Google Shape;71;p13"/>
          <p:cNvPicPr preferRelativeResize="0"/>
          <p:nvPr/>
        </p:nvPicPr>
        <p:blipFill>
          <a:blip r:embed="rId3">
            <a:alphaModFix/>
          </a:blip>
          <a:stretch>
            <a:fillRect/>
          </a:stretch>
        </p:blipFill>
        <p:spPr>
          <a:xfrm>
            <a:off x="5084775" y="1599218"/>
            <a:ext cx="3777325" cy="2976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4"/>
          <p:cNvSpPr txBox="1">
            <a:spLocks noGrp="1"/>
          </p:cNvSpPr>
          <p:nvPr>
            <p:ph type="title"/>
          </p:nvPr>
        </p:nvSpPr>
        <p:spPr>
          <a:xfrm>
            <a:off x="311725" y="5009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Project Submissions</a:t>
            </a:r>
            <a:endParaRPr/>
          </a:p>
        </p:txBody>
      </p:sp>
      <p:sp>
        <p:nvSpPr>
          <p:cNvPr id="77" name="Google Shape;7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2</a:t>
            </a:fld>
            <a:endParaRPr/>
          </a:p>
        </p:txBody>
      </p:sp>
      <p:sp>
        <p:nvSpPr>
          <p:cNvPr id="78" name="Google Shape;78;p14"/>
          <p:cNvSpPr txBox="1"/>
          <p:nvPr/>
        </p:nvSpPr>
        <p:spPr>
          <a:xfrm>
            <a:off x="4432725" y="500925"/>
            <a:ext cx="4361100" cy="4162200"/>
          </a:xfrm>
          <a:prstGeom prst="rect">
            <a:avLst/>
          </a:prstGeom>
          <a:noFill/>
          <a:ln>
            <a:noFill/>
          </a:ln>
        </p:spPr>
        <p:txBody>
          <a:bodyPr spcFirstLastPara="1" wrap="square" lIns="91425" tIns="91425" rIns="91425" bIns="91425" anchor="t" anchorCtr="0">
            <a:noAutofit/>
          </a:bodyPr>
          <a:lstStyle/>
          <a:p>
            <a:pPr marL="457200" marR="0" lvl="0" indent="-311150" algn="l" rtl="0">
              <a:lnSpc>
                <a:spcPct val="115000"/>
              </a:lnSpc>
              <a:spcBef>
                <a:spcPts val="0"/>
              </a:spcBef>
              <a:spcAft>
                <a:spcPts val="0"/>
              </a:spcAft>
              <a:buClr>
                <a:srgbClr val="666666"/>
              </a:buClr>
              <a:buSzPts val="1300"/>
              <a:buFont typeface="Roboto"/>
              <a:buChar char="●"/>
            </a:pPr>
            <a:r>
              <a:rPr lang="en" sz="1300" dirty="0">
                <a:solidFill>
                  <a:srgbClr val="666666"/>
                </a:solidFill>
                <a:latin typeface="Roboto"/>
                <a:ea typeface="Roboto"/>
                <a:cs typeface="Roboto"/>
                <a:sym typeface="Roboto"/>
              </a:rPr>
              <a:t>This project is organized into </a:t>
            </a:r>
            <a:r>
              <a:rPr lang="en" sz="1300" b="1" i="1" dirty="0">
                <a:solidFill>
                  <a:srgbClr val="FF0000"/>
                </a:solidFill>
                <a:latin typeface="Roboto"/>
                <a:ea typeface="Roboto"/>
                <a:cs typeface="Roboto"/>
                <a:sym typeface="Roboto"/>
              </a:rPr>
              <a:t>three parts</a:t>
            </a:r>
            <a:r>
              <a:rPr lang="en" sz="1300" dirty="0">
                <a:solidFill>
                  <a:srgbClr val="666666"/>
                </a:solidFill>
                <a:latin typeface="Roboto"/>
                <a:ea typeface="Roboto"/>
                <a:cs typeface="Roboto"/>
                <a:sym typeface="Roboto"/>
              </a:rPr>
              <a:t> with part 1 counting as </a:t>
            </a:r>
            <a:r>
              <a:rPr lang="en" sz="1300" dirty="0">
                <a:solidFill>
                  <a:srgbClr val="666666"/>
                </a:solidFill>
                <a:highlight>
                  <a:srgbClr val="FFFF00"/>
                </a:highlight>
                <a:latin typeface="Roboto"/>
                <a:ea typeface="Roboto"/>
                <a:cs typeface="Roboto"/>
                <a:sym typeface="Roboto"/>
              </a:rPr>
              <a:t>2 homework assignments </a:t>
            </a:r>
            <a:r>
              <a:rPr lang="en" sz="1300" dirty="0">
                <a:solidFill>
                  <a:srgbClr val="666666"/>
                </a:solidFill>
                <a:latin typeface="Roboto"/>
                <a:ea typeface="Roboto"/>
                <a:cs typeface="Roboto"/>
                <a:sym typeface="Roboto"/>
              </a:rPr>
              <a:t>and parts 2 and 3 counting as </a:t>
            </a:r>
            <a:r>
              <a:rPr lang="en" sz="1300" dirty="0">
                <a:solidFill>
                  <a:srgbClr val="666666"/>
                </a:solidFill>
                <a:highlight>
                  <a:srgbClr val="FFFF00"/>
                </a:highlight>
                <a:latin typeface="Roboto"/>
                <a:ea typeface="Roboto"/>
                <a:cs typeface="Roboto"/>
                <a:sym typeface="Roboto"/>
              </a:rPr>
              <a:t>1 homework assignment </a:t>
            </a:r>
            <a:r>
              <a:rPr lang="en" sz="1300" dirty="0">
                <a:solidFill>
                  <a:srgbClr val="666666"/>
                </a:solidFill>
                <a:latin typeface="Roboto"/>
                <a:ea typeface="Roboto"/>
                <a:cs typeface="Roboto"/>
                <a:sym typeface="Roboto"/>
              </a:rPr>
              <a:t>each.</a:t>
            </a:r>
            <a:endParaRPr sz="1300" dirty="0">
              <a:solidFill>
                <a:srgbClr val="666666"/>
              </a:solidFill>
              <a:latin typeface="Roboto"/>
              <a:ea typeface="Roboto"/>
              <a:cs typeface="Roboto"/>
              <a:sym typeface="Roboto"/>
            </a:endParaRPr>
          </a:p>
          <a:p>
            <a:pPr marL="457200" marR="0" lvl="0" indent="-311150" algn="l" rtl="0">
              <a:lnSpc>
                <a:spcPct val="115000"/>
              </a:lnSpc>
              <a:spcBef>
                <a:spcPts val="0"/>
              </a:spcBef>
              <a:spcAft>
                <a:spcPts val="0"/>
              </a:spcAft>
              <a:buClr>
                <a:srgbClr val="666666"/>
              </a:buClr>
              <a:buSzPts val="1300"/>
              <a:buFont typeface="Roboto"/>
              <a:buChar char="●"/>
            </a:pPr>
            <a:r>
              <a:rPr lang="en" sz="1300" dirty="0">
                <a:solidFill>
                  <a:srgbClr val="666666"/>
                </a:solidFill>
                <a:latin typeface="Roboto"/>
                <a:ea typeface="Roboto"/>
                <a:cs typeface="Roboto"/>
                <a:sym typeface="Roboto"/>
              </a:rPr>
              <a:t>You will have at least 4 days to complete each part.</a:t>
            </a:r>
            <a:endParaRPr sz="1300" dirty="0">
              <a:solidFill>
                <a:srgbClr val="666666"/>
              </a:solidFill>
              <a:latin typeface="Roboto"/>
              <a:ea typeface="Roboto"/>
              <a:cs typeface="Roboto"/>
              <a:sym typeface="Roboto"/>
            </a:endParaRPr>
          </a:p>
          <a:p>
            <a:pPr marL="457200" marR="0" lvl="0" indent="-311150" algn="l" rtl="0">
              <a:lnSpc>
                <a:spcPct val="115000"/>
              </a:lnSpc>
              <a:spcBef>
                <a:spcPts val="0"/>
              </a:spcBef>
              <a:spcAft>
                <a:spcPts val="0"/>
              </a:spcAft>
              <a:buClr>
                <a:srgbClr val="666666"/>
              </a:buClr>
              <a:buSzPts val="1300"/>
              <a:buFont typeface="Roboto"/>
              <a:buChar char="●"/>
            </a:pPr>
            <a:r>
              <a:rPr lang="en" sz="1300" dirty="0">
                <a:solidFill>
                  <a:srgbClr val="666666"/>
                </a:solidFill>
                <a:latin typeface="Roboto"/>
                <a:ea typeface="Roboto"/>
                <a:cs typeface="Roboto"/>
                <a:sym typeface="Roboto"/>
              </a:rPr>
              <a:t>Each part will be submitted via GitHub, just like regular assignments, except that your team will be working in </a:t>
            </a:r>
            <a:r>
              <a:rPr lang="en" sz="1300" b="1" i="1" dirty="0">
                <a:solidFill>
                  <a:srgbClr val="FF0000"/>
                </a:solidFill>
                <a:latin typeface="Roboto"/>
                <a:ea typeface="Roboto"/>
                <a:cs typeface="Roboto"/>
                <a:sym typeface="Roboto"/>
              </a:rPr>
              <a:t>one repository</a:t>
            </a:r>
            <a:r>
              <a:rPr lang="en" sz="1300" dirty="0">
                <a:solidFill>
                  <a:srgbClr val="666666"/>
                </a:solidFill>
                <a:latin typeface="Roboto"/>
                <a:ea typeface="Roboto"/>
                <a:cs typeface="Roboto"/>
                <a:sym typeface="Roboto"/>
              </a:rPr>
              <a:t>.</a:t>
            </a:r>
            <a:endParaRPr sz="1300" dirty="0">
              <a:solidFill>
                <a:srgbClr val="666666"/>
              </a:solidFill>
              <a:latin typeface="Roboto"/>
              <a:ea typeface="Roboto"/>
              <a:cs typeface="Roboto"/>
              <a:sym typeface="Roboto"/>
            </a:endParaRPr>
          </a:p>
          <a:p>
            <a:pPr marL="457200" marR="0" lvl="0" indent="-311150" algn="l" rtl="0">
              <a:lnSpc>
                <a:spcPct val="115000"/>
              </a:lnSpc>
              <a:spcBef>
                <a:spcPts val="0"/>
              </a:spcBef>
              <a:spcAft>
                <a:spcPts val="0"/>
              </a:spcAft>
              <a:buClr>
                <a:srgbClr val="666666"/>
              </a:buClr>
              <a:buSzPts val="1300"/>
              <a:buFont typeface="Roboto"/>
              <a:buChar char="●"/>
            </a:pPr>
            <a:r>
              <a:rPr lang="en" sz="1300" dirty="0">
                <a:solidFill>
                  <a:srgbClr val="666666"/>
                </a:solidFill>
                <a:latin typeface="Roboto"/>
                <a:ea typeface="Roboto"/>
                <a:cs typeface="Roboto"/>
                <a:sym typeface="Roboto"/>
              </a:rPr>
              <a:t>While each project part will receive a grade, your </a:t>
            </a:r>
            <a:r>
              <a:rPr lang="en" sz="1300" b="1" i="1" dirty="0">
                <a:solidFill>
                  <a:srgbClr val="FF0000"/>
                </a:solidFill>
                <a:latin typeface="Roboto"/>
                <a:ea typeface="Roboto"/>
                <a:cs typeface="Roboto"/>
                <a:sym typeface="Roboto"/>
              </a:rPr>
              <a:t>individual grade</a:t>
            </a:r>
            <a:r>
              <a:rPr lang="en" sz="1300" dirty="0">
                <a:solidFill>
                  <a:srgbClr val="666666"/>
                </a:solidFill>
                <a:latin typeface="Roboto"/>
                <a:ea typeface="Roboto"/>
                <a:cs typeface="Roboto"/>
                <a:sym typeface="Roboto"/>
              </a:rPr>
              <a:t> may be </a:t>
            </a:r>
            <a:r>
              <a:rPr lang="en" sz="1300" b="1" i="1" dirty="0">
                <a:solidFill>
                  <a:srgbClr val="FF0000"/>
                </a:solidFill>
                <a:latin typeface="Roboto"/>
                <a:ea typeface="Roboto"/>
                <a:cs typeface="Roboto"/>
                <a:sym typeface="Roboto"/>
              </a:rPr>
              <a:t>adjusted</a:t>
            </a:r>
            <a:r>
              <a:rPr lang="en" sz="1300" dirty="0">
                <a:solidFill>
                  <a:srgbClr val="666666"/>
                </a:solidFill>
                <a:latin typeface="Roboto"/>
                <a:ea typeface="Roboto"/>
                <a:cs typeface="Roboto"/>
                <a:sym typeface="Roboto"/>
              </a:rPr>
              <a:t> to be less or more than the team grade.  Or it may be left the same as the team grade.</a:t>
            </a:r>
            <a:endParaRPr sz="1300" dirty="0">
              <a:solidFill>
                <a:srgbClr val="666666"/>
              </a:solidFill>
              <a:latin typeface="Roboto"/>
              <a:ea typeface="Roboto"/>
              <a:cs typeface="Roboto"/>
              <a:sym typeface="Roboto"/>
            </a:endParaRPr>
          </a:p>
          <a:p>
            <a:pPr marL="457200" marR="0" lvl="0" indent="-311150" algn="l" rtl="0">
              <a:lnSpc>
                <a:spcPct val="115000"/>
              </a:lnSpc>
              <a:spcBef>
                <a:spcPts val="0"/>
              </a:spcBef>
              <a:spcAft>
                <a:spcPts val="0"/>
              </a:spcAft>
              <a:buClr>
                <a:srgbClr val="666666"/>
              </a:buClr>
              <a:buSzPts val="1300"/>
              <a:buFont typeface="Roboto"/>
              <a:buChar char="●"/>
            </a:pPr>
            <a:r>
              <a:rPr lang="en" sz="1300" dirty="0">
                <a:solidFill>
                  <a:srgbClr val="666666"/>
                </a:solidFill>
                <a:latin typeface="Roboto"/>
                <a:ea typeface="Roboto"/>
                <a:cs typeface="Roboto"/>
                <a:sym typeface="Roboto"/>
              </a:rPr>
              <a:t>Adjustments to your team grade will be based on your </a:t>
            </a:r>
            <a:r>
              <a:rPr lang="en" sz="1300" b="1" i="1" dirty="0">
                <a:solidFill>
                  <a:srgbClr val="FF0000"/>
                </a:solidFill>
                <a:latin typeface="Roboto"/>
                <a:ea typeface="Roboto"/>
                <a:cs typeface="Roboto"/>
                <a:sym typeface="Roboto"/>
              </a:rPr>
              <a:t>contributions</a:t>
            </a:r>
            <a:r>
              <a:rPr lang="en" sz="1300" dirty="0">
                <a:solidFill>
                  <a:srgbClr val="666666"/>
                </a:solidFill>
                <a:latin typeface="Roboto"/>
                <a:ea typeface="Roboto"/>
                <a:cs typeface="Roboto"/>
                <a:sym typeface="Roboto"/>
              </a:rPr>
              <a:t>, measured in GitHub metrics, e.g commits, as well as </a:t>
            </a:r>
            <a:r>
              <a:rPr lang="en" sz="1300" b="1" i="1" dirty="0">
                <a:solidFill>
                  <a:srgbClr val="FF0000"/>
                </a:solidFill>
                <a:latin typeface="Roboto"/>
                <a:ea typeface="Roboto"/>
                <a:cs typeface="Roboto"/>
                <a:sym typeface="Roboto"/>
              </a:rPr>
              <a:t>peer evaluations</a:t>
            </a:r>
            <a:r>
              <a:rPr lang="en" sz="1300" dirty="0">
                <a:solidFill>
                  <a:srgbClr val="666666"/>
                </a:solidFill>
                <a:latin typeface="Roboto"/>
                <a:ea typeface="Roboto"/>
                <a:cs typeface="Roboto"/>
                <a:sym typeface="Roboto"/>
              </a:rPr>
              <a:t> conducted at the end of the project.</a:t>
            </a:r>
            <a:endParaRPr sz="1300" b="0" i="0" u="none" strike="noStrike" cap="none" dirty="0">
              <a:solidFill>
                <a:srgbClr val="666666"/>
              </a:solidFill>
              <a:latin typeface="Roboto"/>
              <a:ea typeface="Roboto"/>
              <a:cs typeface="Roboto"/>
              <a:sym typeface="Roboto"/>
            </a:endParaRPr>
          </a:p>
        </p:txBody>
      </p:sp>
      <p:sp>
        <p:nvSpPr>
          <p:cNvPr id="79" name="Google Shape;79;p14"/>
          <p:cNvSpPr txBox="1">
            <a:spLocks noGrp="1"/>
          </p:cNvSpPr>
          <p:nvPr>
            <p:ph type="body" idx="3"/>
          </p:nvPr>
        </p:nvSpPr>
        <p:spPr>
          <a:xfrm>
            <a:off x="232075" y="3515452"/>
            <a:ext cx="3865800" cy="15102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b="1">
                <a:solidFill>
                  <a:srgbClr val="FF0000"/>
                </a:solidFill>
              </a:rPr>
              <a:t>Equal</a:t>
            </a:r>
            <a:r>
              <a:rPr lang="en" sz="1200"/>
              <a:t> contribution is expected from every team member. Dominating the work at the expense of others' participation is just as problematic as not contributing enough</a:t>
            </a:r>
            <a:endParaRPr sz="1200"/>
          </a:p>
          <a:p>
            <a:pPr marL="0" lvl="0" indent="0" algn="l" rtl="0">
              <a:lnSpc>
                <a:spcPct val="100000"/>
              </a:lnSpc>
              <a:spcBef>
                <a:spcPts val="0"/>
              </a:spcBef>
              <a:spcAft>
                <a:spcPts val="0"/>
              </a:spcAft>
              <a:buNone/>
            </a:pPr>
            <a:endParaRPr sz="1200"/>
          </a:p>
          <a:p>
            <a:pPr marL="0" lvl="0" indent="0" algn="l" rtl="0">
              <a:lnSpc>
                <a:spcPct val="100000"/>
              </a:lnSpc>
              <a:spcBef>
                <a:spcPts val="0"/>
              </a:spcBef>
              <a:spcAft>
                <a:spcPts val="0"/>
              </a:spcAft>
              <a:buNone/>
            </a:pPr>
            <a:r>
              <a:rPr lang="en" sz="1200"/>
              <a:t>This project is a </a:t>
            </a:r>
            <a:r>
              <a:rPr lang="en" sz="1200" b="1">
                <a:solidFill>
                  <a:srgbClr val="FF0000"/>
                </a:solidFill>
              </a:rPr>
              <a:t>team effort</a:t>
            </a:r>
            <a:r>
              <a:rPr lang="en" sz="1200"/>
              <a:t>, and everyone deserves the opportunity to </a:t>
            </a:r>
            <a:r>
              <a:rPr lang="en" sz="1200" b="1">
                <a:solidFill>
                  <a:srgbClr val="FF0000"/>
                </a:solidFill>
              </a:rPr>
              <a:t>learn</a:t>
            </a:r>
            <a:r>
              <a:rPr lang="en" sz="1200"/>
              <a:t> and </a:t>
            </a:r>
            <a:r>
              <a:rPr lang="en" sz="1200" b="1">
                <a:solidFill>
                  <a:srgbClr val="FF0000"/>
                </a:solidFill>
              </a:rPr>
              <a:t>participate</a:t>
            </a:r>
            <a:r>
              <a:rPr lang="en" sz="1200"/>
              <a:t>.</a:t>
            </a:r>
            <a:endParaRPr sz="1200"/>
          </a:p>
        </p:txBody>
      </p:sp>
      <p:pic>
        <p:nvPicPr>
          <p:cNvPr id="80" name="Google Shape;80;p14"/>
          <p:cNvPicPr preferRelativeResize="0"/>
          <p:nvPr/>
        </p:nvPicPr>
        <p:blipFill>
          <a:blip r:embed="rId3">
            <a:alphaModFix/>
          </a:blip>
          <a:stretch>
            <a:fillRect/>
          </a:stretch>
        </p:blipFill>
        <p:spPr>
          <a:xfrm>
            <a:off x="235775" y="1139025"/>
            <a:ext cx="3865825" cy="2052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5"/>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Backyard Bone Brawl</a:t>
            </a:r>
            <a:endParaRPr/>
          </a:p>
          <a:p>
            <a:pPr marL="0" lvl="0" indent="0" algn="l" rtl="0">
              <a:lnSpc>
                <a:spcPct val="100000"/>
              </a:lnSpc>
              <a:spcBef>
                <a:spcPts val="0"/>
              </a:spcBef>
              <a:spcAft>
                <a:spcPts val="0"/>
              </a:spcAft>
              <a:buSzPts val="2800"/>
              <a:buNone/>
            </a:pPr>
            <a:endParaRPr/>
          </a:p>
        </p:txBody>
      </p:sp>
      <p:sp>
        <p:nvSpPr>
          <p:cNvPr id="86" name="Google Shape;86;p15"/>
          <p:cNvSpPr txBox="1">
            <a:spLocks noGrp="1"/>
          </p:cNvSpPr>
          <p:nvPr>
            <p:ph type="body" idx="1"/>
          </p:nvPr>
        </p:nvSpPr>
        <p:spPr>
          <a:xfrm>
            <a:off x="297900" y="1505700"/>
            <a:ext cx="4990800" cy="35865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b="1" i="1" dirty="0">
                <a:solidFill>
                  <a:srgbClr val="FF0000"/>
                </a:solidFill>
              </a:rPr>
              <a:t>Backyard Bone Brawl</a:t>
            </a:r>
            <a:r>
              <a:rPr lang="en" dirty="0">
                <a:solidFill>
                  <a:schemeClr val="dk1"/>
                </a:solidFill>
              </a:rPr>
              <a:t> Is</a:t>
            </a:r>
            <a:r>
              <a:rPr lang="en" dirty="0"/>
              <a:t> a turn-based strategy game where two rival dogs compete to dig up each other's buried toys hidden across their backyard.</a:t>
            </a:r>
            <a:endParaRPr dirty="0"/>
          </a:p>
          <a:p>
            <a:pPr marL="0" lvl="0" indent="0" algn="l" rtl="0">
              <a:lnSpc>
                <a:spcPct val="100000"/>
              </a:lnSpc>
              <a:spcBef>
                <a:spcPts val="0"/>
              </a:spcBef>
              <a:spcAft>
                <a:spcPts val="0"/>
              </a:spcAft>
              <a:buNone/>
            </a:pPr>
            <a:endParaRPr dirty="0"/>
          </a:p>
          <a:p>
            <a:pPr marL="0" lvl="0" indent="0" algn="l" rtl="0">
              <a:lnSpc>
                <a:spcPct val="100000"/>
              </a:lnSpc>
              <a:spcBef>
                <a:spcPts val="0"/>
              </a:spcBef>
              <a:spcAft>
                <a:spcPts val="0"/>
              </a:spcAft>
              <a:buNone/>
            </a:pPr>
            <a:r>
              <a:rPr lang="en" dirty="0"/>
              <a:t>The game begins with each dog secretly burying five different toys (e.g. stick, bone, squeaky toy, etc) of varying lengths in the backyard -  a 10x10 grid. Grid rows are identified with  letters and the columns with numbers.</a:t>
            </a:r>
            <a:endParaRPr dirty="0"/>
          </a:p>
          <a:p>
            <a:pPr marL="0" lvl="0" indent="0" algn="l" rtl="0">
              <a:lnSpc>
                <a:spcPct val="100000"/>
              </a:lnSpc>
              <a:spcBef>
                <a:spcPts val="0"/>
              </a:spcBef>
              <a:spcAft>
                <a:spcPts val="0"/>
              </a:spcAft>
              <a:buNone/>
            </a:pPr>
            <a:endParaRPr dirty="0"/>
          </a:p>
          <a:p>
            <a:pPr marL="0" lvl="0" indent="0" algn="l" rtl="0">
              <a:lnSpc>
                <a:spcPct val="100000"/>
              </a:lnSpc>
              <a:spcBef>
                <a:spcPts val="0"/>
              </a:spcBef>
              <a:spcAft>
                <a:spcPts val="0"/>
              </a:spcAft>
              <a:buNone/>
            </a:pPr>
            <a:r>
              <a:rPr lang="en" dirty="0"/>
              <a:t>Players take turns digging at a coordinate, e.g. A5, and the defender reports whether the dig resulted in::</a:t>
            </a:r>
            <a:endParaRPr dirty="0"/>
          </a:p>
          <a:p>
            <a:pPr marL="457200" lvl="0" indent="-311150" algn="l" rtl="0">
              <a:lnSpc>
                <a:spcPct val="100000"/>
              </a:lnSpc>
              <a:spcBef>
                <a:spcPts val="0"/>
              </a:spcBef>
              <a:spcAft>
                <a:spcPts val="0"/>
              </a:spcAft>
              <a:buSzPts val="1300"/>
              <a:buChar char="●"/>
            </a:pPr>
            <a:r>
              <a:rPr lang="en" dirty="0"/>
              <a:t>A hole (nothing)</a:t>
            </a:r>
            <a:endParaRPr dirty="0"/>
          </a:p>
          <a:p>
            <a:pPr marL="457200" lvl="0" indent="-311150" algn="l" rtl="0">
              <a:lnSpc>
                <a:spcPct val="100000"/>
              </a:lnSpc>
              <a:spcBef>
                <a:spcPts val="0"/>
              </a:spcBef>
              <a:spcAft>
                <a:spcPts val="0"/>
              </a:spcAft>
              <a:buSzPts val="1300"/>
              <a:buChar char="●"/>
            </a:pPr>
            <a:r>
              <a:rPr lang="en" dirty="0"/>
              <a:t>A toy part (hit)</a:t>
            </a:r>
            <a:endParaRPr dirty="0"/>
          </a:p>
          <a:p>
            <a:pPr marL="457200" lvl="0" indent="-311150" algn="l" rtl="0">
              <a:lnSpc>
                <a:spcPct val="100000"/>
              </a:lnSpc>
              <a:spcBef>
                <a:spcPts val="0"/>
              </a:spcBef>
              <a:spcAft>
                <a:spcPts val="0"/>
              </a:spcAft>
              <a:buSzPts val="1300"/>
              <a:buChar char="●"/>
            </a:pPr>
            <a:r>
              <a:rPr lang="en" dirty="0"/>
              <a:t>The final toy part (toy has been completely uncovered)</a:t>
            </a:r>
            <a:endParaRPr dirty="0"/>
          </a:p>
          <a:p>
            <a:pPr marL="0" lvl="0" indent="0" algn="l" rtl="0">
              <a:lnSpc>
                <a:spcPct val="100000"/>
              </a:lnSpc>
              <a:spcBef>
                <a:spcPts val="0"/>
              </a:spcBef>
              <a:spcAft>
                <a:spcPts val="0"/>
              </a:spcAft>
              <a:buNone/>
            </a:pPr>
            <a:endParaRPr dirty="0"/>
          </a:p>
          <a:p>
            <a:pPr marL="0" lvl="0" indent="0" algn="l" rtl="0">
              <a:lnSpc>
                <a:spcPct val="100000"/>
              </a:lnSpc>
              <a:spcBef>
                <a:spcPts val="0"/>
              </a:spcBef>
              <a:spcAft>
                <a:spcPts val="0"/>
              </a:spcAft>
              <a:buNone/>
            </a:pPr>
            <a:r>
              <a:rPr lang="en" dirty="0"/>
              <a:t>The game ends when all five toys belonging to one dog have been found.</a:t>
            </a:r>
            <a:endParaRPr dirty="0"/>
          </a:p>
        </p:txBody>
      </p:sp>
      <p:sp>
        <p:nvSpPr>
          <p:cNvPr id="87" name="Google Shape;87;p15"/>
          <p:cNvSpPr txBox="1">
            <a:spLocks noGrp="1"/>
          </p:cNvSpPr>
          <p:nvPr>
            <p:ph type="sldNum" idx="12"/>
          </p:nvPr>
        </p:nvSpPr>
        <p:spPr>
          <a:xfrm>
            <a:off x="8169908" y="468756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3</a:t>
            </a:fld>
            <a:endParaRPr/>
          </a:p>
        </p:txBody>
      </p:sp>
      <p:pic>
        <p:nvPicPr>
          <p:cNvPr id="88" name="Google Shape;88;p15"/>
          <p:cNvPicPr preferRelativeResize="0"/>
          <p:nvPr/>
        </p:nvPicPr>
        <p:blipFill>
          <a:blip r:embed="rId3">
            <a:alphaModFix/>
          </a:blip>
          <a:stretch>
            <a:fillRect/>
          </a:stretch>
        </p:blipFill>
        <p:spPr>
          <a:xfrm>
            <a:off x="5207350" y="1839800"/>
            <a:ext cx="3872287" cy="25815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6"/>
          <p:cNvSpPr txBox="1">
            <a:spLocks noGrp="1"/>
          </p:cNvSpPr>
          <p:nvPr>
            <p:ph type="title"/>
          </p:nvPr>
        </p:nvSpPr>
        <p:spPr>
          <a:xfrm>
            <a:off x="208800" y="119925"/>
            <a:ext cx="39006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Join the Team</a:t>
            </a:r>
            <a:endParaRPr/>
          </a:p>
        </p:txBody>
      </p:sp>
      <p:sp>
        <p:nvSpPr>
          <p:cNvPr id="94" name="Google Shape;94;p16"/>
          <p:cNvSpPr txBox="1">
            <a:spLocks noGrp="1"/>
          </p:cNvSpPr>
          <p:nvPr>
            <p:ph type="body" idx="1"/>
          </p:nvPr>
        </p:nvSpPr>
        <p:spPr>
          <a:xfrm>
            <a:off x="4568475" y="272325"/>
            <a:ext cx="4166400" cy="4452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SzPts val="1300"/>
              <a:buNone/>
            </a:pPr>
            <a:r>
              <a:rPr lang="en" dirty="0"/>
              <a:t>Your instructor will share a GitHub Classroom assignment invitation with you. Unlike the other assignments you have done for this course, the project will require you to create or join a </a:t>
            </a:r>
            <a:r>
              <a:rPr lang="en" b="1" i="1" dirty="0">
                <a:solidFill>
                  <a:srgbClr val="FF0000"/>
                </a:solidFill>
              </a:rPr>
              <a:t>team</a:t>
            </a:r>
            <a:r>
              <a:rPr lang="en" dirty="0"/>
              <a:t>.</a:t>
            </a:r>
            <a:endParaRPr dirty="0"/>
          </a:p>
          <a:p>
            <a:pPr marL="0" lvl="0" indent="0" algn="l" rtl="0">
              <a:lnSpc>
                <a:spcPct val="115000"/>
              </a:lnSpc>
              <a:spcBef>
                <a:spcPts val="1600"/>
              </a:spcBef>
              <a:spcAft>
                <a:spcPts val="0"/>
              </a:spcAft>
              <a:buSzPts val="1300"/>
              <a:buNone/>
            </a:pPr>
            <a:r>
              <a:rPr lang="en" b="1" i="1" dirty="0">
                <a:solidFill>
                  <a:srgbClr val="FF0000"/>
                </a:solidFill>
              </a:rPr>
              <a:t>Before proceeding further</a:t>
            </a:r>
            <a:r>
              <a:rPr lang="en" dirty="0"/>
              <a:t> ask your instructor for guidelines regarding team names.</a:t>
            </a:r>
            <a:endParaRPr dirty="0"/>
          </a:p>
          <a:p>
            <a:pPr marL="0" lvl="0" indent="0" algn="l" rtl="0">
              <a:lnSpc>
                <a:spcPct val="115000"/>
              </a:lnSpc>
              <a:spcBef>
                <a:spcPts val="1600"/>
              </a:spcBef>
              <a:spcAft>
                <a:spcPts val="0"/>
              </a:spcAft>
              <a:buSzPts val="1300"/>
              <a:buNone/>
            </a:pPr>
            <a:r>
              <a:rPr lang="en" dirty="0"/>
              <a:t>Select </a:t>
            </a:r>
            <a:r>
              <a:rPr lang="en" b="1" i="1" dirty="0">
                <a:solidFill>
                  <a:srgbClr val="FF0000"/>
                </a:solidFill>
              </a:rPr>
              <a:t>one </a:t>
            </a:r>
            <a:r>
              <a:rPr lang="en" dirty="0"/>
              <a:t>member of your team to be the </a:t>
            </a:r>
            <a:r>
              <a:rPr lang="en" b="1" i="1" dirty="0">
                <a:solidFill>
                  <a:srgbClr val="FF0000"/>
                </a:solidFill>
              </a:rPr>
              <a:t>first </a:t>
            </a:r>
            <a:r>
              <a:rPr lang="en" dirty="0"/>
              <a:t>to click on the assignment invitation. GitHub will present that person with the option of creating or joining a new team. This person should </a:t>
            </a:r>
            <a:r>
              <a:rPr lang="en" b="1" i="1" dirty="0">
                <a:solidFill>
                  <a:srgbClr val="FF0000"/>
                </a:solidFill>
              </a:rPr>
              <a:t>create the new team</a:t>
            </a:r>
            <a:r>
              <a:rPr lang="en" dirty="0"/>
              <a:t>. This will automatically create a new repository with any starter code for the team to use. Be sure to name the team according to your instructor's guidelines!</a:t>
            </a:r>
            <a:endParaRPr dirty="0"/>
          </a:p>
          <a:p>
            <a:pPr marL="0" lvl="0" indent="0" algn="l" rtl="0">
              <a:lnSpc>
                <a:spcPct val="115000"/>
              </a:lnSpc>
              <a:spcBef>
                <a:spcPts val="1600"/>
              </a:spcBef>
              <a:spcAft>
                <a:spcPts val="1600"/>
              </a:spcAft>
              <a:buSzPts val="1300"/>
              <a:buNone/>
            </a:pPr>
            <a:r>
              <a:rPr lang="en" b="1" i="1" dirty="0">
                <a:solidFill>
                  <a:srgbClr val="FF0000"/>
                </a:solidFill>
              </a:rPr>
              <a:t>Only after</a:t>
            </a:r>
            <a:r>
              <a:rPr lang="en" dirty="0"/>
              <a:t> the team has been successfully created should the remaining team members click the assignment link and join the team.</a:t>
            </a:r>
            <a:endParaRPr dirty="0"/>
          </a:p>
        </p:txBody>
      </p:sp>
      <p:sp>
        <p:nvSpPr>
          <p:cNvPr id="95" name="Google Shape;95;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4</a:t>
            </a:fld>
            <a:endParaRPr/>
          </a:p>
        </p:txBody>
      </p:sp>
      <p:pic>
        <p:nvPicPr>
          <p:cNvPr id="96" name="Google Shape;96;p16"/>
          <p:cNvPicPr preferRelativeResize="0"/>
          <p:nvPr/>
        </p:nvPicPr>
        <p:blipFill rotWithShape="1">
          <a:blip r:embed="rId3">
            <a:alphaModFix/>
          </a:blip>
          <a:srcRect/>
          <a:stretch/>
        </p:blipFill>
        <p:spPr>
          <a:xfrm>
            <a:off x="208725" y="755450"/>
            <a:ext cx="3900749" cy="3305774"/>
          </a:xfrm>
          <a:prstGeom prst="rect">
            <a:avLst/>
          </a:prstGeom>
          <a:noFill/>
          <a:ln>
            <a:noFill/>
          </a:ln>
        </p:spPr>
      </p:pic>
      <p:sp>
        <p:nvSpPr>
          <p:cNvPr id="97" name="Google Shape;97;p16"/>
          <p:cNvSpPr txBox="1">
            <a:spLocks noGrp="1"/>
          </p:cNvSpPr>
          <p:nvPr>
            <p:ph type="body" idx="3"/>
          </p:nvPr>
        </p:nvSpPr>
        <p:spPr>
          <a:xfrm>
            <a:off x="152400" y="4211050"/>
            <a:ext cx="40134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SzPts val="1300"/>
              <a:buNone/>
            </a:pPr>
            <a:r>
              <a:rPr lang="en" sz="1200" b="1" i="1">
                <a:solidFill>
                  <a:srgbClr val="FF0000"/>
                </a:solidFill>
              </a:rPr>
              <a:t>Do not</a:t>
            </a:r>
            <a:r>
              <a:rPr lang="en" sz="1200"/>
              <a:t> race each other to click the link! Choose </a:t>
            </a:r>
            <a:r>
              <a:rPr lang="en" sz="1200" b="1" i="1">
                <a:solidFill>
                  <a:srgbClr val="FF0000"/>
                </a:solidFill>
              </a:rPr>
              <a:t>one</a:t>
            </a:r>
            <a:r>
              <a:rPr lang="en" sz="1200">
                <a:solidFill>
                  <a:srgbClr val="FF0000"/>
                </a:solidFill>
              </a:rPr>
              <a:t> </a:t>
            </a:r>
            <a:r>
              <a:rPr lang="en" sz="1200"/>
              <a:t>team member to create the team. Be sure to follow any </a:t>
            </a:r>
            <a:r>
              <a:rPr lang="en" sz="1200" b="1" i="1">
                <a:solidFill>
                  <a:srgbClr val="FF0000"/>
                </a:solidFill>
              </a:rPr>
              <a:t>team naming guidelines</a:t>
            </a:r>
            <a:r>
              <a:rPr lang="en" sz="1200">
                <a:solidFill>
                  <a:srgbClr val="FF0000"/>
                </a:solidFill>
              </a:rPr>
              <a:t> </a:t>
            </a:r>
            <a:r>
              <a:rPr lang="en" sz="1200"/>
              <a:t>provided by your instructor.</a:t>
            </a:r>
            <a:endParaRPr sz="12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7"/>
          <p:cNvSpPr txBox="1">
            <a:spLocks noGrp="1"/>
          </p:cNvSpPr>
          <p:nvPr>
            <p:ph type="sldNum" idx="12"/>
          </p:nvPr>
        </p:nvSpPr>
        <p:spPr>
          <a:xfrm>
            <a:off x="14258" y="4739417"/>
            <a:ext cx="548700" cy="393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000"/>
              <a:buNone/>
            </a:pPr>
            <a:fld id="{00000000-1234-1234-1234-123412341234}" type="slidenum">
              <a:rPr lang="en"/>
              <a:t>5</a:t>
            </a:fld>
            <a:endParaRPr/>
          </a:p>
        </p:txBody>
      </p:sp>
      <p:sp>
        <p:nvSpPr>
          <p:cNvPr id="103" name="Google Shape;103;p17"/>
          <p:cNvSpPr txBox="1">
            <a:spLocks noGrp="1"/>
          </p:cNvSpPr>
          <p:nvPr>
            <p:ph type="title"/>
          </p:nvPr>
        </p:nvSpPr>
        <p:spPr>
          <a:xfrm>
            <a:off x="5137150" y="1961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Teamwork</a:t>
            </a:r>
            <a:endParaRPr/>
          </a:p>
        </p:txBody>
      </p:sp>
      <p:sp>
        <p:nvSpPr>
          <p:cNvPr id="104" name="Google Shape;104;p17"/>
          <p:cNvSpPr txBox="1">
            <a:spLocks noGrp="1"/>
          </p:cNvSpPr>
          <p:nvPr>
            <p:ph type="body" idx="1"/>
          </p:nvPr>
        </p:nvSpPr>
        <p:spPr>
          <a:xfrm>
            <a:off x="377475" y="196125"/>
            <a:ext cx="4353300" cy="464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SzPts val="1300"/>
              <a:buNone/>
            </a:pPr>
            <a:r>
              <a:rPr lang="en" dirty="0"/>
              <a:t>Once everyone on the team has accepted the assignment, you should each clone a copy of the GitHub repository to the computer that you will be using for the rest of today's exercises.</a:t>
            </a:r>
            <a:endParaRPr dirty="0"/>
          </a:p>
          <a:p>
            <a:pPr marL="0" lvl="0" indent="0" algn="l" rtl="0">
              <a:lnSpc>
                <a:spcPct val="115000"/>
              </a:lnSpc>
              <a:spcBef>
                <a:spcPts val="1600"/>
              </a:spcBef>
              <a:spcAft>
                <a:spcPts val="0"/>
              </a:spcAft>
              <a:buSzPts val="1300"/>
              <a:buNone/>
            </a:pPr>
            <a:r>
              <a:rPr lang="en" dirty="0"/>
              <a:t>You should then</a:t>
            </a:r>
            <a:r>
              <a:rPr lang="en" dirty="0">
                <a:solidFill>
                  <a:srgbClr val="FF0000"/>
                </a:solidFill>
              </a:rPr>
              <a:t> </a:t>
            </a:r>
            <a:r>
              <a:rPr lang="en" b="1" i="1" dirty="0">
                <a:solidFill>
                  <a:srgbClr val="FF0000"/>
                </a:solidFill>
              </a:rPr>
              <a:t>take turns</a:t>
            </a:r>
            <a:r>
              <a:rPr lang="en" dirty="0"/>
              <a:t> working through the following steps (</a:t>
            </a:r>
            <a:r>
              <a:rPr lang="en" b="1" i="1" dirty="0">
                <a:solidFill>
                  <a:srgbClr val="FF0000"/>
                </a:solidFill>
              </a:rPr>
              <a:t>do</a:t>
            </a:r>
            <a:r>
              <a:rPr lang="en" b="1" i="1" dirty="0"/>
              <a:t> </a:t>
            </a:r>
            <a:r>
              <a:rPr lang="en" b="1" i="1" dirty="0">
                <a:solidFill>
                  <a:srgbClr val="FF0000"/>
                </a:solidFill>
              </a:rPr>
              <a:t>not</a:t>
            </a:r>
            <a:r>
              <a:rPr lang="en" dirty="0">
                <a:solidFill>
                  <a:srgbClr val="FF0000"/>
                </a:solidFill>
              </a:rPr>
              <a:t> </a:t>
            </a:r>
            <a:r>
              <a:rPr lang="en" dirty="0"/>
              <a:t>try to do this all at once):</a:t>
            </a:r>
            <a:endParaRPr dirty="0"/>
          </a:p>
          <a:p>
            <a:pPr marL="457200" lvl="0" indent="-311150" algn="l" rtl="0">
              <a:lnSpc>
                <a:spcPct val="115000"/>
              </a:lnSpc>
              <a:spcBef>
                <a:spcPts val="1600"/>
              </a:spcBef>
              <a:spcAft>
                <a:spcPts val="0"/>
              </a:spcAft>
              <a:buSzPts val="1300"/>
              <a:buChar char="●"/>
            </a:pPr>
            <a:r>
              <a:rPr lang="en" dirty="0"/>
              <a:t>Sit so that you can see each other's screens.</a:t>
            </a:r>
            <a:endParaRPr dirty="0"/>
          </a:p>
          <a:p>
            <a:pPr marL="914400" lvl="1" indent="-311150" algn="l" rtl="0">
              <a:lnSpc>
                <a:spcPct val="115000"/>
              </a:lnSpc>
              <a:spcBef>
                <a:spcPts val="0"/>
              </a:spcBef>
              <a:spcAft>
                <a:spcPts val="0"/>
              </a:spcAft>
              <a:buSzPts val="1300"/>
              <a:buChar char="○"/>
            </a:pPr>
            <a:r>
              <a:rPr lang="en" dirty="0"/>
              <a:t>If working remotely, </a:t>
            </a:r>
            <a:r>
              <a:rPr lang="en" b="1" i="1" dirty="0">
                <a:solidFill>
                  <a:srgbClr val="FF0000"/>
                </a:solidFill>
              </a:rPr>
              <a:t>share</a:t>
            </a:r>
            <a:r>
              <a:rPr lang="en" dirty="0">
                <a:solidFill>
                  <a:srgbClr val="FF0000"/>
                </a:solidFill>
              </a:rPr>
              <a:t> </a:t>
            </a:r>
            <a:r>
              <a:rPr lang="en" dirty="0"/>
              <a:t>your screen with your team so that they can see while you work.</a:t>
            </a:r>
            <a:endParaRPr dirty="0"/>
          </a:p>
          <a:p>
            <a:pPr marL="457200" lvl="0" indent="-311150" algn="l" rtl="0">
              <a:lnSpc>
                <a:spcPct val="115000"/>
              </a:lnSpc>
              <a:spcBef>
                <a:spcPts val="0"/>
              </a:spcBef>
              <a:spcAft>
                <a:spcPts val="0"/>
              </a:spcAft>
              <a:buSzPts val="1300"/>
              <a:buChar char="●"/>
            </a:pPr>
            <a:r>
              <a:rPr lang="en" b="1" i="1" dirty="0">
                <a:solidFill>
                  <a:srgbClr val="FF0000"/>
                </a:solidFill>
              </a:rPr>
              <a:t>Pull</a:t>
            </a:r>
            <a:r>
              <a:rPr lang="en" dirty="0">
                <a:solidFill>
                  <a:srgbClr val="FF0000"/>
                </a:solidFill>
              </a:rPr>
              <a:t> </a:t>
            </a:r>
            <a:r>
              <a:rPr lang="en" dirty="0"/>
              <a:t>the latest version of the repository. If you do not pull first, you may get an error.</a:t>
            </a:r>
            <a:endParaRPr dirty="0"/>
          </a:p>
          <a:p>
            <a:pPr marL="457200" lvl="0" indent="-311150" algn="l" rtl="0">
              <a:lnSpc>
                <a:spcPct val="115000"/>
              </a:lnSpc>
              <a:spcBef>
                <a:spcPts val="0"/>
              </a:spcBef>
              <a:spcAft>
                <a:spcPts val="0"/>
              </a:spcAft>
              <a:buSzPts val="1300"/>
              <a:buChar char="●"/>
            </a:pPr>
            <a:r>
              <a:rPr lang="en" dirty="0"/>
              <a:t>Add your </a:t>
            </a:r>
            <a:r>
              <a:rPr lang="en" b="1" i="1" dirty="0">
                <a:solidFill>
                  <a:srgbClr val="FF0000"/>
                </a:solidFill>
              </a:rPr>
              <a:t>name</a:t>
            </a:r>
            <a:r>
              <a:rPr lang="en" dirty="0">
                <a:solidFill>
                  <a:srgbClr val="FF0000"/>
                </a:solidFill>
              </a:rPr>
              <a:t> </a:t>
            </a:r>
            <a:r>
              <a:rPr lang="en" dirty="0"/>
              <a:t>and </a:t>
            </a:r>
            <a:r>
              <a:rPr lang="en" b="1" i="1" dirty="0">
                <a:solidFill>
                  <a:srgbClr val="FF0000"/>
                </a:solidFill>
              </a:rPr>
              <a:t>email</a:t>
            </a:r>
            <a:r>
              <a:rPr lang="en" dirty="0">
                <a:solidFill>
                  <a:srgbClr val="FF0000"/>
                </a:solidFill>
              </a:rPr>
              <a:t> </a:t>
            </a:r>
            <a:r>
              <a:rPr lang="en" dirty="0"/>
              <a:t>to a file named "</a:t>
            </a:r>
            <a:r>
              <a:rPr lang="en" dirty="0">
                <a:solidFill>
                  <a:srgbClr val="FF0000"/>
                </a:solidFill>
                <a:latin typeface="Courier New"/>
                <a:ea typeface="Courier New"/>
                <a:cs typeface="Courier New"/>
                <a:sym typeface="Courier New"/>
              </a:rPr>
              <a:t>readme.txt</a:t>
            </a:r>
            <a:r>
              <a:rPr lang="en" dirty="0"/>
              <a:t>" in the </a:t>
            </a:r>
            <a:r>
              <a:rPr lang="en" dirty="0">
                <a:latin typeface="Courier New"/>
                <a:ea typeface="Courier New"/>
                <a:cs typeface="Courier New"/>
                <a:sym typeface="Courier New"/>
              </a:rPr>
              <a:t>data</a:t>
            </a:r>
            <a:r>
              <a:rPr lang="en" dirty="0"/>
              <a:t> directory of your repository.</a:t>
            </a:r>
            <a:endParaRPr dirty="0"/>
          </a:p>
          <a:p>
            <a:pPr marL="457200" lvl="0" indent="-311150" algn="l" rtl="0">
              <a:lnSpc>
                <a:spcPct val="115000"/>
              </a:lnSpc>
              <a:spcBef>
                <a:spcPts val="0"/>
              </a:spcBef>
              <a:spcAft>
                <a:spcPts val="0"/>
              </a:spcAft>
              <a:buSzPts val="1300"/>
              <a:buChar char="●"/>
            </a:pPr>
            <a:r>
              <a:rPr lang="en" b="1" i="1" dirty="0">
                <a:solidFill>
                  <a:srgbClr val="FF0000"/>
                </a:solidFill>
              </a:rPr>
              <a:t>Commit</a:t>
            </a:r>
            <a:r>
              <a:rPr lang="en" dirty="0">
                <a:solidFill>
                  <a:srgbClr val="FF0000"/>
                </a:solidFill>
              </a:rPr>
              <a:t> </a:t>
            </a:r>
            <a:r>
              <a:rPr lang="en" dirty="0"/>
              <a:t>and </a:t>
            </a:r>
            <a:r>
              <a:rPr lang="en" b="1" i="1" dirty="0">
                <a:solidFill>
                  <a:srgbClr val="FF0000"/>
                </a:solidFill>
              </a:rPr>
              <a:t>push</a:t>
            </a:r>
            <a:r>
              <a:rPr lang="en" dirty="0">
                <a:solidFill>
                  <a:srgbClr val="FF0000"/>
                </a:solidFill>
              </a:rPr>
              <a:t> </a:t>
            </a:r>
            <a:r>
              <a:rPr lang="en" dirty="0"/>
              <a:t>the file to the repository.</a:t>
            </a:r>
            <a:endParaRPr dirty="0"/>
          </a:p>
          <a:p>
            <a:pPr marL="0" lvl="0" indent="0" algn="l" rtl="0">
              <a:lnSpc>
                <a:spcPct val="115000"/>
              </a:lnSpc>
              <a:spcBef>
                <a:spcPts val="1600"/>
              </a:spcBef>
              <a:spcAft>
                <a:spcPts val="1600"/>
              </a:spcAft>
              <a:buSzPts val="1300"/>
              <a:buNone/>
            </a:pPr>
            <a:r>
              <a:rPr lang="en" b="1" i="1" dirty="0">
                <a:solidFill>
                  <a:srgbClr val="FF0000"/>
                </a:solidFill>
              </a:rPr>
              <a:t>Repeat </a:t>
            </a:r>
            <a:r>
              <a:rPr lang="en" dirty="0"/>
              <a:t>until every team member has added their name and email to the repository.</a:t>
            </a:r>
            <a:endParaRPr dirty="0"/>
          </a:p>
        </p:txBody>
      </p:sp>
      <p:sp>
        <p:nvSpPr>
          <p:cNvPr id="105" name="Google Shape;105;p17"/>
          <p:cNvSpPr txBox="1">
            <a:spLocks noGrp="1"/>
          </p:cNvSpPr>
          <p:nvPr>
            <p:ph type="body" idx="3"/>
          </p:nvPr>
        </p:nvSpPr>
        <p:spPr>
          <a:xfrm>
            <a:off x="5192225" y="3403850"/>
            <a:ext cx="3706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SzPts val="1300"/>
              <a:buNone/>
            </a:pPr>
            <a:r>
              <a:rPr lang="en" sz="1200"/>
              <a:t>The purpose of this exercise is to make sure that </a:t>
            </a:r>
            <a:r>
              <a:rPr lang="en" sz="1200" b="1" i="1">
                <a:solidFill>
                  <a:srgbClr val="FF0000"/>
                </a:solidFill>
              </a:rPr>
              <a:t>everyone </a:t>
            </a:r>
            <a:r>
              <a:rPr lang="en" sz="1200"/>
              <a:t>on the team has access to clone, pull from, and push to the repository.</a:t>
            </a:r>
            <a:endParaRPr sz="1200"/>
          </a:p>
        </p:txBody>
      </p:sp>
      <p:grpSp>
        <p:nvGrpSpPr>
          <p:cNvPr id="106" name="Google Shape;106;p17"/>
          <p:cNvGrpSpPr/>
          <p:nvPr/>
        </p:nvGrpSpPr>
        <p:grpSpPr>
          <a:xfrm rot="-778724">
            <a:off x="5682222" y="986520"/>
            <a:ext cx="2999718" cy="2048447"/>
            <a:chOff x="5681927" y="1291425"/>
            <a:chExt cx="2999574" cy="2048350"/>
          </a:xfrm>
        </p:grpSpPr>
        <p:pic>
          <p:nvPicPr>
            <p:cNvPr id="107" name="Google Shape;107;p17"/>
            <p:cNvPicPr preferRelativeResize="0"/>
            <p:nvPr/>
          </p:nvPicPr>
          <p:blipFill rotWithShape="1">
            <a:blip r:embed="rId3">
              <a:alphaModFix/>
            </a:blip>
            <a:srcRect/>
            <a:stretch/>
          </p:blipFill>
          <p:spPr>
            <a:xfrm>
              <a:off x="5681927" y="1291425"/>
              <a:ext cx="2999574" cy="2048350"/>
            </a:xfrm>
            <a:prstGeom prst="rect">
              <a:avLst/>
            </a:prstGeom>
            <a:noFill/>
            <a:ln>
              <a:noFill/>
            </a:ln>
          </p:spPr>
        </p:pic>
        <p:sp>
          <p:nvSpPr>
            <p:cNvPr id="108" name="Google Shape;108;p17"/>
            <p:cNvSpPr txBox="1"/>
            <p:nvPr/>
          </p:nvSpPr>
          <p:spPr>
            <a:xfrm>
              <a:off x="5873411" y="2024200"/>
              <a:ext cx="2595900" cy="892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600"/>
                <a:buFont typeface="Arial"/>
                <a:buNone/>
              </a:pPr>
              <a:r>
                <a:rPr lang="en" sz="4600" b="1" i="0" u="none" strike="noStrike" cap="none">
                  <a:solidFill>
                    <a:srgbClr val="FF0000"/>
                  </a:solidFill>
                  <a:latin typeface="Amatic SC"/>
                  <a:ea typeface="Amatic SC"/>
                  <a:cs typeface="Amatic SC"/>
                  <a:sym typeface="Amatic SC"/>
                </a:rPr>
                <a:t>TEAM PLAYER</a:t>
              </a:r>
              <a:endParaRPr sz="4600" b="1" i="0" u="none" strike="noStrike" cap="none">
                <a:solidFill>
                  <a:srgbClr val="FF0000"/>
                </a:solidFill>
                <a:latin typeface="Amatic SC"/>
                <a:ea typeface="Amatic SC"/>
                <a:cs typeface="Amatic SC"/>
                <a:sym typeface="Amatic SC"/>
              </a:endParaRPr>
            </a:p>
          </p:txBody>
        </p:sp>
      </p:grpSp>
      <p:sp>
        <p:nvSpPr>
          <p:cNvPr id="109" name="Google Shape;109;p17"/>
          <p:cNvSpPr txBox="1">
            <a:spLocks noGrp="1"/>
          </p:cNvSpPr>
          <p:nvPr>
            <p:ph type="body" idx="3"/>
          </p:nvPr>
        </p:nvSpPr>
        <p:spPr>
          <a:xfrm>
            <a:off x="5192225" y="4270250"/>
            <a:ext cx="3706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SzPts val="1300"/>
              <a:buNone/>
            </a:pPr>
            <a:r>
              <a:rPr lang="en" sz="1200"/>
              <a:t>Please</a:t>
            </a:r>
            <a:r>
              <a:rPr lang="en" sz="1200">
                <a:solidFill>
                  <a:srgbClr val="FF0000"/>
                </a:solidFill>
              </a:rPr>
              <a:t> </a:t>
            </a:r>
            <a:r>
              <a:rPr lang="en" sz="1200" b="1" i="1">
                <a:solidFill>
                  <a:srgbClr val="FF0000"/>
                </a:solidFill>
              </a:rPr>
              <a:t>take turns</a:t>
            </a:r>
            <a:r>
              <a:rPr lang="en" sz="1200"/>
              <a:t> and work so that your team members can </a:t>
            </a:r>
            <a:r>
              <a:rPr lang="en" sz="1200" b="1" i="1">
                <a:solidFill>
                  <a:srgbClr val="FF0000"/>
                </a:solidFill>
              </a:rPr>
              <a:t>see your screen</a:t>
            </a:r>
            <a:r>
              <a:rPr lang="en" sz="1200"/>
              <a:t>.</a:t>
            </a:r>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8"/>
          <p:cNvSpPr txBox="1">
            <a:spLocks noGrp="1"/>
          </p:cNvSpPr>
          <p:nvPr>
            <p:ph type="title"/>
          </p:nvPr>
        </p:nvSpPr>
        <p:spPr>
          <a:xfrm>
            <a:off x="152400" y="196125"/>
            <a:ext cx="39996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Merge Conflicts</a:t>
            </a:r>
            <a:endParaRPr/>
          </a:p>
        </p:txBody>
      </p:sp>
      <p:sp>
        <p:nvSpPr>
          <p:cNvPr id="115" name="Google Shape;115;p18"/>
          <p:cNvSpPr txBox="1">
            <a:spLocks noGrp="1"/>
          </p:cNvSpPr>
          <p:nvPr>
            <p:ph type="body" idx="1"/>
          </p:nvPr>
        </p:nvSpPr>
        <p:spPr>
          <a:xfrm>
            <a:off x="4489425" y="196125"/>
            <a:ext cx="4420500" cy="46155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SzPts val="1300"/>
              <a:buChar char="●"/>
            </a:pPr>
            <a:r>
              <a:rPr lang="en" dirty="0"/>
              <a:t>Practice resolving merge conflicts by following these steps:</a:t>
            </a:r>
            <a:endParaRPr dirty="0"/>
          </a:p>
          <a:p>
            <a:pPr marL="914400" lvl="1" indent="-298450" algn="l" rtl="0">
              <a:lnSpc>
                <a:spcPct val="115000"/>
              </a:lnSpc>
              <a:spcBef>
                <a:spcPts val="0"/>
              </a:spcBef>
              <a:spcAft>
                <a:spcPts val="0"/>
              </a:spcAft>
              <a:buSzPts val="1100"/>
              <a:buChar char="○"/>
            </a:pPr>
            <a:r>
              <a:rPr lang="en" dirty="0"/>
              <a:t>Make sure that everyone on the team has pulled the </a:t>
            </a:r>
            <a:r>
              <a:rPr lang="en" b="1" i="1" dirty="0">
                <a:solidFill>
                  <a:srgbClr val="FF0000"/>
                </a:solidFill>
              </a:rPr>
              <a:t>latest version</a:t>
            </a:r>
            <a:r>
              <a:rPr lang="en" dirty="0"/>
              <a:t> of the repository.</a:t>
            </a:r>
            <a:endParaRPr dirty="0"/>
          </a:p>
          <a:p>
            <a:pPr marL="914400" lvl="1" indent="-298450" algn="l" rtl="0">
              <a:lnSpc>
                <a:spcPct val="115000"/>
              </a:lnSpc>
              <a:spcBef>
                <a:spcPts val="0"/>
              </a:spcBef>
              <a:spcAft>
                <a:spcPts val="0"/>
              </a:spcAft>
              <a:buSzPts val="1100"/>
              <a:buChar char="○"/>
            </a:pPr>
            <a:r>
              <a:rPr lang="en" dirty="0"/>
              <a:t>Two team members should </a:t>
            </a:r>
            <a:r>
              <a:rPr lang="en" b="1" i="1" dirty="0">
                <a:solidFill>
                  <a:srgbClr val="FF0000"/>
                </a:solidFill>
              </a:rPr>
              <a:t>simultaneously</a:t>
            </a:r>
            <a:r>
              <a:rPr lang="en" dirty="0"/>
              <a:t> edit the </a:t>
            </a:r>
            <a:r>
              <a:rPr lang="en" dirty="0">
                <a:latin typeface="Courier New"/>
                <a:ea typeface="Courier New"/>
                <a:cs typeface="Courier New"/>
                <a:sym typeface="Courier New"/>
              </a:rPr>
              <a:t>readme.txt</a:t>
            </a:r>
            <a:r>
              <a:rPr lang="en" dirty="0"/>
              <a:t> file and </a:t>
            </a:r>
            <a:r>
              <a:rPr lang="en" b="1" i="1" dirty="0">
                <a:solidFill>
                  <a:srgbClr val="FF0000"/>
                </a:solidFill>
              </a:rPr>
              <a:t>add a new line to the bottom</a:t>
            </a:r>
            <a:r>
              <a:rPr lang="en" dirty="0"/>
              <a:t> of the file. It does not matter what the text says as long as each person types something </a:t>
            </a:r>
            <a:r>
              <a:rPr lang="en" b="1" i="1" dirty="0">
                <a:solidFill>
                  <a:srgbClr val="FF0000"/>
                </a:solidFill>
              </a:rPr>
              <a:t>different</a:t>
            </a:r>
            <a:r>
              <a:rPr lang="en" dirty="0"/>
              <a:t>.</a:t>
            </a:r>
            <a:endParaRPr dirty="0"/>
          </a:p>
          <a:p>
            <a:pPr marL="914400" lvl="1" indent="-298450" algn="l" rtl="0">
              <a:lnSpc>
                <a:spcPct val="115000"/>
              </a:lnSpc>
              <a:spcBef>
                <a:spcPts val="0"/>
              </a:spcBef>
              <a:spcAft>
                <a:spcPts val="0"/>
              </a:spcAft>
              <a:buSzPts val="1100"/>
              <a:buChar char="○"/>
            </a:pPr>
            <a:r>
              <a:rPr lang="en" dirty="0"/>
              <a:t>One team member should push their code </a:t>
            </a:r>
            <a:r>
              <a:rPr lang="en" b="1" i="1" dirty="0">
                <a:solidFill>
                  <a:srgbClr val="FF0000"/>
                </a:solidFill>
              </a:rPr>
              <a:t>first</a:t>
            </a:r>
            <a:r>
              <a:rPr lang="en" dirty="0"/>
              <a:t>. </a:t>
            </a:r>
            <a:r>
              <a:rPr lang="en" b="1" i="1" dirty="0">
                <a:solidFill>
                  <a:srgbClr val="FF0000"/>
                </a:solidFill>
              </a:rPr>
              <a:t>Wait</a:t>
            </a:r>
            <a:r>
              <a:rPr lang="en" i="1" dirty="0">
                <a:solidFill>
                  <a:srgbClr val="FF0000"/>
                </a:solidFill>
              </a:rPr>
              <a:t> </a:t>
            </a:r>
            <a:r>
              <a:rPr lang="en" dirty="0"/>
              <a:t> until the push completes.</a:t>
            </a:r>
            <a:endParaRPr dirty="0"/>
          </a:p>
          <a:p>
            <a:pPr marL="914400" lvl="1" indent="-298450" algn="l" rtl="0">
              <a:lnSpc>
                <a:spcPct val="115000"/>
              </a:lnSpc>
              <a:spcBef>
                <a:spcPts val="0"/>
              </a:spcBef>
              <a:spcAft>
                <a:spcPts val="0"/>
              </a:spcAft>
              <a:buSzPts val="1100"/>
              <a:buChar char="○"/>
            </a:pPr>
            <a:r>
              <a:rPr lang="en" dirty="0"/>
              <a:t>The </a:t>
            </a:r>
            <a:r>
              <a:rPr lang="en" b="1" i="1" dirty="0">
                <a:solidFill>
                  <a:srgbClr val="FF0000"/>
                </a:solidFill>
              </a:rPr>
              <a:t>second</a:t>
            </a:r>
            <a:r>
              <a:rPr lang="en" dirty="0">
                <a:solidFill>
                  <a:srgbClr val="FF0000"/>
                </a:solidFill>
              </a:rPr>
              <a:t> </a:t>
            </a:r>
            <a:r>
              <a:rPr lang="en" dirty="0"/>
              <a:t>team member should then try to push their changes. The push should be </a:t>
            </a:r>
            <a:r>
              <a:rPr lang="en" b="1" i="1" dirty="0">
                <a:solidFill>
                  <a:srgbClr val="FF0000"/>
                </a:solidFill>
              </a:rPr>
              <a:t>rejected</a:t>
            </a:r>
            <a:r>
              <a:rPr lang="en" dirty="0">
                <a:solidFill>
                  <a:srgbClr val="FF0000"/>
                </a:solidFill>
              </a:rPr>
              <a:t> </a:t>
            </a:r>
            <a:r>
              <a:rPr lang="en" dirty="0"/>
              <a:t>forcing them to </a:t>
            </a:r>
            <a:r>
              <a:rPr lang="en" b="1" i="1" dirty="0">
                <a:solidFill>
                  <a:srgbClr val="FF0000"/>
                </a:solidFill>
              </a:rPr>
              <a:t>pull first</a:t>
            </a:r>
            <a:r>
              <a:rPr lang="en" dirty="0"/>
              <a:t>.</a:t>
            </a:r>
            <a:endParaRPr dirty="0"/>
          </a:p>
          <a:p>
            <a:pPr marL="914400" lvl="1" indent="-298450" algn="l" rtl="0">
              <a:lnSpc>
                <a:spcPct val="115000"/>
              </a:lnSpc>
              <a:spcBef>
                <a:spcPts val="0"/>
              </a:spcBef>
              <a:spcAft>
                <a:spcPts val="0"/>
              </a:spcAft>
              <a:buSzPts val="1100"/>
              <a:buChar char="○"/>
            </a:pPr>
            <a:r>
              <a:rPr lang="en" dirty="0"/>
              <a:t>The pull will cause a </a:t>
            </a:r>
            <a:r>
              <a:rPr lang="en" b="1" i="1" dirty="0">
                <a:solidFill>
                  <a:srgbClr val="FF0000"/>
                </a:solidFill>
              </a:rPr>
              <a:t>merge conflict</a:t>
            </a:r>
            <a:r>
              <a:rPr lang="en" dirty="0"/>
              <a:t>.</a:t>
            </a:r>
            <a:endParaRPr dirty="0"/>
          </a:p>
          <a:p>
            <a:pPr marL="914400" lvl="1" indent="-298450" algn="l" rtl="0">
              <a:lnSpc>
                <a:spcPct val="115000"/>
              </a:lnSpc>
              <a:spcBef>
                <a:spcPts val="0"/>
              </a:spcBef>
              <a:spcAft>
                <a:spcPts val="0"/>
              </a:spcAft>
              <a:buSzPts val="1100"/>
              <a:buChar char="○"/>
            </a:pPr>
            <a:r>
              <a:rPr lang="en" b="1" i="1" dirty="0">
                <a:solidFill>
                  <a:srgbClr val="FF0000"/>
                </a:solidFill>
              </a:rPr>
              <a:t>Resolve</a:t>
            </a:r>
            <a:r>
              <a:rPr lang="en" dirty="0">
                <a:solidFill>
                  <a:srgbClr val="FF0000"/>
                </a:solidFill>
              </a:rPr>
              <a:t> </a:t>
            </a:r>
            <a:r>
              <a:rPr lang="en" dirty="0"/>
              <a:t>the conflict by opening the file, scrolling to the conflict (if necessary), and </a:t>
            </a:r>
            <a:r>
              <a:rPr lang="en" b="1" i="1" dirty="0">
                <a:solidFill>
                  <a:srgbClr val="FF0000"/>
                </a:solidFill>
              </a:rPr>
              <a:t>accepting both changes</a:t>
            </a:r>
            <a:r>
              <a:rPr lang="en" dirty="0"/>
              <a:t> (see left).</a:t>
            </a:r>
            <a:endParaRPr dirty="0"/>
          </a:p>
          <a:p>
            <a:pPr marL="914400" lvl="1" indent="-298450" algn="l" rtl="0">
              <a:lnSpc>
                <a:spcPct val="115000"/>
              </a:lnSpc>
              <a:spcBef>
                <a:spcPts val="0"/>
              </a:spcBef>
              <a:spcAft>
                <a:spcPts val="0"/>
              </a:spcAft>
              <a:buSzPts val="1100"/>
              <a:buChar char="○"/>
            </a:pPr>
            <a:r>
              <a:rPr lang="en" dirty="0"/>
              <a:t>Follow the Git workflow to push the merged file to GitHub.</a:t>
            </a:r>
            <a:endParaRPr dirty="0"/>
          </a:p>
          <a:p>
            <a:pPr marL="457200" lvl="0" indent="-311150" algn="l" rtl="0">
              <a:lnSpc>
                <a:spcPct val="115000"/>
              </a:lnSpc>
              <a:spcBef>
                <a:spcPts val="0"/>
              </a:spcBef>
              <a:spcAft>
                <a:spcPts val="0"/>
              </a:spcAft>
              <a:buSzPts val="1300"/>
              <a:buChar char="●"/>
            </a:pPr>
            <a:r>
              <a:rPr lang="en" dirty="0"/>
              <a:t>Repeat the above until every member of the team has had a chance to resolve at least one merge conflict.</a:t>
            </a:r>
            <a:endParaRPr dirty="0"/>
          </a:p>
        </p:txBody>
      </p:sp>
      <p:sp>
        <p:nvSpPr>
          <p:cNvPr id="116" name="Google Shape;116;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6</a:t>
            </a:fld>
            <a:endParaRPr/>
          </a:p>
        </p:txBody>
      </p:sp>
      <p:sp>
        <p:nvSpPr>
          <p:cNvPr id="117" name="Google Shape;117;p18"/>
          <p:cNvSpPr txBox="1">
            <a:spLocks noGrp="1"/>
          </p:cNvSpPr>
          <p:nvPr>
            <p:ph type="body" idx="3"/>
          </p:nvPr>
        </p:nvSpPr>
        <p:spPr>
          <a:xfrm>
            <a:off x="152413" y="956825"/>
            <a:ext cx="39996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SzPts val="1300"/>
              <a:buNone/>
            </a:pPr>
            <a:r>
              <a:rPr lang="en" sz="1200"/>
              <a:t>If a file with a </a:t>
            </a:r>
            <a:r>
              <a:rPr lang="en" sz="1200" b="1" i="1">
                <a:solidFill>
                  <a:srgbClr val="FF0000"/>
                </a:solidFill>
              </a:rPr>
              <a:t>merge conflict</a:t>
            </a:r>
            <a:r>
              <a:rPr lang="en" sz="1200"/>
              <a:t> is opened in VS Code, it will helpfully highlight the conflict and provide links to fix the problem quickly.</a:t>
            </a:r>
            <a:endParaRPr sz="1200"/>
          </a:p>
        </p:txBody>
      </p:sp>
      <p:pic>
        <p:nvPicPr>
          <p:cNvPr id="118" name="Google Shape;118;p18"/>
          <p:cNvPicPr preferRelativeResize="0"/>
          <p:nvPr/>
        </p:nvPicPr>
        <p:blipFill rotWithShape="1">
          <a:blip r:embed="rId3">
            <a:alphaModFix/>
          </a:blip>
          <a:srcRect/>
          <a:stretch/>
        </p:blipFill>
        <p:spPr>
          <a:xfrm>
            <a:off x="152400" y="1818325"/>
            <a:ext cx="3999625" cy="1715100"/>
          </a:xfrm>
          <a:prstGeom prst="rect">
            <a:avLst/>
          </a:prstGeom>
          <a:noFill/>
          <a:ln w="19050" cap="flat" cmpd="sng">
            <a:solidFill>
              <a:schemeClr val="dk2"/>
            </a:solidFill>
            <a:prstDash val="solid"/>
            <a:round/>
            <a:headEnd type="none" w="sm" len="sm"/>
            <a:tailEnd type="none" w="sm" len="sm"/>
          </a:ln>
        </p:spPr>
      </p:pic>
      <p:sp>
        <p:nvSpPr>
          <p:cNvPr id="119" name="Google Shape;119;p18"/>
          <p:cNvSpPr txBox="1">
            <a:spLocks noGrp="1"/>
          </p:cNvSpPr>
          <p:nvPr>
            <p:ph type="body" idx="3"/>
          </p:nvPr>
        </p:nvSpPr>
        <p:spPr>
          <a:xfrm>
            <a:off x="152413" y="4115912"/>
            <a:ext cx="39996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SzPts val="1300"/>
              <a:buNone/>
            </a:pPr>
            <a:r>
              <a:rPr lang="en" sz="1200"/>
              <a:t>In the event that </a:t>
            </a:r>
            <a:r>
              <a:rPr lang="en" sz="1200" b="1" i="1">
                <a:solidFill>
                  <a:srgbClr val="FF0000"/>
                </a:solidFill>
              </a:rPr>
              <a:t>multiple merge conflicts</a:t>
            </a:r>
            <a:r>
              <a:rPr lang="en" sz="1200"/>
              <a:t> occur (in the same or different files), you will need to resolve them all before you can push your code.</a:t>
            </a:r>
            <a:endParaRPr sz="1200"/>
          </a:p>
        </p:txBody>
      </p:sp>
      <p:sp>
        <p:nvSpPr>
          <p:cNvPr id="120" name="Google Shape;120;p18"/>
          <p:cNvSpPr txBox="1">
            <a:spLocks noGrp="1"/>
          </p:cNvSpPr>
          <p:nvPr>
            <p:ph type="body" idx="3"/>
          </p:nvPr>
        </p:nvSpPr>
        <p:spPr>
          <a:xfrm>
            <a:off x="152413" y="3658712"/>
            <a:ext cx="39996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SzPts val="1300"/>
              <a:buNone/>
            </a:pPr>
            <a:r>
              <a:rPr lang="en" sz="1200"/>
              <a:t>For today, choose the </a:t>
            </a:r>
            <a:r>
              <a:rPr lang="en" sz="1200" b="1" i="1">
                <a:solidFill>
                  <a:srgbClr val="FF0000"/>
                </a:solidFill>
              </a:rPr>
              <a:t>Accept Both Changes</a:t>
            </a:r>
            <a:r>
              <a:rPr lang="en" sz="1200"/>
              <a:t> option.</a:t>
            </a:r>
            <a:endParaRPr sz="1200"/>
          </a:p>
        </p:txBody>
      </p:sp>
      <p:sp>
        <p:nvSpPr>
          <p:cNvPr id="121" name="Google Shape;121;p18"/>
          <p:cNvSpPr/>
          <p:nvPr/>
        </p:nvSpPr>
        <p:spPr>
          <a:xfrm>
            <a:off x="2982950" y="1969951"/>
            <a:ext cx="829950" cy="1723900"/>
          </a:xfrm>
          <a:custGeom>
            <a:avLst/>
            <a:gdLst/>
            <a:ahLst/>
            <a:cxnLst/>
            <a:rect l="l" t="t" r="r" b="b"/>
            <a:pathLst>
              <a:path w="33198" h="68956" extrusionOk="0">
                <a:moveTo>
                  <a:pt x="14497" y="68956"/>
                </a:moveTo>
                <a:cubicBezTo>
                  <a:pt x="17564" y="57805"/>
                  <a:pt x="35312" y="10504"/>
                  <a:pt x="32896" y="2048"/>
                </a:cubicBezTo>
                <a:cubicBezTo>
                  <a:pt x="30480" y="-6408"/>
                  <a:pt x="5483" y="15523"/>
                  <a:pt x="0" y="18218"/>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9"/>
          <p:cNvSpPr txBox="1">
            <a:spLocks noGrp="1"/>
          </p:cNvSpPr>
          <p:nvPr>
            <p:ph type="sldNum" idx="12"/>
          </p:nvPr>
        </p:nvSpPr>
        <p:spPr>
          <a:xfrm>
            <a:off x="14258" y="4739417"/>
            <a:ext cx="548700" cy="393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000"/>
              <a:buNone/>
            </a:pPr>
            <a:fld id="{00000000-1234-1234-1234-123412341234}" type="slidenum">
              <a:rPr lang="en"/>
              <a:t>7</a:t>
            </a:fld>
            <a:endParaRPr/>
          </a:p>
        </p:txBody>
      </p:sp>
      <p:sp>
        <p:nvSpPr>
          <p:cNvPr id="127" name="Google Shape;127;p19"/>
          <p:cNvSpPr txBox="1">
            <a:spLocks noGrp="1"/>
          </p:cNvSpPr>
          <p:nvPr>
            <p:ph type="title"/>
          </p:nvPr>
        </p:nvSpPr>
        <p:spPr>
          <a:xfrm>
            <a:off x="5095775" y="272325"/>
            <a:ext cx="38754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Project Organization</a:t>
            </a:r>
            <a:endParaRPr/>
          </a:p>
        </p:txBody>
      </p:sp>
      <p:sp>
        <p:nvSpPr>
          <p:cNvPr id="128" name="Google Shape;128;p19"/>
          <p:cNvSpPr txBox="1">
            <a:spLocks noGrp="1"/>
          </p:cNvSpPr>
          <p:nvPr>
            <p:ph type="body" idx="1"/>
          </p:nvPr>
        </p:nvSpPr>
        <p:spPr>
          <a:xfrm>
            <a:off x="160125" y="149538"/>
            <a:ext cx="4301700" cy="49872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SzPts val="1300"/>
              <a:buChar char="●"/>
            </a:pPr>
            <a:r>
              <a:rPr lang="en"/>
              <a:t>When working on a large project with a team, it is very important to keep your project package structure </a:t>
            </a:r>
            <a:r>
              <a:rPr lang="en" b="1" i="1">
                <a:solidFill>
                  <a:srgbClr val="FF0000"/>
                </a:solidFill>
              </a:rPr>
              <a:t>organized</a:t>
            </a:r>
            <a:r>
              <a:rPr lang="en"/>
              <a:t>. Doing so not only supports collaboration and maintainability, but will be beneficial in the next parts of the project.</a:t>
            </a:r>
            <a:endParaRPr/>
          </a:p>
          <a:p>
            <a:pPr marL="457200" lvl="0" indent="-311150" algn="l" rtl="0">
              <a:lnSpc>
                <a:spcPct val="115000"/>
              </a:lnSpc>
              <a:spcBef>
                <a:spcPts val="0"/>
              </a:spcBef>
              <a:spcAft>
                <a:spcPts val="0"/>
              </a:spcAft>
              <a:buSzPts val="1300"/>
              <a:buChar char="●"/>
            </a:pPr>
            <a:r>
              <a:rPr lang="en"/>
              <a:t>You will notice that your project starter </a:t>
            </a:r>
            <a:r>
              <a:rPr lang="en" b="1" i="1">
                <a:solidFill>
                  <a:srgbClr val="FF0000"/>
                </a:solidFill>
              </a:rPr>
              <a:t>repository</a:t>
            </a:r>
            <a:r>
              <a:rPr lang="en"/>
              <a:t> includes two packages. Each package has distinct responsibilities:</a:t>
            </a:r>
            <a:endParaRPr/>
          </a:p>
          <a:p>
            <a:pPr marL="914400" lvl="1" indent="-311150" algn="l" rtl="0">
              <a:lnSpc>
                <a:spcPct val="115000"/>
              </a:lnSpc>
              <a:spcBef>
                <a:spcPts val="0"/>
              </a:spcBef>
              <a:spcAft>
                <a:spcPts val="0"/>
              </a:spcAft>
              <a:buSzPts val="1300"/>
              <a:buChar char="○"/>
            </a:pPr>
            <a:r>
              <a:rPr lang="en" sz="1300" b="1" i="1">
                <a:solidFill>
                  <a:srgbClr val="FF0000"/>
                </a:solidFill>
                <a:latin typeface="Courier New"/>
                <a:ea typeface="Courier New"/>
                <a:cs typeface="Courier New"/>
                <a:sym typeface="Courier New"/>
              </a:rPr>
              <a:t>view</a:t>
            </a:r>
            <a:r>
              <a:rPr lang="en" sz="1300"/>
              <a:t> - In this package, you will place classes that only deal with user interaction via the Command Line Interface (CLI). This includes reading commands from the user and displaying game information.  Be careful not to place any game logic in this package.</a:t>
            </a:r>
            <a:endParaRPr sz="1300"/>
          </a:p>
          <a:p>
            <a:pPr marL="914400" lvl="1" indent="-311150" algn="l" rtl="0">
              <a:lnSpc>
                <a:spcPct val="115000"/>
              </a:lnSpc>
              <a:spcBef>
                <a:spcPts val="0"/>
              </a:spcBef>
              <a:spcAft>
                <a:spcPts val="0"/>
              </a:spcAft>
              <a:buSzPts val="1300"/>
              <a:buChar char="○"/>
            </a:pPr>
            <a:r>
              <a:rPr lang="en" sz="1300" b="1" i="1">
                <a:solidFill>
                  <a:srgbClr val="FF0000"/>
                </a:solidFill>
                <a:latin typeface="Courier New"/>
                <a:ea typeface="Courier New"/>
                <a:cs typeface="Courier New"/>
                <a:sym typeface="Courier New"/>
              </a:rPr>
              <a:t>model</a:t>
            </a:r>
            <a:r>
              <a:rPr lang="en" sz="1300"/>
              <a:t> - In this package you will place classes that control the game logic and state. Be careful not to place any direct user interaction code (Scanner, System.out) in this package.</a:t>
            </a:r>
            <a:endParaRPr sz="1300"/>
          </a:p>
          <a:p>
            <a:pPr marL="914400" lvl="1" indent="-311150" algn="l" rtl="0">
              <a:lnSpc>
                <a:spcPct val="115000"/>
              </a:lnSpc>
              <a:spcBef>
                <a:spcPts val="0"/>
              </a:spcBef>
              <a:spcAft>
                <a:spcPts val="0"/>
              </a:spcAft>
              <a:buSzPts val="1300"/>
              <a:buChar char="○"/>
            </a:pPr>
            <a:r>
              <a:rPr lang="en" sz="1300"/>
              <a:t>This is known as </a:t>
            </a:r>
            <a:r>
              <a:rPr lang="en" sz="1300" b="1" i="1">
                <a:solidFill>
                  <a:srgbClr val="FF0000"/>
                </a:solidFill>
              </a:rPr>
              <a:t>Separation of Concerns</a:t>
            </a:r>
            <a:r>
              <a:rPr lang="en" sz="1300"/>
              <a:t>.</a:t>
            </a:r>
            <a:endParaRPr sz="1300"/>
          </a:p>
        </p:txBody>
      </p:sp>
      <p:sp>
        <p:nvSpPr>
          <p:cNvPr id="129" name="Google Shape;129;p19"/>
          <p:cNvSpPr txBox="1">
            <a:spLocks noGrp="1"/>
          </p:cNvSpPr>
          <p:nvPr>
            <p:ph type="body" idx="3"/>
          </p:nvPr>
        </p:nvSpPr>
        <p:spPr>
          <a:xfrm>
            <a:off x="5180225" y="3869700"/>
            <a:ext cx="3706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SzPts val="1300"/>
              <a:buNone/>
            </a:pPr>
            <a:r>
              <a:rPr lang="en" sz="1200"/>
              <a:t>Maintaining project </a:t>
            </a:r>
            <a:r>
              <a:rPr lang="en" sz="1200" b="1">
                <a:solidFill>
                  <a:srgbClr val="FF0000"/>
                </a:solidFill>
              </a:rPr>
              <a:t>organization</a:t>
            </a:r>
            <a:r>
              <a:rPr lang="en" sz="1200"/>
              <a:t> will make </a:t>
            </a:r>
            <a:r>
              <a:rPr lang="en" sz="1200" b="1">
                <a:solidFill>
                  <a:srgbClr val="FF0000"/>
                </a:solidFill>
              </a:rPr>
              <a:t>collaboration</a:t>
            </a:r>
            <a:r>
              <a:rPr lang="en" sz="1200"/>
              <a:t> easier, reduce the likelihood of merge conflicts, and make your code easier to test, debug, and enhance in future parts of the project.</a:t>
            </a:r>
            <a:endParaRPr/>
          </a:p>
        </p:txBody>
      </p:sp>
      <p:pic>
        <p:nvPicPr>
          <p:cNvPr id="130" name="Google Shape;130;p19"/>
          <p:cNvPicPr preferRelativeResize="0"/>
          <p:nvPr/>
        </p:nvPicPr>
        <p:blipFill rotWithShape="1">
          <a:blip r:embed="rId3">
            <a:alphaModFix/>
          </a:blip>
          <a:srcRect t="20" b="20"/>
          <a:stretch/>
        </p:blipFill>
        <p:spPr>
          <a:xfrm>
            <a:off x="4979065" y="1281050"/>
            <a:ext cx="4046477" cy="20855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0"/>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8</a:t>
            </a:fld>
            <a:endParaRPr/>
          </a:p>
        </p:txBody>
      </p:sp>
      <p:sp>
        <p:nvSpPr>
          <p:cNvPr id="136" name="Google Shape;136;p20"/>
          <p:cNvSpPr txBox="1">
            <a:spLocks noGrp="1"/>
          </p:cNvSpPr>
          <p:nvPr>
            <p:ph type="title"/>
          </p:nvPr>
        </p:nvSpPr>
        <p:spPr>
          <a:xfrm>
            <a:off x="5264725" y="435486"/>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Part 1 Constraints</a:t>
            </a:r>
            <a:endParaRPr/>
          </a:p>
        </p:txBody>
      </p:sp>
      <p:sp>
        <p:nvSpPr>
          <p:cNvPr id="137" name="Google Shape;137;p20"/>
          <p:cNvSpPr txBox="1">
            <a:spLocks noGrp="1"/>
          </p:cNvSpPr>
          <p:nvPr>
            <p:ph type="body" idx="1"/>
          </p:nvPr>
        </p:nvSpPr>
        <p:spPr>
          <a:xfrm>
            <a:off x="90450" y="-41377"/>
            <a:ext cx="4774200" cy="4623000"/>
          </a:xfrm>
          <a:prstGeom prst="rect">
            <a:avLst/>
          </a:prstGeom>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400" dirty="0">
                <a:solidFill>
                  <a:srgbClr val="000000"/>
                </a:solidFill>
                <a:latin typeface="Arial"/>
                <a:ea typeface="Arial"/>
                <a:cs typeface="Arial"/>
                <a:sym typeface="Arial"/>
              </a:rPr>
              <a:t>To ensure the project remains achievable within the timeframe, the implementation will adhere to the following constraints.</a:t>
            </a:r>
            <a:endParaRPr sz="1400" dirty="0">
              <a:solidFill>
                <a:srgbClr val="000000"/>
              </a:solidFill>
              <a:latin typeface="Arial"/>
              <a:ea typeface="Arial"/>
              <a:cs typeface="Arial"/>
              <a:sym typeface="Arial"/>
            </a:endParaRPr>
          </a:p>
          <a:p>
            <a:pPr marL="0" lvl="0" indent="0" algn="l" rtl="0">
              <a:lnSpc>
                <a:spcPct val="115000"/>
              </a:lnSpc>
              <a:spcBef>
                <a:spcPts val="0"/>
              </a:spcBef>
              <a:spcAft>
                <a:spcPts val="0"/>
              </a:spcAft>
              <a:buNone/>
            </a:pPr>
            <a:endParaRPr dirty="0">
              <a:solidFill>
                <a:srgbClr val="000000"/>
              </a:solidFill>
              <a:latin typeface="Arial"/>
              <a:ea typeface="Arial"/>
              <a:cs typeface="Arial"/>
              <a:sym typeface="Arial"/>
            </a:endParaRPr>
          </a:p>
          <a:p>
            <a:pPr marL="457200" lvl="0" indent="-311150" algn="l" rtl="0">
              <a:lnSpc>
                <a:spcPct val="115000"/>
              </a:lnSpc>
              <a:spcBef>
                <a:spcPts val="0"/>
              </a:spcBef>
              <a:spcAft>
                <a:spcPts val="0"/>
              </a:spcAft>
              <a:buClr>
                <a:srgbClr val="000000"/>
              </a:buClr>
              <a:buSzPts val="1300"/>
              <a:buFont typeface="Arial"/>
              <a:buChar char="●"/>
            </a:pPr>
            <a:r>
              <a:rPr lang="en" dirty="0">
                <a:solidFill>
                  <a:srgbClr val="000000"/>
                </a:solidFill>
                <a:latin typeface="Arial"/>
                <a:ea typeface="Arial"/>
                <a:cs typeface="Arial"/>
                <a:sym typeface="Arial"/>
              </a:rPr>
              <a:t>The User Interface for Part 1 will be a Command Line Interface (</a:t>
            </a:r>
            <a:r>
              <a:rPr lang="en" b="1" i="1" dirty="0">
                <a:solidFill>
                  <a:srgbClr val="FF0000"/>
                </a:solidFill>
                <a:latin typeface="Arial"/>
                <a:ea typeface="Arial"/>
                <a:cs typeface="Arial"/>
                <a:sym typeface="Arial"/>
              </a:rPr>
              <a:t>CLI</a:t>
            </a:r>
            <a:r>
              <a:rPr lang="en" dirty="0">
                <a:solidFill>
                  <a:srgbClr val="000000"/>
                </a:solidFill>
                <a:latin typeface="Arial"/>
                <a:ea typeface="Arial"/>
                <a:cs typeface="Arial"/>
                <a:sym typeface="Arial"/>
              </a:rPr>
              <a:t>).</a:t>
            </a:r>
            <a:endParaRPr dirty="0">
              <a:solidFill>
                <a:srgbClr val="000000"/>
              </a:solidFill>
              <a:latin typeface="Arial"/>
              <a:ea typeface="Arial"/>
              <a:cs typeface="Arial"/>
              <a:sym typeface="Arial"/>
            </a:endParaRPr>
          </a:p>
          <a:p>
            <a:pPr marL="457200" lvl="0" indent="-311150" algn="l" rtl="0">
              <a:lnSpc>
                <a:spcPct val="115000"/>
              </a:lnSpc>
              <a:spcBef>
                <a:spcPts val="0"/>
              </a:spcBef>
              <a:spcAft>
                <a:spcPts val="0"/>
              </a:spcAft>
              <a:buClr>
                <a:srgbClr val="000000"/>
              </a:buClr>
              <a:buSzPts val="1300"/>
              <a:buFont typeface="Arial"/>
              <a:buChar char="●"/>
            </a:pPr>
            <a:r>
              <a:rPr lang="en" dirty="0">
                <a:solidFill>
                  <a:srgbClr val="000000"/>
                </a:solidFill>
                <a:latin typeface="Arial"/>
                <a:ea typeface="Arial"/>
                <a:cs typeface="Arial"/>
                <a:sym typeface="Arial"/>
              </a:rPr>
              <a:t>The game will be played by a </a:t>
            </a:r>
            <a:r>
              <a:rPr lang="en" b="1" i="1" dirty="0">
                <a:solidFill>
                  <a:srgbClr val="FF0000"/>
                </a:solidFill>
                <a:latin typeface="Arial"/>
                <a:ea typeface="Arial"/>
                <a:cs typeface="Arial"/>
                <a:sym typeface="Arial"/>
              </a:rPr>
              <a:t>single player</a:t>
            </a:r>
            <a:r>
              <a:rPr lang="en" dirty="0">
                <a:solidFill>
                  <a:srgbClr val="000000"/>
                </a:solidFill>
                <a:latin typeface="Arial"/>
                <a:ea typeface="Arial"/>
                <a:cs typeface="Arial"/>
                <a:sym typeface="Arial"/>
              </a:rPr>
              <a:t>, squaring off against a Cyber Pup (computer).</a:t>
            </a:r>
            <a:endParaRPr dirty="0">
              <a:solidFill>
                <a:srgbClr val="000000"/>
              </a:solidFill>
              <a:latin typeface="Arial"/>
              <a:ea typeface="Arial"/>
              <a:cs typeface="Arial"/>
              <a:sym typeface="Arial"/>
            </a:endParaRPr>
          </a:p>
          <a:p>
            <a:pPr marL="457200" lvl="0" indent="-311150" algn="l" rtl="0">
              <a:lnSpc>
                <a:spcPct val="115000"/>
              </a:lnSpc>
              <a:spcBef>
                <a:spcPts val="0"/>
              </a:spcBef>
              <a:spcAft>
                <a:spcPts val="0"/>
              </a:spcAft>
              <a:buClr>
                <a:srgbClr val="000000"/>
              </a:buClr>
              <a:buSzPts val="1300"/>
              <a:buFont typeface="Arial"/>
              <a:buChar char="●"/>
            </a:pPr>
            <a:r>
              <a:rPr lang="en" dirty="0">
                <a:solidFill>
                  <a:srgbClr val="000000"/>
                </a:solidFill>
                <a:latin typeface="Arial"/>
                <a:ea typeface="Arial"/>
                <a:cs typeface="Arial"/>
                <a:sym typeface="Arial"/>
              </a:rPr>
              <a:t>At the start of the game, one of each toy for both the player and the Cyber Pup will be </a:t>
            </a:r>
            <a:r>
              <a:rPr lang="en" b="1" i="1" dirty="0">
                <a:solidFill>
                  <a:srgbClr val="FF0000"/>
                </a:solidFill>
                <a:latin typeface="Arial"/>
                <a:ea typeface="Arial"/>
                <a:cs typeface="Arial"/>
                <a:sym typeface="Arial"/>
              </a:rPr>
              <a:t>randomly</a:t>
            </a:r>
            <a:r>
              <a:rPr lang="en" dirty="0">
                <a:solidFill>
                  <a:srgbClr val="000000"/>
                </a:solidFill>
                <a:latin typeface="Arial"/>
                <a:ea typeface="Arial"/>
                <a:cs typeface="Arial"/>
                <a:sym typeface="Arial"/>
              </a:rPr>
              <a:t> </a:t>
            </a:r>
            <a:r>
              <a:rPr lang="en" b="1" i="1" dirty="0">
                <a:solidFill>
                  <a:srgbClr val="FF0000"/>
                </a:solidFill>
                <a:latin typeface="Arial"/>
                <a:ea typeface="Arial"/>
                <a:cs typeface="Arial"/>
                <a:sym typeface="Arial"/>
              </a:rPr>
              <a:t>buried</a:t>
            </a:r>
            <a:r>
              <a:rPr lang="en" dirty="0">
                <a:solidFill>
                  <a:srgbClr val="000000"/>
                </a:solidFill>
                <a:latin typeface="Arial"/>
                <a:ea typeface="Arial"/>
                <a:cs typeface="Arial"/>
                <a:sym typeface="Arial"/>
              </a:rPr>
              <a:t> in yard coordinates on the grid. Toys may not overlap yard coordinates.</a:t>
            </a:r>
            <a:endParaRPr dirty="0">
              <a:solidFill>
                <a:srgbClr val="000000"/>
              </a:solidFill>
              <a:latin typeface="Arial"/>
              <a:ea typeface="Arial"/>
              <a:cs typeface="Arial"/>
              <a:sym typeface="Arial"/>
            </a:endParaRPr>
          </a:p>
          <a:p>
            <a:pPr marL="457200" lvl="0" indent="-311150" algn="l" rtl="0">
              <a:lnSpc>
                <a:spcPct val="115000"/>
              </a:lnSpc>
              <a:spcBef>
                <a:spcPts val="0"/>
              </a:spcBef>
              <a:spcAft>
                <a:spcPts val="0"/>
              </a:spcAft>
              <a:buClr>
                <a:srgbClr val="000000"/>
              </a:buClr>
              <a:buSzPts val="1300"/>
              <a:buFont typeface="Arial"/>
              <a:buChar char="●"/>
            </a:pPr>
            <a:r>
              <a:rPr lang="en" dirty="0">
                <a:solidFill>
                  <a:srgbClr val="000000"/>
                </a:solidFill>
                <a:latin typeface="Arial"/>
                <a:ea typeface="Arial"/>
                <a:cs typeface="Arial"/>
                <a:sym typeface="Arial"/>
              </a:rPr>
              <a:t>The player will always go first.</a:t>
            </a:r>
            <a:endParaRPr dirty="0">
              <a:solidFill>
                <a:srgbClr val="000000"/>
              </a:solidFill>
              <a:latin typeface="Arial"/>
              <a:ea typeface="Arial"/>
              <a:cs typeface="Arial"/>
              <a:sym typeface="Arial"/>
            </a:endParaRPr>
          </a:p>
          <a:p>
            <a:pPr marL="457200" lvl="0" indent="-311150" algn="l" rtl="0">
              <a:lnSpc>
                <a:spcPct val="115000"/>
              </a:lnSpc>
              <a:spcBef>
                <a:spcPts val="0"/>
              </a:spcBef>
              <a:spcAft>
                <a:spcPts val="0"/>
              </a:spcAft>
              <a:buClr>
                <a:srgbClr val="000000"/>
              </a:buClr>
              <a:buSzPts val="1300"/>
              <a:buFont typeface="Arial"/>
              <a:buChar char="●"/>
            </a:pPr>
            <a:r>
              <a:rPr lang="en" dirty="0">
                <a:solidFill>
                  <a:srgbClr val="000000"/>
                </a:solidFill>
                <a:latin typeface="Arial"/>
                <a:ea typeface="Arial"/>
                <a:cs typeface="Arial"/>
                <a:sym typeface="Arial"/>
              </a:rPr>
              <a:t>Immediately after each dig by the player, the Cyber Pup will automatically take their turn and dig (unless the player has uncovered the final toy part with their dig and hence has won the game).</a:t>
            </a:r>
            <a:endParaRPr dirty="0">
              <a:solidFill>
                <a:srgbClr val="000000"/>
              </a:solidFill>
              <a:latin typeface="Arial"/>
              <a:ea typeface="Arial"/>
              <a:cs typeface="Arial"/>
              <a:sym typeface="Arial"/>
            </a:endParaRPr>
          </a:p>
          <a:p>
            <a:pPr marL="457200" lvl="0" indent="-311150" algn="l" rtl="0">
              <a:lnSpc>
                <a:spcPct val="115000"/>
              </a:lnSpc>
              <a:spcBef>
                <a:spcPts val="0"/>
              </a:spcBef>
              <a:spcAft>
                <a:spcPts val="0"/>
              </a:spcAft>
              <a:buClr>
                <a:srgbClr val="000000"/>
              </a:buClr>
              <a:buSzPts val="1300"/>
              <a:buFont typeface="Arial"/>
              <a:buChar char="●"/>
            </a:pPr>
            <a:r>
              <a:rPr lang="en" dirty="0">
                <a:solidFill>
                  <a:srgbClr val="000000"/>
                </a:solidFill>
                <a:latin typeface="Arial"/>
                <a:ea typeface="Arial"/>
                <a:cs typeface="Arial"/>
                <a:sym typeface="Arial"/>
              </a:rPr>
              <a:t>The grid rows will be lettered </a:t>
            </a:r>
            <a:r>
              <a:rPr lang="en" b="1" i="1" dirty="0">
                <a:solidFill>
                  <a:srgbClr val="FF0000"/>
                </a:solidFill>
                <a:latin typeface="Arial"/>
                <a:ea typeface="Arial"/>
                <a:cs typeface="Arial"/>
                <a:sym typeface="Arial"/>
              </a:rPr>
              <a:t>'A' - 'J'</a:t>
            </a:r>
            <a:r>
              <a:rPr lang="en" dirty="0">
                <a:solidFill>
                  <a:srgbClr val="000000"/>
                </a:solidFill>
                <a:latin typeface="Arial"/>
                <a:ea typeface="Arial"/>
                <a:cs typeface="Arial"/>
                <a:sym typeface="Arial"/>
              </a:rPr>
              <a:t> and columns will be numbered </a:t>
            </a:r>
            <a:r>
              <a:rPr lang="en" b="1" i="1" dirty="0">
                <a:solidFill>
                  <a:srgbClr val="FF0000"/>
                </a:solidFill>
                <a:latin typeface="Arial"/>
                <a:ea typeface="Arial"/>
                <a:cs typeface="Arial"/>
                <a:sym typeface="Arial"/>
              </a:rPr>
              <a:t>0 - 9</a:t>
            </a:r>
            <a:r>
              <a:rPr lang="en" dirty="0">
                <a:solidFill>
                  <a:schemeClr val="dk1"/>
                </a:solidFill>
                <a:latin typeface="Arial"/>
                <a:ea typeface="Arial"/>
                <a:cs typeface="Arial"/>
                <a:sym typeface="Arial"/>
              </a:rPr>
              <a:t>.</a:t>
            </a:r>
            <a:endParaRPr dirty="0">
              <a:solidFill>
                <a:schemeClr val="dk1"/>
              </a:solidFill>
              <a:latin typeface="Arial"/>
              <a:ea typeface="Arial"/>
              <a:cs typeface="Arial"/>
              <a:sym typeface="Arial"/>
            </a:endParaRPr>
          </a:p>
          <a:p>
            <a:pPr marL="457200" lvl="0" indent="-311150" algn="l" rtl="0">
              <a:lnSpc>
                <a:spcPct val="115000"/>
              </a:lnSpc>
              <a:spcBef>
                <a:spcPts val="0"/>
              </a:spcBef>
              <a:spcAft>
                <a:spcPts val="0"/>
              </a:spcAft>
              <a:buClr>
                <a:schemeClr val="dk1"/>
              </a:buClr>
              <a:buSzPts val="1300"/>
              <a:buFont typeface="Arial"/>
              <a:buChar char="●"/>
            </a:pPr>
            <a:r>
              <a:rPr lang="en" dirty="0">
                <a:solidFill>
                  <a:schemeClr val="dk1"/>
                </a:solidFill>
                <a:latin typeface="Arial"/>
                <a:ea typeface="Arial"/>
                <a:cs typeface="Arial"/>
                <a:sym typeface="Arial"/>
              </a:rPr>
              <a:t>Once the game is over or the player quits, the client should terminate.</a:t>
            </a:r>
            <a:endParaRPr dirty="0">
              <a:solidFill>
                <a:schemeClr val="dk1"/>
              </a:solidFill>
              <a:latin typeface="Arial"/>
              <a:ea typeface="Arial"/>
              <a:cs typeface="Arial"/>
              <a:sym typeface="Arial"/>
            </a:endParaRPr>
          </a:p>
        </p:txBody>
      </p:sp>
      <p:sp>
        <p:nvSpPr>
          <p:cNvPr id="138" name="Google Shape;138;p20"/>
          <p:cNvSpPr txBox="1">
            <a:spLocks noGrp="1"/>
          </p:cNvSpPr>
          <p:nvPr>
            <p:ph type="body" idx="3"/>
          </p:nvPr>
        </p:nvSpPr>
        <p:spPr>
          <a:xfrm>
            <a:off x="4992675" y="4089650"/>
            <a:ext cx="4079400" cy="80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While a head-to-head game with players burying their own toys would be more exciting, there is only so many hours in a day.</a:t>
            </a:r>
            <a:endParaRPr/>
          </a:p>
        </p:txBody>
      </p:sp>
      <p:pic>
        <p:nvPicPr>
          <p:cNvPr id="139" name="Google Shape;139;p20"/>
          <p:cNvPicPr preferRelativeResize="0"/>
          <p:nvPr/>
        </p:nvPicPr>
        <p:blipFill rotWithShape="1">
          <a:blip r:embed="rId3">
            <a:alphaModFix/>
          </a:blip>
          <a:srcRect t="40" b="40"/>
          <a:stretch/>
        </p:blipFill>
        <p:spPr>
          <a:xfrm>
            <a:off x="4992677" y="1333063"/>
            <a:ext cx="4079475" cy="23725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1"/>
          <p:cNvSpPr txBox="1">
            <a:spLocks noGrp="1"/>
          </p:cNvSpPr>
          <p:nvPr>
            <p:ph type="title"/>
          </p:nvPr>
        </p:nvSpPr>
        <p:spPr>
          <a:xfrm>
            <a:off x="5192225" y="2723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Pair Programming</a:t>
            </a:r>
            <a:endParaRPr/>
          </a:p>
        </p:txBody>
      </p:sp>
      <p:sp>
        <p:nvSpPr>
          <p:cNvPr id="145" name="Google Shape;145;p21"/>
          <p:cNvSpPr txBox="1">
            <a:spLocks noGrp="1"/>
          </p:cNvSpPr>
          <p:nvPr>
            <p:ph type="sldNum" idx="12"/>
          </p:nvPr>
        </p:nvSpPr>
        <p:spPr>
          <a:xfrm>
            <a:off x="14258" y="47394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9</a:t>
            </a:fld>
            <a:endParaRPr/>
          </a:p>
        </p:txBody>
      </p:sp>
      <p:sp>
        <p:nvSpPr>
          <p:cNvPr id="146" name="Google Shape;146;p21"/>
          <p:cNvSpPr txBox="1">
            <a:spLocks noGrp="1"/>
          </p:cNvSpPr>
          <p:nvPr>
            <p:ph type="body" idx="1"/>
          </p:nvPr>
        </p:nvSpPr>
        <p:spPr>
          <a:xfrm>
            <a:off x="301275" y="119925"/>
            <a:ext cx="4443000" cy="48987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SzPts val="1300"/>
              <a:buChar char="●"/>
            </a:pPr>
            <a:r>
              <a:rPr lang="en" b="1" i="1" u="sng" dirty="0">
                <a:solidFill>
                  <a:srgbClr val="4A86E8"/>
                </a:solidFill>
                <a:hlinkClick r:id="rId3">
                  <a:extLst>
                    <a:ext uri="{A12FA001-AC4F-418D-AE19-62706E023703}">
                      <ahyp:hlinkClr xmlns:ahyp="http://schemas.microsoft.com/office/drawing/2018/hyperlinkcolor" val="tx"/>
                    </a:ext>
                  </a:extLst>
                </a:hlinkClick>
              </a:rPr>
              <a:t>Pair programming</a:t>
            </a:r>
            <a:r>
              <a:rPr lang="en" dirty="0"/>
              <a:t> is a technique during which two developers collaborate to solve a software problem by writing code together.</a:t>
            </a:r>
            <a:endParaRPr dirty="0"/>
          </a:p>
          <a:p>
            <a:pPr marL="457200" lvl="0" indent="-311150" algn="l" rtl="0">
              <a:lnSpc>
                <a:spcPct val="115000"/>
              </a:lnSpc>
              <a:spcBef>
                <a:spcPts val="0"/>
              </a:spcBef>
              <a:spcAft>
                <a:spcPts val="0"/>
              </a:spcAft>
              <a:buSzPts val="1300"/>
              <a:buChar char="●"/>
            </a:pPr>
            <a:r>
              <a:rPr lang="en" dirty="0"/>
              <a:t>One developer takes on the role of </a:t>
            </a:r>
            <a:r>
              <a:rPr lang="en" b="1" i="1" dirty="0">
                <a:solidFill>
                  <a:srgbClr val="FF0000"/>
                </a:solidFill>
              </a:rPr>
              <a:t>the driver</a:t>
            </a:r>
            <a:r>
              <a:rPr lang="en" dirty="0"/>
              <a:t>.</a:t>
            </a:r>
            <a:endParaRPr dirty="0"/>
          </a:p>
          <a:p>
            <a:pPr marL="914400" lvl="1" indent="-298450" algn="l" rtl="0">
              <a:lnSpc>
                <a:spcPct val="115000"/>
              </a:lnSpc>
              <a:spcBef>
                <a:spcPts val="0"/>
              </a:spcBef>
              <a:spcAft>
                <a:spcPts val="0"/>
              </a:spcAft>
              <a:buSzPts val="1100"/>
              <a:buChar char="○"/>
            </a:pPr>
            <a:r>
              <a:rPr lang="en" dirty="0"/>
              <a:t>Shares their screen.</a:t>
            </a:r>
            <a:endParaRPr dirty="0"/>
          </a:p>
          <a:p>
            <a:pPr marL="914400" lvl="1" indent="-298450" algn="l" rtl="0">
              <a:lnSpc>
                <a:spcPct val="115000"/>
              </a:lnSpc>
              <a:spcBef>
                <a:spcPts val="0"/>
              </a:spcBef>
              <a:spcAft>
                <a:spcPts val="0"/>
              </a:spcAft>
              <a:buSzPts val="1100"/>
              <a:buChar char="○"/>
            </a:pPr>
            <a:r>
              <a:rPr lang="en" dirty="0"/>
              <a:t>Is actively writing code.</a:t>
            </a:r>
            <a:endParaRPr dirty="0"/>
          </a:p>
          <a:p>
            <a:pPr marL="457200" lvl="0" indent="-311150" algn="l" rtl="0">
              <a:lnSpc>
                <a:spcPct val="115000"/>
              </a:lnSpc>
              <a:spcBef>
                <a:spcPts val="0"/>
              </a:spcBef>
              <a:spcAft>
                <a:spcPts val="0"/>
              </a:spcAft>
              <a:buSzPts val="1300"/>
              <a:buChar char="●"/>
            </a:pPr>
            <a:r>
              <a:rPr lang="en" dirty="0"/>
              <a:t>The other developer(s) takes on the role of </a:t>
            </a:r>
            <a:r>
              <a:rPr lang="en" b="1" i="1" dirty="0">
                <a:solidFill>
                  <a:srgbClr val="FF0000"/>
                </a:solidFill>
              </a:rPr>
              <a:t>the navigator</a:t>
            </a:r>
            <a:r>
              <a:rPr lang="en" dirty="0"/>
              <a:t>.</a:t>
            </a:r>
            <a:endParaRPr dirty="0"/>
          </a:p>
          <a:p>
            <a:pPr marL="914400" lvl="1" indent="-298450" algn="l" rtl="0">
              <a:lnSpc>
                <a:spcPct val="115000"/>
              </a:lnSpc>
              <a:spcBef>
                <a:spcPts val="0"/>
              </a:spcBef>
              <a:spcAft>
                <a:spcPts val="0"/>
              </a:spcAft>
              <a:buSzPts val="1100"/>
              <a:buChar char="○"/>
            </a:pPr>
            <a:r>
              <a:rPr lang="en" dirty="0"/>
              <a:t>Watches while the driver codes.</a:t>
            </a:r>
            <a:endParaRPr dirty="0"/>
          </a:p>
          <a:p>
            <a:pPr marL="914400" lvl="1" indent="-298450" algn="l" rtl="0">
              <a:lnSpc>
                <a:spcPct val="115000"/>
              </a:lnSpc>
              <a:spcBef>
                <a:spcPts val="0"/>
              </a:spcBef>
              <a:spcAft>
                <a:spcPts val="0"/>
              </a:spcAft>
              <a:buSzPts val="1100"/>
              <a:buChar char="○"/>
            </a:pPr>
            <a:r>
              <a:rPr lang="en" dirty="0"/>
              <a:t>Takes notes.</a:t>
            </a:r>
            <a:endParaRPr dirty="0"/>
          </a:p>
          <a:p>
            <a:pPr marL="914400" lvl="1" indent="-298450" algn="l" rtl="0">
              <a:lnSpc>
                <a:spcPct val="115000"/>
              </a:lnSpc>
              <a:spcBef>
                <a:spcPts val="0"/>
              </a:spcBef>
              <a:spcAft>
                <a:spcPts val="0"/>
              </a:spcAft>
              <a:buSzPts val="1100"/>
              <a:buChar char="○"/>
            </a:pPr>
            <a:r>
              <a:rPr lang="en" dirty="0"/>
              <a:t>Asks questions.</a:t>
            </a:r>
            <a:endParaRPr dirty="0"/>
          </a:p>
          <a:p>
            <a:pPr marL="914400" lvl="1" indent="-298450" algn="l" rtl="0">
              <a:lnSpc>
                <a:spcPct val="115000"/>
              </a:lnSpc>
              <a:spcBef>
                <a:spcPts val="0"/>
              </a:spcBef>
              <a:spcAft>
                <a:spcPts val="0"/>
              </a:spcAft>
              <a:buSzPts val="1100"/>
              <a:buChar char="○"/>
            </a:pPr>
            <a:r>
              <a:rPr lang="en" dirty="0"/>
              <a:t>Points out potential errors.</a:t>
            </a:r>
            <a:endParaRPr dirty="0"/>
          </a:p>
          <a:p>
            <a:pPr marL="914400" lvl="1" indent="-298450" algn="l" rtl="0">
              <a:lnSpc>
                <a:spcPct val="115000"/>
              </a:lnSpc>
              <a:spcBef>
                <a:spcPts val="0"/>
              </a:spcBef>
              <a:spcAft>
                <a:spcPts val="0"/>
              </a:spcAft>
              <a:buSzPts val="1100"/>
              <a:buChar char="○"/>
            </a:pPr>
            <a:r>
              <a:rPr lang="en" dirty="0"/>
              <a:t>Makes suggestions for improvements.</a:t>
            </a:r>
            <a:endParaRPr dirty="0"/>
          </a:p>
          <a:p>
            <a:pPr marL="457200" lvl="0" indent="-311150" algn="l" rtl="0">
              <a:lnSpc>
                <a:spcPct val="115000"/>
              </a:lnSpc>
              <a:spcBef>
                <a:spcPts val="0"/>
              </a:spcBef>
              <a:spcAft>
                <a:spcPts val="0"/>
              </a:spcAft>
              <a:buSzPts val="1300"/>
              <a:buChar char="●"/>
            </a:pPr>
            <a:r>
              <a:rPr lang="en" dirty="0"/>
              <a:t>The driver and navigator regularly</a:t>
            </a:r>
            <a:r>
              <a:rPr lang="en" dirty="0">
                <a:solidFill>
                  <a:srgbClr val="FF0000"/>
                </a:solidFill>
              </a:rPr>
              <a:t> </a:t>
            </a:r>
            <a:r>
              <a:rPr lang="en" b="1" i="1" dirty="0">
                <a:solidFill>
                  <a:srgbClr val="FF0000"/>
                </a:solidFill>
              </a:rPr>
              <a:t>switch roles</a:t>
            </a:r>
            <a:r>
              <a:rPr lang="en" dirty="0"/>
              <a:t>, e.g. every </a:t>
            </a:r>
            <a:r>
              <a:rPr lang="en" b="1" i="1" dirty="0">
                <a:solidFill>
                  <a:srgbClr val="FF0000"/>
                </a:solidFill>
              </a:rPr>
              <a:t>10-20 minutes</a:t>
            </a:r>
            <a:r>
              <a:rPr lang="en" dirty="0"/>
              <a:t>.</a:t>
            </a:r>
            <a:endParaRPr dirty="0"/>
          </a:p>
          <a:p>
            <a:pPr marL="914400" lvl="1" indent="-298450" algn="l" rtl="0">
              <a:lnSpc>
                <a:spcPct val="115000"/>
              </a:lnSpc>
              <a:spcBef>
                <a:spcPts val="0"/>
              </a:spcBef>
              <a:spcAft>
                <a:spcPts val="0"/>
              </a:spcAft>
              <a:buSzPts val="1100"/>
              <a:buChar char="○"/>
            </a:pPr>
            <a:r>
              <a:rPr lang="en" dirty="0"/>
              <a:t>Set a timer!</a:t>
            </a:r>
            <a:endParaRPr dirty="0"/>
          </a:p>
          <a:p>
            <a:pPr marL="914400" lvl="1" indent="-298450" algn="l" rtl="0">
              <a:lnSpc>
                <a:spcPct val="115000"/>
              </a:lnSpc>
              <a:spcBef>
                <a:spcPts val="0"/>
              </a:spcBef>
              <a:spcAft>
                <a:spcPts val="0"/>
              </a:spcAft>
              <a:buSzPts val="1100"/>
              <a:buChar char="○"/>
            </a:pPr>
            <a:r>
              <a:rPr lang="en" b="1" i="1" dirty="0">
                <a:solidFill>
                  <a:srgbClr val="FF0000"/>
                </a:solidFill>
              </a:rPr>
              <a:t>Push your code!</a:t>
            </a:r>
            <a:endParaRPr b="1" i="1" dirty="0">
              <a:solidFill>
                <a:srgbClr val="FF0000"/>
              </a:solidFill>
            </a:endParaRPr>
          </a:p>
          <a:p>
            <a:pPr marL="457200" lvl="0" indent="-311150" algn="l" rtl="0">
              <a:lnSpc>
                <a:spcPct val="115000"/>
              </a:lnSpc>
              <a:spcBef>
                <a:spcPts val="0"/>
              </a:spcBef>
              <a:spcAft>
                <a:spcPts val="0"/>
              </a:spcAft>
              <a:buSzPts val="1300"/>
              <a:buChar char="●"/>
            </a:pPr>
            <a:r>
              <a:rPr lang="en" dirty="0"/>
              <a:t>For the rest of today's class as you begin work on your project,  you and your team will practice pair programming with </a:t>
            </a:r>
            <a:r>
              <a:rPr lang="en" b="1" i="1" dirty="0">
                <a:solidFill>
                  <a:srgbClr val="FF0000"/>
                </a:solidFill>
              </a:rPr>
              <a:t>one</a:t>
            </a:r>
            <a:r>
              <a:rPr lang="en" dirty="0">
                <a:solidFill>
                  <a:srgbClr val="FF0000"/>
                </a:solidFill>
              </a:rPr>
              <a:t> </a:t>
            </a:r>
            <a:r>
              <a:rPr lang="en" dirty="0"/>
              <a:t>team member acting as the driver and the </a:t>
            </a:r>
            <a:r>
              <a:rPr lang="en" b="1" i="1" dirty="0">
                <a:solidFill>
                  <a:srgbClr val="FF0000"/>
                </a:solidFill>
              </a:rPr>
              <a:t>remaining</a:t>
            </a:r>
            <a:r>
              <a:rPr lang="en" dirty="0">
                <a:solidFill>
                  <a:srgbClr val="FF0000"/>
                </a:solidFill>
              </a:rPr>
              <a:t> </a:t>
            </a:r>
            <a:r>
              <a:rPr lang="en" dirty="0"/>
              <a:t>team members acting as the navigators.</a:t>
            </a:r>
            <a:endParaRPr dirty="0"/>
          </a:p>
        </p:txBody>
      </p:sp>
      <p:sp>
        <p:nvSpPr>
          <p:cNvPr id="147" name="Google Shape;147;p21"/>
          <p:cNvSpPr txBox="1">
            <a:spLocks noGrp="1"/>
          </p:cNvSpPr>
          <p:nvPr>
            <p:ph type="body" idx="3"/>
          </p:nvPr>
        </p:nvSpPr>
        <p:spPr>
          <a:xfrm>
            <a:off x="5192225" y="1017325"/>
            <a:ext cx="3706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SzPts val="1300"/>
              <a:buNone/>
            </a:pPr>
            <a:r>
              <a:rPr lang="en" sz="1200"/>
              <a:t>Everyone on the team should take a moment to watch </a:t>
            </a:r>
            <a:r>
              <a:rPr lang="en" sz="1200" u="sng">
                <a:solidFill>
                  <a:srgbClr val="4A86E8"/>
                </a:solidFill>
                <a:hlinkClick r:id="rId3">
                  <a:extLst>
                    <a:ext uri="{A12FA001-AC4F-418D-AE19-62706E023703}">
                      <ahyp:hlinkClr xmlns:ahyp="http://schemas.microsoft.com/office/drawing/2018/hyperlinkcolor" val="tx"/>
                    </a:ext>
                  </a:extLst>
                </a:hlinkClick>
              </a:rPr>
              <a:t>this short video on pair programming</a:t>
            </a:r>
            <a:r>
              <a:rPr lang="en" sz="1200"/>
              <a:t>.</a:t>
            </a:r>
            <a:endParaRPr sz="1200"/>
          </a:p>
        </p:txBody>
      </p:sp>
      <p:pic>
        <p:nvPicPr>
          <p:cNvPr id="148" name="Google Shape;148;p21"/>
          <p:cNvPicPr preferRelativeResize="0"/>
          <p:nvPr/>
        </p:nvPicPr>
        <p:blipFill rotWithShape="1">
          <a:blip r:embed="rId4">
            <a:alphaModFix/>
          </a:blip>
          <a:srcRect/>
          <a:stretch/>
        </p:blipFill>
        <p:spPr>
          <a:xfrm>
            <a:off x="5499700" y="1792346"/>
            <a:ext cx="3091550" cy="701800"/>
          </a:xfrm>
          <a:prstGeom prst="rect">
            <a:avLst/>
          </a:prstGeom>
          <a:noFill/>
          <a:ln>
            <a:noFill/>
          </a:ln>
        </p:spPr>
      </p:pic>
      <p:pic>
        <p:nvPicPr>
          <p:cNvPr id="149" name="Google Shape;149;p21"/>
          <p:cNvPicPr preferRelativeResize="0"/>
          <p:nvPr/>
        </p:nvPicPr>
        <p:blipFill rotWithShape="1">
          <a:blip r:embed="rId5">
            <a:alphaModFix/>
          </a:blip>
          <a:srcRect t="28981" b="29902"/>
          <a:stretch/>
        </p:blipFill>
        <p:spPr>
          <a:xfrm>
            <a:off x="5099263" y="2849797"/>
            <a:ext cx="3892425" cy="1066930"/>
          </a:xfrm>
          <a:prstGeom prst="rect">
            <a:avLst/>
          </a:prstGeom>
          <a:noFill/>
          <a:ln>
            <a:noFill/>
          </a:ln>
        </p:spPr>
      </p:pic>
      <p:sp>
        <p:nvSpPr>
          <p:cNvPr id="150" name="Google Shape;150;p21"/>
          <p:cNvSpPr txBox="1">
            <a:spLocks noGrp="1"/>
          </p:cNvSpPr>
          <p:nvPr>
            <p:ph type="body" idx="3"/>
          </p:nvPr>
        </p:nvSpPr>
        <p:spPr>
          <a:xfrm>
            <a:off x="5192225" y="3989125"/>
            <a:ext cx="3706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SzPts val="1300"/>
              <a:buNone/>
            </a:pPr>
            <a:r>
              <a:rPr lang="en" sz="1200"/>
              <a:t>When you are the driver, you should be using Zoom or Discord to </a:t>
            </a:r>
            <a:r>
              <a:rPr lang="en" sz="1200" b="1" i="1">
                <a:solidFill>
                  <a:srgbClr val="FF0000"/>
                </a:solidFill>
              </a:rPr>
              <a:t>share your screen</a:t>
            </a:r>
            <a:r>
              <a:rPr lang="en" sz="1200"/>
              <a:t>. Be sure to </a:t>
            </a:r>
            <a:r>
              <a:rPr lang="en" sz="1200" b="1" i="1">
                <a:solidFill>
                  <a:srgbClr val="FF0000"/>
                </a:solidFill>
              </a:rPr>
              <a:t>push your code</a:t>
            </a:r>
            <a:r>
              <a:rPr lang="en" sz="1200"/>
              <a:t> and </a:t>
            </a:r>
            <a:r>
              <a:rPr lang="en" sz="1200" b="1" i="1">
                <a:solidFill>
                  <a:srgbClr val="FF0000"/>
                </a:solidFill>
              </a:rPr>
              <a:t>switch roles</a:t>
            </a:r>
            <a:r>
              <a:rPr lang="en" sz="1200"/>
              <a:t> every 10-20 minutes!</a:t>
            </a:r>
            <a:endParaRPr sz="1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10</a:t>
            </a:fld>
            <a:endParaRPr/>
          </a:p>
        </p:txBody>
      </p:sp>
      <p:sp>
        <p:nvSpPr>
          <p:cNvPr id="156" name="Google Shape;156;p22"/>
          <p:cNvSpPr txBox="1">
            <a:spLocks noGrp="1"/>
          </p:cNvSpPr>
          <p:nvPr>
            <p:ph type="body" idx="4294967295"/>
          </p:nvPr>
        </p:nvSpPr>
        <p:spPr>
          <a:xfrm>
            <a:off x="6037846" y="2682725"/>
            <a:ext cx="2533500" cy="1046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SzPts val="1300"/>
              <a:buNone/>
            </a:pPr>
            <a:r>
              <a:rPr lang="en" sz="1400">
                <a:solidFill>
                  <a:srgbClr val="000000"/>
                </a:solidFill>
                <a:latin typeface="Arial"/>
                <a:ea typeface="Arial"/>
                <a:cs typeface="Arial"/>
                <a:sym typeface="Arial"/>
              </a:rPr>
              <a:t>Refer to this full UML class diagram as needed while you and your team work through the rest of this assignment.</a:t>
            </a:r>
            <a:endParaRPr sz="1400">
              <a:solidFill>
                <a:srgbClr val="000000"/>
              </a:solidFill>
              <a:latin typeface="Arial"/>
              <a:ea typeface="Arial"/>
              <a:cs typeface="Arial"/>
              <a:sym typeface="Arial"/>
            </a:endParaRPr>
          </a:p>
        </p:txBody>
      </p:sp>
      <p:sp>
        <p:nvSpPr>
          <p:cNvPr id="157" name="Google Shape;157;p2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Partial Design</a:t>
            </a:r>
            <a:endParaRPr/>
          </a:p>
        </p:txBody>
      </p:sp>
      <p:pic>
        <p:nvPicPr>
          <p:cNvPr id="158" name="Google Shape;158;p22"/>
          <p:cNvPicPr preferRelativeResize="0"/>
          <p:nvPr/>
        </p:nvPicPr>
        <p:blipFill>
          <a:blip r:embed="rId3">
            <a:alphaModFix/>
          </a:blip>
          <a:stretch>
            <a:fillRect/>
          </a:stretch>
        </p:blipFill>
        <p:spPr>
          <a:xfrm>
            <a:off x="152400" y="1277025"/>
            <a:ext cx="5544044" cy="37140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3"/>
          <p:cNvSpPr txBox="1">
            <a:spLocks noGrp="1"/>
          </p:cNvSpPr>
          <p:nvPr>
            <p:ph type="title"/>
          </p:nvPr>
        </p:nvSpPr>
        <p:spPr>
          <a:xfrm>
            <a:off x="315425" y="2723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YardCoordinate</a:t>
            </a:r>
            <a:endParaRPr/>
          </a:p>
        </p:txBody>
      </p:sp>
      <p:sp>
        <p:nvSpPr>
          <p:cNvPr id="164" name="Google Shape;164;p23"/>
          <p:cNvSpPr txBox="1">
            <a:spLocks noGrp="1"/>
          </p:cNvSpPr>
          <p:nvPr>
            <p:ph type="body" idx="1"/>
          </p:nvPr>
        </p:nvSpPr>
        <p:spPr>
          <a:xfrm>
            <a:off x="4644675" y="272325"/>
            <a:ext cx="4166400" cy="44322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SzPts val="1300"/>
              <a:buChar char="●"/>
            </a:pPr>
            <a:r>
              <a:rPr lang="en" dirty="0"/>
              <a:t>The game is driven by </a:t>
            </a:r>
            <a:r>
              <a:rPr lang="en" b="1" i="1" dirty="0">
                <a:solidFill>
                  <a:srgbClr val="FF0000"/>
                </a:solidFill>
              </a:rPr>
              <a:t>coordinates</a:t>
            </a:r>
            <a:r>
              <a:rPr lang="en" dirty="0"/>
              <a:t> - toys are placed at coordinates and players dig at a location specified by a coordinate.</a:t>
            </a:r>
            <a:endParaRPr dirty="0"/>
          </a:p>
          <a:p>
            <a:pPr marL="457200" lvl="0" indent="-311150" algn="l" rtl="0">
              <a:lnSpc>
                <a:spcPct val="115000"/>
              </a:lnSpc>
              <a:spcBef>
                <a:spcPts val="0"/>
              </a:spcBef>
              <a:spcAft>
                <a:spcPts val="0"/>
              </a:spcAft>
              <a:buSzPts val="1300"/>
              <a:buChar char="●"/>
            </a:pPr>
            <a:r>
              <a:rPr lang="en" dirty="0"/>
              <a:t>Recall that each row on the grid is specified by a letter, </a:t>
            </a:r>
            <a:r>
              <a:rPr lang="en" b="1" i="1" dirty="0">
                <a:solidFill>
                  <a:srgbClr val="FF0000"/>
                </a:solidFill>
              </a:rPr>
              <a:t>'A' - 'J'.</a:t>
            </a:r>
            <a:r>
              <a:rPr lang="en" dirty="0"/>
              <a:t> Columns will be numbered </a:t>
            </a:r>
            <a:r>
              <a:rPr lang="en" b="1" i="1" dirty="0">
                <a:solidFill>
                  <a:srgbClr val="FF0000"/>
                </a:solidFill>
              </a:rPr>
              <a:t>0 - 9</a:t>
            </a:r>
            <a:r>
              <a:rPr lang="en" dirty="0"/>
              <a:t>.</a:t>
            </a:r>
            <a:endParaRPr dirty="0"/>
          </a:p>
          <a:p>
            <a:pPr marL="457200" lvl="0" indent="-311150" algn="l" rtl="0">
              <a:lnSpc>
                <a:spcPct val="115000"/>
              </a:lnSpc>
              <a:spcBef>
                <a:spcPts val="0"/>
              </a:spcBef>
              <a:spcAft>
                <a:spcPts val="0"/>
              </a:spcAft>
              <a:buSzPts val="1300"/>
              <a:buChar char="●"/>
            </a:pPr>
            <a:r>
              <a:rPr lang="en" dirty="0"/>
              <a:t>Using the UML to the left, implement the </a:t>
            </a:r>
            <a:r>
              <a:rPr lang="en" dirty="0">
                <a:solidFill>
                  <a:srgbClr val="FF0000"/>
                </a:solidFill>
                <a:latin typeface="Courier New"/>
                <a:ea typeface="Courier New"/>
                <a:cs typeface="Courier New"/>
                <a:sym typeface="Courier New"/>
              </a:rPr>
              <a:t>YardCoordinate</a:t>
            </a:r>
            <a:r>
              <a:rPr lang="en" dirty="0"/>
              <a:t> class enumeration in the </a:t>
            </a:r>
            <a:r>
              <a:rPr lang="en" dirty="0">
                <a:solidFill>
                  <a:srgbClr val="FF0000"/>
                </a:solidFill>
                <a:latin typeface="Courier New"/>
                <a:ea typeface="Courier New"/>
                <a:cs typeface="Courier New"/>
                <a:sym typeface="Courier New"/>
              </a:rPr>
              <a:t>bbb.model</a:t>
            </a:r>
            <a:r>
              <a:rPr lang="en" dirty="0">
                <a:solidFill>
                  <a:srgbClr val="FF0000"/>
                </a:solidFill>
              </a:rPr>
              <a:t> </a:t>
            </a:r>
            <a:r>
              <a:rPr lang="en" dirty="0"/>
              <a:t>package.</a:t>
            </a:r>
            <a:endParaRPr dirty="0"/>
          </a:p>
          <a:p>
            <a:pPr marL="457200" lvl="0" indent="-311150" algn="l" rtl="0">
              <a:lnSpc>
                <a:spcPct val="115000"/>
              </a:lnSpc>
              <a:spcBef>
                <a:spcPts val="0"/>
              </a:spcBef>
              <a:spcAft>
                <a:spcPts val="0"/>
              </a:spcAft>
              <a:buSzPts val="1300"/>
              <a:buChar char="●"/>
            </a:pPr>
            <a:r>
              <a:rPr lang="en" dirty="0"/>
              <a:t>The </a:t>
            </a:r>
            <a:r>
              <a:rPr lang="en" dirty="0">
                <a:latin typeface="Courier New"/>
                <a:ea typeface="Courier New"/>
                <a:cs typeface="Courier New"/>
                <a:sym typeface="Courier New"/>
              </a:rPr>
              <a:t>YardCoordinate(coordinate: String)</a:t>
            </a:r>
            <a:r>
              <a:rPr lang="en" dirty="0"/>
              <a:t> constructor is a convenience constructor and can accept a string in the format of </a:t>
            </a:r>
            <a:r>
              <a:rPr lang="en" dirty="0">
                <a:latin typeface="Courier New"/>
                <a:ea typeface="Courier New"/>
                <a:cs typeface="Courier New"/>
                <a:sym typeface="Courier New"/>
              </a:rPr>
              <a:t>"&lt;row&gt;&lt;col&gt;"</a:t>
            </a:r>
            <a:r>
              <a:rPr lang="en" dirty="0"/>
              <a:t>, e.g. </a:t>
            </a:r>
            <a:r>
              <a:rPr lang="en" dirty="0">
                <a:latin typeface="Courier New"/>
                <a:ea typeface="Courier New"/>
                <a:cs typeface="Courier New"/>
                <a:sym typeface="Courier New"/>
              </a:rPr>
              <a:t>"A5"</a:t>
            </a:r>
            <a:r>
              <a:rPr lang="en" dirty="0"/>
              <a:t>.</a:t>
            </a:r>
            <a:endParaRPr dirty="0"/>
          </a:p>
          <a:p>
            <a:pPr marL="457200" lvl="0" indent="-311150" algn="l" rtl="0">
              <a:lnSpc>
                <a:spcPct val="115000"/>
              </a:lnSpc>
              <a:spcBef>
                <a:spcPts val="0"/>
              </a:spcBef>
              <a:spcAft>
                <a:spcPts val="0"/>
              </a:spcAft>
              <a:buSzPts val="1300"/>
              <a:buChar char="●"/>
            </a:pPr>
            <a:r>
              <a:rPr lang="en" dirty="0">
                <a:highlight>
                  <a:srgbClr val="FFFF00"/>
                </a:highlight>
              </a:rPr>
              <a:t>You </a:t>
            </a:r>
            <a:r>
              <a:rPr lang="en" b="1" i="1" dirty="0">
                <a:solidFill>
                  <a:srgbClr val="FF0000"/>
                </a:solidFill>
                <a:highlight>
                  <a:srgbClr val="FFFF00"/>
                </a:highlight>
              </a:rPr>
              <a:t>must</a:t>
            </a:r>
            <a:r>
              <a:rPr lang="en" dirty="0">
                <a:solidFill>
                  <a:srgbClr val="FF0000"/>
                </a:solidFill>
                <a:highlight>
                  <a:srgbClr val="FFFF00"/>
                </a:highlight>
              </a:rPr>
              <a:t> </a:t>
            </a:r>
            <a:r>
              <a:rPr lang="en" dirty="0">
                <a:highlight>
                  <a:srgbClr val="FFFF00"/>
                </a:highlight>
              </a:rPr>
              <a:t>include the attributes and methods in the UML.  Consider:</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Will you need additional attributes?</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Will you need additional methods, non-static or static?</a:t>
            </a:r>
            <a:endParaRPr dirty="0">
              <a:highlight>
                <a:srgbClr val="FFFF00"/>
              </a:highlight>
            </a:endParaRPr>
          </a:p>
          <a:p>
            <a:pPr marL="457200" lvl="0" indent="-311150" algn="l" rtl="0">
              <a:lnSpc>
                <a:spcPct val="115000"/>
              </a:lnSpc>
              <a:spcBef>
                <a:spcPts val="0"/>
              </a:spcBef>
              <a:spcAft>
                <a:spcPts val="0"/>
              </a:spcAft>
              <a:buSzPts val="1300"/>
              <a:buChar char="●"/>
            </a:pPr>
            <a:r>
              <a:rPr lang="en" dirty="0"/>
              <a:t>Once created, you may remove the </a:t>
            </a:r>
            <a:r>
              <a:rPr lang="en" dirty="0">
                <a:solidFill>
                  <a:srgbClr val="FF0000"/>
                </a:solidFill>
                <a:latin typeface="Courier New"/>
                <a:ea typeface="Courier New"/>
                <a:cs typeface="Courier New"/>
                <a:sym typeface="Courier New"/>
              </a:rPr>
              <a:t>delete_me.txt</a:t>
            </a:r>
            <a:r>
              <a:rPr lang="en" dirty="0"/>
              <a:t> file from the </a:t>
            </a:r>
            <a:r>
              <a:rPr lang="en" dirty="0">
                <a:solidFill>
                  <a:srgbClr val="FF0000"/>
                </a:solidFill>
                <a:latin typeface="Courier New"/>
                <a:ea typeface="Courier New"/>
                <a:cs typeface="Courier New"/>
                <a:sym typeface="Courier New"/>
              </a:rPr>
              <a:t>bbb.model</a:t>
            </a:r>
            <a:r>
              <a:rPr lang="en" dirty="0"/>
              <a:t> package.</a:t>
            </a:r>
            <a:endParaRPr dirty="0"/>
          </a:p>
        </p:txBody>
      </p:sp>
      <p:sp>
        <p:nvSpPr>
          <p:cNvPr id="165" name="Google Shape;165;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11</a:t>
            </a:fld>
            <a:endParaRPr/>
          </a:p>
        </p:txBody>
      </p:sp>
      <p:sp>
        <p:nvSpPr>
          <p:cNvPr id="166" name="Google Shape;166;p23"/>
          <p:cNvSpPr txBox="1">
            <a:spLocks noGrp="1"/>
          </p:cNvSpPr>
          <p:nvPr>
            <p:ph type="body" idx="3"/>
          </p:nvPr>
        </p:nvSpPr>
        <p:spPr>
          <a:xfrm>
            <a:off x="315425" y="3784850"/>
            <a:ext cx="3706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SzPts val="1300"/>
              <a:buNone/>
            </a:pPr>
            <a:r>
              <a:rPr lang="en" sz="1200" dirty="0"/>
              <a:t>While you are </a:t>
            </a:r>
            <a:r>
              <a:rPr lang="en" sz="1200" b="1" i="1" dirty="0">
                <a:solidFill>
                  <a:srgbClr val="FF0000"/>
                </a:solidFill>
              </a:rPr>
              <a:t>required </a:t>
            </a:r>
            <a:r>
              <a:rPr lang="en" sz="1200" dirty="0"/>
              <a:t>to include the attributes and methods in the diagram above, you may add additional state and behavior if you find it necessary to do so.</a:t>
            </a:r>
            <a:endParaRPr sz="1200" dirty="0"/>
          </a:p>
        </p:txBody>
      </p:sp>
      <p:pic>
        <p:nvPicPr>
          <p:cNvPr id="167" name="Google Shape;167;p23"/>
          <p:cNvPicPr preferRelativeResize="0"/>
          <p:nvPr/>
        </p:nvPicPr>
        <p:blipFill>
          <a:blip r:embed="rId3">
            <a:alphaModFix/>
          </a:blip>
          <a:stretch>
            <a:fillRect/>
          </a:stretch>
        </p:blipFill>
        <p:spPr>
          <a:xfrm>
            <a:off x="152400" y="1193703"/>
            <a:ext cx="3972875" cy="22759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4"/>
          <p:cNvSpPr txBox="1">
            <a:spLocks noGrp="1"/>
          </p:cNvSpPr>
          <p:nvPr>
            <p:ph type="title"/>
          </p:nvPr>
        </p:nvSpPr>
        <p:spPr>
          <a:xfrm>
            <a:off x="311725" y="5009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Symbols</a:t>
            </a:r>
            <a:endParaRPr/>
          </a:p>
        </p:txBody>
      </p:sp>
      <p:sp>
        <p:nvSpPr>
          <p:cNvPr id="173" name="Google Shape;173;p24"/>
          <p:cNvSpPr txBox="1">
            <a:spLocks noGrp="1"/>
          </p:cNvSpPr>
          <p:nvPr>
            <p:ph type="body" idx="1"/>
          </p:nvPr>
        </p:nvSpPr>
        <p:spPr>
          <a:xfrm>
            <a:off x="4644675" y="272325"/>
            <a:ext cx="4166400" cy="45492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SzPts val="1300"/>
              <a:buChar char="●"/>
            </a:pPr>
            <a:r>
              <a:rPr lang="en" dirty="0"/>
              <a:t>Next, you'll need to be able to track and communicate what is happening at each coordinate in the yard.</a:t>
            </a:r>
            <a:endParaRPr dirty="0"/>
          </a:p>
          <a:p>
            <a:pPr marL="914400" lvl="1" indent="-311150" algn="l" rtl="0">
              <a:lnSpc>
                <a:spcPct val="115000"/>
              </a:lnSpc>
              <a:spcBef>
                <a:spcPts val="0"/>
              </a:spcBef>
              <a:spcAft>
                <a:spcPts val="0"/>
              </a:spcAft>
              <a:buSzPts val="1300"/>
              <a:buChar char="○"/>
            </a:pPr>
            <a:r>
              <a:rPr lang="en" dirty="0"/>
              <a:t>Has a coordinate been dug yet?</a:t>
            </a:r>
            <a:endParaRPr dirty="0"/>
          </a:p>
          <a:p>
            <a:pPr marL="914400" lvl="1" indent="-298450" algn="l" rtl="0">
              <a:lnSpc>
                <a:spcPct val="115000"/>
              </a:lnSpc>
              <a:spcBef>
                <a:spcPts val="0"/>
              </a:spcBef>
              <a:spcAft>
                <a:spcPts val="0"/>
              </a:spcAft>
              <a:buSzPts val="1100"/>
              <a:buChar char="○"/>
            </a:pPr>
            <a:r>
              <a:rPr lang="en" dirty="0"/>
              <a:t>Did it reveal a Toy Part or a Hole?</a:t>
            </a:r>
            <a:endParaRPr dirty="0"/>
          </a:p>
          <a:p>
            <a:pPr marL="457200" lvl="0" indent="-311150" algn="l" rtl="0">
              <a:lnSpc>
                <a:spcPct val="115000"/>
              </a:lnSpc>
              <a:spcBef>
                <a:spcPts val="0"/>
              </a:spcBef>
              <a:spcAft>
                <a:spcPts val="0"/>
              </a:spcAft>
              <a:buSzPts val="1300"/>
              <a:buChar char="●"/>
            </a:pPr>
            <a:r>
              <a:rPr lang="en" dirty="0"/>
              <a:t>Using the UML to the left, implement a </a:t>
            </a:r>
            <a:r>
              <a:rPr lang="en" dirty="0">
                <a:solidFill>
                  <a:srgbClr val="FF0000"/>
                </a:solidFill>
                <a:latin typeface="Courier New"/>
                <a:ea typeface="Courier New"/>
                <a:cs typeface="Courier New"/>
                <a:sym typeface="Courier New"/>
              </a:rPr>
              <a:t>Symbol</a:t>
            </a:r>
            <a:r>
              <a:rPr lang="en" dirty="0"/>
              <a:t> enumeration in the </a:t>
            </a:r>
            <a:r>
              <a:rPr lang="en" dirty="0">
                <a:solidFill>
                  <a:srgbClr val="FF0000"/>
                </a:solidFill>
                <a:latin typeface="Courier New"/>
                <a:ea typeface="Courier New"/>
                <a:cs typeface="Courier New"/>
                <a:sym typeface="Courier New"/>
              </a:rPr>
              <a:t>bbb.model</a:t>
            </a:r>
            <a:r>
              <a:rPr lang="en" dirty="0">
                <a:solidFill>
                  <a:srgbClr val="FF0000"/>
                </a:solidFill>
              </a:rPr>
              <a:t> </a:t>
            </a:r>
            <a:r>
              <a:rPr lang="en" dirty="0"/>
              <a:t>package.</a:t>
            </a:r>
            <a:endParaRPr dirty="0"/>
          </a:p>
          <a:p>
            <a:pPr marL="914400" lvl="1" indent="-311150" algn="l" rtl="0">
              <a:lnSpc>
                <a:spcPct val="115000"/>
              </a:lnSpc>
              <a:spcBef>
                <a:spcPts val="0"/>
              </a:spcBef>
              <a:spcAft>
                <a:spcPts val="0"/>
              </a:spcAft>
              <a:buSzPts val="1300"/>
              <a:buChar char="○"/>
            </a:pPr>
            <a:r>
              <a:rPr lang="en" dirty="0">
                <a:solidFill>
                  <a:srgbClr val="FF0000"/>
                </a:solidFill>
                <a:latin typeface="Courier New"/>
                <a:ea typeface="Courier New"/>
                <a:cs typeface="Courier New"/>
                <a:sym typeface="Courier New"/>
              </a:rPr>
              <a:t>GRASS</a:t>
            </a:r>
            <a:r>
              <a:rPr lang="en" dirty="0"/>
              <a:t> - a coordinate that has not been dug at yet.</a:t>
            </a:r>
            <a:endParaRPr dirty="0"/>
          </a:p>
          <a:p>
            <a:pPr marL="914400" lvl="1" indent="-298450" algn="l" rtl="0">
              <a:lnSpc>
                <a:spcPct val="115000"/>
              </a:lnSpc>
              <a:spcBef>
                <a:spcPts val="0"/>
              </a:spcBef>
              <a:spcAft>
                <a:spcPts val="0"/>
              </a:spcAft>
              <a:buSzPts val="1100"/>
              <a:buChar char="○"/>
            </a:pPr>
            <a:r>
              <a:rPr lang="en" dirty="0">
                <a:solidFill>
                  <a:srgbClr val="FF0000"/>
                </a:solidFill>
                <a:latin typeface="Courier New"/>
                <a:ea typeface="Courier New"/>
                <a:cs typeface="Courier New"/>
                <a:sym typeface="Courier New"/>
              </a:rPr>
              <a:t>HOLE</a:t>
            </a:r>
            <a:r>
              <a:rPr lang="en" dirty="0"/>
              <a:t> -  a coordinate that has been dug and contains no toy part.</a:t>
            </a:r>
            <a:endParaRPr dirty="0"/>
          </a:p>
          <a:p>
            <a:pPr marL="914400" lvl="1" indent="-298450" algn="l" rtl="0">
              <a:lnSpc>
                <a:spcPct val="115000"/>
              </a:lnSpc>
              <a:spcBef>
                <a:spcPts val="0"/>
              </a:spcBef>
              <a:spcAft>
                <a:spcPts val="0"/>
              </a:spcAft>
              <a:buSzPts val="1100"/>
              <a:buChar char="○"/>
            </a:pPr>
            <a:r>
              <a:rPr lang="en" dirty="0">
                <a:solidFill>
                  <a:srgbClr val="FF0000"/>
                </a:solidFill>
                <a:latin typeface="Courier New"/>
                <a:ea typeface="Courier New"/>
                <a:cs typeface="Courier New"/>
                <a:sym typeface="Courier New"/>
              </a:rPr>
              <a:t>PART</a:t>
            </a:r>
            <a:r>
              <a:rPr lang="en" dirty="0"/>
              <a:t> - a coordinate that has been dug and contains a part.</a:t>
            </a:r>
            <a:endParaRPr dirty="0"/>
          </a:p>
          <a:p>
            <a:pPr marL="914400" lvl="1" indent="-298450" algn="l" rtl="0">
              <a:lnSpc>
                <a:spcPct val="115000"/>
              </a:lnSpc>
              <a:spcBef>
                <a:spcPts val="0"/>
              </a:spcBef>
              <a:spcAft>
                <a:spcPts val="0"/>
              </a:spcAft>
              <a:buSzPts val="1100"/>
              <a:buChar char="○"/>
            </a:pPr>
            <a:r>
              <a:rPr lang="en" dirty="0">
                <a:solidFill>
                  <a:srgbClr val="FF0000"/>
                </a:solidFill>
                <a:latin typeface="Courier New"/>
                <a:ea typeface="Courier New"/>
                <a:cs typeface="Courier New"/>
                <a:sym typeface="Courier New"/>
              </a:rPr>
              <a:t>STICK, BONE, SQUEAKER, SHOE, CHEW_ROPE</a:t>
            </a:r>
            <a:r>
              <a:rPr lang="en" dirty="0"/>
              <a:t> - indicates that a part of the corresponding toy is located at that coordinate. If an opponent digs at this coordinate, the yard will be updated to be a </a:t>
            </a:r>
            <a:r>
              <a:rPr lang="en" dirty="0">
                <a:solidFill>
                  <a:srgbClr val="FF0000"/>
                </a:solidFill>
                <a:latin typeface="Courier New"/>
                <a:ea typeface="Courier New"/>
                <a:cs typeface="Courier New"/>
                <a:sym typeface="Courier New"/>
              </a:rPr>
              <a:t>PART</a:t>
            </a:r>
            <a:r>
              <a:rPr lang="en" dirty="0"/>
              <a:t> symbol.</a:t>
            </a:r>
            <a:endParaRPr dirty="0"/>
          </a:p>
        </p:txBody>
      </p:sp>
      <p:sp>
        <p:nvSpPr>
          <p:cNvPr id="174" name="Google Shape;17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12</a:t>
            </a:fld>
            <a:endParaRPr/>
          </a:p>
        </p:txBody>
      </p:sp>
      <p:sp>
        <p:nvSpPr>
          <p:cNvPr id="175" name="Google Shape;175;p24"/>
          <p:cNvSpPr txBox="1">
            <a:spLocks noGrp="1"/>
          </p:cNvSpPr>
          <p:nvPr>
            <p:ph type="body" idx="3"/>
          </p:nvPr>
        </p:nvSpPr>
        <p:spPr>
          <a:xfrm>
            <a:off x="311725" y="4072798"/>
            <a:ext cx="3706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SzPts val="1300"/>
              <a:buNone/>
            </a:pPr>
            <a:r>
              <a:rPr lang="en" sz="1200"/>
              <a:t>While you are </a:t>
            </a:r>
            <a:r>
              <a:rPr lang="en" sz="1200" b="1" i="1">
                <a:solidFill>
                  <a:srgbClr val="FF0000"/>
                </a:solidFill>
              </a:rPr>
              <a:t>required </a:t>
            </a:r>
            <a:r>
              <a:rPr lang="en" sz="1200"/>
              <a:t>to include the </a:t>
            </a:r>
            <a:r>
              <a:rPr lang="en" sz="1200" b="1" i="1">
                <a:solidFill>
                  <a:srgbClr val="FF0000"/>
                </a:solidFill>
              </a:rPr>
              <a:t>values</a:t>
            </a:r>
            <a:r>
              <a:rPr lang="en" sz="1200"/>
              <a:t> in the diagram above, you may add additional state and behavior if you find it necessary to do so.</a:t>
            </a:r>
            <a:endParaRPr sz="1200"/>
          </a:p>
        </p:txBody>
      </p:sp>
      <p:pic>
        <p:nvPicPr>
          <p:cNvPr id="176" name="Google Shape;176;p24"/>
          <p:cNvPicPr preferRelativeResize="0"/>
          <p:nvPr/>
        </p:nvPicPr>
        <p:blipFill rotWithShape="1">
          <a:blip r:embed="rId3">
            <a:alphaModFix/>
          </a:blip>
          <a:srcRect l="3755" t="3755" r="3755" b="3755"/>
          <a:stretch/>
        </p:blipFill>
        <p:spPr>
          <a:xfrm>
            <a:off x="786376" y="1160547"/>
            <a:ext cx="2652470" cy="27075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5"/>
          <p:cNvSpPr txBox="1">
            <a:spLocks noGrp="1"/>
          </p:cNvSpPr>
          <p:nvPr>
            <p:ph type="title"/>
          </p:nvPr>
        </p:nvSpPr>
        <p:spPr>
          <a:xfrm>
            <a:off x="311725" y="5009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Toys</a:t>
            </a:r>
            <a:endParaRPr/>
          </a:p>
        </p:txBody>
      </p:sp>
      <p:sp>
        <p:nvSpPr>
          <p:cNvPr id="182" name="Google Shape;182;p25"/>
          <p:cNvSpPr txBox="1">
            <a:spLocks noGrp="1"/>
          </p:cNvSpPr>
          <p:nvPr>
            <p:ph type="body" idx="1"/>
          </p:nvPr>
        </p:nvSpPr>
        <p:spPr>
          <a:xfrm>
            <a:off x="4644675" y="646525"/>
            <a:ext cx="4166400" cy="36645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SzPts val="1300"/>
              <a:buChar char="●"/>
            </a:pPr>
            <a:r>
              <a:rPr lang="en"/>
              <a:t>The game has a variety of toys  of varying lengths. Each toy has a </a:t>
            </a:r>
            <a:r>
              <a:rPr lang="en">
                <a:solidFill>
                  <a:srgbClr val="FF0000"/>
                </a:solidFill>
                <a:latin typeface="Courier New"/>
                <a:ea typeface="Courier New"/>
                <a:cs typeface="Courier New"/>
                <a:sym typeface="Courier New"/>
              </a:rPr>
              <a:t>Symbol</a:t>
            </a:r>
            <a:r>
              <a:rPr lang="en"/>
              <a:t> that represents it in the game.</a:t>
            </a:r>
            <a:endParaRPr/>
          </a:p>
          <a:p>
            <a:pPr marL="457200" lvl="0" indent="-311150" algn="l" rtl="0">
              <a:lnSpc>
                <a:spcPct val="115000"/>
              </a:lnSpc>
              <a:spcBef>
                <a:spcPts val="0"/>
              </a:spcBef>
              <a:spcAft>
                <a:spcPts val="0"/>
              </a:spcAft>
              <a:buSzPts val="1300"/>
              <a:buChar char="●"/>
            </a:pPr>
            <a:r>
              <a:rPr lang="en"/>
              <a:t>Using the UML to the left, implement a </a:t>
            </a:r>
            <a:r>
              <a:rPr lang="en">
                <a:solidFill>
                  <a:srgbClr val="FF0000"/>
                </a:solidFill>
                <a:latin typeface="Courier New"/>
                <a:ea typeface="Courier New"/>
                <a:cs typeface="Courier New"/>
                <a:sym typeface="Courier New"/>
              </a:rPr>
              <a:t>Toy</a:t>
            </a:r>
            <a:r>
              <a:rPr lang="en"/>
              <a:t> enumeration in the </a:t>
            </a:r>
            <a:r>
              <a:rPr lang="en">
                <a:solidFill>
                  <a:srgbClr val="FF0000"/>
                </a:solidFill>
                <a:latin typeface="Courier New"/>
                <a:ea typeface="Courier New"/>
                <a:cs typeface="Courier New"/>
                <a:sym typeface="Courier New"/>
              </a:rPr>
              <a:t>bbb.model</a:t>
            </a:r>
            <a:r>
              <a:rPr lang="en">
                <a:solidFill>
                  <a:srgbClr val="FF0000"/>
                </a:solidFill>
              </a:rPr>
              <a:t> </a:t>
            </a:r>
            <a:r>
              <a:rPr lang="en"/>
              <a:t>package.</a:t>
            </a:r>
            <a:endParaRPr/>
          </a:p>
          <a:p>
            <a:pPr marL="457200" lvl="0" indent="-311150" algn="l" rtl="0">
              <a:lnSpc>
                <a:spcPct val="115000"/>
              </a:lnSpc>
              <a:spcBef>
                <a:spcPts val="0"/>
              </a:spcBef>
              <a:spcAft>
                <a:spcPts val="0"/>
              </a:spcAft>
              <a:buSzPts val="1300"/>
              <a:buChar char="●"/>
            </a:pPr>
            <a:r>
              <a:rPr lang="en"/>
              <a:t>You </a:t>
            </a:r>
            <a:r>
              <a:rPr lang="en" b="1" i="1">
                <a:solidFill>
                  <a:srgbClr val="FF0000"/>
                </a:solidFill>
              </a:rPr>
              <a:t>must</a:t>
            </a:r>
            <a:r>
              <a:rPr lang="en">
                <a:solidFill>
                  <a:srgbClr val="FF0000"/>
                </a:solidFill>
              </a:rPr>
              <a:t> </a:t>
            </a:r>
            <a:r>
              <a:rPr lang="en"/>
              <a:t>include the values in the UML.  Consider:</a:t>
            </a:r>
            <a:endParaRPr/>
          </a:p>
          <a:p>
            <a:pPr marL="914400" lvl="1" indent="-298450" algn="l" rtl="0">
              <a:lnSpc>
                <a:spcPct val="115000"/>
              </a:lnSpc>
              <a:spcBef>
                <a:spcPts val="0"/>
              </a:spcBef>
              <a:spcAft>
                <a:spcPts val="0"/>
              </a:spcAft>
              <a:buSzPts val="1100"/>
              <a:buChar char="○"/>
            </a:pPr>
            <a:r>
              <a:rPr lang="en"/>
              <a:t>Will you need additional attributes associated with each value?</a:t>
            </a:r>
            <a:endParaRPr/>
          </a:p>
          <a:p>
            <a:pPr marL="914400" lvl="1" indent="-298450" algn="l" rtl="0">
              <a:lnSpc>
                <a:spcPct val="115000"/>
              </a:lnSpc>
              <a:spcBef>
                <a:spcPts val="0"/>
              </a:spcBef>
              <a:spcAft>
                <a:spcPts val="0"/>
              </a:spcAft>
              <a:buSzPts val="1100"/>
              <a:buChar char="○"/>
            </a:pPr>
            <a:r>
              <a:rPr lang="en"/>
              <a:t>Will you need additional methods, non-static or static?</a:t>
            </a:r>
            <a:endParaRPr/>
          </a:p>
          <a:p>
            <a:pPr marL="914400" lvl="1" indent="-298450" algn="l" rtl="0">
              <a:lnSpc>
                <a:spcPct val="115000"/>
              </a:lnSpc>
              <a:spcBef>
                <a:spcPts val="0"/>
              </a:spcBef>
              <a:spcAft>
                <a:spcPts val="0"/>
              </a:spcAft>
              <a:buSzPts val="1100"/>
              <a:buChar char="○"/>
            </a:pPr>
            <a:r>
              <a:rPr lang="en"/>
              <a:t>Will you want to print a nicely formatted version of the enumeration?</a:t>
            </a:r>
            <a:endParaRPr/>
          </a:p>
        </p:txBody>
      </p:sp>
      <p:sp>
        <p:nvSpPr>
          <p:cNvPr id="183" name="Google Shape;183;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184" name="Google Shape;184;p25"/>
          <p:cNvSpPr txBox="1">
            <a:spLocks noGrp="1"/>
          </p:cNvSpPr>
          <p:nvPr>
            <p:ph type="body" idx="3"/>
          </p:nvPr>
        </p:nvSpPr>
        <p:spPr>
          <a:xfrm>
            <a:off x="311725" y="4151325"/>
            <a:ext cx="3706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SzPts val="1300"/>
              <a:buNone/>
            </a:pPr>
            <a:r>
              <a:rPr lang="en" sz="1200"/>
              <a:t>While you are </a:t>
            </a:r>
            <a:r>
              <a:rPr lang="en" sz="1200" b="1" i="1">
                <a:solidFill>
                  <a:srgbClr val="FF0000"/>
                </a:solidFill>
              </a:rPr>
              <a:t>required </a:t>
            </a:r>
            <a:r>
              <a:rPr lang="en" sz="1200"/>
              <a:t>to include the values in the diagram above, you may add additional state and behavior if you find it necessary to do so.</a:t>
            </a:r>
            <a:endParaRPr sz="1200"/>
          </a:p>
        </p:txBody>
      </p:sp>
      <p:pic>
        <p:nvPicPr>
          <p:cNvPr id="185" name="Google Shape;185;p25"/>
          <p:cNvPicPr preferRelativeResize="0"/>
          <p:nvPr/>
        </p:nvPicPr>
        <p:blipFill>
          <a:blip r:embed="rId3">
            <a:alphaModFix/>
          </a:blip>
          <a:stretch>
            <a:fillRect/>
          </a:stretch>
        </p:blipFill>
        <p:spPr>
          <a:xfrm>
            <a:off x="431400" y="1136038"/>
            <a:ext cx="3467149" cy="28714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6"/>
          <p:cNvSpPr txBox="1">
            <a:spLocks noGrp="1"/>
          </p:cNvSpPr>
          <p:nvPr>
            <p:ph type="sldNum" idx="12"/>
          </p:nvPr>
        </p:nvSpPr>
        <p:spPr>
          <a:xfrm>
            <a:off x="14258" y="47394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14</a:t>
            </a:fld>
            <a:endParaRPr/>
          </a:p>
        </p:txBody>
      </p:sp>
      <p:sp>
        <p:nvSpPr>
          <p:cNvPr id="191" name="Google Shape;191;p26"/>
          <p:cNvSpPr txBox="1">
            <a:spLocks noGrp="1"/>
          </p:cNvSpPr>
          <p:nvPr>
            <p:ph type="title"/>
          </p:nvPr>
        </p:nvSpPr>
        <p:spPr>
          <a:xfrm>
            <a:off x="5264725" y="2723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Thinking Logically</a:t>
            </a:r>
            <a:endParaRPr/>
          </a:p>
        </p:txBody>
      </p:sp>
      <p:sp>
        <p:nvSpPr>
          <p:cNvPr id="192" name="Google Shape;192;p26"/>
          <p:cNvSpPr txBox="1">
            <a:spLocks noGrp="1"/>
          </p:cNvSpPr>
          <p:nvPr>
            <p:ph type="body" idx="1"/>
          </p:nvPr>
        </p:nvSpPr>
        <p:spPr>
          <a:xfrm>
            <a:off x="314350" y="208650"/>
            <a:ext cx="4374000" cy="47262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SzPts val="1300"/>
              <a:buChar char="●"/>
            </a:pPr>
            <a:r>
              <a:rPr lang="en" dirty="0"/>
              <a:t>Now that you have a good starting point of data structures and attributes, discuss the </a:t>
            </a:r>
            <a:r>
              <a:rPr lang="en" b="1" i="1" dirty="0">
                <a:solidFill>
                  <a:srgbClr val="FF0000"/>
                </a:solidFill>
              </a:rPr>
              <a:t>logic </a:t>
            </a:r>
            <a:r>
              <a:rPr lang="en" dirty="0"/>
              <a:t>needed to implement the </a:t>
            </a:r>
            <a:r>
              <a:rPr lang="en" b="1" i="1" dirty="0">
                <a:solidFill>
                  <a:srgbClr val="FF0000"/>
                </a:solidFill>
              </a:rPr>
              <a:t>gameplay</a:t>
            </a:r>
            <a:r>
              <a:rPr lang="en" dirty="0"/>
              <a:t> and maintain the </a:t>
            </a:r>
            <a:r>
              <a:rPr lang="en" b="1" i="1" dirty="0">
                <a:solidFill>
                  <a:srgbClr val="FF0000"/>
                </a:solidFill>
              </a:rPr>
              <a:t>game state</a:t>
            </a:r>
            <a:r>
              <a:rPr lang="en" dirty="0"/>
              <a:t>.</a:t>
            </a:r>
            <a:endParaRPr dirty="0"/>
          </a:p>
          <a:p>
            <a:pPr marL="0" lvl="0" indent="0" algn="l" rtl="0">
              <a:lnSpc>
                <a:spcPct val="115000"/>
              </a:lnSpc>
              <a:spcBef>
                <a:spcPts val="0"/>
              </a:spcBef>
              <a:spcAft>
                <a:spcPts val="0"/>
              </a:spcAft>
              <a:buNone/>
            </a:pPr>
            <a:r>
              <a:rPr lang="en" dirty="0"/>
              <a:t>	How will your implementation</a:t>
            </a:r>
            <a:endParaRPr dirty="0"/>
          </a:p>
          <a:p>
            <a:pPr marL="914400" lvl="0" indent="-311150" algn="l" rtl="0">
              <a:lnSpc>
                <a:spcPct val="115000"/>
              </a:lnSpc>
              <a:spcBef>
                <a:spcPts val="0"/>
              </a:spcBef>
              <a:spcAft>
                <a:spcPts val="0"/>
              </a:spcAft>
              <a:buSzPts val="1300"/>
              <a:buChar char="●"/>
            </a:pPr>
            <a:r>
              <a:rPr lang="en" dirty="0"/>
              <a:t>Represent the yard and/or grid?</a:t>
            </a:r>
            <a:endParaRPr dirty="0"/>
          </a:p>
          <a:p>
            <a:pPr marL="914400" lvl="0" indent="-311150" algn="l" rtl="0">
              <a:lnSpc>
                <a:spcPct val="115000"/>
              </a:lnSpc>
              <a:spcBef>
                <a:spcPts val="0"/>
              </a:spcBef>
              <a:spcAft>
                <a:spcPts val="0"/>
              </a:spcAft>
              <a:buSzPts val="1300"/>
              <a:buChar char="●"/>
            </a:pPr>
            <a:r>
              <a:rPr lang="en" dirty="0"/>
              <a:t>Randomly place the toys?</a:t>
            </a:r>
            <a:endParaRPr dirty="0"/>
          </a:p>
          <a:p>
            <a:pPr marL="914400" lvl="0" indent="-311150" algn="l" rtl="0">
              <a:lnSpc>
                <a:spcPct val="115000"/>
              </a:lnSpc>
              <a:spcBef>
                <a:spcPts val="0"/>
              </a:spcBef>
              <a:spcAft>
                <a:spcPts val="0"/>
              </a:spcAft>
              <a:buSzPts val="1300"/>
              <a:buChar char="●"/>
            </a:pPr>
            <a:r>
              <a:rPr lang="en" dirty="0"/>
              <a:t>Determine where the Cyber Pup will dig next?</a:t>
            </a:r>
            <a:endParaRPr dirty="0"/>
          </a:p>
          <a:p>
            <a:pPr marL="914400" lvl="0" indent="-311150" algn="l" rtl="0">
              <a:lnSpc>
                <a:spcPct val="115000"/>
              </a:lnSpc>
              <a:spcBef>
                <a:spcPts val="0"/>
              </a:spcBef>
              <a:spcAft>
                <a:spcPts val="0"/>
              </a:spcAft>
              <a:buSzPts val="1300"/>
              <a:buChar char="●"/>
            </a:pPr>
            <a:r>
              <a:rPr lang="en" dirty="0"/>
              <a:t>How will you know if an entire toy has been dug up?</a:t>
            </a:r>
            <a:endParaRPr dirty="0"/>
          </a:p>
          <a:p>
            <a:pPr marL="914400" lvl="0" indent="-311150" algn="l" rtl="0">
              <a:lnSpc>
                <a:spcPct val="115000"/>
              </a:lnSpc>
              <a:spcBef>
                <a:spcPts val="0"/>
              </a:spcBef>
              <a:spcAft>
                <a:spcPts val="0"/>
              </a:spcAft>
              <a:buSzPts val="1300"/>
              <a:buChar char="●"/>
            </a:pPr>
            <a:r>
              <a:rPr lang="en" dirty="0"/>
              <a:t>How about if all toys are dug up?</a:t>
            </a:r>
            <a:endParaRPr dirty="0"/>
          </a:p>
          <a:p>
            <a:pPr marL="914400" lvl="0" indent="-311150" algn="l" rtl="0">
              <a:lnSpc>
                <a:spcPct val="115000"/>
              </a:lnSpc>
              <a:spcBef>
                <a:spcPts val="0"/>
              </a:spcBef>
              <a:spcAft>
                <a:spcPts val="0"/>
              </a:spcAft>
              <a:buSzPts val="1300"/>
              <a:buChar char="●"/>
            </a:pPr>
            <a:r>
              <a:rPr lang="en" dirty="0"/>
              <a:t>Manage game state?</a:t>
            </a:r>
            <a:endParaRPr dirty="0"/>
          </a:p>
          <a:p>
            <a:pPr marL="914400" lvl="0" indent="-311150" algn="l" rtl="0">
              <a:lnSpc>
                <a:spcPct val="115000"/>
              </a:lnSpc>
              <a:spcBef>
                <a:spcPts val="0"/>
              </a:spcBef>
              <a:spcAft>
                <a:spcPts val="0"/>
              </a:spcAft>
              <a:buSzPts val="1300"/>
              <a:buChar char="●"/>
            </a:pPr>
            <a:r>
              <a:rPr lang="en" dirty="0"/>
              <a:t>Return a representation of the yard to the UI?</a:t>
            </a:r>
            <a:endParaRPr dirty="0"/>
          </a:p>
          <a:p>
            <a:pPr marL="457200" lvl="0" indent="-311150" algn="l" rtl="0">
              <a:lnSpc>
                <a:spcPct val="115000"/>
              </a:lnSpc>
              <a:spcBef>
                <a:spcPts val="0"/>
              </a:spcBef>
              <a:spcAft>
                <a:spcPts val="0"/>
              </a:spcAft>
              <a:buSzPts val="1300"/>
              <a:buChar char="●"/>
            </a:pPr>
            <a:r>
              <a:rPr lang="en" dirty="0"/>
              <a:t>Take some time to </a:t>
            </a:r>
            <a:r>
              <a:rPr lang="en" b="1" i="1" dirty="0">
                <a:solidFill>
                  <a:srgbClr val="FF0000"/>
                </a:solidFill>
              </a:rPr>
              <a:t>design</a:t>
            </a:r>
            <a:r>
              <a:rPr lang="en" dirty="0"/>
              <a:t> the yard and/or grid on paper or a whiteboard. You won't regret it.</a:t>
            </a:r>
            <a:endParaRPr dirty="0"/>
          </a:p>
          <a:p>
            <a:pPr marL="457200" lvl="0" indent="-311150" algn="l" rtl="0">
              <a:lnSpc>
                <a:spcPct val="115000"/>
              </a:lnSpc>
              <a:spcBef>
                <a:spcPts val="0"/>
              </a:spcBef>
              <a:spcAft>
                <a:spcPts val="0"/>
              </a:spcAft>
              <a:buSzPts val="1300"/>
              <a:buChar char="●"/>
            </a:pPr>
            <a:r>
              <a:rPr lang="en" dirty="0"/>
              <a:t>Once your team feels comfortable with the </a:t>
            </a:r>
            <a:r>
              <a:rPr lang="en" b="1" i="1" dirty="0">
                <a:solidFill>
                  <a:srgbClr val="FF0000"/>
                </a:solidFill>
              </a:rPr>
              <a:t>design decisions</a:t>
            </a:r>
            <a:r>
              <a:rPr lang="en" dirty="0"/>
              <a:t> made, begin implementing the methods in the UML diagram.</a:t>
            </a:r>
            <a:endParaRPr dirty="0"/>
          </a:p>
          <a:p>
            <a:pPr marL="914400" lvl="1" indent="-298450" algn="l" rtl="0">
              <a:lnSpc>
                <a:spcPct val="115000"/>
              </a:lnSpc>
              <a:spcBef>
                <a:spcPts val="0"/>
              </a:spcBef>
              <a:spcAft>
                <a:spcPts val="0"/>
              </a:spcAft>
              <a:buSzPts val="1100"/>
              <a:buChar char="○"/>
            </a:pPr>
            <a:r>
              <a:rPr lang="en" dirty="0"/>
              <a:t>Add attributes and methods as needed.</a:t>
            </a:r>
            <a:endParaRPr dirty="0"/>
          </a:p>
        </p:txBody>
      </p:sp>
      <p:sp>
        <p:nvSpPr>
          <p:cNvPr id="193" name="Google Shape;193;p26"/>
          <p:cNvSpPr txBox="1">
            <a:spLocks noGrp="1"/>
          </p:cNvSpPr>
          <p:nvPr>
            <p:ph type="body" idx="3"/>
          </p:nvPr>
        </p:nvSpPr>
        <p:spPr>
          <a:xfrm>
            <a:off x="5192225" y="4165850"/>
            <a:ext cx="3706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SzPts val="1300"/>
              <a:buNone/>
            </a:pPr>
            <a:r>
              <a:rPr lang="en" sz="1200" b="1" i="1">
                <a:solidFill>
                  <a:srgbClr val="FF0000"/>
                </a:solidFill>
              </a:rPr>
              <a:t>Resist </a:t>
            </a:r>
            <a:r>
              <a:rPr lang="en" sz="1200"/>
              <a:t>the urge to zip by design discussions and dive into coding.  The further into a project a design flaw is discovered, the more costly it is to fix.</a:t>
            </a:r>
            <a:endParaRPr sz="1200"/>
          </a:p>
        </p:txBody>
      </p:sp>
      <p:pic>
        <p:nvPicPr>
          <p:cNvPr id="194" name="Google Shape;194;p26"/>
          <p:cNvPicPr preferRelativeResize="0"/>
          <p:nvPr/>
        </p:nvPicPr>
        <p:blipFill>
          <a:blip r:embed="rId3">
            <a:alphaModFix/>
          </a:blip>
          <a:stretch>
            <a:fillRect/>
          </a:stretch>
        </p:blipFill>
        <p:spPr>
          <a:xfrm>
            <a:off x="5647050" y="1005600"/>
            <a:ext cx="2796825" cy="27968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15</a:t>
            </a:fld>
            <a:endParaRPr/>
          </a:p>
        </p:txBody>
      </p:sp>
      <p:sp>
        <p:nvSpPr>
          <p:cNvPr id="200" name="Google Shape;200;p27"/>
          <p:cNvSpPr txBox="1">
            <a:spLocks noGrp="1"/>
          </p:cNvSpPr>
          <p:nvPr>
            <p:ph type="title"/>
          </p:nvPr>
        </p:nvSpPr>
        <p:spPr>
          <a:xfrm>
            <a:off x="315425" y="54433"/>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Meeting Times</a:t>
            </a:r>
            <a:endParaRPr/>
          </a:p>
        </p:txBody>
      </p:sp>
      <p:sp>
        <p:nvSpPr>
          <p:cNvPr id="201" name="Google Shape;201;p27"/>
          <p:cNvSpPr txBox="1">
            <a:spLocks noGrp="1"/>
          </p:cNvSpPr>
          <p:nvPr>
            <p:ph type="body" idx="2"/>
          </p:nvPr>
        </p:nvSpPr>
        <p:spPr>
          <a:xfrm>
            <a:off x="315425" y="639008"/>
            <a:ext cx="3706500" cy="4247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SzPts val="1300"/>
              <a:buNone/>
            </a:pPr>
            <a:r>
              <a:rPr lang="en"/>
              <a:t>Part 1 of the project counts </a:t>
            </a:r>
            <a:r>
              <a:rPr lang="en" b="1" i="1">
                <a:solidFill>
                  <a:srgbClr val="EA9999"/>
                </a:solidFill>
              </a:rPr>
              <a:t>twice </a:t>
            </a:r>
            <a:r>
              <a:rPr lang="en"/>
              <a:t>as much as a normal homework assignment. You and your team should plan on spending more time than usual working on it.</a:t>
            </a:r>
            <a:endParaRPr/>
          </a:p>
          <a:p>
            <a:pPr marL="0" lvl="0" indent="0" algn="l" rtl="0">
              <a:lnSpc>
                <a:spcPct val="115000"/>
              </a:lnSpc>
              <a:spcBef>
                <a:spcPts val="1600"/>
              </a:spcBef>
              <a:spcAft>
                <a:spcPts val="0"/>
              </a:spcAft>
              <a:buSzPts val="1300"/>
              <a:buNone/>
            </a:pPr>
            <a:r>
              <a:rPr lang="en"/>
              <a:t>You should also plan to</a:t>
            </a:r>
            <a:r>
              <a:rPr lang="en">
                <a:solidFill>
                  <a:srgbClr val="EA9999"/>
                </a:solidFill>
              </a:rPr>
              <a:t> </a:t>
            </a:r>
            <a:r>
              <a:rPr lang="en" b="1" i="1">
                <a:solidFill>
                  <a:srgbClr val="EA9999"/>
                </a:solidFill>
              </a:rPr>
              <a:t>work together</a:t>
            </a:r>
            <a:r>
              <a:rPr lang="en">
                <a:solidFill>
                  <a:srgbClr val="EA9999"/>
                </a:solidFill>
              </a:rPr>
              <a:t> </a:t>
            </a:r>
            <a:r>
              <a:rPr lang="en"/>
              <a:t>as much as you can, even if that means setting up a remote meeting using Zoom or Discord.</a:t>
            </a:r>
            <a:endParaRPr/>
          </a:p>
          <a:p>
            <a:pPr marL="0" lvl="0" indent="0" algn="l" rtl="0">
              <a:lnSpc>
                <a:spcPct val="115000"/>
              </a:lnSpc>
              <a:spcBef>
                <a:spcPts val="1600"/>
              </a:spcBef>
              <a:spcAft>
                <a:spcPts val="0"/>
              </a:spcAft>
              <a:buSzPts val="1300"/>
              <a:buNone/>
            </a:pPr>
            <a:r>
              <a:rPr lang="en"/>
              <a:t>Plan </a:t>
            </a:r>
            <a:r>
              <a:rPr lang="en" b="1" i="1">
                <a:solidFill>
                  <a:srgbClr val="EA9999"/>
                </a:solidFill>
              </a:rPr>
              <a:t>at least 2 meetings</a:t>
            </a:r>
            <a:r>
              <a:rPr lang="en">
                <a:solidFill>
                  <a:srgbClr val="EA9999"/>
                </a:solidFill>
              </a:rPr>
              <a:t> </a:t>
            </a:r>
            <a:r>
              <a:rPr lang="en"/>
              <a:t>over the course of this part of the project. Each meeting should be at least </a:t>
            </a:r>
            <a:r>
              <a:rPr lang="en" b="1" i="1">
                <a:solidFill>
                  <a:srgbClr val="EA9999"/>
                </a:solidFill>
              </a:rPr>
              <a:t>1 hour</a:t>
            </a:r>
            <a:r>
              <a:rPr lang="en"/>
              <a:t>.  Following the example on the right, put the information for all scheduled meetings in a </a:t>
            </a:r>
            <a:r>
              <a:rPr lang="en" i="1">
                <a:solidFill>
                  <a:srgbClr val="EA9999"/>
                </a:solidFill>
              </a:rPr>
              <a:t>meetings.txt</a:t>
            </a:r>
            <a:r>
              <a:rPr lang="en"/>
              <a:t> file and </a:t>
            </a:r>
            <a:r>
              <a:rPr lang="en" i="1">
                <a:solidFill>
                  <a:srgbClr val="EA9999"/>
                </a:solidFill>
              </a:rPr>
              <a:t>push to the root directory of your repository.</a:t>
            </a:r>
            <a:endParaRPr i="1">
              <a:solidFill>
                <a:srgbClr val="EA9999"/>
              </a:solidFill>
            </a:endParaRPr>
          </a:p>
          <a:p>
            <a:pPr marL="0" lvl="0" indent="0" algn="l" rtl="0">
              <a:spcBef>
                <a:spcPts val="0"/>
              </a:spcBef>
              <a:spcAft>
                <a:spcPts val="0"/>
              </a:spcAft>
              <a:buSzPts val="1300"/>
              <a:buNone/>
            </a:pPr>
            <a:endParaRPr>
              <a:solidFill>
                <a:schemeClr val="lt1"/>
              </a:solidFill>
            </a:endParaRPr>
          </a:p>
          <a:p>
            <a:pPr marL="0" lvl="0" indent="0" algn="l" rtl="0">
              <a:spcBef>
                <a:spcPts val="0"/>
              </a:spcBef>
              <a:spcAft>
                <a:spcPts val="0"/>
              </a:spcAft>
              <a:buSzPts val="1300"/>
              <a:buNone/>
            </a:pPr>
            <a:r>
              <a:rPr lang="en">
                <a:solidFill>
                  <a:schemeClr val="lt1"/>
                </a:solidFill>
              </a:rPr>
              <a:t>This part of the project is due </a:t>
            </a:r>
            <a:r>
              <a:rPr lang="en">
                <a:solidFill>
                  <a:srgbClr val="EA9999"/>
                </a:solidFill>
              </a:rPr>
              <a:t>Monday, March 30, 2026</a:t>
            </a:r>
            <a:r>
              <a:rPr lang="en">
                <a:solidFill>
                  <a:schemeClr val="lt1"/>
                </a:solidFill>
              </a:rPr>
              <a:t> at the start of class. </a:t>
            </a:r>
            <a:endParaRPr i="1">
              <a:solidFill>
                <a:srgbClr val="EA9999"/>
              </a:solidFill>
            </a:endParaRPr>
          </a:p>
        </p:txBody>
      </p:sp>
      <p:graphicFrame>
        <p:nvGraphicFramePr>
          <p:cNvPr id="202" name="Google Shape;202;p27"/>
          <p:cNvGraphicFramePr/>
          <p:nvPr/>
        </p:nvGraphicFramePr>
        <p:xfrm>
          <a:off x="4571975" y="348525"/>
          <a:ext cx="4411350" cy="3346485"/>
        </p:xfrm>
        <a:graphic>
          <a:graphicData uri="http://schemas.openxmlformats.org/drawingml/2006/table">
            <a:tbl>
              <a:tblPr>
                <a:noFill/>
                <a:tableStyleId>{1B37212C-CA35-4980-8892-C8B34478D71A}</a:tableStyleId>
              </a:tblPr>
              <a:tblGrid>
                <a:gridCol w="1470450">
                  <a:extLst>
                    <a:ext uri="{9D8B030D-6E8A-4147-A177-3AD203B41FA5}">
                      <a16:colId xmlns:a16="http://schemas.microsoft.com/office/drawing/2014/main" val="20000"/>
                    </a:ext>
                  </a:extLst>
                </a:gridCol>
                <a:gridCol w="1470450">
                  <a:extLst>
                    <a:ext uri="{9D8B030D-6E8A-4147-A177-3AD203B41FA5}">
                      <a16:colId xmlns:a16="http://schemas.microsoft.com/office/drawing/2014/main" val="20001"/>
                    </a:ext>
                  </a:extLst>
                </a:gridCol>
                <a:gridCol w="1470450">
                  <a:extLst>
                    <a:ext uri="{9D8B030D-6E8A-4147-A177-3AD203B41FA5}">
                      <a16:colId xmlns:a16="http://schemas.microsoft.com/office/drawing/2014/main" val="20002"/>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FFFFFF"/>
                          </a:solidFill>
                        </a:rPr>
                        <a:t>Date/Time</a:t>
                      </a:r>
                      <a:endParaRPr sz="14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FFFFFF"/>
                          </a:solidFill>
                        </a:rPr>
                        <a:t>Location</a:t>
                      </a:r>
                      <a:endParaRPr sz="14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FFFFFF"/>
                          </a:solidFill>
                        </a:rPr>
                        <a:t>Area of Focus</a:t>
                      </a:r>
                      <a:endParaRPr sz="14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983425">
                <a:tc>
                  <a:txBody>
                    <a:bodyPr/>
                    <a:lstStyle/>
                    <a:p>
                      <a:pPr marL="0" marR="0" lvl="0" indent="0" algn="l" rtl="0">
                        <a:lnSpc>
                          <a:spcPct val="100000"/>
                        </a:lnSpc>
                        <a:spcBef>
                          <a:spcPts val="0"/>
                        </a:spcBef>
                        <a:spcAft>
                          <a:spcPts val="0"/>
                        </a:spcAft>
                        <a:buClr>
                          <a:srgbClr val="000000"/>
                        </a:buClr>
                        <a:buSzPts val="1400"/>
                        <a:buFont typeface="Arial"/>
                        <a:buNone/>
                      </a:pPr>
                      <a:r>
                        <a:rPr lang="en">
                          <a:solidFill>
                            <a:srgbClr val="FF0000"/>
                          </a:solidFill>
                          <a:latin typeface="Consolas"/>
                          <a:ea typeface="Consolas"/>
                          <a:cs typeface="Consolas"/>
                          <a:sym typeface="Consolas"/>
                        </a:rPr>
                        <a:t>3/25</a:t>
                      </a:r>
                      <a:r>
                        <a:rPr lang="en" sz="1400" u="none" strike="noStrike" cap="none">
                          <a:solidFill>
                            <a:srgbClr val="FF0000"/>
                          </a:solidFill>
                          <a:latin typeface="Consolas"/>
                          <a:ea typeface="Consolas"/>
                          <a:cs typeface="Consolas"/>
                          <a:sym typeface="Consolas"/>
                        </a:rPr>
                        <a:t> @ 1:00PM</a:t>
                      </a:r>
                      <a:endParaRPr sz="14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rgbClr val="FF0000"/>
                          </a:solidFill>
                          <a:latin typeface="Consolas"/>
                          <a:ea typeface="Consolas"/>
                          <a:cs typeface="Consolas"/>
                          <a:sym typeface="Consolas"/>
                        </a:rPr>
                        <a:t>Discord</a:t>
                      </a:r>
                      <a:endParaRPr sz="14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
                          <a:solidFill>
                            <a:srgbClr val="FF0000"/>
                          </a:solidFill>
                          <a:latin typeface="Consolas"/>
                          <a:ea typeface="Consolas"/>
                          <a:cs typeface="Consolas"/>
                          <a:sym typeface="Consolas"/>
                        </a:rPr>
                        <a:t>Yard class</a:t>
                      </a:r>
                      <a:endParaRPr sz="14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9834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983425">
                <a:tc>
                  <a:txBody>
                    <a:bodyPr/>
                    <a:lstStyle/>
                    <a:p>
                      <a:pPr marL="0" marR="0" lvl="0" indent="0" algn="l" rtl="0">
                        <a:lnSpc>
                          <a:spcPct val="100000"/>
                        </a:lnSpc>
                        <a:spcBef>
                          <a:spcPts val="0"/>
                        </a:spcBef>
                        <a:spcAft>
                          <a:spcPts val="0"/>
                        </a:spcAft>
                        <a:buNone/>
                      </a:pPr>
                      <a:endParaRPr sz="14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4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4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03" name="Google Shape;203;p27"/>
          <p:cNvSpPr txBox="1">
            <a:spLocks noGrp="1"/>
          </p:cNvSpPr>
          <p:nvPr>
            <p:ph type="body" idx="3"/>
          </p:nvPr>
        </p:nvSpPr>
        <p:spPr>
          <a:xfrm>
            <a:off x="4571900" y="3836450"/>
            <a:ext cx="4411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SzPts val="1300"/>
              <a:buNone/>
            </a:pPr>
            <a:r>
              <a:rPr lang="en" sz="1200">
                <a:solidFill>
                  <a:schemeClr val="dk1"/>
                </a:solidFill>
              </a:rPr>
              <a:t>It is </a:t>
            </a:r>
            <a:r>
              <a:rPr lang="en" sz="1200" b="1" i="1">
                <a:solidFill>
                  <a:srgbClr val="FF0000"/>
                </a:solidFill>
              </a:rPr>
              <a:t>highly recommended</a:t>
            </a:r>
            <a:r>
              <a:rPr lang="en" sz="1200">
                <a:solidFill>
                  <a:schemeClr val="dk1"/>
                </a:solidFill>
              </a:rPr>
              <a:t> that you also establish a means of </a:t>
            </a:r>
            <a:r>
              <a:rPr lang="en" sz="1200" b="1" i="1">
                <a:solidFill>
                  <a:srgbClr val="FF0000"/>
                </a:solidFill>
              </a:rPr>
              <a:t>asynchronous communication</a:t>
            </a:r>
            <a:r>
              <a:rPr lang="en" sz="1200">
                <a:solidFill>
                  <a:schemeClr val="dk1"/>
                </a:solidFill>
              </a:rPr>
              <a:t>, e.g. Discord channel, Slack channel, group text, etc, where you can post updates, ask questions, and coordinate.</a:t>
            </a:r>
            <a:endParaRPr sz="12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16</a:t>
            </a:fld>
            <a:endParaRPr/>
          </a:p>
        </p:txBody>
      </p:sp>
      <p:sp>
        <p:nvSpPr>
          <p:cNvPr id="209" name="Google Shape;209;p28"/>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If You Made it This Far...</a:t>
            </a:r>
            <a:endParaRPr/>
          </a:p>
        </p:txBody>
      </p:sp>
      <p:pic>
        <p:nvPicPr>
          <p:cNvPr id="210" name="Google Shape;210;p28"/>
          <p:cNvPicPr preferRelativeResize="0"/>
          <p:nvPr/>
        </p:nvPicPr>
        <p:blipFill rotWithShape="1">
          <a:blip r:embed="rId3">
            <a:alphaModFix/>
          </a:blip>
          <a:srcRect/>
          <a:stretch/>
        </p:blipFill>
        <p:spPr>
          <a:xfrm flipH="1">
            <a:off x="5137550" y="1507875"/>
            <a:ext cx="3421251" cy="3421251"/>
          </a:xfrm>
          <a:prstGeom prst="rect">
            <a:avLst/>
          </a:prstGeom>
          <a:noFill/>
          <a:ln w="19050" cap="flat" cmpd="sng">
            <a:solidFill>
              <a:schemeClr val="dk2"/>
            </a:solidFill>
            <a:prstDash val="solid"/>
            <a:round/>
            <a:headEnd type="none" w="sm" len="sm"/>
            <a:tailEnd type="none" w="sm" len="sm"/>
          </a:ln>
        </p:spPr>
      </p:pic>
      <p:sp>
        <p:nvSpPr>
          <p:cNvPr id="211" name="Google Shape;211;p28"/>
          <p:cNvSpPr txBox="1">
            <a:spLocks noGrp="1"/>
          </p:cNvSpPr>
          <p:nvPr>
            <p:ph type="body" idx="4294967295"/>
          </p:nvPr>
        </p:nvSpPr>
        <p:spPr>
          <a:xfrm>
            <a:off x="193751" y="1507421"/>
            <a:ext cx="47757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SzPts val="1300"/>
              <a:buNone/>
            </a:pPr>
            <a:r>
              <a:rPr lang="en" sz="1200" dirty="0">
                <a:solidFill>
                  <a:srgbClr val="000000"/>
                </a:solidFill>
                <a:latin typeface="Arial"/>
                <a:ea typeface="Arial"/>
                <a:cs typeface="Arial"/>
                <a:sym typeface="Arial"/>
              </a:rPr>
              <a:t>Your team is off to a good start, but much work on </a:t>
            </a:r>
            <a:r>
              <a:rPr lang="en" sz="1200" b="1" i="1" dirty="0">
                <a:solidFill>
                  <a:srgbClr val="FF0000"/>
                </a:solidFill>
                <a:latin typeface="Arial"/>
                <a:ea typeface="Arial"/>
                <a:cs typeface="Arial"/>
                <a:sym typeface="Arial"/>
              </a:rPr>
              <a:t>Part 1</a:t>
            </a:r>
            <a:r>
              <a:rPr lang="en" sz="1200" dirty="0">
                <a:solidFill>
                  <a:srgbClr val="FF0000"/>
                </a:solidFill>
                <a:latin typeface="Arial"/>
                <a:ea typeface="Arial"/>
                <a:cs typeface="Arial"/>
                <a:sym typeface="Arial"/>
              </a:rPr>
              <a:t> </a:t>
            </a:r>
            <a:r>
              <a:rPr lang="en" sz="1200" dirty="0">
                <a:solidFill>
                  <a:srgbClr val="000000"/>
                </a:solidFill>
                <a:latin typeface="Arial"/>
                <a:ea typeface="Arial"/>
                <a:cs typeface="Arial"/>
                <a:sym typeface="Arial"/>
              </a:rPr>
              <a:t>of the Project is to be done.</a:t>
            </a:r>
            <a:endParaRPr sz="1200" dirty="0">
              <a:solidFill>
                <a:srgbClr val="000000"/>
              </a:solidFill>
              <a:latin typeface="Arial"/>
              <a:ea typeface="Arial"/>
              <a:cs typeface="Arial"/>
              <a:sym typeface="Arial"/>
            </a:endParaRPr>
          </a:p>
        </p:txBody>
      </p:sp>
      <p:sp>
        <p:nvSpPr>
          <p:cNvPr id="212" name="Google Shape;212;p28"/>
          <p:cNvSpPr txBox="1">
            <a:spLocks noGrp="1"/>
          </p:cNvSpPr>
          <p:nvPr>
            <p:ph type="body" idx="4294967295"/>
          </p:nvPr>
        </p:nvSpPr>
        <p:spPr>
          <a:xfrm>
            <a:off x="193751" y="2286592"/>
            <a:ext cx="47757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SzPts val="1300"/>
              <a:buNone/>
            </a:pPr>
            <a:r>
              <a:rPr lang="en" sz="1200" dirty="0">
                <a:solidFill>
                  <a:srgbClr val="000000"/>
                </a:solidFill>
                <a:latin typeface="Arial"/>
                <a:ea typeface="Arial"/>
                <a:cs typeface="Arial"/>
                <a:sym typeface="Arial"/>
              </a:rPr>
              <a:t>You still need to create a </a:t>
            </a:r>
            <a:r>
              <a:rPr lang="en" sz="1200" b="1" i="1" dirty="0">
                <a:solidFill>
                  <a:srgbClr val="FF0000"/>
                </a:solidFill>
                <a:latin typeface="Arial"/>
                <a:ea typeface="Arial"/>
                <a:cs typeface="Arial"/>
                <a:sym typeface="Arial"/>
              </a:rPr>
              <a:t>working implementation </a:t>
            </a:r>
            <a:r>
              <a:rPr lang="en" sz="1200" dirty="0">
                <a:solidFill>
                  <a:srgbClr val="000000"/>
                </a:solidFill>
                <a:latin typeface="Arial"/>
                <a:ea typeface="Arial"/>
                <a:cs typeface="Arial"/>
                <a:sym typeface="Arial"/>
              </a:rPr>
              <a:t>of Backyard Bone Brawl that can be played by a single user via a </a:t>
            </a:r>
            <a:r>
              <a:rPr lang="en" sz="1200" b="1" i="1" dirty="0">
                <a:solidFill>
                  <a:srgbClr val="FF0000"/>
                </a:solidFill>
                <a:latin typeface="Arial"/>
                <a:ea typeface="Arial"/>
                <a:cs typeface="Arial"/>
                <a:sym typeface="Arial"/>
              </a:rPr>
              <a:t>command-line interface</a:t>
            </a:r>
            <a:r>
              <a:rPr lang="en" sz="1200" dirty="0">
                <a:solidFill>
                  <a:srgbClr val="000000"/>
                </a:solidFill>
                <a:latin typeface="Arial"/>
                <a:ea typeface="Arial"/>
                <a:cs typeface="Arial"/>
                <a:sym typeface="Arial"/>
              </a:rPr>
              <a:t>.</a:t>
            </a:r>
            <a:endParaRPr sz="1200" dirty="0">
              <a:solidFill>
                <a:srgbClr val="000000"/>
              </a:solidFill>
              <a:latin typeface="Arial"/>
              <a:ea typeface="Arial"/>
              <a:cs typeface="Arial"/>
              <a:sym typeface="Arial"/>
            </a:endParaRPr>
          </a:p>
        </p:txBody>
      </p:sp>
      <p:sp>
        <p:nvSpPr>
          <p:cNvPr id="213" name="Google Shape;213;p28"/>
          <p:cNvSpPr txBox="1">
            <a:spLocks noGrp="1"/>
          </p:cNvSpPr>
          <p:nvPr>
            <p:ph type="body" idx="4294967295"/>
          </p:nvPr>
        </p:nvSpPr>
        <p:spPr>
          <a:xfrm>
            <a:off x="193751" y="3250562"/>
            <a:ext cx="47757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SzPts val="1300"/>
              <a:buNone/>
            </a:pPr>
            <a:r>
              <a:rPr lang="en" sz="1200" dirty="0">
                <a:solidFill>
                  <a:srgbClr val="000000"/>
                </a:solidFill>
                <a:latin typeface="Arial"/>
                <a:ea typeface="Arial"/>
                <a:cs typeface="Arial"/>
                <a:sym typeface="Arial"/>
              </a:rPr>
              <a:t>If you have time remaining in class, you should begin reading the </a:t>
            </a:r>
            <a:r>
              <a:rPr lang="en" sz="1200" b="1" i="1" dirty="0">
                <a:solidFill>
                  <a:srgbClr val="FF0000"/>
                </a:solidFill>
                <a:latin typeface="Arial"/>
                <a:ea typeface="Arial"/>
                <a:cs typeface="Arial"/>
                <a:sym typeface="Arial"/>
              </a:rPr>
              <a:t>full project description</a:t>
            </a:r>
            <a:r>
              <a:rPr lang="en" sz="1200" dirty="0">
                <a:solidFill>
                  <a:srgbClr val="000000"/>
                </a:solidFill>
                <a:latin typeface="Arial"/>
                <a:ea typeface="Arial"/>
                <a:cs typeface="Arial"/>
                <a:sym typeface="Arial"/>
              </a:rPr>
              <a:t>, which you will find on MyCourses.</a:t>
            </a:r>
            <a:endParaRPr sz="1200" dirty="0">
              <a:solidFill>
                <a:srgbClr val="000000"/>
              </a:solidFill>
              <a:latin typeface="Arial"/>
              <a:ea typeface="Arial"/>
              <a:cs typeface="Arial"/>
              <a:sym typeface="Arial"/>
            </a:endParaRPr>
          </a:p>
        </p:txBody>
      </p:sp>
      <p:sp>
        <p:nvSpPr>
          <p:cNvPr id="214" name="Google Shape;214;p28"/>
          <p:cNvSpPr/>
          <p:nvPr/>
        </p:nvSpPr>
        <p:spPr>
          <a:xfrm>
            <a:off x="5494700" y="1632175"/>
            <a:ext cx="1996800" cy="785100"/>
          </a:xfrm>
          <a:prstGeom prst="wedgeRoundRectCallout">
            <a:avLst>
              <a:gd name="adj1" fmla="val -63103"/>
              <a:gd name="adj2" fmla="val 2621"/>
              <a:gd name="adj3" fmla="val 0"/>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b="0" i="0" u="none" strike="noStrike" cap="none">
                <a:solidFill>
                  <a:srgbClr val="000000"/>
                </a:solidFill>
                <a:latin typeface="Arial"/>
                <a:ea typeface="Arial"/>
                <a:cs typeface="Arial"/>
                <a:sym typeface="Arial"/>
              </a:rPr>
              <a:t>Not quite...</a:t>
            </a:r>
            <a:endParaRPr sz="28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2527</Words>
  <Application>Microsoft Office PowerPoint</Application>
  <PresentationFormat>On-screen Show (16:9)</PresentationFormat>
  <Paragraphs>173</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Courier New</vt:lpstr>
      <vt:lpstr>Roboto</vt:lpstr>
      <vt:lpstr>Amatic SC</vt:lpstr>
      <vt:lpstr>Arial</vt:lpstr>
      <vt:lpstr>Merriweather</vt:lpstr>
      <vt:lpstr>Consolas</vt:lpstr>
      <vt:lpstr>Paradigm</vt:lpstr>
      <vt:lpstr>Project Part 1: Kick-Off</vt:lpstr>
      <vt:lpstr>Project Submissions</vt:lpstr>
      <vt:lpstr>Backyard Bone Brawl </vt:lpstr>
      <vt:lpstr>Join the Team</vt:lpstr>
      <vt:lpstr>Teamwork</vt:lpstr>
      <vt:lpstr>Merge Conflicts</vt:lpstr>
      <vt:lpstr>Project Organization</vt:lpstr>
      <vt:lpstr>Part 1 Constraints</vt:lpstr>
      <vt:lpstr>Pair Programming</vt:lpstr>
      <vt:lpstr>A Partial Design</vt:lpstr>
      <vt:lpstr>YardCoordinate</vt:lpstr>
      <vt:lpstr>Symbols</vt:lpstr>
      <vt:lpstr>Toys</vt:lpstr>
      <vt:lpstr>Thinking Logically</vt:lpstr>
      <vt:lpstr>Meeting Times</vt:lpstr>
      <vt:lpstr>If You Made it This Far...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Tanweer Alam</cp:lastModifiedBy>
  <cp:revision>2</cp:revision>
  <dcterms:modified xsi:type="dcterms:W3CDTF">2026-03-24T18:34:58Z</dcterms:modified>
</cp:coreProperties>
</file>