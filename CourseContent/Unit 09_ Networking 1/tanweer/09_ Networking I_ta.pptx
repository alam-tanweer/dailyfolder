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7" r:id="rId1"/>
    <p:sldMasterId id="2147483678" r:id="rId2"/>
  </p:sldMasterIdLst>
  <p:notesMasterIdLst>
    <p:notesMasterId r:id="rId4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792AC1-6181-4D2F-80AC-E30DC4CC68D7}">
  <a:tblStyle styleId="{38792AC1-6181-4D2F-80AC-E30DC4CC68D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FF9E02A-7BB1-4865-A130-EC70E85E6E2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685" autoAdjust="0"/>
  </p:normalViewPr>
  <p:slideViewPr>
    <p:cSldViewPr snapToGrid="0">
      <p:cViewPr varScale="1">
        <p:scale>
          <a:sx n="127" d="100"/>
          <a:sy n="127" d="100"/>
        </p:scale>
        <p:origin x="132" y="47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cd1135e90b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cd1135e90b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ce414f90c7_0_0: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gce414f90c7_0_0: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ce414f90c7_0_52: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r>
              <a:rPr lang="en" dirty="0"/>
              <a:t>We all use networking every day, the Internet. This week we'll touch on some of the fundamentals needed to utilize that resource in your code.</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Listening &amp; Connecting </a:t>
            </a:r>
            <a:r>
              <a:rPr lang="en" dirty="0">
                <a:sym typeface="Wingdings" panose="05000000000000000000" pitchFamily="2" charset="2"/>
              </a:rPr>
              <a:t> MyCourses, Students connect</a:t>
            </a:r>
          </a:p>
          <a:p>
            <a:pPr marL="0" lvl="0" indent="0" algn="l" rtl="0">
              <a:spcBef>
                <a:spcPts val="0"/>
              </a:spcBef>
              <a:spcAft>
                <a:spcPts val="0"/>
              </a:spcAft>
              <a:buNone/>
            </a:pPr>
            <a:endParaRPr lang="en" dirty="0">
              <a:sym typeface="Wingdings" panose="05000000000000000000" pitchFamily="2" charset="2"/>
            </a:endParaRP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56" name="Google Shape;256;gce414f90c7_0_52: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ce414f90c7_0_103: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gce414f90c7_0_103: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r>
              <a:rPr lang="en-US" dirty="0"/>
              <a:t>Here is the </a:t>
            </a:r>
            <a:r>
              <a:rPr lang="en-US" b="1" dirty="0"/>
              <a:t>purpose of each OSI protocol layer in one sentence</a:t>
            </a:r>
            <a:r>
              <a:rPr lang="en-US" dirty="0"/>
              <a:t>:</a:t>
            </a:r>
          </a:p>
          <a:p>
            <a:r>
              <a:rPr lang="en-US" b="1" dirty="0"/>
              <a:t>Application Layer</a:t>
            </a:r>
            <a:r>
              <a:rPr lang="en-US" dirty="0"/>
              <a:t> – Provides network services directly to end-user applications and associated communication method (such as web browsers (HTTP), email clients (SMTP), and file transfer programs(FTP).</a:t>
            </a:r>
          </a:p>
          <a:p>
            <a:r>
              <a:rPr lang="en-US" b="1" dirty="0"/>
              <a:t>Presentation Layer</a:t>
            </a:r>
            <a:r>
              <a:rPr lang="en-US" dirty="0"/>
              <a:t> – Translates, </a:t>
            </a:r>
            <a:r>
              <a:rPr lang="en-US" dirty="0">
                <a:highlight>
                  <a:srgbClr val="FFFF00"/>
                </a:highlight>
              </a:rPr>
              <a:t>encrypts, and compresses data </a:t>
            </a:r>
            <a:r>
              <a:rPr lang="en-US" dirty="0"/>
              <a:t>so it can be understood by the receiving system.</a:t>
            </a:r>
          </a:p>
          <a:p>
            <a:r>
              <a:rPr lang="en-US" b="1" dirty="0"/>
              <a:t>Session Layer</a:t>
            </a:r>
            <a:r>
              <a:rPr lang="en-US" dirty="0"/>
              <a:t> – Establishes, manages, and terminates communication sessions between applications on different devices.</a:t>
            </a:r>
          </a:p>
          <a:p>
            <a:r>
              <a:rPr lang="en-US" b="1" dirty="0"/>
              <a:t>Transport Layer</a:t>
            </a:r>
            <a:r>
              <a:rPr lang="en-US" dirty="0"/>
              <a:t> – </a:t>
            </a:r>
            <a:r>
              <a:rPr lang="en-US" b="1" dirty="0"/>
              <a:t>Ensures </a:t>
            </a:r>
            <a:r>
              <a:rPr lang="en-US" b="1" dirty="0">
                <a:highlight>
                  <a:srgbClr val="FFFF00"/>
                </a:highlight>
              </a:rPr>
              <a:t>reliable or efficient delivery of data between devices by controlling segmentation, error recovery, and flow control.</a:t>
            </a:r>
          </a:p>
          <a:p>
            <a:r>
              <a:rPr lang="en-US" b="1" dirty="0"/>
              <a:t>Network Layer</a:t>
            </a:r>
            <a:r>
              <a:rPr lang="en-US" dirty="0"/>
              <a:t> – Determines the best path for data to travel across networks and handles logical addressing (such as IP addresses).</a:t>
            </a:r>
          </a:p>
          <a:p>
            <a:r>
              <a:rPr lang="en-US" b="1" dirty="0"/>
              <a:t>Data Link Layer</a:t>
            </a:r>
            <a:r>
              <a:rPr lang="en-US" dirty="0"/>
              <a:t> – Provides reliable data transfer between two directly connected devices and handles physical addressing (MAC addresses) and error detection.</a:t>
            </a:r>
          </a:p>
          <a:p>
            <a:r>
              <a:rPr lang="en-US" b="1" dirty="0"/>
              <a:t>Network Access Layer (Physical + Data Link in TCP/IP)</a:t>
            </a:r>
            <a:r>
              <a:rPr lang="en-US" dirty="0"/>
              <a:t> – Handles the physical transmission of bits over the network hardware such as cables, switches, and network interfaces.</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ce414f90c7_0_157: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ce414f90c7_0_157: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r>
              <a:rPr lang="en-US" dirty="0"/>
              <a:t>Here is the </a:t>
            </a:r>
            <a:r>
              <a:rPr lang="en-US" b="1" dirty="0"/>
              <a:t>purpose of each OSI protocol layer in one sentence</a:t>
            </a:r>
            <a:r>
              <a:rPr lang="en-US" dirty="0"/>
              <a:t>:</a:t>
            </a:r>
          </a:p>
          <a:p>
            <a:r>
              <a:rPr lang="en-US" b="1" dirty="0"/>
              <a:t>Application Layer</a:t>
            </a:r>
            <a:r>
              <a:rPr lang="en-US" dirty="0"/>
              <a:t> – Provides network services directly to end-user applications and associated communication method (such as web browsers (HTTP), email clients (SMTP), and file transfer programs(FTP).</a:t>
            </a:r>
          </a:p>
          <a:p>
            <a:r>
              <a:rPr lang="en-US" b="1" dirty="0"/>
              <a:t>Presentation Layer</a:t>
            </a:r>
            <a:r>
              <a:rPr lang="en-US" dirty="0"/>
              <a:t> – Translates, </a:t>
            </a:r>
            <a:r>
              <a:rPr lang="en-US" dirty="0">
                <a:highlight>
                  <a:srgbClr val="FFFF00"/>
                </a:highlight>
              </a:rPr>
              <a:t>encrypts, and compresses data </a:t>
            </a:r>
            <a:r>
              <a:rPr lang="en-US" dirty="0"/>
              <a:t>so it can be understood by the receiving system.</a:t>
            </a:r>
          </a:p>
          <a:p>
            <a:r>
              <a:rPr lang="en-US" b="1" dirty="0"/>
              <a:t>Session Layer</a:t>
            </a:r>
            <a:r>
              <a:rPr lang="en-US" dirty="0"/>
              <a:t> – Establishes, manages, and terminates communication sessions between applications on different devices.</a:t>
            </a:r>
          </a:p>
          <a:p>
            <a:r>
              <a:rPr lang="en-US" b="1" dirty="0"/>
              <a:t>Transport Layer</a:t>
            </a:r>
            <a:r>
              <a:rPr lang="en-US" dirty="0"/>
              <a:t> – </a:t>
            </a:r>
            <a:r>
              <a:rPr lang="en-US" b="1" dirty="0"/>
              <a:t>Ensures </a:t>
            </a:r>
            <a:r>
              <a:rPr lang="en-US" b="1" dirty="0">
                <a:highlight>
                  <a:srgbClr val="FFFF00"/>
                </a:highlight>
              </a:rPr>
              <a:t>reliable or efficient delivery of data between devices by controlling segmentation, error recovery, and flow control.</a:t>
            </a:r>
          </a:p>
          <a:p>
            <a:r>
              <a:rPr lang="en-US" b="1" dirty="0"/>
              <a:t>Network Layer</a:t>
            </a:r>
            <a:r>
              <a:rPr lang="en-US" dirty="0"/>
              <a:t> – Determines the best path for data to travel across networks and handles logical addressing (such as IP addresses). [</a:t>
            </a:r>
            <a:r>
              <a:rPr lang="en-US" sz="1100" b="0" i="0" u="none" strike="noStrike" cap="none" dirty="0">
                <a:solidFill>
                  <a:srgbClr val="000000"/>
                </a:solidFill>
                <a:effectLst/>
                <a:latin typeface="Arial"/>
                <a:ea typeface="Arial"/>
                <a:cs typeface="Arial"/>
                <a:sym typeface="Arial"/>
              </a:rPr>
              <a:t>routing, forwarding, and addressing]</a:t>
            </a:r>
            <a:endParaRPr lang="en-US" dirty="0"/>
          </a:p>
          <a:p>
            <a:r>
              <a:rPr lang="en-US" b="1" dirty="0"/>
              <a:t>Data Link Layer</a:t>
            </a:r>
            <a:r>
              <a:rPr lang="en-US" dirty="0"/>
              <a:t> – Provides reliable data transfer between two directly connected devices and handles physical addressing (MAC addresses) and error detection. </a:t>
            </a:r>
            <a:r>
              <a:rPr lang="en-US" sz="1100" b="0" i="0" u="none" strike="noStrike" cap="none" dirty="0">
                <a:solidFill>
                  <a:srgbClr val="000000"/>
                </a:solidFill>
                <a:effectLst/>
                <a:latin typeface="Arial"/>
                <a:ea typeface="Arial"/>
                <a:cs typeface="Arial"/>
                <a:sym typeface="Arial"/>
              </a:rPr>
              <a:t>It manages data frames, which are digital signals encapsulated into data packets. Flow control and error control of data are often key focuses of the data link layer. </a:t>
            </a:r>
            <a:endParaRPr lang="en-US" dirty="0"/>
          </a:p>
          <a:p>
            <a:r>
              <a:rPr lang="en-US" b="1" dirty="0"/>
              <a:t>Network Access Layer (Physical + Data Link in TCP/IP)</a:t>
            </a:r>
            <a:r>
              <a:rPr lang="en-US" dirty="0"/>
              <a:t> – Handles the physical transmission of bits over the network hardware such as cables, switches, and network interfaces. </a:t>
            </a:r>
            <a:r>
              <a:rPr lang="en-US" sz="1100" b="0" i="0" u="none" strike="noStrike" cap="none" dirty="0">
                <a:solidFill>
                  <a:srgbClr val="000000"/>
                </a:solidFill>
                <a:effectLst/>
                <a:latin typeface="Arial"/>
                <a:ea typeface="Arial"/>
                <a:cs typeface="Arial"/>
                <a:sym typeface="Arial"/>
              </a:rPr>
              <a:t>At its core, data communication is the transfer of digital and electronic signals through various physical channels like fiber-optic cables, copper cabling, and air. </a:t>
            </a:r>
            <a:endParaRPr lang="en-US" dirty="0"/>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ce414f90c7_0_225: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ce414f90c7_0_225: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457200" lvl="0" indent="0" algn="l" rtl="0">
              <a:spcBef>
                <a:spcPts val="0"/>
              </a:spcBef>
              <a:spcAft>
                <a:spcPts val="0"/>
              </a:spcAft>
              <a:buNone/>
            </a:pPr>
            <a:r>
              <a:rPr lang="en-US" dirty="0"/>
              <a:t>Ipconfig /all</a:t>
            </a:r>
          </a:p>
          <a:p>
            <a:pPr marL="457200" lvl="0" indent="0" algn="l" rtl="0">
              <a:spcBef>
                <a:spcPts val="0"/>
              </a:spcBef>
              <a:spcAft>
                <a:spcPts val="0"/>
              </a:spcAft>
              <a:buNone/>
            </a:pPr>
            <a:r>
              <a:rPr lang="en-US" dirty="0" err="1"/>
              <a:t>Nslookup</a:t>
            </a:r>
            <a:r>
              <a:rPr lang="en-US" dirty="0"/>
              <a:t> </a:t>
            </a:r>
            <a:r>
              <a:rPr lang="en-US" dirty="0">
                <a:sym typeface="Wingdings" panose="05000000000000000000" pitchFamily="2" charset="2"/>
              </a:rPr>
              <a:t> DNS lookup</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ce414f90c7_0_295: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xmlns:a14="http://schemas.microsoft.com/office/drawing/2010/main">
        <mc:Choice Requires="a14">
          <p:sp>
            <p:nvSpPr>
              <p:cNvPr id="339" name="Google Shape;339;gce414f90c7_0_295: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r>
                  <a:rPr lang="en-US" dirty="0"/>
                  <a:t>Ipconfig /all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Total IPv4 Address space : 4,294,967,296</a:t>
                </a:r>
              </a:p>
              <a:p>
                <a:pPr marL="0" lvl="0" indent="0" algn="l" rtl="0">
                  <a:spcBef>
                    <a:spcPts val="0"/>
                  </a:spcBef>
                  <a:spcAft>
                    <a:spcPts val="0"/>
                  </a:spcAft>
                  <a:buNone/>
                </a:pPr>
                <a:endParaRPr lang="en-US" dirty="0"/>
              </a:p>
              <a:p>
                <a:r>
                  <a:rPr lang="en-US" b="1" dirty="0"/>
                  <a:t>Size of IPv6 Address</a:t>
                </a:r>
              </a:p>
              <a:p>
                <a:r>
                  <a:rPr lang="en-US" dirty="0"/>
                  <a:t>An </a:t>
                </a:r>
                <a:r>
                  <a:rPr lang="en-US" b="1" dirty="0"/>
                  <a:t>IPv6 address is 128 bits long</a:t>
                </a:r>
                <a:r>
                  <a:rPr lang="en-US" dirty="0"/>
                  <a:t>.</a:t>
                </a:r>
              </a:p>
              <a:p>
                <a:r>
                  <a:rPr lang="en-US" dirty="0"/>
                  <a:t>Total possible addresses:</a:t>
                </a:r>
              </a:p>
              <a:p>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0" u="none" strike="noStrike" cap="none">
                            <a:solidFill>
                              <a:srgbClr val="000000"/>
                            </a:solidFill>
                            <a:latin typeface="Cambria Math" panose="02040503050406030204" pitchFamily="18" charset="0"/>
                            <a:ea typeface="Arial"/>
                            <a:cs typeface="Arial"/>
                            <a:sym typeface="Arial"/>
                          </a:rPr>
                          <m:t>2</m:t>
                        </m:r>
                      </m:e>
                      <m:sup>
                        <m:r>
                          <a:rPr lang="ar-AE" sz="1100" b="0" i="0" u="none" strike="noStrike" cap="none">
                            <a:solidFill>
                              <a:srgbClr val="000000"/>
                            </a:solidFill>
                            <a:latin typeface="Cambria Math" panose="02040503050406030204" pitchFamily="18" charset="0"/>
                            <a:ea typeface="Arial"/>
                            <a:cs typeface="Arial"/>
                            <a:sym typeface="Arial"/>
                          </a:rPr>
                          <m:t>128</m:t>
                        </m:r>
                      </m:sup>
                    </m:sSup>
                  </m:oMath>
                </a14:m>
                <a:endParaRPr lang="ar-AE" dirty="0"/>
              </a:p>
              <a:p>
                <a:r>
                  <a:rPr lang="en-US" b="1" dirty="0"/>
                  <a:t>Total IPv6 Address Space</a:t>
                </a:r>
              </a:p>
              <a:p>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0" u="none" strike="noStrike" cap="none">
                            <a:solidFill>
                              <a:srgbClr val="000000"/>
                            </a:solidFill>
                            <a:latin typeface="Cambria Math" panose="02040503050406030204" pitchFamily="18" charset="0"/>
                            <a:ea typeface="Arial"/>
                            <a:cs typeface="Arial"/>
                            <a:sym typeface="Arial"/>
                          </a:rPr>
                          <m:t>2</m:t>
                        </m:r>
                      </m:e>
                      <m:sup>
                        <m:r>
                          <a:rPr lang="ar-AE" sz="1100" b="0" i="0" u="none" strike="noStrike" cap="none">
                            <a:solidFill>
                              <a:srgbClr val="000000"/>
                            </a:solidFill>
                            <a:latin typeface="Cambria Math" panose="02040503050406030204" pitchFamily="18" charset="0"/>
                            <a:ea typeface="Arial"/>
                            <a:cs typeface="Arial"/>
                            <a:sym typeface="Arial"/>
                          </a:rPr>
                          <m:t>128</m:t>
                        </m:r>
                      </m:sup>
                    </m:sSup>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340</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282</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366</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920</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938</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463</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463</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374</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607</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431</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768</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211</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456</m:t>
                    </m:r>
                  </m:oMath>
                </a14:m>
                <a:endParaRPr lang="ar-AE" dirty="0"/>
              </a:p>
              <a:p>
                <a:r>
                  <a:rPr lang="en-US" dirty="0"/>
                  <a:t>That is approximately:</a:t>
                </a:r>
              </a:p>
              <a:p>
                <a:r>
                  <a:rPr lang="en-US" b="1" dirty="0"/>
                  <a:t>340 undecillion addresses</a:t>
                </a:r>
                <a:br>
                  <a:rPr lang="en-US" dirty="0"/>
                </a:br>
                <a:r>
                  <a:rPr lang="en-US" dirty="0"/>
                  <a:t>or</a:t>
                </a:r>
                <a:br>
                  <a:rPr lang="en-US" dirty="0"/>
                </a:br>
                <a:r>
                  <a:rPr lang="en-US" b="1" dirty="0"/>
                  <a:t>3.4 × 10³⁸ addresses</a:t>
                </a:r>
                <a:endParaRPr lang="en-US" dirty="0"/>
              </a:p>
              <a:p>
                <a:r>
                  <a:rPr lang="en-US" b="1" dirty="0"/>
                  <a:t>Example IPv6 Address</a:t>
                </a:r>
              </a:p>
              <a:p>
                <a:pPr rtl="0"/>
                <a:r>
                  <a:rPr lang="en-US" sz="1100" b="0" i="0" u="none" strike="noStrike" cap="none" dirty="0">
                    <a:solidFill>
                      <a:srgbClr val="000000"/>
                    </a:solidFill>
                    <a:latin typeface="Arial"/>
                    <a:ea typeface="Arial"/>
                    <a:cs typeface="Arial"/>
                    <a:sym typeface="Arial"/>
                  </a:rPr>
                  <a:t>2001:0db8:85a3:0000:0000:8a2e:0370:7334</a:t>
                </a:r>
              </a:p>
              <a:p>
                <a:pPr rtl="0"/>
                <a:endParaRPr lang="en-US" sz="1100" b="0" i="0" u="none" strike="noStrike" cap="none" dirty="0">
                  <a:solidFill>
                    <a:srgbClr val="000000"/>
                  </a:solidFill>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Class</a:t>
                </a:r>
                <a:endParaRPr lang="en-US" sz="1100" b="0"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First Octet Range</a:t>
                </a:r>
                <a:endParaRPr lang="en-US" sz="1100" b="0"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Default Mask</a:t>
                </a:r>
                <a:endParaRPr lang="en-US" sz="1100" b="0"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Networks</a:t>
                </a:r>
                <a:endParaRPr lang="en-US" sz="1100" b="0"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Hosts per Network</a:t>
                </a:r>
                <a:endParaRPr lang="en-US" sz="1100" b="0"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A</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1–126</a:t>
                </a:r>
              </a:p>
              <a:p>
                <a:r>
                  <a:rPr lang="en-US" sz="1100" b="0" i="0" u="none" strike="noStrike" cap="none" dirty="0">
                    <a:solidFill>
                      <a:srgbClr val="000000"/>
                    </a:solidFill>
                    <a:effectLst/>
                    <a:latin typeface="Arial"/>
                    <a:ea typeface="Arial"/>
                    <a:cs typeface="Arial"/>
                    <a:sym typeface="Arial"/>
                  </a:rPr>
                  <a:t>255.0.0.0</a:t>
                </a:r>
              </a:p>
              <a:p>
                <a:r>
                  <a:rPr lang="en-US" sz="1100" b="0" i="0" u="none" strike="noStrike" cap="none" dirty="0">
                    <a:solidFill>
                      <a:srgbClr val="000000"/>
                    </a:solidFill>
                    <a:effectLst/>
                    <a:latin typeface="Arial"/>
                    <a:ea typeface="Arial"/>
                    <a:cs typeface="Arial"/>
                    <a:sym typeface="Arial"/>
                  </a:rPr>
                  <a:t>126</a:t>
                </a:r>
              </a:p>
              <a:p>
                <a:r>
                  <a:rPr lang="en-US" sz="1100" b="0" i="0" u="none" strike="noStrike" cap="none" dirty="0">
                    <a:solidFill>
                      <a:srgbClr val="000000"/>
                    </a:solidFill>
                    <a:effectLst/>
                    <a:latin typeface="Arial"/>
                    <a:ea typeface="Arial"/>
                    <a:cs typeface="Arial"/>
                    <a:sym typeface="Arial"/>
                  </a:rPr>
                  <a:t>16,777,214</a:t>
                </a:r>
              </a:p>
              <a:p>
                <a:r>
                  <a:rPr lang="en-US" sz="1100" b="1" i="0" u="none" strike="noStrike" cap="none" dirty="0">
                    <a:solidFill>
                      <a:srgbClr val="000000"/>
                    </a:solidFill>
                    <a:effectLst/>
                    <a:latin typeface="Arial"/>
                    <a:ea typeface="Arial"/>
                    <a:cs typeface="Arial"/>
                    <a:sym typeface="Arial"/>
                  </a:rPr>
                  <a:t>B</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128–191</a:t>
                </a:r>
              </a:p>
              <a:p>
                <a:r>
                  <a:rPr lang="en-US" sz="1100" b="0" i="0" u="none" strike="noStrike" cap="none" dirty="0">
                    <a:solidFill>
                      <a:srgbClr val="000000"/>
                    </a:solidFill>
                    <a:effectLst/>
                    <a:latin typeface="Arial"/>
                    <a:ea typeface="Arial"/>
                    <a:cs typeface="Arial"/>
                    <a:sym typeface="Arial"/>
                  </a:rPr>
                  <a:t>255.255.0.0</a:t>
                </a:r>
              </a:p>
              <a:p>
                <a:r>
                  <a:rPr lang="en-US" sz="1100" b="0" i="0" u="none" strike="noStrike" cap="none" dirty="0">
                    <a:solidFill>
                      <a:srgbClr val="000000"/>
                    </a:solidFill>
                    <a:effectLst/>
                    <a:latin typeface="Arial"/>
                    <a:ea typeface="Arial"/>
                    <a:cs typeface="Arial"/>
                    <a:sym typeface="Arial"/>
                  </a:rPr>
                  <a:t>16,384</a:t>
                </a:r>
              </a:p>
              <a:p>
                <a:r>
                  <a:rPr lang="en-US" sz="1100" b="0" i="0" u="none" strike="noStrike" cap="none" dirty="0">
                    <a:solidFill>
                      <a:srgbClr val="000000"/>
                    </a:solidFill>
                    <a:effectLst/>
                    <a:latin typeface="Arial"/>
                    <a:ea typeface="Arial"/>
                    <a:cs typeface="Arial"/>
                    <a:sym typeface="Arial"/>
                  </a:rPr>
                  <a:t>65,534</a:t>
                </a:r>
              </a:p>
              <a:p>
                <a:r>
                  <a:rPr lang="en-US" sz="1100" b="1" i="0" u="none" strike="noStrike" cap="none" dirty="0">
                    <a:solidFill>
                      <a:srgbClr val="000000"/>
                    </a:solidFill>
                    <a:effectLst/>
                    <a:latin typeface="Arial"/>
                    <a:ea typeface="Arial"/>
                    <a:cs typeface="Arial"/>
                    <a:sym typeface="Arial"/>
                  </a:rPr>
                  <a:t>C</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192–223</a:t>
                </a:r>
              </a:p>
              <a:p>
                <a:r>
                  <a:rPr lang="en-US" sz="1100" b="0" i="0" u="none" strike="noStrike" cap="none" dirty="0">
                    <a:solidFill>
                      <a:srgbClr val="000000"/>
                    </a:solidFill>
                    <a:effectLst/>
                    <a:latin typeface="Arial"/>
                    <a:ea typeface="Arial"/>
                    <a:cs typeface="Arial"/>
                    <a:sym typeface="Arial"/>
                  </a:rPr>
                  <a:t>255.255.255.0</a:t>
                </a:r>
              </a:p>
              <a:p>
                <a:r>
                  <a:rPr lang="en-US" sz="1100" b="0" i="0" u="none" strike="noStrike" cap="none" dirty="0">
                    <a:solidFill>
                      <a:srgbClr val="000000"/>
                    </a:solidFill>
                    <a:effectLst/>
                    <a:latin typeface="Arial"/>
                    <a:ea typeface="Arial"/>
                    <a:cs typeface="Arial"/>
                    <a:sym typeface="Arial"/>
                  </a:rPr>
                  <a:t>2,097,152</a:t>
                </a:r>
              </a:p>
              <a:p>
                <a:r>
                  <a:rPr lang="en-US" sz="1100" b="0" i="0" u="none" strike="noStrike" cap="none" dirty="0">
                    <a:solidFill>
                      <a:srgbClr val="000000"/>
                    </a:solidFill>
                    <a:effectLst/>
                    <a:latin typeface="Arial"/>
                    <a:ea typeface="Arial"/>
                    <a:cs typeface="Arial"/>
                    <a:sym typeface="Arial"/>
                  </a:rPr>
                  <a:t>254</a:t>
                </a:r>
              </a:p>
              <a:p>
                <a:pPr rtl="0"/>
                <a:endParaRPr lang="en-US" sz="1100" b="0" i="0" u="none" strike="noStrike" cap="none" dirty="0">
                  <a:solidFill>
                    <a:srgbClr val="000000"/>
                  </a:solidFill>
                  <a:latin typeface="Arial"/>
                  <a:ea typeface="Arial"/>
                  <a:cs typeface="Arial"/>
                  <a:sym typeface="Arial"/>
                </a:endParaRP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mc:Choice>
        <mc:Fallback xmlns="">
          <p:sp>
            <p:nvSpPr>
              <p:cNvPr id="339" name="Google Shape;339;gce414f90c7_0_295: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r>
                  <a:rPr lang="en-US" dirty="0"/>
                  <a:t>Ipconfig /all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Total IPv4 Address space : 4,294,967,296</a:t>
                </a:r>
              </a:p>
              <a:p>
                <a:pPr marL="0" lvl="0" indent="0" algn="l" rtl="0">
                  <a:spcBef>
                    <a:spcPts val="0"/>
                  </a:spcBef>
                  <a:spcAft>
                    <a:spcPts val="0"/>
                  </a:spcAft>
                  <a:buNone/>
                </a:pPr>
                <a:endParaRPr lang="en-US" dirty="0"/>
              </a:p>
              <a:p>
                <a:r>
                  <a:rPr lang="en-US" b="1" dirty="0"/>
                  <a:t>Size of IPv6 Address</a:t>
                </a:r>
              </a:p>
              <a:p>
                <a:r>
                  <a:rPr lang="en-US" dirty="0"/>
                  <a:t>An </a:t>
                </a:r>
                <a:r>
                  <a:rPr lang="en-US" b="1" dirty="0"/>
                  <a:t>IPv6 address is 128 bits long</a:t>
                </a:r>
                <a:r>
                  <a:rPr lang="en-US" dirty="0"/>
                  <a:t>.</a:t>
                </a:r>
              </a:p>
              <a:p>
                <a:r>
                  <a:rPr lang="en-US" dirty="0"/>
                  <a:t>Total possible addresses:</a:t>
                </a:r>
              </a:p>
              <a:p>
                <a:r>
                  <a:rPr lang="ar-AE" sz="1100" b="0" i="0" u="none" strike="noStrike" cap="none">
                    <a:solidFill>
                      <a:srgbClr val="000000"/>
                    </a:solidFill>
                    <a:latin typeface="Arial"/>
                    <a:ea typeface="Arial"/>
                    <a:cs typeface="Arial"/>
                    <a:sym typeface="Arial"/>
                  </a:rPr>
                  <a:t>2^128</a:t>
                </a:r>
                <a:endParaRPr lang="ar-AE" dirty="0"/>
              </a:p>
              <a:p>
                <a:r>
                  <a:rPr lang="en-US" b="1" dirty="0"/>
                  <a:t>Total IPv6 Address Space</a:t>
                </a:r>
              </a:p>
              <a:p>
                <a:r>
                  <a:rPr lang="ar-AE" sz="1100" b="0" i="0" u="none" strike="noStrike" cap="none">
                    <a:solidFill>
                      <a:srgbClr val="000000"/>
                    </a:solidFill>
                    <a:latin typeface="Arial"/>
                    <a:ea typeface="Arial"/>
                    <a:cs typeface="Arial"/>
                    <a:sym typeface="Arial"/>
                  </a:rPr>
                  <a:t>2^128=340,282,366,920,938,463,463,374,607,431,768,211,456</a:t>
                </a:r>
                <a:endParaRPr lang="ar-AE" dirty="0"/>
              </a:p>
              <a:p>
                <a:r>
                  <a:rPr lang="en-US" dirty="0"/>
                  <a:t>That is approximately:</a:t>
                </a:r>
              </a:p>
              <a:p>
                <a:r>
                  <a:rPr lang="en-US" b="1" dirty="0"/>
                  <a:t>340 undecillion addresses</a:t>
                </a:r>
                <a:br>
                  <a:rPr lang="en-US" dirty="0"/>
                </a:br>
                <a:r>
                  <a:rPr lang="en-US" dirty="0"/>
                  <a:t>or</a:t>
                </a:r>
                <a:br>
                  <a:rPr lang="en-US" dirty="0"/>
                </a:br>
                <a:r>
                  <a:rPr lang="en-US" b="1" dirty="0"/>
                  <a:t>3.4 × 10³⁸ addresses</a:t>
                </a:r>
                <a:endParaRPr lang="en-US" dirty="0"/>
              </a:p>
              <a:p>
                <a:r>
                  <a:rPr lang="en-US" b="1" dirty="0"/>
                  <a:t>Example IPv6 Address</a:t>
                </a:r>
              </a:p>
              <a:p>
                <a:pPr rtl="0"/>
                <a:r>
                  <a:rPr lang="en-US" sz="1100" b="0" i="0" u="none" strike="noStrike" cap="none" dirty="0">
                    <a:solidFill>
                      <a:srgbClr val="000000"/>
                    </a:solidFill>
                    <a:latin typeface="Arial"/>
                    <a:ea typeface="Arial"/>
                    <a:cs typeface="Arial"/>
                    <a:sym typeface="Arial"/>
                  </a:rPr>
                  <a:t>2001:0db8:85a3:0000:0000:8a2e:0370:7334</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mc:Fallback>
      </mc:AlternateContent>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ce414f90c7_0_360: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gce414f90c7_0_360: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r>
              <a:rPr lang="en-US" dirty="0" err="1"/>
              <a:t>Nslookup</a:t>
            </a:r>
            <a:r>
              <a:rPr lang="en-US" dirty="0"/>
              <a:t> </a:t>
            </a:r>
            <a:r>
              <a:rPr lang="en-US" dirty="0">
                <a:sym typeface="Wingdings" panose="05000000000000000000" pitchFamily="2" charset="2"/>
              </a:rPr>
              <a:t> mycourses.rit.edu</a:t>
            </a:r>
          </a:p>
          <a:p>
            <a:pPr marL="0" lvl="0" indent="0" algn="l" rtl="0">
              <a:spcBef>
                <a:spcPts val="0"/>
              </a:spcBef>
              <a:spcAft>
                <a:spcPts val="0"/>
              </a:spcAft>
              <a:buNone/>
            </a:pPr>
            <a:r>
              <a:rPr lang="en-US" dirty="0">
                <a:sym typeface="Wingdings" panose="05000000000000000000" pitchFamily="2" charset="2"/>
              </a:rPr>
              <a:t>Se.rit.edu</a:t>
            </a:r>
          </a:p>
          <a:p>
            <a:pPr marL="0" lvl="0" indent="0" algn="l" rtl="0">
              <a:spcBef>
                <a:spcPts val="0"/>
              </a:spcBef>
              <a:spcAft>
                <a:spcPts val="0"/>
              </a:spcAft>
              <a:buNone/>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ipconfig /</a:t>
            </a:r>
            <a:r>
              <a:rPr lang="en-US" dirty="0" err="1"/>
              <a:t>displaydns</a:t>
            </a:r>
            <a:endParaRPr lang="en-US" dirty="0"/>
          </a:p>
          <a:p>
            <a:pPr marL="0" lvl="0" indent="0" algn="l" rtl="0">
              <a:spcBef>
                <a:spcPts val="0"/>
              </a:spcBef>
              <a:spcAft>
                <a:spcPts val="0"/>
              </a:spcAft>
              <a:buNone/>
            </a:pPr>
            <a:r>
              <a:rPr lang="en-US" dirty="0"/>
              <a:t>Ipconfig /</a:t>
            </a:r>
            <a:r>
              <a:rPr lang="en-US" dirty="0" err="1"/>
              <a:t>flushdns</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ce414f90c7_0_409: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gce414f90c7_0_409: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ce414f90c7_0_462: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387" name="Google Shape;387;gce414f90c7_0_462: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cd1135e90b_0_244: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398" name="Google Shape;398;gcd1135e90b_0_244: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30bdc7f68c_0_1491: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407" name="Google Shape;407;g230bdc7f68c_0_1491: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ce414f90c7_0_516: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6" name="Google Shape;426;gce414f90c7_0_516: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r>
              <a:rPr lang="en-US" dirty="0"/>
              <a:t>MyCourses as an example.</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ce414f90c7_0_566: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6" name="Google Shape;436;gce414f90c7_0_566: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r>
              <a:rPr lang="en-US" dirty="0"/>
              <a:t>Default http : 80, https: 443</a:t>
            </a:r>
          </a:p>
          <a:p>
            <a:pPr marL="0" lvl="0" indent="0" algn="l" rtl="0">
              <a:spcBef>
                <a:spcPts val="0"/>
              </a:spcBef>
              <a:spcAft>
                <a:spcPts val="0"/>
              </a:spcAft>
              <a:buNone/>
            </a:pPr>
            <a:r>
              <a:rPr lang="en-US" dirty="0"/>
              <a:t>In HTTP protocol, Addressing is by using URL</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ce414f90c7_0_626: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gce414f90c7_0_626: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230bdc7f68c_0_15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230bdc7f68c_0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1e18892d896_1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1e18892d896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ce414f90c7_0_676: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496" name="Google Shape;496;gce414f90c7_0_676: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cd1135e90b_0_9: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gcd1135e90b_0_9: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cd1135e90b_0_19: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solidFill>
                  <a:schemeClr val="dk1"/>
                </a:solidFill>
              </a:rPr>
              <a:t>What will happen if a computer with that name doesn’t exist? </a:t>
            </a:r>
            <a:r>
              <a:rPr lang="en-US" dirty="0">
                <a:solidFill>
                  <a:schemeClr val="dk1"/>
                </a:solidFill>
                <a:sym typeface="Wingdings" panose="05000000000000000000" pitchFamily="2" charset="2"/>
              </a:rPr>
              <a:t> You will get error.</a:t>
            </a:r>
            <a:endParaRPr lang="en-US" dirty="0">
              <a:solidFill>
                <a:schemeClr val="dk1"/>
              </a:solidFill>
            </a:endParaRPr>
          </a:p>
          <a:p>
            <a:pPr marL="0" lvl="0" indent="0" algn="l" rtl="0">
              <a:spcBef>
                <a:spcPts val="0"/>
              </a:spcBef>
              <a:spcAft>
                <a:spcPts val="0"/>
              </a:spcAft>
              <a:buNone/>
            </a:pPr>
            <a:endParaRPr b="1" dirty="0"/>
          </a:p>
        </p:txBody>
      </p:sp>
      <p:sp>
        <p:nvSpPr>
          <p:cNvPr id="517" name="Google Shape;517;gcd1135e90b_0_19: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cd1135e90b_0_48: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gcd1135e90b_0_48: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1e18892d896_1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1e18892d896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e18892d896_1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e18892d896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Simple Definition (one line)</a:t>
            </a:r>
          </a:p>
          <a:p>
            <a:r>
              <a:rPr lang="en-US" b="1" dirty="0"/>
              <a:t>A socket is a combination of an IP address and a port number that allows two programs to send and receive data over a network.</a:t>
            </a:r>
            <a:endParaRPr lang="en-US" dirty="0"/>
          </a:p>
          <a:p>
            <a:br>
              <a:rPr lang="en-US" dirty="0"/>
            </a:br>
            <a:endParaRPr lang="en-US" dirty="0"/>
          </a:p>
          <a:p>
            <a:r>
              <a:rPr lang="en-US" b="1" dirty="0"/>
              <a:t>How to Think About It</a:t>
            </a:r>
          </a:p>
          <a:p>
            <a:r>
              <a:rPr lang="en-US" dirty="0"/>
              <a:t>Think of a socket like a </a:t>
            </a:r>
            <a:r>
              <a:rPr lang="en-US" b="1" dirty="0"/>
              <a:t>phone connection</a:t>
            </a:r>
            <a:r>
              <a:rPr lang="en-US" dirty="0"/>
              <a:t>:</a:t>
            </a:r>
          </a:p>
          <a:p>
            <a:r>
              <a:rPr lang="en-US" dirty="0"/>
              <a:t>IP address → phone number (which device)</a:t>
            </a:r>
          </a:p>
          <a:p>
            <a:r>
              <a:rPr lang="en-US" dirty="0"/>
              <a:t>Port number → extension (which application)</a:t>
            </a:r>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cd1135e90b_0_62: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r>
              <a:rPr lang="en-US" dirty="0"/>
              <a:t>Port numbers are </a:t>
            </a:r>
            <a:r>
              <a:rPr lang="en-US" b="1" dirty="0"/>
              <a:t>16-bit unsigned integers</a:t>
            </a:r>
            <a:r>
              <a:rPr lang="en-US" dirty="0"/>
              <a:t>.</a:t>
            </a:r>
          </a:p>
          <a:p>
            <a:r>
              <a:rPr lang="en-US" dirty="0"/>
              <a:t>Minimum value: </a:t>
            </a:r>
            <a:r>
              <a:rPr lang="en-US" b="1" dirty="0"/>
              <a:t>0</a:t>
            </a:r>
            <a:endParaRPr lang="en-US" dirty="0"/>
          </a:p>
          <a:p>
            <a:r>
              <a:rPr lang="en-US" dirty="0"/>
              <a:t>Maximum value: </a:t>
            </a:r>
            <a:r>
              <a:rPr lang="en-US" b="1" dirty="0"/>
              <a:t>2¹⁶ − 1 = 65535</a:t>
            </a:r>
            <a:endParaRPr lang="en-US" dirty="0"/>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err="1"/>
              <a:t>RangeNamePurpose</a:t>
            </a: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0 – 1023            </a:t>
            </a:r>
            <a:r>
              <a:rPr lang="en-US" dirty="0"/>
              <a:t>Well-known            </a:t>
            </a:r>
            <a:r>
              <a:rPr lang="en-US" dirty="0" err="1"/>
              <a:t>portsReserved</a:t>
            </a:r>
            <a:r>
              <a:rPr lang="en-US" dirty="0"/>
              <a:t> for common services (HTTP, FTP, etc.)</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1024 – 49151    </a:t>
            </a:r>
            <a:r>
              <a:rPr lang="en-US" dirty="0"/>
              <a:t>Registered ports    Used by applications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49152 – 65535  </a:t>
            </a:r>
            <a:r>
              <a:rPr lang="en-US" dirty="0"/>
              <a:t>Dynamic / Ephemeral </a:t>
            </a:r>
            <a:r>
              <a:rPr lang="en-US" dirty="0" err="1"/>
              <a:t>portsTemporary</a:t>
            </a:r>
            <a:r>
              <a:rPr lang="en-US" dirty="0"/>
              <a:t> ports used by clients</a:t>
            </a:r>
          </a:p>
          <a:p>
            <a:pPr marL="0" lvl="0" indent="0" algn="l" rtl="0">
              <a:spcBef>
                <a:spcPts val="0"/>
              </a:spcBef>
              <a:spcAft>
                <a:spcPts val="0"/>
              </a:spcAft>
              <a:buNone/>
            </a:pPr>
            <a:endParaRPr dirty="0"/>
          </a:p>
        </p:txBody>
      </p:sp>
      <p:sp>
        <p:nvSpPr>
          <p:cNvPr id="568" name="Google Shape;568;gcd1135e90b_0_62: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cd1135e90b_0_70: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gcd1135e90b_0_70: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1e18892d896_1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1e18892d896_1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1e18892d896_1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1e18892d896_1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3b2789d194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3b2789d19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 Better Version (Recommended)</a:t>
            </a:r>
          </a:p>
          <a:p>
            <a:pPr rtl="0"/>
            <a:r>
              <a:rPr lang="en-US" sz="1100" b="0" i="0" u="none" strike="noStrike" cap="none" dirty="0">
                <a:solidFill>
                  <a:srgbClr val="000000"/>
                </a:solidFill>
                <a:latin typeface="Arial"/>
                <a:ea typeface="Arial"/>
                <a:cs typeface="Arial"/>
                <a:sym typeface="Arial"/>
              </a:rPr>
              <a:t>String message;</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while ((message = </a:t>
            </a:r>
            <a:r>
              <a:rPr lang="en-US" sz="1100" b="0" i="0" u="none" strike="noStrike" cap="none" dirty="0" err="1">
                <a:solidFill>
                  <a:srgbClr val="000000"/>
                </a:solidFill>
                <a:latin typeface="Arial"/>
                <a:ea typeface="Arial"/>
                <a:cs typeface="Arial"/>
                <a:sym typeface="Arial"/>
              </a:rPr>
              <a:t>reader.readLine</a:t>
            </a:r>
            <a:r>
              <a:rPr lang="en-US" sz="1100" b="0" i="0" u="none" strike="noStrike" cap="none" dirty="0">
                <a:solidFill>
                  <a:srgbClr val="000000"/>
                </a:solidFill>
                <a:latin typeface="Arial"/>
                <a:ea typeface="Arial"/>
                <a:cs typeface="Arial"/>
                <a:sym typeface="Arial"/>
              </a:rPr>
              <a:t>()) != null) {</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(message);</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a:t>
            </a:r>
          </a:p>
          <a:p>
            <a:r>
              <a:rPr lang="en-US" b="1" dirty="0"/>
              <a:t>Why this is better:</a:t>
            </a:r>
          </a:p>
          <a:p>
            <a:r>
              <a:rPr lang="en-US" dirty="0"/>
              <a:t>Keeps reading until the stream is closed</a:t>
            </a:r>
          </a:p>
          <a:p>
            <a:r>
              <a:rPr lang="en-US" dirty="0"/>
              <a:t>No data loss</a:t>
            </a:r>
          </a:p>
          <a:p>
            <a:r>
              <a:rPr lang="en-US" dirty="0"/>
              <a:t>Standard pattern for sockets/files</a:t>
            </a:r>
          </a:p>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3b2789d194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3b2789d194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Corrected version</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err="1"/>
              <a:t>InputStream</a:t>
            </a:r>
            <a:r>
              <a:rPr lang="en-US" dirty="0"/>
              <a:t> input = </a:t>
            </a:r>
            <a:r>
              <a:rPr lang="en-US" dirty="0" err="1"/>
              <a:t>client.getInputStream</a:t>
            </a:r>
            <a:r>
              <a:rPr lang="en-US" dirty="0"/>
              <a:t>();</a:t>
            </a:r>
            <a:br>
              <a:rPr lang="en-US" dirty="0"/>
            </a:br>
            <a:br>
              <a:rPr lang="en-US" dirty="0"/>
            </a:br>
            <a:r>
              <a:rPr lang="en-US" dirty="0" err="1"/>
              <a:t>InputStreamReader</a:t>
            </a:r>
            <a:r>
              <a:rPr lang="en-US" dirty="0"/>
              <a:t> in = new </a:t>
            </a:r>
            <a:r>
              <a:rPr lang="en-US" dirty="0" err="1"/>
              <a:t>InputStreamReader</a:t>
            </a:r>
            <a:r>
              <a:rPr lang="en-US" dirty="0"/>
              <a:t>(input);</a:t>
            </a:r>
            <a:br>
              <a:rPr lang="en-US" dirty="0"/>
            </a:br>
            <a:br>
              <a:rPr lang="en-US" dirty="0"/>
            </a:br>
            <a:r>
              <a:rPr lang="en-US" dirty="0" err="1"/>
              <a:t>BufferedReader</a:t>
            </a:r>
            <a:r>
              <a:rPr lang="en-US" dirty="0"/>
              <a:t> reader = new </a:t>
            </a:r>
            <a:r>
              <a:rPr lang="en-US" dirty="0" err="1"/>
              <a:t>BufferedReader</a:t>
            </a:r>
            <a:r>
              <a:rPr lang="en-US" dirty="0"/>
              <a:t>(in);</a:t>
            </a:r>
            <a:br>
              <a:rPr lang="en-US" dirty="0"/>
            </a:br>
            <a:br>
              <a:rPr lang="en-US" dirty="0"/>
            </a:br>
            <a:r>
              <a:rPr lang="en-US" dirty="0" err="1"/>
              <a:t>reader.lines</a:t>
            </a:r>
            <a:r>
              <a:rPr lang="en-US" dirty="0"/>
              <a:t>().</a:t>
            </a:r>
            <a:r>
              <a:rPr lang="en-US" dirty="0" err="1"/>
              <a:t>forEach</a:t>
            </a:r>
            <a:r>
              <a:rPr lang="en-US" dirty="0"/>
              <a:t>(</a:t>
            </a:r>
            <a:r>
              <a:rPr lang="en-US" dirty="0" err="1"/>
              <a:t>System.out</a:t>
            </a:r>
            <a:r>
              <a:rPr lang="en-US" dirty="0"/>
              <a:t>::</a:t>
            </a:r>
            <a:r>
              <a:rPr lang="en-US" dirty="0" err="1"/>
              <a:t>println</a:t>
            </a:r>
            <a:r>
              <a:rPr lang="en-US" dirty="0"/>
              <a:t>);</a:t>
            </a:r>
            <a:br>
              <a:rPr lang="en-US" dirty="0"/>
            </a:br>
            <a:br>
              <a:rPr lang="en-US" dirty="0"/>
            </a:br>
            <a:r>
              <a:rPr lang="en-US" dirty="0" err="1"/>
              <a:t>client.close</a:t>
            </a:r>
            <a:r>
              <a:rPr lang="en-US" dirty="0"/>
              <a:t>();</a:t>
            </a:r>
            <a:br>
              <a:rPr lang="en-US" dirty="0"/>
            </a:br>
            <a:r>
              <a:rPr lang="en-US" dirty="0" err="1"/>
              <a:t>System.out.println</a:t>
            </a:r>
            <a:r>
              <a:rPr lang="en-US" dirty="0"/>
              <a:t>();</a:t>
            </a:r>
          </a:p>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cd1135e90b_0_84: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648" name="Google Shape;648;gcd1135e90b_0_84: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230bdc7f68c_0_726: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g230bdc7f68c_0_726: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230bdc7f68c_0_736: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1" name="Google Shape;671;g230bdc7f68c_0_736: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230bdc7f68c_0_746: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682" name="Google Shape;682;g230bdc7f68c_0_746: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30bdc7f68c_0_759: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30bdc7f68c_0_759: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230bdc7f68c_0_773: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709" name="Google Shape;709;g230bdc7f68c_0_773: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30bdc7f68c_0_783: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230bdc7f68c_0_783: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230bdc7f68c_0_797: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735" name="Google Shape;735;g230bdc7f68c_0_797: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30bdc7f68c_0_810: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746" name="Google Shape;746;g230bdc7f68c_0_810: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30bdc7f68c_0_829: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
        <p:nvSpPr>
          <p:cNvPr id="766" name="Google Shape;766;g230bdc7f68c_0_829:notes"/>
          <p:cNvSpPr>
            <a:spLocks noGrp="1" noRot="1" noChangeAspect="1"/>
          </p:cNvSpPr>
          <p:nvPr>
            <p:ph type="sldImg" idx="2"/>
          </p:nvPr>
        </p:nvSpPr>
        <p:spPr>
          <a:xfrm>
            <a:off x="187523" y="217714"/>
            <a:ext cx="6482700" cy="37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3b4b3f5224d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3b4b3f5224d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30bdc7f68c_0_13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230bdc7f68c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34bef8c5006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34bef8c5006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1e18892d896_1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1e18892d896_1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678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64"/>
        <p:cNvGrpSpPr/>
        <p:nvPr/>
      </p:nvGrpSpPr>
      <p:grpSpPr>
        <a:xfrm>
          <a:off x="0" y="0"/>
          <a:ext cx="0" cy="0"/>
          <a:chOff x="0" y="0"/>
          <a:chExt cx="0" cy="0"/>
        </a:xfrm>
      </p:grpSpPr>
      <p:sp>
        <p:nvSpPr>
          <p:cNvPr id="65" name="Google Shape;65;p13"/>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67" name="Google Shape;67;p13"/>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68" name="Google Shape;68;p13"/>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9" name="Google Shape;69;p13"/>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txBox="1">
            <a:spLocks noGrp="1"/>
          </p:cNvSpPr>
          <p:nvPr>
            <p:ph type="title"/>
          </p:nvPr>
        </p:nvSpPr>
        <p:spPr>
          <a:xfrm>
            <a:off x="1436850" y="763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71" name="Google Shape;71;p13"/>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73" name="Google Shape;73;p13"/>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74"/>
        <p:cNvGrpSpPr/>
        <p:nvPr/>
      </p:nvGrpSpPr>
      <p:grpSpPr>
        <a:xfrm>
          <a:off x="0" y="0"/>
          <a:ext cx="0" cy="0"/>
          <a:chOff x="0" y="0"/>
          <a:chExt cx="0" cy="0"/>
        </a:xfrm>
      </p:grpSpPr>
      <p:sp>
        <p:nvSpPr>
          <p:cNvPr id="75" name="Google Shape;75;p1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8" name="Google Shape;7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79"/>
        <p:cNvGrpSpPr/>
        <p:nvPr/>
      </p:nvGrpSpPr>
      <p:grpSpPr>
        <a:xfrm>
          <a:off x="0" y="0"/>
          <a:ext cx="0" cy="0"/>
          <a:chOff x="0" y="0"/>
          <a:chExt cx="0" cy="0"/>
        </a:xfrm>
      </p:grpSpPr>
      <p:sp>
        <p:nvSpPr>
          <p:cNvPr id="80" name="Google Shape;8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2" name="Google Shape;8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rgbClr val="FFFFFF"/>
        </a:solidFill>
        <a:effectLst/>
      </p:bgPr>
    </p:bg>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40660" y="30698"/>
            <a:ext cx="8449200" cy="6360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5" name="Google Shape;85;p16"/>
          <p:cNvSpPr txBox="1">
            <a:spLocks noGrp="1"/>
          </p:cNvSpPr>
          <p:nvPr>
            <p:ph type="body" idx="1"/>
          </p:nvPr>
        </p:nvSpPr>
        <p:spPr>
          <a:xfrm>
            <a:off x="340660" y="884286"/>
            <a:ext cx="8449200" cy="4156800"/>
          </a:xfrm>
          <a:prstGeom prst="rect">
            <a:avLst/>
          </a:prstGeom>
          <a:noFill/>
          <a:ln>
            <a:noFill/>
          </a:ln>
        </p:spPr>
        <p:txBody>
          <a:bodyPr spcFirstLastPara="1" wrap="square" lIns="68575" tIns="34275" rIns="68575" bIns="34275" anchor="t" anchorCtr="0">
            <a:normAutofit/>
          </a:bodyPr>
          <a:lstStyle>
            <a:lvl1pPr marL="457200" lvl="0" indent="-349250" algn="l" rtl="0">
              <a:lnSpc>
                <a:spcPct val="90000"/>
              </a:lnSpc>
              <a:spcBef>
                <a:spcPts val="800"/>
              </a:spcBef>
              <a:spcAft>
                <a:spcPts val="0"/>
              </a:spcAft>
              <a:buClr>
                <a:schemeClr val="dk1"/>
              </a:buClr>
              <a:buSzPts val="1900"/>
              <a:buFont typeface="Calibri"/>
              <a:buChar char="●"/>
              <a:defRPr sz="2100"/>
            </a:lvl1pPr>
            <a:lvl2pPr marL="914400" lvl="1" indent="-330200" algn="l" rtl="0">
              <a:lnSpc>
                <a:spcPct val="90000"/>
              </a:lnSpc>
              <a:spcBef>
                <a:spcPts val="1600"/>
              </a:spcBef>
              <a:spcAft>
                <a:spcPts val="0"/>
              </a:spcAft>
              <a:buClr>
                <a:schemeClr val="dk1"/>
              </a:buClr>
              <a:buSzPts val="1600"/>
              <a:buFont typeface="Courier New"/>
              <a:buChar char="o"/>
              <a:defRPr sz="1800"/>
            </a:lvl2pPr>
            <a:lvl3pPr marL="1371600" lvl="2" indent="-323850" algn="l" rtl="0">
              <a:lnSpc>
                <a:spcPct val="90000"/>
              </a:lnSpc>
              <a:spcBef>
                <a:spcPts val="1600"/>
              </a:spcBef>
              <a:spcAft>
                <a:spcPts val="0"/>
              </a:spcAft>
              <a:buClr>
                <a:schemeClr val="dk1"/>
              </a:buClr>
              <a:buSzPts val="1500"/>
              <a:buFont typeface="Noto Sans Symbols"/>
              <a:buChar char="▪"/>
              <a:defRPr sz="1500"/>
            </a:lvl3pPr>
            <a:lvl4pPr marL="1828800" lvl="3" indent="-317500" algn="l" rtl="0">
              <a:lnSpc>
                <a:spcPct val="90000"/>
              </a:lnSpc>
              <a:spcBef>
                <a:spcPts val="1600"/>
              </a:spcBef>
              <a:spcAft>
                <a:spcPts val="0"/>
              </a:spcAft>
              <a:buClr>
                <a:schemeClr val="dk1"/>
              </a:buClr>
              <a:buSzPts val="1400"/>
              <a:buFont typeface="Calibri"/>
              <a:buChar char="▫"/>
              <a:defRPr sz="1400"/>
            </a:lvl4pPr>
            <a:lvl5pPr marL="2286000" lvl="4" indent="-298450" algn="l" rtl="0">
              <a:lnSpc>
                <a:spcPct val="90000"/>
              </a:lnSpc>
              <a:spcBef>
                <a:spcPts val="1600"/>
              </a:spcBef>
              <a:spcAft>
                <a:spcPts val="0"/>
              </a:spcAft>
              <a:buClr>
                <a:schemeClr val="dk1"/>
              </a:buClr>
              <a:buSzPts val="1100"/>
              <a:buChar char="○"/>
              <a:defRPr sz="1100"/>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86" name="Google Shape;86;p16"/>
          <p:cNvCxnSpPr/>
          <p:nvPr/>
        </p:nvCxnSpPr>
        <p:spPr>
          <a:xfrm>
            <a:off x="340660" y="690167"/>
            <a:ext cx="8449200" cy="0"/>
          </a:xfrm>
          <a:prstGeom prst="straightConnector1">
            <a:avLst/>
          </a:prstGeom>
          <a:noFill/>
          <a:ln w="63500" cap="flat" cmpd="thickThin">
            <a:solidFill>
              <a:schemeClr val="lt2"/>
            </a:solidFill>
            <a:prstDash val="solid"/>
            <a:miter lim="800000"/>
            <a:headEnd type="none" w="sm" len="sm"/>
            <a:tailEnd type="none" w="sm" len="sm"/>
          </a:ln>
        </p:spPr>
      </p:cxnSp>
      <p:sp>
        <p:nvSpPr>
          <p:cNvPr id="87" name="Google Shape;87;p16"/>
          <p:cNvSpPr txBox="1">
            <a:spLocks noGrp="1"/>
          </p:cNvSpPr>
          <p:nvPr>
            <p:ph type="body" idx="2"/>
          </p:nvPr>
        </p:nvSpPr>
        <p:spPr>
          <a:xfrm>
            <a:off x="915543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8" name="Google Shape;88;p16"/>
          <p:cNvSpPr txBox="1">
            <a:spLocks noGrp="1"/>
          </p:cNvSpPr>
          <p:nvPr>
            <p:ph type="body" idx="3"/>
          </p:nvPr>
        </p:nvSpPr>
        <p:spPr>
          <a:xfrm>
            <a:off x="915543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9" name="Google Shape;89;p16"/>
          <p:cNvSpPr txBox="1">
            <a:spLocks noGrp="1"/>
          </p:cNvSpPr>
          <p:nvPr>
            <p:ph type="body" idx="4"/>
          </p:nvPr>
        </p:nvSpPr>
        <p:spPr>
          <a:xfrm>
            <a:off x="915543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0" name="Google Shape;90;p16"/>
          <p:cNvSpPr txBox="1">
            <a:spLocks noGrp="1"/>
          </p:cNvSpPr>
          <p:nvPr>
            <p:ph type="body" idx="5"/>
          </p:nvPr>
        </p:nvSpPr>
        <p:spPr>
          <a:xfrm>
            <a:off x="915543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1" name="Google Shape;91;p16"/>
          <p:cNvSpPr txBox="1">
            <a:spLocks noGrp="1"/>
          </p:cNvSpPr>
          <p:nvPr>
            <p:ph type="body" idx="6"/>
          </p:nvPr>
        </p:nvSpPr>
        <p:spPr>
          <a:xfrm>
            <a:off x="915543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2" name="Google Shape;92;p16"/>
          <p:cNvSpPr txBox="1">
            <a:spLocks noGrp="1"/>
          </p:cNvSpPr>
          <p:nvPr>
            <p:ph type="body" idx="7"/>
          </p:nvPr>
        </p:nvSpPr>
        <p:spPr>
          <a:xfrm>
            <a:off x="915543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3" name="Google Shape;93;p16"/>
          <p:cNvSpPr txBox="1">
            <a:spLocks noGrp="1"/>
          </p:cNvSpPr>
          <p:nvPr>
            <p:ph type="body" idx="8"/>
          </p:nvPr>
        </p:nvSpPr>
        <p:spPr>
          <a:xfrm>
            <a:off x="915543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4" name="Google Shape;94;p16"/>
          <p:cNvSpPr txBox="1">
            <a:spLocks noGrp="1"/>
          </p:cNvSpPr>
          <p:nvPr>
            <p:ph type="body" idx="9"/>
          </p:nvPr>
        </p:nvSpPr>
        <p:spPr>
          <a:xfrm>
            <a:off x="915543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5" name="Google Shape;95;p16"/>
          <p:cNvSpPr txBox="1">
            <a:spLocks noGrp="1"/>
          </p:cNvSpPr>
          <p:nvPr>
            <p:ph type="body" idx="13"/>
          </p:nvPr>
        </p:nvSpPr>
        <p:spPr>
          <a:xfrm>
            <a:off x="915543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6" name="Google Shape;96;p16"/>
          <p:cNvSpPr txBox="1">
            <a:spLocks noGrp="1"/>
          </p:cNvSpPr>
          <p:nvPr>
            <p:ph type="body" idx="14"/>
          </p:nvPr>
        </p:nvSpPr>
        <p:spPr>
          <a:xfrm>
            <a:off x="915543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7" name="Google Shape;97;p16"/>
          <p:cNvSpPr txBox="1">
            <a:spLocks noGrp="1"/>
          </p:cNvSpPr>
          <p:nvPr>
            <p:ph type="body" idx="15"/>
          </p:nvPr>
        </p:nvSpPr>
        <p:spPr>
          <a:xfrm>
            <a:off x="915543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8" name="Google Shape;98;p16"/>
          <p:cNvSpPr txBox="1">
            <a:spLocks noGrp="1"/>
          </p:cNvSpPr>
          <p:nvPr>
            <p:ph type="body" idx="16"/>
          </p:nvPr>
        </p:nvSpPr>
        <p:spPr>
          <a:xfrm>
            <a:off x="915543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9" name="Google Shape;99;p16"/>
          <p:cNvSpPr txBox="1">
            <a:spLocks noGrp="1"/>
          </p:cNvSpPr>
          <p:nvPr>
            <p:ph type="body" idx="17"/>
          </p:nvPr>
        </p:nvSpPr>
        <p:spPr>
          <a:xfrm>
            <a:off x="915543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0" name="Google Shape;100;p16"/>
          <p:cNvSpPr txBox="1">
            <a:spLocks noGrp="1"/>
          </p:cNvSpPr>
          <p:nvPr>
            <p:ph type="body" idx="18"/>
          </p:nvPr>
        </p:nvSpPr>
        <p:spPr>
          <a:xfrm>
            <a:off x="915543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1" name="Google Shape;101;p16"/>
          <p:cNvSpPr txBox="1">
            <a:spLocks noGrp="1"/>
          </p:cNvSpPr>
          <p:nvPr>
            <p:ph type="body" idx="19"/>
          </p:nvPr>
        </p:nvSpPr>
        <p:spPr>
          <a:xfrm>
            <a:off x="915543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2" name="Google Shape;102;p16"/>
          <p:cNvSpPr txBox="1">
            <a:spLocks noGrp="1"/>
          </p:cNvSpPr>
          <p:nvPr>
            <p:ph type="body" idx="20"/>
          </p:nvPr>
        </p:nvSpPr>
        <p:spPr>
          <a:xfrm>
            <a:off x="915543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3" name="Google Shape;103;p16"/>
          <p:cNvSpPr txBox="1">
            <a:spLocks noGrp="1"/>
          </p:cNvSpPr>
          <p:nvPr>
            <p:ph type="body" idx="21"/>
          </p:nvPr>
        </p:nvSpPr>
        <p:spPr>
          <a:xfrm>
            <a:off x="915543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4" name="Google Shape;104;p16"/>
          <p:cNvSpPr txBox="1">
            <a:spLocks noGrp="1"/>
          </p:cNvSpPr>
          <p:nvPr>
            <p:ph type="body" idx="22"/>
          </p:nvPr>
        </p:nvSpPr>
        <p:spPr>
          <a:xfrm>
            <a:off x="915543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5" name="Google Shape;105;p16"/>
          <p:cNvSpPr txBox="1">
            <a:spLocks noGrp="1"/>
          </p:cNvSpPr>
          <p:nvPr>
            <p:ph type="body" idx="23"/>
          </p:nvPr>
        </p:nvSpPr>
        <p:spPr>
          <a:xfrm>
            <a:off x="915543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6" name="Google Shape;106;p16"/>
          <p:cNvSpPr txBox="1">
            <a:spLocks noGrp="1"/>
          </p:cNvSpPr>
          <p:nvPr>
            <p:ph type="body" idx="24"/>
          </p:nvPr>
        </p:nvSpPr>
        <p:spPr>
          <a:xfrm>
            <a:off x="915543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7" name="Google Shape;107;p16"/>
          <p:cNvSpPr txBox="1">
            <a:spLocks noGrp="1"/>
          </p:cNvSpPr>
          <p:nvPr>
            <p:ph type="body" idx="25"/>
          </p:nvPr>
        </p:nvSpPr>
        <p:spPr>
          <a:xfrm>
            <a:off x="915543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8" name="Google Shape;108;p16"/>
          <p:cNvSpPr txBox="1">
            <a:spLocks noGrp="1"/>
          </p:cNvSpPr>
          <p:nvPr>
            <p:ph type="body" idx="26"/>
          </p:nvPr>
        </p:nvSpPr>
        <p:spPr>
          <a:xfrm>
            <a:off x="-281178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9" name="Google Shape;109;p16"/>
          <p:cNvSpPr txBox="1">
            <a:spLocks noGrp="1"/>
          </p:cNvSpPr>
          <p:nvPr>
            <p:ph type="body" idx="27"/>
          </p:nvPr>
        </p:nvSpPr>
        <p:spPr>
          <a:xfrm>
            <a:off x="-281178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0" name="Google Shape;110;p16"/>
          <p:cNvSpPr txBox="1">
            <a:spLocks noGrp="1"/>
          </p:cNvSpPr>
          <p:nvPr>
            <p:ph type="body" idx="28"/>
          </p:nvPr>
        </p:nvSpPr>
        <p:spPr>
          <a:xfrm>
            <a:off x="-281178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1" name="Google Shape;111;p16"/>
          <p:cNvSpPr txBox="1">
            <a:spLocks noGrp="1"/>
          </p:cNvSpPr>
          <p:nvPr>
            <p:ph type="body" idx="29"/>
          </p:nvPr>
        </p:nvSpPr>
        <p:spPr>
          <a:xfrm>
            <a:off x="-281178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2" name="Google Shape;112;p16"/>
          <p:cNvSpPr txBox="1">
            <a:spLocks noGrp="1"/>
          </p:cNvSpPr>
          <p:nvPr>
            <p:ph type="body" idx="30"/>
          </p:nvPr>
        </p:nvSpPr>
        <p:spPr>
          <a:xfrm>
            <a:off x="-281178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3" name="Google Shape;113;p16"/>
          <p:cNvSpPr txBox="1">
            <a:spLocks noGrp="1"/>
          </p:cNvSpPr>
          <p:nvPr>
            <p:ph type="body" idx="31"/>
          </p:nvPr>
        </p:nvSpPr>
        <p:spPr>
          <a:xfrm>
            <a:off x="-281178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4" name="Google Shape;114;p16"/>
          <p:cNvSpPr txBox="1">
            <a:spLocks noGrp="1"/>
          </p:cNvSpPr>
          <p:nvPr>
            <p:ph type="body" idx="32"/>
          </p:nvPr>
        </p:nvSpPr>
        <p:spPr>
          <a:xfrm>
            <a:off x="-281178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5" name="Google Shape;115;p16"/>
          <p:cNvSpPr txBox="1">
            <a:spLocks noGrp="1"/>
          </p:cNvSpPr>
          <p:nvPr>
            <p:ph type="body" idx="33"/>
          </p:nvPr>
        </p:nvSpPr>
        <p:spPr>
          <a:xfrm>
            <a:off x="-281178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6" name="Google Shape;116;p16"/>
          <p:cNvSpPr txBox="1">
            <a:spLocks noGrp="1"/>
          </p:cNvSpPr>
          <p:nvPr>
            <p:ph type="body" idx="34"/>
          </p:nvPr>
        </p:nvSpPr>
        <p:spPr>
          <a:xfrm>
            <a:off x="-281178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7" name="Google Shape;117;p16"/>
          <p:cNvSpPr txBox="1">
            <a:spLocks noGrp="1"/>
          </p:cNvSpPr>
          <p:nvPr>
            <p:ph type="body" idx="35"/>
          </p:nvPr>
        </p:nvSpPr>
        <p:spPr>
          <a:xfrm>
            <a:off x="-281178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8" name="Google Shape;118;p16"/>
          <p:cNvSpPr txBox="1">
            <a:spLocks noGrp="1"/>
          </p:cNvSpPr>
          <p:nvPr>
            <p:ph type="body" idx="36"/>
          </p:nvPr>
        </p:nvSpPr>
        <p:spPr>
          <a:xfrm>
            <a:off x="-281178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9" name="Google Shape;119;p16"/>
          <p:cNvSpPr txBox="1">
            <a:spLocks noGrp="1"/>
          </p:cNvSpPr>
          <p:nvPr>
            <p:ph type="body" idx="37"/>
          </p:nvPr>
        </p:nvSpPr>
        <p:spPr>
          <a:xfrm>
            <a:off x="-281178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0" name="Google Shape;120;p16"/>
          <p:cNvSpPr txBox="1">
            <a:spLocks noGrp="1"/>
          </p:cNvSpPr>
          <p:nvPr>
            <p:ph type="body" idx="38"/>
          </p:nvPr>
        </p:nvSpPr>
        <p:spPr>
          <a:xfrm>
            <a:off x="-281178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1" name="Google Shape;121;p16"/>
          <p:cNvSpPr txBox="1">
            <a:spLocks noGrp="1"/>
          </p:cNvSpPr>
          <p:nvPr>
            <p:ph type="body" idx="39"/>
          </p:nvPr>
        </p:nvSpPr>
        <p:spPr>
          <a:xfrm>
            <a:off x="-281178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2" name="Google Shape;122;p16"/>
          <p:cNvSpPr txBox="1">
            <a:spLocks noGrp="1"/>
          </p:cNvSpPr>
          <p:nvPr>
            <p:ph type="body" idx="40"/>
          </p:nvPr>
        </p:nvSpPr>
        <p:spPr>
          <a:xfrm>
            <a:off x="-281178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3" name="Google Shape;123;p16"/>
          <p:cNvSpPr txBox="1">
            <a:spLocks noGrp="1"/>
          </p:cNvSpPr>
          <p:nvPr>
            <p:ph type="body" idx="41"/>
          </p:nvPr>
        </p:nvSpPr>
        <p:spPr>
          <a:xfrm>
            <a:off x="-281178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4" name="Google Shape;124;p16"/>
          <p:cNvSpPr txBox="1">
            <a:spLocks noGrp="1"/>
          </p:cNvSpPr>
          <p:nvPr>
            <p:ph type="body" idx="42"/>
          </p:nvPr>
        </p:nvSpPr>
        <p:spPr>
          <a:xfrm>
            <a:off x="-281178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5" name="Google Shape;125;p16"/>
          <p:cNvSpPr txBox="1">
            <a:spLocks noGrp="1"/>
          </p:cNvSpPr>
          <p:nvPr>
            <p:ph type="body" idx="43"/>
          </p:nvPr>
        </p:nvSpPr>
        <p:spPr>
          <a:xfrm>
            <a:off x="-281178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6" name="Google Shape;126;p16"/>
          <p:cNvSpPr txBox="1">
            <a:spLocks noGrp="1"/>
          </p:cNvSpPr>
          <p:nvPr>
            <p:ph type="body" idx="44"/>
          </p:nvPr>
        </p:nvSpPr>
        <p:spPr>
          <a:xfrm>
            <a:off x="-281178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7" name="Google Shape;127;p16"/>
          <p:cNvSpPr txBox="1">
            <a:spLocks noGrp="1"/>
          </p:cNvSpPr>
          <p:nvPr>
            <p:ph type="body" idx="45"/>
          </p:nvPr>
        </p:nvSpPr>
        <p:spPr>
          <a:xfrm>
            <a:off x="-281178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8" name="Google Shape;128;p16"/>
          <p:cNvSpPr txBox="1">
            <a:spLocks noGrp="1"/>
          </p:cNvSpPr>
          <p:nvPr>
            <p:ph type="body" idx="46"/>
          </p:nvPr>
        </p:nvSpPr>
        <p:spPr>
          <a:xfrm>
            <a:off x="-281178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8">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9">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9">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9">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9">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89">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89">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9">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9">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89">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90">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90">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90">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90">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90">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90">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90">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91">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91">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91">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91">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92">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92">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92">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92">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92">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92">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93">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93">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93">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93">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94">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94">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94">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94">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94">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94">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94">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95">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95">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95">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95">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95">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95">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95">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95">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96">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96">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96">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96">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96">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96">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96">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96">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97">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97">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97">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97">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97">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98">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98">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98">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98">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98">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98">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98">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98">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99">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99">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99">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99">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100">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100">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100">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100">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100">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100">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100">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100">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100">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101">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101">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101">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101">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101">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101">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102">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102">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102">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102">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102">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102">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102">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102">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102">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103">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103">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103">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103">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103">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103">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103">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103">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103">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104">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104">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104">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104">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104">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104">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104">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104">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105">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105">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105">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105">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105">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105">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105">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105">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105">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106">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106">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106">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106">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106">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106">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106">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106">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107">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107">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107">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107">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107">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107">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107">
                                            <p:txEl>
                                              <p:pRg st="8" end="8"/>
                                            </p:txEl>
                                          </p:spTgt>
                                        </p:tgtEl>
                                        <p:attrNameLst>
                                          <p:attrName>style.visibility</p:attrName>
                                        </p:attrNameLst>
                                      </p:cBhvr>
                                      <p:to>
                                        <p:strVal val="visible"/>
                                      </p:to>
                                    </p:set>
                                  </p:childTnLst>
                                </p:cTn>
                              </p:par>
                            </p:childTnLst>
                          </p:cTn>
                        </p:par>
                      </p:childTnLst>
                    </p:cTn>
                  </p:par>
                  <p:par>
                    <p:cTn id="759" fill="hold">
                      <p:stCondLst>
                        <p:cond delay="indefinite"/>
                      </p:stCondLst>
                      <p:childTnLst>
                        <p:par>
                          <p:cTn id="760" fill="hold">
                            <p:stCondLst>
                              <p:cond delay="0"/>
                            </p:stCondLst>
                            <p:childTnLst>
                              <p:par>
                                <p:cTn id="761" presetID="1" presetClass="entr" presetSubtype="0" fill="hold" nodeType="clickEffect">
                                  <p:stCondLst>
                                    <p:cond delay="0"/>
                                  </p:stCondLst>
                                  <p:childTnLst>
                                    <p:set>
                                      <p:cBhvr>
                                        <p:cTn id="762" dur="1" fill="hold">
                                          <p:stCondLst>
                                            <p:cond delay="0"/>
                                          </p:stCondLst>
                                        </p:cTn>
                                        <p:tgtEl>
                                          <p:spTgt spid="108">
                                            <p:txEl>
                                              <p:pRg st="0" end="0"/>
                                            </p:txEl>
                                          </p:spTgt>
                                        </p:tgtEl>
                                        <p:attrNameLst>
                                          <p:attrName>style.visibility</p:attrName>
                                        </p:attrNameLst>
                                      </p:cBhvr>
                                      <p:to>
                                        <p:strVal val="visible"/>
                                      </p:to>
                                    </p:set>
                                  </p:childTnLst>
                                </p:cTn>
                              </p:par>
                            </p:childTnLst>
                          </p:cTn>
                        </p:par>
                      </p:childTnLst>
                    </p:cTn>
                  </p:par>
                  <p:par>
                    <p:cTn id="763" fill="hold">
                      <p:stCondLst>
                        <p:cond delay="indefinite"/>
                      </p:stCondLst>
                      <p:childTnLst>
                        <p:par>
                          <p:cTn id="764" fill="hold">
                            <p:stCondLst>
                              <p:cond delay="0"/>
                            </p:stCondLst>
                            <p:childTnLst>
                              <p:par>
                                <p:cTn id="765" presetID="1" presetClass="entr" presetSubtype="0" fill="hold" nodeType="clickEffect">
                                  <p:stCondLst>
                                    <p:cond delay="0"/>
                                  </p:stCondLst>
                                  <p:childTnLst>
                                    <p:set>
                                      <p:cBhvr>
                                        <p:cTn id="766" dur="1" fill="hold">
                                          <p:stCondLst>
                                            <p:cond delay="0"/>
                                          </p:stCondLst>
                                        </p:cTn>
                                        <p:tgtEl>
                                          <p:spTgt spid="108">
                                            <p:txEl>
                                              <p:pRg st="1" end="1"/>
                                            </p:txEl>
                                          </p:spTgt>
                                        </p:tgtEl>
                                        <p:attrNameLst>
                                          <p:attrName>style.visibility</p:attrName>
                                        </p:attrNameLst>
                                      </p:cBhvr>
                                      <p:to>
                                        <p:strVal val="visible"/>
                                      </p:to>
                                    </p:set>
                                  </p:childTnLst>
                                </p:cTn>
                              </p:par>
                            </p:childTnLst>
                          </p:cTn>
                        </p:par>
                      </p:childTnLst>
                    </p:cTn>
                  </p:par>
                  <p:par>
                    <p:cTn id="767" fill="hold">
                      <p:stCondLst>
                        <p:cond delay="indefinite"/>
                      </p:stCondLst>
                      <p:childTnLst>
                        <p:par>
                          <p:cTn id="768" fill="hold">
                            <p:stCondLst>
                              <p:cond delay="0"/>
                            </p:stCondLst>
                            <p:childTnLst>
                              <p:par>
                                <p:cTn id="769" presetID="1" presetClass="entr" presetSubtype="0" fill="hold" nodeType="clickEffect">
                                  <p:stCondLst>
                                    <p:cond delay="0"/>
                                  </p:stCondLst>
                                  <p:childTnLst>
                                    <p:set>
                                      <p:cBhvr>
                                        <p:cTn id="770" dur="1" fill="hold">
                                          <p:stCondLst>
                                            <p:cond delay="0"/>
                                          </p:stCondLst>
                                        </p:cTn>
                                        <p:tgtEl>
                                          <p:spTgt spid="108">
                                            <p:txEl>
                                              <p:pRg st="2" end="2"/>
                                            </p:txEl>
                                          </p:spTgt>
                                        </p:tgtEl>
                                        <p:attrNameLst>
                                          <p:attrName>style.visibility</p:attrName>
                                        </p:attrNameLst>
                                      </p:cBhvr>
                                      <p:to>
                                        <p:strVal val="visible"/>
                                      </p:to>
                                    </p:set>
                                  </p:childTnLst>
                                </p:cTn>
                              </p:par>
                            </p:childTnLst>
                          </p:cTn>
                        </p:par>
                      </p:childTnLst>
                    </p:cTn>
                  </p:par>
                  <p:par>
                    <p:cTn id="771" fill="hold">
                      <p:stCondLst>
                        <p:cond delay="indefinite"/>
                      </p:stCondLst>
                      <p:childTnLst>
                        <p:par>
                          <p:cTn id="772" fill="hold">
                            <p:stCondLst>
                              <p:cond delay="0"/>
                            </p:stCondLst>
                            <p:childTnLst>
                              <p:par>
                                <p:cTn id="773" presetID="1" presetClass="entr" presetSubtype="0" fill="hold" nodeType="clickEffect">
                                  <p:stCondLst>
                                    <p:cond delay="0"/>
                                  </p:stCondLst>
                                  <p:childTnLst>
                                    <p:set>
                                      <p:cBhvr>
                                        <p:cTn id="774" dur="1" fill="hold">
                                          <p:stCondLst>
                                            <p:cond delay="0"/>
                                          </p:stCondLst>
                                        </p:cTn>
                                        <p:tgtEl>
                                          <p:spTgt spid="108">
                                            <p:txEl>
                                              <p:pRg st="3" end="3"/>
                                            </p:txEl>
                                          </p:spTgt>
                                        </p:tgtEl>
                                        <p:attrNameLst>
                                          <p:attrName>style.visibility</p:attrName>
                                        </p:attrNameLst>
                                      </p:cBhvr>
                                      <p:to>
                                        <p:strVal val="visible"/>
                                      </p:to>
                                    </p:set>
                                  </p:childTnLst>
                                </p:cTn>
                              </p:par>
                            </p:childTnLst>
                          </p:cTn>
                        </p:par>
                      </p:childTnLst>
                    </p:cTn>
                  </p:par>
                  <p:par>
                    <p:cTn id="775" fill="hold">
                      <p:stCondLst>
                        <p:cond delay="indefinite"/>
                      </p:stCondLst>
                      <p:childTnLst>
                        <p:par>
                          <p:cTn id="776" fill="hold">
                            <p:stCondLst>
                              <p:cond delay="0"/>
                            </p:stCondLst>
                            <p:childTnLst>
                              <p:par>
                                <p:cTn id="777" presetID="1" presetClass="entr" presetSubtype="0" fill="hold" nodeType="clickEffect">
                                  <p:stCondLst>
                                    <p:cond delay="0"/>
                                  </p:stCondLst>
                                  <p:childTnLst>
                                    <p:set>
                                      <p:cBhvr>
                                        <p:cTn id="778" dur="1" fill="hold">
                                          <p:stCondLst>
                                            <p:cond delay="0"/>
                                          </p:stCondLst>
                                        </p:cTn>
                                        <p:tgtEl>
                                          <p:spTgt spid="108">
                                            <p:txEl>
                                              <p:pRg st="4" end="4"/>
                                            </p:txEl>
                                          </p:spTgt>
                                        </p:tgtEl>
                                        <p:attrNameLst>
                                          <p:attrName>style.visibility</p:attrName>
                                        </p:attrNameLst>
                                      </p:cBhvr>
                                      <p:to>
                                        <p:strVal val="visible"/>
                                      </p:to>
                                    </p:set>
                                  </p:childTnLst>
                                </p:cTn>
                              </p:par>
                            </p:childTnLst>
                          </p:cTn>
                        </p:par>
                      </p:childTnLst>
                    </p:cTn>
                  </p:par>
                  <p:par>
                    <p:cTn id="779" fill="hold">
                      <p:stCondLst>
                        <p:cond delay="indefinite"/>
                      </p:stCondLst>
                      <p:childTnLst>
                        <p:par>
                          <p:cTn id="780" fill="hold">
                            <p:stCondLst>
                              <p:cond delay="0"/>
                            </p:stCondLst>
                            <p:childTnLst>
                              <p:par>
                                <p:cTn id="781" presetID="1" presetClass="entr" presetSubtype="0" fill="hold" nodeType="clickEffect">
                                  <p:stCondLst>
                                    <p:cond delay="0"/>
                                  </p:stCondLst>
                                  <p:childTnLst>
                                    <p:set>
                                      <p:cBhvr>
                                        <p:cTn id="782" dur="1" fill="hold">
                                          <p:stCondLst>
                                            <p:cond delay="0"/>
                                          </p:stCondLst>
                                        </p:cTn>
                                        <p:tgtEl>
                                          <p:spTgt spid="108">
                                            <p:txEl>
                                              <p:pRg st="5" end="5"/>
                                            </p:txEl>
                                          </p:spTgt>
                                        </p:tgtEl>
                                        <p:attrNameLst>
                                          <p:attrName>style.visibility</p:attrName>
                                        </p:attrNameLst>
                                      </p:cBhvr>
                                      <p:to>
                                        <p:strVal val="visible"/>
                                      </p:to>
                                    </p:set>
                                  </p:childTnLst>
                                </p:cTn>
                              </p:par>
                            </p:childTnLst>
                          </p:cTn>
                        </p:par>
                      </p:childTnLst>
                    </p:cTn>
                  </p:par>
                  <p:par>
                    <p:cTn id="783" fill="hold">
                      <p:stCondLst>
                        <p:cond delay="indefinite"/>
                      </p:stCondLst>
                      <p:childTnLst>
                        <p:par>
                          <p:cTn id="784" fill="hold">
                            <p:stCondLst>
                              <p:cond delay="0"/>
                            </p:stCondLst>
                            <p:childTnLst>
                              <p:par>
                                <p:cTn id="785" presetID="1" presetClass="entr" presetSubtype="0" fill="hold" nodeType="clickEffect">
                                  <p:stCondLst>
                                    <p:cond delay="0"/>
                                  </p:stCondLst>
                                  <p:childTnLst>
                                    <p:set>
                                      <p:cBhvr>
                                        <p:cTn id="786" dur="1" fill="hold">
                                          <p:stCondLst>
                                            <p:cond delay="0"/>
                                          </p:stCondLst>
                                        </p:cTn>
                                        <p:tgtEl>
                                          <p:spTgt spid="108">
                                            <p:txEl>
                                              <p:pRg st="6" end="6"/>
                                            </p:txEl>
                                          </p:spTgt>
                                        </p:tgtEl>
                                        <p:attrNameLst>
                                          <p:attrName>style.visibility</p:attrName>
                                        </p:attrNameLst>
                                      </p:cBhvr>
                                      <p:to>
                                        <p:strVal val="visible"/>
                                      </p:to>
                                    </p:set>
                                  </p:childTnLst>
                                </p:cTn>
                              </p:par>
                            </p:childTnLst>
                          </p:cTn>
                        </p:par>
                      </p:childTnLst>
                    </p:cTn>
                  </p:par>
                  <p:par>
                    <p:cTn id="787" fill="hold">
                      <p:stCondLst>
                        <p:cond delay="indefinite"/>
                      </p:stCondLst>
                      <p:childTnLst>
                        <p:par>
                          <p:cTn id="788" fill="hold">
                            <p:stCondLst>
                              <p:cond delay="0"/>
                            </p:stCondLst>
                            <p:childTnLst>
                              <p:par>
                                <p:cTn id="789" presetID="1" presetClass="entr" presetSubtype="0" fill="hold" nodeType="clickEffect">
                                  <p:stCondLst>
                                    <p:cond delay="0"/>
                                  </p:stCondLst>
                                  <p:childTnLst>
                                    <p:set>
                                      <p:cBhvr>
                                        <p:cTn id="790" dur="1" fill="hold">
                                          <p:stCondLst>
                                            <p:cond delay="0"/>
                                          </p:stCondLst>
                                        </p:cTn>
                                        <p:tgtEl>
                                          <p:spTgt spid="108">
                                            <p:txEl>
                                              <p:pRg st="7" end="7"/>
                                            </p:txEl>
                                          </p:spTgt>
                                        </p:tgtEl>
                                        <p:attrNameLst>
                                          <p:attrName>style.visibility</p:attrName>
                                        </p:attrNameLst>
                                      </p:cBhvr>
                                      <p:to>
                                        <p:strVal val="visible"/>
                                      </p:to>
                                    </p:set>
                                  </p:childTnLst>
                                </p:cTn>
                              </p:par>
                            </p:childTnLst>
                          </p:cTn>
                        </p:par>
                      </p:childTnLst>
                    </p:cTn>
                  </p:par>
                  <p:par>
                    <p:cTn id="791" fill="hold">
                      <p:stCondLst>
                        <p:cond delay="indefinite"/>
                      </p:stCondLst>
                      <p:childTnLst>
                        <p:par>
                          <p:cTn id="792" fill="hold">
                            <p:stCondLst>
                              <p:cond delay="0"/>
                            </p:stCondLst>
                            <p:childTnLst>
                              <p:par>
                                <p:cTn id="793" presetID="1" presetClass="entr" presetSubtype="0" fill="hold" nodeType="clickEffect">
                                  <p:stCondLst>
                                    <p:cond delay="0"/>
                                  </p:stCondLst>
                                  <p:childTnLst>
                                    <p:set>
                                      <p:cBhvr>
                                        <p:cTn id="794" dur="1" fill="hold">
                                          <p:stCondLst>
                                            <p:cond delay="0"/>
                                          </p:stCondLst>
                                        </p:cTn>
                                        <p:tgtEl>
                                          <p:spTgt spid="108">
                                            <p:txEl>
                                              <p:pRg st="8" end="8"/>
                                            </p:txEl>
                                          </p:spTgt>
                                        </p:tgtEl>
                                        <p:attrNameLst>
                                          <p:attrName>style.visibility</p:attrName>
                                        </p:attrNameLst>
                                      </p:cBhvr>
                                      <p:to>
                                        <p:strVal val="visible"/>
                                      </p:to>
                                    </p:set>
                                  </p:childTnLst>
                                </p:cTn>
                              </p:par>
                            </p:childTnLst>
                          </p:cTn>
                        </p:par>
                      </p:childTnLst>
                    </p:cTn>
                  </p:par>
                  <p:par>
                    <p:cTn id="795" fill="hold">
                      <p:stCondLst>
                        <p:cond delay="indefinite"/>
                      </p:stCondLst>
                      <p:childTnLst>
                        <p:par>
                          <p:cTn id="796" fill="hold">
                            <p:stCondLst>
                              <p:cond delay="0"/>
                            </p:stCondLst>
                            <p:childTnLst>
                              <p:par>
                                <p:cTn id="797" presetID="1" presetClass="entr" presetSubtype="0" fill="hold" nodeType="clickEffect">
                                  <p:stCondLst>
                                    <p:cond delay="0"/>
                                  </p:stCondLst>
                                  <p:childTnLst>
                                    <p:set>
                                      <p:cBhvr>
                                        <p:cTn id="798"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par>
                    <p:cTn id="799" fill="hold">
                      <p:stCondLst>
                        <p:cond delay="indefinite"/>
                      </p:stCondLst>
                      <p:childTnLst>
                        <p:par>
                          <p:cTn id="800" fill="hold">
                            <p:stCondLst>
                              <p:cond delay="0"/>
                            </p:stCondLst>
                            <p:childTnLst>
                              <p:par>
                                <p:cTn id="801" presetID="1" presetClass="entr" presetSubtype="0" fill="hold" nodeType="clickEffect">
                                  <p:stCondLst>
                                    <p:cond delay="0"/>
                                  </p:stCondLst>
                                  <p:childTnLst>
                                    <p:set>
                                      <p:cBhvr>
                                        <p:cTn id="802" dur="1" fill="hold">
                                          <p:stCondLst>
                                            <p:cond delay="0"/>
                                          </p:stCondLst>
                                        </p:cTn>
                                        <p:tgtEl>
                                          <p:spTgt spid="109">
                                            <p:txEl>
                                              <p:pRg st="1" end="1"/>
                                            </p:txEl>
                                          </p:spTgt>
                                        </p:tgtEl>
                                        <p:attrNameLst>
                                          <p:attrName>style.visibility</p:attrName>
                                        </p:attrNameLst>
                                      </p:cBhvr>
                                      <p:to>
                                        <p:strVal val="visible"/>
                                      </p:to>
                                    </p:set>
                                  </p:childTnLst>
                                </p:cTn>
                              </p:par>
                            </p:childTnLst>
                          </p:cTn>
                        </p:par>
                      </p:childTnLst>
                    </p:cTn>
                  </p:par>
                  <p:par>
                    <p:cTn id="803" fill="hold">
                      <p:stCondLst>
                        <p:cond delay="indefinite"/>
                      </p:stCondLst>
                      <p:childTnLst>
                        <p:par>
                          <p:cTn id="804" fill="hold">
                            <p:stCondLst>
                              <p:cond delay="0"/>
                            </p:stCondLst>
                            <p:childTnLst>
                              <p:par>
                                <p:cTn id="805" presetID="1" presetClass="entr" presetSubtype="0" fill="hold" nodeType="clickEffect">
                                  <p:stCondLst>
                                    <p:cond delay="0"/>
                                  </p:stCondLst>
                                  <p:childTnLst>
                                    <p:set>
                                      <p:cBhvr>
                                        <p:cTn id="806" dur="1" fill="hold">
                                          <p:stCondLst>
                                            <p:cond delay="0"/>
                                          </p:stCondLst>
                                        </p:cTn>
                                        <p:tgtEl>
                                          <p:spTgt spid="109">
                                            <p:txEl>
                                              <p:pRg st="2" end="2"/>
                                            </p:txEl>
                                          </p:spTgt>
                                        </p:tgtEl>
                                        <p:attrNameLst>
                                          <p:attrName>style.visibility</p:attrName>
                                        </p:attrNameLst>
                                      </p:cBhvr>
                                      <p:to>
                                        <p:strVal val="visible"/>
                                      </p:to>
                                    </p:set>
                                  </p:childTnLst>
                                </p:cTn>
                              </p:par>
                            </p:childTnLst>
                          </p:cTn>
                        </p:par>
                      </p:childTnLst>
                    </p:cTn>
                  </p:par>
                  <p:par>
                    <p:cTn id="807" fill="hold">
                      <p:stCondLst>
                        <p:cond delay="indefinite"/>
                      </p:stCondLst>
                      <p:childTnLst>
                        <p:par>
                          <p:cTn id="808" fill="hold">
                            <p:stCondLst>
                              <p:cond delay="0"/>
                            </p:stCondLst>
                            <p:childTnLst>
                              <p:par>
                                <p:cTn id="809" presetID="1" presetClass="entr" presetSubtype="0" fill="hold" nodeType="clickEffect">
                                  <p:stCondLst>
                                    <p:cond delay="0"/>
                                  </p:stCondLst>
                                  <p:childTnLst>
                                    <p:set>
                                      <p:cBhvr>
                                        <p:cTn id="810" dur="1" fill="hold">
                                          <p:stCondLst>
                                            <p:cond delay="0"/>
                                          </p:stCondLst>
                                        </p:cTn>
                                        <p:tgtEl>
                                          <p:spTgt spid="109">
                                            <p:txEl>
                                              <p:pRg st="3" end="3"/>
                                            </p:txEl>
                                          </p:spTgt>
                                        </p:tgtEl>
                                        <p:attrNameLst>
                                          <p:attrName>style.visibility</p:attrName>
                                        </p:attrNameLst>
                                      </p:cBhvr>
                                      <p:to>
                                        <p:strVal val="visible"/>
                                      </p:to>
                                    </p:set>
                                  </p:childTnLst>
                                </p:cTn>
                              </p:par>
                            </p:childTnLst>
                          </p:cTn>
                        </p:par>
                      </p:childTnLst>
                    </p:cTn>
                  </p:par>
                  <p:par>
                    <p:cTn id="811" fill="hold">
                      <p:stCondLst>
                        <p:cond delay="indefinite"/>
                      </p:stCondLst>
                      <p:childTnLst>
                        <p:par>
                          <p:cTn id="812" fill="hold">
                            <p:stCondLst>
                              <p:cond delay="0"/>
                            </p:stCondLst>
                            <p:childTnLst>
                              <p:par>
                                <p:cTn id="813" presetID="1" presetClass="entr" presetSubtype="0" fill="hold" nodeType="clickEffect">
                                  <p:stCondLst>
                                    <p:cond delay="0"/>
                                  </p:stCondLst>
                                  <p:childTnLst>
                                    <p:set>
                                      <p:cBhvr>
                                        <p:cTn id="814" dur="1" fill="hold">
                                          <p:stCondLst>
                                            <p:cond delay="0"/>
                                          </p:stCondLst>
                                        </p:cTn>
                                        <p:tgtEl>
                                          <p:spTgt spid="109">
                                            <p:txEl>
                                              <p:pRg st="4" end="4"/>
                                            </p:txEl>
                                          </p:spTgt>
                                        </p:tgtEl>
                                        <p:attrNameLst>
                                          <p:attrName>style.visibility</p:attrName>
                                        </p:attrNameLst>
                                      </p:cBhvr>
                                      <p:to>
                                        <p:strVal val="visible"/>
                                      </p:to>
                                    </p:set>
                                  </p:childTnLst>
                                </p:cTn>
                              </p:par>
                            </p:childTnLst>
                          </p:cTn>
                        </p:par>
                      </p:childTnLst>
                    </p:cTn>
                  </p:par>
                  <p:par>
                    <p:cTn id="815" fill="hold">
                      <p:stCondLst>
                        <p:cond delay="indefinite"/>
                      </p:stCondLst>
                      <p:childTnLst>
                        <p:par>
                          <p:cTn id="816" fill="hold">
                            <p:stCondLst>
                              <p:cond delay="0"/>
                            </p:stCondLst>
                            <p:childTnLst>
                              <p:par>
                                <p:cTn id="817" presetID="1" presetClass="entr" presetSubtype="0" fill="hold" nodeType="clickEffect">
                                  <p:stCondLst>
                                    <p:cond delay="0"/>
                                  </p:stCondLst>
                                  <p:childTnLst>
                                    <p:set>
                                      <p:cBhvr>
                                        <p:cTn id="818" dur="1" fill="hold">
                                          <p:stCondLst>
                                            <p:cond delay="0"/>
                                          </p:stCondLst>
                                        </p:cTn>
                                        <p:tgtEl>
                                          <p:spTgt spid="109">
                                            <p:txEl>
                                              <p:pRg st="5" end="5"/>
                                            </p:txEl>
                                          </p:spTgt>
                                        </p:tgtEl>
                                        <p:attrNameLst>
                                          <p:attrName>style.visibility</p:attrName>
                                        </p:attrNameLst>
                                      </p:cBhvr>
                                      <p:to>
                                        <p:strVal val="visible"/>
                                      </p:to>
                                    </p:set>
                                  </p:childTnLst>
                                </p:cTn>
                              </p:par>
                            </p:childTnLst>
                          </p:cTn>
                        </p:par>
                      </p:childTnLst>
                    </p:cTn>
                  </p:par>
                  <p:par>
                    <p:cTn id="819" fill="hold">
                      <p:stCondLst>
                        <p:cond delay="indefinite"/>
                      </p:stCondLst>
                      <p:childTnLst>
                        <p:par>
                          <p:cTn id="820" fill="hold">
                            <p:stCondLst>
                              <p:cond delay="0"/>
                            </p:stCondLst>
                            <p:childTnLst>
                              <p:par>
                                <p:cTn id="821" presetID="1" presetClass="entr" presetSubtype="0" fill="hold" nodeType="clickEffect">
                                  <p:stCondLst>
                                    <p:cond delay="0"/>
                                  </p:stCondLst>
                                  <p:childTnLst>
                                    <p:set>
                                      <p:cBhvr>
                                        <p:cTn id="822" dur="1" fill="hold">
                                          <p:stCondLst>
                                            <p:cond delay="0"/>
                                          </p:stCondLst>
                                        </p:cTn>
                                        <p:tgtEl>
                                          <p:spTgt spid="109">
                                            <p:txEl>
                                              <p:pRg st="6" end="6"/>
                                            </p:txEl>
                                          </p:spTgt>
                                        </p:tgtEl>
                                        <p:attrNameLst>
                                          <p:attrName>style.visibility</p:attrName>
                                        </p:attrNameLst>
                                      </p:cBhvr>
                                      <p:to>
                                        <p:strVal val="visible"/>
                                      </p:to>
                                    </p:set>
                                  </p:childTnLst>
                                </p:cTn>
                              </p:par>
                            </p:childTnLst>
                          </p:cTn>
                        </p:par>
                      </p:childTnLst>
                    </p:cTn>
                  </p:par>
                  <p:par>
                    <p:cTn id="823" fill="hold">
                      <p:stCondLst>
                        <p:cond delay="indefinite"/>
                      </p:stCondLst>
                      <p:childTnLst>
                        <p:par>
                          <p:cTn id="824" fill="hold">
                            <p:stCondLst>
                              <p:cond delay="0"/>
                            </p:stCondLst>
                            <p:childTnLst>
                              <p:par>
                                <p:cTn id="825" presetID="1" presetClass="entr" presetSubtype="0" fill="hold" nodeType="clickEffect">
                                  <p:stCondLst>
                                    <p:cond delay="0"/>
                                  </p:stCondLst>
                                  <p:childTnLst>
                                    <p:set>
                                      <p:cBhvr>
                                        <p:cTn id="826" dur="1" fill="hold">
                                          <p:stCondLst>
                                            <p:cond delay="0"/>
                                          </p:stCondLst>
                                        </p:cTn>
                                        <p:tgtEl>
                                          <p:spTgt spid="109">
                                            <p:txEl>
                                              <p:pRg st="7" end="7"/>
                                            </p:txEl>
                                          </p:spTgt>
                                        </p:tgtEl>
                                        <p:attrNameLst>
                                          <p:attrName>style.visibility</p:attrName>
                                        </p:attrNameLst>
                                      </p:cBhvr>
                                      <p:to>
                                        <p:strVal val="visible"/>
                                      </p:to>
                                    </p:set>
                                  </p:childTnLst>
                                </p:cTn>
                              </p:par>
                            </p:childTnLst>
                          </p:cTn>
                        </p:par>
                      </p:childTnLst>
                    </p:cTn>
                  </p:par>
                  <p:par>
                    <p:cTn id="827" fill="hold">
                      <p:stCondLst>
                        <p:cond delay="indefinite"/>
                      </p:stCondLst>
                      <p:childTnLst>
                        <p:par>
                          <p:cTn id="828" fill="hold">
                            <p:stCondLst>
                              <p:cond delay="0"/>
                            </p:stCondLst>
                            <p:childTnLst>
                              <p:par>
                                <p:cTn id="829" presetID="1" presetClass="entr" presetSubtype="0" fill="hold" nodeType="clickEffect">
                                  <p:stCondLst>
                                    <p:cond delay="0"/>
                                  </p:stCondLst>
                                  <p:childTnLst>
                                    <p:set>
                                      <p:cBhvr>
                                        <p:cTn id="830" dur="1" fill="hold">
                                          <p:stCondLst>
                                            <p:cond delay="0"/>
                                          </p:stCondLst>
                                        </p:cTn>
                                        <p:tgtEl>
                                          <p:spTgt spid="109">
                                            <p:txEl>
                                              <p:pRg st="8" end="8"/>
                                            </p:txEl>
                                          </p:spTgt>
                                        </p:tgtEl>
                                        <p:attrNameLst>
                                          <p:attrName>style.visibility</p:attrName>
                                        </p:attrNameLst>
                                      </p:cBhvr>
                                      <p:to>
                                        <p:strVal val="visible"/>
                                      </p:to>
                                    </p:set>
                                  </p:childTnLst>
                                </p:cTn>
                              </p:par>
                            </p:childTnLst>
                          </p:cTn>
                        </p:par>
                      </p:childTnLst>
                    </p:cTn>
                  </p:par>
                  <p:par>
                    <p:cTn id="831" fill="hold">
                      <p:stCondLst>
                        <p:cond delay="indefinite"/>
                      </p:stCondLst>
                      <p:childTnLst>
                        <p:par>
                          <p:cTn id="832" fill="hold">
                            <p:stCondLst>
                              <p:cond delay="0"/>
                            </p:stCondLst>
                            <p:childTnLst>
                              <p:par>
                                <p:cTn id="833" presetID="1" presetClass="entr" presetSubtype="0" fill="hold" nodeType="clickEffect">
                                  <p:stCondLst>
                                    <p:cond delay="0"/>
                                  </p:stCondLst>
                                  <p:childTnLst>
                                    <p:set>
                                      <p:cBhvr>
                                        <p:cTn id="834"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835" fill="hold">
                      <p:stCondLst>
                        <p:cond delay="indefinite"/>
                      </p:stCondLst>
                      <p:childTnLst>
                        <p:par>
                          <p:cTn id="836" fill="hold">
                            <p:stCondLst>
                              <p:cond delay="0"/>
                            </p:stCondLst>
                            <p:childTnLst>
                              <p:par>
                                <p:cTn id="837" presetID="1" presetClass="entr" presetSubtype="0" fill="hold" nodeType="clickEffect">
                                  <p:stCondLst>
                                    <p:cond delay="0"/>
                                  </p:stCondLst>
                                  <p:childTnLst>
                                    <p:set>
                                      <p:cBhvr>
                                        <p:cTn id="838" dur="1" fill="hold">
                                          <p:stCondLst>
                                            <p:cond delay="0"/>
                                          </p:stCondLst>
                                        </p:cTn>
                                        <p:tgtEl>
                                          <p:spTgt spid="110">
                                            <p:txEl>
                                              <p:pRg st="1" end="1"/>
                                            </p:txEl>
                                          </p:spTgt>
                                        </p:tgtEl>
                                        <p:attrNameLst>
                                          <p:attrName>style.visibility</p:attrName>
                                        </p:attrNameLst>
                                      </p:cBhvr>
                                      <p:to>
                                        <p:strVal val="visible"/>
                                      </p:to>
                                    </p:set>
                                  </p:childTnLst>
                                </p:cTn>
                              </p:par>
                            </p:childTnLst>
                          </p:cTn>
                        </p:par>
                      </p:childTnLst>
                    </p:cTn>
                  </p:par>
                  <p:par>
                    <p:cTn id="839" fill="hold">
                      <p:stCondLst>
                        <p:cond delay="indefinite"/>
                      </p:stCondLst>
                      <p:childTnLst>
                        <p:par>
                          <p:cTn id="840" fill="hold">
                            <p:stCondLst>
                              <p:cond delay="0"/>
                            </p:stCondLst>
                            <p:childTnLst>
                              <p:par>
                                <p:cTn id="841" presetID="1" presetClass="entr" presetSubtype="0" fill="hold" nodeType="clickEffect">
                                  <p:stCondLst>
                                    <p:cond delay="0"/>
                                  </p:stCondLst>
                                  <p:childTnLst>
                                    <p:set>
                                      <p:cBhvr>
                                        <p:cTn id="842" dur="1" fill="hold">
                                          <p:stCondLst>
                                            <p:cond delay="0"/>
                                          </p:stCondLst>
                                        </p:cTn>
                                        <p:tgtEl>
                                          <p:spTgt spid="110">
                                            <p:txEl>
                                              <p:pRg st="2" end="2"/>
                                            </p:txEl>
                                          </p:spTgt>
                                        </p:tgtEl>
                                        <p:attrNameLst>
                                          <p:attrName>style.visibility</p:attrName>
                                        </p:attrNameLst>
                                      </p:cBhvr>
                                      <p:to>
                                        <p:strVal val="visible"/>
                                      </p:to>
                                    </p:set>
                                  </p:childTnLst>
                                </p:cTn>
                              </p:par>
                            </p:childTnLst>
                          </p:cTn>
                        </p:par>
                      </p:childTnLst>
                    </p:cTn>
                  </p:par>
                  <p:par>
                    <p:cTn id="843" fill="hold">
                      <p:stCondLst>
                        <p:cond delay="indefinite"/>
                      </p:stCondLst>
                      <p:childTnLst>
                        <p:par>
                          <p:cTn id="844" fill="hold">
                            <p:stCondLst>
                              <p:cond delay="0"/>
                            </p:stCondLst>
                            <p:childTnLst>
                              <p:par>
                                <p:cTn id="845" presetID="1" presetClass="entr" presetSubtype="0" fill="hold" nodeType="clickEffect">
                                  <p:stCondLst>
                                    <p:cond delay="0"/>
                                  </p:stCondLst>
                                  <p:childTnLst>
                                    <p:set>
                                      <p:cBhvr>
                                        <p:cTn id="846" dur="1" fill="hold">
                                          <p:stCondLst>
                                            <p:cond delay="0"/>
                                          </p:stCondLst>
                                        </p:cTn>
                                        <p:tgtEl>
                                          <p:spTgt spid="110">
                                            <p:txEl>
                                              <p:pRg st="3" end="3"/>
                                            </p:txEl>
                                          </p:spTgt>
                                        </p:tgtEl>
                                        <p:attrNameLst>
                                          <p:attrName>style.visibility</p:attrName>
                                        </p:attrNameLst>
                                      </p:cBhvr>
                                      <p:to>
                                        <p:strVal val="visible"/>
                                      </p:to>
                                    </p:set>
                                  </p:childTnLst>
                                </p:cTn>
                              </p:par>
                            </p:childTnLst>
                          </p:cTn>
                        </p:par>
                      </p:childTnLst>
                    </p:cTn>
                  </p:par>
                  <p:par>
                    <p:cTn id="847" fill="hold">
                      <p:stCondLst>
                        <p:cond delay="indefinite"/>
                      </p:stCondLst>
                      <p:childTnLst>
                        <p:par>
                          <p:cTn id="848" fill="hold">
                            <p:stCondLst>
                              <p:cond delay="0"/>
                            </p:stCondLst>
                            <p:childTnLst>
                              <p:par>
                                <p:cTn id="849" presetID="1" presetClass="entr" presetSubtype="0" fill="hold" nodeType="clickEffect">
                                  <p:stCondLst>
                                    <p:cond delay="0"/>
                                  </p:stCondLst>
                                  <p:childTnLst>
                                    <p:set>
                                      <p:cBhvr>
                                        <p:cTn id="850" dur="1" fill="hold">
                                          <p:stCondLst>
                                            <p:cond delay="0"/>
                                          </p:stCondLst>
                                        </p:cTn>
                                        <p:tgtEl>
                                          <p:spTgt spid="110">
                                            <p:txEl>
                                              <p:pRg st="4" end="4"/>
                                            </p:txEl>
                                          </p:spTgt>
                                        </p:tgtEl>
                                        <p:attrNameLst>
                                          <p:attrName>style.visibility</p:attrName>
                                        </p:attrNameLst>
                                      </p:cBhvr>
                                      <p:to>
                                        <p:strVal val="visible"/>
                                      </p:to>
                                    </p:set>
                                  </p:childTnLst>
                                </p:cTn>
                              </p:par>
                            </p:childTnLst>
                          </p:cTn>
                        </p:par>
                      </p:childTnLst>
                    </p:cTn>
                  </p:par>
                  <p:par>
                    <p:cTn id="851" fill="hold">
                      <p:stCondLst>
                        <p:cond delay="indefinite"/>
                      </p:stCondLst>
                      <p:childTnLst>
                        <p:par>
                          <p:cTn id="852" fill="hold">
                            <p:stCondLst>
                              <p:cond delay="0"/>
                            </p:stCondLst>
                            <p:childTnLst>
                              <p:par>
                                <p:cTn id="853" presetID="1" presetClass="entr" presetSubtype="0" fill="hold" nodeType="clickEffect">
                                  <p:stCondLst>
                                    <p:cond delay="0"/>
                                  </p:stCondLst>
                                  <p:childTnLst>
                                    <p:set>
                                      <p:cBhvr>
                                        <p:cTn id="854" dur="1" fill="hold">
                                          <p:stCondLst>
                                            <p:cond delay="0"/>
                                          </p:stCondLst>
                                        </p:cTn>
                                        <p:tgtEl>
                                          <p:spTgt spid="110">
                                            <p:txEl>
                                              <p:pRg st="5" end="5"/>
                                            </p:txEl>
                                          </p:spTgt>
                                        </p:tgtEl>
                                        <p:attrNameLst>
                                          <p:attrName>style.visibility</p:attrName>
                                        </p:attrNameLst>
                                      </p:cBhvr>
                                      <p:to>
                                        <p:strVal val="visible"/>
                                      </p:to>
                                    </p:set>
                                  </p:childTnLst>
                                </p:cTn>
                              </p:par>
                            </p:childTnLst>
                          </p:cTn>
                        </p:par>
                      </p:childTnLst>
                    </p:cTn>
                  </p:par>
                  <p:par>
                    <p:cTn id="855" fill="hold">
                      <p:stCondLst>
                        <p:cond delay="indefinite"/>
                      </p:stCondLst>
                      <p:childTnLst>
                        <p:par>
                          <p:cTn id="856" fill="hold">
                            <p:stCondLst>
                              <p:cond delay="0"/>
                            </p:stCondLst>
                            <p:childTnLst>
                              <p:par>
                                <p:cTn id="857" presetID="1" presetClass="entr" presetSubtype="0" fill="hold" nodeType="clickEffect">
                                  <p:stCondLst>
                                    <p:cond delay="0"/>
                                  </p:stCondLst>
                                  <p:childTnLst>
                                    <p:set>
                                      <p:cBhvr>
                                        <p:cTn id="858" dur="1" fill="hold">
                                          <p:stCondLst>
                                            <p:cond delay="0"/>
                                          </p:stCondLst>
                                        </p:cTn>
                                        <p:tgtEl>
                                          <p:spTgt spid="110">
                                            <p:txEl>
                                              <p:pRg st="6" end="6"/>
                                            </p:txEl>
                                          </p:spTgt>
                                        </p:tgtEl>
                                        <p:attrNameLst>
                                          <p:attrName>style.visibility</p:attrName>
                                        </p:attrNameLst>
                                      </p:cBhvr>
                                      <p:to>
                                        <p:strVal val="visible"/>
                                      </p:to>
                                    </p:set>
                                  </p:childTnLst>
                                </p:cTn>
                              </p:par>
                            </p:childTnLst>
                          </p:cTn>
                        </p:par>
                      </p:childTnLst>
                    </p:cTn>
                  </p:par>
                  <p:par>
                    <p:cTn id="859" fill="hold">
                      <p:stCondLst>
                        <p:cond delay="indefinite"/>
                      </p:stCondLst>
                      <p:childTnLst>
                        <p:par>
                          <p:cTn id="860" fill="hold">
                            <p:stCondLst>
                              <p:cond delay="0"/>
                            </p:stCondLst>
                            <p:childTnLst>
                              <p:par>
                                <p:cTn id="861" presetID="1" presetClass="entr" presetSubtype="0" fill="hold" nodeType="clickEffect">
                                  <p:stCondLst>
                                    <p:cond delay="0"/>
                                  </p:stCondLst>
                                  <p:childTnLst>
                                    <p:set>
                                      <p:cBhvr>
                                        <p:cTn id="862" dur="1" fill="hold">
                                          <p:stCondLst>
                                            <p:cond delay="0"/>
                                          </p:stCondLst>
                                        </p:cTn>
                                        <p:tgtEl>
                                          <p:spTgt spid="110">
                                            <p:txEl>
                                              <p:pRg st="7" end="7"/>
                                            </p:txEl>
                                          </p:spTgt>
                                        </p:tgtEl>
                                        <p:attrNameLst>
                                          <p:attrName>style.visibility</p:attrName>
                                        </p:attrNameLst>
                                      </p:cBhvr>
                                      <p:to>
                                        <p:strVal val="visible"/>
                                      </p:to>
                                    </p:set>
                                  </p:childTnLst>
                                </p:cTn>
                              </p:par>
                            </p:childTnLst>
                          </p:cTn>
                        </p:par>
                      </p:childTnLst>
                    </p:cTn>
                  </p:par>
                  <p:par>
                    <p:cTn id="863" fill="hold">
                      <p:stCondLst>
                        <p:cond delay="indefinite"/>
                      </p:stCondLst>
                      <p:childTnLst>
                        <p:par>
                          <p:cTn id="864" fill="hold">
                            <p:stCondLst>
                              <p:cond delay="0"/>
                            </p:stCondLst>
                            <p:childTnLst>
                              <p:par>
                                <p:cTn id="865" presetID="1" presetClass="entr" presetSubtype="0" fill="hold" nodeType="clickEffect">
                                  <p:stCondLst>
                                    <p:cond delay="0"/>
                                  </p:stCondLst>
                                  <p:childTnLst>
                                    <p:set>
                                      <p:cBhvr>
                                        <p:cTn id="866" dur="1" fill="hold">
                                          <p:stCondLst>
                                            <p:cond delay="0"/>
                                          </p:stCondLst>
                                        </p:cTn>
                                        <p:tgtEl>
                                          <p:spTgt spid="110">
                                            <p:txEl>
                                              <p:pRg st="8" end="8"/>
                                            </p:txEl>
                                          </p:spTgt>
                                        </p:tgtEl>
                                        <p:attrNameLst>
                                          <p:attrName>style.visibility</p:attrName>
                                        </p:attrNameLst>
                                      </p:cBhvr>
                                      <p:to>
                                        <p:strVal val="visible"/>
                                      </p:to>
                                    </p:set>
                                  </p:childTnLst>
                                </p:cTn>
                              </p:par>
                            </p:childTnLst>
                          </p:cTn>
                        </p:par>
                      </p:childTnLst>
                    </p:cTn>
                  </p:par>
                  <p:par>
                    <p:cTn id="867" fill="hold">
                      <p:stCondLst>
                        <p:cond delay="indefinite"/>
                      </p:stCondLst>
                      <p:childTnLst>
                        <p:par>
                          <p:cTn id="868" fill="hold">
                            <p:stCondLst>
                              <p:cond delay="0"/>
                            </p:stCondLst>
                            <p:childTnLst>
                              <p:par>
                                <p:cTn id="869" presetID="1" presetClass="entr" presetSubtype="0" fill="hold" nodeType="clickEffect">
                                  <p:stCondLst>
                                    <p:cond delay="0"/>
                                  </p:stCondLst>
                                  <p:childTnLst>
                                    <p:set>
                                      <p:cBhvr>
                                        <p:cTn id="870"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par>
                    <p:cTn id="871" fill="hold">
                      <p:stCondLst>
                        <p:cond delay="indefinite"/>
                      </p:stCondLst>
                      <p:childTnLst>
                        <p:par>
                          <p:cTn id="872" fill="hold">
                            <p:stCondLst>
                              <p:cond delay="0"/>
                            </p:stCondLst>
                            <p:childTnLst>
                              <p:par>
                                <p:cTn id="873" presetID="1" presetClass="entr" presetSubtype="0" fill="hold" nodeType="clickEffect">
                                  <p:stCondLst>
                                    <p:cond delay="0"/>
                                  </p:stCondLst>
                                  <p:childTnLst>
                                    <p:set>
                                      <p:cBhvr>
                                        <p:cTn id="874" dur="1" fill="hold">
                                          <p:stCondLst>
                                            <p:cond delay="0"/>
                                          </p:stCondLst>
                                        </p:cTn>
                                        <p:tgtEl>
                                          <p:spTgt spid="111">
                                            <p:txEl>
                                              <p:pRg st="1" end="1"/>
                                            </p:txEl>
                                          </p:spTgt>
                                        </p:tgtEl>
                                        <p:attrNameLst>
                                          <p:attrName>style.visibility</p:attrName>
                                        </p:attrNameLst>
                                      </p:cBhvr>
                                      <p:to>
                                        <p:strVal val="visible"/>
                                      </p:to>
                                    </p:set>
                                  </p:childTnLst>
                                </p:cTn>
                              </p:par>
                            </p:childTnLst>
                          </p:cTn>
                        </p:par>
                      </p:childTnLst>
                    </p:cTn>
                  </p:par>
                  <p:par>
                    <p:cTn id="875" fill="hold">
                      <p:stCondLst>
                        <p:cond delay="indefinite"/>
                      </p:stCondLst>
                      <p:childTnLst>
                        <p:par>
                          <p:cTn id="876" fill="hold">
                            <p:stCondLst>
                              <p:cond delay="0"/>
                            </p:stCondLst>
                            <p:childTnLst>
                              <p:par>
                                <p:cTn id="877" presetID="1" presetClass="entr" presetSubtype="0" fill="hold" nodeType="clickEffect">
                                  <p:stCondLst>
                                    <p:cond delay="0"/>
                                  </p:stCondLst>
                                  <p:childTnLst>
                                    <p:set>
                                      <p:cBhvr>
                                        <p:cTn id="878" dur="1" fill="hold">
                                          <p:stCondLst>
                                            <p:cond delay="0"/>
                                          </p:stCondLst>
                                        </p:cTn>
                                        <p:tgtEl>
                                          <p:spTgt spid="111">
                                            <p:txEl>
                                              <p:pRg st="2" end="2"/>
                                            </p:txEl>
                                          </p:spTgt>
                                        </p:tgtEl>
                                        <p:attrNameLst>
                                          <p:attrName>style.visibility</p:attrName>
                                        </p:attrNameLst>
                                      </p:cBhvr>
                                      <p:to>
                                        <p:strVal val="visible"/>
                                      </p:to>
                                    </p:set>
                                  </p:childTnLst>
                                </p:cTn>
                              </p:par>
                            </p:childTnLst>
                          </p:cTn>
                        </p:par>
                      </p:childTnLst>
                    </p:cTn>
                  </p:par>
                  <p:par>
                    <p:cTn id="879" fill="hold">
                      <p:stCondLst>
                        <p:cond delay="indefinite"/>
                      </p:stCondLst>
                      <p:childTnLst>
                        <p:par>
                          <p:cTn id="880" fill="hold">
                            <p:stCondLst>
                              <p:cond delay="0"/>
                            </p:stCondLst>
                            <p:childTnLst>
                              <p:par>
                                <p:cTn id="881" presetID="1" presetClass="entr" presetSubtype="0" fill="hold" nodeType="clickEffect">
                                  <p:stCondLst>
                                    <p:cond delay="0"/>
                                  </p:stCondLst>
                                  <p:childTnLst>
                                    <p:set>
                                      <p:cBhvr>
                                        <p:cTn id="882" dur="1" fill="hold">
                                          <p:stCondLst>
                                            <p:cond delay="0"/>
                                          </p:stCondLst>
                                        </p:cTn>
                                        <p:tgtEl>
                                          <p:spTgt spid="111">
                                            <p:txEl>
                                              <p:pRg st="3" end="3"/>
                                            </p:txEl>
                                          </p:spTgt>
                                        </p:tgtEl>
                                        <p:attrNameLst>
                                          <p:attrName>style.visibility</p:attrName>
                                        </p:attrNameLst>
                                      </p:cBhvr>
                                      <p:to>
                                        <p:strVal val="visible"/>
                                      </p:to>
                                    </p:set>
                                  </p:childTnLst>
                                </p:cTn>
                              </p:par>
                            </p:childTnLst>
                          </p:cTn>
                        </p:par>
                      </p:childTnLst>
                    </p:cTn>
                  </p:par>
                  <p:par>
                    <p:cTn id="883" fill="hold">
                      <p:stCondLst>
                        <p:cond delay="indefinite"/>
                      </p:stCondLst>
                      <p:childTnLst>
                        <p:par>
                          <p:cTn id="884" fill="hold">
                            <p:stCondLst>
                              <p:cond delay="0"/>
                            </p:stCondLst>
                            <p:childTnLst>
                              <p:par>
                                <p:cTn id="885" presetID="1" presetClass="entr" presetSubtype="0" fill="hold" nodeType="clickEffect">
                                  <p:stCondLst>
                                    <p:cond delay="0"/>
                                  </p:stCondLst>
                                  <p:childTnLst>
                                    <p:set>
                                      <p:cBhvr>
                                        <p:cTn id="886" dur="1" fill="hold">
                                          <p:stCondLst>
                                            <p:cond delay="0"/>
                                          </p:stCondLst>
                                        </p:cTn>
                                        <p:tgtEl>
                                          <p:spTgt spid="111">
                                            <p:txEl>
                                              <p:pRg st="4" end="4"/>
                                            </p:txEl>
                                          </p:spTgt>
                                        </p:tgtEl>
                                        <p:attrNameLst>
                                          <p:attrName>style.visibility</p:attrName>
                                        </p:attrNameLst>
                                      </p:cBhvr>
                                      <p:to>
                                        <p:strVal val="visible"/>
                                      </p:to>
                                    </p:set>
                                  </p:childTnLst>
                                </p:cTn>
                              </p:par>
                            </p:childTnLst>
                          </p:cTn>
                        </p:par>
                      </p:childTnLst>
                    </p:cTn>
                  </p:par>
                  <p:par>
                    <p:cTn id="887" fill="hold">
                      <p:stCondLst>
                        <p:cond delay="indefinite"/>
                      </p:stCondLst>
                      <p:childTnLst>
                        <p:par>
                          <p:cTn id="888" fill="hold">
                            <p:stCondLst>
                              <p:cond delay="0"/>
                            </p:stCondLst>
                            <p:childTnLst>
                              <p:par>
                                <p:cTn id="889" presetID="1" presetClass="entr" presetSubtype="0" fill="hold" nodeType="clickEffect">
                                  <p:stCondLst>
                                    <p:cond delay="0"/>
                                  </p:stCondLst>
                                  <p:childTnLst>
                                    <p:set>
                                      <p:cBhvr>
                                        <p:cTn id="890" dur="1" fill="hold">
                                          <p:stCondLst>
                                            <p:cond delay="0"/>
                                          </p:stCondLst>
                                        </p:cTn>
                                        <p:tgtEl>
                                          <p:spTgt spid="111">
                                            <p:txEl>
                                              <p:pRg st="5" end="5"/>
                                            </p:txEl>
                                          </p:spTgt>
                                        </p:tgtEl>
                                        <p:attrNameLst>
                                          <p:attrName>style.visibility</p:attrName>
                                        </p:attrNameLst>
                                      </p:cBhvr>
                                      <p:to>
                                        <p:strVal val="visible"/>
                                      </p:to>
                                    </p:set>
                                  </p:childTnLst>
                                </p:cTn>
                              </p:par>
                            </p:childTnLst>
                          </p:cTn>
                        </p:par>
                      </p:childTnLst>
                    </p:cTn>
                  </p:par>
                  <p:par>
                    <p:cTn id="891" fill="hold">
                      <p:stCondLst>
                        <p:cond delay="indefinite"/>
                      </p:stCondLst>
                      <p:childTnLst>
                        <p:par>
                          <p:cTn id="892" fill="hold">
                            <p:stCondLst>
                              <p:cond delay="0"/>
                            </p:stCondLst>
                            <p:childTnLst>
                              <p:par>
                                <p:cTn id="893" presetID="1" presetClass="entr" presetSubtype="0" fill="hold" nodeType="clickEffect">
                                  <p:stCondLst>
                                    <p:cond delay="0"/>
                                  </p:stCondLst>
                                  <p:childTnLst>
                                    <p:set>
                                      <p:cBhvr>
                                        <p:cTn id="894" dur="1" fill="hold">
                                          <p:stCondLst>
                                            <p:cond delay="0"/>
                                          </p:stCondLst>
                                        </p:cTn>
                                        <p:tgtEl>
                                          <p:spTgt spid="111">
                                            <p:txEl>
                                              <p:pRg st="6" end="6"/>
                                            </p:txEl>
                                          </p:spTgt>
                                        </p:tgtEl>
                                        <p:attrNameLst>
                                          <p:attrName>style.visibility</p:attrName>
                                        </p:attrNameLst>
                                      </p:cBhvr>
                                      <p:to>
                                        <p:strVal val="visible"/>
                                      </p:to>
                                    </p:set>
                                  </p:childTnLst>
                                </p:cTn>
                              </p:par>
                            </p:childTnLst>
                          </p:cTn>
                        </p:par>
                      </p:childTnLst>
                    </p:cTn>
                  </p:par>
                  <p:par>
                    <p:cTn id="895" fill="hold">
                      <p:stCondLst>
                        <p:cond delay="indefinite"/>
                      </p:stCondLst>
                      <p:childTnLst>
                        <p:par>
                          <p:cTn id="896" fill="hold">
                            <p:stCondLst>
                              <p:cond delay="0"/>
                            </p:stCondLst>
                            <p:childTnLst>
                              <p:par>
                                <p:cTn id="897" presetID="1" presetClass="entr" presetSubtype="0" fill="hold" nodeType="clickEffect">
                                  <p:stCondLst>
                                    <p:cond delay="0"/>
                                  </p:stCondLst>
                                  <p:childTnLst>
                                    <p:set>
                                      <p:cBhvr>
                                        <p:cTn id="898" dur="1" fill="hold">
                                          <p:stCondLst>
                                            <p:cond delay="0"/>
                                          </p:stCondLst>
                                        </p:cTn>
                                        <p:tgtEl>
                                          <p:spTgt spid="111">
                                            <p:txEl>
                                              <p:pRg st="7" end="7"/>
                                            </p:txEl>
                                          </p:spTgt>
                                        </p:tgtEl>
                                        <p:attrNameLst>
                                          <p:attrName>style.visibility</p:attrName>
                                        </p:attrNameLst>
                                      </p:cBhvr>
                                      <p:to>
                                        <p:strVal val="visible"/>
                                      </p:to>
                                    </p:set>
                                  </p:childTnLst>
                                </p:cTn>
                              </p:par>
                            </p:childTnLst>
                          </p:cTn>
                        </p:par>
                      </p:childTnLst>
                    </p:cTn>
                  </p:par>
                  <p:par>
                    <p:cTn id="899" fill="hold">
                      <p:stCondLst>
                        <p:cond delay="indefinite"/>
                      </p:stCondLst>
                      <p:childTnLst>
                        <p:par>
                          <p:cTn id="900" fill="hold">
                            <p:stCondLst>
                              <p:cond delay="0"/>
                            </p:stCondLst>
                            <p:childTnLst>
                              <p:par>
                                <p:cTn id="901" presetID="1" presetClass="entr" presetSubtype="0" fill="hold" nodeType="clickEffect">
                                  <p:stCondLst>
                                    <p:cond delay="0"/>
                                  </p:stCondLst>
                                  <p:childTnLst>
                                    <p:set>
                                      <p:cBhvr>
                                        <p:cTn id="902" dur="1" fill="hold">
                                          <p:stCondLst>
                                            <p:cond delay="0"/>
                                          </p:stCondLst>
                                        </p:cTn>
                                        <p:tgtEl>
                                          <p:spTgt spid="111">
                                            <p:txEl>
                                              <p:pRg st="8" end="8"/>
                                            </p:txEl>
                                          </p:spTgt>
                                        </p:tgtEl>
                                        <p:attrNameLst>
                                          <p:attrName>style.visibility</p:attrName>
                                        </p:attrNameLst>
                                      </p:cBhvr>
                                      <p:to>
                                        <p:strVal val="visible"/>
                                      </p:to>
                                    </p:set>
                                  </p:childTnLst>
                                </p:cTn>
                              </p:par>
                            </p:childTnLst>
                          </p:cTn>
                        </p:par>
                      </p:childTnLst>
                    </p:cTn>
                  </p:par>
                  <p:par>
                    <p:cTn id="903" fill="hold">
                      <p:stCondLst>
                        <p:cond delay="indefinite"/>
                      </p:stCondLst>
                      <p:childTnLst>
                        <p:par>
                          <p:cTn id="904" fill="hold">
                            <p:stCondLst>
                              <p:cond delay="0"/>
                            </p:stCondLst>
                            <p:childTnLst>
                              <p:par>
                                <p:cTn id="905" presetID="1" presetClass="entr" presetSubtype="0" fill="hold" nodeType="clickEffect">
                                  <p:stCondLst>
                                    <p:cond delay="0"/>
                                  </p:stCondLst>
                                  <p:childTnLst>
                                    <p:set>
                                      <p:cBhvr>
                                        <p:cTn id="906" dur="1" fill="hold">
                                          <p:stCondLst>
                                            <p:cond delay="0"/>
                                          </p:stCondLst>
                                        </p:cTn>
                                        <p:tgtEl>
                                          <p:spTgt spid="112">
                                            <p:txEl>
                                              <p:pRg st="0" end="0"/>
                                            </p:txEl>
                                          </p:spTgt>
                                        </p:tgtEl>
                                        <p:attrNameLst>
                                          <p:attrName>style.visibility</p:attrName>
                                        </p:attrNameLst>
                                      </p:cBhvr>
                                      <p:to>
                                        <p:strVal val="visible"/>
                                      </p:to>
                                    </p:set>
                                  </p:childTnLst>
                                </p:cTn>
                              </p:par>
                            </p:childTnLst>
                          </p:cTn>
                        </p:par>
                      </p:childTnLst>
                    </p:cTn>
                  </p:par>
                  <p:par>
                    <p:cTn id="907" fill="hold">
                      <p:stCondLst>
                        <p:cond delay="indefinite"/>
                      </p:stCondLst>
                      <p:childTnLst>
                        <p:par>
                          <p:cTn id="908" fill="hold">
                            <p:stCondLst>
                              <p:cond delay="0"/>
                            </p:stCondLst>
                            <p:childTnLst>
                              <p:par>
                                <p:cTn id="909" presetID="1" presetClass="entr" presetSubtype="0" fill="hold" nodeType="clickEffect">
                                  <p:stCondLst>
                                    <p:cond delay="0"/>
                                  </p:stCondLst>
                                  <p:childTnLst>
                                    <p:set>
                                      <p:cBhvr>
                                        <p:cTn id="910" dur="1" fill="hold">
                                          <p:stCondLst>
                                            <p:cond delay="0"/>
                                          </p:stCondLst>
                                        </p:cTn>
                                        <p:tgtEl>
                                          <p:spTgt spid="112">
                                            <p:txEl>
                                              <p:pRg st="1" end="1"/>
                                            </p:txEl>
                                          </p:spTgt>
                                        </p:tgtEl>
                                        <p:attrNameLst>
                                          <p:attrName>style.visibility</p:attrName>
                                        </p:attrNameLst>
                                      </p:cBhvr>
                                      <p:to>
                                        <p:strVal val="visible"/>
                                      </p:to>
                                    </p:set>
                                  </p:childTnLst>
                                </p:cTn>
                              </p:par>
                            </p:childTnLst>
                          </p:cTn>
                        </p:par>
                      </p:childTnLst>
                    </p:cTn>
                  </p:par>
                  <p:par>
                    <p:cTn id="911" fill="hold">
                      <p:stCondLst>
                        <p:cond delay="indefinite"/>
                      </p:stCondLst>
                      <p:childTnLst>
                        <p:par>
                          <p:cTn id="912" fill="hold">
                            <p:stCondLst>
                              <p:cond delay="0"/>
                            </p:stCondLst>
                            <p:childTnLst>
                              <p:par>
                                <p:cTn id="913" presetID="1" presetClass="entr" presetSubtype="0" fill="hold" nodeType="clickEffect">
                                  <p:stCondLst>
                                    <p:cond delay="0"/>
                                  </p:stCondLst>
                                  <p:childTnLst>
                                    <p:set>
                                      <p:cBhvr>
                                        <p:cTn id="914" dur="1" fill="hold">
                                          <p:stCondLst>
                                            <p:cond delay="0"/>
                                          </p:stCondLst>
                                        </p:cTn>
                                        <p:tgtEl>
                                          <p:spTgt spid="112">
                                            <p:txEl>
                                              <p:pRg st="2" end="2"/>
                                            </p:txEl>
                                          </p:spTgt>
                                        </p:tgtEl>
                                        <p:attrNameLst>
                                          <p:attrName>style.visibility</p:attrName>
                                        </p:attrNameLst>
                                      </p:cBhvr>
                                      <p:to>
                                        <p:strVal val="visible"/>
                                      </p:to>
                                    </p:set>
                                  </p:childTnLst>
                                </p:cTn>
                              </p:par>
                            </p:childTnLst>
                          </p:cTn>
                        </p:par>
                      </p:childTnLst>
                    </p:cTn>
                  </p:par>
                  <p:par>
                    <p:cTn id="915" fill="hold">
                      <p:stCondLst>
                        <p:cond delay="indefinite"/>
                      </p:stCondLst>
                      <p:childTnLst>
                        <p:par>
                          <p:cTn id="916" fill="hold">
                            <p:stCondLst>
                              <p:cond delay="0"/>
                            </p:stCondLst>
                            <p:childTnLst>
                              <p:par>
                                <p:cTn id="917" presetID="1" presetClass="entr" presetSubtype="0" fill="hold" nodeType="clickEffect">
                                  <p:stCondLst>
                                    <p:cond delay="0"/>
                                  </p:stCondLst>
                                  <p:childTnLst>
                                    <p:set>
                                      <p:cBhvr>
                                        <p:cTn id="918" dur="1" fill="hold">
                                          <p:stCondLst>
                                            <p:cond delay="0"/>
                                          </p:stCondLst>
                                        </p:cTn>
                                        <p:tgtEl>
                                          <p:spTgt spid="112">
                                            <p:txEl>
                                              <p:pRg st="3" end="3"/>
                                            </p:txEl>
                                          </p:spTgt>
                                        </p:tgtEl>
                                        <p:attrNameLst>
                                          <p:attrName>style.visibility</p:attrName>
                                        </p:attrNameLst>
                                      </p:cBhvr>
                                      <p:to>
                                        <p:strVal val="visible"/>
                                      </p:to>
                                    </p:set>
                                  </p:childTnLst>
                                </p:cTn>
                              </p:par>
                            </p:childTnLst>
                          </p:cTn>
                        </p:par>
                      </p:childTnLst>
                    </p:cTn>
                  </p:par>
                  <p:par>
                    <p:cTn id="919" fill="hold">
                      <p:stCondLst>
                        <p:cond delay="indefinite"/>
                      </p:stCondLst>
                      <p:childTnLst>
                        <p:par>
                          <p:cTn id="920" fill="hold">
                            <p:stCondLst>
                              <p:cond delay="0"/>
                            </p:stCondLst>
                            <p:childTnLst>
                              <p:par>
                                <p:cTn id="921" presetID="1" presetClass="entr" presetSubtype="0" fill="hold" nodeType="clickEffect">
                                  <p:stCondLst>
                                    <p:cond delay="0"/>
                                  </p:stCondLst>
                                  <p:childTnLst>
                                    <p:set>
                                      <p:cBhvr>
                                        <p:cTn id="922" dur="1" fill="hold">
                                          <p:stCondLst>
                                            <p:cond delay="0"/>
                                          </p:stCondLst>
                                        </p:cTn>
                                        <p:tgtEl>
                                          <p:spTgt spid="112">
                                            <p:txEl>
                                              <p:pRg st="4" end="4"/>
                                            </p:txEl>
                                          </p:spTgt>
                                        </p:tgtEl>
                                        <p:attrNameLst>
                                          <p:attrName>style.visibility</p:attrName>
                                        </p:attrNameLst>
                                      </p:cBhvr>
                                      <p:to>
                                        <p:strVal val="visible"/>
                                      </p:to>
                                    </p:set>
                                  </p:childTnLst>
                                </p:cTn>
                              </p:par>
                            </p:childTnLst>
                          </p:cTn>
                        </p:par>
                      </p:childTnLst>
                    </p:cTn>
                  </p:par>
                  <p:par>
                    <p:cTn id="923" fill="hold">
                      <p:stCondLst>
                        <p:cond delay="indefinite"/>
                      </p:stCondLst>
                      <p:childTnLst>
                        <p:par>
                          <p:cTn id="924" fill="hold">
                            <p:stCondLst>
                              <p:cond delay="0"/>
                            </p:stCondLst>
                            <p:childTnLst>
                              <p:par>
                                <p:cTn id="925" presetID="1" presetClass="entr" presetSubtype="0" fill="hold" nodeType="clickEffect">
                                  <p:stCondLst>
                                    <p:cond delay="0"/>
                                  </p:stCondLst>
                                  <p:childTnLst>
                                    <p:set>
                                      <p:cBhvr>
                                        <p:cTn id="926" dur="1" fill="hold">
                                          <p:stCondLst>
                                            <p:cond delay="0"/>
                                          </p:stCondLst>
                                        </p:cTn>
                                        <p:tgtEl>
                                          <p:spTgt spid="112">
                                            <p:txEl>
                                              <p:pRg st="5" end="5"/>
                                            </p:txEl>
                                          </p:spTgt>
                                        </p:tgtEl>
                                        <p:attrNameLst>
                                          <p:attrName>style.visibility</p:attrName>
                                        </p:attrNameLst>
                                      </p:cBhvr>
                                      <p:to>
                                        <p:strVal val="visible"/>
                                      </p:to>
                                    </p:set>
                                  </p:childTnLst>
                                </p:cTn>
                              </p:par>
                            </p:childTnLst>
                          </p:cTn>
                        </p:par>
                      </p:childTnLst>
                    </p:cTn>
                  </p:par>
                  <p:par>
                    <p:cTn id="927" fill="hold">
                      <p:stCondLst>
                        <p:cond delay="indefinite"/>
                      </p:stCondLst>
                      <p:childTnLst>
                        <p:par>
                          <p:cTn id="928" fill="hold">
                            <p:stCondLst>
                              <p:cond delay="0"/>
                            </p:stCondLst>
                            <p:childTnLst>
                              <p:par>
                                <p:cTn id="929" presetID="1" presetClass="entr" presetSubtype="0" fill="hold" nodeType="clickEffect">
                                  <p:stCondLst>
                                    <p:cond delay="0"/>
                                  </p:stCondLst>
                                  <p:childTnLst>
                                    <p:set>
                                      <p:cBhvr>
                                        <p:cTn id="930" dur="1" fill="hold">
                                          <p:stCondLst>
                                            <p:cond delay="0"/>
                                          </p:stCondLst>
                                        </p:cTn>
                                        <p:tgtEl>
                                          <p:spTgt spid="112">
                                            <p:txEl>
                                              <p:pRg st="6" end="6"/>
                                            </p:txEl>
                                          </p:spTgt>
                                        </p:tgtEl>
                                        <p:attrNameLst>
                                          <p:attrName>style.visibility</p:attrName>
                                        </p:attrNameLst>
                                      </p:cBhvr>
                                      <p:to>
                                        <p:strVal val="visible"/>
                                      </p:to>
                                    </p:set>
                                  </p:childTnLst>
                                </p:cTn>
                              </p:par>
                            </p:childTnLst>
                          </p:cTn>
                        </p:par>
                      </p:childTnLst>
                    </p:cTn>
                  </p:par>
                  <p:par>
                    <p:cTn id="931" fill="hold">
                      <p:stCondLst>
                        <p:cond delay="indefinite"/>
                      </p:stCondLst>
                      <p:childTnLst>
                        <p:par>
                          <p:cTn id="932" fill="hold">
                            <p:stCondLst>
                              <p:cond delay="0"/>
                            </p:stCondLst>
                            <p:childTnLst>
                              <p:par>
                                <p:cTn id="933" presetID="1" presetClass="entr" presetSubtype="0" fill="hold" nodeType="clickEffect">
                                  <p:stCondLst>
                                    <p:cond delay="0"/>
                                  </p:stCondLst>
                                  <p:childTnLst>
                                    <p:set>
                                      <p:cBhvr>
                                        <p:cTn id="934" dur="1" fill="hold">
                                          <p:stCondLst>
                                            <p:cond delay="0"/>
                                          </p:stCondLst>
                                        </p:cTn>
                                        <p:tgtEl>
                                          <p:spTgt spid="112">
                                            <p:txEl>
                                              <p:pRg st="7" end="7"/>
                                            </p:txEl>
                                          </p:spTgt>
                                        </p:tgtEl>
                                        <p:attrNameLst>
                                          <p:attrName>style.visibility</p:attrName>
                                        </p:attrNameLst>
                                      </p:cBhvr>
                                      <p:to>
                                        <p:strVal val="visible"/>
                                      </p:to>
                                    </p:set>
                                  </p:childTnLst>
                                </p:cTn>
                              </p:par>
                            </p:childTnLst>
                          </p:cTn>
                        </p:par>
                      </p:childTnLst>
                    </p:cTn>
                  </p:par>
                  <p:par>
                    <p:cTn id="935" fill="hold">
                      <p:stCondLst>
                        <p:cond delay="indefinite"/>
                      </p:stCondLst>
                      <p:childTnLst>
                        <p:par>
                          <p:cTn id="936" fill="hold">
                            <p:stCondLst>
                              <p:cond delay="0"/>
                            </p:stCondLst>
                            <p:childTnLst>
                              <p:par>
                                <p:cTn id="937" presetID="1" presetClass="entr" presetSubtype="0" fill="hold" nodeType="clickEffect">
                                  <p:stCondLst>
                                    <p:cond delay="0"/>
                                  </p:stCondLst>
                                  <p:childTnLst>
                                    <p:set>
                                      <p:cBhvr>
                                        <p:cTn id="938" dur="1" fill="hold">
                                          <p:stCondLst>
                                            <p:cond delay="0"/>
                                          </p:stCondLst>
                                        </p:cTn>
                                        <p:tgtEl>
                                          <p:spTgt spid="112">
                                            <p:txEl>
                                              <p:pRg st="8" end="8"/>
                                            </p:txEl>
                                          </p:spTgt>
                                        </p:tgtEl>
                                        <p:attrNameLst>
                                          <p:attrName>style.visibility</p:attrName>
                                        </p:attrNameLst>
                                      </p:cBhvr>
                                      <p:to>
                                        <p:strVal val="visible"/>
                                      </p:to>
                                    </p:set>
                                  </p:childTnLst>
                                </p:cTn>
                              </p:par>
                            </p:childTnLst>
                          </p:cTn>
                        </p:par>
                      </p:childTnLst>
                    </p:cTn>
                  </p:par>
                  <p:par>
                    <p:cTn id="939" fill="hold">
                      <p:stCondLst>
                        <p:cond delay="indefinite"/>
                      </p:stCondLst>
                      <p:childTnLst>
                        <p:par>
                          <p:cTn id="940" fill="hold">
                            <p:stCondLst>
                              <p:cond delay="0"/>
                            </p:stCondLst>
                            <p:childTnLst>
                              <p:par>
                                <p:cTn id="941" presetID="1" presetClass="entr" presetSubtype="0" fill="hold" nodeType="clickEffect">
                                  <p:stCondLst>
                                    <p:cond delay="0"/>
                                  </p:stCondLst>
                                  <p:childTnLst>
                                    <p:set>
                                      <p:cBhvr>
                                        <p:cTn id="942"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943" fill="hold">
                      <p:stCondLst>
                        <p:cond delay="indefinite"/>
                      </p:stCondLst>
                      <p:childTnLst>
                        <p:par>
                          <p:cTn id="944" fill="hold">
                            <p:stCondLst>
                              <p:cond delay="0"/>
                            </p:stCondLst>
                            <p:childTnLst>
                              <p:par>
                                <p:cTn id="945" presetID="1" presetClass="entr" presetSubtype="0" fill="hold" nodeType="clickEffect">
                                  <p:stCondLst>
                                    <p:cond delay="0"/>
                                  </p:stCondLst>
                                  <p:childTnLst>
                                    <p:set>
                                      <p:cBhvr>
                                        <p:cTn id="946" dur="1" fill="hold">
                                          <p:stCondLst>
                                            <p:cond delay="0"/>
                                          </p:stCondLst>
                                        </p:cTn>
                                        <p:tgtEl>
                                          <p:spTgt spid="113">
                                            <p:txEl>
                                              <p:pRg st="1" end="1"/>
                                            </p:txEl>
                                          </p:spTgt>
                                        </p:tgtEl>
                                        <p:attrNameLst>
                                          <p:attrName>style.visibility</p:attrName>
                                        </p:attrNameLst>
                                      </p:cBhvr>
                                      <p:to>
                                        <p:strVal val="visible"/>
                                      </p:to>
                                    </p:set>
                                  </p:childTnLst>
                                </p:cTn>
                              </p:par>
                            </p:childTnLst>
                          </p:cTn>
                        </p:par>
                      </p:childTnLst>
                    </p:cTn>
                  </p:par>
                  <p:par>
                    <p:cTn id="947" fill="hold">
                      <p:stCondLst>
                        <p:cond delay="indefinite"/>
                      </p:stCondLst>
                      <p:childTnLst>
                        <p:par>
                          <p:cTn id="948" fill="hold">
                            <p:stCondLst>
                              <p:cond delay="0"/>
                            </p:stCondLst>
                            <p:childTnLst>
                              <p:par>
                                <p:cTn id="949" presetID="1" presetClass="entr" presetSubtype="0" fill="hold" nodeType="clickEffect">
                                  <p:stCondLst>
                                    <p:cond delay="0"/>
                                  </p:stCondLst>
                                  <p:childTnLst>
                                    <p:set>
                                      <p:cBhvr>
                                        <p:cTn id="950"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951" fill="hold">
                      <p:stCondLst>
                        <p:cond delay="indefinite"/>
                      </p:stCondLst>
                      <p:childTnLst>
                        <p:par>
                          <p:cTn id="952" fill="hold">
                            <p:stCondLst>
                              <p:cond delay="0"/>
                            </p:stCondLst>
                            <p:childTnLst>
                              <p:par>
                                <p:cTn id="953" presetID="1" presetClass="entr" presetSubtype="0" fill="hold" nodeType="clickEffect">
                                  <p:stCondLst>
                                    <p:cond delay="0"/>
                                  </p:stCondLst>
                                  <p:childTnLst>
                                    <p:set>
                                      <p:cBhvr>
                                        <p:cTn id="954"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955" fill="hold">
                      <p:stCondLst>
                        <p:cond delay="indefinite"/>
                      </p:stCondLst>
                      <p:childTnLst>
                        <p:par>
                          <p:cTn id="956" fill="hold">
                            <p:stCondLst>
                              <p:cond delay="0"/>
                            </p:stCondLst>
                            <p:childTnLst>
                              <p:par>
                                <p:cTn id="957" presetID="1" presetClass="entr" presetSubtype="0" fill="hold" nodeType="clickEffect">
                                  <p:stCondLst>
                                    <p:cond delay="0"/>
                                  </p:stCondLst>
                                  <p:childTnLst>
                                    <p:set>
                                      <p:cBhvr>
                                        <p:cTn id="958"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par>
                    <p:cTn id="959" fill="hold">
                      <p:stCondLst>
                        <p:cond delay="indefinite"/>
                      </p:stCondLst>
                      <p:childTnLst>
                        <p:par>
                          <p:cTn id="960" fill="hold">
                            <p:stCondLst>
                              <p:cond delay="0"/>
                            </p:stCondLst>
                            <p:childTnLst>
                              <p:par>
                                <p:cTn id="961" presetID="1" presetClass="entr" presetSubtype="0" fill="hold" nodeType="clickEffect">
                                  <p:stCondLst>
                                    <p:cond delay="0"/>
                                  </p:stCondLst>
                                  <p:childTnLst>
                                    <p:set>
                                      <p:cBhvr>
                                        <p:cTn id="962"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par>
                    <p:cTn id="963" fill="hold">
                      <p:stCondLst>
                        <p:cond delay="indefinite"/>
                      </p:stCondLst>
                      <p:childTnLst>
                        <p:par>
                          <p:cTn id="964" fill="hold">
                            <p:stCondLst>
                              <p:cond delay="0"/>
                            </p:stCondLst>
                            <p:childTnLst>
                              <p:par>
                                <p:cTn id="965" presetID="1" presetClass="entr" presetSubtype="0" fill="hold" nodeType="clickEffect">
                                  <p:stCondLst>
                                    <p:cond delay="0"/>
                                  </p:stCondLst>
                                  <p:childTnLst>
                                    <p:set>
                                      <p:cBhvr>
                                        <p:cTn id="966" dur="1" fill="hold">
                                          <p:stCondLst>
                                            <p:cond delay="0"/>
                                          </p:stCondLst>
                                        </p:cTn>
                                        <p:tgtEl>
                                          <p:spTgt spid="113">
                                            <p:txEl>
                                              <p:pRg st="6" end="6"/>
                                            </p:txEl>
                                          </p:spTgt>
                                        </p:tgtEl>
                                        <p:attrNameLst>
                                          <p:attrName>style.visibility</p:attrName>
                                        </p:attrNameLst>
                                      </p:cBhvr>
                                      <p:to>
                                        <p:strVal val="visible"/>
                                      </p:to>
                                    </p:set>
                                  </p:childTnLst>
                                </p:cTn>
                              </p:par>
                            </p:childTnLst>
                          </p:cTn>
                        </p:par>
                      </p:childTnLst>
                    </p:cTn>
                  </p:par>
                  <p:par>
                    <p:cTn id="967" fill="hold">
                      <p:stCondLst>
                        <p:cond delay="indefinite"/>
                      </p:stCondLst>
                      <p:childTnLst>
                        <p:par>
                          <p:cTn id="968" fill="hold">
                            <p:stCondLst>
                              <p:cond delay="0"/>
                            </p:stCondLst>
                            <p:childTnLst>
                              <p:par>
                                <p:cTn id="969" presetID="1" presetClass="entr" presetSubtype="0" fill="hold" nodeType="clickEffect">
                                  <p:stCondLst>
                                    <p:cond delay="0"/>
                                  </p:stCondLst>
                                  <p:childTnLst>
                                    <p:set>
                                      <p:cBhvr>
                                        <p:cTn id="970" dur="1" fill="hold">
                                          <p:stCondLst>
                                            <p:cond delay="0"/>
                                          </p:stCondLst>
                                        </p:cTn>
                                        <p:tgtEl>
                                          <p:spTgt spid="113">
                                            <p:txEl>
                                              <p:pRg st="7" end="7"/>
                                            </p:txEl>
                                          </p:spTgt>
                                        </p:tgtEl>
                                        <p:attrNameLst>
                                          <p:attrName>style.visibility</p:attrName>
                                        </p:attrNameLst>
                                      </p:cBhvr>
                                      <p:to>
                                        <p:strVal val="visible"/>
                                      </p:to>
                                    </p:set>
                                  </p:childTnLst>
                                </p:cTn>
                              </p:par>
                            </p:childTnLst>
                          </p:cTn>
                        </p:par>
                      </p:childTnLst>
                    </p:cTn>
                  </p:par>
                  <p:par>
                    <p:cTn id="971" fill="hold">
                      <p:stCondLst>
                        <p:cond delay="indefinite"/>
                      </p:stCondLst>
                      <p:childTnLst>
                        <p:par>
                          <p:cTn id="972" fill="hold">
                            <p:stCondLst>
                              <p:cond delay="0"/>
                            </p:stCondLst>
                            <p:childTnLst>
                              <p:par>
                                <p:cTn id="973" presetID="1" presetClass="entr" presetSubtype="0" fill="hold" nodeType="clickEffect">
                                  <p:stCondLst>
                                    <p:cond delay="0"/>
                                  </p:stCondLst>
                                  <p:childTnLst>
                                    <p:set>
                                      <p:cBhvr>
                                        <p:cTn id="974" dur="1" fill="hold">
                                          <p:stCondLst>
                                            <p:cond delay="0"/>
                                          </p:stCondLst>
                                        </p:cTn>
                                        <p:tgtEl>
                                          <p:spTgt spid="113">
                                            <p:txEl>
                                              <p:pRg st="8" end="8"/>
                                            </p:txEl>
                                          </p:spTgt>
                                        </p:tgtEl>
                                        <p:attrNameLst>
                                          <p:attrName>style.visibility</p:attrName>
                                        </p:attrNameLst>
                                      </p:cBhvr>
                                      <p:to>
                                        <p:strVal val="visible"/>
                                      </p:to>
                                    </p:set>
                                  </p:childTnLst>
                                </p:cTn>
                              </p:par>
                            </p:childTnLst>
                          </p:cTn>
                        </p:par>
                      </p:childTnLst>
                    </p:cTn>
                  </p:par>
                  <p:par>
                    <p:cTn id="975" fill="hold">
                      <p:stCondLst>
                        <p:cond delay="indefinite"/>
                      </p:stCondLst>
                      <p:childTnLst>
                        <p:par>
                          <p:cTn id="976" fill="hold">
                            <p:stCondLst>
                              <p:cond delay="0"/>
                            </p:stCondLst>
                            <p:childTnLst>
                              <p:par>
                                <p:cTn id="977" presetID="1" presetClass="entr" presetSubtype="0" fill="hold" nodeType="clickEffect">
                                  <p:stCondLst>
                                    <p:cond delay="0"/>
                                  </p:stCondLst>
                                  <p:childTnLst>
                                    <p:set>
                                      <p:cBhvr>
                                        <p:cTn id="978"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979" fill="hold">
                      <p:stCondLst>
                        <p:cond delay="indefinite"/>
                      </p:stCondLst>
                      <p:childTnLst>
                        <p:par>
                          <p:cTn id="980" fill="hold">
                            <p:stCondLst>
                              <p:cond delay="0"/>
                            </p:stCondLst>
                            <p:childTnLst>
                              <p:par>
                                <p:cTn id="981" presetID="1" presetClass="entr" presetSubtype="0" fill="hold" nodeType="clickEffect">
                                  <p:stCondLst>
                                    <p:cond delay="0"/>
                                  </p:stCondLst>
                                  <p:childTnLst>
                                    <p:set>
                                      <p:cBhvr>
                                        <p:cTn id="982"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par>
                    <p:cTn id="983" fill="hold">
                      <p:stCondLst>
                        <p:cond delay="indefinite"/>
                      </p:stCondLst>
                      <p:childTnLst>
                        <p:par>
                          <p:cTn id="984" fill="hold">
                            <p:stCondLst>
                              <p:cond delay="0"/>
                            </p:stCondLst>
                            <p:childTnLst>
                              <p:par>
                                <p:cTn id="985" presetID="1" presetClass="entr" presetSubtype="0" fill="hold" nodeType="clickEffect">
                                  <p:stCondLst>
                                    <p:cond delay="0"/>
                                  </p:stCondLst>
                                  <p:childTnLst>
                                    <p:set>
                                      <p:cBhvr>
                                        <p:cTn id="986" dur="1" fill="hold">
                                          <p:stCondLst>
                                            <p:cond delay="0"/>
                                          </p:stCondLst>
                                        </p:cTn>
                                        <p:tgtEl>
                                          <p:spTgt spid="114">
                                            <p:txEl>
                                              <p:pRg st="2" end="2"/>
                                            </p:txEl>
                                          </p:spTgt>
                                        </p:tgtEl>
                                        <p:attrNameLst>
                                          <p:attrName>style.visibility</p:attrName>
                                        </p:attrNameLst>
                                      </p:cBhvr>
                                      <p:to>
                                        <p:strVal val="visible"/>
                                      </p:to>
                                    </p:set>
                                  </p:childTnLst>
                                </p:cTn>
                              </p:par>
                            </p:childTnLst>
                          </p:cTn>
                        </p:par>
                      </p:childTnLst>
                    </p:cTn>
                  </p:par>
                  <p:par>
                    <p:cTn id="987" fill="hold">
                      <p:stCondLst>
                        <p:cond delay="indefinite"/>
                      </p:stCondLst>
                      <p:childTnLst>
                        <p:par>
                          <p:cTn id="988" fill="hold">
                            <p:stCondLst>
                              <p:cond delay="0"/>
                            </p:stCondLst>
                            <p:childTnLst>
                              <p:par>
                                <p:cTn id="989" presetID="1" presetClass="entr" presetSubtype="0" fill="hold" nodeType="clickEffect">
                                  <p:stCondLst>
                                    <p:cond delay="0"/>
                                  </p:stCondLst>
                                  <p:childTnLst>
                                    <p:set>
                                      <p:cBhvr>
                                        <p:cTn id="990" dur="1" fill="hold">
                                          <p:stCondLst>
                                            <p:cond delay="0"/>
                                          </p:stCondLst>
                                        </p:cTn>
                                        <p:tgtEl>
                                          <p:spTgt spid="114">
                                            <p:txEl>
                                              <p:pRg st="3" end="3"/>
                                            </p:txEl>
                                          </p:spTgt>
                                        </p:tgtEl>
                                        <p:attrNameLst>
                                          <p:attrName>style.visibility</p:attrName>
                                        </p:attrNameLst>
                                      </p:cBhvr>
                                      <p:to>
                                        <p:strVal val="visible"/>
                                      </p:to>
                                    </p:set>
                                  </p:childTnLst>
                                </p:cTn>
                              </p:par>
                            </p:childTnLst>
                          </p:cTn>
                        </p:par>
                      </p:childTnLst>
                    </p:cTn>
                  </p:par>
                  <p:par>
                    <p:cTn id="991" fill="hold">
                      <p:stCondLst>
                        <p:cond delay="indefinite"/>
                      </p:stCondLst>
                      <p:childTnLst>
                        <p:par>
                          <p:cTn id="992" fill="hold">
                            <p:stCondLst>
                              <p:cond delay="0"/>
                            </p:stCondLst>
                            <p:childTnLst>
                              <p:par>
                                <p:cTn id="993" presetID="1" presetClass="entr" presetSubtype="0" fill="hold" nodeType="clickEffect">
                                  <p:stCondLst>
                                    <p:cond delay="0"/>
                                  </p:stCondLst>
                                  <p:childTnLst>
                                    <p:set>
                                      <p:cBhvr>
                                        <p:cTn id="994" dur="1" fill="hold">
                                          <p:stCondLst>
                                            <p:cond delay="0"/>
                                          </p:stCondLst>
                                        </p:cTn>
                                        <p:tgtEl>
                                          <p:spTgt spid="114">
                                            <p:txEl>
                                              <p:pRg st="4" end="4"/>
                                            </p:txEl>
                                          </p:spTgt>
                                        </p:tgtEl>
                                        <p:attrNameLst>
                                          <p:attrName>style.visibility</p:attrName>
                                        </p:attrNameLst>
                                      </p:cBhvr>
                                      <p:to>
                                        <p:strVal val="visible"/>
                                      </p:to>
                                    </p:set>
                                  </p:childTnLst>
                                </p:cTn>
                              </p:par>
                            </p:childTnLst>
                          </p:cTn>
                        </p:par>
                      </p:childTnLst>
                    </p:cTn>
                  </p:par>
                  <p:par>
                    <p:cTn id="995" fill="hold">
                      <p:stCondLst>
                        <p:cond delay="indefinite"/>
                      </p:stCondLst>
                      <p:childTnLst>
                        <p:par>
                          <p:cTn id="996" fill="hold">
                            <p:stCondLst>
                              <p:cond delay="0"/>
                            </p:stCondLst>
                            <p:childTnLst>
                              <p:par>
                                <p:cTn id="997" presetID="1" presetClass="entr" presetSubtype="0" fill="hold" nodeType="clickEffect">
                                  <p:stCondLst>
                                    <p:cond delay="0"/>
                                  </p:stCondLst>
                                  <p:childTnLst>
                                    <p:set>
                                      <p:cBhvr>
                                        <p:cTn id="998" dur="1" fill="hold">
                                          <p:stCondLst>
                                            <p:cond delay="0"/>
                                          </p:stCondLst>
                                        </p:cTn>
                                        <p:tgtEl>
                                          <p:spTgt spid="114">
                                            <p:txEl>
                                              <p:pRg st="5" end="5"/>
                                            </p:txEl>
                                          </p:spTgt>
                                        </p:tgtEl>
                                        <p:attrNameLst>
                                          <p:attrName>style.visibility</p:attrName>
                                        </p:attrNameLst>
                                      </p:cBhvr>
                                      <p:to>
                                        <p:strVal val="visible"/>
                                      </p:to>
                                    </p:set>
                                  </p:childTnLst>
                                </p:cTn>
                              </p:par>
                            </p:childTnLst>
                          </p:cTn>
                        </p:par>
                      </p:childTnLst>
                    </p:cTn>
                  </p:par>
                  <p:par>
                    <p:cTn id="999" fill="hold">
                      <p:stCondLst>
                        <p:cond delay="indefinite"/>
                      </p:stCondLst>
                      <p:childTnLst>
                        <p:par>
                          <p:cTn id="1000" fill="hold">
                            <p:stCondLst>
                              <p:cond delay="0"/>
                            </p:stCondLst>
                            <p:childTnLst>
                              <p:par>
                                <p:cTn id="1001" presetID="1" presetClass="entr" presetSubtype="0" fill="hold" nodeType="clickEffect">
                                  <p:stCondLst>
                                    <p:cond delay="0"/>
                                  </p:stCondLst>
                                  <p:childTnLst>
                                    <p:set>
                                      <p:cBhvr>
                                        <p:cTn id="1002" dur="1" fill="hold">
                                          <p:stCondLst>
                                            <p:cond delay="0"/>
                                          </p:stCondLst>
                                        </p:cTn>
                                        <p:tgtEl>
                                          <p:spTgt spid="114">
                                            <p:txEl>
                                              <p:pRg st="6" end="6"/>
                                            </p:txEl>
                                          </p:spTgt>
                                        </p:tgtEl>
                                        <p:attrNameLst>
                                          <p:attrName>style.visibility</p:attrName>
                                        </p:attrNameLst>
                                      </p:cBhvr>
                                      <p:to>
                                        <p:strVal val="visible"/>
                                      </p:to>
                                    </p:set>
                                  </p:childTnLst>
                                </p:cTn>
                              </p:par>
                            </p:childTnLst>
                          </p:cTn>
                        </p:par>
                      </p:childTnLst>
                    </p:cTn>
                  </p:par>
                  <p:par>
                    <p:cTn id="1003" fill="hold">
                      <p:stCondLst>
                        <p:cond delay="indefinite"/>
                      </p:stCondLst>
                      <p:childTnLst>
                        <p:par>
                          <p:cTn id="1004" fill="hold">
                            <p:stCondLst>
                              <p:cond delay="0"/>
                            </p:stCondLst>
                            <p:childTnLst>
                              <p:par>
                                <p:cTn id="1005" presetID="1" presetClass="entr" presetSubtype="0" fill="hold" nodeType="clickEffect">
                                  <p:stCondLst>
                                    <p:cond delay="0"/>
                                  </p:stCondLst>
                                  <p:childTnLst>
                                    <p:set>
                                      <p:cBhvr>
                                        <p:cTn id="1006" dur="1" fill="hold">
                                          <p:stCondLst>
                                            <p:cond delay="0"/>
                                          </p:stCondLst>
                                        </p:cTn>
                                        <p:tgtEl>
                                          <p:spTgt spid="114">
                                            <p:txEl>
                                              <p:pRg st="7" end="7"/>
                                            </p:txEl>
                                          </p:spTgt>
                                        </p:tgtEl>
                                        <p:attrNameLst>
                                          <p:attrName>style.visibility</p:attrName>
                                        </p:attrNameLst>
                                      </p:cBhvr>
                                      <p:to>
                                        <p:strVal val="visible"/>
                                      </p:to>
                                    </p:set>
                                  </p:childTnLst>
                                </p:cTn>
                              </p:par>
                            </p:childTnLst>
                          </p:cTn>
                        </p:par>
                      </p:childTnLst>
                    </p:cTn>
                  </p:par>
                  <p:par>
                    <p:cTn id="1007" fill="hold">
                      <p:stCondLst>
                        <p:cond delay="indefinite"/>
                      </p:stCondLst>
                      <p:childTnLst>
                        <p:par>
                          <p:cTn id="1008" fill="hold">
                            <p:stCondLst>
                              <p:cond delay="0"/>
                            </p:stCondLst>
                            <p:childTnLst>
                              <p:par>
                                <p:cTn id="1009" presetID="1" presetClass="entr" presetSubtype="0" fill="hold" nodeType="clickEffect">
                                  <p:stCondLst>
                                    <p:cond delay="0"/>
                                  </p:stCondLst>
                                  <p:childTnLst>
                                    <p:set>
                                      <p:cBhvr>
                                        <p:cTn id="1010" dur="1" fill="hold">
                                          <p:stCondLst>
                                            <p:cond delay="0"/>
                                          </p:stCondLst>
                                        </p:cTn>
                                        <p:tgtEl>
                                          <p:spTgt spid="114">
                                            <p:txEl>
                                              <p:pRg st="8" end="8"/>
                                            </p:txEl>
                                          </p:spTgt>
                                        </p:tgtEl>
                                        <p:attrNameLst>
                                          <p:attrName>style.visibility</p:attrName>
                                        </p:attrNameLst>
                                      </p:cBhvr>
                                      <p:to>
                                        <p:strVal val="visible"/>
                                      </p:to>
                                    </p:set>
                                  </p:childTnLst>
                                </p:cTn>
                              </p:par>
                            </p:childTnLst>
                          </p:cTn>
                        </p:par>
                      </p:childTnLst>
                    </p:cTn>
                  </p:par>
                  <p:par>
                    <p:cTn id="1011" fill="hold">
                      <p:stCondLst>
                        <p:cond delay="indefinite"/>
                      </p:stCondLst>
                      <p:childTnLst>
                        <p:par>
                          <p:cTn id="1012" fill="hold">
                            <p:stCondLst>
                              <p:cond delay="0"/>
                            </p:stCondLst>
                            <p:childTnLst>
                              <p:par>
                                <p:cTn id="1013" presetID="1" presetClass="entr" presetSubtype="0" fill="hold" nodeType="clickEffect">
                                  <p:stCondLst>
                                    <p:cond delay="0"/>
                                  </p:stCondLst>
                                  <p:childTnLst>
                                    <p:set>
                                      <p:cBhvr>
                                        <p:cTn id="1014"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1015" fill="hold">
                      <p:stCondLst>
                        <p:cond delay="indefinite"/>
                      </p:stCondLst>
                      <p:childTnLst>
                        <p:par>
                          <p:cTn id="1016" fill="hold">
                            <p:stCondLst>
                              <p:cond delay="0"/>
                            </p:stCondLst>
                            <p:childTnLst>
                              <p:par>
                                <p:cTn id="1017" presetID="1" presetClass="entr" presetSubtype="0" fill="hold" nodeType="clickEffect">
                                  <p:stCondLst>
                                    <p:cond delay="0"/>
                                  </p:stCondLst>
                                  <p:childTnLst>
                                    <p:set>
                                      <p:cBhvr>
                                        <p:cTn id="1018"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019" fill="hold">
                      <p:stCondLst>
                        <p:cond delay="indefinite"/>
                      </p:stCondLst>
                      <p:childTnLst>
                        <p:par>
                          <p:cTn id="1020" fill="hold">
                            <p:stCondLst>
                              <p:cond delay="0"/>
                            </p:stCondLst>
                            <p:childTnLst>
                              <p:par>
                                <p:cTn id="1021" presetID="1" presetClass="entr" presetSubtype="0" fill="hold" nodeType="clickEffect">
                                  <p:stCondLst>
                                    <p:cond delay="0"/>
                                  </p:stCondLst>
                                  <p:childTnLst>
                                    <p:set>
                                      <p:cBhvr>
                                        <p:cTn id="1022"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par>
                    <p:cTn id="1023" fill="hold">
                      <p:stCondLst>
                        <p:cond delay="indefinite"/>
                      </p:stCondLst>
                      <p:childTnLst>
                        <p:par>
                          <p:cTn id="1024" fill="hold">
                            <p:stCondLst>
                              <p:cond delay="0"/>
                            </p:stCondLst>
                            <p:childTnLst>
                              <p:par>
                                <p:cTn id="1025" presetID="1" presetClass="entr" presetSubtype="0" fill="hold" nodeType="clickEffect">
                                  <p:stCondLst>
                                    <p:cond delay="0"/>
                                  </p:stCondLst>
                                  <p:childTnLst>
                                    <p:set>
                                      <p:cBhvr>
                                        <p:cTn id="1026" dur="1" fill="hold">
                                          <p:stCondLst>
                                            <p:cond delay="0"/>
                                          </p:stCondLst>
                                        </p:cTn>
                                        <p:tgtEl>
                                          <p:spTgt spid="115">
                                            <p:txEl>
                                              <p:pRg st="3" end="3"/>
                                            </p:txEl>
                                          </p:spTgt>
                                        </p:tgtEl>
                                        <p:attrNameLst>
                                          <p:attrName>style.visibility</p:attrName>
                                        </p:attrNameLst>
                                      </p:cBhvr>
                                      <p:to>
                                        <p:strVal val="visible"/>
                                      </p:to>
                                    </p:set>
                                  </p:childTnLst>
                                </p:cTn>
                              </p:par>
                            </p:childTnLst>
                          </p:cTn>
                        </p:par>
                      </p:childTnLst>
                    </p:cTn>
                  </p:par>
                  <p:par>
                    <p:cTn id="1027" fill="hold">
                      <p:stCondLst>
                        <p:cond delay="indefinite"/>
                      </p:stCondLst>
                      <p:childTnLst>
                        <p:par>
                          <p:cTn id="1028" fill="hold">
                            <p:stCondLst>
                              <p:cond delay="0"/>
                            </p:stCondLst>
                            <p:childTnLst>
                              <p:par>
                                <p:cTn id="1029" presetID="1" presetClass="entr" presetSubtype="0" fill="hold" nodeType="clickEffect">
                                  <p:stCondLst>
                                    <p:cond delay="0"/>
                                  </p:stCondLst>
                                  <p:childTnLst>
                                    <p:set>
                                      <p:cBhvr>
                                        <p:cTn id="1030" dur="1" fill="hold">
                                          <p:stCondLst>
                                            <p:cond delay="0"/>
                                          </p:stCondLst>
                                        </p:cTn>
                                        <p:tgtEl>
                                          <p:spTgt spid="115">
                                            <p:txEl>
                                              <p:pRg st="4" end="4"/>
                                            </p:txEl>
                                          </p:spTgt>
                                        </p:tgtEl>
                                        <p:attrNameLst>
                                          <p:attrName>style.visibility</p:attrName>
                                        </p:attrNameLst>
                                      </p:cBhvr>
                                      <p:to>
                                        <p:strVal val="visible"/>
                                      </p:to>
                                    </p:set>
                                  </p:childTnLst>
                                </p:cTn>
                              </p:par>
                            </p:childTnLst>
                          </p:cTn>
                        </p:par>
                      </p:childTnLst>
                    </p:cTn>
                  </p:par>
                  <p:par>
                    <p:cTn id="1031" fill="hold">
                      <p:stCondLst>
                        <p:cond delay="indefinite"/>
                      </p:stCondLst>
                      <p:childTnLst>
                        <p:par>
                          <p:cTn id="1032" fill="hold">
                            <p:stCondLst>
                              <p:cond delay="0"/>
                            </p:stCondLst>
                            <p:childTnLst>
                              <p:par>
                                <p:cTn id="1033" presetID="1" presetClass="entr" presetSubtype="0" fill="hold" nodeType="clickEffect">
                                  <p:stCondLst>
                                    <p:cond delay="0"/>
                                  </p:stCondLst>
                                  <p:childTnLst>
                                    <p:set>
                                      <p:cBhvr>
                                        <p:cTn id="1034" dur="1" fill="hold">
                                          <p:stCondLst>
                                            <p:cond delay="0"/>
                                          </p:stCondLst>
                                        </p:cTn>
                                        <p:tgtEl>
                                          <p:spTgt spid="115">
                                            <p:txEl>
                                              <p:pRg st="5" end="5"/>
                                            </p:txEl>
                                          </p:spTgt>
                                        </p:tgtEl>
                                        <p:attrNameLst>
                                          <p:attrName>style.visibility</p:attrName>
                                        </p:attrNameLst>
                                      </p:cBhvr>
                                      <p:to>
                                        <p:strVal val="visible"/>
                                      </p:to>
                                    </p:set>
                                  </p:childTnLst>
                                </p:cTn>
                              </p:par>
                            </p:childTnLst>
                          </p:cTn>
                        </p:par>
                      </p:childTnLst>
                    </p:cTn>
                  </p:par>
                  <p:par>
                    <p:cTn id="1035" fill="hold">
                      <p:stCondLst>
                        <p:cond delay="indefinite"/>
                      </p:stCondLst>
                      <p:childTnLst>
                        <p:par>
                          <p:cTn id="1036" fill="hold">
                            <p:stCondLst>
                              <p:cond delay="0"/>
                            </p:stCondLst>
                            <p:childTnLst>
                              <p:par>
                                <p:cTn id="1037" presetID="1" presetClass="entr" presetSubtype="0" fill="hold" nodeType="clickEffect">
                                  <p:stCondLst>
                                    <p:cond delay="0"/>
                                  </p:stCondLst>
                                  <p:childTnLst>
                                    <p:set>
                                      <p:cBhvr>
                                        <p:cTn id="1038" dur="1" fill="hold">
                                          <p:stCondLst>
                                            <p:cond delay="0"/>
                                          </p:stCondLst>
                                        </p:cTn>
                                        <p:tgtEl>
                                          <p:spTgt spid="115">
                                            <p:txEl>
                                              <p:pRg st="6" end="6"/>
                                            </p:txEl>
                                          </p:spTgt>
                                        </p:tgtEl>
                                        <p:attrNameLst>
                                          <p:attrName>style.visibility</p:attrName>
                                        </p:attrNameLst>
                                      </p:cBhvr>
                                      <p:to>
                                        <p:strVal val="visible"/>
                                      </p:to>
                                    </p:set>
                                  </p:childTnLst>
                                </p:cTn>
                              </p:par>
                            </p:childTnLst>
                          </p:cTn>
                        </p:par>
                      </p:childTnLst>
                    </p:cTn>
                  </p:par>
                  <p:par>
                    <p:cTn id="1039" fill="hold">
                      <p:stCondLst>
                        <p:cond delay="indefinite"/>
                      </p:stCondLst>
                      <p:childTnLst>
                        <p:par>
                          <p:cTn id="1040" fill="hold">
                            <p:stCondLst>
                              <p:cond delay="0"/>
                            </p:stCondLst>
                            <p:childTnLst>
                              <p:par>
                                <p:cTn id="1041" presetID="1" presetClass="entr" presetSubtype="0" fill="hold" nodeType="clickEffect">
                                  <p:stCondLst>
                                    <p:cond delay="0"/>
                                  </p:stCondLst>
                                  <p:childTnLst>
                                    <p:set>
                                      <p:cBhvr>
                                        <p:cTn id="1042" dur="1" fill="hold">
                                          <p:stCondLst>
                                            <p:cond delay="0"/>
                                          </p:stCondLst>
                                        </p:cTn>
                                        <p:tgtEl>
                                          <p:spTgt spid="115">
                                            <p:txEl>
                                              <p:pRg st="7" end="7"/>
                                            </p:txEl>
                                          </p:spTgt>
                                        </p:tgtEl>
                                        <p:attrNameLst>
                                          <p:attrName>style.visibility</p:attrName>
                                        </p:attrNameLst>
                                      </p:cBhvr>
                                      <p:to>
                                        <p:strVal val="visible"/>
                                      </p:to>
                                    </p:set>
                                  </p:childTnLst>
                                </p:cTn>
                              </p:par>
                            </p:childTnLst>
                          </p:cTn>
                        </p:par>
                      </p:childTnLst>
                    </p:cTn>
                  </p:par>
                  <p:par>
                    <p:cTn id="1043" fill="hold">
                      <p:stCondLst>
                        <p:cond delay="indefinite"/>
                      </p:stCondLst>
                      <p:childTnLst>
                        <p:par>
                          <p:cTn id="1044" fill="hold">
                            <p:stCondLst>
                              <p:cond delay="0"/>
                            </p:stCondLst>
                            <p:childTnLst>
                              <p:par>
                                <p:cTn id="1045" presetID="1" presetClass="entr" presetSubtype="0" fill="hold" nodeType="clickEffect">
                                  <p:stCondLst>
                                    <p:cond delay="0"/>
                                  </p:stCondLst>
                                  <p:childTnLst>
                                    <p:set>
                                      <p:cBhvr>
                                        <p:cTn id="1046" dur="1" fill="hold">
                                          <p:stCondLst>
                                            <p:cond delay="0"/>
                                          </p:stCondLst>
                                        </p:cTn>
                                        <p:tgtEl>
                                          <p:spTgt spid="115">
                                            <p:txEl>
                                              <p:pRg st="8" end="8"/>
                                            </p:txEl>
                                          </p:spTgt>
                                        </p:tgtEl>
                                        <p:attrNameLst>
                                          <p:attrName>style.visibility</p:attrName>
                                        </p:attrNameLst>
                                      </p:cBhvr>
                                      <p:to>
                                        <p:strVal val="visible"/>
                                      </p:to>
                                    </p:set>
                                  </p:childTnLst>
                                </p:cTn>
                              </p:par>
                            </p:childTnLst>
                          </p:cTn>
                        </p:par>
                      </p:childTnLst>
                    </p:cTn>
                  </p:par>
                  <p:par>
                    <p:cTn id="1047" fill="hold">
                      <p:stCondLst>
                        <p:cond delay="indefinite"/>
                      </p:stCondLst>
                      <p:childTnLst>
                        <p:par>
                          <p:cTn id="1048" fill="hold">
                            <p:stCondLst>
                              <p:cond delay="0"/>
                            </p:stCondLst>
                            <p:childTnLst>
                              <p:par>
                                <p:cTn id="1049" presetID="1" presetClass="entr" presetSubtype="0" fill="hold" nodeType="clickEffect">
                                  <p:stCondLst>
                                    <p:cond delay="0"/>
                                  </p:stCondLst>
                                  <p:childTnLst>
                                    <p:set>
                                      <p:cBhvr>
                                        <p:cTn id="1050"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1051" fill="hold">
                      <p:stCondLst>
                        <p:cond delay="indefinite"/>
                      </p:stCondLst>
                      <p:childTnLst>
                        <p:par>
                          <p:cTn id="1052" fill="hold">
                            <p:stCondLst>
                              <p:cond delay="0"/>
                            </p:stCondLst>
                            <p:childTnLst>
                              <p:par>
                                <p:cTn id="1053" presetID="1" presetClass="entr" presetSubtype="0" fill="hold" nodeType="clickEffect">
                                  <p:stCondLst>
                                    <p:cond delay="0"/>
                                  </p:stCondLst>
                                  <p:childTnLst>
                                    <p:set>
                                      <p:cBhvr>
                                        <p:cTn id="1054"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1055" fill="hold">
                      <p:stCondLst>
                        <p:cond delay="indefinite"/>
                      </p:stCondLst>
                      <p:childTnLst>
                        <p:par>
                          <p:cTn id="1056" fill="hold">
                            <p:stCondLst>
                              <p:cond delay="0"/>
                            </p:stCondLst>
                            <p:childTnLst>
                              <p:par>
                                <p:cTn id="1057" presetID="1" presetClass="entr" presetSubtype="0" fill="hold" nodeType="clickEffect">
                                  <p:stCondLst>
                                    <p:cond delay="0"/>
                                  </p:stCondLst>
                                  <p:childTnLst>
                                    <p:set>
                                      <p:cBhvr>
                                        <p:cTn id="1058" dur="1" fill="hold">
                                          <p:stCondLst>
                                            <p:cond delay="0"/>
                                          </p:stCondLst>
                                        </p:cTn>
                                        <p:tgtEl>
                                          <p:spTgt spid="116">
                                            <p:txEl>
                                              <p:pRg st="2" end="2"/>
                                            </p:txEl>
                                          </p:spTgt>
                                        </p:tgtEl>
                                        <p:attrNameLst>
                                          <p:attrName>style.visibility</p:attrName>
                                        </p:attrNameLst>
                                      </p:cBhvr>
                                      <p:to>
                                        <p:strVal val="visible"/>
                                      </p:to>
                                    </p:set>
                                  </p:childTnLst>
                                </p:cTn>
                              </p:par>
                            </p:childTnLst>
                          </p:cTn>
                        </p:par>
                      </p:childTnLst>
                    </p:cTn>
                  </p:par>
                  <p:par>
                    <p:cTn id="1059" fill="hold">
                      <p:stCondLst>
                        <p:cond delay="indefinite"/>
                      </p:stCondLst>
                      <p:childTnLst>
                        <p:par>
                          <p:cTn id="1060" fill="hold">
                            <p:stCondLst>
                              <p:cond delay="0"/>
                            </p:stCondLst>
                            <p:childTnLst>
                              <p:par>
                                <p:cTn id="1061" presetID="1" presetClass="entr" presetSubtype="0" fill="hold" nodeType="clickEffect">
                                  <p:stCondLst>
                                    <p:cond delay="0"/>
                                  </p:stCondLst>
                                  <p:childTnLst>
                                    <p:set>
                                      <p:cBhvr>
                                        <p:cTn id="1062" dur="1" fill="hold">
                                          <p:stCondLst>
                                            <p:cond delay="0"/>
                                          </p:stCondLst>
                                        </p:cTn>
                                        <p:tgtEl>
                                          <p:spTgt spid="116">
                                            <p:txEl>
                                              <p:pRg st="3" end="3"/>
                                            </p:txEl>
                                          </p:spTgt>
                                        </p:tgtEl>
                                        <p:attrNameLst>
                                          <p:attrName>style.visibility</p:attrName>
                                        </p:attrNameLst>
                                      </p:cBhvr>
                                      <p:to>
                                        <p:strVal val="visible"/>
                                      </p:to>
                                    </p:set>
                                  </p:childTnLst>
                                </p:cTn>
                              </p:par>
                            </p:childTnLst>
                          </p:cTn>
                        </p:par>
                      </p:childTnLst>
                    </p:cTn>
                  </p:par>
                  <p:par>
                    <p:cTn id="1063" fill="hold">
                      <p:stCondLst>
                        <p:cond delay="indefinite"/>
                      </p:stCondLst>
                      <p:childTnLst>
                        <p:par>
                          <p:cTn id="1064" fill="hold">
                            <p:stCondLst>
                              <p:cond delay="0"/>
                            </p:stCondLst>
                            <p:childTnLst>
                              <p:par>
                                <p:cTn id="1065" presetID="1" presetClass="entr" presetSubtype="0" fill="hold" nodeType="clickEffect">
                                  <p:stCondLst>
                                    <p:cond delay="0"/>
                                  </p:stCondLst>
                                  <p:childTnLst>
                                    <p:set>
                                      <p:cBhvr>
                                        <p:cTn id="1066" dur="1" fill="hold">
                                          <p:stCondLst>
                                            <p:cond delay="0"/>
                                          </p:stCondLst>
                                        </p:cTn>
                                        <p:tgtEl>
                                          <p:spTgt spid="116">
                                            <p:txEl>
                                              <p:pRg st="4" end="4"/>
                                            </p:txEl>
                                          </p:spTgt>
                                        </p:tgtEl>
                                        <p:attrNameLst>
                                          <p:attrName>style.visibility</p:attrName>
                                        </p:attrNameLst>
                                      </p:cBhvr>
                                      <p:to>
                                        <p:strVal val="visible"/>
                                      </p:to>
                                    </p:set>
                                  </p:childTnLst>
                                </p:cTn>
                              </p:par>
                            </p:childTnLst>
                          </p:cTn>
                        </p:par>
                      </p:childTnLst>
                    </p:cTn>
                  </p:par>
                  <p:par>
                    <p:cTn id="1067" fill="hold">
                      <p:stCondLst>
                        <p:cond delay="indefinite"/>
                      </p:stCondLst>
                      <p:childTnLst>
                        <p:par>
                          <p:cTn id="1068" fill="hold">
                            <p:stCondLst>
                              <p:cond delay="0"/>
                            </p:stCondLst>
                            <p:childTnLst>
                              <p:par>
                                <p:cTn id="1069" presetID="1" presetClass="entr" presetSubtype="0" fill="hold" nodeType="clickEffect">
                                  <p:stCondLst>
                                    <p:cond delay="0"/>
                                  </p:stCondLst>
                                  <p:childTnLst>
                                    <p:set>
                                      <p:cBhvr>
                                        <p:cTn id="1070" dur="1" fill="hold">
                                          <p:stCondLst>
                                            <p:cond delay="0"/>
                                          </p:stCondLst>
                                        </p:cTn>
                                        <p:tgtEl>
                                          <p:spTgt spid="116">
                                            <p:txEl>
                                              <p:pRg st="5" end="5"/>
                                            </p:txEl>
                                          </p:spTgt>
                                        </p:tgtEl>
                                        <p:attrNameLst>
                                          <p:attrName>style.visibility</p:attrName>
                                        </p:attrNameLst>
                                      </p:cBhvr>
                                      <p:to>
                                        <p:strVal val="visible"/>
                                      </p:to>
                                    </p:set>
                                  </p:childTnLst>
                                </p:cTn>
                              </p:par>
                            </p:childTnLst>
                          </p:cTn>
                        </p:par>
                      </p:childTnLst>
                    </p:cTn>
                  </p:par>
                  <p:par>
                    <p:cTn id="1071" fill="hold">
                      <p:stCondLst>
                        <p:cond delay="indefinite"/>
                      </p:stCondLst>
                      <p:childTnLst>
                        <p:par>
                          <p:cTn id="1072" fill="hold">
                            <p:stCondLst>
                              <p:cond delay="0"/>
                            </p:stCondLst>
                            <p:childTnLst>
                              <p:par>
                                <p:cTn id="1073" presetID="1" presetClass="entr" presetSubtype="0" fill="hold" nodeType="clickEffect">
                                  <p:stCondLst>
                                    <p:cond delay="0"/>
                                  </p:stCondLst>
                                  <p:childTnLst>
                                    <p:set>
                                      <p:cBhvr>
                                        <p:cTn id="1074" dur="1" fill="hold">
                                          <p:stCondLst>
                                            <p:cond delay="0"/>
                                          </p:stCondLst>
                                        </p:cTn>
                                        <p:tgtEl>
                                          <p:spTgt spid="116">
                                            <p:txEl>
                                              <p:pRg st="6" end="6"/>
                                            </p:txEl>
                                          </p:spTgt>
                                        </p:tgtEl>
                                        <p:attrNameLst>
                                          <p:attrName>style.visibility</p:attrName>
                                        </p:attrNameLst>
                                      </p:cBhvr>
                                      <p:to>
                                        <p:strVal val="visible"/>
                                      </p:to>
                                    </p:set>
                                  </p:childTnLst>
                                </p:cTn>
                              </p:par>
                            </p:childTnLst>
                          </p:cTn>
                        </p:par>
                      </p:childTnLst>
                    </p:cTn>
                  </p:par>
                  <p:par>
                    <p:cTn id="1075" fill="hold">
                      <p:stCondLst>
                        <p:cond delay="indefinite"/>
                      </p:stCondLst>
                      <p:childTnLst>
                        <p:par>
                          <p:cTn id="1076" fill="hold">
                            <p:stCondLst>
                              <p:cond delay="0"/>
                            </p:stCondLst>
                            <p:childTnLst>
                              <p:par>
                                <p:cTn id="1077" presetID="1" presetClass="entr" presetSubtype="0" fill="hold" nodeType="clickEffect">
                                  <p:stCondLst>
                                    <p:cond delay="0"/>
                                  </p:stCondLst>
                                  <p:childTnLst>
                                    <p:set>
                                      <p:cBhvr>
                                        <p:cTn id="1078" dur="1" fill="hold">
                                          <p:stCondLst>
                                            <p:cond delay="0"/>
                                          </p:stCondLst>
                                        </p:cTn>
                                        <p:tgtEl>
                                          <p:spTgt spid="116">
                                            <p:txEl>
                                              <p:pRg st="7" end="7"/>
                                            </p:txEl>
                                          </p:spTgt>
                                        </p:tgtEl>
                                        <p:attrNameLst>
                                          <p:attrName>style.visibility</p:attrName>
                                        </p:attrNameLst>
                                      </p:cBhvr>
                                      <p:to>
                                        <p:strVal val="visible"/>
                                      </p:to>
                                    </p:set>
                                  </p:childTnLst>
                                </p:cTn>
                              </p:par>
                            </p:childTnLst>
                          </p:cTn>
                        </p:par>
                      </p:childTnLst>
                    </p:cTn>
                  </p:par>
                  <p:par>
                    <p:cTn id="1079" fill="hold">
                      <p:stCondLst>
                        <p:cond delay="indefinite"/>
                      </p:stCondLst>
                      <p:childTnLst>
                        <p:par>
                          <p:cTn id="1080" fill="hold">
                            <p:stCondLst>
                              <p:cond delay="0"/>
                            </p:stCondLst>
                            <p:childTnLst>
                              <p:par>
                                <p:cTn id="1081" presetID="1" presetClass="entr" presetSubtype="0" fill="hold" nodeType="clickEffect">
                                  <p:stCondLst>
                                    <p:cond delay="0"/>
                                  </p:stCondLst>
                                  <p:childTnLst>
                                    <p:set>
                                      <p:cBhvr>
                                        <p:cTn id="1082" dur="1" fill="hold">
                                          <p:stCondLst>
                                            <p:cond delay="0"/>
                                          </p:stCondLst>
                                        </p:cTn>
                                        <p:tgtEl>
                                          <p:spTgt spid="116">
                                            <p:txEl>
                                              <p:pRg st="8" end="8"/>
                                            </p:txEl>
                                          </p:spTgt>
                                        </p:tgtEl>
                                        <p:attrNameLst>
                                          <p:attrName>style.visibility</p:attrName>
                                        </p:attrNameLst>
                                      </p:cBhvr>
                                      <p:to>
                                        <p:strVal val="visible"/>
                                      </p:to>
                                    </p:set>
                                  </p:childTnLst>
                                </p:cTn>
                              </p:par>
                            </p:childTnLst>
                          </p:cTn>
                        </p:par>
                      </p:childTnLst>
                    </p:cTn>
                  </p:par>
                  <p:par>
                    <p:cTn id="1083" fill="hold">
                      <p:stCondLst>
                        <p:cond delay="indefinite"/>
                      </p:stCondLst>
                      <p:childTnLst>
                        <p:par>
                          <p:cTn id="1084" fill="hold">
                            <p:stCondLst>
                              <p:cond delay="0"/>
                            </p:stCondLst>
                            <p:childTnLst>
                              <p:par>
                                <p:cTn id="1085" presetID="1" presetClass="entr" presetSubtype="0" fill="hold" nodeType="clickEffect">
                                  <p:stCondLst>
                                    <p:cond delay="0"/>
                                  </p:stCondLst>
                                  <p:childTnLst>
                                    <p:set>
                                      <p:cBhvr>
                                        <p:cTn id="1086" dur="1" fill="hold">
                                          <p:stCondLst>
                                            <p:cond delay="0"/>
                                          </p:stCondLst>
                                        </p:cTn>
                                        <p:tgtEl>
                                          <p:spTgt spid="117">
                                            <p:txEl>
                                              <p:pRg st="0" end="0"/>
                                            </p:txEl>
                                          </p:spTgt>
                                        </p:tgtEl>
                                        <p:attrNameLst>
                                          <p:attrName>style.visibility</p:attrName>
                                        </p:attrNameLst>
                                      </p:cBhvr>
                                      <p:to>
                                        <p:strVal val="visible"/>
                                      </p:to>
                                    </p:set>
                                  </p:childTnLst>
                                </p:cTn>
                              </p:par>
                            </p:childTnLst>
                          </p:cTn>
                        </p:par>
                      </p:childTnLst>
                    </p:cTn>
                  </p:par>
                  <p:par>
                    <p:cTn id="1087" fill="hold">
                      <p:stCondLst>
                        <p:cond delay="indefinite"/>
                      </p:stCondLst>
                      <p:childTnLst>
                        <p:par>
                          <p:cTn id="1088" fill="hold">
                            <p:stCondLst>
                              <p:cond delay="0"/>
                            </p:stCondLst>
                            <p:childTnLst>
                              <p:par>
                                <p:cTn id="1089" presetID="1" presetClass="entr" presetSubtype="0" fill="hold" nodeType="clickEffect">
                                  <p:stCondLst>
                                    <p:cond delay="0"/>
                                  </p:stCondLst>
                                  <p:childTnLst>
                                    <p:set>
                                      <p:cBhvr>
                                        <p:cTn id="1090" dur="1" fill="hold">
                                          <p:stCondLst>
                                            <p:cond delay="0"/>
                                          </p:stCondLst>
                                        </p:cTn>
                                        <p:tgtEl>
                                          <p:spTgt spid="117">
                                            <p:txEl>
                                              <p:pRg st="1" end="1"/>
                                            </p:txEl>
                                          </p:spTgt>
                                        </p:tgtEl>
                                        <p:attrNameLst>
                                          <p:attrName>style.visibility</p:attrName>
                                        </p:attrNameLst>
                                      </p:cBhvr>
                                      <p:to>
                                        <p:strVal val="visible"/>
                                      </p:to>
                                    </p:set>
                                  </p:childTnLst>
                                </p:cTn>
                              </p:par>
                            </p:childTnLst>
                          </p:cTn>
                        </p:par>
                      </p:childTnLst>
                    </p:cTn>
                  </p:par>
                  <p:par>
                    <p:cTn id="1091" fill="hold">
                      <p:stCondLst>
                        <p:cond delay="indefinite"/>
                      </p:stCondLst>
                      <p:childTnLst>
                        <p:par>
                          <p:cTn id="1092" fill="hold">
                            <p:stCondLst>
                              <p:cond delay="0"/>
                            </p:stCondLst>
                            <p:childTnLst>
                              <p:par>
                                <p:cTn id="1093" presetID="1" presetClass="entr" presetSubtype="0" fill="hold" nodeType="clickEffect">
                                  <p:stCondLst>
                                    <p:cond delay="0"/>
                                  </p:stCondLst>
                                  <p:childTnLst>
                                    <p:set>
                                      <p:cBhvr>
                                        <p:cTn id="1094" dur="1" fill="hold">
                                          <p:stCondLst>
                                            <p:cond delay="0"/>
                                          </p:stCondLst>
                                        </p:cTn>
                                        <p:tgtEl>
                                          <p:spTgt spid="117">
                                            <p:txEl>
                                              <p:pRg st="2" end="2"/>
                                            </p:txEl>
                                          </p:spTgt>
                                        </p:tgtEl>
                                        <p:attrNameLst>
                                          <p:attrName>style.visibility</p:attrName>
                                        </p:attrNameLst>
                                      </p:cBhvr>
                                      <p:to>
                                        <p:strVal val="visible"/>
                                      </p:to>
                                    </p:set>
                                  </p:childTnLst>
                                </p:cTn>
                              </p:par>
                            </p:childTnLst>
                          </p:cTn>
                        </p:par>
                      </p:childTnLst>
                    </p:cTn>
                  </p:par>
                  <p:par>
                    <p:cTn id="1095" fill="hold">
                      <p:stCondLst>
                        <p:cond delay="indefinite"/>
                      </p:stCondLst>
                      <p:childTnLst>
                        <p:par>
                          <p:cTn id="1096" fill="hold">
                            <p:stCondLst>
                              <p:cond delay="0"/>
                            </p:stCondLst>
                            <p:childTnLst>
                              <p:par>
                                <p:cTn id="1097" presetID="1" presetClass="entr" presetSubtype="0" fill="hold" nodeType="clickEffect">
                                  <p:stCondLst>
                                    <p:cond delay="0"/>
                                  </p:stCondLst>
                                  <p:childTnLst>
                                    <p:set>
                                      <p:cBhvr>
                                        <p:cTn id="1098" dur="1" fill="hold">
                                          <p:stCondLst>
                                            <p:cond delay="0"/>
                                          </p:stCondLst>
                                        </p:cTn>
                                        <p:tgtEl>
                                          <p:spTgt spid="117">
                                            <p:txEl>
                                              <p:pRg st="3" end="3"/>
                                            </p:txEl>
                                          </p:spTgt>
                                        </p:tgtEl>
                                        <p:attrNameLst>
                                          <p:attrName>style.visibility</p:attrName>
                                        </p:attrNameLst>
                                      </p:cBhvr>
                                      <p:to>
                                        <p:strVal val="visible"/>
                                      </p:to>
                                    </p:set>
                                  </p:childTnLst>
                                </p:cTn>
                              </p:par>
                            </p:childTnLst>
                          </p:cTn>
                        </p:par>
                      </p:childTnLst>
                    </p:cTn>
                  </p:par>
                  <p:par>
                    <p:cTn id="1099" fill="hold">
                      <p:stCondLst>
                        <p:cond delay="indefinite"/>
                      </p:stCondLst>
                      <p:childTnLst>
                        <p:par>
                          <p:cTn id="1100" fill="hold">
                            <p:stCondLst>
                              <p:cond delay="0"/>
                            </p:stCondLst>
                            <p:childTnLst>
                              <p:par>
                                <p:cTn id="1101" presetID="1" presetClass="entr" presetSubtype="0" fill="hold" nodeType="clickEffect">
                                  <p:stCondLst>
                                    <p:cond delay="0"/>
                                  </p:stCondLst>
                                  <p:childTnLst>
                                    <p:set>
                                      <p:cBhvr>
                                        <p:cTn id="1102" dur="1" fill="hold">
                                          <p:stCondLst>
                                            <p:cond delay="0"/>
                                          </p:stCondLst>
                                        </p:cTn>
                                        <p:tgtEl>
                                          <p:spTgt spid="117">
                                            <p:txEl>
                                              <p:pRg st="4" end="4"/>
                                            </p:txEl>
                                          </p:spTgt>
                                        </p:tgtEl>
                                        <p:attrNameLst>
                                          <p:attrName>style.visibility</p:attrName>
                                        </p:attrNameLst>
                                      </p:cBhvr>
                                      <p:to>
                                        <p:strVal val="visible"/>
                                      </p:to>
                                    </p:set>
                                  </p:childTnLst>
                                </p:cTn>
                              </p:par>
                            </p:childTnLst>
                          </p:cTn>
                        </p:par>
                      </p:childTnLst>
                    </p:cTn>
                  </p:par>
                  <p:par>
                    <p:cTn id="1103" fill="hold">
                      <p:stCondLst>
                        <p:cond delay="indefinite"/>
                      </p:stCondLst>
                      <p:childTnLst>
                        <p:par>
                          <p:cTn id="1104" fill="hold">
                            <p:stCondLst>
                              <p:cond delay="0"/>
                            </p:stCondLst>
                            <p:childTnLst>
                              <p:par>
                                <p:cTn id="1105" presetID="1" presetClass="entr" presetSubtype="0" fill="hold" nodeType="clickEffect">
                                  <p:stCondLst>
                                    <p:cond delay="0"/>
                                  </p:stCondLst>
                                  <p:childTnLst>
                                    <p:set>
                                      <p:cBhvr>
                                        <p:cTn id="1106" dur="1" fill="hold">
                                          <p:stCondLst>
                                            <p:cond delay="0"/>
                                          </p:stCondLst>
                                        </p:cTn>
                                        <p:tgtEl>
                                          <p:spTgt spid="117">
                                            <p:txEl>
                                              <p:pRg st="5" end="5"/>
                                            </p:txEl>
                                          </p:spTgt>
                                        </p:tgtEl>
                                        <p:attrNameLst>
                                          <p:attrName>style.visibility</p:attrName>
                                        </p:attrNameLst>
                                      </p:cBhvr>
                                      <p:to>
                                        <p:strVal val="visible"/>
                                      </p:to>
                                    </p:set>
                                  </p:childTnLst>
                                </p:cTn>
                              </p:par>
                            </p:childTnLst>
                          </p:cTn>
                        </p:par>
                      </p:childTnLst>
                    </p:cTn>
                  </p:par>
                  <p:par>
                    <p:cTn id="1107" fill="hold">
                      <p:stCondLst>
                        <p:cond delay="indefinite"/>
                      </p:stCondLst>
                      <p:childTnLst>
                        <p:par>
                          <p:cTn id="1108" fill="hold">
                            <p:stCondLst>
                              <p:cond delay="0"/>
                            </p:stCondLst>
                            <p:childTnLst>
                              <p:par>
                                <p:cTn id="1109" presetID="1" presetClass="entr" presetSubtype="0" fill="hold" nodeType="clickEffect">
                                  <p:stCondLst>
                                    <p:cond delay="0"/>
                                  </p:stCondLst>
                                  <p:childTnLst>
                                    <p:set>
                                      <p:cBhvr>
                                        <p:cTn id="1110" dur="1" fill="hold">
                                          <p:stCondLst>
                                            <p:cond delay="0"/>
                                          </p:stCondLst>
                                        </p:cTn>
                                        <p:tgtEl>
                                          <p:spTgt spid="117">
                                            <p:txEl>
                                              <p:pRg st="6" end="6"/>
                                            </p:txEl>
                                          </p:spTgt>
                                        </p:tgtEl>
                                        <p:attrNameLst>
                                          <p:attrName>style.visibility</p:attrName>
                                        </p:attrNameLst>
                                      </p:cBhvr>
                                      <p:to>
                                        <p:strVal val="visible"/>
                                      </p:to>
                                    </p:set>
                                  </p:childTnLst>
                                </p:cTn>
                              </p:par>
                            </p:childTnLst>
                          </p:cTn>
                        </p:par>
                      </p:childTnLst>
                    </p:cTn>
                  </p:par>
                  <p:par>
                    <p:cTn id="1111" fill="hold">
                      <p:stCondLst>
                        <p:cond delay="indefinite"/>
                      </p:stCondLst>
                      <p:childTnLst>
                        <p:par>
                          <p:cTn id="1112" fill="hold">
                            <p:stCondLst>
                              <p:cond delay="0"/>
                            </p:stCondLst>
                            <p:childTnLst>
                              <p:par>
                                <p:cTn id="1113" presetID="1" presetClass="entr" presetSubtype="0" fill="hold" nodeType="clickEffect">
                                  <p:stCondLst>
                                    <p:cond delay="0"/>
                                  </p:stCondLst>
                                  <p:childTnLst>
                                    <p:set>
                                      <p:cBhvr>
                                        <p:cTn id="1114" dur="1" fill="hold">
                                          <p:stCondLst>
                                            <p:cond delay="0"/>
                                          </p:stCondLst>
                                        </p:cTn>
                                        <p:tgtEl>
                                          <p:spTgt spid="117">
                                            <p:txEl>
                                              <p:pRg st="7" end="7"/>
                                            </p:txEl>
                                          </p:spTgt>
                                        </p:tgtEl>
                                        <p:attrNameLst>
                                          <p:attrName>style.visibility</p:attrName>
                                        </p:attrNameLst>
                                      </p:cBhvr>
                                      <p:to>
                                        <p:strVal val="visible"/>
                                      </p:to>
                                    </p:set>
                                  </p:childTnLst>
                                </p:cTn>
                              </p:par>
                            </p:childTnLst>
                          </p:cTn>
                        </p:par>
                      </p:childTnLst>
                    </p:cTn>
                  </p:par>
                  <p:par>
                    <p:cTn id="1115" fill="hold">
                      <p:stCondLst>
                        <p:cond delay="indefinite"/>
                      </p:stCondLst>
                      <p:childTnLst>
                        <p:par>
                          <p:cTn id="1116" fill="hold">
                            <p:stCondLst>
                              <p:cond delay="0"/>
                            </p:stCondLst>
                            <p:childTnLst>
                              <p:par>
                                <p:cTn id="1117" presetID="1" presetClass="entr" presetSubtype="0" fill="hold" nodeType="clickEffect">
                                  <p:stCondLst>
                                    <p:cond delay="0"/>
                                  </p:stCondLst>
                                  <p:childTnLst>
                                    <p:set>
                                      <p:cBhvr>
                                        <p:cTn id="1118" dur="1" fill="hold">
                                          <p:stCondLst>
                                            <p:cond delay="0"/>
                                          </p:stCondLst>
                                        </p:cTn>
                                        <p:tgtEl>
                                          <p:spTgt spid="117">
                                            <p:txEl>
                                              <p:pRg st="8" end="8"/>
                                            </p:txEl>
                                          </p:spTgt>
                                        </p:tgtEl>
                                        <p:attrNameLst>
                                          <p:attrName>style.visibility</p:attrName>
                                        </p:attrNameLst>
                                      </p:cBhvr>
                                      <p:to>
                                        <p:strVal val="visible"/>
                                      </p:to>
                                    </p:set>
                                  </p:childTnLst>
                                </p:cTn>
                              </p:par>
                            </p:childTnLst>
                          </p:cTn>
                        </p:par>
                      </p:childTnLst>
                    </p:cTn>
                  </p:par>
                  <p:par>
                    <p:cTn id="1119" fill="hold">
                      <p:stCondLst>
                        <p:cond delay="indefinite"/>
                      </p:stCondLst>
                      <p:childTnLst>
                        <p:par>
                          <p:cTn id="1120" fill="hold">
                            <p:stCondLst>
                              <p:cond delay="0"/>
                            </p:stCondLst>
                            <p:childTnLst>
                              <p:par>
                                <p:cTn id="1121" presetID="1" presetClass="entr" presetSubtype="0" fill="hold" nodeType="clickEffect">
                                  <p:stCondLst>
                                    <p:cond delay="0"/>
                                  </p:stCondLst>
                                  <p:childTnLst>
                                    <p:set>
                                      <p:cBhvr>
                                        <p:cTn id="1122"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1123" fill="hold">
                      <p:stCondLst>
                        <p:cond delay="indefinite"/>
                      </p:stCondLst>
                      <p:childTnLst>
                        <p:par>
                          <p:cTn id="1124" fill="hold">
                            <p:stCondLst>
                              <p:cond delay="0"/>
                            </p:stCondLst>
                            <p:childTnLst>
                              <p:par>
                                <p:cTn id="1125" presetID="1" presetClass="entr" presetSubtype="0" fill="hold" nodeType="clickEffect">
                                  <p:stCondLst>
                                    <p:cond delay="0"/>
                                  </p:stCondLst>
                                  <p:childTnLst>
                                    <p:set>
                                      <p:cBhvr>
                                        <p:cTn id="112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1127" fill="hold">
                      <p:stCondLst>
                        <p:cond delay="indefinite"/>
                      </p:stCondLst>
                      <p:childTnLst>
                        <p:par>
                          <p:cTn id="1128" fill="hold">
                            <p:stCondLst>
                              <p:cond delay="0"/>
                            </p:stCondLst>
                            <p:childTnLst>
                              <p:par>
                                <p:cTn id="1129" presetID="1" presetClass="entr" presetSubtype="0" fill="hold" nodeType="clickEffect">
                                  <p:stCondLst>
                                    <p:cond delay="0"/>
                                  </p:stCondLst>
                                  <p:childTnLst>
                                    <p:set>
                                      <p:cBhvr>
                                        <p:cTn id="113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131" fill="hold">
                      <p:stCondLst>
                        <p:cond delay="indefinite"/>
                      </p:stCondLst>
                      <p:childTnLst>
                        <p:par>
                          <p:cTn id="1132" fill="hold">
                            <p:stCondLst>
                              <p:cond delay="0"/>
                            </p:stCondLst>
                            <p:childTnLst>
                              <p:par>
                                <p:cTn id="1133" presetID="1" presetClass="entr" presetSubtype="0" fill="hold" nodeType="clickEffect">
                                  <p:stCondLst>
                                    <p:cond delay="0"/>
                                  </p:stCondLst>
                                  <p:childTnLst>
                                    <p:set>
                                      <p:cBhvr>
                                        <p:cTn id="1134"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35" fill="hold">
                      <p:stCondLst>
                        <p:cond delay="indefinite"/>
                      </p:stCondLst>
                      <p:childTnLst>
                        <p:par>
                          <p:cTn id="1136" fill="hold">
                            <p:stCondLst>
                              <p:cond delay="0"/>
                            </p:stCondLst>
                            <p:childTnLst>
                              <p:par>
                                <p:cTn id="1137" presetID="1" presetClass="entr" presetSubtype="0" fill="hold" nodeType="clickEffect">
                                  <p:stCondLst>
                                    <p:cond delay="0"/>
                                  </p:stCondLst>
                                  <p:childTnLst>
                                    <p:set>
                                      <p:cBhvr>
                                        <p:cTn id="113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39" fill="hold">
                      <p:stCondLst>
                        <p:cond delay="indefinite"/>
                      </p:stCondLst>
                      <p:childTnLst>
                        <p:par>
                          <p:cTn id="1140" fill="hold">
                            <p:stCondLst>
                              <p:cond delay="0"/>
                            </p:stCondLst>
                            <p:childTnLst>
                              <p:par>
                                <p:cTn id="1141" presetID="1" presetClass="entr" presetSubtype="0" fill="hold" nodeType="clickEffect">
                                  <p:stCondLst>
                                    <p:cond delay="0"/>
                                  </p:stCondLst>
                                  <p:childTnLst>
                                    <p:set>
                                      <p:cBhvr>
                                        <p:cTn id="1142"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43" fill="hold">
                      <p:stCondLst>
                        <p:cond delay="indefinite"/>
                      </p:stCondLst>
                      <p:childTnLst>
                        <p:par>
                          <p:cTn id="1144" fill="hold">
                            <p:stCondLst>
                              <p:cond delay="0"/>
                            </p:stCondLst>
                            <p:childTnLst>
                              <p:par>
                                <p:cTn id="1145" presetID="1" presetClass="entr" presetSubtype="0" fill="hold" nodeType="clickEffect">
                                  <p:stCondLst>
                                    <p:cond delay="0"/>
                                  </p:stCondLst>
                                  <p:childTnLst>
                                    <p:set>
                                      <p:cBhvr>
                                        <p:cTn id="114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47" fill="hold">
                      <p:stCondLst>
                        <p:cond delay="indefinite"/>
                      </p:stCondLst>
                      <p:childTnLst>
                        <p:par>
                          <p:cTn id="1148" fill="hold">
                            <p:stCondLst>
                              <p:cond delay="0"/>
                            </p:stCondLst>
                            <p:childTnLst>
                              <p:par>
                                <p:cTn id="1149" presetID="1" presetClass="entr" presetSubtype="0" fill="hold" nodeType="clickEffect">
                                  <p:stCondLst>
                                    <p:cond delay="0"/>
                                  </p:stCondLst>
                                  <p:childTnLst>
                                    <p:set>
                                      <p:cBhvr>
                                        <p:cTn id="115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51" fill="hold">
                      <p:stCondLst>
                        <p:cond delay="indefinite"/>
                      </p:stCondLst>
                      <p:childTnLst>
                        <p:par>
                          <p:cTn id="1152" fill="hold">
                            <p:stCondLst>
                              <p:cond delay="0"/>
                            </p:stCondLst>
                            <p:childTnLst>
                              <p:par>
                                <p:cTn id="1153" presetID="1" presetClass="entr" presetSubtype="0" fill="hold" nodeType="clickEffect">
                                  <p:stCondLst>
                                    <p:cond delay="0"/>
                                  </p:stCondLst>
                                  <p:childTnLst>
                                    <p:set>
                                      <p:cBhvr>
                                        <p:cTn id="115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155" fill="hold">
                      <p:stCondLst>
                        <p:cond delay="indefinite"/>
                      </p:stCondLst>
                      <p:childTnLst>
                        <p:par>
                          <p:cTn id="1156" fill="hold">
                            <p:stCondLst>
                              <p:cond delay="0"/>
                            </p:stCondLst>
                            <p:childTnLst>
                              <p:par>
                                <p:cTn id="1157" presetID="1" presetClass="entr" presetSubtype="0" fill="hold" nodeType="clickEffect">
                                  <p:stCondLst>
                                    <p:cond delay="0"/>
                                  </p:stCondLst>
                                  <p:childTnLst>
                                    <p:set>
                                      <p:cBhvr>
                                        <p:cTn id="1158" dur="1" fill="hold">
                                          <p:stCondLst>
                                            <p:cond delay="0"/>
                                          </p:stCondLst>
                                        </p:cTn>
                                        <p:tgtEl>
                                          <p:spTgt spid="119">
                                            <p:txEl>
                                              <p:pRg st="0" end="0"/>
                                            </p:txEl>
                                          </p:spTgt>
                                        </p:tgtEl>
                                        <p:attrNameLst>
                                          <p:attrName>style.visibility</p:attrName>
                                        </p:attrNameLst>
                                      </p:cBhvr>
                                      <p:to>
                                        <p:strVal val="visible"/>
                                      </p:to>
                                    </p:set>
                                  </p:childTnLst>
                                </p:cTn>
                              </p:par>
                            </p:childTnLst>
                          </p:cTn>
                        </p:par>
                      </p:childTnLst>
                    </p:cTn>
                  </p:par>
                  <p:par>
                    <p:cTn id="1159" fill="hold">
                      <p:stCondLst>
                        <p:cond delay="indefinite"/>
                      </p:stCondLst>
                      <p:childTnLst>
                        <p:par>
                          <p:cTn id="1160" fill="hold">
                            <p:stCondLst>
                              <p:cond delay="0"/>
                            </p:stCondLst>
                            <p:childTnLst>
                              <p:par>
                                <p:cTn id="1161" presetID="1" presetClass="entr" presetSubtype="0" fill="hold" nodeType="clickEffect">
                                  <p:stCondLst>
                                    <p:cond delay="0"/>
                                  </p:stCondLst>
                                  <p:childTnLst>
                                    <p:set>
                                      <p:cBhvr>
                                        <p:cTn id="1162" dur="1" fill="hold">
                                          <p:stCondLst>
                                            <p:cond delay="0"/>
                                          </p:stCondLst>
                                        </p:cTn>
                                        <p:tgtEl>
                                          <p:spTgt spid="119">
                                            <p:txEl>
                                              <p:pRg st="1" end="1"/>
                                            </p:txEl>
                                          </p:spTgt>
                                        </p:tgtEl>
                                        <p:attrNameLst>
                                          <p:attrName>style.visibility</p:attrName>
                                        </p:attrNameLst>
                                      </p:cBhvr>
                                      <p:to>
                                        <p:strVal val="visible"/>
                                      </p:to>
                                    </p:set>
                                  </p:childTnLst>
                                </p:cTn>
                              </p:par>
                            </p:childTnLst>
                          </p:cTn>
                        </p:par>
                      </p:childTnLst>
                    </p:cTn>
                  </p:par>
                  <p:par>
                    <p:cTn id="1163" fill="hold">
                      <p:stCondLst>
                        <p:cond delay="indefinite"/>
                      </p:stCondLst>
                      <p:childTnLst>
                        <p:par>
                          <p:cTn id="1164" fill="hold">
                            <p:stCondLst>
                              <p:cond delay="0"/>
                            </p:stCondLst>
                            <p:childTnLst>
                              <p:par>
                                <p:cTn id="1165" presetID="1" presetClass="entr" presetSubtype="0" fill="hold" nodeType="clickEffect">
                                  <p:stCondLst>
                                    <p:cond delay="0"/>
                                  </p:stCondLst>
                                  <p:childTnLst>
                                    <p:set>
                                      <p:cBhvr>
                                        <p:cTn id="1166" dur="1" fill="hold">
                                          <p:stCondLst>
                                            <p:cond delay="0"/>
                                          </p:stCondLst>
                                        </p:cTn>
                                        <p:tgtEl>
                                          <p:spTgt spid="119">
                                            <p:txEl>
                                              <p:pRg st="2" end="2"/>
                                            </p:txEl>
                                          </p:spTgt>
                                        </p:tgtEl>
                                        <p:attrNameLst>
                                          <p:attrName>style.visibility</p:attrName>
                                        </p:attrNameLst>
                                      </p:cBhvr>
                                      <p:to>
                                        <p:strVal val="visible"/>
                                      </p:to>
                                    </p:set>
                                  </p:childTnLst>
                                </p:cTn>
                              </p:par>
                            </p:childTnLst>
                          </p:cTn>
                        </p:par>
                      </p:childTnLst>
                    </p:cTn>
                  </p:par>
                  <p:par>
                    <p:cTn id="1167" fill="hold">
                      <p:stCondLst>
                        <p:cond delay="indefinite"/>
                      </p:stCondLst>
                      <p:childTnLst>
                        <p:par>
                          <p:cTn id="1168" fill="hold">
                            <p:stCondLst>
                              <p:cond delay="0"/>
                            </p:stCondLst>
                            <p:childTnLst>
                              <p:par>
                                <p:cTn id="1169" presetID="1" presetClass="entr" presetSubtype="0" fill="hold" nodeType="clickEffect">
                                  <p:stCondLst>
                                    <p:cond delay="0"/>
                                  </p:stCondLst>
                                  <p:childTnLst>
                                    <p:set>
                                      <p:cBhvr>
                                        <p:cTn id="1170" dur="1" fill="hold">
                                          <p:stCondLst>
                                            <p:cond delay="0"/>
                                          </p:stCondLst>
                                        </p:cTn>
                                        <p:tgtEl>
                                          <p:spTgt spid="119">
                                            <p:txEl>
                                              <p:pRg st="3" end="3"/>
                                            </p:txEl>
                                          </p:spTgt>
                                        </p:tgtEl>
                                        <p:attrNameLst>
                                          <p:attrName>style.visibility</p:attrName>
                                        </p:attrNameLst>
                                      </p:cBhvr>
                                      <p:to>
                                        <p:strVal val="visible"/>
                                      </p:to>
                                    </p:set>
                                  </p:childTnLst>
                                </p:cTn>
                              </p:par>
                            </p:childTnLst>
                          </p:cTn>
                        </p:par>
                      </p:childTnLst>
                    </p:cTn>
                  </p:par>
                  <p:par>
                    <p:cTn id="1171" fill="hold">
                      <p:stCondLst>
                        <p:cond delay="indefinite"/>
                      </p:stCondLst>
                      <p:childTnLst>
                        <p:par>
                          <p:cTn id="1172" fill="hold">
                            <p:stCondLst>
                              <p:cond delay="0"/>
                            </p:stCondLst>
                            <p:childTnLst>
                              <p:par>
                                <p:cTn id="1173" presetID="1" presetClass="entr" presetSubtype="0" fill="hold" nodeType="clickEffect">
                                  <p:stCondLst>
                                    <p:cond delay="0"/>
                                  </p:stCondLst>
                                  <p:childTnLst>
                                    <p:set>
                                      <p:cBhvr>
                                        <p:cTn id="1174" dur="1" fill="hold">
                                          <p:stCondLst>
                                            <p:cond delay="0"/>
                                          </p:stCondLst>
                                        </p:cTn>
                                        <p:tgtEl>
                                          <p:spTgt spid="119">
                                            <p:txEl>
                                              <p:pRg st="4" end="4"/>
                                            </p:txEl>
                                          </p:spTgt>
                                        </p:tgtEl>
                                        <p:attrNameLst>
                                          <p:attrName>style.visibility</p:attrName>
                                        </p:attrNameLst>
                                      </p:cBhvr>
                                      <p:to>
                                        <p:strVal val="visible"/>
                                      </p:to>
                                    </p:set>
                                  </p:childTnLst>
                                </p:cTn>
                              </p:par>
                            </p:childTnLst>
                          </p:cTn>
                        </p:par>
                      </p:childTnLst>
                    </p:cTn>
                  </p:par>
                  <p:par>
                    <p:cTn id="1175" fill="hold">
                      <p:stCondLst>
                        <p:cond delay="indefinite"/>
                      </p:stCondLst>
                      <p:childTnLst>
                        <p:par>
                          <p:cTn id="1176" fill="hold">
                            <p:stCondLst>
                              <p:cond delay="0"/>
                            </p:stCondLst>
                            <p:childTnLst>
                              <p:par>
                                <p:cTn id="1177" presetID="1" presetClass="entr" presetSubtype="0" fill="hold" nodeType="clickEffect">
                                  <p:stCondLst>
                                    <p:cond delay="0"/>
                                  </p:stCondLst>
                                  <p:childTnLst>
                                    <p:set>
                                      <p:cBhvr>
                                        <p:cTn id="1178" dur="1" fill="hold">
                                          <p:stCondLst>
                                            <p:cond delay="0"/>
                                          </p:stCondLst>
                                        </p:cTn>
                                        <p:tgtEl>
                                          <p:spTgt spid="119">
                                            <p:txEl>
                                              <p:pRg st="5" end="5"/>
                                            </p:txEl>
                                          </p:spTgt>
                                        </p:tgtEl>
                                        <p:attrNameLst>
                                          <p:attrName>style.visibility</p:attrName>
                                        </p:attrNameLst>
                                      </p:cBhvr>
                                      <p:to>
                                        <p:strVal val="visible"/>
                                      </p:to>
                                    </p:set>
                                  </p:childTnLst>
                                </p:cTn>
                              </p:par>
                            </p:childTnLst>
                          </p:cTn>
                        </p:par>
                      </p:childTnLst>
                    </p:cTn>
                  </p:par>
                  <p:par>
                    <p:cTn id="1179" fill="hold">
                      <p:stCondLst>
                        <p:cond delay="indefinite"/>
                      </p:stCondLst>
                      <p:childTnLst>
                        <p:par>
                          <p:cTn id="1180" fill="hold">
                            <p:stCondLst>
                              <p:cond delay="0"/>
                            </p:stCondLst>
                            <p:childTnLst>
                              <p:par>
                                <p:cTn id="1181" presetID="1" presetClass="entr" presetSubtype="0" fill="hold" nodeType="clickEffect">
                                  <p:stCondLst>
                                    <p:cond delay="0"/>
                                  </p:stCondLst>
                                  <p:childTnLst>
                                    <p:set>
                                      <p:cBhvr>
                                        <p:cTn id="1182" dur="1" fill="hold">
                                          <p:stCondLst>
                                            <p:cond delay="0"/>
                                          </p:stCondLst>
                                        </p:cTn>
                                        <p:tgtEl>
                                          <p:spTgt spid="119">
                                            <p:txEl>
                                              <p:pRg st="6" end="6"/>
                                            </p:txEl>
                                          </p:spTgt>
                                        </p:tgtEl>
                                        <p:attrNameLst>
                                          <p:attrName>style.visibility</p:attrName>
                                        </p:attrNameLst>
                                      </p:cBhvr>
                                      <p:to>
                                        <p:strVal val="visible"/>
                                      </p:to>
                                    </p:set>
                                  </p:childTnLst>
                                </p:cTn>
                              </p:par>
                            </p:childTnLst>
                          </p:cTn>
                        </p:par>
                      </p:childTnLst>
                    </p:cTn>
                  </p:par>
                  <p:par>
                    <p:cTn id="1183" fill="hold">
                      <p:stCondLst>
                        <p:cond delay="indefinite"/>
                      </p:stCondLst>
                      <p:childTnLst>
                        <p:par>
                          <p:cTn id="1184" fill="hold">
                            <p:stCondLst>
                              <p:cond delay="0"/>
                            </p:stCondLst>
                            <p:childTnLst>
                              <p:par>
                                <p:cTn id="1185" presetID="1" presetClass="entr" presetSubtype="0" fill="hold" nodeType="clickEffect">
                                  <p:stCondLst>
                                    <p:cond delay="0"/>
                                  </p:stCondLst>
                                  <p:childTnLst>
                                    <p:set>
                                      <p:cBhvr>
                                        <p:cTn id="1186" dur="1" fill="hold">
                                          <p:stCondLst>
                                            <p:cond delay="0"/>
                                          </p:stCondLst>
                                        </p:cTn>
                                        <p:tgtEl>
                                          <p:spTgt spid="119">
                                            <p:txEl>
                                              <p:pRg st="7" end="7"/>
                                            </p:txEl>
                                          </p:spTgt>
                                        </p:tgtEl>
                                        <p:attrNameLst>
                                          <p:attrName>style.visibility</p:attrName>
                                        </p:attrNameLst>
                                      </p:cBhvr>
                                      <p:to>
                                        <p:strVal val="visible"/>
                                      </p:to>
                                    </p:set>
                                  </p:childTnLst>
                                </p:cTn>
                              </p:par>
                            </p:childTnLst>
                          </p:cTn>
                        </p:par>
                      </p:childTnLst>
                    </p:cTn>
                  </p:par>
                  <p:par>
                    <p:cTn id="1187" fill="hold">
                      <p:stCondLst>
                        <p:cond delay="indefinite"/>
                      </p:stCondLst>
                      <p:childTnLst>
                        <p:par>
                          <p:cTn id="1188" fill="hold">
                            <p:stCondLst>
                              <p:cond delay="0"/>
                            </p:stCondLst>
                            <p:childTnLst>
                              <p:par>
                                <p:cTn id="1189" presetID="1" presetClass="entr" presetSubtype="0" fill="hold" nodeType="clickEffect">
                                  <p:stCondLst>
                                    <p:cond delay="0"/>
                                  </p:stCondLst>
                                  <p:childTnLst>
                                    <p:set>
                                      <p:cBhvr>
                                        <p:cTn id="1190" dur="1" fill="hold">
                                          <p:stCondLst>
                                            <p:cond delay="0"/>
                                          </p:stCondLst>
                                        </p:cTn>
                                        <p:tgtEl>
                                          <p:spTgt spid="119">
                                            <p:txEl>
                                              <p:pRg st="8" end="8"/>
                                            </p:txEl>
                                          </p:spTgt>
                                        </p:tgtEl>
                                        <p:attrNameLst>
                                          <p:attrName>style.visibility</p:attrName>
                                        </p:attrNameLst>
                                      </p:cBhvr>
                                      <p:to>
                                        <p:strVal val="visible"/>
                                      </p:to>
                                    </p:set>
                                  </p:childTnLst>
                                </p:cTn>
                              </p:par>
                            </p:childTnLst>
                          </p:cTn>
                        </p:par>
                      </p:childTnLst>
                    </p:cTn>
                  </p:par>
                  <p:par>
                    <p:cTn id="1191" fill="hold">
                      <p:stCondLst>
                        <p:cond delay="indefinite"/>
                      </p:stCondLst>
                      <p:childTnLst>
                        <p:par>
                          <p:cTn id="1192" fill="hold">
                            <p:stCondLst>
                              <p:cond delay="0"/>
                            </p:stCondLst>
                            <p:childTnLst>
                              <p:par>
                                <p:cTn id="1193" presetID="1" presetClass="entr" presetSubtype="0" fill="hold" nodeType="clickEffect">
                                  <p:stCondLst>
                                    <p:cond delay="0"/>
                                  </p:stCondLst>
                                  <p:childTnLst>
                                    <p:set>
                                      <p:cBhvr>
                                        <p:cTn id="1194" dur="1" fill="hold">
                                          <p:stCondLst>
                                            <p:cond delay="0"/>
                                          </p:stCondLst>
                                        </p:cTn>
                                        <p:tgtEl>
                                          <p:spTgt spid="120">
                                            <p:txEl>
                                              <p:pRg st="0" end="0"/>
                                            </p:txEl>
                                          </p:spTgt>
                                        </p:tgtEl>
                                        <p:attrNameLst>
                                          <p:attrName>style.visibility</p:attrName>
                                        </p:attrNameLst>
                                      </p:cBhvr>
                                      <p:to>
                                        <p:strVal val="visible"/>
                                      </p:to>
                                    </p:set>
                                  </p:childTnLst>
                                </p:cTn>
                              </p:par>
                            </p:childTnLst>
                          </p:cTn>
                        </p:par>
                      </p:childTnLst>
                    </p:cTn>
                  </p:par>
                  <p:par>
                    <p:cTn id="1195" fill="hold">
                      <p:stCondLst>
                        <p:cond delay="indefinite"/>
                      </p:stCondLst>
                      <p:childTnLst>
                        <p:par>
                          <p:cTn id="1196" fill="hold">
                            <p:stCondLst>
                              <p:cond delay="0"/>
                            </p:stCondLst>
                            <p:childTnLst>
                              <p:par>
                                <p:cTn id="1197" presetID="1" presetClass="entr" presetSubtype="0" fill="hold" nodeType="clickEffect">
                                  <p:stCondLst>
                                    <p:cond delay="0"/>
                                  </p:stCondLst>
                                  <p:childTnLst>
                                    <p:set>
                                      <p:cBhvr>
                                        <p:cTn id="1198" dur="1" fill="hold">
                                          <p:stCondLst>
                                            <p:cond delay="0"/>
                                          </p:stCondLst>
                                        </p:cTn>
                                        <p:tgtEl>
                                          <p:spTgt spid="120">
                                            <p:txEl>
                                              <p:pRg st="1" end="1"/>
                                            </p:txEl>
                                          </p:spTgt>
                                        </p:tgtEl>
                                        <p:attrNameLst>
                                          <p:attrName>style.visibility</p:attrName>
                                        </p:attrNameLst>
                                      </p:cBhvr>
                                      <p:to>
                                        <p:strVal val="visible"/>
                                      </p:to>
                                    </p:set>
                                  </p:childTnLst>
                                </p:cTn>
                              </p:par>
                            </p:childTnLst>
                          </p:cTn>
                        </p:par>
                      </p:childTnLst>
                    </p:cTn>
                  </p:par>
                  <p:par>
                    <p:cTn id="1199" fill="hold">
                      <p:stCondLst>
                        <p:cond delay="indefinite"/>
                      </p:stCondLst>
                      <p:childTnLst>
                        <p:par>
                          <p:cTn id="1200" fill="hold">
                            <p:stCondLst>
                              <p:cond delay="0"/>
                            </p:stCondLst>
                            <p:childTnLst>
                              <p:par>
                                <p:cTn id="1201" presetID="1" presetClass="entr" presetSubtype="0" fill="hold" nodeType="clickEffect">
                                  <p:stCondLst>
                                    <p:cond delay="0"/>
                                  </p:stCondLst>
                                  <p:childTnLst>
                                    <p:set>
                                      <p:cBhvr>
                                        <p:cTn id="1202" dur="1" fill="hold">
                                          <p:stCondLst>
                                            <p:cond delay="0"/>
                                          </p:stCondLst>
                                        </p:cTn>
                                        <p:tgtEl>
                                          <p:spTgt spid="120">
                                            <p:txEl>
                                              <p:pRg st="2" end="2"/>
                                            </p:txEl>
                                          </p:spTgt>
                                        </p:tgtEl>
                                        <p:attrNameLst>
                                          <p:attrName>style.visibility</p:attrName>
                                        </p:attrNameLst>
                                      </p:cBhvr>
                                      <p:to>
                                        <p:strVal val="visible"/>
                                      </p:to>
                                    </p:set>
                                  </p:childTnLst>
                                </p:cTn>
                              </p:par>
                            </p:childTnLst>
                          </p:cTn>
                        </p:par>
                      </p:childTnLst>
                    </p:cTn>
                  </p:par>
                  <p:par>
                    <p:cTn id="1203" fill="hold">
                      <p:stCondLst>
                        <p:cond delay="indefinite"/>
                      </p:stCondLst>
                      <p:childTnLst>
                        <p:par>
                          <p:cTn id="1204" fill="hold">
                            <p:stCondLst>
                              <p:cond delay="0"/>
                            </p:stCondLst>
                            <p:childTnLst>
                              <p:par>
                                <p:cTn id="1205" presetID="1" presetClass="entr" presetSubtype="0" fill="hold" nodeType="clickEffect">
                                  <p:stCondLst>
                                    <p:cond delay="0"/>
                                  </p:stCondLst>
                                  <p:childTnLst>
                                    <p:set>
                                      <p:cBhvr>
                                        <p:cTn id="1206" dur="1" fill="hold">
                                          <p:stCondLst>
                                            <p:cond delay="0"/>
                                          </p:stCondLst>
                                        </p:cTn>
                                        <p:tgtEl>
                                          <p:spTgt spid="120">
                                            <p:txEl>
                                              <p:pRg st="3" end="3"/>
                                            </p:txEl>
                                          </p:spTgt>
                                        </p:tgtEl>
                                        <p:attrNameLst>
                                          <p:attrName>style.visibility</p:attrName>
                                        </p:attrNameLst>
                                      </p:cBhvr>
                                      <p:to>
                                        <p:strVal val="visible"/>
                                      </p:to>
                                    </p:set>
                                  </p:childTnLst>
                                </p:cTn>
                              </p:par>
                            </p:childTnLst>
                          </p:cTn>
                        </p:par>
                      </p:childTnLst>
                    </p:cTn>
                  </p:par>
                  <p:par>
                    <p:cTn id="1207" fill="hold">
                      <p:stCondLst>
                        <p:cond delay="indefinite"/>
                      </p:stCondLst>
                      <p:childTnLst>
                        <p:par>
                          <p:cTn id="1208" fill="hold">
                            <p:stCondLst>
                              <p:cond delay="0"/>
                            </p:stCondLst>
                            <p:childTnLst>
                              <p:par>
                                <p:cTn id="1209" presetID="1" presetClass="entr" presetSubtype="0" fill="hold" nodeType="clickEffect">
                                  <p:stCondLst>
                                    <p:cond delay="0"/>
                                  </p:stCondLst>
                                  <p:childTnLst>
                                    <p:set>
                                      <p:cBhvr>
                                        <p:cTn id="1210" dur="1" fill="hold">
                                          <p:stCondLst>
                                            <p:cond delay="0"/>
                                          </p:stCondLst>
                                        </p:cTn>
                                        <p:tgtEl>
                                          <p:spTgt spid="120">
                                            <p:txEl>
                                              <p:pRg st="4" end="4"/>
                                            </p:txEl>
                                          </p:spTgt>
                                        </p:tgtEl>
                                        <p:attrNameLst>
                                          <p:attrName>style.visibility</p:attrName>
                                        </p:attrNameLst>
                                      </p:cBhvr>
                                      <p:to>
                                        <p:strVal val="visible"/>
                                      </p:to>
                                    </p:set>
                                  </p:childTnLst>
                                </p:cTn>
                              </p:par>
                            </p:childTnLst>
                          </p:cTn>
                        </p:par>
                      </p:childTnLst>
                    </p:cTn>
                  </p:par>
                  <p:par>
                    <p:cTn id="1211" fill="hold">
                      <p:stCondLst>
                        <p:cond delay="indefinite"/>
                      </p:stCondLst>
                      <p:childTnLst>
                        <p:par>
                          <p:cTn id="1212" fill="hold">
                            <p:stCondLst>
                              <p:cond delay="0"/>
                            </p:stCondLst>
                            <p:childTnLst>
                              <p:par>
                                <p:cTn id="1213" presetID="1" presetClass="entr" presetSubtype="0" fill="hold" nodeType="clickEffect">
                                  <p:stCondLst>
                                    <p:cond delay="0"/>
                                  </p:stCondLst>
                                  <p:childTnLst>
                                    <p:set>
                                      <p:cBhvr>
                                        <p:cTn id="1214" dur="1" fill="hold">
                                          <p:stCondLst>
                                            <p:cond delay="0"/>
                                          </p:stCondLst>
                                        </p:cTn>
                                        <p:tgtEl>
                                          <p:spTgt spid="120">
                                            <p:txEl>
                                              <p:pRg st="5" end="5"/>
                                            </p:txEl>
                                          </p:spTgt>
                                        </p:tgtEl>
                                        <p:attrNameLst>
                                          <p:attrName>style.visibility</p:attrName>
                                        </p:attrNameLst>
                                      </p:cBhvr>
                                      <p:to>
                                        <p:strVal val="visible"/>
                                      </p:to>
                                    </p:set>
                                  </p:childTnLst>
                                </p:cTn>
                              </p:par>
                            </p:childTnLst>
                          </p:cTn>
                        </p:par>
                      </p:childTnLst>
                    </p:cTn>
                  </p:par>
                  <p:par>
                    <p:cTn id="1215" fill="hold">
                      <p:stCondLst>
                        <p:cond delay="indefinite"/>
                      </p:stCondLst>
                      <p:childTnLst>
                        <p:par>
                          <p:cTn id="1216" fill="hold">
                            <p:stCondLst>
                              <p:cond delay="0"/>
                            </p:stCondLst>
                            <p:childTnLst>
                              <p:par>
                                <p:cTn id="1217" presetID="1" presetClass="entr" presetSubtype="0" fill="hold" nodeType="clickEffect">
                                  <p:stCondLst>
                                    <p:cond delay="0"/>
                                  </p:stCondLst>
                                  <p:childTnLst>
                                    <p:set>
                                      <p:cBhvr>
                                        <p:cTn id="1218" dur="1" fill="hold">
                                          <p:stCondLst>
                                            <p:cond delay="0"/>
                                          </p:stCondLst>
                                        </p:cTn>
                                        <p:tgtEl>
                                          <p:spTgt spid="120">
                                            <p:txEl>
                                              <p:pRg st="6" end="6"/>
                                            </p:txEl>
                                          </p:spTgt>
                                        </p:tgtEl>
                                        <p:attrNameLst>
                                          <p:attrName>style.visibility</p:attrName>
                                        </p:attrNameLst>
                                      </p:cBhvr>
                                      <p:to>
                                        <p:strVal val="visible"/>
                                      </p:to>
                                    </p:set>
                                  </p:childTnLst>
                                </p:cTn>
                              </p:par>
                            </p:childTnLst>
                          </p:cTn>
                        </p:par>
                      </p:childTnLst>
                    </p:cTn>
                  </p:par>
                  <p:par>
                    <p:cTn id="1219" fill="hold">
                      <p:stCondLst>
                        <p:cond delay="indefinite"/>
                      </p:stCondLst>
                      <p:childTnLst>
                        <p:par>
                          <p:cTn id="1220" fill="hold">
                            <p:stCondLst>
                              <p:cond delay="0"/>
                            </p:stCondLst>
                            <p:childTnLst>
                              <p:par>
                                <p:cTn id="1221" presetID="1" presetClass="entr" presetSubtype="0" fill="hold" nodeType="clickEffect">
                                  <p:stCondLst>
                                    <p:cond delay="0"/>
                                  </p:stCondLst>
                                  <p:childTnLst>
                                    <p:set>
                                      <p:cBhvr>
                                        <p:cTn id="1222" dur="1" fill="hold">
                                          <p:stCondLst>
                                            <p:cond delay="0"/>
                                          </p:stCondLst>
                                        </p:cTn>
                                        <p:tgtEl>
                                          <p:spTgt spid="120">
                                            <p:txEl>
                                              <p:pRg st="7" end="7"/>
                                            </p:txEl>
                                          </p:spTgt>
                                        </p:tgtEl>
                                        <p:attrNameLst>
                                          <p:attrName>style.visibility</p:attrName>
                                        </p:attrNameLst>
                                      </p:cBhvr>
                                      <p:to>
                                        <p:strVal val="visible"/>
                                      </p:to>
                                    </p:set>
                                  </p:childTnLst>
                                </p:cTn>
                              </p:par>
                            </p:childTnLst>
                          </p:cTn>
                        </p:par>
                      </p:childTnLst>
                    </p:cTn>
                  </p:par>
                  <p:par>
                    <p:cTn id="1223" fill="hold">
                      <p:stCondLst>
                        <p:cond delay="indefinite"/>
                      </p:stCondLst>
                      <p:childTnLst>
                        <p:par>
                          <p:cTn id="1224" fill="hold">
                            <p:stCondLst>
                              <p:cond delay="0"/>
                            </p:stCondLst>
                            <p:childTnLst>
                              <p:par>
                                <p:cTn id="1225" presetID="1" presetClass="entr" presetSubtype="0" fill="hold" nodeType="clickEffect">
                                  <p:stCondLst>
                                    <p:cond delay="0"/>
                                  </p:stCondLst>
                                  <p:childTnLst>
                                    <p:set>
                                      <p:cBhvr>
                                        <p:cTn id="1226" dur="1" fill="hold">
                                          <p:stCondLst>
                                            <p:cond delay="0"/>
                                          </p:stCondLst>
                                        </p:cTn>
                                        <p:tgtEl>
                                          <p:spTgt spid="120">
                                            <p:txEl>
                                              <p:pRg st="8" end="8"/>
                                            </p:txEl>
                                          </p:spTgt>
                                        </p:tgtEl>
                                        <p:attrNameLst>
                                          <p:attrName>style.visibility</p:attrName>
                                        </p:attrNameLst>
                                      </p:cBhvr>
                                      <p:to>
                                        <p:strVal val="visible"/>
                                      </p:to>
                                    </p:set>
                                  </p:childTnLst>
                                </p:cTn>
                              </p:par>
                            </p:childTnLst>
                          </p:cTn>
                        </p:par>
                      </p:childTnLst>
                    </p:cTn>
                  </p:par>
                  <p:par>
                    <p:cTn id="1227" fill="hold">
                      <p:stCondLst>
                        <p:cond delay="indefinite"/>
                      </p:stCondLst>
                      <p:childTnLst>
                        <p:par>
                          <p:cTn id="1228" fill="hold">
                            <p:stCondLst>
                              <p:cond delay="0"/>
                            </p:stCondLst>
                            <p:childTnLst>
                              <p:par>
                                <p:cTn id="1229" presetID="1" presetClass="entr" presetSubtype="0" fill="hold" nodeType="clickEffect">
                                  <p:stCondLst>
                                    <p:cond delay="0"/>
                                  </p:stCondLst>
                                  <p:childTnLst>
                                    <p:set>
                                      <p:cBhvr>
                                        <p:cTn id="1230" dur="1" fill="hold">
                                          <p:stCondLst>
                                            <p:cond delay="0"/>
                                          </p:stCondLst>
                                        </p:cTn>
                                        <p:tgtEl>
                                          <p:spTgt spid="121">
                                            <p:txEl>
                                              <p:pRg st="0" end="0"/>
                                            </p:txEl>
                                          </p:spTgt>
                                        </p:tgtEl>
                                        <p:attrNameLst>
                                          <p:attrName>style.visibility</p:attrName>
                                        </p:attrNameLst>
                                      </p:cBhvr>
                                      <p:to>
                                        <p:strVal val="visible"/>
                                      </p:to>
                                    </p:set>
                                  </p:childTnLst>
                                </p:cTn>
                              </p:par>
                            </p:childTnLst>
                          </p:cTn>
                        </p:par>
                      </p:childTnLst>
                    </p:cTn>
                  </p:par>
                  <p:par>
                    <p:cTn id="1231" fill="hold">
                      <p:stCondLst>
                        <p:cond delay="indefinite"/>
                      </p:stCondLst>
                      <p:childTnLst>
                        <p:par>
                          <p:cTn id="1232" fill="hold">
                            <p:stCondLst>
                              <p:cond delay="0"/>
                            </p:stCondLst>
                            <p:childTnLst>
                              <p:par>
                                <p:cTn id="1233" presetID="1" presetClass="entr" presetSubtype="0" fill="hold" nodeType="clickEffect">
                                  <p:stCondLst>
                                    <p:cond delay="0"/>
                                  </p:stCondLst>
                                  <p:childTnLst>
                                    <p:set>
                                      <p:cBhvr>
                                        <p:cTn id="1234" dur="1" fill="hold">
                                          <p:stCondLst>
                                            <p:cond delay="0"/>
                                          </p:stCondLst>
                                        </p:cTn>
                                        <p:tgtEl>
                                          <p:spTgt spid="121">
                                            <p:txEl>
                                              <p:pRg st="1" end="1"/>
                                            </p:txEl>
                                          </p:spTgt>
                                        </p:tgtEl>
                                        <p:attrNameLst>
                                          <p:attrName>style.visibility</p:attrName>
                                        </p:attrNameLst>
                                      </p:cBhvr>
                                      <p:to>
                                        <p:strVal val="visible"/>
                                      </p:to>
                                    </p:set>
                                  </p:childTnLst>
                                </p:cTn>
                              </p:par>
                            </p:childTnLst>
                          </p:cTn>
                        </p:par>
                      </p:childTnLst>
                    </p:cTn>
                  </p:par>
                  <p:par>
                    <p:cTn id="1235" fill="hold">
                      <p:stCondLst>
                        <p:cond delay="indefinite"/>
                      </p:stCondLst>
                      <p:childTnLst>
                        <p:par>
                          <p:cTn id="1236" fill="hold">
                            <p:stCondLst>
                              <p:cond delay="0"/>
                            </p:stCondLst>
                            <p:childTnLst>
                              <p:par>
                                <p:cTn id="1237" presetID="1" presetClass="entr" presetSubtype="0" fill="hold" nodeType="clickEffect">
                                  <p:stCondLst>
                                    <p:cond delay="0"/>
                                  </p:stCondLst>
                                  <p:childTnLst>
                                    <p:set>
                                      <p:cBhvr>
                                        <p:cTn id="1238" dur="1" fill="hold">
                                          <p:stCondLst>
                                            <p:cond delay="0"/>
                                          </p:stCondLst>
                                        </p:cTn>
                                        <p:tgtEl>
                                          <p:spTgt spid="121">
                                            <p:txEl>
                                              <p:pRg st="2" end="2"/>
                                            </p:txEl>
                                          </p:spTgt>
                                        </p:tgtEl>
                                        <p:attrNameLst>
                                          <p:attrName>style.visibility</p:attrName>
                                        </p:attrNameLst>
                                      </p:cBhvr>
                                      <p:to>
                                        <p:strVal val="visible"/>
                                      </p:to>
                                    </p:set>
                                  </p:childTnLst>
                                </p:cTn>
                              </p:par>
                            </p:childTnLst>
                          </p:cTn>
                        </p:par>
                      </p:childTnLst>
                    </p:cTn>
                  </p:par>
                  <p:par>
                    <p:cTn id="1239" fill="hold">
                      <p:stCondLst>
                        <p:cond delay="indefinite"/>
                      </p:stCondLst>
                      <p:childTnLst>
                        <p:par>
                          <p:cTn id="1240" fill="hold">
                            <p:stCondLst>
                              <p:cond delay="0"/>
                            </p:stCondLst>
                            <p:childTnLst>
                              <p:par>
                                <p:cTn id="1241" presetID="1" presetClass="entr" presetSubtype="0" fill="hold" nodeType="clickEffect">
                                  <p:stCondLst>
                                    <p:cond delay="0"/>
                                  </p:stCondLst>
                                  <p:childTnLst>
                                    <p:set>
                                      <p:cBhvr>
                                        <p:cTn id="1242" dur="1" fill="hold">
                                          <p:stCondLst>
                                            <p:cond delay="0"/>
                                          </p:stCondLst>
                                        </p:cTn>
                                        <p:tgtEl>
                                          <p:spTgt spid="121">
                                            <p:txEl>
                                              <p:pRg st="3" end="3"/>
                                            </p:txEl>
                                          </p:spTgt>
                                        </p:tgtEl>
                                        <p:attrNameLst>
                                          <p:attrName>style.visibility</p:attrName>
                                        </p:attrNameLst>
                                      </p:cBhvr>
                                      <p:to>
                                        <p:strVal val="visible"/>
                                      </p:to>
                                    </p:set>
                                  </p:childTnLst>
                                </p:cTn>
                              </p:par>
                            </p:childTnLst>
                          </p:cTn>
                        </p:par>
                      </p:childTnLst>
                    </p:cTn>
                  </p:par>
                  <p:par>
                    <p:cTn id="1243" fill="hold">
                      <p:stCondLst>
                        <p:cond delay="indefinite"/>
                      </p:stCondLst>
                      <p:childTnLst>
                        <p:par>
                          <p:cTn id="1244" fill="hold">
                            <p:stCondLst>
                              <p:cond delay="0"/>
                            </p:stCondLst>
                            <p:childTnLst>
                              <p:par>
                                <p:cTn id="1245" presetID="1" presetClass="entr" presetSubtype="0" fill="hold" nodeType="clickEffect">
                                  <p:stCondLst>
                                    <p:cond delay="0"/>
                                  </p:stCondLst>
                                  <p:childTnLst>
                                    <p:set>
                                      <p:cBhvr>
                                        <p:cTn id="1246" dur="1" fill="hold">
                                          <p:stCondLst>
                                            <p:cond delay="0"/>
                                          </p:stCondLst>
                                        </p:cTn>
                                        <p:tgtEl>
                                          <p:spTgt spid="121">
                                            <p:txEl>
                                              <p:pRg st="4" end="4"/>
                                            </p:txEl>
                                          </p:spTgt>
                                        </p:tgtEl>
                                        <p:attrNameLst>
                                          <p:attrName>style.visibility</p:attrName>
                                        </p:attrNameLst>
                                      </p:cBhvr>
                                      <p:to>
                                        <p:strVal val="visible"/>
                                      </p:to>
                                    </p:set>
                                  </p:childTnLst>
                                </p:cTn>
                              </p:par>
                            </p:childTnLst>
                          </p:cTn>
                        </p:par>
                      </p:childTnLst>
                    </p:cTn>
                  </p:par>
                  <p:par>
                    <p:cTn id="1247" fill="hold">
                      <p:stCondLst>
                        <p:cond delay="indefinite"/>
                      </p:stCondLst>
                      <p:childTnLst>
                        <p:par>
                          <p:cTn id="1248" fill="hold">
                            <p:stCondLst>
                              <p:cond delay="0"/>
                            </p:stCondLst>
                            <p:childTnLst>
                              <p:par>
                                <p:cTn id="1249" presetID="1" presetClass="entr" presetSubtype="0" fill="hold" nodeType="clickEffect">
                                  <p:stCondLst>
                                    <p:cond delay="0"/>
                                  </p:stCondLst>
                                  <p:childTnLst>
                                    <p:set>
                                      <p:cBhvr>
                                        <p:cTn id="1250" dur="1" fill="hold">
                                          <p:stCondLst>
                                            <p:cond delay="0"/>
                                          </p:stCondLst>
                                        </p:cTn>
                                        <p:tgtEl>
                                          <p:spTgt spid="121">
                                            <p:txEl>
                                              <p:pRg st="5" end="5"/>
                                            </p:txEl>
                                          </p:spTgt>
                                        </p:tgtEl>
                                        <p:attrNameLst>
                                          <p:attrName>style.visibility</p:attrName>
                                        </p:attrNameLst>
                                      </p:cBhvr>
                                      <p:to>
                                        <p:strVal val="visible"/>
                                      </p:to>
                                    </p:set>
                                  </p:childTnLst>
                                </p:cTn>
                              </p:par>
                            </p:childTnLst>
                          </p:cTn>
                        </p:par>
                      </p:childTnLst>
                    </p:cTn>
                  </p:par>
                  <p:par>
                    <p:cTn id="1251" fill="hold">
                      <p:stCondLst>
                        <p:cond delay="indefinite"/>
                      </p:stCondLst>
                      <p:childTnLst>
                        <p:par>
                          <p:cTn id="1252" fill="hold">
                            <p:stCondLst>
                              <p:cond delay="0"/>
                            </p:stCondLst>
                            <p:childTnLst>
                              <p:par>
                                <p:cTn id="1253" presetID="1" presetClass="entr" presetSubtype="0" fill="hold" nodeType="clickEffect">
                                  <p:stCondLst>
                                    <p:cond delay="0"/>
                                  </p:stCondLst>
                                  <p:childTnLst>
                                    <p:set>
                                      <p:cBhvr>
                                        <p:cTn id="1254" dur="1" fill="hold">
                                          <p:stCondLst>
                                            <p:cond delay="0"/>
                                          </p:stCondLst>
                                        </p:cTn>
                                        <p:tgtEl>
                                          <p:spTgt spid="121">
                                            <p:txEl>
                                              <p:pRg st="6" end="6"/>
                                            </p:txEl>
                                          </p:spTgt>
                                        </p:tgtEl>
                                        <p:attrNameLst>
                                          <p:attrName>style.visibility</p:attrName>
                                        </p:attrNameLst>
                                      </p:cBhvr>
                                      <p:to>
                                        <p:strVal val="visible"/>
                                      </p:to>
                                    </p:set>
                                  </p:childTnLst>
                                </p:cTn>
                              </p:par>
                            </p:childTnLst>
                          </p:cTn>
                        </p:par>
                      </p:childTnLst>
                    </p:cTn>
                  </p:par>
                  <p:par>
                    <p:cTn id="1255" fill="hold">
                      <p:stCondLst>
                        <p:cond delay="indefinite"/>
                      </p:stCondLst>
                      <p:childTnLst>
                        <p:par>
                          <p:cTn id="1256" fill="hold">
                            <p:stCondLst>
                              <p:cond delay="0"/>
                            </p:stCondLst>
                            <p:childTnLst>
                              <p:par>
                                <p:cTn id="1257" presetID="1" presetClass="entr" presetSubtype="0" fill="hold" nodeType="clickEffect">
                                  <p:stCondLst>
                                    <p:cond delay="0"/>
                                  </p:stCondLst>
                                  <p:childTnLst>
                                    <p:set>
                                      <p:cBhvr>
                                        <p:cTn id="1258" dur="1" fill="hold">
                                          <p:stCondLst>
                                            <p:cond delay="0"/>
                                          </p:stCondLst>
                                        </p:cTn>
                                        <p:tgtEl>
                                          <p:spTgt spid="121">
                                            <p:txEl>
                                              <p:pRg st="7" end="7"/>
                                            </p:txEl>
                                          </p:spTgt>
                                        </p:tgtEl>
                                        <p:attrNameLst>
                                          <p:attrName>style.visibility</p:attrName>
                                        </p:attrNameLst>
                                      </p:cBhvr>
                                      <p:to>
                                        <p:strVal val="visible"/>
                                      </p:to>
                                    </p:set>
                                  </p:childTnLst>
                                </p:cTn>
                              </p:par>
                            </p:childTnLst>
                          </p:cTn>
                        </p:par>
                      </p:childTnLst>
                    </p:cTn>
                  </p:par>
                  <p:par>
                    <p:cTn id="1259" fill="hold">
                      <p:stCondLst>
                        <p:cond delay="indefinite"/>
                      </p:stCondLst>
                      <p:childTnLst>
                        <p:par>
                          <p:cTn id="1260" fill="hold">
                            <p:stCondLst>
                              <p:cond delay="0"/>
                            </p:stCondLst>
                            <p:childTnLst>
                              <p:par>
                                <p:cTn id="1261" presetID="1" presetClass="entr" presetSubtype="0" fill="hold" nodeType="clickEffect">
                                  <p:stCondLst>
                                    <p:cond delay="0"/>
                                  </p:stCondLst>
                                  <p:childTnLst>
                                    <p:set>
                                      <p:cBhvr>
                                        <p:cTn id="1262" dur="1" fill="hold">
                                          <p:stCondLst>
                                            <p:cond delay="0"/>
                                          </p:stCondLst>
                                        </p:cTn>
                                        <p:tgtEl>
                                          <p:spTgt spid="121">
                                            <p:txEl>
                                              <p:pRg st="8" end="8"/>
                                            </p:txEl>
                                          </p:spTgt>
                                        </p:tgtEl>
                                        <p:attrNameLst>
                                          <p:attrName>style.visibility</p:attrName>
                                        </p:attrNameLst>
                                      </p:cBhvr>
                                      <p:to>
                                        <p:strVal val="visible"/>
                                      </p:to>
                                    </p:set>
                                  </p:childTnLst>
                                </p:cTn>
                              </p:par>
                            </p:childTnLst>
                          </p:cTn>
                        </p:par>
                      </p:childTnLst>
                    </p:cTn>
                  </p:par>
                  <p:par>
                    <p:cTn id="1263" fill="hold">
                      <p:stCondLst>
                        <p:cond delay="indefinite"/>
                      </p:stCondLst>
                      <p:childTnLst>
                        <p:par>
                          <p:cTn id="1264" fill="hold">
                            <p:stCondLst>
                              <p:cond delay="0"/>
                            </p:stCondLst>
                            <p:childTnLst>
                              <p:par>
                                <p:cTn id="1265" presetID="1" presetClass="entr" presetSubtype="0" fill="hold" nodeType="clickEffect">
                                  <p:stCondLst>
                                    <p:cond delay="0"/>
                                  </p:stCondLst>
                                  <p:childTnLst>
                                    <p:set>
                                      <p:cBhvr>
                                        <p:cTn id="1266" dur="1" fill="hold">
                                          <p:stCondLst>
                                            <p:cond delay="0"/>
                                          </p:stCondLst>
                                        </p:cTn>
                                        <p:tgtEl>
                                          <p:spTgt spid="122">
                                            <p:txEl>
                                              <p:pRg st="0" end="0"/>
                                            </p:txEl>
                                          </p:spTgt>
                                        </p:tgtEl>
                                        <p:attrNameLst>
                                          <p:attrName>style.visibility</p:attrName>
                                        </p:attrNameLst>
                                      </p:cBhvr>
                                      <p:to>
                                        <p:strVal val="visible"/>
                                      </p:to>
                                    </p:set>
                                  </p:childTnLst>
                                </p:cTn>
                              </p:par>
                            </p:childTnLst>
                          </p:cTn>
                        </p:par>
                      </p:childTnLst>
                    </p:cTn>
                  </p:par>
                  <p:par>
                    <p:cTn id="1267" fill="hold">
                      <p:stCondLst>
                        <p:cond delay="indefinite"/>
                      </p:stCondLst>
                      <p:childTnLst>
                        <p:par>
                          <p:cTn id="1268" fill="hold">
                            <p:stCondLst>
                              <p:cond delay="0"/>
                            </p:stCondLst>
                            <p:childTnLst>
                              <p:par>
                                <p:cTn id="1269" presetID="1" presetClass="entr" presetSubtype="0" fill="hold" nodeType="clickEffect">
                                  <p:stCondLst>
                                    <p:cond delay="0"/>
                                  </p:stCondLst>
                                  <p:childTnLst>
                                    <p:set>
                                      <p:cBhvr>
                                        <p:cTn id="1270" dur="1" fill="hold">
                                          <p:stCondLst>
                                            <p:cond delay="0"/>
                                          </p:stCondLst>
                                        </p:cTn>
                                        <p:tgtEl>
                                          <p:spTgt spid="122">
                                            <p:txEl>
                                              <p:pRg st="1" end="1"/>
                                            </p:txEl>
                                          </p:spTgt>
                                        </p:tgtEl>
                                        <p:attrNameLst>
                                          <p:attrName>style.visibility</p:attrName>
                                        </p:attrNameLst>
                                      </p:cBhvr>
                                      <p:to>
                                        <p:strVal val="visible"/>
                                      </p:to>
                                    </p:set>
                                  </p:childTnLst>
                                </p:cTn>
                              </p:par>
                            </p:childTnLst>
                          </p:cTn>
                        </p:par>
                      </p:childTnLst>
                    </p:cTn>
                  </p:par>
                  <p:par>
                    <p:cTn id="1271" fill="hold">
                      <p:stCondLst>
                        <p:cond delay="indefinite"/>
                      </p:stCondLst>
                      <p:childTnLst>
                        <p:par>
                          <p:cTn id="1272" fill="hold">
                            <p:stCondLst>
                              <p:cond delay="0"/>
                            </p:stCondLst>
                            <p:childTnLst>
                              <p:par>
                                <p:cTn id="1273" presetID="1" presetClass="entr" presetSubtype="0" fill="hold" nodeType="clickEffect">
                                  <p:stCondLst>
                                    <p:cond delay="0"/>
                                  </p:stCondLst>
                                  <p:childTnLst>
                                    <p:set>
                                      <p:cBhvr>
                                        <p:cTn id="1274" dur="1" fill="hold">
                                          <p:stCondLst>
                                            <p:cond delay="0"/>
                                          </p:stCondLst>
                                        </p:cTn>
                                        <p:tgtEl>
                                          <p:spTgt spid="122">
                                            <p:txEl>
                                              <p:pRg st="2" end="2"/>
                                            </p:txEl>
                                          </p:spTgt>
                                        </p:tgtEl>
                                        <p:attrNameLst>
                                          <p:attrName>style.visibility</p:attrName>
                                        </p:attrNameLst>
                                      </p:cBhvr>
                                      <p:to>
                                        <p:strVal val="visible"/>
                                      </p:to>
                                    </p:set>
                                  </p:childTnLst>
                                </p:cTn>
                              </p:par>
                            </p:childTnLst>
                          </p:cTn>
                        </p:par>
                      </p:childTnLst>
                    </p:cTn>
                  </p:par>
                  <p:par>
                    <p:cTn id="1275" fill="hold">
                      <p:stCondLst>
                        <p:cond delay="indefinite"/>
                      </p:stCondLst>
                      <p:childTnLst>
                        <p:par>
                          <p:cTn id="1276" fill="hold">
                            <p:stCondLst>
                              <p:cond delay="0"/>
                            </p:stCondLst>
                            <p:childTnLst>
                              <p:par>
                                <p:cTn id="1277" presetID="1" presetClass="entr" presetSubtype="0" fill="hold" nodeType="clickEffect">
                                  <p:stCondLst>
                                    <p:cond delay="0"/>
                                  </p:stCondLst>
                                  <p:childTnLst>
                                    <p:set>
                                      <p:cBhvr>
                                        <p:cTn id="1278" dur="1" fill="hold">
                                          <p:stCondLst>
                                            <p:cond delay="0"/>
                                          </p:stCondLst>
                                        </p:cTn>
                                        <p:tgtEl>
                                          <p:spTgt spid="122">
                                            <p:txEl>
                                              <p:pRg st="3" end="3"/>
                                            </p:txEl>
                                          </p:spTgt>
                                        </p:tgtEl>
                                        <p:attrNameLst>
                                          <p:attrName>style.visibility</p:attrName>
                                        </p:attrNameLst>
                                      </p:cBhvr>
                                      <p:to>
                                        <p:strVal val="visible"/>
                                      </p:to>
                                    </p:set>
                                  </p:childTnLst>
                                </p:cTn>
                              </p:par>
                            </p:childTnLst>
                          </p:cTn>
                        </p:par>
                      </p:childTnLst>
                    </p:cTn>
                  </p:par>
                  <p:par>
                    <p:cTn id="1279" fill="hold">
                      <p:stCondLst>
                        <p:cond delay="indefinite"/>
                      </p:stCondLst>
                      <p:childTnLst>
                        <p:par>
                          <p:cTn id="1280" fill="hold">
                            <p:stCondLst>
                              <p:cond delay="0"/>
                            </p:stCondLst>
                            <p:childTnLst>
                              <p:par>
                                <p:cTn id="1281" presetID="1" presetClass="entr" presetSubtype="0" fill="hold" nodeType="clickEffect">
                                  <p:stCondLst>
                                    <p:cond delay="0"/>
                                  </p:stCondLst>
                                  <p:childTnLst>
                                    <p:set>
                                      <p:cBhvr>
                                        <p:cTn id="1282" dur="1" fill="hold">
                                          <p:stCondLst>
                                            <p:cond delay="0"/>
                                          </p:stCondLst>
                                        </p:cTn>
                                        <p:tgtEl>
                                          <p:spTgt spid="122">
                                            <p:txEl>
                                              <p:pRg st="4" end="4"/>
                                            </p:txEl>
                                          </p:spTgt>
                                        </p:tgtEl>
                                        <p:attrNameLst>
                                          <p:attrName>style.visibility</p:attrName>
                                        </p:attrNameLst>
                                      </p:cBhvr>
                                      <p:to>
                                        <p:strVal val="visible"/>
                                      </p:to>
                                    </p:set>
                                  </p:childTnLst>
                                </p:cTn>
                              </p:par>
                            </p:childTnLst>
                          </p:cTn>
                        </p:par>
                      </p:childTnLst>
                    </p:cTn>
                  </p:par>
                  <p:par>
                    <p:cTn id="1283" fill="hold">
                      <p:stCondLst>
                        <p:cond delay="indefinite"/>
                      </p:stCondLst>
                      <p:childTnLst>
                        <p:par>
                          <p:cTn id="1284" fill="hold">
                            <p:stCondLst>
                              <p:cond delay="0"/>
                            </p:stCondLst>
                            <p:childTnLst>
                              <p:par>
                                <p:cTn id="1285" presetID="1" presetClass="entr" presetSubtype="0" fill="hold" nodeType="clickEffect">
                                  <p:stCondLst>
                                    <p:cond delay="0"/>
                                  </p:stCondLst>
                                  <p:childTnLst>
                                    <p:set>
                                      <p:cBhvr>
                                        <p:cTn id="1286" dur="1" fill="hold">
                                          <p:stCondLst>
                                            <p:cond delay="0"/>
                                          </p:stCondLst>
                                        </p:cTn>
                                        <p:tgtEl>
                                          <p:spTgt spid="122">
                                            <p:txEl>
                                              <p:pRg st="5" end="5"/>
                                            </p:txEl>
                                          </p:spTgt>
                                        </p:tgtEl>
                                        <p:attrNameLst>
                                          <p:attrName>style.visibility</p:attrName>
                                        </p:attrNameLst>
                                      </p:cBhvr>
                                      <p:to>
                                        <p:strVal val="visible"/>
                                      </p:to>
                                    </p:set>
                                  </p:childTnLst>
                                </p:cTn>
                              </p:par>
                            </p:childTnLst>
                          </p:cTn>
                        </p:par>
                      </p:childTnLst>
                    </p:cTn>
                  </p:par>
                  <p:par>
                    <p:cTn id="1287" fill="hold">
                      <p:stCondLst>
                        <p:cond delay="indefinite"/>
                      </p:stCondLst>
                      <p:childTnLst>
                        <p:par>
                          <p:cTn id="1288" fill="hold">
                            <p:stCondLst>
                              <p:cond delay="0"/>
                            </p:stCondLst>
                            <p:childTnLst>
                              <p:par>
                                <p:cTn id="1289" presetID="1" presetClass="entr" presetSubtype="0" fill="hold" nodeType="clickEffect">
                                  <p:stCondLst>
                                    <p:cond delay="0"/>
                                  </p:stCondLst>
                                  <p:childTnLst>
                                    <p:set>
                                      <p:cBhvr>
                                        <p:cTn id="1290" dur="1" fill="hold">
                                          <p:stCondLst>
                                            <p:cond delay="0"/>
                                          </p:stCondLst>
                                        </p:cTn>
                                        <p:tgtEl>
                                          <p:spTgt spid="122">
                                            <p:txEl>
                                              <p:pRg st="6" end="6"/>
                                            </p:txEl>
                                          </p:spTgt>
                                        </p:tgtEl>
                                        <p:attrNameLst>
                                          <p:attrName>style.visibility</p:attrName>
                                        </p:attrNameLst>
                                      </p:cBhvr>
                                      <p:to>
                                        <p:strVal val="visible"/>
                                      </p:to>
                                    </p:set>
                                  </p:childTnLst>
                                </p:cTn>
                              </p:par>
                            </p:childTnLst>
                          </p:cTn>
                        </p:par>
                      </p:childTnLst>
                    </p:cTn>
                  </p:par>
                  <p:par>
                    <p:cTn id="1291" fill="hold">
                      <p:stCondLst>
                        <p:cond delay="indefinite"/>
                      </p:stCondLst>
                      <p:childTnLst>
                        <p:par>
                          <p:cTn id="1292" fill="hold">
                            <p:stCondLst>
                              <p:cond delay="0"/>
                            </p:stCondLst>
                            <p:childTnLst>
                              <p:par>
                                <p:cTn id="1293" presetID="1" presetClass="entr" presetSubtype="0" fill="hold" nodeType="clickEffect">
                                  <p:stCondLst>
                                    <p:cond delay="0"/>
                                  </p:stCondLst>
                                  <p:childTnLst>
                                    <p:set>
                                      <p:cBhvr>
                                        <p:cTn id="1294" dur="1" fill="hold">
                                          <p:stCondLst>
                                            <p:cond delay="0"/>
                                          </p:stCondLst>
                                        </p:cTn>
                                        <p:tgtEl>
                                          <p:spTgt spid="122">
                                            <p:txEl>
                                              <p:pRg st="7" end="7"/>
                                            </p:txEl>
                                          </p:spTgt>
                                        </p:tgtEl>
                                        <p:attrNameLst>
                                          <p:attrName>style.visibility</p:attrName>
                                        </p:attrNameLst>
                                      </p:cBhvr>
                                      <p:to>
                                        <p:strVal val="visible"/>
                                      </p:to>
                                    </p:set>
                                  </p:childTnLst>
                                </p:cTn>
                              </p:par>
                            </p:childTnLst>
                          </p:cTn>
                        </p:par>
                      </p:childTnLst>
                    </p:cTn>
                  </p:par>
                  <p:par>
                    <p:cTn id="1295" fill="hold">
                      <p:stCondLst>
                        <p:cond delay="indefinite"/>
                      </p:stCondLst>
                      <p:childTnLst>
                        <p:par>
                          <p:cTn id="1296" fill="hold">
                            <p:stCondLst>
                              <p:cond delay="0"/>
                            </p:stCondLst>
                            <p:childTnLst>
                              <p:par>
                                <p:cTn id="1297" presetID="1" presetClass="entr" presetSubtype="0" fill="hold" nodeType="clickEffect">
                                  <p:stCondLst>
                                    <p:cond delay="0"/>
                                  </p:stCondLst>
                                  <p:childTnLst>
                                    <p:set>
                                      <p:cBhvr>
                                        <p:cTn id="1298" dur="1" fill="hold">
                                          <p:stCondLst>
                                            <p:cond delay="0"/>
                                          </p:stCondLst>
                                        </p:cTn>
                                        <p:tgtEl>
                                          <p:spTgt spid="122">
                                            <p:txEl>
                                              <p:pRg st="8" end="8"/>
                                            </p:txEl>
                                          </p:spTgt>
                                        </p:tgtEl>
                                        <p:attrNameLst>
                                          <p:attrName>style.visibility</p:attrName>
                                        </p:attrNameLst>
                                      </p:cBhvr>
                                      <p:to>
                                        <p:strVal val="visible"/>
                                      </p:to>
                                    </p:set>
                                  </p:childTnLst>
                                </p:cTn>
                              </p:par>
                            </p:childTnLst>
                          </p:cTn>
                        </p:par>
                      </p:childTnLst>
                    </p:cTn>
                  </p:par>
                  <p:par>
                    <p:cTn id="1299" fill="hold">
                      <p:stCondLst>
                        <p:cond delay="indefinite"/>
                      </p:stCondLst>
                      <p:childTnLst>
                        <p:par>
                          <p:cTn id="1300" fill="hold">
                            <p:stCondLst>
                              <p:cond delay="0"/>
                            </p:stCondLst>
                            <p:childTnLst>
                              <p:par>
                                <p:cTn id="1301" presetID="1" presetClass="entr" presetSubtype="0" fill="hold" nodeType="clickEffect">
                                  <p:stCondLst>
                                    <p:cond delay="0"/>
                                  </p:stCondLst>
                                  <p:childTnLst>
                                    <p:set>
                                      <p:cBhvr>
                                        <p:cTn id="1302"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1303" fill="hold">
                      <p:stCondLst>
                        <p:cond delay="indefinite"/>
                      </p:stCondLst>
                      <p:childTnLst>
                        <p:par>
                          <p:cTn id="1304" fill="hold">
                            <p:stCondLst>
                              <p:cond delay="0"/>
                            </p:stCondLst>
                            <p:childTnLst>
                              <p:par>
                                <p:cTn id="1305" presetID="1" presetClass="entr" presetSubtype="0" fill="hold" nodeType="clickEffect">
                                  <p:stCondLst>
                                    <p:cond delay="0"/>
                                  </p:stCondLst>
                                  <p:childTnLst>
                                    <p:set>
                                      <p:cBhvr>
                                        <p:cTn id="1306" dur="1" fill="hold">
                                          <p:stCondLst>
                                            <p:cond delay="0"/>
                                          </p:stCondLst>
                                        </p:cTn>
                                        <p:tgtEl>
                                          <p:spTgt spid="123">
                                            <p:txEl>
                                              <p:pRg st="1" end="1"/>
                                            </p:txEl>
                                          </p:spTgt>
                                        </p:tgtEl>
                                        <p:attrNameLst>
                                          <p:attrName>style.visibility</p:attrName>
                                        </p:attrNameLst>
                                      </p:cBhvr>
                                      <p:to>
                                        <p:strVal val="visible"/>
                                      </p:to>
                                    </p:set>
                                  </p:childTnLst>
                                </p:cTn>
                              </p:par>
                            </p:childTnLst>
                          </p:cTn>
                        </p:par>
                      </p:childTnLst>
                    </p:cTn>
                  </p:par>
                  <p:par>
                    <p:cTn id="1307" fill="hold">
                      <p:stCondLst>
                        <p:cond delay="indefinite"/>
                      </p:stCondLst>
                      <p:childTnLst>
                        <p:par>
                          <p:cTn id="1308" fill="hold">
                            <p:stCondLst>
                              <p:cond delay="0"/>
                            </p:stCondLst>
                            <p:childTnLst>
                              <p:par>
                                <p:cTn id="1309" presetID="1" presetClass="entr" presetSubtype="0" fill="hold" nodeType="clickEffect">
                                  <p:stCondLst>
                                    <p:cond delay="0"/>
                                  </p:stCondLst>
                                  <p:childTnLst>
                                    <p:set>
                                      <p:cBhvr>
                                        <p:cTn id="1310" dur="1" fill="hold">
                                          <p:stCondLst>
                                            <p:cond delay="0"/>
                                          </p:stCondLst>
                                        </p:cTn>
                                        <p:tgtEl>
                                          <p:spTgt spid="123">
                                            <p:txEl>
                                              <p:pRg st="2" end="2"/>
                                            </p:txEl>
                                          </p:spTgt>
                                        </p:tgtEl>
                                        <p:attrNameLst>
                                          <p:attrName>style.visibility</p:attrName>
                                        </p:attrNameLst>
                                      </p:cBhvr>
                                      <p:to>
                                        <p:strVal val="visible"/>
                                      </p:to>
                                    </p:set>
                                  </p:childTnLst>
                                </p:cTn>
                              </p:par>
                            </p:childTnLst>
                          </p:cTn>
                        </p:par>
                      </p:childTnLst>
                    </p:cTn>
                  </p:par>
                  <p:par>
                    <p:cTn id="1311" fill="hold">
                      <p:stCondLst>
                        <p:cond delay="indefinite"/>
                      </p:stCondLst>
                      <p:childTnLst>
                        <p:par>
                          <p:cTn id="1312" fill="hold">
                            <p:stCondLst>
                              <p:cond delay="0"/>
                            </p:stCondLst>
                            <p:childTnLst>
                              <p:par>
                                <p:cTn id="1313" presetID="1" presetClass="entr" presetSubtype="0" fill="hold" nodeType="clickEffect">
                                  <p:stCondLst>
                                    <p:cond delay="0"/>
                                  </p:stCondLst>
                                  <p:childTnLst>
                                    <p:set>
                                      <p:cBhvr>
                                        <p:cTn id="1314" dur="1" fill="hold">
                                          <p:stCondLst>
                                            <p:cond delay="0"/>
                                          </p:stCondLst>
                                        </p:cTn>
                                        <p:tgtEl>
                                          <p:spTgt spid="123">
                                            <p:txEl>
                                              <p:pRg st="3" end="3"/>
                                            </p:txEl>
                                          </p:spTgt>
                                        </p:tgtEl>
                                        <p:attrNameLst>
                                          <p:attrName>style.visibility</p:attrName>
                                        </p:attrNameLst>
                                      </p:cBhvr>
                                      <p:to>
                                        <p:strVal val="visible"/>
                                      </p:to>
                                    </p:set>
                                  </p:childTnLst>
                                </p:cTn>
                              </p:par>
                            </p:childTnLst>
                          </p:cTn>
                        </p:par>
                      </p:childTnLst>
                    </p:cTn>
                  </p:par>
                  <p:par>
                    <p:cTn id="1315" fill="hold">
                      <p:stCondLst>
                        <p:cond delay="indefinite"/>
                      </p:stCondLst>
                      <p:childTnLst>
                        <p:par>
                          <p:cTn id="1316" fill="hold">
                            <p:stCondLst>
                              <p:cond delay="0"/>
                            </p:stCondLst>
                            <p:childTnLst>
                              <p:par>
                                <p:cTn id="1317" presetID="1" presetClass="entr" presetSubtype="0" fill="hold" nodeType="clickEffect">
                                  <p:stCondLst>
                                    <p:cond delay="0"/>
                                  </p:stCondLst>
                                  <p:childTnLst>
                                    <p:set>
                                      <p:cBhvr>
                                        <p:cTn id="1318" dur="1" fill="hold">
                                          <p:stCondLst>
                                            <p:cond delay="0"/>
                                          </p:stCondLst>
                                        </p:cTn>
                                        <p:tgtEl>
                                          <p:spTgt spid="123">
                                            <p:txEl>
                                              <p:pRg st="4" end="4"/>
                                            </p:txEl>
                                          </p:spTgt>
                                        </p:tgtEl>
                                        <p:attrNameLst>
                                          <p:attrName>style.visibility</p:attrName>
                                        </p:attrNameLst>
                                      </p:cBhvr>
                                      <p:to>
                                        <p:strVal val="visible"/>
                                      </p:to>
                                    </p:set>
                                  </p:childTnLst>
                                </p:cTn>
                              </p:par>
                            </p:childTnLst>
                          </p:cTn>
                        </p:par>
                      </p:childTnLst>
                    </p:cTn>
                  </p:par>
                  <p:par>
                    <p:cTn id="1319" fill="hold">
                      <p:stCondLst>
                        <p:cond delay="indefinite"/>
                      </p:stCondLst>
                      <p:childTnLst>
                        <p:par>
                          <p:cTn id="1320" fill="hold">
                            <p:stCondLst>
                              <p:cond delay="0"/>
                            </p:stCondLst>
                            <p:childTnLst>
                              <p:par>
                                <p:cTn id="1321" presetID="1" presetClass="entr" presetSubtype="0" fill="hold" nodeType="clickEffect">
                                  <p:stCondLst>
                                    <p:cond delay="0"/>
                                  </p:stCondLst>
                                  <p:childTnLst>
                                    <p:set>
                                      <p:cBhvr>
                                        <p:cTn id="1322" dur="1" fill="hold">
                                          <p:stCondLst>
                                            <p:cond delay="0"/>
                                          </p:stCondLst>
                                        </p:cTn>
                                        <p:tgtEl>
                                          <p:spTgt spid="123">
                                            <p:txEl>
                                              <p:pRg st="5" end="5"/>
                                            </p:txEl>
                                          </p:spTgt>
                                        </p:tgtEl>
                                        <p:attrNameLst>
                                          <p:attrName>style.visibility</p:attrName>
                                        </p:attrNameLst>
                                      </p:cBhvr>
                                      <p:to>
                                        <p:strVal val="visible"/>
                                      </p:to>
                                    </p:set>
                                  </p:childTnLst>
                                </p:cTn>
                              </p:par>
                            </p:childTnLst>
                          </p:cTn>
                        </p:par>
                      </p:childTnLst>
                    </p:cTn>
                  </p:par>
                  <p:par>
                    <p:cTn id="1323" fill="hold">
                      <p:stCondLst>
                        <p:cond delay="indefinite"/>
                      </p:stCondLst>
                      <p:childTnLst>
                        <p:par>
                          <p:cTn id="1324" fill="hold">
                            <p:stCondLst>
                              <p:cond delay="0"/>
                            </p:stCondLst>
                            <p:childTnLst>
                              <p:par>
                                <p:cTn id="1325" presetID="1" presetClass="entr" presetSubtype="0" fill="hold" nodeType="clickEffect">
                                  <p:stCondLst>
                                    <p:cond delay="0"/>
                                  </p:stCondLst>
                                  <p:childTnLst>
                                    <p:set>
                                      <p:cBhvr>
                                        <p:cTn id="1326" dur="1" fill="hold">
                                          <p:stCondLst>
                                            <p:cond delay="0"/>
                                          </p:stCondLst>
                                        </p:cTn>
                                        <p:tgtEl>
                                          <p:spTgt spid="123">
                                            <p:txEl>
                                              <p:pRg st="6" end="6"/>
                                            </p:txEl>
                                          </p:spTgt>
                                        </p:tgtEl>
                                        <p:attrNameLst>
                                          <p:attrName>style.visibility</p:attrName>
                                        </p:attrNameLst>
                                      </p:cBhvr>
                                      <p:to>
                                        <p:strVal val="visible"/>
                                      </p:to>
                                    </p:set>
                                  </p:childTnLst>
                                </p:cTn>
                              </p:par>
                            </p:childTnLst>
                          </p:cTn>
                        </p:par>
                      </p:childTnLst>
                    </p:cTn>
                  </p:par>
                  <p:par>
                    <p:cTn id="1327" fill="hold">
                      <p:stCondLst>
                        <p:cond delay="indefinite"/>
                      </p:stCondLst>
                      <p:childTnLst>
                        <p:par>
                          <p:cTn id="1328" fill="hold">
                            <p:stCondLst>
                              <p:cond delay="0"/>
                            </p:stCondLst>
                            <p:childTnLst>
                              <p:par>
                                <p:cTn id="1329" presetID="1" presetClass="entr" presetSubtype="0" fill="hold" nodeType="clickEffect">
                                  <p:stCondLst>
                                    <p:cond delay="0"/>
                                  </p:stCondLst>
                                  <p:childTnLst>
                                    <p:set>
                                      <p:cBhvr>
                                        <p:cTn id="1330" dur="1" fill="hold">
                                          <p:stCondLst>
                                            <p:cond delay="0"/>
                                          </p:stCondLst>
                                        </p:cTn>
                                        <p:tgtEl>
                                          <p:spTgt spid="123">
                                            <p:txEl>
                                              <p:pRg st="7" end="7"/>
                                            </p:txEl>
                                          </p:spTgt>
                                        </p:tgtEl>
                                        <p:attrNameLst>
                                          <p:attrName>style.visibility</p:attrName>
                                        </p:attrNameLst>
                                      </p:cBhvr>
                                      <p:to>
                                        <p:strVal val="visible"/>
                                      </p:to>
                                    </p:set>
                                  </p:childTnLst>
                                </p:cTn>
                              </p:par>
                            </p:childTnLst>
                          </p:cTn>
                        </p:par>
                      </p:childTnLst>
                    </p:cTn>
                  </p:par>
                  <p:par>
                    <p:cTn id="1331" fill="hold">
                      <p:stCondLst>
                        <p:cond delay="indefinite"/>
                      </p:stCondLst>
                      <p:childTnLst>
                        <p:par>
                          <p:cTn id="1332" fill="hold">
                            <p:stCondLst>
                              <p:cond delay="0"/>
                            </p:stCondLst>
                            <p:childTnLst>
                              <p:par>
                                <p:cTn id="1333" presetID="1" presetClass="entr" presetSubtype="0" fill="hold" nodeType="clickEffect">
                                  <p:stCondLst>
                                    <p:cond delay="0"/>
                                  </p:stCondLst>
                                  <p:childTnLst>
                                    <p:set>
                                      <p:cBhvr>
                                        <p:cTn id="1334" dur="1" fill="hold">
                                          <p:stCondLst>
                                            <p:cond delay="0"/>
                                          </p:stCondLst>
                                        </p:cTn>
                                        <p:tgtEl>
                                          <p:spTgt spid="123">
                                            <p:txEl>
                                              <p:pRg st="8" end="8"/>
                                            </p:txEl>
                                          </p:spTgt>
                                        </p:tgtEl>
                                        <p:attrNameLst>
                                          <p:attrName>style.visibility</p:attrName>
                                        </p:attrNameLst>
                                      </p:cBhvr>
                                      <p:to>
                                        <p:strVal val="visible"/>
                                      </p:to>
                                    </p:set>
                                  </p:childTnLst>
                                </p:cTn>
                              </p:par>
                            </p:childTnLst>
                          </p:cTn>
                        </p:par>
                      </p:childTnLst>
                    </p:cTn>
                  </p:par>
                  <p:par>
                    <p:cTn id="1335" fill="hold">
                      <p:stCondLst>
                        <p:cond delay="indefinite"/>
                      </p:stCondLst>
                      <p:childTnLst>
                        <p:par>
                          <p:cTn id="1336" fill="hold">
                            <p:stCondLst>
                              <p:cond delay="0"/>
                            </p:stCondLst>
                            <p:childTnLst>
                              <p:par>
                                <p:cTn id="1337" presetID="1" presetClass="entr" presetSubtype="0" fill="hold" nodeType="clickEffect">
                                  <p:stCondLst>
                                    <p:cond delay="0"/>
                                  </p:stCondLst>
                                  <p:childTnLst>
                                    <p:set>
                                      <p:cBhvr>
                                        <p:cTn id="1338" dur="1" fill="hold">
                                          <p:stCondLst>
                                            <p:cond delay="0"/>
                                          </p:stCondLst>
                                        </p:cTn>
                                        <p:tgtEl>
                                          <p:spTgt spid="124">
                                            <p:txEl>
                                              <p:pRg st="0" end="0"/>
                                            </p:txEl>
                                          </p:spTgt>
                                        </p:tgtEl>
                                        <p:attrNameLst>
                                          <p:attrName>style.visibility</p:attrName>
                                        </p:attrNameLst>
                                      </p:cBhvr>
                                      <p:to>
                                        <p:strVal val="visible"/>
                                      </p:to>
                                    </p:set>
                                  </p:childTnLst>
                                </p:cTn>
                              </p:par>
                            </p:childTnLst>
                          </p:cTn>
                        </p:par>
                      </p:childTnLst>
                    </p:cTn>
                  </p:par>
                  <p:par>
                    <p:cTn id="1339" fill="hold">
                      <p:stCondLst>
                        <p:cond delay="indefinite"/>
                      </p:stCondLst>
                      <p:childTnLst>
                        <p:par>
                          <p:cTn id="1340" fill="hold">
                            <p:stCondLst>
                              <p:cond delay="0"/>
                            </p:stCondLst>
                            <p:childTnLst>
                              <p:par>
                                <p:cTn id="1341" presetID="1" presetClass="entr" presetSubtype="0" fill="hold" nodeType="clickEffect">
                                  <p:stCondLst>
                                    <p:cond delay="0"/>
                                  </p:stCondLst>
                                  <p:childTnLst>
                                    <p:set>
                                      <p:cBhvr>
                                        <p:cTn id="1342" dur="1" fill="hold">
                                          <p:stCondLst>
                                            <p:cond delay="0"/>
                                          </p:stCondLst>
                                        </p:cTn>
                                        <p:tgtEl>
                                          <p:spTgt spid="124">
                                            <p:txEl>
                                              <p:pRg st="1" end="1"/>
                                            </p:txEl>
                                          </p:spTgt>
                                        </p:tgtEl>
                                        <p:attrNameLst>
                                          <p:attrName>style.visibility</p:attrName>
                                        </p:attrNameLst>
                                      </p:cBhvr>
                                      <p:to>
                                        <p:strVal val="visible"/>
                                      </p:to>
                                    </p:set>
                                  </p:childTnLst>
                                </p:cTn>
                              </p:par>
                            </p:childTnLst>
                          </p:cTn>
                        </p:par>
                      </p:childTnLst>
                    </p:cTn>
                  </p:par>
                  <p:par>
                    <p:cTn id="1343" fill="hold">
                      <p:stCondLst>
                        <p:cond delay="indefinite"/>
                      </p:stCondLst>
                      <p:childTnLst>
                        <p:par>
                          <p:cTn id="1344" fill="hold">
                            <p:stCondLst>
                              <p:cond delay="0"/>
                            </p:stCondLst>
                            <p:childTnLst>
                              <p:par>
                                <p:cTn id="1345" presetID="1" presetClass="entr" presetSubtype="0" fill="hold" nodeType="clickEffect">
                                  <p:stCondLst>
                                    <p:cond delay="0"/>
                                  </p:stCondLst>
                                  <p:childTnLst>
                                    <p:set>
                                      <p:cBhvr>
                                        <p:cTn id="1346" dur="1" fill="hold">
                                          <p:stCondLst>
                                            <p:cond delay="0"/>
                                          </p:stCondLst>
                                        </p:cTn>
                                        <p:tgtEl>
                                          <p:spTgt spid="124">
                                            <p:txEl>
                                              <p:pRg st="2" end="2"/>
                                            </p:txEl>
                                          </p:spTgt>
                                        </p:tgtEl>
                                        <p:attrNameLst>
                                          <p:attrName>style.visibility</p:attrName>
                                        </p:attrNameLst>
                                      </p:cBhvr>
                                      <p:to>
                                        <p:strVal val="visible"/>
                                      </p:to>
                                    </p:set>
                                  </p:childTnLst>
                                </p:cTn>
                              </p:par>
                            </p:childTnLst>
                          </p:cTn>
                        </p:par>
                      </p:childTnLst>
                    </p:cTn>
                  </p:par>
                  <p:par>
                    <p:cTn id="1347" fill="hold">
                      <p:stCondLst>
                        <p:cond delay="indefinite"/>
                      </p:stCondLst>
                      <p:childTnLst>
                        <p:par>
                          <p:cTn id="1348" fill="hold">
                            <p:stCondLst>
                              <p:cond delay="0"/>
                            </p:stCondLst>
                            <p:childTnLst>
                              <p:par>
                                <p:cTn id="1349" presetID="1" presetClass="entr" presetSubtype="0" fill="hold" nodeType="clickEffect">
                                  <p:stCondLst>
                                    <p:cond delay="0"/>
                                  </p:stCondLst>
                                  <p:childTnLst>
                                    <p:set>
                                      <p:cBhvr>
                                        <p:cTn id="1350" dur="1" fill="hold">
                                          <p:stCondLst>
                                            <p:cond delay="0"/>
                                          </p:stCondLst>
                                        </p:cTn>
                                        <p:tgtEl>
                                          <p:spTgt spid="124">
                                            <p:txEl>
                                              <p:pRg st="3" end="3"/>
                                            </p:txEl>
                                          </p:spTgt>
                                        </p:tgtEl>
                                        <p:attrNameLst>
                                          <p:attrName>style.visibility</p:attrName>
                                        </p:attrNameLst>
                                      </p:cBhvr>
                                      <p:to>
                                        <p:strVal val="visible"/>
                                      </p:to>
                                    </p:set>
                                  </p:childTnLst>
                                </p:cTn>
                              </p:par>
                            </p:childTnLst>
                          </p:cTn>
                        </p:par>
                      </p:childTnLst>
                    </p:cTn>
                  </p:par>
                  <p:par>
                    <p:cTn id="1351" fill="hold">
                      <p:stCondLst>
                        <p:cond delay="indefinite"/>
                      </p:stCondLst>
                      <p:childTnLst>
                        <p:par>
                          <p:cTn id="1352" fill="hold">
                            <p:stCondLst>
                              <p:cond delay="0"/>
                            </p:stCondLst>
                            <p:childTnLst>
                              <p:par>
                                <p:cTn id="1353" presetID="1" presetClass="entr" presetSubtype="0" fill="hold" nodeType="clickEffect">
                                  <p:stCondLst>
                                    <p:cond delay="0"/>
                                  </p:stCondLst>
                                  <p:childTnLst>
                                    <p:set>
                                      <p:cBhvr>
                                        <p:cTn id="1354" dur="1" fill="hold">
                                          <p:stCondLst>
                                            <p:cond delay="0"/>
                                          </p:stCondLst>
                                        </p:cTn>
                                        <p:tgtEl>
                                          <p:spTgt spid="124">
                                            <p:txEl>
                                              <p:pRg st="4" end="4"/>
                                            </p:txEl>
                                          </p:spTgt>
                                        </p:tgtEl>
                                        <p:attrNameLst>
                                          <p:attrName>style.visibility</p:attrName>
                                        </p:attrNameLst>
                                      </p:cBhvr>
                                      <p:to>
                                        <p:strVal val="visible"/>
                                      </p:to>
                                    </p:set>
                                  </p:childTnLst>
                                </p:cTn>
                              </p:par>
                            </p:childTnLst>
                          </p:cTn>
                        </p:par>
                      </p:childTnLst>
                    </p:cTn>
                  </p:par>
                  <p:par>
                    <p:cTn id="1355" fill="hold">
                      <p:stCondLst>
                        <p:cond delay="indefinite"/>
                      </p:stCondLst>
                      <p:childTnLst>
                        <p:par>
                          <p:cTn id="1356" fill="hold">
                            <p:stCondLst>
                              <p:cond delay="0"/>
                            </p:stCondLst>
                            <p:childTnLst>
                              <p:par>
                                <p:cTn id="1357" presetID="1" presetClass="entr" presetSubtype="0" fill="hold" nodeType="clickEffect">
                                  <p:stCondLst>
                                    <p:cond delay="0"/>
                                  </p:stCondLst>
                                  <p:childTnLst>
                                    <p:set>
                                      <p:cBhvr>
                                        <p:cTn id="1358" dur="1" fill="hold">
                                          <p:stCondLst>
                                            <p:cond delay="0"/>
                                          </p:stCondLst>
                                        </p:cTn>
                                        <p:tgtEl>
                                          <p:spTgt spid="124">
                                            <p:txEl>
                                              <p:pRg st="5" end="5"/>
                                            </p:txEl>
                                          </p:spTgt>
                                        </p:tgtEl>
                                        <p:attrNameLst>
                                          <p:attrName>style.visibility</p:attrName>
                                        </p:attrNameLst>
                                      </p:cBhvr>
                                      <p:to>
                                        <p:strVal val="visible"/>
                                      </p:to>
                                    </p:set>
                                  </p:childTnLst>
                                </p:cTn>
                              </p:par>
                            </p:childTnLst>
                          </p:cTn>
                        </p:par>
                      </p:childTnLst>
                    </p:cTn>
                  </p:par>
                  <p:par>
                    <p:cTn id="1359" fill="hold">
                      <p:stCondLst>
                        <p:cond delay="indefinite"/>
                      </p:stCondLst>
                      <p:childTnLst>
                        <p:par>
                          <p:cTn id="1360" fill="hold">
                            <p:stCondLst>
                              <p:cond delay="0"/>
                            </p:stCondLst>
                            <p:childTnLst>
                              <p:par>
                                <p:cTn id="1361" presetID="1" presetClass="entr" presetSubtype="0" fill="hold" nodeType="clickEffect">
                                  <p:stCondLst>
                                    <p:cond delay="0"/>
                                  </p:stCondLst>
                                  <p:childTnLst>
                                    <p:set>
                                      <p:cBhvr>
                                        <p:cTn id="1362" dur="1" fill="hold">
                                          <p:stCondLst>
                                            <p:cond delay="0"/>
                                          </p:stCondLst>
                                        </p:cTn>
                                        <p:tgtEl>
                                          <p:spTgt spid="124">
                                            <p:txEl>
                                              <p:pRg st="6" end="6"/>
                                            </p:txEl>
                                          </p:spTgt>
                                        </p:tgtEl>
                                        <p:attrNameLst>
                                          <p:attrName>style.visibility</p:attrName>
                                        </p:attrNameLst>
                                      </p:cBhvr>
                                      <p:to>
                                        <p:strVal val="visible"/>
                                      </p:to>
                                    </p:set>
                                  </p:childTnLst>
                                </p:cTn>
                              </p:par>
                            </p:childTnLst>
                          </p:cTn>
                        </p:par>
                      </p:childTnLst>
                    </p:cTn>
                  </p:par>
                  <p:par>
                    <p:cTn id="1363" fill="hold">
                      <p:stCondLst>
                        <p:cond delay="indefinite"/>
                      </p:stCondLst>
                      <p:childTnLst>
                        <p:par>
                          <p:cTn id="1364" fill="hold">
                            <p:stCondLst>
                              <p:cond delay="0"/>
                            </p:stCondLst>
                            <p:childTnLst>
                              <p:par>
                                <p:cTn id="1365" presetID="1" presetClass="entr" presetSubtype="0" fill="hold" nodeType="clickEffect">
                                  <p:stCondLst>
                                    <p:cond delay="0"/>
                                  </p:stCondLst>
                                  <p:childTnLst>
                                    <p:set>
                                      <p:cBhvr>
                                        <p:cTn id="1366" dur="1" fill="hold">
                                          <p:stCondLst>
                                            <p:cond delay="0"/>
                                          </p:stCondLst>
                                        </p:cTn>
                                        <p:tgtEl>
                                          <p:spTgt spid="124">
                                            <p:txEl>
                                              <p:pRg st="7" end="7"/>
                                            </p:txEl>
                                          </p:spTgt>
                                        </p:tgtEl>
                                        <p:attrNameLst>
                                          <p:attrName>style.visibility</p:attrName>
                                        </p:attrNameLst>
                                      </p:cBhvr>
                                      <p:to>
                                        <p:strVal val="visible"/>
                                      </p:to>
                                    </p:set>
                                  </p:childTnLst>
                                </p:cTn>
                              </p:par>
                            </p:childTnLst>
                          </p:cTn>
                        </p:par>
                      </p:childTnLst>
                    </p:cTn>
                  </p:par>
                  <p:par>
                    <p:cTn id="1367" fill="hold">
                      <p:stCondLst>
                        <p:cond delay="indefinite"/>
                      </p:stCondLst>
                      <p:childTnLst>
                        <p:par>
                          <p:cTn id="1368" fill="hold">
                            <p:stCondLst>
                              <p:cond delay="0"/>
                            </p:stCondLst>
                            <p:childTnLst>
                              <p:par>
                                <p:cTn id="1369" presetID="1" presetClass="entr" presetSubtype="0" fill="hold" nodeType="clickEffect">
                                  <p:stCondLst>
                                    <p:cond delay="0"/>
                                  </p:stCondLst>
                                  <p:childTnLst>
                                    <p:set>
                                      <p:cBhvr>
                                        <p:cTn id="1370" dur="1" fill="hold">
                                          <p:stCondLst>
                                            <p:cond delay="0"/>
                                          </p:stCondLst>
                                        </p:cTn>
                                        <p:tgtEl>
                                          <p:spTgt spid="124">
                                            <p:txEl>
                                              <p:pRg st="8" end="8"/>
                                            </p:txEl>
                                          </p:spTgt>
                                        </p:tgtEl>
                                        <p:attrNameLst>
                                          <p:attrName>style.visibility</p:attrName>
                                        </p:attrNameLst>
                                      </p:cBhvr>
                                      <p:to>
                                        <p:strVal val="visible"/>
                                      </p:to>
                                    </p:set>
                                  </p:childTnLst>
                                </p:cTn>
                              </p:par>
                            </p:childTnLst>
                          </p:cTn>
                        </p:par>
                      </p:childTnLst>
                    </p:cTn>
                  </p:par>
                  <p:par>
                    <p:cTn id="1371" fill="hold">
                      <p:stCondLst>
                        <p:cond delay="indefinite"/>
                      </p:stCondLst>
                      <p:childTnLst>
                        <p:par>
                          <p:cTn id="1372" fill="hold">
                            <p:stCondLst>
                              <p:cond delay="0"/>
                            </p:stCondLst>
                            <p:childTnLst>
                              <p:par>
                                <p:cTn id="1373" presetID="1" presetClass="entr" presetSubtype="0" fill="hold" nodeType="clickEffect">
                                  <p:stCondLst>
                                    <p:cond delay="0"/>
                                  </p:stCondLst>
                                  <p:childTnLst>
                                    <p:set>
                                      <p:cBhvr>
                                        <p:cTn id="1374"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1375" fill="hold">
                      <p:stCondLst>
                        <p:cond delay="indefinite"/>
                      </p:stCondLst>
                      <p:childTnLst>
                        <p:par>
                          <p:cTn id="1376" fill="hold">
                            <p:stCondLst>
                              <p:cond delay="0"/>
                            </p:stCondLst>
                            <p:childTnLst>
                              <p:par>
                                <p:cTn id="1377" presetID="1" presetClass="entr" presetSubtype="0" fill="hold" nodeType="clickEffect">
                                  <p:stCondLst>
                                    <p:cond delay="0"/>
                                  </p:stCondLst>
                                  <p:childTnLst>
                                    <p:set>
                                      <p:cBhvr>
                                        <p:cTn id="1378"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1379" fill="hold">
                      <p:stCondLst>
                        <p:cond delay="indefinite"/>
                      </p:stCondLst>
                      <p:childTnLst>
                        <p:par>
                          <p:cTn id="1380" fill="hold">
                            <p:stCondLst>
                              <p:cond delay="0"/>
                            </p:stCondLst>
                            <p:childTnLst>
                              <p:par>
                                <p:cTn id="1381" presetID="1" presetClass="entr" presetSubtype="0" fill="hold" nodeType="clickEffect">
                                  <p:stCondLst>
                                    <p:cond delay="0"/>
                                  </p:stCondLst>
                                  <p:childTnLst>
                                    <p:set>
                                      <p:cBhvr>
                                        <p:cTn id="1382"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1383" fill="hold">
                      <p:stCondLst>
                        <p:cond delay="indefinite"/>
                      </p:stCondLst>
                      <p:childTnLst>
                        <p:par>
                          <p:cTn id="1384" fill="hold">
                            <p:stCondLst>
                              <p:cond delay="0"/>
                            </p:stCondLst>
                            <p:childTnLst>
                              <p:par>
                                <p:cTn id="1385" presetID="1" presetClass="entr" presetSubtype="0" fill="hold" nodeType="clickEffect">
                                  <p:stCondLst>
                                    <p:cond delay="0"/>
                                  </p:stCondLst>
                                  <p:childTnLst>
                                    <p:set>
                                      <p:cBhvr>
                                        <p:cTn id="1386"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par>
                    <p:cTn id="1387" fill="hold">
                      <p:stCondLst>
                        <p:cond delay="indefinite"/>
                      </p:stCondLst>
                      <p:childTnLst>
                        <p:par>
                          <p:cTn id="1388" fill="hold">
                            <p:stCondLst>
                              <p:cond delay="0"/>
                            </p:stCondLst>
                            <p:childTnLst>
                              <p:par>
                                <p:cTn id="1389" presetID="1" presetClass="entr" presetSubtype="0" fill="hold" nodeType="clickEffect">
                                  <p:stCondLst>
                                    <p:cond delay="0"/>
                                  </p:stCondLst>
                                  <p:childTnLst>
                                    <p:set>
                                      <p:cBhvr>
                                        <p:cTn id="1390" dur="1" fill="hold">
                                          <p:stCondLst>
                                            <p:cond delay="0"/>
                                          </p:stCondLst>
                                        </p:cTn>
                                        <p:tgtEl>
                                          <p:spTgt spid="125">
                                            <p:txEl>
                                              <p:pRg st="4" end="4"/>
                                            </p:txEl>
                                          </p:spTgt>
                                        </p:tgtEl>
                                        <p:attrNameLst>
                                          <p:attrName>style.visibility</p:attrName>
                                        </p:attrNameLst>
                                      </p:cBhvr>
                                      <p:to>
                                        <p:strVal val="visible"/>
                                      </p:to>
                                    </p:set>
                                  </p:childTnLst>
                                </p:cTn>
                              </p:par>
                            </p:childTnLst>
                          </p:cTn>
                        </p:par>
                      </p:childTnLst>
                    </p:cTn>
                  </p:par>
                  <p:par>
                    <p:cTn id="1391" fill="hold">
                      <p:stCondLst>
                        <p:cond delay="indefinite"/>
                      </p:stCondLst>
                      <p:childTnLst>
                        <p:par>
                          <p:cTn id="1392" fill="hold">
                            <p:stCondLst>
                              <p:cond delay="0"/>
                            </p:stCondLst>
                            <p:childTnLst>
                              <p:par>
                                <p:cTn id="1393" presetID="1" presetClass="entr" presetSubtype="0" fill="hold" nodeType="clickEffect">
                                  <p:stCondLst>
                                    <p:cond delay="0"/>
                                  </p:stCondLst>
                                  <p:childTnLst>
                                    <p:set>
                                      <p:cBhvr>
                                        <p:cTn id="1394" dur="1" fill="hold">
                                          <p:stCondLst>
                                            <p:cond delay="0"/>
                                          </p:stCondLst>
                                        </p:cTn>
                                        <p:tgtEl>
                                          <p:spTgt spid="125">
                                            <p:txEl>
                                              <p:pRg st="5" end="5"/>
                                            </p:txEl>
                                          </p:spTgt>
                                        </p:tgtEl>
                                        <p:attrNameLst>
                                          <p:attrName>style.visibility</p:attrName>
                                        </p:attrNameLst>
                                      </p:cBhvr>
                                      <p:to>
                                        <p:strVal val="visible"/>
                                      </p:to>
                                    </p:set>
                                  </p:childTnLst>
                                </p:cTn>
                              </p:par>
                            </p:childTnLst>
                          </p:cTn>
                        </p:par>
                      </p:childTnLst>
                    </p:cTn>
                  </p:par>
                  <p:par>
                    <p:cTn id="1395" fill="hold">
                      <p:stCondLst>
                        <p:cond delay="indefinite"/>
                      </p:stCondLst>
                      <p:childTnLst>
                        <p:par>
                          <p:cTn id="1396" fill="hold">
                            <p:stCondLst>
                              <p:cond delay="0"/>
                            </p:stCondLst>
                            <p:childTnLst>
                              <p:par>
                                <p:cTn id="1397" presetID="1" presetClass="entr" presetSubtype="0" fill="hold" nodeType="clickEffect">
                                  <p:stCondLst>
                                    <p:cond delay="0"/>
                                  </p:stCondLst>
                                  <p:childTnLst>
                                    <p:set>
                                      <p:cBhvr>
                                        <p:cTn id="1398" dur="1" fill="hold">
                                          <p:stCondLst>
                                            <p:cond delay="0"/>
                                          </p:stCondLst>
                                        </p:cTn>
                                        <p:tgtEl>
                                          <p:spTgt spid="125">
                                            <p:txEl>
                                              <p:pRg st="6" end="6"/>
                                            </p:txEl>
                                          </p:spTgt>
                                        </p:tgtEl>
                                        <p:attrNameLst>
                                          <p:attrName>style.visibility</p:attrName>
                                        </p:attrNameLst>
                                      </p:cBhvr>
                                      <p:to>
                                        <p:strVal val="visible"/>
                                      </p:to>
                                    </p:set>
                                  </p:childTnLst>
                                </p:cTn>
                              </p:par>
                            </p:childTnLst>
                          </p:cTn>
                        </p:par>
                      </p:childTnLst>
                    </p:cTn>
                  </p:par>
                  <p:par>
                    <p:cTn id="1399" fill="hold">
                      <p:stCondLst>
                        <p:cond delay="indefinite"/>
                      </p:stCondLst>
                      <p:childTnLst>
                        <p:par>
                          <p:cTn id="1400" fill="hold">
                            <p:stCondLst>
                              <p:cond delay="0"/>
                            </p:stCondLst>
                            <p:childTnLst>
                              <p:par>
                                <p:cTn id="1401" presetID="1" presetClass="entr" presetSubtype="0" fill="hold" nodeType="clickEffect">
                                  <p:stCondLst>
                                    <p:cond delay="0"/>
                                  </p:stCondLst>
                                  <p:childTnLst>
                                    <p:set>
                                      <p:cBhvr>
                                        <p:cTn id="1402" dur="1" fill="hold">
                                          <p:stCondLst>
                                            <p:cond delay="0"/>
                                          </p:stCondLst>
                                        </p:cTn>
                                        <p:tgtEl>
                                          <p:spTgt spid="125">
                                            <p:txEl>
                                              <p:pRg st="7" end="7"/>
                                            </p:txEl>
                                          </p:spTgt>
                                        </p:tgtEl>
                                        <p:attrNameLst>
                                          <p:attrName>style.visibility</p:attrName>
                                        </p:attrNameLst>
                                      </p:cBhvr>
                                      <p:to>
                                        <p:strVal val="visible"/>
                                      </p:to>
                                    </p:set>
                                  </p:childTnLst>
                                </p:cTn>
                              </p:par>
                            </p:childTnLst>
                          </p:cTn>
                        </p:par>
                      </p:childTnLst>
                    </p:cTn>
                  </p:par>
                  <p:par>
                    <p:cTn id="1403" fill="hold">
                      <p:stCondLst>
                        <p:cond delay="indefinite"/>
                      </p:stCondLst>
                      <p:childTnLst>
                        <p:par>
                          <p:cTn id="1404" fill="hold">
                            <p:stCondLst>
                              <p:cond delay="0"/>
                            </p:stCondLst>
                            <p:childTnLst>
                              <p:par>
                                <p:cTn id="1405" presetID="1" presetClass="entr" presetSubtype="0" fill="hold" nodeType="clickEffect">
                                  <p:stCondLst>
                                    <p:cond delay="0"/>
                                  </p:stCondLst>
                                  <p:childTnLst>
                                    <p:set>
                                      <p:cBhvr>
                                        <p:cTn id="1406" dur="1" fill="hold">
                                          <p:stCondLst>
                                            <p:cond delay="0"/>
                                          </p:stCondLst>
                                        </p:cTn>
                                        <p:tgtEl>
                                          <p:spTgt spid="125">
                                            <p:txEl>
                                              <p:pRg st="8" end="8"/>
                                            </p:txEl>
                                          </p:spTgt>
                                        </p:tgtEl>
                                        <p:attrNameLst>
                                          <p:attrName>style.visibility</p:attrName>
                                        </p:attrNameLst>
                                      </p:cBhvr>
                                      <p:to>
                                        <p:strVal val="visible"/>
                                      </p:to>
                                    </p:set>
                                  </p:childTnLst>
                                </p:cTn>
                              </p:par>
                            </p:childTnLst>
                          </p:cTn>
                        </p:par>
                      </p:childTnLst>
                    </p:cTn>
                  </p:par>
                  <p:par>
                    <p:cTn id="1407" fill="hold">
                      <p:stCondLst>
                        <p:cond delay="indefinite"/>
                      </p:stCondLst>
                      <p:childTnLst>
                        <p:par>
                          <p:cTn id="1408" fill="hold">
                            <p:stCondLst>
                              <p:cond delay="0"/>
                            </p:stCondLst>
                            <p:childTnLst>
                              <p:par>
                                <p:cTn id="1409" presetID="1" presetClass="entr" presetSubtype="0" fill="hold" nodeType="clickEffect">
                                  <p:stCondLst>
                                    <p:cond delay="0"/>
                                  </p:stCondLst>
                                  <p:childTnLst>
                                    <p:set>
                                      <p:cBhvr>
                                        <p:cTn id="1410" dur="1" fill="hold">
                                          <p:stCondLst>
                                            <p:cond delay="0"/>
                                          </p:stCondLst>
                                        </p:cTn>
                                        <p:tgtEl>
                                          <p:spTgt spid="126">
                                            <p:txEl>
                                              <p:pRg st="0" end="0"/>
                                            </p:txEl>
                                          </p:spTgt>
                                        </p:tgtEl>
                                        <p:attrNameLst>
                                          <p:attrName>style.visibility</p:attrName>
                                        </p:attrNameLst>
                                      </p:cBhvr>
                                      <p:to>
                                        <p:strVal val="visible"/>
                                      </p:to>
                                    </p:set>
                                  </p:childTnLst>
                                </p:cTn>
                              </p:par>
                            </p:childTnLst>
                          </p:cTn>
                        </p:par>
                      </p:childTnLst>
                    </p:cTn>
                  </p:par>
                  <p:par>
                    <p:cTn id="1411" fill="hold">
                      <p:stCondLst>
                        <p:cond delay="indefinite"/>
                      </p:stCondLst>
                      <p:childTnLst>
                        <p:par>
                          <p:cTn id="1412" fill="hold">
                            <p:stCondLst>
                              <p:cond delay="0"/>
                            </p:stCondLst>
                            <p:childTnLst>
                              <p:par>
                                <p:cTn id="1413" presetID="1" presetClass="entr" presetSubtype="0" fill="hold" nodeType="clickEffect">
                                  <p:stCondLst>
                                    <p:cond delay="0"/>
                                  </p:stCondLst>
                                  <p:childTnLst>
                                    <p:set>
                                      <p:cBhvr>
                                        <p:cTn id="1414" dur="1" fill="hold">
                                          <p:stCondLst>
                                            <p:cond delay="0"/>
                                          </p:stCondLst>
                                        </p:cTn>
                                        <p:tgtEl>
                                          <p:spTgt spid="126">
                                            <p:txEl>
                                              <p:pRg st="1" end="1"/>
                                            </p:txEl>
                                          </p:spTgt>
                                        </p:tgtEl>
                                        <p:attrNameLst>
                                          <p:attrName>style.visibility</p:attrName>
                                        </p:attrNameLst>
                                      </p:cBhvr>
                                      <p:to>
                                        <p:strVal val="visible"/>
                                      </p:to>
                                    </p:set>
                                  </p:childTnLst>
                                </p:cTn>
                              </p:par>
                            </p:childTnLst>
                          </p:cTn>
                        </p:par>
                      </p:childTnLst>
                    </p:cTn>
                  </p:par>
                  <p:par>
                    <p:cTn id="1415" fill="hold">
                      <p:stCondLst>
                        <p:cond delay="indefinite"/>
                      </p:stCondLst>
                      <p:childTnLst>
                        <p:par>
                          <p:cTn id="1416" fill="hold">
                            <p:stCondLst>
                              <p:cond delay="0"/>
                            </p:stCondLst>
                            <p:childTnLst>
                              <p:par>
                                <p:cTn id="1417" presetID="1" presetClass="entr" presetSubtype="0" fill="hold" nodeType="clickEffect">
                                  <p:stCondLst>
                                    <p:cond delay="0"/>
                                  </p:stCondLst>
                                  <p:childTnLst>
                                    <p:set>
                                      <p:cBhvr>
                                        <p:cTn id="1418" dur="1" fill="hold">
                                          <p:stCondLst>
                                            <p:cond delay="0"/>
                                          </p:stCondLst>
                                        </p:cTn>
                                        <p:tgtEl>
                                          <p:spTgt spid="126">
                                            <p:txEl>
                                              <p:pRg st="2" end="2"/>
                                            </p:txEl>
                                          </p:spTgt>
                                        </p:tgtEl>
                                        <p:attrNameLst>
                                          <p:attrName>style.visibility</p:attrName>
                                        </p:attrNameLst>
                                      </p:cBhvr>
                                      <p:to>
                                        <p:strVal val="visible"/>
                                      </p:to>
                                    </p:set>
                                  </p:childTnLst>
                                </p:cTn>
                              </p:par>
                            </p:childTnLst>
                          </p:cTn>
                        </p:par>
                      </p:childTnLst>
                    </p:cTn>
                  </p:par>
                  <p:par>
                    <p:cTn id="1419" fill="hold">
                      <p:stCondLst>
                        <p:cond delay="indefinite"/>
                      </p:stCondLst>
                      <p:childTnLst>
                        <p:par>
                          <p:cTn id="1420" fill="hold">
                            <p:stCondLst>
                              <p:cond delay="0"/>
                            </p:stCondLst>
                            <p:childTnLst>
                              <p:par>
                                <p:cTn id="1421" presetID="1" presetClass="entr" presetSubtype="0" fill="hold" nodeType="clickEffect">
                                  <p:stCondLst>
                                    <p:cond delay="0"/>
                                  </p:stCondLst>
                                  <p:childTnLst>
                                    <p:set>
                                      <p:cBhvr>
                                        <p:cTn id="1422" dur="1" fill="hold">
                                          <p:stCondLst>
                                            <p:cond delay="0"/>
                                          </p:stCondLst>
                                        </p:cTn>
                                        <p:tgtEl>
                                          <p:spTgt spid="126">
                                            <p:txEl>
                                              <p:pRg st="3" end="3"/>
                                            </p:txEl>
                                          </p:spTgt>
                                        </p:tgtEl>
                                        <p:attrNameLst>
                                          <p:attrName>style.visibility</p:attrName>
                                        </p:attrNameLst>
                                      </p:cBhvr>
                                      <p:to>
                                        <p:strVal val="visible"/>
                                      </p:to>
                                    </p:set>
                                  </p:childTnLst>
                                </p:cTn>
                              </p:par>
                            </p:childTnLst>
                          </p:cTn>
                        </p:par>
                      </p:childTnLst>
                    </p:cTn>
                  </p:par>
                  <p:par>
                    <p:cTn id="1423" fill="hold">
                      <p:stCondLst>
                        <p:cond delay="indefinite"/>
                      </p:stCondLst>
                      <p:childTnLst>
                        <p:par>
                          <p:cTn id="1424" fill="hold">
                            <p:stCondLst>
                              <p:cond delay="0"/>
                            </p:stCondLst>
                            <p:childTnLst>
                              <p:par>
                                <p:cTn id="1425" presetID="1" presetClass="entr" presetSubtype="0" fill="hold" nodeType="clickEffect">
                                  <p:stCondLst>
                                    <p:cond delay="0"/>
                                  </p:stCondLst>
                                  <p:childTnLst>
                                    <p:set>
                                      <p:cBhvr>
                                        <p:cTn id="1426" dur="1" fill="hold">
                                          <p:stCondLst>
                                            <p:cond delay="0"/>
                                          </p:stCondLst>
                                        </p:cTn>
                                        <p:tgtEl>
                                          <p:spTgt spid="126">
                                            <p:txEl>
                                              <p:pRg st="4" end="4"/>
                                            </p:txEl>
                                          </p:spTgt>
                                        </p:tgtEl>
                                        <p:attrNameLst>
                                          <p:attrName>style.visibility</p:attrName>
                                        </p:attrNameLst>
                                      </p:cBhvr>
                                      <p:to>
                                        <p:strVal val="visible"/>
                                      </p:to>
                                    </p:set>
                                  </p:childTnLst>
                                </p:cTn>
                              </p:par>
                            </p:childTnLst>
                          </p:cTn>
                        </p:par>
                      </p:childTnLst>
                    </p:cTn>
                  </p:par>
                  <p:par>
                    <p:cTn id="1427" fill="hold">
                      <p:stCondLst>
                        <p:cond delay="indefinite"/>
                      </p:stCondLst>
                      <p:childTnLst>
                        <p:par>
                          <p:cTn id="1428" fill="hold">
                            <p:stCondLst>
                              <p:cond delay="0"/>
                            </p:stCondLst>
                            <p:childTnLst>
                              <p:par>
                                <p:cTn id="1429" presetID="1" presetClass="entr" presetSubtype="0" fill="hold" nodeType="clickEffect">
                                  <p:stCondLst>
                                    <p:cond delay="0"/>
                                  </p:stCondLst>
                                  <p:childTnLst>
                                    <p:set>
                                      <p:cBhvr>
                                        <p:cTn id="1430" dur="1" fill="hold">
                                          <p:stCondLst>
                                            <p:cond delay="0"/>
                                          </p:stCondLst>
                                        </p:cTn>
                                        <p:tgtEl>
                                          <p:spTgt spid="126">
                                            <p:txEl>
                                              <p:pRg st="5" end="5"/>
                                            </p:txEl>
                                          </p:spTgt>
                                        </p:tgtEl>
                                        <p:attrNameLst>
                                          <p:attrName>style.visibility</p:attrName>
                                        </p:attrNameLst>
                                      </p:cBhvr>
                                      <p:to>
                                        <p:strVal val="visible"/>
                                      </p:to>
                                    </p:set>
                                  </p:childTnLst>
                                </p:cTn>
                              </p:par>
                            </p:childTnLst>
                          </p:cTn>
                        </p:par>
                      </p:childTnLst>
                    </p:cTn>
                  </p:par>
                  <p:par>
                    <p:cTn id="1431" fill="hold">
                      <p:stCondLst>
                        <p:cond delay="indefinite"/>
                      </p:stCondLst>
                      <p:childTnLst>
                        <p:par>
                          <p:cTn id="1432" fill="hold">
                            <p:stCondLst>
                              <p:cond delay="0"/>
                            </p:stCondLst>
                            <p:childTnLst>
                              <p:par>
                                <p:cTn id="1433" presetID="1" presetClass="entr" presetSubtype="0" fill="hold" nodeType="clickEffect">
                                  <p:stCondLst>
                                    <p:cond delay="0"/>
                                  </p:stCondLst>
                                  <p:childTnLst>
                                    <p:set>
                                      <p:cBhvr>
                                        <p:cTn id="1434" dur="1" fill="hold">
                                          <p:stCondLst>
                                            <p:cond delay="0"/>
                                          </p:stCondLst>
                                        </p:cTn>
                                        <p:tgtEl>
                                          <p:spTgt spid="126">
                                            <p:txEl>
                                              <p:pRg st="6" end="6"/>
                                            </p:txEl>
                                          </p:spTgt>
                                        </p:tgtEl>
                                        <p:attrNameLst>
                                          <p:attrName>style.visibility</p:attrName>
                                        </p:attrNameLst>
                                      </p:cBhvr>
                                      <p:to>
                                        <p:strVal val="visible"/>
                                      </p:to>
                                    </p:set>
                                  </p:childTnLst>
                                </p:cTn>
                              </p:par>
                            </p:childTnLst>
                          </p:cTn>
                        </p:par>
                      </p:childTnLst>
                    </p:cTn>
                  </p:par>
                  <p:par>
                    <p:cTn id="1435" fill="hold">
                      <p:stCondLst>
                        <p:cond delay="indefinite"/>
                      </p:stCondLst>
                      <p:childTnLst>
                        <p:par>
                          <p:cTn id="1436" fill="hold">
                            <p:stCondLst>
                              <p:cond delay="0"/>
                            </p:stCondLst>
                            <p:childTnLst>
                              <p:par>
                                <p:cTn id="1437" presetID="1" presetClass="entr" presetSubtype="0" fill="hold" nodeType="clickEffect">
                                  <p:stCondLst>
                                    <p:cond delay="0"/>
                                  </p:stCondLst>
                                  <p:childTnLst>
                                    <p:set>
                                      <p:cBhvr>
                                        <p:cTn id="1438" dur="1" fill="hold">
                                          <p:stCondLst>
                                            <p:cond delay="0"/>
                                          </p:stCondLst>
                                        </p:cTn>
                                        <p:tgtEl>
                                          <p:spTgt spid="126">
                                            <p:txEl>
                                              <p:pRg st="7" end="7"/>
                                            </p:txEl>
                                          </p:spTgt>
                                        </p:tgtEl>
                                        <p:attrNameLst>
                                          <p:attrName>style.visibility</p:attrName>
                                        </p:attrNameLst>
                                      </p:cBhvr>
                                      <p:to>
                                        <p:strVal val="visible"/>
                                      </p:to>
                                    </p:set>
                                  </p:childTnLst>
                                </p:cTn>
                              </p:par>
                            </p:childTnLst>
                          </p:cTn>
                        </p:par>
                      </p:childTnLst>
                    </p:cTn>
                  </p:par>
                  <p:par>
                    <p:cTn id="1439" fill="hold">
                      <p:stCondLst>
                        <p:cond delay="indefinite"/>
                      </p:stCondLst>
                      <p:childTnLst>
                        <p:par>
                          <p:cTn id="1440" fill="hold">
                            <p:stCondLst>
                              <p:cond delay="0"/>
                            </p:stCondLst>
                            <p:childTnLst>
                              <p:par>
                                <p:cTn id="1441" presetID="1" presetClass="entr" presetSubtype="0" fill="hold" nodeType="clickEffect">
                                  <p:stCondLst>
                                    <p:cond delay="0"/>
                                  </p:stCondLst>
                                  <p:childTnLst>
                                    <p:set>
                                      <p:cBhvr>
                                        <p:cTn id="1442" dur="1" fill="hold">
                                          <p:stCondLst>
                                            <p:cond delay="0"/>
                                          </p:stCondLst>
                                        </p:cTn>
                                        <p:tgtEl>
                                          <p:spTgt spid="126">
                                            <p:txEl>
                                              <p:pRg st="8" end="8"/>
                                            </p:txEl>
                                          </p:spTgt>
                                        </p:tgtEl>
                                        <p:attrNameLst>
                                          <p:attrName>style.visibility</p:attrName>
                                        </p:attrNameLst>
                                      </p:cBhvr>
                                      <p:to>
                                        <p:strVal val="visible"/>
                                      </p:to>
                                    </p:set>
                                  </p:childTnLst>
                                </p:cTn>
                              </p:par>
                            </p:childTnLst>
                          </p:cTn>
                        </p:par>
                      </p:childTnLst>
                    </p:cTn>
                  </p:par>
                  <p:par>
                    <p:cTn id="1443" fill="hold">
                      <p:stCondLst>
                        <p:cond delay="indefinite"/>
                      </p:stCondLst>
                      <p:childTnLst>
                        <p:par>
                          <p:cTn id="1444" fill="hold">
                            <p:stCondLst>
                              <p:cond delay="0"/>
                            </p:stCondLst>
                            <p:childTnLst>
                              <p:par>
                                <p:cTn id="1445" presetID="1" presetClass="entr" presetSubtype="0" fill="hold" nodeType="clickEffect">
                                  <p:stCondLst>
                                    <p:cond delay="0"/>
                                  </p:stCondLst>
                                  <p:childTnLst>
                                    <p:set>
                                      <p:cBhvr>
                                        <p:cTn id="1446"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1447" fill="hold">
                      <p:stCondLst>
                        <p:cond delay="indefinite"/>
                      </p:stCondLst>
                      <p:childTnLst>
                        <p:par>
                          <p:cTn id="1448" fill="hold">
                            <p:stCondLst>
                              <p:cond delay="0"/>
                            </p:stCondLst>
                            <p:childTnLst>
                              <p:par>
                                <p:cTn id="1449" presetID="1" presetClass="entr" presetSubtype="0" fill="hold" nodeType="clickEffect">
                                  <p:stCondLst>
                                    <p:cond delay="0"/>
                                  </p:stCondLst>
                                  <p:childTnLst>
                                    <p:set>
                                      <p:cBhvr>
                                        <p:cTn id="1450"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451" fill="hold">
                      <p:stCondLst>
                        <p:cond delay="indefinite"/>
                      </p:stCondLst>
                      <p:childTnLst>
                        <p:par>
                          <p:cTn id="1452" fill="hold">
                            <p:stCondLst>
                              <p:cond delay="0"/>
                            </p:stCondLst>
                            <p:childTnLst>
                              <p:par>
                                <p:cTn id="1453" presetID="1" presetClass="entr" presetSubtype="0" fill="hold" nodeType="clickEffect">
                                  <p:stCondLst>
                                    <p:cond delay="0"/>
                                  </p:stCondLst>
                                  <p:childTnLst>
                                    <p:set>
                                      <p:cBhvr>
                                        <p:cTn id="1454"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455" fill="hold">
                      <p:stCondLst>
                        <p:cond delay="indefinite"/>
                      </p:stCondLst>
                      <p:childTnLst>
                        <p:par>
                          <p:cTn id="1456" fill="hold">
                            <p:stCondLst>
                              <p:cond delay="0"/>
                            </p:stCondLst>
                            <p:childTnLst>
                              <p:par>
                                <p:cTn id="1457" presetID="1" presetClass="entr" presetSubtype="0" fill="hold" nodeType="clickEffect">
                                  <p:stCondLst>
                                    <p:cond delay="0"/>
                                  </p:stCondLst>
                                  <p:childTnLst>
                                    <p:set>
                                      <p:cBhvr>
                                        <p:cTn id="1458"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par>
                    <p:cTn id="1459" fill="hold">
                      <p:stCondLst>
                        <p:cond delay="indefinite"/>
                      </p:stCondLst>
                      <p:childTnLst>
                        <p:par>
                          <p:cTn id="1460" fill="hold">
                            <p:stCondLst>
                              <p:cond delay="0"/>
                            </p:stCondLst>
                            <p:childTnLst>
                              <p:par>
                                <p:cTn id="1461" presetID="1" presetClass="entr" presetSubtype="0" fill="hold" nodeType="clickEffect">
                                  <p:stCondLst>
                                    <p:cond delay="0"/>
                                  </p:stCondLst>
                                  <p:childTnLst>
                                    <p:set>
                                      <p:cBhvr>
                                        <p:cTn id="1462" dur="1" fill="hold">
                                          <p:stCondLst>
                                            <p:cond delay="0"/>
                                          </p:stCondLst>
                                        </p:cTn>
                                        <p:tgtEl>
                                          <p:spTgt spid="127">
                                            <p:txEl>
                                              <p:pRg st="4" end="4"/>
                                            </p:txEl>
                                          </p:spTgt>
                                        </p:tgtEl>
                                        <p:attrNameLst>
                                          <p:attrName>style.visibility</p:attrName>
                                        </p:attrNameLst>
                                      </p:cBhvr>
                                      <p:to>
                                        <p:strVal val="visible"/>
                                      </p:to>
                                    </p:set>
                                  </p:childTnLst>
                                </p:cTn>
                              </p:par>
                            </p:childTnLst>
                          </p:cTn>
                        </p:par>
                      </p:childTnLst>
                    </p:cTn>
                  </p:par>
                  <p:par>
                    <p:cTn id="1463" fill="hold">
                      <p:stCondLst>
                        <p:cond delay="indefinite"/>
                      </p:stCondLst>
                      <p:childTnLst>
                        <p:par>
                          <p:cTn id="1464" fill="hold">
                            <p:stCondLst>
                              <p:cond delay="0"/>
                            </p:stCondLst>
                            <p:childTnLst>
                              <p:par>
                                <p:cTn id="1465" presetID="1" presetClass="entr" presetSubtype="0" fill="hold" nodeType="clickEffect">
                                  <p:stCondLst>
                                    <p:cond delay="0"/>
                                  </p:stCondLst>
                                  <p:childTnLst>
                                    <p:set>
                                      <p:cBhvr>
                                        <p:cTn id="1466" dur="1" fill="hold">
                                          <p:stCondLst>
                                            <p:cond delay="0"/>
                                          </p:stCondLst>
                                        </p:cTn>
                                        <p:tgtEl>
                                          <p:spTgt spid="127">
                                            <p:txEl>
                                              <p:pRg st="5" end="5"/>
                                            </p:txEl>
                                          </p:spTgt>
                                        </p:tgtEl>
                                        <p:attrNameLst>
                                          <p:attrName>style.visibility</p:attrName>
                                        </p:attrNameLst>
                                      </p:cBhvr>
                                      <p:to>
                                        <p:strVal val="visible"/>
                                      </p:to>
                                    </p:set>
                                  </p:childTnLst>
                                </p:cTn>
                              </p:par>
                            </p:childTnLst>
                          </p:cTn>
                        </p:par>
                      </p:childTnLst>
                    </p:cTn>
                  </p:par>
                  <p:par>
                    <p:cTn id="1467" fill="hold">
                      <p:stCondLst>
                        <p:cond delay="indefinite"/>
                      </p:stCondLst>
                      <p:childTnLst>
                        <p:par>
                          <p:cTn id="1468" fill="hold">
                            <p:stCondLst>
                              <p:cond delay="0"/>
                            </p:stCondLst>
                            <p:childTnLst>
                              <p:par>
                                <p:cTn id="1469" presetID="1" presetClass="entr" presetSubtype="0" fill="hold" nodeType="clickEffect">
                                  <p:stCondLst>
                                    <p:cond delay="0"/>
                                  </p:stCondLst>
                                  <p:childTnLst>
                                    <p:set>
                                      <p:cBhvr>
                                        <p:cTn id="1470" dur="1" fill="hold">
                                          <p:stCondLst>
                                            <p:cond delay="0"/>
                                          </p:stCondLst>
                                        </p:cTn>
                                        <p:tgtEl>
                                          <p:spTgt spid="127">
                                            <p:txEl>
                                              <p:pRg st="6" end="6"/>
                                            </p:txEl>
                                          </p:spTgt>
                                        </p:tgtEl>
                                        <p:attrNameLst>
                                          <p:attrName>style.visibility</p:attrName>
                                        </p:attrNameLst>
                                      </p:cBhvr>
                                      <p:to>
                                        <p:strVal val="visible"/>
                                      </p:to>
                                    </p:set>
                                  </p:childTnLst>
                                </p:cTn>
                              </p:par>
                            </p:childTnLst>
                          </p:cTn>
                        </p:par>
                      </p:childTnLst>
                    </p:cTn>
                  </p:par>
                  <p:par>
                    <p:cTn id="1471" fill="hold">
                      <p:stCondLst>
                        <p:cond delay="indefinite"/>
                      </p:stCondLst>
                      <p:childTnLst>
                        <p:par>
                          <p:cTn id="1472" fill="hold">
                            <p:stCondLst>
                              <p:cond delay="0"/>
                            </p:stCondLst>
                            <p:childTnLst>
                              <p:par>
                                <p:cTn id="1473" presetID="1" presetClass="entr" presetSubtype="0" fill="hold" nodeType="clickEffect">
                                  <p:stCondLst>
                                    <p:cond delay="0"/>
                                  </p:stCondLst>
                                  <p:childTnLst>
                                    <p:set>
                                      <p:cBhvr>
                                        <p:cTn id="1474" dur="1" fill="hold">
                                          <p:stCondLst>
                                            <p:cond delay="0"/>
                                          </p:stCondLst>
                                        </p:cTn>
                                        <p:tgtEl>
                                          <p:spTgt spid="127">
                                            <p:txEl>
                                              <p:pRg st="7" end="7"/>
                                            </p:txEl>
                                          </p:spTgt>
                                        </p:tgtEl>
                                        <p:attrNameLst>
                                          <p:attrName>style.visibility</p:attrName>
                                        </p:attrNameLst>
                                      </p:cBhvr>
                                      <p:to>
                                        <p:strVal val="visible"/>
                                      </p:to>
                                    </p:set>
                                  </p:childTnLst>
                                </p:cTn>
                              </p:par>
                            </p:childTnLst>
                          </p:cTn>
                        </p:par>
                      </p:childTnLst>
                    </p:cTn>
                  </p:par>
                  <p:par>
                    <p:cTn id="1475" fill="hold">
                      <p:stCondLst>
                        <p:cond delay="indefinite"/>
                      </p:stCondLst>
                      <p:childTnLst>
                        <p:par>
                          <p:cTn id="1476" fill="hold">
                            <p:stCondLst>
                              <p:cond delay="0"/>
                            </p:stCondLst>
                            <p:childTnLst>
                              <p:par>
                                <p:cTn id="1477" presetID="1" presetClass="entr" presetSubtype="0" fill="hold" nodeType="clickEffect">
                                  <p:stCondLst>
                                    <p:cond delay="0"/>
                                  </p:stCondLst>
                                  <p:childTnLst>
                                    <p:set>
                                      <p:cBhvr>
                                        <p:cTn id="1478" dur="1" fill="hold">
                                          <p:stCondLst>
                                            <p:cond delay="0"/>
                                          </p:stCondLst>
                                        </p:cTn>
                                        <p:tgtEl>
                                          <p:spTgt spid="127">
                                            <p:txEl>
                                              <p:pRg st="8" end="8"/>
                                            </p:txEl>
                                          </p:spTgt>
                                        </p:tgtEl>
                                        <p:attrNameLst>
                                          <p:attrName>style.visibility</p:attrName>
                                        </p:attrNameLst>
                                      </p:cBhvr>
                                      <p:to>
                                        <p:strVal val="visible"/>
                                      </p:to>
                                    </p:set>
                                  </p:childTnLst>
                                </p:cTn>
                              </p:par>
                            </p:childTnLst>
                          </p:cTn>
                        </p:par>
                      </p:childTnLst>
                    </p:cTn>
                  </p:par>
                  <p:par>
                    <p:cTn id="1479" fill="hold">
                      <p:stCondLst>
                        <p:cond delay="indefinite"/>
                      </p:stCondLst>
                      <p:childTnLst>
                        <p:par>
                          <p:cTn id="1480" fill="hold">
                            <p:stCondLst>
                              <p:cond delay="0"/>
                            </p:stCondLst>
                            <p:childTnLst>
                              <p:par>
                                <p:cTn id="1481" presetID="1" presetClass="entr" presetSubtype="0" fill="hold" nodeType="clickEffect">
                                  <p:stCondLst>
                                    <p:cond delay="0"/>
                                  </p:stCondLst>
                                  <p:childTnLst>
                                    <p:set>
                                      <p:cBhvr>
                                        <p:cTn id="1482" dur="1" fill="hold">
                                          <p:stCondLst>
                                            <p:cond delay="0"/>
                                          </p:stCondLst>
                                        </p:cTn>
                                        <p:tgtEl>
                                          <p:spTgt spid="128">
                                            <p:txEl>
                                              <p:pRg st="0" end="0"/>
                                            </p:txEl>
                                          </p:spTgt>
                                        </p:tgtEl>
                                        <p:attrNameLst>
                                          <p:attrName>style.visibility</p:attrName>
                                        </p:attrNameLst>
                                      </p:cBhvr>
                                      <p:to>
                                        <p:strVal val="visible"/>
                                      </p:to>
                                    </p:set>
                                  </p:childTnLst>
                                </p:cTn>
                              </p:par>
                            </p:childTnLst>
                          </p:cTn>
                        </p:par>
                      </p:childTnLst>
                    </p:cTn>
                  </p:par>
                  <p:par>
                    <p:cTn id="1483" fill="hold">
                      <p:stCondLst>
                        <p:cond delay="indefinite"/>
                      </p:stCondLst>
                      <p:childTnLst>
                        <p:par>
                          <p:cTn id="1484" fill="hold">
                            <p:stCondLst>
                              <p:cond delay="0"/>
                            </p:stCondLst>
                            <p:childTnLst>
                              <p:par>
                                <p:cTn id="1485" presetID="1" presetClass="entr" presetSubtype="0" fill="hold" nodeType="clickEffect">
                                  <p:stCondLst>
                                    <p:cond delay="0"/>
                                  </p:stCondLst>
                                  <p:childTnLst>
                                    <p:set>
                                      <p:cBhvr>
                                        <p:cTn id="1486" dur="1" fill="hold">
                                          <p:stCondLst>
                                            <p:cond delay="0"/>
                                          </p:stCondLst>
                                        </p:cTn>
                                        <p:tgtEl>
                                          <p:spTgt spid="128">
                                            <p:txEl>
                                              <p:pRg st="1" end="1"/>
                                            </p:txEl>
                                          </p:spTgt>
                                        </p:tgtEl>
                                        <p:attrNameLst>
                                          <p:attrName>style.visibility</p:attrName>
                                        </p:attrNameLst>
                                      </p:cBhvr>
                                      <p:to>
                                        <p:strVal val="visible"/>
                                      </p:to>
                                    </p:set>
                                  </p:childTnLst>
                                </p:cTn>
                              </p:par>
                            </p:childTnLst>
                          </p:cTn>
                        </p:par>
                      </p:childTnLst>
                    </p:cTn>
                  </p:par>
                  <p:par>
                    <p:cTn id="1487" fill="hold">
                      <p:stCondLst>
                        <p:cond delay="indefinite"/>
                      </p:stCondLst>
                      <p:childTnLst>
                        <p:par>
                          <p:cTn id="1488" fill="hold">
                            <p:stCondLst>
                              <p:cond delay="0"/>
                            </p:stCondLst>
                            <p:childTnLst>
                              <p:par>
                                <p:cTn id="1489" presetID="1" presetClass="entr" presetSubtype="0" fill="hold" nodeType="clickEffect">
                                  <p:stCondLst>
                                    <p:cond delay="0"/>
                                  </p:stCondLst>
                                  <p:childTnLst>
                                    <p:set>
                                      <p:cBhvr>
                                        <p:cTn id="1490" dur="1" fill="hold">
                                          <p:stCondLst>
                                            <p:cond delay="0"/>
                                          </p:stCondLst>
                                        </p:cTn>
                                        <p:tgtEl>
                                          <p:spTgt spid="128">
                                            <p:txEl>
                                              <p:pRg st="2" end="2"/>
                                            </p:txEl>
                                          </p:spTgt>
                                        </p:tgtEl>
                                        <p:attrNameLst>
                                          <p:attrName>style.visibility</p:attrName>
                                        </p:attrNameLst>
                                      </p:cBhvr>
                                      <p:to>
                                        <p:strVal val="visible"/>
                                      </p:to>
                                    </p:set>
                                  </p:childTnLst>
                                </p:cTn>
                              </p:par>
                            </p:childTnLst>
                          </p:cTn>
                        </p:par>
                      </p:childTnLst>
                    </p:cTn>
                  </p:par>
                  <p:par>
                    <p:cTn id="1491" fill="hold">
                      <p:stCondLst>
                        <p:cond delay="indefinite"/>
                      </p:stCondLst>
                      <p:childTnLst>
                        <p:par>
                          <p:cTn id="1492" fill="hold">
                            <p:stCondLst>
                              <p:cond delay="0"/>
                            </p:stCondLst>
                            <p:childTnLst>
                              <p:par>
                                <p:cTn id="1493" presetID="1" presetClass="entr" presetSubtype="0" fill="hold" nodeType="clickEffect">
                                  <p:stCondLst>
                                    <p:cond delay="0"/>
                                  </p:stCondLst>
                                  <p:childTnLst>
                                    <p:set>
                                      <p:cBhvr>
                                        <p:cTn id="1494" dur="1" fill="hold">
                                          <p:stCondLst>
                                            <p:cond delay="0"/>
                                          </p:stCondLst>
                                        </p:cTn>
                                        <p:tgtEl>
                                          <p:spTgt spid="128">
                                            <p:txEl>
                                              <p:pRg st="3" end="3"/>
                                            </p:txEl>
                                          </p:spTgt>
                                        </p:tgtEl>
                                        <p:attrNameLst>
                                          <p:attrName>style.visibility</p:attrName>
                                        </p:attrNameLst>
                                      </p:cBhvr>
                                      <p:to>
                                        <p:strVal val="visible"/>
                                      </p:to>
                                    </p:set>
                                  </p:childTnLst>
                                </p:cTn>
                              </p:par>
                            </p:childTnLst>
                          </p:cTn>
                        </p:par>
                      </p:childTnLst>
                    </p:cTn>
                  </p:par>
                  <p:par>
                    <p:cTn id="1495" fill="hold">
                      <p:stCondLst>
                        <p:cond delay="indefinite"/>
                      </p:stCondLst>
                      <p:childTnLst>
                        <p:par>
                          <p:cTn id="1496" fill="hold">
                            <p:stCondLst>
                              <p:cond delay="0"/>
                            </p:stCondLst>
                            <p:childTnLst>
                              <p:par>
                                <p:cTn id="1497" presetID="1" presetClass="entr" presetSubtype="0" fill="hold" nodeType="clickEffect">
                                  <p:stCondLst>
                                    <p:cond delay="0"/>
                                  </p:stCondLst>
                                  <p:childTnLst>
                                    <p:set>
                                      <p:cBhvr>
                                        <p:cTn id="1498" dur="1" fill="hold">
                                          <p:stCondLst>
                                            <p:cond delay="0"/>
                                          </p:stCondLst>
                                        </p:cTn>
                                        <p:tgtEl>
                                          <p:spTgt spid="128">
                                            <p:txEl>
                                              <p:pRg st="4" end="4"/>
                                            </p:txEl>
                                          </p:spTgt>
                                        </p:tgtEl>
                                        <p:attrNameLst>
                                          <p:attrName>style.visibility</p:attrName>
                                        </p:attrNameLst>
                                      </p:cBhvr>
                                      <p:to>
                                        <p:strVal val="visible"/>
                                      </p:to>
                                    </p:set>
                                  </p:childTnLst>
                                </p:cTn>
                              </p:par>
                            </p:childTnLst>
                          </p:cTn>
                        </p:par>
                      </p:childTnLst>
                    </p:cTn>
                  </p:par>
                  <p:par>
                    <p:cTn id="1499" fill="hold">
                      <p:stCondLst>
                        <p:cond delay="indefinite"/>
                      </p:stCondLst>
                      <p:childTnLst>
                        <p:par>
                          <p:cTn id="1500" fill="hold">
                            <p:stCondLst>
                              <p:cond delay="0"/>
                            </p:stCondLst>
                            <p:childTnLst>
                              <p:par>
                                <p:cTn id="1501" presetID="1" presetClass="entr" presetSubtype="0" fill="hold" nodeType="clickEffect">
                                  <p:stCondLst>
                                    <p:cond delay="0"/>
                                  </p:stCondLst>
                                  <p:childTnLst>
                                    <p:set>
                                      <p:cBhvr>
                                        <p:cTn id="1502" dur="1" fill="hold">
                                          <p:stCondLst>
                                            <p:cond delay="0"/>
                                          </p:stCondLst>
                                        </p:cTn>
                                        <p:tgtEl>
                                          <p:spTgt spid="128">
                                            <p:txEl>
                                              <p:pRg st="5" end="5"/>
                                            </p:txEl>
                                          </p:spTgt>
                                        </p:tgtEl>
                                        <p:attrNameLst>
                                          <p:attrName>style.visibility</p:attrName>
                                        </p:attrNameLst>
                                      </p:cBhvr>
                                      <p:to>
                                        <p:strVal val="visible"/>
                                      </p:to>
                                    </p:set>
                                  </p:childTnLst>
                                </p:cTn>
                              </p:par>
                            </p:childTnLst>
                          </p:cTn>
                        </p:par>
                      </p:childTnLst>
                    </p:cTn>
                  </p:par>
                  <p:par>
                    <p:cTn id="1503" fill="hold">
                      <p:stCondLst>
                        <p:cond delay="indefinite"/>
                      </p:stCondLst>
                      <p:childTnLst>
                        <p:par>
                          <p:cTn id="1504" fill="hold">
                            <p:stCondLst>
                              <p:cond delay="0"/>
                            </p:stCondLst>
                            <p:childTnLst>
                              <p:par>
                                <p:cTn id="1505" presetID="1" presetClass="entr" presetSubtype="0" fill="hold" nodeType="clickEffect">
                                  <p:stCondLst>
                                    <p:cond delay="0"/>
                                  </p:stCondLst>
                                  <p:childTnLst>
                                    <p:set>
                                      <p:cBhvr>
                                        <p:cTn id="1506" dur="1" fill="hold">
                                          <p:stCondLst>
                                            <p:cond delay="0"/>
                                          </p:stCondLst>
                                        </p:cTn>
                                        <p:tgtEl>
                                          <p:spTgt spid="128">
                                            <p:txEl>
                                              <p:pRg st="6" end="6"/>
                                            </p:txEl>
                                          </p:spTgt>
                                        </p:tgtEl>
                                        <p:attrNameLst>
                                          <p:attrName>style.visibility</p:attrName>
                                        </p:attrNameLst>
                                      </p:cBhvr>
                                      <p:to>
                                        <p:strVal val="visible"/>
                                      </p:to>
                                    </p:set>
                                  </p:childTnLst>
                                </p:cTn>
                              </p:par>
                            </p:childTnLst>
                          </p:cTn>
                        </p:par>
                      </p:childTnLst>
                    </p:cTn>
                  </p:par>
                  <p:par>
                    <p:cTn id="1507" fill="hold">
                      <p:stCondLst>
                        <p:cond delay="indefinite"/>
                      </p:stCondLst>
                      <p:childTnLst>
                        <p:par>
                          <p:cTn id="1508" fill="hold">
                            <p:stCondLst>
                              <p:cond delay="0"/>
                            </p:stCondLst>
                            <p:childTnLst>
                              <p:par>
                                <p:cTn id="1509" presetID="1" presetClass="entr" presetSubtype="0" fill="hold" nodeType="clickEffect">
                                  <p:stCondLst>
                                    <p:cond delay="0"/>
                                  </p:stCondLst>
                                  <p:childTnLst>
                                    <p:set>
                                      <p:cBhvr>
                                        <p:cTn id="1510" dur="1" fill="hold">
                                          <p:stCondLst>
                                            <p:cond delay="0"/>
                                          </p:stCondLst>
                                        </p:cTn>
                                        <p:tgtEl>
                                          <p:spTgt spid="128">
                                            <p:txEl>
                                              <p:pRg st="7" end="7"/>
                                            </p:txEl>
                                          </p:spTgt>
                                        </p:tgtEl>
                                        <p:attrNameLst>
                                          <p:attrName>style.visibility</p:attrName>
                                        </p:attrNameLst>
                                      </p:cBhvr>
                                      <p:to>
                                        <p:strVal val="visible"/>
                                      </p:to>
                                    </p:set>
                                  </p:childTnLst>
                                </p:cTn>
                              </p:par>
                            </p:childTnLst>
                          </p:cTn>
                        </p:par>
                      </p:childTnLst>
                    </p:cTn>
                  </p:par>
                  <p:par>
                    <p:cTn id="1511" fill="hold">
                      <p:stCondLst>
                        <p:cond delay="indefinite"/>
                      </p:stCondLst>
                      <p:childTnLst>
                        <p:par>
                          <p:cTn id="1512" fill="hold">
                            <p:stCondLst>
                              <p:cond delay="0"/>
                            </p:stCondLst>
                            <p:childTnLst>
                              <p:par>
                                <p:cTn id="1513" presetID="1" presetClass="entr" presetSubtype="0" fill="hold" nodeType="clickEffect">
                                  <p:stCondLst>
                                    <p:cond delay="0"/>
                                  </p:stCondLst>
                                  <p:childTnLst>
                                    <p:set>
                                      <p:cBhvr>
                                        <p:cTn id="1514" dur="1" fill="hold">
                                          <p:stCondLst>
                                            <p:cond delay="0"/>
                                          </p:stCondLst>
                                        </p:cTn>
                                        <p:tgtEl>
                                          <p:spTgt spid="1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ctivity">
  <p:cSld name="Activity">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1039579" y="119975"/>
            <a:ext cx="7795200" cy="577200"/>
          </a:xfrm>
          <a:prstGeom prst="rect">
            <a:avLst/>
          </a:prstGeom>
          <a:noFill/>
          <a:ln>
            <a:noFill/>
          </a:ln>
        </p:spPr>
        <p:txBody>
          <a:bodyPr spcFirstLastPara="1" wrap="square" lIns="68575" tIns="34275" rIns="68575" bIns="34275" anchor="ctr" anchorCtr="0">
            <a:normAutofit/>
          </a:bodyPr>
          <a:lstStyle>
            <a:lvl1pPr lvl="0" algn="l" rtl="0">
              <a:lnSpc>
                <a:spcPct val="10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1" name="Google Shape;131;p17"/>
          <p:cNvSpPr txBox="1">
            <a:spLocks noGrp="1"/>
          </p:cNvSpPr>
          <p:nvPr>
            <p:ph type="body" idx="1"/>
          </p:nvPr>
        </p:nvSpPr>
        <p:spPr>
          <a:xfrm>
            <a:off x="300382" y="768629"/>
            <a:ext cx="3399300" cy="3864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132" name="Google Shape;132;p17"/>
          <p:cNvCxnSpPr/>
          <p:nvPr/>
        </p:nvCxnSpPr>
        <p:spPr>
          <a:xfrm>
            <a:off x="300382" y="736560"/>
            <a:ext cx="8534400" cy="0"/>
          </a:xfrm>
          <a:prstGeom prst="straightConnector1">
            <a:avLst/>
          </a:prstGeom>
          <a:noFill/>
          <a:ln w="63500" cap="flat" cmpd="thickThin">
            <a:solidFill>
              <a:schemeClr val="lt2"/>
            </a:solidFill>
            <a:prstDash val="solid"/>
            <a:miter lim="800000"/>
            <a:headEnd type="none" w="sm" len="sm"/>
            <a:tailEnd type="none" w="sm" len="sm"/>
          </a:ln>
        </p:spPr>
      </p:cxnSp>
      <p:sp>
        <p:nvSpPr>
          <p:cNvPr id="133" name="Google Shape;133;p17"/>
          <p:cNvSpPr txBox="1">
            <a:spLocks noGrp="1"/>
          </p:cNvSpPr>
          <p:nvPr>
            <p:ph type="body" idx="2"/>
          </p:nvPr>
        </p:nvSpPr>
        <p:spPr>
          <a:xfrm>
            <a:off x="3699710" y="784668"/>
            <a:ext cx="5135100" cy="4258500"/>
          </a:xfrm>
          <a:prstGeom prst="rect">
            <a:avLst/>
          </a:prstGeom>
          <a:noFill/>
          <a:ln w="381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4" name="Google Shape;134;p17"/>
          <p:cNvSpPr txBox="1">
            <a:spLocks noGrp="1"/>
          </p:cNvSpPr>
          <p:nvPr>
            <p:ph type="body" idx="3"/>
          </p:nvPr>
        </p:nvSpPr>
        <p:spPr>
          <a:xfrm>
            <a:off x="-2811780" y="23094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5" name="Google Shape;135;p17"/>
          <p:cNvSpPr txBox="1">
            <a:spLocks noGrp="1"/>
          </p:cNvSpPr>
          <p:nvPr>
            <p:ph type="body" idx="4"/>
          </p:nvPr>
        </p:nvSpPr>
        <p:spPr>
          <a:xfrm>
            <a:off x="-2811780" y="4671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6" name="Google Shape;136;p17"/>
          <p:cNvSpPr txBox="1">
            <a:spLocks noGrp="1"/>
          </p:cNvSpPr>
          <p:nvPr>
            <p:ph type="body" idx="5"/>
          </p:nvPr>
        </p:nvSpPr>
        <p:spPr>
          <a:xfrm>
            <a:off x="-2811780" y="692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7" name="Google Shape;137;p17"/>
          <p:cNvSpPr txBox="1">
            <a:spLocks noGrp="1"/>
          </p:cNvSpPr>
          <p:nvPr>
            <p:ph type="body" idx="6"/>
          </p:nvPr>
        </p:nvSpPr>
        <p:spPr>
          <a:xfrm>
            <a:off x="-2811780" y="9172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8" name="Google Shape;138;p17"/>
          <p:cNvSpPr txBox="1">
            <a:spLocks noGrp="1"/>
          </p:cNvSpPr>
          <p:nvPr>
            <p:ph type="body" idx="7"/>
          </p:nvPr>
        </p:nvSpPr>
        <p:spPr>
          <a:xfrm>
            <a:off x="-2811780" y="114021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9" name="Google Shape;139;p17"/>
          <p:cNvSpPr txBox="1">
            <a:spLocks noGrp="1"/>
          </p:cNvSpPr>
          <p:nvPr>
            <p:ph type="body" idx="8"/>
          </p:nvPr>
        </p:nvSpPr>
        <p:spPr>
          <a:xfrm>
            <a:off x="-2811780" y="137082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0" name="Google Shape;140;p17"/>
          <p:cNvSpPr txBox="1">
            <a:spLocks noGrp="1"/>
          </p:cNvSpPr>
          <p:nvPr>
            <p:ph type="body" idx="9"/>
          </p:nvPr>
        </p:nvSpPr>
        <p:spPr>
          <a:xfrm>
            <a:off x="-2811780" y="159516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1" name="Google Shape;141;p17"/>
          <p:cNvSpPr txBox="1">
            <a:spLocks noGrp="1"/>
          </p:cNvSpPr>
          <p:nvPr>
            <p:ph type="body" idx="13"/>
          </p:nvPr>
        </p:nvSpPr>
        <p:spPr>
          <a:xfrm>
            <a:off x="-2811780" y="18263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2" name="Google Shape;142;p17"/>
          <p:cNvSpPr txBox="1">
            <a:spLocks noGrp="1"/>
          </p:cNvSpPr>
          <p:nvPr>
            <p:ph type="body" idx="14"/>
          </p:nvPr>
        </p:nvSpPr>
        <p:spPr>
          <a:xfrm>
            <a:off x="-2811780" y="207015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3" name="Google Shape;143;p17"/>
          <p:cNvSpPr txBox="1">
            <a:spLocks noGrp="1"/>
          </p:cNvSpPr>
          <p:nvPr>
            <p:ph type="body" idx="15"/>
          </p:nvPr>
        </p:nvSpPr>
        <p:spPr>
          <a:xfrm>
            <a:off x="-2811780" y="23070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4" name="Google Shape;144;p17"/>
          <p:cNvSpPr txBox="1">
            <a:spLocks noGrp="1"/>
          </p:cNvSpPr>
          <p:nvPr>
            <p:ph type="body" idx="16"/>
          </p:nvPr>
        </p:nvSpPr>
        <p:spPr>
          <a:xfrm>
            <a:off x="-2811780" y="253135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5" name="Google Shape;145;p17"/>
          <p:cNvSpPr txBox="1">
            <a:spLocks noGrp="1"/>
          </p:cNvSpPr>
          <p:nvPr>
            <p:ph type="body" idx="17"/>
          </p:nvPr>
        </p:nvSpPr>
        <p:spPr>
          <a:xfrm>
            <a:off x="-2811780" y="275021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6" name="Google Shape;146;p17"/>
          <p:cNvSpPr/>
          <p:nvPr/>
        </p:nvSpPr>
        <p:spPr>
          <a:xfrm>
            <a:off x="277239" y="109654"/>
            <a:ext cx="633000" cy="578700"/>
          </a:xfrm>
          <a:prstGeom prst="roundRect">
            <a:avLst>
              <a:gd name="adj" fmla="val 16667"/>
            </a:avLst>
          </a:prstGeom>
          <a:gradFill>
            <a:gsLst>
              <a:gs pos="0">
                <a:srgbClr val="FFFFFF"/>
              </a:gs>
              <a:gs pos="66000">
                <a:srgbClr val="FFFFFF"/>
              </a:gs>
              <a:gs pos="100000">
                <a:schemeClr val="dk2"/>
              </a:gs>
            </a:gsLst>
            <a:path path="circle">
              <a:fillToRect l="50000" t="50000" r="50000" b="50000"/>
            </a:path>
            <a:tileRect/>
          </a:gradFill>
          <a:ln w="12700" cap="flat" cmpd="sng">
            <a:solidFill>
              <a:srgbClr val="A246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47" name="Google Shape;147;p17"/>
          <p:cNvSpPr/>
          <p:nvPr/>
        </p:nvSpPr>
        <p:spPr>
          <a:xfrm>
            <a:off x="412441" y="97590"/>
            <a:ext cx="394800" cy="5772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3300" b="1" cap="none">
                <a:solidFill>
                  <a:schemeClr val="dk2"/>
                </a:solidFill>
                <a:latin typeface="Calibri"/>
                <a:ea typeface="Calibri"/>
                <a:cs typeface="Calibri"/>
                <a:sym typeface="Calibri"/>
              </a:rPr>
              <a:t>A</a:t>
            </a:r>
            <a:endParaRPr sz="1100"/>
          </a:p>
        </p:txBody>
      </p:sp>
      <p:sp>
        <p:nvSpPr>
          <p:cNvPr id="148" name="Google Shape;148;p17"/>
          <p:cNvSpPr txBox="1">
            <a:spLocks noGrp="1"/>
          </p:cNvSpPr>
          <p:nvPr>
            <p:ph type="body" idx="18"/>
          </p:nvPr>
        </p:nvSpPr>
        <p:spPr>
          <a:xfrm>
            <a:off x="-2811780" y="30367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9" name="Google Shape;149;p17"/>
          <p:cNvSpPr txBox="1">
            <a:spLocks noGrp="1"/>
          </p:cNvSpPr>
          <p:nvPr>
            <p:ph type="body" idx="19"/>
          </p:nvPr>
        </p:nvSpPr>
        <p:spPr>
          <a:xfrm>
            <a:off x="-2811780" y="326764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0" name="Google Shape;150;p17"/>
          <p:cNvSpPr txBox="1">
            <a:spLocks noGrp="1"/>
          </p:cNvSpPr>
          <p:nvPr>
            <p:ph type="body" idx="20"/>
          </p:nvPr>
        </p:nvSpPr>
        <p:spPr>
          <a:xfrm>
            <a:off x="-2811780" y="350389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1" name="Google Shape;151;p17"/>
          <p:cNvSpPr txBox="1">
            <a:spLocks noGrp="1"/>
          </p:cNvSpPr>
          <p:nvPr>
            <p:ph type="body" idx="21"/>
          </p:nvPr>
        </p:nvSpPr>
        <p:spPr>
          <a:xfrm>
            <a:off x="-2811780" y="37295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2" name="Google Shape;152;p17"/>
          <p:cNvSpPr txBox="1">
            <a:spLocks noGrp="1"/>
          </p:cNvSpPr>
          <p:nvPr>
            <p:ph type="body" idx="22"/>
          </p:nvPr>
        </p:nvSpPr>
        <p:spPr>
          <a:xfrm>
            <a:off x="-2811780" y="39539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3" name="Google Shape;153;p17"/>
          <p:cNvSpPr txBox="1">
            <a:spLocks noGrp="1"/>
          </p:cNvSpPr>
          <p:nvPr>
            <p:ph type="body" idx="23"/>
          </p:nvPr>
        </p:nvSpPr>
        <p:spPr>
          <a:xfrm>
            <a:off x="-2811780" y="41769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4" name="Google Shape;154;p17"/>
          <p:cNvSpPr txBox="1">
            <a:spLocks noGrp="1"/>
          </p:cNvSpPr>
          <p:nvPr>
            <p:ph type="body" idx="24"/>
          </p:nvPr>
        </p:nvSpPr>
        <p:spPr>
          <a:xfrm>
            <a:off x="-2811780" y="4407526"/>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55" name="Google Shape;155;p17"/>
          <p:cNvSpPr txBox="1">
            <a:spLocks noGrp="1"/>
          </p:cNvSpPr>
          <p:nvPr>
            <p:ph type="body" idx="25"/>
          </p:nvPr>
        </p:nvSpPr>
        <p:spPr>
          <a:xfrm>
            <a:off x="-2811780" y="4631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4">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4">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4">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34">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34">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4">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34">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35">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35">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35">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35">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35">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35">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36">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36">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36">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36">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36">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36">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36">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36">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36">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37">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37">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37">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38">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38">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38">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38">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39">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39">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39">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139">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140">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140">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40">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142">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142">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142">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142">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142">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142">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142">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143">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143">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143">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143">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143">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143">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143">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143">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143">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144">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144">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144">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144">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144">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144">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144">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144">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144">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145">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145">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145">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145">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145">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145">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145">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148">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148">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148">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148">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148">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148">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149">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149">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149">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149">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149">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149">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149">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149">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150">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150">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150">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150">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150">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150">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150">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150">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150">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151">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151">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151">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151">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151">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151">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151">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151">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151">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152">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152">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152">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152">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152">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152">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152">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153">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153">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153">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153">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153">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153">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153">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153">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153">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154">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154">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154">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154">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154">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154">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154">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154">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154">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155">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155">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155">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155">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155">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155">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155">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155">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1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60"/>
        <p:cNvGrpSpPr/>
        <p:nvPr/>
      </p:nvGrpSpPr>
      <p:grpSpPr>
        <a:xfrm>
          <a:off x="0" y="0"/>
          <a:ext cx="0" cy="0"/>
          <a:chOff x="0" y="0"/>
          <a:chExt cx="0" cy="0"/>
        </a:xfrm>
      </p:grpSpPr>
      <p:sp>
        <p:nvSpPr>
          <p:cNvPr id="161" name="Google Shape;161;p19"/>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2" name="Google Shape;162;p19"/>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3" name="Google Shape;163;p19"/>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64" name="Google Shape;164;p1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65"/>
        <p:cNvGrpSpPr/>
        <p:nvPr/>
      </p:nvGrpSpPr>
      <p:grpSpPr>
        <a:xfrm>
          <a:off x="0" y="0"/>
          <a:ext cx="0" cy="0"/>
          <a:chOff x="0" y="0"/>
          <a:chExt cx="0" cy="0"/>
        </a:xfrm>
      </p:grpSpPr>
      <p:sp>
        <p:nvSpPr>
          <p:cNvPr id="166" name="Google Shape;166;p20"/>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7" name="Google Shape;167;p20"/>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68" name="Google Shape;168;p20"/>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9" name="Google Shape;169;p2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0"/>
        <p:cNvGrpSpPr/>
        <p:nvPr/>
      </p:nvGrpSpPr>
      <p:grpSpPr>
        <a:xfrm>
          <a:off x="0" y="0"/>
          <a:ext cx="0" cy="0"/>
          <a:chOff x="0" y="0"/>
          <a:chExt cx="0" cy="0"/>
        </a:xfrm>
      </p:grpSpPr>
      <p:sp>
        <p:nvSpPr>
          <p:cNvPr id="171" name="Google Shape;171;p21"/>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72" name="Google Shape;172;p21"/>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1"/>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4" name="Google Shape;174;p21"/>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75" name="Google Shape;175;p2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6" name="Google Shape;176;p21"/>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77" name="Google Shape;177;p21"/>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8"/>
        <p:cNvGrpSpPr/>
        <p:nvPr/>
      </p:nvGrpSpPr>
      <p:grpSpPr>
        <a:xfrm>
          <a:off x="0" y="0"/>
          <a:ext cx="0" cy="0"/>
          <a:chOff x="0" y="0"/>
          <a:chExt cx="0" cy="0"/>
        </a:xfrm>
      </p:grpSpPr>
      <p:sp>
        <p:nvSpPr>
          <p:cNvPr id="179" name="Google Shape;179;p2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1" name="Google Shape;181;p22"/>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2" name="Google Shape;182;p22"/>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3" name="Google Shape;183;p2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4"/>
        <p:cNvGrpSpPr/>
        <p:nvPr/>
      </p:nvGrpSpPr>
      <p:grpSpPr>
        <a:xfrm>
          <a:off x="0" y="0"/>
          <a:ext cx="0" cy="0"/>
          <a:chOff x="0" y="0"/>
          <a:chExt cx="0" cy="0"/>
        </a:xfrm>
      </p:grpSpPr>
      <p:sp>
        <p:nvSpPr>
          <p:cNvPr id="185" name="Google Shape;185;p23"/>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3"/>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7" name="Google Shape;187;p2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8"/>
        <p:cNvGrpSpPr/>
        <p:nvPr/>
      </p:nvGrpSpPr>
      <p:grpSpPr>
        <a:xfrm>
          <a:off x="0" y="0"/>
          <a:ext cx="0" cy="0"/>
          <a:chOff x="0" y="0"/>
          <a:chExt cx="0" cy="0"/>
        </a:xfrm>
      </p:grpSpPr>
      <p:sp>
        <p:nvSpPr>
          <p:cNvPr id="189" name="Google Shape;189;p2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91" name="Google Shape;191;p24"/>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2" name="Google Shape;192;p24"/>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3" name="Google Shape;193;p24"/>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4" name="Google Shape;194;p24"/>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95" name="Google Shape;195;p24"/>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98" name="Google Shape;198;p2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9"/>
        <p:cNvGrpSpPr/>
        <p:nvPr/>
      </p:nvGrpSpPr>
      <p:grpSpPr>
        <a:xfrm>
          <a:off x="0" y="0"/>
          <a:ext cx="0" cy="0"/>
          <a:chOff x="0" y="0"/>
          <a:chExt cx="0" cy="0"/>
        </a:xfrm>
      </p:grpSpPr>
      <p:sp>
        <p:nvSpPr>
          <p:cNvPr id="200" name="Google Shape;200;p26"/>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02" name="Google Shape;202;p26"/>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03" name="Google Shape;203;p26"/>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4" name="Google Shape;204;p2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5"/>
        <p:cNvGrpSpPr/>
        <p:nvPr/>
      </p:nvGrpSpPr>
      <p:grpSpPr>
        <a:xfrm>
          <a:off x="0" y="0"/>
          <a:ext cx="0" cy="0"/>
          <a:chOff x="0" y="0"/>
          <a:chExt cx="0" cy="0"/>
        </a:xfrm>
      </p:grpSpPr>
      <p:sp>
        <p:nvSpPr>
          <p:cNvPr id="206" name="Google Shape;206;p27"/>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7"/>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08" name="Google Shape;208;p2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09"/>
        <p:cNvGrpSpPr/>
        <p:nvPr/>
      </p:nvGrpSpPr>
      <p:grpSpPr>
        <a:xfrm>
          <a:off x="0" y="0"/>
          <a:ext cx="0" cy="0"/>
          <a:chOff x="0" y="0"/>
          <a:chExt cx="0" cy="0"/>
        </a:xfrm>
      </p:grpSpPr>
      <p:sp>
        <p:nvSpPr>
          <p:cNvPr id="210" name="Google Shape;210;p28"/>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11" name="Google Shape;211;p28"/>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212" name="Google Shape;212;p2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3"/>
        <p:cNvGrpSpPr/>
        <p:nvPr/>
      </p:nvGrpSpPr>
      <p:grpSpPr>
        <a:xfrm>
          <a:off x="0" y="0"/>
          <a:ext cx="0" cy="0"/>
          <a:chOff x="0" y="0"/>
          <a:chExt cx="0" cy="0"/>
        </a:xfrm>
      </p:grpSpPr>
      <p:sp>
        <p:nvSpPr>
          <p:cNvPr id="214" name="Google Shape;214;p2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15"/>
        <p:cNvGrpSpPr/>
        <p:nvPr/>
      </p:nvGrpSpPr>
      <p:grpSpPr>
        <a:xfrm>
          <a:off x="0" y="0"/>
          <a:ext cx="0" cy="0"/>
          <a:chOff x="0" y="0"/>
          <a:chExt cx="0" cy="0"/>
        </a:xfrm>
      </p:grpSpPr>
      <p:sp>
        <p:nvSpPr>
          <p:cNvPr id="216" name="Google Shape;216;p3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8" name="Google Shape;218;p30"/>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19" name="Google Shape;219;p3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20"/>
        <p:cNvGrpSpPr/>
        <p:nvPr/>
      </p:nvGrpSpPr>
      <p:grpSpPr>
        <a:xfrm>
          <a:off x="0" y="0"/>
          <a:ext cx="0" cy="0"/>
          <a:chOff x="0" y="0"/>
          <a:chExt cx="0" cy="0"/>
        </a:xfrm>
      </p:grpSpPr>
      <p:sp>
        <p:nvSpPr>
          <p:cNvPr id="221" name="Google Shape;22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2" name="Google Shape;222;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23" name="Google Shape;223;p3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56"/>
        <p:cNvGrpSpPr/>
        <p:nvPr/>
      </p:nvGrpSpPr>
      <p:grpSpPr>
        <a:xfrm>
          <a:off x="0" y="0"/>
          <a:ext cx="0" cy="0"/>
          <a:chOff x="0" y="0"/>
          <a:chExt cx="0" cy="0"/>
        </a:xfrm>
      </p:grpSpPr>
      <p:sp>
        <p:nvSpPr>
          <p:cNvPr id="157" name="Google Shape;157;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58" name="Google Shape;158;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59" name="Google Shape;159;p18"/>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www.freesoft.org/CIE/Topics/16.htm"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hyperlink" Target="http://www.freesoft.org/CIE/Topics/15.ht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docs.oracle.com/javase/9/docs/api/java/net/InetAddress.html"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s://www.w3.org/People/Berners-Lee/"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www.nasa.gov/" TargetMode="Externa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www.nsa.gov"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hyperlink" Target="https://www.nsa.gov" TargetMode="External"/><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https://serach.yahoo.com" TargetMode="External"/><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hyperlink" Target="https://www.nsa.gov" TargetMode="External"/><Relationship Id="rId5" Type="http://schemas.openxmlformats.org/officeDocument/2006/relationships/hyperlink" Target="https://www.bing.com" TargetMode="External"/><Relationship Id="rId4" Type="http://schemas.openxmlformats.org/officeDocument/2006/relationships/hyperlink" Target="https://www.google.com"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8" Type="http://schemas.openxmlformats.org/officeDocument/2006/relationships/hyperlink" Target="https://docs.google.com/presentation/d/1o_Wzm-itW5NJQlUITrtTtvAWiQE9ua_4NxTIYhPYWF0/edit#slide=id.g230bdc7f68c_0_736" TargetMode="External"/><Relationship Id="rId3" Type="http://schemas.openxmlformats.org/officeDocument/2006/relationships/hyperlink" Target="https://docs.google.com/presentation/d/1o_Wzm-itW5NJQlUITrtTtvAWiQE9ua_4NxTIYhPYWF0/edit#slide=id.gce414f90c7_0_409" TargetMode="External"/><Relationship Id="rId7" Type="http://schemas.openxmlformats.org/officeDocument/2006/relationships/hyperlink" Target="https://docs.google.com/presentation/d/1o_Wzm-itW5NJQlUITrtTtvAWiQE9ua_4NxTIYhPYWF0/edit#slide=id.gcd1135e90b_0_70" TargetMode="External"/><Relationship Id="rId2" Type="http://schemas.openxmlformats.org/officeDocument/2006/relationships/notesSlide" Target="../notesSlides/notesSlide43.xml"/><Relationship Id="rId1" Type="http://schemas.openxmlformats.org/officeDocument/2006/relationships/slideLayout" Target="../slideLayouts/slideLayout27.xml"/><Relationship Id="rId6" Type="http://schemas.openxmlformats.org/officeDocument/2006/relationships/hyperlink" Target="https://docs.google.com/presentation/d/1o_Wzm-itW5NJQlUITrtTtvAWiQE9ua_4NxTIYhPYWF0/edit#slide=id.gcd1135e90b_0_48" TargetMode="External"/><Relationship Id="rId5" Type="http://schemas.openxmlformats.org/officeDocument/2006/relationships/hyperlink" Target="https://docs.google.com/presentation/d/1o_Wzm-itW5NJQlUITrtTtvAWiQE9ua_4NxTIYhPYWF0/edit#slide=id.gcd1135e90b_0_9" TargetMode="External"/><Relationship Id="rId4" Type="http://schemas.openxmlformats.org/officeDocument/2006/relationships/hyperlink" Target="https://docs.google.com/presentation/d/1o_Wzm-itW5NJQlUITrtTtvAWiQE9ua_4NxTIYhPYWF0/edit#slide=id.gce414f90c7_0_626" TargetMode="External"/><Relationship Id="rId9" Type="http://schemas.openxmlformats.org/officeDocument/2006/relationships/hyperlink" Target="https://docs.google.com/presentation/d/1o_Wzm-itW5NJQlUITrtTtvAWiQE9ua_4NxTIYhPYWF0/edit#slide=id.g230bdc7f68c_0_849"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229" name="Google Shape;229;p32"/>
          <p:cNvSpPr txBox="1">
            <a:spLocks noGrp="1"/>
          </p:cNvSpPr>
          <p:nvPr>
            <p:ph type="subTitle" idx="1"/>
          </p:nvPr>
        </p:nvSpPr>
        <p:spPr>
          <a:xfrm>
            <a:off x="311700" y="1878550"/>
            <a:ext cx="4741200" cy="95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09: Networking I</a:t>
            </a:r>
            <a:endParaRPr sz="2600" i="1">
              <a:solidFill>
                <a:srgbClr val="FF0000"/>
              </a:solidFill>
            </a:endParaRPr>
          </a:p>
        </p:txBody>
      </p:sp>
      <p:grpSp>
        <p:nvGrpSpPr>
          <p:cNvPr id="230" name="Google Shape;230;p32"/>
          <p:cNvGrpSpPr/>
          <p:nvPr/>
        </p:nvGrpSpPr>
        <p:grpSpPr>
          <a:xfrm>
            <a:off x="5001999" y="4264475"/>
            <a:ext cx="3908400" cy="738300"/>
            <a:chOff x="5001999" y="4264475"/>
            <a:chExt cx="3908400" cy="738300"/>
          </a:xfrm>
        </p:grpSpPr>
        <p:sp>
          <p:nvSpPr>
            <p:cNvPr id="231" name="Google Shape;231;p32"/>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2" name="Google Shape;232;p32"/>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3"/>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Networking I</a:t>
            </a:r>
            <a:endParaRPr/>
          </a:p>
        </p:txBody>
      </p:sp>
      <p:sp>
        <p:nvSpPr>
          <p:cNvPr id="238" name="Google Shape;238;p33"/>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Connecting to the world via a computer network is now a ubiquitous part of daily life. You are most likely doing it right now to attend this class.</a:t>
            </a:r>
            <a:endParaRPr dirty="0"/>
          </a:p>
          <a:p>
            <a:pPr marL="457200" lvl="0" indent="-311150" algn="l" rtl="0">
              <a:spcBef>
                <a:spcPts val="1000"/>
              </a:spcBef>
              <a:spcAft>
                <a:spcPts val="0"/>
              </a:spcAft>
              <a:buSzPts val="1300"/>
              <a:buChar char="●"/>
            </a:pPr>
            <a:r>
              <a:rPr lang="en" dirty="0"/>
              <a:t>This week we will learn how to interact with other computers over the network.</a:t>
            </a:r>
            <a:endParaRPr dirty="0"/>
          </a:p>
          <a:p>
            <a:pPr marL="457200" lvl="0" indent="-311150" algn="l" rtl="0">
              <a:spcBef>
                <a:spcPts val="1000"/>
              </a:spcBef>
              <a:spcAft>
                <a:spcPts val="0"/>
              </a:spcAft>
              <a:buSzPts val="1300"/>
              <a:buChar char="●"/>
            </a:pPr>
            <a:r>
              <a:rPr lang="en" dirty="0">
                <a:highlight>
                  <a:srgbClr val="FFFF00"/>
                </a:highlight>
              </a:rPr>
              <a:t>We will be exploring the basics of networking including:</a:t>
            </a:r>
            <a:endParaRPr dirty="0">
              <a:highlight>
                <a:srgbClr val="FFFF00"/>
              </a:highlight>
            </a:endParaRPr>
          </a:p>
          <a:p>
            <a:pPr marL="914400" lvl="1" indent="-298450" algn="l" rtl="0">
              <a:spcBef>
                <a:spcPts val="0"/>
              </a:spcBef>
              <a:spcAft>
                <a:spcPts val="0"/>
              </a:spcAft>
              <a:buSzPts val="1100"/>
              <a:buChar char="○"/>
            </a:pPr>
            <a:r>
              <a:rPr lang="en" dirty="0"/>
              <a:t>URLs and URLConnection</a:t>
            </a:r>
            <a:endParaRPr dirty="0"/>
          </a:p>
          <a:p>
            <a:pPr marL="914400" lvl="1" indent="-298450" algn="l" rtl="0">
              <a:spcBef>
                <a:spcPts val="0"/>
              </a:spcBef>
              <a:spcAft>
                <a:spcPts val="0"/>
              </a:spcAft>
              <a:buSzPts val="1100"/>
              <a:buChar char="○"/>
            </a:pPr>
            <a:r>
              <a:rPr lang="en" dirty="0"/>
              <a:t>TCP</a:t>
            </a:r>
            <a:endParaRPr dirty="0"/>
          </a:p>
          <a:p>
            <a:pPr marL="914400" lvl="1" indent="-298450" algn="l" rtl="0">
              <a:spcBef>
                <a:spcPts val="0"/>
              </a:spcBef>
              <a:spcAft>
                <a:spcPts val="0"/>
              </a:spcAft>
              <a:buSzPts val="1100"/>
              <a:buChar char="○"/>
            </a:pPr>
            <a:r>
              <a:rPr lang="en" dirty="0"/>
              <a:t>Client Sockets</a:t>
            </a:r>
            <a:endParaRPr dirty="0"/>
          </a:p>
          <a:p>
            <a:pPr marL="914400" lvl="1" indent="-298450" algn="l" rtl="0">
              <a:spcBef>
                <a:spcPts val="0"/>
              </a:spcBef>
              <a:spcAft>
                <a:spcPts val="0"/>
              </a:spcAft>
              <a:buSzPts val="1100"/>
              <a:buChar char="○"/>
            </a:pPr>
            <a:r>
              <a:rPr lang="en" dirty="0"/>
              <a:t>Server Sockets</a:t>
            </a:r>
            <a:endParaRPr dirty="0"/>
          </a:p>
          <a:p>
            <a:pPr marL="914400" lvl="1" indent="-298450" algn="l" rtl="0">
              <a:spcBef>
                <a:spcPts val="0"/>
              </a:spcBef>
              <a:spcAft>
                <a:spcPts val="0"/>
              </a:spcAft>
              <a:buSzPts val="1100"/>
              <a:buChar char="○"/>
            </a:pPr>
            <a:r>
              <a:rPr lang="en" dirty="0"/>
              <a:t>UDP</a:t>
            </a:r>
            <a:endParaRPr dirty="0"/>
          </a:p>
          <a:p>
            <a:pPr marL="914400" lvl="1" indent="-298450" algn="l" rtl="0">
              <a:spcBef>
                <a:spcPts val="0"/>
              </a:spcBef>
              <a:spcAft>
                <a:spcPts val="0"/>
              </a:spcAft>
              <a:buSzPts val="1100"/>
              <a:buChar char="○"/>
            </a:pPr>
            <a:r>
              <a:rPr lang="en" dirty="0"/>
              <a:t>Multi-threaded Servers</a:t>
            </a:r>
            <a:endParaRPr dirty="0"/>
          </a:p>
          <a:p>
            <a:pPr marL="457200" lvl="0" indent="-311150" algn="l" rtl="0">
              <a:spcBef>
                <a:spcPts val="1000"/>
              </a:spcBef>
              <a:spcAft>
                <a:spcPts val="0"/>
              </a:spcAft>
              <a:buSzPts val="1300"/>
              <a:buChar char="●"/>
            </a:pPr>
            <a:r>
              <a:rPr lang="en" dirty="0">
                <a:highlight>
                  <a:srgbClr val="FFFF00"/>
                </a:highlight>
              </a:rPr>
              <a:t>Today we will focus on the general principles behind networking and start to explore TCP/IP communications.</a:t>
            </a:r>
            <a:endParaRPr dirty="0">
              <a:highlight>
                <a:srgbClr val="FFFF00"/>
              </a:highlight>
            </a:endParaRPr>
          </a:p>
        </p:txBody>
      </p:sp>
      <p:sp>
        <p:nvSpPr>
          <p:cNvPr id="239" name="Google Shape;239;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240" name="Google Shape;240;p33"/>
          <p:cNvSpPr txBox="1">
            <a:spLocks noGrp="1"/>
          </p:cNvSpPr>
          <p:nvPr>
            <p:ph type="body" idx="3"/>
          </p:nvPr>
        </p:nvSpPr>
        <p:spPr>
          <a:xfrm>
            <a:off x="315413"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It is difficult to imagine life without computer networks. This week we'll start to explore how to use them in your code.</a:t>
            </a:r>
            <a:endParaRPr/>
          </a:p>
        </p:txBody>
      </p:sp>
      <p:pic>
        <p:nvPicPr>
          <p:cNvPr id="241" name="Google Shape;241;p33"/>
          <p:cNvPicPr preferRelativeResize="0"/>
          <p:nvPr/>
        </p:nvPicPr>
        <p:blipFill>
          <a:blip r:embed="rId3">
            <a:alphaModFix/>
          </a:blip>
          <a:stretch>
            <a:fillRect/>
          </a:stretch>
        </p:blipFill>
        <p:spPr>
          <a:xfrm>
            <a:off x="297500" y="1291425"/>
            <a:ext cx="3742325" cy="2645824"/>
          </a:xfrm>
          <a:prstGeom prst="rect">
            <a:avLst/>
          </a:prstGeom>
          <a:noFill/>
          <a:ln w="19050" cap="flat" cmpd="sng">
            <a:solidFill>
              <a:schemeClr val="accent1"/>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10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4"/>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Exceptions, IO, and Threads</a:t>
            </a:r>
            <a:endParaRPr/>
          </a:p>
        </p:txBody>
      </p:sp>
      <p:sp>
        <p:nvSpPr>
          <p:cNvPr id="247" name="Google Shape;247;p34"/>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rmAutofit/>
          </a:bodyPr>
          <a:lstStyle/>
          <a:p>
            <a:pPr marL="457200" lvl="0" indent="-349250" algn="l" rtl="0">
              <a:lnSpc>
                <a:spcPct val="115000"/>
              </a:lnSpc>
              <a:spcBef>
                <a:spcPts val="0"/>
              </a:spcBef>
              <a:spcAft>
                <a:spcPts val="0"/>
              </a:spcAft>
              <a:buClr>
                <a:schemeClr val="dk1"/>
              </a:buClr>
              <a:buSzPts val="1500"/>
              <a:buChar char="●"/>
            </a:pPr>
            <a:r>
              <a:rPr lang="en" sz="1400" b="1" i="1" dirty="0">
                <a:solidFill>
                  <a:srgbClr val="FF0000"/>
                </a:solidFill>
              </a:rPr>
              <a:t>Exceptions</a:t>
            </a:r>
            <a:r>
              <a:rPr lang="en" sz="1400" b="1" dirty="0"/>
              <a:t> </a:t>
            </a:r>
            <a:r>
              <a:rPr lang="en" sz="1400" dirty="0"/>
              <a:t>come in two basic types:</a:t>
            </a:r>
            <a:endParaRPr sz="1400" dirty="0"/>
          </a:p>
          <a:p>
            <a:pPr marL="914400" lvl="1" indent="-304800" algn="l" rtl="0">
              <a:lnSpc>
                <a:spcPct val="115000"/>
              </a:lnSpc>
              <a:spcBef>
                <a:spcPts val="0"/>
              </a:spcBef>
              <a:spcAft>
                <a:spcPts val="0"/>
              </a:spcAft>
              <a:buClr>
                <a:schemeClr val="dk1"/>
              </a:buClr>
              <a:buSzPts val="1200"/>
              <a:buChar char="○"/>
            </a:pPr>
            <a:r>
              <a:rPr lang="en" sz="1200" b="1" i="1" dirty="0">
                <a:solidFill>
                  <a:srgbClr val="FF0000"/>
                </a:solidFill>
                <a:highlight>
                  <a:srgbClr val="FFFF00"/>
                </a:highlight>
              </a:rPr>
              <a:t>Unchecked </a:t>
            </a:r>
            <a:r>
              <a:rPr lang="en" sz="1200" dirty="0">
                <a:highlight>
                  <a:srgbClr val="FFFF00"/>
                </a:highlight>
              </a:rPr>
              <a:t>exceptions that do not need to be handled</a:t>
            </a:r>
            <a:endParaRPr sz="1200" dirty="0">
              <a:highlight>
                <a:srgbClr val="FFFF00"/>
              </a:highlight>
            </a:endParaRPr>
          </a:p>
          <a:p>
            <a:pPr marL="914400" lvl="1" indent="-330200" algn="l" rtl="0">
              <a:lnSpc>
                <a:spcPct val="115000"/>
              </a:lnSpc>
              <a:spcBef>
                <a:spcPts val="0"/>
              </a:spcBef>
              <a:spcAft>
                <a:spcPts val="0"/>
              </a:spcAft>
              <a:buClr>
                <a:schemeClr val="dk1"/>
              </a:buClr>
              <a:buSzPts val="1200"/>
              <a:buChar char="○"/>
            </a:pPr>
            <a:r>
              <a:rPr lang="en" sz="1200" b="1" i="1" dirty="0">
                <a:solidFill>
                  <a:srgbClr val="FF0000"/>
                </a:solidFill>
                <a:highlight>
                  <a:srgbClr val="FFFF00"/>
                </a:highlight>
              </a:rPr>
              <a:t>Checked</a:t>
            </a:r>
            <a:r>
              <a:rPr lang="en" sz="1200" b="1" dirty="0">
                <a:highlight>
                  <a:srgbClr val="FFFF00"/>
                </a:highlight>
              </a:rPr>
              <a:t> </a:t>
            </a:r>
            <a:r>
              <a:rPr lang="en" sz="1200" dirty="0">
                <a:highlight>
                  <a:srgbClr val="FFFF00"/>
                </a:highlight>
              </a:rPr>
              <a:t>exceptions that must be rethrown or handled with a try/catch</a:t>
            </a:r>
            <a:endParaRPr sz="1200" dirty="0">
              <a:highlight>
                <a:srgbClr val="FFFF00"/>
              </a:highlight>
            </a:endParaRPr>
          </a:p>
          <a:p>
            <a:pPr marL="457200" lvl="0" indent="-349250" algn="l" rtl="0">
              <a:lnSpc>
                <a:spcPct val="115000"/>
              </a:lnSpc>
              <a:spcBef>
                <a:spcPts val="1000"/>
              </a:spcBef>
              <a:spcAft>
                <a:spcPts val="0"/>
              </a:spcAft>
              <a:buClr>
                <a:schemeClr val="dk1"/>
              </a:buClr>
              <a:buSzPts val="1500"/>
              <a:buChar char="●"/>
            </a:pPr>
            <a:r>
              <a:rPr lang="en" sz="1400" b="1" i="1" dirty="0">
                <a:solidFill>
                  <a:srgbClr val="FF0000"/>
                </a:solidFill>
              </a:rPr>
              <a:t>Data</a:t>
            </a:r>
            <a:r>
              <a:rPr lang="en" sz="1400" b="1" dirty="0"/>
              <a:t> </a:t>
            </a:r>
            <a:r>
              <a:rPr lang="en" sz="1400" dirty="0"/>
              <a:t>comes in two basic types:</a:t>
            </a:r>
            <a:endParaRPr sz="1400" dirty="0"/>
          </a:p>
          <a:p>
            <a:pPr marL="914400" lvl="1" indent="-330200" algn="l" rtl="0">
              <a:lnSpc>
                <a:spcPct val="115000"/>
              </a:lnSpc>
              <a:spcBef>
                <a:spcPts val="0"/>
              </a:spcBef>
              <a:spcAft>
                <a:spcPts val="0"/>
              </a:spcAft>
              <a:buClr>
                <a:schemeClr val="dk1"/>
              </a:buClr>
              <a:buSzPts val="1200"/>
              <a:buChar char="○"/>
            </a:pPr>
            <a:r>
              <a:rPr lang="en" sz="1200" dirty="0">
                <a:highlight>
                  <a:srgbClr val="FFFF00"/>
                </a:highlight>
              </a:rPr>
              <a:t>Text</a:t>
            </a:r>
            <a:r>
              <a:rPr lang="en" sz="1200" b="1" dirty="0">
                <a:highlight>
                  <a:srgbClr val="FFFF00"/>
                </a:highlight>
              </a:rPr>
              <a:t> </a:t>
            </a:r>
            <a:r>
              <a:rPr lang="en" sz="1200" dirty="0">
                <a:highlight>
                  <a:srgbClr val="FFFF00"/>
                </a:highlight>
              </a:rPr>
              <a:t>- ASCII characters</a:t>
            </a:r>
            <a:endParaRPr sz="1200" dirty="0">
              <a:highlight>
                <a:srgbClr val="FFFF00"/>
              </a:highlight>
            </a:endParaRPr>
          </a:p>
          <a:p>
            <a:pPr marL="914400" lvl="1" indent="-330200" algn="l" rtl="0">
              <a:lnSpc>
                <a:spcPct val="115000"/>
              </a:lnSpc>
              <a:spcBef>
                <a:spcPts val="0"/>
              </a:spcBef>
              <a:spcAft>
                <a:spcPts val="0"/>
              </a:spcAft>
              <a:buClr>
                <a:schemeClr val="dk1"/>
              </a:buClr>
              <a:buSzPts val="1200"/>
              <a:buChar char="○"/>
            </a:pPr>
            <a:r>
              <a:rPr lang="en" sz="1200" dirty="0">
                <a:highlight>
                  <a:srgbClr val="FFFF00"/>
                </a:highlight>
              </a:rPr>
              <a:t>Bytes</a:t>
            </a:r>
            <a:r>
              <a:rPr lang="en" sz="1200" b="1" dirty="0">
                <a:highlight>
                  <a:srgbClr val="FFFF00"/>
                </a:highlight>
              </a:rPr>
              <a:t> </a:t>
            </a:r>
            <a:r>
              <a:rPr lang="en" sz="1200" dirty="0">
                <a:highlight>
                  <a:srgbClr val="FFFF00"/>
                </a:highlight>
              </a:rPr>
              <a:t>- positive 8-bit integers</a:t>
            </a:r>
            <a:endParaRPr sz="1200" dirty="0">
              <a:highlight>
                <a:srgbClr val="FFFF00"/>
              </a:highlight>
            </a:endParaRPr>
          </a:p>
          <a:p>
            <a:pPr marL="457200" lvl="0" indent="-349250" algn="l" rtl="0">
              <a:lnSpc>
                <a:spcPct val="115000"/>
              </a:lnSpc>
              <a:spcBef>
                <a:spcPts val="1000"/>
              </a:spcBef>
              <a:spcAft>
                <a:spcPts val="0"/>
              </a:spcAft>
              <a:buClr>
                <a:schemeClr val="dk1"/>
              </a:buClr>
              <a:buSzPts val="1500"/>
              <a:buChar char="●"/>
            </a:pPr>
            <a:r>
              <a:rPr lang="en" sz="1400" b="1" i="1" dirty="0">
                <a:solidFill>
                  <a:srgbClr val="FF0000"/>
                </a:solidFill>
              </a:rPr>
              <a:t>IO</a:t>
            </a:r>
            <a:r>
              <a:rPr lang="en" sz="1400" b="1" dirty="0"/>
              <a:t> </a:t>
            </a:r>
            <a:r>
              <a:rPr lang="en" sz="1400" dirty="0"/>
              <a:t>is handled by two kinds of objects:</a:t>
            </a:r>
            <a:endParaRPr sz="1400" dirty="0"/>
          </a:p>
          <a:p>
            <a:pPr marL="914400" lvl="1" indent="-330200" algn="l" rtl="0">
              <a:lnSpc>
                <a:spcPct val="115000"/>
              </a:lnSpc>
              <a:spcBef>
                <a:spcPts val="0"/>
              </a:spcBef>
              <a:spcAft>
                <a:spcPts val="0"/>
              </a:spcAft>
              <a:buClr>
                <a:schemeClr val="dk1"/>
              </a:buClr>
              <a:buSzPts val="1200"/>
              <a:buChar char="○"/>
            </a:pPr>
            <a:r>
              <a:rPr lang="en" sz="1200" b="1" i="1" dirty="0">
                <a:solidFill>
                  <a:srgbClr val="FF0000"/>
                </a:solidFill>
                <a:highlight>
                  <a:srgbClr val="FFFF00"/>
                </a:highlight>
              </a:rPr>
              <a:t>Readers</a:t>
            </a:r>
            <a:r>
              <a:rPr lang="en" sz="1200" dirty="0">
                <a:highlight>
                  <a:srgbClr val="FFFF00"/>
                </a:highlight>
              </a:rPr>
              <a:t>/</a:t>
            </a:r>
            <a:r>
              <a:rPr lang="en" sz="1200" b="1" i="1" dirty="0">
                <a:solidFill>
                  <a:srgbClr val="FF0000"/>
                </a:solidFill>
                <a:highlight>
                  <a:srgbClr val="FFFF00"/>
                </a:highlight>
              </a:rPr>
              <a:t>Writers</a:t>
            </a:r>
            <a:r>
              <a:rPr lang="en" sz="1200" b="1" dirty="0">
                <a:highlight>
                  <a:srgbClr val="FFFF00"/>
                </a:highlight>
              </a:rPr>
              <a:t> </a:t>
            </a:r>
            <a:r>
              <a:rPr lang="en" sz="1200" dirty="0"/>
              <a:t>work with character data</a:t>
            </a:r>
            <a:endParaRPr sz="1200" dirty="0"/>
          </a:p>
          <a:p>
            <a:pPr marL="914400" lvl="1" indent="-330200" algn="l" rtl="0">
              <a:lnSpc>
                <a:spcPct val="115000"/>
              </a:lnSpc>
              <a:spcBef>
                <a:spcPts val="0"/>
              </a:spcBef>
              <a:spcAft>
                <a:spcPts val="0"/>
              </a:spcAft>
              <a:buClr>
                <a:schemeClr val="dk1"/>
              </a:buClr>
              <a:buSzPts val="1200"/>
              <a:buChar char="○"/>
            </a:pPr>
            <a:r>
              <a:rPr lang="en" sz="1200" b="1" i="1" dirty="0">
                <a:solidFill>
                  <a:srgbClr val="FF0000"/>
                </a:solidFill>
                <a:highlight>
                  <a:srgbClr val="FFFF00"/>
                </a:highlight>
              </a:rPr>
              <a:t>Input</a:t>
            </a:r>
            <a:r>
              <a:rPr lang="en" sz="1200" dirty="0">
                <a:highlight>
                  <a:srgbClr val="FFFF00"/>
                </a:highlight>
              </a:rPr>
              <a:t>/</a:t>
            </a:r>
            <a:r>
              <a:rPr lang="en" sz="1200" b="1" i="1" dirty="0">
                <a:solidFill>
                  <a:srgbClr val="FF0000"/>
                </a:solidFill>
                <a:highlight>
                  <a:srgbClr val="FFFF00"/>
                </a:highlight>
              </a:rPr>
              <a:t>Output Streams</a:t>
            </a:r>
            <a:r>
              <a:rPr lang="en" sz="1200" dirty="0">
                <a:highlight>
                  <a:srgbClr val="FFFF00"/>
                </a:highlight>
              </a:rPr>
              <a:t> </a:t>
            </a:r>
            <a:r>
              <a:rPr lang="en" sz="1200" dirty="0"/>
              <a:t>work with bytes</a:t>
            </a:r>
            <a:endParaRPr sz="1200" dirty="0"/>
          </a:p>
          <a:p>
            <a:pPr marL="457200" lvl="0" indent="-349250" algn="l" rtl="0">
              <a:lnSpc>
                <a:spcPct val="115000"/>
              </a:lnSpc>
              <a:spcBef>
                <a:spcPts val="1000"/>
              </a:spcBef>
              <a:spcAft>
                <a:spcPts val="0"/>
              </a:spcAft>
              <a:buClr>
                <a:schemeClr val="dk1"/>
              </a:buClr>
              <a:buSzPts val="1500"/>
              <a:buChar char="●"/>
            </a:pPr>
            <a:r>
              <a:rPr lang="en" sz="1400" b="1" i="1" dirty="0">
                <a:solidFill>
                  <a:srgbClr val="FF0000"/>
                </a:solidFill>
                <a:highlight>
                  <a:srgbClr val="FFFF00"/>
                </a:highlight>
              </a:rPr>
              <a:t>Threads</a:t>
            </a:r>
            <a:r>
              <a:rPr lang="en" sz="1400" b="1" dirty="0">
                <a:highlight>
                  <a:srgbClr val="FFFF00"/>
                </a:highlight>
              </a:rPr>
              <a:t> </a:t>
            </a:r>
            <a:r>
              <a:rPr lang="en" sz="1400" dirty="0"/>
              <a:t>allow a program to do more than one thing at the same time</a:t>
            </a:r>
            <a:endParaRPr sz="1400" dirty="0"/>
          </a:p>
          <a:p>
            <a:pPr marL="0" lvl="0" indent="0" algn="l" rtl="0">
              <a:lnSpc>
                <a:spcPct val="90000"/>
              </a:lnSpc>
              <a:spcBef>
                <a:spcPts val="800"/>
              </a:spcBef>
              <a:spcAft>
                <a:spcPts val="1600"/>
              </a:spcAft>
              <a:buClr>
                <a:schemeClr val="dk1"/>
              </a:buClr>
              <a:buSzPts val="1900"/>
              <a:buNone/>
            </a:pPr>
            <a:endParaRPr dirty="0"/>
          </a:p>
        </p:txBody>
      </p:sp>
      <p:sp>
        <p:nvSpPr>
          <p:cNvPr id="248" name="Google Shape;248;p34"/>
          <p:cNvSpPr txBox="1"/>
          <p:nvPr/>
        </p:nvSpPr>
        <p:spPr>
          <a:xfrm>
            <a:off x="5154425" y="1645825"/>
            <a:ext cx="3769800" cy="5661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Believe it or not, there is a method to what can feel like the madness of </a:t>
            </a:r>
            <a:r>
              <a:rPr lang="en" sz="1200">
                <a:solidFill>
                  <a:schemeClr val="dk1"/>
                </a:solidFill>
              </a:rPr>
              <a:t>SoftDev II</a:t>
            </a:r>
            <a:r>
              <a:rPr lang="en"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249" name="Google Shape;249;p34"/>
          <p:cNvSpPr txBox="1"/>
          <p:nvPr/>
        </p:nvSpPr>
        <p:spPr>
          <a:xfrm>
            <a:off x="5154425" y="2326125"/>
            <a:ext cx="3769800" cy="5661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We teach exceptions when we do because exception handling is an important part of IO and Threads.</a:t>
            </a:r>
            <a:endParaRPr sz="1200">
              <a:solidFill>
                <a:schemeClr val="dk1"/>
              </a:solidFill>
              <a:latin typeface="Arial"/>
              <a:ea typeface="Arial"/>
              <a:cs typeface="Arial"/>
              <a:sym typeface="Arial"/>
            </a:endParaRPr>
          </a:p>
        </p:txBody>
      </p:sp>
      <p:sp>
        <p:nvSpPr>
          <p:cNvPr id="250" name="Google Shape;250;p34"/>
          <p:cNvSpPr txBox="1"/>
          <p:nvPr/>
        </p:nvSpPr>
        <p:spPr>
          <a:xfrm>
            <a:off x="5154425" y="3006422"/>
            <a:ext cx="3769800" cy="5661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We teach IO when we do because reading and writing data is an important part of programming.</a:t>
            </a:r>
            <a:endParaRPr sz="1200">
              <a:solidFill>
                <a:schemeClr val="dk1"/>
              </a:solidFill>
              <a:latin typeface="Arial"/>
              <a:ea typeface="Arial"/>
              <a:cs typeface="Arial"/>
              <a:sym typeface="Arial"/>
            </a:endParaRPr>
          </a:p>
        </p:txBody>
      </p:sp>
      <p:sp>
        <p:nvSpPr>
          <p:cNvPr id="251" name="Google Shape;251;p34"/>
          <p:cNvSpPr txBox="1"/>
          <p:nvPr/>
        </p:nvSpPr>
        <p:spPr>
          <a:xfrm>
            <a:off x="5154425" y="3686729"/>
            <a:ext cx="3769800" cy="5661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We teach Threads when we do because concurrent programming is also a necessary skill.</a:t>
            </a:r>
            <a:endParaRPr sz="1200">
              <a:solidFill>
                <a:schemeClr val="dk1"/>
              </a:solidFill>
              <a:latin typeface="Arial"/>
              <a:ea typeface="Arial"/>
              <a:cs typeface="Arial"/>
              <a:sym typeface="Arial"/>
            </a:endParaRPr>
          </a:p>
        </p:txBody>
      </p:sp>
      <p:sp>
        <p:nvSpPr>
          <p:cNvPr id="252" name="Google Shape;252;p34"/>
          <p:cNvSpPr txBox="1"/>
          <p:nvPr/>
        </p:nvSpPr>
        <p:spPr>
          <a:xfrm>
            <a:off x="5154425" y="4367025"/>
            <a:ext cx="3769800" cy="5661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And once you have all of those tools in your toolbox, you are finally ready for </a:t>
            </a:r>
            <a:r>
              <a:rPr lang="en" sz="1200" b="1" i="1">
                <a:solidFill>
                  <a:srgbClr val="FF0000"/>
                </a:solidFill>
                <a:latin typeface="Arial"/>
                <a:ea typeface="Arial"/>
                <a:cs typeface="Arial"/>
                <a:sym typeface="Arial"/>
              </a:rPr>
              <a:t>networking</a:t>
            </a:r>
            <a:r>
              <a:rPr lang="en"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253" name="Google Shape;253;p3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fade">
                                      <p:cBhvr>
                                        <p:cTn id="7" dur="1000"/>
                                        <p:tgtEl>
                                          <p:spTgt spid="2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9"/>
                                        </p:tgtEl>
                                        <p:attrNameLst>
                                          <p:attrName>style.visibility</p:attrName>
                                        </p:attrNameLst>
                                      </p:cBhvr>
                                      <p:to>
                                        <p:strVal val="visible"/>
                                      </p:to>
                                    </p:set>
                                    <p:animEffect transition="in" filter="fade">
                                      <p:cBhvr>
                                        <p:cTn id="12" dur="1000"/>
                                        <p:tgtEl>
                                          <p:spTgt spid="2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0"/>
                                        </p:tgtEl>
                                        <p:attrNameLst>
                                          <p:attrName>style.visibility</p:attrName>
                                        </p:attrNameLst>
                                      </p:cBhvr>
                                      <p:to>
                                        <p:strVal val="visible"/>
                                      </p:to>
                                    </p:set>
                                    <p:animEffect transition="in" filter="fade">
                                      <p:cBhvr>
                                        <p:cTn id="17" dur="1000"/>
                                        <p:tgtEl>
                                          <p:spTgt spid="25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1"/>
                                        </p:tgtEl>
                                        <p:attrNameLst>
                                          <p:attrName>style.visibility</p:attrName>
                                        </p:attrNameLst>
                                      </p:cBhvr>
                                      <p:to>
                                        <p:strVal val="visible"/>
                                      </p:to>
                                    </p:set>
                                    <p:animEffect transition="in" filter="fade">
                                      <p:cBhvr>
                                        <p:cTn id="22" dur="1000"/>
                                        <p:tgtEl>
                                          <p:spTgt spid="25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2"/>
                                        </p:tgtEl>
                                        <p:attrNameLst>
                                          <p:attrName>style.visibility</p:attrName>
                                        </p:attrNameLst>
                                      </p:cBhvr>
                                      <p:to>
                                        <p:strVal val="visible"/>
                                      </p:to>
                                    </p:set>
                                    <p:animEffect transition="in" filter="fade">
                                      <p:cBhvr>
                                        <p:cTn id="27" dur="10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35"/>
          <p:cNvPicPr preferRelativeResize="0"/>
          <p:nvPr/>
        </p:nvPicPr>
        <p:blipFill rotWithShape="1">
          <a:blip r:embed="rId3">
            <a:alphaModFix/>
          </a:blip>
          <a:srcRect/>
          <a:stretch/>
        </p:blipFill>
        <p:spPr>
          <a:xfrm>
            <a:off x="2126200" y="1299400"/>
            <a:ext cx="1734575" cy="1806850"/>
          </a:xfrm>
          <a:prstGeom prst="rect">
            <a:avLst/>
          </a:prstGeom>
          <a:noFill/>
          <a:ln>
            <a:noFill/>
          </a:ln>
        </p:spPr>
      </p:pic>
      <p:pic>
        <p:nvPicPr>
          <p:cNvPr id="259" name="Google Shape;259;p35"/>
          <p:cNvPicPr preferRelativeResize="0"/>
          <p:nvPr/>
        </p:nvPicPr>
        <p:blipFill rotWithShape="1">
          <a:blip r:embed="rId3">
            <a:alphaModFix/>
          </a:blip>
          <a:srcRect/>
          <a:stretch/>
        </p:blipFill>
        <p:spPr>
          <a:xfrm>
            <a:off x="391626" y="3106250"/>
            <a:ext cx="1734575" cy="1806850"/>
          </a:xfrm>
          <a:prstGeom prst="rect">
            <a:avLst/>
          </a:prstGeom>
          <a:noFill/>
          <a:ln>
            <a:noFill/>
          </a:ln>
        </p:spPr>
      </p:pic>
      <p:sp>
        <p:nvSpPr>
          <p:cNvPr id="260" name="Google Shape;260;p35"/>
          <p:cNvSpPr/>
          <p:nvPr/>
        </p:nvSpPr>
        <p:spPr>
          <a:xfrm>
            <a:off x="457563" y="1314250"/>
            <a:ext cx="1451100" cy="426300"/>
          </a:xfrm>
          <a:prstGeom prst="wedgeRectCallout">
            <a:avLst>
              <a:gd name="adj1" fmla="val 77947"/>
              <a:gd name="adj2" fmla="val 43162"/>
            </a:avLst>
          </a:prstGeom>
          <a:solidFill>
            <a:srgbClr val="E2E4E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800" b="1">
                <a:solidFill>
                  <a:schemeClr val="dk1"/>
                </a:solidFill>
                <a:latin typeface="Courier New"/>
                <a:ea typeface="Courier New"/>
                <a:cs typeface="Courier New"/>
                <a:sym typeface="Courier New"/>
              </a:rPr>
              <a:t>Hi there.</a:t>
            </a:r>
            <a:endParaRPr sz="1800" b="1">
              <a:solidFill>
                <a:schemeClr val="dk1"/>
              </a:solidFill>
              <a:latin typeface="Courier New"/>
              <a:ea typeface="Courier New"/>
              <a:cs typeface="Courier New"/>
              <a:sym typeface="Courier New"/>
            </a:endParaRPr>
          </a:p>
        </p:txBody>
      </p:sp>
      <p:sp>
        <p:nvSpPr>
          <p:cNvPr id="261" name="Google Shape;261;p35"/>
          <p:cNvSpPr/>
          <p:nvPr/>
        </p:nvSpPr>
        <p:spPr>
          <a:xfrm>
            <a:off x="896047" y="2338425"/>
            <a:ext cx="1031400" cy="619800"/>
          </a:xfrm>
          <a:prstGeom prst="wedgeRectCallout">
            <a:avLst>
              <a:gd name="adj1" fmla="val -29930"/>
              <a:gd name="adj2" fmla="val 72318"/>
            </a:avLst>
          </a:prstGeom>
          <a:solidFill>
            <a:srgbClr val="E2E4E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800" b="1">
                <a:solidFill>
                  <a:schemeClr val="dk1"/>
                </a:solidFill>
                <a:latin typeface="Courier New"/>
                <a:ea typeface="Courier New"/>
                <a:cs typeface="Courier New"/>
                <a:sym typeface="Courier New"/>
              </a:rPr>
              <a:t>Hello!</a:t>
            </a:r>
            <a:endParaRPr sz="1800" b="1">
              <a:solidFill>
                <a:schemeClr val="dk1"/>
              </a:solidFill>
              <a:latin typeface="Courier New"/>
              <a:ea typeface="Courier New"/>
              <a:cs typeface="Courier New"/>
              <a:sym typeface="Courier New"/>
            </a:endParaRPr>
          </a:p>
        </p:txBody>
      </p:sp>
      <p:sp>
        <p:nvSpPr>
          <p:cNvPr id="262" name="Google Shape;262;p35"/>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ourier New"/>
              <a:buNone/>
            </a:pPr>
            <a:r>
              <a:rPr lang="en"/>
              <a:t>Networking</a:t>
            </a:r>
            <a:endParaRPr/>
          </a:p>
        </p:txBody>
      </p:sp>
      <p:sp>
        <p:nvSpPr>
          <p:cNvPr id="263" name="Google Shape;263;p35"/>
          <p:cNvSpPr txBox="1">
            <a:spLocks noGrp="1"/>
          </p:cNvSpPr>
          <p:nvPr>
            <p:ph type="body" idx="1"/>
          </p:nvPr>
        </p:nvSpPr>
        <p:spPr>
          <a:xfrm>
            <a:off x="4644675" y="500925"/>
            <a:ext cx="4166400" cy="4432200"/>
          </a:xfrm>
          <a:prstGeom prst="rect">
            <a:avLst/>
          </a:prstGeom>
          <a:noFill/>
          <a:ln>
            <a:noFill/>
          </a:ln>
        </p:spPr>
        <p:txBody>
          <a:bodyPr spcFirstLastPara="1" wrap="square" lIns="68575" tIns="34275" rIns="68575" bIns="34275" anchor="t" anchorCtr="0">
            <a:normAutofit/>
          </a:bodyPr>
          <a:lstStyle/>
          <a:p>
            <a:pPr marL="457200" lvl="0" indent="-330200" algn="l" rtl="0">
              <a:lnSpc>
                <a:spcPct val="115000"/>
              </a:lnSpc>
              <a:spcBef>
                <a:spcPts val="0"/>
              </a:spcBef>
              <a:spcAft>
                <a:spcPts val="0"/>
              </a:spcAft>
              <a:buClr>
                <a:schemeClr val="dk1"/>
              </a:buClr>
              <a:buSzPts val="1200"/>
              <a:buChar char="●"/>
            </a:pPr>
            <a:r>
              <a:rPr lang="en" sz="1800" dirty="0"/>
              <a:t>A </a:t>
            </a:r>
            <a:r>
              <a:rPr lang="en" sz="1800" b="1" i="1" dirty="0">
                <a:solidFill>
                  <a:srgbClr val="FF0000"/>
                </a:solidFill>
              </a:rPr>
              <a:t>network</a:t>
            </a:r>
            <a:r>
              <a:rPr lang="en" sz="1800" dirty="0"/>
              <a:t> comprises the </a:t>
            </a:r>
            <a:r>
              <a:rPr lang="en" sz="1800" dirty="0">
                <a:highlight>
                  <a:srgbClr val="FFFF00"/>
                </a:highlight>
              </a:rPr>
              <a:t>hardware and software </a:t>
            </a:r>
            <a:r>
              <a:rPr lang="en" sz="1800" dirty="0"/>
              <a:t>that provides two or more computers with the ability to </a:t>
            </a:r>
            <a:r>
              <a:rPr lang="en" sz="1800" b="1" i="1" dirty="0">
                <a:solidFill>
                  <a:srgbClr val="FF0000"/>
                </a:solidFill>
              </a:rPr>
              <a:t>communicate</a:t>
            </a:r>
            <a:r>
              <a:rPr lang="en" sz="1800" dirty="0"/>
              <a:t> with each other</a:t>
            </a:r>
            <a:endParaRPr sz="1100" dirty="0"/>
          </a:p>
          <a:p>
            <a:pPr marL="457200" lvl="0" indent="-330200" algn="l" rtl="0">
              <a:lnSpc>
                <a:spcPct val="115000"/>
              </a:lnSpc>
              <a:spcBef>
                <a:spcPts val="1000"/>
              </a:spcBef>
              <a:spcAft>
                <a:spcPts val="0"/>
              </a:spcAft>
              <a:buClr>
                <a:schemeClr val="dk1"/>
              </a:buClr>
              <a:buSzPts val="1200"/>
              <a:buChar char="●"/>
            </a:pPr>
            <a:r>
              <a:rPr lang="en" sz="1800" dirty="0"/>
              <a:t>Provided that one computer is </a:t>
            </a:r>
            <a:r>
              <a:rPr lang="en" sz="1800" dirty="0">
                <a:highlight>
                  <a:srgbClr val="FFFF00"/>
                </a:highlight>
              </a:rPr>
              <a:t>listening</a:t>
            </a:r>
            <a:r>
              <a:rPr lang="en" sz="1800" dirty="0"/>
              <a:t>, another computer can establish a </a:t>
            </a:r>
            <a:r>
              <a:rPr lang="en" sz="1800" b="1" i="1" dirty="0">
                <a:solidFill>
                  <a:srgbClr val="FF0000"/>
                </a:solidFill>
                <a:highlight>
                  <a:srgbClr val="FFFF00"/>
                </a:highlight>
              </a:rPr>
              <a:t>connection</a:t>
            </a:r>
            <a:endParaRPr sz="1100" b="1" i="1" dirty="0">
              <a:solidFill>
                <a:srgbClr val="FF0000"/>
              </a:solidFill>
              <a:highlight>
                <a:srgbClr val="FFFF00"/>
              </a:highlight>
            </a:endParaRPr>
          </a:p>
          <a:p>
            <a:pPr marL="457200" lvl="0" indent="-330200" algn="l" rtl="0">
              <a:lnSpc>
                <a:spcPct val="115000"/>
              </a:lnSpc>
              <a:spcBef>
                <a:spcPts val="1000"/>
              </a:spcBef>
              <a:spcAft>
                <a:spcPts val="0"/>
              </a:spcAft>
              <a:buClr>
                <a:schemeClr val="dk1"/>
              </a:buClr>
              <a:buSzPts val="1200"/>
              <a:buChar char="●"/>
            </a:pPr>
            <a:r>
              <a:rPr lang="en" sz="1800" dirty="0"/>
              <a:t>Both computers can then </a:t>
            </a:r>
            <a:r>
              <a:rPr lang="en" sz="1800" b="1" i="1" dirty="0">
                <a:solidFill>
                  <a:srgbClr val="FF0000"/>
                </a:solidFill>
                <a:highlight>
                  <a:srgbClr val="FFFF00"/>
                </a:highlight>
              </a:rPr>
              <a:t>send</a:t>
            </a:r>
            <a:r>
              <a:rPr lang="en" sz="1800" dirty="0"/>
              <a:t> and </a:t>
            </a:r>
            <a:r>
              <a:rPr lang="en" sz="1800" b="1" i="1" dirty="0">
                <a:solidFill>
                  <a:srgbClr val="FF0000"/>
                </a:solidFill>
                <a:highlight>
                  <a:srgbClr val="FFFF00"/>
                </a:highlight>
              </a:rPr>
              <a:t>receive</a:t>
            </a:r>
            <a:r>
              <a:rPr lang="en" sz="1800" dirty="0"/>
              <a:t> data over the connection</a:t>
            </a:r>
            <a:endParaRPr sz="1100" dirty="0"/>
          </a:p>
          <a:p>
            <a:pPr marL="914400" lvl="1" indent="-342900" algn="l" rtl="0">
              <a:lnSpc>
                <a:spcPct val="115000"/>
              </a:lnSpc>
              <a:spcBef>
                <a:spcPts val="1000"/>
              </a:spcBef>
              <a:spcAft>
                <a:spcPts val="0"/>
              </a:spcAft>
              <a:buClr>
                <a:schemeClr val="dk1"/>
              </a:buClr>
              <a:buSzPts val="1400"/>
              <a:buChar char="○"/>
            </a:pPr>
            <a:r>
              <a:rPr lang="en" sz="1400" dirty="0"/>
              <a:t>The data may be </a:t>
            </a:r>
            <a:r>
              <a:rPr lang="en" sz="1400" dirty="0">
                <a:highlight>
                  <a:srgbClr val="FFFF00"/>
                </a:highlight>
              </a:rPr>
              <a:t>characters or binary data</a:t>
            </a:r>
            <a:r>
              <a:rPr lang="en" sz="1400" dirty="0"/>
              <a:t> (bytes)</a:t>
            </a:r>
            <a:endParaRPr sz="1400" dirty="0"/>
          </a:p>
          <a:p>
            <a:pPr marL="0" lvl="0" indent="0" algn="l" rtl="0">
              <a:lnSpc>
                <a:spcPct val="90000"/>
              </a:lnSpc>
              <a:spcBef>
                <a:spcPts val="1000"/>
              </a:spcBef>
              <a:spcAft>
                <a:spcPts val="1600"/>
              </a:spcAft>
              <a:buClr>
                <a:schemeClr val="dk1"/>
              </a:buClr>
              <a:buSzPts val="2200"/>
              <a:buNone/>
            </a:pPr>
            <a:endParaRPr sz="2400" dirty="0"/>
          </a:p>
        </p:txBody>
      </p:sp>
      <p:sp>
        <p:nvSpPr>
          <p:cNvPr id="264" name="Google Shape;264;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1000"/>
                                        <p:tgtEl>
                                          <p:spTgt spid="2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1"/>
                                        </p:tgtEl>
                                        <p:attrNameLst>
                                          <p:attrName>style.visibility</p:attrName>
                                        </p:attrNameLst>
                                      </p:cBhvr>
                                      <p:to>
                                        <p:strVal val="visible"/>
                                      </p:to>
                                    </p:set>
                                    <p:animEffect transition="in" filter="fade">
                                      <p:cBhvr>
                                        <p:cTn id="12" dur="1000"/>
                                        <p:tgtEl>
                                          <p:spTgt spid="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6"/>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Protocol Layers</a:t>
            </a:r>
            <a:endParaRPr/>
          </a:p>
        </p:txBody>
      </p:sp>
      <p:sp>
        <p:nvSpPr>
          <p:cNvPr id="270" name="Google Shape;270;p36"/>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rmAutofit/>
          </a:bodyPr>
          <a:lstStyle/>
          <a:p>
            <a:pPr marL="457200" lvl="0" indent="-349250" algn="l" rtl="0">
              <a:lnSpc>
                <a:spcPct val="115000"/>
              </a:lnSpc>
              <a:spcBef>
                <a:spcPts val="0"/>
              </a:spcBef>
              <a:spcAft>
                <a:spcPts val="0"/>
              </a:spcAft>
              <a:buClr>
                <a:schemeClr val="dk1"/>
              </a:buClr>
              <a:buSzPts val="1500"/>
              <a:buChar char="●"/>
            </a:pPr>
            <a:r>
              <a:rPr lang="en" sz="1400" dirty="0">
                <a:highlight>
                  <a:srgbClr val="FFFF00"/>
                </a:highlight>
              </a:rPr>
              <a:t>Protocol </a:t>
            </a:r>
            <a:r>
              <a:rPr lang="en" sz="1400" b="1" i="1" dirty="0">
                <a:solidFill>
                  <a:srgbClr val="FF0000"/>
                </a:solidFill>
                <a:highlight>
                  <a:srgbClr val="FFFF00"/>
                </a:highlight>
              </a:rPr>
              <a:t>layering</a:t>
            </a:r>
            <a:r>
              <a:rPr lang="en" sz="1400" dirty="0">
                <a:highlight>
                  <a:srgbClr val="FFFF00"/>
                </a:highlight>
              </a:rPr>
              <a:t> </a:t>
            </a:r>
            <a:r>
              <a:rPr lang="en" sz="1400" dirty="0"/>
              <a:t>is a common technique to simplify network designs by dividing them into </a:t>
            </a:r>
            <a:r>
              <a:rPr lang="en" sz="1400" dirty="0">
                <a:highlight>
                  <a:srgbClr val="FFFF00"/>
                </a:highlight>
              </a:rPr>
              <a:t>functional </a:t>
            </a:r>
            <a:r>
              <a:rPr lang="en" sz="1400" b="1" i="1" dirty="0">
                <a:solidFill>
                  <a:srgbClr val="FF0000"/>
                </a:solidFill>
                <a:highlight>
                  <a:srgbClr val="FFFF00"/>
                </a:highlight>
              </a:rPr>
              <a:t>layers</a:t>
            </a:r>
            <a:endParaRPr sz="1400" b="1" i="1" dirty="0">
              <a:solidFill>
                <a:srgbClr val="FF0000"/>
              </a:solidFill>
              <a:highlight>
                <a:srgbClr val="FFFF00"/>
              </a:highlight>
            </a:endParaRPr>
          </a:p>
          <a:p>
            <a:pPr marL="914400" lvl="1" indent="-330200" algn="l" rtl="0">
              <a:lnSpc>
                <a:spcPct val="115000"/>
              </a:lnSpc>
              <a:spcBef>
                <a:spcPts val="1000"/>
              </a:spcBef>
              <a:spcAft>
                <a:spcPts val="0"/>
              </a:spcAft>
              <a:buClr>
                <a:schemeClr val="dk1"/>
              </a:buClr>
              <a:buSzPts val="1200"/>
              <a:buChar char="○"/>
            </a:pPr>
            <a:r>
              <a:rPr lang="en" sz="1200" dirty="0"/>
              <a:t>For example, it is common to separate the functions of data </a:t>
            </a:r>
            <a:r>
              <a:rPr lang="en" sz="1200" b="1" i="1" dirty="0">
                <a:solidFill>
                  <a:srgbClr val="FF0000"/>
                </a:solidFill>
              </a:rPr>
              <a:t>delivery </a:t>
            </a:r>
            <a:r>
              <a:rPr lang="en" sz="1200" dirty="0"/>
              <a:t>and connection </a:t>
            </a:r>
            <a:r>
              <a:rPr lang="en" sz="1200" b="1" i="1" dirty="0">
                <a:solidFill>
                  <a:srgbClr val="FF0000"/>
                </a:solidFill>
              </a:rPr>
              <a:t>management</a:t>
            </a:r>
            <a:r>
              <a:rPr lang="en" sz="1200" dirty="0"/>
              <a:t> into separate layers</a:t>
            </a:r>
            <a:endParaRPr sz="1200" dirty="0"/>
          </a:p>
          <a:p>
            <a:pPr marL="914400" lvl="1" indent="-330200" algn="l" rtl="0">
              <a:lnSpc>
                <a:spcPct val="115000"/>
              </a:lnSpc>
              <a:spcBef>
                <a:spcPts val="0"/>
              </a:spcBef>
              <a:spcAft>
                <a:spcPts val="0"/>
              </a:spcAft>
              <a:buClr>
                <a:schemeClr val="dk1"/>
              </a:buClr>
              <a:buSzPts val="1200"/>
              <a:buChar char="○"/>
            </a:pPr>
            <a:r>
              <a:rPr lang="en" sz="1200" dirty="0">
                <a:highlight>
                  <a:srgbClr val="FFFF00"/>
                </a:highlight>
              </a:rPr>
              <a:t>Each layer has its own </a:t>
            </a:r>
            <a:r>
              <a:rPr lang="en" sz="1200" b="1" i="1" dirty="0">
                <a:solidFill>
                  <a:srgbClr val="FF0000"/>
                </a:solidFill>
                <a:highlight>
                  <a:srgbClr val="FFFF00"/>
                </a:highlight>
              </a:rPr>
              <a:t>protocol(s)</a:t>
            </a:r>
            <a:endParaRPr sz="1200" b="1" i="1" dirty="0">
              <a:solidFill>
                <a:srgbClr val="FF0000"/>
              </a:solidFill>
              <a:highlight>
                <a:srgbClr val="FFFF00"/>
              </a:highlight>
            </a:endParaRPr>
          </a:p>
          <a:p>
            <a:pPr marL="457200" lvl="0" indent="-349250" algn="l" rtl="0">
              <a:lnSpc>
                <a:spcPct val="115000"/>
              </a:lnSpc>
              <a:spcBef>
                <a:spcPts val="1000"/>
              </a:spcBef>
              <a:spcAft>
                <a:spcPts val="0"/>
              </a:spcAft>
              <a:buClr>
                <a:schemeClr val="dk1"/>
              </a:buClr>
              <a:buSzPts val="1500"/>
              <a:buChar char="●"/>
            </a:pPr>
            <a:r>
              <a:rPr lang="en" sz="1400" dirty="0"/>
              <a:t>Each layer performs a specific </a:t>
            </a:r>
            <a:r>
              <a:rPr lang="en" sz="1400" b="1" i="1" dirty="0">
                <a:solidFill>
                  <a:srgbClr val="FF0000"/>
                </a:solidFill>
              </a:rPr>
              <a:t>purpose</a:t>
            </a:r>
            <a:r>
              <a:rPr lang="en" sz="1400" dirty="0"/>
              <a:t>, and </a:t>
            </a:r>
            <a:r>
              <a:rPr lang="en" sz="1400" dirty="0">
                <a:highlight>
                  <a:srgbClr val="FFFF00"/>
                </a:highlight>
              </a:rPr>
              <a:t>doesn’t need to know </a:t>
            </a:r>
            <a:r>
              <a:rPr lang="en" sz="1400" dirty="0"/>
              <a:t>about the </a:t>
            </a:r>
            <a:r>
              <a:rPr lang="en" sz="1400" b="1" i="1" dirty="0">
                <a:solidFill>
                  <a:srgbClr val="FF0000"/>
                </a:solidFill>
                <a:highlight>
                  <a:srgbClr val="FFFF00"/>
                </a:highlight>
              </a:rPr>
              <a:t>other layers</a:t>
            </a:r>
            <a:r>
              <a:rPr lang="en" sz="1400" dirty="0">
                <a:highlight>
                  <a:srgbClr val="FFFF00"/>
                </a:highlight>
              </a:rPr>
              <a:t> </a:t>
            </a:r>
            <a:r>
              <a:rPr lang="en" sz="1400" dirty="0"/>
              <a:t>or how to perform their purposes</a:t>
            </a:r>
            <a:endParaRPr sz="1400" dirty="0"/>
          </a:p>
          <a:p>
            <a:pPr marL="457200" lvl="0" indent="-349250" algn="l" rtl="0">
              <a:lnSpc>
                <a:spcPct val="115000"/>
              </a:lnSpc>
              <a:spcBef>
                <a:spcPts val="1000"/>
              </a:spcBef>
              <a:spcAft>
                <a:spcPts val="0"/>
              </a:spcAft>
              <a:buClr>
                <a:schemeClr val="dk1"/>
              </a:buClr>
              <a:buSzPts val="1500"/>
              <a:buChar char="●"/>
            </a:pPr>
            <a:r>
              <a:rPr lang="en" sz="1400" dirty="0"/>
              <a:t>There are </a:t>
            </a:r>
            <a:r>
              <a:rPr lang="en" sz="1400" b="1" i="1" dirty="0">
                <a:solidFill>
                  <a:srgbClr val="FF0000"/>
                </a:solidFill>
              </a:rPr>
              <a:t>two</a:t>
            </a:r>
            <a:r>
              <a:rPr lang="en" sz="1400" dirty="0"/>
              <a:t> major layered protocol designs in use today.</a:t>
            </a:r>
            <a:endParaRPr sz="1400" dirty="0"/>
          </a:p>
          <a:p>
            <a:pPr marL="914400" lvl="1" indent="-330200" algn="l" rtl="0">
              <a:lnSpc>
                <a:spcPct val="115000"/>
              </a:lnSpc>
              <a:spcBef>
                <a:spcPts val="1000"/>
              </a:spcBef>
              <a:spcAft>
                <a:spcPts val="0"/>
              </a:spcAft>
              <a:buClr>
                <a:schemeClr val="dk1"/>
              </a:buClr>
              <a:buSzPts val="1200"/>
              <a:buChar char="○"/>
            </a:pPr>
            <a:r>
              <a:rPr lang="en" sz="1200" dirty="0"/>
              <a:t>The DoD 4-Layer model</a:t>
            </a:r>
            <a:endParaRPr sz="1200" dirty="0"/>
          </a:p>
          <a:p>
            <a:pPr marL="914400" lvl="1" indent="-330200" algn="l" rtl="0">
              <a:lnSpc>
                <a:spcPct val="115000"/>
              </a:lnSpc>
              <a:spcBef>
                <a:spcPts val="0"/>
              </a:spcBef>
              <a:spcAft>
                <a:spcPts val="1000"/>
              </a:spcAft>
              <a:buClr>
                <a:schemeClr val="dk1"/>
              </a:buClr>
              <a:buSzPts val="1200"/>
              <a:buChar char="○"/>
            </a:pPr>
            <a:r>
              <a:rPr lang="en" sz="1200" dirty="0">
                <a:highlight>
                  <a:srgbClr val="FFFF00"/>
                </a:highlight>
              </a:rPr>
              <a:t>The OSI 7-Layer model</a:t>
            </a:r>
            <a:endParaRPr sz="1200" dirty="0">
              <a:highlight>
                <a:srgbClr val="FFFF00"/>
              </a:highlight>
            </a:endParaRPr>
          </a:p>
        </p:txBody>
      </p:sp>
      <p:sp>
        <p:nvSpPr>
          <p:cNvPr id="271" name="Google Shape;271;p36"/>
          <p:cNvSpPr/>
          <p:nvPr/>
        </p:nvSpPr>
        <p:spPr>
          <a:xfrm>
            <a:off x="6047575" y="4089119"/>
            <a:ext cx="2140800" cy="406800"/>
          </a:xfrm>
          <a:prstGeom prst="rect">
            <a:avLst/>
          </a:prstGeom>
          <a:solidFill>
            <a:srgbClr val="EA99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Network Access</a:t>
            </a:r>
            <a:endParaRPr sz="1800">
              <a:solidFill>
                <a:schemeClr val="dk1"/>
              </a:solidFill>
              <a:latin typeface="Calibri"/>
              <a:ea typeface="Calibri"/>
              <a:cs typeface="Calibri"/>
              <a:sym typeface="Calibri"/>
            </a:endParaRPr>
          </a:p>
        </p:txBody>
      </p:sp>
      <p:sp>
        <p:nvSpPr>
          <p:cNvPr id="272" name="Google Shape;272;p36"/>
          <p:cNvSpPr/>
          <p:nvPr/>
        </p:nvSpPr>
        <p:spPr>
          <a:xfrm>
            <a:off x="6047575" y="3621594"/>
            <a:ext cx="2140800" cy="406800"/>
          </a:xfrm>
          <a:prstGeom prst="rect">
            <a:avLst/>
          </a:prstGeom>
          <a:solidFill>
            <a:srgbClr val="F6B26B"/>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Data Link</a:t>
            </a:r>
            <a:endParaRPr sz="1800">
              <a:solidFill>
                <a:schemeClr val="dk1"/>
              </a:solidFill>
              <a:latin typeface="Calibri"/>
              <a:ea typeface="Calibri"/>
              <a:cs typeface="Calibri"/>
              <a:sym typeface="Calibri"/>
            </a:endParaRPr>
          </a:p>
        </p:txBody>
      </p:sp>
      <p:sp>
        <p:nvSpPr>
          <p:cNvPr id="273" name="Google Shape;273;p36"/>
          <p:cNvSpPr/>
          <p:nvPr/>
        </p:nvSpPr>
        <p:spPr>
          <a:xfrm>
            <a:off x="6047575" y="3154069"/>
            <a:ext cx="2140800" cy="406800"/>
          </a:xfrm>
          <a:prstGeom prst="rect">
            <a:avLst/>
          </a:prstGeom>
          <a:solidFill>
            <a:srgbClr val="FFE5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Network</a:t>
            </a:r>
            <a:endParaRPr sz="1800">
              <a:solidFill>
                <a:schemeClr val="dk1"/>
              </a:solidFill>
              <a:latin typeface="Calibri"/>
              <a:ea typeface="Calibri"/>
              <a:cs typeface="Calibri"/>
              <a:sym typeface="Calibri"/>
            </a:endParaRPr>
          </a:p>
        </p:txBody>
      </p:sp>
      <p:sp>
        <p:nvSpPr>
          <p:cNvPr id="274" name="Google Shape;274;p36"/>
          <p:cNvSpPr/>
          <p:nvPr/>
        </p:nvSpPr>
        <p:spPr>
          <a:xfrm>
            <a:off x="6047575" y="2686544"/>
            <a:ext cx="2140800" cy="406800"/>
          </a:xfrm>
          <a:prstGeom prst="rect">
            <a:avLst/>
          </a:prstGeom>
          <a:solidFill>
            <a:srgbClr val="B6D7A8"/>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Transport</a:t>
            </a:r>
            <a:endParaRPr sz="1800">
              <a:solidFill>
                <a:schemeClr val="dk1"/>
              </a:solidFill>
              <a:latin typeface="Calibri"/>
              <a:ea typeface="Calibri"/>
              <a:cs typeface="Calibri"/>
              <a:sym typeface="Calibri"/>
            </a:endParaRPr>
          </a:p>
        </p:txBody>
      </p:sp>
      <p:sp>
        <p:nvSpPr>
          <p:cNvPr id="275" name="Google Shape;275;p36"/>
          <p:cNvSpPr/>
          <p:nvPr/>
        </p:nvSpPr>
        <p:spPr>
          <a:xfrm>
            <a:off x="6047575" y="2219019"/>
            <a:ext cx="2140800" cy="406800"/>
          </a:xfrm>
          <a:prstGeom prst="rect">
            <a:avLst/>
          </a:prstGeom>
          <a:solidFill>
            <a:srgbClr val="93C47D"/>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Session</a:t>
            </a:r>
            <a:endParaRPr sz="1800">
              <a:solidFill>
                <a:schemeClr val="dk1"/>
              </a:solidFill>
              <a:latin typeface="Calibri"/>
              <a:ea typeface="Calibri"/>
              <a:cs typeface="Calibri"/>
              <a:sym typeface="Calibri"/>
            </a:endParaRPr>
          </a:p>
        </p:txBody>
      </p:sp>
      <p:sp>
        <p:nvSpPr>
          <p:cNvPr id="276" name="Google Shape;276;p36"/>
          <p:cNvSpPr/>
          <p:nvPr/>
        </p:nvSpPr>
        <p:spPr>
          <a:xfrm>
            <a:off x="6047575" y="1751494"/>
            <a:ext cx="2140800" cy="406800"/>
          </a:xfrm>
          <a:prstGeom prst="rect">
            <a:avLst/>
          </a:prstGeom>
          <a:solidFill>
            <a:srgbClr val="93C47D"/>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Presentation</a:t>
            </a:r>
            <a:endParaRPr sz="1800">
              <a:solidFill>
                <a:schemeClr val="dk1"/>
              </a:solidFill>
              <a:latin typeface="Calibri"/>
              <a:ea typeface="Calibri"/>
              <a:cs typeface="Calibri"/>
              <a:sym typeface="Calibri"/>
            </a:endParaRPr>
          </a:p>
        </p:txBody>
      </p:sp>
      <p:sp>
        <p:nvSpPr>
          <p:cNvPr id="277" name="Google Shape;277;p36"/>
          <p:cNvSpPr/>
          <p:nvPr/>
        </p:nvSpPr>
        <p:spPr>
          <a:xfrm>
            <a:off x="6047575" y="1289413"/>
            <a:ext cx="2140800" cy="406800"/>
          </a:xfrm>
          <a:prstGeom prst="rect">
            <a:avLst/>
          </a:prstGeom>
          <a:solidFill>
            <a:srgbClr val="93C47D"/>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Application</a:t>
            </a:r>
            <a:endParaRPr sz="1800">
              <a:solidFill>
                <a:schemeClr val="dk1"/>
              </a:solidFill>
              <a:latin typeface="Calibri"/>
              <a:ea typeface="Calibri"/>
              <a:cs typeface="Calibri"/>
              <a:sym typeface="Calibri"/>
            </a:endParaRPr>
          </a:p>
        </p:txBody>
      </p:sp>
      <p:sp>
        <p:nvSpPr>
          <p:cNvPr id="278" name="Google Shape;278;p3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7"/>
          <p:cNvSpPr/>
          <p:nvPr/>
        </p:nvSpPr>
        <p:spPr>
          <a:xfrm>
            <a:off x="2737554" y="3866133"/>
            <a:ext cx="2140800" cy="406800"/>
          </a:xfrm>
          <a:prstGeom prst="rect">
            <a:avLst/>
          </a:prstGeom>
          <a:solidFill>
            <a:srgbClr val="EA99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Physical</a:t>
            </a:r>
            <a:endParaRPr sz="1800">
              <a:solidFill>
                <a:schemeClr val="dk1"/>
              </a:solidFill>
              <a:latin typeface="Calibri"/>
              <a:ea typeface="Calibri"/>
              <a:cs typeface="Calibri"/>
              <a:sym typeface="Calibri"/>
            </a:endParaRPr>
          </a:p>
        </p:txBody>
      </p:sp>
      <p:sp>
        <p:nvSpPr>
          <p:cNvPr id="284" name="Google Shape;284;p37"/>
          <p:cNvSpPr/>
          <p:nvPr/>
        </p:nvSpPr>
        <p:spPr>
          <a:xfrm>
            <a:off x="2737554" y="3398609"/>
            <a:ext cx="2140800" cy="406800"/>
          </a:xfrm>
          <a:prstGeom prst="rect">
            <a:avLst/>
          </a:prstGeom>
          <a:solidFill>
            <a:srgbClr val="F6B26B"/>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Data Link</a:t>
            </a:r>
            <a:endParaRPr sz="1800">
              <a:solidFill>
                <a:schemeClr val="dk1"/>
              </a:solidFill>
              <a:latin typeface="Calibri"/>
              <a:ea typeface="Calibri"/>
              <a:cs typeface="Calibri"/>
              <a:sym typeface="Calibri"/>
            </a:endParaRPr>
          </a:p>
        </p:txBody>
      </p:sp>
      <p:sp>
        <p:nvSpPr>
          <p:cNvPr id="285" name="Google Shape;285;p37"/>
          <p:cNvSpPr/>
          <p:nvPr/>
        </p:nvSpPr>
        <p:spPr>
          <a:xfrm>
            <a:off x="2737554" y="2931084"/>
            <a:ext cx="2140800" cy="406800"/>
          </a:xfrm>
          <a:prstGeom prst="rect">
            <a:avLst/>
          </a:prstGeom>
          <a:solidFill>
            <a:srgbClr val="FFE5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Network</a:t>
            </a:r>
            <a:endParaRPr sz="1800">
              <a:solidFill>
                <a:schemeClr val="dk1"/>
              </a:solidFill>
              <a:latin typeface="Calibri"/>
              <a:ea typeface="Calibri"/>
              <a:cs typeface="Calibri"/>
              <a:sym typeface="Calibri"/>
            </a:endParaRPr>
          </a:p>
        </p:txBody>
      </p:sp>
      <p:sp>
        <p:nvSpPr>
          <p:cNvPr id="286" name="Google Shape;286;p37"/>
          <p:cNvSpPr/>
          <p:nvPr/>
        </p:nvSpPr>
        <p:spPr>
          <a:xfrm>
            <a:off x="2737554" y="2463559"/>
            <a:ext cx="2140800" cy="406800"/>
          </a:xfrm>
          <a:prstGeom prst="rect">
            <a:avLst/>
          </a:prstGeom>
          <a:solidFill>
            <a:srgbClr val="B6D7A8"/>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Transport</a:t>
            </a:r>
            <a:endParaRPr sz="1800">
              <a:solidFill>
                <a:schemeClr val="dk1"/>
              </a:solidFill>
              <a:latin typeface="Calibri"/>
              <a:ea typeface="Calibri"/>
              <a:cs typeface="Calibri"/>
              <a:sym typeface="Calibri"/>
            </a:endParaRPr>
          </a:p>
        </p:txBody>
      </p:sp>
      <p:sp>
        <p:nvSpPr>
          <p:cNvPr id="287" name="Google Shape;287;p37"/>
          <p:cNvSpPr/>
          <p:nvPr/>
        </p:nvSpPr>
        <p:spPr>
          <a:xfrm>
            <a:off x="2737554" y="1996034"/>
            <a:ext cx="2140800" cy="406800"/>
          </a:xfrm>
          <a:prstGeom prst="rect">
            <a:avLst/>
          </a:prstGeom>
          <a:solidFill>
            <a:srgbClr val="93C47D"/>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Session</a:t>
            </a:r>
            <a:endParaRPr sz="1800">
              <a:solidFill>
                <a:schemeClr val="dk1"/>
              </a:solidFill>
              <a:latin typeface="Calibri"/>
              <a:ea typeface="Calibri"/>
              <a:cs typeface="Calibri"/>
              <a:sym typeface="Calibri"/>
            </a:endParaRPr>
          </a:p>
        </p:txBody>
      </p:sp>
      <p:sp>
        <p:nvSpPr>
          <p:cNvPr id="288" name="Google Shape;288;p37"/>
          <p:cNvSpPr/>
          <p:nvPr/>
        </p:nvSpPr>
        <p:spPr>
          <a:xfrm>
            <a:off x="2737554" y="1528509"/>
            <a:ext cx="2140800" cy="406800"/>
          </a:xfrm>
          <a:prstGeom prst="rect">
            <a:avLst/>
          </a:prstGeom>
          <a:solidFill>
            <a:srgbClr val="93C47D"/>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Presentation</a:t>
            </a:r>
            <a:endParaRPr sz="1800">
              <a:solidFill>
                <a:schemeClr val="dk1"/>
              </a:solidFill>
              <a:latin typeface="Calibri"/>
              <a:ea typeface="Calibri"/>
              <a:cs typeface="Calibri"/>
              <a:sym typeface="Calibri"/>
            </a:endParaRPr>
          </a:p>
        </p:txBody>
      </p:sp>
      <p:sp>
        <p:nvSpPr>
          <p:cNvPr id="289" name="Google Shape;289;p37"/>
          <p:cNvSpPr/>
          <p:nvPr/>
        </p:nvSpPr>
        <p:spPr>
          <a:xfrm>
            <a:off x="2737554" y="1077122"/>
            <a:ext cx="2140800" cy="406800"/>
          </a:xfrm>
          <a:prstGeom prst="rect">
            <a:avLst/>
          </a:prstGeom>
          <a:solidFill>
            <a:srgbClr val="93C47D"/>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Application</a:t>
            </a:r>
            <a:endParaRPr sz="1800">
              <a:solidFill>
                <a:schemeClr val="dk1"/>
              </a:solidFill>
              <a:latin typeface="Calibri"/>
              <a:ea typeface="Calibri"/>
              <a:cs typeface="Calibri"/>
              <a:sym typeface="Calibri"/>
            </a:endParaRPr>
          </a:p>
        </p:txBody>
      </p:sp>
      <p:sp>
        <p:nvSpPr>
          <p:cNvPr id="290" name="Google Shape;290;p37"/>
          <p:cNvSpPr/>
          <p:nvPr/>
        </p:nvSpPr>
        <p:spPr>
          <a:xfrm>
            <a:off x="346304" y="3398609"/>
            <a:ext cx="2231400" cy="882300"/>
          </a:xfrm>
          <a:prstGeom prst="rect">
            <a:avLst/>
          </a:prstGeom>
          <a:solidFill>
            <a:srgbClr val="EA99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Network Access</a:t>
            </a:r>
            <a:endParaRPr sz="1800">
              <a:solidFill>
                <a:schemeClr val="dk1"/>
              </a:solidFill>
              <a:latin typeface="Calibri"/>
              <a:ea typeface="Calibri"/>
              <a:cs typeface="Calibri"/>
              <a:sym typeface="Calibri"/>
            </a:endParaRPr>
          </a:p>
        </p:txBody>
      </p:sp>
      <p:sp>
        <p:nvSpPr>
          <p:cNvPr id="291" name="Google Shape;291;p37"/>
          <p:cNvSpPr/>
          <p:nvPr/>
        </p:nvSpPr>
        <p:spPr>
          <a:xfrm>
            <a:off x="346304" y="2939159"/>
            <a:ext cx="2231400" cy="406800"/>
          </a:xfrm>
          <a:prstGeom prst="rect">
            <a:avLst/>
          </a:prstGeom>
          <a:solidFill>
            <a:srgbClr val="FFE5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Internet</a:t>
            </a:r>
            <a:endParaRPr sz="1800">
              <a:solidFill>
                <a:schemeClr val="dk1"/>
              </a:solidFill>
              <a:latin typeface="Calibri"/>
              <a:ea typeface="Calibri"/>
              <a:cs typeface="Calibri"/>
              <a:sym typeface="Calibri"/>
            </a:endParaRPr>
          </a:p>
        </p:txBody>
      </p:sp>
      <p:sp>
        <p:nvSpPr>
          <p:cNvPr id="292" name="Google Shape;292;p37"/>
          <p:cNvSpPr/>
          <p:nvPr/>
        </p:nvSpPr>
        <p:spPr>
          <a:xfrm>
            <a:off x="346304" y="2471634"/>
            <a:ext cx="2231400" cy="406800"/>
          </a:xfrm>
          <a:prstGeom prst="rect">
            <a:avLst/>
          </a:prstGeom>
          <a:solidFill>
            <a:srgbClr val="B6D7A8"/>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Transport</a:t>
            </a:r>
            <a:endParaRPr sz="1800">
              <a:solidFill>
                <a:schemeClr val="dk1"/>
              </a:solidFill>
              <a:latin typeface="Calibri"/>
              <a:ea typeface="Calibri"/>
              <a:cs typeface="Calibri"/>
              <a:sym typeface="Calibri"/>
            </a:endParaRPr>
          </a:p>
        </p:txBody>
      </p:sp>
      <p:sp>
        <p:nvSpPr>
          <p:cNvPr id="293" name="Google Shape;293;p37"/>
          <p:cNvSpPr/>
          <p:nvPr/>
        </p:nvSpPr>
        <p:spPr>
          <a:xfrm>
            <a:off x="346304" y="1077134"/>
            <a:ext cx="2231400" cy="1333800"/>
          </a:xfrm>
          <a:prstGeom prst="rect">
            <a:avLst/>
          </a:prstGeom>
          <a:solidFill>
            <a:srgbClr val="93C47D"/>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Application</a:t>
            </a:r>
            <a:endParaRPr sz="1800">
              <a:solidFill>
                <a:schemeClr val="dk1"/>
              </a:solidFill>
              <a:latin typeface="Calibri"/>
              <a:ea typeface="Calibri"/>
              <a:cs typeface="Calibri"/>
              <a:sym typeface="Calibri"/>
            </a:endParaRPr>
          </a:p>
        </p:txBody>
      </p:sp>
      <p:sp>
        <p:nvSpPr>
          <p:cNvPr id="294" name="Google Shape;294;p37"/>
          <p:cNvSpPr txBox="1"/>
          <p:nvPr/>
        </p:nvSpPr>
        <p:spPr>
          <a:xfrm>
            <a:off x="346400" y="4353300"/>
            <a:ext cx="2231400" cy="673500"/>
          </a:xfrm>
          <a:prstGeom prst="rect">
            <a:avLst/>
          </a:prstGeom>
          <a:solidFill>
            <a:srgbClr val="C9DAF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The </a:t>
            </a:r>
            <a:r>
              <a:rPr lang="en" sz="1300" u="sng">
                <a:solidFill>
                  <a:srgbClr val="0B5394"/>
                </a:solidFill>
                <a:latin typeface="Arial"/>
                <a:ea typeface="Arial"/>
                <a:cs typeface="Arial"/>
                <a:sym typeface="Arial"/>
                <a:hlinkClick r:id="rId3">
                  <a:extLst>
                    <a:ext uri="{A12FA001-AC4F-418D-AE19-62706E023703}">
                      <ahyp:hlinkClr xmlns:ahyp="http://schemas.microsoft.com/office/drawing/2018/hyperlinkcolor" val="tx"/>
                    </a:ext>
                  </a:extLst>
                </a:hlinkClick>
              </a:rPr>
              <a:t>Department of Defense (DoD) 4-Layer model</a:t>
            </a:r>
            <a:r>
              <a:rPr lang="en" sz="1300">
                <a:solidFill>
                  <a:schemeClr val="dk1"/>
                </a:solidFill>
                <a:latin typeface="Arial"/>
                <a:ea typeface="Arial"/>
                <a:cs typeface="Arial"/>
                <a:sym typeface="Arial"/>
              </a:rPr>
              <a:t>. Also called the TCP/IP Model</a:t>
            </a:r>
            <a:endParaRPr sz="1300">
              <a:solidFill>
                <a:schemeClr val="dk1"/>
              </a:solidFill>
              <a:latin typeface="Arial"/>
              <a:ea typeface="Arial"/>
              <a:cs typeface="Arial"/>
              <a:sym typeface="Arial"/>
            </a:endParaRPr>
          </a:p>
        </p:txBody>
      </p:sp>
      <p:sp>
        <p:nvSpPr>
          <p:cNvPr id="295" name="Google Shape;295;p37"/>
          <p:cNvSpPr txBox="1"/>
          <p:nvPr/>
        </p:nvSpPr>
        <p:spPr>
          <a:xfrm>
            <a:off x="2737550" y="4353200"/>
            <a:ext cx="2140800" cy="673500"/>
          </a:xfrm>
          <a:prstGeom prst="rect">
            <a:avLst/>
          </a:prstGeom>
          <a:solidFill>
            <a:srgbClr val="C9DAF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The </a:t>
            </a:r>
            <a:r>
              <a:rPr lang="en" u="sng">
                <a:solidFill>
                  <a:srgbClr val="0B5394"/>
                </a:solidFill>
                <a:latin typeface="Arial"/>
                <a:ea typeface="Arial"/>
                <a:cs typeface="Arial"/>
                <a:sym typeface="Arial"/>
                <a:hlinkClick r:id="rId4">
                  <a:extLst>
                    <a:ext uri="{A12FA001-AC4F-418D-AE19-62706E023703}">
                      <ahyp:hlinkClr xmlns:ahyp="http://schemas.microsoft.com/office/drawing/2018/hyperlinkcolor" val="tx"/>
                    </a:ext>
                  </a:extLst>
                </a:hlinkClick>
              </a:rPr>
              <a:t>Open Systems Interconnection (OSI) 7-Layer Model</a:t>
            </a:r>
            <a:r>
              <a:rPr lang="en">
                <a:solidFill>
                  <a:schemeClr val="dk1"/>
                </a:solidFill>
                <a:latin typeface="Arial"/>
                <a:ea typeface="Arial"/>
                <a:cs typeface="Arial"/>
                <a:sym typeface="Arial"/>
              </a:rPr>
              <a:t>.</a:t>
            </a:r>
            <a:endParaRPr>
              <a:solidFill>
                <a:schemeClr val="dk1"/>
              </a:solidFill>
              <a:latin typeface="Arial"/>
              <a:ea typeface="Arial"/>
              <a:cs typeface="Arial"/>
              <a:sym typeface="Arial"/>
            </a:endParaRPr>
          </a:p>
        </p:txBody>
      </p:sp>
      <p:sp>
        <p:nvSpPr>
          <p:cNvPr id="296" name="Google Shape;296;p37"/>
          <p:cNvSpPr/>
          <p:nvPr/>
        </p:nvSpPr>
        <p:spPr>
          <a:xfrm>
            <a:off x="5038304" y="2503684"/>
            <a:ext cx="1816500" cy="406800"/>
          </a:xfrm>
          <a:prstGeom prst="rect">
            <a:avLst/>
          </a:prstGeom>
          <a:solidFill>
            <a:srgbClr val="B6D7A8"/>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TCP</a:t>
            </a:r>
            <a:endParaRPr sz="1800">
              <a:solidFill>
                <a:schemeClr val="dk1"/>
              </a:solidFill>
              <a:latin typeface="Calibri"/>
              <a:ea typeface="Calibri"/>
              <a:cs typeface="Calibri"/>
              <a:sym typeface="Calibri"/>
            </a:endParaRPr>
          </a:p>
        </p:txBody>
      </p:sp>
      <p:sp>
        <p:nvSpPr>
          <p:cNvPr id="297" name="Google Shape;297;p37"/>
          <p:cNvSpPr/>
          <p:nvPr/>
        </p:nvSpPr>
        <p:spPr>
          <a:xfrm>
            <a:off x="5038304" y="2954609"/>
            <a:ext cx="3646200" cy="406800"/>
          </a:xfrm>
          <a:prstGeom prst="rect">
            <a:avLst/>
          </a:prstGeom>
          <a:solidFill>
            <a:srgbClr val="FFE5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IP</a:t>
            </a:r>
            <a:endParaRPr sz="1800">
              <a:solidFill>
                <a:schemeClr val="dk1"/>
              </a:solidFill>
              <a:latin typeface="Calibri"/>
              <a:ea typeface="Calibri"/>
              <a:cs typeface="Calibri"/>
              <a:sym typeface="Calibri"/>
            </a:endParaRPr>
          </a:p>
        </p:txBody>
      </p:sp>
      <p:sp>
        <p:nvSpPr>
          <p:cNvPr id="298" name="Google Shape;298;p37"/>
          <p:cNvSpPr/>
          <p:nvPr/>
        </p:nvSpPr>
        <p:spPr>
          <a:xfrm>
            <a:off x="5038305" y="3405534"/>
            <a:ext cx="976200" cy="882300"/>
          </a:xfrm>
          <a:prstGeom prst="rect">
            <a:avLst/>
          </a:prstGeom>
          <a:solidFill>
            <a:srgbClr val="EA99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000">
                <a:solidFill>
                  <a:schemeClr val="dk1"/>
                </a:solidFill>
                <a:latin typeface="Calibri"/>
                <a:ea typeface="Calibri"/>
                <a:cs typeface="Calibri"/>
                <a:sym typeface="Calibri"/>
              </a:rPr>
              <a:t>Ethernet</a:t>
            </a:r>
            <a:endParaRPr sz="1000">
              <a:solidFill>
                <a:schemeClr val="dk1"/>
              </a:solidFill>
              <a:latin typeface="Calibri"/>
              <a:ea typeface="Calibri"/>
              <a:cs typeface="Calibri"/>
              <a:sym typeface="Calibri"/>
            </a:endParaRPr>
          </a:p>
        </p:txBody>
      </p:sp>
      <p:sp>
        <p:nvSpPr>
          <p:cNvPr id="299" name="Google Shape;299;p37"/>
          <p:cNvSpPr/>
          <p:nvPr/>
        </p:nvSpPr>
        <p:spPr>
          <a:xfrm>
            <a:off x="6014501" y="3405534"/>
            <a:ext cx="881400" cy="882300"/>
          </a:xfrm>
          <a:prstGeom prst="rect">
            <a:avLst/>
          </a:prstGeom>
          <a:solidFill>
            <a:srgbClr val="EA99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000">
                <a:solidFill>
                  <a:schemeClr val="dk1"/>
                </a:solidFill>
                <a:latin typeface="Calibri"/>
                <a:ea typeface="Calibri"/>
                <a:cs typeface="Calibri"/>
                <a:sym typeface="Calibri"/>
              </a:rPr>
              <a:t>Token Ring</a:t>
            </a:r>
            <a:endParaRPr sz="1000">
              <a:solidFill>
                <a:schemeClr val="dk1"/>
              </a:solidFill>
              <a:latin typeface="Calibri"/>
              <a:ea typeface="Calibri"/>
              <a:cs typeface="Calibri"/>
              <a:sym typeface="Calibri"/>
            </a:endParaRPr>
          </a:p>
        </p:txBody>
      </p:sp>
      <p:sp>
        <p:nvSpPr>
          <p:cNvPr id="300" name="Google Shape;300;p37"/>
          <p:cNvSpPr/>
          <p:nvPr/>
        </p:nvSpPr>
        <p:spPr>
          <a:xfrm>
            <a:off x="6854681" y="2503684"/>
            <a:ext cx="1830000" cy="406800"/>
          </a:xfrm>
          <a:prstGeom prst="rect">
            <a:avLst/>
          </a:prstGeom>
          <a:solidFill>
            <a:srgbClr val="B6D7A8"/>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UDP</a:t>
            </a:r>
            <a:endParaRPr sz="1800">
              <a:solidFill>
                <a:schemeClr val="dk1"/>
              </a:solidFill>
              <a:latin typeface="Calibri"/>
              <a:ea typeface="Calibri"/>
              <a:cs typeface="Calibri"/>
              <a:sym typeface="Calibri"/>
            </a:endParaRPr>
          </a:p>
        </p:txBody>
      </p:sp>
      <p:sp>
        <p:nvSpPr>
          <p:cNvPr id="301" name="Google Shape;301;p37"/>
          <p:cNvSpPr/>
          <p:nvPr/>
        </p:nvSpPr>
        <p:spPr>
          <a:xfrm>
            <a:off x="6900354" y="3405534"/>
            <a:ext cx="876300" cy="882300"/>
          </a:xfrm>
          <a:prstGeom prst="rect">
            <a:avLst/>
          </a:prstGeom>
          <a:solidFill>
            <a:srgbClr val="EA99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000">
                <a:solidFill>
                  <a:schemeClr val="dk1"/>
                </a:solidFill>
                <a:latin typeface="Calibri"/>
                <a:ea typeface="Calibri"/>
                <a:cs typeface="Calibri"/>
                <a:sym typeface="Calibri"/>
              </a:rPr>
              <a:t>Frame Relay</a:t>
            </a:r>
            <a:endParaRPr sz="1000">
              <a:solidFill>
                <a:schemeClr val="dk1"/>
              </a:solidFill>
              <a:latin typeface="Calibri"/>
              <a:ea typeface="Calibri"/>
              <a:cs typeface="Calibri"/>
              <a:sym typeface="Calibri"/>
            </a:endParaRPr>
          </a:p>
        </p:txBody>
      </p:sp>
      <p:sp>
        <p:nvSpPr>
          <p:cNvPr id="302" name="Google Shape;302;p37"/>
          <p:cNvSpPr/>
          <p:nvPr/>
        </p:nvSpPr>
        <p:spPr>
          <a:xfrm>
            <a:off x="7776499" y="3405534"/>
            <a:ext cx="898800" cy="882300"/>
          </a:xfrm>
          <a:prstGeom prst="rect">
            <a:avLst/>
          </a:prstGeom>
          <a:solidFill>
            <a:srgbClr val="EA999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000">
                <a:solidFill>
                  <a:schemeClr val="dk1"/>
                </a:solidFill>
                <a:latin typeface="Calibri"/>
                <a:ea typeface="Calibri"/>
                <a:cs typeface="Calibri"/>
                <a:sym typeface="Calibri"/>
              </a:rPr>
              <a:t>ATM</a:t>
            </a:r>
            <a:endParaRPr sz="1000">
              <a:solidFill>
                <a:schemeClr val="dk1"/>
              </a:solidFill>
              <a:latin typeface="Calibri"/>
              <a:ea typeface="Calibri"/>
              <a:cs typeface="Calibri"/>
              <a:sym typeface="Calibri"/>
            </a:endParaRPr>
          </a:p>
        </p:txBody>
      </p:sp>
      <p:sp>
        <p:nvSpPr>
          <p:cNvPr id="303" name="Google Shape;303;p37"/>
          <p:cNvSpPr/>
          <p:nvPr/>
        </p:nvSpPr>
        <p:spPr>
          <a:xfrm>
            <a:off x="5038304" y="1084059"/>
            <a:ext cx="3646200" cy="1333800"/>
          </a:xfrm>
          <a:prstGeom prst="rect">
            <a:avLst/>
          </a:prstGeom>
          <a:solidFill>
            <a:srgbClr val="93C47D"/>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Application</a:t>
            </a:r>
            <a:endParaRPr sz="1800">
              <a:solidFill>
                <a:schemeClr val="dk1"/>
              </a:solidFill>
              <a:latin typeface="Calibri"/>
              <a:ea typeface="Calibri"/>
              <a:cs typeface="Calibri"/>
              <a:sym typeface="Calibri"/>
            </a:endParaRPr>
          </a:p>
        </p:txBody>
      </p:sp>
      <p:sp>
        <p:nvSpPr>
          <p:cNvPr id="304" name="Google Shape;304;p37"/>
          <p:cNvSpPr txBox="1"/>
          <p:nvPr/>
        </p:nvSpPr>
        <p:spPr>
          <a:xfrm>
            <a:off x="5038650" y="4353274"/>
            <a:ext cx="3636600" cy="673500"/>
          </a:xfrm>
          <a:prstGeom prst="rect">
            <a:avLst/>
          </a:prstGeom>
          <a:solidFill>
            <a:srgbClr val="C9DAF8"/>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TCP/IP is the main communications protocol used by the internet. It runs in the Transport and Network layers.</a:t>
            </a:r>
            <a:endParaRPr>
              <a:solidFill>
                <a:schemeClr val="dk1"/>
              </a:solidFill>
              <a:latin typeface="Arial"/>
              <a:ea typeface="Arial"/>
              <a:cs typeface="Arial"/>
              <a:sym typeface="Arial"/>
            </a:endParaRPr>
          </a:p>
        </p:txBody>
      </p:sp>
      <p:sp>
        <p:nvSpPr>
          <p:cNvPr id="305" name="Google Shape;30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306" name="Google Shape;306;p37"/>
          <p:cNvSpPr txBox="1">
            <a:spLocks noGrp="1"/>
          </p:cNvSpPr>
          <p:nvPr>
            <p:ph type="title"/>
          </p:nvPr>
        </p:nvSpPr>
        <p:spPr>
          <a:xfrm>
            <a:off x="311700" y="85476"/>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Network Models at a Glance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3"/>
                                        </p:tgtEl>
                                        <p:attrNameLst>
                                          <p:attrName>style.visibility</p:attrName>
                                        </p:attrNameLst>
                                      </p:cBhvr>
                                      <p:to>
                                        <p:strVal val="visible"/>
                                      </p:to>
                                    </p:set>
                                    <p:animEffect transition="in" filter="fade">
                                      <p:cBhvr>
                                        <p:cTn id="7" dur="1000"/>
                                        <p:tgtEl>
                                          <p:spTgt spid="29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92"/>
                                        </p:tgtEl>
                                        <p:attrNameLst>
                                          <p:attrName>style.visibility</p:attrName>
                                        </p:attrNameLst>
                                      </p:cBhvr>
                                      <p:to>
                                        <p:strVal val="visible"/>
                                      </p:to>
                                    </p:set>
                                    <p:animEffect transition="in" filter="fade">
                                      <p:cBhvr>
                                        <p:cTn id="11" dur="1000"/>
                                        <p:tgtEl>
                                          <p:spTgt spid="292"/>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91"/>
                                        </p:tgtEl>
                                        <p:attrNameLst>
                                          <p:attrName>style.visibility</p:attrName>
                                        </p:attrNameLst>
                                      </p:cBhvr>
                                      <p:to>
                                        <p:strVal val="visible"/>
                                      </p:to>
                                    </p:set>
                                    <p:animEffect transition="in" filter="fade">
                                      <p:cBhvr>
                                        <p:cTn id="15" dur="1000"/>
                                        <p:tgtEl>
                                          <p:spTgt spid="291"/>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290"/>
                                        </p:tgtEl>
                                        <p:attrNameLst>
                                          <p:attrName>style.visibility</p:attrName>
                                        </p:attrNameLst>
                                      </p:cBhvr>
                                      <p:to>
                                        <p:strVal val="visible"/>
                                      </p:to>
                                    </p:set>
                                    <p:animEffect transition="in" filter="fade">
                                      <p:cBhvr>
                                        <p:cTn id="19" dur="1000"/>
                                        <p:tgtEl>
                                          <p:spTgt spid="290"/>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294"/>
                                        </p:tgtEl>
                                        <p:attrNameLst>
                                          <p:attrName>style.visibility</p:attrName>
                                        </p:attrNameLst>
                                      </p:cBhvr>
                                      <p:to>
                                        <p:strVal val="visible"/>
                                      </p:to>
                                    </p:set>
                                    <p:animEffect transition="in" filter="fade">
                                      <p:cBhvr>
                                        <p:cTn id="23" dur="1000"/>
                                        <p:tgtEl>
                                          <p:spTgt spid="29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9"/>
                                        </p:tgtEl>
                                        <p:attrNameLst>
                                          <p:attrName>style.visibility</p:attrName>
                                        </p:attrNameLst>
                                      </p:cBhvr>
                                      <p:to>
                                        <p:strVal val="visible"/>
                                      </p:to>
                                    </p:set>
                                    <p:animEffect transition="in" filter="fade">
                                      <p:cBhvr>
                                        <p:cTn id="28" dur="1000"/>
                                        <p:tgtEl>
                                          <p:spTgt spid="289"/>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288"/>
                                        </p:tgtEl>
                                        <p:attrNameLst>
                                          <p:attrName>style.visibility</p:attrName>
                                        </p:attrNameLst>
                                      </p:cBhvr>
                                      <p:to>
                                        <p:strVal val="visible"/>
                                      </p:to>
                                    </p:set>
                                    <p:animEffect transition="in" filter="fade">
                                      <p:cBhvr>
                                        <p:cTn id="32" dur="1000"/>
                                        <p:tgtEl>
                                          <p:spTgt spid="288"/>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287"/>
                                        </p:tgtEl>
                                        <p:attrNameLst>
                                          <p:attrName>style.visibility</p:attrName>
                                        </p:attrNameLst>
                                      </p:cBhvr>
                                      <p:to>
                                        <p:strVal val="visible"/>
                                      </p:to>
                                    </p:set>
                                    <p:animEffect transition="in" filter="fade">
                                      <p:cBhvr>
                                        <p:cTn id="36" dur="1000"/>
                                        <p:tgtEl>
                                          <p:spTgt spid="287"/>
                                        </p:tgtEl>
                                      </p:cBhvr>
                                    </p:animEffect>
                                  </p:childTnLst>
                                </p:cTn>
                              </p:par>
                            </p:childTnLst>
                          </p:cTn>
                        </p:par>
                        <p:par>
                          <p:cTn id="37" fill="hold">
                            <p:stCondLst>
                              <p:cond delay="3000"/>
                            </p:stCondLst>
                            <p:childTnLst>
                              <p:par>
                                <p:cTn id="38" presetID="10" presetClass="entr" presetSubtype="0" fill="hold" nodeType="afterEffect">
                                  <p:stCondLst>
                                    <p:cond delay="0"/>
                                  </p:stCondLst>
                                  <p:childTnLst>
                                    <p:set>
                                      <p:cBhvr>
                                        <p:cTn id="39" dur="1" fill="hold">
                                          <p:stCondLst>
                                            <p:cond delay="0"/>
                                          </p:stCondLst>
                                        </p:cTn>
                                        <p:tgtEl>
                                          <p:spTgt spid="286"/>
                                        </p:tgtEl>
                                        <p:attrNameLst>
                                          <p:attrName>style.visibility</p:attrName>
                                        </p:attrNameLst>
                                      </p:cBhvr>
                                      <p:to>
                                        <p:strVal val="visible"/>
                                      </p:to>
                                    </p:set>
                                    <p:animEffect transition="in" filter="fade">
                                      <p:cBhvr>
                                        <p:cTn id="40" dur="1000"/>
                                        <p:tgtEl>
                                          <p:spTgt spid="286"/>
                                        </p:tgtEl>
                                      </p:cBhvr>
                                    </p:animEffect>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285"/>
                                        </p:tgtEl>
                                        <p:attrNameLst>
                                          <p:attrName>style.visibility</p:attrName>
                                        </p:attrNameLst>
                                      </p:cBhvr>
                                      <p:to>
                                        <p:strVal val="visible"/>
                                      </p:to>
                                    </p:set>
                                    <p:animEffect transition="in" filter="fade">
                                      <p:cBhvr>
                                        <p:cTn id="44" dur="1000"/>
                                        <p:tgtEl>
                                          <p:spTgt spid="285"/>
                                        </p:tgtEl>
                                      </p:cBhvr>
                                    </p:animEffect>
                                  </p:childTnLst>
                                </p:cTn>
                              </p:par>
                            </p:childTnLst>
                          </p:cTn>
                        </p:par>
                        <p:par>
                          <p:cTn id="45" fill="hold">
                            <p:stCondLst>
                              <p:cond delay="5000"/>
                            </p:stCondLst>
                            <p:childTnLst>
                              <p:par>
                                <p:cTn id="46" presetID="10" presetClass="entr" presetSubtype="0" fill="hold" nodeType="afterEffect">
                                  <p:stCondLst>
                                    <p:cond delay="0"/>
                                  </p:stCondLst>
                                  <p:childTnLst>
                                    <p:set>
                                      <p:cBhvr>
                                        <p:cTn id="47" dur="1" fill="hold">
                                          <p:stCondLst>
                                            <p:cond delay="0"/>
                                          </p:stCondLst>
                                        </p:cTn>
                                        <p:tgtEl>
                                          <p:spTgt spid="284"/>
                                        </p:tgtEl>
                                        <p:attrNameLst>
                                          <p:attrName>style.visibility</p:attrName>
                                        </p:attrNameLst>
                                      </p:cBhvr>
                                      <p:to>
                                        <p:strVal val="visible"/>
                                      </p:to>
                                    </p:set>
                                    <p:animEffect transition="in" filter="fade">
                                      <p:cBhvr>
                                        <p:cTn id="48" dur="1000"/>
                                        <p:tgtEl>
                                          <p:spTgt spid="284"/>
                                        </p:tgtEl>
                                      </p:cBhvr>
                                    </p:animEffect>
                                  </p:childTnLst>
                                </p:cTn>
                              </p:par>
                            </p:childTnLst>
                          </p:cTn>
                        </p:par>
                        <p:par>
                          <p:cTn id="49" fill="hold">
                            <p:stCondLst>
                              <p:cond delay="6000"/>
                            </p:stCondLst>
                            <p:childTnLst>
                              <p:par>
                                <p:cTn id="50" presetID="10" presetClass="entr" presetSubtype="0" fill="hold" nodeType="afterEffect">
                                  <p:stCondLst>
                                    <p:cond delay="0"/>
                                  </p:stCondLst>
                                  <p:childTnLst>
                                    <p:set>
                                      <p:cBhvr>
                                        <p:cTn id="51" dur="1" fill="hold">
                                          <p:stCondLst>
                                            <p:cond delay="0"/>
                                          </p:stCondLst>
                                        </p:cTn>
                                        <p:tgtEl>
                                          <p:spTgt spid="283"/>
                                        </p:tgtEl>
                                        <p:attrNameLst>
                                          <p:attrName>style.visibility</p:attrName>
                                        </p:attrNameLst>
                                      </p:cBhvr>
                                      <p:to>
                                        <p:strVal val="visible"/>
                                      </p:to>
                                    </p:set>
                                    <p:animEffect transition="in" filter="fade">
                                      <p:cBhvr>
                                        <p:cTn id="52" dur="1000"/>
                                        <p:tgtEl>
                                          <p:spTgt spid="283"/>
                                        </p:tgtEl>
                                      </p:cBhvr>
                                    </p:animEffect>
                                  </p:childTnLst>
                                </p:cTn>
                              </p:par>
                            </p:childTnLst>
                          </p:cTn>
                        </p:par>
                        <p:par>
                          <p:cTn id="53" fill="hold">
                            <p:stCondLst>
                              <p:cond delay="7000"/>
                            </p:stCondLst>
                            <p:childTnLst>
                              <p:par>
                                <p:cTn id="54" presetID="10" presetClass="entr" presetSubtype="0" fill="hold" nodeType="afterEffect">
                                  <p:stCondLst>
                                    <p:cond delay="0"/>
                                  </p:stCondLst>
                                  <p:childTnLst>
                                    <p:set>
                                      <p:cBhvr>
                                        <p:cTn id="55" dur="1" fill="hold">
                                          <p:stCondLst>
                                            <p:cond delay="0"/>
                                          </p:stCondLst>
                                        </p:cTn>
                                        <p:tgtEl>
                                          <p:spTgt spid="295"/>
                                        </p:tgtEl>
                                        <p:attrNameLst>
                                          <p:attrName>style.visibility</p:attrName>
                                        </p:attrNameLst>
                                      </p:cBhvr>
                                      <p:to>
                                        <p:strVal val="visible"/>
                                      </p:to>
                                    </p:set>
                                    <p:animEffect transition="in" filter="fade">
                                      <p:cBhvr>
                                        <p:cTn id="56" dur="1000"/>
                                        <p:tgtEl>
                                          <p:spTgt spid="29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03"/>
                                        </p:tgtEl>
                                        <p:attrNameLst>
                                          <p:attrName>style.visibility</p:attrName>
                                        </p:attrNameLst>
                                      </p:cBhvr>
                                      <p:to>
                                        <p:strVal val="visible"/>
                                      </p:to>
                                    </p:set>
                                    <p:animEffect transition="in" filter="fade">
                                      <p:cBhvr>
                                        <p:cTn id="61" dur="1000"/>
                                        <p:tgtEl>
                                          <p:spTgt spid="303"/>
                                        </p:tgtEl>
                                      </p:cBhvr>
                                    </p:animEffect>
                                  </p:childTnLst>
                                </p:cTn>
                              </p:par>
                            </p:childTnLst>
                          </p:cTn>
                        </p:par>
                        <p:par>
                          <p:cTn id="62" fill="hold">
                            <p:stCondLst>
                              <p:cond delay="1000"/>
                            </p:stCondLst>
                            <p:childTnLst>
                              <p:par>
                                <p:cTn id="63" presetID="10" presetClass="entr" presetSubtype="0" fill="hold" nodeType="afterEffect">
                                  <p:stCondLst>
                                    <p:cond delay="0"/>
                                  </p:stCondLst>
                                  <p:childTnLst>
                                    <p:set>
                                      <p:cBhvr>
                                        <p:cTn id="64" dur="1" fill="hold">
                                          <p:stCondLst>
                                            <p:cond delay="0"/>
                                          </p:stCondLst>
                                        </p:cTn>
                                        <p:tgtEl>
                                          <p:spTgt spid="296"/>
                                        </p:tgtEl>
                                        <p:attrNameLst>
                                          <p:attrName>style.visibility</p:attrName>
                                        </p:attrNameLst>
                                      </p:cBhvr>
                                      <p:to>
                                        <p:strVal val="visible"/>
                                      </p:to>
                                    </p:set>
                                    <p:animEffect transition="in" filter="fade">
                                      <p:cBhvr>
                                        <p:cTn id="65" dur="1000"/>
                                        <p:tgtEl>
                                          <p:spTgt spid="296"/>
                                        </p:tgtEl>
                                      </p:cBhvr>
                                    </p:animEffect>
                                  </p:childTnLst>
                                </p:cTn>
                              </p:par>
                              <p:par>
                                <p:cTn id="66" presetID="10" presetClass="entr" presetSubtype="0" fill="hold" nodeType="withEffect">
                                  <p:stCondLst>
                                    <p:cond delay="0"/>
                                  </p:stCondLst>
                                  <p:childTnLst>
                                    <p:set>
                                      <p:cBhvr>
                                        <p:cTn id="67" dur="1" fill="hold">
                                          <p:stCondLst>
                                            <p:cond delay="0"/>
                                          </p:stCondLst>
                                        </p:cTn>
                                        <p:tgtEl>
                                          <p:spTgt spid="300"/>
                                        </p:tgtEl>
                                        <p:attrNameLst>
                                          <p:attrName>style.visibility</p:attrName>
                                        </p:attrNameLst>
                                      </p:cBhvr>
                                      <p:to>
                                        <p:strVal val="visible"/>
                                      </p:to>
                                    </p:set>
                                    <p:animEffect transition="in" filter="fade">
                                      <p:cBhvr>
                                        <p:cTn id="68" dur="1000"/>
                                        <p:tgtEl>
                                          <p:spTgt spid="300"/>
                                        </p:tgtEl>
                                      </p:cBhvr>
                                    </p:animEffect>
                                  </p:childTnLst>
                                </p:cTn>
                              </p:par>
                            </p:childTnLst>
                          </p:cTn>
                        </p:par>
                        <p:par>
                          <p:cTn id="69" fill="hold">
                            <p:stCondLst>
                              <p:cond delay="2000"/>
                            </p:stCondLst>
                            <p:childTnLst>
                              <p:par>
                                <p:cTn id="70" presetID="10" presetClass="entr" presetSubtype="0" fill="hold" nodeType="afterEffect">
                                  <p:stCondLst>
                                    <p:cond delay="0"/>
                                  </p:stCondLst>
                                  <p:childTnLst>
                                    <p:set>
                                      <p:cBhvr>
                                        <p:cTn id="71" dur="1" fill="hold">
                                          <p:stCondLst>
                                            <p:cond delay="0"/>
                                          </p:stCondLst>
                                        </p:cTn>
                                        <p:tgtEl>
                                          <p:spTgt spid="297"/>
                                        </p:tgtEl>
                                        <p:attrNameLst>
                                          <p:attrName>style.visibility</p:attrName>
                                        </p:attrNameLst>
                                      </p:cBhvr>
                                      <p:to>
                                        <p:strVal val="visible"/>
                                      </p:to>
                                    </p:set>
                                    <p:animEffect transition="in" filter="fade">
                                      <p:cBhvr>
                                        <p:cTn id="72" dur="1000"/>
                                        <p:tgtEl>
                                          <p:spTgt spid="297"/>
                                        </p:tgtEl>
                                      </p:cBhvr>
                                    </p:animEffect>
                                  </p:childTnLst>
                                </p:cTn>
                              </p:par>
                            </p:childTnLst>
                          </p:cTn>
                        </p:par>
                        <p:par>
                          <p:cTn id="73" fill="hold">
                            <p:stCondLst>
                              <p:cond delay="3000"/>
                            </p:stCondLst>
                            <p:childTnLst>
                              <p:par>
                                <p:cTn id="74" presetID="10" presetClass="entr" presetSubtype="0" fill="hold" nodeType="afterEffect">
                                  <p:stCondLst>
                                    <p:cond delay="0"/>
                                  </p:stCondLst>
                                  <p:childTnLst>
                                    <p:set>
                                      <p:cBhvr>
                                        <p:cTn id="75" dur="1" fill="hold">
                                          <p:stCondLst>
                                            <p:cond delay="0"/>
                                          </p:stCondLst>
                                        </p:cTn>
                                        <p:tgtEl>
                                          <p:spTgt spid="298"/>
                                        </p:tgtEl>
                                        <p:attrNameLst>
                                          <p:attrName>style.visibility</p:attrName>
                                        </p:attrNameLst>
                                      </p:cBhvr>
                                      <p:to>
                                        <p:strVal val="visible"/>
                                      </p:to>
                                    </p:set>
                                    <p:animEffect transition="in" filter="fade">
                                      <p:cBhvr>
                                        <p:cTn id="76" dur="1000"/>
                                        <p:tgtEl>
                                          <p:spTgt spid="298"/>
                                        </p:tgtEl>
                                      </p:cBhvr>
                                    </p:animEffect>
                                  </p:childTnLst>
                                </p:cTn>
                              </p:par>
                              <p:par>
                                <p:cTn id="77" presetID="10" presetClass="entr" presetSubtype="0" fill="hold" nodeType="withEffect">
                                  <p:stCondLst>
                                    <p:cond delay="0"/>
                                  </p:stCondLst>
                                  <p:childTnLst>
                                    <p:set>
                                      <p:cBhvr>
                                        <p:cTn id="78" dur="1" fill="hold">
                                          <p:stCondLst>
                                            <p:cond delay="0"/>
                                          </p:stCondLst>
                                        </p:cTn>
                                        <p:tgtEl>
                                          <p:spTgt spid="299"/>
                                        </p:tgtEl>
                                        <p:attrNameLst>
                                          <p:attrName>style.visibility</p:attrName>
                                        </p:attrNameLst>
                                      </p:cBhvr>
                                      <p:to>
                                        <p:strVal val="visible"/>
                                      </p:to>
                                    </p:set>
                                    <p:animEffect transition="in" filter="fade">
                                      <p:cBhvr>
                                        <p:cTn id="79" dur="1000"/>
                                        <p:tgtEl>
                                          <p:spTgt spid="299"/>
                                        </p:tgtEl>
                                      </p:cBhvr>
                                    </p:animEffect>
                                  </p:childTnLst>
                                </p:cTn>
                              </p:par>
                              <p:par>
                                <p:cTn id="80" presetID="10" presetClass="entr" presetSubtype="0" fill="hold" nodeType="withEffect">
                                  <p:stCondLst>
                                    <p:cond delay="0"/>
                                  </p:stCondLst>
                                  <p:childTnLst>
                                    <p:set>
                                      <p:cBhvr>
                                        <p:cTn id="81" dur="1" fill="hold">
                                          <p:stCondLst>
                                            <p:cond delay="0"/>
                                          </p:stCondLst>
                                        </p:cTn>
                                        <p:tgtEl>
                                          <p:spTgt spid="301"/>
                                        </p:tgtEl>
                                        <p:attrNameLst>
                                          <p:attrName>style.visibility</p:attrName>
                                        </p:attrNameLst>
                                      </p:cBhvr>
                                      <p:to>
                                        <p:strVal val="visible"/>
                                      </p:to>
                                    </p:set>
                                    <p:animEffect transition="in" filter="fade">
                                      <p:cBhvr>
                                        <p:cTn id="82" dur="1000"/>
                                        <p:tgtEl>
                                          <p:spTgt spid="301"/>
                                        </p:tgtEl>
                                      </p:cBhvr>
                                    </p:animEffect>
                                  </p:childTnLst>
                                </p:cTn>
                              </p:par>
                              <p:par>
                                <p:cTn id="83" presetID="10" presetClass="entr" presetSubtype="0" fill="hold" nodeType="withEffect">
                                  <p:stCondLst>
                                    <p:cond delay="0"/>
                                  </p:stCondLst>
                                  <p:childTnLst>
                                    <p:set>
                                      <p:cBhvr>
                                        <p:cTn id="84" dur="1" fill="hold">
                                          <p:stCondLst>
                                            <p:cond delay="0"/>
                                          </p:stCondLst>
                                        </p:cTn>
                                        <p:tgtEl>
                                          <p:spTgt spid="302"/>
                                        </p:tgtEl>
                                        <p:attrNameLst>
                                          <p:attrName>style.visibility</p:attrName>
                                        </p:attrNameLst>
                                      </p:cBhvr>
                                      <p:to>
                                        <p:strVal val="visible"/>
                                      </p:to>
                                    </p:set>
                                    <p:animEffect transition="in" filter="fade">
                                      <p:cBhvr>
                                        <p:cTn id="85" dur="1000"/>
                                        <p:tgtEl>
                                          <p:spTgt spid="302"/>
                                        </p:tgtEl>
                                      </p:cBhvr>
                                    </p:animEffect>
                                  </p:childTnLst>
                                </p:cTn>
                              </p:par>
                            </p:childTnLst>
                          </p:cTn>
                        </p:par>
                        <p:par>
                          <p:cTn id="86" fill="hold">
                            <p:stCondLst>
                              <p:cond delay="4000"/>
                            </p:stCondLst>
                            <p:childTnLst>
                              <p:par>
                                <p:cTn id="87" presetID="10" presetClass="entr" presetSubtype="0" fill="hold" nodeType="afterEffect">
                                  <p:stCondLst>
                                    <p:cond delay="0"/>
                                  </p:stCondLst>
                                  <p:childTnLst>
                                    <p:set>
                                      <p:cBhvr>
                                        <p:cTn id="88" dur="1" fill="hold">
                                          <p:stCondLst>
                                            <p:cond delay="0"/>
                                          </p:stCondLst>
                                        </p:cTn>
                                        <p:tgtEl>
                                          <p:spTgt spid="304"/>
                                        </p:tgtEl>
                                        <p:attrNameLst>
                                          <p:attrName>style.visibility</p:attrName>
                                        </p:attrNameLst>
                                      </p:cBhvr>
                                      <p:to>
                                        <p:strVal val="visible"/>
                                      </p:to>
                                    </p:set>
                                    <p:animEffect transition="in" filter="fade">
                                      <p:cBhvr>
                                        <p:cTn id="89" dur="1000"/>
                                        <p:tgtEl>
                                          <p:spTgt spid="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grpSp>
        <p:nvGrpSpPr>
          <p:cNvPr id="311" name="Google Shape;311;p38"/>
          <p:cNvGrpSpPr/>
          <p:nvPr/>
        </p:nvGrpSpPr>
        <p:grpSpPr>
          <a:xfrm>
            <a:off x="494878" y="1209670"/>
            <a:ext cx="3631498" cy="3595606"/>
            <a:chOff x="5415077" y="155794"/>
            <a:chExt cx="3631498" cy="3595606"/>
          </a:xfrm>
        </p:grpSpPr>
        <p:grpSp>
          <p:nvGrpSpPr>
            <p:cNvPr id="312" name="Google Shape;312;p38"/>
            <p:cNvGrpSpPr/>
            <p:nvPr/>
          </p:nvGrpSpPr>
          <p:grpSpPr>
            <a:xfrm>
              <a:off x="5415077" y="155794"/>
              <a:ext cx="3085025" cy="3595606"/>
              <a:chOff x="5796077" y="155794"/>
              <a:chExt cx="3085025" cy="3595606"/>
            </a:xfrm>
          </p:grpSpPr>
          <p:cxnSp>
            <p:nvCxnSpPr>
              <p:cNvPr id="313" name="Google Shape;313;p38"/>
              <p:cNvCxnSpPr/>
              <p:nvPr/>
            </p:nvCxnSpPr>
            <p:spPr>
              <a:xfrm>
                <a:off x="6173375" y="1307550"/>
                <a:ext cx="2166300" cy="0"/>
              </a:xfrm>
              <a:prstGeom prst="straightConnector1">
                <a:avLst/>
              </a:prstGeom>
              <a:noFill/>
              <a:ln w="28575" cap="flat" cmpd="sng">
                <a:solidFill>
                  <a:srgbClr val="FF0000"/>
                </a:solidFill>
                <a:prstDash val="solid"/>
                <a:round/>
                <a:headEnd type="none" w="sm" len="sm"/>
                <a:tailEnd type="none" w="sm" len="sm"/>
              </a:ln>
            </p:spPr>
          </p:cxnSp>
          <p:cxnSp>
            <p:nvCxnSpPr>
              <p:cNvPr id="314" name="Google Shape;314;p38"/>
              <p:cNvCxnSpPr/>
              <p:nvPr/>
            </p:nvCxnSpPr>
            <p:spPr>
              <a:xfrm rot="10800000">
                <a:off x="8286681" y="1296125"/>
                <a:ext cx="0" cy="1076100"/>
              </a:xfrm>
              <a:prstGeom prst="straightConnector1">
                <a:avLst/>
              </a:prstGeom>
              <a:noFill/>
              <a:ln w="28575" cap="flat" cmpd="sng">
                <a:solidFill>
                  <a:srgbClr val="FF0000"/>
                </a:solidFill>
                <a:prstDash val="solid"/>
                <a:round/>
                <a:headEnd type="none" w="sm" len="sm"/>
                <a:tailEnd type="none" w="sm" len="sm"/>
              </a:ln>
            </p:spPr>
          </p:cxnSp>
          <p:cxnSp>
            <p:nvCxnSpPr>
              <p:cNvPr id="315" name="Google Shape;315;p38"/>
              <p:cNvCxnSpPr/>
              <p:nvPr/>
            </p:nvCxnSpPr>
            <p:spPr>
              <a:xfrm rot="10800000">
                <a:off x="6187350" y="2362925"/>
                <a:ext cx="0" cy="1076100"/>
              </a:xfrm>
              <a:prstGeom prst="straightConnector1">
                <a:avLst/>
              </a:prstGeom>
              <a:noFill/>
              <a:ln w="28575" cap="flat" cmpd="sng">
                <a:solidFill>
                  <a:srgbClr val="FF0000"/>
                </a:solidFill>
                <a:prstDash val="solid"/>
                <a:round/>
                <a:headEnd type="none" w="sm" len="sm"/>
                <a:tailEnd type="none" w="sm" len="sm"/>
              </a:ln>
            </p:spPr>
          </p:cxnSp>
          <p:cxnSp>
            <p:nvCxnSpPr>
              <p:cNvPr id="316" name="Google Shape;316;p38"/>
              <p:cNvCxnSpPr/>
              <p:nvPr/>
            </p:nvCxnSpPr>
            <p:spPr>
              <a:xfrm>
                <a:off x="6173375" y="3441150"/>
                <a:ext cx="2166300" cy="0"/>
              </a:xfrm>
              <a:prstGeom prst="straightConnector1">
                <a:avLst/>
              </a:prstGeom>
              <a:noFill/>
              <a:ln w="28575" cap="flat" cmpd="sng">
                <a:solidFill>
                  <a:srgbClr val="FF0000"/>
                </a:solidFill>
                <a:prstDash val="solid"/>
                <a:round/>
                <a:headEnd type="none" w="sm" len="sm"/>
                <a:tailEnd type="none" w="sm" len="sm"/>
              </a:ln>
            </p:spPr>
          </p:cxnSp>
          <p:cxnSp>
            <p:nvCxnSpPr>
              <p:cNvPr id="317" name="Google Shape;317;p38"/>
              <p:cNvCxnSpPr/>
              <p:nvPr/>
            </p:nvCxnSpPr>
            <p:spPr>
              <a:xfrm>
                <a:off x="6173375" y="2374350"/>
                <a:ext cx="2166300" cy="0"/>
              </a:xfrm>
              <a:prstGeom prst="straightConnector1">
                <a:avLst/>
              </a:prstGeom>
              <a:noFill/>
              <a:ln w="28575" cap="flat" cmpd="sng">
                <a:solidFill>
                  <a:srgbClr val="FF0000"/>
                </a:solidFill>
                <a:prstDash val="solid"/>
                <a:round/>
                <a:headEnd type="none" w="sm" len="sm"/>
                <a:tailEnd type="none" w="sm" len="sm"/>
              </a:ln>
            </p:spPr>
          </p:cxnSp>
          <p:pic>
            <p:nvPicPr>
              <p:cNvPr id="318" name="Google Shape;318;p38"/>
              <p:cNvPicPr preferRelativeResize="0"/>
              <p:nvPr/>
            </p:nvPicPr>
            <p:blipFill rotWithShape="1">
              <a:blip r:embed="rId3">
                <a:alphaModFix/>
              </a:blip>
              <a:srcRect/>
              <a:stretch/>
            </p:blipFill>
            <p:spPr>
              <a:xfrm>
                <a:off x="6845852" y="607600"/>
                <a:ext cx="968450" cy="1008800"/>
              </a:xfrm>
              <a:prstGeom prst="rect">
                <a:avLst/>
              </a:prstGeom>
              <a:noFill/>
              <a:ln>
                <a:noFill/>
              </a:ln>
            </p:spPr>
          </p:pic>
          <p:pic>
            <p:nvPicPr>
              <p:cNvPr id="319" name="Google Shape;319;p38"/>
              <p:cNvPicPr preferRelativeResize="0"/>
              <p:nvPr/>
            </p:nvPicPr>
            <p:blipFill rotWithShape="1">
              <a:blip r:embed="rId3">
                <a:alphaModFix/>
              </a:blip>
              <a:srcRect/>
              <a:stretch/>
            </p:blipFill>
            <p:spPr>
              <a:xfrm>
                <a:off x="5796077" y="615120"/>
                <a:ext cx="968450" cy="1008800"/>
              </a:xfrm>
              <a:prstGeom prst="rect">
                <a:avLst/>
              </a:prstGeom>
              <a:noFill/>
              <a:ln>
                <a:noFill/>
              </a:ln>
            </p:spPr>
          </p:pic>
          <p:pic>
            <p:nvPicPr>
              <p:cNvPr id="320" name="Google Shape;320;p38"/>
              <p:cNvPicPr preferRelativeResize="0"/>
              <p:nvPr/>
            </p:nvPicPr>
            <p:blipFill rotWithShape="1">
              <a:blip r:embed="rId3">
                <a:alphaModFix/>
              </a:blip>
              <a:srcRect/>
              <a:stretch/>
            </p:blipFill>
            <p:spPr>
              <a:xfrm>
                <a:off x="6845852" y="1668280"/>
                <a:ext cx="968450" cy="1008800"/>
              </a:xfrm>
              <a:prstGeom prst="rect">
                <a:avLst/>
              </a:prstGeom>
              <a:noFill/>
              <a:ln>
                <a:noFill/>
              </a:ln>
            </p:spPr>
          </p:pic>
          <p:pic>
            <p:nvPicPr>
              <p:cNvPr id="321" name="Google Shape;321;p38"/>
              <p:cNvPicPr preferRelativeResize="0"/>
              <p:nvPr/>
            </p:nvPicPr>
            <p:blipFill rotWithShape="1">
              <a:blip r:embed="rId3">
                <a:alphaModFix/>
              </a:blip>
              <a:srcRect/>
              <a:stretch/>
            </p:blipFill>
            <p:spPr>
              <a:xfrm>
                <a:off x="5796077" y="1675800"/>
                <a:ext cx="968450" cy="1008800"/>
              </a:xfrm>
              <a:prstGeom prst="rect">
                <a:avLst/>
              </a:prstGeom>
              <a:noFill/>
              <a:ln>
                <a:noFill/>
              </a:ln>
            </p:spPr>
          </p:pic>
          <p:pic>
            <p:nvPicPr>
              <p:cNvPr id="322" name="Google Shape;322;p38"/>
              <p:cNvPicPr preferRelativeResize="0"/>
              <p:nvPr/>
            </p:nvPicPr>
            <p:blipFill rotWithShape="1">
              <a:blip r:embed="rId3">
                <a:alphaModFix/>
              </a:blip>
              <a:srcRect/>
              <a:stretch/>
            </p:blipFill>
            <p:spPr>
              <a:xfrm>
                <a:off x="7912652" y="607600"/>
                <a:ext cx="968450" cy="1008800"/>
              </a:xfrm>
              <a:prstGeom prst="rect">
                <a:avLst/>
              </a:prstGeom>
              <a:noFill/>
              <a:ln>
                <a:noFill/>
              </a:ln>
            </p:spPr>
          </p:pic>
          <p:pic>
            <p:nvPicPr>
              <p:cNvPr id="323" name="Google Shape;323;p38"/>
              <p:cNvPicPr preferRelativeResize="0"/>
              <p:nvPr/>
            </p:nvPicPr>
            <p:blipFill rotWithShape="1">
              <a:blip r:embed="rId3">
                <a:alphaModFix/>
              </a:blip>
              <a:srcRect/>
              <a:stretch/>
            </p:blipFill>
            <p:spPr>
              <a:xfrm>
                <a:off x="7912652" y="1668280"/>
                <a:ext cx="968450" cy="1008800"/>
              </a:xfrm>
              <a:prstGeom prst="rect">
                <a:avLst/>
              </a:prstGeom>
              <a:noFill/>
              <a:ln>
                <a:noFill/>
              </a:ln>
            </p:spPr>
          </p:pic>
          <p:pic>
            <p:nvPicPr>
              <p:cNvPr id="324" name="Google Shape;324;p38"/>
              <p:cNvPicPr preferRelativeResize="0"/>
              <p:nvPr/>
            </p:nvPicPr>
            <p:blipFill rotWithShape="1">
              <a:blip r:embed="rId3">
                <a:alphaModFix/>
              </a:blip>
              <a:srcRect/>
              <a:stretch/>
            </p:blipFill>
            <p:spPr>
              <a:xfrm>
                <a:off x="6845852" y="2735080"/>
                <a:ext cx="968450" cy="1008800"/>
              </a:xfrm>
              <a:prstGeom prst="rect">
                <a:avLst/>
              </a:prstGeom>
              <a:noFill/>
              <a:ln>
                <a:noFill/>
              </a:ln>
            </p:spPr>
          </p:pic>
          <p:pic>
            <p:nvPicPr>
              <p:cNvPr id="325" name="Google Shape;325;p38"/>
              <p:cNvPicPr preferRelativeResize="0"/>
              <p:nvPr/>
            </p:nvPicPr>
            <p:blipFill rotWithShape="1">
              <a:blip r:embed="rId3">
                <a:alphaModFix/>
              </a:blip>
              <a:srcRect/>
              <a:stretch/>
            </p:blipFill>
            <p:spPr>
              <a:xfrm>
                <a:off x="5796077" y="2742600"/>
                <a:ext cx="968450" cy="1008800"/>
              </a:xfrm>
              <a:prstGeom prst="rect">
                <a:avLst/>
              </a:prstGeom>
              <a:noFill/>
              <a:ln>
                <a:noFill/>
              </a:ln>
            </p:spPr>
          </p:pic>
          <p:pic>
            <p:nvPicPr>
              <p:cNvPr id="326" name="Google Shape;326;p38"/>
              <p:cNvPicPr preferRelativeResize="0"/>
              <p:nvPr/>
            </p:nvPicPr>
            <p:blipFill rotWithShape="1">
              <a:blip r:embed="rId3">
                <a:alphaModFix/>
              </a:blip>
              <a:srcRect/>
              <a:stretch/>
            </p:blipFill>
            <p:spPr>
              <a:xfrm>
                <a:off x="7912652" y="2735080"/>
                <a:ext cx="968450" cy="1008800"/>
              </a:xfrm>
              <a:prstGeom prst="rect">
                <a:avLst/>
              </a:prstGeom>
              <a:noFill/>
              <a:ln>
                <a:noFill/>
              </a:ln>
            </p:spPr>
          </p:pic>
          <p:sp>
            <p:nvSpPr>
              <p:cNvPr id="327" name="Google Shape;327;p38"/>
              <p:cNvSpPr/>
              <p:nvPr/>
            </p:nvSpPr>
            <p:spPr>
              <a:xfrm>
                <a:off x="5829163" y="155794"/>
                <a:ext cx="1083300" cy="348300"/>
              </a:xfrm>
              <a:prstGeom prst="wedgeRoundRectCallout">
                <a:avLst>
                  <a:gd name="adj1" fmla="val -20833"/>
                  <a:gd name="adj2" fmla="val 62500"/>
                  <a:gd name="adj3" fmla="val 0"/>
                </a:avLst>
              </a:prstGeom>
              <a:solidFill>
                <a:srgbClr val="FFFFFF"/>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Calibri"/>
                    <a:ea typeface="Calibri"/>
                    <a:cs typeface="Calibri"/>
                    <a:sym typeface="Calibri"/>
                  </a:rPr>
                  <a:t>Brad?</a:t>
                </a:r>
                <a:endParaRPr sz="1800">
                  <a:solidFill>
                    <a:schemeClr val="dk1"/>
                  </a:solidFill>
                  <a:latin typeface="Calibri"/>
                  <a:ea typeface="Calibri"/>
                  <a:cs typeface="Calibri"/>
                  <a:sym typeface="Calibri"/>
                </a:endParaRPr>
              </a:p>
            </p:txBody>
          </p:sp>
        </p:grpSp>
        <p:sp>
          <p:nvSpPr>
            <p:cNvPr id="328" name="Google Shape;328;p38"/>
            <p:cNvSpPr/>
            <p:nvPr/>
          </p:nvSpPr>
          <p:spPr>
            <a:xfrm>
              <a:off x="8339775" y="2768125"/>
              <a:ext cx="706800" cy="305700"/>
            </a:xfrm>
            <a:prstGeom prst="wedgeRoundRectCallout">
              <a:avLst>
                <a:gd name="adj1" fmla="val -63841"/>
                <a:gd name="adj2" fmla="val 18580"/>
                <a:gd name="adj3" fmla="val 0"/>
              </a:avLst>
            </a:prstGeom>
            <a:solidFill>
              <a:srgbClr val="FFFFFF"/>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200">
                  <a:solidFill>
                    <a:schemeClr val="dk1"/>
                  </a:solidFill>
                  <a:latin typeface="Calibri"/>
                  <a:ea typeface="Calibri"/>
                  <a:cs typeface="Calibri"/>
                  <a:sym typeface="Calibri"/>
                </a:rPr>
                <a:t>Janet?</a:t>
              </a:r>
              <a:endParaRPr sz="1200">
                <a:solidFill>
                  <a:schemeClr val="dk1"/>
                </a:solidFill>
                <a:latin typeface="Calibri"/>
                <a:ea typeface="Calibri"/>
                <a:cs typeface="Calibri"/>
                <a:sym typeface="Calibri"/>
              </a:endParaRPr>
            </a:p>
          </p:txBody>
        </p:sp>
        <p:sp>
          <p:nvSpPr>
            <p:cNvPr id="329" name="Google Shape;329;p38"/>
            <p:cNvSpPr/>
            <p:nvPr/>
          </p:nvSpPr>
          <p:spPr>
            <a:xfrm>
              <a:off x="5800592" y="760423"/>
              <a:ext cx="84000" cy="1467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0" name="Google Shape;330;p38"/>
            <p:cNvSpPr/>
            <p:nvPr/>
          </p:nvSpPr>
          <p:spPr>
            <a:xfrm>
              <a:off x="7781792" y="2887035"/>
              <a:ext cx="84000" cy="1467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38"/>
            <p:cNvSpPr/>
            <p:nvPr/>
          </p:nvSpPr>
          <p:spPr>
            <a:xfrm>
              <a:off x="7934192" y="2887035"/>
              <a:ext cx="84000" cy="1467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38"/>
            <p:cNvSpPr/>
            <p:nvPr/>
          </p:nvSpPr>
          <p:spPr>
            <a:xfrm>
              <a:off x="5648192" y="760423"/>
              <a:ext cx="84000" cy="1467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33" name="Google Shape;333;p38"/>
          <p:cNvSpPr txBox="1">
            <a:spLocks noGrp="1"/>
          </p:cNvSpPr>
          <p:nvPr>
            <p:ph type="title"/>
          </p:nvPr>
        </p:nvSpPr>
        <p:spPr>
          <a:xfrm>
            <a:off x="311725" y="5009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TCP/IP</a:t>
            </a:r>
            <a:endParaRPr/>
          </a:p>
        </p:txBody>
      </p:sp>
      <p:sp>
        <p:nvSpPr>
          <p:cNvPr id="334" name="Google Shape;334;p38"/>
          <p:cNvSpPr txBox="1">
            <a:spLocks noGrp="1"/>
          </p:cNvSpPr>
          <p:nvPr>
            <p:ph type="body" idx="1"/>
          </p:nvPr>
        </p:nvSpPr>
        <p:spPr>
          <a:xfrm>
            <a:off x="4644675" y="500925"/>
            <a:ext cx="4166400" cy="3290100"/>
          </a:xfrm>
          <a:prstGeom prst="rect">
            <a:avLst/>
          </a:prstGeom>
          <a:noFill/>
          <a:ln>
            <a:noFill/>
          </a:ln>
        </p:spPr>
        <p:txBody>
          <a:bodyPr spcFirstLastPara="1" wrap="square" lIns="68575" tIns="34275" rIns="68575" bIns="34275" anchor="t" anchorCtr="0">
            <a:normAutofit lnSpcReduction="10000"/>
          </a:bodyPr>
          <a:lstStyle/>
          <a:p>
            <a:pPr marL="457200" lvl="0" indent="-349250" algn="l" rtl="0">
              <a:lnSpc>
                <a:spcPct val="115000"/>
              </a:lnSpc>
              <a:spcBef>
                <a:spcPts val="0"/>
              </a:spcBef>
              <a:spcAft>
                <a:spcPts val="0"/>
              </a:spcAft>
              <a:buClr>
                <a:schemeClr val="dk1"/>
              </a:buClr>
              <a:buSzPts val="1500"/>
              <a:buChar char="●"/>
            </a:pPr>
            <a:r>
              <a:rPr lang="en" b="1" i="1" dirty="0">
                <a:solidFill>
                  <a:srgbClr val="FF0000"/>
                </a:solidFill>
              </a:rPr>
              <a:t>TCP/IP</a:t>
            </a:r>
            <a:r>
              <a:rPr lang="en" dirty="0"/>
              <a:t> is the most widely used communications protocol on the internet</a:t>
            </a:r>
            <a:endParaRPr dirty="0"/>
          </a:p>
          <a:p>
            <a:pPr marL="457200" lvl="0" indent="-349250" algn="l" rtl="0">
              <a:lnSpc>
                <a:spcPct val="115000"/>
              </a:lnSpc>
              <a:spcBef>
                <a:spcPts val="0"/>
              </a:spcBef>
              <a:spcAft>
                <a:spcPts val="0"/>
              </a:spcAft>
              <a:buClr>
                <a:schemeClr val="dk1"/>
              </a:buClr>
              <a:buSzPts val="1500"/>
              <a:buChar char="●"/>
            </a:pPr>
            <a:r>
              <a:rPr lang="en" dirty="0"/>
              <a:t>It is actually two </a:t>
            </a:r>
            <a:r>
              <a:rPr lang="en" b="1" i="1" dirty="0">
                <a:solidFill>
                  <a:srgbClr val="FF0000"/>
                </a:solidFill>
              </a:rPr>
              <a:t>protocols</a:t>
            </a:r>
            <a:r>
              <a:rPr lang="en" dirty="0"/>
              <a:t> working together</a:t>
            </a:r>
            <a:endParaRPr dirty="0"/>
          </a:p>
          <a:p>
            <a:pPr marL="914400" lvl="1" indent="-330200" algn="l" rtl="0">
              <a:lnSpc>
                <a:spcPct val="115000"/>
              </a:lnSpc>
              <a:spcBef>
                <a:spcPts val="0"/>
              </a:spcBef>
              <a:spcAft>
                <a:spcPts val="0"/>
              </a:spcAft>
              <a:buClr>
                <a:schemeClr val="dk1"/>
              </a:buClr>
              <a:buSzPts val="1200"/>
              <a:buChar char="○"/>
            </a:pPr>
            <a:r>
              <a:rPr lang="en" sz="1200" dirty="0"/>
              <a:t>The </a:t>
            </a:r>
            <a:r>
              <a:rPr lang="en" sz="1200" b="1" i="1" dirty="0">
                <a:solidFill>
                  <a:srgbClr val="FF0000"/>
                </a:solidFill>
                <a:highlight>
                  <a:srgbClr val="FFFF00"/>
                </a:highlight>
              </a:rPr>
              <a:t>Internet Protocol</a:t>
            </a:r>
            <a:r>
              <a:rPr lang="en" sz="1200" dirty="0">
                <a:highlight>
                  <a:srgbClr val="FFFF00"/>
                </a:highlight>
              </a:rPr>
              <a:t> </a:t>
            </a:r>
            <a:r>
              <a:rPr lang="en" sz="1200" dirty="0"/>
              <a:t>(IP) runs in the </a:t>
            </a:r>
            <a:r>
              <a:rPr lang="en" sz="1200" b="1" i="1" dirty="0">
                <a:solidFill>
                  <a:srgbClr val="FF0000"/>
                </a:solidFill>
              </a:rPr>
              <a:t>network</a:t>
            </a:r>
            <a:r>
              <a:rPr lang="en" sz="1200" dirty="0"/>
              <a:t> layer and handles routing and relaying packets of information</a:t>
            </a:r>
            <a:endParaRPr sz="1200" dirty="0"/>
          </a:p>
          <a:p>
            <a:pPr marL="914400" lvl="1" indent="-330200" algn="l" rtl="0">
              <a:lnSpc>
                <a:spcPct val="115000"/>
              </a:lnSpc>
              <a:spcBef>
                <a:spcPts val="0"/>
              </a:spcBef>
              <a:spcAft>
                <a:spcPts val="0"/>
              </a:spcAft>
              <a:buClr>
                <a:schemeClr val="dk1"/>
              </a:buClr>
              <a:buSzPts val="1200"/>
              <a:buChar char="○"/>
            </a:pPr>
            <a:r>
              <a:rPr lang="en" sz="1200" dirty="0"/>
              <a:t>The </a:t>
            </a:r>
            <a:r>
              <a:rPr lang="en" sz="1200" b="1" i="1" dirty="0">
                <a:solidFill>
                  <a:srgbClr val="FF0000"/>
                </a:solidFill>
                <a:highlight>
                  <a:srgbClr val="FFFF00"/>
                </a:highlight>
              </a:rPr>
              <a:t>Transmission Control Protocol</a:t>
            </a:r>
            <a:r>
              <a:rPr lang="en" sz="1200" dirty="0">
                <a:highlight>
                  <a:srgbClr val="FFFF00"/>
                </a:highlight>
              </a:rPr>
              <a:t> </a:t>
            </a:r>
            <a:r>
              <a:rPr lang="en" sz="1200" dirty="0"/>
              <a:t>(TCP) establishes connections between two computers and helps to ensure that packets are </a:t>
            </a:r>
            <a:r>
              <a:rPr lang="en" sz="1200" b="1" i="1" dirty="0">
                <a:solidFill>
                  <a:srgbClr val="FF0000"/>
                </a:solidFill>
              </a:rPr>
              <a:t>delivered</a:t>
            </a:r>
            <a:r>
              <a:rPr lang="en" sz="1200" dirty="0"/>
              <a:t> in order, reliably, and without corruption </a:t>
            </a:r>
            <a:endParaRPr sz="1200" dirty="0"/>
          </a:p>
          <a:p>
            <a:pPr marL="457200" lvl="0" indent="-349250" algn="l" rtl="0">
              <a:lnSpc>
                <a:spcPct val="115000"/>
              </a:lnSpc>
              <a:spcBef>
                <a:spcPts val="1000"/>
              </a:spcBef>
              <a:spcAft>
                <a:spcPts val="0"/>
              </a:spcAft>
              <a:buClr>
                <a:schemeClr val="dk1"/>
              </a:buClr>
              <a:buSzPts val="1500"/>
              <a:buChar char="●"/>
            </a:pPr>
            <a:r>
              <a:rPr lang="en" dirty="0">
                <a:highlight>
                  <a:srgbClr val="FFFF00"/>
                </a:highlight>
              </a:rPr>
              <a:t>Most of what we will be talking about today will be how to send and receive data between </a:t>
            </a:r>
            <a:r>
              <a:rPr lang="en" b="1" i="1" dirty="0">
                <a:solidFill>
                  <a:srgbClr val="FF0000"/>
                </a:solidFill>
                <a:highlight>
                  <a:srgbClr val="FFFF00"/>
                </a:highlight>
              </a:rPr>
              <a:t>two processes</a:t>
            </a:r>
            <a:r>
              <a:rPr lang="en" dirty="0">
                <a:highlight>
                  <a:srgbClr val="FFFF00"/>
                </a:highlight>
              </a:rPr>
              <a:t> (on the same or different computers) using TCP/IP</a:t>
            </a:r>
            <a:endParaRPr dirty="0">
              <a:highlight>
                <a:srgbClr val="FFFF00"/>
              </a:highlight>
            </a:endParaRPr>
          </a:p>
          <a:p>
            <a:pPr marL="279400" lvl="0" indent="-165100" algn="l" rtl="0">
              <a:lnSpc>
                <a:spcPct val="90000"/>
              </a:lnSpc>
              <a:spcBef>
                <a:spcPts val="800"/>
              </a:spcBef>
              <a:spcAft>
                <a:spcPts val="1600"/>
              </a:spcAft>
              <a:buClr>
                <a:schemeClr val="dk1"/>
              </a:buClr>
              <a:buSzPts val="1900"/>
              <a:buFont typeface="Calibri"/>
              <a:buNone/>
            </a:pPr>
            <a:endParaRPr dirty="0"/>
          </a:p>
        </p:txBody>
      </p:sp>
      <p:sp>
        <p:nvSpPr>
          <p:cNvPr id="335" name="Google Shape;335;p38"/>
          <p:cNvSpPr txBox="1"/>
          <p:nvPr/>
        </p:nvSpPr>
        <p:spPr>
          <a:xfrm>
            <a:off x="4954575" y="3871375"/>
            <a:ext cx="3546600" cy="93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dirty="0">
                <a:solidFill>
                  <a:schemeClr val="dk1"/>
                </a:solidFill>
                <a:latin typeface="Arial"/>
                <a:ea typeface="Arial"/>
                <a:cs typeface="Arial"/>
                <a:sym typeface="Arial"/>
              </a:rPr>
              <a:t>Before one computer can communicate with another, it needs to find the other computer on the network using its </a:t>
            </a:r>
            <a:r>
              <a:rPr lang="en" b="1" i="1" dirty="0">
                <a:solidFill>
                  <a:srgbClr val="FF0000"/>
                </a:solidFill>
                <a:latin typeface="Arial"/>
                <a:ea typeface="Arial"/>
                <a:cs typeface="Arial"/>
                <a:sym typeface="Arial"/>
              </a:rPr>
              <a:t>address</a:t>
            </a:r>
            <a:r>
              <a:rPr lang="en" dirty="0">
                <a:solidFill>
                  <a:schemeClr val="dk1"/>
                </a:solidFill>
                <a:latin typeface="Arial"/>
                <a:ea typeface="Arial"/>
                <a:cs typeface="Arial"/>
                <a:sym typeface="Arial"/>
              </a:rPr>
              <a:t>.</a:t>
            </a:r>
            <a:endParaRPr dirty="0">
              <a:solidFill>
                <a:schemeClr val="dk1"/>
              </a:solidFill>
              <a:latin typeface="Arial"/>
              <a:ea typeface="Arial"/>
              <a:cs typeface="Arial"/>
              <a:sym typeface="Arial"/>
            </a:endParaRPr>
          </a:p>
        </p:txBody>
      </p:sp>
      <p:sp>
        <p:nvSpPr>
          <p:cNvPr id="336" name="Google Shape;336;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fade">
                                      <p:cBhvr>
                                        <p:cTn id="7" dur="1000"/>
                                        <p:tgtEl>
                                          <p:spTgt spid="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9"/>
          <p:cNvSpPr txBox="1">
            <a:spLocks noGrp="1"/>
          </p:cNvSpPr>
          <p:nvPr>
            <p:ph type="title"/>
          </p:nvPr>
        </p:nvSpPr>
        <p:spPr>
          <a:xfrm>
            <a:off x="5264725" y="140900"/>
            <a:ext cx="3706500" cy="99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dirty="0"/>
              <a:t>Internet Protocol Addresses</a:t>
            </a:r>
            <a:endParaRPr dirty="0"/>
          </a:p>
        </p:txBody>
      </p:sp>
      <p:sp>
        <p:nvSpPr>
          <p:cNvPr id="342" name="Google Shape;342;p39"/>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rmAutofit lnSpcReduction="10000"/>
          </a:bodyPr>
          <a:lstStyle/>
          <a:p>
            <a:pPr marL="457200" lvl="0" indent="-336550" algn="l" rtl="0">
              <a:lnSpc>
                <a:spcPct val="115000"/>
              </a:lnSpc>
              <a:spcBef>
                <a:spcPts val="0"/>
              </a:spcBef>
              <a:spcAft>
                <a:spcPts val="0"/>
              </a:spcAft>
              <a:buClr>
                <a:schemeClr val="dk1"/>
              </a:buClr>
              <a:buSzPts val="1300"/>
              <a:buChar char="●"/>
            </a:pPr>
            <a:r>
              <a:rPr lang="en" sz="1500" dirty="0"/>
              <a:t>Every Internet-connected system must have a unique </a:t>
            </a:r>
            <a:r>
              <a:rPr lang="en" sz="1500" b="1" i="1" dirty="0">
                <a:solidFill>
                  <a:srgbClr val="FF0000"/>
                </a:solidFill>
                <a:highlight>
                  <a:srgbClr val="FFFF00"/>
                </a:highlight>
              </a:rPr>
              <a:t>IP address</a:t>
            </a:r>
            <a:endParaRPr sz="1200" b="1" i="1" dirty="0">
              <a:solidFill>
                <a:srgbClr val="FF0000"/>
              </a:solidFill>
              <a:highlight>
                <a:srgbClr val="FFFF00"/>
              </a:highlight>
            </a:endParaRPr>
          </a:p>
          <a:p>
            <a:pPr marL="457200" lvl="0" indent="-336550" algn="l" rtl="0">
              <a:lnSpc>
                <a:spcPct val="115000"/>
              </a:lnSpc>
              <a:spcBef>
                <a:spcPts val="1000"/>
              </a:spcBef>
              <a:spcAft>
                <a:spcPts val="0"/>
              </a:spcAft>
              <a:buClr>
                <a:schemeClr val="dk1"/>
              </a:buClr>
              <a:buSzPts val="1300"/>
              <a:buChar char="●"/>
            </a:pPr>
            <a:r>
              <a:rPr lang="en" sz="1500" dirty="0"/>
              <a:t>IPv4 uses a 32-bit (</a:t>
            </a:r>
            <a:r>
              <a:rPr lang="en" sz="1500" b="1" i="1" dirty="0">
                <a:solidFill>
                  <a:srgbClr val="FF0000"/>
                </a:solidFill>
              </a:rPr>
              <a:t>4-byte</a:t>
            </a:r>
            <a:r>
              <a:rPr lang="en" sz="1500" dirty="0"/>
              <a:t>) binary number, typically represented as a “dotted quad,” e.g. </a:t>
            </a:r>
            <a:r>
              <a:rPr lang="en" sz="1500" dirty="0">
                <a:latin typeface="Courier New"/>
                <a:ea typeface="Courier New"/>
                <a:cs typeface="Courier New"/>
                <a:sym typeface="Courier New"/>
              </a:rPr>
              <a:t>129.21.22.196</a:t>
            </a:r>
            <a:endParaRPr sz="1200" dirty="0"/>
          </a:p>
          <a:p>
            <a:pPr marL="800100" lvl="1" indent="-330200" algn="l" rtl="0">
              <a:lnSpc>
                <a:spcPct val="115000"/>
              </a:lnSpc>
              <a:spcBef>
                <a:spcPts val="400"/>
              </a:spcBef>
              <a:spcAft>
                <a:spcPts val="0"/>
              </a:spcAft>
              <a:buClr>
                <a:schemeClr val="dk1"/>
              </a:buClr>
              <a:buSzPts val="1200"/>
              <a:buChar char="○"/>
            </a:pPr>
            <a:r>
              <a:rPr lang="en" sz="1400" dirty="0"/>
              <a:t>Each integer ranges from </a:t>
            </a:r>
            <a:r>
              <a:rPr lang="en" sz="1400" b="1" i="1" dirty="0">
                <a:solidFill>
                  <a:srgbClr val="FF0000"/>
                </a:solidFill>
                <a:highlight>
                  <a:srgbClr val="FFFF00"/>
                </a:highlight>
              </a:rPr>
              <a:t>0 to 255</a:t>
            </a:r>
            <a:endParaRPr sz="900" b="1" i="1" dirty="0">
              <a:solidFill>
                <a:srgbClr val="FF0000"/>
              </a:solidFill>
              <a:highlight>
                <a:srgbClr val="FFFF00"/>
              </a:highlight>
            </a:endParaRPr>
          </a:p>
          <a:p>
            <a:pPr marL="457200" lvl="0" indent="-336550" algn="l" rtl="0">
              <a:lnSpc>
                <a:spcPct val="115000"/>
              </a:lnSpc>
              <a:spcBef>
                <a:spcPts val="1000"/>
              </a:spcBef>
              <a:spcAft>
                <a:spcPts val="0"/>
              </a:spcAft>
              <a:buClr>
                <a:schemeClr val="dk1"/>
              </a:buClr>
              <a:buSzPts val="1300"/>
              <a:buChar char="●"/>
            </a:pPr>
            <a:r>
              <a:rPr lang="en" sz="1500" dirty="0"/>
              <a:t>The relatively small size of an IPv4 address </a:t>
            </a:r>
            <a:r>
              <a:rPr lang="en" sz="1500" b="1" i="1" dirty="0">
                <a:solidFill>
                  <a:srgbClr val="FF0000"/>
                </a:solidFill>
                <a:highlight>
                  <a:srgbClr val="FFFF00"/>
                </a:highlight>
              </a:rPr>
              <a:t>limits</a:t>
            </a:r>
            <a:r>
              <a:rPr lang="en" sz="1500" dirty="0"/>
              <a:t> the number of computers that can be connected to the Internet</a:t>
            </a:r>
            <a:endParaRPr sz="1200" dirty="0"/>
          </a:p>
          <a:p>
            <a:pPr marL="457200" lvl="0" indent="-336550" algn="l" rtl="0">
              <a:lnSpc>
                <a:spcPct val="115000"/>
              </a:lnSpc>
              <a:spcBef>
                <a:spcPts val="1000"/>
              </a:spcBef>
              <a:spcAft>
                <a:spcPts val="0"/>
              </a:spcAft>
              <a:buClr>
                <a:schemeClr val="dk1"/>
              </a:buClr>
              <a:buSzPts val="1300"/>
              <a:buChar char="●"/>
            </a:pPr>
            <a:r>
              <a:rPr lang="en" sz="1500" dirty="0"/>
              <a:t>Because of this, many computers on private networks are connected to the Internet through a </a:t>
            </a:r>
            <a:r>
              <a:rPr lang="en" sz="1500" b="1" i="1" dirty="0">
                <a:solidFill>
                  <a:srgbClr val="FF0000"/>
                </a:solidFill>
                <a:highlight>
                  <a:srgbClr val="FFFF00"/>
                </a:highlight>
              </a:rPr>
              <a:t>single</a:t>
            </a:r>
            <a:r>
              <a:rPr lang="en" sz="1500" dirty="0">
                <a:highlight>
                  <a:srgbClr val="FFFF00"/>
                </a:highlight>
              </a:rPr>
              <a:t> router or proxy</a:t>
            </a:r>
            <a:endParaRPr sz="1200" dirty="0">
              <a:highlight>
                <a:srgbClr val="FFFF00"/>
              </a:highlight>
            </a:endParaRPr>
          </a:p>
          <a:p>
            <a:pPr marL="800100" lvl="1" indent="-330200" algn="l" rtl="0">
              <a:lnSpc>
                <a:spcPct val="115000"/>
              </a:lnSpc>
              <a:spcBef>
                <a:spcPts val="400"/>
              </a:spcBef>
              <a:spcAft>
                <a:spcPts val="0"/>
              </a:spcAft>
              <a:buClr>
                <a:schemeClr val="dk1"/>
              </a:buClr>
              <a:buSzPts val="1200"/>
              <a:buChar char="○"/>
            </a:pPr>
            <a:r>
              <a:rPr lang="en" sz="1400" dirty="0">
                <a:highlight>
                  <a:srgbClr val="FFFF00"/>
                </a:highlight>
              </a:rPr>
              <a:t>Only the </a:t>
            </a:r>
            <a:r>
              <a:rPr lang="en" sz="1400" b="1" i="1" dirty="0">
                <a:solidFill>
                  <a:srgbClr val="FF0000"/>
                </a:solidFill>
                <a:highlight>
                  <a:srgbClr val="FFFF00"/>
                </a:highlight>
              </a:rPr>
              <a:t>router</a:t>
            </a:r>
            <a:r>
              <a:rPr lang="en" sz="1400" dirty="0">
                <a:highlight>
                  <a:srgbClr val="FFFF00"/>
                </a:highlight>
              </a:rPr>
              <a:t> gets an Internet IP address</a:t>
            </a:r>
            <a:endParaRPr sz="900" dirty="0">
              <a:highlight>
                <a:srgbClr val="FFFF00"/>
              </a:highlight>
            </a:endParaRPr>
          </a:p>
          <a:p>
            <a:pPr marL="800100" lvl="1" indent="-330200" algn="l" rtl="0">
              <a:lnSpc>
                <a:spcPct val="115000"/>
              </a:lnSpc>
              <a:spcBef>
                <a:spcPts val="400"/>
              </a:spcBef>
              <a:spcAft>
                <a:spcPts val="0"/>
              </a:spcAft>
              <a:buClr>
                <a:schemeClr val="dk1"/>
              </a:buClr>
              <a:buSzPts val="1200"/>
              <a:buChar char="○"/>
            </a:pPr>
            <a:r>
              <a:rPr lang="en" sz="1400" dirty="0">
                <a:highlight>
                  <a:srgbClr val="FFFF00"/>
                </a:highlight>
              </a:rPr>
              <a:t>The other computers use </a:t>
            </a:r>
            <a:r>
              <a:rPr lang="en" sz="1400" b="1" i="1" dirty="0">
                <a:solidFill>
                  <a:srgbClr val="FF0000"/>
                </a:solidFill>
                <a:highlight>
                  <a:srgbClr val="FFFF00"/>
                </a:highlight>
              </a:rPr>
              <a:t>private</a:t>
            </a:r>
            <a:r>
              <a:rPr lang="en" sz="1400" dirty="0">
                <a:highlight>
                  <a:srgbClr val="FFFF00"/>
                </a:highlight>
              </a:rPr>
              <a:t> addresses, e.g. </a:t>
            </a:r>
            <a:r>
              <a:rPr lang="en" sz="1400" dirty="0">
                <a:highlight>
                  <a:srgbClr val="FFFF00"/>
                </a:highlight>
                <a:latin typeface="Courier New"/>
                <a:ea typeface="Courier New"/>
                <a:cs typeface="Courier New"/>
                <a:sym typeface="Courier New"/>
              </a:rPr>
              <a:t>192.168.0.100</a:t>
            </a:r>
            <a:endParaRPr sz="1400" dirty="0">
              <a:highlight>
                <a:srgbClr val="FFFF00"/>
              </a:highlight>
            </a:endParaRPr>
          </a:p>
        </p:txBody>
      </p:sp>
      <p:sp>
        <p:nvSpPr>
          <p:cNvPr id="343" name="Google Shape;343;p39"/>
          <p:cNvSpPr txBox="1"/>
          <p:nvPr/>
        </p:nvSpPr>
        <p:spPr>
          <a:xfrm>
            <a:off x="5538600" y="1158650"/>
            <a:ext cx="3158700" cy="832200"/>
          </a:xfrm>
          <a:prstGeom prst="rect">
            <a:avLst/>
          </a:prstGeom>
          <a:solidFill>
            <a:srgbClr val="FFF2CC"/>
          </a:solidFill>
          <a:ln w="317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There are several different </a:t>
            </a:r>
            <a:r>
              <a:rPr lang="en" i="1">
                <a:solidFill>
                  <a:schemeClr val="dk1"/>
                </a:solidFill>
                <a:latin typeface="Arial"/>
                <a:ea typeface="Arial"/>
                <a:cs typeface="Arial"/>
                <a:sym typeface="Arial"/>
              </a:rPr>
              <a:t>classes</a:t>
            </a:r>
            <a:r>
              <a:rPr lang="en">
                <a:solidFill>
                  <a:schemeClr val="dk1"/>
                </a:solidFill>
                <a:latin typeface="Arial"/>
                <a:ea typeface="Arial"/>
                <a:cs typeface="Arial"/>
                <a:sym typeface="Arial"/>
              </a:rPr>
              <a:t> that determine how the bits in the address are used...</a:t>
            </a:r>
            <a:endParaRPr>
              <a:solidFill>
                <a:schemeClr val="dk1"/>
              </a:solidFill>
              <a:latin typeface="Arial"/>
              <a:ea typeface="Arial"/>
              <a:cs typeface="Arial"/>
              <a:sym typeface="Arial"/>
            </a:endParaRPr>
          </a:p>
        </p:txBody>
      </p:sp>
      <p:grpSp>
        <p:nvGrpSpPr>
          <p:cNvPr id="344" name="Google Shape;344;p39"/>
          <p:cNvGrpSpPr/>
          <p:nvPr/>
        </p:nvGrpSpPr>
        <p:grpSpPr>
          <a:xfrm>
            <a:off x="5538612" y="2158773"/>
            <a:ext cx="3158700" cy="823202"/>
            <a:chOff x="5851900" y="1490573"/>
            <a:chExt cx="3158700" cy="823202"/>
          </a:xfrm>
        </p:grpSpPr>
        <p:grpSp>
          <p:nvGrpSpPr>
            <p:cNvPr id="345" name="Google Shape;345;p39"/>
            <p:cNvGrpSpPr/>
            <p:nvPr/>
          </p:nvGrpSpPr>
          <p:grpSpPr>
            <a:xfrm>
              <a:off x="5851900" y="1490573"/>
              <a:ext cx="3158700" cy="393600"/>
              <a:chOff x="5851900" y="1656950"/>
              <a:chExt cx="3158700" cy="393600"/>
            </a:xfrm>
          </p:grpSpPr>
          <p:sp>
            <p:nvSpPr>
              <p:cNvPr id="346" name="Google Shape;346;p39"/>
              <p:cNvSpPr txBox="1"/>
              <p:nvPr/>
            </p:nvSpPr>
            <p:spPr>
              <a:xfrm>
                <a:off x="5851900" y="1656950"/>
                <a:ext cx="216600" cy="393600"/>
              </a:xfrm>
              <a:prstGeom prst="rect">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900" b="1">
                    <a:solidFill>
                      <a:schemeClr val="dk1"/>
                    </a:solidFill>
                    <a:latin typeface="Courier New"/>
                    <a:ea typeface="Courier New"/>
                    <a:cs typeface="Courier New"/>
                    <a:sym typeface="Courier New"/>
                  </a:rPr>
                  <a:t>0</a:t>
                </a:r>
                <a:endParaRPr sz="900" b="1">
                  <a:solidFill>
                    <a:schemeClr val="dk1"/>
                  </a:solidFill>
                  <a:latin typeface="Courier New"/>
                  <a:ea typeface="Courier New"/>
                  <a:cs typeface="Courier New"/>
                  <a:sym typeface="Courier New"/>
                </a:endParaRPr>
              </a:p>
            </p:txBody>
          </p:sp>
          <p:sp>
            <p:nvSpPr>
              <p:cNvPr id="347" name="Google Shape;347;p39"/>
              <p:cNvSpPr txBox="1"/>
              <p:nvPr/>
            </p:nvSpPr>
            <p:spPr>
              <a:xfrm>
                <a:off x="6068500" y="1656950"/>
                <a:ext cx="642900" cy="393600"/>
              </a:xfrm>
              <a:prstGeom prst="rect">
                <a:avLst/>
              </a:prstGeom>
              <a:solidFill>
                <a:srgbClr val="F9CB9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700" b="1">
                    <a:solidFill>
                      <a:schemeClr val="dk1"/>
                    </a:solidFill>
                    <a:latin typeface="Courier New"/>
                    <a:ea typeface="Courier New"/>
                    <a:cs typeface="Courier New"/>
                    <a:sym typeface="Courier New"/>
                  </a:rPr>
                  <a:t>Net ID (7-bits)</a:t>
                </a:r>
                <a:endParaRPr sz="700" b="1">
                  <a:solidFill>
                    <a:schemeClr val="dk1"/>
                  </a:solidFill>
                  <a:latin typeface="Courier New"/>
                  <a:ea typeface="Courier New"/>
                  <a:cs typeface="Courier New"/>
                  <a:sym typeface="Courier New"/>
                </a:endParaRPr>
              </a:p>
            </p:txBody>
          </p:sp>
          <p:sp>
            <p:nvSpPr>
              <p:cNvPr id="348" name="Google Shape;348;p39"/>
              <p:cNvSpPr txBox="1"/>
              <p:nvPr/>
            </p:nvSpPr>
            <p:spPr>
              <a:xfrm>
                <a:off x="6711400" y="1656950"/>
                <a:ext cx="2299200" cy="3936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700" b="1">
                    <a:solidFill>
                      <a:schemeClr val="dk1"/>
                    </a:solidFill>
                    <a:latin typeface="Courier New"/>
                    <a:ea typeface="Courier New"/>
                    <a:cs typeface="Courier New"/>
                    <a:sym typeface="Courier New"/>
                  </a:rPr>
                  <a:t>Address</a:t>
                </a:r>
                <a:endParaRPr sz="700" b="1">
                  <a:solidFill>
                    <a:schemeClr val="dk1"/>
                  </a:solidFill>
                  <a:latin typeface="Courier New"/>
                  <a:ea typeface="Courier New"/>
                  <a:cs typeface="Courier New"/>
                  <a:sym typeface="Courier New"/>
                </a:endParaRPr>
              </a:p>
              <a:p>
                <a:pPr marL="0" marR="0" lvl="0" indent="0" algn="ctr" rtl="0">
                  <a:spcBef>
                    <a:spcPts val="0"/>
                  </a:spcBef>
                  <a:spcAft>
                    <a:spcPts val="0"/>
                  </a:spcAft>
                  <a:buNone/>
                </a:pPr>
                <a:r>
                  <a:rPr lang="en" sz="700" b="1">
                    <a:solidFill>
                      <a:schemeClr val="dk1"/>
                    </a:solidFill>
                    <a:latin typeface="Courier New"/>
                    <a:ea typeface="Courier New"/>
                    <a:cs typeface="Courier New"/>
                    <a:sym typeface="Courier New"/>
                  </a:rPr>
                  <a:t>(24-bits)</a:t>
                </a:r>
                <a:endParaRPr sz="700" b="1">
                  <a:solidFill>
                    <a:schemeClr val="dk1"/>
                  </a:solidFill>
                  <a:latin typeface="Courier New"/>
                  <a:ea typeface="Courier New"/>
                  <a:cs typeface="Courier New"/>
                  <a:sym typeface="Courier New"/>
                </a:endParaRPr>
              </a:p>
            </p:txBody>
          </p:sp>
        </p:grpSp>
        <p:sp>
          <p:nvSpPr>
            <p:cNvPr id="349" name="Google Shape;349;p39"/>
            <p:cNvSpPr txBox="1"/>
            <p:nvPr/>
          </p:nvSpPr>
          <p:spPr>
            <a:xfrm>
              <a:off x="5851900" y="1884175"/>
              <a:ext cx="3158700" cy="4296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Playfair Display"/>
                  <a:ea typeface="Playfair Display"/>
                  <a:cs typeface="Playfair Display"/>
                  <a:sym typeface="Playfair Display"/>
                </a:rPr>
                <a:t>Class A </a:t>
              </a:r>
              <a:endParaRPr sz="1800">
                <a:solidFill>
                  <a:schemeClr val="dk1"/>
                </a:solidFill>
                <a:latin typeface="Playfair Display"/>
                <a:ea typeface="Playfair Display"/>
                <a:cs typeface="Playfair Display"/>
                <a:sym typeface="Playfair Display"/>
              </a:endParaRPr>
            </a:p>
            <a:p>
              <a:pPr marL="0" marR="0" lvl="0" indent="0" algn="ctr" rtl="0">
                <a:spcBef>
                  <a:spcPts val="0"/>
                </a:spcBef>
                <a:spcAft>
                  <a:spcPts val="0"/>
                </a:spcAft>
                <a:buNone/>
              </a:pPr>
              <a:r>
                <a:rPr lang="en" sz="1100">
                  <a:solidFill>
                    <a:schemeClr val="dk1"/>
                  </a:solidFill>
                  <a:latin typeface="Playfair Display"/>
                  <a:ea typeface="Playfair Display"/>
                  <a:cs typeface="Playfair Display"/>
                  <a:sym typeface="Playfair Display"/>
                </a:rPr>
                <a:t>(16 million unique addresses)</a:t>
              </a:r>
              <a:endParaRPr sz="1100">
                <a:solidFill>
                  <a:schemeClr val="dk1"/>
                </a:solidFill>
                <a:latin typeface="Playfair Display"/>
                <a:ea typeface="Playfair Display"/>
                <a:cs typeface="Playfair Display"/>
                <a:sym typeface="Playfair Display"/>
              </a:endParaRPr>
            </a:p>
          </p:txBody>
        </p:sp>
      </p:grpSp>
      <p:grpSp>
        <p:nvGrpSpPr>
          <p:cNvPr id="350" name="Google Shape;350;p39"/>
          <p:cNvGrpSpPr/>
          <p:nvPr/>
        </p:nvGrpSpPr>
        <p:grpSpPr>
          <a:xfrm>
            <a:off x="5538612" y="3154540"/>
            <a:ext cx="3158750" cy="832200"/>
            <a:chOff x="5851900" y="2495150"/>
            <a:chExt cx="3158750" cy="832200"/>
          </a:xfrm>
        </p:grpSpPr>
        <p:grpSp>
          <p:nvGrpSpPr>
            <p:cNvPr id="351" name="Google Shape;351;p39"/>
            <p:cNvGrpSpPr/>
            <p:nvPr/>
          </p:nvGrpSpPr>
          <p:grpSpPr>
            <a:xfrm>
              <a:off x="5851900" y="2495150"/>
              <a:ext cx="3158750" cy="393600"/>
              <a:chOff x="5851900" y="2342750"/>
              <a:chExt cx="3158750" cy="393600"/>
            </a:xfrm>
          </p:grpSpPr>
          <p:sp>
            <p:nvSpPr>
              <p:cNvPr id="352" name="Google Shape;352;p39"/>
              <p:cNvSpPr txBox="1"/>
              <p:nvPr/>
            </p:nvSpPr>
            <p:spPr>
              <a:xfrm>
                <a:off x="5851900" y="2342750"/>
                <a:ext cx="342300" cy="393600"/>
              </a:xfrm>
              <a:prstGeom prst="rect">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900" b="1">
                    <a:solidFill>
                      <a:schemeClr val="dk1"/>
                    </a:solidFill>
                    <a:latin typeface="Courier New"/>
                    <a:ea typeface="Courier New"/>
                    <a:cs typeface="Courier New"/>
                    <a:sym typeface="Courier New"/>
                  </a:rPr>
                  <a:t>10</a:t>
                </a:r>
                <a:endParaRPr sz="900" b="1">
                  <a:solidFill>
                    <a:schemeClr val="dk1"/>
                  </a:solidFill>
                  <a:latin typeface="Courier New"/>
                  <a:ea typeface="Courier New"/>
                  <a:cs typeface="Courier New"/>
                  <a:sym typeface="Courier New"/>
                </a:endParaRPr>
              </a:p>
            </p:txBody>
          </p:sp>
          <p:sp>
            <p:nvSpPr>
              <p:cNvPr id="353" name="Google Shape;353;p39"/>
              <p:cNvSpPr txBox="1"/>
              <p:nvPr/>
            </p:nvSpPr>
            <p:spPr>
              <a:xfrm>
                <a:off x="6194200" y="2342750"/>
                <a:ext cx="1202100" cy="393600"/>
              </a:xfrm>
              <a:prstGeom prst="rect">
                <a:avLst/>
              </a:prstGeom>
              <a:solidFill>
                <a:srgbClr val="F9CB9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700" b="1">
                    <a:solidFill>
                      <a:schemeClr val="dk1"/>
                    </a:solidFill>
                    <a:latin typeface="Courier New"/>
                    <a:ea typeface="Courier New"/>
                    <a:cs typeface="Courier New"/>
                    <a:sym typeface="Courier New"/>
                  </a:rPr>
                  <a:t>Net ID (14-bits)</a:t>
                </a:r>
                <a:endParaRPr sz="700" b="1">
                  <a:solidFill>
                    <a:schemeClr val="dk1"/>
                  </a:solidFill>
                  <a:latin typeface="Courier New"/>
                  <a:ea typeface="Courier New"/>
                  <a:cs typeface="Courier New"/>
                  <a:sym typeface="Courier New"/>
                </a:endParaRPr>
              </a:p>
            </p:txBody>
          </p:sp>
          <p:sp>
            <p:nvSpPr>
              <p:cNvPr id="354" name="Google Shape;354;p39"/>
              <p:cNvSpPr txBox="1"/>
              <p:nvPr/>
            </p:nvSpPr>
            <p:spPr>
              <a:xfrm>
                <a:off x="7396350" y="2342750"/>
                <a:ext cx="1614300" cy="3936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700" b="1">
                    <a:solidFill>
                      <a:schemeClr val="dk1"/>
                    </a:solidFill>
                    <a:latin typeface="Courier New"/>
                    <a:ea typeface="Courier New"/>
                    <a:cs typeface="Courier New"/>
                    <a:sym typeface="Courier New"/>
                  </a:rPr>
                  <a:t>Address</a:t>
                </a:r>
                <a:endParaRPr sz="700" b="1">
                  <a:solidFill>
                    <a:schemeClr val="dk1"/>
                  </a:solidFill>
                  <a:latin typeface="Courier New"/>
                  <a:ea typeface="Courier New"/>
                  <a:cs typeface="Courier New"/>
                  <a:sym typeface="Courier New"/>
                </a:endParaRPr>
              </a:p>
              <a:p>
                <a:pPr marL="0" marR="0" lvl="0" indent="0" algn="ctr" rtl="0">
                  <a:spcBef>
                    <a:spcPts val="0"/>
                  </a:spcBef>
                  <a:spcAft>
                    <a:spcPts val="0"/>
                  </a:spcAft>
                  <a:buNone/>
                </a:pPr>
                <a:r>
                  <a:rPr lang="en" sz="700" b="1">
                    <a:solidFill>
                      <a:schemeClr val="dk1"/>
                    </a:solidFill>
                    <a:latin typeface="Courier New"/>
                    <a:ea typeface="Courier New"/>
                    <a:cs typeface="Courier New"/>
                    <a:sym typeface="Courier New"/>
                  </a:rPr>
                  <a:t>(16-bits)</a:t>
                </a:r>
                <a:endParaRPr sz="700" b="1">
                  <a:solidFill>
                    <a:schemeClr val="dk1"/>
                  </a:solidFill>
                  <a:latin typeface="Courier New"/>
                  <a:ea typeface="Courier New"/>
                  <a:cs typeface="Courier New"/>
                  <a:sym typeface="Courier New"/>
                </a:endParaRPr>
              </a:p>
            </p:txBody>
          </p:sp>
        </p:grpSp>
        <p:sp>
          <p:nvSpPr>
            <p:cNvPr id="355" name="Google Shape;355;p39"/>
            <p:cNvSpPr txBox="1"/>
            <p:nvPr/>
          </p:nvSpPr>
          <p:spPr>
            <a:xfrm>
              <a:off x="5851900" y="2888750"/>
              <a:ext cx="3158700" cy="4386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Playfair Display"/>
                  <a:ea typeface="Playfair Display"/>
                  <a:cs typeface="Playfair Display"/>
                  <a:sym typeface="Playfair Display"/>
                </a:rPr>
                <a:t>Class B </a:t>
              </a:r>
              <a:endParaRPr sz="1800">
                <a:solidFill>
                  <a:schemeClr val="dk1"/>
                </a:solidFill>
                <a:latin typeface="Playfair Display"/>
                <a:ea typeface="Playfair Display"/>
                <a:cs typeface="Playfair Display"/>
                <a:sym typeface="Playfair Display"/>
              </a:endParaRPr>
            </a:p>
            <a:p>
              <a:pPr marL="0" marR="0" lvl="0" indent="0" algn="ctr" rtl="0">
                <a:spcBef>
                  <a:spcPts val="0"/>
                </a:spcBef>
                <a:spcAft>
                  <a:spcPts val="0"/>
                </a:spcAft>
                <a:buNone/>
              </a:pPr>
              <a:r>
                <a:rPr lang="en" sz="1100">
                  <a:solidFill>
                    <a:schemeClr val="dk1"/>
                  </a:solidFill>
                  <a:latin typeface="Playfair Display"/>
                  <a:ea typeface="Playfair Display"/>
                  <a:cs typeface="Playfair Display"/>
                  <a:sym typeface="Playfair Display"/>
                </a:rPr>
                <a:t>(65 thousand unique addresses)</a:t>
              </a:r>
              <a:endParaRPr sz="1100">
                <a:solidFill>
                  <a:schemeClr val="dk1"/>
                </a:solidFill>
                <a:latin typeface="Playfair Display"/>
                <a:ea typeface="Playfair Display"/>
                <a:cs typeface="Playfair Display"/>
                <a:sym typeface="Playfair Display"/>
              </a:endParaRPr>
            </a:p>
          </p:txBody>
        </p:sp>
      </p:grpSp>
      <p:grpSp>
        <p:nvGrpSpPr>
          <p:cNvPr id="356" name="Google Shape;356;p39"/>
          <p:cNvGrpSpPr/>
          <p:nvPr/>
        </p:nvGrpSpPr>
        <p:grpSpPr>
          <a:xfrm>
            <a:off x="5538612" y="4164650"/>
            <a:ext cx="3158700" cy="845504"/>
            <a:chOff x="5538612" y="4164650"/>
            <a:chExt cx="3158700" cy="845504"/>
          </a:xfrm>
        </p:grpSpPr>
        <p:grpSp>
          <p:nvGrpSpPr>
            <p:cNvPr id="357" name="Google Shape;357;p39"/>
            <p:cNvGrpSpPr/>
            <p:nvPr/>
          </p:nvGrpSpPr>
          <p:grpSpPr>
            <a:xfrm>
              <a:off x="5538613" y="4164650"/>
              <a:ext cx="3158625" cy="393600"/>
              <a:chOff x="5851900" y="3104750"/>
              <a:chExt cx="3158625" cy="393600"/>
            </a:xfrm>
          </p:grpSpPr>
          <p:sp>
            <p:nvSpPr>
              <p:cNvPr id="358" name="Google Shape;358;p39"/>
              <p:cNvSpPr txBox="1"/>
              <p:nvPr/>
            </p:nvSpPr>
            <p:spPr>
              <a:xfrm>
                <a:off x="5851900" y="3104750"/>
                <a:ext cx="496200" cy="393600"/>
              </a:xfrm>
              <a:prstGeom prst="rect">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900" b="1">
                    <a:solidFill>
                      <a:schemeClr val="dk1"/>
                    </a:solidFill>
                    <a:latin typeface="Courier New"/>
                    <a:ea typeface="Courier New"/>
                    <a:cs typeface="Courier New"/>
                    <a:sym typeface="Courier New"/>
                  </a:rPr>
                  <a:t>110</a:t>
                </a:r>
                <a:endParaRPr sz="900" b="1">
                  <a:solidFill>
                    <a:schemeClr val="dk1"/>
                  </a:solidFill>
                  <a:latin typeface="Courier New"/>
                  <a:ea typeface="Courier New"/>
                  <a:cs typeface="Courier New"/>
                  <a:sym typeface="Courier New"/>
                </a:endParaRPr>
              </a:p>
            </p:txBody>
          </p:sp>
          <p:sp>
            <p:nvSpPr>
              <p:cNvPr id="359" name="Google Shape;359;p39"/>
              <p:cNvSpPr txBox="1"/>
              <p:nvPr/>
            </p:nvSpPr>
            <p:spPr>
              <a:xfrm>
                <a:off x="6348100" y="3104750"/>
                <a:ext cx="1844700" cy="393600"/>
              </a:xfrm>
              <a:prstGeom prst="rect">
                <a:avLst/>
              </a:prstGeom>
              <a:solidFill>
                <a:srgbClr val="F9CB9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700" b="1">
                    <a:solidFill>
                      <a:schemeClr val="dk1"/>
                    </a:solidFill>
                    <a:latin typeface="Courier New"/>
                    <a:ea typeface="Courier New"/>
                    <a:cs typeface="Courier New"/>
                    <a:sym typeface="Courier New"/>
                  </a:rPr>
                  <a:t>Net ID (21-bits)</a:t>
                </a:r>
                <a:endParaRPr sz="700" b="1">
                  <a:solidFill>
                    <a:schemeClr val="dk1"/>
                  </a:solidFill>
                  <a:latin typeface="Courier New"/>
                  <a:ea typeface="Courier New"/>
                  <a:cs typeface="Courier New"/>
                  <a:sym typeface="Courier New"/>
                </a:endParaRPr>
              </a:p>
            </p:txBody>
          </p:sp>
          <p:sp>
            <p:nvSpPr>
              <p:cNvPr id="360" name="Google Shape;360;p39"/>
              <p:cNvSpPr txBox="1"/>
              <p:nvPr/>
            </p:nvSpPr>
            <p:spPr>
              <a:xfrm>
                <a:off x="8193025" y="3104750"/>
                <a:ext cx="817500" cy="3936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700" b="1">
                    <a:solidFill>
                      <a:schemeClr val="dk1"/>
                    </a:solidFill>
                    <a:latin typeface="Courier New"/>
                    <a:ea typeface="Courier New"/>
                    <a:cs typeface="Courier New"/>
                    <a:sym typeface="Courier New"/>
                  </a:rPr>
                  <a:t>Address</a:t>
                </a:r>
                <a:endParaRPr sz="700" b="1">
                  <a:solidFill>
                    <a:schemeClr val="dk1"/>
                  </a:solidFill>
                  <a:latin typeface="Courier New"/>
                  <a:ea typeface="Courier New"/>
                  <a:cs typeface="Courier New"/>
                  <a:sym typeface="Courier New"/>
                </a:endParaRPr>
              </a:p>
              <a:p>
                <a:pPr marL="0" marR="0" lvl="0" indent="0" algn="ctr" rtl="0">
                  <a:spcBef>
                    <a:spcPts val="0"/>
                  </a:spcBef>
                  <a:spcAft>
                    <a:spcPts val="0"/>
                  </a:spcAft>
                  <a:buNone/>
                </a:pPr>
                <a:r>
                  <a:rPr lang="en" sz="700" b="1">
                    <a:solidFill>
                      <a:schemeClr val="dk1"/>
                    </a:solidFill>
                    <a:latin typeface="Courier New"/>
                    <a:ea typeface="Courier New"/>
                    <a:cs typeface="Courier New"/>
                    <a:sym typeface="Courier New"/>
                  </a:rPr>
                  <a:t>(8-bits)</a:t>
                </a:r>
                <a:endParaRPr sz="700" b="1">
                  <a:solidFill>
                    <a:schemeClr val="dk1"/>
                  </a:solidFill>
                  <a:latin typeface="Courier New"/>
                  <a:ea typeface="Courier New"/>
                  <a:cs typeface="Courier New"/>
                  <a:sym typeface="Courier New"/>
                </a:endParaRPr>
              </a:p>
            </p:txBody>
          </p:sp>
        </p:grpSp>
        <p:sp>
          <p:nvSpPr>
            <p:cNvPr id="361" name="Google Shape;361;p39"/>
            <p:cNvSpPr txBox="1"/>
            <p:nvPr/>
          </p:nvSpPr>
          <p:spPr>
            <a:xfrm>
              <a:off x="5538612" y="4571554"/>
              <a:ext cx="3158700" cy="4386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dirty="0">
                  <a:solidFill>
                    <a:schemeClr val="dk1"/>
                  </a:solidFill>
                  <a:latin typeface="Playfair Display"/>
                  <a:ea typeface="Playfair Display"/>
                  <a:cs typeface="Playfair Display"/>
                  <a:sym typeface="Playfair Display"/>
                </a:rPr>
                <a:t>Class C </a:t>
              </a:r>
              <a:endParaRPr sz="1800" dirty="0">
                <a:solidFill>
                  <a:schemeClr val="dk1"/>
                </a:solidFill>
                <a:latin typeface="Playfair Display"/>
                <a:ea typeface="Playfair Display"/>
                <a:cs typeface="Playfair Display"/>
                <a:sym typeface="Playfair Display"/>
              </a:endParaRPr>
            </a:p>
            <a:p>
              <a:pPr marL="0" marR="0" lvl="0" indent="0" algn="ctr" rtl="0">
                <a:spcBef>
                  <a:spcPts val="0"/>
                </a:spcBef>
                <a:spcAft>
                  <a:spcPts val="0"/>
                </a:spcAft>
                <a:buNone/>
              </a:pPr>
              <a:r>
                <a:rPr lang="en" sz="1100" dirty="0">
                  <a:solidFill>
                    <a:schemeClr val="dk1"/>
                  </a:solidFill>
                  <a:latin typeface="Playfair Display"/>
                  <a:ea typeface="Playfair Display"/>
                  <a:cs typeface="Playfair Display"/>
                  <a:sym typeface="Playfair Display"/>
                </a:rPr>
                <a:t>(254 unique addresses)</a:t>
              </a:r>
              <a:endParaRPr sz="1100" dirty="0">
                <a:solidFill>
                  <a:schemeClr val="dk1"/>
                </a:solidFill>
                <a:latin typeface="Playfair Display"/>
                <a:ea typeface="Playfair Display"/>
                <a:cs typeface="Playfair Display"/>
                <a:sym typeface="Playfair Display"/>
              </a:endParaRPr>
            </a:p>
          </p:txBody>
        </p:sp>
      </p:grpSp>
      <p:sp>
        <p:nvSpPr>
          <p:cNvPr id="362" name="Google Shape;362;p39"/>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Effect transition="in" filter="fade">
                                      <p:cBhvr>
                                        <p:cTn id="7" dur="1000"/>
                                        <p:tgtEl>
                                          <p:spTgt spid="3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4"/>
                                        </p:tgtEl>
                                        <p:attrNameLst>
                                          <p:attrName>style.visibility</p:attrName>
                                        </p:attrNameLst>
                                      </p:cBhvr>
                                      <p:to>
                                        <p:strVal val="visible"/>
                                      </p:to>
                                    </p:set>
                                    <p:animEffect transition="in" filter="fade">
                                      <p:cBhvr>
                                        <p:cTn id="12" dur="1000"/>
                                        <p:tgtEl>
                                          <p:spTgt spid="3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0"/>
                                        </p:tgtEl>
                                        <p:attrNameLst>
                                          <p:attrName>style.visibility</p:attrName>
                                        </p:attrNameLst>
                                      </p:cBhvr>
                                      <p:to>
                                        <p:strVal val="visible"/>
                                      </p:to>
                                    </p:set>
                                    <p:animEffect transition="in" filter="fade">
                                      <p:cBhvr>
                                        <p:cTn id="17" dur="1000"/>
                                        <p:tgtEl>
                                          <p:spTgt spid="35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6"/>
                                        </p:tgtEl>
                                        <p:attrNameLst>
                                          <p:attrName>style.visibility</p:attrName>
                                        </p:attrNameLst>
                                      </p:cBhvr>
                                      <p:to>
                                        <p:strVal val="visible"/>
                                      </p:to>
                                    </p:set>
                                    <p:animEffect transition="in" filter="fade">
                                      <p:cBhvr>
                                        <p:cTn id="22" dur="10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Google Shape;367;p40"/>
          <p:cNvPicPr preferRelativeResize="0"/>
          <p:nvPr/>
        </p:nvPicPr>
        <p:blipFill rotWithShape="1">
          <a:blip r:embed="rId3">
            <a:alphaModFix/>
          </a:blip>
          <a:srcRect l="16355" r="21460"/>
          <a:stretch/>
        </p:blipFill>
        <p:spPr>
          <a:xfrm>
            <a:off x="530738" y="1145570"/>
            <a:ext cx="3268425" cy="2966975"/>
          </a:xfrm>
          <a:prstGeom prst="rect">
            <a:avLst/>
          </a:prstGeom>
          <a:noFill/>
          <a:ln w="19050" cap="flat" cmpd="sng">
            <a:solidFill>
              <a:schemeClr val="accent1"/>
            </a:solidFill>
            <a:prstDash val="solid"/>
            <a:round/>
            <a:headEnd type="none" w="sm" len="sm"/>
            <a:tailEnd type="none" w="sm" len="sm"/>
          </a:ln>
        </p:spPr>
      </p:pic>
      <p:sp>
        <p:nvSpPr>
          <p:cNvPr id="368" name="Google Shape;368;p40"/>
          <p:cNvSpPr txBox="1"/>
          <p:nvPr/>
        </p:nvSpPr>
        <p:spPr>
          <a:xfrm>
            <a:off x="449713" y="4218140"/>
            <a:ext cx="3430500" cy="76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DNSs on the internet are arranged into a hierarchy, with the </a:t>
            </a:r>
            <a:r>
              <a:rPr lang="en" sz="1300" i="1">
                <a:solidFill>
                  <a:schemeClr val="dk1"/>
                </a:solidFill>
                <a:latin typeface="Arial"/>
                <a:ea typeface="Arial"/>
                <a:cs typeface="Arial"/>
                <a:sym typeface="Arial"/>
              </a:rPr>
              <a:t>root</a:t>
            </a:r>
            <a:r>
              <a:rPr lang="en" sz="1300">
                <a:solidFill>
                  <a:schemeClr val="dk1"/>
                </a:solidFill>
                <a:latin typeface="Arial"/>
                <a:ea typeface="Arial"/>
                <a:cs typeface="Arial"/>
                <a:sym typeface="Arial"/>
              </a:rPr>
              <a:t> servers at the top and individual machines at the bottom.</a:t>
            </a:r>
            <a:endParaRPr sz="1300">
              <a:solidFill>
                <a:schemeClr val="dk1"/>
              </a:solidFill>
              <a:latin typeface="Arial"/>
              <a:ea typeface="Arial"/>
              <a:cs typeface="Arial"/>
              <a:sym typeface="Arial"/>
            </a:endParaRPr>
          </a:p>
        </p:txBody>
      </p:sp>
      <p:sp>
        <p:nvSpPr>
          <p:cNvPr id="369" name="Google Shape;369;p40"/>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Hostnames &amp; DNS</a:t>
            </a:r>
            <a:endParaRPr/>
          </a:p>
        </p:txBody>
      </p:sp>
      <p:sp>
        <p:nvSpPr>
          <p:cNvPr id="370" name="Google Shape;370;p40"/>
          <p:cNvSpPr txBox="1">
            <a:spLocks noGrp="1"/>
          </p:cNvSpPr>
          <p:nvPr>
            <p:ph type="body" idx="1"/>
          </p:nvPr>
        </p:nvSpPr>
        <p:spPr>
          <a:xfrm>
            <a:off x="4644675" y="500925"/>
            <a:ext cx="4166400" cy="4432200"/>
          </a:xfrm>
          <a:prstGeom prst="rect">
            <a:avLst/>
          </a:prstGeom>
          <a:noFill/>
          <a:ln>
            <a:noFill/>
          </a:ln>
        </p:spPr>
        <p:txBody>
          <a:bodyPr spcFirstLastPara="1" wrap="square" lIns="68575" tIns="34275" rIns="68575" bIns="34275" anchor="t" anchorCtr="0">
            <a:normAutofit/>
          </a:bodyPr>
          <a:lstStyle/>
          <a:p>
            <a:pPr marL="457200" lvl="0" indent="-342900" algn="l" rtl="0">
              <a:lnSpc>
                <a:spcPct val="115000"/>
              </a:lnSpc>
              <a:spcBef>
                <a:spcPts val="0"/>
              </a:spcBef>
              <a:spcAft>
                <a:spcPts val="0"/>
              </a:spcAft>
              <a:buClr>
                <a:schemeClr val="dk1"/>
              </a:buClr>
              <a:buSzPts val="1400"/>
              <a:buChar char="●"/>
            </a:pPr>
            <a:r>
              <a:rPr lang="en" sz="1400" dirty="0"/>
              <a:t>The IP address is ultimately used to send and receive data to and from a </a:t>
            </a:r>
            <a:r>
              <a:rPr lang="en" sz="1400" b="1" i="1" dirty="0">
                <a:solidFill>
                  <a:srgbClr val="FF0000"/>
                </a:solidFill>
              </a:rPr>
              <a:t>computer</a:t>
            </a:r>
            <a:endParaRPr sz="1400" b="1" i="1" dirty="0">
              <a:solidFill>
                <a:srgbClr val="FF0000"/>
              </a:solidFill>
            </a:endParaRPr>
          </a:p>
          <a:p>
            <a:pPr marL="457200" lvl="0" indent="-342900" algn="l" rtl="0">
              <a:lnSpc>
                <a:spcPct val="115000"/>
              </a:lnSpc>
              <a:spcBef>
                <a:spcPts val="1000"/>
              </a:spcBef>
              <a:spcAft>
                <a:spcPts val="0"/>
              </a:spcAft>
              <a:buClr>
                <a:schemeClr val="dk1"/>
              </a:buClr>
              <a:buSzPts val="1400"/>
              <a:buChar char="●"/>
            </a:pPr>
            <a:r>
              <a:rPr lang="en" sz="1400" dirty="0"/>
              <a:t>But it is often the case that a computer is identified by its human readable </a:t>
            </a:r>
            <a:r>
              <a:rPr lang="en" sz="1400" b="1" i="1" dirty="0">
                <a:solidFill>
                  <a:srgbClr val="FF0000"/>
                </a:solidFill>
                <a:highlight>
                  <a:srgbClr val="FFFF00"/>
                </a:highlight>
              </a:rPr>
              <a:t>hostname</a:t>
            </a:r>
            <a:r>
              <a:rPr lang="en" sz="1400" dirty="0"/>
              <a:t> rather than its machine address</a:t>
            </a:r>
            <a:endParaRPr sz="1400" dirty="0"/>
          </a:p>
          <a:p>
            <a:pPr marL="914400" lvl="1" indent="-342900" algn="l" rtl="0">
              <a:lnSpc>
                <a:spcPct val="115000"/>
              </a:lnSpc>
              <a:spcBef>
                <a:spcPts val="600"/>
              </a:spcBef>
              <a:spcAft>
                <a:spcPts val="0"/>
              </a:spcAft>
              <a:buClr>
                <a:schemeClr val="dk1"/>
              </a:buClr>
              <a:buSzPts val="1400"/>
              <a:buChar char="○"/>
            </a:pPr>
            <a:r>
              <a:rPr lang="en" sz="1400" dirty="0"/>
              <a:t>This is particularly the case when the network uses the dynamic host control protocol (</a:t>
            </a:r>
            <a:r>
              <a:rPr lang="en" sz="1400" b="1" i="1" dirty="0">
                <a:solidFill>
                  <a:srgbClr val="FF0000"/>
                </a:solidFill>
                <a:highlight>
                  <a:srgbClr val="FFFF00"/>
                </a:highlight>
              </a:rPr>
              <a:t>DHCP</a:t>
            </a:r>
            <a:r>
              <a:rPr lang="en" sz="1400" dirty="0"/>
              <a:t>), and a computer’s address may change at any time</a:t>
            </a:r>
            <a:endParaRPr sz="1400" dirty="0"/>
          </a:p>
          <a:p>
            <a:pPr marL="457200" lvl="0" indent="-342900" algn="l" rtl="0">
              <a:lnSpc>
                <a:spcPct val="115000"/>
              </a:lnSpc>
              <a:spcBef>
                <a:spcPts val="1000"/>
              </a:spcBef>
              <a:spcAft>
                <a:spcPts val="0"/>
              </a:spcAft>
              <a:buClr>
                <a:schemeClr val="dk1"/>
              </a:buClr>
              <a:buSzPts val="1400"/>
              <a:buChar char="●"/>
            </a:pPr>
            <a:r>
              <a:rPr lang="en" sz="1400" dirty="0"/>
              <a:t>A </a:t>
            </a:r>
            <a:r>
              <a:rPr lang="en" sz="1400" b="1" i="1" dirty="0">
                <a:solidFill>
                  <a:srgbClr val="FF0000"/>
                </a:solidFill>
              </a:rPr>
              <a:t>domain name</a:t>
            </a:r>
            <a:r>
              <a:rPr lang="en" sz="1400" dirty="0"/>
              <a:t> </a:t>
            </a:r>
            <a:r>
              <a:rPr lang="en" sz="1400" b="1" i="1" dirty="0">
                <a:solidFill>
                  <a:srgbClr val="FF0000"/>
                </a:solidFill>
              </a:rPr>
              <a:t>server</a:t>
            </a:r>
            <a:r>
              <a:rPr lang="en" sz="1400" dirty="0"/>
              <a:t> (DNS) on the network provides a service that </a:t>
            </a:r>
            <a:r>
              <a:rPr lang="en" sz="1400" b="1" i="1" dirty="0">
                <a:solidFill>
                  <a:srgbClr val="FF0000"/>
                </a:solidFill>
                <a:highlight>
                  <a:srgbClr val="FFFF00"/>
                </a:highlight>
              </a:rPr>
              <a:t>maps</a:t>
            </a:r>
            <a:r>
              <a:rPr lang="en" sz="1400" dirty="0">
                <a:highlight>
                  <a:srgbClr val="FFFF00"/>
                </a:highlight>
              </a:rPr>
              <a:t> a hostname to real address for the computer</a:t>
            </a:r>
            <a:endParaRPr sz="1400" dirty="0">
              <a:highlight>
                <a:srgbClr val="FFFF00"/>
              </a:highlight>
            </a:endParaRPr>
          </a:p>
          <a:p>
            <a:pPr marL="914400" lvl="1" indent="-342900" algn="l" rtl="0">
              <a:lnSpc>
                <a:spcPct val="115000"/>
              </a:lnSpc>
              <a:spcBef>
                <a:spcPts val="600"/>
              </a:spcBef>
              <a:spcAft>
                <a:spcPts val="0"/>
              </a:spcAft>
              <a:buClr>
                <a:schemeClr val="dk1"/>
              </a:buClr>
              <a:buSzPts val="1400"/>
              <a:buChar char="○"/>
            </a:pPr>
            <a:r>
              <a:rPr lang="en" sz="1400" dirty="0"/>
              <a:t>A hostname is used to </a:t>
            </a:r>
            <a:r>
              <a:rPr lang="en" sz="1400" b="1" i="1" dirty="0">
                <a:solidFill>
                  <a:srgbClr val="FF0000"/>
                </a:solidFill>
              </a:rPr>
              <a:t>look up</a:t>
            </a:r>
            <a:r>
              <a:rPr lang="en" sz="1400" dirty="0"/>
              <a:t> the address before trying to communicate</a:t>
            </a:r>
            <a:endParaRPr sz="1400" dirty="0"/>
          </a:p>
          <a:p>
            <a:pPr marL="0" lvl="0" indent="0" algn="l" rtl="0">
              <a:lnSpc>
                <a:spcPct val="90000"/>
              </a:lnSpc>
              <a:spcBef>
                <a:spcPts val="1400"/>
              </a:spcBef>
              <a:spcAft>
                <a:spcPts val="1600"/>
              </a:spcAft>
              <a:buClr>
                <a:schemeClr val="dk1"/>
              </a:buClr>
              <a:buSzPts val="1600"/>
              <a:buNone/>
            </a:pPr>
            <a:endParaRPr sz="1800" b="1" dirty="0"/>
          </a:p>
        </p:txBody>
      </p:sp>
      <p:sp>
        <p:nvSpPr>
          <p:cNvPr id="371" name="Google Shape;371;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8"/>
                                        </p:tgtEl>
                                        <p:attrNameLst>
                                          <p:attrName>style.visibility</p:attrName>
                                        </p:attrNameLst>
                                      </p:cBhvr>
                                      <p:to>
                                        <p:strVal val="visible"/>
                                      </p:to>
                                    </p:set>
                                    <p:animEffect transition="in" filter="fade">
                                      <p:cBhvr>
                                        <p:cTn id="7" dur="1000"/>
                                        <p:tgtEl>
                                          <p:spTgt spid="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1"/>
          <p:cNvSpPr txBox="1">
            <a:spLocks noGrp="1"/>
          </p:cNvSpPr>
          <p:nvPr>
            <p:ph type="title"/>
          </p:nvPr>
        </p:nvSpPr>
        <p:spPr>
          <a:xfrm>
            <a:off x="5264725" y="3485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ourier New"/>
              <a:buNone/>
            </a:pPr>
            <a:r>
              <a:rPr lang="en">
                <a:latin typeface="Courier New"/>
                <a:ea typeface="Courier New"/>
                <a:cs typeface="Courier New"/>
                <a:sym typeface="Courier New"/>
              </a:rPr>
              <a:t>InetAddress</a:t>
            </a:r>
            <a:endParaRPr>
              <a:latin typeface="Courier New"/>
              <a:ea typeface="Courier New"/>
              <a:cs typeface="Courier New"/>
              <a:sym typeface="Courier New"/>
            </a:endParaRPr>
          </a:p>
        </p:txBody>
      </p:sp>
      <p:sp>
        <p:nvSpPr>
          <p:cNvPr id="377" name="Google Shape;377;p41"/>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rmAutofit/>
          </a:bodyPr>
          <a:lstStyle/>
          <a:p>
            <a:pPr marL="393700" lvl="0" indent="-260350" algn="l" rtl="0">
              <a:lnSpc>
                <a:spcPct val="115000"/>
              </a:lnSpc>
              <a:spcBef>
                <a:spcPts val="0"/>
              </a:spcBef>
              <a:spcAft>
                <a:spcPts val="0"/>
              </a:spcAft>
              <a:buClr>
                <a:schemeClr val="dk1"/>
              </a:buClr>
              <a:buSzPts val="1100"/>
              <a:buChar char="●"/>
            </a:pPr>
            <a:r>
              <a:rPr lang="en" sz="1500" dirty="0"/>
              <a:t>The </a:t>
            </a:r>
            <a:r>
              <a:rPr lang="en" sz="1500" u="sng" dirty="0">
                <a:solidFill>
                  <a:schemeClr val="hlink"/>
                </a:solidFill>
                <a:latin typeface="Courier New"/>
                <a:ea typeface="Courier New"/>
                <a:cs typeface="Courier New"/>
                <a:sym typeface="Courier New"/>
                <a:hlinkClick r:id="rId3"/>
              </a:rPr>
              <a:t>java.net.InetAddress</a:t>
            </a:r>
            <a:r>
              <a:rPr lang="en" sz="1500" dirty="0">
                <a:latin typeface="Consolas"/>
                <a:ea typeface="Consolas"/>
                <a:cs typeface="Consolas"/>
                <a:sym typeface="Consolas"/>
              </a:rPr>
              <a:t> </a:t>
            </a:r>
            <a:r>
              <a:rPr lang="en" sz="1500" dirty="0"/>
              <a:t>class is a class that represents internet addresses </a:t>
            </a:r>
            <a:endParaRPr sz="1000" dirty="0"/>
          </a:p>
          <a:p>
            <a:pPr marL="736600" lvl="1" indent="-260350" algn="l" rtl="0">
              <a:lnSpc>
                <a:spcPct val="115000"/>
              </a:lnSpc>
              <a:spcBef>
                <a:spcPts val="400"/>
              </a:spcBef>
              <a:spcAft>
                <a:spcPts val="0"/>
              </a:spcAft>
              <a:buClr>
                <a:schemeClr val="dk1"/>
              </a:buClr>
              <a:buSzPts val="1100"/>
              <a:buChar char="○"/>
            </a:pPr>
            <a:r>
              <a:rPr lang="en" sz="1300" dirty="0"/>
              <a:t>It provides </a:t>
            </a:r>
            <a:r>
              <a:rPr lang="en" sz="1300" dirty="0">
                <a:solidFill>
                  <a:srgbClr val="FF0000"/>
                </a:solidFill>
                <a:latin typeface="Courier New"/>
                <a:ea typeface="Courier New"/>
                <a:cs typeface="Courier New"/>
                <a:sym typeface="Courier New"/>
              </a:rPr>
              <a:t>static</a:t>
            </a:r>
            <a:r>
              <a:rPr lang="en" sz="1300" dirty="0"/>
              <a:t> methods that can be used to obtain the </a:t>
            </a:r>
            <a:r>
              <a:rPr lang="en" sz="1300" dirty="0">
                <a:latin typeface="Courier New"/>
                <a:ea typeface="Courier New"/>
                <a:cs typeface="Courier New"/>
                <a:sym typeface="Courier New"/>
              </a:rPr>
              <a:t>InetAddress</a:t>
            </a:r>
            <a:r>
              <a:rPr lang="en" sz="1300" dirty="0"/>
              <a:t> for some </a:t>
            </a:r>
            <a:r>
              <a:rPr lang="en" sz="1300" b="1" i="1" dirty="0">
                <a:solidFill>
                  <a:srgbClr val="FF0000"/>
                </a:solidFill>
              </a:rPr>
              <a:t>hostname</a:t>
            </a:r>
            <a:r>
              <a:rPr lang="en" sz="1300" dirty="0"/>
              <a:t> or </a:t>
            </a:r>
            <a:r>
              <a:rPr lang="en" sz="1300" b="1" i="1" dirty="0">
                <a:solidFill>
                  <a:srgbClr val="FF0000"/>
                </a:solidFill>
              </a:rPr>
              <a:t>IP Address</a:t>
            </a:r>
            <a:endParaRPr sz="800" b="1" i="1" dirty="0">
              <a:solidFill>
                <a:srgbClr val="FF0000"/>
              </a:solidFill>
            </a:endParaRPr>
          </a:p>
          <a:p>
            <a:pPr marL="736600" lvl="1" indent="-260350" algn="l" rtl="0">
              <a:lnSpc>
                <a:spcPct val="115000"/>
              </a:lnSpc>
              <a:spcBef>
                <a:spcPts val="400"/>
              </a:spcBef>
              <a:spcAft>
                <a:spcPts val="0"/>
              </a:spcAft>
              <a:buClr>
                <a:schemeClr val="dk1"/>
              </a:buClr>
              <a:buSzPts val="1100"/>
              <a:buChar char="○"/>
            </a:pPr>
            <a:r>
              <a:rPr lang="en" sz="1300" dirty="0">
                <a:solidFill>
                  <a:srgbClr val="FF0000"/>
                </a:solidFill>
                <a:latin typeface="Courier New"/>
                <a:ea typeface="Courier New"/>
                <a:cs typeface="Courier New"/>
                <a:sym typeface="Courier New"/>
              </a:rPr>
              <a:t>getByName(String host)</a:t>
            </a:r>
            <a:r>
              <a:rPr lang="en" sz="1300" dirty="0"/>
              <a:t> - gets the </a:t>
            </a:r>
            <a:r>
              <a:rPr lang="en" sz="1300" dirty="0">
                <a:latin typeface="Courier New"/>
                <a:ea typeface="Courier New"/>
                <a:cs typeface="Courier New"/>
                <a:sym typeface="Courier New"/>
              </a:rPr>
              <a:t>InetAddress</a:t>
            </a:r>
            <a:r>
              <a:rPr lang="en" sz="1300" dirty="0"/>
              <a:t> for the specific hostname or IP address</a:t>
            </a:r>
            <a:endParaRPr sz="800" dirty="0"/>
          </a:p>
          <a:p>
            <a:pPr marL="736600" lvl="1" indent="-260350" algn="l" rtl="0">
              <a:lnSpc>
                <a:spcPct val="115000"/>
              </a:lnSpc>
              <a:spcBef>
                <a:spcPts val="400"/>
              </a:spcBef>
              <a:spcAft>
                <a:spcPts val="0"/>
              </a:spcAft>
              <a:buClr>
                <a:schemeClr val="dk1"/>
              </a:buClr>
              <a:buSzPts val="1100"/>
              <a:buChar char="○"/>
            </a:pPr>
            <a:r>
              <a:rPr lang="en" sz="1300" dirty="0">
                <a:solidFill>
                  <a:srgbClr val="FF0000"/>
                </a:solidFill>
                <a:latin typeface="Courier New"/>
                <a:ea typeface="Courier New"/>
                <a:cs typeface="Courier New"/>
                <a:sym typeface="Courier New"/>
              </a:rPr>
              <a:t>getLocalHost()</a:t>
            </a:r>
            <a:r>
              <a:rPr lang="en" sz="1300" dirty="0"/>
              <a:t> - gets the </a:t>
            </a:r>
            <a:r>
              <a:rPr lang="en" sz="1300" dirty="0">
                <a:latin typeface="Courier New"/>
                <a:ea typeface="Courier New"/>
                <a:cs typeface="Courier New"/>
                <a:sym typeface="Courier New"/>
              </a:rPr>
              <a:t>InetAddress</a:t>
            </a:r>
            <a:r>
              <a:rPr lang="en" sz="1300" dirty="0"/>
              <a:t> for the local computer</a:t>
            </a:r>
            <a:endParaRPr sz="800" dirty="0"/>
          </a:p>
          <a:p>
            <a:pPr marL="393700" lvl="0" indent="-260350" algn="l" rtl="0">
              <a:lnSpc>
                <a:spcPct val="115000"/>
              </a:lnSpc>
              <a:spcBef>
                <a:spcPts val="1000"/>
              </a:spcBef>
              <a:spcAft>
                <a:spcPts val="0"/>
              </a:spcAft>
              <a:buClr>
                <a:schemeClr val="dk1"/>
              </a:buClr>
              <a:buSzPts val="1100"/>
              <a:buChar char="●"/>
            </a:pPr>
            <a:r>
              <a:rPr lang="en" sz="1500" dirty="0"/>
              <a:t>Once </a:t>
            </a:r>
            <a:r>
              <a:rPr lang="en" sz="1500" b="1" i="1" dirty="0">
                <a:solidFill>
                  <a:srgbClr val="FF0000"/>
                </a:solidFill>
              </a:rPr>
              <a:t>created</a:t>
            </a:r>
            <a:r>
              <a:rPr lang="en" sz="1500" dirty="0"/>
              <a:t>, an </a:t>
            </a:r>
            <a:r>
              <a:rPr lang="en" sz="1500" dirty="0">
                <a:latin typeface="Courier New"/>
                <a:ea typeface="Courier New"/>
                <a:cs typeface="Courier New"/>
                <a:sym typeface="Courier New"/>
              </a:rPr>
              <a:t>InetAddress</a:t>
            </a:r>
            <a:r>
              <a:rPr lang="en" sz="1500" dirty="0"/>
              <a:t> provides a few useful methods:</a:t>
            </a:r>
            <a:endParaRPr sz="1000" dirty="0"/>
          </a:p>
          <a:p>
            <a:pPr marL="736600" lvl="1" indent="-260350" algn="l" rtl="0">
              <a:lnSpc>
                <a:spcPct val="115000"/>
              </a:lnSpc>
              <a:spcBef>
                <a:spcPts val="400"/>
              </a:spcBef>
              <a:spcAft>
                <a:spcPts val="0"/>
              </a:spcAft>
              <a:buClr>
                <a:schemeClr val="dk1"/>
              </a:buClr>
              <a:buSzPts val="1100"/>
              <a:buChar char="○"/>
            </a:pPr>
            <a:r>
              <a:rPr lang="en" sz="1300" dirty="0">
                <a:latin typeface="Courier New"/>
                <a:ea typeface="Courier New"/>
                <a:cs typeface="Courier New"/>
                <a:sym typeface="Courier New"/>
              </a:rPr>
              <a:t>getHostAddress()</a:t>
            </a:r>
            <a:r>
              <a:rPr lang="en" sz="1300" dirty="0"/>
              <a:t> - returns the </a:t>
            </a:r>
            <a:r>
              <a:rPr lang="en" sz="1300" b="1" i="1" dirty="0">
                <a:solidFill>
                  <a:srgbClr val="FF0000"/>
                </a:solidFill>
              </a:rPr>
              <a:t>IP address</a:t>
            </a:r>
            <a:r>
              <a:rPr lang="en" sz="1300" dirty="0"/>
              <a:t> as a String</a:t>
            </a:r>
            <a:endParaRPr sz="800" dirty="0"/>
          </a:p>
          <a:p>
            <a:pPr marL="736600" lvl="1" indent="-260350" algn="l" rtl="0">
              <a:lnSpc>
                <a:spcPct val="115000"/>
              </a:lnSpc>
              <a:spcBef>
                <a:spcPts val="400"/>
              </a:spcBef>
              <a:spcAft>
                <a:spcPts val="0"/>
              </a:spcAft>
              <a:buClr>
                <a:schemeClr val="dk1"/>
              </a:buClr>
              <a:buSzPts val="1100"/>
              <a:buChar char="○"/>
            </a:pPr>
            <a:r>
              <a:rPr lang="en" sz="1300" dirty="0">
                <a:latin typeface="Courier New"/>
                <a:ea typeface="Courier New"/>
                <a:cs typeface="Courier New"/>
                <a:sym typeface="Courier New"/>
              </a:rPr>
              <a:t>getHostname()</a:t>
            </a:r>
            <a:r>
              <a:rPr lang="en" sz="1300" dirty="0"/>
              <a:t> - returns the </a:t>
            </a:r>
            <a:r>
              <a:rPr lang="en" sz="1300" b="1" i="1" dirty="0">
                <a:solidFill>
                  <a:srgbClr val="FF0000"/>
                </a:solidFill>
              </a:rPr>
              <a:t>hostname</a:t>
            </a:r>
            <a:endParaRPr sz="800" b="1" i="1" dirty="0">
              <a:solidFill>
                <a:srgbClr val="FF0000"/>
              </a:solidFill>
            </a:endParaRPr>
          </a:p>
        </p:txBody>
      </p:sp>
      <p:grpSp>
        <p:nvGrpSpPr>
          <p:cNvPr id="378" name="Google Shape;378;p41"/>
          <p:cNvGrpSpPr/>
          <p:nvPr/>
        </p:nvGrpSpPr>
        <p:grpSpPr>
          <a:xfrm>
            <a:off x="5777493" y="945400"/>
            <a:ext cx="2680977" cy="1830773"/>
            <a:chOff x="5606100" y="1362574"/>
            <a:chExt cx="3385500" cy="2311874"/>
          </a:xfrm>
        </p:grpSpPr>
        <p:pic>
          <p:nvPicPr>
            <p:cNvPr id="379" name="Google Shape;379;p41"/>
            <p:cNvPicPr preferRelativeResize="0"/>
            <p:nvPr/>
          </p:nvPicPr>
          <p:blipFill rotWithShape="1">
            <a:blip r:embed="rId4">
              <a:alphaModFix/>
            </a:blip>
            <a:srcRect/>
            <a:stretch/>
          </p:blipFill>
          <p:spPr>
            <a:xfrm>
              <a:off x="5606100" y="1362574"/>
              <a:ext cx="3385500" cy="2311874"/>
            </a:xfrm>
            <a:prstGeom prst="rect">
              <a:avLst/>
            </a:prstGeom>
            <a:noFill/>
            <a:ln>
              <a:noFill/>
            </a:ln>
          </p:spPr>
        </p:pic>
        <p:sp>
          <p:nvSpPr>
            <p:cNvPr id="380" name="Google Shape;380;p41"/>
            <p:cNvSpPr txBox="1"/>
            <p:nvPr/>
          </p:nvSpPr>
          <p:spPr>
            <a:xfrm>
              <a:off x="5738475" y="1931475"/>
              <a:ext cx="3144900" cy="11301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3000">
                  <a:solidFill>
                    <a:schemeClr val="dk2"/>
                  </a:solidFill>
                  <a:latin typeface="Shadows Into Light"/>
                  <a:ea typeface="Shadows Into Light"/>
                  <a:cs typeface="Shadows Into Light"/>
                  <a:sym typeface="Shadows Into Light"/>
                </a:rPr>
                <a:t>LOCALHOST</a:t>
              </a:r>
              <a:endParaRPr sz="3000">
                <a:solidFill>
                  <a:schemeClr val="dk2"/>
                </a:solidFill>
                <a:latin typeface="Shadows Into Light"/>
                <a:ea typeface="Shadows Into Light"/>
                <a:cs typeface="Shadows Into Light"/>
                <a:sym typeface="Shadows Into Light"/>
              </a:endParaRPr>
            </a:p>
          </p:txBody>
        </p:sp>
      </p:grpSp>
      <p:sp>
        <p:nvSpPr>
          <p:cNvPr id="381" name="Google Shape;381;p41"/>
          <p:cNvSpPr txBox="1"/>
          <p:nvPr/>
        </p:nvSpPr>
        <p:spPr>
          <a:xfrm>
            <a:off x="5483725" y="2823988"/>
            <a:ext cx="3268500" cy="698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There is a special address that always refers to the local computer called the </a:t>
            </a:r>
            <a:r>
              <a:rPr lang="en" sz="1300" b="1" i="1">
                <a:solidFill>
                  <a:srgbClr val="FF0000"/>
                </a:solidFill>
                <a:latin typeface="Arial"/>
                <a:ea typeface="Arial"/>
                <a:cs typeface="Arial"/>
                <a:sym typeface="Arial"/>
              </a:rPr>
              <a:t>loopback address</a:t>
            </a:r>
            <a:r>
              <a:rPr lang="en" sz="1300">
                <a:solidFill>
                  <a:schemeClr val="dk1"/>
                </a:solidFill>
                <a:latin typeface="Arial"/>
                <a:ea typeface="Arial"/>
                <a:cs typeface="Arial"/>
                <a:sym typeface="Arial"/>
              </a:rPr>
              <a:t>: 127.0.0.1.</a:t>
            </a:r>
            <a:endParaRPr sz="1300">
              <a:solidFill>
                <a:schemeClr val="dk1"/>
              </a:solidFill>
              <a:latin typeface="Arial"/>
              <a:ea typeface="Arial"/>
              <a:cs typeface="Arial"/>
              <a:sym typeface="Arial"/>
            </a:endParaRPr>
          </a:p>
        </p:txBody>
      </p:sp>
      <p:sp>
        <p:nvSpPr>
          <p:cNvPr id="382" name="Google Shape;382;p41"/>
          <p:cNvSpPr txBox="1"/>
          <p:nvPr/>
        </p:nvSpPr>
        <p:spPr>
          <a:xfrm>
            <a:off x="5483725" y="3634599"/>
            <a:ext cx="3268500" cy="492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There is also a special hostname that refers to the local computer: </a:t>
            </a:r>
            <a:r>
              <a:rPr lang="en" sz="1300">
                <a:solidFill>
                  <a:srgbClr val="FF0000"/>
                </a:solidFill>
                <a:latin typeface="Courier New"/>
                <a:ea typeface="Courier New"/>
                <a:cs typeface="Courier New"/>
                <a:sym typeface="Courier New"/>
              </a:rPr>
              <a:t>localhost</a:t>
            </a:r>
            <a:endParaRPr sz="1300">
              <a:solidFill>
                <a:srgbClr val="FF0000"/>
              </a:solidFill>
              <a:latin typeface="Courier New"/>
              <a:ea typeface="Courier New"/>
              <a:cs typeface="Courier New"/>
              <a:sym typeface="Courier New"/>
            </a:endParaRPr>
          </a:p>
        </p:txBody>
      </p:sp>
      <p:sp>
        <p:nvSpPr>
          <p:cNvPr id="383" name="Google Shape;383;p41"/>
          <p:cNvSpPr txBox="1"/>
          <p:nvPr/>
        </p:nvSpPr>
        <p:spPr>
          <a:xfrm>
            <a:off x="5483725" y="4234425"/>
            <a:ext cx="3268500" cy="698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Using either of these can be a shortcut to refer to the local computer (rather than its real address or hostname).</a:t>
            </a:r>
            <a:endParaRPr sz="1300">
              <a:solidFill>
                <a:schemeClr val="dk1"/>
              </a:solidFill>
              <a:latin typeface="Arial"/>
              <a:ea typeface="Arial"/>
              <a:cs typeface="Arial"/>
              <a:sym typeface="Arial"/>
            </a:endParaRPr>
          </a:p>
        </p:txBody>
      </p:sp>
      <p:sp>
        <p:nvSpPr>
          <p:cNvPr id="384" name="Google Shape;384;p4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fade">
                                      <p:cBhvr>
                                        <p:cTn id="7" dur="1000"/>
                                        <p:tgtEl>
                                          <p:spTgt spid="3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2"/>
                                        </p:tgtEl>
                                        <p:attrNameLst>
                                          <p:attrName>style.visibility</p:attrName>
                                        </p:attrNameLst>
                                      </p:cBhvr>
                                      <p:to>
                                        <p:strVal val="visible"/>
                                      </p:to>
                                    </p:set>
                                    <p:animEffect transition="in" filter="fade">
                                      <p:cBhvr>
                                        <p:cTn id="12" dur="1000"/>
                                        <p:tgtEl>
                                          <p:spTgt spid="38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3"/>
                                        </p:tgtEl>
                                        <p:attrNameLst>
                                          <p:attrName>style.visibility</p:attrName>
                                        </p:attrNameLst>
                                      </p:cBhvr>
                                      <p:to>
                                        <p:strVal val="visible"/>
                                      </p:to>
                                    </p:set>
                                    <p:animEffect transition="in" filter="fade">
                                      <p:cBhvr>
                                        <p:cTn id="17" dur="1000"/>
                                        <p:tgtEl>
                                          <p:spTgt spid="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2"/>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InetAddress</a:t>
            </a:r>
            <a:endParaRPr sz="3400"/>
          </a:p>
        </p:txBody>
      </p:sp>
      <p:sp>
        <p:nvSpPr>
          <p:cNvPr id="390" name="Google Shape;390;p42"/>
          <p:cNvSpPr txBox="1">
            <a:spLocks noGrp="1"/>
          </p:cNvSpPr>
          <p:nvPr>
            <p:ph type="body" idx="1"/>
          </p:nvPr>
        </p:nvSpPr>
        <p:spPr>
          <a:xfrm>
            <a:off x="65250" y="731625"/>
            <a:ext cx="8955900" cy="677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Clr>
                <a:srgbClr val="000000"/>
              </a:buClr>
              <a:buSzPts val="1800"/>
              <a:buNone/>
            </a:pPr>
            <a:r>
              <a:rPr lang="en"/>
              <a:t>The </a:t>
            </a:r>
            <a:r>
              <a:rPr lang="en">
                <a:latin typeface="Courier New"/>
                <a:ea typeface="Courier New"/>
                <a:cs typeface="Courier New"/>
                <a:sym typeface="Courier New"/>
              </a:rPr>
              <a:t>InetAddress</a:t>
            </a:r>
            <a:r>
              <a:rPr lang="en"/>
              <a:t> class can be used to create an object that represents the internet address of some internet-connected computer, including the local host. Try it now!</a:t>
            </a:r>
            <a:endParaRPr sz="1500"/>
          </a:p>
        </p:txBody>
      </p:sp>
      <p:sp>
        <p:nvSpPr>
          <p:cNvPr id="391" name="Google Shape;391;p42"/>
          <p:cNvSpPr txBox="1"/>
          <p:nvPr/>
        </p:nvSpPr>
        <p:spPr>
          <a:xfrm>
            <a:off x="165350" y="3381325"/>
            <a:ext cx="3457800" cy="8004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spcBef>
                <a:spcPts val="0"/>
              </a:spcBef>
              <a:spcAft>
                <a:spcPts val="0"/>
              </a:spcAft>
              <a:buNone/>
            </a:pPr>
            <a:r>
              <a:rPr lang="en" sz="2000">
                <a:solidFill>
                  <a:schemeClr val="dk1"/>
                </a:solidFill>
                <a:latin typeface="Consolas"/>
                <a:ea typeface="Consolas"/>
                <a:cs typeface="Consolas"/>
                <a:sym typeface="Consolas"/>
              </a:rPr>
              <a:t>nitron.se.rit.edu</a:t>
            </a:r>
            <a:endParaRPr sz="2000">
              <a:solidFill>
                <a:schemeClr val="dk1"/>
              </a:solidFill>
              <a:latin typeface="Consolas"/>
              <a:ea typeface="Consolas"/>
              <a:cs typeface="Consolas"/>
              <a:sym typeface="Consolas"/>
            </a:endParaRPr>
          </a:p>
          <a:p>
            <a:pPr marL="0" marR="0" lvl="0" indent="0" algn="l" rtl="0">
              <a:spcBef>
                <a:spcPts val="0"/>
              </a:spcBef>
              <a:spcAft>
                <a:spcPts val="0"/>
              </a:spcAft>
              <a:buNone/>
            </a:pPr>
            <a:r>
              <a:rPr lang="en" sz="2000">
                <a:solidFill>
                  <a:schemeClr val="dk1"/>
                </a:solidFill>
                <a:latin typeface="Consolas"/>
                <a:ea typeface="Consolas"/>
                <a:cs typeface="Consolas"/>
                <a:sym typeface="Consolas"/>
              </a:rPr>
              <a:t>129.21.208.2</a:t>
            </a:r>
            <a:endParaRPr sz="2000">
              <a:solidFill>
                <a:schemeClr val="dk1"/>
              </a:solidFill>
              <a:latin typeface="Playfair Display"/>
              <a:ea typeface="Playfair Display"/>
              <a:cs typeface="Playfair Display"/>
              <a:sym typeface="Playfair Display"/>
            </a:endParaRPr>
          </a:p>
        </p:txBody>
      </p:sp>
      <p:sp>
        <p:nvSpPr>
          <p:cNvPr id="392" name="Google Shape;392;p42"/>
          <p:cNvSpPr txBox="1">
            <a:spLocks noGrp="1"/>
          </p:cNvSpPr>
          <p:nvPr>
            <p:ph type="body" idx="2"/>
          </p:nvPr>
        </p:nvSpPr>
        <p:spPr>
          <a:xfrm>
            <a:off x="3687675" y="1555925"/>
            <a:ext cx="5253600" cy="1824000"/>
          </a:xfrm>
          <a:prstGeom prst="rect">
            <a:avLst/>
          </a:prstGeom>
          <a:noFill/>
          <a:ln>
            <a:noFill/>
          </a:ln>
        </p:spPr>
        <p:txBody>
          <a:bodyPr spcFirstLastPara="1" wrap="square" lIns="68575" tIns="34275" rIns="68575" bIns="34275" anchor="t" anchorCtr="0">
            <a:spAutoFit/>
          </a:bodyPr>
          <a:lstStyle/>
          <a:p>
            <a:pPr marL="457200" lvl="0" indent="-349250" algn="l" rtl="0">
              <a:lnSpc>
                <a:spcPct val="100000"/>
              </a:lnSpc>
              <a:spcBef>
                <a:spcPts val="0"/>
              </a:spcBef>
              <a:spcAft>
                <a:spcPts val="0"/>
              </a:spcAft>
              <a:buSzPts val="1900"/>
              <a:buChar char="●"/>
            </a:pPr>
            <a:r>
              <a:rPr lang="en" sz="1900"/>
              <a:t>In the </a:t>
            </a:r>
            <a:r>
              <a:rPr lang="en" sz="1900">
                <a:solidFill>
                  <a:srgbClr val="FF0000"/>
                </a:solidFill>
                <a:latin typeface="Courier New"/>
                <a:ea typeface="Courier New"/>
                <a:cs typeface="Courier New"/>
                <a:sym typeface="Courier New"/>
              </a:rPr>
              <a:t>activities</a:t>
            </a:r>
            <a:r>
              <a:rPr lang="en" sz="1900"/>
              <a:t> package, create a new </a:t>
            </a:r>
            <a:r>
              <a:rPr lang="en" sz="1900">
                <a:solidFill>
                  <a:srgbClr val="FF0000"/>
                </a:solidFill>
                <a:latin typeface="Courier New"/>
                <a:ea typeface="Courier New"/>
                <a:cs typeface="Courier New"/>
                <a:sym typeface="Courier New"/>
              </a:rPr>
              <a:t>PrintHostInfo</a:t>
            </a:r>
            <a:r>
              <a:rPr lang="en" sz="1900"/>
              <a:t> class.</a:t>
            </a:r>
            <a:endParaRPr sz="1900"/>
          </a:p>
          <a:p>
            <a:pPr marL="457200" lvl="0" indent="-349250" algn="l" rtl="0">
              <a:lnSpc>
                <a:spcPct val="100000"/>
              </a:lnSpc>
              <a:spcBef>
                <a:spcPts val="0"/>
              </a:spcBef>
              <a:spcAft>
                <a:spcPts val="0"/>
              </a:spcAft>
              <a:buSzPts val="1900"/>
              <a:buChar char="●"/>
            </a:pPr>
            <a:r>
              <a:rPr lang="en" sz="1900"/>
              <a:t>Use </a:t>
            </a:r>
            <a:r>
              <a:rPr lang="en" sz="1900">
                <a:latin typeface="Courier New"/>
                <a:ea typeface="Courier New"/>
                <a:cs typeface="Courier New"/>
                <a:sym typeface="Courier New"/>
              </a:rPr>
              <a:t>InetAddress</a:t>
            </a:r>
            <a:r>
              <a:rPr lang="en" sz="1900"/>
              <a:t> to get the address of your computer (</a:t>
            </a:r>
            <a:r>
              <a:rPr lang="en" sz="1900">
                <a:latin typeface="Courier New"/>
                <a:ea typeface="Courier New"/>
                <a:cs typeface="Courier New"/>
                <a:sym typeface="Courier New"/>
              </a:rPr>
              <a:t>getLocalHost()</a:t>
            </a:r>
            <a:r>
              <a:rPr lang="en" sz="1900"/>
              <a:t>).</a:t>
            </a:r>
            <a:endParaRPr sz="1900"/>
          </a:p>
          <a:p>
            <a:pPr marL="457200" lvl="0" indent="-349250" algn="l" rtl="0">
              <a:lnSpc>
                <a:spcPct val="100000"/>
              </a:lnSpc>
              <a:spcBef>
                <a:spcPts val="0"/>
              </a:spcBef>
              <a:spcAft>
                <a:spcPts val="0"/>
              </a:spcAft>
              <a:buSzPts val="1900"/>
              <a:buChar char="●"/>
            </a:pPr>
            <a:r>
              <a:rPr lang="en" sz="1900"/>
              <a:t>Print your computer's host name and address on separate lines.</a:t>
            </a:r>
            <a:endParaRPr sz="1700">
              <a:latin typeface="Courier New"/>
              <a:ea typeface="Courier New"/>
              <a:cs typeface="Courier New"/>
              <a:sym typeface="Courier New"/>
            </a:endParaRPr>
          </a:p>
        </p:txBody>
      </p:sp>
      <p:sp>
        <p:nvSpPr>
          <p:cNvPr id="393" name="Google Shape;393;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394" name="Google Shape;394;p4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9.1</a:t>
            </a:r>
            <a:endParaRPr u="sng"/>
          </a:p>
        </p:txBody>
      </p:sp>
      <p:sp>
        <p:nvSpPr>
          <p:cNvPr id="395" name="Google Shape;395;p42"/>
          <p:cNvSpPr txBox="1"/>
          <p:nvPr/>
        </p:nvSpPr>
        <p:spPr>
          <a:xfrm>
            <a:off x="165350" y="1601375"/>
            <a:ext cx="3457800" cy="1639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solidFill>
                  <a:srgbClr val="267F99"/>
                </a:solidFill>
                <a:latin typeface="Consolas"/>
                <a:ea typeface="Consolas"/>
                <a:cs typeface="Consolas"/>
                <a:sym typeface="Consolas"/>
              </a:rPr>
              <a:t>InetAddress</a:t>
            </a:r>
            <a:r>
              <a:rPr lang="en">
                <a:latin typeface="Consolas"/>
                <a:ea typeface="Consolas"/>
                <a:cs typeface="Consolas"/>
                <a:sym typeface="Consolas"/>
              </a:rPr>
              <a:t> </a:t>
            </a:r>
            <a:r>
              <a:rPr lang="en">
                <a:solidFill>
                  <a:srgbClr val="001080"/>
                </a:solidFill>
                <a:latin typeface="Consolas"/>
                <a:ea typeface="Consolas"/>
                <a:cs typeface="Consolas"/>
                <a:sym typeface="Consolas"/>
              </a:rPr>
              <a:t>host</a:t>
            </a:r>
            <a:r>
              <a:rPr lang="en">
                <a:latin typeface="Consolas"/>
                <a:ea typeface="Consolas"/>
                <a:cs typeface="Consolas"/>
                <a:sym typeface="Consolas"/>
              </a:rPr>
              <a:t> = </a:t>
            </a:r>
            <a:endParaRPr>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267F99"/>
                </a:solidFill>
                <a:latin typeface="Consolas"/>
                <a:ea typeface="Consolas"/>
                <a:cs typeface="Consolas"/>
                <a:sym typeface="Consolas"/>
              </a:rPr>
              <a:t>  InetAddress</a:t>
            </a:r>
            <a:r>
              <a:rPr lang="en">
                <a:latin typeface="Consolas"/>
                <a:ea typeface="Consolas"/>
                <a:cs typeface="Consolas"/>
                <a:sym typeface="Consolas"/>
              </a:rPr>
              <a:t>.</a:t>
            </a:r>
            <a:r>
              <a:rPr lang="en">
                <a:solidFill>
                  <a:srgbClr val="795E26"/>
                </a:solidFill>
                <a:latin typeface="Consolas"/>
                <a:ea typeface="Consolas"/>
                <a:cs typeface="Consolas"/>
                <a:sym typeface="Consolas"/>
              </a:rPr>
              <a:t>getLocalHost</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267F99"/>
                </a:solidFill>
                <a:latin typeface="Consolas"/>
                <a:ea typeface="Consolas"/>
                <a:cs typeface="Consolas"/>
                <a:sym typeface="Consolas"/>
              </a:rPr>
              <a:t>String</a:t>
            </a:r>
            <a:r>
              <a:rPr lang="en">
                <a:latin typeface="Consolas"/>
                <a:ea typeface="Consolas"/>
                <a:cs typeface="Consolas"/>
                <a:sym typeface="Consolas"/>
              </a:rPr>
              <a:t> </a:t>
            </a:r>
            <a:r>
              <a:rPr lang="en">
                <a:solidFill>
                  <a:srgbClr val="001080"/>
                </a:solidFill>
                <a:latin typeface="Consolas"/>
                <a:ea typeface="Consolas"/>
                <a:cs typeface="Consolas"/>
                <a:sym typeface="Consolas"/>
              </a:rPr>
              <a:t>hostname</a:t>
            </a:r>
            <a:r>
              <a:rPr lang="en">
                <a:latin typeface="Consolas"/>
                <a:ea typeface="Consolas"/>
                <a:cs typeface="Consolas"/>
                <a:sym typeface="Consolas"/>
              </a:rPr>
              <a:t> = </a:t>
            </a:r>
            <a:endParaRPr>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001080"/>
                </a:solidFill>
                <a:latin typeface="Consolas"/>
                <a:ea typeface="Consolas"/>
                <a:cs typeface="Consolas"/>
                <a:sym typeface="Consolas"/>
              </a:rPr>
              <a:t>  host</a:t>
            </a:r>
            <a:r>
              <a:rPr lang="en">
                <a:latin typeface="Consolas"/>
                <a:ea typeface="Consolas"/>
                <a:cs typeface="Consolas"/>
                <a:sym typeface="Consolas"/>
              </a:rPr>
              <a:t>.</a:t>
            </a:r>
            <a:r>
              <a:rPr lang="en">
                <a:solidFill>
                  <a:srgbClr val="795E26"/>
                </a:solidFill>
                <a:latin typeface="Consolas"/>
                <a:ea typeface="Consolas"/>
                <a:cs typeface="Consolas"/>
                <a:sym typeface="Consolas"/>
              </a:rPr>
              <a:t>getHostName</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267F99"/>
                </a:solidFill>
                <a:latin typeface="Consolas"/>
                <a:ea typeface="Consolas"/>
                <a:cs typeface="Consolas"/>
                <a:sym typeface="Consolas"/>
              </a:rPr>
              <a:t>String</a:t>
            </a:r>
            <a:r>
              <a:rPr lang="en">
                <a:latin typeface="Consolas"/>
                <a:ea typeface="Consolas"/>
                <a:cs typeface="Consolas"/>
                <a:sym typeface="Consolas"/>
              </a:rPr>
              <a:t> </a:t>
            </a:r>
            <a:r>
              <a:rPr lang="en">
                <a:solidFill>
                  <a:srgbClr val="001080"/>
                </a:solidFill>
                <a:latin typeface="Consolas"/>
                <a:ea typeface="Consolas"/>
                <a:cs typeface="Consolas"/>
                <a:sym typeface="Consolas"/>
              </a:rPr>
              <a:t>address</a:t>
            </a:r>
            <a:r>
              <a:rPr lang="en">
                <a:latin typeface="Consolas"/>
                <a:ea typeface="Consolas"/>
                <a:cs typeface="Consolas"/>
                <a:sym typeface="Consolas"/>
              </a:rPr>
              <a:t> =</a:t>
            </a:r>
            <a:endParaRPr>
              <a:latin typeface="Consolas"/>
              <a:ea typeface="Consolas"/>
              <a:cs typeface="Consolas"/>
              <a:sym typeface="Consolas"/>
            </a:endParaRPr>
          </a:p>
          <a:p>
            <a:pPr marL="0" lvl="0" indent="0" algn="l" rtl="0">
              <a:lnSpc>
                <a:spcPct val="115000"/>
              </a:lnSpc>
              <a:spcBef>
                <a:spcPts val="0"/>
              </a:spcBef>
              <a:spcAft>
                <a:spcPts val="0"/>
              </a:spcAft>
              <a:buNone/>
            </a:pPr>
            <a:r>
              <a:rPr lang="en">
                <a:latin typeface="Consolas"/>
                <a:ea typeface="Consolas"/>
                <a:cs typeface="Consolas"/>
                <a:sym typeface="Consolas"/>
              </a:rPr>
              <a:t>  </a:t>
            </a:r>
            <a:r>
              <a:rPr lang="en">
                <a:solidFill>
                  <a:srgbClr val="001080"/>
                </a:solidFill>
                <a:latin typeface="Consolas"/>
                <a:ea typeface="Consolas"/>
                <a:cs typeface="Consolas"/>
                <a:sym typeface="Consolas"/>
              </a:rPr>
              <a:t>host</a:t>
            </a:r>
            <a:r>
              <a:rPr lang="en">
                <a:latin typeface="Consolas"/>
                <a:ea typeface="Consolas"/>
                <a:cs typeface="Consolas"/>
                <a:sym typeface="Consolas"/>
              </a:rPr>
              <a:t>.</a:t>
            </a:r>
            <a:r>
              <a:rPr lang="en">
                <a:solidFill>
                  <a:srgbClr val="795E26"/>
                </a:solidFill>
                <a:latin typeface="Consolas"/>
                <a:ea typeface="Consolas"/>
                <a:cs typeface="Consolas"/>
                <a:sym typeface="Consolas"/>
              </a:rPr>
              <a:t>getHostAddress</a:t>
            </a:r>
            <a:r>
              <a:rPr lang="en">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3"/>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(Some) Networking Vocabulary</a:t>
            </a:r>
            <a:endParaRPr sz="3400"/>
          </a:p>
        </p:txBody>
      </p:sp>
      <p:graphicFrame>
        <p:nvGraphicFramePr>
          <p:cNvPr id="401" name="Google Shape;401;p43"/>
          <p:cNvGraphicFramePr/>
          <p:nvPr/>
        </p:nvGraphicFramePr>
        <p:xfrm>
          <a:off x="2444262" y="819202"/>
          <a:ext cx="6329275" cy="4224175"/>
        </p:xfrm>
        <a:graphic>
          <a:graphicData uri="http://schemas.openxmlformats.org/drawingml/2006/table">
            <a:tbl>
              <a:tblPr>
                <a:noFill/>
                <a:tableStyleId>{38792AC1-6181-4D2F-80AC-E30DC4CC68D7}</a:tableStyleId>
              </a:tblPr>
              <a:tblGrid>
                <a:gridCol w="2242175">
                  <a:extLst>
                    <a:ext uri="{9D8B030D-6E8A-4147-A177-3AD203B41FA5}">
                      <a16:colId xmlns:a16="http://schemas.microsoft.com/office/drawing/2014/main" val="20000"/>
                    </a:ext>
                  </a:extLst>
                </a:gridCol>
                <a:gridCol w="4087100">
                  <a:extLst>
                    <a:ext uri="{9D8B030D-6E8A-4147-A177-3AD203B41FA5}">
                      <a16:colId xmlns:a16="http://schemas.microsoft.com/office/drawing/2014/main" val="20001"/>
                    </a:ext>
                  </a:extLst>
                </a:gridCol>
              </a:tblGrid>
              <a:tr h="480050">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term for the software and hardware that allows computers to communicate.</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A 32-bit number used to identify a computer on a network.</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4187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network layer protocol responsible for routing and relaying packets of data on the internet.</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4187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transport layer protocol that insures that packets are delivered in order, reliably and without corruption.</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A human-readable identifier for a computer.</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special name that always refers to the local computer.</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term for the address, 127.0.0.1, that always refers to the local computer.</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A server used to translate names into addresses.</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older 4-layer network model.</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more widely used 7-layer network model.</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402" name="Google Shape;402;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403" name="Google Shape;403;p4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9.2</a:t>
            </a:r>
            <a:endParaRPr/>
          </a:p>
        </p:txBody>
      </p:sp>
      <p:sp>
        <p:nvSpPr>
          <p:cNvPr id="404" name="Google Shape;404;p43"/>
          <p:cNvSpPr txBox="1">
            <a:spLocks noGrp="1"/>
          </p:cNvSpPr>
          <p:nvPr>
            <p:ph type="body" idx="1"/>
          </p:nvPr>
        </p:nvSpPr>
        <p:spPr>
          <a:xfrm>
            <a:off x="65250" y="731625"/>
            <a:ext cx="2283300" cy="114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rgbClr val="000000"/>
              </a:buClr>
              <a:buSzPts val="1800"/>
              <a:buNone/>
            </a:pPr>
            <a:r>
              <a:rPr lang="en"/>
              <a:t>Fill in the best term for each definition to the right.</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4"/>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(Some) Networking Vocabulary</a:t>
            </a:r>
            <a:endParaRPr sz="3400"/>
          </a:p>
        </p:txBody>
      </p:sp>
      <p:graphicFrame>
        <p:nvGraphicFramePr>
          <p:cNvPr id="410" name="Google Shape;410;p44"/>
          <p:cNvGraphicFramePr/>
          <p:nvPr/>
        </p:nvGraphicFramePr>
        <p:xfrm>
          <a:off x="2444262" y="819202"/>
          <a:ext cx="6329275" cy="4224175"/>
        </p:xfrm>
        <a:graphic>
          <a:graphicData uri="http://schemas.openxmlformats.org/drawingml/2006/table">
            <a:tbl>
              <a:tblPr>
                <a:noFill/>
                <a:tableStyleId>{38792AC1-6181-4D2F-80AC-E30DC4CC68D7}</a:tableStyleId>
              </a:tblPr>
              <a:tblGrid>
                <a:gridCol w="2242175">
                  <a:extLst>
                    <a:ext uri="{9D8B030D-6E8A-4147-A177-3AD203B41FA5}">
                      <a16:colId xmlns:a16="http://schemas.microsoft.com/office/drawing/2014/main" val="20000"/>
                    </a:ext>
                  </a:extLst>
                </a:gridCol>
                <a:gridCol w="4087100">
                  <a:extLst>
                    <a:ext uri="{9D8B030D-6E8A-4147-A177-3AD203B41FA5}">
                      <a16:colId xmlns:a16="http://schemas.microsoft.com/office/drawing/2014/main" val="20001"/>
                    </a:ext>
                  </a:extLst>
                </a:gridCol>
              </a:tblGrid>
              <a:tr h="480050">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dirty="0"/>
                        <a:t>The term for the software and hardware that allows computers to communicate.</a:t>
                      </a:r>
                      <a:endParaRPr sz="1100" u="none" strike="noStrike" cap="none" dirty="0"/>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dirty="0"/>
                        <a:t>A 32-bit number used to identify a computer on a network.</a:t>
                      </a:r>
                      <a:endParaRPr sz="1100" u="none" strike="noStrike" cap="none" dirty="0"/>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4187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network layer protocol responsible for routing and relaying packets of data on the internet.</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4187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transport layer protocol that insures that packets are delivered in order, reliably and without corruption.</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A human-readable identifier for a computer.</a:t>
                      </a:r>
                      <a:endParaRPr sz="1100" u="none" strike="noStrike" cap="none"/>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a:t>The special name that always refers to the local computer.</a:t>
                      </a:r>
                      <a:endParaRPr sz="1100" u="none" strike="noStrike" cap="none" dirty="0"/>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dirty="0"/>
                        <a:t>The term for the address, 127.0.0.1, that always refers to the local computer.</a:t>
                      </a:r>
                      <a:endParaRPr sz="1100" u="none" strike="noStrike" cap="none" dirty="0"/>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dirty="0"/>
                        <a:t>A server used to translate names into addresses.</a:t>
                      </a:r>
                      <a:endParaRPr sz="1100" u="none" strike="noStrike" cap="none" dirty="0"/>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dirty="0"/>
                        <a:t>The older 4-layer network model.</a:t>
                      </a:r>
                      <a:endParaRPr sz="1100" u="none" strike="noStrike" cap="none" dirty="0"/>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408625">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dk1"/>
                        </a:buClr>
                        <a:buSzPts val="1100"/>
                        <a:buFont typeface="Calibri"/>
                        <a:buNone/>
                      </a:pPr>
                      <a:r>
                        <a:rPr lang="en" sz="1100" u="none" strike="noStrike" cap="none" dirty="0"/>
                        <a:t>The more widely used 7-layer network model.</a:t>
                      </a:r>
                      <a:endParaRPr sz="1100" u="none" strike="noStrike" cap="none" dirty="0"/>
                    </a:p>
                  </a:txBody>
                  <a:tcPr marL="34300" marR="34300" marT="34300" marB="343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411" name="Google Shape;411;p44"/>
          <p:cNvSpPr txBox="1">
            <a:spLocks noGrp="1"/>
          </p:cNvSpPr>
          <p:nvPr>
            <p:ph type="body" idx="2"/>
          </p:nvPr>
        </p:nvSpPr>
        <p:spPr>
          <a:xfrm>
            <a:off x="2444250" y="819200"/>
            <a:ext cx="2239200" cy="4836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network</a:t>
            </a:r>
            <a:endParaRPr sz="1400">
              <a:solidFill>
                <a:srgbClr val="FF0000"/>
              </a:solidFill>
              <a:latin typeface="Shadows Into Light"/>
              <a:ea typeface="Shadows Into Light"/>
              <a:cs typeface="Shadows Into Light"/>
              <a:sym typeface="Shadows Into Light"/>
            </a:endParaRPr>
          </a:p>
        </p:txBody>
      </p:sp>
      <p:sp>
        <p:nvSpPr>
          <p:cNvPr id="412" name="Google Shape;412;p44"/>
          <p:cNvSpPr txBox="1">
            <a:spLocks noGrp="1"/>
          </p:cNvSpPr>
          <p:nvPr>
            <p:ph type="body" idx="4294967295"/>
          </p:nvPr>
        </p:nvSpPr>
        <p:spPr>
          <a:xfrm>
            <a:off x="2444262" y="1714232"/>
            <a:ext cx="2239200" cy="4116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internet protocol (IP)</a:t>
            </a:r>
            <a:endParaRPr sz="1400">
              <a:solidFill>
                <a:srgbClr val="FF0000"/>
              </a:solidFill>
              <a:latin typeface="Shadows Into Light"/>
              <a:ea typeface="Shadows Into Light"/>
              <a:cs typeface="Shadows Into Light"/>
              <a:sym typeface="Shadows Into Light"/>
            </a:endParaRPr>
          </a:p>
        </p:txBody>
      </p:sp>
      <p:sp>
        <p:nvSpPr>
          <p:cNvPr id="413" name="Google Shape;413;p44"/>
          <p:cNvSpPr txBox="1">
            <a:spLocks noGrp="1"/>
          </p:cNvSpPr>
          <p:nvPr>
            <p:ph type="body" idx="4294967295"/>
          </p:nvPr>
        </p:nvSpPr>
        <p:spPr>
          <a:xfrm>
            <a:off x="2444262" y="2163000"/>
            <a:ext cx="2239200" cy="4116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transmission control protocol (TCP)</a:t>
            </a:r>
            <a:endParaRPr sz="1400">
              <a:solidFill>
                <a:srgbClr val="FF0000"/>
              </a:solidFill>
              <a:latin typeface="Shadows Into Light"/>
              <a:ea typeface="Shadows Into Light"/>
              <a:cs typeface="Shadows Into Light"/>
              <a:sym typeface="Shadows Into Light"/>
            </a:endParaRPr>
          </a:p>
        </p:txBody>
      </p:sp>
      <p:sp>
        <p:nvSpPr>
          <p:cNvPr id="414" name="Google Shape;414;p44"/>
          <p:cNvSpPr txBox="1">
            <a:spLocks noGrp="1"/>
          </p:cNvSpPr>
          <p:nvPr>
            <p:ph type="body" idx="4294967295"/>
          </p:nvPr>
        </p:nvSpPr>
        <p:spPr>
          <a:xfrm>
            <a:off x="2444262" y="2584600"/>
            <a:ext cx="2239200" cy="4116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hostname</a:t>
            </a:r>
            <a:endParaRPr sz="1400">
              <a:solidFill>
                <a:srgbClr val="FF0000"/>
              </a:solidFill>
              <a:latin typeface="Shadows Into Light"/>
              <a:ea typeface="Shadows Into Light"/>
              <a:cs typeface="Shadows Into Light"/>
              <a:sym typeface="Shadows Into Light"/>
            </a:endParaRPr>
          </a:p>
        </p:txBody>
      </p:sp>
      <p:sp>
        <p:nvSpPr>
          <p:cNvPr id="415" name="Google Shape;415;p44"/>
          <p:cNvSpPr txBox="1">
            <a:spLocks noGrp="1"/>
          </p:cNvSpPr>
          <p:nvPr>
            <p:ph type="body" idx="4294967295"/>
          </p:nvPr>
        </p:nvSpPr>
        <p:spPr>
          <a:xfrm>
            <a:off x="2444262" y="2985960"/>
            <a:ext cx="2239200" cy="4116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dirty="0">
                <a:solidFill>
                  <a:srgbClr val="FF0000"/>
                </a:solidFill>
                <a:latin typeface="Shadows Into Light"/>
                <a:ea typeface="Shadows Into Light"/>
                <a:cs typeface="Shadows Into Light"/>
                <a:sym typeface="Shadows Into Light"/>
              </a:rPr>
              <a:t>localhost</a:t>
            </a:r>
            <a:endParaRPr sz="1400" dirty="0">
              <a:solidFill>
                <a:srgbClr val="FF0000"/>
              </a:solidFill>
              <a:latin typeface="Shadows Into Light"/>
              <a:ea typeface="Shadows Into Light"/>
              <a:cs typeface="Shadows Into Light"/>
              <a:sym typeface="Shadows Into Light"/>
            </a:endParaRPr>
          </a:p>
        </p:txBody>
      </p:sp>
      <p:sp>
        <p:nvSpPr>
          <p:cNvPr id="416" name="Google Shape;416;p44"/>
          <p:cNvSpPr txBox="1">
            <a:spLocks noGrp="1"/>
          </p:cNvSpPr>
          <p:nvPr>
            <p:ph type="body" idx="4294967295"/>
          </p:nvPr>
        </p:nvSpPr>
        <p:spPr>
          <a:xfrm>
            <a:off x="2444262" y="3402482"/>
            <a:ext cx="2239200" cy="4116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loopback address</a:t>
            </a:r>
            <a:endParaRPr sz="1400">
              <a:solidFill>
                <a:srgbClr val="FF0000"/>
              </a:solidFill>
              <a:latin typeface="Shadows Into Light"/>
              <a:ea typeface="Shadows Into Light"/>
              <a:cs typeface="Shadows Into Light"/>
              <a:sym typeface="Shadows Into Light"/>
            </a:endParaRPr>
          </a:p>
        </p:txBody>
      </p:sp>
      <p:sp>
        <p:nvSpPr>
          <p:cNvPr id="417" name="Google Shape;417;p44"/>
          <p:cNvSpPr txBox="1">
            <a:spLocks noGrp="1"/>
          </p:cNvSpPr>
          <p:nvPr>
            <p:ph type="body" idx="4294967295"/>
          </p:nvPr>
        </p:nvSpPr>
        <p:spPr>
          <a:xfrm>
            <a:off x="2444262" y="3808903"/>
            <a:ext cx="2239200" cy="4116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domain name server (DNS)</a:t>
            </a:r>
            <a:endParaRPr sz="1400">
              <a:solidFill>
                <a:srgbClr val="FF0000"/>
              </a:solidFill>
              <a:latin typeface="Shadows Into Light"/>
              <a:ea typeface="Shadows Into Light"/>
              <a:cs typeface="Shadows Into Light"/>
              <a:sym typeface="Shadows Into Light"/>
            </a:endParaRPr>
          </a:p>
        </p:txBody>
      </p:sp>
      <p:sp>
        <p:nvSpPr>
          <p:cNvPr id="418" name="Google Shape;418;p44"/>
          <p:cNvSpPr txBox="1">
            <a:spLocks noGrp="1"/>
          </p:cNvSpPr>
          <p:nvPr>
            <p:ph type="body" idx="4294967295"/>
          </p:nvPr>
        </p:nvSpPr>
        <p:spPr>
          <a:xfrm>
            <a:off x="2444262" y="1302752"/>
            <a:ext cx="2239200" cy="4014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IP address</a:t>
            </a:r>
            <a:endParaRPr sz="1400">
              <a:solidFill>
                <a:srgbClr val="FF0000"/>
              </a:solidFill>
              <a:latin typeface="Shadows Into Light"/>
              <a:ea typeface="Shadows Into Light"/>
              <a:cs typeface="Shadows Into Light"/>
              <a:sym typeface="Shadows Into Light"/>
            </a:endParaRPr>
          </a:p>
        </p:txBody>
      </p:sp>
      <p:sp>
        <p:nvSpPr>
          <p:cNvPr id="419" name="Google Shape;419;p44"/>
          <p:cNvSpPr txBox="1">
            <a:spLocks noGrp="1"/>
          </p:cNvSpPr>
          <p:nvPr>
            <p:ph type="body" idx="4294967295"/>
          </p:nvPr>
        </p:nvSpPr>
        <p:spPr>
          <a:xfrm>
            <a:off x="2444262" y="4220384"/>
            <a:ext cx="2239200" cy="4116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DoD</a:t>
            </a:r>
            <a:endParaRPr sz="1400">
              <a:solidFill>
                <a:srgbClr val="FF0000"/>
              </a:solidFill>
              <a:latin typeface="Shadows Into Light"/>
              <a:ea typeface="Shadows Into Light"/>
              <a:cs typeface="Shadows Into Light"/>
              <a:sym typeface="Shadows Into Light"/>
            </a:endParaRPr>
          </a:p>
        </p:txBody>
      </p:sp>
      <p:sp>
        <p:nvSpPr>
          <p:cNvPr id="420" name="Google Shape;420;p44"/>
          <p:cNvSpPr txBox="1">
            <a:spLocks noGrp="1"/>
          </p:cNvSpPr>
          <p:nvPr>
            <p:ph type="body" idx="4294967295"/>
          </p:nvPr>
        </p:nvSpPr>
        <p:spPr>
          <a:xfrm>
            <a:off x="2444262" y="4628378"/>
            <a:ext cx="2239200" cy="4116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OSI</a:t>
            </a:r>
            <a:endParaRPr sz="1400">
              <a:solidFill>
                <a:srgbClr val="FF0000"/>
              </a:solidFill>
              <a:latin typeface="Shadows Into Light"/>
              <a:ea typeface="Shadows Into Light"/>
              <a:cs typeface="Shadows Into Light"/>
              <a:sym typeface="Shadows Into Light"/>
            </a:endParaRPr>
          </a:p>
        </p:txBody>
      </p:sp>
      <p:sp>
        <p:nvSpPr>
          <p:cNvPr id="421" name="Google Shape;42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422" name="Google Shape;422;p4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9.2</a:t>
            </a:r>
            <a:endParaRPr/>
          </a:p>
        </p:txBody>
      </p:sp>
      <p:sp>
        <p:nvSpPr>
          <p:cNvPr id="423" name="Google Shape;423;p44"/>
          <p:cNvSpPr txBox="1">
            <a:spLocks noGrp="1"/>
          </p:cNvSpPr>
          <p:nvPr>
            <p:ph type="body" idx="1"/>
          </p:nvPr>
        </p:nvSpPr>
        <p:spPr>
          <a:xfrm>
            <a:off x="65250" y="731625"/>
            <a:ext cx="2283300" cy="114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rgbClr val="000000"/>
              </a:buClr>
              <a:buSzPts val="1800"/>
              <a:buNone/>
            </a:pPr>
            <a:r>
              <a:rPr lang="en"/>
              <a:t>Fill in the best term for each definition to the right.</a:t>
            </a: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11"/>
                                        </p:tgtEl>
                                        <p:attrNameLst>
                                          <p:attrName>style.visibility</p:attrName>
                                        </p:attrNameLst>
                                      </p:cBhvr>
                                      <p:to>
                                        <p:strVal val="visible"/>
                                      </p:to>
                                    </p:set>
                                    <p:animEffect transition="in" filter="fade">
                                      <p:cBhvr>
                                        <p:cTn id="7" dur="1000"/>
                                        <p:tgtEl>
                                          <p:spTgt spid="4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8"/>
                                        </p:tgtEl>
                                        <p:attrNameLst>
                                          <p:attrName>style.visibility</p:attrName>
                                        </p:attrNameLst>
                                      </p:cBhvr>
                                      <p:to>
                                        <p:strVal val="visible"/>
                                      </p:to>
                                    </p:set>
                                    <p:animEffect transition="in" filter="fade">
                                      <p:cBhvr>
                                        <p:cTn id="12" dur="1000"/>
                                        <p:tgtEl>
                                          <p:spTgt spid="4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2"/>
                                        </p:tgtEl>
                                        <p:attrNameLst>
                                          <p:attrName>style.visibility</p:attrName>
                                        </p:attrNameLst>
                                      </p:cBhvr>
                                      <p:to>
                                        <p:strVal val="visible"/>
                                      </p:to>
                                    </p:set>
                                    <p:animEffect transition="in" filter="fade">
                                      <p:cBhvr>
                                        <p:cTn id="17" dur="1000"/>
                                        <p:tgtEl>
                                          <p:spTgt spid="4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3"/>
                                        </p:tgtEl>
                                        <p:attrNameLst>
                                          <p:attrName>style.visibility</p:attrName>
                                        </p:attrNameLst>
                                      </p:cBhvr>
                                      <p:to>
                                        <p:strVal val="visible"/>
                                      </p:to>
                                    </p:set>
                                    <p:animEffect transition="in" filter="fade">
                                      <p:cBhvr>
                                        <p:cTn id="22" dur="1000"/>
                                        <p:tgtEl>
                                          <p:spTgt spid="41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15"/>
                                        </p:tgtEl>
                                        <p:attrNameLst>
                                          <p:attrName>style.visibility</p:attrName>
                                        </p:attrNameLst>
                                      </p:cBhvr>
                                      <p:to>
                                        <p:strVal val="visible"/>
                                      </p:to>
                                    </p:set>
                                    <p:animEffect transition="in" filter="fade">
                                      <p:cBhvr>
                                        <p:cTn id="31" dur="1000"/>
                                        <p:tgtEl>
                                          <p:spTgt spid="4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16"/>
                                        </p:tgtEl>
                                        <p:attrNameLst>
                                          <p:attrName>style.visibility</p:attrName>
                                        </p:attrNameLst>
                                      </p:cBhvr>
                                      <p:to>
                                        <p:strVal val="visible"/>
                                      </p:to>
                                    </p:set>
                                    <p:animEffect transition="in" filter="fade">
                                      <p:cBhvr>
                                        <p:cTn id="36" dur="1000"/>
                                        <p:tgtEl>
                                          <p:spTgt spid="4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17"/>
                                        </p:tgtEl>
                                        <p:attrNameLst>
                                          <p:attrName>style.visibility</p:attrName>
                                        </p:attrNameLst>
                                      </p:cBhvr>
                                      <p:to>
                                        <p:strVal val="visible"/>
                                      </p:to>
                                    </p:set>
                                    <p:animEffect transition="in" filter="fade">
                                      <p:cBhvr>
                                        <p:cTn id="41" dur="1000"/>
                                        <p:tgtEl>
                                          <p:spTgt spid="4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19"/>
                                        </p:tgtEl>
                                        <p:attrNameLst>
                                          <p:attrName>style.visibility</p:attrName>
                                        </p:attrNameLst>
                                      </p:cBhvr>
                                      <p:to>
                                        <p:strVal val="visible"/>
                                      </p:to>
                                    </p:set>
                                    <p:animEffect transition="in" filter="fade">
                                      <p:cBhvr>
                                        <p:cTn id="46" dur="1000"/>
                                        <p:tgtEl>
                                          <p:spTgt spid="41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20"/>
                                        </p:tgtEl>
                                        <p:attrNameLst>
                                          <p:attrName>style.visibility</p:attrName>
                                        </p:attrNameLst>
                                      </p:cBhvr>
                                      <p:to>
                                        <p:strVal val="visible"/>
                                      </p:to>
                                    </p:set>
                                    <p:animEffect transition="in" filter="fade">
                                      <p:cBhvr>
                                        <p:cTn id="51" dur="1000"/>
                                        <p:tgtEl>
                                          <p:spTgt spid="420"/>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8" name="Google Shape;428;p45"/>
          <p:cNvPicPr preferRelativeResize="0"/>
          <p:nvPr/>
        </p:nvPicPr>
        <p:blipFill rotWithShape="1">
          <a:blip r:embed="rId3">
            <a:alphaModFix/>
          </a:blip>
          <a:srcRect/>
          <a:stretch/>
        </p:blipFill>
        <p:spPr>
          <a:xfrm>
            <a:off x="311799" y="1032938"/>
            <a:ext cx="3383176" cy="2253625"/>
          </a:xfrm>
          <a:prstGeom prst="rect">
            <a:avLst/>
          </a:prstGeom>
          <a:noFill/>
          <a:ln w="19050" cap="flat" cmpd="sng">
            <a:solidFill>
              <a:schemeClr val="dk2"/>
            </a:solidFill>
            <a:prstDash val="solid"/>
            <a:round/>
            <a:headEnd type="none" w="sm" len="sm"/>
            <a:tailEnd type="none" w="sm" len="sm"/>
          </a:ln>
        </p:spPr>
      </p:pic>
      <p:sp>
        <p:nvSpPr>
          <p:cNvPr id="429" name="Google Shape;429;p45"/>
          <p:cNvSpPr txBox="1"/>
          <p:nvPr/>
        </p:nvSpPr>
        <p:spPr>
          <a:xfrm>
            <a:off x="311725" y="3376301"/>
            <a:ext cx="3383100" cy="7422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HTTP and HTML are both text-based, which means that, while they are meant for machines to interpret, they are human readable. </a:t>
            </a:r>
            <a:endParaRPr sz="1200">
              <a:solidFill>
                <a:schemeClr val="dk1"/>
              </a:solidFill>
              <a:latin typeface="Arial"/>
              <a:ea typeface="Arial"/>
              <a:cs typeface="Arial"/>
              <a:sym typeface="Arial"/>
            </a:endParaRPr>
          </a:p>
        </p:txBody>
      </p:sp>
      <p:sp>
        <p:nvSpPr>
          <p:cNvPr id="430" name="Google Shape;430;p45"/>
          <p:cNvSpPr txBox="1"/>
          <p:nvPr/>
        </p:nvSpPr>
        <p:spPr>
          <a:xfrm>
            <a:off x="311725" y="4208224"/>
            <a:ext cx="3383100" cy="7422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spcBef>
                <a:spcPts val="0"/>
              </a:spcBef>
              <a:spcAft>
                <a:spcPts val="0"/>
              </a:spcAft>
              <a:buNone/>
            </a:pPr>
            <a:r>
              <a:rPr lang="en" sz="1200" dirty="0">
                <a:solidFill>
                  <a:schemeClr val="dk1"/>
                </a:solidFill>
                <a:highlight>
                  <a:srgbClr val="FFFF00"/>
                </a:highlight>
                <a:latin typeface="Arial"/>
                <a:ea typeface="Arial"/>
                <a:cs typeface="Arial"/>
                <a:sym typeface="Arial"/>
              </a:rPr>
              <a:t>That makes HTTP an easy example protocol to learn because you can see and understand the messages.</a:t>
            </a:r>
            <a:endParaRPr sz="1200" dirty="0">
              <a:solidFill>
                <a:schemeClr val="dk1"/>
              </a:solidFill>
              <a:highlight>
                <a:srgbClr val="FFFF00"/>
              </a:highlight>
              <a:latin typeface="Arial"/>
              <a:ea typeface="Arial"/>
              <a:cs typeface="Arial"/>
              <a:sym typeface="Arial"/>
            </a:endParaRPr>
          </a:p>
        </p:txBody>
      </p:sp>
      <p:sp>
        <p:nvSpPr>
          <p:cNvPr id="431" name="Google Shape;431;p45"/>
          <p:cNvSpPr txBox="1">
            <a:spLocks noGrp="1"/>
          </p:cNvSpPr>
          <p:nvPr>
            <p:ph type="title"/>
          </p:nvPr>
        </p:nvSpPr>
        <p:spPr>
          <a:xfrm>
            <a:off x="311725" y="114225"/>
            <a:ext cx="3706500" cy="10248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The World Wide Web</a:t>
            </a:r>
            <a:endParaRPr/>
          </a:p>
        </p:txBody>
      </p:sp>
      <p:sp>
        <p:nvSpPr>
          <p:cNvPr id="432" name="Google Shape;432;p45"/>
          <p:cNvSpPr txBox="1">
            <a:spLocks noGrp="1"/>
          </p:cNvSpPr>
          <p:nvPr>
            <p:ph type="body" idx="1"/>
          </p:nvPr>
        </p:nvSpPr>
        <p:spPr>
          <a:xfrm>
            <a:off x="4644675" y="500925"/>
            <a:ext cx="4166400" cy="4432200"/>
          </a:xfrm>
          <a:prstGeom prst="rect">
            <a:avLst/>
          </a:prstGeom>
          <a:noFill/>
          <a:ln>
            <a:noFill/>
          </a:ln>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Char char="●"/>
            </a:pPr>
            <a:r>
              <a:rPr lang="en" sz="1400" dirty="0">
                <a:highlight>
                  <a:srgbClr val="FFFF00"/>
                </a:highlight>
              </a:rPr>
              <a:t>In 1989, </a:t>
            </a:r>
            <a:r>
              <a:rPr lang="en" sz="1400" u="sng" dirty="0">
                <a:solidFill>
                  <a:schemeClr val="hlink"/>
                </a:solidFill>
                <a:highlight>
                  <a:srgbClr val="FFFF00"/>
                </a:highlight>
                <a:hlinkClick r:id="rId4"/>
              </a:rPr>
              <a:t>Tim Berners Lee</a:t>
            </a:r>
            <a:r>
              <a:rPr lang="en" sz="1400" dirty="0">
                <a:highlight>
                  <a:srgbClr val="FFFF00"/>
                </a:highlight>
              </a:rPr>
              <a:t> proposed the </a:t>
            </a:r>
            <a:r>
              <a:rPr lang="en" sz="1400" b="1" i="1" dirty="0">
                <a:solidFill>
                  <a:srgbClr val="FF0000"/>
                </a:solidFill>
                <a:highlight>
                  <a:srgbClr val="FFFF00"/>
                </a:highlight>
              </a:rPr>
              <a:t>World Wide Web</a:t>
            </a:r>
            <a:endParaRPr sz="700" b="1" i="1" dirty="0">
              <a:solidFill>
                <a:srgbClr val="FF0000"/>
              </a:solidFill>
              <a:highlight>
                <a:srgbClr val="FFFF00"/>
              </a:highlight>
            </a:endParaRPr>
          </a:p>
          <a:p>
            <a:pPr marL="457200" lvl="0" indent="-317500" algn="l" rtl="0">
              <a:lnSpc>
                <a:spcPct val="115000"/>
              </a:lnSpc>
              <a:spcBef>
                <a:spcPts val="1000"/>
              </a:spcBef>
              <a:spcAft>
                <a:spcPts val="0"/>
              </a:spcAft>
              <a:buSzPts val="1400"/>
              <a:buChar char="●"/>
            </a:pPr>
            <a:r>
              <a:rPr lang="en" sz="1400" dirty="0"/>
              <a:t>It was designed to allow people to work together by combining their knowledge in a </a:t>
            </a:r>
            <a:r>
              <a:rPr lang="en" sz="1400" b="1" i="1" dirty="0">
                <a:solidFill>
                  <a:srgbClr val="FF0000"/>
                </a:solidFill>
              </a:rPr>
              <a:t>web</a:t>
            </a:r>
            <a:r>
              <a:rPr lang="en" sz="1400" dirty="0"/>
              <a:t> of </a:t>
            </a:r>
            <a:r>
              <a:rPr lang="en" sz="1400" i="1" dirty="0"/>
              <a:t>hypertext documents</a:t>
            </a:r>
            <a:endParaRPr sz="1400" dirty="0"/>
          </a:p>
          <a:p>
            <a:pPr marL="914400" lvl="1" indent="-304800" algn="l" rtl="0">
              <a:lnSpc>
                <a:spcPct val="115000"/>
              </a:lnSpc>
              <a:spcBef>
                <a:spcPts val="0"/>
              </a:spcBef>
              <a:spcAft>
                <a:spcPts val="0"/>
              </a:spcAft>
              <a:buSzPts val="1200"/>
              <a:buChar char="○"/>
            </a:pPr>
            <a:r>
              <a:rPr lang="en" sz="1200" dirty="0"/>
              <a:t>A </a:t>
            </a:r>
            <a:r>
              <a:rPr lang="en" sz="1200" b="1" i="1" dirty="0">
                <a:solidFill>
                  <a:srgbClr val="FF0000"/>
                </a:solidFill>
              </a:rPr>
              <a:t>hypertext document</a:t>
            </a:r>
            <a:r>
              <a:rPr lang="en" sz="1200" b="1" dirty="0"/>
              <a:t> </a:t>
            </a:r>
            <a:r>
              <a:rPr lang="en" sz="1200" dirty="0"/>
              <a:t>is a document that contains links to other documents</a:t>
            </a:r>
            <a:endParaRPr sz="700" dirty="0"/>
          </a:p>
          <a:p>
            <a:pPr marL="457200" lvl="0" indent="-317500" algn="l" rtl="0">
              <a:lnSpc>
                <a:spcPct val="115000"/>
              </a:lnSpc>
              <a:spcBef>
                <a:spcPts val="1000"/>
              </a:spcBef>
              <a:spcAft>
                <a:spcPts val="0"/>
              </a:spcAft>
              <a:buSzPts val="1400"/>
              <a:buChar char="●"/>
            </a:pPr>
            <a:r>
              <a:rPr lang="en" sz="1400" dirty="0"/>
              <a:t>The Hypertext Transfer Protocol (</a:t>
            </a:r>
            <a:r>
              <a:rPr lang="en" sz="1400" b="1" i="1" dirty="0">
                <a:solidFill>
                  <a:srgbClr val="FF0000"/>
                </a:solidFill>
              </a:rPr>
              <a:t>HTTP</a:t>
            </a:r>
            <a:r>
              <a:rPr lang="en" sz="1400" dirty="0"/>
              <a:t>) defines several different methods that a client can call on a server</a:t>
            </a:r>
            <a:endParaRPr sz="700" dirty="0"/>
          </a:p>
          <a:p>
            <a:pPr marL="914400" lvl="1" indent="-304800" algn="l" rtl="0">
              <a:lnSpc>
                <a:spcPct val="115000"/>
              </a:lnSpc>
              <a:spcBef>
                <a:spcPts val="0"/>
              </a:spcBef>
              <a:spcAft>
                <a:spcPts val="0"/>
              </a:spcAft>
              <a:buSzPts val="1200"/>
              <a:buChar char="○"/>
            </a:pPr>
            <a:r>
              <a:rPr lang="en" sz="1200" dirty="0"/>
              <a:t>These include operations like </a:t>
            </a:r>
            <a:r>
              <a:rPr lang="en" sz="1200" dirty="0">
                <a:highlight>
                  <a:srgbClr val="FFFF00"/>
                </a:highlight>
              </a:rPr>
              <a:t>GET, POST, and DELETE</a:t>
            </a:r>
            <a:endParaRPr sz="700" dirty="0">
              <a:highlight>
                <a:srgbClr val="FFFF00"/>
              </a:highlight>
            </a:endParaRPr>
          </a:p>
          <a:p>
            <a:pPr marL="914400" lvl="1" indent="-304800" algn="l" rtl="0">
              <a:lnSpc>
                <a:spcPct val="115000"/>
              </a:lnSpc>
              <a:spcBef>
                <a:spcPts val="0"/>
              </a:spcBef>
              <a:spcAft>
                <a:spcPts val="0"/>
              </a:spcAft>
              <a:buSzPts val="1200"/>
              <a:buChar char="○"/>
            </a:pPr>
            <a:r>
              <a:rPr lang="en" sz="1200" dirty="0"/>
              <a:t>The </a:t>
            </a:r>
            <a:r>
              <a:rPr lang="en" sz="1200" b="1" i="1" dirty="0">
                <a:solidFill>
                  <a:srgbClr val="FF0000"/>
                </a:solidFill>
              </a:rPr>
              <a:t>client</a:t>
            </a:r>
            <a:r>
              <a:rPr lang="en" sz="1200" dirty="0"/>
              <a:t> </a:t>
            </a:r>
            <a:r>
              <a:rPr lang="en" sz="1200" i="1" dirty="0"/>
              <a:t>always</a:t>
            </a:r>
            <a:r>
              <a:rPr lang="en" sz="1200" dirty="0"/>
              <a:t> initiates communication by sending the </a:t>
            </a:r>
            <a:r>
              <a:rPr lang="en" sz="1200" b="1" i="1" dirty="0">
                <a:solidFill>
                  <a:srgbClr val="FF0000"/>
                </a:solidFill>
              </a:rPr>
              <a:t>server</a:t>
            </a:r>
            <a:r>
              <a:rPr lang="en" sz="1200" dirty="0"/>
              <a:t> a request</a:t>
            </a:r>
            <a:endParaRPr sz="700" dirty="0"/>
          </a:p>
          <a:p>
            <a:pPr marL="914400" lvl="1" indent="-304800" algn="l" rtl="0">
              <a:lnSpc>
                <a:spcPct val="115000"/>
              </a:lnSpc>
              <a:spcBef>
                <a:spcPts val="0"/>
              </a:spcBef>
              <a:spcAft>
                <a:spcPts val="0"/>
              </a:spcAft>
              <a:buSzPts val="1200"/>
              <a:buChar char="○"/>
            </a:pPr>
            <a:r>
              <a:rPr lang="en" sz="1200" dirty="0"/>
              <a:t>The server </a:t>
            </a:r>
            <a:r>
              <a:rPr lang="en" sz="1200" b="1" i="1" dirty="0">
                <a:solidFill>
                  <a:srgbClr val="FF0000"/>
                </a:solidFill>
              </a:rPr>
              <a:t>always</a:t>
            </a:r>
            <a:r>
              <a:rPr lang="en" sz="1200" dirty="0"/>
              <a:t> responds</a:t>
            </a:r>
            <a:endParaRPr sz="700" dirty="0"/>
          </a:p>
        </p:txBody>
      </p:sp>
      <p:sp>
        <p:nvSpPr>
          <p:cNvPr id="433" name="Google Shape;433;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9"/>
                                        </p:tgtEl>
                                        <p:attrNameLst>
                                          <p:attrName>style.visibility</p:attrName>
                                        </p:attrNameLst>
                                      </p:cBhvr>
                                      <p:to>
                                        <p:strVal val="visible"/>
                                      </p:to>
                                    </p:set>
                                    <p:animEffect transition="in" filter="fade">
                                      <p:cBhvr>
                                        <p:cTn id="7" dur="1000"/>
                                        <p:tgtEl>
                                          <p:spTgt spid="4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0"/>
                                        </p:tgtEl>
                                        <p:attrNameLst>
                                          <p:attrName>style.visibility</p:attrName>
                                        </p:attrNameLst>
                                      </p:cBhvr>
                                      <p:to>
                                        <p:strVal val="visible"/>
                                      </p:to>
                                    </p:set>
                                    <p:animEffect transition="in" filter="fade">
                                      <p:cBhvr>
                                        <p:cTn id="12" dur="1000"/>
                                        <p:tgtEl>
                                          <p:spTgt spid="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cxnSp>
        <p:nvCxnSpPr>
          <p:cNvPr id="438" name="Google Shape;438;p46"/>
          <p:cNvCxnSpPr>
            <a:stCxn id="439" idx="0"/>
            <a:endCxn id="440" idx="2"/>
          </p:cNvCxnSpPr>
          <p:nvPr/>
        </p:nvCxnSpPr>
        <p:spPr>
          <a:xfrm rot="5400000" flipH="1">
            <a:off x="6133695" y="2889167"/>
            <a:ext cx="1459800" cy="1190700"/>
          </a:xfrm>
          <a:prstGeom prst="bentConnector3">
            <a:avLst>
              <a:gd name="adj1" fmla="val 90486"/>
            </a:avLst>
          </a:prstGeom>
          <a:noFill/>
          <a:ln w="19050" cap="flat" cmpd="sng">
            <a:solidFill>
              <a:srgbClr val="FF0000"/>
            </a:solidFill>
            <a:prstDash val="solid"/>
            <a:miter lim="800000"/>
            <a:headEnd type="none" w="sm" len="sm"/>
            <a:tailEnd type="none" w="sm" len="sm"/>
          </a:ln>
        </p:spPr>
      </p:cxnSp>
      <p:sp>
        <p:nvSpPr>
          <p:cNvPr id="441" name="Google Shape;441;p46"/>
          <p:cNvSpPr txBox="1">
            <a:spLocks noGrp="1"/>
          </p:cNvSpPr>
          <p:nvPr>
            <p:ph type="title"/>
          </p:nvPr>
        </p:nvSpPr>
        <p:spPr>
          <a:xfrm>
            <a:off x="311725" y="43725"/>
            <a:ext cx="8520600" cy="623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URLs</a:t>
            </a:r>
            <a:endParaRPr/>
          </a:p>
        </p:txBody>
      </p:sp>
      <p:sp>
        <p:nvSpPr>
          <p:cNvPr id="442" name="Google Shape;442;p46"/>
          <p:cNvSpPr txBox="1">
            <a:spLocks noGrp="1"/>
          </p:cNvSpPr>
          <p:nvPr>
            <p:ph type="body" idx="4294967295"/>
          </p:nvPr>
        </p:nvSpPr>
        <p:spPr>
          <a:xfrm>
            <a:off x="340650" y="1427579"/>
            <a:ext cx="8449200" cy="924600"/>
          </a:xfrm>
          <a:prstGeom prst="rect">
            <a:avLst/>
          </a:prstGeom>
          <a:noFill/>
          <a:ln>
            <a:noFill/>
          </a:ln>
        </p:spPr>
        <p:txBody>
          <a:bodyPr spcFirstLastPara="1" wrap="square" lIns="68575" tIns="34275" rIns="68575" bIns="34275" anchor="t" anchorCtr="0">
            <a:noAutofit/>
          </a:bodyPr>
          <a:lstStyle/>
          <a:p>
            <a:pPr marL="457200" lvl="0" indent="-342582" algn="l" rtl="0">
              <a:lnSpc>
                <a:spcPct val="80000"/>
              </a:lnSpc>
              <a:spcBef>
                <a:spcPts val="0"/>
              </a:spcBef>
              <a:spcAft>
                <a:spcPts val="0"/>
              </a:spcAft>
              <a:buClr>
                <a:schemeClr val="dk1"/>
              </a:buClr>
              <a:buSzPts val="1395"/>
              <a:buChar char="●"/>
            </a:pPr>
            <a:r>
              <a:rPr lang="en" sz="1302" dirty="0"/>
              <a:t>A Uniform Resource Locator (</a:t>
            </a:r>
            <a:r>
              <a:rPr lang="en" sz="1302" b="1" i="1" dirty="0">
                <a:solidFill>
                  <a:srgbClr val="FF0000"/>
                </a:solidFill>
              </a:rPr>
              <a:t>URL</a:t>
            </a:r>
            <a:r>
              <a:rPr lang="en" sz="1302" dirty="0"/>
              <a:t>) defines the unique location of a resource on the web in the following way:</a:t>
            </a:r>
            <a:endParaRPr sz="1302" dirty="0"/>
          </a:p>
          <a:p>
            <a:pPr marL="876300" lvl="1" indent="-286861" algn="l" rtl="0">
              <a:lnSpc>
                <a:spcPct val="80000"/>
              </a:lnSpc>
              <a:spcBef>
                <a:spcPts val="0"/>
              </a:spcBef>
              <a:spcAft>
                <a:spcPts val="0"/>
              </a:spcAft>
              <a:buClr>
                <a:schemeClr val="dk1"/>
              </a:buClr>
              <a:buSzPts val="1118"/>
              <a:buChar char="○"/>
            </a:pPr>
            <a:r>
              <a:rPr lang="en" sz="1117" dirty="0">
                <a:latin typeface="Courier New"/>
                <a:ea typeface="Courier New"/>
                <a:cs typeface="Courier New"/>
                <a:sym typeface="Courier New"/>
              </a:rPr>
              <a:t>service://host:port/file and resource details</a:t>
            </a:r>
            <a:endParaRPr sz="1117" dirty="0"/>
          </a:p>
          <a:p>
            <a:pPr marL="457200" lvl="0" indent="-342582" algn="l" rtl="0">
              <a:lnSpc>
                <a:spcPct val="80000"/>
              </a:lnSpc>
              <a:spcBef>
                <a:spcPts val="1000"/>
              </a:spcBef>
              <a:spcAft>
                <a:spcPts val="0"/>
              </a:spcAft>
              <a:buClr>
                <a:schemeClr val="dk1"/>
              </a:buClr>
              <a:buSzPts val="1395"/>
              <a:buChar char="●"/>
            </a:pPr>
            <a:r>
              <a:rPr lang="en" sz="1302" dirty="0"/>
              <a:t>For example:</a:t>
            </a:r>
            <a:endParaRPr sz="1302" dirty="0"/>
          </a:p>
          <a:p>
            <a:pPr marL="279400" lvl="0" indent="-165100" algn="l" rtl="0">
              <a:lnSpc>
                <a:spcPct val="80000"/>
              </a:lnSpc>
              <a:spcBef>
                <a:spcPts val="800"/>
              </a:spcBef>
              <a:spcAft>
                <a:spcPts val="1600"/>
              </a:spcAft>
              <a:buClr>
                <a:schemeClr val="dk1"/>
              </a:buClr>
              <a:buSzPts val="1758"/>
              <a:buFont typeface="Calibri"/>
              <a:buNone/>
            </a:pPr>
            <a:endParaRPr sz="1302" dirty="0"/>
          </a:p>
        </p:txBody>
      </p:sp>
      <p:sp>
        <p:nvSpPr>
          <p:cNvPr id="443" name="Google Shape;443;p46"/>
          <p:cNvSpPr txBox="1"/>
          <p:nvPr/>
        </p:nvSpPr>
        <p:spPr>
          <a:xfrm>
            <a:off x="515594" y="2308768"/>
            <a:ext cx="8274300" cy="5175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1800">
                <a:solidFill>
                  <a:schemeClr val="dk1"/>
                </a:solidFill>
                <a:latin typeface="Courier New"/>
                <a:ea typeface="Courier New"/>
                <a:cs typeface="Courier New"/>
                <a:sym typeface="Courier New"/>
              </a:rPr>
              <a:t>http://www.se.rit.edu:80/~gcis-124/StyleExample.java</a:t>
            </a:r>
            <a:endParaRPr sz="1800">
              <a:solidFill>
                <a:schemeClr val="dk1"/>
              </a:solidFill>
              <a:latin typeface="Calibri"/>
              <a:ea typeface="Calibri"/>
              <a:cs typeface="Calibri"/>
              <a:sym typeface="Calibri"/>
            </a:endParaRPr>
          </a:p>
        </p:txBody>
      </p:sp>
      <p:sp>
        <p:nvSpPr>
          <p:cNvPr id="444" name="Google Shape;444;p46"/>
          <p:cNvSpPr txBox="1"/>
          <p:nvPr/>
        </p:nvSpPr>
        <p:spPr>
          <a:xfrm>
            <a:off x="215447" y="3008992"/>
            <a:ext cx="2923500" cy="924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The </a:t>
            </a:r>
            <a:r>
              <a:rPr lang="en" i="1">
                <a:solidFill>
                  <a:schemeClr val="dk1"/>
                </a:solidFill>
                <a:latin typeface="Arial"/>
                <a:ea typeface="Arial"/>
                <a:cs typeface="Arial"/>
                <a:sym typeface="Arial"/>
              </a:rPr>
              <a:t>service</a:t>
            </a:r>
            <a:r>
              <a:rPr lang="en">
                <a:solidFill>
                  <a:schemeClr val="dk1"/>
                </a:solidFill>
                <a:latin typeface="Arial"/>
                <a:ea typeface="Arial"/>
                <a:cs typeface="Arial"/>
                <a:sym typeface="Arial"/>
              </a:rPr>
              <a:t> or </a:t>
            </a:r>
            <a:r>
              <a:rPr lang="en" i="1">
                <a:solidFill>
                  <a:schemeClr val="dk1"/>
                </a:solidFill>
                <a:latin typeface="Arial"/>
                <a:ea typeface="Arial"/>
                <a:cs typeface="Arial"/>
                <a:sym typeface="Arial"/>
              </a:rPr>
              <a:t>protocol </a:t>
            </a:r>
            <a:r>
              <a:rPr lang="en">
                <a:solidFill>
                  <a:schemeClr val="dk1"/>
                </a:solidFill>
                <a:latin typeface="Arial"/>
                <a:ea typeface="Arial"/>
                <a:cs typeface="Arial"/>
                <a:sym typeface="Arial"/>
              </a:rPr>
              <a:t>used to access the resource. In this case, HTTP (hypertext transfer protocol).</a:t>
            </a:r>
            <a:endParaRPr>
              <a:solidFill>
                <a:schemeClr val="dk1"/>
              </a:solidFill>
              <a:latin typeface="Arial"/>
              <a:ea typeface="Arial"/>
              <a:cs typeface="Arial"/>
              <a:sym typeface="Arial"/>
            </a:endParaRPr>
          </a:p>
        </p:txBody>
      </p:sp>
      <p:sp>
        <p:nvSpPr>
          <p:cNvPr id="445" name="Google Shape;445;p46"/>
          <p:cNvSpPr txBox="1"/>
          <p:nvPr/>
        </p:nvSpPr>
        <p:spPr>
          <a:xfrm>
            <a:off x="1739475" y="4253025"/>
            <a:ext cx="3235500" cy="57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The hostname (or IP address) of the machine that provides the resource.</a:t>
            </a:r>
            <a:endParaRPr>
              <a:solidFill>
                <a:schemeClr val="dk1"/>
              </a:solidFill>
              <a:latin typeface="Arial"/>
              <a:ea typeface="Arial"/>
              <a:cs typeface="Arial"/>
              <a:sym typeface="Arial"/>
            </a:endParaRPr>
          </a:p>
        </p:txBody>
      </p:sp>
      <p:sp>
        <p:nvSpPr>
          <p:cNvPr id="446" name="Google Shape;446;p46"/>
          <p:cNvSpPr txBox="1"/>
          <p:nvPr/>
        </p:nvSpPr>
        <p:spPr>
          <a:xfrm>
            <a:off x="3828307" y="3008992"/>
            <a:ext cx="3346200" cy="924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The </a:t>
            </a:r>
            <a:r>
              <a:rPr lang="en" i="1">
                <a:solidFill>
                  <a:schemeClr val="dk1"/>
                </a:solidFill>
                <a:latin typeface="Arial"/>
                <a:ea typeface="Arial"/>
                <a:cs typeface="Arial"/>
                <a:sym typeface="Arial"/>
              </a:rPr>
              <a:t>port number</a:t>
            </a:r>
            <a:r>
              <a:rPr lang="en">
                <a:solidFill>
                  <a:schemeClr val="dk1"/>
                </a:solidFill>
                <a:latin typeface="Arial"/>
                <a:ea typeface="Arial"/>
                <a:cs typeface="Arial"/>
                <a:sym typeface="Arial"/>
              </a:rPr>
              <a:t>  to connect to.  Computers may listen for requests on many different ports numbered 0-65,535.</a:t>
            </a:r>
            <a:endParaRPr>
              <a:solidFill>
                <a:schemeClr val="dk1"/>
              </a:solidFill>
              <a:latin typeface="Arial"/>
              <a:ea typeface="Arial"/>
              <a:cs typeface="Arial"/>
              <a:sym typeface="Arial"/>
            </a:endParaRPr>
          </a:p>
        </p:txBody>
      </p:sp>
      <p:sp>
        <p:nvSpPr>
          <p:cNvPr id="439" name="Google Shape;439;p46"/>
          <p:cNvSpPr txBox="1"/>
          <p:nvPr/>
        </p:nvSpPr>
        <p:spPr>
          <a:xfrm>
            <a:off x="6127995" y="4214417"/>
            <a:ext cx="2661900" cy="57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The path to the resource being requested from the server.</a:t>
            </a:r>
            <a:endParaRPr>
              <a:solidFill>
                <a:schemeClr val="dk1"/>
              </a:solidFill>
              <a:latin typeface="Arial"/>
              <a:ea typeface="Arial"/>
              <a:cs typeface="Arial"/>
              <a:sym typeface="Arial"/>
            </a:endParaRPr>
          </a:p>
        </p:txBody>
      </p:sp>
      <p:sp>
        <p:nvSpPr>
          <p:cNvPr id="447" name="Google Shape;447;p46"/>
          <p:cNvSpPr/>
          <p:nvPr/>
        </p:nvSpPr>
        <p:spPr>
          <a:xfrm>
            <a:off x="515594" y="2427705"/>
            <a:ext cx="666300" cy="330900"/>
          </a:xfrm>
          <a:prstGeom prst="rect">
            <a:avLst/>
          </a:prstGeom>
          <a:no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8" name="Google Shape;448;p46"/>
          <p:cNvSpPr/>
          <p:nvPr/>
        </p:nvSpPr>
        <p:spPr>
          <a:xfrm>
            <a:off x="1547298" y="2427375"/>
            <a:ext cx="1963200" cy="330900"/>
          </a:xfrm>
          <a:prstGeom prst="rect">
            <a:avLst/>
          </a:prstGeom>
          <a:no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 name="Google Shape;449;p46"/>
          <p:cNvSpPr/>
          <p:nvPr/>
        </p:nvSpPr>
        <p:spPr>
          <a:xfrm>
            <a:off x="3607175" y="2427705"/>
            <a:ext cx="286500" cy="330900"/>
          </a:xfrm>
          <a:prstGeom prst="rect">
            <a:avLst/>
          </a:prstGeom>
          <a:no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450" name="Google Shape;450;p46"/>
          <p:cNvCxnSpPr>
            <a:stCxn id="444" idx="0"/>
            <a:endCxn id="447" idx="2"/>
          </p:cNvCxnSpPr>
          <p:nvPr/>
        </p:nvCxnSpPr>
        <p:spPr>
          <a:xfrm rot="5400000" flipH="1">
            <a:off x="1137647" y="2469442"/>
            <a:ext cx="250500" cy="828600"/>
          </a:xfrm>
          <a:prstGeom prst="bentConnector3">
            <a:avLst>
              <a:gd name="adj1" fmla="val 50000"/>
            </a:avLst>
          </a:prstGeom>
          <a:noFill/>
          <a:ln w="19050" cap="flat" cmpd="sng">
            <a:solidFill>
              <a:srgbClr val="FF0000"/>
            </a:solidFill>
            <a:prstDash val="solid"/>
            <a:miter lim="800000"/>
            <a:headEnd type="none" w="sm" len="sm"/>
            <a:tailEnd type="none" w="sm" len="sm"/>
          </a:ln>
        </p:spPr>
      </p:cxnSp>
      <p:cxnSp>
        <p:nvCxnSpPr>
          <p:cNvPr id="451" name="Google Shape;451;p46"/>
          <p:cNvCxnSpPr>
            <a:stCxn id="445" idx="0"/>
            <a:endCxn id="448" idx="2"/>
          </p:cNvCxnSpPr>
          <p:nvPr/>
        </p:nvCxnSpPr>
        <p:spPr>
          <a:xfrm rot="5400000" flipH="1">
            <a:off x="2195775" y="3091575"/>
            <a:ext cx="1494600" cy="828300"/>
          </a:xfrm>
          <a:prstGeom prst="bentConnector3">
            <a:avLst>
              <a:gd name="adj1" fmla="val 92684"/>
            </a:avLst>
          </a:prstGeom>
          <a:noFill/>
          <a:ln w="19050" cap="flat" cmpd="sng">
            <a:solidFill>
              <a:srgbClr val="FF0000"/>
            </a:solidFill>
            <a:prstDash val="solid"/>
            <a:miter lim="800000"/>
            <a:headEnd type="none" w="sm" len="sm"/>
            <a:tailEnd type="none" w="sm" len="sm"/>
          </a:ln>
        </p:spPr>
      </p:cxnSp>
      <p:cxnSp>
        <p:nvCxnSpPr>
          <p:cNvPr id="452" name="Google Shape;452;p46"/>
          <p:cNvCxnSpPr>
            <a:stCxn id="446" idx="0"/>
            <a:endCxn id="449" idx="2"/>
          </p:cNvCxnSpPr>
          <p:nvPr/>
        </p:nvCxnSpPr>
        <p:spPr>
          <a:xfrm rot="5400000" flipH="1">
            <a:off x="4500607" y="2008192"/>
            <a:ext cx="250500" cy="1751100"/>
          </a:xfrm>
          <a:prstGeom prst="bentConnector3">
            <a:avLst>
              <a:gd name="adj1" fmla="val 49977"/>
            </a:avLst>
          </a:prstGeom>
          <a:noFill/>
          <a:ln w="19050" cap="flat" cmpd="sng">
            <a:solidFill>
              <a:srgbClr val="FF0000"/>
            </a:solidFill>
            <a:prstDash val="solid"/>
            <a:miter lim="800000"/>
            <a:headEnd type="none" w="sm" len="sm"/>
            <a:tailEnd type="none" w="sm" len="sm"/>
          </a:ln>
        </p:spPr>
      </p:cxnSp>
      <p:sp>
        <p:nvSpPr>
          <p:cNvPr id="453" name="Google Shape;453;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440" name="Google Shape;440;p46"/>
          <p:cNvSpPr/>
          <p:nvPr/>
        </p:nvSpPr>
        <p:spPr>
          <a:xfrm>
            <a:off x="3954150" y="2423700"/>
            <a:ext cx="4628400" cy="330900"/>
          </a:xfrm>
          <a:prstGeom prst="rect">
            <a:avLst/>
          </a:prstGeom>
          <a:noFill/>
          <a:ln w="1905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2">
                                            <p:txEl>
                                              <p:pRg st="0" end="0"/>
                                            </p:txEl>
                                          </p:spTgt>
                                        </p:tgtEl>
                                        <p:attrNameLst>
                                          <p:attrName>style.visibility</p:attrName>
                                        </p:attrNameLst>
                                      </p:cBhvr>
                                      <p:to>
                                        <p:strVal val="visible"/>
                                      </p:to>
                                    </p:set>
                                    <p:animEffect transition="in" filter="fade">
                                      <p:cBhvr>
                                        <p:cTn id="7" dur="1000"/>
                                        <p:tgtEl>
                                          <p:spTgt spid="4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2">
                                            <p:txEl>
                                              <p:pRg st="1" end="1"/>
                                            </p:txEl>
                                          </p:spTgt>
                                        </p:tgtEl>
                                        <p:attrNameLst>
                                          <p:attrName>style.visibility</p:attrName>
                                        </p:attrNameLst>
                                      </p:cBhvr>
                                      <p:to>
                                        <p:strVal val="visible"/>
                                      </p:to>
                                    </p:set>
                                    <p:animEffect transition="in" filter="fade">
                                      <p:cBhvr>
                                        <p:cTn id="12" dur="1000"/>
                                        <p:tgtEl>
                                          <p:spTgt spid="4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2">
                                            <p:txEl>
                                              <p:pRg st="2" end="2"/>
                                            </p:txEl>
                                          </p:spTgt>
                                        </p:tgtEl>
                                        <p:attrNameLst>
                                          <p:attrName>style.visibility</p:attrName>
                                        </p:attrNameLst>
                                      </p:cBhvr>
                                      <p:to>
                                        <p:strVal val="visible"/>
                                      </p:to>
                                    </p:set>
                                    <p:animEffect transition="in" filter="fade">
                                      <p:cBhvr>
                                        <p:cTn id="17" dur="1000"/>
                                        <p:tgtEl>
                                          <p:spTgt spid="4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2">
                                            <p:txEl>
                                              <p:pRg st="3" end="3"/>
                                            </p:txEl>
                                          </p:spTgt>
                                        </p:tgtEl>
                                        <p:attrNameLst>
                                          <p:attrName>style.visibility</p:attrName>
                                        </p:attrNameLst>
                                      </p:cBhvr>
                                      <p:to>
                                        <p:strVal val="visible"/>
                                      </p:to>
                                    </p:set>
                                    <p:animEffect transition="in" filter="fade">
                                      <p:cBhvr>
                                        <p:cTn id="22" dur="1000"/>
                                        <p:tgtEl>
                                          <p:spTgt spid="4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3"/>
                                        </p:tgtEl>
                                        <p:attrNameLst>
                                          <p:attrName>style.visibility</p:attrName>
                                        </p:attrNameLst>
                                      </p:cBhvr>
                                      <p:to>
                                        <p:strVal val="visible"/>
                                      </p:to>
                                    </p:set>
                                    <p:animEffect transition="in" filter="fade">
                                      <p:cBhvr>
                                        <p:cTn id="27" dur="1000"/>
                                        <p:tgtEl>
                                          <p:spTgt spid="44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4"/>
                                        </p:tgtEl>
                                        <p:attrNameLst>
                                          <p:attrName>style.visibility</p:attrName>
                                        </p:attrNameLst>
                                      </p:cBhvr>
                                      <p:to>
                                        <p:strVal val="visible"/>
                                      </p:to>
                                    </p:set>
                                    <p:animEffect transition="in" filter="fade">
                                      <p:cBhvr>
                                        <p:cTn id="32" dur="1000"/>
                                        <p:tgtEl>
                                          <p:spTgt spid="444"/>
                                        </p:tgtEl>
                                      </p:cBhvr>
                                    </p:animEffect>
                                  </p:childTnLst>
                                </p:cTn>
                              </p:par>
                              <p:par>
                                <p:cTn id="33" presetID="10" presetClass="entr" presetSubtype="0" fill="hold" nodeType="withEffect">
                                  <p:stCondLst>
                                    <p:cond delay="0"/>
                                  </p:stCondLst>
                                  <p:childTnLst>
                                    <p:set>
                                      <p:cBhvr>
                                        <p:cTn id="34" dur="1" fill="hold">
                                          <p:stCondLst>
                                            <p:cond delay="0"/>
                                          </p:stCondLst>
                                        </p:cTn>
                                        <p:tgtEl>
                                          <p:spTgt spid="450"/>
                                        </p:tgtEl>
                                        <p:attrNameLst>
                                          <p:attrName>style.visibility</p:attrName>
                                        </p:attrNameLst>
                                      </p:cBhvr>
                                      <p:to>
                                        <p:strVal val="visible"/>
                                      </p:to>
                                    </p:set>
                                    <p:animEffect transition="in" filter="fade">
                                      <p:cBhvr>
                                        <p:cTn id="35" dur="1000"/>
                                        <p:tgtEl>
                                          <p:spTgt spid="450"/>
                                        </p:tgtEl>
                                      </p:cBhvr>
                                    </p:animEffect>
                                  </p:childTnLst>
                                </p:cTn>
                              </p:par>
                              <p:par>
                                <p:cTn id="36" presetID="10" presetClass="entr" presetSubtype="0" fill="hold" nodeType="withEffect">
                                  <p:stCondLst>
                                    <p:cond delay="0"/>
                                  </p:stCondLst>
                                  <p:childTnLst>
                                    <p:set>
                                      <p:cBhvr>
                                        <p:cTn id="37" dur="1" fill="hold">
                                          <p:stCondLst>
                                            <p:cond delay="0"/>
                                          </p:stCondLst>
                                        </p:cTn>
                                        <p:tgtEl>
                                          <p:spTgt spid="447"/>
                                        </p:tgtEl>
                                        <p:attrNameLst>
                                          <p:attrName>style.visibility</p:attrName>
                                        </p:attrNameLst>
                                      </p:cBhvr>
                                      <p:to>
                                        <p:strVal val="visible"/>
                                      </p:to>
                                    </p:set>
                                    <p:animEffect transition="in" filter="fade">
                                      <p:cBhvr>
                                        <p:cTn id="38" dur="1000"/>
                                        <p:tgtEl>
                                          <p:spTgt spid="44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45"/>
                                        </p:tgtEl>
                                        <p:attrNameLst>
                                          <p:attrName>style.visibility</p:attrName>
                                        </p:attrNameLst>
                                      </p:cBhvr>
                                      <p:to>
                                        <p:strVal val="visible"/>
                                      </p:to>
                                    </p:set>
                                    <p:animEffect transition="in" filter="fade">
                                      <p:cBhvr>
                                        <p:cTn id="43" dur="1000"/>
                                        <p:tgtEl>
                                          <p:spTgt spid="445"/>
                                        </p:tgtEl>
                                      </p:cBhvr>
                                    </p:animEffect>
                                  </p:childTnLst>
                                </p:cTn>
                              </p:par>
                              <p:par>
                                <p:cTn id="44" presetID="10" presetClass="entr" presetSubtype="0" fill="hold" nodeType="withEffect">
                                  <p:stCondLst>
                                    <p:cond delay="0"/>
                                  </p:stCondLst>
                                  <p:childTnLst>
                                    <p:set>
                                      <p:cBhvr>
                                        <p:cTn id="45" dur="1" fill="hold">
                                          <p:stCondLst>
                                            <p:cond delay="0"/>
                                          </p:stCondLst>
                                        </p:cTn>
                                        <p:tgtEl>
                                          <p:spTgt spid="451"/>
                                        </p:tgtEl>
                                        <p:attrNameLst>
                                          <p:attrName>style.visibility</p:attrName>
                                        </p:attrNameLst>
                                      </p:cBhvr>
                                      <p:to>
                                        <p:strVal val="visible"/>
                                      </p:to>
                                    </p:set>
                                    <p:animEffect transition="in" filter="fade">
                                      <p:cBhvr>
                                        <p:cTn id="46" dur="1000"/>
                                        <p:tgtEl>
                                          <p:spTgt spid="451"/>
                                        </p:tgtEl>
                                      </p:cBhvr>
                                    </p:animEffect>
                                  </p:childTnLst>
                                </p:cTn>
                              </p:par>
                              <p:par>
                                <p:cTn id="47" presetID="10" presetClass="entr" presetSubtype="0" fill="hold" nodeType="withEffect">
                                  <p:stCondLst>
                                    <p:cond delay="0"/>
                                  </p:stCondLst>
                                  <p:childTnLst>
                                    <p:set>
                                      <p:cBhvr>
                                        <p:cTn id="48" dur="1" fill="hold">
                                          <p:stCondLst>
                                            <p:cond delay="0"/>
                                          </p:stCondLst>
                                        </p:cTn>
                                        <p:tgtEl>
                                          <p:spTgt spid="448"/>
                                        </p:tgtEl>
                                        <p:attrNameLst>
                                          <p:attrName>style.visibility</p:attrName>
                                        </p:attrNameLst>
                                      </p:cBhvr>
                                      <p:to>
                                        <p:strVal val="visible"/>
                                      </p:to>
                                    </p:set>
                                    <p:animEffect transition="in" filter="fade">
                                      <p:cBhvr>
                                        <p:cTn id="49" dur="1000"/>
                                        <p:tgtEl>
                                          <p:spTgt spid="44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446"/>
                                        </p:tgtEl>
                                        <p:attrNameLst>
                                          <p:attrName>style.visibility</p:attrName>
                                        </p:attrNameLst>
                                      </p:cBhvr>
                                      <p:to>
                                        <p:strVal val="visible"/>
                                      </p:to>
                                    </p:set>
                                    <p:animEffect transition="in" filter="fade">
                                      <p:cBhvr>
                                        <p:cTn id="54" dur="1000"/>
                                        <p:tgtEl>
                                          <p:spTgt spid="446"/>
                                        </p:tgtEl>
                                      </p:cBhvr>
                                    </p:animEffect>
                                  </p:childTnLst>
                                </p:cTn>
                              </p:par>
                              <p:par>
                                <p:cTn id="55" presetID="10" presetClass="entr" presetSubtype="0" fill="hold" nodeType="withEffect">
                                  <p:stCondLst>
                                    <p:cond delay="0"/>
                                  </p:stCondLst>
                                  <p:childTnLst>
                                    <p:set>
                                      <p:cBhvr>
                                        <p:cTn id="56" dur="1" fill="hold">
                                          <p:stCondLst>
                                            <p:cond delay="0"/>
                                          </p:stCondLst>
                                        </p:cTn>
                                        <p:tgtEl>
                                          <p:spTgt spid="452"/>
                                        </p:tgtEl>
                                        <p:attrNameLst>
                                          <p:attrName>style.visibility</p:attrName>
                                        </p:attrNameLst>
                                      </p:cBhvr>
                                      <p:to>
                                        <p:strVal val="visible"/>
                                      </p:to>
                                    </p:set>
                                    <p:animEffect transition="in" filter="fade">
                                      <p:cBhvr>
                                        <p:cTn id="57" dur="1000"/>
                                        <p:tgtEl>
                                          <p:spTgt spid="452"/>
                                        </p:tgtEl>
                                      </p:cBhvr>
                                    </p:animEffect>
                                  </p:childTnLst>
                                </p:cTn>
                              </p:par>
                              <p:par>
                                <p:cTn id="58" presetID="10" presetClass="entr" presetSubtype="0" fill="hold" nodeType="withEffect">
                                  <p:stCondLst>
                                    <p:cond delay="0"/>
                                  </p:stCondLst>
                                  <p:childTnLst>
                                    <p:set>
                                      <p:cBhvr>
                                        <p:cTn id="59" dur="1" fill="hold">
                                          <p:stCondLst>
                                            <p:cond delay="0"/>
                                          </p:stCondLst>
                                        </p:cTn>
                                        <p:tgtEl>
                                          <p:spTgt spid="449"/>
                                        </p:tgtEl>
                                        <p:attrNameLst>
                                          <p:attrName>style.visibility</p:attrName>
                                        </p:attrNameLst>
                                      </p:cBhvr>
                                      <p:to>
                                        <p:strVal val="visible"/>
                                      </p:to>
                                    </p:set>
                                    <p:animEffect transition="in" filter="fade">
                                      <p:cBhvr>
                                        <p:cTn id="60" dur="1000"/>
                                        <p:tgtEl>
                                          <p:spTgt spid="44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439"/>
                                        </p:tgtEl>
                                        <p:attrNameLst>
                                          <p:attrName>style.visibility</p:attrName>
                                        </p:attrNameLst>
                                      </p:cBhvr>
                                      <p:to>
                                        <p:strVal val="visible"/>
                                      </p:to>
                                    </p:set>
                                    <p:animEffect transition="in" filter="fade">
                                      <p:cBhvr>
                                        <p:cTn id="65" dur="1000"/>
                                        <p:tgtEl>
                                          <p:spTgt spid="439"/>
                                        </p:tgtEl>
                                      </p:cBhvr>
                                    </p:animEffect>
                                  </p:childTnLst>
                                </p:cTn>
                              </p:par>
                              <p:par>
                                <p:cTn id="66" presetID="10" presetClass="entr" presetSubtype="0" fill="hold" nodeType="withEffect">
                                  <p:stCondLst>
                                    <p:cond delay="0"/>
                                  </p:stCondLst>
                                  <p:childTnLst>
                                    <p:set>
                                      <p:cBhvr>
                                        <p:cTn id="67" dur="1" fill="hold">
                                          <p:stCondLst>
                                            <p:cond delay="0"/>
                                          </p:stCondLst>
                                        </p:cTn>
                                        <p:tgtEl>
                                          <p:spTgt spid="438"/>
                                        </p:tgtEl>
                                        <p:attrNameLst>
                                          <p:attrName>style.visibility</p:attrName>
                                        </p:attrNameLst>
                                      </p:cBhvr>
                                      <p:to>
                                        <p:strVal val="visible"/>
                                      </p:to>
                                    </p:set>
                                    <p:animEffect transition="in" filter="fade">
                                      <p:cBhvr>
                                        <p:cTn id="68" dur="1000"/>
                                        <p:tgtEl>
                                          <p:spTgt spid="438"/>
                                        </p:tgtEl>
                                      </p:cBhvr>
                                    </p:animEffect>
                                  </p:childTnLst>
                                </p:cTn>
                              </p:par>
                              <p:par>
                                <p:cTn id="69" presetID="10" presetClass="entr" presetSubtype="0" fill="hold" nodeType="withEffect">
                                  <p:stCondLst>
                                    <p:cond delay="0"/>
                                  </p:stCondLst>
                                  <p:childTnLst>
                                    <p:set>
                                      <p:cBhvr>
                                        <p:cTn id="70" dur="1" fill="hold">
                                          <p:stCondLst>
                                            <p:cond delay="0"/>
                                          </p:stCondLst>
                                        </p:cTn>
                                        <p:tgtEl>
                                          <p:spTgt spid="440"/>
                                        </p:tgtEl>
                                        <p:attrNameLst>
                                          <p:attrName>style.visibility</p:attrName>
                                        </p:attrNameLst>
                                      </p:cBhvr>
                                      <p:to>
                                        <p:strVal val="visible"/>
                                      </p:to>
                                    </p:set>
                                    <p:animEffect transition="in" filter="fade">
                                      <p:cBhvr>
                                        <p:cTn id="71" dur="10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7"/>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ourier New"/>
              <a:buNone/>
            </a:pPr>
            <a:r>
              <a:rPr lang="en">
                <a:latin typeface="Courier New"/>
                <a:ea typeface="Courier New"/>
                <a:cs typeface="Courier New"/>
                <a:sym typeface="Courier New"/>
              </a:rPr>
              <a:t>URL</a:t>
            </a:r>
            <a:r>
              <a:rPr lang="en"/>
              <a:t> &amp; </a:t>
            </a:r>
            <a:r>
              <a:rPr lang="en">
                <a:latin typeface="Courier New"/>
                <a:ea typeface="Courier New"/>
                <a:cs typeface="Courier New"/>
                <a:sym typeface="Courier New"/>
              </a:rPr>
              <a:t>URLConnection</a:t>
            </a:r>
            <a:endParaRPr>
              <a:latin typeface="Courier New"/>
              <a:ea typeface="Courier New"/>
              <a:cs typeface="Courier New"/>
              <a:sym typeface="Courier New"/>
            </a:endParaRPr>
          </a:p>
        </p:txBody>
      </p:sp>
      <p:sp>
        <p:nvSpPr>
          <p:cNvPr id="459" name="Google Shape;459;p47"/>
          <p:cNvSpPr txBox="1">
            <a:spLocks noGrp="1"/>
          </p:cNvSpPr>
          <p:nvPr>
            <p:ph type="body" idx="1"/>
          </p:nvPr>
        </p:nvSpPr>
        <p:spPr>
          <a:xfrm>
            <a:off x="301275" y="319650"/>
            <a:ext cx="4166400" cy="4613400"/>
          </a:xfrm>
          <a:prstGeom prst="rect">
            <a:avLst/>
          </a:prstGeom>
          <a:noFill/>
          <a:ln>
            <a:noFill/>
          </a:ln>
        </p:spPr>
        <p:txBody>
          <a:bodyPr spcFirstLastPara="1" wrap="square" lIns="68575" tIns="34275" rIns="68575" bIns="34275" anchor="t" anchorCtr="0">
            <a:noAutofit/>
          </a:bodyPr>
          <a:lstStyle/>
          <a:p>
            <a:pPr marL="393700" lvl="0" indent="-266700" algn="l" rtl="0">
              <a:lnSpc>
                <a:spcPct val="115000"/>
              </a:lnSpc>
              <a:spcBef>
                <a:spcPts val="0"/>
              </a:spcBef>
              <a:spcAft>
                <a:spcPts val="0"/>
              </a:spcAft>
              <a:buClr>
                <a:schemeClr val="dk1"/>
              </a:buClr>
              <a:buSzPts val="1200"/>
              <a:buChar char="●"/>
            </a:pPr>
            <a:r>
              <a:rPr lang="en" sz="1200" dirty="0"/>
              <a:t>The </a:t>
            </a:r>
            <a:r>
              <a:rPr lang="en" sz="1200" dirty="0">
                <a:highlight>
                  <a:srgbClr val="FFFF00"/>
                </a:highlight>
                <a:latin typeface="Courier New"/>
                <a:ea typeface="Courier New"/>
                <a:cs typeface="Courier New"/>
                <a:sym typeface="Courier New"/>
              </a:rPr>
              <a:t>java.net.URL</a:t>
            </a:r>
            <a:r>
              <a:rPr lang="en" sz="1200" dirty="0">
                <a:highlight>
                  <a:srgbClr val="FFFF00"/>
                </a:highlight>
              </a:rPr>
              <a:t> </a:t>
            </a:r>
            <a:r>
              <a:rPr lang="en" sz="1200" dirty="0"/>
              <a:t>class represents a URL in Java. A </a:t>
            </a:r>
            <a:r>
              <a:rPr lang="en" sz="1200" dirty="0">
                <a:latin typeface="Consolas"/>
                <a:ea typeface="Consolas"/>
                <a:cs typeface="Consolas"/>
                <a:sym typeface="Consolas"/>
              </a:rPr>
              <a:t>URL</a:t>
            </a:r>
            <a:r>
              <a:rPr lang="en" sz="1200" dirty="0"/>
              <a:t> can be created with a </a:t>
            </a:r>
            <a:r>
              <a:rPr lang="en" sz="1200" b="1" i="1" dirty="0">
                <a:solidFill>
                  <a:srgbClr val="FF0000"/>
                </a:solidFill>
              </a:rPr>
              <a:t>string</a:t>
            </a:r>
            <a:r>
              <a:rPr lang="en" sz="1200" dirty="0"/>
              <a:t>:</a:t>
            </a:r>
            <a:endParaRPr sz="1200" dirty="0"/>
          </a:p>
          <a:p>
            <a:pPr marL="736600" lvl="1" indent="-260350" algn="l" rtl="0">
              <a:lnSpc>
                <a:spcPct val="115000"/>
              </a:lnSpc>
              <a:spcBef>
                <a:spcPts val="400"/>
              </a:spcBef>
              <a:spcAft>
                <a:spcPts val="0"/>
              </a:spcAft>
              <a:buClr>
                <a:schemeClr val="dk1"/>
              </a:buClr>
              <a:buSzPts val="1100"/>
              <a:buFont typeface="Courier New"/>
              <a:buChar char="○"/>
            </a:pPr>
            <a:r>
              <a:rPr lang="en" dirty="0">
                <a:latin typeface="Courier New"/>
                <a:ea typeface="Courier New"/>
                <a:cs typeface="Courier New"/>
                <a:sym typeface="Courier New"/>
              </a:rPr>
              <a:t>URL u = new URL("</a:t>
            </a:r>
            <a:r>
              <a:rPr lang="en" u="sng" dirty="0">
                <a:solidFill>
                  <a:schemeClr val="hlink"/>
                </a:solidFill>
                <a:latin typeface="Courier New"/>
                <a:ea typeface="Courier New"/>
                <a:cs typeface="Courier New"/>
                <a:sym typeface="Courier New"/>
                <a:hlinkClick r:id="rId3"/>
              </a:rPr>
              <a:t>http://nasa.gov/</a:t>
            </a:r>
            <a:r>
              <a:rPr lang="en" dirty="0">
                <a:latin typeface="Courier New"/>
                <a:ea typeface="Courier New"/>
                <a:cs typeface="Courier New"/>
                <a:sym typeface="Courier New"/>
              </a:rPr>
              <a:t>");</a:t>
            </a:r>
            <a:endParaRPr dirty="0">
              <a:latin typeface="Courier New"/>
              <a:ea typeface="Courier New"/>
              <a:cs typeface="Courier New"/>
              <a:sym typeface="Courier New"/>
            </a:endParaRPr>
          </a:p>
          <a:p>
            <a:pPr marL="393700" lvl="0" indent="-266700" algn="l" rtl="0">
              <a:lnSpc>
                <a:spcPct val="115000"/>
              </a:lnSpc>
              <a:spcBef>
                <a:spcPts val="400"/>
              </a:spcBef>
              <a:spcAft>
                <a:spcPts val="0"/>
              </a:spcAft>
              <a:buClr>
                <a:schemeClr val="dk1"/>
              </a:buClr>
              <a:buSzPts val="1200"/>
              <a:buChar char="●"/>
            </a:pPr>
            <a:r>
              <a:rPr lang="en" sz="1200" dirty="0"/>
              <a:t>The </a:t>
            </a:r>
            <a:r>
              <a:rPr lang="en" sz="1200" dirty="0">
                <a:highlight>
                  <a:srgbClr val="FFFF00"/>
                </a:highlight>
              </a:rPr>
              <a:t>first part of the URL</a:t>
            </a:r>
            <a:r>
              <a:rPr lang="en" sz="1200" dirty="0"/>
              <a:t> string identifies the </a:t>
            </a:r>
            <a:r>
              <a:rPr lang="en" sz="1200" b="1" i="1" dirty="0">
                <a:solidFill>
                  <a:srgbClr val="FF0000"/>
                </a:solidFill>
              </a:rPr>
              <a:t>protocol</a:t>
            </a:r>
            <a:r>
              <a:rPr lang="en" sz="1200" dirty="0"/>
              <a:t> that should be used to communicate with the resource</a:t>
            </a:r>
            <a:endParaRPr sz="1200" dirty="0"/>
          </a:p>
          <a:p>
            <a:pPr marL="736600" lvl="1" indent="-260350" algn="l" rtl="0">
              <a:lnSpc>
                <a:spcPct val="115000"/>
              </a:lnSpc>
              <a:spcBef>
                <a:spcPts val="400"/>
              </a:spcBef>
              <a:spcAft>
                <a:spcPts val="0"/>
              </a:spcAft>
              <a:buClr>
                <a:schemeClr val="dk1"/>
              </a:buClr>
              <a:buSzPts val="1100"/>
              <a:buChar char="○"/>
            </a:pPr>
            <a:r>
              <a:rPr lang="en" dirty="0"/>
              <a:t>There are several, e.g. HTTP, HTTPS, and FTP</a:t>
            </a:r>
            <a:endParaRPr dirty="0"/>
          </a:p>
          <a:p>
            <a:pPr marL="736600" lvl="1" indent="-260350" algn="l" rtl="0">
              <a:lnSpc>
                <a:spcPct val="115000"/>
              </a:lnSpc>
              <a:spcBef>
                <a:spcPts val="400"/>
              </a:spcBef>
              <a:spcAft>
                <a:spcPts val="0"/>
              </a:spcAft>
              <a:buClr>
                <a:schemeClr val="dk1"/>
              </a:buClr>
              <a:buSzPts val="1100"/>
              <a:buChar char="○"/>
            </a:pPr>
            <a:r>
              <a:rPr lang="en" dirty="0"/>
              <a:t>If Java does not understand the protocol, a checked </a:t>
            </a:r>
            <a:r>
              <a:rPr lang="en" dirty="0">
                <a:highlight>
                  <a:srgbClr val="FFFF00"/>
                </a:highlight>
                <a:latin typeface="Courier New"/>
                <a:ea typeface="Courier New"/>
                <a:cs typeface="Courier New"/>
                <a:sym typeface="Courier New"/>
              </a:rPr>
              <a:t>MalformedURLException</a:t>
            </a:r>
            <a:r>
              <a:rPr lang="en" dirty="0"/>
              <a:t> will be </a:t>
            </a:r>
            <a:r>
              <a:rPr lang="en" b="1" i="1" dirty="0">
                <a:solidFill>
                  <a:srgbClr val="FF0000"/>
                </a:solidFill>
              </a:rPr>
              <a:t>thrown</a:t>
            </a:r>
            <a:endParaRPr b="1" i="1" dirty="0">
              <a:solidFill>
                <a:srgbClr val="FF0000"/>
              </a:solidFill>
            </a:endParaRPr>
          </a:p>
          <a:p>
            <a:pPr marL="393700" lvl="0" indent="-266700" algn="l" rtl="0">
              <a:lnSpc>
                <a:spcPct val="115000"/>
              </a:lnSpc>
              <a:spcBef>
                <a:spcPts val="400"/>
              </a:spcBef>
              <a:spcAft>
                <a:spcPts val="0"/>
              </a:spcAft>
              <a:buClr>
                <a:schemeClr val="dk1"/>
              </a:buClr>
              <a:buSzPts val="1200"/>
              <a:buChar char="●"/>
            </a:pPr>
            <a:r>
              <a:rPr lang="en" sz="1200" dirty="0"/>
              <a:t>The </a:t>
            </a:r>
            <a:r>
              <a:rPr lang="en" sz="1200" dirty="0">
                <a:latin typeface="Courier New"/>
                <a:ea typeface="Courier New"/>
                <a:cs typeface="Courier New"/>
                <a:sym typeface="Courier New"/>
              </a:rPr>
              <a:t>openConnection()</a:t>
            </a:r>
            <a:r>
              <a:rPr lang="en" sz="1200" dirty="0"/>
              <a:t> method returns a </a:t>
            </a:r>
            <a:r>
              <a:rPr lang="en" sz="1200" dirty="0">
                <a:latin typeface="Courier New"/>
                <a:ea typeface="Courier New"/>
                <a:cs typeface="Courier New"/>
                <a:sym typeface="Courier New"/>
              </a:rPr>
              <a:t>URLConnection</a:t>
            </a:r>
            <a:r>
              <a:rPr lang="en" sz="1200" dirty="0"/>
              <a:t>, which provides many methods, e.g.:</a:t>
            </a:r>
            <a:endParaRPr sz="1200" dirty="0"/>
          </a:p>
          <a:p>
            <a:pPr marL="736600" lvl="1" indent="-260350" algn="l" rtl="0">
              <a:lnSpc>
                <a:spcPct val="115000"/>
              </a:lnSpc>
              <a:spcBef>
                <a:spcPts val="400"/>
              </a:spcBef>
              <a:spcAft>
                <a:spcPts val="0"/>
              </a:spcAft>
              <a:buClr>
                <a:schemeClr val="dk1"/>
              </a:buClr>
              <a:buSzPts val="1100"/>
              <a:buChar char="○"/>
            </a:pPr>
            <a:r>
              <a:rPr lang="en" dirty="0">
                <a:latin typeface="Courier New"/>
                <a:ea typeface="Courier New"/>
                <a:cs typeface="Courier New"/>
                <a:sym typeface="Courier New"/>
              </a:rPr>
              <a:t>connect()</a:t>
            </a:r>
            <a:r>
              <a:rPr lang="en" dirty="0"/>
              <a:t> - establishes a </a:t>
            </a:r>
            <a:r>
              <a:rPr lang="en" b="1" i="1" dirty="0">
                <a:solidFill>
                  <a:srgbClr val="FF0000"/>
                </a:solidFill>
              </a:rPr>
              <a:t>connection</a:t>
            </a:r>
            <a:r>
              <a:rPr lang="en" dirty="0"/>
              <a:t> to the resource</a:t>
            </a:r>
            <a:endParaRPr dirty="0"/>
          </a:p>
          <a:p>
            <a:pPr marL="736600" lvl="1" indent="-260350" algn="l" rtl="0">
              <a:lnSpc>
                <a:spcPct val="115000"/>
              </a:lnSpc>
              <a:spcBef>
                <a:spcPts val="400"/>
              </a:spcBef>
              <a:spcAft>
                <a:spcPts val="0"/>
              </a:spcAft>
              <a:buClr>
                <a:schemeClr val="dk1"/>
              </a:buClr>
              <a:buSzPts val="1100"/>
              <a:buChar char="○"/>
            </a:pPr>
            <a:r>
              <a:rPr lang="en" dirty="0">
                <a:latin typeface="Courier New"/>
                <a:ea typeface="Courier New"/>
                <a:cs typeface="Courier New"/>
                <a:sym typeface="Courier New"/>
              </a:rPr>
              <a:t>getInputStream()</a:t>
            </a:r>
            <a:r>
              <a:rPr lang="en" dirty="0"/>
              <a:t> - returns an </a:t>
            </a:r>
            <a:r>
              <a:rPr lang="en" dirty="0">
                <a:solidFill>
                  <a:srgbClr val="FF0000"/>
                </a:solidFill>
                <a:latin typeface="Courier New"/>
                <a:ea typeface="Courier New"/>
                <a:cs typeface="Courier New"/>
                <a:sym typeface="Courier New"/>
              </a:rPr>
              <a:t>InputStream</a:t>
            </a:r>
            <a:r>
              <a:rPr lang="en" dirty="0"/>
              <a:t> that can be used to </a:t>
            </a:r>
            <a:r>
              <a:rPr lang="en" b="1" i="1" dirty="0">
                <a:solidFill>
                  <a:srgbClr val="FF0000"/>
                </a:solidFill>
              </a:rPr>
              <a:t>read</a:t>
            </a:r>
            <a:r>
              <a:rPr lang="en" dirty="0"/>
              <a:t> data from the resource (e.g. HTML)</a:t>
            </a:r>
            <a:endParaRPr dirty="0"/>
          </a:p>
          <a:p>
            <a:pPr marL="736600" lvl="1" indent="-260350" algn="l" rtl="0">
              <a:lnSpc>
                <a:spcPct val="115000"/>
              </a:lnSpc>
              <a:spcBef>
                <a:spcPts val="400"/>
              </a:spcBef>
              <a:spcAft>
                <a:spcPts val="0"/>
              </a:spcAft>
              <a:buClr>
                <a:schemeClr val="dk1"/>
              </a:buClr>
              <a:buSzPts val="1100"/>
              <a:buChar char="○"/>
            </a:pPr>
            <a:r>
              <a:rPr lang="en" dirty="0">
                <a:latin typeface="Courier New"/>
                <a:ea typeface="Courier New"/>
                <a:cs typeface="Courier New"/>
                <a:sym typeface="Courier New"/>
              </a:rPr>
              <a:t>getOutputStream()</a:t>
            </a:r>
            <a:r>
              <a:rPr lang="en" dirty="0"/>
              <a:t> - returns an </a:t>
            </a:r>
            <a:r>
              <a:rPr lang="en" dirty="0">
                <a:solidFill>
                  <a:srgbClr val="FF0000"/>
                </a:solidFill>
                <a:latin typeface="Courier New"/>
                <a:ea typeface="Courier New"/>
                <a:cs typeface="Courier New"/>
                <a:sym typeface="Courier New"/>
              </a:rPr>
              <a:t>OutputStream</a:t>
            </a:r>
            <a:r>
              <a:rPr lang="en" dirty="0"/>
              <a:t> that can be used to </a:t>
            </a:r>
            <a:r>
              <a:rPr lang="en" b="1" i="1" dirty="0">
                <a:solidFill>
                  <a:srgbClr val="FF0000"/>
                </a:solidFill>
              </a:rPr>
              <a:t>write</a:t>
            </a:r>
            <a:r>
              <a:rPr lang="en" dirty="0"/>
              <a:t> data to the resource</a:t>
            </a:r>
            <a:endParaRPr dirty="0"/>
          </a:p>
        </p:txBody>
      </p:sp>
      <p:sp>
        <p:nvSpPr>
          <p:cNvPr id="460" name="Google Shape;460;p47"/>
          <p:cNvSpPr txBox="1"/>
          <p:nvPr/>
        </p:nvSpPr>
        <p:spPr>
          <a:xfrm>
            <a:off x="5264725" y="1696800"/>
            <a:ext cx="3596400" cy="888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Each protocol defines its own message format for sending and receiving data. </a:t>
            </a:r>
            <a:endParaRPr>
              <a:solidFill>
                <a:schemeClr val="dk1"/>
              </a:solidFill>
              <a:latin typeface="Arial"/>
              <a:ea typeface="Arial"/>
              <a:cs typeface="Arial"/>
              <a:sym typeface="Arial"/>
            </a:endParaRPr>
          </a:p>
        </p:txBody>
      </p:sp>
      <p:sp>
        <p:nvSpPr>
          <p:cNvPr id="461" name="Google Shape;461;p47"/>
          <p:cNvSpPr txBox="1"/>
          <p:nvPr/>
        </p:nvSpPr>
        <p:spPr>
          <a:xfrm>
            <a:off x="5264725" y="2794800"/>
            <a:ext cx="3596400" cy="888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dirty="0">
                <a:solidFill>
                  <a:schemeClr val="dk1"/>
                </a:solidFill>
                <a:latin typeface="Arial"/>
                <a:ea typeface="Arial"/>
                <a:cs typeface="Arial"/>
                <a:sym typeface="Arial"/>
              </a:rPr>
              <a:t>Because of this, </a:t>
            </a:r>
            <a:r>
              <a:rPr lang="en" dirty="0">
                <a:solidFill>
                  <a:schemeClr val="dk1"/>
                </a:solidFill>
                <a:highlight>
                  <a:srgbClr val="FFFF00"/>
                </a:highlight>
                <a:latin typeface="Arial"/>
                <a:ea typeface="Arial"/>
                <a:cs typeface="Arial"/>
                <a:sym typeface="Arial"/>
              </a:rPr>
              <a:t>URLConnection</a:t>
            </a:r>
            <a:r>
              <a:rPr lang="en" dirty="0">
                <a:solidFill>
                  <a:schemeClr val="dk1"/>
                </a:solidFill>
                <a:latin typeface="Arial"/>
                <a:ea typeface="Arial"/>
                <a:cs typeface="Arial"/>
                <a:sym typeface="Arial"/>
              </a:rPr>
              <a:t> is an </a:t>
            </a:r>
            <a:r>
              <a:rPr lang="en" b="1" i="1" dirty="0">
                <a:solidFill>
                  <a:srgbClr val="FF0000"/>
                </a:solidFill>
                <a:latin typeface="Arial"/>
                <a:ea typeface="Arial"/>
                <a:cs typeface="Arial"/>
                <a:sym typeface="Arial"/>
              </a:rPr>
              <a:t>abstract</a:t>
            </a:r>
            <a:r>
              <a:rPr lang="en" dirty="0">
                <a:solidFill>
                  <a:schemeClr val="dk1"/>
                </a:solidFill>
                <a:latin typeface="Arial"/>
                <a:ea typeface="Arial"/>
                <a:cs typeface="Arial"/>
                <a:sym typeface="Arial"/>
              </a:rPr>
              <a:t> class. Its subclasses provide implementations for many of its methods.</a:t>
            </a:r>
            <a:endParaRPr dirty="0">
              <a:solidFill>
                <a:schemeClr val="dk1"/>
              </a:solidFill>
              <a:latin typeface="Arial"/>
              <a:ea typeface="Arial"/>
              <a:cs typeface="Arial"/>
              <a:sym typeface="Arial"/>
            </a:endParaRPr>
          </a:p>
        </p:txBody>
      </p:sp>
      <p:sp>
        <p:nvSpPr>
          <p:cNvPr id="462" name="Google Shape;462;p47"/>
          <p:cNvSpPr txBox="1"/>
          <p:nvPr/>
        </p:nvSpPr>
        <p:spPr>
          <a:xfrm>
            <a:off x="5264725" y="3892800"/>
            <a:ext cx="3596400" cy="888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dirty="0">
                <a:solidFill>
                  <a:schemeClr val="dk1"/>
                </a:solidFill>
                <a:latin typeface="Arial"/>
                <a:ea typeface="Arial"/>
                <a:cs typeface="Arial"/>
                <a:sym typeface="Arial"/>
              </a:rPr>
              <a:t>e.g. </a:t>
            </a:r>
            <a:r>
              <a:rPr lang="en" dirty="0">
                <a:solidFill>
                  <a:schemeClr val="dk1"/>
                </a:solidFill>
                <a:highlight>
                  <a:srgbClr val="FFFF00"/>
                </a:highlight>
                <a:latin typeface="Courier New"/>
                <a:ea typeface="Courier New"/>
                <a:cs typeface="Courier New"/>
                <a:sym typeface="Courier New"/>
              </a:rPr>
              <a:t>HTTPURLConnection</a:t>
            </a:r>
            <a:r>
              <a:rPr lang="en" dirty="0">
                <a:solidFill>
                  <a:schemeClr val="dk1"/>
                </a:solidFill>
                <a:latin typeface="Arial"/>
                <a:ea typeface="Arial"/>
                <a:cs typeface="Arial"/>
                <a:sym typeface="Arial"/>
              </a:rPr>
              <a:t> implements the HTTP protocol, and provides a few more HTTP-specific methods.</a:t>
            </a:r>
            <a:endParaRPr dirty="0">
              <a:solidFill>
                <a:schemeClr val="dk1"/>
              </a:solidFill>
              <a:latin typeface="Arial"/>
              <a:ea typeface="Arial"/>
              <a:cs typeface="Arial"/>
              <a:sym typeface="Arial"/>
            </a:endParaRPr>
          </a:p>
        </p:txBody>
      </p:sp>
      <p:sp>
        <p:nvSpPr>
          <p:cNvPr id="463" name="Google Shape;463;p4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0"/>
                                        </p:tgtEl>
                                        <p:attrNameLst>
                                          <p:attrName>style.visibility</p:attrName>
                                        </p:attrNameLst>
                                      </p:cBhvr>
                                      <p:to>
                                        <p:strVal val="visible"/>
                                      </p:to>
                                    </p:set>
                                    <p:animEffect transition="in" filter="fade">
                                      <p:cBhvr>
                                        <p:cTn id="7" dur="1000"/>
                                        <p:tgtEl>
                                          <p:spTgt spid="4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1"/>
                                        </p:tgtEl>
                                        <p:attrNameLst>
                                          <p:attrName>style.visibility</p:attrName>
                                        </p:attrNameLst>
                                      </p:cBhvr>
                                      <p:to>
                                        <p:strVal val="visible"/>
                                      </p:to>
                                    </p:set>
                                    <p:animEffect transition="in" filter="fade">
                                      <p:cBhvr>
                                        <p:cTn id="12" dur="1000"/>
                                        <p:tgtEl>
                                          <p:spTgt spid="4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2"/>
                                        </p:tgtEl>
                                        <p:attrNameLst>
                                          <p:attrName>style.visibility</p:attrName>
                                        </p:attrNameLst>
                                      </p:cBhvr>
                                      <p:to>
                                        <p:strVal val="visible"/>
                                      </p:to>
                                    </p:set>
                                    <p:animEffect transition="in" filter="fade">
                                      <p:cBhvr>
                                        <p:cTn id="17" dur="1000"/>
                                        <p:tgtEl>
                                          <p:spTgt spid="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8"/>
          <p:cNvSpPr txBox="1"/>
          <p:nvPr/>
        </p:nvSpPr>
        <p:spPr>
          <a:xfrm>
            <a:off x="2184000" y="1363614"/>
            <a:ext cx="4776000" cy="3636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main</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args</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throws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IOException</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solidFill>
                  <a:srgbClr val="267F99"/>
                </a:solidFill>
                <a:latin typeface="Consolas"/>
                <a:ea typeface="Consolas"/>
                <a:cs typeface="Consolas"/>
                <a:sym typeface="Consolas"/>
              </a:rPr>
              <a:t>URL</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url</a:t>
            </a:r>
            <a:r>
              <a:rPr lang="en" sz="1050" dirty="0">
                <a:latin typeface="Consolas"/>
                <a:ea typeface="Consolas"/>
                <a:cs typeface="Consolas"/>
                <a:sym typeface="Consolas"/>
              </a:rPr>
              <a:t> =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URL</a:t>
            </a:r>
            <a:r>
              <a:rPr lang="en" sz="1050" dirty="0">
                <a:latin typeface="Consolas"/>
                <a:ea typeface="Consolas"/>
                <a:cs typeface="Consolas"/>
                <a:sym typeface="Consolas"/>
              </a:rPr>
              <a:t>(</a:t>
            </a:r>
            <a:r>
              <a:rPr lang="en" sz="1050" dirty="0">
                <a:solidFill>
                  <a:srgbClr val="A31515"/>
                </a:solidFill>
                <a:latin typeface="Consolas"/>
                <a:ea typeface="Consolas"/>
                <a:cs typeface="Consolas"/>
                <a:sym typeface="Consolas"/>
              </a:rPr>
              <a:t>"</a:t>
            </a:r>
            <a:r>
              <a:rPr lang="en" sz="1050" u="sng" dirty="0">
                <a:solidFill>
                  <a:schemeClr val="hlink"/>
                </a:solidFill>
                <a:latin typeface="Consolas"/>
                <a:ea typeface="Consolas"/>
                <a:cs typeface="Consolas"/>
                <a:sym typeface="Consolas"/>
                <a:hlinkClick r:id="rId3"/>
              </a:rPr>
              <a:t>https://www.nsa.gov</a:t>
            </a:r>
            <a:r>
              <a:rPr lang="en" sz="1050" dirty="0">
                <a:solidFill>
                  <a:srgbClr val="A31515"/>
                </a:solidFill>
                <a:latin typeface="Consolas"/>
                <a:ea typeface="Consolas"/>
                <a:cs typeface="Consolas"/>
                <a:sym typeface="Consolas"/>
              </a:rPr>
              <a: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4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URLConnection</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connection</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url</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openConnection</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5  </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connection</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connect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6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7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InputStream</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in</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connection</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getInputStream</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8</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9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Scanner</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scanner</a:t>
            </a:r>
            <a:r>
              <a:rPr lang="en" sz="1050" dirty="0">
                <a:latin typeface="Consolas"/>
                <a:ea typeface="Consolas"/>
                <a:cs typeface="Consolas"/>
                <a:sym typeface="Consolas"/>
              </a:rPr>
              <a:t> =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Scanner</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in</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10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11  </a:t>
            </a:r>
            <a:r>
              <a:rPr lang="en" sz="1050" dirty="0">
                <a:latin typeface="Consolas"/>
                <a:ea typeface="Consolas"/>
                <a:cs typeface="Consolas"/>
                <a:sym typeface="Consolas"/>
              </a:rPr>
              <a:t>  </a:t>
            </a:r>
            <a:r>
              <a:rPr lang="en" sz="1050" dirty="0">
                <a:solidFill>
                  <a:srgbClr val="AF00DB"/>
                </a:solidFill>
                <a:latin typeface="Consolas"/>
                <a:ea typeface="Consolas"/>
                <a:cs typeface="Consolas"/>
                <a:sym typeface="Consolas"/>
              </a:rPr>
              <a:t>while</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scanner</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hasNext</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12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System</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scanner</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nextLine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13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14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15 </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scanner</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close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16 </a:t>
            </a:r>
            <a:r>
              <a:rPr lang="en" sz="1050" dirty="0">
                <a:latin typeface="Consolas"/>
                <a:ea typeface="Consolas"/>
                <a:cs typeface="Consolas"/>
                <a:sym typeface="Consolas"/>
              </a:rPr>
              <a:t>}</a:t>
            </a:r>
            <a:endParaRPr sz="1050" dirty="0">
              <a:latin typeface="Consolas"/>
              <a:ea typeface="Consolas"/>
              <a:cs typeface="Consolas"/>
              <a:sym typeface="Consolas"/>
            </a:endParaRPr>
          </a:p>
        </p:txBody>
      </p:sp>
      <p:sp>
        <p:nvSpPr>
          <p:cNvPr id="469" name="Google Shape;469;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70" name="Google Shape;470;p48"/>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a:t>
            </a:r>
            <a:r>
              <a:rPr lang="en">
                <a:latin typeface="Courier New"/>
                <a:ea typeface="Courier New"/>
                <a:cs typeface="Courier New"/>
                <a:sym typeface="Courier New"/>
              </a:rPr>
              <a:t>URL</a:t>
            </a:r>
            <a:r>
              <a:rPr lang="en"/>
              <a:t> &amp; </a:t>
            </a:r>
            <a:r>
              <a:rPr lang="en">
                <a:latin typeface="Courier New"/>
                <a:ea typeface="Courier New"/>
                <a:cs typeface="Courier New"/>
                <a:sym typeface="Courier New"/>
              </a:rPr>
              <a:t>URLConnection</a:t>
            </a:r>
            <a:endParaRPr>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9"/>
          <p:cNvSpPr txBox="1"/>
          <p:nvPr/>
        </p:nvSpPr>
        <p:spPr>
          <a:xfrm>
            <a:off x="2184000" y="1363614"/>
            <a:ext cx="4776000" cy="3636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main</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args</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throws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IOException</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solidFill>
                  <a:srgbClr val="267F99"/>
                </a:solidFill>
                <a:latin typeface="Consolas"/>
                <a:ea typeface="Consolas"/>
                <a:cs typeface="Consolas"/>
                <a:sym typeface="Consolas"/>
              </a:rPr>
              <a:t>URL</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url</a:t>
            </a:r>
            <a:r>
              <a:rPr lang="en" sz="1050" dirty="0">
                <a:latin typeface="Consolas"/>
                <a:ea typeface="Consolas"/>
                <a:cs typeface="Consolas"/>
                <a:sym typeface="Consolas"/>
              </a:rPr>
              <a:t> =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URL</a:t>
            </a:r>
            <a:r>
              <a:rPr lang="en" sz="1050" dirty="0">
                <a:latin typeface="Consolas"/>
                <a:ea typeface="Consolas"/>
                <a:cs typeface="Consolas"/>
                <a:sym typeface="Consolas"/>
              </a:rPr>
              <a:t>(</a:t>
            </a:r>
            <a:r>
              <a:rPr lang="en" sz="1050" dirty="0">
                <a:solidFill>
                  <a:srgbClr val="A31515"/>
                </a:solidFill>
                <a:latin typeface="Consolas"/>
                <a:ea typeface="Consolas"/>
                <a:cs typeface="Consolas"/>
                <a:sym typeface="Consolas"/>
              </a:rPr>
              <a:t>"</a:t>
            </a:r>
            <a:r>
              <a:rPr lang="en" sz="1050" u="sng" dirty="0">
                <a:solidFill>
                  <a:schemeClr val="hlink"/>
                </a:solidFill>
                <a:latin typeface="Consolas"/>
                <a:ea typeface="Consolas"/>
                <a:cs typeface="Consolas"/>
                <a:sym typeface="Consolas"/>
                <a:hlinkClick r:id="rId3"/>
              </a:rPr>
              <a:t>https://www.nsa.gov</a:t>
            </a:r>
            <a:r>
              <a:rPr lang="en" sz="1050" dirty="0">
                <a:solidFill>
                  <a:srgbClr val="A31515"/>
                </a:solidFill>
                <a:latin typeface="Consolas"/>
                <a:ea typeface="Consolas"/>
                <a:cs typeface="Consolas"/>
                <a:sym typeface="Consolas"/>
              </a:rPr>
              <a: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4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URLConnection</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connection</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url</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openConnection</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5  </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connection</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connect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6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7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InputStream</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in</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connection</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getInputStream</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8</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9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Scanner</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scanner</a:t>
            </a:r>
            <a:r>
              <a:rPr lang="en" sz="1050" dirty="0">
                <a:latin typeface="Consolas"/>
                <a:ea typeface="Consolas"/>
                <a:cs typeface="Consolas"/>
                <a:sym typeface="Consolas"/>
              </a:rPr>
              <a:t> =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Scanner</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in</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10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11  </a:t>
            </a:r>
            <a:r>
              <a:rPr lang="en" sz="1050" dirty="0">
                <a:latin typeface="Consolas"/>
                <a:ea typeface="Consolas"/>
                <a:cs typeface="Consolas"/>
                <a:sym typeface="Consolas"/>
              </a:rPr>
              <a:t>  </a:t>
            </a:r>
            <a:r>
              <a:rPr lang="en" sz="1050" dirty="0">
                <a:solidFill>
                  <a:srgbClr val="AF00DB"/>
                </a:solidFill>
                <a:latin typeface="Consolas"/>
                <a:ea typeface="Consolas"/>
                <a:cs typeface="Consolas"/>
                <a:sym typeface="Consolas"/>
              </a:rPr>
              <a:t>while</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scanner</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hasNext</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12 </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System</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scanner</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nextLine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13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14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15 </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scanner</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close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16 </a:t>
            </a:r>
            <a:r>
              <a:rPr lang="en" sz="1050" dirty="0">
                <a:latin typeface="Consolas"/>
                <a:ea typeface="Consolas"/>
                <a:cs typeface="Consolas"/>
                <a:sym typeface="Consolas"/>
              </a:rPr>
              <a:t>}</a:t>
            </a:r>
            <a:endParaRPr sz="1050" dirty="0">
              <a:latin typeface="Consolas"/>
              <a:ea typeface="Consolas"/>
              <a:cs typeface="Consolas"/>
              <a:sym typeface="Consolas"/>
            </a:endParaRPr>
          </a:p>
        </p:txBody>
      </p:sp>
      <p:sp>
        <p:nvSpPr>
          <p:cNvPr id="476" name="Google Shape;476;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477" name="Google Shape;477;p49"/>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a:t>
            </a:r>
            <a:r>
              <a:rPr lang="en">
                <a:latin typeface="Courier New"/>
                <a:ea typeface="Courier New"/>
                <a:cs typeface="Courier New"/>
                <a:sym typeface="Courier New"/>
              </a:rPr>
              <a:t>URL</a:t>
            </a:r>
            <a:r>
              <a:rPr lang="en"/>
              <a:t> &amp; </a:t>
            </a:r>
            <a:r>
              <a:rPr lang="en">
                <a:latin typeface="Courier New"/>
                <a:ea typeface="Courier New"/>
                <a:cs typeface="Courier New"/>
                <a:sym typeface="Courier New"/>
              </a:rPr>
              <a:t>URLConnection</a:t>
            </a:r>
            <a:endParaRPr>
              <a:latin typeface="Courier New"/>
              <a:ea typeface="Courier New"/>
              <a:cs typeface="Courier New"/>
              <a:sym typeface="Courier New"/>
            </a:endParaRPr>
          </a:p>
        </p:txBody>
      </p:sp>
      <p:sp>
        <p:nvSpPr>
          <p:cNvPr id="478" name="Google Shape;478;p49"/>
          <p:cNvSpPr txBox="1"/>
          <p:nvPr/>
        </p:nvSpPr>
        <p:spPr>
          <a:xfrm>
            <a:off x="150375" y="1422924"/>
            <a:ext cx="21552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There is more than one way to create a URL, but the easiest is to use a string.</a:t>
            </a:r>
            <a:endParaRPr sz="1100" dirty="0">
              <a:latin typeface="Roboto"/>
              <a:ea typeface="Roboto"/>
              <a:cs typeface="Roboto"/>
              <a:sym typeface="Roboto"/>
            </a:endParaRPr>
          </a:p>
        </p:txBody>
      </p:sp>
      <p:sp>
        <p:nvSpPr>
          <p:cNvPr id="479" name="Google Shape;479;p49"/>
          <p:cNvSpPr txBox="1"/>
          <p:nvPr/>
        </p:nvSpPr>
        <p:spPr>
          <a:xfrm>
            <a:off x="150375" y="2236063"/>
            <a:ext cx="21552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Once you have created a URL you can use it to open a </a:t>
            </a:r>
            <a:r>
              <a:rPr lang="en" sz="1100">
                <a:latin typeface="Courier New"/>
                <a:ea typeface="Courier New"/>
                <a:cs typeface="Courier New"/>
                <a:sym typeface="Courier New"/>
              </a:rPr>
              <a:t>URLConnection</a:t>
            </a:r>
            <a:r>
              <a:rPr lang="en" sz="1100">
                <a:latin typeface="Roboto"/>
                <a:ea typeface="Roboto"/>
                <a:cs typeface="Roboto"/>
                <a:sym typeface="Roboto"/>
              </a:rPr>
              <a:t> and connect it to the resource..</a:t>
            </a:r>
            <a:endParaRPr sz="1100">
              <a:latin typeface="Roboto"/>
              <a:ea typeface="Roboto"/>
              <a:cs typeface="Roboto"/>
              <a:sym typeface="Roboto"/>
            </a:endParaRPr>
          </a:p>
        </p:txBody>
      </p:sp>
      <p:grpSp>
        <p:nvGrpSpPr>
          <p:cNvPr id="480" name="Google Shape;480;p49"/>
          <p:cNvGrpSpPr/>
          <p:nvPr/>
        </p:nvGrpSpPr>
        <p:grpSpPr>
          <a:xfrm>
            <a:off x="2305575" y="2102093"/>
            <a:ext cx="3902900" cy="564919"/>
            <a:chOff x="2305575" y="2102093"/>
            <a:chExt cx="3902900" cy="564919"/>
          </a:xfrm>
        </p:grpSpPr>
        <p:sp>
          <p:nvSpPr>
            <p:cNvPr id="481" name="Google Shape;481;p49"/>
            <p:cNvSpPr/>
            <p:nvPr/>
          </p:nvSpPr>
          <p:spPr>
            <a:xfrm>
              <a:off x="2667875" y="2102093"/>
              <a:ext cx="3540600" cy="393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2" name="Google Shape;482;p49"/>
            <p:cNvCxnSpPr>
              <a:stCxn id="479" idx="3"/>
              <a:endCxn id="481" idx="1"/>
            </p:cNvCxnSpPr>
            <p:nvPr/>
          </p:nvCxnSpPr>
          <p:spPr>
            <a:xfrm rot="10800000" flipH="1">
              <a:off x="2305575" y="2298913"/>
              <a:ext cx="362400" cy="368100"/>
            </a:xfrm>
            <a:prstGeom prst="bentConnector3">
              <a:avLst>
                <a:gd name="adj1" fmla="val 49986"/>
              </a:avLst>
            </a:prstGeom>
            <a:noFill/>
            <a:ln w="19050" cap="flat" cmpd="sng">
              <a:solidFill>
                <a:srgbClr val="FF0000"/>
              </a:solidFill>
              <a:prstDash val="solid"/>
              <a:round/>
              <a:headEnd type="none" w="med" len="med"/>
              <a:tailEnd type="none" w="med" len="med"/>
            </a:ln>
          </p:spPr>
        </p:cxnSp>
      </p:grpSp>
      <p:sp>
        <p:nvSpPr>
          <p:cNvPr id="483" name="Google Shape;483;p49"/>
          <p:cNvSpPr txBox="1"/>
          <p:nvPr/>
        </p:nvSpPr>
        <p:spPr>
          <a:xfrm>
            <a:off x="150375" y="3218400"/>
            <a:ext cx="2155200" cy="1031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Once connected, the </a:t>
            </a:r>
            <a:r>
              <a:rPr lang="en" sz="1100">
                <a:latin typeface="Courier New"/>
                <a:ea typeface="Courier New"/>
                <a:cs typeface="Courier New"/>
                <a:sym typeface="Courier New"/>
              </a:rPr>
              <a:t>URLConnection</a:t>
            </a:r>
            <a:r>
              <a:rPr lang="en" sz="1100">
                <a:latin typeface="Roboto"/>
                <a:ea typeface="Roboto"/>
                <a:cs typeface="Roboto"/>
                <a:sym typeface="Roboto"/>
              </a:rPr>
              <a:t> can be used to get an </a:t>
            </a:r>
            <a:r>
              <a:rPr lang="en" sz="1100">
                <a:latin typeface="Courier New"/>
                <a:ea typeface="Courier New"/>
                <a:cs typeface="Courier New"/>
                <a:sym typeface="Courier New"/>
              </a:rPr>
              <a:t>InputStream</a:t>
            </a:r>
            <a:r>
              <a:rPr lang="en" sz="1100">
                <a:latin typeface="Roboto"/>
                <a:ea typeface="Roboto"/>
                <a:cs typeface="Roboto"/>
                <a:sym typeface="Roboto"/>
              </a:rPr>
              <a:t> to read the resource on the other end of the connection.</a:t>
            </a:r>
            <a:endParaRPr sz="1100">
              <a:latin typeface="Roboto"/>
              <a:ea typeface="Roboto"/>
              <a:cs typeface="Roboto"/>
              <a:sym typeface="Roboto"/>
            </a:endParaRPr>
          </a:p>
        </p:txBody>
      </p:sp>
      <p:grpSp>
        <p:nvGrpSpPr>
          <p:cNvPr id="484" name="Google Shape;484;p49"/>
          <p:cNvGrpSpPr/>
          <p:nvPr/>
        </p:nvGrpSpPr>
        <p:grpSpPr>
          <a:xfrm>
            <a:off x="2305575" y="2728163"/>
            <a:ext cx="3745100" cy="1005937"/>
            <a:chOff x="2305575" y="2728163"/>
            <a:chExt cx="3745100" cy="1005937"/>
          </a:xfrm>
        </p:grpSpPr>
        <p:sp>
          <p:nvSpPr>
            <p:cNvPr id="485" name="Google Shape;485;p49"/>
            <p:cNvSpPr/>
            <p:nvPr/>
          </p:nvSpPr>
          <p:spPr>
            <a:xfrm>
              <a:off x="2667875" y="2728163"/>
              <a:ext cx="3382800" cy="21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6" name="Google Shape;486;p49"/>
            <p:cNvCxnSpPr>
              <a:stCxn id="483" idx="3"/>
              <a:endCxn id="485" idx="1"/>
            </p:cNvCxnSpPr>
            <p:nvPr/>
          </p:nvCxnSpPr>
          <p:spPr>
            <a:xfrm rot="10800000" flipH="1">
              <a:off x="2305575" y="2834700"/>
              <a:ext cx="362400" cy="899400"/>
            </a:xfrm>
            <a:prstGeom prst="bentConnector3">
              <a:avLst>
                <a:gd name="adj1" fmla="val 49986"/>
              </a:avLst>
            </a:prstGeom>
            <a:noFill/>
            <a:ln w="19050" cap="flat" cmpd="sng">
              <a:solidFill>
                <a:srgbClr val="FF0000"/>
              </a:solidFill>
              <a:prstDash val="solid"/>
              <a:round/>
              <a:headEnd type="none" w="med" len="med"/>
              <a:tailEnd type="none" w="med" len="med"/>
            </a:ln>
          </p:spPr>
        </p:cxnSp>
      </p:grpSp>
      <p:sp>
        <p:nvSpPr>
          <p:cNvPr id="487" name="Google Shape;487;p49"/>
          <p:cNvSpPr txBox="1"/>
          <p:nvPr/>
        </p:nvSpPr>
        <p:spPr>
          <a:xfrm>
            <a:off x="6680775" y="2641950"/>
            <a:ext cx="22860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a:latin typeface="Courier New"/>
                <a:ea typeface="Courier New"/>
                <a:cs typeface="Courier New"/>
                <a:sym typeface="Courier New"/>
              </a:rPr>
              <a:t>InputStream</a:t>
            </a:r>
            <a:r>
              <a:rPr lang="en" sz="1100">
                <a:latin typeface="Roboto"/>
                <a:ea typeface="Roboto"/>
                <a:cs typeface="Roboto"/>
                <a:sym typeface="Roboto"/>
              </a:rPr>
              <a:t> can be used with a </a:t>
            </a:r>
            <a:r>
              <a:rPr lang="en" sz="1100">
                <a:latin typeface="Courier New"/>
                <a:ea typeface="Courier New"/>
                <a:cs typeface="Courier New"/>
                <a:sym typeface="Courier New"/>
              </a:rPr>
              <a:t>Scanner</a:t>
            </a:r>
            <a:r>
              <a:rPr lang="en" sz="1100">
                <a:latin typeface="Roboto"/>
                <a:ea typeface="Roboto"/>
                <a:cs typeface="Roboto"/>
                <a:sym typeface="Roboto"/>
              </a:rPr>
              <a:t> or a </a:t>
            </a:r>
            <a:r>
              <a:rPr lang="en" sz="1100">
                <a:latin typeface="Courier New"/>
                <a:ea typeface="Courier New"/>
                <a:cs typeface="Courier New"/>
                <a:sym typeface="Courier New"/>
              </a:rPr>
              <a:t>BufferedReader</a:t>
            </a:r>
            <a:r>
              <a:rPr lang="en" sz="1100">
                <a:latin typeface="Roboto"/>
                <a:ea typeface="Roboto"/>
                <a:cs typeface="Roboto"/>
                <a:sym typeface="Roboto"/>
              </a:rPr>
              <a:t> (just like a file).</a:t>
            </a:r>
            <a:endParaRPr sz="1100">
              <a:latin typeface="Roboto"/>
              <a:ea typeface="Roboto"/>
              <a:cs typeface="Roboto"/>
              <a:sym typeface="Roboto"/>
            </a:endParaRPr>
          </a:p>
        </p:txBody>
      </p:sp>
      <p:grpSp>
        <p:nvGrpSpPr>
          <p:cNvPr id="488" name="Google Shape;488;p49"/>
          <p:cNvGrpSpPr/>
          <p:nvPr/>
        </p:nvGrpSpPr>
        <p:grpSpPr>
          <a:xfrm>
            <a:off x="2667875" y="3072900"/>
            <a:ext cx="4012900" cy="1645500"/>
            <a:chOff x="2667875" y="3072900"/>
            <a:chExt cx="4012900" cy="1645500"/>
          </a:xfrm>
        </p:grpSpPr>
        <p:sp>
          <p:nvSpPr>
            <p:cNvPr id="489" name="Google Shape;489;p49"/>
            <p:cNvSpPr/>
            <p:nvPr/>
          </p:nvSpPr>
          <p:spPr>
            <a:xfrm>
              <a:off x="2667875" y="3178200"/>
              <a:ext cx="3210900" cy="1540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0" name="Google Shape;490;p49"/>
            <p:cNvCxnSpPr>
              <a:stCxn id="487" idx="1"/>
              <a:endCxn id="489" idx="3"/>
            </p:cNvCxnSpPr>
            <p:nvPr/>
          </p:nvCxnSpPr>
          <p:spPr>
            <a:xfrm flipH="1">
              <a:off x="5878875" y="3072900"/>
              <a:ext cx="801900" cy="875400"/>
            </a:xfrm>
            <a:prstGeom prst="bentConnector3">
              <a:avLst>
                <a:gd name="adj1" fmla="val 50006"/>
              </a:avLst>
            </a:prstGeom>
            <a:noFill/>
            <a:ln w="19050" cap="flat" cmpd="sng">
              <a:solidFill>
                <a:srgbClr val="FF0000"/>
              </a:solidFill>
              <a:prstDash val="solid"/>
              <a:round/>
              <a:headEnd type="none" w="med" len="med"/>
              <a:tailEnd type="none" w="med" len="med"/>
            </a:ln>
          </p:spPr>
        </p:cxnSp>
      </p:grpSp>
      <p:grpSp>
        <p:nvGrpSpPr>
          <p:cNvPr id="491" name="Google Shape;491;p49"/>
          <p:cNvGrpSpPr/>
          <p:nvPr/>
        </p:nvGrpSpPr>
        <p:grpSpPr>
          <a:xfrm>
            <a:off x="2305575" y="1659221"/>
            <a:ext cx="3487450" cy="214800"/>
            <a:chOff x="2305575" y="1659221"/>
            <a:chExt cx="3487450" cy="214800"/>
          </a:xfrm>
        </p:grpSpPr>
        <p:sp>
          <p:nvSpPr>
            <p:cNvPr id="492" name="Google Shape;492;p49"/>
            <p:cNvSpPr/>
            <p:nvPr/>
          </p:nvSpPr>
          <p:spPr>
            <a:xfrm>
              <a:off x="2663725" y="1659221"/>
              <a:ext cx="3129300" cy="214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3" name="Google Shape;493;p49"/>
            <p:cNvCxnSpPr>
              <a:stCxn id="478" idx="3"/>
              <a:endCxn id="492" idx="1"/>
            </p:cNvCxnSpPr>
            <p:nvPr/>
          </p:nvCxnSpPr>
          <p:spPr>
            <a:xfrm rot="10800000" flipH="1">
              <a:off x="2305575" y="1766574"/>
              <a:ext cx="358200" cy="270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7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9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79"/>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48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3"/>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48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87"/>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4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50"/>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URLConnection</a:t>
            </a:r>
            <a:endParaRPr sz="3400"/>
          </a:p>
        </p:txBody>
      </p:sp>
      <p:sp>
        <p:nvSpPr>
          <p:cNvPr id="499" name="Google Shape;499;p50"/>
          <p:cNvSpPr txBox="1">
            <a:spLocks noGrp="1"/>
          </p:cNvSpPr>
          <p:nvPr>
            <p:ph type="body" idx="1"/>
          </p:nvPr>
        </p:nvSpPr>
        <p:spPr>
          <a:xfrm>
            <a:off x="65250" y="731625"/>
            <a:ext cx="8955900" cy="1046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Clr>
                <a:srgbClr val="000000"/>
              </a:buClr>
              <a:buSzPts val="1400"/>
              <a:buNone/>
            </a:pPr>
            <a:r>
              <a:rPr lang="en" sz="1400"/>
              <a:t>The URL and URLConnection classes can be used to connect to and read any resource available on the public internet, including HTML pages, images, video, and sound. Use the classes to open a connection to your favorite search engine and print the front page to standard output. The output will be formatted as HTML and may not make a lot of sense to you.</a:t>
            </a:r>
            <a:endParaRPr sz="1400"/>
          </a:p>
        </p:txBody>
      </p:sp>
      <p:sp>
        <p:nvSpPr>
          <p:cNvPr id="500" name="Google Shape;500;p50"/>
          <p:cNvSpPr txBox="1">
            <a:spLocks noGrp="1"/>
          </p:cNvSpPr>
          <p:nvPr>
            <p:ph type="body" idx="2"/>
          </p:nvPr>
        </p:nvSpPr>
        <p:spPr>
          <a:xfrm>
            <a:off x="3923975" y="1830200"/>
            <a:ext cx="5017200" cy="2947500"/>
          </a:xfrm>
          <a:prstGeom prst="rect">
            <a:avLst/>
          </a:prstGeom>
          <a:noFill/>
          <a:ln>
            <a:noFill/>
          </a:ln>
        </p:spPr>
        <p:txBody>
          <a:bodyPr spcFirstLastPara="1" wrap="square" lIns="68575" tIns="34275" rIns="68575" bIns="34275" anchor="t" anchorCtr="0">
            <a:spAutoFit/>
          </a:bodyPr>
          <a:lstStyle/>
          <a:p>
            <a:pPr marL="457200" lvl="0" indent="-323850" algn="l" rtl="0">
              <a:lnSpc>
                <a:spcPct val="100000"/>
              </a:lnSpc>
              <a:spcBef>
                <a:spcPts val="0"/>
              </a:spcBef>
              <a:spcAft>
                <a:spcPts val="0"/>
              </a:spcAft>
              <a:buSzPts val="1500"/>
              <a:buChar char="●"/>
            </a:pPr>
            <a:r>
              <a:rPr lang="en" sz="1500" dirty="0"/>
              <a:t>In </a:t>
            </a:r>
            <a:r>
              <a:rPr lang="en" sz="1500" dirty="0">
                <a:latin typeface="Courier New"/>
                <a:ea typeface="Courier New"/>
                <a:cs typeface="Courier New"/>
                <a:sym typeface="Courier New"/>
              </a:rPr>
              <a:t>activities</a:t>
            </a:r>
            <a:r>
              <a:rPr lang="en" sz="1500" dirty="0"/>
              <a:t>, create a new "</a:t>
            </a:r>
            <a:r>
              <a:rPr lang="en" sz="1500" dirty="0">
                <a:solidFill>
                  <a:srgbClr val="FF0000"/>
                </a:solidFill>
                <a:latin typeface="Courier New"/>
                <a:ea typeface="Courier New"/>
                <a:cs typeface="Courier New"/>
                <a:sym typeface="Courier New"/>
              </a:rPr>
              <a:t>SearchPrinter.java</a:t>
            </a:r>
            <a:r>
              <a:rPr lang="en" sz="1500" dirty="0"/>
              <a:t>" file</a:t>
            </a:r>
            <a:endParaRPr sz="1500" dirty="0"/>
          </a:p>
          <a:p>
            <a:pPr marL="457200" lvl="0" indent="-323850" algn="l" rtl="0">
              <a:lnSpc>
                <a:spcPct val="100000"/>
              </a:lnSpc>
              <a:spcBef>
                <a:spcPts val="0"/>
              </a:spcBef>
              <a:spcAft>
                <a:spcPts val="0"/>
              </a:spcAft>
              <a:buSzPts val="1500"/>
              <a:buChar char="●"/>
            </a:pPr>
            <a:r>
              <a:rPr lang="en" sz="1500" dirty="0"/>
              <a:t>Use the </a:t>
            </a:r>
            <a:r>
              <a:rPr lang="en" sz="1500" dirty="0">
                <a:latin typeface="Courier New"/>
                <a:ea typeface="Courier New"/>
                <a:cs typeface="Courier New"/>
                <a:sym typeface="Courier New"/>
              </a:rPr>
              <a:t>URL</a:t>
            </a:r>
            <a:r>
              <a:rPr lang="en" sz="1500" dirty="0"/>
              <a:t> class to print the landing page from your favorite search engine</a:t>
            </a:r>
            <a:endParaRPr sz="1500" dirty="0"/>
          </a:p>
          <a:p>
            <a:pPr marL="914400" lvl="1" indent="-311150" algn="l" rtl="0">
              <a:lnSpc>
                <a:spcPct val="100000"/>
              </a:lnSpc>
              <a:spcBef>
                <a:spcPts val="0"/>
              </a:spcBef>
              <a:spcAft>
                <a:spcPts val="0"/>
              </a:spcAft>
              <a:buSzPts val="1300"/>
              <a:buChar char="○"/>
            </a:pPr>
            <a:r>
              <a:rPr lang="en" sz="1300" dirty="0"/>
              <a:t>I.E. </a:t>
            </a:r>
            <a:r>
              <a:rPr lang="en" sz="1300" u="sng" dirty="0">
                <a:solidFill>
                  <a:schemeClr val="hlink"/>
                </a:solidFill>
                <a:hlinkClick r:id="rId3"/>
              </a:rPr>
              <a:t>https://search.yahoo.com</a:t>
            </a:r>
            <a:r>
              <a:rPr lang="en" sz="1300" dirty="0"/>
              <a:t>, </a:t>
            </a:r>
            <a:r>
              <a:rPr lang="en" sz="1300" u="sng" dirty="0">
                <a:solidFill>
                  <a:schemeClr val="hlink"/>
                </a:solidFill>
                <a:hlinkClick r:id="rId4"/>
              </a:rPr>
              <a:t>https://www.google.com</a:t>
            </a:r>
            <a:r>
              <a:rPr lang="en" sz="1300" dirty="0"/>
              <a:t>, </a:t>
            </a:r>
            <a:r>
              <a:rPr lang="en" sz="1300" u="sng" dirty="0">
                <a:solidFill>
                  <a:schemeClr val="hlink"/>
                </a:solidFill>
                <a:hlinkClick r:id="rId5"/>
              </a:rPr>
              <a:t>https://www.bing.com</a:t>
            </a:r>
            <a:r>
              <a:rPr lang="en" sz="1300" dirty="0"/>
              <a:t>, etc.</a:t>
            </a:r>
            <a:endParaRPr sz="1300" dirty="0"/>
          </a:p>
          <a:p>
            <a:pPr marL="457200" lvl="0" indent="-323850" algn="l" rtl="0">
              <a:lnSpc>
                <a:spcPct val="100000"/>
              </a:lnSpc>
              <a:spcBef>
                <a:spcPts val="0"/>
              </a:spcBef>
              <a:spcAft>
                <a:spcPts val="0"/>
              </a:spcAft>
              <a:buSzPts val="1500"/>
              <a:buChar char="●"/>
            </a:pPr>
            <a:r>
              <a:rPr lang="en" sz="1500" dirty="0"/>
              <a:t>Start by forming a connection with the URL using </a:t>
            </a:r>
            <a:r>
              <a:rPr lang="en" sz="1500" dirty="0">
                <a:latin typeface="Courier New"/>
                <a:ea typeface="Courier New"/>
                <a:cs typeface="Courier New"/>
                <a:sym typeface="Courier New"/>
              </a:rPr>
              <a:t>openConnection()</a:t>
            </a:r>
            <a:r>
              <a:rPr lang="en" sz="1500" dirty="0"/>
              <a:t> and </a:t>
            </a:r>
            <a:r>
              <a:rPr lang="en" sz="1500" dirty="0">
                <a:latin typeface="Courier New"/>
                <a:ea typeface="Courier New"/>
                <a:cs typeface="Courier New"/>
                <a:sym typeface="Courier New"/>
              </a:rPr>
              <a:t>connect()</a:t>
            </a:r>
            <a:endParaRPr sz="1500" dirty="0">
              <a:latin typeface="Courier New"/>
              <a:ea typeface="Courier New"/>
              <a:cs typeface="Courier New"/>
              <a:sym typeface="Courier New"/>
            </a:endParaRPr>
          </a:p>
          <a:p>
            <a:pPr marL="457200" lvl="0" indent="-323850" algn="l" rtl="0">
              <a:lnSpc>
                <a:spcPct val="100000"/>
              </a:lnSpc>
              <a:spcBef>
                <a:spcPts val="0"/>
              </a:spcBef>
              <a:spcAft>
                <a:spcPts val="0"/>
              </a:spcAft>
              <a:buSzPts val="1500"/>
              <a:buChar char="●"/>
            </a:pPr>
            <a:r>
              <a:rPr lang="en" sz="1500" dirty="0"/>
              <a:t>Then get an </a:t>
            </a:r>
            <a:r>
              <a:rPr lang="en" sz="1500" dirty="0">
                <a:latin typeface="Courier New"/>
                <a:ea typeface="Courier New"/>
                <a:cs typeface="Courier New"/>
                <a:sym typeface="Courier New"/>
              </a:rPr>
              <a:t>InputStream</a:t>
            </a:r>
            <a:r>
              <a:rPr lang="en" sz="1500" dirty="0"/>
              <a:t> from the connection, wrap it in a </a:t>
            </a:r>
            <a:r>
              <a:rPr lang="en" sz="1500" dirty="0">
                <a:latin typeface="Courier New"/>
                <a:ea typeface="Courier New"/>
                <a:cs typeface="Courier New"/>
                <a:sym typeface="Courier New"/>
              </a:rPr>
              <a:t>BufferedReader</a:t>
            </a:r>
            <a:r>
              <a:rPr lang="en" sz="1500" dirty="0"/>
              <a:t>, and print out all the lines returned</a:t>
            </a:r>
            <a:endParaRPr sz="1500" dirty="0"/>
          </a:p>
          <a:p>
            <a:pPr marL="914400" lvl="1" indent="-311150" algn="l" rtl="0">
              <a:lnSpc>
                <a:spcPct val="100000"/>
              </a:lnSpc>
              <a:spcBef>
                <a:spcPts val="0"/>
              </a:spcBef>
              <a:spcAft>
                <a:spcPts val="0"/>
              </a:spcAft>
              <a:buSzPts val="1300"/>
              <a:buChar char="○"/>
            </a:pPr>
            <a:r>
              <a:rPr lang="en" sz="1300" dirty="0"/>
              <a:t>This would be a great time to refresh your memory on using </a:t>
            </a:r>
            <a:r>
              <a:rPr lang="en" sz="1300" dirty="0">
                <a:latin typeface="Courier New"/>
                <a:ea typeface="Courier New"/>
                <a:cs typeface="Courier New"/>
                <a:sym typeface="Courier New"/>
              </a:rPr>
              <a:t>Stream</a:t>
            </a:r>
            <a:r>
              <a:rPr lang="en" sz="1300" dirty="0"/>
              <a:t>s to work with data.</a:t>
            </a:r>
            <a:endParaRPr sz="1300" dirty="0"/>
          </a:p>
        </p:txBody>
      </p:sp>
      <p:sp>
        <p:nvSpPr>
          <p:cNvPr id="501" name="Google Shape;501;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502" name="Google Shape;502;p5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9.3</a:t>
            </a:r>
            <a:endParaRPr/>
          </a:p>
        </p:txBody>
      </p:sp>
      <p:sp>
        <p:nvSpPr>
          <p:cNvPr id="503" name="Google Shape;503;p50"/>
          <p:cNvSpPr txBox="1"/>
          <p:nvPr/>
        </p:nvSpPr>
        <p:spPr>
          <a:xfrm>
            <a:off x="193175" y="1830200"/>
            <a:ext cx="3659100" cy="3109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dirty="0">
                <a:solidFill>
                  <a:srgbClr val="0000FF"/>
                </a:solidFill>
                <a:latin typeface="Consolas"/>
                <a:ea typeface="Consolas"/>
                <a:cs typeface="Consolas"/>
                <a:sym typeface="Consolas"/>
              </a:rPr>
              <a:t>public</a:t>
            </a:r>
            <a:r>
              <a:rPr lang="en" sz="950" dirty="0">
                <a:latin typeface="Consolas"/>
                <a:ea typeface="Consolas"/>
                <a:cs typeface="Consolas"/>
                <a:sym typeface="Consolas"/>
              </a:rPr>
              <a:t> </a:t>
            </a:r>
            <a:r>
              <a:rPr lang="en" sz="950" dirty="0">
                <a:solidFill>
                  <a:srgbClr val="0000FF"/>
                </a:solidFill>
                <a:latin typeface="Consolas"/>
                <a:ea typeface="Consolas"/>
                <a:cs typeface="Consolas"/>
                <a:sym typeface="Consolas"/>
              </a:rPr>
              <a:t>static</a:t>
            </a:r>
            <a:r>
              <a:rPr lang="en" sz="950" dirty="0">
                <a:latin typeface="Consolas"/>
                <a:ea typeface="Consolas"/>
                <a:cs typeface="Consolas"/>
                <a:sym typeface="Consolas"/>
              </a:rPr>
              <a:t> </a:t>
            </a:r>
            <a:r>
              <a:rPr lang="en" sz="950" dirty="0">
                <a:solidFill>
                  <a:srgbClr val="267F99"/>
                </a:solidFill>
                <a:latin typeface="Consolas"/>
                <a:ea typeface="Consolas"/>
                <a:cs typeface="Consolas"/>
                <a:sym typeface="Consolas"/>
              </a:rPr>
              <a:t>void</a:t>
            </a:r>
            <a:r>
              <a:rPr lang="en" sz="950" dirty="0">
                <a:latin typeface="Consolas"/>
                <a:ea typeface="Consolas"/>
                <a:cs typeface="Consolas"/>
                <a:sym typeface="Consolas"/>
              </a:rPr>
              <a:t> </a:t>
            </a:r>
            <a:r>
              <a:rPr lang="en" sz="950" dirty="0">
                <a:solidFill>
                  <a:srgbClr val="795E26"/>
                </a:solidFill>
                <a:latin typeface="Consolas"/>
                <a:ea typeface="Consolas"/>
                <a:cs typeface="Consolas"/>
                <a:sym typeface="Consolas"/>
              </a:rPr>
              <a:t>main</a:t>
            </a:r>
            <a:r>
              <a:rPr lang="en" sz="950" dirty="0">
                <a:latin typeface="Consolas"/>
                <a:ea typeface="Consolas"/>
                <a:cs typeface="Consolas"/>
                <a:sym typeface="Consolas"/>
              </a:rPr>
              <a:t>(</a:t>
            </a:r>
            <a:r>
              <a:rPr lang="en" sz="950" dirty="0">
                <a:solidFill>
                  <a:srgbClr val="267F99"/>
                </a:solidFill>
                <a:latin typeface="Consolas"/>
                <a:ea typeface="Consolas"/>
                <a:cs typeface="Consolas"/>
                <a:sym typeface="Consolas"/>
              </a:rPr>
              <a:t>String</a:t>
            </a:r>
            <a:r>
              <a:rPr lang="en" sz="950" dirty="0">
                <a:latin typeface="Consolas"/>
                <a:ea typeface="Consolas"/>
                <a:cs typeface="Consolas"/>
                <a:sym typeface="Consolas"/>
              </a:rPr>
              <a:t>[] </a:t>
            </a:r>
            <a:r>
              <a:rPr lang="en" sz="950" dirty="0">
                <a:solidFill>
                  <a:srgbClr val="001080"/>
                </a:solidFill>
                <a:latin typeface="Consolas"/>
                <a:ea typeface="Consolas"/>
                <a:cs typeface="Consolas"/>
                <a:sym typeface="Consolas"/>
              </a:rPr>
              <a:t>args</a:t>
            </a:r>
            <a:r>
              <a:rPr lang="en" sz="950" dirty="0">
                <a:latin typeface="Consolas"/>
                <a:ea typeface="Consolas"/>
                <a:cs typeface="Consolas"/>
                <a:sym typeface="Consolas"/>
              </a:rPr>
              <a:t>) </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solidFill>
                  <a:srgbClr val="0000FF"/>
                </a:solidFill>
                <a:latin typeface="Consolas"/>
                <a:ea typeface="Consolas"/>
                <a:cs typeface="Consolas"/>
                <a:sym typeface="Consolas"/>
              </a:rPr>
              <a:t>                               throws</a:t>
            </a:r>
            <a:r>
              <a:rPr lang="en" sz="950" dirty="0">
                <a:latin typeface="Consolas"/>
                <a:ea typeface="Consolas"/>
                <a:cs typeface="Consolas"/>
                <a:sym typeface="Consolas"/>
              </a:rPr>
              <a:t> </a:t>
            </a:r>
            <a:r>
              <a:rPr lang="en" sz="950" dirty="0">
                <a:solidFill>
                  <a:srgbClr val="267F99"/>
                </a:solidFill>
                <a:latin typeface="Consolas"/>
                <a:ea typeface="Consolas"/>
                <a:cs typeface="Consolas"/>
                <a:sym typeface="Consolas"/>
              </a:rPr>
              <a:t>IOException</a:t>
            </a:r>
            <a:r>
              <a:rPr lang="en" sz="950" dirty="0">
                <a:latin typeface="Consolas"/>
                <a:ea typeface="Consolas"/>
                <a:cs typeface="Consolas"/>
                <a:sym typeface="Consolas"/>
              </a:rPr>
              <a:t> {</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solidFill>
                  <a:srgbClr val="098658"/>
                </a:solidFill>
                <a:latin typeface="Consolas"/>
                <a:ea typeface="Consolas"/>
                <a:cs typeface="Consolas"/>
                <a:sym typeface="Consolas"/>
              </a:rPr>
              <a:t>   </a:t>
            </a:r>
            <a:r>
              <a:rPr lang="en" sz="950" dirty="0">
                <a:solidFill>
                  <a:srgbClr val="267F99"/>
                </a:solidFill>
                <a:latin typeface="Consolas"/>
                <a:ea typeface="Consolas"/>
                <a:cs typeface="Consolas"/>
                <a:sym typeface="Consolas"/>
              </a:rPr>
              <a:t>URL</a:t>
            </a:r>
            <a:r>
              <a:rPr lang="en" sz="950" dirty="0">
                <a:latin typeface="Consolas"/>
                <a:ea typeface="Consolas"/>
                <a:cs typeface="Consolas"/>
                <a:sym typeface="Consolas"/>
              </a:rPr>
              <a:t> </a:t>
            </a:r>
            <a:r>
              <a:rPr lang="en" sz="950" dirty="0">
                <a:solidFill>
                  <a:srgbClr val="001080"/>
                </a:solidFill>
                <a:latin typeface="Consolas"/>
                <a:ea typeface="Consolas"/>
                <a:cs typeface="Consolas"/>
                <a:sym typeface="Consolas"/>
              </a:rPr>
              <a:t>url</a:t>
            </a:r>
            <a:r>
              <a:rPr lang="en" sz="950" dirty="0">
                <a:latin typeface="Consolas"/>
                <a:ea typeface="Consolas"/>
                <a:cs typeface="Consolas"/>
                <a:sym typeface="Consolas"/>
              </a:rPr>
              <a:t> = </a:t>
            </a:r>
            <a:r>
              <a:rPr lang="en" sz="950" dirty="0">
                <a:solidFill>
                  <a:srgbClr val="AF00DB"/>
                </a:solidFill>
                <a:latin typeface="Consolas"/>
                <a:ea typeface="Consolas"/>
                <a:cs typeface="Consolas"/>
                <a:sym typeface="Consolas"/>
              </a:rPr>
              <a:t>new</a:t>
            </a:r>
            <a:r>
              <a:rPr lang="en" sz="950" dirty="0">
                <a:latin typeface="Consolas"/>
                <a:ea typeface="Consolas"/>
                <a:cs typeface="Consolas"/>
                <a:sym typeface="Consolas"/>
              </a:rPr>
              <a:t> </a:t>
            </a:r>
            <a:r>
              <a:rPr lang="en" sz="950" dirty="0">
                <a:solidFill>
                  <a:srgbClr val="795E26"/>
                </a:solidFill>
                <a:latin typeface="Consolas"/>
                <a:ea typeface="Consolas"/>
                <a:cs typeface="Consolas"/>
                <a:sym typeface="Consolas"/>
              </a:rPr>
              <a:t>URL</a:t>
            </a:r>
            <a:r>
              <a:rPr lang="en" sz="950" dirty="0">
                <a:latin typeface="Consolas"/>
                <a:ea typeface="Consolas"/>
                <a:cs typeface="Consolas"/>
                <a:sym typeface="Consolas"/>
              </a:rPr>
              <a:t>(</a:t>
            </a:r>
            <a:r>
              <a:rPr lang="en" sz="950" dirty="0">
                <a:solidFill>
                  <a:srgbClr val="A31515"/>
                </a:solidFill>
                <a:latin typeface="Consolas"/>
                <a:ea typeface="Consolas"/>
                <a:cs typeface="Consolas"/>
                <a:sym typeface="Consolas"/>
              </a:rPr>
              <a:t>"</a:t>
            </a:r>
            <a:r>
              <a:rPr lang="en" sz="950" u="sng" dirty="0">
                <a:solidFill>
                  <a:schemeClr val="hlink"/>
                </a:solidFill>
                <a:latin typeface="Consolas"/>
                <a:ea typeface="Consolas"/>
                <a:cs typeface="Consolas"/>
                <a:sym typeface="Consolas"/>
                <a:hlinkClick r:id="rId6"/>
              </a:rPr>
              <a:t>https://www.nsa.gov</a:t>
            </a:r>
            <a:r>
              <a:rPr lang="en" sz="950" dirty="0">
                <a:solidFill>
                  <a:srgbClr val="A31515"/>
                </a:solidFill>
                <a:latin typeface="Consolas"/>
                <a:ea typeface="Consolas"/>
                <a:cs typeface="Consolas"/>
                <a:sym typeface="Consolas"/>
              </a:rPr>
              <a:t>"</a:t>
            </a:r>
            <a:r>
              <a:rPr lang="en" sz="950" dirty="0">
                <a:latin typeface="Consolas"/>
                <a:ea typeface="Consolas"/>
                <a:cs typeface="Consolas"/>
                <a:sym typeface="Consolas"/>
              </a:rPr>
              <a:t>);</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latin typeface="Consolas"/>
                <a:ea typeface="Consolas"/>
                <a:cs typeface="Consolas"/>
                <a:sym typeface="Consolas"/>
              </a:rPr>
              <a:t>   </a:t>
            </a:r>
            <a:r>
              <a:rPr lang="en" sz="950" dirty="0">
                <a:solidFill>
                  <a:srgbClr val="267F99"/>
                </a:solidFill>
                <a:latin typeface="Consolas"/>
                <a:ea typeface="Consolas"/>
                <a:cs typeface="Consolas"/>
                <a:sym typeface="Consolas"/>
              </a:rPr>
              <a:t>URLConnection</a:t>
            </a:r>
            <a:r>
              <a:rPr lang="en" sz="950" dirty="0">
                <a:latin typeface="Consolas"/>
                <a:ea typeface="Consolas"/>
                <a:cs typeface="Consolas"/>
                <a:sym typeface="Consolas"/>
              </a:rPr>
              <a:t> </a:t>
            </a:r>
            <a:r>
              <a:rPr lang="en" sz="950" dirty="0">
                <a:solidFill>
                  <a:srgbClr val="001080"/>
                </a:solidFill>
                <a:latin typeface="Consolas"/>
                <a:ea typeface="Consolas"/>
                <a:cs typeface="Consolas"/>
                <a:sym typeface="Consolas"/>
              </a:rPr>
              <a:t>connection</a:t>
            </a:r>
            <a:r>
              <a:rPr lang="en" sz="950" dirty="0">
                <a:latin typeface="Consolas"/>
                <a:ea typeface="Consolas"/>
                <a:cs typeface="Consolas"/>
                <a:sym typeface="Consolas"/>
              </a:rPr>
              <a:t> = </a:t>
            </a:r>
            <a:r>
              <a:rPr lang="en" sz="950" dirty="0">
                <a:solidFill>
                  <a:srgbClr val="001080"/>
                </a:solidFill>
                <a:latin typeface="Consolas"/>
                <a:ea typeface="Consolas"/>
                <a:cs typeface="Consolas"/>
                <a:sym typeface="Consolas"/>
              </a:rPr>
              <a:t>url</a:t>
            </a:r>
            <a:r>
              <a:rPr lang="en" sz="950" dirty="0">
                <a:latin typeface="Consolas"/>
                <a:ea typeface="Consolas"/>
                <a:cs typeface="Consolas"/>
                <a:sym typeface="Consolas"/>
              </a:rPr>
              <a:t>.</a:t>
            </a:r>
            <a:r>
              <a:rPr lang="en" sz="950" dirty="0">
                <a:solidFill>
                  <a:srgbClr val="795E26"/>
                </a:solidFill>
                <a:latin typeface="Consolas"/>
                <a:ea typeface="Consolas"/>
                <a:cs typeface="Consolas"/>
                <a:sym typeface="Consolas"/>
              </a:rPr>
              <a:t>openConnection</a:t>
            </a:r>
            <a:r>
              <a:rPr lang="en" sz="950" dirty="0">
                <a:latin typeface="Consolas"/>
                <a:ea typeface="Consolas"/>
                <a:cs typeface="Consolas"/>
                <a:sym typeface="Consolas"/>
              </a:rPr>
              <a:t>();</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latin typeface="Consolas"/>
                <a:ea typeface="Consolas"/>
                <a:cs typeface="Consolas"/>
                <a:sym typeface="Consolas"/>
              </a:rPr>
              <a:t>   </a:t>
            </a:r>
            <a:r>
              <a:rPr lang="en" sz="950" dirty="0">
                <a:solidFill>
                  <a:srgbClr val="001080"/>
                </a:solidFill>
                <a:latin typeface="Consolas"/>
                <a:ea typeface="Consolas"/>
                <a:cs typeface="Consolas"/>
                <a:sym typeface="Consolas"/>
              </a:rPr>
              <a:t>connection</a:t>
            </a:r>
            <a:r>
              <a:rPr lang="en" sz="950" dirty="0">
                <a:latin typeface="Consolas"/>
                <a:ea typeface="Consolas"/>
                <a:cs typeface="Consolas"/>
                <a:sym typeface="Consolas"/>
              </a:rPr>
              <a:t>.</a:t>
            </a:r>
            <a:r>
              <a:rPr lang="en" sz="950" dirty="0">
                <a:solidFill>
                  <a:srgbClr val="795E26"/>
                </a:solidFill>
                <a:latin typeface="Consolas"/>
                <a:ea typeface="Consolas"/>
                <a:cs typeface="Consolas"/>
                <a:sym typeface="Consolas"/>
              </a:rPr>
              <a:t>connect</a:t>
            </a:r>
            <a:r>
              <a:rPr lang="en" sz="950" dirty="0">
                <a:latin typeface="Consolas"/>
                <a:ea typeface="Consolas"/>
                <a:cs typeface="Consolas"/>
                <a:sym typeface="Consolas"/>
              </a:rPr>
              <a:t>();</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solidFill>
                  <a:srgbClr val="098658"/>
                </a:solidFill>
                <a:latin typeface="Consolas"/>
                <a:ea typeface="Consolas"/>
                <a:cs typeface="Consolas"/>
                <a:sym typeface="Consolas"/>
              </a:rPr>
              <a:t>  </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latin typeface="Consolas"/>
                <a:ea typeface="Consolas"/>
                <a:cs typeface="Consolas"/>
                <a:sym typeface="Consolas"/>
              </a:rPr>
              <a:t>   </a:t>
            </a:r>
            <a:r>
              <a:rPr lang="en" sz="950" dirty="0">
                <a:solidFill>
                  <a:srgbClr val="267F99"/>
                </a:solidFill>
                <a:latin typeface="Consolas"/>
                <a:ea typeface="Consolas"/>
                <a:cs typeface="Consolas"/>
                <a:sym typeface="Consolas"/>
              </a:rPr>
              <a:t>InputStream</a:t>
            </a:r>
            <a:r>
              <a:rPr lang="en" sz="950" dirty="0">
                <a:latin typeface="Consolas"/>
                <a:ea typeface="Consolas"/>
                <a:cs typeface="Consolas"/>
                <a:sym typeface="Consolas"/>
              </a:rPr>
              <a:t> </a:t>
            </a:r>
            <a:r>
              <a:rPr lang="en" sz="950" dirty="0">
                <a:solidFill>
                  <a:srgbClr val="001080"/>
                </a:solidFill>
                <a:latin typeface="Consolas"/>
                <a:ea typeface="Consolas"/>
                <a:cs typeface="Consolas"/>
                <a:sym typeface="Consolas"/>
              </a:rPr>
              <a:t>in</a:t>
            </a:r>
            <a:r>
              <a:rPr lang="en" sz="950" dirty="0">
                <a:latin typeface="Consolas"/>
                <a:ea typeface="Consolas"/>
                <a:cs typeface="Consolas"/>
                <a:sym typeface="Consolas"/>
              </a:rPr>
              <a:t> = </a:t>
            </a:r>
            <a:r>
              <a:rPr lang="en" sz="950" dirty="0">
                <a:solidFill>
                  <a:srgbClr val="001080"/>
                </a:solidFill>
                <a:latin typeface="Consolas"/>
                <a:ea typeface="Consolas"/>
                <a:cs typeface="Consolas"/>
                <a:sym typeface="Consolas"/>
              </a:rPr>
              <a:t>connection</a:t>
            </a:r>
            <a:r>
              <a:rPr lang="en" sz="950" dirty="0">
                <a:latin typeface="Consolas"/>
                <a:ea typeface="Consolas"/>
                <a:cs typeface="Consolas"/>
                <a:sym typeface="Consolas"/>
              </a:rPr>
              <a:t>.</a:t>
            </a:r>
            <a:r>
              <a:rPr lang="en" sz="950" dirty="0">
                <a:solidFill>
                  <a:srgbClr val="795E26"/>
                </a:solidFill>
                <a:latin typeface="Consolas"/>
                <a:ea typeface="Consolas"/>
                <a:cs typeface="Consolas"/>
                <a:sym typeface="Consolas"/>
              </a:rPr>
              <a:t>getInputStream</a:t>
            </a:r>
            <a:r>
              <a:rPr lang="en" sz="950" dirty="0">
                <a:latin typeface="Consolas"/>
                <a:ea typeface="Consolas"/>
                <a:cs typeface="Consolas"/>
                <a:sym typeface="Consolas"/>
              </a:rPr>
              <a:t>();</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latin typeface="Consolas"/>
                <a:ea typeface="Consolas"/>
                <a:cs typeface="Consolas"/>
                <a:sym typeface="Consolas"/>
              </a:rPr>
              <a:t>   </a:t>
            </a:r>
            <a:r>
              <a:rPr lang="en" sz="950" dirty="0">
                <a:solidFill>
                  <a:srgbClr val="267F99"/>
                </a:solidFill>
                <a:latin typeface="Consolas"/>
                <a:ea typeface="Consolas"/>
                <a:cs typeface="Consolas"/>
                <a:sym typeface="Consolas"/>
              </a:rPr>
              <a:t>Scanner</a:t>
            </a:r>
            <a:r>
              <a:rPr lang="en" sz="950" dirty="0">
                <a:latin typeface="Consolas"/>
                <a:ea typeface="Consolas"/>
                <a:cs typeface="Consolas"/>
                <a:sym typeface="Consolas"/>
              </a:rPr>
              <a:t> </a:t>
            </a:r>
            <a:r>
              <a:rPr lang="en" sz="950" dirty="0">
                <a:solidFill>
                  <a:srgbClr val="001080"/>
                </a:solidFill>
                <a:latin typeface="Consolas"/>
                <a:ea typeface="Consolas"/>
                <a:cs typeface="Consolas"/>
                <a:sym typeface="Consolas"/>
              </a:rPr>
              <a:t>scanner</a:t>
            </a:r>
            <a:r>
              <a:rPr lang="en" sz="950" dirty="0">
                <a:latin typeface="Consolas"/>
                <a:ea typeface="Consolas"/>
                <a:cs typeface="Consolas"/>
                <a:sym typeface="Consolas"/>
              </a:rPr>
              <a:t> = </a:t>
            </a:r>
            <a:r>
              <a:rPr lang="en" sz="950" dirty="0">
                <a:solidFill>
                  <a:srgbClr val="AF00DB"/>
                </a:solidFill>
                <a:latin typeface="Consolas"/>
                <a:ea typeface="Consolas"/>
                <a:cs typeface="Consolas"/>
                <a:sym typeface="Consolas"/>
              </a:rPr>
              <a:t>new</a:t>
            </a:r>
            <a:r>
              <a:rPr lang="en" sz="950" dirty="0">
                <a:latin typeface="Consolas"/>
                <a:ea typeface="Consolas"/>
                <a:cs typeface="Consolas"/>
                <a:sym typeface="Consolas"/>
              </a:rPr>
              <a:t> </a:t>
            </a:r>
            <a:r>
              <a:rPr lang="en" sz="950" dirty="0">
                <a:solidFill>
                  <a:srgbClr val="795E26"/>
                </a:solidFill>
                <a:latin typeface="Consolas"/>
                <a:ea typeface="Consolas"/>
                <a:cs typeface="Consolas"/>
                <a:sym typeface="Consolas"/>
              </a:rPr>
              <a:t>Scanner</a:t>
            </a:r>
            <a:r>
              <a:rPr lang="en" sz="950" dirty="0">
                <a:latin typeface="Consolas"/>
                <a:ea typeface="Consolas"/>
                <a:cs typeface="Consolas"/>
                <a:sym typeface="Consolas"/>
              </a:rPr>
              <a:t>(</a:t>
            </a:r>
            <a:r>
              <a:rPr lang="en" sz="950" dirty="0">
                <a:solidFill>
                  <a:srgbClr val="001080"/>
                </a:solidFill>
                <a:latin typeface="Consolas"/>
                <a:ea typeface="Consolas"/>
                <a:cs typeface="Consolas"/>
                <a:sym typeface="Consolas"/>
              </a:rPr>
              <a:t>in</a:t>
            </a:r>
            <a:r>
              <a:rPr lang="en" sz="950" dirty="0">
                <a:latin typeface="Consolas"/>
                <a:ea typeface="Consolas"/>
                <a:cs typeface="Consolas"/>
                <a:sym typeface="Consolas"/>
              </a:rPr>
              <a:t>);</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solidFill>
                  <a:srgbClr val="098658"/>
                </a:solidFill>
                <a:latin typeface="Consolas"/>
                <a:ea typeface="Consolas"/>
                <a:cs typeface="Consolas"/>
                <a:sym typeface="Consolas"/>
              </a:rPr>
              <a:t>  </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solidFill>
                  <a:srgbClr val="098658"/>
                </a:solidFill>
                <a:latin typeface="Consolas"/>
                <a:ea typeface="Consolas"/>
                <a:cs typeface="Consolas"/>
                <a:sym typeface="Consolas"/>
              </a:rPr>
              <a:t> </a:t>
            </a:r>
            <a:r>
              <a:rPr lang="en" sz="950" dirty="0">
                <a:latin typeface="Consolas"/>
                <a:ea typeface="Consolas"/>
                <a:cs typeface="Consolas"/>
                <a:sym typeface="Consolas"/>
              </a:rPr>
              <a:t>  </a:t>
            </a:r>
            <a:r>
              <a:rPr lang="en" sz="950" dirty="0">
                <a:solidFill>
                  <a:srgbClr val="AF00DB"/>
                </a:solidFill>
                <a:latin typeface="Consolas"/>
                <a:ea typeface="Consolas"/>
                <a:cs typeface="Consolas"/>
                <a:sym typeface="Consolas"/>
              </a:rPr>
              <a:t>while</a:t>
            </a:r>
            <a:r>
              <a:rPr lang="en" sz="950" dirty="0">
                <a:latin typeface="Consolas"/>
                <a:ea typeface="Consolas"/>
                <a:cs typeface="Consolas"/>
                <a:sym typeface="Consolas"/>
              </a:rPr>
              <a:t>(</a:t>
            </a:r>
            <a:r>
              <a:rPr lang="en" sz="950" dirty="0">
                <a:solidFill>
                  <a:srgbClr val="001080"/>
                </a:solidFill>
                <a:latin typeface="Consolas"/>
                <a:ea typeface="Consolas"/>
                <a:cs typeface="Consolas"/>
                <a:sym typeface="Consolas"/>
              </a:rPr>
              <a:t>scanner</a:t>
            </a:r>
            <a:r>
              <a:rPr lang="en" sz="950" dirty="0">
                <a:latin typeface="Consolas"/>
                <a:ea typeface="Consolas"/>
                <a:cs typeface="Consolas"/>
                <a:sym typeface="Consolas"/>
              </a:rPr>
              <a:t>.</a:t>
            </a:r>
            <a:r>
              <a:rPr lang="en" sz="950" dirty="0">
                <a:solidFill>
                  <a:srgbClr val="795E26"/>
                </a:solidFill>
                <a:latin typeface="Consolas"/>
                <a:ea typeface="Consolas"/>
                <a:cs typeface="Consolas"/>
                <a:sym typeface="Consolas"/>
              </a:rPr>
              <a:t>hasNext</a:t>
            </a:r>
            <a:r>
              <a:rPr lang="en" sz="950" dirty="0">
                <a:latin typeface="Consolas"/>
                <a:ea typeface="Consolas"/>
                <a:cs typeface="Consolas"/>
                <a:sym typeface="Consolas"/>
              </a:rPr>
              <a:t>()) {</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latin typeface="Consolas"/>
                <a:ea typeface="Consolas"/>
                <a:cs typeface="Consolas"/>
                <a:sym typeface="Consolas"/>
              </a:rPr>
              <a:t>      </a:t>
            </a:r>
            <a:r>
              <a:rPr lang="en" sz="950" dirty="0">
                <a:solidFill>
                  <a:srgbClr val="267F99"/>
                </a:solidFill>
                <a:latin typeface="Consolas"/>
                <a:ea typeface="Consolas"/>
                <a:cs typeface="Consolas"/>
                <a:sym typeface="Consolas"/>
              </a:rPr>
              <a:t>System</a:t>
            </a:r>
            <a:r>
              <a:rPr lang="en" sz="950" dirty="0">
                <a:latin typeface="Consolas"/>
                <a:ea typeface="Consolas"/>
                <a:cs typeface="Consolas"/>
                <a:sym typeface="Consolas"/>
              </a:rPr>
              <a:t>.</a:t>
            </a:r>
            <a:r>
              <a:rPr lang="en" sz="950" dirty="0">
                <a:solidFill>
                  <a:srgbClr val="0070C1"/>
                </a:solidFill>
                <a:latin typeface="Consolas"/>
                <a:ea typeface="Consolas"/>
                <a:cs typeface="Consolas"/>
                <a:sym typeface="Consolas"/>
              </a:rPr>
              <a:t>out</a:t>
            </a:r>
            <a:r>
              <a:rPr lang="en" sz="950" dirty="0">
                <a:latin typeface="Consolas"/>
                <a:ea typeface="Consolas"/>
                <a:cs typeface="Consolas"/>
                <a:sym typeface="Consolas"/>
              </a:rPr>
              <a:t>.</a:t>
            </a:r>
            <a:r>
              <a:rPr lang="en" sz="950" dirty="0">
                <a:solidFill>
                  <a:srgbClr val="795E26"/>
                </a:solidFill>
                <a:latin typeface="Consolas"/>
                <a:ea typeface="Consolas"/>
                <a:cs typeface="Consolas"/>
                <a:sym typeface="Consolas"/>
              </a:rPr>
              <a:t>println</a:t>
            </a:r>
            <a:r>
              <a:rPr lang="en" sz="950" dirty="0">
                <a:latin typeface="Consolas"/>
                <a:ea typeface="Consolas"/>
                <a:cs typeface="Consolas"/>
                <a:sym typeface="Consolas"/>
              </a:rPr>
              <a:t>(</a:t>
            </a:r>
            <a:r>
              <a:rPr lang="en" sz="950" dirty="0">
                <a:solidFill>
                  <a:srgbClr val="001080"/>
                </a:solidFill>
                <a:latin typeface="Consolas"/>
                <a:ea typeface="Consolas"/>
                <a:cs typeface="Consolas"/>
                <a:sym typeface="Consolas"/>
              </a:rPr>
              <a:t>scanner</a:t>
            </a:r>
            <a:r>
              <a:rPr lang="en" sz="950" dirty="0">
                <a:latin typeface="Consolas"/>
                <a:ea typeface="Consolas"/>
                <a:cs typeface="Consolas"/>
                <a:sym typeface="Consolas"/>
              </a:rPr>
              <a:t>.</a:t>
            </a:r>
            <a:r>
              <a:rPr lang="en" sz="950" dirty="0">
                <a:solidFill>
                  <a:srgbClr val="795E26"/>
                </a:solidFill>
                <a:latin typeface="Consolas"/>
                <a:ea typeface="Consolas"/>
                <a:cs typeface="Consolas"/>
                <a:sym typeface="Consolas"/>
              </a:rPr>
              <a:t>nextLine</a:t>
            </a:r>
            <a:r>
              <a:rPr lang="en" sz="950" dirty="0">
                <a:latin typeface="Consolas"/>
                <a:ea typeface="Consolas"/>
                <a:cs typeface="Consolas"/>
                <a:sym typeface="Consolas"/>
              </a:rPr>
              <a:t>());</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latin typeface="Consolas"/>
                <a:ea typeface="Consolas"/>
                <a:cs typeface="Consolas"/>
                <a:sym typeface="Consolas"/>
              </a:rPr>
              <a:t>   }</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solidFill>
                  <a:srgbClr val="098658"/>
                </a:solidFill>
                <a:latin typeface="Consolas"/>
                <a:ea typeface="Consolas"/>
                <a:cs typeface="Consolas"/>
                <a:sym typeface="Consolas"/>
              </a:rPr>
              <a:t> </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latin typeface="Consolas"/>
                <a:ea typeface="Consolas"/>
                <a:cs typeface="Consolas"/>
                <a:sym typeface="Consolas"/>
              </a:rPr>
              <a:t>   </a:t>
            </a:r>
            <a:r>
              <a:rPr lang="en" sz="950" dirty="0">
                <a:solidFill>
                  <a:srgbClr val="001080"/>
                </a:solidFill>
                <a:latin typeface="Consolas"/>
                <a:ea typeface="Consolas"/>
                <a:cs typeface="Consolas"/>
                <a:sym typeface="Consolas"/>
              </a:rPr>
              <a:t>scanner</a:t>
            </a:r>
            <a:r>
              <a:rPr lang="en" sz="950" dirty="0">
                <a:latin typeface="Consolas"/>
                <a:ea typeface="Consolas"/>
                <a:cs typeface="Consolas"/>
                <a:sym typeface="Consolas"/>
              </a:rPr>
              <a:t>.</a:t>
            </a:r>
            <a:r>
              <a:rPr lang="en" sz="950" dirty="0">
                <a:solidFill>
                  <a:srgbClr val="795E26"/>
                </a:solidFill>
                <a:latin typeface="Consolas"/>
                <a:ea typeface="Consolas"/>
                <a:cs typeface="Consolas"/>
                <a:sym typeface="Consolas"/>
              </a:rPr>
              <a:t>close</a:t>
            </a:r>
            <a:r>
              <a:rPr lang="en" sz="950" dirty="0">
                <a:latin typeface="Consolas"/>
                <a:ea typeface="Consolas"/>
                <a:cs typeface="Consolas"/>
                <a:sym typeface="Consolas"/>
              </a:rPr>
              <a:t>();</a:t>
            </a:r>
            <a:endParaRPr sz="950" dirty="0">
              <a:latin typeface="Consolas"/>
              <a:ea typeface="Consolas"/>
              <a:cs typeface="Consolas"/>
              <a:sym typeface="Consolas"/>
            </a:endParaRPr>
          </a:p>
          <a:p>
            <a:pPr marL="0" lvl="0" indent="0" algn="l" rtl="0">
              <a:lnSpc>
                <a:spcPct val="135714"/>
              </a:lnSpc>
              <a:spcBef>
                <a:spcPts val="0"/>
              </a:spcBef>
              <a:spcAft>
                <a:spcPts val="0"/>
              </a:spcAft>
              <a:buNone/>
            </a:pPr>
            <a:r>
              <a:rPr lang="en" sz="950" dirty="0">
                <a:latin typeface="Consolas"/>
                <a:ea typeface="Consolas"/>
                <a:cs typeface="Consolas"/>
                <a:sym typeface="Consolas"/>
              </a:rPr>
              <a:t>}</a:t>
            </a:r>
            <a:endParaRPr sz="950" dirty="0">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51"/>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TCP/IP Connections With Sockets</a:t>
            </a:r>
            <a:endParaRPr/>
          </a:p>
        </p:txBody>
      </p:sp>
      <p:sp>
        <p:nvSpPr>
          <p:cNvPr id="509" name="Google Shape;509;p51"/>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rmAutofit/>
          </a:bodyPr>
          <a:lstStyle/>
          <a:p>
            <a:pPr marL="457200" lvl="0" indent="-313055" algn="l" rtl="0">
              <a:lnSpc>
                <a:spcPct val="115000"/>
              </a:lnSpc>
              <a:spcBef>
                <a:spcPts val="0"/>
              </a:spcBef>
              <a:spcAft>
                <a:spcPts val="0"/>
              </a:spcAft>
              <a:buSzPts val="1330"/>
              <a:buChar char="●"/>
            </a:pPr>
            <a:r>
              <a:rPr lang="en" sz="1330" dirty="0">
                <a:highlight>
                  <a:srgbClr val="FFFF00"/>
                </a:highlight>
                <a:latin typeface="Courier New"/>
                <a:ea typeface="Courier New"/>
                <a:cs typeface="Courier New"/>
                <a:sym typeface="Courier New"/>
              </a:rPr>
              <a:t>URL</a:t>
            </a:r>
            <a:r>
              <a:rPr lang="en" sz="1330" dirty="0">
                <a:highlight>
                  <a:srgbClr val="FFFF00"/>
                </a:highlight>
              </a:rPr>
              <a:t> and </a:t>
            </a:r>
            <a:r>
              <a:rPr lang="en" sz="1330" dirty="0">
                <a:highlight>
                  <a:srgbClr val="FFFF00"/>
                </a:highlight>
                <a:latin typeface="Courier New"/>
                <a:ea typeface="Courier New"/>
                <a:cs typeface="Courier New"/>
                <a:sym typeface="Courier New"/>
              </a:rPr>
              <a:t>URLConnection</a:t>
            </a:r>
            <a:r>
              <a:rPr lang="en" sz="1330" dirty="0">
                <a:highlight>
                  <a:srgbClr val="FFFF00"/>
                </a:highlight>
              </a:rPr>
              <a:t> are fine for communicating using </a:t>
            </a:r>
            <a:r>
              <a:rPr lang="en" sz="1330" b="1" i="1" dirty="0">
                <a:solidFill>
                  <a:srgbClr val="FF0000"/>
                </a:solidFill>
                <a:highlight>
                  <a:srgbClr val="FFFF00"/>
                </a:highlight>
              </a:rPr>
              <a:t>established</a:t>
            </a:r>
            <a:r>
              <a:rPr lang="en" sz="1330" dirty="0">
                <a:highlight>
                  <a:srgbClr val="FFFF00"/>
                </a:highlight>
              </a:rPr>
              <a:t> internet protocols like HTTP</a:t>
            </a:r>
            <a:endParaRPr sz="905" dirty="0">
              <a:highlight>
                <a:srgbClr val="FFFF00"/>
              </a:highlight>
            </a:endParaRPr>
          </a:p>
          <a:p>
            <a:pPr marL="457200" lvl="0" indent="-313055" algn="l" rtl="0">
              <a:lnSpc>
                <a:spcPct val="115000"/>
              </a:lnSpc>
              <a:spcBef>
                <a:spcPts val="1000"/>
              </a:spcBef>
              <a:spcAft>
                <a:spcPts val="0"/>
              </a:spcAft>
              <a:buSzPts val="1330"/>
              <a:buChar char="●"/>
            </a:pPr>
            <a:r>
              <a:rPr lang="en" sz="1330" dirty="0"/>
              <a:t>But what if you want to establish your own TCP/IP connection to send and receive data using some </a:t>
            </a:r>
            <a:r>
              <a:rPr lang="en" sz="1330" b="1" i="1" dirty="0">
                <a:solidFill>
                  <a:srgbClr val="FF0000"/>
                </a:solidFill>
              </a:rPr>
              <a:t>other</a:t>
            </a:r>
            <a:r>
              <a:rPr lang="en" sz="1330" dirty="0"/>
              <a:t> protocol (e.g. one of your own design)?</a:t>
            </a:r>
            <a:endParaRPr sz="905" dirty="0"/>
          </a:p>
          <a:p>
            <a:pPr marL="457200" lvl="0" indent="-313055" algn="l" rtl="0">
              <a:lnSpc>
                <a:spcPct val="115000"/>
              </a:lnSpc>
              <a:spcBef>
                <a:spcPts val="1000"/>
              </a:spcBef>
              <a:spcAft>
                <a:spcPts val="0"/>
              </a:spcAft>
              <a:buSzPts val="1330"/>
              <a:buChar char="●"/>
            </a:pPr>
            <a:r>
              <a:rPr lang="en" sz="1330" dirty="0"/>
              <a:t>The </a:t>
            </a:r>
            <a:r>
              <a:rPr lang="en" sz="1330" dirty="0">
                <a:solidFill>
                  <a:srgbClr val="FF0000"/>
                </a:solidFill>
                <a:highlight>
                  <a:srgbClr val="FFFF00"/>
                </a:highlight>
                <a:latin typeface="Courier New"/>
                <a:ea typeface="Courier New"/>
                <a:cs typeface="Courier New"/>
                <a:sym typeface="Courier New"/>
              </a:rPr>
              <a:t>java.net.Socket</a:t>
            </a:r>
            <a:r>
              <a:rPr lang="en" sz="1330" dirty="0">
                <a:highlight>
                  <a:srgbClr val="FFFF00"/>
                </a:highlight>
              </a:rPr>
              <a:t> </a:t>
            </a:r>
            <a:r>
              <a:rPr lang="en" sz="1330" dirty="0"/>
              <a:t>class is used to establish a TCP/IP connection to a specific hostname (or IP address) and port</a:t>
            </a:r>
            <a:endParaRPr sz="905" dirty="0"/>
          </a:p>
          <a:p>
            <a:pPr marL="0" lvl="0" indent="457200" algn="l" rtl="0">
              <a:lnSpc>
                <a:spcPct val="100000"/>
              </a:lnSpc>
              <a:spcBef>
                <a:spcPts val="600"/>
              </a:spcBef>
              <a:spcAft>
                <a:spcPts val="0"/>
              </a:spcAft>
              <a:buNone/>
            </a:pPr>
            <a:r>
              <a:rPr lang="en" sz="1160" dirty="0">
                <a:highlight>
                  <a:srgbClr val="FFFF00"/>
                </a:highlight>
                <a:latin typeface="Courier New"/>
                <a:ea typeface="Courier New"/>
                <a:cs typeface="Courier New"/>
                <a:sym typeface="Courier New"/>
              </a:rPr>
              <a:t>  Socket sock = </a:t>
            </a:r>
            <a:endParaRPr sz="1160" dirty="0">
              <a:highlight>
                <a:srgbClr val="FFFF00"/>
              </a:highlight>
              <a:latin typeface="Courier New"/>
              <a:ea typeface="Courier New"/>
              <a:cs typeface="Courier New"/>
              <a:sym typeface="Courier New"/>
            </a:endParaRPr>
          </a:p>
          <a:p>
            <a:pPr marL="0" lvl="0" indent="457200" algn="l" rtl="0">
              <a:lnSpc>
                <a:spcPct val="100000"/>
              </a:lnSpc>
              <a:spcBef>
                <a:spcPts val="0"/>
              </a:spcBef>
              <a:spcAft>
                <a:spcPts val="0"/>
              </a:spcAft>
              <a:buNone/>
            </a:pPr>
            <a:r>
              <a:rPr lang="en" sz="1160" dirty="0">
                <a:highlight>
                  <a:srgbClr val="FFFF00"/>
                </a:highlight>
                <a:latin typeface="Courier New"/>
                <a:ea typeface="Courier New"/>
                <a:cs typeface="Courier New"/>
                <a:sym typeface="Courier New"/>
              </a:rPr>
              <a:t>      new Socket("localhost", 1234);</a:t>
            </a:r>
            <a:endParaRPr sz="1160" dirty="0">
              <a:highlight>
                <a:srgbClr val="FFFF00"/>
              </a:highlight>
              <a:latin typeface="Courier New"/>
              <a:ea typeface="Courier New"/>
              <a:cs typeface="Courier New"/>
              <a:sym typeface="Courier New"/>
            </a:endParaRPr>
          </a:p>
          <a:p>
            <a:pPr marL="457200" lvl="0" indent="-313055" algn="l" rtl="0">
              <a:lnSpc>
                <a:spcPct val="115000"/>
              </a:lnSpc>
              <a:spcBef>
                <a:spcPts val="1000"/>
              </a:spcBef>
              <a:spcAft>
                <a:spcPts val="0"/>
              </a:spcAft>
              <a:buSzPts val="1330"/>
              <a:buChar char="●"/>
            </a:pPr>
            <a:r>
              <a:rPr lang="en" sz="1330" dirty="0"/>
              <a:t>Once established, the socket can be used to send or receive data to/from the other computer</a:t>
            </a:r>
            <a:endParaRPr sz="905" dirty="0"/>
          </a:p>
          <a:p>
            <a:pPr marL="914400" lvl="1" indent="-302260" algn="l" rtl="0">
              <a:lnSpc>
                <a:spcPct val="115000"/>
              </a:lnSpc>
              <a:spcBef>
                <a:spcPts val="0"/>
              </a:spcBef>
              <a:spcAft>
                <a:spcPts val="0"/>
              </a:spcAft>
              <a:buSzPts val="1160"/>
              <a:buChar char="○"/>
            </a:pPr>
            <a:r>
              <a:rPr lang="en" sz="1160" dirty="0"/>
              <a:t>We’ll discuss exactly how to send and receive data presently</a:t>
            </a:r>
            <a:endParaRPr sz="735" dirty="0"/>
          </a:p>
        </p:txBody>
      </p:sp>
      <p:sp>
        <p:nvSpPr>
          <p:cNvPr id="510" name="Google Shape;510;p51"/>
          <p:cNvSpPr txBox="1"/>
          <p:nvPr/>
        </p:nvSpPr>
        <p:spPr>
          <a:xfrm>
            <a:off x="5264000" y="2451426"/>
            <a:ext cx="3706500" cy="73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dirty="0">
                <a:solidFill>
                  <a:schemeClr val="dk1"/>
                </a:solidFill>
                <a:latin typeface="Arial"/>
                <a:ea typeface="Arial"/>
                <a:cs typeface="Arial"/>
                <a:sym typeface="Arial"/>
              </a:rPr>
              <a:t>Trying to connect to a </a:t>
            </a:r>
            <a:r>
              <a:rPr lang="en" sz="1300" b="1" i="1" dirty="0">
                <a:solidFill>
                  <a:srgbClr val="FF0000"/>
                </a:solidFill>
                <a:highlight>
                  <a:srgbClr val="FFFF00"/>
                </a:highlight>
                <a:latin typeface="Arial"/>
                <a:ea typeface="Arial"/>
                <a:cs typeface="Arial"/>
                <a:sym typeface="Arial"/>
              </a:rPr>
              <a:t>port</a:t>
            </a:r>
            <a:r>
              <a:rPr lang="en" sz="1300" b="1" i="1" dirty="0">
                <a:solidFill>
                  <a:srgbClr val="FF0000"/>
                </a:solidFill>
              </a:rPr>
              <a:t> </a:t>
            </a:r>
            <a:r>
              <a:rPr lang="en" sz="1300" dirty="0">
                <a:solidFill>
                  <a:schemeClr val="dk1"/>
                </a:solidFill>
                <a:latin typeface="Arial"/>
                <a:ea typeface="Arial"/>
                <a:cs typeface="Arial"/>
                <a:sym typeface="Arial"/>
              </a:rPr>
              <a:t>that is not being used to listen for connections will cause an error.</a:t>
            </a:r>
            <a:endParaRPr sz="1300" dirty="0">
              <a:solidFill>
                <a:schemeClr val="dk1"/>
              </a:solidFill>
              <a:latin typeface="Arial"/>
              <a:ea typeface="Arial"/>
              <a:cs typeface="Arial"/>
              <a:sym typeface="Arial"/>
            </a:endParaRPr>
          </a:p>
        </p:txBody>
      </p:sp>
      <p:sp>
        <p:nvSpPr>
          <p:cNvPr id="511" name="Google Shape;511;p51"/>
          <p:cNvSpPr txBox="1"/>
          <p:nvPr/>
        </p:nvSpPr>
        <p:spPr>
          <a:xfrm>
            <a:off x="5264000" y="1541300"/>
            <a:ext cx="3706500" cy="73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dirty="0">
                <a:solidFill>
                  <a:schemeClr val="dk1"/>
                </a:solidFill>
                <a:latin typeface="Arial"/>
                <a:ea typeface="Arial"/>
                <a:cs typeface="Arial"/>
                <a:sym typeface="Arial"/>
              </a:rPr>
              <a:t>A socket connection can </a:t>
            </a:r>
            <a:r>
              <a:rPr lang="en" sz="1300" dirty="0">
                <a:solidFill>
                  <a:schemeClr val="dk1"/>
                </a:solidFill>
                <a:highlight>
                  <a:srgbClr val="FFFF00"/>
                </a:highlight>
                <a:sym typeface="Arial"/>
              </a:rPr>
              <a:t>only be established to a </a:t>
            </a:r>
            <a:r>
              <a:rPr lang="en" sz="1300" b="1" i="1" dirty="0">
                <a:solidFill>
                  <a:srgbClr val="FF0000"/>
                </a:solidFill>
                <a:highlight>
                  <a:srgbClr val="FFFF00"/>
                </a:highlight>
                <a:sym typeface="Arial"/>
              </a:rPr>
              <a:t>port</a:t>
            </a:r>
            <a:r>
              <a:rPr lang="en" sz="1300" b="1" i="1" dirty="0">
                <a:solidFill>
                  <a:srgbClr val="FF0000"/>
                </a:solidFill>
                <a:highlight>
                  <a:srgbClr val="FFFF00"/>
                </a:highlight>
              </a:rPr>
              <a:t> </a:t>
            </a:r>
            <a:r>
              <a:rPr lang="en" sz="1300" dirty="0">
                <a:solidFill>
                  <a:schemeClr val="dk1"/>
                </a:solidFill>
                <a:latin typeface="Arial"/>
                <a:ea typeface="Arial"/>
                <a:cs typeface="Arial"/>
                <a:sym typeface="Arial"/>
              </a:rPr>
              <a:t>on which the other computer is actively listening for connections.</a:t>
            </a:r>
            <a:endParaRPr sz="1300" dirty="0">
              <a:solidFill>
                <a:schemeClr val="dk1"/>
              </a:solidFill>
              <a:latin typeface="Arial"/>
              <a:ea typeface="Arial"/>
              <a:cs typeface="Arial"/>
              <a:sym typeface="Arial"/>
            </a:endParaRPr>
          </a:p>
        </p:txBody>
      </p:sp>
      <p:sp>
        <p:nvSpPr>
          <p:cNvPr id="512" name="Google Shape;512;p51"/>
          <p:cNvSpPr txBox="1"/>
          <p:nvPr/>
        </p:nvSpPr>
        <p:spPr>
          <a:xfrm>
            <a:off x="5265450" y="4271675"/>
            <a:ext cx="3706500" cy="73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dirty="0">
                <a:solidFill>
                  <a:schemeClr val="dk1"/>
                </a:solidFill>
                <a:latin typeface="Arial"/>
                <a:ea typeface="Arial"/>
                <a:cs typeface="Arial"/>
                <a:sym typeface="Arial"/>
              </a:rPr>
              <a:t>The good news is that all of the exceptions extend </a:t>
            </a:r>
            <a:r>
              <a:rPr lang="en" sz="1300" b="1" i="1" dirty="0">
                <a:solidFill>
                  <a:srgbClr val="FF0000"/>
                </a:solidFill>
                <a:latin typeface="Arial"/>
                <a:ea typeface="Arial"/>
                <a:cs typeface="Arial"/>
                <a:sym typeface="Arial"/>
              </a:rPr>
              <a:t>IOException</a:t>
            </a:r>
            <a:r>
              <a:rPr lang="en" sz="1300" dirty="0">
                <a:solidFill>
                  <a:schemeClr val="dk1"/>
                </a:solidFill>
                <a:latin typeface="Arial"/>
                <a:ea typeface="Arial"/>
                <a:cs typeface="Arial"/>
                <a:sym typeface="Arial"/>
              </a:rPr>
              <a:t>, and so </a:t>
            </a:r>
            <a:r>
              <a:rPr lang="en" sz="1300" dirty="0">
                <a:solidFill>
                  <a:schemeClr val="dk1"/>
                </a:solidFill>
                <a:highlight>
                  <a:srgbClr val="FFFF00"/>
                </a:highlight>
                <a:latin typeface="Arial"/>
                <a:ea typeface="Arial"/>
                <a:cs typeface="Arial"/>
                <a:sym typeface="Arial"/>
              </a:rPr>
              <a:t>that is the only one that you really need to handle.</a:t>
            </a:r>
            <a:endParaRPr sz="1300" dirty="0">
              <a:solidFill>
                <a:schemeClr val="dk1"/>
              </a:solidFill>
              <a:highlight>
                <a:srgbClr val="FFFF00"/>
              </a:highlight>
              <a:latin typeface="Arial"/>
              <a:ea typeface="Arial"/>
              <a:cs typeface="Arial"/>
              <a:sym typeface="Arial"/>
            </a:endParaRPr>
          </a:p>
        </p:txBody>
      </p:sp>
      <p:sp>
        <p:nvSpPr>
          <p:cNvPr id="513" name="Google Shape;513;p5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514" name="Google Shape;514;p51"/>
          <p:cNvSpPr txBox="1"/>
          <p:nvPr/>
        </p:nvSpPr>
        <p:spPr>
          <a:xfrm>
            <a:off x="5265450" y="3361551"/>
            <a:ext cx="3706500" cy="73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In fact, pretty much everything you do with a socket might throw a </a:t>
            </a:r>
            <a:r>
              <a:rPr lang="en" sz="1300" b="1" i="1">
                <a:solidFill>
                  <a:srgbClr val="FF0000"/>
                </a:solidFill>
                <a:latin typeface="Arial"/>
                <a:ea typeface="Arial"/>
                <a:cs typeface="Arial"/>
                <a:sym typeface="Arial"/>
              </a:rPr>
              <a:t>checked</a:t>
            </a:r>
            <a:r>
              <a:rPr lang="en" sz="1300" b="1" i="1">
                <a:solidFill>
                  <a:srgbClr val="FF0000"/>
                </a:solidFill>
              </a:rPr>
              <a:t> </a:t>
            </a:r>
            <a:r>
              <a:rPr lang="en" sz="1300">
                <a:solidFill>
                  <a:schemeClr val="dk1"/>
                </a:solidFill>
                <a:latin typeface="Arial"/>
                <a:ea typeface="Arial"/>
                <a:cs typeface="Arial"/>
                <a:sym typeface="Arial"/>
              </a:rPr>
              <a:t>exception.</a:t>
            </a:r>
            <a:endParaRPr sz="13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1"/>
                                        </p:tgtEl>
                                        <p:attrNameLst>
                                          <p:attrName>style.visibility</p:attrName>
                                        </p:attrNameLst>
                                      </p:cBhvr>
                                      <p:to>
                                        <p:strVal val="visible"/>
                                      </p:to>
                                    </p:set>
                                    <p:animEffect transition="in" filter="fade">
                                      <p:cBhvr>
                                        <p:cTn id="7" dur="1000"/>
                                        <p:tgtEl>
                                          <p:spTgt spid="5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0"/>
                                        </p:tgtEl>
                                        <p:attrNameLst>
                                          <p:attrName>style.visibility</p:attrName>
                                        </p:attrNameLst>
                                      </p:cBhvr>
                                      <p:to>
                                        <p:strVal val="visible"/>
                                      </p:to>
                                    </p:set>
                                    <p:animEffect transition="in" filter="fade">
                                      <p:cBhvr>
                                        <p:cTn id="12" dur="1000"/>
                                        <p:tgtEl>
                                          <p:spTgt spid="5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4"/>
                                        </p:tgtEl>
                                        <p:attrNameLst>
                                          <p:attrName>style.visibility</p:attrName>
                                        </p:attrNameLst>
                                      </p:cBhvr>
                                      <p:to>
                                        <p:strVal val="visible"/>
                                      </p:to>
                                    </p:set>
                                    <p:animEffect transition="in" filter="fade">
                                      <p:cBhvr>
                                        <p:cTn id="17" dur="1000"/>
                                        <p:tgtEl>
                                          <p:spTgt spid="5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2"/>
                                        </p:tgtEl>
                                        <p:attrNameLst>
                                          <p:attrName>style.visibility</p:attrName>
                                        </p:attrNameLst>
                                      </p:cBhvr>
                                      <p:to>
                                        <p:strVal val="visible"/>
                                      </p:to>
                                    </p:set>
                                    <p:animEffect transition="in" filter="fade">
                                      <p:cBhvr>
                                        <p:cTn id="22" dur="1000"/>
                                        <p:tgtEl>
                                          <p:spTgt spid="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52"/>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Open a Socket</a:t>
            </a:r>
            <a:endParaRPr sz="3400"/>
          </a:p>
        </p:txBody>
      </p:sp>
      <p:sp>
        <p:nvSpPr>
          <p:cNvPr id="520" name="Google Shape;520;p52"/>
          <p:cNvSpPr txBox="1">
            <a:spLocks noGrp="1"/>
          </p:cNvSpPr>
          <p:nvPr>
            <p:ph type="body" idx="1"/>
          </p:nvPr>
        </p:nvSpPr>
        <p:spPr>
          <a:xfrm>
            <a:off x="65250" y="731625"/>
            <a:ext cx="89559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Clr>
                <a:srgbClr val="000000"/>
              </a:buClr>
              <a:buSzPts val="1800"/>
              <a:buNone/>
            </a:pPr>
            <a:r>
              <a:rPr lang="en" dirty="0"/>
              <a:t>A Java Socket establishes a TCP/IP connection to some host on a specific port. Let's practice by opening Sockets to several different host and port combinations.</a:t>
            </a:r>
            <a:endParaRPr sz="1500" dirty="0">
              <a:latin typeface="Calibri"/>
              <a:ea typeface="Calibri"/>
              <a:cs typeface="Calibri"/>
              <a:sym typeface="Calibri"/>
            </a:endParaRPr>
          </a:p>
        </p:txBody>
      </p:sp>
      <p:sp>
        <p:nvSpPr>
          <p:cNvPr id="521" name="Google Shape;521;p52"/>
          <p:cNvSpPr txBox="1"/>
          <p:nvPr/>
        </p:nvSpPr>
        <p:spPr>
          <a:xfrm>
            <a:off x="141600" y="3621150"/>
            <a:ext cx="41547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spcBef>
                <a:spcPts val="0"/>
              </a:spcBef>
              <a:spcAft>
                <a:spcPts val="0"/>
              </a:spcAft>
              <a:buNone/>
            </a:pPr>
            <a:r>
              <a:rPr lang="en" dirty="0">
                <a:solidFill>
                  <a:schemeClr val="dk1"/>
                </a:solidFill>
              </a:rPr>
              <a:t>What will happen if a computer with that name doesn’t exist?</a:t>
            </a:r>
            <a:endParaRPr dirty="0">
              <a:solidFill>
                <a:schemeClr val="dk1"/>
              </a:solidFill>
            </a:endParaRPr>
          </a:p>
        </p:txBody>
      </p:sp>
      <p:sp>
        <p:nvSpPr>
          <p:cNvPr id="522" name="Google Shape;522;p52"/>
          <p:cNvSpPr txBox="1"/>
          <p:nvPr/>
        </p:nvSpPr>
        <p:spPr>
          <a:xfrm>
            <a:off x="141600" y="2852225"/>
            <a:ext cx="41547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spcBef>
                <a:spcPts val="0"/>
              </a:spcBef>
              <a:spcAft>
                <a:spcPts val="0"/>
              </a:spcAft>
              <a:buNone/>
            </a:pPr>
            <a:r>
              <a:rPr lang="en">
                <a:solidFill>
                  <a:schemeClr val="dk1"/>
                </a:solidFill>
              </a:rPr>
              <a:t>What if the computer that you are trying to connect to is not listening on the specified port?</a:t>
            </a:r>
            <a:endParaRPr>
              <a:solidFill>
                <a:schemeClr val="dk1"/>
              </a:solidFill>
            </a:endParaRPr>
          </a:p>
        </p:txBody>
      </p:sp>
      <p:sp>
        <p:nvSpPr>
          <p:cNvPr id="523" name="Google Shape;523;p52"/>
          <p:cNvSpPr txBox="1">
            <a:spLocks noGrp="1"/>
          </p:cNvSpPr>
          <p:nvPr>
            <p:ph type="body" idx="2"/>
          </p:nvPr>
        </p:nvSpPr>
        <p:spPr>
          <a:xfrm>
            <a:off x="4332125" y="1479725"/>
            <a:ext cx="4608900" cy="2993700"/>
          </a:xfrm>
          <a:prstGeom prst="rect">
            <a:avLst/>
          </a:prstGeom>
          <a:noFill/>
          <a:ln>
            <a:noFill/>
          </a:ln>
        </p:spPr>
        <p:txBody>
          <a:bodyPr spcFirstLastPara="1" wrap="square" lIns="68575" tIns="34275" rIns="68575" bIns="34275" anchor="t" anchorCtr="0">
            <a:spAutoFit/>
          </a:bodyPr>
          <a:lstStyle/>
          <a:p>
            <a:pPr marL="457200" lvl="0" indent="-349250" algn="l" rtl="0">
              <a:lnSpc>
                <a:spcPct val="100000"/>
              </a:lnSpc>
              <a:spcBef>
                <a:spcPts val="0"/>
              </a:spcBef>
              <a:spcAft>
                <a:spcPts val="0"/>
              </a:spcAft>
              <a:buSzPts val="1900"/>
              <a:buChar char="●"/>
            </a:pPr>
            <a:r>
              <a:rPr lang="en" sz="1900" dirty="0"/>
              <a:t>Create a new </a:t>
            </a:r>
            <a:r>
              <a:rPr lang="en" sz="1900" dirty="0">
                <a:solidFill>
                  <a:srgbClr val="FF0000"/>
                </a:solidFill>
                <a:latin typeface="Courier New"/>
                <a:ea typeface="Courier New"/>
                <a:cs typeface="Courier New"/>
                <a:sym typeface="Courier New"/>
              </a:rPr>
              <a:t>Connector</a:t>
            </a:r>
            <a:r>
              <a:rPr lang="en" sz="1900" dirty="0"/>
              <a:t> class in </a:t>
            </a:r>
            <a:r>
              <a:rPr lang="en" sz="1900" dirty="0">
                <a:solidFill>
                  <a:srgbClr val="FF0000"/>
                </a:solidFill>
                <a:latin typeface="Courier New"/>
                <a:ea typeface="Courier New"/>
                <a:cs typeface="Courier New"/>
                <a:sym typeface="Courier New"/>
              </a:rPr>
              <a:t>Connector.java</a:t>
            </a:r>
            <a:endParaRPr sz="1900" dirty="0"/>
          </a:p>
          <a:p>
            <a:pPr marL="457200" lvl="0" indent="-349250" algn="l" rtl="0">
              <a:lnSpc>
                <a:spcPct val="100000"/>
              </a:lnSpc>
              <a:spcBef>
                <a:spcPts val="0"/>
              </a:spcBef>
              <a:spcAft>
                <a:spcPts val="0"/>
              </a:spcAft>
              <a:buSzPts val="1900"/>
              <a:buChar char="●"/>
            </a:pPr>
            <a:r>
              <a:rPr lang="en" sz="1900" dirty="0"/>
              <a:t>Define a main method and use it to create a </a:t>
            </a:r>
            <a:r>
              <a:rPr lang="en" sz="1900" dirty="0">
                <a:latin typeface="Courier New"/>
                <a:ea typeface="Courier New"/>
                <a:cs typeface="Courier New"/>
                <a:sym typeface="Courier New"/>
              </a:rPr>
              <a:t>Socket</a:t>
            </a:r>
            <a:r>
              <a:rPr lang="en" sz="1900" dirty="0"/>
              <a:t> to the following hosts/ports one at a time:</a:t>
            </a:r>
            <a:endParaRPr sz="1900" dirty="0"/>
          </a:p>
          <a:p>
            <a:pPr marL="914400" lvl="1" indent="-349250" algn="l" rtl="0">
              <a:lnSpc>
                <a:spcPct val="100000"/>
              </a:lnSpc>
              <a:spcBef>
                <a:spcPts val="0"/>
              </a:spcBef>
              <a:spcAft>
                <a:spcPts val="0"/>
              </a:spcAft>
              <a:buSzPts val="1900"/>
              <a:buFont typeface="Courier New"/>
              <a:buChar char="○"/>
            </a:pPr>
            <a:r>
              <a:rPr lang="en" sz="1900" dirty="0">
                <a:latin typeface="Courier New"/>
                <a:ea typeface="Courier New"/>
                <a:cs typeface="Courier New"/>
                <a:sym typeface="Courier New"/>
              </a:rPr>
              <a:t>www.google.com/80</a:t>
            </a:r>
            <a:endParaRPr sz="1900" dirty="0">
              <a:latin typeface="Courier New"/>
              <a:ea typeface="Courier New"/>
              <a:cs typeface="Courier New"/>
              <a:sym typeface="Courier New"/>
            </a:endParaRPr>
          </a:p>
          <a:p>
            <a:pPr marL="914400" lvl="1" indent="-349250" algn="l" rtl="0">
              <a:lnSpc>
                <a:spcPct val="100000"/>
              </a:lnSpc>
              <a:spcBef>
                <a:spcPts val="0"/>
              </a:spcBef>
              <a:spcAft>
                <a:spcPts val="0"/>
              </a:spcAft>
              <a:buSzPts val="1900"/>
              <a:buFont typeface="Courier New"/>
              <a:buChar char="○"/>
            </a:pPr>
            <a:r>
              <a:rPr lang="en" sz="1900" dirty="0">
                <a:latin typeface="Courier New"/>
                <a:ea typeface="Courier New"/>
                <a:cs typeface="Courier New"/>
                <a:sym typeface="Courier New"/>
              </a:rPr>
              <a:t>www.npr.org/443</a:t>
            </a:r>
            <a:endParaRPr sz="1900" dirty="0">
              <a:latin typeface="Courier New"/>
              <a:ea typeface="Courier New"/>
              <a:cs typeface="Courier New"/>
              <a:sym typeface="Courier New"/>
            </a:endParaRPr>
          </a:p>
          <a:p>
            <a:pPr marL="914400" lvl="1" indent="-349250" algn="l" rtl="0">
              <a:lnSpc>
                <a:spcPct val="100000"/>
              </a:lnSpc>
              <a:spcBef>
                <a:spcPts val="0"/>
              </a:spcBef>
              <a:spcAft>
                <a:spcPts val="0"/>
              </a:spcAft>
              <a:buSzPts val="1900"/>
              <a:buChar char="○"/>
            </a:pPr>
            <a:r>
              <a:rPr lang="en" sz="1900" dirty="0">
                <a:latin typeface="Courier New"/>
                <a:ea typeface="Courier New"/>
                <a:cs typeface="Courier New"/>
                <a:sym typeface="Courier New"/>
              </a:rPr>
              <a:t>gcis-124.rit.edu/33075</a:t>
            </a:r>
            <a:endParaRPr sz="1900" dirty="0">
              <a:latin typeface="Courier New"/>
              <a:ea typeface="Courier New"/>
              <a:cs typeface="Courier New"/>
              <a:sym typeface="Courier New"/>
            </a:endParaRPr>
          </a:p>
          <a:p>
            <a:pPr marL="457200" lvl="0" indent="-349250" algn="l" rtl="0">
              <a:lnSpc>
                <a:spcPct val="100000"/>
              </a:lnSpc>
              <a:spcBef>
                <a:spcPts val="0"/>
              </a:spcBef>
              <a:spcAft>
                <a:spcPts val="0"/>
              </a:spcAft>
              <a:buSzPts val="1900"/>
              <a:buChar char="●"/>
            </a:pPr>
            <a:r>
              <a:rPr lang="en" sz="1900" dirty="0"/>
              <a:t>Don't forget to </a:t>
            </a:r>
            <a:r>
              <a:rPr lang="en" sz="1900" b="1" i="1" dirty="0">
                <a:solidFill>
                  <a:srgbClr val="FF0000"/>
                </a:solidFill>
              </a:rPr>
              <a:t>close</a:t>
            </a:r>
            <a:r>
              <a:rPr lang="en" sz="1900" dirty="0"/>
              <a:t> the socket(s) after opening!</a:t>
            </a:r>
            <a:endParaRPr sz="1900" dirty="0"/>
          </a:p>
        </p:txBody>
      </p:sp>
      <p:sp>
        <p:nvSpPr>
          <p:cNvPr id="524" name="Google Shape;52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525" name="Google Shape;525;p5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9.4</a:t>
            </a:r>
            <a:endParaRPr/>
          </a:p>
        </p:txBody>
      </p:sp>
      <p:sp>
        <p:nvSpPr>
          <p:cNvPr id="526" name="Google Shape;526;p52"/>
          <p:cNvSpPr txBox="1"/>
          <p:nvPr/>
        </p:nvSpPr>
        <p:spPr>
          <a:xfrm>
            <a:off x="141600" y="1610800"/>
            <a:ext cx="4154700" cy="11280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650">
                <a:solidFill>
                  <a:srgbClr val="267F99"/>
                </a:solidFill>
                <a:latin typeface="Consolas"/>
                <a:ea typeface="Consolas"/>
                <a:cs typeface="Consolas"/>
                <a:sym typeface="Consolas"/>
              </a:rPr>
              <a:t>Socket</a:t>
            </a:r>
            <a:r>
              <a:rPr lang="en" sz="1650">
                <a:latin typeface="Consolas"/>
                <a:ea typeface="Consolas"/>
                <a:cs typeface="Consolas"/>
                <a:sym typeface="Consolas"/>
              </a:rPr>
              <a:t> </a:t>
            </a:r>
            <a:r>
              <a:rPr lang="en" sz="1650">
                <a:solidFill>
                  <a:srgbClr val="001080"/>
                </a:solidFill>
                <a:latin typeface="Consolas"/>
                <a:ea typeface="Consolas"/>
                <a:cs typeface="Consolas"/>
                <a:sym typeface="Consolas"/>
              </a:rPr>
              <a:t>sock</a:t>
            </a:r>
            <a:r>
              <a:rPr lang="en" sz="1650">
                <a:latin typeface="Consolas"/>
                <a:ea typeface="Consolas"/>
                <a:cs typeface="Consolas"/>
                <a:sym typeface="Consolas"/>
              </a:rPr>
              <a:t> = </a:t>
            </a:r>
            <a:endParaRPr sz="1650">
              <a:latin typeface="Consolas"/>
              <a:ea typeface="Consolas"/>
              <a:cs typeface="Consolas"/>
              <a:sym typeface="Consolas"/>
            </a:endParaRPr>
          </a:p>
          <a:p>
            <a:pPr marL="0" lvl="0" indent="457200" algn="l" rtl="0">
              <a:lnSpc>
                <a:spcPct val="135714"/>
              </a:lnSpc>
              <a:spcBef>
                <a:spcPts val="0"/>
              </a:spcBef>
              <a:spcAft>
                <a:spcPts val="0"/>
              </a:spcAft>
              <a:buNone/>
            </a:pPr>
            <a:r>
              <a:rPr lang="en" sz="1650">
                <a:solidFill>
                  <a:srgbClr val="AF00DB"/>
                </a:solidFill>
                <a:latin typeface="Consolas"/>
                <a:ea typeface="Consolas"/>
                <a:cs typeface="Consolas"/>
                <a:sym typeface="Consolas"/>
              </a:rPr>
              <a:t>new</a:t>
            </a:r>
            <a:r>
              <a:rPr lang="en" sz="1650">
                <a:latin typeface="Consolas"/>
                <a:ea typeface="Consolas"/>
                <a:cs typeface="Consolas"/>
                <a:sym typeface="Consolas"/>
              </a:rPr>
              <a:t> </a:t>
            </a:r>
            <a:r>
              <a:rPr lang="en" sz="1650">
                <a:solidFill>
                  <a:srgbClr val="795E26"/>
                </a:solidFill>
                <a:latin typeface="Consolas"/>
                <a:ea typeface="Consolas"/>
                <a:cs typeface="Consolas"/>
                <a:sym typeface="Consolas"/>
              </a:rPr>
              <a:t>Socket</a:t>
            </a:r>
            <a:r>
              <a:rPr lang="en" sz="1650">
                <a:latin typeface="Consolas"/>
                <a:ea typeface="Consolas"/>
                <a:cs typeface="Consolas"/>
                <a:sym typeface="Consolas"/>
              </a:rPr>
              <a:t>(</a:t>
            </a:r>
            <a:r>
              <a:rPr lang="en" sz="1650">
                <a:solidFill>
                  <a:srgbClr val="A31515"/>
                </a:solidFill>
                <a:latin typeface="Consolas"/>
                <a:ea typeface="Consolas"/>
                <a:cs typeface="Consolas"/>
                <a:sym typeface="Consolas"/>
              </a:rPr>
              <a:t>"localhost"</a:t>
            </a:r>
            <a:r>
              <a:rPr lang="en" sz="1650">
                <a:latin typeface="Consolas"/>
                <a:ea typeface="Consolas"/>
                <a:cs typeface="Consolas"/>
                <a:sym typeface="Consolas"/>
              </a:rPr>
              <a:t>, </a:t>
            </a:r>
            <a:r>
              <a:rPr lang="en" sz="1650">
                <a:solidFill>
                  <a:srgbClr val="098658"/>
                </a:solidFill>
                <a:latin typeface="Consolas"/>
                <a:ea typeface="Consolas"/>
                <a:cs typeface="Consolas"/>
                <a:sym typeface="Consolas"/>
              </a:rPr>
              <a:t>1234</a:t>
            </a:r>
            <a:r>
              <a:rPr lang="en" sz="1650">
                <a:latin typeface="Consolas"/>
                <a:ea typeface="Consolas"/>
                <a:cs typeface="Consolas"/>
                <a:sym typeface="Consolas"/>
              </a:rPr>
              <a:t>);</a:t>
            </a:r>
            <a:endParaRPr sz="1650">
              <a:latin typeface="Consolas"/>
              <a:ea typeface="Consolas"/>
              <a:cs typeface="Consolas"/>
              <a:sym typeface="Consolas"/>
            </a:endParaRPr>
          </a:p>
          <a:p>
            <a:pPr marL="0" lvl="0" indent="0" algn="l" rtl="0">
              <a:lnSpc>
                <a:spcPct val="135714"/>
              </a:lnSpc>
              <a:spcBef>
                <a:spcPts val="0"/>
              </a:spcBef>
              <a:spcAft>
                <a:spcPts val="0"/>
              </a:spcAft>
              <a:buNone/>
            </a:pPr>
            <a:r>
              <a:rPr lang="en" sz="1650">
                <a:solidFill>
                  <a:srgbClr val="001080"/>
                </a:solidFill>
                <a:latin typeface="Consolas"/>
                <a:ea typeface="Consolas"/>
                <a:cs typeface="Consolas"/>
                <a:sym typeface="Consolas"/>
              </a:rPr>
              <a:t>socket</a:t>
            </a:r>
            <a:r>
              <a:rPr lang="en" sz="1650">
                <a:latin typeface="Consolas"/>
                <a:ea typeface="Consolas"/>
                <a:cs typeface="Consolas"/>
                <a:sym typeface="Consolas"/>
              </a:rPr>
              <a:t>.</a:t>
            </a:r>
            <a:r>
              <a:rPr lang="en" sz="1650">
                <a:solidFill>
                  <a:srgbClr val="795E26"/>
                </a:solidFill>
                <a:latin typeface="Consolas"/>
                <a:ea typeface="Consolas"/>
                <a:cs typeface="Consolas"/>
                <a:sym typeface="Consolas"/>
              </a:rPr>
              <a:t>close</a:t>
            </a:r>
            <a:r>
              <a:rPr lang="en" sz="1650">
                <a:latin typeface="Consolas"/>
                <a:ea typeface="Consolas"/>
                <a:cs typeface="Consolas"/>
                <a:sym typeface="Consolas"/>
              </a:rPr>
              <a:t>();</a:t>
            </a:r>
            <a:endParaRPr sz="1650">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53"/>
          <p:cNvSpPr txBox="1">
            <a:spLocks noGrp="1"/>
          </p:cNvSpPr>
          <p:nvPr>
            <p:ph type="title"/>
          </p:nvPr>
        </p:nvSpPr>
        <p:spPr>
          <a:xfrm>
            <a:off x="5264725" y="112050"/>
            <a:ext cx="3706500" cy="5643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Sending Data</a:t>
            </a:r>
            <a:endParaRPr/>
          </a:p>
        </p:txBody>
      </p:sp>
      <p:sp>
        <p:nvSpPr>
          <p:cNvPr id="532" name="Google Shape;532;p53"/>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rmAutofit lnSpcReduction="10000"/>
          </a:bodyPr>
          <a:lstStyle/>
          <a:p>
            <a:pPr marL="457200" lvl="0" indent="-311150" algn="l" rtl="0">
              <a:lnSpc>
                <a:spcPct val="115000"/>
              </a:lnSpc>
              <a:spcBef>
                <a:spcPts val="0"/>
              </a:spcBef>
              <a:spcAft>
                <a:spcPts val="0"/>
              </a:spcAft>
              <a:buSzPts val="1300"/>
              <a:buChar char="●"/>
            </a:pPr>
            <a:r>
              <a:rPr lang="en" dirty="0"/>
              <a:t>Once a connection is established, </a:t>
            </a:r>
            <a:r>
              <a:rPr lang="en" b="1" i="1" dirty="0">
                <a:solidFill>
                  <a:srgbClr val="FF0000"/>
                </a:solidFill>
              </a:rPr>
              <a:t>both</a:t>
            </a:r>
            <a:r>
              <a:rPr lang="en" dirty="0"/>
              <a:t> sides of the connection are represented as </a:t>
            </a:r>
            <a:r>
              <a:rPr lang="en" dirty="0">
                <a:latin typeface="Courier New"/>
                <a:ea typeface="Courier New"/>
                <a:cs typeface="Courier New"/>
                <a:sym typeface="Courier New"/>
              </a:rPr>
              <a:t>Socket</a:t>
            </a:r>
            <a:r>
              <a:rPr lang="en" dirty="0"/>
              <a:t>s</a:t>
            </a:r>
            <a:endParaRPr dirty="0"/>
          </a:p>
          <a:p>
            <a:pPr marL="457200" lvl="0" indent="-311150" algn="l" rtl="0">
              <a:lnSpc>
                <a:spcPct val="115000"/>
              </a:lnSpc>
              <a:spcBef>
                <a:spcPts val="1000"/>
              </a:spcBef>
              <a:spcAft>
                <a:spcPts val="0"/>
              </a:spcAft>
              <a:buSzPts val="1300"/>
              <a:buChar char="●"/>
            </a:pPr>
            <a:r>
              <a:rPr lang="en" dirty="0"/>
              <a:t>The </a:t>
            </a:r>
            <a:r>
              <a:rPr lang="en" dirty="0">
                <a:highlight>
                  <a:srgbClr val="FFFF00"/>
                </a:highlight>
                <a:latin typeface="Courier New"/>
                <a:ea typeface="Courier New"/>
                <a:cs typeface="Courier New"/>
                <a:sym typeface="Courier New"/>
              </a:rPr>
              <a:t>getOutputStream()</a:t>
            </a:r>
            <a:r>
              <a:rPr lang="en" dirty="0">
                <a:highlight>
                  <a:srgbClr val="FFFF00"/>
                </a:highlight>
              </a:rPr>
              <a:t> </a:t>
            </a:r>
            <a:r>
              <a:rPr lang="en" dirty="0"/>
              <a:t>method will return an </a:t>
            </a:r>
            <a:r>
              <a:rPr lang="en" dirty="0">
                <a:latin typeface="Courier New"/>
                <a:ea typeface="Courier New"/>
                <a:cs typeface="Courier New"/>
                <a:sym typeface="Courier New"/>
              </a:rPr>
              <a:t>OutputStream</a:t>
            </a:r>
            <a:r>
              <a:rPr lang="en" dirty="0"/>
              <a:t> that can be used to </a:t>
            </a:r>
            <a:r>
              <a:rPr lang="en" b="1" i="1" dirty="0">
                <a:solidFill>
                  <a:srgbClr val="FF0000"/>
                </a:solidFill>
              </a:rPr>
              <a:t>send</a:t>
            </a:r>
            <a:r>
              <a:rPr lang="en" dirty="0"/>
              <a:t> data to the other end of the connection</a:t>
            </a:r>
            <a:endParaRPr dirty="0"/>
          </a:p>
          <a:p>
            <a:pPr marL="457200" lvl="0" indent="-311150" algn="l" rtl="0">
              <a:lnSpc>
                <a:spcPct val="115000"/>
              </a:lnSpc>
              <a:spcBef>
                <a:spcPts val="1000"/>
              </a:spcBef>
              <a:spcAft>
                <a:spcPts val="0"/>
              </a:spcAft>
              <a:buSzPts val="1300"/>
              <a:buChar char="●"/>
            </a:pPr>
            <a:r>
              <a:rPr lang="en" dirty="0"/>
              <a:t>Recall that Java streams are used to send </a:t>
            </a:r>
            <a:r>
              <a:rPr lang="en" b="1" i="1" dirty="0">
                <a:solidFill>
                  <a:srgbClr val="FF0000"/>
                </a:solidFill>
              </a:rPr>
              <a:t>binary data</a:t>
            </a:r>
            <a:r>
              <a:rPr lang="en" dirty="0"/>
              <a:t>. If </a:t>
            </a:r>
            <a:r>
              <a:rPr lang="en" b="1" i="1" dirty="0">
                <a:solidFill>
                  <a:srgbClr val="FF0000"/>
                </a:solidFill>
              </a:rPr>
              <a:t>text data</a:t>
            </a:r>
            <a:r>
              <a:rPr lang="en" dirty="0"/>
              <a:t> is preferred, the </a:t>
            </a:r>
            <a:r>
              <a:rPr lang="en" dirty="0">
                <a:latin typeface="Consolas"/>
                <a:ea typeface="Consolas"/>
                <a:cs typeface="Consolas"/>
                <a:sym typeface="Consolas"/>
              </a:rPr>
              <a:t>OutputStream</a:t>
            </a:r>
            <a:r>
              <a:rPr lang="en" dirty="0"/>
              <a:t> may be wrapped in an instance of the </a:t>
            </a:r>
            <a:r>
              <a:rPr lang="en" dirty="0">
                <a:highlight>
                  <a:srgbClr val="FFFF00"/>
                </a:highlight>
                <a:latin typeface="Courier New"/>
                <a:ea typeface="Courier New"/>
                <a:cs typeface="Courier New"/>
                <a:sym typeface="Courier New"/>
              </a:rPr>
              <a:t>java.io.PrintWriter</a:t>
            </a:r>
            <a:r>
              <a:rPr lang="en" dirty="0">
                <a:highlight>
                  <a:srgbClr val="FFFF00"/>
                </a:highlight>
              </a:rPr>
              <a:t> class</a:t>
            </a:r>
            <a:endParaRPr dirty="0">
              <a:highlight>
                <a:srgbClr val="FFFF00"/>
              </a:highlight>
            </a:endParaRPr>
          </a:p>
          <a:p>
            <a:pPr marL="0" lvl="0" indent="457200" algn="l" rtl="0">
              <a:lnSpc>
                <a:spcPct val="115000"/>
              </a:lnSpc>
              <a:spcBef>
                <a:spcPts val="600"/>
              </a:spcBef>
              <a:spcAft>
                <a:spcPts val="0"/>
              </a:spcAft>
              <a:buNone/>
            </a:pPr>
            <a:r>
              <a:rPr lang="en" sz="1200" dirty="0">
                <a:latin typeface="Courier New"/>
                <a:ea typeface="Courier New"/>
                <a:cs typeface="Courier New"/>
                <a:sym typeface="Courier New"/>
              </a:rPr>
              <a:t>  PrintWriter writer = </a:t>
            </a:r>
            <a:endParaRPr sz="1200" dirty="0">
              <a:latin typeface="Courier New"/>
              <a:ea typeface="Courier New"/>
              <a:cs typeface="Courier New"/>
              <a:sym typeface="Courier New"/>
            </a:endParaRPr>
          </a:p>
          <a:p>
            <a:pPr marL="0" lvl="0" indent="457200" algn="l" rtl="0">
              <a:lnSpc>
                <a:spcPct val="115000"/>
              </a:lnSpc>
              <a:spcBef>
                <a:spcPts val="0"/>
              </a:spcBef>
              <a:spcAft>
                <a:spcPts val="0"/>
              </a:spcAft>
              <a:buNone/>
            </a:pPr>
            <a:r>
              <a:rPr lang="en" sz="1200" dirty="0">
                <a:latin typeface="Courier New"/>
                <a:ea typeface="Courier New"/>
                <a:cs typeface="Courier New"/>
                <a:sym typeface="Courier New"/>
              </a:rPr>
              <a:t>      new PrintWriter(stream);</a:t>
            </a:r>
            <a:endParaRPr sz="1200" dirty="0">
              <a:latin typeface="Courier New"/>
              <a:ea typeface="Courier New"/>
              <a:cs typeface="Courier New"/>
              <a:sym typeface="Courier New"/>
            </a:endParaRPr>
          </a:p>
          <a:p>
            <a:pPr lvl="0">
              <a:spcBef>
                <a:spcPts val="600"/>
              </a:spcBef>
            </a:pPr>
            <a:r>
              <a:rPr lang="en-US" dirty="0"/>
              <a:t>methods:</a:t>
            </a:r>
          </a:p>
          <a:p>
            <a:pPr lvl="1" indent="-304800">
              <a:spcBef>
                <a:spcPts val="0"/>
              </a:spcBef>
              <a:buSzPts val="1200"/>
            </a:pPr>
            <a:r>
              <a:rPr lang="en-US" sz="1200" dirty="0" err="1">
                <a:latin typeface="Courier New"/>
                <a:ea typeface="Courier New"/>
                <a:cs typeface="Courier New"/>
                <a:sym typeface="Courier New"/>
              </a:rPr>
              <a:t>println</a:t>
            </a:r>
            <a:r>
              <a:rPr lang="en-US" sz="1200" dirty="0">
                <a:latin typeface="Courier New"/>
                <a:ea typeface="Courier New"/>
                <a:cs typeface="Courier New"/>
                <a:sym typeface="Courier New"/>
              </a:rPr>
              <a:t>(String)</a:t>
            </a:r>
            <a:r>
              <a:rPr lang="en-US" sz="1200" dirty="0"/>
              <a:t> - writes a string of </a:t>
            </a:r>
            <a:r>
              <a:rPr lang="en-US" sz="1200" b="1" i="1" dirty="0">
                <a:solidFill>
                  <a:srgbClr val="FF0000"/>
                </a:solidFill>
              </a:rPr>
              <a:t>text</a:t>
            </a:r>
            <a:r>
              <a:rPr lang="en-US" sz="1200" dirty="0"/>
              <a:t> terminated with a newline</a:t>
            </a:r>
          </a:p>
          <a:p>
            <a:pPr lvl="1" indent="-304800">
              <a:spcBef>
                <a:spcPts val="0"/>
              </a:spcBef>
              <a:buSzPts val="1200"/>
            </a:pPr>
            <a:r>
              <a:rPr lang="en-US" sz="1200" dirty="0">
                <a:latin typeface="Courier New"/>
                <a:ea typeface="Courier New"/>
                <a:cs typeface="Courier New"/>
                <a:sym typeface="Courier New"/>
              </a:rPr>
              <a:t>write(char[])</a:t>
            </a:r>
            <a:r>
              <a:rPr lang="en-US" sz="1200" dirty="0"/>
              <a:t> - writes a character </a:t>
            </a:r>
            <a:r>
              <a:rPr lang="en-US" sz="1200" b="1" i="1" dirty="0">
                <a:solidFill>
                  <a:srgbClr val="FF0000"/>
                </a:solidFill>
              </a:rPr>
              <a:t>buffer</a:t>
            </a:r>
          </a:p>
          <a:p>
            <a:pPr lvl="1" indent="-304800">
              <a:spcBef>
                <a:spcPts val="0"/>
              </a:spcBef>
              <a:buSzPts val="1200"/>
            </a:pPr>
            <a:r>
              <a:rPr lang="en-US" sz="1200" dirty="0">
                <a:highlight>
                  <a:srgbClr val="FFFF00"/>
                </a:highlight>
                <a:latin typeface="Courier New"/>
                <a:ea typeface="Courier New"/>
                <a:cs typeface="Courier New"/>
                <a:sym typeface="Courier New"/>
              </a:rPr>
              <a:t>flush()</a:t>
            </a:r>
            <a:r>
              <a:rPr lang="en-US" sz="1200" dirty="0">
                <a:highlight>
                  <a:srgbClr val="FFFF00"/>
                </a:highlight>
              </a:rPr>
              <a:t> </a:t>
            </a:r>
            <a:r>
              <a:rPr lang="en-US" sz="1200" dirty="0"/>
              <a:t>- sends any buffered data to the </a:t>
            </a:r>
            <a:r>
              <a:rPr lang="en-US" sz="1200" b="1" i="1" dirty="0">
                <a:solidFill>
                  <a:srgbClr val="FF0000"/>
                </a:solidFill>
              </a:rPr>
              <a:t>other side</a:t>
            </a:r>
          </a:p>
          <a:p>
            <a:pPr marL="457200" lvl="0" indent="-311150" algn="l" rtl="0">
              <a:lnSpc>
                <a:spcPct val="115000"/>
              </a:lnSpc>
              <a:spcBef>
                <a:spcPts val="600"/>
              </a:spcBef>
              <a:spcAft>
                <a:spcPts val="0"/>
              </a:spcAft>
              <a:buSzPts val="1300"/>
              <a:buChar char="●"/>
            </a:pPr>
            <a:r>
              <a:rPr lang="en" dirty="0"/>
              <a:t>A </a:t>
            </a:r>
            <a:r>
              <a:rPr lang="en" dirty="0">
                <a:latin typeface="Courier New"/>
                <a:ea typeface="Courier New"/>
                <a:cs typeface="Courier New"/>
                <a:sym typeface="Courier New"/>
              </a:rPr>
              <a:t>PrintWriter</a:t>
            </a:r>
            <a:r>
              <a:rPr lang="en" dirty="0"/>
              <a:t> provides lots of useful</a:t>
            </a:r>
            <a:endParaRPr sz="1200" b="1" i="1" dirty="0">
              <a:solidFill>
                <a:srgbClr val="FF0000"/>
              </a:solidFill>
            </a:endParaRPr>
          </a:p>
        </p:txBody>
      </p:sp>
      <p:pic>
        <p:nvPicPr>
          <p:cNvPr id="533" name="Google Shape;533;p53"/>
          <p:cNvPicPr preferRelativeResize="0"/>
          <p:nvPr/>
        </p:nvPicPr>
        <p:blipFill rotWithShape="1">
          <a:blip r:embed="rId3">
            <a:alphaModFix/>
          </a:blip>
          <a:srcRect/>
          <a:stretch/>
        </p:blipFill>
        <p:spPr>
          <a:xfrm rot="1255174" flipH="1">
            <a:off x="7338581" y="3890617"/>
            <a:ext cx="1307539" cy="1307567"/>
          </a:xfrm>
          <a:prstGeom prst="rect">
            <a:avLst/>
          </a:prstGeom>
          <a:noFill/>
          <a:ln>
            <a:noFill/>
          </a:ln>
        </p:spPr>
      </p:pic>
      <p:sp>
        <p:nvSpPr>
          <p:cNvPr id="534" name="Google Shape;534;p53"/>
          <p:cNvSpPr/>
          <p:nvPr/>
        </p:nvSpPr>
        <p:spPr>
          <a:xfrm>
            <a:off x="6742737" y="3941139"/>
            <a:ext cx="759000" cy="431100"/>
          </a:xfrm>
          <a:prstGeom prst="wedgeRoundRectCallout">
            <a:avLst>
              <a:gd name="adj1" fmla="val 120496"/>
              <a:gd name="adj2" fmla="val -21648"/>
              <a:gd name="adj3" fmla="val 0"/>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pic>
        <p:nvPicPr>
          <p:cNvPr id="535" name="Google Shape;535;p53"/>
          <p:cNvPicPr preferRelativeResize="0"/>
          <p:nvPr/>
        </p:nvPicPr>
        <p:blipFill rotWithShape="1">
          <a:blip r:embed="rId4">
            <a:alphaModFix/>
          </a:blip>
          <a:srcRect r="46729" b="17594"/>
          <a:stretch/>
        </p:blipFill>
        <p:spPr>
          <a:xfrm flipH="1">
            <a:off x="7698026" y="1442989"/>
            <a:ext cx="1015500" cy="1127850"/>
          </a:xfrm>
          <a:prstGeom prst="rect">
            <a:avLst/>
          </a:prstGeom>
          <a:noFill/>
          <a:ln>
            <a:noFill/>
          </a:ln>
        </p:spPr>
      </p:pic>
      <p:sp>
        <p:nvSpPr>
          <p:cNvPr id="536" name="Google Shape;536;p53"/>
          <p:cNvSpPr txBox="1"/>
          <p:nvPr/>
        </p:nvSpPr>
        <p:spPr>
          <a:xfrm>
            <a:off x="5399850" y="699950"/>
            <a:ext cx="3326700" cy="68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It can be helpful to think of the two ends of the connection like a telephone.</a:t>
            </a:r>
            <a:endParaRPr>
              <a:solidFill>
                <a:schemeClr val="dk1"/>
              </a:solidFill>
              <a:latin typeface="Arial"/>
              <a:ea typeface="Arial"/>
              <a:cs typeface="Arial"/>
              <a:sym typeface="Arial"/>
            </a:endParaRPr>
          </a:p>
        </p:txBody>
      </p:sp>
      <p:pic>
        <p:nvPicPr>
          <p:cNvPr id="537" name="Google Shape;537;p53"/>
          <p:cNvPicPr preferRelativeResize="0"/>
          <p:nvPr/>
        </p:nvPicPr>
        <p:blipFill rotWithShape="1">
          <a:blip r:embed="rId3">
            <a:alphaModFix/>
          </a:blip>
          <a:srcRect/>
          <a:stretch/>
        </p:blipFill>
        <p:spPr>
          <a:xfrm rot="-1610027">
            <a:off x="5407702" y="1377997"/>
            <a:ext cx="1375847" cy="1375858"/>
          </a:xfrm>
          <a:prstGeom prst="rect">
            <a:avLst/>
          </a:prstGeom>
          <a:noFill/>
          <a:ln>
            <a:noFill/>
          </a:ln>
        </p:spPr>
      </p:pic>
      <p:sp>
        <p:nvSpPr>
          <p:cNvPr id="538" name="Google Shape;538;p53"/>
          <p:cNvSpPr txBox="1"/>
          <p:nvPr/>
        </p:nvSpPr>
        <p:spPr>
          <a:xfrm>
            <a:off x="5399850" y="2661775"/>
            <a:ext cx="3326700" cy="51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Audio sent through the microphone (</a:t>
            </a:r>
            <a:r>
              <a:rPr lang="en" b="1" i="1">
                <a:solidFill>
                  <a:srgbClr val="FF0000"/>
                </a:solidFill>
                <a:latin typeface="Arial"/>
                <a:ea typeface="Arial"/>
                <a:cs typeface="Arial"/>
                <a:sym typeface="Arial"/>
              </a:rPr>
              <a:t>output stream</a:t>
            </a:r>
            <a:r>
              <a:rPr lang="en">
                <a:solidFill>
                  <a:schemeClr val="dk1"/>
                </a:solidFill>
                <a:latin typeface="Arial"/>
                <a:ea typeface="Arial"/>
                <a:cs typeface="Arial"/>
                <a:sym typeface="Arial"/>
              </a:rPr>
              <a:t>) on one end...</a:t>
            </a:r>
            <a:endParaRPr>
              <a:solidFill>
                <a:schemeClr val="dk1"/>
              </a:solidFill>
              <a:latin typeface="Arial"/>
              <a:ea typeface="Arial"/>
              <a:cs typeface="Arial"/>
              <a:sym typeface="Arial"/>
            </a:endParaRPr>
          </a:p>
        </p:txBody>
      </p:sp>
      <p:sp>
        <p:nvSpPr>
          <p:cNvPr id="539" name="Google Shape;539;p53"/>
          <p:cNvSpPr txBox="1"/>
          <p:nvPr/>
        </p:nvSpPr>
        <p:spPr>
          <a:xfrm>
            <a:off x="5399850" y="3306600"/>
            <a:ext cx="3326700" cy="51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...is heard through the speaker (</a:t>
            </a:r>
            <a:r>
              <a:rPr lang="en" b="1" i="1">
                <a:solidFill>
                  <a:srgbClr val="FF0000"/>
                </a:solidFill>
                <a:latin typeface="Arial"/>
                <a:ea typeface="Arial"/>
                <a:cs typeface="Arial"/>
                <a:sym typeface="Arial"/>
              </a:rPr>
              <a:t>input stream</a:t>
            </a:r>
            <a:r>
              <a:rPr lang="en">
                <a:solidFill>
                  <a:schemeClr val="dk1"/>
                </a:solidFill>
                <a:latin typeface="Arial"/>
                <a:ea typeface="Arial"/>
                <a:cs typeface="Arial"/>
                <a:sym typeface="Arial"/>
              </a:rPr>
              <a:t>) on the other.</a:t>
            </a:r>
            <a:endParaRPr>
              <a:solidFill>
                <a:schemeClr val="dk1"/>
              </a:solidFill>
              <a:latin typeface="Arial"/>
              <a:ea typeface="Arial"/>
              <a:cs typeface="Arial"/>
              <a:sym typeface="Arial"/>
            </a:endParaRPr>
          </a:p>
        </p:txBody>
      </p:sp>
      <p:sp>
        <p:nvSpPr>
          <p:cNvPr id="540" name="Google Shape;540;p53"/>
          <p:cNvSpPr/>
          <p:nvPr/>
        </p:nvSpPr>
        <p:spPr>
          <a:xfrm>
            <a:off x="6853647" y="1966978"/>
            <a:ext cx="771900" cy="431100"/>
          </a:xfrm>
          <a:prstGeom prst="wedgeRoundRectCallout">
            <a:avLst>
              <a:gd name="adj1" fmla="val 119109"/>
              <a:gd name="adj2" fmla="val -47550"/>
              <a:gd name="adj3" fmla="val 0"/>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sp>
        <p:nvSpPr>
          <p:cNvPr id="541" name="Google Shape;541;p5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6"/>
                                        </p:tgtEl>
                                        <p:attrNameLst>
                                          <p:attrName>style.visibility</p:attrName>
                                        </p:attrNameLst>
                                      </p:cBhvr>
                                      <p:to>
                                        <p:strVal val="visible"/>
                                      </p:to>
                                    </p:set>
                                    <p:animEffect transition="in" filter="fade">
                                      <p:cBhvr>
                                        <p:cTn id="7" dur="1000"/>
                                        <p:tgtEl>
                                          <p:spTgt spid="5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5"/>
                                        </p:tgtEl>
                                        <p:attrNameLst>
                                          <p:attrName>style.visibility</p:attrName>
                                        </p:attrNameLst>
                                      </p:cBhvr>
                                      <p:to>
                                        <p:strVal val="visible"/>
                                      </p:to>
                                    </p:set>
                                    <p:animEffect transition="in" filter="fade">
                                      <p:cBhvr>
                                        <p:cTn id="12" dur="1000"/>
                                        <p:tgtEl>
                                          <p:spTgt spid="535"/>
                                        </p:tgtEl>
                                      </p:cBhvr>
                                    </p:animEffect>
                                  </p:childTnLst>
                                </p:cTn>
                              </p:par>
                              <p:par>
                                <p:cTn id="13" presetID="10" presetClass="entr" presetSubtype="0" fill="hold" nodeType="withEffect">
                                  <p:stCondLst>
                                    <p:cond delay="0"/>
                                  </p:stCondLst>
                                  <p:childTnLst>
                                    <p:set>
                                      <p:cBhvr>
                                        <p:cTn id="14" dur="1" fill="hold">
                                          <p:stCondLst>
                                            <p:cond delay="0"/>
                                          </p:stCondLst>
                                        </p:cTn>
                                        <p:tgtEl>
                                          <p:spTgt spid="537"/>
                                        </p:tgtEl>
                                        <p:attrNameLst>
                                          <p:attrName>style.visibility</p:attrName>
                                        </p:attrNameLst>
                                      </p:cBhvr>
                                      <p:to>
                                        <p:strVal val="visible"/>
                                      </p:to>
                                    </p:set>
                                    <p:animEffect transition="in" filter="fade">
                                      <p:cBhvr>
                                        <p:cTn id="15" dur="1000"/>
                                        <p:tgtEl>
                                          <p:spTgt spid="53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40"/>
                                        </p:tgtEl>
                                        <p:attrNameLst>
                                          <p:attrName>style.visibility</p:attrName>
                                        </p:attrNameLst>
                                      </p:cBhvr>
                                      <p:to>
                                        <p:strVal val="visible"/>
                                      </p:to>
                                    </p:set>
                                    <p:animEffect transition="in" filter="fade">
                                      <p:cBhvr>
                                        <p:cTn id="20" dur="1000"/>
                                        <p:tgtEl>
                                          <p:spTgt spid="54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38"/>
                                        </p:tgtEl>
                                        <p:attrNameLst>
                                          <p:attrName>style.visibility</p:attrName>
                                        </p:attrNameLst>
                                      </p:cBhvr>
                                      <p:to>
                                        <p:strVal val="visible"/>
                                      </p:to>
                                    </p:set>
                                    <p:animEffect transition="in" filter="fade">
                                      <p:cBhvr>
                                        <p:cTn id="25" dur="1000"/>
                                        <p:tgtEl>
                                          <p:spTgt spid="53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39"/>
                                        </p:tgtEl>
                                        <p:attrNameLst>
                                          <p:attrName>style.visibility</p:attrName>
                                        </p:attrNameLst>
                                      </p:cBhvr>
                                      <p:to>
                                        <p:strVal val="visible"/>
                                      </p:to>
                                    </p:set>
                                    <p:animEffect transition="in" filter="fade">
                                      <p:cBhvr>
                                        <p:cTn id="30" dur="1000"/>
                                        <p:tgtEl>
                                          <p:spTgt spid="53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33"/>
                                        </p:tgtEl>
                                        <p:attrNameLst>
                                          <p:attrName>style.visibility</p:attrName>
                                        </p:attrNameLst>
                                      </p:cBhvr>
                                      <p:to>
                                        <p:strVal val="visible"/>
                                      </p:to>
                                    </p:set>
                                    <p:animEffect transition="in" filter="fade">
                                      <p:cBhvr>
                                        <p:cTn id="35" dur="1000"/>
                                        <p:tgtEl>
                                          <p:spTgt spid="5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34"/>
                                        </p:tgtEl>
                                        <p:attrNameLst>
                                          <p:attrName>style.visibility</p:attrName>
                                        </p:attrNameLst>
                                      </p:cBhvr>
                                      <p:to>
                                        <p:strVal val="visible"/>
                                      </p:to>
                                    </p:set>
                                    <p:animEffect transition="in" filter="fade">
                                      <p:cBhvr>
                                        <p:cTn id="40" dur="1000"/>
                                        <p:tgtEl>
                                          <p:spTgt spid="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547" name="Google Shape;547;p54"/>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Using </a:t>
            </a:r>
            <a:r>
              <a:rPr lang="en">
                <a:latin typeface="Courier New"/>
                <a:ea typeface="Courier New"/>
                <a:cs typeface="Courier New"/>
                <a:sym typeface="Courier New"/>
              </a:rPr>
              <a:t>PrintWriter</a:t>
            </a:r>
            <a:r>
              <a:rPr lang="en"/>
              <a:t> to Send Data</a:t>
            </a:r>
            <a:endParaRPr/>
          </a:p>
        </p:txBody>
      </p:sp>
      <p:sp>
        <p:nvSpPr>
          <p:cNvPr id="548" name="Google Shape;548;p54"/>
          <p:cNvSpPr txBox="1"/>
          <p:nvPr/>
        </p:nvSpPr>
        <p:spPr>
          <a:xfrm>
            <a:off x="2250900" y="2217825"/>
            <a:ext cx="4642200" cy="1873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1  </a:t>
            </a:r>
            <a:r>
              <a:rPr lang="en" sz="1200" dirty="0">
                <a:solidFill>
                  <a:srgbClr val="267F99"/>
                </a:solidFill>
                <a:latin typeface="Consolas"/>
                <a:ea typeface="Consolas"/>
                <a:cs typeface="Consolas"/>
                <a:sym typeface="Consolas"/>
              </a:rPr>
              <a:t>Socket</a:t>
            </a:r>
            <a:r>
              <a:rPr lang="en" sz="1200" dirty="0">
                <a:latin typeface="Consolas"/>
                <a:ea typeface="Consolas"/>
                <a:cs typeface="Consolas"/>
                <a:sym typeface="Consolas"/>
              </a:rPr>
              <a:t> </a:t>
            </a:r>
            <a:r>
              <a:rPr lang="en" sz="1200" dirty="0">
                <a:solidFill>
                  <a:srgbClr val="001080"/>
                </a:solidFill>
                <a:latin typeface="Consolas"/>
                <a:ea typeface="Consolas"/>
                <a:cs typeface="Consolas"/>
                <a:sym typeface="Consolas"/>
              </a:rPr>
              <a:t>client</a:t>
            </a:r>
            <a:r>
              <a:rPr lang="en" sz="1200" dirty="0">
                <a:latin typeface="Consolas"/>
                <a:ea typeface="Consolas"/>
                <a:cs typeface="Consolas"/>
                <a:sym typeface="Consolas"/>
              </a:rPr>
              <a:t> = </a:t>
            </a:r>
            <a:r>
              <a:rPr lang="en" sz="1200" dirty="0">
                <a:solidFill>
                  <a:srgbClr val="AF00DB"/>
                </a:solidFill>
                <a:latin typeface="Consolas"/>
                <a:ea typeface="Consolas"/>
                <a:cs typeface="Consolas"/>
                <a:sym typeface="Consolas"/>
              </a:rPr>
              <a:t>new</a:t>
            </a:r>
            <a:r>
              <a:rPr lang="en" sz="1200" dirty="0">
                <a:latin typeface="Consolas"/>
                <a:ea typeface="Consolas"/>
                <a:cs typeface="Consolas"/>
                <a:sym typeface="Consolas"/>
              </a:rPr>
              <a:t> </a:t>
            </a:r>
            <a:r>
              <a:rPr lang="en" sz="1200" dirty="0">
                <a:solidFill>
                  <a:srgbClr val="795E26"/>
                </a:solidFill>
                <a:latin typeface="Consolas"/>
                <a:ea typeface="Consolas"/>
                <a:cs typeface="Consolas"/>
                <a:sym typeface="Consolas"/>
              </a:rPr>
              <a:t>Socket</a:t>
            </a:r>
            <a:r>
              <a:rPr lang="en" sz="1200" dirty="0">
                <a:latin typeface="Consolas"/>
                <a:ea typeface="Consolas"/>
                <a:cs typeface="Consolas"/>
                <a:sym typeface="Consolas"/>
              </a:rPr>
              <a:t>(</a:t>
            </a:r>
            <a:r>
              <a:rPr lang="en" sz="1200" dirty="0">
                <a:solidFill>
                  <a:srgbClr val="A31515"/>
                </a:solidFill>
                <a:latin typeface="Consolas"/>
                <a:ea typeface="Consolas"/>
                <a:cs typeface="Consolas"/>
                <a:sym typeface="Consolas"/>
              </a:rPr>
              <a:t>"somehost.net"</a:t>
            </a:r>
            <a:r>
              <a:rPr lang="en" sz="1200" dirty="0">
                <a:latin typeface="Consolas"/>
                <a:ea typeface="Consolas"/>
                <a:cs typeface="Consolas"/>
                <a:sym typeface="Consolas"/>
              </a:rPr>
              <a:t>, </a:t>
            </a:r>
            <a:r>
              <a:rPr lang="en" sz="1200" dirty="0">
                <a:solidFill>
                  <a:srgbClr val="098658"/>
                </a:solidFill>
                <a:latin typeface="Consolas"/>
                <a:ea typeface="Consolas"/>
                <a:cs typeface="Consolas"/>
                <a:sym typeface="Consolas"/>
              </a:rPr>
              <a:t>54321</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2  </a:t>
            </a:r>
            <a:r>
              <a:rPr lang="en" sz="1200" dirty="0">
                <a:solidFill>
                  <a:srgbClr val="267F99"/>
                </a:solidFill>
                <a:latin typeface="Consolas"/>
                <a:ea typeface="Consolas"/>
                <a:cs typeface="Consolas"/>
                <a:sym typeface="Consolas"/>
              </a:rPr>
              <a:t>OutputStream</a:t>
            </a:r>
            <a:r>
              <a:rPr lang="en" sz="1200" dirty="0">
                <a:latin typeface="Consolas"/>
                <a:ea typeface="Consolas"/>
                <a:cs typeface="Consolas"/>
                <a:sym typeface="Consolas"/>
              </a:rPr>
              <a:t> </a:t>
            </a:r>
            <a:r>
              <a:rPr lang="en" sz="1200" dirty="0">
                <a:solidFill>
                  <a:srgbClr val="001080"/>
                </a:solidFill>
                <a:latin typeface="Consolas"/>
                <a:ea typeface="Consolas"/>
                <a:cs typeface="Consolas"/>
                <a:sym typeface="Consolas"/>
              </a:rPr>
              <a:t>out</a:t>
            </a:r>
            <a:r>
              <a:rPr lang="en" sz="1200" dirty="0">
                <a:latin typeface="Consolas"/>
                <a:ea typeface="Consolas"/>
                <a:cs typeface="Consolas"/>
                <a:sym typeface="Consolas"/>
              </a:rPr>
              <a:t> = </a:t>
            </a:r>
            <a:r>
              <a:rPr lang="en" sz="1200" dirty="0">
                <a:solidFill>
                  <a:srgbClr val="001080"/>
                </a:solidFill>
                <a:latin typeface="Consolas"/>
                <a:ea typeface="Consolas"/>
                <a:cs typeface="Consolas"/>
                <a:sym typeface="Consolas"/>
              </a:rPr>
              <a:t>client</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getOutputStream</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3  </a:t>
            </a:r>
            <a:r>
              <a:rPr lang="en" sz="1200" dirty="0">
                <a:solidFill>
                  <a:srgbClr val="267F99"/>
                </a:solidFill>
                <a:latin typeface="Consolas"/>
                <a:ea typeface="Consolas"/>
                <a:cs typeface="Consolas"/>
                <a:sym typeface="Consolas"/>
              </a:rPr>
              <a:t>PrintWriter</a:t>
            </a:r>
            <a:r>
              <a:rPr lang="en" sz="1200" dirty="0">
                <a:latin typeface="Consolas"/>
                <a:ea typeface="Consolas"/>
                <a:cs typeface="Consolas"/>
                <a:sym typeface="Consolas"/>
              </a:rPr>
              <a:t> </a:t>
            </a:r>
            <a:r>
              <a:rPr lang="en" sz="1200" dirty="0">
                <a:solidFill>
                  <a:srgbClr val="001080"/>
                </a:solidFill>
                <a:latin typeface="Consolas"/>
                <a:ea typeface="Consolas"/>
                <a:cs typeface="Consolas"/>
                <a:sym typeface="Consolas"/>
              </a:rPr>
              <a:t>printer</a:t>
            </a:r>
            <a:r>
              <a:rPr lang="en" sz="1200" dirty="0">
                <a:latin typeface="Consolas"/>
                <a:ea typeface="Consolas"/>
                <a:cs typeface="Consolas"/>
                <a:sym typeface="Consolas"/>
              </a:rPr>
              <a:t> = </a:t>
            </a:r>
            <a:r>
              <a:rPr lang="en" sz="1200" dirty="0">
                <a:solidFill>
                  <a:srgbClr val="AF00DB"/>
                </a:solidFill>
                <a:latin typeface="Consolas"/>
                <a:ea typeface="Consolas"/>
                <a:cs typeface="Consolas"/>
                <a:sym typeface="Consolas"/>
              </a:rPr>
              <a:t>new</a:t>
            </a:r>
            <a:r>
              <a:rPr lang="en" sz="1200" dirty="0">
                <a:latin typeface="Consolas"/>
                <a:ea typeface="Consolas"/>
                <a:cs typeface="Consolas"/>
                <a:sym typeface="Consolas"/>
              </a:rPr>
              <a:t> </a:t>
            </a:r>
            <a:r>
              <a:rPr lang="en" sz="1200" dirty="0">
                <a:solidFill>
                  <a:srgbClr val="795E26"/>
                </a:solidFill>
                <a:latin typeface="Consolas"/>
                <a:ea typeface="Consolas"/>
                <a:cs typeface="Consolas"/>
                <a:sym typeface="Consolas"/>
              </a:rPr>
              <a:t>PrintWriter</a:t>
            </a:r>
            <a:r>
              <a:rPr lang="en" sz="1200" dirty="0">
                <a:latin typeface="Consolas"/>
                <a:ea typeface="Consolas"/>
                <a:cs typeface="Consolas"/>
                <a:sym typeface="Consolas"/>
              </a:rPr>
              <a:t>(</a:t>
            </a:r>
            <a:r>
              <a:rPr lang="en" sz="1200" dirty="0">
                <a:solidFill>
                  <a:srgbClr val="001080"/>
                </a:solidFill>
                <a:latin typeface="Consolas"/>
                <a:ea typeface="Consolas"/>
                <a:cs typeface="Consolas"/>
                <a:sym typeface="Consolas"/>
              </a:rPr>
              <a:t>out</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4  </a:t>
            </a:r>
            <a:r>
              <a:rPr lang="en" sz="1200" dirty="0">
                <a:solidFill>
                  <a:srgbClr val="001080"/>
                </a:solidFill>
                <a:latin typeface="Consolas"/>
                <a:ea typeface="Consolas"/>
                <a:cs typeface="Consolas"/>
                <a:sym typeface="Consolas"/>
              </a:rPr>
              <a:t>printer</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println</a:t>
            </a:r>
            <a:r>
              <a:rPr lang="en" sz="1200" dirty="0">
                <a:latin typeface="Consolas"/>
                <a:ea typeface="Consolas"/>
                <a:cs typeface="Consolas"/>
                <a:sym typeface="Consolas"/>
              </a:rPr>
              <a:t>(</a:t>
            </a:r>
            <a:r>
              <a:rPr lang="en" sz="1200" dirty="0">
                <a:solidFill>
                  <a:srgbClr val="A31515"/>
                </a:solidFill>
                <a:latin typeface="Consolas"/>
                <a:ea typeface="Consolas"/>
                <a:cs typeface="Consolas"/>
                <a:sym typeface="Consolas"/>
              </a:rPr>
              <a:t>"John Denver"</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5</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6  </a:t>
            </a:r>
            <a:r>
              <a:rPr lang="en" sz="1200" dirty="0">
                <a:solidFill>
                  <a:srgbClr val="001080"/>
                </a:solidFill>
                <a:latin typeface="Consolas"/>
                <a:ea typeface="Consolas"/>
                <a:cs typeface="Consolas"/>
                <a:sym typeface="Consolas"/>
              </a:rPr>
              <a:t>printer</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flush</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7  </a:t>
            </a:r>
            <a:r>
              <a:rPr lang="en" sz="1200" dirty="0">
                <a:solidFill>
                  <a:srgbClr val="001080"/>
                </a:solidFill>
                <a:latin typeface="Consolas"/>
                <a:ea typeface="Consolas"/>
                <a:cs typeface="Consolas"/>
                <a:sym typeface="Consolas"/>
              </a:rPr>
              <a:t>client</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close</a:t>
            </a:r>
            <a:r>
              <a:rPr lang="en" sz="1200" dirty="0">
                <a:latin typeface="Consolas"/>
                <a:ea typeface="Consolas"/>
                <a:cs typeface="Consolas"/>
                <a:sym typeface="Consolas"/>
              </a:rPr>
              <a:t>();</a:t>
            </a:r>
            <a:endParaRPr sz="1200" dirty="0">
              <a:solidFill>
                <a:srgbClr val="569CD6"/>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55"/>
          <p:cNvSpPr txBox="1"/>
          <p:nvPr/>
        </p:nvSpPr>
        <p:spPr>
          <a:xfrm>
            <a:off x="2250900" y="2217825"/>
            <a:ext cx="4642200" cy="1873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1  </a:t>
            </a:r>
            <a:r>
              <a:rPr lang="en" sz="1200" dirty="0">
                <a:solidFill>
                  <a:srgbClr val="267F99"/>
                </a:solidFill>
                <a:latin typeface="Consolas"/>
                <a:ea typeface="Consolas"/>
                <a:cs typeface="Consolas"/>
                <a:sym typeface="Consolas"/>
              </a:rPr>
              <a:t>Socket</a:t>
            </a:r>
            <a:r>
              <a:rPr lang="en" sz="1200" dirty="0">
                <a:latin typeface="Consolas"/>
                <a:ea typeface="Consolas"/>
                <a:cs typeface="Consolas"/>
                <a:sym typeface="Consolas"/>
              </a:rPr>
              <a:t> </a:t>
            </a:r>
            <a:r>
              <a:rPr lang="en" sz="1200" dirty="0">
                <a:solidFill>
                  <a:srgbClr val="001080"/>
                </a:solidFill>
                <a:latin typeface="Consolas"/>
                <a:ea typeface="Consolas"/>
                <a:cs typeface="Consolas"/>
                <a:sym typeface="Consolas"/>
              </a:rPr>
              <a:t>client</a:t>
            </a:r>
            <a:r>
              <a:rPr lang="en" sz="1200" dirty="0">
                <a:latin typeface="Consolas"/>
                <a:ea typeface="Consolas"/>
                <a:cs typeface="Consolas"/>
                <a:sym typeface="Consolas"/>
              </a:rPr>
              <a:t> = </a:t>
            </a:r>
            <a:r>
              <a:rPr lang="en" sz="1200" dirty="0">
                <a:solidFill>
                  <a:srgbClr val="AF00DB"/>
                </a:solidFill>
                <a:latin typeface="Consolas"/>
                <a:ea typeface="Consolas"/>
                <a:cs typeface="Consolas"/>
                <a:sym typeface="Consolas"/>
              </a:rPr>
              <a:t>new</a:t>
            </a:r>
            <a:r>
              <a:rPr lang="en" sz="1200" dirty="0">
                <a:latin typeface="Consolas"/>
                <a:ea typeface="Consolas"/>
                <a:cs typeface="Consolas"/>
                <a:sym typeface="Consolas"/>
              </a:rPr>
              <a:t> </a:t>
            </a:r>
            <a:r>
              <a:rPr lang="en" sz="1200" dirty="0">
                <a:solidFill>
                  <a:srgbClr val="795E26"/>
                </a:solidFill>
                <a:latin typeface="Consolas"/>
                <a:ea typeface="Consolas"/>
                <a:cs typeface="Consolas"/>
                <a:sym typeface="Consolas"/>
              </a:rPr>
              <a:t>Socket</a:t>
            </a:r>
            <a:r>
              <a:rPr lang="en" sz="1200" dirty="0">
                <a:latin typeface="Consolas"/>
                <a:ea typeface="Consolas"/>
                <a:cs typeface="Consolas"/>
                <a:sym typeface="Consolas"/>
              </a:rPr>
              <a:t>(</a:t>
            </a:r>
            <a:r>
              <a:rPr lang="en" sz="1200" dirty="0">
                <a:solidFill>
                  <a:srgbClr val="A31515"/>
                </a:solidFill>
                <a:latin typeface="Consolas"/>
                <a:ea typeface="Consolas"/>
                <a:cs typeface="Consolas"/>
                <a:sym typeface="Consolas"/>
              </a:rPr>
              <a:t>"somehost.net"</a:t>
            </a:r>
            <a:r>
              <a:rPr lang="en" sz="1200" dirty="0">
                <a:latin typeface="Consolas"/>
                <a:ea typeface="Consolas"/>
                <a:cs typeface="Consolas"/>
                <a:sym typeface="Consolas"/>
              </a:rPr>
              <a:t>, </a:t>
            </a:r>
            <a:r>
              <a:rPr lang="en" sz="1200" dirty="0">
                <a:solidFill>
                  <a:srgbClr val="098658"/>
                </a:solidFill>
                <a:latin typeface="Consolas"/>
                <a:ea typeface="Consolas"/>
                <a:cs typeface="Consolas"/>
                <a:sym typeface="Consolas"/>
              </a:rPr>
              <a:t>54321</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2  </a:t>
            </a:r>
            <a:r>
              <a:rPr lang="en" sz="1200" dirty="0">
                <a:solidFill>
                  <a:srgbClr val="267F99"/>
                </a:solidFill>
                <a:latin typeface="Consolas"/>
                <a:ea typeface="Consolas"/>
                <a:cs typeface="Consolas"/>
                <a:sym typeface="Consolas"/>
              </a:rPr>
              <a:t>OutputStream</a:t>
            </a:r>
            <a:r>
              <a:rPr lang="en" sz="1200" dirty="0">
                <a:latin typeface="Consolas"/>
                <a:ea typeface="Consolas"/>
                <a:cs typeface="Consolas"/>
                <a:sym typeface="Consolas"/>
              </a:rPr>
              <a:t> </a:t>
            </a:r>
            <a:r>
              <a:rPr lang="en" sz="1200" dirty="0">
                <a:solidFill>
                  <a:srgbClr val="001080"/>
                </a:solidFill>
                <a:latin typeface="Consolas"/>
                <a:ea typeface="Consolas"/>
                <a:cs typeface="Consolas"/>
                <a:sym typeface="Consolas"/>
              </a:rPr>
              <a:t>out</a:t>
            </a:r>
            <a:r>
              <a:rPr lang="en" sz="1200" dirty="0">
                <a:latin typeface="Consolas"/>
                <a:ea typeface="Consolas"/>
                <a:cs typeface="Consolas"/>
                <a:sym typeface="Consolas"/>
              </a:rPr>
              <a:t> = </a:t>
            </a:r>
            <a:r>
              <a:rPr lang="en" sz="1200" dirty="0">
                <a:solidFill>
                  <a:srgbClr val="001080"/>
                </a:solidFill>
                <a:latin typeface="Consolas"/>
                <a:ea typeface="Consolas"/>
                <a:cs typeface="Consolas"/>
                <a:sym typeface="Consolas"/>
              </a:rPr>
              <a:t>client</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getOutputStream</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3  </a:t>
            </a:r>
            <a:r>
              <a:rPr lang="en" sz="1200" dirty="0">
                <a:solidFill>
                  <a:srgbClr val="267F99"/>
                </a:solidFill>
                <a:latin typeface="Consolas"/>
                <a:ea typeface="Consolas"/>
                <a:cs typeface="Consolas"/>
                <a:sym typeface="Consolas"/>
              </a:rPr>
              <a:t>PrintWriter</a:t>
            </a:r>
            <a:r>
              <a:rPr lang="en" sz="1200" dirty="0">
                <a:latin typeface="Consolas"/>
                <a:ea typeface="Consolas"/>
                <a:cs typeface="Consolas"/>
                <a:sym typeface="Consolas"/>
              </a:rPr>
              <a:t> </a:t>
            </a:r>
            <a:r>
              <a:rPr lang="en" sz="1200" dirty="0">
                <a:solidFill>
                  <a:srgbClr val="001080"/>
                </a:solidFill>
                <a:latin typeface="Consolas"/>
                <a:ea typeface="Consolas"/>
                <a:cs typeface="Consolas"/>
                <a:sym typeface="Consolas"/>
              </a:rPr>
              <a:t>printer</a:t>
            </a:r>
            <a:r>
              <a:rPr lang="en" sz="1200" dirty="0">
                <a:latin typeface="Consolas"/>
                <a:ea typeface="Consolas"/>
                <a:cs typeface="Consolas"/>
                <a:sym typeface="Consolas"/>
              </a:rPr>
              <a:t> = </a:t>
            </a:r>
            <a:r>
              <a:rPr lang="en" sz="1200" dirty="0">
                <a:solidFill>
                  <a:srgbClr val="AF00DB"/>
                </a:solidFill>
                <a:latin typeface="Consolas"/>
                <a:ea typeface="Consolas"/>
                <a:cs typeface="Consolas"/>
                <a:sym typeface="Consolas"/>
              </a:rPr>
              <a:t>new</a:t>
            </a:r>
            <a:r>
              <a:rPr lang="en" sz="1200" dirty="0">
                <a:latin typeface="Consolas"/>
                <a:ea typeface="Consolas"/>
                <a:cs typeface="Consolas"/>
                <a:sym typeface="Consolas"/>
              </a:rPr>
              <a:t> </a:t>
            </a:r>
            <a:r>
              <a:rPr lang="en" sz="1200" dirty="0">
                <a:solidFill>
                  <a:srgbClr val="795E26"/>
                </a:solidFill>
                <a:latin typeface="Consolas"/>
                <a:ea typeface="Consolas"/>
                <a:cs typeface="Consolas"/>
                <a:sym typeface="Consolas"/>
              </a:rPr>
              <a:t>PrintWriter</a:t>
            </a:r>
            <a:r>
              <a:rPr lang="en" sz="1200" dirty="0">
                <a:latin typeface="Consolas"/>
                <a:ea typeface="Consolas"/>
                <a:cs typeface="Consolas"/>
                <a:sym typeface="Consolas"/>
              </a:rPr>
              <a:t>(</a:t>
            </a:r>
            <a:r>
              <a:rPr lang="en" sz="1200" dirty="0">
                <a:solidFill>
                  <a:srgbClr val="001080"/>
                </a:solidFill>
                <a:latin typeface="Consolas"/>
                <a:ea typeface="Consolas"/>
                <a:cs typeface="Consolas"/>
                <a:sym typeface="Consolas"/>
              </a:rPr>
              <a:t>out</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4  </a:t>
            </a:r>
            <a:r>
              <a:rPr lang="en" sz="1200" dirty="0">
                <a:solidFill>
                  <a:srgbClr val="001080"/>
                </a:solidFill>
                <a:latin typeface="Consolas"/>
                <a:ea typeface="Consolas"/>
                <a:cs typeface="Consolas"/>
                <a:sym typeface="Consolas"/>
              </a:rPr>
              <a:t>printer</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println</a:t>
            </a:r>
            <a:r>
              <a:rPr lang="en" sz="1200" dirty="0">
                <a:latin typeface="Consolas"/>
                <a:ea typeface="Consolas"/>
                <a:cs typeface="Consolas"/>
                <a:sym typeface="Consolas"/>
              </a:rPr>
              <a:t>(</a:t>
            </a:r>
            <a:r>
              <a:rPr lang="en" sz="1200" dirty="0">
                <a:solidFill>
                  <a:srgbClr val="A31515"/>
                </a:solidFill>
                <a:latin typeface="Consolas"/>
                <a:ea typeface="Consolas"/>
                <a:cs typeface="Consolas"/>
                <a:sym typeface="Consolas"/>
              </a:rPr>
              <a:t>"John Denver"</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5</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6  </a:t>
            </a:r>
            <a:r>
              <a:rPr lang="en" sz="1200" dirty="0">
                <a:solidFill>
                  <a:srgbClr val="001080"/>
                </a:solidFill>
                <a:latin typeface="Consolas"/>
                <a:ea typeface="Consolas"/>
                <a:cs typeface="Consolas"/>
                <a:sym typeface="Consolas"/>
              </a:rPr>
              <a:t>printer</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flush</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98658"/>
                </a:solidFill>
                <a:latin typeface="Consolas"/>
                <a:ea typeface="Consolas"/>
                <a:cs typeface="Consolas"/>
                <a:sym typeface="Consolas"/>
              </a:rPr>
              <a:t>7  </a:t>
            </a:r>
            <a:r>
              <a:rPr lang="en" sz="1200" dirty="0">
                <a:solidFill>
                  <a:srgbClr val="001080"/>
                </a:solidFill>
                <a:latin typeface="Consolas"/>
                <a:ea typeface="Consolas"/>
                <a:cs typeface="Consolas"/>
                <a:sym typeface="Consolas"/>
              </a:rPr>
              <a:t>client</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close</a:t>
            </a:r>
            <a:r>
              <a:rPr lang="en" sz="1200" dirty="0">
                <a:latin typeface="Consolas"/>
                <a:ea typeface="Consolas"/>
                <a:cs typeface="Consolas"/>
                <a:sym typeface="Consolas"/>
              </a:rPr>
              <a:t>();</a:t>
            </a:r>
            <a:endParaRPr sz="1200" dirty="0">
              <a:solidFill>
                <a:srgbClr val="569CD6"/>
              </a:solidFill>
              <a:latin typeface="Consolas"/>
              <a:ea typeface="Consolas"/>
              <a:cs typeface="Consolas"/>
              <a:sym typeface="Consolas"/>
            </a:endParaRPr>
          </a:p>
        </p:txBody>
      </p:sp>
      <p:sp>
        <p:nvSpPr>
          <p:cNvPr id="554" name="Google Shape;554;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555" name="Google Shape;555;p55"/>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Using </a:t>
            </a:r>
            <a:r>
              <a:rPr lang="en">
                <a:latin typeface="Courier New"/>
                <a:ea typeface="Courier New"/>
                <a:cs typeface="Courier New"/>
                <a:sym typeface="Courier New"/>
              </a:rPr>
              <a:t>PrintWriter</a:t>
            </a:r>
            <a:r>
              <a:rPr lang="en"/>
              <a:t> to Send Data</a:t>
            </a:r>
            <a:endParaRPr/>
          </a:p>
        </p:txBody>
      </p:sp>
      <p:sp>
        <p:nvSpPr>
          <p:cNvPr id="556" name="Google Shape;556;p55"/>
          <p:cNvSpPr txBox="1"/>
          <p:nvPr/>
        </p:nvSpPr>
        <p:spPr>
          <a:xfrm>
            <a:off x="150375" y="1194325"/>
            <a:ext cx="33654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A socket's </a:t>
            </a:r>
            <a:r>
              <a:rPr lang="en" sz="1200">
                <a:latin typeface="Courier New"/>
                <a:ea typeface="Courier New"/>
                <a:cs typeface="Courier New"/>
                <a:sym typeface="Courier New"/>
              </a:rPr>
              <a:t>OutputStream</a:t>
            </a:r>
            <a:r>
              <a:rPr lang="en" sz="1200">
                <a:latin typeface="Roboto"/>
                <a:ea typeface="Roboto"/>
                <a:cs typeface="Roboto"/>
                <a:sym typeface="Roboto"/>
              </a:rPr>
              <a:t> can send data as </a:t>
            </a:r>
            <a:r>
              <a:rPr lang="en" sz="1200" b="1" i="1">
                <a:solidFill>
                  <a:srgbClr val="FF0000"/>
                </a:solidFill>
                <a:latin typeface="Roboto"/>
                <a:ea typeface="Roboto"/>
                <a:cs typeface="Roboto"/>
                <a:sym typeface="Roboto"/>
              </a:rPr>
              <a:t>bytes </a:t>
            </a:r>
            <a:r>
              <a:rPr lang="en" sz="1200">
                <a:latin typeface="Roboto"/>
                <a:ea typeface="Roboto"/>
                <a:cs typeface="Roboto"/>
                <a:sym typeface="Roboto"/>
              </a:rPr>
              <a:t>or </a:t>
            </a:r>
            <a:r>
              <a:rPr lang="en" sz="1200" b="1" i="1">
                <a:solidFill>
                  <a:srgbClr val="FF0000"/>
                </a:solidFill>
                <a:latin typeface="Roboto"/>
                <a:ea typeface="Roboto"/>
                <a:cs typeface="Roboto"/>
                <a:sym typeface="Roboto"/>
              </a:rPr>
              <a:t>byte arrays</a:t>
            </a:r>
            <a:r>
              <a:rPr lang="en" sz="1200">
                <a:latin typeface="Roboto"/>
                <a:ea typeface="Roboto"/>
                <a:cs typeface="Roboto"/>
                <a:sym typeface="Roboto"/>
              </a:rPr>
              <a:t>. It can be difficult to use, especially when sending text data.</a:t>
            </a:r>
            <a:endParaRPr sz="1200">
              <a:latin typeface="Roboto"/>
              <a:ea typeface="Roboto"/>
              <a:cs typeface="Roboto"/>
              <a:sym typeface="Roboto"/>
            </a:endParaRPr>
          </a:p>
        </p:txBody>
      </p:sp>
      <p:sp>
        <p:nvSpPr>
          <p:cNvPr id="557" name="Google Shape;557;p55"/>
          <p:cNvSpPr txBox="1"/>
          <p:nvPr/>
        </p:nvSpPr>
        <p:spPr>
          <a:xfrm>
            <a:off x="150375" y="2382675"/>
            <a:ext cx="1983600" cy="1293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A </a:t>
            </a:r>
            <a:r>
              <a:rPr lang="en" sz="1200" dirty="0">
                <a:latin typeface="Courier New"/>
                <a:ea typeface="Courier New"/>
                <a:cs typeface="Courier New"/>
                <a:sym typeface="Courier New"/>
              </a:rPr>
              <a:t>PrintWriter</a:t>
            </a:r>
            <a:r>
              <a:rPr lang="en" sz="1200" dirty="0">
                <a:latin typeface="Roboto"/>
                <a:ea typeface="Roboto"/>
                <a:cs typeface="Roboto"/>
                <a:sym typeface="Roboto"/>
              </a:rPr>
              <a:t> can </a:t>
            </a:r>
            <a:r>
              <a:rPr lang="en" sz="1200" i="1" dirty="0">
                <a:latin typeface="Roboto"/>
                <a:ea typeface="Roboto"/>
                <a:cs typeface="Roboto"/>
                <a:sym typeface="Roboto"/>
              </a:rPr>
              <a:t>wrap </a:t>
            </a:r>
            <a:r>
              <a:rPr lang="en" sz="1200" dirty="0">
                <a:latin typeface="Roboto"/>
                <a:ea typeface="Roboto"/>
                <a:cs typeface="Roboto"/>
                <a:sym typeface="Roboto"/>
              </a:rPr>
              <a:t>an </a:t>
            </a:r>
            <a:r>
              <a:rPr lang="en" sz="1200" dirty="0">
                <a:latin typeface="Courier New"/>
                <a:ea typeface="Courier New"/>
                <a:cs typeface="Courier New"/>
                <a:sym typeface="Courier New"/>
              </a:rPr>
              <a:t>OutputStream</a:t>
            </a:r>
            <a:r>
              <a:rPr lang="en" sz="1200" dirty="0">
                <a:latin typeface="Roboto"/>
                <a:ea typeface="Roboto"/>
                <a:cs typeface="Roboto"/>
                <a:sym typeface="Roboto"/>
              </a:rPr>
              <a:t> and can be used to send strings easily using its </a:t>
            </a:r>
            <a:r>
              <a:rPr lang="en" sz="1200" dirty="0">
                <a:latin typeface="Courier New"/>
                <a:ea typeface="Courier New"/>
                <a:cs typeface="Courier New"/>
                <a:sym typeface="Courier New"/>
              </a:rPr>
              <a:t>println(String)</a:t>
            </a:r>
            <a:r>
              <a:rPr lang="en" sz="1200" dirty="0">
                <a:latin typeface="Roboto"/>
                <a:ea typeface="Roboto"/>
                <a:cs typeface="Roboto"/>
                <a:sym typeface="Roboto"/>
              </a:rPr>
              <a:t> method.</a:t>
            </a:r>
            <a:endParaRPr dirty="0"/>
          </a:p>
        </p:txBody>
      </p:sp>
      <p:sp>
        <p:nvSpPr>
          <p:cNvPr id="558" name="Google Shape;558;p55"/>
          <p:cNvSpPr txBox="1"/>
          <p:nvPr/>
        </p:nvSpPr>
        <p:spPr>
          <a:xfrm>
            <a:off x="5628225" y="1194325"/>
            <a:ext cx="33654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It is more efficient to send large "chunks" of data than it is to send lots of little messages over the network. Because of this, a socket will </a:t>
            </a:r>
            <a:r>
              <a:rPr lang="en" sz="1200" b="1" i="1" dirty="0">
                <a:solidFill>
                  <a:srgbClr val="FF0000"/>
                </a:solidFill>
                <a:latin typeface="Roboto"/>
                <a:ea typeface="Roboto"/>
                <a:cs typeface="Roboto"/>
                <a:sym typeface="Roboto"/>
              </a:rPr>
              <a:t>buffer</a:t>
            </a:r>
            <a:r>
              <a:rPr lang="en" sz="1200" dirty="0">
                <a:solidFill>
                  <a:srgbClr val="FF0000"/>
                </a:solidFill>
                <a:latin typeface="Roboto"/>
                <a:ea typeface="Roboto"/>
                <a:cs typeface="Roboto"/>
                <a:sym typeface="Roboto"/>
              </a:rPr>
              <a:t> </a:t>
            </a:r>
            <a:r>
              <a:rPr lang="en" sz="1200" dirty="0">
                <a:latin typeface="Roboto"/>
                <a:ea typeface="Roboto"/>
                <a:cs typeface="Roboto"/>
                <a:sym typeface="Roboto"/>
              </a:rPr>
              <a:t>the data until it is </a:t>
            </a:r>
            <a:r>
              <a:rPr lang="en" sz="1200" b="1" i="1" dirty="0">
                <a:solidFill>
                  <a:srgbClr val="FF0000"/>
                </a:solidFill>
                <a:latin typeface="Roboto"/>
                <a:ea typeface="Roboto"/>
                <a:cs typeface="Roboto"/>
                <a:sym typeface="Roboto"/>
              </a:rPr>
              <a:t>flushed</a:t>
            </a:r>
            <a:r>
              <a:rPr lang="en" sz="1200" dirty="0">
                <a:latin typeface="Roboto"/>
                <a:ea typeface="Roboto"/>
                <a:cs typeface="Roboto"/>
                <a:sym typeface="Roboto"/>
              </a:rPr>
              <a:t>.</a:t>
            </a:r>
            <a:endParaRPr dirty="0">
              <a:latin typeface="Roboto"/>
              <a:ea typeface="Roboto"/>
              <a:cs typeface="Roboto"/>
              <a:sym typeface="Roboto"/>
            </a:endParaRPr>
          </a:p>
        </p:txBody>
      </p:sp>
      <p:grpSp>
        <p:nvGrpSpPr>
          <p:cNvPr id="559" name="Google Shape;559;p55"/>
          <p:cNvGrpSpPr/>
          <p:nvPr/>
        </p:nvGrpSpPr>
        <p:grpSpPr>
          <a:xfrm>
            <a:off x="2133975" y="2783367"/>
            <a:ext cx="4067125" cy="503295"/>
            <a:chOff x="2133975" y="2935809"/>
            <a:chExt cx="4067125" cy="534000"/>
          </a:xfrm>
        </p:grpSpPr>
        <p:sp>
          <p:nvSpPr>
            <p:cNvPr id="560" name="Google Shape;560;p55"/>
            <p:cNvSpPr/>
            <p:nvPr/>
          </p:nvSpPr>
          <p:spPr>
            <a:xfrm>
              <a:off x="2542000" y="2935809"/>
              <a:ext cx="3659100" cy="534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1" name="Google Shape;561;p55"/>
            <p:cNvCxnSpPr>
              <a:stCxn id="557" idx="3"/>
              <a:endCxn id="560" idx="1"/>
            </p:cNvCxnSpPr>
            <p:nvPr/>
          </p:nvCxnSpPr>
          <p:spPr>
            <a:xfrm>
              <a:off x="2133975" y="3196613"/>
              <a:ext cx="408000" cy="6300"/>
            </a:xfrm>
            <a:prstGeom prst="straightConnector1">
              <a:avLst/>
            </a:prstGeom>
            <a:noFill/>
            <a:ln w="19050" cap="flat" cmpd="sng">
              <a:solidFill>
                <a:srgbClr val="FF0000"/>
              </a:solidFill>
              <a:prstDash val="solid"/>
              <a:round/>
              <a:headEnd type="none" w="med" len="med"/>
              <a:tailEnd type="none" w="med" len="med"/>
            </a:ln>
          </p:spPr>
        </p:cxnSp>
      </p:grpSp>
      <p:sp>
        <p:nvSpPr>
          <p:cNvPr id="562" name="Google Shape;562;p55"/>
          <p:cNvSpPr txBox="1"/>
          <p:nvPr/>
        </p:nvSpPr>
        <p:spPr>
          <a:xfrm>
            <a:off x="7010025" y="3267650"/>
            <a:ext cx="1983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If you forget to flush, the data will never be sent over the socket!</a:t>
            </a:r>
            <a:endParaRPr dirty="0"/>
          </a:p>
        </p:txBody>
      </p:sp>
      <p:grpSp>
        <p:nvGrpSpPr>
          <p:cNvPr id="563" name="Google Shape;563;p55"/>
          <p:cNvGrpSpPr/>
          <p:nvPr/>
        </p:nvGrpSpPr>
        <p:grpSpPr>
          <a:xfrm>
            <a:off x="2542000" y="3515300"/>
            <a:ext cx="4468025" cy="243600"/>
            <a:chOff x="2542000" y="3515300"/>
            <a:chExt cx="4468025" cy="243600"/>
          </a:xfrm>
        </p:grpSpPr>
        <p:sp>
          <p:nvSpPr>
            <p:cNvPr id="564" name="Google Shape;564;p55"/>
            <p:cNvSpPr/>
            <p:nvPr/>
          </p:nvSpPr>
          <p:spPr>
            <a:xfrm>
              <a:off x="2542000" y="3515300"/>
              <a:ext cx="1432200" cy="243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5" name="Google Shape;565;p55"/>
            <p:cNvCxnSpPr>
              <a:stCxn id="562" idx="1"/>
              <a:endCxn id="564" idx="3"/>
            </p:cNvCxnSpPr>
            <p:nvPr/>
          </p:nvCxnSpPr>
          <p:spPr>
            <a:xfrm rot="10800000">
              <a:off x="3974325" y="3637100"/>
              <a:ext cx="3035700" cy="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55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5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62"/>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56"/>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Sending Data</a:t>
            </a:r>
            <a:endParaRPr sz="3400"/>
          </a:p>
        </p:txBody>
      </p:sp>
      <p:sp>
        <p:nvSpPr>
          <p:cNvPr id="571" name="Google Shape;571;p56"/>
          <p:cNvSpPr txBox="1">
            <a:spLocks noGrp="1"/>
          </p:cNvSpPr>
          <p:nvPr>
            <p:ph type="body" idx="1"/>
          </p:nvPr>
        </p:nvSpPr>
        <p:spPr>
          <a:xfrm>
            <a:off x="65250" y="731625"/>
            <a:ext cx="8955900" cy="104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Clr>
                <a:srgbClr val="000000"/>
              </a:buClr>
              <a:buSzPts val="1700"/>
              <a:buNone/>
            </a:pPr>
            <a:r>
              <a:rPr lang="en" sz="1700"/>
              <a:t>A Socket can be used to send </a:t>
            </a:r>
            <a:r>
              <a:rPr lang="en" sz="1700" b="1" i="1">
                <a:solidFill>
                  <a:srgbClr val="FF0000"/>
                </a:solidFill>
              </a:rPr>
              <a:t>bytes</a:t>
            </a:r>
            <a:r>
              <a:rPr lang="en" sz="1700">
                <a:solidFill>
                  <a:srgbClr val="FF0000"/>
                </a:solidFill>
              </a:rPr>
              <a:t> </a:t>
            </a:r>
            <a:r>
              <a:rPr lang="en" sz="1700"/>
              <a:t>of data to the computer at the other end of the connection, but we'll mostly be working with characters and strings in this unit. Let's practice using a </a:t>
            </a:r>
            <a:r>
              <a:rPr lang="en" sz="1700">
                <a:latin typeface="Courier New"/>
                <a:ea typeface="Courier New"/>
                <a:cs typeface="Courier New"/>
                <a:sym typeface="Courier New"/>
              </a:rPr>
              <a:t>PrintWriter</a:t>
            </a:r>
            <a:r>
              <a:rPr lang="en" sz="1700"/>
              <a:t> to send strings of data over a TCP/IP connection.</a:t>
            </a:r>
            <a:endParaRPr sz="1700"/>
          </a:p>
        </p:txBody>
      </p:sp>
      <p:sp>
        <p:nvSpPr>
          <p:cNvPr id="572" name="Google Shape;572;p56"/>
          <p:cNvSpPr txBox="1">
            <a:spLocks noGrp="1"/>
          </p:cNvSpPr>
          <p:nvPr>
            <p:ph type="body" idx="2"/>
          </p:nvPr>
        </p:nvSpPr>
        <p:spPr>
          <a:xfrm>
            <a:off x="2463225" y="1772850"/>
            <a:ext cx="6009300" cy="1448400"/>
          </a:xfrm>
          <a:prstGeom prst="rect">
            <a:avLst/>
          </a:prstGeom>
          <a:noFill/>
          <a:ln>
            <a:noFill/>
          </a:ln>
        </p:spPr>
        <p:txBody>
          <a:bodyPr spcFirstLastPara="1" wrap="square" lIns="68575" tIns="34275" rIns="68575" bIns="34275" anchor="t" anchorCtr="0">
            <a:spAutoFit/>
          </a:bodyPr>
          <a:lstStyle/>
          <a:p>
            <a:pPr marL="457200" lvl="0" indent="-330200" algn="l" rtl="0">
              <a:lnSpc>
                <a:spcPct val="115000"/>
              </a:lnSpc>
              <a:spcBef>
                <a:spcPts val="0"/>
              </a:spcBef>
              <a:spcAft>
                <a:spcPts val="0"/>
              </a:spcAft>
              <a:buSzPts val="1600"/>
              <a:buChar char="●"/>
            </a:pPr>
            <a:r>
              <a:rPr lang="en" sz="1600" dirty="0"/>
              <a:t>Create a new "</a:t>
            </a:r>
            <a:r>
              <a:rPr lang="en" sz="1600" dirty="0">
                <a:solidFill>
                  <a:srgbClr val="FF0000"/>
                </a:solidFill>
                <a:latin typeface="Courier New"/>
                <a:ea typeface="Courier New"/>
                <a:cs typeface="Courier New"/>
                <a:sym typeface="Courier New"/>
              </a:rPr>
              <a:t>Name.java</a:t>
            </a:r>
            <a:r>
              <a:rPr lang="en" sz="1600" dirty="0"/>
              <a:t>" file</a:t>
            </a:r>
            <a:endParaRPr sz="1600" dirty="0"/>
          </a:p>
          <a:p>
            <a:pPr marL="457200" lvl="0" indent="-330200" algn="l" rtl="0">
              <a:lnSpc>
                <a:spcPct val="115000"/>
              </a:lnSpc>
              <a:spcBef>
                <a:spcPts val="0"/>
              </a:spcBef>
              <a:spcAft>
                <a:spcPts val="0"/>
              </a:spcAft>
              <a:buSzPts val="1600"/>
              <a:buChar char="●"/>
            </a:pPr>
            <a:r>
              <a:rPr lang="en" sz="1600" dirty="0"/>
              <a:t>Using a </a:t>
            </a:r>
            <a:r>
              <a:rPr lang="en" sz="1600" dirty="0">
                <a:latin typeface="Courier New"/>
                <a:ea typeface="Courier New"/>
                <a:cs typeface="Courier New"/>
                <a:sym typeface="Courier New"/>
              </a:rPr>
              <a:t>Socket</a:t>
            </a:r>
            <a:r>
              <a:rPr lang="en" sz="1600" dirty="0"/>
              <a:t>, form a connection with the IP address and port number that will be </a:t>
            </a:r>
            <a:r>
              <a:rPr lang="en" sz="1600" b="1" i="1" dirty="0">
                <a:solidFill>
                  <a:srgbClr val="FF0000"/>
                </a:solidFill>
              </a:rPr>
              <a:t>provided by your instructor</a:t>
            </a:r>
            <a:endParaRPr sz="1600" b="1" i="1" dirty="0">
              <a:solidFill>
                <a:srgbClr val="FF0000"/>
              </a:solidFill>
            </a:endParaRPr>
          </a:p>
          <a:p>
            <a:pPr marL="457200" lvl="0" indent="-330200" algn="l" rtl="0">
              <a:lnSpc>
                <a:spcPct val="115000"/>
              </a:lnSpc>
              <a:spcBef>
                <a:spcPts val="0"/>
              </a:spcBef>
              <a:spcAft>
                <a:spcPts val="0"/>
              </a:spcAft>
              <a:buSzPts val="1600"/>
              <a:buChar char="●"/>
            </a:pPr>
            <a:r>
              <a:rPr lang="en" sz="1600" dirty="0"/>
              <a:t>Create a </a:t>
            </a:r>
            <a:r>
              <a:rPr lang="en" sz="1600" dirty="0">
                <a:latin typeface="Courier New"/>
                <a:ea typeface="Courier New"/>
                <a:cs typeface="Courier New"/>
                <a:sym typeface="Courier New"/>
              </a:rPr>
              <a:t>PrintWriter</a:t>
            </a:r>
            <a:r>
              <a:rPr lang="en" sz="1600" dirty="0"/>
              <a:t> for the </a:t>
            </a:r>
            <a:r>
              <a:rPr lang="en" sz="1600" dirty="0">
                <a:latin typeface="Courier New"/>
                <a:ea typeface="Courier New"/>
                <a:cs typeface="Courier New"/>
                <a:sym typeface="Courier New"/>
              </a:rPr>
              <a:t>Socket</a:t>
            </a:r>
            <a:r>
              <a:rPr lang="en" sz="1600" dirty="0"/>
              <a:t>'s </a:t>
            </a:r>
            <a:r>
              <a:rPr lang="en" sz="1600" dirty="0">
                <a:latin typeface="Courier New"/>
                <a:ea typeface="Courier New"/>
                <a:cs typeface="Courier New"/>
                <a:sym typeface="Courier New"/>
              </a:rPr>
              <a:t>OutputStream</a:t>
            </a:r>
            <a:endParaRPr sz="1600" dirty="0">
              <a:latin typeface="Courier New"/>
              <a:ea typeface="Courier New"/>
              <a:cs typeface="Courier New"/>
              <a:sym typeface="Courier New"/>
            </a:endParaRPr>
          </a:p>
          <a:p>
            <a:pPr marL="457200" lvl="0" indent="-330200" algn="l" rtl="0">
              <a:lnSpc>
                <a:spcPct val="115000"/>
              </a:lnSpc>
              <a:spcBef>
                <a:spcPts val="0"/>
              </a:spcBef>
              <a:spcAft>
                <a:spcPts val="0"/>
              </a:spcAft>
              <a:buSzPts val="1600"/>
              <a:buChar char="●"/>
            </a:pPr>
            <a:r>
              <a:rPr lang="en" sz="1600" dirty="0"/>
              <a:t>Write your name using the </a:t>
            </a:r>
            <a:r>
              <a:rPr lang="en" sz="1600" dirty="0">
                <a:latin typeface="Courier New"/>
                <a:ea typeface="Courier New"/>
                <a:cs typeface="Courier New"/>
                <a:sym typeface="Courier New"/>
              </a:rPr>
              <a:t>Socket</a:t>
            </a:r>
            <a:endParaRPr sz="1600" dirty="0">
              <a:latin typeface="Courier New"/>
              <a:ea typeface="Courier New"/>
              <a:cs typeface="Courier New"/>
              <a:sym typeface="Courier New"/>
            </a:endParaRPr>
          </a:p>
        </p:txBody>
      </p:sp>
      <p:sp>
        <p:nvSpPr>
          <p:cNvPr id="573" name="Google Shape;573;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574" name="Google Shape;574;p56"/>
          <p:cNvSpPr txBox="1"/>
          <p:nvPr/>
        </p:nvSpPr>
        <p:spPr>
          <a:xfrm>
            <a:off x="169648" y="1849041"/>
            <a:ext cx="2222700" cy="51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rPr>
              <a:t>Your instructor will be running the server ...</a:t>
            </a:r>
            <a:endParaRPr>
              <a:solidFill>
                <a:schemeClr val="dk1"/>
              </a:solidFill>
              <a:latin typeface="Arial"/>
              <a:ea typeface="Arial"/>
              <a:cs typeface="Arial"/>
              <a:sym typeface="Arial"/>
            </a:endParaRPr>
          </a:p>
        </p:txBody>
      </p:sp>
      <p:sp>
        <p:nvSpPr>
          <p:cNvPr id="575" name="Google Shape;575;p56"/>
          <p:cNvSpPr txBox="1"/>
          <p:nvPr/>
        </p:nvSpPr>
        <p:spPr>
          <a:xfrm>
            <a:off x="169650" y="2548741"/>
            <a:ext cx="2222700" cy="51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rPr>
              <a:t>and displaying its output on the screen/projector.</a:t>
            </a:r>
            <a:endParaRPr>
              <a:solidFill>
                <a:schemeClr val="dk1"/>
              </a:solidFill>
              <a:latin typeface="Arial"/>
              <a:ea typeface="Arial"/>
              <a:cs typeface="Arial"/>
              <a:sym typeface="Arial"/>
            </a:endParaRPr>
          </a:p>
        </p:txBody>
      </p:sp>
      <p:sp>
        <p:nvSpPr>
          <p:cNvPr id="576" name="Google Shape;576;p56"/>
          <p:cNvSpPr txBox="1"/>
          <p:nvPr/>
        </p:nvSpPr>
        <p:spPr>
          <a:xfrm>
            <a:off x="169650" y="3248441"/>
            <a:ext cx="2222700" cy="895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dirty="0">
                <a:solidFill>
                  <a:schemeClr val="dk1"/>
                </a:solidFill>
              </a:rPr>
              <a:t>Check the screen to see if you were able to connect and send your name.</a:t>
            </a:r>
            <a:endParaRPr dirty="0">
              <a:solidFill>
                <a:schemeClr val="dk1"/>
              </a:solidFill>
              <a:latin typeface="Arial"/>
              <a:ea typeface="Arial"/>
              <a:cs typeface="Arial"/>
              <a:sym typeface="Arial"/>
            </a:endParaRPr>
          </a:p>
        </p:txBody>
      </p:sp>
      <p:sp>
        <p:nvSpPr>
          <p:cNvPr id="577" name="Google Shape;577;p56"/>
          <p:cNvSpPr txBox="1"/>
          <p:nvPr/>
        </p:nvSpPr>
        <p:spPr>
          <a:xfrm>
            <a:off x="169650" y="4330041"/>
            <a:ext cx="2222700" cy="51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rPr>
              <a:t>Who will be first?</a:t>
            </a:r>
            <a:endParaRPr>
              <a:solidFill>
                <a:schemeClr val="dk1"/>
              </a:solidFill>
              <a:latin typeface="Arial"/>
              <a:ea typeface="Arial"/>
              <a:cs typeface="Arial"/>
              <a:sym typeface="Arial"/>
            </a:endParaRPr>
          </a:p>
        </p:txBody>
      </p:sp>
      <p:sp>
        <p:nvSpPr>
          <p:cNvPr id="578" name="Google Shape;578;p5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9.5</a:t>
            </a:r>
            <a:endParaRPr/>
          </a:p>
        </p:txBody>
      </p:sp>
      <p:sp>
        <p:nvSpPr>
          <p:cNvPr id="579" name="Google Shape;579;p56"/>
          <p:cNvSpPr txBox="1"/>
          <p:nvPr/>
        </p:nvSpPr>
        <p:spPr>
          <a:xfrm>
            <a:off x="3028900" y="3355825"/>
            <a:ext cx="5443500" cy="1622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00" dirty="0">
                <a:solidFill>
                  <a:srgbClr val="267F99"/>
                </a:solidFill>
                <a:latin typeface="Consolas"/>
                <a:ea typeface="Consolas"/>
                <a:cs typeface="Consolas"/>
                <a:sym typeface="Consolas"/>
              </a:rPr>
              <a:t>Socket</a:t>
            </a:r>
            <a:r>
              <a:rPr lang="en" sz="1200" dirty="0">
                <a:latin typeface="Consolas"/>
                <a:ea typeface="Consolas"/>
                <a:cs typeface="Consolas"/>
                <a:sym typeface="Consolas"/>
              </a:rPr>
              <a:t> </a:t>
            </a:r>
            <a:r>
              <a:rPr lang="en" sz="1200" dirty="0">
                <a:solidFill>
                  <a:srgbClr val="001080"/>
                </a:solidFill>
                <a:latin typeface="Consolas"/>
                <a:ea typeface="Consolas"/>
                <a:cs typeface="Consolas"/>
                <a:sym typeface="Consolas"/>
              </a:rPr>
              <a:t>client</a:t>
            </a:r>
            <a:r>
              <a:rPr lang="en" sz="1200" dirty="0">
                <a:latin typeface="Consolas"/>
                <a:ea typeface="Consolas"/>
                <a:cs typeface="Consolas"/>
                <a:sym typeface="Consolas"/>
              </a:rPr>
              <a:t> = </a:t>
            </a:r>
            <a:r>
              <a:rPr lang="en" sz="1200" dirty="0">
                <a:solidFill>
                  <a:srgbClr val="AF00DB"/>
                </a:solidFill>
                <a:latin typeface="Consolas"/>
                <a:ea typeface="Consolas"/>
                <a:cs typeface="Consolas"/>
                <a:sym typeface="Consolas"/>
              </a:rPr>
              <a:t>new</a:t>
            </a:r>
            <a:r>
              <a:rPr lang="en" sz="1200" dirty="0">
                <a:latin typeface="Consolas"/>
                <a:ea typeface="Consolas"/>
                <a:cs typeface="Consolas"/>
                <a:sym typeface="Consolas"/>
              </a:rPr>
              <a:t> </a:t>
            </a:r>
            <a:r>
              <a:rPr lang="en" sz="1200" dirty="0">
                <a:solidFill>
                  <a:srgbClr val="795E26"/>
                </a:solidFill>
                <a:latin typeface="Consolas"/>
                <a:ea typeface="Consolas"/>
                <a:cs typeface="Consolas"/>
                <a:sym typeface="Consolas"/>
              </a:rPr>
              <a:t>Socket</a:t>
            </a:r>
            <a:r>
              <a:rPr lang="en" sz="1200" dirty="0">
                <a:latin typeface="Consolas"/>
                <a:ea typeface="Consolas"/>
                <a:cs typeface="Consolas"/>
                <a:sym typeface="Consolas"/>
              </a:rPr>
              <a:t>(</a:t>
            </a:r>
            <a:r>
              <a:rPr lang="en" sz="1200" dirty="0">
                <a:solidFill>
                  <a:srgbClr val="A31515"/>
                </a:solidFill>
                <a:latin typeface="Consolas"/>
                <a:ea typeface="Consolas"/>
                <a:cs typeface="Consolas"/>
                <a:sym typeface="Consolas"/>
              </a:rPr>
              <a:t>"somehost.net"</a:t>
            </a:r>
            <a:r>
              <a:rPr lang="en" sz="1200" dirty="0">
                <a:latin typeface="Consolas"/>
                <a:ea typeface="Consolas"/>
                <a:cs typeface="Consolas"/>
                <a:sym typeface="Consolas"/>
              </a:rPr>
              <a:t>, </a:t>
            </a:r>
            <a:r>
              <a:rPr lang="en" sz="1200" dirty="0">
                <a:solidFill>
                  <a:srgbClr val="098658"/>
                </a:solidFill>
                <a:latin typeface="Consolas"/>
                <a:ea typeface="Consolas"/>
                <a:cs typeface="Consolas"/>
                <a:sym typeface="Consolas"/>
              </a:rPr>
              <a:t>54321</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267F99"/>
                </a:solidFill>
                <a:latin typeface="Consolas"/>
                <a:ea typeface="Consolas"/>
                <a:cs typeface="Consolas"/>
                <a:sym typeface="Consolas"/>
              </a:rPr>
              <a:t>OutputStream</a:t>
            </a:r>
            <a:r>
              <a:rPr lang="en" sz="1200" dirty="0">
                <a:latin typeface="Consolas"/>
                <a:ea typeface="Consolas"/>
                <a:cs typeface="Consolas"/>
                <a:sym typeface="Consolas"/>
              </a:rPr>
              <a:t> </a:t>
            </a:r>
            <a:r>
              <a:rPr lang="en" sz="1200" dirty="0">
                <a:solidFill>
                  <a:srgbClr val="001080"/>
                </a:solidFill>
                <a:latin typeface="Consolas"/>
                <a:ea typeface="Consolas"/>
                <a:cs typeface="Consolas"/>
                <a:sym typeface="Consolas"/>
              </a:rPr>
              <a:t>out</a:t>
            </a:r>
            <a:r>
              <a:rPr lang="en" sz="1200" dirty="0">
                <a:latin typeface="Consolas"/>
                <a:ea typeface="Consolas"/>
                <a:cs typeface="Consolas"/>
                <a:sym typeface="Consolas"/>
              </a:rPr>
              <a:t> = </a:t>
            </a:r>
            <a:r>
              <a:rPr lang="en" sz="1200" dirty="0">
                <a:solidFill>
                  <a:srgbClr val="001080"/>
                </a:solidFill>
                <a:latin typeface="Consolas"/>
                <a:ea typeface="Consolas"/>
                <a:cs typeface="Consolas"/>
                <a:sym typeface="Consolas"/>
              </a:rPr>
              <a:t>client</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getOutputStream</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267F99"/>
                </a:solidFill>
                <a:latin typeface="Consolas"/>
                <a:ea typeface="Consolas"/>
                <a:cs typeface="Consolas"/>
                <a:sym typeface="Consolas"/>
              </a:rPr>
              <a:t>PrintWriter</a:t>
            </a:r>
            <a:r>
              <a:rPr lang="en" sz="1200" dirty="0">
                <a:latin typeface="Consolas"/>
                <a:ea typeface="Consolas"/>
                <a:cs typeface="Consolas"/>
                <a:sym typeface="Consolas"/>
              </a:rPr>
              <a:t> </a:t>
            </a:r>
            <a:r>
              <a:rPr lang="en" sz="1200" dirty="0">
                <a:solidFill>
                  <a:srgbClr val="001080"/>
                </a:solidFill>
                <a:latin typeface="Consolas"/>
                <a:ea typeface="Consolas"/>
                <a:cs typeface="Consolas"/>
                <a:sym typeface="Consolas"/>
              </a:rPr>
              <a:t>printer</a:t>
            </a:r>
            <a:r>
              <a:rPr lang="en" sz="1200" dirty="0">
                <a:latin typeface="Consolas"/>
                <a:ea typeface="Consolas"/>
                <a:cs typeface="Consolas"/>
                <a:sym typeface="Consolas"/>
              </a:rPr>
              <a:t> = </a:t>
            </a:r>
            <a:r>
              <a:rPr lang="en" sz="1200" dirty="0">
                <a:solidFill>
                  <a:srgbClr val="AF00DB"/>
                </a:solidFill>
                <a:latin typeface="Consolas"/>
                <a:ea typeface="Consolas"/>
                <a:cs typeface="Consolas"/>
                <a:sym typeface="Consolas"/>
              </a:rPr>
              <a:t>new</a:t>
            </a:r>
            <a:r>
              <a:rPr lang="en" sz="1200" dirty="0">
                <a:latin typeface="Consolas"/>
                <a:ea typeface="Consolas"/>
                <a:cs typeface="Consolas"/>
                <a:sym typeface="Consolas"/>
              </a:rPr>
              <a:t> </a:t>
            </a:r>
            <a:r>
              <a:rPr lang="en" sz="1200" dirty="0">
                <a:solidFill>
                  <a:srgbClr val="795E26"/>
                </a:solidFill>
                <a:latin typeface="Consolas"/>
                <a:ea typeface="Consolas"/>
                <a:cs typeface="Consolas"/>
                <a:sym typeface="Consolas"/>
              </a:rPr>
              <a:t>PrintWriter</a:t>
            </a:r>
            <a:r>
              <a:rPr lang="en" sz="1200" dirty="0">
                <a:latin typeface="Consolas"/>
                <a:ea typeface="Consolas"/>
                <a:cs typeface="Consolas"/>
                <a:sym typeface="Consolas"/>
              </a:rPr>
              <a:t>(</a:t>
            </a:r>
            <a:r>
              <a:rPr lang="en" sz="1200" dirty="0">
                <a:solidFill>
                  <a:srgbClr val="001080"/>
                </a:solidFill>
                <a:latin typeface="Consolas"/>
                <a:ea typeface="Consolas"/>
                <a:cs typeface="Consolas"/>
                <a:sym typeface="Consolas"/>
              </a:rPr>
              <a:t>out</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01080"/>
                </a:solidFill>
                <a:latin typeface="Consolas"/>
                <a:ea typeface="Consolas"/>
                <a:cs typeface="Consolas"/>
                <a:sym typeface="Consolas"/>
              </a:rPr>
              <a:t>printer</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println</a:t>
            </a:r>
            <a:r>
              <a:rPr lang="en" sz="1200" dirty="0">
                <a:latin typeface="Consolas"/>
                <a:ea typeface="Consolas"/>
                <a:cs typeface="Consolas"/>
                <a:sym typeface="Consolas"/>
              </a:rPr>
              <a:t>(</a:t>
            </a:r>
            <a:r>
              <a:rPr lang="en" sz="1200" dirty="0">
                <a:solidFill>
                  <a:srgbClr val="A31515"/>
                </a:solidFill>
                <a:latin typeface="Consolas"/>
                <a:ea typeface="Consolas"/>
                <a:cs typeface="Consolas"/>
                <a:sym typeface="Consolas"/>
              </a:rPr>
              <a:t>"John Denver"</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01080"/>
                </a:solidFill>
                <a:latin typeface="Consolas"/>
                <a:ea typeface="Consolas"/>
                <a:cs typeface="Consolas"/>
                <a:sym typeface="Consolas"/>
              </a:rPr>
              <a:t>printer</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flush</a:t>
            </a:r>
            <a:r>
              <a:rPr lang="en" sz="1200" dirty="0">
                <a:latin typeface="Consolas"/>
                <a:ea typeface="Consolas"/>
                <a:cs typeface="Consolas"/>
                <a:sym typeface="Consolas"/>
              </a:rPr>
              <a:t>();</a:t>
            </a:r>
            <a:endParaRPr sz="1200" dirty="0">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rgbClr val="001080"/>
                </a:solidFill>
                <a:latin typeface="Consolas"/>
                <a:ea typeface="Consolas"/>
                <a:cs typeface="Consolas"/>
                <a:sym typeface="Consolas"/>
              </a:rPr>
              <a:t>client</a:t>
            </a:r>
            <a:r>
              <a:rPr lang="en" sz="1200" dirty="0">
                <a:latin typeface="Consolas"/>
                <a:ea typeface="Consolas"/>
                <a:cs typeface="Consolas"/>
                <a:sym typeface="Consolas"/>
              </a:rPr>
              <a:t>.</a:t>
            </a:r>
            <a:r>
              <a:rPr lang="en" sz="1200" dirty="0">
                <a:solidFill>
                  <a:srgbClr val="795E26"/>
                </a:solidFill>
                <a:latin typeface="Consolas"/>
                <a:ea typeface="Consolas"/>
                <a:cs typeface="Consolas"/>
                <a:sym typeface="Consolas"/>
              </a:rPr>
              <a:t>close</a:t>
            </a:r>
            <a:r>
              <a:rPr lang="en" sz="1200" dirty="0">
                <a:latin typeface="Consolas"/>
                <a:ea typeface="Consolas"/>
                <a:cs typeface="Consolas"/>
                <a:sym typeface="Consolas"/>
              </a:rPr>
              <a:t>();</a:t>
            </a:r>
            <a:endParaRPr sz="1200" dirty="0">
              <a:solidFill>
                <a:srgbClr val="569CD6"/>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57"/>
          <p:cNvSpPr txBox="1">
            <a:spLocks noGrp="1"/>
          </p:cNvSpPr>
          <p:nvPr>
            <p:ph type="body" idx="1"/>
          </p:nvPr>
        </p:nvSpPr>
        <p:spPr>
          <a:xfrm>
            <a:off x="4644675" y="376400"/>
            <a:ext cx="4166400" cy="4556700"/>
          </a:xfrm>
          <a:prstGeom prst="rect">
            <a:avLst/>
          </a:prstGeom>
          <a:noFill/>
          <a:ln>
            <a:noFill/>
          </a:ln>
        </p:spPr>
        <p:txBody>
          <a:bodyPr spcFirstLastPara="1" wrap="square" lIns="68575" tIns="34275" rIns="68575" bIns="34275" anchor="t" anchorCtr="0">
            <a:normAutofit fontScale="92500"/>
          </a:bodyPr>
          <a:lstStyle/>
          <a:p>
            <a:pPr marL="457200" lvl="0" indent="-319405" algn="l" rtl="0">
              <a:lnSpc>
                <a:spcPct val="115000"/>
              </a:lnSpc>
              <a:spcBef>
                <a:spcPts val="0"/>
              </a:spcBef>
              <a:spcAft>
                <a:spcPts val="0"/>
              </a:spcAft>
              <a:buSzPts val="1430"/>
              <a:buChar char="●"/>
            </a:pPr>
            <a:r>
              <a:rPr lang="en" sz="1430" dirty="0">
                <a:highlight>
                  <a:srgbClr val="FFFF00"/>
                </a:highlight>
              </a:rPr>
              <a:t>Once a connection is established, both sides of the connection are represented as </a:t>
            </a:r>
            <a:r>
              <a:rPr lang="en" sz="1430" dirty="0">
                <a:solidFill>
                  <a:srgbClr val="FF0000"/>
                </a:solidFill>
                <a:highlight>
                  <a:srgbClr val="FFFF00"/>
                </a:highlight>
                <a:latin typeface="Courier New"/>
                <a:ea typeface="Courier New"/>
                <a:cs typeface="Courier New"/>
                <a:sym typeface="Courier New"/>
              </a:rPr>
              <a:t>Socket</a:t>
            </a:r>
            <a:r>
              <a:rPr lang="en" sz="1430" dirty="0">
                <a:highlight>
                  <a:srgbClr val="FFFF00"/>
                </a:highlight>
              </a:rPr>
              <a:t>s</a:t>
            </a:r>
            <a:endParaRPr sz="1430" dirty="0">
              <a:highlight>
                <a:srgbClr val="FFFF00"/>
              </a:highlight>
            </a:endParaRPr>
          </a:p>
          <a:p>
            <a:pPr marL="457200" lvl="0" indent="-319405" algn="l" rtl="0">
              <a:lnSpc>
                <a:spcPct val="115000"/>
              </a:lnSpc>
              <a:spcBef>
                <a:spcPts val="0"/>
              </a:spcBef>
              <a:spcAft>
                <a:spcPts val="0"/>
              </a:spcAft>
              <a:buSzPts val="1430"/>
              <a:buChar char="●"/>
            </a:pPr>
            <a:r>
              <a:rPr lang="en" sz="1430" dirty="0"/>
              <a:t>The </a:t>
            </a:r>
            <a:r>
              <a:rPr lang="en" sz="1430" dirty="0">
                <a:latin typeface="Courier New"/>
                <a:ea typeface="Courier New"/>
                <a:cs typeface="Courier New"/>
                <a:sym typeface="Courier New"/>
              </a:rPr>
              <a:t>Socket::getInputStream()</a:t>
            </a:r>
            <a:r>
              <a:rPr lang="en" sz="1430" dirty="0"/>
              <a:t> method will return an </a:t>
            </a:r>
            <a:r>
              <a:rPr lang="en" sz="1430" dirty="0">
                <a:latin typeface="Courier New"/>
                <a:ea typeface="Courier New"/>
                <a:cs typeface="Courier New"/>
                <a:sym typeface="Courier New"/>
              </a:rPr>
              <a:t>InputStream</a:t>
            </a:r>
            <a:r>
              <a:rPr lang="en" sz="1430" dirty="0"/>
              <a:t> that can be used to </a:t>
            </a:r>
            <a:r>
              <a:rPr lang="en" sz="1430" b="1" i="1" dirty="0">
                <a:solidFill>
                  <a:srgbClr val="FF0000"/>
                </a:solidFill>
              </a:rPr>
              <a:t>receive</a:t>
            </a:r>
            <a:r>
              <a:rPr lang="en" sz="1430" dirty="0"/>
              <a:t> data from the other end of the connection</a:t>
            </a:r>
            <a:endParaRPr sz="1005" dirty="0"/>
          </a:p>
          <a:p>
            <a:pPr marL="457200" lvl="0" indent="-319405" algn="l" rtl="0">
              <a:lnSpc>
                <a:spcPct val="115000"/>
              </a:lnSpc>
              <a:spcBef>
                <a:spcPts val="0"/>
              </a:spcBef>
              <a:spcAft>
                <a:spcPts val="0"/>
              </a:spcAft>
              <a:buSzPts val="1430"/>
              <a:buChar char="●"/>
            </a:pPr>
            <a:r>
              <a:rPr lang="en" sz="1430" dirty="0"/>
              <a:t>Recall that Java streams are used to read </a:t>
            </a:r>
            <a:r>
              <a:rPr lang="en" sz="1430" b="1" i="1" dirty="0">
                <a:solidFill>
                  <a:srgbClr val="FF0000"/>
                </a:solidFill>
              </a:rPr>
              <a:t>binary</a:t>
            </a:r>
            <a:r>
              <a:rPr lang="en" sz="1430" dirty="0"/>
              <a:t> data. If </a:t>
            </a:r>
            <a:r>
              <a:rPr lang="en" sz="1430" b="1" i="1" dirty="0">
                <a:solidFill>
                  <a:srgbClr val="FF0000"/>
                </a:solidFill>
              </a:rPr>
              <a:t>text</a:t>
            </a:r>
            <a:r>
              <a:rPr lang="en" sz="1430" dirty="0"/>
              <a:t> data is preferred, the </a:t>
            </a:r>
            <a:r>
              <a:rPr lang="en" sz="1430" dirty="0">
                <a:latin typeface="Courier New"/>
                <a:ea typeface="Courier New"/>
                <a:cs typeface="Courier New"/>
                <a:sym typeface="Courier New"/>
              </a:rPr>
              <a:t>InputStream</a:t>
            </a:r>
            <a:r>
              <a:rPr lang="en" sz="1430" dirty="0"/>
              <a:t> may be wrapped in an instance of the </a:t>
            </a:r>
            <a:r>
              <a:rPr lang="en" sz="1430" dirty="0">
                <a:latin typeface="Courier New"/>
                <a:ea typeface="Courier New"/>
                <a:cs typeface="Courier New"/>
                <a:sym typeface="Courier New"/>
              </a:rPr>
              <a:t>java.io.BufferedReader</a:t>
            </a:r>
            <a:r>
              <a:rPr lang="en" sz="1430" dirty="0"/>
              <a:t> class</a:t>
            </a:r>
            <a:endParaRPr sz="1005" dirty="0"/>
          </a:p>
          <a:p>
            <a:pPr marL="0" lvl="0" indent="457200" algn="l" rtl="0">
              <a:lnSpc>
                <a:spcPct val="100000"/>
              </a:lnSpc>
              <a:spcBef>
                <a:spcPts val="600"/>
              </a:spcBef>
              <a:spcAft>
                <a:spcPts val="0"/>
              </a:spcAft>
              <a:buNone/>
            </a:pPr>
            <a:r>
              <a:rPr lang="en" sz="1345" dirty="0">
                <a:latin typeface="Courier New"/>
                <a:ea typeface="Courier New"/>
                <a:cs typeface="Courier New"/>
                <a:sym typeface="Courier New"/>
              </a:rPr>
              <a:t>BufferedReader sc = new </a:t>
            </a:r>
            <a:endParaRPr sz="1345" dirty="0">
              <a:latin typeface="Courier New"/>
              <a:ea typeface="Courier New"/>
              <a:cs typeface="Courier New"/>
              <a:sym typeface="Courier New"/>
            </a:endParaRPr>
          </a:p>
          <a:p>
            <a:pPr marL="457200" lvl="0" indent="457200" algn="l" rtl="0">
              <a:lnSpc>
                <a:spcPct val="100000"/>
              </a:lnSpc>
              <a:spcBef>
                <a:spcPts val="600"/>
              </a:spcBef>
              <a:spcAft>
                <a:spcPts val="0"/>
              </a:spcAft>
              <a:buNone/>
            </a:pPr>
            <a:r>
              <a:rPr lang="en" sz="1345" dirty="0">
                <a:latin typeface="Courier New"/>
                <a:ea typeface="Courier New"/>
                <a:cs typeface="Courier New"/>
                <a:sym typeface="Courier New"/>
              </a:rPr>
              <a:t>BufferedReader(inputStream);</a:t>
            </a:r>
            <a:endParaRPr sz="835" dirty="0">
              <a:latin typeface="Courier New"/>
              <a:ea typeface="Courier New"/>
              <a:cs typeface="Courier New"/>
              <a:sym typeface="Courier New"/>
            </a:endParaRPr>
          </a:p>
          <a:p>
            <a:pPr marL="457200" lvl="0" indent="-319405" algn="l" rtl="0">
              <a:lnSpc>
                <a:spcPct val="115000"/>
              </a:lnSpc>
              <a:spcBef>
                <a:spcPts val="600"/>
              </a:spcBef>
              <a:spcAft>
                <a:spcPts val="0"/>
              </a:spcAft>
              <a:buSzPts val="1430"/>
              <a:buChar char="●"/>
            </a:pPr>
            <a:r>
              <a:rPr lang="en" sz="1430" dirty="0"/>
              <a:t>Remember, a </a:t>
            </a:r>
            <a:r>
              <a:rPr lang="en" sz="1430" dirty="0">
                <a:latin typeface="Courier New"/>
                <a:ea typeface="Courier New"/>
                <a:cs typeface="Courier New"/>
                <a:sym typeface="Courier New"/>
              </a:rPr>
              <a:t>BufferedReader</a:t>
            </a:r>
            <a:r>
              <a:rPr lang="en" sz="1430" dirty="0"/>
              <a:t> provides useful methods, including:</a:t>
            </a:r>
            <a:endParaRPr sz="1005" dirty="0"/>
          </a:p>
          <a:p>
            <a:pPr marL="914400" lvl="1" indent="-311150" algn="l" rtl="0">
              <a:lnSpc>
                <a:spcPct val="115000"/>
              </a:lnSpc>
              <a:spcBef>
                <a:spcPts val="0"/>
              </a:spcBef>
              <a:spcAft>
                <a:spcPts val="0"/>
              </a:spcAft>
              <a:buSzPts val="1300"/>
              <a:buChar char="○"/>
            </a:pPr>
            <a:r>
              <a:rPr lang="en" sz="1300" dirty="0">
                <a:highlight>
                  <a:srgbClr val="FFFF00"/>
                </a:highlight>
                <a:latin typeface="Courier New"/>
                <a:ea typeface="Courier New"/>
                <a:cs typeface="Courier New"/>
                <a:sym typeface="Courier New"/>
              </a:rPr>
              <a:t>readLine</a:t>
            </a:r>
            <a:r>
              <a:rPr lang="en" sz="1300" dirty="0">
                <a:latin typeface="Courier New"/>
                <a:ea typeface="Courier New"/>
                <a:cs typeface="Courier New"/>
                <a:sym typeface="Courier New"/>
              </a:rPr>
              <a:t>()</a:t>
            </a:r>
            <a:r>
              <a:rPr lang="en" sz="1300" dirty="0"/>
              <a:t> - reads up to the next newline</a:t>
            </a:r>
            <a:endParaRPr sz="1300" dirty="0"/>
          </a:p>
          <a:p>
            <a:pPr marL="914400" lvl="1" indent="-311150" algn="l" rtl="0">
              <a:lnSpc>
                <a:spcPct val="115000"/>
              </a:lnSpc>
              <a:spcBef>
                <a:spcPts val="0"/>
              </a:spcBef>
              <a:spcAft>
                <a:spcPts val="0"/>
              </a:spcAft>
              <a:buSzPts val="1300"/>
              <a:buChar char="○"/>
            </a:pPr>
            <a:r>
              <a:rPr lang="en" sz="1300" dirty="0">
                <a:highlight>
                  <a:srgbClr val="FFFF00"/>
                </a:highlight>
                <a:latin typeface="Courier New"/>
                <a:ea typeface="Courier New"/>
                <a:cs typeface="Courier New"/>
                <a:sym typeface="Courier New"/>
              </a:rPr>
              <a:t>lines</a:t>
            </a:r>
            <a:r>
              <a:rPr lang="en" sz="1300" dirty="0">
                <a:latin typeface="Courier New"/>
                <a:ea typeface="Courier New"/>
                <a:cs typeface="Courier New"/>
                <a:sym typeface="Courier New"/>
              </a:rPr>
              <a:t>()</a:t>
            </a:r>
            <a:r>
              <a:rPr lang="en" sz="1300" dirty="0"/>
              <a:t> - interprets the received data as a </a:t>
            </a:r>
            <a:r>
              <a:rPr lang="en" sz="1300" dirty="0">
                <a:latin typeface="Courier New"/>
                <a:ea typeface="Courier New"/>
                <a:cs typeface="Courier New"/>
                <a:sym typeface="Courier New"/>
              </a:rPr>
              <a:t>Stream</a:t>
            </a:r>
            <a:r>
              <a:rPr lang="en" sz="1300" dirty="0"/>
              <a:t> of lines.</a:t>
            </a:r>
            <a:endParaRPr sz="1430" dirty="0"/>
          </a:p>
        </p:txBody>
      </p:sp>
      <p:sp>
        <p:nvSpPr>
          <p:cNvPr id="585" name="Google Shape;585;p57"/>
          <p:cNvSpPr txBox="1">
            <a:spLocks noGrp="1"/>
          </p:cNvSpPr>
          <p:nvPr>
            <p:ph type="title"/>
          </p:nvPr>
        </p:nvSpPr>
        <p:spPr>
          <a:xfrm>
            <a:off x="311725" y="153000"/>
            <a:ext cx="3706500" cy="5895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Receiving Data</a:t>
            </a:r>
            <a:endParaRPr/>
          </a:p>
        </p:txBody>
      </p:sp>
      <p:sp>
        <p:nvSpPr>
          <p:cNvPr id="586" name="Google Shape;586;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pic>
        <p:nvPicPr>
          <p:cNvPr id="587" name="Google Shape;587;p57"/>
          <p:cNvPicPr preferRelativeResize="0"/>
          <p:nvPr/>
        </p:nvPicPr>
        <p:blipFill rotWithShape="1">
          <a:blip r:embed="rId3">
            <a:alphaModFix/>
          </a:blip>
          <a:srcRect/>
          <a:stretch/>
        </p:blipFill>
        <p:spPr>
          <a:xfrm rot="1255174" flipH="1">
            <a:off x="2499706" y="3933192"/>
            <a:ext cx="1307539" cy="1307567"/>
          </a:xfrm>
          <a:prstGeom prst="rect">
            <a:avLst/>
          </a:prstGeom>
          <a:noFill/>
          <a:ln>
            <a:noFill/>
          </a:ln>
        </p:spPr>
      </p:pic>
      <p:sp>
        <p:nvSpPr>
          <p:cNvPr id="588" name="Google Shape;588;p57"/>
          <p:cNvSpPr/>
          <p:nvPr/>
        </p:nvSpPr>
        <p:spPr>
          <a:xfrm>
            <a:off x="1903862" y="3983714"/>
            <a:ext cx="759000" cy="431100"/>
          </a:xfrm>
          <a:prstGeom prst="wedgeRoundRectCallout">
            <a:avLst>
              <a:gd name="adj1" fmla="val 120496"/>
              <a:gd name="adj2" fmla="val -21648"/>
              <a:gd name="adj3" fmla="val 0"/>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pic>
        <p:nvPicPr>
          <p:cNvPr id="589" name="Google Shape;589;p57"/>
          <p:cNvPicPr preferRelativeResize="0"/>
          <p:nvPr/>
        </p:nvPicPr>
        <p:blipFill rotWithShape="1">
          <a:blip r:embed="rId4">
            <a:alphaModFix/>
          </a:blip>
          <a:srcRect r="46729" b="17594"/>
          <a:stretch/>
        </p:blipFill>
        <p:spPr>
          <a:xfrm flipH="1">
            <a:off x="2859151" y="1485564"/>
            <a:ext cx="1015500" cy="1127850"/>
          </a:xfrm>
          <a:prstGeom prst="rect">
            <a:avLst/>
          </a:prstGeom>
          <a:noFill/>
          <a:ln>
            <a:noFill/>
          </a:ln>
        </p:spPr>
      </p:pic>
      <p:sp>
        <p:nvSpPr>
          <p:cNvPr id="590" name="Google Shape;590;p57"/>
          <p:cNvSpPr txBox="1"/>
          <p:nvPr/>
        </p:nvSpPr>
        <p:spPr>
          <a:xfrm>
            <a:off x="560975" y="742525"/>
            <a:ext cx="3326700" cy="68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It can be helpful to think of the two ends of the connection like a telephone.</a:t>
            </a:r>
            <a:endParaRPr>
              <a:solidFill>
                <a:schemeClr val="dk1"/>
              </a:solidFill>
              <a:latin typeface="Arial"/>
              <a:ea typeface="Arial"/>
              <a:cs typeface="Arial"/>
              <a:sym typeface="Arial"/>
            </a:endParaRPr>
          </a:p>
        </p:txBody>
      </p:sp>
      <p:pic>
        <p:nvPicPr>
          <p:cNvPr id="591" name="Google Shape;591;p57"/>
          <p:cNvPicPr preferRelativeResize="0"/>
          <p:nvPr/>
        </p:nvPicPr>
        <p:blipFill rotWithShape="1">
          <a:blip r:embed="rId3">
            <a:alphaModFix/>
          </a:blip>
          <a:srcRect/>
          <a:stretch/>
        </p:blipFill>
        <p:spPr>
          <a:xfrm rot="-1610027">
            <a:off x="568827" y="1420572"/>
            <a:ext cx="1375847" cy="1375858"/>
          </a:xfrm>
          <a:prstGeom prst="rect">
            <a:avLst/>
          </a:prstGeom>
          <a:noFill/>
          <a:ln>
            <a:noFill/>
          </a:ln>
        </p:spPr>
      </p:pic>
      <p:sp>
        <p:nvSpPr>
          <p:cNvPr id="592" name="Google Shape;592;p57"/>
          <p:cNvSpPr txBox="1"/>
          <p:nvPr/>
        </p:nvSpPr>
        <p:spPr>
          <a:xfrm>
            <a:off x="560975" y="2704350"/>
            <a:ext cx="3326700" cy="51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Audio sent through the microphone (</a:t>
            </a:r>
            <a:r>
              <a:rPr lang="en" b="1" i="1">
                <a:solidFill>
                  <a:srgbClr val="FF0000"/>
                </a:solidFill>
                <a:latin typeface="Arial"/>
                <a:ea typeface="Arial"/>
                <a:cs typeface="Arial"/>
                <a:sym typeface="Arial"/>
              </a:rPr>
              <a:t>output stream</a:t>
            </a:r>
            <a:r>
              <a:rPr lang="en">
                <a:solidFill>
                  <a:schemeClr val="dk1"/>
                </a:solidFill>
                <a:latin typeface="Arial"/>
                <a:ea typeface="Arial"/>
                <a:cs typeface="Arial"/>
                <a:sym typeface="Arial"/>
              </a:rPr>
              <a:t>) on one end...</a:t>
            </a:r>
            <a:endParaRPr>
              <a:solidFill>
                <a:schemeClr val="dk1"/>
              </a:solidFill>
              <a:latin typeface="Arial"/>
              <a:ea typeface="Arial"/>
              <a:cs typeface="Arial"/>
              <a:sym typeface="Arial"/>
            </a:endParaRPr>
          </a:p>
        </p:txBody>
      </p:sp>
      <p:sp>
        <p:nvSpPr>
          <p:cNvPr id="593" name="Google Shape;593;p57"/>
          <p:cNvSpPr txBox="1"/>
          <p:nvPr/>
        </p:nvSpPr>
        <p:spPr>
          <a:xfrm>
            <a:off x="560975" y="3349175"/>
            <a:ext cx="3326700" cy="51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...is heard through the speaker (</a:t>
            </a:r>
            <a:r>
              <a:rPr lang="en" b="1" i="1">
                <a:solidFill>
                  <a:srgbClr val="FF0000"/>
                </a:solidFill>
                <a:latin typeface="Arial"/>
                <a:ea typeface="Arial"/>
                <a:cs typeface="Arial"/>
                <a:sym typeface="Arial"/>
              </a:rPr>
              <a:t>input stream</a:t>
            </a:r>
            <a:r>
              <a:rPr lang="en">
                <a:solidFill>
                  <a:schemeClr val="dk1"/>
                </a:solidFill>
                <a:latin typeface="Arial"/>
                <a:ea typeface="Arial"/>
                <a:cs typeface="Arial"/>
                <a:sym typeface="Arial"/>
              </a:rPr>
              <a:t>) on the other.</a:t>
            </a:r>
            <a:endParaRPr>
              <a:solidFill>
                <a:schemeClr val="dk1"/>
              </a:solidFill>
              <a:latin typeface="Arial"/>
              <a:ea typeface="Arial"/>
              <a:cs typeface="Arial"/>
              <a:sym typeface="Arial"/>
            </a:endParaRPr>
          </a:p>
        </p:txBody>
      </p:sp>
      <p:sp>
        <p:nvSpPr>
          <p:cNvPr id="594" name="Google Shape;594;p57"/>
          <p:cNvSpPr/>
          <p:nvPr/>
        </p:nvSpPr>
        <p:spPr>
          <a:xfrm>
            <a:off x="2014772" y="2009553"/>
            <a:ext cx="771900" cy="431100"/>
          </a:xfrm>
          <a:prstGeom prst="wedgeRoundRectCallout">
            <a:avLst>
              <a:gd name="adj1" fmla="val 119109"/>
              <a:gd name="adj2" fmla="val -47550"/>
              <a:gd name="adj3" fmla="val 0"/>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8"/>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Using BufferedReader to Read Data</a:t>
            </a:r>
            <a:endParaRPr/>
          </a:p>
        </p:txBody>
      </p:sp>
      <p:sp>
        <p:nvSpPr>
          <p:cNvPr id="600" name="Google Shape;600;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601" name="Google Shape;601;p58"/>
          <p:cNvSpPr txBox="1"/>
          <p:nvPr/>
        </p:nvSpPr>
        <p:spPr>
          <a:xfrm>
            <a:off x="3683675" y="1949475"/>
            <a:ext cx="4686600" cy="1803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1  </a:t>
            </a:r>
            <a:r>
              <a:rPr lang="en" sz="1150" dirty="0">
                <a:solidFill>
                  <a:srgbClr val="267F99"/>
                </a:solidFill>
                <a:latin typeface="Consolas"/>
                <a:ea typeface="Consolas"/>
                <a:cs typeface="Consolas"/>
                <a:sym typeface="Consolas"/>
              </a:rPr>
              <a:t>InputStream</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 =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getInputStream</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chemeClr val="accent5"/>
                </a:solidFill>
                <a:latin typeface="Consolas"/>
                <a:ea typeface="Consolas"/>
                <a:cs typeface="Consolas"/>
                <a:sym typeface="Consolas"/>
              </a:rPr>
              <a:t>2</a:t>
            </a:r>
            <a:r>
              <a:rPr lang="en" sz="1150" dirty="0">
                <a:latin typeface="Consolas"/>
                <a:ea typeface="Consolas"/>
                <a:cs typeface="Consolas"/>
                <a:sym typeface="Consolas"/>
              </a:rPr>
              <a:t>  </a:t>
            </a:r>
            <a:r>
              <a:rPr lang="en" sz="1150" dirty="0">
                <a:solidFill>
                  <a:srgbClr val="267F99"/>
                </a:solidFill>
                <a:latin typeface="Consolas"/>
                <a:ea typeface="Consolas"/>
                <a:cs typeface="Consolas"/>
                <a:sym typeface="Consolas"/>
              </a:rPr>
              <a:t>InputStreamReader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InputStreamReader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3  </a:t>
            </a:r>
            <a:r>
              <a:rPr lang="en" sz="1150" dirty="0">
                <a:solidFill>
                  <a:srgbClr val="267F99"/>
                </a:solidFill>
                <a:latin typeface="Consolas"/>
                <a:ea typeface="Consolas"/>
                <a:cs typeface="Consolas"/>
                <a:sym typeface="Consolas"/>
              </a:rPr>
              <a:t>BufferedReader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reader</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BufferedReader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4  </a:t>
            </a:r>
            <a:r>
              <a:rPr lang="en" sz="1150" dirty="0">
                <a:solidFill>
                  <a:srgbClr val="267F99"/>
                </a:solidFill>
                <a:latin typeface="Consolas"/>
                <a:ea typeface="Consolas"/>
                <a:cs typeface="Consolas"/>
                <a:sym typeface="Consolas"/>
              </a:rPr>
              <a:t>String</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message</a:t>
            </a:r>
            <a:r>
              <a:rPr lang="en" sz="1150" dirty="0">
                <a:latin typeface="Consolas"/>
                <a:ea typeface="Consolas"/>
                <a:cs typeface="Consolas"/>
                <a:sym typeface="Consolas"/>
              </a:rPr>
              <a:t> = </a:t>
            </a:r>
            <a:r>
              <a:rPr lang="en" sz="1150" dirty="0">
                <a:solidFill>
                  <a:srgbClr val="001080"/>
                </a:solidFill>
                <a:latin typeface="Consolas"/>
                <a:ea typeface="Consolas"/>
                <a:cs typeface="Consolas"/>
                <a:sym typeface="Consolas"/>
              </a:rPr>
              <a:t>reader</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readLine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5  </a:t>
            </a:r>
            <a:r>
              <a:rPr lang="en" sz="1150" dirty="0">
                <a:solidFill>
                  <a:srgbClr val="267F99"/>
                </a:solidFill>
                <a:latin typeface="Consolas"/>
                <a:ea typeface="Consolas"/>
                <a:cs typeface="Consolas"/>
                <a:sym typeface="Consolas"/>
              </a:rPr>
              <a:t>System</a:t>
            </a:r>
            <a:r>
              <a:rPr lang="en" sz="1150" dirty="0">
                <a:latin typeface="Consolas"/>
                <a:ea typeface="Consolas"/>
                <a:cs typeface="Consolas"/>
                <a:sym typeface="Consolas"/>
              </a:rPr>
              <a:t>.</a:t>
            </a:r>
            <a:r>
              <a:rPr lang="en" sz="1150" dirty="0">
                <a:solidFill>
                  <a:srgbClr val="0070C1"/>
                </a:solidFill>
                <a:latin typeface="Consolas"/>
                <a:ea typeface="Consolas"/>
                <a:cs typeface="Consolas"/>
                <a:sym typeface="Consolas"/>
              </a:rPr>
              <a:t>out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print</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message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6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close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7  </a:t>
            </a:r>
            <a:r>
              <a:rPr lang="en" sz="1150" dirty="0">
                <a:solidFill>
                  <a:srgbClr val="267F99"/>
                </a:solidFill>
                <a:latin typeface="Consolas"/>
                <a:ea typeface="Consolas"/>
                <a:cs typeface="Consolas"/>
                <a:sym typeface="Consolas"/>
              </a:rPr>
              <a:t>System</a:t>
            </a:r>
            <a:r>
              <a:rPr lang="en" sz="1150" dirty="0">
                <a:latin typeface="Consolas"/>
                <a:ea typeface="Consolas"/>
                <a:cs typeface="Consolas"/>
                <a:sym typeface="Consolas"/>
              </a:rPr>
              <a:t>.</a:t>
            </a:r>
            <a:r>
              <a:rPr lang="en" sz="1150" dirty="0">
                <a:solidFill>
                  <a:srgbClr val="0070C1"/>
                </a:solidFill>
                <a:latin typeface="Consolas"/>
                <a:ea typeface="Consolas"/>
                <a:cs typeface="Consolas"/>
                <a:sym typeface="Consolas"/>
              </a:rPr>
              <a:t>out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println</a:t>
            </a:r>
            <a:r>
              <a:rPr lang="en" sz="1150" dirty="0">
                <a:latin typeface="Consolas"/>
                <a:ea typeface="Consolas"/>
                <a:cs typeface="Consolas"/>
                <a:sym typeface="Consolas"/>
              </a:rPr>
              <a:t>();</a:t>
            </a:r>
            <a:endParaRPr sz="1150" dirty="0">
              <a:solidFill>
                <a:srgbClr val="267F99"/>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59"/>
          <p:cNvSpPr txBox="1"/>
          <p:nvPr/>
        </p:nvSpPr>
        <p:spPr>
          <a:xfrm>
            <a:off x="3683675" y="1949475"/>
            <a:ext cx="4686600" cy="1803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1  </a:t>
            </a:r>
            <a:r>
              <a:rPr lang="en" sz="1150" dirty="0">
                <a:solidFill>
                  <a:srgbClr val="267F99"/>
                </a:solidFill>
                <a:latin typeface="Consolas"/>
                <a:ea typeface="Consolas"/>
                <a:cs typeface="Consolas"/>
                <a:sym typeface="Consolas"/>
              </a:rPr>
              <a:t>InputStream</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 =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getInputStream</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chemeClr val="accent5"/>
                </a:solidFill>
                <a:latin typeface="Consolas"/>
                <a:ea typeface="Consolas"/>
                <a:cs typeface="Consolas"/>
                <a:sym typeface="Consolas"/>
              </a:rPr>
              <a:t>2</a:t>
            </a:r>
            <a:r>
              <a:rPr lang="en" sz="1150" dirty="0">
                <a:latin typeface="Consolas"/>
                <a:ea typeface="Consolas"/>
                <a:cs typeface="Consolas"/>
                <a:sym typeface="Consolas"/>
              </a:rPr>
              <a:t>  </a:t>
            </a:r>
            <a:r>
              <a:rPr lang="en" sz="1150" dirty="0">
                <a:solidFill>
                  <a:srgbClr val="267F99"/>
                </a:solidFill>
                <a:latin typeface="Consolas"/>
                <a:ea typeface="Consolas"/>
                <a:cs typeface="Consolas"/>
                <a:sym typeface="Consolas"/>
              </a:rPr>
              <a:t>InputStreamReader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InputStreamReader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3  </a:t>
            </a:r>
            <a:r>
              <a:rPr lang="en" sz="1150" dirty="0">
                <a:solidFill>
                  <a:srgbClr val="267F99"/>
                </a:solidFill>
                <a:latin typeface="Consolas"/>
                <a:ea typeface="Consolas"/>
                <a:cs typeface="Consolas"/>
                <a:sym typeface="Consolas"/>
              </a:rPr>
              <a:t>BufferedReader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reader</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BufferedReader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4  </a:t>
            </a:r>
            <a:r>
              <a:rPr lang="en" sz="1150" dirty="0">
                <a:solidFill>
                  <a:srgbClr val="267F99"/>
                </a:solidFill>
                <a:latin typeface="Consolas"/>
                <a:ea typeface="Consolas"/>
                <a:cs typeface="Consolas"/>
                <a:sym typeface="Consolas"/>
              </a:rPr>
              <a:t>String</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message</a:t>
            </a:r>
            <a:r>
              <a:rPr lang="en" sz="1150" dirty="0">
                <a:latin typeface="Consolas"/>
                <a:ea typeface="Consolas"/>
                <a:cs typeface="Consolas"/>
                <a:sym typeface="Consolas"/>
              </a:rPr>
              <a:t> = </a:t>
            </a:r>
            <a:r>
              <a:rPr lang="en" sz="1150" dirty="0">
                <a:solidFill>
                  <a:srgbClr val="001080"/>
                </a:solidFill>
                <a:latin typeface="Consolas"/>
                <a:ea typeface="Consolas"/>
                <a:cs typeface="Consolas"/>
                <a:sym typeface="Consolas"/>
              </a:rPr>
              <a:t>reader</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readLine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5  </a:t>
            </a:r>
            <a:r>
              <a:rPr lang="en" sz="1150" dirty="0">
                <a:solidFill>
                  <a:srgbClr val="267F99"/>
                </a:solidFill>
                <a:latin typeface="Consolas"/>
                <a:ea typeface="Consolas"/>
                <a:cs typeface="Consolas"/>
                <a:sym typeface="Consolas"/>
              </a:rPr>
              <a:t>System</a:t>
            </a:r>
            <a:r>
              <a:rPr lang="en" sz="1150" dirty="0">
                <a:latin typeface="Consolas"/>
                <a:ea typeface="Consolas"/>
                <a:cs typeface="Consolas"/>
                <a:sym typeface="Consolas"/>
              </a:rPr>
              <a:t>.</a:t>
            </a:r>
            <a:r>
              <a:rPr lang="en" sz="1150" dirty="0">
                <a:solidFill>
                  <a:srgbClr val="0070C1"/>
                </a:solidFill>
                <a:latin typeface="Consolas"/>
                <a:ea typeface="Consolas"/>
                <a:cs typeface="Consolas"/>
                <a:sym typeface="Consolas"/>
              </a:rPr>
              <a:t>out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print</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message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6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close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7  </a:t>
            </a:r>
            <a:r>
              <a:rPr lang="en" sz="1150" dirty="0">
                <a:solidFill>
                  <a:srgbClr val="267F99"/>
                </a:solidFill>
                <a:latin typeface="Consolas"/>
                <a:ea typeface="Consolas"/>
                <a:cs typeface="Consolas"/>
                <a:sym typeface="Consolas"/>
              </a:rPr>
              <a:t>System</a:t>
            </a:r>
            <a:r>
              <a:rPr lang="en" sz="1150" dirty="0">
                <a:latin typeface="Consolas"/>
                <a:ea typeface="Consolas"/>
                <a:cs typeface="Consolas"/>
                <a:sym typeface="Consolas"/>
              </a:rPr>
              <a:t>.</a:t>
            </a:r>
            <a:r>
              <a:rPr lang="en" sz="1150" dirty="0">
                <a:solidFill>
                  <a:srgbClr val="0070C1"/>
                </a:solidFill>
                <a:latin typeface="Consolas"/>
                <a:ea typeface="Consolas"/>
                <a:cs typeface="Consolas"/>
                <a:sym typeface="Consolas"/>
              </a:rPr>
              <a:t>out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println</a:t>
            </a:r>
            <a:r>
              <a:rPr lang="en" sz="1150" dirty="0">
                <a:latin typeface="Consolas"/>
                <a:ea typeface="Consolas"/>
                <a:cs typeface="Consolas"/>
                <a:sym typeface="Consolas"/>
              </a:rPr>
              <a:t>();</a:t>
            </a:r>
            <a:endParaRPr sz="1150" dirty="0">
              <a:solidFill>
                <a:srgbClr val="098658"/>
              </a:solidFill>
              <a:latin typeface="Consolas"/>
              <a:ea typeface="Consolas"/>
              <a:cs typeface="Consolas"/>
              <a:sym typeface="Consolas"/>
            </a:endParaRPr>
          </a:p>
        </p:txBody>
      </p:sp>
      <p:sp>
        <p:nvSpPr>
          <p:cNvPr id="607" name="Google Shape;607;p59"/>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Using BufferedReader to Read Data</a:t>
            </a:r>
            <a:endParaRPr/>
          </a:p>
        </p:txBody>
      </p:sp>
      <p:sp>
        <p:nvSpPr>
          <p:cNvPr id="608" name="Google Shape;608;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609" name="Google Shape;609;p59"/>
          <p:cNvSpPr txBox="1"/>
          <p:nvPr/>
        </p:nvSpPr>
        <p:spPr>
          <a:xfrm>
            <a:off x="150375" y="1718150"/>
            <a:ext cx="322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A socket's</a:t>
            </a:r>
            <a:r>
              <a:rPr lang="en" sz="1200" dirty="0">
                <a:highlight>
                  <a:srgbClr val="FFFF00"/>
                </a:highlight>
                <a:latin typeface="Roboto"/>
                <a:ea typeface="Roboto"/>
                <a:cs typeface="Roboto"/>
                <a:sym typeface="Roboto"/>
              </a:rPr>
              <a:t> </a:t>
            </a:r>
            <a:r>
              <a:rPr lang="en" sz="1200" dirty="0">
                <a:highlight>
                  <a:srgbClr val="FFFF00"/>
                </a:highlight>
                <a:latin typeface="Courier New"/>
                <a:ea typeface="Courier New"/>
                <a:cs typeface="Courier New"/>
                <a:sym typeface="Courier New"/>
              </a:rPr>
              <a:t>InputStream</a:t>
            </a:r>
            <a:r>
              <a:rPr lang="en" sz="1200" dirty="0">
                <a:highlight>
                  <a:srgbClr val="FFFF00"/>
                </a:highlight>
                <a:latin typeface="Roboto"/>
                <a:ea typeface="Roboto"/>
                <a:cs typeface="Roboto"/>
                <a:sym typeface="Roboto"/>
              </a:rPr>
              <a:t> </a:t>
            </a:r>
            <a:r>
              <a:rPr lang="en" sz="1200" dirty="0">
                <a:latin typeface="Roboto"/>
                <a:ea typeface="Roboto"/>
                <a:cs typeface="Roboto"/>
                <a:sym typeface="Roboto"/>
              </a:rPr>
              <a:t>can only read data as </a:t>
            </a:r>
            <a:r>
              <a:rPr lang="en" sz="1200" b="1" i="1" dirty="0">
                <a:solidFill>
                  <a:srgbClr val="FF0000"/>
                </a:solidFill>
                <a:latin typeface="Roboto"/>
                <a:ea typeface="Roboto"/>
                <a:cs typeface="Roboto"/>
                <a:sym typeface="Roboto"/>
              </a:rPr>
              <a:t>bytes </a:t>
            </a:r>
            <a:r>
              <a:rPr lang="en" sz="1200" dirty="0">
                <a:latin typeface="Roboto"/>
                <a:ea typeface="Roboto"/>
                <a:cs typeface="Roboto"/>
                <a:sym typeface="Roboto"/>
              </a:rPr>
              <a:t>or </a:t>
            </a:r>
            <a:r>
              <a:rPr lang="en" sz="1200" b="1" i="1" dirty="0">
                <a:solidFill>
                  <a:srgbClr val="FF0000"/>
                </a:solidFill>
                <a:latin typeface="Roboto"/>
                <a:ea typeface="Roboto"/>
                <a:cs typeface="Roboto"/>
                <a:sym typeface="Roboto"/>
              </a:rPr>
              <a:t>byte arrays</a:t>
            </a:r>
            <a:r>
              <a:rPr lang="en" sz="1200" dirty="0">
                <a:latin typeface="Roboto"/>
                <a:ea typeface="Roboto"/>
                <a:cs typeface="Roboto"/>
                <a:sym typeface="Roboto"/>
              </a:rPr>
              <a:t> and can be difficult to use when reading strings.</a:t>
            </a:r>
            <a:endParaRPr sz="1200" dirty="0">
              <a:latin typeface="Roboto"/>
              <a:ea typeface="Roboto"/>
              <a:cs typeface="Roboto"/>
              <a:sym typeface="Roboto"/>
            </a:endParaRPr>
          </a:p>
        </p:txBody>
      </p:sp>
      <p:sp>
        <p:nvSpPr>
          <p:cNvPr id="610" name="Google Shape;610;p59"/>
          <p:cNvSpPr txBox="1"/>
          <p:nvPr/>
        </p:nvSpPr>
        <p:spPr>
          <a:xfrm>
            <a:off x="150375" y="2629575"/>
            <a:ext cx="322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If the </a:t>
            </a:r>
            <a:r>
              <a:rPr lang="en" sz="1200" dirty="0">
                <a:latin typeface="Courier New"/>
                <a:ea typeface="Courier New"/>
                <a:cs typeface="Courier New"/>
                <a:sym typeface="Courier New"/>
              </a:rPr>
              <a:t>InputStream</a:t>
            </a:r>
            <a:r>
              <a:rPr lang="en" sz="1200" dirty="0">
                <a:latin typeface="Roboto"/>
                <a:ea typeface="Roboto"/>
                <a:cs typeface="Roboto"/>
                <a:sym typeface="Roboto"/>
              </a:rPr>
              <a:t> is wrapped inside of an </a:t>
            </a:r>
            <a:r>
              <a:rPr lang="en" sz="1200" dirty="0">
                <a:latin typeface="Courier New"/>
                <a:ea typeface="Courier New"/>
                <a:cs typeface="Courier New"/>
                <a:sym typeface="Courier New"/>
              </a:rPr>
              <a:t>InputStreamReader</a:t>
            </a:r>
            <a:r>
              <a:rPr lang="en" sz="1200" dirty="0">
                <a:latin typeface="Roboto"/>
                <a:ea typeface="Roboto"/>
                <a:cs typeface="Roboto"/>
                <a:sym typeface="Roboto"/>
              </a:rPr>
              <a:t>, it can be used to make a </a:t>
            </a:r>
            <a:r>
              <a:rPr lang="en" sz="1200" dirty="0">
                <a:latin typeface="Courier New"/>
                <a:ea typeface="Courier New"/>
                <a:cs typeface="Courier New"/>
                <a:sym typeface="Courier New"/>
              </a:rPr>
              <a:t>Buffered</a:t>
            </a:r>
            <a:r>
              <a:rPr lang="en" sz="1200" dirty="0">
                <a:latin typeface="Roboto"/>
                <a:ea typeface="Roboto"/>
                <a:cs typeface="Roboto"/>
                <a:sym typeface="Roboto"/>
              </a:rPr>
              <a:t>.</a:t>
            </a:r>
            <a:endParaRPr sz="1200" dirty="0">
              <a:latin typeface="Roboto"/>
              <a:ea typeface="Roboto"/>
              <a:cs typeface="Roboto"/>
              <a:sym typeface="Roboto"/>
            </a:endParaRPr>
          </a:p>
        </p:txBody>
      </p:sp>
      <p:sp>
        <p:nvSpPr>
          <p:cNvPr id="611" name="Google Shape;611;p59"/>
          <p:cNvSpPr txBox="1"/>
          <p:nvPr/>
        </p:nvSpPr>
        <p:spPr>
          <a:xfrm>
            <a:off x="150375" y="3541000"/>
            <a:ext cx="3229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Once you've created the </a:t>
            </a:r>
            <a:r>
              <a:rPr lang="en" sz="1200" dirty="0">
                <a:latin typeface="Courier New"/>
                <a:ea typeface="Courier New"/>
                <a:cs typeface="Courier New"/>
                <a:sym typeface="Courier New"/>
              </a:rPr>
              <a:t>BufferedReader</a:t>
            </a:r>
            <a:r>
              <a:rPr lang="en" sz="1200" dirty="0">
                <a:latin typeface="Roboto"/>
                <a:ea typeface="Roboto"/>
                <a:cs typeface="Roboto"/>
                <a:sym typeface="Roboto"/>
              </a:rPr>
              <a:t>, the </a:t>
            </a:r>
            <a:r>
              <a:rPr lang="en" sz="1200" dirty="0">
                <a:latin typeface="Courier New"/>
                <a:ea typeface="Courier New"/>
                <a:cs typeface="Courier New"/>
                <a:sym typeface="Courier New"/>
              </a:rPr>
              <a:t>readLine()</a:t>
            </a:r>
            <a:r>
              <a:rPr lang="en" sz="1200" dirty="0">
                <a:latin typeface="Roboto"/>
                <a:ea typeface="Roboto"/>
                <a:cs typeface="Roboto"/>
                <a:sym typeface="Roboto"/>
              </a:rPr>
              <a:t> </a:t>
            </a:r>
            <a:r>
              <a:rPr lang="en" sz="1200" dirty="0">
                <a:highlight>
                  <a:srgbClr val="FFFF00"/>
                </a:highlight>
                <a:latin typeface="Roboto"/>
                <a:ea typeface="Roboto"/>
                <a:cs typeface="Roboto"/>
                <a:sym typeface="Roboto"/>
              </a:rPr>
              <a:t>methods can be used to read text. This method will </a:t>
            </a:r>
            <a:r>
              <a:rPr lang="en" sz="1200" b="1" i="1" dirty="0">
                <a:solidFill>
                  <a:srgbClr val="FF0000"/>
                </a:solidFill>
                <a:highlight>
                  <a:srgbClr val="FFFF00"/>
                </a:highlight>
                <a:latin typeface="Roboto"/>
                <a:ea typeface="Roboto"/>
                <a:cs typeface="Roboto"/>
                <a:sym typeface="Roboto"/>
              </a:rPr>
              <a:t>bloc</a:t>
            </a:r>
            <a:r>
              <a:rPr lang="en" sz="1200" b="1" i="1" dirty="0">
                <a:solidFill>
                  <a:srgbClr val="FF0000"/>
                </a:solidFill>
                <a:latin typeface="Roboto"/>
                <a:ea typeface="Roboto"/>
                <a:cs typeface="Roboto"/>
                <a:sym typeface="Roboto"/>
              </a:rPr>
              <a:t>k</a:t>
            </a:r>
            <a:r>
              <a:rPr lang="en" sz="1200" dirty="0">
                <a:solidFill>
                  <a:srgbClr val="FF0000"/>
                </a:solidFill>
                <a:latin typeface="Roboto"/>
                <a:ea typeface="Roboto"/>
                <a:cs typeface="Roboto"/>
                <a:sym typeface="Roboto"/>
              </a:rPr>
              <a:t> </a:t>
            </a:r>
            <a:r>
              <a:rPr lang="en" sz="1200" dirty="0">
                <a:latin typeface="Roboto"/>
                <a:ea typeface="Roboto"/>
                <a:cs typeface="Roboto"/>
                <a:sym typeface="Roboto"/>
              </a:rPr>
              <a:t>until there is data to read.</a:t>
            </a:r>
            <a:endParaRPr sz="1200" dirty="0">
              <a:latin typeface="Roboto"/>
              <a:ea typeface="Roboto"/>
              <a:cs typeface="Roboto"/>
              <a:sym typeface="Roboto"/>
            </a:endParaRPr>
          </a:p>
        </p:txBody>
      </p:sp>
      <p:grpSp>
        <p:nvGrpSpPr>
          <p:cNvPr id="612" name="Google Shape;612;p59"/>
          <p:cNvGrpSpPr/>
          <p:nvPr/>
        </p:nvGrpSpPr>
        <p:grpSpPr>
          <a:xfrm>
            <a:off x="3379875" y="2026975"/>
            <a:ext cx="4883300" cy="972050"/>
            <a:chOff x="3379875" y="2026975"/>
            <a:chExt cx="4883300" cy="972050"/>
          </a:xfrm>
        </p:grpSpPr>
        <p:sp>
          <p:nvSpPr>
            <p:cNvPr id="613" name="Google Shape;613;p59"/>
            <p:cNvSpPr/>
            <p:nvPr/>
          </p:nvSpPr>
          <p:spPr>
            <a:xfrm>
              <a:off x="3759275" y="2026975"/>
              <a:ext cx="4503900" cy="688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4" name="Google Shape;614;p59"/>
            <p:cNvCxnSpPr>
              <a:stCxn id="610" idx="3"/>
              <a:endCxn id="613" idx="1"/>
            </p:cNvCxnSpPr>
            <p:nvPr/>
          </p:nvCxnSpPr>
          <p:spPr>
            <a:xfrm rot="10800000" flipH="1">
              <a:off x="3379875" y="2371425"/>
              <a:ext cx="379500" cy="627600"/>
            </a:xfrm>
            <a:prstGeom prst="bentConnector3">
              <a:avLst>
                <a:gd name="adj1" fmla="val 49987"/>
              </a:avLst>
            </a:prstGeom>
            <a:noFill/>
            <a:ln w="19050" cap="flat" cmpd="sng">
              <a:solidFill>
                <a:srgbClr val="FF0000"/>
              </a:solidFill>
              <a:prstDash val="solid"/>
              <a:round/>
              <a:headEnd type="none" w="med" len="med"/>
              <a:tailEnd type="none" w="med" len="med"/>
            </a:ln>
          </p:spPr>
        </p:cxnSp>
      </p:grpSp>
      <p:grpSp>
        <p:nvGrpSpPr>
          <p:cNvPr id="615" name="Google Shape;615;p59"/>
          <p:cNvGrpSpPr/>
          <p:nvPr/>
        </p:nvGrpSpPr>
        <p:grpSpPr>
          <a:xfrm>
            <a:off x="3379875" y="2748348"/>
            <a:ext cx="4884725" cy="1254352"/>
            <a:chOff x="3387036" y="2748348"/>
            <a:chExt cx="4884725" cy="1254352"/>
          </a:xfrm>
        </p:grpSpPr>
        <p:sp>
          <p:nvSpPr>
            <p:cNvPr id="616" name="Google Shape;616;p59"/>
            <p:cNvSpPr/>
            <p:nvPr/>
          </p:nvSpPr>
          <p:spPr>
            <a:xfrm>
              <a:off x="3767861" y="2748348"/>
              <a:ext cx="4503900" cy="234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7" name="Google Shape;617;p59"/>
            <p:cNvCxnSpPr>
              <a:stCxn id="611" idx="3"/>
              <a:endCxn id="616" idx="1"/>
            </p:cNvCxnSpPr>
            <p:nvPr/>
          </p:nvCxnSpPr>
          <p:spPr>
            <a:xfrm rot="10800000" flipH="1">
              <a:off x="3387036" y="2865700"/>
              <a:ext cx="380700" cy="1137000"/>
            </a:xfrm>
            <a:prstGeom prst="bentConnector3">
              <a:avLst>
                <a:gd name="adj1" fmla="val 50016"/>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6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11"/>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60"/>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Reading Multiple Lines With a Do While.</a:t>
            </a:r>
            <a:endParaRPr/>
          </a:p>
        </p:txBody>
      </p:sp>
      <p:sp>
        <p:nvSpPr>
          <p:cNvPr id="623" name="Google Shape;623;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624" name="Google Shape;624;p60"/>
          <p:cNvSpPr txBox="1"/>
          <p:nvPr/>
        </p:nvSpPr>
        <p:spPr>
          <a:xfrm>
            <a:off x="3683675" y="1575017"/>
            <a:ext cx="4686600" cy="2283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1  </a:t>
            </a:r>
            <a:r>
              <a:rPr lang="en" sz="1150" dirty="0">
                <a:solidFill>
                  <a:srgbClr val="267F99"/>
                </a:solidFill>
                <a:latin typeface="Consolas"/>
                <a:ea typeface="Consolas"/>
                <a:cs typeface="Consolas"/>
                <a:sym typeface="Consolas"/>
              </a:rPr>
              <a:t>InputStream</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 =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getInputStream</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chemeClr val="accent5"/>
                </a:solidFill>
                <a:latin typeface="Consolas"/>
                <a:ea typeface="Consolas"/>
                <a:cs typeface="Consolas"/>
                <a:sym typeface="Consolas"/>
              </a:rPr>
              <a:t>2</a:t>
            </a:r>
            <a:r>
              <a:rPr lang="en" sz="1150" dirty="0">
                <a:latin typeface="Consolas"/>
                <a:ea typeface="Consolas"/>
                <a:cs typeface="Consolas"/>
                <a:sym typeface="Consolas"/>
              </a:rPr>
              <a:t>  </a:t>
            </a:r>
            <a:r>
              <a:rPr lang="en" sz="1150" dirty="0">
                <a:solidFill>
                  <a:srgbClr val="267F99"/>
                </a:solidFill>
                <a:latin typeface="Consolas"/>
                <a:ea typeface="Consolas"/>
                <a:cs typeface="Consolas"/>
                <a:sym typeface="Consolas"/>
              </a:rPr>
              <a:t>InputStreamReader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InputStreamReader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3  </a:t>
            </a:r>
            <a:r>
              <a:rPr lang="en" sz="1150" dirty="0">
                <a:solidFill>
                  <a:srgbClr val="267F99"/>
                </a:solidFill>
                <a:latin typeface="Consolas"/>
                <a:ea typeface="Consolas"/>
                <a:cs typeface="Consolas"/>
                <a:sym typeface="Consolas"/>
              </a:rPr>
              <a:t>BufferedReader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reader</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BufferedReader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5</a:t>
            </a:r>
            <a:r>
              <a:rPr lang="en" sz="1150" dirty="0">
                <a:highlight>
                  <a:srgbClr val="FFFFFF"/>
                </a:highlight>
                <a:latin typeface="Consolas"/>
                <a:ea typeface="Consolas"/>
                <a:cs typeface="Consolas"/>
                <a:sym typeface="Consolas"/>
              </a:rPr>
              <a:t>  </a:t>
            </a:r>
            <a:r>
              <a:rPr lang="en" sz="1150" dirty="0">
                <a:solidFill>
                  <a:srgbClr val="AF00DB"/>
                </a:solidFill>
                <a:highlight>
                  <a:srgbClr val="FFFFFF"/>
                </a:highlight>
                <a:latin typeface="Consolas"/>
                <a:ea typeface="Consolas"/>
                <a:cs typeface="Consolas"/>
                <a:sym typeface="Consolas"/>
              </a:rPr>
              <a:t>do</a:t>
            </a:r>
            <a:r>
              <a:rPr lang="en" sz="1150" dirty="0">
                <a:highlight>
                  <a:srgbClr val="FFFFFF"/>
                </a:highlight>
                <a:latin typeface="Consolas"/>
                <a:ea typeface="Consolas"/>
                <a:cs typeface="Consolas"/>
                <a:sym typeface="Consolas"/>
              </a:rPr>
              <a:t> {</a:t>
            </a:r>
            <a:endParaRPr sz="11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6</a:t>
            </a:r>
            <a:r>
              <a:rPr lang="en" sz="1150" dirty="0">
                <a:highlight>
                  <a:srgbClr val="FFFFFF"/>
                </a:highlight>
                <a:latin typeface="Consolas"/>
                <a:ea typeface="Consolas"/>
                <a:cs typeface="Consolas"/>
                <a:sym typeface="Consolas"/>
              </a:rPr>
              <a:t>      </a:t>
            </a:r>
            <a:r>
              <a:rPr lang="en" sz="1150" dirty="0">
                <a:solidFill>
                  <a:srgbClr val="267F99"/>
                </a:solidFill>
                <a:highlight>
                  <a:schemeClr val="lt1"/>
                </a:highlight>
                <a:latin typeface="Consolas"/>
                <a:ea typeface="Consolas"/>
                <a:cs typeface="Consolas"/>
                <a:sym typeface="Consolas"/>
              </a:rPr>
              <a:t>String</a:t>
            </a:r>
            <a:r>
              <a:rPr lang="en" sz="1150" dirty="0">
                <a:highlight>
                  <a:schemeClr val="lt1"/>
                </a:highlight>
                <a:latin typeface="Consolas"/>
                <a:ea typeface="Consolas"/>
                <a:cs typeface="Consolas"/>
                <a:sym typeface="Consolas"/>
              </a:rPr>
              <a:t> </a:t>
            </a:r>
            <a:r>
              <a:rPr lang="en" sz="1150" dirty="0">
                <a:solidFill>
                  <a:srgbClr val="001080"/>
                </a:solidFill>
                <a:highlight>
                  <a:schemeClr val="lt1"/>
                </a:highlight>
                <a:latin typeface="Consolas"/>
                <a:ea typeface="Consolas"/>
                <a:cs typeface="Consolas"/>
                <a:sym typeface="Consolas"/>
              </a:rPr>
              <a:t>message</a:t>
            </a:r>
            <a:r>
              <a:rPr lang="en" sz="1150" dirty="0">
                <a:highlight>
                  <a:srgbClr val="FFFFFF"/>
                </a:highlight>
                <a:latin typeface="Consolas"/>
                <a:ea typeface="Consolas"/>
                <a:cs typeface="Consolas"/>
                <a:sym typeface="Consolas"/>
              </a:rPr>
              <a:t> = </a:t>
            </a:r>
            <a:r>
              <a:rPr lang="en" sz="1150" dirty="0">
                <a:solidFill>
                  <a:srgbClr val="001080"/>
                </a:solidFill>
                <a:highlight>
                  <a:srgbClr val="FFFFFF"/>
                </a:highlight>
                <a:latin typeface="Consolas"/>
                <a:ea typeface="Consolas"/>
                <a:cs typeface="Consolas"/>
                <a:sym typeface="Consolas"/>
              </a:rPr>
              <a:t>in</a:t>
            </a:r>
            <a:r>
              <a:rPr lang="en" sz="1150" dirty="0">
                <a:highlight>
                  <a:srgbClr val="FFFFFF"/>
                </a:highlight>
                <a:latin typeface="Consolas"/>
                <a:ea typeface="Consolas"/>
                <a:cs typeface="Consolas"/>
                <a:sym typeface="Consolas"/>
              </a:rPr>
              <a:t>.</a:t>
            </a:r>
            <a:r>
              <a:rPr lang="en" sz="1150" dirty="0">
                <a:solidFill>
                  <a:srgbClr val="795E26"/>
                </a:solidFill>
                <a:highlight>
                  <a:srgbClr val="FFFFFF"/>
                </a:highlight>
                <a:latin typeface="Consolas"/>
                <a:ea typeface="Consolas"/>
                <a:cs typeface="Consolas"/>
                <a:sym typeface="Consolas"/>
              </a:rPr>
              <a:t>readLine</a:t>
            </a:r>
            <a:r>
              <a:rPr lang="en" sz="1150" dirty="0">
                <a:highlight>
                  <a:srgbClr val="FFFFFF"/>
                </a:highlight>
                <a:latin typeface="Consolas"/>
                <a:ea typeface="Consolas"/>
                <a:cs typeface="Consolas"/>
                <a:sym typeface="Consolas"/>
              </a:rPr>
              <a:t>();</a:t>
            </a:r>
            <a:endParaRPr sz="11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7   </a:t>
            </a:r>
            <a:r>
              <a:rPr lang="en" sz="1150" dirty="0">
                <a:latin typeface="Consolas"/>
                <a:ea typeface="Consolas"/>
                <a:cs typeface="Consolas"/>
                <a:sym typeface="Consolas"/>
              </a:rPr>
              <a:t>   </a:t>
            </a:r>
            <a:r>
              <a:rPr lang="en" sz="1150" dirty="0">
                <a:solidFill>
                  <a:srgbClr val="267F99"/>
                </a:solidFill>
                <a:latin typeface="Consolas"/>
                <a:ea typeface="Consolas"/>
                <a:cs typeface="Consolas"/>
                <a:sym typeface="Consolas"/>
              </a:rPr>
              <a:t>System</a:t>
            </a:r>
            <a:r>
              <a:rPr lang="en" sz="1150" dirty="0">
                <a:latin typeface="Consolas"/>
                <a:ea typeface="Consolas"/>
                <a:cs typeface="Consolas"/>
                <a:sym typeface="Consolas"/>
              </a:rPr>
              <a:t>.</a:t>
            </a:r>
            <a:r>
              <a:rPr lang="en" sz="1150" dirty="0">
                <a:solidFill>
                  <a:srgbClr val="0070C1"/>
                </a:solidFill>
                <a:latin typeface="Consolas"/>
                <a:ea typeface="Consolas"/>
                <a:cs typeface="Consolas"/>
                <a:sym typeface="Consolas"/>
              </a:rPr>
              <a:t>out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print</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message</a:t>
            </a:r>
            <a:r>
              <a:rPr lang="en" sz="1150" dirty="0">
                <a:latin typeface="Consolas"/>
                <a:ea typeface="Consolas"/>
                <a:cs typeface="Consolas"/>
                <a:sym typeface="Consolas"/>
              </a:rPr>
              <a:t>);</a:t>
            </a:r>
            <a:endParaRPr sz="11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8</a:t>
            </a:r>
            <a:r>
              <a:rPr lang="en" sz="1150" dirty="0">
                <a:highlight>
                  <a:srgbClr val="FFFFFF"/>
                </a:highlight>
                <a:latin typeface="Consolas"/>
                <a:ea typeface="Consolas"/>
                <a:cs typeface="Consolas"/>
                <a:sym typeface="Consolas"/>
              </a:rPr>
              <a:t>  } </a:t>
            </a:r>
            <a:r>
              <a:rPr lang="en" sz="1150" dirty="0">
                <a:solidFill>
                  <a:srgbClr val="AF00DB"/>
                </a:solidFill>
                <a:highlight>
                  <a:srgbClr val="FFFFFF"/>
                </a:highlight>
                <a:latin typeface="Consolas"/>
                <a:ea typeface="Consolas"/>
                <a:cs typeface="Consolas"/>
                <a:sym typeface="Consolas"/>
              </a:rPr>
              <a:t>while</a:t>
            </a:r>
            <a:r>
              <a:rPr lang="en" sz="1150" dirty="0">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in</a:t>
            </a:r>
            <a:r>
              <a:rPr lang="en" sz="1150" dirty="0">
                <a:highlight>
                  <a:srgbClr val="FFFFFF"/>
                </a:highlight>
                <a:latin typeface="Consolas"/>
                <a:ea typeface="Consolas"/>
                <a:cs typeface="Consolas"/>
                <a:sym typeface="Consolas"/>
              </a:rPr>
              <a:t>.</a:t>
            </a:r>
            <a:r>
              <a:rPr lang="en" sz="1150" dirty="0">
                <a:solidFill>
                  <a:srgbClr val="795E26"/>
                </a:solidFill>
                <a:highlight>
                  <a:srgbClr val="FFFFFF"/>
                </a:highlight>
                <a:latin typeface="Consolas"/>
                <a:ea typeface="Consolas"/>
                <a:cs typeface="Consolas"/>
                <a:sym typeface="Consolas"/>
              </a:rPr>
              <a:t>ready</a:t>
            </a:r>
            <a:r>
              <a:rPr lang="en" sz="1150" dirty="0">
                <a:highlight>
                  <a:srgbClr val="FFFFFF"/>
                </a:highlight>
                <a:latin typeface="Consolas"/>
                <a:ea typeface="Consolas"/>
                <a:cs typeface="Consolas"/>
                <a:sym typeface="Consolas"/>
              </a:rPr>
              <a:t>());</a:t>
            </a:r>
            <a:endParaRPr sz="1150" dirty="0">
              <a:solidFill>
                <a:srgbClr val="267F99"/>
              </a:solidFill>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9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close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10 </a:t>
            </a:r>
            <a:r>
              <a:rPr lang="en" sz="1150" dirty="0">
                <a:solidFill>
                  <a:srgbClr val="267F99"/>
                </a:solidFill>
                <a:latin typeface="Consolas"/>
                <a:ea typeface="Consolas"/>
                <a:cs typeface="Consolas"/>
                <a:sym typeface="Consolas"/>
              </a:rPr>
              <a:t>System</a:t>
            </a:r>
            <a:r>
              <a:rPr lang="en" sz="1150" dirty="0">
                <a:latin typeface="Consolas"/>
                <a:ea typeface="Consolas"/>
                <a:cs typeface="Consolas"/>
                <a:sym typeface="Consolas"/>
              </a:rPr>
              <a:t>.</a:t>
            </a:r>
            <a:r>
              <a:rPr lang="en" sz="1150" dirty="0">
                <a:solidFill>
                  <a:srgbClr val="0070C1"/>
                </a:solidFill>
                <a:latin typeface="Consolas"/>
                <a:ea typeface="Consolas"/>
                <a:cs typeface="Consolas"/>
                <a:sym typeface="Consolas"/>
              </a:rPr>
              <a:t>out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println</a:t>
            </a:r>
            <a:r>
              <a:rPr lang="en" sz="1150" dirty="0">
                <a:latin typeface="Consolas"/>
                <a:ea typeface="Consolas"/>
                <a:cs typeface="Consolas"/>
                <a:sym typeface="Consolas"/>
              </a:rPr>
              <a:t>();</a:t>
            </a:r>
            <a:endParaRPr sz="1150" dirty="0">
              <a:solidFill>
                <a:srgbClr val="267F99"/>
              </a:solidFill>
              <a:latin typeface="Consolas"/>
              <a:ea typeface="Consolas"/>
              <a:cs typeface="Consolas"/>
              <a:sym typeface="Consolas"/>
            </a:endParaRPr>
          </a:p>
        </p:txBody>
      </p:sp>
      <p:sp>
        <p:nvSpPr>
          <p:cNvPr id="625" name="Google Shape;625;p60"/>
          <p:cNvSpPr txBox="1"/>
          <p:nvPr/>
        </p:nvSpPr>
        <p:spPr>
          <a:xfrm>
            <a:off x="150375" y="1152930"/>
            <a:ext cx="3229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Ever wanted to do an operation 1+ times? We can use a </a:t>
            </a:r>
            <a:r>
              <a:rPr lang="en" sz="1200">
                <a:latin typeface="Courier New"/>
                <a:ea typeface="Courier New"/>
                <a:cs typeface="Courier New"/>
                <a:sym typeface="Courier New"/>
              </a:rPr>
              <a:t>do</a:t>
            </a:r>
            <a:r>
              <a:rPr lang="en" sz="1200">
                <a:latin typeface="Roboto"/>
                <a:ea typeface="Roboto"/>
                <a:cs typeface="Roboto"/>
                <a:sym typeface="Roboto"/>
              </a:rPr>
              <a:t> </a:t>
            </a:r>
            <a:r>
              <a:rPr lang="en" sz="1200">
                <a:latin typeface="Courier New"/>
                <a:ea typeface="Courier New"/>
                <a:cs typeface="Courier New"/>
                <a:sym typeface="Courier New"/>
              </a:rPr>
              <a:t>while</a:t>
            </a:r>
            <a:r>
              <a:rPr lang="en" sz="1200">
                <a:latin typeface="Roboto"/>
                <a:ea typeface="Roboto"/>
                <a:cs typeface="Roboto"/>
                <a:sym typeface="Roboto"/>
              </a:rPr>
              <a:t> statement for this.</a:t>
            </a:r>
            <a:endParaRPr sz="1200">
              <a:latin typeface="Roboto"/>
              <a:ea typeface="Roboto"/>
              <a:cs typeface="Roboto"/>
              <a:sym typeface="Roboto"/>
            </a:endParaRPr>
          </a:p>
        </p:txBody>
      </p:sp>
      <p:sp>
        <p:nvSpPr>
          <p:cNvPr id="626" name="Google Shape;626;p60"/>
          <p:cNvSpPr txBox="1"/>
          <p:nvPr/>
        </p:nvSpPr>
        <p:spPr>
          <a:xfrm>
            <a:off x="150375" y="1849355"/>
            <a:ext cx="322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It's basically a </a:t>
            </a:r>
            <a:r>
              <a:rPr lang="en" sz="1200">
                <a:latin typeface="Courier New"/>
                <a:ea typeface="Courier New"/>
                <a:cs typeface="Courier New"/>
                <a:sym typeface="Courier New"/>
              </a:rPr>
              <a:t>while</a:t>
            </a:r>
            <a:r>
              <a:rPr lang="en" sz="1200">
                <a:latin typeface="Roboto"/>
                <a:ea typeface="Roboto"/>
                <a:cs typeface="Roboto"/>
                <a:sym typeface="Roboto"/>
              </a:rPr>
              <a:t> statement where the check is executed at the end instead of the beginning. The block is started with </a:t>
            </a:r>
            <a:r>
              <a:rPr lang="en" sz="1200">
                <a:latin typeface="Courier New"/>
                <a:ea typeface="Courier New"/>
                <a:cs typeface="Courier New"/>
                <a:sym typeface="Courier New"/>
              </a:rPr>
              <a:t>do</a:t>
            </a:r>
            <a:r>
              <a:rPr lang="en" sz="1200">
                <a:latin typeface="Roboto"/>
                <a:ea typeface="Roboto"/>
                <a:cs typeface="Roboto"/>
                <a:sym typeface="Roboto"/>
              </a:rPr>
              <a:t>.</a:t>
            </a:r>
            <a:endParaRPr sz="1200">
              <a:latin typeface="Roboto"/>
              <a:ea typeface="Roboto"/>
              <a:cs typeface="Roboto"/>
              <a:sym typeface="Roboto"/>
            </a:endParaRPr>
          </a:p>
        </p:txBody>
      </p:sp>
      <p:sp>
        <p:nvSpPr>
          <p:cNvPr id="627" name="Google Shape;627;p60"/>
          <p:cNvSpPr/>
          <p:nvPr/>
        </p:nvSpPr>
        <p:spPr>
          <a:xfrm>
            <a:off x="3739500" y="2348500"/>
            <a:ext cx="4503900" cy="959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8" name="Google Shape;628;p60"/>
          <p:cNvCxnSpPr>
            <a:stCxn id="626" idx="3"/>
            <a:endCxn id="627" idx="1"/>
          </p:cNvCxnSpPr>
          <p:nvPr/>
        </p:nvCxnSpPr>
        <p:spPr>
          <a:xfrm>
            <a:off x="3379875" y="2218805"/>
            <a:ext cx="359700" cy="609600"/>
          </a:xfrm>
          <a:prstGeom prst="bentConnector3">
            <a:avLst>
              <a:gd name="adj1" fmla="val 49990"/>
            </a:avLst>
          </a:prstGeom>
          <a:noFill/>
          <a:ln w="19050" cap="flat" cmpd="sng">
            <a:solidFill>
              <a:srgbClr val="FF0000"/>
            </a:solidFill>
            <a:prstDash val="solid"/>
            <a:round/>
            <a:headEnd type="none" w="med" len="med"/>
            <a:tailEnd type="none" w="med" len="med"/>
          </a:ln>
        </p:spPr>
      </p:cxnSp>
      <p:sp>
        <p:nvSpPr>
          <p:cNvPr id="629" name="Google Shape;629;p60"/>
          <p:cNvSpPr txBox="1"/>
          <p:nvPr/>
        </p:nvSpPr>
        <p:spPr>
          <a:xfrm>
            <a:off x="150375" y="2760769"/>
            <a:ext cx="3229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This code reads all available lines and concatenates them together into one String.</a:t>
            </a:r>
            <a:endParaRPr sz="1200">
              <a:latin typeface="Roboto"/>
              <a:ea typeface="Roboto"/>
              <a:cs typeface="Roboto"/>
              <a:sym typeface="Roboto"/>
            </a:endParaRPr>
          </a:p>
        </p:txBody>
      </p:sp>
      <p:sp>
        <p:nvSpPr>
          <p:cNvPr id="630" name="Google Shape;630;p60"/>
          <p:cNvSpPr txBox="1"/>
          <p:nvPr/>
        </p:nvSpPr>
        <p:spPr>
          <a:xfrm>
            <a:off x="150375" y="3487394"/>
            <a:ext cx="322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We could just have easily used a </a:t>
            </a:r>
            <a:r>
              <a:rPr lang="en" sz="1200" dirty="0">
                <a:latin typeface="Courier New"/>
                <a:ea typeface="Courier New"/>
                <a:cs typeface="Courier New"/>
                <a:sym typeface="Courier New"/>
              </a:rPr>
              <a:t>list.add(message)</a:t>
            </a:r>
            <a:r>
              <a:rPr lang="en" sz="1200" dirty="0">
                <a:latin typeface="Roboto"/>
                <a:ea typeface="Roboto"/>
                <a:cs typeface="Roboto"/>
                <a:sym typeface="Roboto"/>
              </a:rPr>
              <a:t> to create a list of all the messages.</a:t>
            </a:r>
            <a:endParaRPr sz="1200" dirty="0">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61"/>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About Streams</a:t>
            </a:r>
            <a:endParaRPr/>
          </a:p>
        </p:txBody>
      </p:sp>
      <p:sp>
        <p:nvSpPr>
          <p:cNvPr id="636" name="Google Shape;636;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637" name="Google Shape;637;p61"/>
          <p:cNvSpPr txBox="1"/>
          <p:nvPr/>
        </p:nvSpPr>
        <p:spPr>
          <a:xfrm>
            <a:off x="3683675" y="1575025"/>
            <a:ext cx="4972800" cy="1562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1  </a:t>
            </a:r>
            <a:r>
              <a:rPr lang="en" sz="1150" dirty="0">
                <a:solidFill>
                  <a:srgbClr val="267F99"/>
                </a:solidFill>
                <a:latin typeface="Consolas"/>
                <a:ea typeface="Consolas"/>
                <a:cs typeface="Consolas"/>
                <a:sym typeface="Consolas"/>
              </a:rPr>
              <a:t>InputStream</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 =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getInputStream</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chemeClr val="accent5"/>
                </a:solidFill>
                <a:latin typeface="Consolas"/>
                <a:ea typeface="Consolas"/>
                <a:cs typeface="Consolas"/>
                <a:sym typeface="Consolas"/>
              </a:rPr>
              <a:t>2</a:t>
            </a:r>
            <a:r>
              <a:rPr lang="en" sz="1150" dirty="0">
                <a:latin typeface="Consolas"/>
                <a:ea typeface="Consolas"/>
                <a:cs typeface="Consolas"/>
                <a:sym typeface="Consolas"/>
              </a:rPr>
              <a:t>  </a:t>
            </a:r>
            <a:r>
              <a:rPr lang="en" sz="1150" dirty="0">
                <a:solidFill>
                  <a:srgbClr val="267F99"/>
                </a:solidFill>
                <a:latin typeface="Consolas"/>
                <a:ea typeface="Consolas"/>
                <a:cs typeface="Consolas"/>
                <a:sym typeface="Consolas"/>
              </a:rPr>
              <a:t>InputStreamReader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InputStreamReader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3  </a:t>
            </a:r>
            <a:r>
              <a:rPr lang="en" sz="1150" dirty="0">
                <a:solidFill>
                  <a:srgbClr val="267F99"/>
                </a:solidFill>
                <a:latin typeface="Consolas"/>
                <a:ea typeface="Consolas"/>
                <a:cs typeface="Consolas"/>
                <a:sym typeface="Consolas"/>
              </a:rPr>
              <a:t>BufferedReader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reader</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BufferedReader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4  </a:t>
            </a:r>
            <a:r>
              <a:rPr lang="en" sz="1150" dirty="0">
                <a:solidFill>
                  <a:srgbClr val="001080"/>
                </a:solidFill>
                <a:highlight>
                  <a:srgbClr val="FFFFFF"/>
                </a:highlight>
                <a:latin typeface="Consolas"/>
                <a:ea typeface="Consolas"/>
                <a:cs typeface="Consolas"/>
                <a:sym typeface="Consolas"/>
              </a:rPr>
              <a:t>in</a:t>
            </a:r>
            <a:r>
              <a:rPr lang="en" sz="1150" dirty="0">
                <a:highlight>
                  <a:srgbClr val="FFFFFF"/>
                </a:highlight>
                <a:latin typeface="Consolas"/>
                <a:ea typeface="Consolas"/>
                <a:cs typeface="Consolas"/>
                <a:sym typeface="Consolas"/>
              </a:rPr>
              <a:t>.</a:t>
            </a:r>
            <a:r>
              <a:rPr lang="en" sz="1150" dirty="0">
                <a:solidFill>
                  <a:srgbClr val="795E26"/>
                </a:solidFill>
                <a:highlight>
                  <a:srgbClr val="FFFFFF"/>
                </a:highlight>
                <a:latin typeface="Consolas"/>
                <a:ea typeface="Consolas"/>
                <a:cs typeface="Consolas"/>
                <a:sym typeface="Consolas"/>
              </a:rPr>
              <a:t>lines</a:t>
            </a:r>
            <a:r>
              <a:rPr lang="en" sz="1150" dirty="0">
                <a:highlight>
                  <a:srgbClr val="FFFFFF"/>
                </a:highlight>
                <a:latin typeface="Consolas"/>
                <a:ea typeface="Consolas"/>
                <a:cs typeface="Consolas"/>
                <a:sym typeface="Consolas"/>
              </a:rPr>
              <a:t>().</a:t>
            </a:r>
            <a:r>
              <a:rPr lang="en" sz="1150" dirty="0">
                <a:solidFill>
                  <a:srgbClr val="795E26"/>
                </a:solidFill>
                <a:highlight>
                  <a:srgbClr val="FFFFFF"/>
                </a:highlight>
                <a:latin typeface="Consolas"/>
                <a:ea typeface="Consolas"/>
                <a:cs typeface="Consolas"/>
                <a:sym typeface="Consolas"/>
              </a:rPr>
              <a:t>forEach</a:t>
            </a:r>
            <a:r>
              <a:rPr lang="en" sz="1150" dirty="0">
                <a:highlight>
                  <a:srgbClr val="FFFFFF"/>
                </a:highlight>
                <a:latin typeface="Consolas"/>
                <a:ea typeface="Consolas"/>
                <a:cs typeface="Consolas"/>
                <a:sym typeface="Consolas"/>
              </a:rPr>
              <a:t>(</a:t>
            </a:r>
            <a:r>
              <a:rPr lang="en" sz="1150" dirty="0">
                <a:solidFill>
                  <a:srgbClr val="267F99"/>
                </a:solidFill>
                <a:highlight>
                  <a:srgbClr val="FFFFFF"/>
                </a:highlight>
                <a:latin typeface="Consolas"/>
                <a:ea typeface="Consolas"/>
                <a:cs typeface="Consolas"/>
                <a:sym typeface="Consolas"/>
              </a:rPr>
              <a:t>System</a:t>
            </a:r>
            <a:r>
              <a:rPr lang="en" sz="1150" dirty="0">
                <a:highlight>
                  <a:srgbClr val="FFFFFF"/>
                </a:highlight>
                <a:latin typeface="Consolas"/>
                <a:ea typeface="Consolas"/>
                <a:cs typeface="Consolas"/>
                <a:sym typeface="Consolas"/>
              </a:rPr>
              <a:t>.</a:t>
            </a:r>
            <a:r>
              <a:rPr lang="en" sz="1150" dirty="0">
                <a:solidFill>
                  <a:srgbClr val="0070C1"/>
                </a:solidFill>
                <a:highlight>
                  <a:srgbClr val="FFFFFF"/>
                </a:highlight>
                <a:latin typeface="Consolas"/>
                <a:ea typeface="Consolas"/>
                <a:cs typeface="Consolas"/>
                <a:sym typeface="Consolas"/>
              </a:rPr>
              <a:t>out</a:t>
            </a:r>
            <a:r>
              <a:rPr lang="en" sz="1150" dirty="0">
                <a:solidFill>
                  <a:srgbClr val="AF00DB"/>
                </a:solidFill>
                <a:highlight>
                  <a:srgbClr val="FFFFFF"/>
                </a:highlight>
                <a:latin typeface="Consolas"/>
                <a:ea typeface="Consolas"/>
                <a:cs typeface="Consolas"/>
                <a:sym typeface="Consolas"/>
              </a:rPr>
              <a:t>::</a:t>
            </a:r>
            <a:r>
              <a:rPr lang="en" sz="1150" dirty="0">
                <a:solidFill>
                  <a:srgbClr val="795E26"/>
                </a:solidFill>
                <a:highlight>
                  <a:srgbClr val="FFFFFF"/>
                </a:highlight>
                <a:latin typeface="Consolas"/>
                <a:ea typeface="Consolas"/>
                <a:cs typeface="Consolas"/>
                <a:sym typeface="Consolas"/>
              </a:rPr>
              <a:t>println</a:t>
            </a:r>
            <a:r>
              <a:rPr lang="en" sz="1150" dirty="0">
                <a:highlight>
                  <a:srgbClr val="FFFFFF"/>
                </a:highlight>
                <a:latin typeface="Consolas"/>
                <a:ea typeface="Consolas"/>
                <a:cs typeface="Consolas"/>
                <a:sym typeface="Consolas"/>
              </a:rPr>
              <a:t>);</a:t>
            </a:r>
            <a:endParaRPr sz="1150" dirty="0">
              <a:solidFill>
                <a:srgbClr val="098658"/>
              </a:solidFill>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5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close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6 </a:t>
            </a:r>
            <a:r>
              <a:rPr lang="en" sz="1150" dirty="0">
                <a:solidFill>
                  <a:srgbClr val="267F99"/>
                </a:solidFill>
                <a:latin typeface="Consolas"/>
                <a:ea typeface="Consolas"/>
                <a:cs typeface="Consolas"/>
                <a:sym typeface="Consolas"/>
              </a:rPr>
              <a:t>System</a:t>
            </a:r>
            <a:r>
              <a:rPr lang="en" sz="1150" dirty="0">
                <a:latin typeface="Consolas"/>
                <a:ea typeface="Consolas"/>
                <a:cs typeface="Consolas"/>
                <a:sym typeface="Consolas"/>
              </a:rPr>
              <a:t>.</a:t>
            </a:r>
            <a:r>
              <a:rPr lang="en" sz="1150" dirty="0">
                <a:solidFill>
                  <a:srgbClr val="0070C1"/>
                </a:solidFill>
                <a:latin typeface="Consolas"/>
                <a:ea typeface="Consolas"/>
                <a:cs typeface="Consolas"/>
                <a:sym typeface="Consolas"/>
              </a:rPr>
              <a:t>out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println</a:t>
            </a:r>
            <a:r>
              <a:rPr lang="en" sz="1150" dirty="0">
                <a:latin typeface="Consolas"/>
                <a:ea typeface="Consolas"/>
                <a:cs typeface="Consolas"/>
                <a:sym typeface="Consolas"/>
              </a:rPr>
              <a:t>();</a:t>
            </a:r>
            <a:endParaRPr sz="1150" dirty="0">
              <a:solidFill>
                <a:srgbClr val="267F99"/>
              </a:solidFill>
              <a:latin typeface="Consolas"/>
              <a:ea typeface="Consolas"/>
              <a:cs typeface="Consolas"/>
              <a:sym typeface="Consolas"/>
            </a:endParaRPr>
          </a:p>
        </p:txBody>
      </p:sp>
      <p:sp>
        <p:nvSpPr>
          <p:cNvPr id="638" name="Google Shape;638;p61"/>
          <p:cNvSpPr txBox="1"/>
          <p:nvPr/>
        </p:nvSpPr>
        <p:spPr>
          <a:xfrm>
            <a:off x="150375" y="1216517"/>
            <a:ext cx="322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We used </a:t>
            </a:r>
            <a:r>
              <a:rPr lang="en" sz="1200">
                <a:solidFill>
                  <a:srgbClr val="FF0000"/>
                </a:solidFill>
                <a:latin typeface="Courier New"/>
                <a:ea typeface="Courier New"/>
                <a:cs typeface="Courier New"/>
                <a:sym typeface="Courier New"/>
              </a:rPr>
              <a:t>BufferedReader</a:t>
            </a:r>
            <a:r>
              <a:rPr lang="en" sz="1200">
                <a:solidFill>
                  <a:srgbClr val="FF0000"/>
                </a:solidFill>
                <a:latin typeface="Roboto"/>
                <a:ea typeface="Roboto"/>
                <a:cs typeface="Roboto"/>
                <a:sym typeface="Roboto"/>
              </a:rPr>
              <a:t> </a:t>
            </a:r>
            <a:r>
              <a:rPr lang="en" sz="1200">
                <a:latin typeface="Roboto"/>
                <a:ea typeface="Roboto"/>
                <a:cs typeface="Roboto"/>
                <a:sym typeface="Roboto"/>
              </a:rPr>
              <a:t>in part to give us access to the data as a </a:t>
            </a:r>
            <a:r>
              <a:rPr lang="en" sz="1200">
                <a:latin typeface="Courier New"/>
                <a:ea typeface="Courier New"/>
                <a:cs typeface="Courier New"/>
                <a:sym typeface="Courier New"/>
              </a:rPr>
              <a:t>Stream</a:t>
            </a:r>
            <a:r>
              <a:rPr lang="en" sz="1200">
                <a:latin typeface="Roboto"/>
                <a:ea typeface="Roboto"/>
                <a:cs typeface="Roboto"/>
                <a:sym typeface="Roboto"/>
              </a:rPr>
              <a:t>, how would that work?</a:t>
            </a:r>
            <a:endParaRPr sz="1200">
              <a:latin typeface="Roboto"/>
              <a:ea typeface="Roboto"/>
              <a:cs typeface="Roboto"/>
              <a:sym typeface="Roboto"/>
            </a:endParaRPr>
          </a:p>
        </p:txBody>
      </p:sp>
      <p:sp>
        <p:nvSpPr>
          <p:cNvPr id="639" name="Google Shape;639;p61"/>
          <p:cNvSpPr txBox="1"/>
          <p:nvPr/>
        </p:nvSpPr>
        <p:spPr>
          <a:xfrm>
            <a:off x="150375" y="2103704"/>
            <a:ext cx="322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Once we have the </a:t>
            </a:r>
            <a:r>
              <a:rPr lang="en" sz="1200">
                <a:solidFill>
                  <a:srgbClr val="FF0000"/>
                </a:solidFill>
                <a:latin typeface="Courier New"/>
                <a:ea typeface="Courier New"/>
                <a:cs typeface="Courier New"/>
                <a:sym typeface="Courier New"/>
              </a:rPr>
              <a:t>lines()</a:t>
            </a:r>
            <a:r>
              <a:rPr lang="en" sz="1200">
                <a:latin typeface="Roboto"/>
                <a:ea typeface="Roboto"/>
                <a:cs typeface="Roboto"/>
                <a:sym typeface="Roboto"/>
              </a:rPr>
              <a:t> from the reader, we can use whatever </a:t>
            </a:r>
            <a:r>
              <a:rPr lang="en" sz="1200">
                <a:latin typeface="Courier New"/>
                <a:ea typeface="Courier New"/>
                <a:cs typeface="Courier New"/>
                <a:sym typeface="Courier New"/>
              </a:rPr>
              <a:t>Stream</a:t>
            </a:r>
            <a:r>
              <a:rPr lang="en" sz="1200">
                <a:latin typeface="Roboto"/>
                <a:ea typeface="Roboto"/>
                <a:cs typeface="Roboto"/>
                <a:sym typeface="Roboto"/>
              </a:rPr>
              <a:t> operations we would like.</a:t>
            </a:r>
            <a:endParaRPr sz="1200">
              <a:latin typeface="Roboto"/>
              <a:ea typeface="Roboto"/>
              <a:cs typeface="Roboto"/>
              <a:sym typeface="Roboto"/>
            </a:endParaRPr>
          </a:p>
        </p:txBody>
      </p:sp>
      <p:sp>
        <p:nvSpPr>
          <p:cNvPr id="640" name="Google Shape;640;p61"/>
          <p:cNvSpPr txBox="1"/>
          <p:nvPr/>
        </p:nvSpPr>
        <p:spPr>
          <a:xfrm>
            <a:off x="150375" y="3015118"/>
            <a:ext cx="3229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In this example, we used </a:t>
            </a:r>
            <a:r>
              <a:rPr lang="en" sz="1200">
                <a:solidFill>
                  <a:srgbClr val="FF0000"/>
                </a:solidFill>
                <a:latin typeface="Courier New"/>
                <a:ea typeface="Courier New"/>
                <a:cs typeface="Courier New"/>
                <a:sym typeface="Courier New"/>
              </a:rPr>
              <a:t>forEach</a:t>
            </a:r>
            <a:r>
              <a:rPr lang="en" sz="1200">
                <a:solidFill>
                  <a:srgbClr val="FF0000"/>
                </a:solidFill>
                <a:latin typeface="Roboto"/>
                <a:ea typeface="Roboto"/>
                <a:cs typeface="Roboto"/>
                <a:sym typeface="Roboto"/>
              </a:rPr>
              <a:t> </a:t>
            </a:r>
            <a:r>
              <a:rPr lang="en" sz="1200">
                <a:latin typeface="Roboto"/>
                <a:ea typeface="Roboto"/>
                <a:cs typeface="Roboto"/>
                <a:sym typeface="Roboto"/>
              </a:rPr>
              <a:t>to print out each line.</a:t>
            </a:r>
            <a:endParaRPr sz="1200">
              <a:latin typeface="Roboto"/>
              <a:ea typeface="Roboto"/>
              <a:cs typeface="Roboto"/>
              <a:sym typeface="Roboto"/>
            </a:endParaRPr>
          </a:p>
        </p:txBody>
      </p:sp>
      <p:sp>
        <p:nvSpPr>
          <p:cNvPr id="641" name="Google Shape;641;p61"/>
          <p:cNvSpPr txBox="1"/>
          <p:nvPr/>
        </p:nvSpPr>
        <p:spPr>
          <a:xfrm>
            <a:off x="150375" y="3741743"/>
            <a:ext cx="3229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highlight>
                  <a:srgbClr val="FFFF00"/>
                </a:highlight>
                <a:latin typeface="Courier New"/>
                <a:ea typeface="Courier New"/>
                <a:cs typeface="Courier New"/>
                <a:sym typeface="Courier New"/>
              </a:rPr>
              <a:t>BufferedReader.lines()</a:t>
            </a:r>
            <a:r>
              <a:rPr lang="en" sz="1200" dirty="0">
                <a:highlight>
                  <a:srgbClr val="FFFF00"/>
                </a:highlight>
                <a:latin typeface="Roboto"/>
                <a:ea typeface="Roboto"/>
                <a:cs typeface="Roboto"/>
                <a:sym typeface="Roboto"/>
              </a:rPr>
              <a:t> waits for the </a:t>
            </a:r>
            <a:r>
              <a:rPr lang="en" sz="1200" dirty="0">
                <a:highlight>
                  <a:srgbClr val="FFFF00"/>
                </a:highlight>
                <a:latin typeface="Courier New"/>
                <a:ea typeface="Courier New"/>
                <a:cs typeface="Courier New"/>
                <a:sym typeface="Courier New"/>
              </a:rPr>
              <a:t>InputStream</a:t>
            </a:r>
            <a:r>
              <a:rPr lang="en" sz="1200" dirty="0">
                <a:highlight>
                  <a:srgbClr val="FFFF00"/>
                </a:highlight>
                <a:latin typeface="Roboto"/>
                <a:ea typeface="Roboto"/>
                <a:cs typeface="Roboto"/>
                <a:sym typeface="Roboto"/>
              </a:rPr>
              <a:t> to </a:t>
            </a:r>
            <a:r>
              <a:rPr lang="en" sz="1200" b="1" dirty="0">
                <a:solidFill>
                  <a:srgbClr val="FF0000"/>
                </a:solidFill>
                <a:highlight>
                  <a:srgbClr val="FFFF00"/>
                </a:highlight>
                <a:latin typeface="Roboto"/>
                <a:ea typeface="Roboto"/>
                <a:cs typeface="Roboto"/>
                <a:sym typeface="Roboto"/>
              </a:rPr>
              <a:t>close</a:t>
            </a:r>
            <a:r>
              <a:rPr lang="en" sz="1200" dirty="0">
                <a:highlight>
                  <a:srgbClr val="FFFF00"/>
                </a:highlight>
                <a:latin typeface="Roboto"/>
                <a:ea typeface="Roboto"/>
                <a:cs typeface="Roboto"/>
                <a:sym typeface="Roboto"/>
              </a:rPr>
              <a:t> before reading. This means it is somewhat situational but works for many standard scenarios.</a:t>
            </a:r>
            <a:endParaRPr sz="1200" dirty="0">
              <a:highlight>
                <a:srgbClr val="FFFF00"/>
              </a:highlight>
              <a:latin typeface="Roboto"/>
              <a:ea typeface="Roboto"/>
              <a:cs typeface="Roboto"/>
              <a:sym typeface="Roboto"/>
            </a:endParaRPr>
          </a:p>
        </p:txBody>
      </p:sp>
      <p:sp>
        <p:nvSpPr>
          <p:cNvPr id="642" name="Google Shape;642;p61"/>
          <p:cNvSpPr/>
          <p:nvPr/>
        </p:nvSpPr>
        <p:spPr>
          <a:xfrm>
            <a:off x="3760125" y="2376750"/>
            <a:ext cx="1059900" cy="195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43" name="Google Shape;643;p61"/>
          <p:cNvCxnSpPr>
            <a:stCxn id="639" idx="3"/>
            <a:endCxn id="642" idx="1"/>
          </p:cNvCxnSpPr>
          <p:nvPr/>
        </p:nvCxnSpPr>
        <p:spPr>
          <a:xfrm>
            <a:off x="3379875" y="2473154"/>
            <a:ext cx="380400" cy="1200"/>
          </a:xfrm>
          <a:prstGeom prst="bentConnector3">
            <a:avLst>
              <a:gd name="adj1" fmla="val 49980"/>
            </a:avLst>
          </a:prstGeom>
          <a:noFill/>
          <a:ln w="19050" cap="flat" cmpd="sng">
            <a:solidFill>
              <a:srgbClr val="FF0000"/>
            </a:solidFill>
            <a:prstDash val="solid"/>
            <a:round/>
            <a:headEnd type="none" w="med" len="med"/>
            <a:tailEnd type="none" w="med" len="med"/>
          </a:ln>
        </p:spPr>
      </p:cxnSp>
      <p:sp>
        <p:nvSpPr>
          <p:cNvPr id="644" name="Google Shape;644;p61"/>
          <p:cNvSpPr/>
          <p:nvPr/>
        </p:nvSpPr>
        <p:spPr>
          <a:xfrm>
            <a:off x="4904697" y="2376175"/>
            <a:ext cx="3659700" cy="195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45" name="Google Shape;645;p61"/>
          <p:cNvCxnSpPr>
            <a:stCxn id="640" idx="3"/>
            <a:endCxn id="644" idx="2"/>
          </p:cNvCxnSpPr>
          <p:nvPr/>
        </p:nvCxnSpPr>
        <p:spPr>
          <a:xfrm rot="10800000" flipH="1">
            <a:off x="3379875" y="2571268"/>
            <a:ext cx="3354600" cy="720900"/>
          </a:xfrm>
          <a:prstGeom prst="bentConnector2">
            <a:avLst/>
          </a:prstGeom>
          <a:noFill/>
          <a:ln w="19050" cap="flat" cmpd="sng">
            <a:solidFill>
              <a:srgbClr val="FF0000"/>
            </a:solidFill>
            <a:prstDash val="solid"/>
            <a:round/>
            <a:headEnd type="none" w="med" len="med"/>
            <a:tailEnd type="non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62"/>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Receiving Data</a:t>
            </a:r>
            <a:endParaRPr sz="3400"/>
          </a:p>
        </p:txBody>
      </p:sp>
      <p:sp>
        <p:nvSpPr>
          <p:cNvPr id="651" name="Google Shape;651;p62"/>
          <p:cNvSpPr txBox="1">
            <a:spLocks noGrp="1"/>
          </p:cNvSpPr>
          <p:nvPr>
            <p:ph type="body" idx="1"/>
          </p:nvPr>
        </p:nvSpPr>
        <p:spPr>
          <a:xfrm>
            <a:off x="65250" y="731625"/>
            <a:ext cx="8955900" cy="677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Clr>
                <a:srgbClr val="000000"/>
              </a:buClr>
              <a:buSzPts val="1800"/>
              <a:buNone/>
            </a:pPr>
            <a:r>
              <a:rPr lang="en"/>
              <a:t>The NIST server provides a server that can be used to get the current time. Let's write a program that uses a TCP/IP socket to connect to the service and read the time.</a:t>
            </a:r>
            <a:endParaRPr sz="1300"/>
          </a:p>
        </p:txBody>
      </p:sp>
      <p:sp>
        <p:nvSpPr>
          <p:cNvPr id="652" name="Google Shape;652;p62"/>
          <p:cNvSpPr txBox="1">
            <a:spLocks noGrp="1"/>
          </p:cNvSpPr>
          <p:nvPr>
            <p:ph type="body" idx="2"/>
          </p:nvPr>
        </p:nvSpPr>
        <p:spPr>
          <a:xfrm>
            <a:off x="4495650" y="1455125"/>
            <a:ext cx="4431000" cy="3471000"/>
          </a:xfrm>
          <a:prstGeom prst="rect">
            <a:avLst/>
          </a:prstGeom>
          <a:noFill/>
          <a:ln>
            <a:noFill/>
          </a:ln>
        </p:spPr>
        <p:txBody>
          <a:bodyPr spcFirstLastPara="1" wrap="square" lIns="68575" tIns="34275" rIns="68575" bIns="34275" anchor="t" anchorCtr="0">
            <a:spAutoFit/>
          </a:bodyPr>
          <a:lstStyle/>
          <a:p>
            <a:pPr marL="457200" lvl="0" indent="-317500" algn="l" rtl="0">
              <a:lnSpc>
                <a:spcPct val="115000"/>
              </a:lnSpc>
              <a:spcBef>
                <a:spcPts val="0"/>
              </a:spcBef>
              <a:spcAft>
                <a:spcPts val="0"/>
              </a:spcAft>
              <a:buSzPts val="1400"/>
              <a:buChar char="●"/>
            </a:pPr>
            <a:r>
              <a:rPr lang="en" sz="1400" dirty="0"/>
              <a:t>Add a new </a:t>
            </a:r>
            <a:r>
              <a:rPr lang="en" sz="1400" dirty="0">
                <a:solidFill>
                  <a:srgbClr val="FF0000"/>
                </a:solidFill>
                <a:latin typeface="Courier New"/>
                <a:ea typeface="Courier New"/>
                <a:cs typeface="Courier New"/>
                <a:sym typeface="Courier New"/>
              </a:rPr>
              <a:t>NetworkTime</a:t>
            </a:r>
            <a:r>
              <a:rPr lang="en" sz="1400" dirty="0"/>
              <a:t> class to your project</a:t>
            </a:r>
            <a:endParaRPr sz="1400" dirty="0"/>
          </a:p>
          <a:p>
            <a:pPr marL="457200" lvl="0" indent="-317500" algn="l" rtl="0">
              <a:lnSpc>
                <a:spcPct val="115000"/>
              </a:lnSpc>
              <a:spcBef>
                <a:spcPts val="0"/>
              </a:spcBef>
              <a:spcAft>
                <a:spcPts val="0"/>
              </a:spcAft>
              <a:buSzPts val="1400"/>
              <a:buChar char="●"/>
            </a:pPr>
            <a:r>
              <a:rPr lang="en" sz="1400" dirty="0"/>
              <a:t>Establish a TCP connection with the server "</a:t>
            </a:r>
            <a:r>
              <a:rPr lang="en" sz="1400" dirty="0">
                <a:solidFill>
                  <a:srgbClr val="FF0000"/>
                </a:solidFill>
                <a:highlight>
                  <a:srgbClr val="FFFFFF"/>
                </a:highlight>
                <a:latin typeface="Courier New"/>
                <a:ea typeface="Courier New"/>
                <a:cs typeface="Courier New"/>
                <a:sym typeface="Courier New"/>
              </a:rPr>
              <a:t>time.nist.gov</a:t>
            </a:r>
            <a:r>
              <a:rPr lang="en" sz="1400" dirty="0"/>
              <a:t>" on port </a:t>
            </a:r>
            <a:r>
              <a:rPr lang="en" sz="1400" dirty="0">
                <a:solidFill>
                  <a:srgbClr val="FF0000"/>
                </a:solidFill>
                <a:latin typeface="Courier New"/>
                <a:ea typeface="Courier New"/>
                <a:cs typeface="Courier New"/>
                <a:sym typeface="Courier New"/>
              </a:rPr>
              <a:t>13</a:t>
            </a:r>
            <a:endParaRPr sz="1400" dirty="0">
              <a:solidFill>
                <a:srgbClr val="FF0000"/>
              </a:solidFill>
              <a:latin typeface="Courier New"/>
              <a:ea typeface="Courier New"/>
              <a:cs typeface="Courier New"/>
              <a:sym typeface="Courier New"/>
            </a:endParaRPr>
          </a:p>
          <a:p>
            <a:pPr marL="457200" lvl="0" indent="-317500" algn="l" rtl="0">
              <a:lnSpc>
                <a:spcPct val="115000"/>
              </a:lnSpc>
              <a:spcBef>
                <a:spcPts val="0"/>
              </a:spcBef>
              <a:spcAft>
                <a:spcPts val="0"/>
              </a:spcAft>
              <a:buSzPts val="1400"/>
              <a:buChar char="●"/>
            </a:pPr>
            <a:r>
              <a:rPr lang="en" sz="1400" dirty="0"/>
              <a:t>Use a </a:t>
            </a:r>
            <a:r>
              <a:rPr lang="en" sz="1400" dirty="0">
                <a:latin typeface="Courier New"/>
                <a:ea typeface="Courier New"/>
                <a:cs typeface="Courier New"/>
                <a:sym typeface="Courier New"/>
              </a:rPr>
              <a:t>BufferedReader</a:t>
            </a:r>
            <a:r>
              <a:rPr lang="en" sz="1400" dirty="0"/>
              <a:t> to read the </a:t>
            </a:r>
            <a:r>
              <a:rPr lang="en" sz="1400" dirty="0">
                <a:latin typeface="Courier New"/>
                <a:ea typeface="Courier New"/>
                <a:cs typeface="Courier New"/>
                <a:sym typeface="Courier New"/>
              </a:rPr>
              <a:t>InputStream</a:t>
            </a:r>
            <a:r>
              <a:rPr lang="en" sz="1400" dirty="0"/>
              <a:t> from the </a:t>
            </a:r>
            <a:r>
              <a:rPr lang="en" sz="1400" dirty="0">
                <a:latin typeface="Courier New"/>
                <a:ea typeface="Courier New"/>
                <a:cs typeface="Courier New"/>
                <a:sym typeface="Courier New"/>
              </a:rPr>
              <a:t>Socket</a:t>
            </a:r>
            <a:endParaRPr sz="1400" dirty="0">
              <a:latin typeface="Courier New"/>
              <a:ea typeface="Courier New"/>
              <a:cs typeface="Courier New"/>
              <a:sym typeface="Courier New"/>
            </a:endParaRPr>
          </a:p>
          <a:p>
            <a:pPr marL="914400" lvl="1" indent="-304800" algn="l" rtl="0">
              <a:lnSpc>
                <a:spcPct val="115000"/>
              </a:lnSpc>
              <a:spcBef>
                <a:spcPts val="0"/>
              </a:spcBef>
              <a:spcAft>
                <a:spcPts val="0"/>
              </a:spcAft>
              <a:buSzPts val="1200"/>
              <a:buChar char="○"/>
            </a:pPr>
            <a:r>
              <a:rPr lang="en" sz="1200" dirty="0"/>
              <a:t>Since the server does not send a new line, we'll need to use the </a:t>
            </a:r>
            <a:r>
              <a:rPr lang="en" sz="1200" dirty="0">
                <a:latin typeface="Courier New"/>
                <a:ea typeface="Courier New"/>
                <a:cs typeface="Courier New"/>
                <a:sym typeface="Courier New"/>
              </a:rPr>
              <a:t>lines()</a:t>
            </a:r>
            <a:r>
              <a:rPr lang="en" sz="1200" dirty="0"/>
              <a:t> stream.</a:t>
            </a:r>
            <a:endParaRPr sz="1200" dirty="0"/>
          </a:p>
          <a:p>
            <a:pPr marL="914400" lvl="1" indent="-304800" algn="l" rtl="0">
              <a:lnSpc>
                <a:spcPct val="115000"/>
              </a:lnSpc>
              <a:spcBef>
                <a:spcPts val="0"/>
              </a:spcBef>
              <a:spcAft>
                <a:spcPts val="0"/>
              </a:spcAft>
              <a:buSzPts val="1200"/>
              <a:buChar char="○"/>
            </a:pPr>
            <a:r>
              <a:rPr lang="en" sz="1200" dirty="0">
                <a:latin typeface="Courier New"/>
                <a:ea typeface="Courier New"/>
                <a:cs typeface="Courier New"/>
                <a:sym typeface="Courier New"/>
              </a:rPr>
              <a:t>lines()</a:t>
            </a:r>
            <a:r>
              <a:rPr lang="en" sz="1200" dirty="0"/>
              <a:t> breaks the </a:t>
            </a:r>
            <a:r>
              <a:rPr lang="en" sz="1200" dirty="0">
                <a:latin typeface="Courier New"/>
                <a:ea typeface="Courier New"/>
                <a:cs typeface="Courier New"/>
                <a:sym typeface="Courier New"/>
              </a:rPr>
              <a:t>Stream</a:t>
            </a:r>
            <a:r>
              <a:rPr lang="en" sz="1200" dirty="0"/>
              <a:t> up by new lines but also sends any data that is available when the </a:t>
            </a:r>
            <a:r>
              <a:rPr lang="en" sz="1200" dirty="0">
                <a:latin typeface="Courier New"/>
                <a:ea typeface="Courier New"/>
                <a:cs typeface="Courier New"/>
                <a:sym typeface="Courier New"/>
              </a:rPr>
              <a:t>InputStream</a:t>
            </a:r>
            <a:r>
              <a:rPr lang="en" sz="1200" dirty="0"/>
              <a:t> closes as a final line.</a:t>
            </a:r>
            <a:endParaRPr sz="1200" dirty="0"/>
          </a:p>
          <a:p>
            <a:pPr marL="457200" lvl="0" indent="-317500" algn="l" rtl="0">
              <a:lnSpc>
                <a:spcPct val="115000"/>
              </a:lnSpc>
              <a:spcBef>
                <a:spcPts val="0"/>
              </a:spcBef>
              <a:spcAft>
                <a:spcPts val="0"/>
              </a:spcAft>
              <a:buSzPts val="1400"/>
              <a:buChar char="●"/>
            </a:pPr>
            <a:r>
              <a:rPr lang="en" sz="1400" dirty="0"/>
              <a:t>Print all the information in lines().</a:t>
            </a:r>
            <a:endParaRPr sz="1400" dirty="0"/>
          </a:p>
          <a:p>
            <a:pPr marL="914400" lvl="1" indent="-304800" algn="l" rtl="0">
              <a:lnSpc>
                <a:spcPct val="115000"/>
              </a:lnSpc>
              <a:spcBef>
                <a:spcPts val="0"/>
              </a:spcBef>
              <a:spcAft>
                <a:spcPts val="0"/>
              </a:spcAft>
              <a:buSzPts val="1200"/>
              <a:buChar char="○"/>
            </a:pPr>
            <a:r>
              <a:rPr lang="en" sz="1200" dirty="0"/>
              <a:t>Hint, it will be a single line.</a:t>
            </a:r>
            <a:endParaRPr sz="1200" dirty="0"/>
          </a:p>
          <a:p>
            <a:pPr marL="914400" lvl="1" indent="-304800" algn="l" rtl="0">
              <a:lnSpc>
                <a:spcPct val="115000"/>
              </a:lnSpc>
              <a:spcBef>
                <a:spcPts val="0"/>
              </a:spcBef>
              <a:spcAft>
                <a:spcPts val="0"/>
              </a:spcAft>
              <a:buSzPts val="1200"/>
              <a:buChar char="○"/>
            </a:pPr>
            <a:r>
              <a:rPr lang="en" sz="1200" dirty="0"/>
              <a:t>Example: </a:t>
            </a:r>
            <a:r>
              <a:rPr lang="en" sz="1200" dirty="0">
                <a:latin typeface="Courier New"/>
                <a:ea typeface="Courier New"/>
                <a:cs typeface="Courier New"/>
                <a:sym typeface="Courier New"/>
              </a:rPr>
              <a:t>59314 21-04-10 23:24:16 50 0 0 196.4 UTC(NIST) * </a:t>
            </a:r>
            <a:endParaRPr sz="1200" dirty="0">
              <a:latin typeface="Courier New"/>
              <a:ea typeface="Courier New"/>
              <a:cs typeface="Courier New"/>
              <a:sym typeface="Courier New"/>
            </a:endParaRPr>
          </a:p>
          <a:p>
            <a:pPr marL="457200" lvl="0" indent="-317500" algn="l" rtl="0">
              <a:lnSpc>
                <a:spcPct val="115000"/>
              </a:lnSpc>
              <a:spcBef>
                <a:spcPts val="0"/>
              </a:spcBef>
              <a:spcAft>
                <a:spcPts val="0"/>
              </a:spcAft>
              <a:buSzPts val="1400"/>
              <a:buChar char="●"/>
            </a:pPr>
            <a:r>
              <a:rPr lang="en" sz="1400" dirty="0"/>
              <a:t>Don't forget to close the </a:t>
            </a:r>
            <a:r>
              <a:rPr lang="en" sz="1400" dirty="0">
                <a:latin typeface="Courier New"/>
                <a:ea typeface="Courier New"/>
                <a:cs typeface="Courier New"/>
                <a:sym typeface="Courier New"/>
              </a:rPr>
              <a:t>Socket</a:t>
            </a:r>
            <a:r>
              <a:rPr lang="en" sz="1400" dirty="0"/>
              <a:t>.</a:t>
            </a:r>
            <a:endParaRPr sz="1400" dirty="0"/>
          </a:p>
        </p:txBody>
      </p:sp>
      <p:sp>
        <p:nvSpPr>
          <p:cNvPr id="653" name="Google Shape;653;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654" name="Google Shape;654;p62"/>
          <p:cNvSpPr txBox="1"/>
          <p:nvPr/>
        </p:nvSpPr>
        <p:spPr>
          <a:xfrm>
            <a:off x="91650" y="4394325"/>
            <a:ext cx="4404000" cy="58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marR="0" lvl="0" indent="0" algn="l" rtl="0">
              <a:spcBef>
                <a:spcPts val="0"/>
              </a:spcBef>
              <a:spcAft>
                <a:spcPts val="0"/>
              </a:spcAft>
              <a:buNone/>
            </a:pPr>
            <a:r>
              <a:rPr lang="en" sz="1300">
                <a:solidFill>
                  <a:schemeClr val="dk1"/>
                </a:solidFill>
              </a:rPr>
              <a:t>Repeated connection attempts </a:t>
            </a:r>
            <a:r>
              <a:rPr lang="en" sz="1300" b="1" i="1">
                <a:solidFill>
                  <a:srgbClr val="FF0000"/>
                </a:solidFill>
              </a:rPr>
              <a:t>faster than 4 seconds</a:t>
            </a:r>
            <a:r>
              <a:rPr lang="en" sz="1300">
                <a:solidFill>
                  <a:schemeClr val="dk1"/>
                </a:solidFill>
              </a:rPr>
              <a:t> will result in an IP ban (</a:t>
            </a:r>
            <a:r>
              <a:rPr lang="en" sz="1300" b="1">
                <a:solidFill>
                  <a:schemeClr val="dk1"/>
                </a:solidFill>
              </a:rPr>
              <a:t>don't do that</a:t>
            </a:r>
            <a:r>
              <a:rPr lang="en" sz="1300">
                <a:solidFill>
                  <a:schemeClr val="dk1"/>
                </a:solidFill>
              </a:rPr>
              <a:t>)</a:t>
            </a:r>
            <a:endParaRPr sz="1300">
              <a:solidFill>
                <a:schemeClr val="dk1"/>
              </a:solidFill>
              <a:latin typeface="Arial"/>
              <a:ea typeface="Arial"/>
              <a:cs typeface="Arial"/>
              <a:sym typeface="Arial"/>
            </a:endParaRPr>
          </a:p>
        </p:txBody>
      </p:sp>
      <p:sp>
        <p:nvSpPr>
          <p:cNvPr id="655" name="Google Shape;655;p6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9.6</a:t>
            </a:r>
            <a:endParaRPr/>
          </a:p>
        </p:txBody>
      </p:sp>
      <p:sp>
        <p:nvSpPr>
          <p:cNvPr id="656" name="Google Shape;656;p62"/>
          <p:cNvSpPr txBox="1"/>
          <p:nvPr/>
        </p:nvSpPr>
        <p:spPr>
          <a:xfrm>
            <a:off x="91650" y="2413275"/>
            <a:ext cx="4404000" cy="1562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a:solidFill>
                  <a:srgbClr val="267F99"/>
                </a:solidFill>
                <a:latin typeface="Consolas"/>
                <a:ea typeface="Consolas"/>
                <a:cs typeface="Consolas"/>
                <a:sym typeface="Consolas"/>
              </a:rPr>
              <a:t>InputStream</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getInputStream</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267F99"/>
                </a:solidFill>
                <a:latin typeface="Consolas"/>
                <a:ea typeface="Consolas"/>
                <a:cs typeface="Consolas"/>
                <a:sym typeface="Consolas"/>
              </a:rPr>
              <a:t>InputStreamReader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InputStreamReader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267F99"/>
                </a:solidFill>
                <a:latin typeface="Consolas"/>
                <a:ea typeface="Consolas"/>
                <a:cs typeface="Consolas"/>
                <a:sym typeface="Consolas"/>
              </a:rPr>
              <a:t>BufferedReader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BufferedReader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001080"/>
                </a:solidFill>
                <a:highlight>
                  <a:schemeClr val="lt1"/>
                </a:highlight>
                <a:latin typeface="Consolas"/>
                <a:ea typeface="Consolas"/>
                <a:cs typeface="Consolas"/>
                <a:sym typeface="Consolas"/>
              </a:rPr>
              <a:t>in</a:t>
            </a:r>
            <a:r>
              <a:rPr lang="en" sz="1150">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lines</a:t>
            </a:r>
            <a:r>
              <a:rPr lang="en" sz="1150">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forEach</a:t>
            </a:r>
            <a:r>
              <a:rPr lang="en" sz="1150">
                <a:highlight>
                  <a:schemeClr val="lt1"/>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System</a:t>
            </a:r>
            <a:r>
              <a:rPr lang="en" sz="1150">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AF00DB"/>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highlight>
                  <a:schemeClr val="lt1"/>
                </a:highlight>
                <a:latin typeface="Consolas"/>
                <a:ea typeface="Consolas"/>
                <a:cs typeface="Consolas"/>
                <a:sym typeface="Consolas"/>
              </a:rPr>
              <a:t>);</a:t>
            </a:r>
            <a:endParaRPr sz="1150">
              <a:solidFill>
                <a:srgbClr val="098658"/>
              </a:solidFill>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close</a:t>
            </a:r>
            <a:r>
              <a:rPr lang="en" sz="1150">
                <a:latin typeface="Consolas"/>
                <a:ea typeface="Consolas"/>
                <a:cs typeface="Consolas"/>
                <a:sym typeface="Consolas"/>
              </a:rPr>
              <a:t>();</a:t>
            </a:r>
            <a:endParaRPr sz="1150">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endParaRPr sz="1050">
              <a:solidFill>
                <a:srgbClr val="267F99"/>
              </a:solidFill>
              <a:latin typeface="Consolas"/>
              <a:ea typeface="Consolas"/>
              <a:cs typeface="Consolas"/>
              <a:sym typeface="Consolas"/>
            </a:endParaRPr>
          </a:p>
        </p:txBody>
      </p:sp>
      <p:sp>
        <p:nvSpPr>
          <p:cNvPr id="657" name="Google Shape;657;p62"/>
          <p:cNvSpPr txBox="1"/>
          <p:nvPr/>
        </p:nvSpPr>
        <p:spPr>
          <a:xfrm>
            <a:off x="91650" y="1512675"/>
            <a:ext cx="4404000" cy="785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marR="0" lvl="0" indent="0" algn="l" rtl="0">
              <a:spcBef>
                <a:spcPts val="0"/>
              </a:spcBef>
              <a:spcAft>
                <a:spcPts val="0"/>
              </a:spcAft>
              <a:buNone/>
            </a:pPr>
            <a:r>
              <a:rPr lang="en" sz="1300">
                <a:solidFill>
                  <a:schemeClr val="dk1"/>
                </a:solidFill>
              </a:rPr>
              <a:t>The </a:t>
            </a:r>
            <a:r>
              <a:rPr lang="en" sz="1300">
                <a:solidFill>
                  <a:schemeClr val="dk1"/>
                </a:solidFill>
                <a:latin typeface="Courier New"/>
                <a:ea typeface="Courier New"/>
                <a:cs typeface="Courier New"/>
                <a:sym typeface="Courier New"/>
              </a:rPr>
              <a:t>readLine()</a:t>
            </a:r>
            <a:r>
              <a:rPr lang="en" sz="1300">
                <a:solidFill>
                  <a:schemeClr val="dk1"/>
                </a:solidFill>
              </a:rPr>
              <a:t> method on </a:t>
            </a:r>
            <a:r>
              <a:rPr lang="en" sz="1300">
                <a:solidFill>
                  <a:schemeClr val="dk1"/>
                </a:solidFill>
                <a:latin typeface="Courier New"/>
                <a:ea typeface="Courier New"/>
                <a:cs typeface="Courier New"/>
                <a:sym typeface="Courier New"/>
              </a:rPr>
              <a:t>BufferedReader</a:t>
            </a:r>
            <a:r>
              <a:rPr lang="en" sz="1300">
                <a:solidFill>
                  <a:schemeClr val="dk1"/>
                </a:solidFill>
              </a:rPr>
              <a:t> blocks until it sees a newline. But the NIST time service </a:t>
            </a:r>
            <a:r>
              <a:rPr lang="en" sz="1300" i="1">
                <a:solidFill>
                  <a:schemeClr val="dk1"/>
                </a:solidFill>
              </a:rPr>
              <a:t>doesn't send a newline</a:t>
            </a:r>
            <a:r>
              <a:rPr lang="en" sz="1300">
                <a:solidFill>
                  <a:schemeClr val="dk1"/>
                </a:solidFill>
              </a:rPr>
              <a:t>! However, </a:t>
            </a:r>
            <a:r>
              <a:rPr lang="en" sz="1300">
                <a:solidFill>
                  <a:schemeClr val="dk1"/>
                </a:solidFill>
                <a:latin typeface="Courier New"/>
                <a:ea typeface="Courier New"/>
                <a:cs typeface="Courier New"/>
                <a:sym typeface="Courier New"/>
              </a:rPr>
              <a:t>lines()</a:t>
            </a:r>
            <a:r>
              <a:rPr lang="en" sz="1300">
                <a:solidFill>
                  <a:schemeClr val="dk1"/>
                </a:solidFill>
              </a:rPr>
              <a:t> will still work.</a:t>
            </a:r>
            <a:endParaRPr sz="13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3"/>
          <p:cNvSpPr txBox="1">
            <a:spLocks noGrp="1"/>
          </p:cNvSpPr>
          <p:nvPr>
            <p:ph type="title"/>
          </p:nvPr>
        </p:nvSpPr>
        <p:spPr>
          <a:xfrm>
            <a:off x="51885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Review: TCP/IP With Sockets</a:t>
            </a:r>
            <a:endParaRPr/>
          </a:p>
        </p:txBody>
      </p:sp>
      <p:sp>
        <p:nvSpPr>
          <p:cNvPr id="663" name="Google Shape;663;p63"/>
          <p:cNvSpPr txBox="1">
            <a:spLocks noGrp="1"/>
          </p:cNvSpPr>
          <p:nvPr>
            <p:ph type="body" idx="1"/>
          </p:nvPr>
        </p:nvSpPr>
        <p:spPr>
          <a:xfrm>
            <a:off x="301275" y="577125"/>
            <a:ext cx="4166400" cy="4432200"/>
          </a:xfrm>
          <a:prstGeom prst="rect">
            <a:avLst/>
          </a:prstGeom>
          <a:noFill/>
          <a:ln>
            <a:noFill/>
          </a:ln>
        </p:spPr>
        <p:txBody>
          <a:bodyPr spcFirstLastPara="1" wrap="square" lIns="68575" tIns="34275" rIns="68575" bIns="34275" anchor="t" anchorCtr="0">
            <a:normAutofit/>
          </a:bodyPr>
          <a:lstStyle/>
          <a:p>
            <a:pPr marL="457200" lvl="0" indent="-313055" algn="l" rtl="0">
              <a:lnSpc>
                <a:spcPct val="115000"/>
              </a:lnSpc>
              <a:spcBef>
                <a:spcPts val="0"/>
              </a:spcBef>
              <a:spcAft>
                <a:spcPts val="0"/>
              </a:spcAft>
              <a:buSzPts val="1330"/>
              <a:buChar char="●"/>
            </a:pPr>
            <a:r>
              <a:rPr lang="en" sz="1330">
                <a:latin typeface="Courier New"/>
                <a:ea typeface="Courier New"/>
                <a:cs typeface="Courier New"/>
                <a:sym typeface="Courier New"/>
              </a:rPr>
              <a:t>URL</a:t>
            </a:r>
            <a:r>
              <a:rPr lang="en" sz="1330"/>
              <a:t> and </a:t>
            </a:r>
            <a:r>
              <a:rPr lang="en" sz="1330">
                <a:latin typeface="Courier New"/>
                <a:ea typeface="Courier New"/>
                <a:cs typeface="Courier New"/>
                <a:sym typeface="Courier New"/>
              </a:rPr>
              <a:t>URLConnection</a:t>
            </a:r>
            <a:r>
              <a:rPr lang="en" sz="1330"/>
              <a:t> are fine for communicating using </a:t>
            </a:r>
            <a:r>
              <a:rPr lang="en" sz="1330" b="1" i="1">
                <a:solidFill>
                  <a:srgbClr val="FF0000"/>
                </a:solidFill>
              </a:rPr>
              <a:t>established</a:t>
            </a:r>
            <a:r>
              <a:rPr lang="en" sz="1330"/>
              <a:t> internet protocols like HTTP</a:t>
            </a:r>
            <a:endParaRPr sz="905"/>
          </a:p>
          <a:p>
            <a:pPr marL="457200" lvl="0" indent="-313055" algn="l" rtl="0">
              <a:lnSpc>
                <a:spcPct val="115000"/>
              </a:lnSpc>
              <a:spcBef>
                <a:spcPts val="1000"/>
              </a:spcBef>
              <a:spcAft>
                <a:spcPts val="0"/>
              </a:spcAft>
              <a:buSzPts val="1330"/>
              <a:buChar char="●"/>
            </a:pPr>
            <a:r>
              <a:rPr lang="en" sz="1330"/>
              <a:t>But what if you want to establish your own TCP/IP connection to send and receive data using some </a:t>
            </a:r>
            <a:r>
              <a:rPr lang="en" sz="1330" b="1" i="1">
                <a:solidFill>
                  <a:srgbClr val="FF0000"/>
                </a:solidFill>
              </a:rPr>
              <a:t>other</a:t>
            </a:r>
            <a:r>
              <a:rPr lang="en" sz="1330"/>
              <a:t> protocol (e.g. one of your own design)?</a:t>
            </a:r>
            <a:endParaRPr sz="905"/>
          </a:p>
          <a:p>
            <a:pPr marL="457200" lvl="0" indent="-313055" algn="l" rtl="0">
              <a:lnSpc>
                <a:spcPct val="115000"/>
              </a:lnSpc>
              <a:spcBef>
                <a:spcPts val="1000"/>
              </a:spcBef>
              <a:spcAft>
                <a:spcPts val="0"/>
              </a:spcAft>
              <a:buSzPts val="1330"/>
              <a:buChar char="●"/>
            </a:pPr>
            <a:r>
              <a:rPr lang="en" sz="1330"/>
              <a:t>The </a:t>
            </a:r>
            <a:r>
              <a:rPr lang="en" sz="1330">
                <a:solidFill>
                  <a:srgbClr val="FF0000"/>
                </a:solidFill>
                <a:latin typeface="Courier New"/>
                <a:ea typeface="Courier New"/>
                <a:cs typeface="Courier New"/>
                <a:sym typeface="Courier New"/>
              </a:rPr>
              <a:t>java.net.Socket</a:t>
            </a:r>
            <a:r>
              <a:rPr lang="en" sz="1330"/>
              <a:t> class is used to establish a TCP/IP connection to a specific hostname (or IP address) and port</a:t>
            </a:r>
            <a:endParaRPr sz="905"/>
          </a:p>
          <a:p>
            <a:pPr marL="0" lvl="0" indent="457200" algn="l" rtl="0">
              <a:lnSpc>
                <a:spcPct val="100000"/>
              </a:lnSpc>
              <a:spcBef>
                <a:spcPts val="600"/>
              </a:spcBef>
              <a:spcAft>
                <a:spcPts val="0"/>
              </a:spcAft>
              <a:buNone/>
            </a:pPr>
            <a:r>
              <a:rPr lang="en" sz="1160">
                <a:latin typeface="Courier New"/>
                <a:ea typeface="Courier New"/>
                <a:cs typeface="Courier New"/>
                <a:sym typeface="Courier New"/>
              </a:rPr>
              <a:t>  Socket sock = </a:t>
            </a:r>
            <a:endParaRPr sz="1160">
              <a:latin typeface="Courier New"/>
              <a:ea typeface="Courier New"/>
              <a:cs typeface="Courier New"/>
              <a:sym typeface="Courier New"/>
            </a:endParaRPr>
          </a:p>
          <a:p>
            <a:pPr marL="0" lvl="0" indent="457200" algn="l" rtl="0">
              <a:lnSpc>
                <a:spcPct val="100000"/>
              </a:lnSpc>
              <a:spcBef>
                <a:spcPts val="0"/>
              </a:spcBef>
              <a:spcAft>
                <a:spcPts val="0"/>
              </a:spcAft>
              <a:buNone/>
            </a:pPr>
            <a:r>
              <a:rPr lang="en" sz="1160">
                <a:latin typeface="Courier New"/>
                <a:ea typeface="Courier New"/>
                <a:cs typeface="Courier New"/>
                <a:sym typeface="Courier New"/>
              </a:rPr>
              <a:t>      new Socket("localhost", 1234);</a:t>
            </a:r>
            <a:endParaRPr sz="1160">
              <a:latin typeface="Courier New"/>
              <a:ea typeface="Courier New"/>
              <a:cs typeface="Courier New"/>
              <a:sym typeface="Courier New"/>
            </a:endParaRPr>
          </a:p>
          <a:p>
            <a:pPr marL="457200" lvl="0" indent="-313055" algn="l" rtl="0">
              <a:lnSpc>
                <a:spcPct val="115000"/>
              </a:lnSpc>
              <a:spcBef>
                <a:spcPts val="1000"/>
              </a:spcBef>
              <a:spcAft>
                <a:spcPts val="0"/>
              </a:spcAft>
              <a:buSzPts val="1330"/>
              <a:buChar char="●"/>
            </a:pPr>
            <a:r>
              <a:rPr lang="en" sz="1330"/>
              <a:t>Once established, the socket can be used to send or receive data to/from the other computer using the </a:t>
            </a:r>
            <a:r>
              <a:rPr lang="en" sz="1330">
                <a:latin typeface="Courier New"/>
                <a:ea typeface="Courier New"/>
                <a:cs typeface="Courier New"/>
                <a:sym typeface="Courier New"/>
              </a:rPr>
              <a:t>getOutputStream()</a:t>
            </a:r>
            <a:r>
              <a:rPr lang="en" sz="1330"/>
              <a:t> and </a:t>
            </a:r>
            <a:r>
              <a:rPr lang="en" sz="1330">
                <a:latin typeface="Courier New"/>
                <a:ea typeface="Courier New"/>
                <a:cs typeface="Courier New"/>
                <a:sym typeface="Courier New"/>
              </a:rPr>
              <a:t>getInputStream()</a:t>
            </a:r>
            <a:r>
              <a:rPr lang="en" sz="1330"/>
              <a:t> methods on the socket.</a:t>
            </a:r>
            <a:endParaRPr sz="735"/>
          </a:p>
        </p:txBody>
      </p:sp>
      <p:sp>
        <p:nvSpPr>
          <p:cNvPr id="664" name="Google Shape;664;p63"/>
          <p:cNvSpPr txBox="1"/>
          <p:nvPr/>
        </p:nvSpPr>
        <p:spPr>
          <a:xfrm>
            <a:off x="5187800" y="2222826"/>
            <a:ext cx="3706500" cy="73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Trying to connect to a </a:t>
            </a:r>
            <a:r>
              <a:rPr lang="en" sz="1300" b="1" i="1">
                <a:solidFill>
                  <a:srgbClr val="FF0000"/>
                </a:solidFill>
                <a:latin typeface="Arial"/>
                <a:ea typeface="Arial"/>
                <a:cs typeface="Arial"/>
                <a:sym typeface="Arial"/>
              </a:rPr>
              <a:t>port</a:t>
            </a:r>
            <a:r>
              <a:rPr lang="en" sz="1300" b="1" i="1">
                <a:solidFill>
                  <a:srgbClr val="FF0000"/>
                </a:solidFill>
              </a:rPr>
              <a:t> </a:t>
            </a:r>
            <a:r>
              <a:rPr lang="en" sz="1300">
                <a:solidFill>
                  <a:schemeClr val="dk1"/>
                </a:solidFill>
                <a:latin typeface="Arial"/>
                <a:ea typeface="Arial"/>
                <a:cs typeface="Arial"/>
                <a:sym typeface="Arial"/>
              </a:rPr>
              <a:t>that is not being used to listen for connections will cause an error.</a:t>
            </a:r>
            <a:endParaRPr sz="1300">
              <a:solidFill>
                <a:schemeClr val="dk1"/>
              </a:solidFill>
              <a:latin typeface="Arial"/>
              <a:ea typeface="Arial"/>
              <a:cs typeface="Arial"/>
              <a:sym typeface="Arial"/>
            </a:endParaRPr>
          </a:p>
        </p:txBody>
      </p:sp>
      <p:sp>
        <p:nvSpPr>
          <p:cNvPr id="665" name="Google Shape;665;p63"/>
          <p:cNvSpPr txBox="1"/>
          <p:nvPr/>
        </p:nvSpPr>
        <p:spPr>
          <a:xfrm>
            <a:off x="5187800" y="1312700"/>
            <a:ext cx="3706500" cy="73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A socket connection can only be established to a </a:t>
            </a:r>
            <a:r>
              <a:rPr lang="en" sz="1300" b="1" i="1">
                <a:solidFill>
                  <a:srgbClr val="FF0000"/>
                </a:solidFill>
                <a:latin typeface="Arial"/>
                <a:ea typeface="Arial"/>
                <a:cs typeface="Arial"/>
                <a:sym typeface="Arial"/>
              </a:rPr>
              <a:t>port</a:t>
            </a:r>
            <a:r>
              <a:rPr lang="en" sz="1300" b="1" i="1">
                <a:solidFill>
                  <a:srgbClr val="FF0000"/>
                </a:solidFill>
              </a:rPr>
              <a:t> </a:t>
            </a:r>
            <a:r>
              <a:rPr lang="en" sz="1300">
                <a:solidFill>
                  <a:schemeClr val="dk1"/>
                </a:solidFill>
                <a:latin typeface="Arial"/>
                <a:ea typeface="Arial"/>
                <a:cs typeface="Arial"/>
                <a:sym typeface="Arial"/>
              </a:rPr>
              <a:t>on which the other computer is actively listening for connections.</a:t>
            </a:r>
            <a:endParaRPr sz="1300">
              <a:solidFill>
                <a:schemeClr val="dk1"/>
              </a:solidFill>
              <a:latin typeface="Arial"/>
              <a:ea typeface="Arial"/>
              <a:cs typeface="Arial"/>
              <a:sym typeface="Arial"/>
            </a:endParaRPr>
          </a:p>
        </p:txBody>
      </p:sp>
      <p:sp>
        <p:nvSpPr>
          <p:cNvPr id="666" name="Google Shape;666;p63"/>
          <p:cNvSpPr txBox="1"/>
          <p:nvPr/>
        </p:nvSpPr>
        <p:spPr>
          <a:xfrm>
            <a:off x="5189250" y="4043075"/>
            <a:ext cx="3706500" cy="73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The good news is that all of the exceptions extend </a:t>
            </a:r>
            <a:r>
              <a:rPr lang="en" sz="1300" b="1" i="1">
                <a:solidFill>
                  <a:srgbClr val="FF0000"/>
                </a:solidFill>
                <a:latin typeface="Arial"/>
                <a:ea typeface="Arial"/>
                <a:cs typeface="Arial"/>
                <a:sym typeface="Arial"/>
              </a:rPr>
              <a:t>IOException</a:t>
            </a:r>
            <a:r>
              <a:rPr lang="en" sz="1300">
                <a:solidFill>
                  <a:schemeClr val="dk1"/>
                </a:solidFill>
                <a:latin typeface="Arial"/>
                <a:ea typeface="Arial"/>
                <a:cs typeface="Arial"/>
                <a:sym typeface="Arial"/>
              </a:rPr>
              <a:t>, and so that is the only one that you really need to handle.</a:t>
            </a:r>
            <a:endParaRPr sz="1300">
              <a:solidFill>
                <a:schemeClr val="dk1"/>
              </a:solidFill>
              <a:latin typeface="Arial"/>
              <a:ea typeface="Arial"/>
              <a:cs typeface="Arial"/>
              <a:sym typeface="Arial"/>
            </a:endParaRPr>
          </a:p>
        </p:txBody>
      </p:sp>
      <p:sp>
        <p:nvSpPr>
          <p:cNvPr id="667" name="Google Shape;667;p6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668" name="Google Shape;668;p63"/>
          <p:cNvSpPr txBox="1"/>
          <p:nvPr/>
        </p:nvSpPr>
        <p:spPr>
          <a:xfrm>
            <a:off x="5189250" y="3132951"/>
            <a:ext cx="3706500" cy="739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In fact, pretty much everything you do with a socket might throw a </a:t>
            </a:r>
            <a:r>
              <a:rPr lang="en" sz="1300" b="1" i="1">
                <a:solidFill>
                  <a:srgbClr val="FF0000"/>
                </a:solidFill>
                <a:latin typeface="Arial"/>
                <a:ea typeface="Arial"/>
                <a:cs typeface="Arial"/>
                <a:sym typeface="Arial"/>
              </a:rPr>
              <a:t>checked</a:t>
            </a:r>
            <a:r>
              <a:rPr lang="en" sz="1300" b="1" i="1">
                <a:solidFill>
                  <a:srgbClr val="FF0000"/>
                </a:solidFill>
              </a:rPr>
              <a:t> </a:t>
            </a:r>
            <a:r>
              <a:rPr lang="en" sz="1300">
                <a:solidFill>
                  <a:schemeClr val="dk1"/>
                </a:solidFill>
                <a:latin typeface="Arial"/>
                <a:ea typeface="Arial"/>
                <a:cs typeface="Arial"/>
                <a:sym typeface="Arial"/>
              </a:rPr>
              <a:t>exception.</a:t>
            </a:r>
            <a:endParaRPr sz="13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5"/>
                                        </p:tgtEl>
                                        <p:attrNameLst>
                                          <p:attrName>style.visibility</p:attrName>
                                        </p:attrNameLst>
                                      </p:cBhvr>
                                      <p:to>
                                        <p:strVal val="visible"/>
                                      </p:to>
                                    </p:set>
                                    <p:animEffect transition="in" filter="fade">
                                      <p:cBhvr>
                                        <p:cTn id="7" dur="1000"/>
                                        <p:tgtEl>
                                          <p:spTgt spid="6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4"/>
                                        </p:tgtEl>
                                        <p:attrNameLst>
                                          <p:attrName>style.visibility</p:attrName>
                                        </p:attrNameLst>
                                      </p:cBhvr>
                                      <p:to>
                                        <p:strVal val="visible"/>
                                      </p:to>
                                    </p:set>
                                    <p:animEffect transition="in" filter="fade">
                                      <p:cBhvr>
                                        <p:cTn id="12" dur="1000"/>
                                        <p:tgtEl>
                                          <p:spTgt spid="6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68"/>
                                        </p:tgtEl>
                                        <p:attrNameLst>
                                          <p:attrName>style.visibility</p:attrName>
                                        </p:attrNameLst>
                                      </p:cBhvr>
                                      <p:to>
                                        <p:strVal val="visible"/>
                                      </p:to>
                                    </p:set>
                                    <p:animEffect transition="in" filter="fade">
                                      <p:cBhvr>
                                        <p:cTn id="17" dur="1000"/>
                                        <p:tgtEl>
                                          <p:spTgt spid="6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66"/>
                                        </p:tgtEl>
                                        <p:attrNameLst>
                                          <p:attrName>style.visibility</p:attrName>
                                        </p:attrNameLst>
                                      </p:cBhvr>
                                      <p:to>
                                        <p:strVal val="visible"/>
                                      </p:to>
                                    </p:set>
                                    <p:animEffect transition="in" filter="fade">
                                      <p:cBhvr>
                                        <p:cTn id="22" dur="1000"/>
                                        <p:tgtEl>
                                          <p:spTgt spid="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64"/>
          <p:cNvSpPr txBox="1"/>
          <p:nvPr/>
        </p:nvSpPr>
        <p:spPr>
          <a:xfrm>
            <a:off x="311725" y="1520025"/>
            <a:ext cx="3706500" cy="7557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dirty="0">
                <a:solidFill>
                  <a:schemeClr val="dk1"/>
                </a:solidFill>
                <a:highlight>
                  <a:srgbClr val="FFFF00"/>
                </a:highlight>
                <a:sym typeface="Arial"/>
              </a:rPr>
              <a:t>In networking, the </a:t>
            </a:r>
            <a:r>
              <a:rPr lang="en" sz="1300" b="1" i="1" dirty="0">
                <a:solidFill>
                  <a:srgbClr val="FF0000"/>
                </a:solidFill>
                <a:highlight>
                  <a:srgbClr val="FFFF00"/>
                </a:highlight>
                <a:sym typeface="Arial"/>
              </a:rPr>
              <a:t>server</a:t>
            </a:r>
            <a:r>
              <a:rPr lang="en" sz="1300" dirty="0">
                <a:solidFill>
                  <a:srgbClr val="FF0000"/>
                </a:solidFill>
                <a:highlight>
                  <a:srgbClr val="FFFF00"/>
                </a:highlight>
                <a:sym typeface="Arial"/>
              </a:rPr>
              <a:t> </a:t>
            </a:r>
            <a:r>
              <a:rPr lang="en" sz="1300" dirty="0">
                <a:solidFill>
                  <a:schemeClr val="dk1"/>
                </a:solidFill>
                <a:highlight>
                  <a:srgbClr val="FFFF00"/>
                </a:highlight>
                <a:sym typeface="Arial"/>
              </a:rPr>
              <a:t>is the host listening for incoming connections and the </a:t>
            </a:r>
            <a:r>
              <a:rPr lang="en" sz="1300" b="1" i="1" dirty="0">
                <a:solidFill>
                  <a:srgbClr val="FF0000"/>
                </a:solidFill>
                <a:highlight>
                  <a:srgbClr val="FFFF00"/>
                </a:highlight>
                <a:sym typeface="Arial"/>
              </a:rPr>
              <a:t>client</a:t>
            </a:r>
            <a:r>
              <a:rPr lang="en" sz="1300" i="1" dirty="0">
                <a:solidFill>
                  <a:srgbClr val="FF0000"/>
                </a:solidFill>
                <a:highlight>
                  <a:srgbClr val="FFFF00"/>
                </a:highlight>
                <a:sym typeface="Arial"/>
              </a:rPr>
              <a:t> </a:t>
            </a:r>
            <a:r>
              <a:rPr lang="en" sz="1300" dirty="0">
                <a:solidFill>
                  <a:schemeClr val="dk1"/>
                </a:solidFill>
                <a:highlight>
                  <a:srgbClr val="FFFF00"/>
                </a:highlight>
              </a:rPr>
              <a:t>establishes</a:t>
            </a:r>
            <a:r>
              <a:rPr lang="en" sz="1300" dirty="0">
                <a:solidFill>
                  <a:schemeClr val="dk1"/>
                </a:solidFill>
                <a:highlight>
                  <a:srgbClr val="FFFF00"/>
                </a:highlight>
                <a:sym typeface="Arial"/>
              </a:rPr>
              <a:t> the connection.</a:t>
            </a:r>
            <a:endParaRPr sz="1300" dirty="0">
              <a:solidFill>
                <a:schemeClr val="dk1"/>
              </a:solidFill>
              <a:highlight>
                <a:srgbClr val="FFFF00"/>
              </a:highlight>
              <a:sym typeface="Arial"/>
            </a:endParaRPr>
          </a:p>
        </p:txBody>
      </p:sp>
      <p:sp>
        <p:nvSpPr>
          <p:cNvPr id="674" name="Google Shape;674;p64"/>
          <p:cNvSpPr txBox="1"/>
          <p:nvPr/>
        </p:nvSpPr>
        <p:spPr>
          <a:xfrm>
            <a:off x="311725" y="2414050"/>
            <a:ext cx="3706500" cy="7557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It is usually the case that the </a:t>
            </a:r>
            <a:r>
              <a:rPr lang="en" sz="1300" b="1" i="1">
                <a:solidFill>
                  <a:srgbClr val="FF0000"/>
                </a:solidFill>
                <a:latin typeface="Arial"/>
                <a:ea typeface="Arial"/>
                <a:cs typeface="Arial"/>
                <a:sym typeface="Arial"/>
              </a:rPr>
              <a:t>server</a:t>
            </a:r>
            <a:r>
              <a:rPr lang="en" sz="1300" i="1">
                <a:solidFill>
                  <a:srgbClr val="FF0000"/>
                </a:solidFill>
                <a:latin typeface="Arial"/>
                <a:ea typeface="Arial"/>
                <a:cs typeface="Arial"/>
                <a:sym typeface="Arial"/>
              </a:rPr>
              <a:t> </a:t>
            </a:r>
            <a:r>
              <a:rPr lang="en" sz="1300">
                <a:solidFill>
                  <a:schemeClr val="dk1"/>
                </a:solidFill>
                <a:latin typeface="Arial"/>
                <a:ea typeface="Arial"/>
                <a:cs typeface="Arial"/>
                <a:sym typeface="Arial"/>
              </a:rPr>
              <a:t>is providing some useful service that the </a:t>
            </a:r>
            <a:r>
              <a:rPr lang="en" sz="1300" b="1" i="1">
                <a:solidFill>
                  <a:srgbClr val="FF0000"/>
                </a:solidFill>
                <a:latin typeface="Arial"/>
                <a:ea typeface="Arial"/>
                <a:cs typeface="Arial"/>
                <a:sym typeface="Arial"/>
              </a:rPr>
              <a:t>client</a:t>
            </a:r>
            <a:r>
              <a:rPr lang="en" sz="1300" i="1">
                <a:solidFill>
                  <a:srgbClr val="FF0000"/>
                </a:solidFill>
                <a:latin typeface="Arial"/>
                <a:ea typeface="Arial"/>
                <a:cs typeface="Arial"/>
                <a:sym typeface="Arial"/>
              </a:rPr>
              <a:t> </a:t>
            </a:r>
            <a:r>
              <a:rPr lang="en" sz="1300">
                <a:solidFill>
                  <a:schemeClr val="dk1"/>
                </a:solidFill>
                <a:latin typeface="Arial"/>
                <a:ea typeface="Arial"/>
                <a:cs typeface="Arial"/>
                <a:sym typeface="Arial"/>
              </a:rPr>
              <a:t>would like to use.</a:t>
            </a:r>
            <a:endParaRPr sz="1300">
              <a:solidFill>
                <a:schemeClr val="dk1"/>
              </a:solidFill>
              <a:latin typeface="Arial"/>
              <a:ea typeface="Arial"/>
              <a:cs typeface="Arial"/>
              <a:sym typeface="Arial"/>
            </a:endParaRPr>
          </a:p>
        </p:txBody>
      </p:sp>
      <p:sp>
        <p:nvSpPr>
          <p:cNvPr id="675" name="Google Shape;675;p64"/>
          <p:cNvSpPr txBox="1"/>
          <p:nvPr/>
        </p:nvSpPr>
        <p:spPr>
          <a:xfrm>
            <a:off x="311725" y="3308075"/>
            <a:ext cx="3706500" cy="7557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dirty="0">
                <a:solidFill>
                  <a:schemeClr val="dk1"/>
                </a:solidFill>
                <a:latin typeface="Arial"/>
                <a:ea typeface="Arial"/>
                <a:cs typeface="Arial"/>
                <a:sym typeface="Arial"/>
              </a:rPr>
              <a:t>In Java, once a connection is established, both ends of the connection are represented as Java Sockets.</a:t>
            </a:r>
            <a:endParaRPr sz="1300" dirty="0">
              <a:solidFill>
                <a:schemeClr val="dk1"/>
              </a:solidFill>
              <a:latin typeface="Arial"/>
              <a:ea typeface="Arial"/>
              <a:cs typeface="Arial"/>
              <a:sym typeface="Arial"/>
            </a:endParaRPr>
          </a:p>
        </p:txBody>
      </p:sp>
      <p:sp>
        <p:nvSpPr>
          <p:cNvPr id="676" name="Google Shape;676;p64"/>
          <p:cNvSpPr txBox="1"/>
          <p:nvPr/>
        </p:nvSpPr>
        <p:spPr>
          <a:xfrm>
            <a:off x="311725" y="4202100"/>
            <a:ext cx="3706500" cy="7557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dirty="0">
                <a:solidFill>
                  <a:schemeClr val="dk1"/>
                </a:solidFill>
                <a:latin typeface="Arial"/>
                <a:ea typeface="Arial"/>
                <a:cs typeface="Arial"/>
                <a:sym typeface="Arial"/>
              </a:rPr>
              <a:t>This means that both the client</a:t>
            </a:r>
            <a:r>
              <a:rPr lang="en" sz="1300" b="1" dirty="0">
                <a:solidFill>
                  <a:schemeClr val="dk1"/>
                </a:solidFill>
                <a:latin typeface="Arial"/>
                <a:ea typeface="Arial"/>
                <a:cs typeface="Arial"/>
                <a:sym typeface="Arial"/>
              </a:rPr>
              <a:t> </a:t>
            </a:r>
            <a:r>
              <a:rPr lang="en" sz="1300" dirty="0">
                <a:solidFill>
                  <a:schemeClr val="dk1"/>
                </a:solidFill>
                <a:latin typeface="Arial"/>
                <a:ea typeface="Arial"/>
                <a:cs typeface="Arial"/>
                <a:sym typeface="Arial"/>
              </a:rPr>
              <a:t>and server send and receive data in the same way.</a:t>
            </a:r>
            <a:endParaRPr sz="1300" dirty="0">
              <a:solidFill>
                <a:schemeClr val="dk1"/>
              </a:solidFill>
              <a:latin typeface="Arial"/>
              <a:ea typeface="Arial"/>
              <a:cs typeface="Arial"/>
              <a:sym typeface="Arial"/>
            </a:endParaRPr>
          </a:p>
        </p:txBody>
      </p:sp>
      <p:sp>
        <p:nvSpPr>
          <p:cNvPr id="677" name="Google Shape;677;p64"/>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dirty="0"/>
              <a:t>Listening for Connections</a:t>
            </a:r>
            <a:endParaRPr dirty="0"/>
          </a:p>
        </p:txBody>
      </p:sp>
      <p:sp>
        <p:nvSpPr>
          <p:cNvPr id="678" name="Google Shape;678;p64"/>
          <p:cNvSpPr txBox="1">
            <a:spLocks noGrp="1"/>
          </p:cNvSpPr>
          <p:nvPr>
            <p:ph type="body" idx="1"/>
          </p:nvPr>
        </p:nvSpPr>
        <p:spPr>
          <a:xfrm>
            <a:off x="4644675" y="500925"/>
            <a:ext cx="4166400" cy="4432200"/>
          </a:xfrm>
          <a:prstGeom prst="rect">
            <a:avLst/>
          </a:prstGeom>
          <a:noFill/>
          <a:ln>
            <a:noFill/>
          </a:ln>
        </p:spPr>
        <p:txBody>
          <a:bodyPr spcFirstLastPara="1" wrap="square" lIns="68575" tIns="34275" rIns="68575" bIns="34275" anchor="t" anchorCtr="0">
            <a:normAutofit/>
          </a:bodyPr>
          <a:lstStyle/>
          <a:p>
            <a:pPr marL="457200" lvl="0" indent="-311150" algn="l" rtl="0">
              <a:lnSpc>
                <a:spcPct val="115000"/>
              </a:lnSpc>
              <a:spcBef>
                <a:spcPts val="0"/>
              </a:spcBef>
              <a:spcAft>
                <a:spcPts val="0"/>
              </a:spcAft>
              <a:buSzPts val="1300"/>
              <a:buChar char="●"/>
            </a:pPr>
            <a:r>
              <a:rPr lang="en" dirty="0"/>
              <a:t>Before a client can connect to a server, the server must begin </a:t>
            </a:r>
            <a:r>
              <a:rPr lang="en" b="1" i="1" dirty="0">
                <a:solidFill>
                  <a:srgbClr val="FF0000"/>
                </a:solidFill>
              </a:rPr>
              <a:t>listening</a:t>
            </a:r>
            <a:r>
              <a:rPr lang="en" dirty="0"/>
              <a:t> for incoming connections on an available port</a:t>
            </a:r>
            <a:endParaRPr dirty="0"/>
          </a:p>
          <a:p>
            <a:pPr marL="914400" lvl="1" indent="-304800" algn="l" rtl="0">
              <a:lnSpc>
                <a:spcPct val="115000"/>
              </a:lnSpc>
              <a:spcBef>
                <a:spcPts val="0"/>
              </a:spcBef>
              <a:spcAft>
                <a:spcPts val="0"/>
              </a:spcAft>
              <a:buSzPts val="1200"/>
              <a:buChar char="○"/>
            </a:pPr>
            <a:r>
              <a:rPr lang="en" sz="1200" dirty="0"/>
              <a:t>The </a:t>
            </a:r>
            <a:r>
              <a:rPr lang="en" sz="1200" b="1" i="1" dirty="0">
                <a:solidFill>
                  <a:srgbClr val="FF0000"/>
                </a:solidFill>
              </a:rPr>
              <a:t>port</a:t>
            </a:r>
            <a:r>
              <a:rPr lang="en" sz="1200" dirty="0"/>
              <a:t> is a positive number between 1 and 65,535</a:t>
            </a:r>
            <a:endParaRPr sz="1200" dirty="0"/>
          </a:p>
          <a:p>
            <a:pPr marL="914400" lvl="1" indent="-304800" algn="l" rtl="0">
              <a:lnSpc>
                <a:spcPct val="115000"/>
              </a:lnSpc>
              <a:spcBef>
                <a:spcPts val="0"/>
              </a:spcBef>
              <a:spcAft>
                <a:spcPts val="0"/>
              </a:spcAft>
              <a:buSzPts val="1200"/>
              <a:buChar char="○"/>
            </a:pPr>
            <a:r>
              <a:rPr lang="en" sz="1200" dirty="0"/>
              <a:t>Many ports are in use by the operating system or are </a:t>
            </a:r>
            <a:r>
              <a:rPr lang="en" sz="1200" b="1" i="1" dirty="0">
                <a:solidFill>
                  <a:srgbClr val="FF0000"/>
                </a:solidFill>
              </a:rPr>
              <a:t>reserved</a:t>
            </a:r>
            <a:r>
              <a:rPr lang="en" sz="1200" dirty="0"/>
              <a:t> (most of the ports below 1500)</a:t>
            </a:r>
            <a:endParaRPr sz="1200" dirty="0"/>
          </a:p>
          <a:p>
            <a:pPr marL="457200" lvl="0" indent="-311150" algn="l" rtl="0">
              <a:lnSpc>
                <a:spcPct val="115000"/>
              </a:lnSpc>
              <a:spcBef>
                <a:spcPts val="1000"/>
              </a:spcBef>
              <a:spcAft>
                <a:spcPts val="0"/>
              </a:spcAft>
              <a:buSzPts val="1300"/>
              <a:buChar char="●"/>
            </a:pPr>
            <a:r>
              <a:rPr lang="en" dirty="0"/>
              <a:t>The </a:t>
            </a:r>
            <a:r>
              <a:rPr lang="en" dirty="0">
                <a:highlight>
                  <a:srgbClr val="FFFF00"/>
                </a:highlight>
                <a:latin typeface="Courier New"/>
                <a:ea typeface="Courier New"/>
                <a:cs typeface="Courier New"/>
                <a:sym typeface="Courier New"/>
              </a:rPr>
              <a:t>java.net.ServerSocket</a:t>
            </a:r>
            <a:r>
              <a:rPr lang="en" dirty="0">
                <a:highlight>
                  <a:srgbClr val="FFFF00"/>
                </a:highlight>
              </a:rPr>
              <a:t> </a:t>
            </a:r>
            <a:r>
              <a:rPr lang="en" dirty="0"/>
              <a:t>class can be used to </a:t>
            </a:r>
            <a:r>
              <a:rPr lang="en" b="1" i="1" dirty="0">
                <a:solidFill>
                  <a:srgbClr val="FF0000"/>
                </a:solidFill>
              </a:rPr>
              <a:t>listen</a:t>
            </a:r>
            <a:r>
              <a:rPr lang="en" dirty="0"/>
              <a:t> for TCP/IP connections on a specified port</a:t>
            </a:r>
            <a:endParaRPr dirty="0"/>
          </a:p>
          <a:p>
            <a:pPr marL="0" lvl="0" indent="0" algn="l" rtl="0">
              <a:lnSpc>
                <a:spcPct val="115000"/>
              </a:lnSpc>
              <a:spcBef>
                <a:spcPts val="600"/>
              </a:spcBef>
              <a:spcAft>
                <a:spcPts val="0"/>
              </a:spcAft>
              <a:buNone/>
            </a:pPr>
            <a:r>
              <a:rPr lang="en" dirty="0">
                <a:highlight>
                  <a:srgbClr val="FFFF00"/>
                </a:highlight>
                <a:latin typeface="Courier New"/>
                <a:ea typeface="Courier New"/>
                <a:cs typeface="Courier New"/>
                <a:sym typeface="Courier New"/>
              </a:rPr>
              <a:t>      ServerSocket s = </a:t>
            </a:r>
            <a:endParaRPr dirty="0">
              <a:highlight>
                <a:srgbClr val="FFFF00"/>
              </a:highlight>
              <a:latin typeface="Courier New"/>
              <a:ea typeface="Courier New"/>
              <a:cs typeface="Courier New"/>
              <a:sym typeface="Courier New"/>
            </a:endParaRPr>
          </a:p>
          <a:p>
            <a:pPr marL="0" lvl="0" indent="0" algn="l" rtl="0">
              <a:lnSpc>
                <a:spcPct val="115000"/>
              </a:lnSpc>
              <a:spcBef>
                <a:spcPts val="0"/>
              </a:spcBef>
              <a:spcAft>
                <a:spcPts val="0"/>
              </a:spcAft>
              <a:buNone/>
            </a:pPr>
            <a:r>
              <a:rPr lang="en" dirty="0">
                <a:highlight>
                  <a:srgbClr val="FFFF00"/>
                </a:highlight>
                <a:latin typeface="Courier New"/>
                <a:ea typeface="Courier New"/>
                <a:cs typeface="Courier New"/>
                <a:sym typeface="Courier New"/>
              </a:rPr>
              <a:t>          new ServerSocket(12345);</a:t>
            </a:r>
            <a:endParaRPr dirty="0">
              <a:highlight>
                <a:srgbClr val="FFFF00"/>
              </a:highlight>
              <a:latin typeface="Courier New"/>
              <a:ea typeface="Courier New"/>
              <a:cs typeface="Courier New"/>
              <a:sym typeface="Courier New"/>
            </a:endParaRPr>
          </a:p>
          <a:p>
            <a:pPr marL="457200" lvl="0" indent="-311150" algn="l" rtl="0">
              <a:lnSpc>
                <a:spcPct val="115000"/>
              </a:lnSpc>
              <a:spcBef>
                <a:spcPts val="600"/>
              </a:spcBef>
              <a:spcAft>
                <a:spcPts val="0"/>
              </a:spcAft>
              <a:buSzPts val="1300"/>
              <a:buChar char="●"/>
            </a:pPr>
            <a:r>
              <a:rPr lang="en" dirty="0"/>
              <a:t>The </a:t>
            </a:r>
            <a:r>
              <a:rPr lang="en" dirty="0">
                <a:latin typeface="Courier New"/>
                <a:ea typeface="Courier New"/>
                <a:cs typeface="Courier New"/>
                <a:sym typeface="Courier New"/>
              </a:rPr>
              <a:t>accept()</a:t>
            </a:r>
            <a:r>
              <a:rPr lang="en" dirty="0"/>
              <a:t> method will </a:t>
            </a:r>
            <a:r>
              <a:rPr lang="en" b="1" i="1" dirty="0">
                <a:solidFill>
                  <a:srgbClr val="FF0000"/>
                </a:solidFill>
              </a:rPr>
              <a:t>block</a:t>
            </a:r>
            <a:r>
              <a:rPr lang="en" dirty="0"/>
              <a:t> until a client establishes a connection</a:t>
            </a:r>
            <a:endParaRPr dirty="0"/>
          </a:p>
          <a:p>
            <a:pPr marL="914400" lvl="1" indent="-304800" algn="l" rtl="0">
              <a:lnSpc>
                <a:spcPct val="115000"/>
              </a:lnSpc>
              <a:spcBef>
                <a:spcPts val="0"/>
              </a:spcBef>
              <a:spcAft>
                <a:spcPts val="0"/>
              </a:spcAft>
              <a:buSzPts val="1200"/>
              <a:buChar char="○"/>
            </a:pPr>
            <a:r>
              <a:rPr lang="en" sz="1200" dirty="0"/>
              <a:t>It returns a </a:t>
            </a:r>
            <a:r>
              <a:rPr lang="en" sz="1200" dirty="0">
                <a:latin typeface="Courier New"/>
                <a:ea typeface="Courier New"/>
                <a:cs typeface="Courier New"/>
                <a:sym typeface="Courier New"/>
              </a:rPr>
              <a:t>Socket</a:t>
            </a:r>
            <a:r>
              <a:rPr lang="en" sz="1200" dirty="0"/>
              <a:t> that can be used to communicate with the </a:t>
            </a:r>
            <a:r>
              <a:rPr lang="en" sz="1200" b="1" i="1" dirty="0">
                <a:solidFill>
                  <a:srgbClr val="FF0000"/>
                </a:solidFill>
              </a:rPr>
              <a:t>client</a:t>
            </a:r>
            <a:r>
              <a:rPr lang="en" sz="1200" dirty="0"/>
              <a:t>, i.e. by using the </a:t>
            </a:r>
            <a:r>
              <a:rPr lang="en" sz="1200" dirty="0">
                <a:latin typeface="Courier New"/>
                <a:ea typeface="Courier New"/>
                <a:cs typeface="Courier New"/>
                <a:sym typeface="Courier New"/>
              </a:rPr>
              <a:t>Socket</a:t>
            </a:r>
            <a:r>
              <a:rPr lang="en" sz="1200" dirty="0"/>
              <a:t>’s input and output streams.</a:t>
            </a:r>
            <a:endParaRPr sz="1200" dirty="0"/>
          </a:p>
        </p:txBody>
      </p:sp>
      <p:sp>
        <p:nvSpPr>
          <p:cNvPr id="679" name="Google Shape;679;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3"/>
                                        </p:tgtEl>
                                        <p:attrNameLst>
                                          <p:attrName>style.visibility</p:attrName>
                                        </p:attrNameLst>
                                      </p:cBhvr>
                                      <p:to>
                                        <p:strVal val="visible"/>
                                      </p:to>
                                    </p:set>
                                    <p:animEffect transition="in" filter="fade">
                                      <p:cBhvr>
                                        <p:cTn id="7" dur="1000"/>
                                        <p:tgtEl>
                                          <p:spTgt spid="6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4"/>
                                        </p:tgtEl>
                                        <p:attrNameLst>
                                          <p:attrName>style.visibility</p:attrName>
                                        </p:attrNameLst>
                                      </p:cBhvr>
                                      <p:to>
                                        <p:strVal val="visible"/>
                                      </p:to>
                                    </p:set>
                                    <p:animEffect transition="in" filter="fade">
                                      <p:cBhvr>
                                        <p:cTn id="12" dur="1000"/>
                                        <p:tgtEl>
                                          <p:spTgt spid="67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75"/>
                                        </p:tgtEl>
                                        <p:attrNameLst>
                                          <p:attrName>style.visibility</p:attrName>
                                        </p:attrNameLst>
                                      </p:cBhvr>
                                      <p:to>
                                        <p:strVal val="visible"/>
                                      </p:to>
                                    </p:set>
                                    <p:animEffect transition="in" filter="fade">
                                      <p:cBhvr>
                                        <p:cTn id="17" dur="1000"/>
                                        <p:tgtEl>
                                          <p:spTgt spid="67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76"/>
                                        </p:tgtEl>
                                        <p:attrNameLst>
                                          <p:attrName>style.visibility</p:attrName>
                                        </p:attrNameLst>
                                      </p:cBhvr>
                                      <p:to>
                                        <p:strVal val="visible"/>
                                      </p:to>
                                    </p:set>
                                    <p:animEffect transition="in" filter="fade">
                                      <p:cBhvr>
                                        <p:cTn id="22" dur="1000"/>
                                        <p:tgtEl>
                                          <p:spTgt spid="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65"/>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Listening for Connections </a:t>
            </a:r>
            <a:endParaRPr sz="3400"/>
          </a:p>
        </p:txBody>
      </p:sp>
      <p:sp>
        <p:nvSpPr>
          <p:cNvPr id="685" name="Google Shape;685;p65"/>
          <p:cNvSpPr txBox="1">
            <a:spLocks noGrp="1"/>
          </p:cNvSpPr>
          <p:nvPr>
            <p:ph type="body" idx="1"/>
          </p:nvPr>
        </p:nvSpPr>
        <p:spPr>
          <a:xfrm>
            <a:off x="65250" y="731625"/>
            <a:ext cx="89559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Clr>
                <a:srgbClr val="000000"/>
              </a:buClr>
              <a:buSzPts val="1800"/>
              <a:buNone/>
            </a:pPr>
            <a:r>
              <a:rPr lang="en"/>
              <a:t>A computer must be listening for incoming connections on a specific port before another process on the same or a different computer can connect to it. The mechanism for doing this in Java is the </a:t>
            </a:r>
            <a:r>
              <a:rPr lang="en">
                <a:latin typeface="Courier New"/>
                <a:ea typeface="Courier New"/>
                <a:cs typeface="Courier New"/>
                <a:sym typeface="Courier New"/>
              </a:rPr>
              <a:t>ServerSocket</a:t>
            </a:r>
            <a:r>
              <a:rPr lang="en"/>
              <a:t>. Write the code to listen for incoming connections on port </a:t>
            </a:r>
            <a:r>
              <a:rPr lang="en">
                <a:latin typeface="Courier New"/>
                <a:ea typeface="Courier New"/>
                <a:cs typeface="Courier New"/>
                <a:sym typeface="Courier New"/>
              </a:rPr>
              <a:t>22</a:t>
            </a:r>
            <a:r>
              <a:rPr lang="en"/>
              <a:t>.</a:t>
            </a:r>
            <a:endParaRPr sz="1500"/>
          </a:p>
        </p:txBody>
      </p:sp>
      <p:sp>
        <p:nvSpPr>
          <p:cNvPr id="686" name="Google Shape;686;p65"/>
          <p:cNvSpPr txBox="1"/>
          <p:nvPr/>
        </p:nvSpPr>
        <p:spPr>
          <a:xfrm>
            <a:off x="148700" y="1823650"/>
            <a:ext cx="2550900" cy="5685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spcBef>
                <a:spcPts val="0"/>
              </a:spcBef>
              <a:spcAft>
                <a:spcPts val="0"/>
              </a:spcAft>
              <a:buNone/>
            </a:pPr>
            <a:r>
              <a:rPr lang="en" sz="1200">
                <a:solidFill>
                  <a:schemeClr val="dk1"/>
                </a:solidFill>
                <a:latin typeface="Arial"/>
                <a:ea typeface="Arial"/>
                <a:cs typeface="Arial"/>
                <a:sym typeface="Arial"/>
              </a:rPr>
              <a:t>What will happen if the specified port is already in use?</a:t>
            </a:r>
            <a:endParaRPr sz="1200">
              <a:solidFill>
                <a:schemeClr val="dk1"/>
              </a:solidFill>
              <a:latin typeface="Arial"/>
              <a:ea typeface="Arial"/>
              <a:cs typeface="Arial"/>
              <a:sym typeface="Arial"/>
            </a:endParaRPr>
          </a:p>
        </p:txBody>
      </p:sp>
      <p:sp>
        <p:nvSpPr>
          <p:cNvPr id="687" name="Google Shape;687;p65"/>
          <p:cNvSpPr txBox="1">
            <a:spLocks noGrp="1"/>
          </p:cNvSpPr>
          <p:nvPr>
            <p:ph type="body" idx="2"/>
          </p:nvPr>
        </p:nvSpPr>
        <p:spPr>
          <a:xfrm>
            <a:off x="2699525" y="1784525"/>
            <a:ext cx="6241500" cy="1596900"/>
          </a:xfrm>
          <a:prstGeom prst="rect">
            <a:avLst/>
          </a:prstGeom>
          <a:noFill/>
          <a:ln>
            <a:noFill/>
          </a:ln>
        </p:spPr>
        <p:txBody>
          <a:bodyPr spcFirstLastPara="1" wrap="square" lIns="68575" tIns="34275" rIns="68575" bIns="34275" anchor="t" anchorCtr="0">
            <a:spAutoFit/>
          </a:bodyPr>
          <a:lstStyle/>
          <a:p>
            <a:pPr marL="457200" lvl="0" indent="-323850" algn="l" rtl="0">
              <a:lnSpc>
                <a:spcPct val="115000"/>
              </a:lnSpc>
              <a:spcBef>
                <a:spcPts val="0"/>
              </a:spcBef>
              <a:spcAft>
                <a:spcPts val="0"/>
              </a:spcAft>
              <a:buSzPts val="1500"/>
              <a:buChar char="●"/>
            </a:pPr>
            <a:r>
              <a:rPr lang="en" sz="1500" dirty="0"/>
              <a:t>In </a:t>
            </a:r>
            <a:r>
              <a:rPr lang="en" sz="1500" dirty="0">
                <a:latin typeface="Courier New"/>
                <a:ea typeface="Courier New"/>
                <a:cs typeface="Courier New"/>
                <a:sym typeface="Courier New"/>
              </a:rPr>
              <a:t>activities</a:t>
            </a:r>
            <a:r>
              <a:rPr lang="en" sz="1500" dirty="0"/>
              <a:t>, create a new class named "</a:t>
            </a:r>
            <a:r>
              <a:rPr lang="en" sz="1500" dirty="0">
                <a:solidFill>
                  <a:srgbClr val="FF0000"/>
                </a:solidFill>
                <a:latin typeface="Courier New"/>
                <a:ea typeface="Courier New"/>
                <a:cs typeface="Courier New"/>
                <a:sym typeface="Courier New"/>
              </a:rPr>
              <a:t>Listener</a:t>
            </a:r>
            <a:r>
              <a:rPr lang="en" sz="1500" dirty="0"/>
              <a:t>".</a:t>
            </a:r>
            <a:endParaRPr sz="1500" dirty="0"/>
          </a:p>
          <a:p>
            <a:pPr marL="457200" lvl="0" indent="-323850" algn="l" rtl="0">
              <a:lnSpc>
                <a:spcPct val="115000"/>
              </a:lnSpc>
              <a:spcBef>
                <a:spcPts val="0"/>
              </a:spcBef>
              <a:spcAft>
                <a:spcPts val="0"/>
              </a:spcAft>
              <a:buSzPts val="1500"/>
              <a:buChar char="●"/>
            </a:pPr>
            <a:r>
              <a:rPr lang="en" sz="1500" dirty="0"/>
              <a:t>Using a </a:t>
            </a:r>
            <a:r>
              <a:rPr lang="en" sz="1500" dirty="0">
                <a:solidFill>
                  <a:srgbClr val="FF0000"/>
                </a:solidFill>
                <a:latin typeface="Courier New"/>
                <a:ea typeface="Courier New"/>
                <a:cs typeface="Courier New"/>
                <a:sym typeface="Courier New"/>
              </a:rPr>
              <a:t>ServerSocket</a:t>
            </a:r>
            <a:r>
              <a:rPr lang="en" sz="1500" dirty="0"/>
              <a:t> listen for connections on port </a:t>
            </a:r>
            <a:r>
              <a:rPr lang="en" sz="1500" dirty="0">
                <a:latin typeface="Courier New"/>
                <a:ea typeface="Courier New"/>
                <a:cs typeface="Courier New"/>
                <a:sym typeface="Courier New"/>
              </a:rPr>
              <a:t>22</a:t>
            </a:r>
            <a:r>
              <a:rPr lang="en" sz="1500" dirty="0"/>
              <a:t>.</a:t>
            </a:r>
            <a:endParaRPr sz="1500" dirty="0"/>
          </a:p>
          <a:p>
            <a:pPr marL="457200" lvl="0" indent="-323850" algn="l" rtl="0">
              <a:lnSpc>
                <a:spcPct val="115000"/>
              </a:lnSpc>
              <a:spcBef>
                <a:spcPts val="0"/>
              </a:spcBef>
              <a:spcAft>
                <a:spcPts val="0"/>
              </a:spcAft>
              <a:buSzPts val="1500"/>
              <a:buChar char="●"/>
            </a:pPr>
            <a:r>
              <a:rPr lang="en" sz="1500" dirty="0"/>
              <a:t>When a connection is accepted, print the received message and close the connection.</a:t>
            </a:r>
            <a:endParaRPr sz="1500" dirty="0"/>
          </a:p>
          <a:p>
            <a:pPr marL="457200" lvl="0" indent="-323850" algn="l" rtl="0">
              <a:lnSpc>
                <a:spcPct val="115000"/>
              </a:lnSpc>
              <a:spcBef>
                <a:spcPts val="0"/>
              </a:spcBef>
              <a:spcAft>
                <a:spcPts val="0"/>
              </a:spcAft>
              <a:buSzPts val="1500"/>
              <a:buChar char="●"/>
            </a:pPr>
            <a:r>
              <a:rPr lang="en" sz="1500" dirty="0"/>
              <a:t>Run your code and use verify it waits for a connection.</a:t>
            </a:r>
            <a:endParaRPr sz="1500" dirty="0">
              <a:solidFill>
                <a:srgbClr val="FF0000"/>
              </a:solidFill>
              <a:latin typeface="Courier New"/>
              <a:ea typeface="Courier New"/>
              <a:cs typeface="Courier New"/>
              <a:sym typeface="Courier New"/>
            </a:endParaRPr>
          </a:p>
          <a:p>
            <a:pPr marL="914400" lvl="1" indent="-311150" algn="l" rtl="0">
              <a:lnSpc>
                <a:spcPct val="115000"/>
              </a:lnSpc>
              <a:spcBef>
                <a:spcPts val="0"/>
              </a:spcBef>
              <a:spcAft>
                <a:spcPts val="0"/>
              </a:spcAft>
              <a:buSzPts val="1300"/>
              <a:buChar char="○"/>
            </a:pPr>
            <a:r>
              <a:rPr lang="en" sz="1300" dirty="0"/>
              <a:t>You don't actually need to make a connection right now.</a:t>
            </a:r>
            <a:endParaRPr sz="1300" dirty="0"/>
          </a:p>
        </p:txBody>
      </p:sp>
      <p:sp>
        <p:nvSpPr>
          <p:cNvPr id="688" name="Google Shape;688;p6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689" name="Google Shape;689;p65"/>
          <p:cNvSpPr txBox="1"/>
          <p:nvPr/>
        </p:nvSpPr>
        <p:spPr>
          <a:xfrm>
            <a:off x="148700" y="2515575"/>
            <a:ext cx="2550900" cy="7497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spcBef>
                <a:spcPts val="0"/>
              </a:spcBef>
              <a:spcAft>
                <a:spcPts val="0"/>
              </a:spcAft>
              <a:buNone/>
            </a:pPr>
            <a:r>
              <a:rPr lang="en" sz="1200">
                <a:solidFill>
                  <a:schemeClr val="dk1"/>
                </a:solidFill>
              </a:rPr>
              <a:t>You can use </a:t>
            </a:r>
            <a:r>
              <a:rPr lang="en" sz="1200">
                <a:solidFill>
                  <a:schemeClr val="dk1"/>
                </a:solidFill>
                <a:latin typeface="Courier New"/>
                <a:ea typeface="Courier New"/>
                <a:cs typeface="Courier New"/>
                <a:sym typeface="Courier New"/>
              </a:rPr>
              <a:t>ssh</a:t>
            </a:r>
            <a:r>
              <a:rPr lang="en" sz="1200">
                <a:solidFill>
                  <a:schemeClr val="dk1"/>
                </a:solidFill>
              </a:rPr>
              <a:t> </a:t>
            </a:r>
            <a:r>
              <a:rPr lang="en" sz="1200">
                <a:solidFill>
                  <a:schemeClr val="dk1"/>
                </a:solidFill>
                <a:latin typeface="Courier New"/>
                <a:ea typeface="Courier New"/>
                <a:cs typeface="Courier New"/>
                <a:sym typeface="Courier New"/>
              </a:rPr>
              <a:t>localhost</a:t>
            </a:r>
            <a:r>
              <a:rPr lang="en" sz="1200">
                <a:solidFill>
                  <a:schemeClr val="dk1"/>
                </a:solidFill>
              </a:rPr>
              <a:t> to test your server if you would like to.</a:t>
            </a:r>
            <a:endParaRPr sz="1200">
              <a:solidFill>
                <a:schemeClr val="dk1"/>
              </a:solidFill>
              <a:latin typeface="Arial"/>
              <a:ea typeface="Arial"/>
              <a:cs typeface="Arial"/>
              <a:sym typeface="Arial"/>
            </a:endParaRPr>
          </a:p>
        </p:txBody>
      </p:sp>
      <p:sp>
        <p:nvSpPr>
          <p:cNvPr id="690" name="Google Shape;690;p6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9.7</a:t>
            </a:r>
            <a:endParaRPr/>
          </a:p>
        </p:txBody>
      </p:sp>
      <p:sp>
        <p:nvSpPr>
          <p:cNvPr id="691" name="Google Shape;691;p65"/>
          <p:cNvSpPr txBox="1"/>
          <p:nvPr/>
        </p:nvSpPr>
        <p:spPr>
          <a:xfrm>
            <a:off x="3215075" y="3544850"/>
            <a:ext cx="5542200" cy="1160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50" dirty="0">
                <a:solidFill>
                  <a:srgbClr val="267F99"/>
                </a:solidFill>
                <a:latin typeface="Consolas"/>
                <a:ea typeface="Consolas"/>
                <a:cs typeface="Consolas"/>
                <a:sym typeface="Consolas"/>
              </a:rPr>
              <a:t>ServerSocket</a:t>
            </a:r>
            <a:r>
              <a:rPr lang="en" sz="1250" dirty="0">
                <a:latin typeface="Consolas"/>
                <a:ea typeface="Consolas"/>
                <a:cs typeface="Consolas"/>
                <a:sym typeface="Consolas"/>
              </a:rPr>
              <a:t> </a:t>
            </a:r>
            <a:r>
              <a:rPr lang="en" sz="1250" dirty="0">
                <a:solidFill>
                  <a:srgbClr val="001080"/>
                </a:solidFill>
                <a:latin typeface="Consolas"/>
                <a:ea typeface="Consolas"/>
                <a:cs typeface="Consolas"/>
                <a:sym typeface="Consolas"/>
              </a:rPr>
              <a:t>server</a:t>
            </a:r>
            <a:r>
              <a:rPr lang="en" sz="1250" dirty="0">
                <a:latin typeface="Consolas"/>
                <a:ea typeface="Consolas"/>
                <a:cs typeface="Consolas"/>
                <a:sym typeface="Consolas"/>
              </a:rPr>
              <a:t> = </a:t>
            </a:r>
            <a:r>
              <a:rPr lang="en" sz="1250" dirty="0">
                <a:solidFill>
                  <a:srgbClr val="AF00DB"/>
                </a:solidFill>
                <a:latin typeface="Consolas"/>
                <a:ea typeface="Consolas"/>
                <a:cs typeface="Consolas"/>
                <a:sym typeface="Consolas"/>
              </a:rPr>
              <a:t>new</a:t>
            </a:r>
            <a:r>
              <a:rPr lang="en" sz="1250" dirty="0">
                <a:latin typeface="Consolas"/>
                <a:ea typeface="Consolas"/>
                <a:cs typeface="Consolas"/>
                <a:sym typeface="Consolas"/>
              </a:rPr>
              <a:t> </a:t>
            </a:r>
            <a:r>
              <a:rPr lang="en" sz="1250" dirty="0">
                <a:solidFill>
                  <a:srgbClr val="795E26"/>
                </a:solidFill>
                <a:latin typeface="Consolas"/>
                <a:ea typeface="Consolas"/>
                <a:cs typeface="Consolas"/>
                <a:sym typeface="Consolas"/>
              </a:rPr>
              <a:t>ServerSocket</a:t>
            </a:r>
            <a:r>
              <a:rPr lang="en" sz="1250" dirty="0">
                <a:latin typeface="Consolas"/>
                <a:ea typeface="Consolas"/>
                <a:cs typeface="Consolas"/>
                <a:sym typeface="Consolas"/>
              </a:rPr>
              <a:t>(portnum);</a:t>
            </a:r>
            <a:endParaRPr sz="1250" dirty="0">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267F99"/>
                </a:solidFill>
                <a:latin typeface="Consolas"/>
                <a:ea typeface="Consolas"/>
                <a:cs typeface="Consolas"/>
                <a:sym typeface="Consolas"/>
              </a:rPr>
              <a:t>Socket</a:t>
            </a:r>
            <a:r>
              <a:rPr lang="en" sz="1250" dirty="0">
                <a:latin typeface="Consolas"/>
                <a:ea typeface="Consolas"/>
                <a:cs typeface="Consolas"/>
                <a:sym typeface="Consolas"/>
              </a:rPr>
              <a:t> </a:t>
            </a:r>
            <a:r>
              <a:rPr lang="en" sz="1250" dirty="0">
                <a:solidFill>
                  <a:srgbClr val="001080"/>
                </a:solidFill>
                <a:latin typeface="Consolas"/>
                <a:ea typeface="Consolas"/>
                <a:cs typeface="Consolas"/>
                <a:sym typeface="Consolas"/>
              </a:rPr>
              <a:t>client</a:t>
            </a:r>
            <a:r>
              <a:rPr lang="en" sz="1250" dirty="0">
                <a:latin typeface="Consolas"/>
                <a:ea typeface="Consolas"/>
                <a:cs typeface="Consolas"/>
                <a:sym typeface="Consolas"/>
              </a:rPr>
              <a:t> = </a:t>
            </a:r>
            <a:r>
              <a:rPr lang="en" sz="1250" dirty="0">
                <a:solidFill>
                  <a:srgbClr val="001080"/>
                </a:solidFill>
                <a:latin typeface="Consolas"/>
                <a:ea typeface="Consolas"/>
                <a:cs typeface="Consolas"/>
                <a:sym typeface="Consolas"/>
              </a:rPr>
              <a:t>server</a:t>
            </a:r>
            <a:r>
              <a:rPr lang="en" sz="1250" dirty="0">
                <a:latin typeface="Consolas"/>
                <a:ea typeface="Consolas"/>
                <a:cs typeface="Consolas"/>
                <a:sym typeface="Consolas"/>
              </a:rPr>
              <a:t>.</a:t>
            </a:r>
            <a:r>
              <a:rPr lang="en" sz="1250" dirty="0">
                <a:solidFill>
                  <a:srgbClr val="795E26"/>
                </a:solidFill>
                <a:latin typeface="Consolas"/>
                <a:ea typeface="Consolas"/>
                <a:cs typeface="Consolas"/>
                <a:sym typeface="Consolas"/>
              </a:rPr>
              <a:t>accept</a:t>
            </a:r>
            <a:r>
              <a:rPr lang="en" sz="1250" dirty="0">
                <a:latin typeface="Consolas"/>
                <a:ea typeface="Consolas"/>
                <a:cs typeface="Consolas"/>
                <a:sym typeface="Consolas"/>
              </a:rPr>
              <a:t>();</a:t>
            </a:r>
            <a:endParaRPr sz="1250" dirty="0">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267F99"/>
                </a:solidFill>
                <a:latin typeface="Consolas"/>
                <a:ea typeface="Consolas"/>
                <a:cs typeface="Consolas"/>
                <a:sym typeface="Consolas"/>
              </a:rPr>
              <a:t>System</a:t>
            </a:r>
            <a:r>
              <a:rPr lang="en" sz="1250" dirty="0">
                <a:latin typeface="Consolas"/>
                <a:ea typeface="Consolas"/>
                <a:cs typeface="Consolas"/>
                <a:sym typeface="Consolas"/>
              </a:rPr>
              <a:t>.</a:t>
            </a:r>
            <a:r>
              <a:rPr lang="en" sz="1250" dirty="0">
                <a:solidFill>
                  <a:srgbClr val="0070C1"/>
                </a:solidFill>
                <a:latin typeface="Consolas"/>
                <a:ea typeface="Consolas"/>
                <a:cs typeface="Consolas"/>
                <a:sym typeface="Consolas"/>
              </a:rPr>
              <a:t>out</a:t>
            </a:r>
            <a:r>
              <a:rPr lang="en" sz="1250" dirty="0">
                <a:latin typeface="Consolas"/>
                <a:ea typeface="Consolas"/>
                <a:cs typeface="Consolas"/>
                <a:sym typeface="Consolas"/>
              </a:rPr>
              <a:t>.</a:t>
            </a:r>
            <a:r>
              <a:rPr lang="en" sz="1250" dirty="0">
                <a:solidFill>
                  <a:srgbClr val="795E26"/>
                </a:solidFill>
                <a:latin typeface="Consolas"/>
                <a:ea typeface="Consolas"/>
                <a:cs typeface="Consolas"/>
                <a:sym typeface="Consolas"/>
              </a:rPr>
              <a:t>println</a:t>
            </a:r>
            <a:r>
              <a:rPr lang="en" sz="1250" dirty="0">
                <a:latin typeface="Consolas"/>
                <a:ea typeface="Consolas"/>
                <a:cs typeface="Consolas"/>
                <a:sym typeface="Consolas"/>
              </a:rPr>
              <a:t>(</a:t>
            </a:r>
            <a:r>
              <a:rPr lang="en" sz="1250" dirty="0">
                <a:solidFill>
                  <a:srgbClr val="A31515"/>
                </a:solidFill>
                <a:latin typeface="Consolas"/>
                <a:ea typeface="Consolas"/>
                <a:cs typeface="Consolas"/>
                <a:sym typeface="Consolas"/>
              </a:rPr>
              <a:t>"Connected!"</a:t>
            </a:r>
            <a:r>
              <a:rPr lang="en" sz="1250" dirty="0">
                <a:latin typeface="Consolas"/>
                <a:ea typeface="Consolas"/>
                <a:cs typeface="Consolas"/>
                <a:sym typeface="Consolas"/>
              </a:rPr>
              <a:t>);</a:t>
            </a:r>
            <a:endParaRPr sz="1250" dirty="0">
              <a:latin typeface="Consolas"/>
              <a:ea typeface="Consolas"/>
              <a:cs typeface="Consolas"/>
              <a:sym typeface="Consolas"/>
            </a:endParaRPr>
          </a:p>
          <a:p>
            <a:pPr marL="0" lvl="0" indent="0" algn="l" rtl="0">
              <a:lnSpc>
                <a:spcPct val="135714"/>
              </a:lnSpc>
              <a:spcBef>
                <a:spcPts val="0"/>
              </a:spcBef>
              <a:spcAft>
                <a:spcPts val="0"/>
              </a:spcAft>
              <a:buNone/>
            </a:pPr>
            <a:r>
              <a:rPr lang="en" sz="1250" dirty="0">
                <a:solidFill>
                  <a:srgbClr val="001080"/>
                </a:solidFill>
                <a:latin typeface="Consolas"/>
                <a:ea typeface="Consolas"/>
                <a:cs typeface="Consolas"/>
                <a:sym typeface="Consolas"/>
              </a:rPr>
              <a:t>client</a:t>
            </a:r>
            <a:r>
              <a:rPr lang="en" sz="1250" dirty="0">
                <a:latin typeface="Consolas"/>
                <a:ea typeface="Consolas"/>
                <a:cs typeface="Consolas"/>
                <a:sym typeface="Consolas"/>
              </a:rPr>
              <a:t>.</a:t>
            </a:r>
            <a:r>
              <a:rPr lang="en" sz="1250" dirty="0">
                <a:solidFill>
                  <a:srgbClr val="795E26"/>
                </a:solidFill>
                <a:latin typeface="Consolas"/>
                <a:ea typeface="Consolas"/>
                <a:cs typeface="Consolas"/>
                <a:sym typeface="Consolas"/>
              </a:rPr>
              <a:t>close</a:t>
            </a:r>
            <a:r>
              <a:rPr lang="en" sz="1250" dirty="0">
                <a:latin typeface="Consolas"/>
                <a:ea typeface="Consolas"/>
                <a:cs typeface="Consolas"/>
                <a:sym typeface="Consolas"/>
              </a:rPr>
              <a:t>();</a:t>
            </a:r>
            <a:endParaRPr dirty="0">
              <a:solidFill>
                <a:srgbClr val="D4D4D4"/>
              </a:solidFill>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6"/>
          <p:cNvSpPr txBox="1">
            <a:spLocks noGrp="1"/>
          </p:cNvSpPr>
          <p:nvPr>
            <p:ph type="title"/>
          </p:nvPr>
        </p:nvSpPr>
        <p:spPr>
          <a:xfrm>
            <a:off x="5264725" y="112050"/>
            <a:ext cx="3706500" cy="5643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sz="2500"/>
              <a:t>Review: Sending Data</a:t>
            </a:r>
            <a:endParaRPr sz="2500"/>
          </a:p>
        </p:txBody>
      </p:sp>
      <p:sp>
        <p:nvSpPr>
          <p:cNvPr id="697" name="Google Shape;697;p66"/>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rmAutofit/>
          </a:bodyPr>
          <a:lstStyle/>
          <a:p>
            <a:pPr marL="457200" lvl="0" indent="-311150" algn="l" rtl="0">
              <a:lnSpc>
                <a:spcPct val="115000"/>
              </a:lnSpc>
              <a:spcBef>
                <a:spcPts val="0"/>
              </a:spcBef>
              <a:spcAft>
                <a:spcPts val="0"/>
              </a:spcAft>
              <a:buSzPts val="1300"/>
              <a:buChar char="●"/>
            </a:pPr>
            <a:r>
              <a:rPr lang="en" dirty="0"/>
              <a:t>Once a connection is established, </a:t>
            </a:r>
            <a:r>
              <a:rPr lang="en" b="1" i="1" dirty="0">
                <a:solidFill>
                  <a:srgbClr val="FF0000"/>
                </a:solidFill>
              </a:rPr>
              <a:t>both</a:t>
            </a:r>
            <a:r>
              <a:rPr lang="en" dirty="0"/>
              <a:t> sides of the connection are represented as </a:t>
            </a:r>
            <a:r>
              <a:rPr lang="en" dirty="0">
                <a:latin typeface="Courier New"/>
                <a:ea typeface="Courier New"/>
                <a:cs typeface="Courier New"/>
                <a:sym typeface="Courier New"/>
              </a:rPr>
              <a:t>Socket</a:t>
            </a:r>
            <a:r>
              <a:rPr lang="en" dirty="0"/>
              <a:t>s</a:t>
            </a:r>
            <a:endParaRPr dirty="0"/>
          </a:p>
          <a:p>
            <a:pPr marL="457200" lvl="0" indent="-311150" algn="l" rtl="0">
              <a:lnSpc>
                <a:spcPct val="115000"/>
              </a:lnSpc>
              <a:spcBef>
                <a:spcPts val="1000"/>
              </a:spcBef>
              <a:spcAft>
                <a:spcPts val="0"/>
              </a:spcAft>
              <a:buSzPts val="1300"/>
              <a:buChar char="●"/>
            </a:pPr>
            <a:r>
              <a:rPr lang="en" dirty="0"/>
              <a:t>The </a:t>
            </a:r>
            <a:r>
              <a:rPr lang="en" dirty="0">
                <a:latin typeface="Courier New"/>
                <a:ea typeface="Courier New"/>
                <a:cs typeface="Courier New"/>
                <a:sym typeface="Courier New"/>
              </a:rPr>
              <a:t>getOutputStream()</a:t>
            </a:r>
            <a:r>
              <a:rPr lang="en" dirty="0"/>
              <a:t> method will return an </a:t>
            </a:r>
            <a:r>
              <a:rPr lang="en" dirty="0">
                <a:latin typeface="Courier New"/>
                <a:ea typeface="Courier New"/>
                <a:cs typeface="Courier New"/>
                <a:sym typeface="Courier New"/>
              </a:rPr>
              <a:t>OutputStream</a:t>
            </a:r>
            <a:r>
              <a:rPr lang="en" dirty="0"/>
              <a:t> that can be used to </a:t>
            </a:r>
            <a:r>
              <a:rPr lang="en" b="1" i="1" dirty="0">
                <a:solidFill>
                  <a:srgbClr val="FF0000"/>
                </a:solidFill>
              </a:rPr>
              <a:t>send</a:t>
            </a:r>
            <a:r>
              <a:rPr lang="en" dirty="0"/>
              <a:t> data to the other end of the connection</a:t>
            </a:r>
            <a:endParaRPr dirty="0"/>
          </a:p>
          <a:p>
            <a:pPr marL="457200" lvl="0" indent="-311150" algn="l" rtl="0">
              <a:lnSpc>
                <a:spcPct val="115000"/>
              </a:lnSpc>
              <a:spcBef>
                <a:spcPts val="1000"/>
              </a:spcBef>
              <a:spcAft>
                <a:spcPts val="0"/>
              </a:spcAft>
              <a:buSzPts val="1300"/>
              <a:buChar char="●"/>
            </a:pPr>
            <a:r>
              <a:rPr lang="en" dirty="0"/>
              <a:t>Recall that Java streams are used to send </a:t>
            </a:r>
            <a:r>
              <a:rPr lang="en" b="1" i="1" dirty="0">
                <a:solidFill>
                  <a:srgbClr val="FF0000"/>
                </a:solidFill>
              </a:rPr>
              <a:t>binary data</a:t>
            </a:r>
            <a:r>
              <a:rPr lang="en" dirty="0"/>
              <a:t>. If </a:t>
            </a:r>
            <a:r>
              <a:rPr lang="en" b="1" i="1" dirty="0">
                <a:solidFill>
                  <a:srgbClr val="FF0000"/>
                </a:solidFill>
              </a:rPr>
              <a:t>text data</a:t>
            </a:r>
            <a:r>
              <a:rPr lang="en" dirty="0"/>
              <a:t> is preferred, the </a:t>
            </a:r>
            <a:r>
              <a:rPr lang="en" dirty="0">
                <a:latin typeface="Consolas"/>
                <a:ea typeface="Consolas"/>
                <a:cs typeface="Consolas"/>
                <a:sym typeface="Consolas"/>
              </a:rPr>
              <a:t>OutputStream</a:t>
            </a:r>
            <a:r>
              <a:rPr lang="en" dirty="0"/>
              <a:t> may be wrapped in an instance of the </a:t>
            </a:r>
            <a:r>
              <a:rPr lang="en" dirty="0">
                <a:highlight>
                  <a:srgbClr val="FFFF00"/>
                </a:highlight>
                <a:latin typeface="Courier New"/>
                <a:ea typeface="Courier New"/>
                <a:cs typeface="Courier New"/>
                <a:sym typeface="Courier New"/>
              </a:rPr>
              <a:t>java.io.PrintWriter</a:t>
            </a:r>
            <a:r>
              <a:rPr lang="en" dirty="0">
                <a:highlight>
                  <a:srgbClr val="FFFF00"/>
                </a:highlight>
              </a:rPr>
              <a:t> class</a:t>
            </a:r>
            <a:endParaRPr dirty="0">
              <a:highlight>
                <a:srgbClr val="FFFF00"/>
              </a:highlight>
            </a:endParaRPr>
          </a:p>
          <a:p>
            <a:pPr marL="0" lvl="0" indent="457200" algn="l" rtl="0">
              <a:lnSpc>
                <a:spcPct val="115000"/>
              </a:lnSpc>
              <a:spcBef>
                <a:spcPts val="600"/>
              </a:spcBef>
              <a:spcAft>
                <a:spcPts val="0"/>
              </a:spcAft>
              <a:buNone/>
            </a:pPr>
            <a:r>
              <a:rPr lang="en" sz="1200" dirty="0">
                <a:highlight>
                  <a:srgbClr val="FFFF00"/>
                </a:highlight>
                <a:latin typeface="Courier New"/>
                <a:ea typeface="Courier New"/>
                <a:cs typeface="Courier New"/>
                <a:sym typeface="Courier New"/>
              </a:rPr>
              <a:t>  PrintWriter writer = </a:t>
            </a:r>
            <a:endParaRPr sz="1200" dirty="0">
              <a:highlight>
                <a:srgbClr val="FFFF00"/>
              </a:highlight>
              <a:latin typeface="Courier New"/>
              <a:ea typeface="Courier New"/>
              <a:cs typeface="Courier New"/>
              <a:sym typeface="Courier New"/>
            </a:endParaRPr>
          </a:p>
          <a:p>
            <a:pPr marL="0" lvl="0" indent="457200" algn="l" rtl="0">
              <a:lnSpc>
                <a:spcPct val="115000"/>
              </a:lnSpc>
              <a:spcBef>
                <a:spcPts val="0"/>
              </a:spcBef>
              <a:spcAft>
                <a:spcPts val="0"/>
              </a:spcAft>
              <a:buNone/>
            </a:pPr>
            <a:r>
              <a:rPr lang="en" sz="1200" dirty="0">
                <a:highlight>
                  <a:srgbClr val="FFFF00"/>
                </a:highlight>
                <a:latin typeface="Courier New"/>
                <a:ea typeface="Courier New"/>
                <a:cs typeface="Courier New"/>
                <a:sym typeface="Courier New"/>
              </a:rPr>
              <a:t>      new PrintWriter(stream);</a:t>
            </a:r>
            <a:endParaRPr sz="1200" dirty="0">
              <a:highlight>
                <a:srgbClr val="FFFF00"/>
              </a:highlight>
              <a:latin typeface="Courier New"/>
              <a:ea typeface="Courier New"/>
              <a:cs typeface="Courier New"/>
              <a:sym typeface="Courier New"/>
            </a:endParaRPr>
          </a:p>
          <a:p>
            <a:pPr marL="457200" lvl="0" indent="-311150" algn="l" rtl="0">
              <a:lnSpc>
                <a:spcPct val="115000"/>
              </a:lnSpc>
              <a:spcBef>
                <a:spcPts val="600"/>
              </a:spcBef>
              <a:spcAft>
                <a:spcPts val="0"/>
              </a:spcAft>
              <a:buSzPts val="1300"/>
              <a:buChar char="●"/>
            </a:pPr>
            <a:r>
              <a:rPr lang="en" dirty="0"/>
              <a:t>A </a:t>
            </a:r>
            <a:r>
              <a:rPr lang="en" dirty="0">
                <a:latin typeface="Consolas"/>
                <a:ea typeface="Consolas"/>
                <a:cs typeface="Consolas"/>
                <a:sym typeface="Consolas"/>
              </a:rPr>
              <a:t>PrintWriter</a:t>
            </a:r>
            <a:r>
              <a:rPr lang="en" dirty="0"/>
              <a:t> provides lots of useful methods:</a:t>
            </a:r>
            <a:endParaRPr dirty="0"/>
          </a:p>
          <a:p>
            <a:pPr marL="914400" lvl="1" indent="-304800" algn="l" rtl="0">
              <a:lnSpc>
                <a:spcPct val="115000"/>
              </a:lnSpc>
              <a:spcBef>
                <a:spcPts val="0"/>
              </a:spcBef>
              <a:spcAft>
                <a:spcPts val="0"/>
              </a:spcAft>
              <a:buSzPts val="1200"/>
              <a:buChar char="○"/>
            </a:pPr>
            <a:r>
              <a:rPr lang="en" sz="1200" dirty="0">
                <a:latin typeface="Courier New"/>
                <a:ea typeface="Courier New"/>
                <a:cs typeface="Courier New"/>
                <a:sym typeface="Courier New"/>
              </a:rPr>
              <a:t>println(String)</a:t>
            </a:r>
            <a:r>
              <a:rPr lang="en" sz="1200" dirty="0"/>
              <a:t> - writes a string of </a:t>
            </a:r>
            <a:r>
              <a:rPr lang="en" sz="1200" b="1" i="1" dirty="0">
                <a:solidFill>
                  <a:srgbClr val="FF0000"/>
                </a:solidFill>
              </a:rPr>
              <a:t>text</a:t>
            </a:r>
            <a:r>
              <a:rPr lang="en" sz="1200" dirty="0"/>
              <a:t> terminated with a newline</a:t>
            </a:r>
            <a:endParaRPr sz="1200" dirty="0"/>
          </a:p>
          <a:p>
            <a:pPr marL="914400" lvl="1" indent="-304800" algn="l" rtl="0">
              <a:lnSpc>
                <a:spcPct val="115000"/>
              </a:lnSpc>
              <a:spcBef>
                <a:spcPts val="0"/>
              </a:spcBef>
              <a:spcAft>
                <a:spcPts val="0"/>
              </a:spcAft>
              <a:buSzPts val="1200"/>
              <a:buChar char="○"/>
            </a:pPr>
            <a:r>
              <a:rPr lang="en" sz="1200" dirty="0">
                <a:latin typeface="Courier New"/>
                <a:ea typeface="Courier New"/>
                <a:cs typeface="Courier New"/>
                <a:sym typeface="Courier New"/>
              </a:rPr>
              <a:t>write(char[])</a:t>
            </a:r>
            <a:r>
              <a:rPr lang="en" sz="1200" dirty="0"/>
              <a:t> - writes a character </a:t>
            </a:r>
            <a:r>
              <a:rPr lang="en" sz="1200" b="1" i="1" dirty="0">
                <a:solidFill>
                  <a:srgbClr val="FF0000"/>
                </a:solidFill>
              </a:rPr>
              <a:t>buffer</a:t>
            </a:r>
            <a:endParaRPr sz="1200" b="1" i="1" dirty="0">
              <a:solidFill>
                <a:srgbClr val="FF0000"/>
              </a:solidFill>
            </a:endParaRPr>
          </a:p>
          <a:p>
            <a:pPr marL="914400" lvl="1" indent="-304800" algn="l" rtl="0">
              <a:lnSpc>
                <a:spcPct val="115000"/>
              </a:lnSpc>
              <a:spcBef>
                <a:spcPts val="0"/>
              </a:spcBef>
              <a:spcAft>
                <a:spcPts val="0"/>
              </a:spcAft>
              <a:buSzPts val="1200"/>
              <a:buChar char="○"/>
            </a:pPr>
            <a:r>
              <a:rPr lang="en" sz="1200" dirty="0">
                <a:latin typeface="Courier New"/>
                <a:ea typeface="Courier New"/>
                <a:cs typeface="Courier New"/>
                <a:sym typeface="Courier New"/>
              </a:rPr>
              <a:t>flush()</a:t>
            </a:r>
            <a:r>
              <a:rPr lang="en" sz="1200" dirty="0"/>
              <a:t> - sends any buffered data to the </a:t>
            </a:r>
            <a:r>
              <a:rPr lang="en" sz="1200" b="1" i="1" dirty="0">
                <a:solidFill>
                  <a:srgbClr val="FF0000"/>
                </a:solidFill>
              </a:rPr>
              <a:t>other side</a:t>
            </a:r>
            <a:endParaRPr sz="1200" b="1" i="1" dirty="0">
              <a:solidFill>
                <a:srgbClr val="FF0000"/>
              </a:solidFill>
            </a:endParaRPr>
          </a:p>
        </p:txBody>
      </p:sp>
      <p:pic>
        <p:nvPicPr>
          <p:cNvPr id="698" name="Google Shape;698;p66"/>
          <p:cNvPicPr preferRelativeResize="0"/>
          <p:nvPr/>
        </p:nvPicPr>
        <p:blipFill rotWithShape="1">
          <a:blip r:embed="rId3">
            <a:alphaModFix/>
          </a:blip>
          <a:srcRect/>
          <a:stretch/>
        </p:blipFill>
        <p:spPr>
          <a:xfrm rot="1255174" flipH="1">
            <a:off x="7338581" y="3890617"/>
            <a:ext cx="1307539" cy="1307567"/>
          </a:xfrm>
          <a:prstGeom prst="rect">
            <a:avLst/>
          </a:prstGeom>
          <a:noFill/>
          <a:ln>
            <a:noFill/>
          </a:ln>
        </p:spPr>
      </p:pic>
      <p:sp>
        <p:nvSpPr>
          <p:cNvPr id="699" name="Google Shape;699;p66"/>
          <p:cNvSpPr/>
          <p:nvPr/>
        </p:nvSpPr>
        <p:spPr>
          <a:xfrm>
            <a:off x="6742737" y="3941139"/>
            <a:ext cx="759000" cy="431100"/>
          </a:xfrm>
          <a:prstGeom prst="wedgeRoundRectCallout">
            <a:avLst>
              <a:gd name="adj1" fmla="val 120496"/>
              <a:gd name="adj2" fmla="val -21648"/>
              <a:gd name="adj3" fmla="val 0"/>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pic>
        <p:nvPicPr>
          <p:cNvPr id="700" name="Google Shape;700;p66"/>
          <p:cNvPicPr preferRelativeResize="0"/>
          <p:nvPr/>
        </p:nvPicPr>
        <p:blipFill rotWithShape="1">
          <a:blip r:embed="rId4">
            <a:alphaModFix/>
          </a:blip>
          <a:srcRect r="46729" b="17594"/>
          <a:stretch/>
        </p:blipFill>
        <p:spPr>
          <a:xfrm flipH="1">
            <a:off x="7698026" y="1442989"/>
            <a:ext cx="1015500" cy="1127850"/>
          </a:xfrm>
          <a:prstGeom prst="rect">
            <a:avLst/>
          </a:prstGeom>
          <a:noFill/>
          <a:ln>
            <a:noFill/>
          </a:ln>
        </p:spPr>
      </p:pic>
      <p:sp>
        <p:nvSpPr>
          <p:cNvPr id="701" name="Google Shape;701;p66"/>
          <p:cNvSpPr txBox="1"/>
          <p:nvPr/>
        </p:nvSpPr>
        <p:spPr>
          <a:xfrm>
            <a:off x="5399850" y="699950"/>
            <a:ext cx="3326700" cy="6834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It can be helpful to think of the two ends of the connection like a telephone.</a:t>
            </a:r>
            <a:endParaRPr>
              <a:solidFill>
                <a:schemeClr val="dk1"/>
              </a:solidFill>
              <a:latin typeface="Arial"/>
              <a:ea typeface="Arial"/>
              <a:cs typeface="Arial"/>
              <a:sym typeface="Arial"/>
            </a:endParaRPr>
          </a:p>
        </p:txBody>
      </p:sp>
      <p:pic>
        <p:nvPicPr>
          <p:cNvPr id="702" name="Google Shape;702;p66"/>
          <p:cNvPicPr preferRelativeResize="0"/>
          <p:nvPr/>
        </p:nvPicPr>
        <p:blipFill rotWithShape="1">
          <a:blip r:embed="rId3">
            <a:alphaModFix/>
          </a:blip>
          <a:srcRect/>
          <a:stretch/>
        </p:blipFill>
        <p:spPr>
          <a:xfrm rot="-1610027">
            <a:off x="5407702" y="1377997"/>
            <a:ext cx="1375847" cy="1375858"/>
          </a:xfrm>
          <a:prstGeom prst="rect">
            <a:avLst/>
          </a:prstGeom>
          <a:noFill/>
          <a:ln>
            <a:noFill/>
          </a:ln>
        </p:spPr>
      </p:pic>
      <p:sp>
        <p:nvSpPr>
          <p:cNvPr id="703" name="Google Shape;703;p66"/>
          <p:cNvSpPr txBox="1"/>
          <p:nvPr/>
        </p:nvSpPr>
        <p:spPr>
          <a:xfrm>
            <a:off x="5399850" y="2661775"/>
            <a:ext cx="3326700" cy="5139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Audio sent through the microphone (</a:t>
            </a:r>
            <a:r>
              <a:rPr lang="en" b="1" i="1">
                <a:solidFill>
                  <a:srgbClr val="FF0000"/>
                </a:solidFill>
                <a:latin typeface="Arial"/>
                <a:ea typeface="Arial"/>
                <a:cs typeface="Arial"/>
                <a:sym typeface="Arial"/>
              </a:rPr>
              <a:t>output stream</a:t>
            </a:r>
            <a:r>
              <a:rPr lang="en">
                <a:solidFill>
                  <a:schemeClr val="dk1"/>
                </a:solidFill>
                <a:latin typeface="Arial"/>
                <a:ea typeface="Arial"/>
                <a:cs typeface="Arial"/>
                <a:sym typeface="Arial"/>
              </a:rPr>
              <a:t>) on one end...</a:t>
            </a:r>
            <a:endParaRPr>
              <a:solidFill>
                <a:schemeClr val="dk1"/>
              </a:solidFill>
              <a:latin typeface="Arial"/>
              <a:ea typeface="Arial"/>
              <a:cs typeface="Arial"/>
              <a:sym typeface="Arial"/>
            </a:endParaRPr>
          </a:p>
        </p:txBody>
      </p:sp>
      <p:sp>
        <p:nvSpPr>
          <p:cNvPr id="704" name="Google Shape;704;p66"/>
          <p:cNvSpPr txBox="1"/>
          <p:nvPr/>
        </p:nvSpPr>
        <p:spPr>
          <a:xfrm>
            <a:off x="5399850" y="3306600"/>
            <a:ext cx="3326700" cy="5139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...is heard through the speaker (</a:t>
            </a:r>
            <a:r>
              <a:rPr lang="en" b="1" i="1">
                <a:solidFill>
                  <a:srgbClr val="FF0000"/>
                </a:solidFill>
                <a:latin typeface="Arial"/>
                <a:ea typeface="Arial"/>
                <a:cs typeface="Arial"/>
                <a:sym typeface="Arial"/>
              </a:rPr>
              <a:t>input stream</a:t>
            </a:r>
            <a:r>
              <a:rPr lang="en">
                <a:solidFill>
                  <a:schemeClr val="dk1"/>
                </a:solidFill>
                <a:latin typeface="Arial"/>
                <a:ea typeface="Arial"/>
                <a:cs typeface="Arial"/>
                <a:sym typeface="Arial"/>
              </a:rPr>
              <a:t>) on the other.</a:t>
            </a:r>
            <a:endParaRPr>
              <a:solidFill>
                <a:schemeClr val="dk1"/>
              </a:solidFill>
              <a:latin typeface="Arial"/>
              <a:ea typeface="Arial"/>
              <a:cs typeface="Arial"/>
              <a:sym typeface="Arial"/>
            </a:endParaRPr>
          </a:p>
        </p:txBody>
      </p:sp>
      <p:sp>
        <p:nvSpPr>
          <p:cNvPr id="705" name="Google Shape;705;p66"/>
          <p:cNvSpPr/>
          <p:nvPr/>
        </p:nvSpPr>
        <p:spPr>
          <a:xfrm>
            <a:off x="6853647" y="1966978"/>
            <a:ext cx="771900" cy="431100"/>
          </a:xfrm>
          <a:prstGeom prst="wedgeRoundRectCallout">
            <a:avLst>
              <a:gd name="adj1" fmla="val 119109"/>
              <a:gd name="adj2" fmla="val -47550"/>
              <a:gd name="adj3" fmla="val 0"/>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sp>
        <p:nvSpPr>
          <p:cNvPr id="706" name="Google Shape;706;p6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67"/>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Sending Data</a:t>
            </a:r>
            <a:endParaRPr sz="3400"/>
          </a:p>
        </p:txBody>
      </p:sp>
      <p:sp>
        <p:nvSpPr>
          <p:cNvPr id="712" name="Google Shape;712;p67"/>
          <p:cNvSpPr txBox="1">
            <a:spLocks noGrp="1"/>
          </p:cNvSpPr>
          <p:nvPr>
            <p:ph type="body" idx="1"/>
          </p:nvPr>
        </p:nvSpPr>
        <p:spPr>
          <a:xfrm>
            <a:off x="65250" y="731625"/>
            <a:ext cx="8955900" cy="104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Clr>
                <a:srgbClr val="000000"/>
              </a:buClr>
              <a:buSzPts val="1700"/>
              <a:buNone/>
            </a:pPr>
            <a:r>
              <a:rPr lang="en" sz="1700"/>
              <a:t>We now know how to open sockets, read data, write data, and listen for incoming connections. Let's put it all together by writing an "Echo Server" that reads data from a client and sends it back. The first step is writing the </a:t>
            </a:r>
            <a:r>
              <a:rPr lang="en" sz="1700">
                <a:latin typeface="Courier New"/>
                <a:ea typeface="Courier New"/>
                <a:cs typeface="Courier New"/>
                <a:sym typeface="Courier New"/>
              </a:rPr>
              <a:t>EchoClient</a:t>
            </a:r>
            <a:r>
              <a:rPr lang="en" sz="1700"/>
              <a:t>.</a:t>
            </a:r>
            <a:endParaRPr sz="1700"/>
          </a:p>
        </p:txBody>
      </p:sp>
      <p:sp>
        <p:nvSpPr>
          <p:cNvPr id="713" name="Google Shape;713;p67"/>
          <p:cNvSpPr txBox="1">
            <a:spLocks noGrp="1"/>
          </p:cNvSpPr>
          <p:nvPr>
            <p:ph type="body" idx="2"/>
          </p:nvPr>
        </p:nvSpPr>
        <p:spPr>
          <a:xfrm>
            <a:off x="3317550" y="1890975"/>
            <a:ext cx="5630100" cy="2828700"/>
          </a:xfrm>
          <a:prstGeom prst="rect">
            <a:avLst/>
          </a:prstGeom>
          <a:noFill/>
          <a:ln>
            <a:noFill/>
          </a:ln>
        </p:spPr>
        <p:txBody>
          <a:bodyPr spcFirstLastPara="1" wrap="square" lIns="68575" tIns="34275" rIns="68575" bIns="34275" anchor="t" anchorCtr="0">
            <a:noAutofit/>
          </a:bodyPr>
          <a:lstStyle/>
          <a:p>
            <a:pPr marL="457200" lvl="0" indent="-311150" algn="l" rtl="0">
              <a:lnSpc>
                <a:spcPct val="115000"/>
              </a:lnSpc>
              <a:spcBef>
                <a:spcPts val="0"/>
              </a:spcBef>
              <a:spcAft>
                <a:spcPts val="0"/>
              </a:spcAft>
              <a:buSzPts val="1300"/>
              <a:buChar char="●"/>
            </a:pPr>
            <a:r>
              <a:rPr lang="en" dirty="0"/>
              <a:t>Create a new package named </a:t>
            </a:r>
            <a:r>
              <a:rPr lang="en" dirty="0">
                <a:solidFill>
                  <a:srgbClr val="FF0000"/>
                </a:solidFill>
                <a:latin typeface="Courier New"/>
                <a:ea typeface="Courier New"/>
                <a:cs typeface="Courier New"/>
                <a:sym typeface="Courier New"/>
              </a:rPr>
              <a:t>echo</a:t>
            </a:r>
            <a:endParaRPr dirty="0">
              <a:solidFill>
                <a:srgbClr val="FF0000"/>
              </a:solidFill>
              <a:latin typeface="Courier New"/>
              <a:ea typeface="Courier New"/>
              <a:cs typeface="Courier New"/>
              <a:sym typeface="Courier New"/>
            </a:endParaRPr>
          </a:p>
          <a:p>
            <a:pPr marL="457200" lvl="0" indent="-311150" algn="l" rtl="0">
              <a:lnSpc>
                <a:spcPct val="115000"/>
              </a:lnSpc>
              <a:spcBef>
                <a:spcPts val="0"/>
              </a:spcBef>
              <a:spcAft>
                <a:spcPts val="0"/>
              </a:spcAft>
              <a:buSzPts val="1300"/>
              <a:buChar char="●"/>
            </a:pPr>
            <a:r>
              <a:rPr lang="en" dirty="0"/>
              <a:t>Inside </a:t>
            </a:r>
            <a:r>
              <a:rPr lang="en" dirty="0">
                <a:latin typeface="Courier New"/>
                <a:ea typeface="Courier New"/>
                <a:cs typeface="Courier New"/>
                <a:sym typeface="Courier New"/>
              </a:rPr>
              <a:t>echo</a:t>
            </a:r>
            <a:r>
              <a:rPr lang="en" dirty="0"/>
              <a:t>, add a class named "</a:t>
            </a:r>
            <a:r>
              <a:rPr lang="en" dirty="0">
                <a:solidFill>
                  <a:srgbClr val="FF0000"/>
                </a:solidFill>
                <a:latin typeface="Courier New"/>
                <a:ea typeface="Courier New"/>
                <a:cs typeface="Courier New"/>
                <a:sym typeface="Courier New"/>
              </a:rPr>
              <a:t>EchoClient</a:t>
            </a:r>
            <a:r>
              <a:rPr lang="en" dirty="0"/>
              <a:t>"</a:t>
            </a:r>
            <a:endParaRPr dirty="0"/>
          </a:p>
          <a:p>
            <a:pPr marL="457200" lvl="0" indent="-311150" algn="l" rtl="0">
              <a:lnSpc>
                <a:spcPct val="115000"/>
              </a:lnSpc>
              <a:spcBef>
                <a:spcPts val="0"/>
              </a:spcBef>
              <a:spcAft>
                <a:spcPts val="0"/>
              </a:spcAft>
              <a:buSzPts val="1300"/>
              <a:buChar char="●"/>
            </a:pPr>
            <a:r>
              <a:rPr lang="en" dirty="0"/>
              <a:t>Open a </a:t>
            </a:r>
            <a:r>
              <a:rPr lang="en" dirty="0">
                <a:latin typeface="Courier New"/>
                <a:ea typeface="Courier New"/>
                <a:cs typeface="Courier New"/>
                <a:sym typeface="Courier New"/>
              </a:rPr>
              <a:t>Socket</a:t>
            </a:r>
            <a:r>
              <a:rPr lang="en" dirty="0"/>
              <a:t> to your </a:t>
            </a:r>
            <a:r>
              <a:rPr lang="en" dirty="0">
                <a:latin typeface="Courier New"/>
                <a:ea typeface="Courier New"/>
                <a:cs typeface="Courier New"/>
                <a:sym typeface="Courier New"/>
              </a:rPr>
              <a:t>"localhost"</a:t>
            </a:r>
            <a:r>
              <a:rPr lang="en" dirty="0"/>
              <a:t> on port </a:t>
            </a:r>
            <a:r>
              <a:rPr lang="en" dirty="0">
                <a:latin typeface="Courier New"/>
                <a:ea typeface="Courier New"/>
                <a:cs typeface="Courier New"/>
                <a:sym typeface="Courier New"/>
              </a:rPr>
              <a:t>54321</a:t>
            </a:r>
            <a:endParaRPr dirty="0"/>
          </a:p>
          <a:p>
            <a:pPr marL="457200" lvl="0" indent="-311150" algn="l" rtl="0">
              <a:lnSpc>
                <a:spcPct val="115000"/>
              </a:lnSpc>
              <a:spcBef>
                <a:spcPts val="0"/>
              </a:spcBef>
              <a:spcAft>
                <a:spcPts val="0"/>
              </a:spcAft>
              <a:buSzPts val="1300"/>
              <a:buChar char="●"/>
            </a:pPr>
            <a:r>
              <a:rPr lang="en" dirty="0"/>
              <a:t>Use a </a:t>
            </a:r>
            <a:r>
              <a:rPr lang="en" dirty="0">
                <a:latin typeface="Courier New"/>
                <a:ea typeface="Courier New"/>
                <a:cs typeface="Courier New"/>
                <a:sym typeface="Courier New"/>
              </a:rPr>
              <a:t>PrintWriter</a:t>
            </a:r>
            <a:r>
              <a:rPr lang="en" dirty="0"/>
              <a:t> to write a line of text to the </a:t>
            </a:r>
            <a:r>
              <a:rPr lang="en" dirty="0">
                <a:latin typeface="Courier New"/>
                <a:ea typeface="Courier New"/>
                <a:cs typeface="Courier New"/>
                <a:sym typeface="Courier New"/>
              </a:rPr>
              <a:t>Socket</a:t>
            </a:r>
            <a:endParaRPr dirty="0">
              <a:latin typeface="Courier New"/>
              <a:ea typeface="Courier New"/>
              <a:cs typeface="Courier New"/>
              <a:sym typeface="Courier New"/>
            </a:endParaRPr>
          </a:p>
          <a:p>
            <a:pPr marL="914400" lvl="1" indent="-304800" algn="l" rtl="0">
              <a:lnSpc>
                <a:spcPct val="115000"/>
              </a:lnSpc>
              <a:spcBef>
                <a:spcPts val="0"/>
              </a:spcBef>
              <a:spcAft>
                <a:spcPts val="0"/>
              </a:spcAft>
              <a:buSzPts val="1200"/>
              <a:buChar char="○"/>
            </a:pPr>
            <a:r>
              <a:rPr lang="en" sz="1200" dirty="0"/>
              <a:t>Use </a:t>
            </a:r>
            <a:r>
              <a:rPr lang="en" sz="1200" dirty="0">
                <a:latin typeface="Courier New"/>
                <a:ea typeface="Courier New"/>
                <a:cs typeface="Courier New"/>
                <a:sym typeface="Courier New"/>
              </a:rPr>
              <a:t>println()</a:t>
            </a:r>
            <a:r>
              <a:rPr lang="en" sz="1200" dirty="0"/>
              <a:t> to send the message so that it is terminated with a newline.</a:t>
            </a:r>
            <a:endParaRPr sz="1200" dirty="0"/>
          </a:p>
          <a:p>
            <a:pPr marL="914400" lvl="1" indent="-304800" algn="l" rtl="0">
              <a:lnSpc>
                <a:spcPct val="115000"/>
              </a:lnSpc>
              <a:spcBef>
                <a:spcPts val="0"/>
              </a:spcBef>
              <a:spcAft>
                <a:spcPts val="0"/>
              </a:spcAft>
              <a:buSzPts val="1200"/>
              <a:buChar char="○"/>
            </a:pPr>
            <a:r>
              <a:rPr lang="en" sz="1200" dirty="0"/>
              <a:t>Don't forget to </a:t>
            </a:r>
            <a:r>
              <a:rPr lang="en" sz="1200" dirty="0">
                <a:latin typeface="Courier New"/>
                <a:ea typeface="Courier New"/>
                <a:cs typeface="Courier New"/>
                <a:sym typeface="Courier New"/>
              </a:rPr>
              <a:t>flush()</a:t>
            </a:r>
            <a:endParaRPr sz="1200" dirty="0">
              <a:latin typeface="Courier New"/>
              <a:ea typeface="Courier New"/>
              <a:cs typeface="Courier New"/>
              <a:sym typeface="Courier New"/>
            </a:endParaRPr>
          </a:p>
          <a:p>
            <a:pPr marL="457200" lvl="0" indent="-311150" algn="l" rtl="0">
              <a:lnSpc>
                <a:spcPct val="115000"/>
              </a:lnSpc>
              <a:spcBef>
                <a:spcPts val="0"/>
              </a:spcBef>
              <a:spcAft>
                <a:spcPts val="0"/>
              </a:spcAft>
              <a:buSzPts val="1300"/>
              <a:buChar char="●"/>
            </a:pPr>
            <a:r>
              <a:rPr lang="en" dirty="0">
                <a:latin typeface="Courier New"/>
                <a:ea typeface="Courier New"/>
                <a:cs typeface="Courier New"/>
                <a:sym typeface="Courier New"/>
              </a:rPr>
              <a:t>close</a:t>
            </a:r>
            <a:r>
              <a:rPr lang="en" dirty="0"/>
              <a:t> the </a:t>
            </a:r>
            <a:r>
              <a:rPr lang="en" dirty="0">
                <a:latin typeface="Courier New"/>
                <a:ea typeface="Courier New"/>
                <a:cs typeface="Courier New"/>
                <a:sym typeface="Courier New"/>
              </a:rPr>
              <a:t>Socket</a:t>
            </a:r>
            <a:endParaRPr dirty="0">
              <a:latin typeface="Courier New"/>
              <a:ea typeface="Courier New"/>
              <a:cs typeface="Courier New"/>
              <a:sym typeface="Courier New"/>
            </a:endParaRPr>
          </a:p>
          <a:p>
            <a:pPr marL="457200" lvl="0" indent="-311150" algn="l" rtl="0">
              <a:lnSpc>
                <a:spcPct val="115000"/>
              </a:lnSpc>
              <a:spcBef>
                <a:spcPts val="0"/>
              </a:spcBef>
              <a:spcAft>
                <a:spcPts val="0"/>
              </a:spcAft>
              <a:buSzPts val="1300"/>
              <a:buChar char="●"/>
            </a:pPr>
            <a:r>
              <a:rPr lang="en" dirty="0"/>
              <a:t>Run your program</a:t>
            </a:r>
            <a:endParaRPr dirty="0"/>
          </a:p>
          <a:p>
            <a:pPr marL="914400" lvl="1" indent="-304800" algn="l" rtl="0">
              <a:lnSpc>
                <a:spcPct val="115000"/>
              </a:lnSpc>
              <a:spcBef>
                <a:spcPts val="0"/>
              </a:spcBef>
              <a:spcAft>
                <a:spcPts val="0"/>
              </a:spcAft>
              <a:buSzPts val="1200"/>
              <a:buChar char="○"/>
            </a:pPr>
            <a:r>
              <a:rPr lang="en" sz="1200" dirty="0"/>
              <a:t>It will fail because you don't have a server yet</a:t>
            </a:r>
            <a:endParaRPr sz="1200" dirty="0"/>
          </a:p>
          <a:p>
            <a:pPr marL="914400" lvl="1" indent="-304800" algn="l" rtl="0">
              <a:lnSpc>
                <a:spcPct val="115000"/>
              </a:lnSpc>
              <a:spcBef>
                <a:spcPts val="0"/>
              </a:spcBef>
              <a:spcAft>
                <a:spcPts val="0"/>
              </a:spcAft>
              <a:buSzPts val="1200"/>
              <a:buChar char="○"/>
            </a:pPr>
            <a:r>
              <a:rPr lang="en" sz="1200" dirty="0"/>
              <a:t>One step at a time</a:t>
            </a:r>
            <a:endParaRPr sz="1200" dirty="0"/>
          </a:p>
        </p:txBody>
      </p:sp>
      <p:sp>
        <p:nvSpPr>
          <p:cNvPr id="714" name="Google Shape;714;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715" name="Google Shape;715;p67"/>
          <p:cNvSpPr txBox="1"/>
          <p:nvPr/>
        </p:nvSpPr>
        <p:spPr>
          <a:xfrm>
            <a:off x="144625" y="1977650"/>
            <a:ext cx="2981400" cy="1185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500">
                <a:latin typeface="Consolas"/>
                <a:ea typeface="Consolas"/>
                <a:cs typeface="Consolas"/>
                <a:sym typeface="Consolas"/>
              </a:rPr>
              <a:t>Exception in thread "main" java.net.ConnectException: Connection refused: connect</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java.base/sun.nio.ch.Net.connect0(Native Method)</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java.base/sun.nio.ch.Net.connect(Net.java:574)</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java.base/sun.nio.ch.Net.connect(Net.java:563)</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java.base/sun.nio.ch.NioSocketImpl.connect(NioSocketImpl.java:588)</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java.base/java.net.SocksSocketImpl.connect(SocksSocketImpl.java:333)</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java.base/java.net.Socket.connect(Socket.java:648)</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java.base/java.net.Socket.connect(Socket.java:597)</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java.base/java.net.Socket.&lt;init&gt;(Socket.java:520)</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java.base/java.net.Socket.&lt;init&gt;(Socket.java:294)</a:t>
            </a:r>
            <a:endParaRPr sz="500">
              <a:latin typeface="Consolas"/>
              <a:ea typeface="Consolas"/>
              <a:cs typeface="Consolas"/>
              <a:sym typeface="Consolas"/>
            </a:endParaRPr>
          </a:p>
          <a:p>
            <a:pPr marL="0" lvl="0" indent="0" algn="l" rtl="0">
              <a:spcBef>
                <a:spcPts val="0"/>
              </a:spcBef>
              <a:spcAft>
                <a:spcPts val="0"/>
              </a:spcAft>
              <a:buNone/>
            </a:pPr>
            <a:r>
              <a:rPr lang="en" sz="500">
                <a:latin typeface="Consolas"/>
                <a:ea typeface="Consolas"/>
                <a:cs typeface="Consolas"/>
                <a:sym typeface="Consolas"/>
              </a:rPr>
              <a:t>        at Day02.echo.EchoClient.main(EchoClient.java:9)</a:t>
            </a:r>
            <a:endParaRPr sz="500">
              <a:latin typeface="Consolas"/>
              <a:ea typeface="Consolas"/>
              <a:cs typeface="Consolas"/>
              <a:sym typeface="Consolas"/>
            </a:endParaRPr>
          </a:p>
          <a:p>
            <a:pPr marL="0" lvl="0" indent="0" algn="l" rtl="0">
              <a:spcBef>
                <a:spcPts val="0"/>
              </a:spcBef>
              <a:spcAft>
                <a:spcPts val="0"/>
              </a:spcAft>
              <a:buNone/>
            </a:pPr>
            <a:endParaRPr sz="500">
              <a:latin typeface="Consolas"/>
              <a:ea typeface="Consolas"/>
              <a:cs typeface="Consolas"/>
              <a:sym typeface="Consolas"/>
            </a:endParaRPr>
          </a:p>
        </p:txBody>
      </p:sp>
      <p:sp>
        <p:nvSpPr>
          <p:cNvPr id="716" name="Google Shape;716;p67"/>
          <p:cNvSpPr txBox="1"/>
          <p:nvPr/>
        </p:nvSpPr>
        <p:spPr>
          <a:xfrm>
            <a:off x="144625" y="3225075"/>
            <a:ext cx="2981400" cy="5727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spcBef>
                <a:spcPts val="0"/>
              </a:spcBef>
              <a:spcAft>
                <a:spcPts val="0"/>
              </a:spcAft>
              <a:buNone/>
            </a:pPr>
            <a:r>
              <a:rPr lang="en" sz="1200">
                <a:solidFill>
                  <a:schemeClr val="dk1"/>
                </a:solidFill>
              </a:rPr>
              <a:t>You should get an exception similar to the above one. That is expected for now.</a:t>
            </a:r>
            <a:endParaRPr sz="1200">
              <a:solidFill>
                <a:schemeClr val="dk1"/>
              </a:solidFill>
              <a:latin typeface="Arial"/>
              <a:ea typeface="Arial"/>
              <a:cs typeface="Arial"/>
              <a:sym typeface="Arial"/>
            </a:endParaRPr>
          </a:p>
        </p:txBody>
      </p:sp>
      <p:sp>
        <p:nvSpPr>
          <p:cNvPr id="717" name="Google Shape;717;p6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9.8</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68"/>
          <p:cNvSpPr txBox="1">
            <a:spLocks noGrp="1"/>
          </p:cNvSpPr>
          <p:nvPr>
            <p:ph type="body" idx="1"/>
          </p:nvPr>
        </p:nvSpPr>
        <p:spPr>
          <a:xfrm>
            <a:off x="4644675" y="376400"/>
            <a:ext cx="4166400" cy="4556700"/>
          </a:xfrm>
          <a:prstGeom prst="rect">
            <a:avLst/>
          </a:prstGeom>
          <a:noFill/>
          <a:ln>
            <a:noFill/>
          </a:ln>
        </p:spPr>
        <p:txBody>
          <a:bodyPr spcFirstLastPara="1" wrap="square" lIns="68575" tIns="34275" rIns="68575" bIns="34275" anchor="t" anchorCtr="0">
            <a:normAutofit fontScale="92500"/>
          </a:bodyPr>
          <a:lstStyle/>
          <a:p>
            <a:pPr marL="457200" lvl="0" indent="-319405" algn="l" rtl="0">
              <a:spcBef>
                <a:spcPts val="0"/>
              </a:spcBef>
              <a:spcAft>
                <a:spcPts val="0"/>
              </a:spcAft>
              <a:buSzPts val="1430"/>
              <a:buChar char="●"/>
            </a:pPr>
            <a:r>
              <a:rPr lang="en" sz="1430" dirty="0"/>
              <a:t>Once a connection is established, both sides of the connection are represented as </a:t>
            </a:r>
            <a:r>
              <a:rPr lang="en" sz="1430" dirty="0">
                <a:solidFill>
                  <a:srgbClr val="FF0000"/>
                </a:solidFill>
                <a:latin typeface="Courier New"/>
                <a:ea typeface="Courier New"/>
                <a:cs typeface="Courier New"/>
                <a:sym typeface="Courier New"/>
              </a:rPr>
              <a:t>Socket</a:t>
            </a:r>
            <a:r>
              <a:rPr lang="en" sz="1430" dirty="0"/>
              <a:t>s</a:t>
            </a:r>
            <a:endParaRPr sz="1430" dirty="0"/>
          </a:p>
          <a:p>
            <a:pPr marL="457200" lvl="0" indent="-319405" algn="l" rtl="0">
              <a:spcBef>
                <a:spcPts val="0"/>
              </a:spcBef>
              <a:spcAft>
                <a:spcPts val="0"/>
              </a:spcAft>
              <a:buSzPts val="1430"/>
              <a:buChar char="●"/>
            </a:pPr>
            <a:r>
              <a:rPr lang="en" sz="1430" dirty="0"/>
              <a:t>The </a:t>
            </a:r>
            <a:r>
              <a:rPr lang="en" sz="1430" dirty="0">
                <a:latin typeface="Courier New"/>
                <a:ea typeface="Courier New"/>
                <a:cs typeface="Courier New"/>
                <a:sym typeface="Courier New"/>
              </a:rPr>
              <a:t>Socket::getInputStream()</a:t>
            </a:r>
            <a:r>
              <a:rPr lang="en" sz="1430" dirty="0"/>
              <a:t> method will return an </a:t>
            </a:r>
            <a:r>
              <a:rPr lang="en" sz="1430" dirty="0">
                <a:latin typeface="Courier New"/>
                <a:ea typeface="Courier New"/>
                <a:cs typeface="Courier New"/>
                <a:sym typeface="Courier New"/>
              </a:rPr>
              <a:t>InputStream</a:t>
            </a:r>
            <a:r>
              <a:rPr lang="en" sz="1430" dirty="0"/>
              <a:t> that can be used to </a:t>
            </a:r>
            <a:r>
              <a:rPr lang="en" sz="1430" b="1" i="1" dirty="0">
                <a:solidFill>
                  <a:srgbClr val="FF0000"/>
                </a:solidFill>
              </a:rPr>
              <a:t>receive</a:t>
            </a:r>
            <a:r>
              <a:rPr lang="en" sz="1430" dirty="0"/>
              <a:t> data from the other end of the connection</a:t>
            </a:r>
            <a:endParaRPr sz="1005" dirty="0"/>
          </a:p>
          <a:p>
            <a:pPr marL="457200" lvl="0" indent="-319405" algn="l" rtl="0">
              <a:spcBef>
                <a:spcPts val="0"/>
              </a:spcBef>
              <a:spcAft>
                <a:spcPts val="0"/>
              </a:spcAft>
              <a:buSzPts val="1430"/>
              <a:buChar char="●"/>
            </a:pPr>
            <a:r>
              <a:rPr lang="en" sz="1430" dirty="0"/>
              <a:t>Recall that Java streams are used to read </a:t>
            </a:r>
            <a:r>
              <a:rPr lang="en" sz="1430" b="1" i="1" dirty="0">
                <a:solidFill>
                  <a:srgbClr val="FF0000"/>
                </a:solidFill>
              </a:rPr>
              <a:t>binary</a:t>
            </a:r>
            <a:r>
              <a:rPr lang="en" sz="1430" dirty="0"/>
              <a:t> data. If </a:t>
            </a:r>
            <a:r>
              <a:rPr lang="en" sz="1430" b="1" i="1" dirty="0">
                <a:solidFill>
                  <a:srgbClr val="FF0000"/>
                </a:solidFill>
              </a:rPr>
              <a:t>text</a:t>
            </a:r>
            <a:r>
              <a:rPr lang="en" sz="1430" dirty="0"/>
              <a:t> data is preferred, the </a:t>
            </a:r>
            <a:r>
              <a:rPr lang="en" sz="1430" dirty="0">
                <a:latin typeface="Courier New"/>
                <a:ea typeface="Courier New"/>
                <a:cs typeface="Courier New"/>
                <a:sym typeface="Courier New"/>
              </a:rPr>
              <a:t>InputStream</a:t>
            </a:r>
            <a:r>
              <a:rPr lang="en" sz="1430" dirty="0"/>
              <a:t> may be wrapped in an instance of the </a:t>
            </a:r>
            <a:r>
              <a:rPr lang="en" sz="1430" dirty="0">
                <a:latin typeface="Courier New"/>
                <a:ea typeface="Courier New"/>
                <a:cs typeface="Courier New"/>
                <a:sym typeface="Courier New"/>
              </a:rPr>
              <a:t>java.io.BufferedReader</a:t>
            </a:r>
            <a:r>
              <a:rPr lang="en" sz="1430" dirty="0"/>
              <a:t> class</a:t>
            </a:r>
            <a:endParaRPr sz="1005" dirty="0"/>
          </a:p>
          <a:p>
            <a:pPr marL="0" lvl="0" indent="457200" algn="l" rtl="0">
              <a:lnSpc>
                <a:spcPct val="100000"/>
              </a:lnSpc>
              <a:spcBef>
                <a:spcPts val="600"/>
              </a:spcBef>
              <a:spcAft>
                <a:spcPts val="0"/>
              </a:spcAft>
              <a:buNone/>
            </a:pPr>
            <a:r>
              <a:rPr lang="en" sz="1345" dirty="0">
                <a:latin typeface="Courier New"/>
                <a:ea typeface="Courier New"/>
                <a:cs typeface="Courier New"/>
                <a:sym typeface="Courier New"/>
              </a:rPr>
              <a:t>BufferedReader sc = new </a:t>
            </a:r>
            <a:endParaRPr sz="1345" dirty="0">
              <a:latin typeface="Courier New"/>
              <a:ea typeface="Courier New"/>
              <a:cs typeface="Courier New"/>
              <a:sym typeface="Courier New"/>
            </a:endParaRPr>
          </a:p>
          <a:p>
            <a:pPr marL="457200" lvl="0" indent="457200" algn="l" rtl="0">
              <a:lnSpc>
                <a:spcPct val="100000"/>
              </a:lnSpc>
              <a:spcBef>
                <a:spcPts val="600"/>
              </a:spcBef>
              <a:spcAft>
                <a:spcPts val="0"/>
              </a:spcAft>
              <a:buNone/>
            </a:pPr>
            <a:r>
              <a:rPr lang="en" sz="1345" dirty="0">
                <a:latin typeface="Courier New"/>
                <a:ea typeface="Courier New"/>
                <a:cs typeface="Courier New"/>
                <a:sym typeface="Courier New"/>
              </a:rPr>
              <a:t>BufferedReader(inputStream);</a:t>
            </a:r>
            <a:endParaRPr sz="835" dirty="0">
              <a:latin typeface="Courier New"/>
              <a:ea typeface="Courier New"/>
              <a:cs typeface="Courier New"/>
              <a:sym typeface="Courier New"/>
            </a:endParaRPr>
          </a:p>
          <a:p>
            <a:pPr marL="457200" lvl="0" indent="-319405" algn="l" rtl="0">
              <a:spcBef>
                <a:spcPts val="600"/>
              </a:spcBef>
              <a:spcAft>
                <a:spcPts val="0"/>
              </a:spcAft>
              <a:buSzPts val="1430"/>
              <a:buChar char="●"/>
            </a:pPr>
            <a:r>
              <a:rPr lang="en" sz="1430" dirty="0"/>
              <a:t>Remember, a </a:t>
            </a:r>
            <a:r>
              <a:rPr lang="en" sz="1430" dirty="0">
                <a:latin typeface="Courier New"/>
                <a:ea typeface="Courier New"/>
                <a:cs typeface="Courier New"/>
                <a:sym typeface="Courier New"/>
              </a:rPr>
              <a:t>BufferedReader</a:t>
            </a:r>
            <a:r>
              <a:rPr lang="en" sz="1430" dirty="0"/>
              <a:t> provides useful methods, including:</a:t>
            </a:r>
            <a:endParaRPr sz="1005" dirty="0"/>
          </a:p>
          <a:p>
            <a:pPr marL="914400" lvl="1" indent="-311150" algn="l" rtl="0">
              <a:spcBef>
                <a:spcPts val="0"/>
              </a:spcBef>
              <a:spcAft>
                <a:spcPts val="0"/>
              </a:spcAft>
              <a:buSzPts val="1300"/>
              <a:buChar char="○"/>
            </a:pPr>
            <a:r>
              <a:rPr lang="en" sz="1300" dirty="0">
                <a:latin typeface="Courier New"/>
                <a:ea typeface="Courier New"/>
                <a:cs typeface="Courier New"/>
                <a:sym typeface="Courier New"/>
              </a:rPr>
              <a:t>readLine()</a:t>
            </a:r>
            <a:r>
              <a:rPr lang="en" sz="1300" dirty="0"/>
              <a:t> - reads up to the next newline</a:t>
            </a:r>
            <a:endParaRPr sz="1300" dirty="0"/>
          </a:p>
          <a:p>
            <a:pPr marL="914400" lvl="1" indent="-311150" algn="l" rtl="0">
              <a:spcBef>
                <a:spcPts val="0"/>
              </a:spcBef>
              <a:spcAft>
                <a:spcPts val="0"/>
              </a:spcAft>
              <a:buSzPts val="1300"/>
              <a:buChar char="○"/>
            </a:pPr>
            <a:r>
              <a:rPr lang="en" sz="1300" dirty="0">
                <a:latin typeface="Courier New"/>
                <a:ea typeface="Courier New"/>
                <a:cs typeface="Courier New"/>
                <a:sym typeface="Courier New"/>
              </a:rPr>
              <a:t>lines()</a:t>
            </a:r>
            <a:r>
              <a:rPr lang="en" sz="1300" dirty="0"/>
              <a:t> - interprets the received data as a </a:t>
            </a:r>
            <a:r>
              <a:rPr lang="en" sz="1300" dirty="0">
                <a:latin typeface="Courier New"/>
                <a:ea typeface="Courier New"/>
                <a:cs typeface="Courier New"/>
                <a:sym typeface="Courier New"/>
              </a:rPr>
              <a:t>Stream</a:t>
            </a:r>
            <a:r>
              <a:rPr lang="en" sz="1300" dirty="0"/>
              <a:t> of lines.</a:t>
            </a:r>
            <a:endParaRPr sz="1430" dirty="0"/>
          </a:p>
        </p:txBody>
      </p:sp>
      <p:sp>
        <p:nvSpPr>
          <p:cNvPr id="723" name="Google Shape;723;p68"/>
          <p:cNvSpPr txBox="1">
            <a:spLocks noGrp="1"/>
          </p:cNvSpPr>
          <p:nvPr>
            <p:ph type="title"/>
          </p:nvPr>
        </p:nvSpPr>
        <p:spPr>
          <a:xfrm>
            <a:off x="311725" y="153000"/>
            <a:ext cx="3706500" cy="5895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sz="2300"/>
              <a:t>Review: Receiving Data</a:t>
            </a:r>
            <a:endParaRPr sz="2300"/>
          </a:p>
        </p:txBody>
      </p:sp>
      <p:sp>
        <p:nvSpPr>
          <p:cNvPr id="724" name="Google Shape;724;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pic>
        <p:nvPicPr>
          <p:cNvPr id="725" name="Google Shape;725;p68"/>
          <p:cNvPicPr preferRelativeResize="0"/>
          <p:nvPr/>
        </p:nvPicPr>
        <p:blipFill rotWithShape="1">
          <a:blip r:embed="rId3">
            <a:alphaModFix/>
          </a:blip>
          <a:srcRect/>
          <a:stretch/>
        </p:blipFill>
        <p:spPr>
          <a:xfrm rot="1255174" flipH="1">
            <a:off x="2499706" y="3933192"/>
            <a:ext cx="1307539" cy="1307567"/>
          </a:xfrm>
          <a:prstGeom prst="rect">
            <a:avLst/>
          </a:prstGeom>
          <a:noFill/>
          <a:ln>
            <a:noFill/>
          </a:ln>
        </p:spPr>
      </p:pic>
      <p:sp>
        <p:nvSpPr>
          <p:cNvPr id="726" name="Google Shape;726;p68"/>
          <p:cNvSpPr/>
          <p:nvPr/>
        </p:nvSpPr>
        <p:spPr>
          <a:xfrm>
            <a:off x="1903862" y="3983714"/>
            <a:ext cx="759000" cy="431100"/>
          </a:xfrm>
          <a:prstGeom prst="wedgeRoundRectCallout">
            <a:avLst>
              <a:gd name="adj1" fmla="val 120496"/>
              <a:gd name="adj2" fmla="val -21648"/>
              <a:gd name="adj3" fmla="val 0"/>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pic>
        <p:nvPicPr>
          <p:cNvPr id="727" name="Google Shape;727;p68"/>
          <p:cNvPicPr preferRelativeResize="0"/>
          <p:nvPr/>
        </p:nvPicPr>
        <p:blipFill rotWithShape="1">
          <a:blip r:embed="rId4">
            <a:alphaModFix/>
          </a:blip>
          <a:srcRect r="46729" b="17594"/>
          <a:stretch/>
        </p:blipFill>
        <p:spPr>
          <a:xfrm flipH="1">
            <a:off x="2859151" y="1485564"/>
            <a:ext cx="1015500" cy="1127850"/>
          </a:xfrm>
          <a:prstGeom prst="rect">
            <a:avLst/>
          </a:prstGeom>
          <a:noFill/>
          <a:ln>
            <a:noFill/>
          </a:ln>
        </p:spPr>
      </p:pic>
      <p:sp>
        <p:nvSpPr>
          <p:cNvPr id="728" name="Google Shape;728;p68"/>
          <p:cNvSpPr txBox="1"/>
          <p:nvPr/>
        </p:nvSpPr>
        <p:spPr>
          <a:xfrm>
            <a:off x="560975" y="742525"/>
            <a:ext cx="3326700" cy="6834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It can be helpful to think of the two ends of the connection like a telephone.</a:t>
            </a:r>
            <a:endParaRPr>
              <a:solidFill>
                <a:schemeClr val="dk1"/>
              </a:solidFill>
              <a:latin typeface="Arial"/>
              <a:ea typeface="Arial"/>
              <a:cs typeface="Arial"/>
              <a:sym typeface="Arial"/>
            </a:endParaRPr>
          </a:p>
        </p:txBody>
      </p:sp>
      <p:pic>
        <p:nvPicPr>
          <p:cNvPr id="729" name="Google Shape;729;p68"/>
          <p:cNvPicPr preferRelativeResize="0"/>
          <p:nvPr/>
        </p:nvPicPr>
        <p:blipFill rotWithShape="1">
          <a:blip r:embed="rId3">
            <a:alphaModFix/>
          </a:blip>
          <a:srcRect/>
          <a:stretch/>
        </p:blipFill>
        <p:spPr>
          <a:xfrm rot="-1610027">
            <a:off x="568827" y="1420572"/>
            <a:ext cx="1375847" cy="1375858"/>
          </a:xfrm>
          <a:prstGeom prst="rect">
            <a:avLst/>
          </a:prstGeom>
          <a:noFill/>
          <a:ln>
            <a:noFill/>
          </a:ln>
        </p:spPr>
      </p:pic>
      <p:sp>
        <p:nvSpPr>
          <p:cNvPr id="730" name="Google Shape;730;p68"/>
          <p:cNvSpPr txBox="1"/>
          <p:nvPr/>
        </p:nvSpPr>
        <p:spPr>
          <a:xfrm>
            <a:off x="560975" y="2704350"/>
            <a:ext cx="3326700" cy="5139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Audio sent through the microphone (</a:t>
            </a:r>
            <a:r>
              <a:rPr lang="en" b="1" i="1">
                <a:solidFill>
                  <a:srgbClr val="FF0000"/>
                </a:solidFill>
                <a:latin typeface="Arial"/>
                <a:ea typeface="Arial"/>
                <a:cs typeface="Arial"/>
                <a:sym typeface="Arial"/>
              </a:rPr>
              <a:t>output stream</a:t>
            </a:r>
            <a:r>
              <a:rPr lang="en">
                <a:solidFill>
                  <a:schemeClr val="dk1"/>
                </a:solidFill>
                <a:latin typeface="Arial"/>
                <a:ea typeface="Arial"/>
                <a:cs typeface="Arial"/>
                <a:sym typeface="Arial"/>
              </a:rPr>
              <a:t>) on one end...</a:t>
            </a:r>
            <a:endParaRPr>
              <a:solidFill>
                <a:schemeClr val="dk1"/>
              </a:solidFill>
              <a:latin typeface="Arial"/>
              <a:ea typeface="Arial"/>
              <a:cs typeface="Arial"/>
              <a:sym typeface="Arial"/>
            </a:endParaRPr>
          </a:p>
        </p:txBody>
      </p:sp>
      <p:sp>
        <p:nvSpPr>
          <p:cNvPr id="731" name="Google Shape;731;p68"/>
          <p:cNvSpPr txBox="1"/>
          <p:nvPr/>
        </p:nvSpPr>
        <p:spPr>
          <a:xfrm>
            <a:off x="560975" y="3349175"/>
            <a:ext cx="3326700" cy="513900"/>
          </a:xfrm>
          <a:prstGeom prst="rect">
            <a:avLst/>
          </a:prstGeom>
          <a:solidFill>
            <a:srgbClr val="FFF2CC"/>
          </a:solidFill>
          <a:ln w="19050" cap="flat" cmpd="sng">
            <a:solidFill>
              <a:srgbClr val="FF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...is heard through the speaker (</a:t>
            </a:r>
            <a:r>
              <a:rPr lang="en" b="1" i="1">
                <a:solidFill>
                  <a:srgbClr val="FF0000"/>
                </a:solidFill>
                <a:latin typeface="Arial"/>
                <a:ea typeface="Arial"/>
                <a:cs typeface="Arial"/>
                <a:sym typeface="Arial"/>
              </a:rPr>
              <a:t>input stream</a:t>
            </a:r>
            <a:r>
              <a:rPr lang="en">
                <a:solidFill>
                  <a:schemeClr val="dk1"/>
                </a:solidFill>
                <a:latin typeface="Arial"/>
                <a:ea typeface="Arial"/>
                <a:cs typeface="Arial"/>
                <a:sym typeface="Arial"/>
              </a:rPr>
              <a:t>) on the other.</a:t>
            </a:r>
            <a:endParaRPr>
              <a:solidFill>
                <a:schemeClr val="dk1"/>
              </a:solidFill>
              <a:latin typeface="Arial"/>
              <a:ea typeface="Arial"/>
              <a:cs typeface="Arial"/>
              <a:sym typeface="Arial"/>
            </a:endParaRPr>
          </a:p>
        </p:txBody>
      </p:sp>
      <p:sp>
        <p:nvSpPr>
          <p:cNvPr id="732" name="Google Shape;732;p68"/>
          <p:cNvSpPr/>
          <p:nvPr/>
        </p:nvSpPr>
        <p:spPr>
          <a:xfrm>
            <a:off x="2014772" y="2009553"/>
            <a:ext cx="771900" cy="431100"/>
          </a:xfrm>
          <a:prstGeom prst="wedgeRoundRectCallout">
            <a:avLst>
              <a:gd name="adj1" fmla="val 119109"/>
              <a:gd name="adj2" fmla="val -47550"/>
              <a:gd name="adj3" fmla="val 0"/>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69"/>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3400"/>
              <a:t>Echo?</a:t>
            </a:r>
            <a:endParaRPr sz="3400"/>
          </a:p>
        </p:txBody>
      </p:sp>
      <p:sp>
        <p:nvSpPr>
          <p:cNvPr id="738" name="Google Shape;738;p69"/>
          <p:cNvSpPr txBox="1">
            <a:spLocks noGrp="1"/>
          </p:cNvSpPr>
          <p:nvPr>
            <p:ph type="body" idx="1"/>
          </p:nvPr>
        </p:nvSpPr>
        <p:spPr>
          <a:xfrm>
            <a:off x="65250" y="731625"/>
            <a:ext cx="8955900" cy="923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Clr>
                <a:srgbClr val="000000"/>
              </a:buClr>
              <a:buSzPts val="1800"/>
              <a:buNone/>
            </a:pPr>
            <a:r>
              <a:rPr lang="en"/>
              <a:t>We're off to a good start, but the client doesn't have a server to talk to, yet. This is why you're getting a "connection refused" exception when you run the client. Let's write the server-side of this application; listen for a connection, read a message, and print it out.</a:t>
            </a:r>
            <a:endParaRPr sz="1300"/>
          </a:p>
        </p:txBody>
      </p:sp>
      <p:sp>
        <p:nvSpPr>
          <p:cNvPr id="739" name="Google Shape;739;p69"/>
          <p:cNvSpPr txBox="1">
            <a:spLocks noGrp="1"/>
          </p:cNvSpPr>
          <p:nvPr>
            <p:ph type="body" idx="2"/>
          </p:nvPr>
        </p:nvSpPr>
        <p:spPr>
          <a:xfrm>
            <a:off x="4680575" y="1724400"/>
            <a:ext cx="4262700" cy="2077200"/>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dirty="0"/>
              <a:t>In the </a:t>
            </a:r>
            <a:r>
              <a:rPr lang="en" dirty="0">
                <a:latin typeface="Courier New"/>
                <a:ea typeface="Courier New"/>
                <a:cs typeface="Courier New"/>
                <a:sym typeface="Courier New"/>
              </a:rPr>
              <a:t>echo</a:t>
            </a:r>
            <a:r>
              <a:rPr lang="en" dirty="0"/>
              <a:t> package, create an </a:t>
            </a:r>
            <a:r>
              <a:rPr lang="en" dirty="0">
                <a:solidFill>
                  <a:srgbClr val="FF0000"/>
                </a:solidFill>
                <a:latin typeface="Courier New"/>
                <a:ea typeface="Courier New"/>
                <a:cs typeface="Courier New"/>
                <a:sym typeface="Courier New"/>
              </a:rPr>
              <a:t>EchoServer</a:t>
            </a:r>
            <a:r>
              <a:rPr lang="en" dirty="0"/>
              <a:t> class</a:t>
            </a:r>
            <a:endParaRPr dirty="0"/>
          </a:p>
          <a:p>
            <a:pPr marL="457200" lvl="0" indent="-311150" algn="l" rtl="0">
              <a:lnSpc>
                <a:spcPct val="115000"/>
              </a:lnSpc>
              <a:spcBef>
                <a:spcPts val="0"/>
              </a:spcBef>
              <a:spcAft>
                <a:spcPts val="0"/>
              </a:spcAft>
              <a:buSzPts val="1300"/>
              <a:buChar char="●"/>
            </a:pPr>
            <a:r>
              <a:rPr lang="en" dirty="0"/>
              <a:t>Create a </a:t>
            </a:r>
            <a:r>
              <a:rPr lang="en" dirty="0">
                <a:solidFill>
                  <a:srgbClr val="FF0000"/>
                </a:solidFill>
                <a:latin typeface="Courier New"/>
                <a:ea typeface="Courier New"/>
                <a:cs typeface="Courier New"/>
                <a:sym typeface="Courier New"/>
              </a:rPr>
              <a:t>ServerSocket</a:t>
            </a:r>
            <a:r>
              <a:rPr lang="en" dirty="0"/>
              <a:t> on port </a:t>
            </a:r>
            <a:r>
              <a:rPr lang="en" dirty="0">
                <a:latin typeface="Courier New"/>
                <a:ea typeface="Courier New"/>
                <a:cs typeface="Courier New"/>
                <a:sym typeface="Courier New"/>
              </a:rPr>
              <a:t>54321</a:t>
            </a:r>
            <a:r>
              <a:rPr lang="en" dirty="0"/>
              <a:t> and use it to listen for an incoming connection</a:t>
            </a:r>
            <a:endParaRPr dirty="0"/>
          </a:p>
          <a:p>
            <a:pPr marL="457200" lvl="0" indent="-311150" algn="l" rtl="0">
              <a:lnSpc>
                <a:spcPct val="115000"/>
              </a:lnSpc>
              <a:spcBef>
                <a:spcPts val="0"/>
              </a:spcBef>
              <a:spcAft>
                <a:spcPts val="0"/>
              </a:spcAft>
              <a:buSzPts val="1300"/>
              <a:buChar char="●"/>
            </a:pPr>
            <a:r>
              <a:rPr lang="en" dirty="0"/>
              <a:t>Use a </a:t>
            </a:r>
            <a:r>
              <a:rPr lang="en" dirty="0">
                <a:latin typeface="Courier New"/>
                <a:ea typeface="Courier New"/>
                <a:cs typeface="Courier New"/>
                <a:sym typeface="Courier New"/>
              </a:rPr>
              <a:t>Scanner</a:t>
            </a:r>
            <a:r>
              <a:rPr lang="en" dirty="0"/>
              <a:t> to read one line from the client socket and print it.</a:t>
            </a:r>
            <a:endParaRPr dirty="0"/>
          </a:p>
          <a:p>
            <a:pPr marL="457200" lvl="0" indent="-311150" algn="l" rtl="0">
              <a:lnSpc>
                <a:spcPct val="115000"/>
              </a:lnSpc>
              <a:spcBef>
                <a:spcPts val="0"/>
              </a:spcBef>
              <a:spcAft>
                <a:spcPts val="0"/>
              </a:spcAft>
              <a:buSzPts val="1300"/>
              <a:buChar char="●"/>
            </a:pPr>
            <a:r>
              <a:rPr lang="en" dirty="0"/>
              <a:t>Run your </a:t>
            </a:r>
            <a:r>
              <a:rPr lang="en" dirty="0">
                <a:latin typeface="Courier New"/>
                <a:ea typeface="Courier New"/>
                <a:cs typeface="Courier New"/>
                <a:sym typeface="Courier New"/>
              </a:rPr>
              <a:t>EchoServer</a:t>
            </a:r>
            <a:r>
              <a:rPr lang="en" dirty="0"/>
              <a:t> and then </a:t>
            </a:r>
            <a:r>
              <a:rPr lang="en" dirty="0">
                <a:latin typeface="Courier New"/>
                <a:ea typeface="Courier New"/>
                <a:cs typeface="Courier New"/>
                <a:sym typeface="Courier New"/>
              </a:rPr>
              <a:t>EchoClient</a:t>
            </a:r>
            <a:endParaRPr dirty="0">
              <a:latin typeface="Courier New"/>
              <a:ea typeface="Courier New"/>
              <a:cs typeface="Courier New"/>
              <a:sym typeface="Courier New"/>
            </a:endParaRPr>
          </a:p>
          <a:p>
            <a:pPr marL="914400" lvl="1" indent="-304800" algn="l" rtl="0">
              <a:lnSpc>
                <a:spcPct val="115000"/>
              </a:lnSpc>
              <a:spcBef>
                <a:spcPts val="0"/>
              </a:spcBef>
              <a:spcAft>
                <a:spcPts val="0"/>
              </a:spcAft>
              <a:buSzPts val="1200"/>
              <a:buChar char="○"/>
            </a:pPr>
            <a:r>
              <a:rPr lang="en" sz="1200" dirty="0"/>
              <a:t>You should see the message from the client appear in the server's terminal!</a:t>
            </a:r>
            <a:endParaRPr sz="1200" dirty="0"/>
          </a:p>
        </p:txBody>
      </p:sp>
      <p:sp>
        <p:nvSpPr>
          <p:cNvPr id="740" name="Google Shape;740;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741" name="Google Shape;741;p6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9.9</a:t>
            </a:r>
            <a:endParaRPr/>
          </a:p>
        </p:txBody>
      </p:sp>
      <p:sp>
        <p:nvSpPr>
          <p:cNvPr id="742" name="Google Shape;742;p69"/>
          <p:cNvSpPr txBox="1"/>
          <p:nvPr/>
        </p:nvSpPr>
        <p:spPr>
          <a:xfrm>
            <a:off x="134650" y="1740050"/>
            <a:ext cx="4480500" cy="1803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1  </a:t>
            </a:r>
            <a:r>
              <a:rPr lang="en" sz="1150" dirty="0">
                <a:solidFill>
                  <a:srgbClr val="267F99"/>
                </a:solidFill>
                <a:latin typeface="Consolas"/>
                <a:ea typeface="Consolas"/>
                <a:cs typeface="Consolas"/>
                <a:sym typeface="Consolas"/>
              </a:rPr>
              <a:t>InputStream</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 =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getInputStream</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chemeClr val="accent5"/>
                </a:solidFill>
                <a:latin typeface="Consolas"/>
                <a:ea typeface="Consolas"/>
                <a:cs typeface="Consolas"/>
                <a:sym typeface="Consolas"/>
              </a:rPr>
              <a:t>2</a:t>
            </a:r>
            <a:r>
              <a:rPr lang="en" sz="1150" dirty="0">
                <a:latin typeface="Consolas"/>
                <a:ea typeface="Consolas"/>
                <a:cs typeface="Consolas"/>
                <a:sym typeface="Consolas"/>
              </a:rPr>
              <a:t>  </a:t>
            </a:r>
            <a:r>
              <a:rPr lang="en" sz="1150" dirty="0">
                <a:solidFill>
                  <a:srgbClr val="267F99"/>
                </a:solidFill>
                <a:latin typeface="Consolas"/>
                <a:ea typeface="Consolas"/>
                <a:cs typeface="Consolas"/>
                <a:sym typeface="Consolas"/>
              </a:rPr>
              <a:t>InputStreamReader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InputStreamReader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3  </a:t>
            </a:r>
            <a:r>
              <a:rPr lang="en" sz="1150" dirty="0">
                <a:solidFill>
                  <a:srgbClr val="267F99"/>
                </a:solidFill>
                <a:latin typeface="Consolas"/>
                <a:ea typeface="Consolas"/>
                <a:cs typeface="Consolas"/>
                <a:sym typeface="Consolas"/>
              </a:rPr>
              <a:t>BufferedReader</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reader</a:t>
            </a:r>
            <a:r>
              <a:rPr lang="en" sz="1150" dirty="0">
                <a:latin typeface="Consolas"/>
                <a:ea typeface="Consolas"/>
                <a:cs typeface="Consolas"/>
                <a:sym typeface="Consolas"/>
              </a:rPr>
              <a:t> = </a:t>
            </a:r>
            <a:r>
              <a:rPr lang="en" sz="1150" dirty="0">
                <a:solidFill>
                  <a:srgbClr val="AF00DB"/>
                </a:solidFill>
                <a:latin typeface="Consolas"/>
                <a:ea typeface="Consolas"/>
                <a:cs typeface="Consolas"/>
                <a:sym typeface="Consolas"/>
              </a:rPr>
              <a:t>new</a:t>
            </a:r>
            <a:r>
              <a:rPr lang="en" sz="1150" dirty="0">
                <a:latin typeface="Consolas"/>
                <a:ea typeface="Consolas"/>
                <a:cs typeface="Consolas"/>
                <a:sym typeface="Consolas"/>
              </a:rPr>
              <a:t> </a:t>
            </a:r>
            <a:r>
              <a:rPr lang="en" sz="1150" dirty="0">
                <a:solidFill>
                  <a:srgbClr val="795E26"/>
                </a:solidFill>
                <a:latin typeface="Consolas"/>
                <a:ea typeface="Consolas"/>
                <a:cs typeface="Consolas"/>
                <a:sym typeface="Consolas"/>
              </a:rPr>
              <a:t>BufferedReader</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input</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4  </a:t>
            </a:r>
            <a:r>
              <a:rPr lang="en" sz="1150" dirty="0">
                <a:solidFill>
                  <a:srgbClr val="267F99"/>
                </a:solidFill>
                <a:latin typeface="Consolas"/>
                <a:ea typeface="Consolas"/>
                <a:cs typeface="Consolas"/>
                <a:sym typeface="Consolas"/>
              </a:rPr>
              <a:t>String</a:t>
            </a:r>
            <a:r>
              <a:rPr lang="en" sz="1150" dirty="0">
                <a:latin typeface="Consolas"/>
                <a:ea typeface="Consolas"/>
                <a:cs typeface="Consolas"/>
                <a:sym typeface="Consolas"/>
              </a:rPr>
              <a:t> </a:t>
            </a:r>
            <a:r>
              <a:rPr lang="en" sz="1150" dirty="0">
                <a:solidFill>
                  <a:srgbClr val="001080"/>
                </a:solidFill>
                <a:latin typeface="Consolas"/>
                <a:ea typeface="Consolas"/>
                <a:cs typeface="Consolas"/>
                <a:sym typeface="Consolas"/>
              </a:rPr>
              <a:t>message</a:t>
            </a:r>
            <a:r>
              <a:rPr lang="en" sz="1150" dirty="0">
                <a:latin typeface="Consolas"/>
                <a:ea typeface="Consolas"/>
                <a:cs typeface="Consolas"/>
                <a:sym typeface="Consolas"/>
              </a:rPr>
              <a:t> = </a:t>
            </a:r>
            <a:r>
              <a:rPr lang="en" sz="1150" dirty="0">
                <a:solidFill>
                  <a:srgbClr val="001080"/>
                </a:solidFill>
                <a:latin typeface="Consolas"/>
                <a:ea typeface="Consolas"/>
                <a:cs typeface="Consolas"/>
                <a:sym typeface="Consolas"/>
              </a:rPr>
              <a:t>reader</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readLine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5  </a:t>
            </a:r>
            <a:r>
              <a:rPr lang="en" sz="1150" dirty="0">
                <a:solidFill>
                  <a:srgbClr val="267F99"/>
                </a:solidFill>
                <a:latin typeface="Consolas"/>
                <a:ea typeface="Consolas"/>
                <a:cs typeface="Consolas"/>
                <a:sym typeface="Consolas"/>
              </a:rPr>
              <a:t>System</a:t>
            </a:r>
            <a:r>
              <a:rPr lang="en" sz="1150" dirty="0">
                <a:latin typeface="Consolas"/>
                <a:ea typeface="Consolas"/>
                <a:cs typeface="Consolas"/>
                <a:sym typeface="Consolas"/>
              </a:rPr>
              <a:t>.</a:t>
            </a:r>
            <a:r>
              <a:rPr lang="en" sz="1150" dirty="0">
                <a:solidFill>
                  <a:srgbClr val="0070C1"/>
                </a:solidFill>
                <a:latin typeface="Consolas"/>
                <a:ea typeface="Consolas"/>
                <a:cs typeface="Consolas"/>
                <a:sym typeface="Consolas"/>
              </a:rPr>
              <a:t>out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print</a:t>
            </a:r>
            <a:r>
              <a:rPr lang="en" sz="1150" dirty="0">
                <a:latin typeface="Consolas"/>
                <a:ea typeface="Consolas"/>
                <a:cs typeface="Consolas"/>
                <a:sym typeface="Consolas"/>
              </a:rPr>
              <a:t>(</a:t>
            </a:r>
            <a:r>
              <a:rPr lang="en" sz="1150" dirty="0">
                <a:solidFill>
                  <a:srgbClr val="001080"/>
                </a:solidFill>
                <a:latin typeface="Consolas"/>
                <a:ea typeface="Consolas"/>
                <a:cs typeface="Consolas"/>
                <a:sym typeface="Consolas"/>
              </a:rPr>
              <a:t>message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6  </a:t>
            </a:r>
            <a:r>
              <a:rPr lang="en" sz="1150" dirty="0">
                <a:solidFill>
                  <a:srgbClr val="001080"/>
                </a:solidFill>
                <a:latin typeface="Consolas"/>
                <a:ea typeface="Consolas"/>
                <a:cs typeface="Consolas"/>
                <a:sym typeface="Consolas"/>
              </a:rPr>
              <a:t>client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close</a:t>
            </a:r>
            <a:r>
              <a:rPr lang="en" sz="1150" dirty="0">
                <a:latin typeface="Consolas"/>
                <a:ea typeface="Consolas"/>
                <a:cs typeface="Consolas"/>
                <a:sym typeface="Consolas"/>
              </a:rPr>
              <a:t>();</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50" dirty="0">
                <a:solidFill>
                  <a:srgbClr val="098658"/>
                </a:solidFill>
                <a:latin typeface="Consolas"/>
                <a:ea typeface="Consolas"/>
                <a:cs typeface="Consolas"/>
                <a:sym typeface="Consolas"/>
              </a:rPr>
              <a:t>7  </a:t>
            </a:r>
            <a:r>
              <a:rPr lang="en" sz="1150" dirty="0">
                <a:solidFill>
                  <a:srgbClr val="267F99"/>
                </a:solidFill>
                <a:latin typeface="Consolas"/>
                <a:ea typeface="Consolas"/>
                <a:cs typeface="Consolas"/>
                <a:sym typeface="Consolas"/>
              </a:rPr>
              <a:t>System</a:t>
            </a:r>
            <a:r>
              <a:rPr lang="en" sz="1150" dirty="0">
                <a:latin typeface="Consolas"/>
                <a:ea typeface="Consolas"/>
                <a:cs typeface="Consolas"/>
                <a:sym typeface="Consolas"/>
              </a:rPr>
              <a:t>.</a:t>
            </a:r>
            <a:r>
              <a:rPr lang="en" sz="1150" dirty="0">
                <a:solidFill>
                  <a:srgbClr val="0070C1"/>
                </a:solidFill>
                <a:latin typeface="Consolas"/>
                <a:ea typeface="Consolas"/>
                <a:cs typeface="Consolas"/>
                <a:sym typeface="Consolas"/>
              </a:rPr>
              <a:t>out</a:t>
            </a:r>
            <a:r>
              <a:rPr lang="en" sz="1150" dirty="0">
                <a:latin typeface="Consolas"/>
                <a:ea typeface="Consolas"/>
                <a:cs typeface="Consolas"/>
                <a:sym typeface="Consolas"/>
              </a:rPr>
              <a:t>.</a:t>
            </a:r>
            <a:r>
              <a:rPr lang="en" sz="1150" dirty="0">
                <a:solidFill>
                  <a:srgbClr val="795E26"/>
                </a:solidFill>
                <a:latin typeface="Consolas"/>
                <a:ea typeface="Consolas"/>
                <a:cs typeface="Consolas"/>
                <a:sym typeface="Consolas"/>
              </a:rPr>
              <a:t>println</a:t>
            </a:r>
            <a:r>
              <a:rPr lang="en" sz="1150" dirty="0">
                <a:latin typeface="Consolas"/>
                <a:ea typeface="Consolas"/>
                <a:cs typeface="Consolas"/>
                <a:sym typeface="Consolas"/>
              </a:rPr>
              <a:t>();</a:t>
            </a:r>
            <a:endParaRPr sz="1250" dirty="0">
              <a:solidFill>
                <a:srgbClr val="267F99"/>
              </a:solidFill>
              <a:latin typeface="Consolas"/>
              <a:ea typeface="Consolas"/>
              <a:cs typeface="Consolas"/>
              <a:sym typeface="Consolas"/>
            </a:endParaRPr>
          </a:p>
        </p:txBody>
      </p:sp>
      <p:sp>
        <p:nvSpPr>
          <p:cNvPr id="743" name="Google Shape;743;p69"/>
          <p:cNvSpPr txBox="1"/>
          <p:nvPr/>
        </p:nvSpPr>
        <p:spPr>
          <a:xfrm>
            <a:off x="134650" y="3628075"/>
            <a:ext cx="4480500" cy="3594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spcBef>
                <a:spcPts val="0"/>
              </a:spcBef>
              <a:spcAft>
                <a:spcPts val="0"/>
              </a:spcAft>
              <a:buNone/>
            </a:pPr>
            <a:r>
              <a:rPr lang="en" sz="1200">
                <a:solidFill>
                  <a:schemeClr val="dk1"/>
                </a:solidFill>
              </a:rPr>
              <a:t>You can also use the stream if you prefer that notation.</a:t>
            </a:r>
            <a:endParaRPr sz="1200">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70"/>
          <p:cNvSpPr txBox="1">
            <a:spLocks noGrp="1"/>
          </p:cNvSpPr>
          <p:nvPr>
            <p:ph type="title"/>
          </p:nvPr>
        </p:nvSpPr>
        <p:spPr>
          <a:xfrm>
            <a:off x="311725" y="437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Review: A Typical Client &amp; Server</a:t>
            </a:r>
            <a:endParaRPr/>
          </a:p>
        </p:txBody>
      </p:sp>
      <p:sp>
        <p:nvSpPr>
          <p:cNvPr id="749" name="Google Shape;749;p70"/>
          <p:cNvSpPr txBox="1"/>
          <p:nvPr/>
        </p:nvSpPr>
        <p:spPr>
          <a:xfrm>
            <a:off x="2410325" y="2558224"/>
            <a:ext cx="1431000" cy="43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Playfair Display"/>
                <a:ea typeface="Playfair Display"/>
                <a:cs typeface="Playfair Display"/>
                <a:sym typeface="Playfair Display"/>
              </a:rPr>
              <a:t>Socket</a:t>
            </a:r>
            <a:endParaRPr sz="1800">
              <a:solidFill>
                <a:schemeClr val="dk1"/>
              </a:solidFill>
              <a:latin typeface="Playfair Display"/>
              <a:ea typeface="Playfair Display"/>
              <a:cs typeface="Playfair Display"/>
              <a:sym typeface="Playfair Display"/>
            </a:endParaRPr>
          </a:p>
          <a:p>
            <a:pPr marL="0" marR="0" lvl="0" indent="0" algn="ctr" rtl="0">
              <a:spcBef>
                <a:spcPts val="0"/>
              </a:spcBef>
              <a:spcAft>
                <a:spcPts val="0"/>
              </a:spcAft>
              <a:buNone/>
            </a:pPr>
            <a:r>
              <a:rPr lang="en" sz="1000">
                <a:solidFill>
                  <a:schemeClr val="dk1"/>
                </a:solidFill>
                <a:latin typeface="Playfair Display"/>
                <a:ea typeface="Playfair Display"/>
                <a:cs typeface="Playfair Display"/>
                <a:sym typeface="Playfair Display"/>
              </a:rPr>
              <a:t>(server side)</a:t>
            </a:r>
            <a:endParaRPr sz="1000">
              <a:solidFill>
                <a:schemeClr val="dk1"/>
              </a:solidFill>
              <a:latin typeface="Playfair Display"/>
              <a:ea typeface="Playfair Display"/>
              <a:cs typeface="Playfair Display"/>
              <a:sym typeface="Playfair Display"/>
            </a:endParaRPr>
          </a:p>
        </p:txBody>
      </p:sp>
      <p:sp>
        <p:nvSpPr>
          <p:cNvPr id="750" name="Google Shape;750;p70"/>
          <p:cNvSpPr txBox="1"/>
          <p:nvPr/>
        </p:nvSpPr>
        <p:spPr>
          <a:xfrm>
            <a:off x="2410325" y="2988425"/>
            <a:ext cx="1431000" cy="8241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spcBef>
                <a:spcPts val="0"/>
              </a:spcBef>
              <a:spcAft>
                <a:spcPts val="0"/>
              </a:spcAft>
              <a:buNone/>
            </a:pPr>
            <a:r>
              <a:rPr lang="en" sz="1800">
                <a:solidFill>
                  <a:schemeClr val="dk1"/>
                </a:solidFill>
                <a:latin typeface="Playfair Display"/>
                <a:ea typeface="Playfair Display"/>
                <a:cs typeface="Playfair Display"/>
                <a:sym typeface="Playfair Display"/>
              </a:rPr>
              <a:t>Input Stream</a:t>
            </a:r>
            <a:endParaRPr sz="1800">
              <a:solidFill>
                <a:schemeClr val="dk1"/>
              </a:solidFill>
              <a:latin typeface="Playfair Display"/>
              <a:ea typeface="Playfair Display"/>
              <a:cs typeface="Playfair Display"/>
              <a:sym typeface="Playfair Display"/>
            </a:endParaRPr>
          </a:p>
          <a:p>
            <a:pPr marL="0" marR="0" lvl="0" indent="0" algn="ctr" rtl="0">
              <a:spcBef>
                <a:spcPts val="0"/>
              </a:spcBef>
              <a:spcAft>
                <a:spcPts val="0"/>
              </a:spcAft>
              <a:buNone/>
            </a:pPr>
            <a:endParaRPr sz="1000">
              <a:solidFill>
                <a:schemeClr val="dk1"/>
              </a:solidFill>
              <a:latin typeface="Playfair Display"/>
              <a:ea typeface="Playfair Display"/>
              <a:cs typeface="Playfair Display"/>
              <a:sym typeface="Playfair Display"/>
            </a:endParaRPr>
          </a:p>
        </p:txBody>
      </p:sp>
      <p:sp>
        <p:nvSpPr>
          <p:cNvPr id="751" name="Google Shape;751;p70"/>
          <p:cNvSpPr txBox="1"/>
          <p:nvPr/>
        </p:nvSpPr>
        <p:spPr>
          <a:xfrm>
            <a:off x="2410325" y="3812520"/>
            <a:ext cx="1431000" cy="86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spcBef>
                <a:spcPts val="0"/>
              </a:spcBef>
              <a:spcAft>
                <a:spcPts val="0"/>
              </a:spcAft>
              <a:buNone/>
            </a:pPr>
            <a:r>
              <a:rPr lang="en" sz="1800">
                <a:solidFill>
                  <a:schemeClr val="dk1"/>
                </a:solidFill>
                <a:latin typeface="Playfair Display"/>
                <a:ea typeface="Playfair Display"/>
                <a:cs typeface="Playfair Display"/>
                <a:sym typeface="Playfair Display"/>
              </a:rPr>
              <a:t>Output Stream</a:t>
            </a:r>
            <a:endParaRPr sz="1800">
              <a:solidFill>
                <a:schemeClr val="dk1"/>
              </a:solidFill>
              <a:latin typeface="Playfair Display"/>
              <a:ea typeface="Playfair Display"/>
              <a:cs typeface="Playfair Display"/>
              <a:sym typeface="Playfair Display"/>
            </a:endParaRPr>
          </a:p>
          <a:p>
            <a:pPr marL="0" marR="0" lvl="0" indent="0" algn="ctr" rtl="0">
              <a:spcBef>
                <a:spcPts val="0"/>
              </a:spcBef>
              <a:spcAft>
                <a:spcPts val="0"/>
              </a:spcAft>
              <a:buNone/>
            </a:pPr>
            <a:endParaRPr sz="1000">
              <a:solidFill>
                <a:schemeClr val="dk1"/>
              </a:solidFill>
              <a:latin typeface="Playfair Display"/>
              <a:ea typeface="Playfair Display"/>
              <a:cs typeface="Playfair Display"/>
              <a:sym typeface="Playfair Display"/>
            </a:endParaRPr>
          </a:p>
        </p:txBody>
      </p:sp>
      <p:sp>
        <p:nvSpPr>
          <p:cNvPr id="752" name="Google Shape;752;p70"/>
          <p:cNvSpPr txBox="1"/>
          <p:nvPr/>
        </p:nvSpPr>
        <p:spPr>
          <a:xfrm>
            <a:off x="5311100" y="2558225"/>
            <a:ext cx="1431000" cy="43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1800">
                <a:solidFill>
                  <a:schemeClr val="dk1"/>
                </a:solidFill>
                <a:latin typeface="Playfair Display"/>
                <a:ea typeface="Playfair Display"/>
                <a:cs typeface="Playfair Display"/>
                <a:sym typeface="Playfair Display"/>
              </a:rPr>
              <a:t>Socket</a:t>
            </a:r>
            <a:endParaRPr sz="1800">
              <a:solidFill>
                <a:schemeClr val="dk1"/>
              </a:solidFill>
              <a:latin typeface="Playfair Display"/>
              <a:ea typeface="Playfair Display"/>
              <a:cs typeface="Playfair Display"/>
              <a:sym typeface="Playfair Display"/>
            </a:endParaRPr>
          </a:p>
          <a:p>
            <a:pPr marL="0" marR="0" lvl="0" indent="0" algn="ctr" rtl="0">
              <a:spcBef>
                <a:spcPts val="0"/>
              </a:spcBef>
              <a:spcAft>
                <a:spcPts val="0"/>
              </a:spcAft>
              <a:buNone/>
            </a:pPr>
            <a:r>
              <a:rPr lang="en" sz="1000">
                <a:solidFill>
                  <a:schemeClr val="dk1"/>
                </a:solidFill>
                <a:latin typeface="Playfair Display"/>
                <a:ea typeface="Playfair Display"/>
                <a:cs typeface="Playfair Display"/>
                <a:sym typeface="Playfair Display"/>
              </a:rPr>
              <a:t>(client side)</a:t>
            </a:r>
            <a:endParaRPr sz="1000">
              <a:solidFill>
                <a:schemeClr val="dk1"/>
              </a:solidFill>
              <a:latin typeface="Playfair Display"/>
              <a:ea typeface="Playfair Display"/>
              <a:cs typeface="Playfair Display"/>
              <a:sym typeface="Playfair Display"/>
            </a:endParaRPr>
          </a:p>
        </p:txBody>
      </p:sp>
      <p:sp>
        <p:nvSpPr>
          <p:cNvPr id="753" name="Google Shape;753;p70"/>
          <p:cNvSpPr txBox="1"/>
          <p:nvPr/>
        </p:nvSpPr>
        <p:spPr>
          <a:xfrm>
            <a:off x="5311100" y="2988425"/>
            <a:ext cx="1431000" cy="8241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spcBef>
                <a:spcPts val="0"/>
              </a:spcBef>
              <a:spcAft>
                <a:spcPts val="0"/>
              </a:spcAft>
              <a:buNone/>
            </a:pPr>
            <a:r>
              <a:rPr lang="en" sz="1800">
                <a:solidFill>
                  <a:schemeClr val="dk1"/>
                </a:solidFill>
                <a:latin typeface="Playfair Display"/>
                <a:ea typeface="Playfair Display"/>
                <a:cs typeface="Playfair Display"/>
                <a:sym typeface="Playfair Display"/>
              </a:rPr>
              <a:t>Output Stream</a:t>
            </a:r>
            <a:endParaRPr sz="1800">
              <a:solidFill>
                <a:schemeClr val="dk1"/>
              </a:solidFill>
              <a:latin typeface="Playfair Display"/>
              <a:ea typeface="Playfair Display"/>
              <a:cs typeface="Playfair Display"/>
              <a:sym typeface="Playfair Display"/>
            </a:endParaRPr>
          </a:p>
          <a:p>
            <a:pPr marL="0" marR="0" lvl="0" indent="0" algn="ctr" rtl="0">
              <a:spcBef>
                <a:spcPts val="0"/>
              </a:spcBef>
              <a:spcAft>
                <a:spcPts val="0"/>
              </a:spcAft>
              <a:buNone/>
            </a:pPr>
            <a:endParaRPr sz="1000">
              <a:solidFill>
                <a:schemeClr val="dk1"/>
              </a:solidFill>
              <a:latin typeface="Playfair Display"/>
              <a:ea typeface="Playfair Display"/>
              <a:cs typeface="Playfair Display"/>
              <a:sym typeface="Playfair Display"/>
            </a:endParaRPr>
          </a:p>
        </p:txBody>
      </p:sp>
      <p:sp>
        <p:nvSpPr>
          <p:cNvPr id="754" name="Google Shape;754;p70"/>
          <p:cNvSpPr txBox="1"/>
          <p:nvPr/>
        </p:nvSpPr>
        <p:spPr>
          <a:xfrm>
            <a:off x="5311100" y="3812495"/>
            <a:ext cx="1431000" cy="86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spcBef>
                <a:spcPts val="0"/>
              </a:spcBef>
              <a:spcAft>
                <a:spcPts val="0"/>
              </a:spcAft>
              <a:buNone/>
            </a:pPr>
            <a:r>
              <a:rPr lang="en" sz="1800">
                <a:solidFill>
                  <a:schemeClr val="dk1"/>
                </a:solidFill>
                <a:latin typeface="Playfair Display"/>
                <a:ea typeface="Playfair Display"/>
                <a:cs typeface="Playfair Display"/>
                <a:sym typeface="Playfair Display"/>
              </a:rPr>
              <a:t>Input Stream</a:t>
            </a:r>
            <a:endParaRPr sz="1800">
              <a:solidFill>
                <a:schemeClr val="dk1"/>
              </a:solidFill>
              <a:latin typeface="Playfair Display"/>
              <a:ea typeface="Playfair Display"/>
              <a:cs typeface="Playfair Display"/>
              <a:sym typeface="Playfair Display"/>
            </a:endParaRPr>
          </a:p>
          <a:p>
            <a:pPr marL="0" marR="0" lvl="0" indent="0" algn="ctr" rtl="0">
              <a:spcBef>
                <a:spcPts val="0"/>
              </a:spcBef>
              <a:spcAft>
                <a:spcPts val="0"/>
              </a:spcAft>
              <a:buNone/>
            </a:pPr>
            <a:endParaRPr sz="1000">
              <a:solidFill>
                <a:schemeClr val="dk1"/>
              </a:solidFill>
              <a:latin typeface="Playfair Display"/>
              <a:ea typeface="Playfair Display"/>
              <a:cs typeface="Playfair Display"/>
              <a:sym typeface="Playfair Display"/>
            </a:endParaRPr>
          </a:p>
        </p:txBody>
      </p:sp>
      <p:cxnSp>
        <p:nvCxnSpPr>
          <p:cNvPr id="755" name="Google Shape;755;p70"/>
          <p:cNvCxnSpPr>
            <a:stCxn id="750" idx="3"/>
            <a:endCxn id="753" idx="1"/>
          </p:cNvCxnSpPr>
          <p:nvPr/>
        </p:nvCxnSpPr>
        <p:spPr>
          <a:xfrm>
            <a:off x="3841325" y="3400475"/>
            <a:ext cx="1469700" cy="0"/>
          </a:xfrm>
          <a:prstGeom prst="straightConnector1">
            <a:avLst/>
          </a:prstGeom>
          <a:noFill/>
          <a:ln w="38100" cap="flat" cmpd="sng">
            <a:solidFill>
              <a:srgbClr val="FF0000"/>
            </a:solidFill>
            <a:prstDash val="solid"/>
            <a:round/>
            <a:headEnd type="triangle" w="med" len="med"/>
            <a:tailEnd type="none" w="sm" len="sm"/>
          </a:ln>
        </p:spPr>
      </p:cxnSp>
      <p:cxnSp>
        <p:nvCxnSpPr>
          <p:cNvPr id="756" name="Google Shape;756;p70"/>
          <p:cNvCxnSpPr>
            <a:stCxn id="754" idx="1"/>
            <a:endCxn id="751" idx="3"/>
          </p:cNvCxnSpPr>
          <p:nvPr/>
        </p:nvCxnSpPr>
        <p:spPr>
          <a:xfrm rot="10800000">
            <a:off x="3841400" y="4242845"/>
            <a:ext cx="1469700" cy="0"/>
          </a:xfrm>
          <a:prstGeom prst="straightConnector1">
            <a:avLst/>
          </a:prstGeom>
          <a:noFill/>
          <a:ln w="38100" cap="flat" cmpd="sng">
            <a:solidFill>
              <a:srgbClr val="FF0000"/>
            </a:solidFill>
            <a:prstDash val="solid"/>
            <a:round/>
            <a:headEnd type="triangle" w="med" len="med"/>
            <a:tailEnd type="none" w="sm" len="sm"/>
          </a:ln>
        </p:spPr>
      </p:cxnSp>
      <p:sp>
        <p:nvSpPr>
          <p:cNvPr id="757" name="Google Shape;757;p70"/>
          <p:cNvSpPr txBox="1"/>
          <p:nvPr/>
        </p:nvSpPr>
        <p:spPr>
          <a:xfrm>
            <a:off x="4960013" y="910037"/>
            <a:ext cx="4096500" cy="1544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200">
                <a:solidFill>
                  <a:schemeClr val="dk1"/>
                </a:solidFill>
                <a:latin typeface="Consolas"/>
                <a:ea typeface="Consolas"/>
                <a:cs typeface="Consolas"/>
                <a:sym typeface="Consolas"/>
              </a:rPr>
              <a:t>Socket sock = </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    new Socket("ahost.rit.edu", 42975);</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OutputStream toServer =</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    sock.getOutputStream();</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InputStream fromServer = </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    sock.getInputStream();</a:t>
            </a:r>
            <a:endParaRPr sz="1200">
              <a:solidFill>
                <a:schemeClr val="dk1"/>
              </a:solidFill>
              <a:latin typeface="Consolas"/>
              <a:ea typeface="Consolas"/>
              <a:cs typeface="Consolas"/>
              <a:sym typeface="Consolas"/>
            </a:endParaRPr>
          </a:p>
        </p:txBody>
      </p:sp>
      <p:sp>
        <p:nvSpPr>
          <p:cNvPr id="758" name="Google Shape;758;p70"/>
          <p:cNvSpPr txBox="1"/>
          <p:nvPr/>
        </p:nvSpPr>
        <p:spPr>
          <a:xfrm>
            <a:off x="95825" y="910037"/>
            <a:ext cx="4096500" cy="1544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200">
                <a:solidFill>
                  <a:schemeClr val="dk1"/>
                </a:solidFill>
                <a:latin typeface="Consolas"/>
                <a:ea typeface="Consolas"/>
                <a:cs typeface="Consolas"/>
                <a:sym typeface="Consolas"/>
              </a:rPr>
              <a:t>ServerSocket server = new ServerSocket(42975);</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Socket client = server.accept();</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InputStream fromClient = </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    client.getInputStream();</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OutputStream toClient =</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en" sz="1200">
                <a:solidFill>
                  <a:schemeClr val="dk1"/>
                </a:solidFill>
                <a:latin typeface="Consolas"/>
                <a:ea typeface="Consolas"/>
                <a:cs typeface="Consolas"/>
                <a:sym typeface="Consolas"/>
              </a:rPr>
              <a:t>    client.getOutputStream();</a:t>
            </a:r>
            <a:endParaRPr sz="1200">
              <a:solidFill>
                <a:schemeClr val="dk1"/>
              </a:solidFill>
              <a:latin typeface="Consolas"/>
              <a:ea typeface="Consolas"/>
              <a:cs typeface="Consolas"/>
              <a:sym typeface="Consolas"/>
            </a:endParaRPr>
          </a:p>
        </p:txBody>
      </p:sp>
      <p:sp>
        <p:nvSpPr>
          <p:cNvPr id="759" name="Google Shape;759;p70"/>
          <p:cNvSpPr txBox="1"/>
          <p:nvPr/>
        </p:nvSpPr>
        <p:spPr>
          <a:xfrm>
            <a:off x="95825" y="2558232"/>
            <a:ext cx="2136000" cy="82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The </a:t>
            </a:r>
            <a:r>
              <a:rPr lang="en" sz="1300" b="1" i="1">
                <a:solidFill>
                  <a:srgbClr val="FF0000"/>
                </a:solidFill>
                <a:latin typeface="Arial"/>
                <a:ea typeface="Arial"/>
                <a:cs typeface="Arial"/>
                <a:sym typeface="Arial"/>
              </a:rPr>
              <a:t>server</a:t>
            </a:r>
            <a:r>
              <a:rPr lang="en" sz="1300">
                <a:solidFill>
                  <a:srgbClr val="FF0000"/>
                </a:solidFill>
                <a:latin typeface="Arial"/>
                <a:ea typeface="Arial"/>
                <a:cs typeface="Arial"/>
                <a:sym typeface="Arial"/>
              </a:rPr>
              <a:t> </a:t>
            </a:r>
            <a:r>
              <a:rPr lang="en" sz="1300">
                <a:solidFill>
                  <a:schemeClr val="dk1"/>
                </a:solidFill>
                <a:latin typeface="Arial"/>
                <a:ea typeface="Arial"/>
                <a:cs typeface="Arial"/>
                <a:sym typeface="Arial"/>
              </a:rPr>
              <a:t>must begin listening for connections on a specific port.</a:t>
            </a:r>
            <a:endParaRPr sz="1300">
              <a:solidFill>
                <a:schemeClr val="dk1"/>
              </a:solidFill>
              <a:latin typeface="Arial"/>
              <a:ea typeface="Arial"/>
              <a:cs typeface="Arial"/>
              <a:sym typeface="Arial"/>
            </a:endParaRPr>
          </a:p>
        </p:txBody>
      </p:sp>
      <p:sp>
        <p:nvSpPr>
          <p:cNvPr id="760" name="Google Shape;760;p70"/>
          <p:cNvSpPr txBox="1"/>
          <p:nvPr/>
        </p:nvSpPr>
        <p:spPr>
          <a:xfrm>
            <a:off x="6910700" y="2558232"/>
            <a:ext cx="2136000" cy="86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Next, the </a:t>
            </a:r>
            <a:r>
              <a:rPr lang="en" sz="1300" b="1" i="1">
                <a:solidFill>
                  <a:srgbClr val="FF0000"/>
                </a:solidFill>
                <a:latin typeface="Arial"/>
                <a:ea typeface="Arial"/>
                <a:cs typeface="Arial"/>
                <a:sym typeface="Arial"/>
              </a:rPr>
              <a:t>client</a:t>
            </a:r>
            <a:r>
              <a:rPr lang="en" sz="1300" b="1" i="1">
                <a:solidFill>
                  <a:srgbClr val="FF0000"/>
                </a:solidFill>
              </a:rPr>
              <a:t> </a:t>
            </a:r>
            <a:r>
              <a:rPr lang="en" sz="1300">
                <a:solidFill>
                  <a:schemeClr val="dk1"/>
                </a:solidFill>
                <a:latin typeface="Arial"/>
                <a:ea typeface="Arial"/>
                <a:cs typeface="Arial"/>
                <a:sym typeface="Arial"/>
              </a:rPr>
              <a:t>must establish the connection to the server on the correct port.</a:t>
            </a:r>
            <a:endParaRPr sz="1300">
              <a:solidFill>
                <a:schemeClr val="dk1"/>
              </a:solidFill>
              <a:latin typeface="Arial"/>
              <a:ea typeface="Arial"/>
              <a:cs typeface="Arial"/>
              <a:sym typeface="Arial"/>
            </a:endParaRPr>
          </a:p>
        </p:txBody>
      </p:sp>
      <p:sp>
        <p:nvSpPr>
          <p:cNvPr id="761" name="Google Shape;761;p70"/>
          <p:cNvSpPr txBox="1"/>
          <p:nvPr/>
        </p:nvSpPr>
        <p:spPr>
          <a:xfrm>
            <a:off x="6910700" y="3554907"/>
            <a:ext cx="2136000" cy="1006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Once the connection is established, the </a:t>
            </a:r>
            <a:r>
              <a:rPr lang="en" sz="1300" b="1" i="1">
                <a:solidFill>
                  <a:srgbClr val="FF0000"/>
                </a:solidFill>
                <a:latin typeface="Arial"/>
                <a:ea typeface="Arial"/>
                <a:cs typeface="Arial"/>
                <a:sym typeface="Arial"/>
              </a:rPr>
              <a:t>client</a:t>
            </a:r>
            <a:r>
              <a:rPr lang="en" sz="1300" b="1" i="1">
                <a:solidFill>
                  <a:srgbClr val="FF0000"/>
                </a:solidFill>
              </a:rPr>
              <a:t> </a:t>
            </a:r>
            <a:r>
              <a:rPr lang="en" sz="1300">
                <a:solidFill>
                  <a:schemeClr val="dk1"/>
                </a:solidFill>
                <a:latin typeface="Arial"/>
                <a:ea typeface="Arial"/>
                <a:cs typeface="Arial"/>
                <a:sym typeface="Arial"/>
              </a:rPr>
              <a:t>uses streams to send/receive data to/from the server.</a:t>
            </a:r>
            <a:endParaRPr sz="1300">
              <a:solidFill>
                <a:schemeClr val="dk1"/>
              </a:solidFill>
              <a:latin typeface="Arial"/>
              <a:ea typeface="Arial"/>
              <a:cs typeface="Arial"/>
              <a:sym typeface="Arial"/>
            </a:endParaRPr>
          </a:p>
        </p:txBody>
      </p:sp>
      <p:sp>
        <p:nvSpPr>
          <p:cNvPr id="762" name="Google Shape;762;p70"/>
          <p:cNvSpPr txBox="1"/>
          <p:nvPr/>
        </p:nvSpPr>
        <p:spPr>
          <a:xfrm>
            <a:off x="95825" y="3554905"/>
            <a:ext cx="2136000" cy="1006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latin typeface="Arial"/>
                <a:ea typeface="Arial"/>
                <a:cs typeface="Arial"/>
                <a:sym typeface="Arial"/>
              </a:rPr>
              <a:t>Once the connection is established, the </a:t>
            </a:r>
            <a:r>
              <a:rPr lang="en" sz="1300" b="1" i="1">
                <a:solidFill>
                  <a:srgbClr val="FF0000"/>
                </a:solidFill>
                <a:latin typeface="Arial"/>
                <a:ea typeface="Arial"/>
                <a:cs typeface="Arial"/>
                <a:sym typeface="Arial"/>
              </a:rPr>
              <a:t>server</a:t>
            </a:r>
            <a:r>
              <a:rPr lang="en" sz="1300" b="1" i="1">
                <a:solidFill>
                  <a:srgbClr val="FF0000"/>
                </a:solidFill>
              </a:rPr>
              <a:t> </a:t>
            </a:r>
            <a:r>
              <a:rPr lang="en" sz="1300">
                <a:solidFill>
                  <a:schemeClr val="dk1"/>
                </a:solidFill>
                <a:latin typeface="Arial"/>
                <a:ea typeface="Arial"/>
                <a:cs typeface="Arial"/>
                <a:sym typeface="Arial"/>
              </a:rPr>
              <a:t>uses streams to send/receive data to/from the client.</a:t>
            </a:r>
            <a:endParaRPr sz="1300">
              <a:solidFill>
                <a:schemeClr val="dk1"/>
              </a:solidFill>
              <a:latin typeface="Arial"/>
              <a:ea typeface="Arial"/>
              <a:cs typeface="Arial"/>
              <a:sym typeface="Arial"/>
            </a:endParaRPr>
          </a:p>
        </p:txBody>
      </p:sp>
      <p:sp>
        <p:nvSpPr>
          <p:cNvPr id="763" name="Google Shape;763;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9"/>
                                        </p:tgtEl>
                                        <p:attrNameLst>
                                          <p:attrName>style.visibility</p:attrName>
                                        </p:attrNameLst>
                                      </p:cBhvr>
                                      <p:to>
                                        <p:strVal val="visible"/>
                                      </p:to>
                                    </p:set>
                                    <p:animEffect transition="in" filter="fade">
                                      <p:cBhvr>
                                        <p:cTn id="7" dur="1000"/>
                                        <p:tgtEl>
                                          <p:spTgt spid="7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0"/>
                                        </p:tgtEl>
                                        <p:attrNameLst>
                                          <p:attrName>style.visibility</p:attrName>
                                        </p:attrNameLst>
                                      </p:cBhvr>
                                      <p:to>
                                        <p:strVal val="visible"/>
                                      </p:to>
                                    </p:set>
                                    <p:animEffect transition="in" filter="fade">
                                      <p:cBhvr>
                                        <p:cTn id="12" dur="1000"/>
                                        <p:tgtEl>
                                          <p:spTgt spid="7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2"/>
                                        </p:tgtEl>
                                        <p:attrNameLst>
                                          <p:attrName>style.visibility</p:attrName>
                                        </p:attrNameLst>
                                      </p:cBhvr>
                                      <p:to>
                                        <p:strVal val="visible"/>
                                      </p:to>
                                    </p:set>
                                    <p:animEffect transition="in" filter="fade">
                                      <p:cBhvr>
                                        <p:cTn id="17" dur="1000"/>
                                        <p:tgtEl>
                                          <p:spTgt spid="762"/>
                                        </p:tgtEl>
                                      </p:cBhvr>
                                    </p:animEffect>
                                  </p:childTnLst>
                                </p:cTn>
                              </p:par>
                              <p:par>
                                <p:cTn id="18" presetID="10" presetClass="entr" presetSubtype="0" fill="hold" nodeType="withEffect">
                                  <p:stCondLst>
                                    <p:cond delay="0"/>
                                  </p:stCondLst>
                                  <p:childTnLst>
                                    <p:set>
                                      <p:cBhvr>
                                        <p:cTn id="19" dur="1" fill="hold">
                                          <p:stCondLst>
                                            <p:cond delay="0"/>
                                          </p:stCondLst>
                                        </p:cTn>
                                        <p:tgtEl>
                                          <p:spTgt spid="761"/>
                                        </p:tgtEl>
                                        <p:attrNameLst>
                                          <p:attrName>style.visibility</p:attrName>
                                        </p:attrNameLst>
                                      </p:cBhvr>
                                      <p:to>
                                        <p:strVal val="visible"/>
                                      </p:to>
                                    </p:set>
                                    <p:animEffect transition="in" filter="fade">
                                      <p:cBhvr>
                                        <p:cTn id="20" dur="1000"/>
                                        <p:tgtEl>
                                          <p:spTgt spid="76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55"/>
                                        </p:tgtEl>
                                        <p:attrNameLst>
                                          <p:attrName>style.visibility</p:attrName>
                                        </p:attrNameLst>
                                      </p:cBhvr>
                                      <p:to>
                                        <p:strVal val="visible"/>
                                      </p:to>
                                    </p:set>
                                    <p:animEffect transition="in" filter="fade">
                                      <p:cBhvr>
                                        <p:cTn id="25" dur="1000"/>
                                        <p:tgtEl>
                                          <p:spTgt spid="755"/>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756"/>
                                        </p:tgtEl>
                                        <p:attrNameLst>
                                          <p:attrName>style.visibility</p:attrName>
                                        </p:attrNameLst>
                                      </p:cBhvr>
                                      <p:to>
                                        <p:strVal val="visible"/>
                                      </p:to>
                                    </p:set>
                                    <p:animEffect transition="in" filter="fade">
                                      <p:cBhvr>
                                        <p:cTn id="29" dur="1000"/>
                                        <p:tgtEl>
                                          <p:spTgt spid="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71"/>
          <p:cNvSpPr txBox="1">
            <a:spLocks noGrp="1"/>
          </p:cNvSpPr>
          <p:nvPr>
            <p:ph type="title"/>
          </p:nvPr>
        </p:nvSpPr>
        <p:spPr>
          <a:xfrm>
            <a:off x="1436850" y="76300"/>
            <a:ext cx="7642500" cy="596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chemeClr val="dk2"/>
              </a:buClr>
              <a:buSzPts val="3400"/>
              <a:buFont typeface="Calibri"/>
              <a:buNone/>
            </a:pPr>
            <a:r>
              <a:rPr lang="en" sz="2900"/>
              <a:t>Echo! </a:t>
            </a:r>
            <a:r>
              <a:rPr lang="en" sz="2400"/>
              <a:t>Echo!</a:t>
            </a:r>
            <a:r>
              <a:rPr lang="en" sz="2900"/>
              <a:t> </a:t>
            </a:r>
            <a:r>
              <a:rPr lang="en" sz="1900"/>
              <a:t>Echo! </a:t>
            </a:r>
            <a:r>
              <a:rPr lang="en" sz="1400"/>
              <a:t>…</a:t>
            </a:r>
            <a:endParaRPr sz="1400"/>
          </a:p>
        </p:txBody>
      </p:sp>
      <p:sp>
        <p:nvSpPr>
          <p:cNvPr id="769" name="Google Shape;769;p71"/>
          <p:cNvSpPr txBox="1">
            <a:spLocks noGrp="1"/>
          </p:cNvSpPr>
          <p:nvPr>
            <p:ph type="body" idx="1"/>
          </p:nvPr>
        </p:nvSpPr>
        <p:spPr>
          <a:xfrm>
            <a:off x="65250" y="731625"/>
            <a:ext cx="8955900" cy="923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Clr>
                <a:srgbClr val="000000"/>
              </a:buClr>
              <a:buSzPts val="1600"/>
              <a:buNone/>
            </a:pPr>
            <a:r>
              <a:rPr lang="en"/>
              <a:t>Our EchoServer is doing a great job of listening for an incoming message, but it's not yet sending it back to the client! Let's modify the message in some way (so that we know that it made the round trip from client to server) and send it back!</a:t>
            </a:r>
            <a:endParaRPr sz="1600"/>
          </a:p>
        </p:txBody>
      </p:sp>
      <p:sp>
        <p:nvSpPr>
          <p:cNvPr id="770" name="Google Shape;770;p71"/>
          <p:cNvSpPr txBox="1">
            <a:spLocks noGrp="1"/>
          </p:cNvSpPr>
          <p:nvPr>
            <p:ph type="body" idx="2"/>
          </p:nvPr>
        </p:nvSpPr>
        <p:spPr>
          <a:xfrm>
            <a:off x="3285400" y="1929550"/>
            <a:ext cx="5617200" cy="2828700"/>
          </a:xfrm>
          <a:prstGeom prst="rect">
            <a:avLst/>
          </a:prstGeom>
          <a:noFill/>
          <a:ln>
            <a:noFill/>
          </a:ln>
        </p:spPr>
        <p:txBody>
          <a:bodyPr spcFirstLastPara="1" wrap="square" lIns="68575" tIns="34275" rIns="68575" bIns="34275" anchor="t" anchorCtr="0">
            <a:noAutofit/>
          </a:bodyPr>
          <a:lstStyle/>
          <a:p>
            <a:pPr marL="457200" lvl="0" indent="-311150" algn="l" rtl="0">
              <a:lnSpc>
                <a:spcPct val="115000"/>
              </a:lnSpc>
              <a:spcBef>
                <a:spcPts val="0"/>
              </a:spcBef>
              <a:spcAft>
                <a:spcPts val="0"/>
              </a:spcAft>
              <a:buSzPts val="1300"/>
              <a:buChar char="●"/>
            </a:pPr>
            <a:r>
              <a:rPr lang="en" dirty="0"/>
              <a:t>In </a:t>
            </a:r>
            <a:r>
              <a:rPr lang="en" dirty="0">
                <a:solidFill>
                  <a:srgbClr val="FF0000"/>
                </a:solidFill>
                <a:latin typeface="Courier New"/>
                <a:ea typeface="Courier New"/>
                <a:cs typeface="Courier New"/>
                <a:sym typeface="Courier New"/>
              </a:rPr>
              <a:t>EchoServer</a:t>
            </a:r>
            <a:r>
              <a:rPr lang="en" dirty="0"/>
              <a:t>, add a </a:t>
            </a:r>
            <a:r>
              <a:rPr lang="en" dirty="0">
                <a:latin typeface="Courier New"/>
                <a:ea typeface="Courier New"/>
                <a:cs typeface="Courier New"/>
                <a:sym typeface="Courier New"/>
              </a:rPr>
              <a:t>PrintWriter</a:t>
            </a:r>
            <a:r>
              <a:rPr lang="en" dirty="0"/>
              <a:t> for the client socket</a:t>
            </a:r>
            <a:endParaRPr dirty="0"/>
          </a:p>
          <a:p>
            <a:pPr marL="457200" lvl="0" indent="-311150" algn="l" rtl="0">
              <a:lnSpc>
                <a:spcPct val="115000"/>
              </a:lnSpc>
              <a:spcBef>
                <a:spcPts val="0"/>
              </a:spcBef>
              <a:spcAft>
                <a:spcPts val="0"/>
              </a:spcAft>
              <a:buSzPts val="1300"/>
              <a:buChar char="●"/>
            </a:pPr>
            <a:r>
              <a:rPr lang="en" dirty="0"/>
              <a:t>Alter the message in some way (e.g. add something to it or convert it to uppercase) and then use the </a:t>
            </a:r>
            <a:r>
              <a:rPr lang="en" dirty="0">
                <a:latin typeface="Courier New"/>
                <a:ea typeface="Courier New"/>
                <a:cs typeface="Courier New"/>
                <a:sym typeface="Courier New"/>
              </a:rPr>
              <a:t>PrintWriter</a:t>
            </a:r>
            <a:r>
              <a:rPr lang="en" dirty="0"/>
              <a:t> to send it back back to the client</a:t>
            </a:r>
            <a:endParaRPr dirty="0"/>
          </a:p>
          <a:p>
            <a:pPr marL="0" lvl="0" indent="0" algn="l" rtl="0">
              <a:lnSpc>
                <a:spcPct val="115000"/>
              </a:lnSpc>
              <a:spcBef>
                <a:spcPts val="0"/>
              </a:spcBef>
              <a:spcAft>
                <a:spcPts val="0"/>
              </a:spcAft>
              <a:buNone/>
            </a:pPr>
            <a:endParaRPr dirty="0"/>
          </a:p>
          <a:p>
            <a:pPr marL="457200" lvl="0" indent="-311150" algn="l" rtl="0">
              <a:lnSpc>
                <a:spcPct val="115000"/>
              </a:lnSpc>
              <a:spcBef>
                <a:spcPts val="0"/>
              </a:spcBef>
              <a:spcAft>
                <a:spcPts val="0"/>
              </a:spcAft>
              <a:buSzPts val="1300"/>
              <a:buChar char="●"/>
            </a:pPr>
            <a:r>
              <a:rPr lang="en" dirty="0"/>
              <a:t>In </a:t>
            </a:r>
            <a:r>
              <a:rPr lang="en" dirty="0">
                <a:solidFill>
                  <a:srgbClr val="FF0000"/>
                </a:solidFill>
                <a:latin typeface="Courier New"/>
                <a:ea typeface="Courier New"/>
                <a:cs typeface="Courier New"/>
                <a:sym typeface="Courier New"/>
              </a:rPr>
              <a:t>EchoClient</a:t>
            </a:r>
            <a:r>
              <a:rPr lang="en" dirty="0"/>
              <a:t>, use a </a:t>
            </a:r>
            <a:r>
              <a:rPr lang="en" dirty="0">
                <a:latin typeface="Courier New"/>
                <a:ea typeface="Courier New"/>
                <a:cs typeface="Courier New"/>
                <a:sym typeface="Courier New"/>
              </a:rPr>
              <a:t>BufferedReader</a:t>
            </a:r>
            <a:r>
              <a:rPr lang="en" dirty="0"/>
              <a:t> to read lines of text from the socket's </a:t>
            </a:r>
            <a:r>
              <a:rPr lang="en" dirty="0">
                <a:latin typeface="Courier New"/>
                <a:ea typeface="Courier New"/>
                <a:cs typeface="Courier New"/>
                <a:sym typeface="Courier New"/>
              </a:rPr>
              <a:t>InputStream</a:t>
            </a:r>
            <a:endParaRPr dirty="0">
              <a:latin typeface="Courier New"/>
              <a:ea typeface="Courier New"/>
              <a:cs typeface="Courier New"/>
              <a:sym typeface="Courier New"/>
            </a:endParaRPr>
          </a:p>
          <a:p>
            <a:pPr marL="457200" lvl="0" indent="-311150" algn="l" rtl="0">
              <a:lnSpc>
                <a:spcPct val="115000"/>
              </a:lnSpc>
              <a:spcBef>
                <a:spcPts val="0"/>
              </a:spcBef>
              <a:spcAft>
                <a:spcPts val="0"/>
              </a:spcAft>
              <a:buSzPts val="1300"/>
              <a:buChar char="●"/>
            </a:pPr>
            <a:r>
              <a:rPr lang="en" dirty="0"/>
              <a:t>Get the response from the server and print it</a:t>
            </a:r>
            <a:endParaRPr dirty="0"/>
          </a:p>
          <a:p>
            <a:pPr marL="457200" lvl="0" indent="0" algn="l" rtl="0">
              <a:lnSpc>
                <a:spcPct val="115000"/>
              </a:lnSpc>
              <a:spcBef>
                <a:spcPts val="0"/>
              </a:spcBef>
              <a:spcAft>
                <a:spcPts val="0"/>
              </a:spcAft>
              <a:buNone/>
            </a:pPr>
            <a:endParaRPr dirty="0"/>
          </a:p>
          <a:p>
            <a:pPr marL="457200" lvl="0" indent="-311150" algn="l" rtl="0">
              <a:lnSpc>
                <a:spcPct val="115000"/>
              </a:lnSpc>
              <a:spcBef>
                <a:spcPts val="0"/>
              </a:spcBef>
              <a:spcAft>
                <a:spcPts val="0"/>
              </a:spcAft>
              <a:buSzPts val="1300"/>
              <a:buChar char="●"/>
            </a:pPr>
            <a:r>
              <a:rPr lang="en" dirty="0"/>
              <a:t>Run both applications and verify the message is returned to the client</a:t>
            </a:r>
            <a:endParaRPr dirty="0"/>
          </a:p>
        </p:txBody>
      </p:sp>
      <p:sp>
        <p:nvSpPr>
          <p:cNvPr id="771" name="Google Shape;771;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772" name="Google Shape;772;p7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9.10</a:t>
            </a:r>
            <a:endParaRPr/>
          </a:p>
        </p:txBody>
      </p:sp>
      <p:pic>
        <p:nvPicPr>
          <p:cNvPr id="773" name="Google Shape;773;p71"/>
          <p:cNvPicPr preferRelativeResize="0"/>
          <p:nvPr/>
        </p:nvPicPr>
        <p:blipFill>
          <a:blip r:embed="rId3">
            <a:alphaModFix/>
          </a:blip>
          <a:stretch>
            <a:fillRect/>
          </a:stretch>
        </p:blipFill>
        <p:spPr>
          <a:xfrm>
            <a:off x="141604" y="1713650"/>
            <a:ext cx="3053800" cy="21385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7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If you happened to have used the </a:t>
            </a:r>
            <a:r>
              <a:rPr lang="en" dirty="0">
                <a:latin typeface="Courier New"/>
                <a:ea typeface="Courier New"/>
                <a:cs typeface="Courier New"/>
                <a:sym typeface="Courier New"/>
              </a:rPr>
              <a:t>lines()</a:t>
            </a:r>
            <a:r>
              <a:rPr lang="en" dirty="0"/>
              <a:t> method in the previous activities, you will have noticed the server stopped working. This is because </a:t>
            </a:r>
            <a:r>
              <a:rPr lang="en" dirty="0">
                <a:latin typeface="Courier New"/>
                <a:ea typeface="Courier New"/>
                <a:cs typeface="Courier New"/>
                <a:sym typeface="Courier New"/>
              </a:rPr>
              <a:t>lines()</a:t>
            </a:r>
            <a:r>
              <a:rPr lang="en" dirty="0"/>
              <a:t> only reads after the </a:t>
            </a:r>
            <a:r>
              <a:rPr lang="en" dirty="0">
                <a:latin typeface="Courier New"/>
                <a:ea typeface="Courier New"/>
                <a:cs typeface="Courier New"/>
                <a:sym typeface="Courier New"/>
              </a:rPr>
              <a:t>InputStream</a:t>
            </a:r>
            <a:r>
              <a:rPr lang="en" dirty="0"/>
              <a:t> has closed. In the previous activity we are waiting for a response before closing the socket.</a:t>
            </a:r>
            <a:endParaRPr dirty="0"/>
          </a:p>
        </p:txBody>
      </p:sp>
      <p:sp>
        <p:nvSpPr>
          <p:cNvPr id="779" name="Google Shape;779;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780" name="Google Shape;780;p72"/>
          <p:cNvSpPr txBox="1">
            <a:spLocks noGrp="1"/>
          </p:cNvSpPr>
          <p:nvPr>
            <p:ph type="body" idx="2"/>
          </p:nvPr>
        </p:nvSpPr>
        <p:spPr>
          <a:xfrm>
            <a:off x="3802525" y="1751525"/>
            <a:ext cx="5138700" cy="2774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Your initial thought might be to </a:t>
            </a:r>
            <a:r>
              <a:rPr lang="en" dirty="0">
                <a:solidFill>
                  <a:srgbClr val="FF0000"/>
                </a:solidFill>
                <a:latin typeface="Courier New"/>
                <a:ea typeface="Courier New"/>
                <a:cs typeface="Courier New"/>
                <a:sym typeface="Courier New"/>
              </a:rPr>
              <a:t>close()</a:t>
            </a:r>
            <a:r>
              <a:rPr lang="en" dirty="0"/>
              <a:t> the client's </a:t>
            </a:r>
            <a:r>
              <a:rPr lang="en" dirty="0">
                <a:latin typeface="Courier New"/>
                <a:ea typeface="Courier New"/>
                <a:cs typeface="Courier New"/>
                <a:sym typeface="Courier New"/>
              </a:rPr>
              <a:t>OutputStream</a:t>
            </a:r>
            <a:r>
              <a:rPr lang="en" dirty="0"/>
              <a:t> once you've sent the message.</a:t>
            </a:r>
            <a:endParaRPr dirty="0"/>
          </a:p>
          <a:p>
            <a:pPr marL="914400" lvl="1" indent="-298450" algn="l" rtl="0">
              <a:spcBef>
                <a:spcPts val="0"/>
              </a:spcBef>
              <a:spcAft>
                <a:spcPts val="0"/>
              </a:spcAft>
              <a:buSzPts val="1100"/>
              <a:buChar char="○"/>
            </a:pPr>
            <a:r>
              <a:rPr lang="en" dirty="0"/>
              <a:t>Unfortunately this closes the entire socket so we won't be able to get the response.</a:t>
            </a:r>
            <a:endParaRPr dirty="0"/>
          </a:p>
          <a:p>
            <a:pPr marL="457200" lvl="0" indent="-311150" algn="l" rtl="0">
              <a:spcBef>
                <a:spcPts val="0"/>
              </a:spcBef>
              <a:spcAft>
                <a:spcPts val="0"/>
              </a:spcAft>
              <a:buSzPts val="1300"/>
              <a:buChar char="●"/>
            </a:pPr>
            <a:r>
              <a:rPr lang="en" dirty="0"/>
              <a:t>Instead we'll want to use </a:t>
            </a:r>
            <a:r>
              <a:rPr lang="en" dirty="0">
                <a:solidFill>
                  <a:srgbClr val="FF0000"/>
                </a:solidFill>
                <a:latin typeface="Courier New"/>
                <a:ea typeface="Courier New"/>
                <a:cs typeface="Courier New"/>
                <a:sym typeface="Courier New"/>
              </a:rPr>
              <a:t>socket.shutdownOutput()</a:t>
            </a:r>
            <a:r>
              <a:rPr lang="en" dirty="0"/>
              <a:t>.</a:t>
            </a:r>
            <a:endParaRPr dirty="0"/>
          </a:p>
          <a:p>
            <a:pPr marL="914400" lvl="1" indent="-298450" algn="l" rtl="0">
              <a:spcBef>
                <a:spcPts val="0"/>
              </a:spcBef>
              <a:spcAft>
                <a:spcPts val="0"/>
              </a:spcAft>
              <a:buSzPts val="1100"/>
              <a:buChar char="○"/>
            </a:pPr>
            <a:r>
              <a:rPr lang="en" dirty="0"/>
              <a:t>This will close only the </a:t>
            </a:r>
            <a:r>
              <a:rPr lang="en" dirty="0">
                <a:latin typeface="Courier New"/>
                <a:ea typeface="Courier New"/>
                <a:cs typeface="Courier New"/>
                <a:sym typeface="Courier New"/>
              </a:rPr>
              <a:t>OutputStream</a:t>
            </a:r>
            <a:r>
              <a:rPr lang="en" dirty="0"/>
              <a:t> and send the stream termination sequence to the server.</a:t>
            </a:r>
            <a:endParaRPr dirty="0"/>
          </a:p>
          <a:p>
            <a:pPr marL="457200" lvl="0" indent="-311150" algn="l" rtl="0">
              <a:spcBef>
                <a:spcPts val="0"/>
              </a:spcBef>
              <a:spcAft>
                <a:spcPts val="0"/>
              </a:spcAft>
              <a:buSzPts val="1300"/>
              <a:buChar char="●"/>
            </a:pPr>
            <a:r>
              <a:rPr lang="en" dirty="0"/>
              <a:t>Update your code to use </a:t>
            </a:r>
            <a:r>
              <a:rPr lang="en" dirty="0">
                <a:solidFill>
                  <a:srgbClr val="FF0000"/>
                </a:solidFill>
                <a:latin typeface="Courier New"/>
                <a:ea typeface="Courier New"/>
                <a:cs typeface="Courier New"/>
                <a:sym typeface="Courier New"/>
              </a:rPr>
              <a:t>lines()</a:t>
            </a:r>
            <a:r>
              <a:rPr lang="en" dirty="0"/>
              <a:t>, if you weren't already.</a:t>
            </a:r>
            <a:endParaRPr dirty="0"/>
          </a:p>
          <a:p>
            <a:pPr marL="457200" lvl="0" indent="-311150" algn="l" rtl="0">
              <a:spcBef>
                <a:spcPts val="0"/>
              </a:spcBef>
              <a:spcAft>
                <a:spcPts val="0"/>
              </a:spcAft>
              <a:buSzPts val="1300"/>
              <a:buChar char="●"/>
            </a:pPr>
            <a:r>
              <a:rPr lang="en" dirty="0"/>
              <a:t>After sending the message, use </a:t>
            </a:r>
            <a:r>
              <a:rPr lang="en" dirty="0">
                <a:latin typeface="Courier New"/>
                <a:ea typeface="Courier New"/>
                <a:cs typeface="Courier New"/>
                <a:sym typeface="Courier New"/>
              </a:rPr>
              <a:t>socket.shutdownOutput()</a:t>
            </a:r>
            <a:r>
              <a:rPr lang="en" dirty="0"/>
              <a:t>.</a:t>
            </a:r>
            <a:endParaRPr dirty="0"/>
          </a:p>
          <a:p>
            <a:pPr marL="457200" lvl="0" indent="-311150" algn="l" rtl="0">
              <a:spcBef>
                <a:spcPts val="0"/>
              </a:spcBef>
              <a:spcAft>
                <a:spcPts val="0"/>
              </a:spcAft>
              <a:buSzPts val="1300"/>
              <a:buChar char="●"/>
            </a:pPr>
            <a:r>
              <a:rPr lang="en" dirty="0"/>
              <a:t>Run the echo server, then your client to see the server now properly gets the message and sends it back.</a:t>
            </a:r>
            <a:endParaRPr dirty="0"/>
          </a:p>
        </p:txBody>
      </p:sp>
      <p:sp>
        <p:nvSpPr>
          <p:cNvPr id="781" name="Google Shape;781;p72"/>
          <p:cNvSpPr txBox="1">
            <a:spLocks noGrp="1"/>
          </p:cNvSpPr>
          <p:nvPr>
            <p:ph type="title"/>
          </p:nvPr>
        </p:nvSpPr>
        <p:spPr>
          <a:xfrm>
            <a:off x="1436850" y="12713"/>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Stream is Broken</a:t>
            </a:r>
            <a:endParaRPr/>
          </a:p>
        </p:txBody>
      </p:sp>
      <p:sp>
        <p:nvSpPr>
          <p:cNvPr id="782" name="Google Shape;782;p7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9.11</a:t>
            </a:r>
            <a:endParaRPr/>
          </a:p>
        </p:txBody>
      </p:sp>
      <p:sp>
        <p:nvSpPr>
          <p:cNvPr id="783" name="Google Shape;783;p72"/>
          <p:cNvSpPr txBox="1">
            <a:spLocks noGrp="1"/>
          </p:cNvSpPr>
          <p:nvPr>
            <p:ph type="body" idx="4"/>
          </p:nvPr>
        </p:nvSpPr>
        <p:spPr>
          <a:xfrm>
            <a:off x="141600" y="3485699"/>
            <a:ext cx="37176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Only shut down the </a:t>
            </a:r>
            <a:r>
              <a:rPr lang="en" b="1">
                <a:solidFill>
                  <a:srgbClr val="FF0000"/>
                </a:solidFill>
              </a:rPr>
              <a:t>output</a:t>
            </a:r>
            <a:r>
              <a:rPr lang="en"/>
              <a:t> stream after sending the message. This leave the input stream open for receiving the response.</a:t>
            </a:r>
            <a:endParaRPr/>
          </a:p>
        </p:txBody>
      </p:sp>
      <p:sp>
        <p:nvSpPr>
          <p:cNvPr id="784" name="Google Shape;784;p72"/>
          <p:cNvSpPr txBox="1"/>
          <p:nvPr/>
        </p:nvSpPr>
        <p:spPr>
          <a:xfrm>
            <a:off x="141600" y="1843525"/>
            <a:ext cx="3717600" cy="1503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00">
                <a:solidFill>
                  <a:srgbClr val="267F99"/>
                </a:solidFill>
                <a:latin typeface="Consolas"/>
                <a:ea typeface="Consolas"/>
                <a:cs typeface="Consolas"/>
                <a:sym typeface="Consolas"/>
              </a:rPr>
              <a:t>Socket</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client</a:t>
            </a:r>
            <a:r>
              <a:rPr lang="en" sz="1100">
                <a:latin typeface="Consolas"/>
                <a:ea typeface="Consolas"/>
                <a:cs typeface="Consolas"/>
                <a:sym typeface="Consolas"/>
              </a:rPr>
              <a:t> =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Socket</a:t>
            </a:r>
            <a:r>
              <a:rPr lang="en" sz="1100">
                <a:latin typeface="Consolas"/>
                <a:ea typeface="Consolas"/>
                <a:cs typeface="Consolas"/>
                <a:sym typeface="Consolas"/>
              </a:rPr>
              <a:t>(</a:t>
            </a:r>
            <a:r>
              <a:rPr lang="en" sz="1100">
                <a:solidFill>
                  <a:srgbClr val="A31515"/>
                </a:solidFill>
                <a:latin typeface="Consolas"/>
                <a:ea typeface="Consolas"/>
                <a:cs typeface="Consolas"/>
                <a:sym typeface="Consolas"/>
              </a:rPr>
              <a:t>"somehost"</a:t>
            </a:r>
            <a:r>
              <a:rPr lang="en" sz="1100">
                <a:latin typeface="Consolas"/>
                <a:ea typeface="Consolas"/>
                <a:cs typeface="Consolas"/>
                <a:sym typeface="Consolas"/>
              </a:rPr>
              <a:t>, </a:t>
            </a:r>
            <a:r>
              <a:rPr lang="en" sz="1100">
                <a:solidFill>
                  <a:srgbClr val="098658"/>
                </a:solidFill>
                <a:latin typeface="Consolas"/>
                <a:ea typeface="Consolas"/>
                <a:cs typeface="Consolas"/>
                <a:sym typeface="Consolas"/>
              </a:rPr>
              <a:t>54321</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267F99"/>
                </a:solidFill>
                <a:latin typeface="Consolas"/>
                <a:ea typeface="Consolas"/>
                <a:cs typeface="Consolas"/>
                <a:sym typeface="Consolas"/>
              </a:rPr>
              <a:t>OutputStream</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out</a:t>
            </a:r>
            <a:r>
              <a:rPr lang="en" sz="1100">
                <a:latin typeface="Consolas"/>
                <a:ea typeface="Consolas"/>
                <a:cs typeface="Consolas"/>
                <a:sym typeface="Consolas"/>
              </a:rPr>
              <a:t> = </a:t>
            </a:r>
            <a:r>
              <a:rPr lang="en" sz="1100">
                <a:solidFill>
                  <a:srgbClr val="001080"/>
                </a:solidFill>
                <a:latin typeface="Consolas"/>
                <a:ea typeface="Consolas"/>
                <a:cs typeface="Consolas"/>
                <a:sym typeface="Consolas"/>
              </a:rPr>
              <a:t>client</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getOutputStream</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267F99"/>
                </a:solidFill>
                <a:latin typeface="Consolas"/>
                <a:ea typeface="Consolas"/>
                <a:cs typeface="Consolas"/>
                <a:sym typeface="Consolas"/>
              </a:rPr>
              <a:t>PrintWriter</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printer</a:t>
            </a:r>
            <a:r>
              <a:rPr lang="en" sz="1100">
                <a:latin typeface="Consolas"/>
                <a:ea typeface="Consolas"/>
                <a:cs typeface="Consolas"/>
                <a:sym typeface="Consolas"/>
              </a:rPr>
              <a:t> =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PrintWriter</a:t>
            </a:r>
            <a:r>
              <a:rPr lang="en" sz="1100">
                <a:latin typeface="Consolas"/>
                <a:ea typeface="Consolas"/>
                <a:cs typeface="Consolas"/>
                <a:sym typeface="Consolas"/>
              </a:rPr>
              <a:t>(</a:t>
            </a:r>
            <a:r>
              <a:rPr lang="en" sz="1100">
                <a:solidFill>
                  <a:srgbClr val="001080"/>
                </a:solidFill>
                <a:latin typeface="Consolas"/>
                <a:ea typeface="Consolas"/>
                <a:cs typeface="Consolas"/>
                <a:sym typeface="Consolas"/>
              </a:rPr>
              <a:t>out</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1080"/>
                </a:solidFill>
                <a:latin typeface="Consolas"/>
                <a:ea typeface="Consolas"/>
                <a:cs typeface="Consolas"/>
                <a:sym typeface="Consolas"/>
              </a:rPr>
              <a:t>printer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println</a:t>
            </a:r>
            <a:r>
              <a:rPr lang="en" sz="1100">
                <a:latin typeface="Consolas"/>
                <a:ea typeface="Consolas"/>
                <a:cs typeface="Consolas"/>
                <a:sym typeface="Consolas"/>
              </a:rPr>
              <a:t>(</a:t>
            </a:r>
            <a:r>
              <a:rPr lang="en" sz="1100">
                <a:solidFill>
                  <a:srgbClr val="A31515"/>
                </a:solidFill>
                <a:latin typeface="Consolas"/>
                <a:ea typeface="Consolas"/>
                <a:cs typeface="Consolas"/>
                <a:sym typeface="Consolas"/>
              </a:rPr>
              <a:t>"John Denver"</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1080"/>
                </a:solidFill>
                <a:latin typeface="Consolas"/>
                <a:ea typeface="Consolas"/>
                <a:cs typeface="Consolas"/>
                <a:sym typeface="Consolas"/>
              </a:rPr>
              <a:t>printer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flush</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1080"/>
                </a:solidFill>
                <a:latin typeface="Consolas"/>
                <a:ea typeface="Consolas"/>
                <a:cs typeface="Consolas"/>
                <a:sym typeface="Consolas"/>
              </a:rPr>
              <a:t>client</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shutdownOutput</a:t>
            </a:r>
            <a:r>
              <a:rPr lang="en" sz="1100">
                <a:latin typeface="Consolas"/>
                <a:ea typeface="Consolas"/>
                <a:cs typeface="Consolas"/>
                <a:sym typeface="Consolas"/>
              </a:rPr>
              <a:t>();</a:t>
            </a:r>
            <a:endParaRPr sz="1100">
              <a:solidFill>
                <a:srgbClr val="267F99"/>
              </a:solidFill>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73"/>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790" name="Google Shape;790;p73"/>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791" name="Google Shape;791;p73"/>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792" name="Google Shape;792;p73"/>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793" name="Google Shape;793;p73"/>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794" name="Google Shape;794;p73"/>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795" name="Google Shape;795;p73"/>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796" name="Google Shape;796;p73"/>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Networking</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URLs &amp; URLConnection</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TCP/IP Sockets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InputStream</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OutputStream</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UDP</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DatagramPacket</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DatagramSocket</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Threads!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The Proxy Pattern</a:t>
            </a:r>
            <a:endParaRPr sz="1600">
              <a:solidFill>
                <a:srgbClr val="FF0000"/>
              </a:solidFill>
              <a:latin typeface="Shadows Into Light"/>
              <a:ea typeface="Shadows Into Light"/>
              <a:cs typeface="Shadows Into Light"/>
              <a:sym typeface="Shadows Into Light"/>
            </a:endParaRPr>
          </a:p>
        </p:txBody>
      </p:sp>
      <p:sp>
        <p:nvSpPr>
          <p:cNvPr id="797" name="Google Shape;797;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graphicFrame>
        <p:nvGraphicFramePr>
          <p:cNvPr id="802" name="Google Shape;802;p74"/>
          <p:cNvGraphicFramePr/>
          <p:nvPr/>
        </p:nvGraphicFramePr>
        <p:xfrm>
          <a:off x="-10" y="-9"/>
          <a:ext cx="9143975" cy="5151300"/>
        </p:xfrm>
        <a:graphic>
          <a:graphicData uri="http://schemas.openxmlformats.org/drawingml/2006/table">
            <a:tbl>
              <a:tblPr>
                <a:noFill/>
                <a:tableStyleId>{5FF9E02A-7BB1-4865-A130-EC70E85E6E22}</a:tableStyleId>
              </a:tblPr>
              <a:tblGrid>
                <a:gridCol w="389750">
                  <a:extLst>
                    <a:ext uri="{9D8B030D-6E8A-4147-A177-3AD203B41FA5}">
                      <a16:colId xmlns:a16="http://schemas.microsoft.com/office/drawing/2014/main" val="20000"/>
                    </a:ext>
                  </a:extLst>
                </a:gridCol>
                <a:gridCol w="2148200">
                  <a:extLst>
                    <a:ext uri="{9D8B030D-6E8A-4147-A177-3AD203B41FA5}">
                      <a16:colId xmlns:a16="http://schemas.microsoft.com/office/drawing/2014/main" val="20001"/>
                    </a:ext>
                  </a:extLst>
                </a:gridCol>
                <a:gridCol w="2034050">
                  <a:extLst>
                    <a:ext uri="{9D8B030D-6E8A-4147-A177-3AD203B41FA5}">
                      <a16:colId xmlns:a16="http://schemas.microsoft.com/office/drawing/2014/main" val="20002"/>
                    </a:ext>
                  </a:extLst>
                </a:gridCol>
                <a:gridCol w="4571975">
                  <a:extLst>
                    <a:ext uri="{9D8B030D-6E8A-4147-A177-3AD203B41FA5}">
                      <a16:colId xmlns:a16="http://schemas.microsoft.com/office/drawing/2014/main" val="20003"/>
                    </a:ext>
                  </a:extLst>
                </a:gridCol>
              </a:tblGrid>
              <a:tr h="1326025">
                <a:tc rowSpan="4">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a:txBody>
                    <a:bodyPr/>
                    <a:lstStyle/>
                    <a:p>
                      <a:pPr marL="0" lvl="0" indent="0" algn="l" rtl="0">
                        <a:spcBef>
                          <a:spcPts val="0"/>
                        </a:spcBef>
                        <a:spcAft>
                          <a:spcPts val="0"/>
                        </a:spcAft>
                        <a:buNone/>
                      </a:pPr>
                      <a:r>
                        <a:rPr lang="en" sz="1000" u="sng">
                          <a:solidFill>
                            <a:schemeClr val="hlink"/>
                          </a:solidFill>
                          <a:hlinkClick r:id="rId3"/>
                        </a:rPr>
                        <a:t>InetAddress</a:t>
                      </a:r>
                      <a:endParaRPr sz="1000"/>
                    </a:p>
                    <a:p>
                      <a:pPr marL="0" lvl="0" indent="0" algn="l" rtl="0">
                        <a:spcBef>
                          <a:spcPts val="0"/>
                        </a:spcBef>
                        <a:spcAft>
                          <a:spcPts val="0"/>
                        </a:spcAft>
                        <a:buNone/>
                      </a:pPr>
                      <a:r>
                        <a:rPr lang="en" sz="1000" b="1">
                          <a:latin typeface="Courier New"/>
                          <a:ea typeface="Courier New"/>
                          <a:cs typeface="Courier New"/>
                          <a:sym typeface="Courier New"/>
                        </a:rPr>
                        <a:t>java.net.InetAddress</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getByName(String host)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getLocalHost()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br>
                        <a:rPr lang="en" sz="1000"/>
                      </a:br>
                      <a:br>
                        <a:rPr lang="en" sz="1000">
                          <a:latin typeface="Courier New"/>
                          <a:ea typeface="Courier New"/>
                          <a:cs typeface="Courier New"/>
                          <a:sym typeface="Courier New"/>
                        </a:rPr>
                      </a:br>
                      <a:r>
                        <a:rPr lang="en" sz="1000">
                          <a:latin typeface="Courier New"/>
                          <a:ea typeface="Courier New"/>
                          <a:cs typeface="Courier New"/>
                          <a:sym typeface="Courier New"/>
                        </a:rPr>
                        <a:t>getHostAddress()</a:t>
                      </a:r>
                      <a:br>
                        <a:rPr lang="en" sz="1000">
                          <a:latin typeface="Courier New"/>
                          <a:ea typeface="Courier New"/>
                          <a:cs typeface="Courier New"/>
                          <a:sym typeface="Courier New"/>
                        </a:rPr>
                      </a:br>
                      <a:r>
                        <a:rPr lang="en" sz="1000">
                          <a:latin typeface="Courier New"/>
                          <a:ea typeface="Courier New"/>
                          <a:cs typeface="Courier New"/>
                          <a:sym typeface="Courier New"/>
                        </a:rPr>
                        <a:t>getHostname()</a:t>
                      </a:r>
                      <a:endParaRPr sz="1000">
                        <a:latin typeface="Courier New"/>
                        <a:ea typeface="Courier New"/>
                        <a:cs typeface="Courier New"/>
                        <a:sym typeface="Courier New"/>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4"/>
                        </a:rPr>
                        <a:t>URL &amp; URLConnection</a:t>
                      </a:r>
                      <a:endParaRPr sz="1000"/>
                    </a:p>
                    <a:p>
                      <a:pPr marL="0" lvl="0" indent="0" algn="l" rtl="0">
                        <a:spcBef>
                          <a:spcPts val="0"/>
                        </a:spcBef>
                        <a:spcAft>
                          <a:spcPts val="0"/>
                        </a:spcAft>
                        <a:buNone/>
                      </a:pPr>
                      <a:r>
                        <a:rPr lang="en" sz="1000" b="1">
                          <a:latin typeface="Courier New"/>
                          <a:ea typeface="Courier New"/>
                          <a:cs typeface="Courier New"/>
                          <a:sym typeface="Courier New"/>
                        </a:rPr>
                        <a:t>java.net.URL</a:t>
                      </a:r>
                      <a:br>
                        <a:rPr lang="en" sz="1000">
                          <a:latin typeface="Courier New"/>
                          <a:ea typeface="Courier New"/>
                          <a:cs typeface="Courier New"/>
                          <a:sym typeface="Courier New"/>
                        </a:rPr>
                      </a:br>
                      <a:r>
                        <a:rPr lang="en" sz="1000">
                          <a:latin typeface="Courier New"/>
                          <a:ea typeface="Courier New"/>
                          <a:cs typeface="Courier New"/>
                          <a:sym typeface="Courier New"/>
                        </a:rPr>
                        <a:t>URL u = new URL(“http://nasa.gov/”);</a:t>
                      </a:r>
                      <a:br>
                        <a:rPr lang="en" sz="1000"/>
                      </a:br>
                      <a:r>
                        <a:rPr lang="en" sz="1000">
                          <a:latin typeface="Courier New"/>
                          <a:ea typeface="Courier New"/>
                          <a:cs typeface="Courier New"/>
                          <a:sym typeface="Courier New"/>
                        </a:rPr>
                        <a:t>openConnection()             getInputStream()</a:t>
                      </a:r>
                      <a:br>
                        <a:rPr lang="en" sz="1000">
                          <a:latin typeface="Courier New"/>
                          <a:ea typeface="Courier New"/>
                          <a:cs typeface="Courier New"/>
                          <a:sym typeface="Courier New"/>
                        </a:rPr>
                      </a:br>
                      <a:r>
                        <a:rPr lang="en" sz="1000">
                          <a:latin typeface="Courier New"/>
                          <a:ea typeface="Courier New"/>
                          <a:cs typeface="Courier New"/>
                          <a:sym typeface="Courier New"/>
                        </a:rPr>
                        <a:t>connect()                    getOutputStream()</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753775">
                <a:tc vMerge="1">
                  <a:txBody>
                    <a:bodyPr/>
                    <a:lstStyle/>
                    <a:p>
                      <a:endParaRPr lang="en-US"/>
                    </a:p>
                  </a:txBody>
                  <a:tcPr/>
                </a:tc>
                <a:tc gridSpan="2">
                  <a:txBody>
                    <a:bodyPr/>
                    <a:lstStyle/>
                    <a:p>
                      <a:pPr marL="0" lvl="0" indent="0" algn="l" rtl="0">
                        <a:spcBef>
                          <a:spcPts val="0"/>
                        </a:spcBef>
                        <a:spcAft>
                          <a:spcPts val="0"/>
                        </a:spcAft>
                        <a:buNone/>
                      </a:pPr>
                      <a:r>
                        <a:rPr lang="en" sz="1000" u="sng">
                          <a:solidFill>
                            <a:schemeClr val="hlink"/>
                          </a:solidFill>
                          <a:hlinkClick r:id="rId5"/>
                        </a:rPr>
                        <a:t>Sockets</a:t>
                      </a:r>
                      <a:endParaRPr sz="1000"/>
                    </a:p>
                    <a:p>
                      <a:pPr marL="0" lvl="0" indent="0" algn="l" rtl="0">
                        <a:spcBef>
                          <a:spcPts val="0"/>
                        </a:spcBef>
                        <a:spcAft>
                          <a:spcPts val="0"/>
                        </a:spcAft>
                        <a:buNone/>
                      </a:pPr>
                      <a:r>
                        <a:rPr lang="en" sz="1000" b="1">
                          <a:latin typeface="Courier New"/>
                          <a:ea typeface="Courier New"/>
                          <a:cs typeface="Courier New"/>
                          <a:sym typeface="Courier New"/>
                        </a:rPr>
                        <a:t>java.net.Socket</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Socket sock = new Socket(“localhost”, 1234);</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6"/>
                        </a:rPr>
                        <a:t>OutputStream &amp; PrintWriter</a:t>
                      </a:r>
                      <a:endParaRPr sz="1000"/>
                    </a:p>
                    <a:p>
                      <a:pPr marL="0" lvl="0" indent="0" algn="l" rtl="0">
                        <a:spcBef>
                          <a:spcPts val="0"/>
                        </a:spcBef>
                        <a:spcAft>
                          <a:spcPts val="0"/>
                        </a:spcAft>
                        <a:buNone/>
                      </a:pPr>
                      <a:r>
                        <a:rPr lang="en" sz="1000" b="1">
                          <a:latin typeface="Courier New"/>
                          <a:ea typeface="Courier New"/>
                          <a:cs typeface="Courier New"/>
                          <a:sym typeface="Courier New"/>
                        </a:rPr>
                        <a:t>Socket::getOutputStream()</a:t>
                      </a:r>
                      <a:endParaRPr sz="1000" b="1">
                        <a:latin typeface="Courier New"/>
                        <a:ea typeface="Courier New"/>
                        <a:cs typeface="Courier New"/>
                        <a:sym typeface="Courier New"/>
                      </a:endParaRPr>
                    </a:p>
                    <a:p>
                      <a:pPr marL="0" lvl="0" indent="0" algn="l" rtl="0">
                        <a:spcBef>
                          <a:spcPts val="0"/>
                        </a:spcBef>
                        <a:spcAft>
                          <a:spcPts val="0"/>
                        </a:spcAft>
                        <a:buNone/>
                      </a:pPr>
                      <a:r>
                        <a:rPr lang="en" sz="1000" b="1">
                          <a:latin typeface="Courier New"/>
                          <a:ea typeface="Courier New"/>
                          <a:cs typeface="Courier New"/>
                          <a:sym typeface="Courier New"/>
                        </a:rPr>
                        <a:t>java.io.PrintWriter</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PrintWriter writer = new PrintWriter(stream);</a:t>
                      </a:r>
                      <a:endParaRPr sz="1000">
                        <a:latin typeface="Courier New"/>
                        <a:ea typeface="Courier New"/>
                        <a:cs typeface="Courier New"/>
                        <a:sym typeface="Courier New"/>
                      </a:endParaRPr>
                    </a:p>
                    <a:p>
                      <a:pPr marL="457200" lvl="0" indent="-292100" algn="l" rtl="0">
                        <a:spcBef>
                          <a:spcPts val="0"/>
                        </a:spcBef>
                        <a:spcAft>
                          <a:spcPts val="0"/>
                        </a:spcAft>
                        <a:buSzPts val="1000"/>
                        <a:buFont typeface="Courier New"/>
                        <a:buChar char="●"/>
                      </a:pPr>
                      <a:r>
                        <a:rPr lang="en" sz="1000">
                          <a:latin typeface="Courier New"/>
                          <a:ea typeface="Courier New"/>
                          <a:cs typeface="Courier New"/>
                          <a:sym typeface="Courier New"/>
                        </a:rPr>
                        <a:t>println(String)</a:t>
                      </a:r>
                      <a:endParaRPr sz="1000">
                        <a:latin typeface="Courier New"/>
                        <a:ea typeface="Courier New"/>
                        <a:cs typeface="Courier New"/>
                        <a:sym typeface="Courier New"/>
                      </a:endParaRPr>
                    </a:p>
                    <a:p>
                      <a:pPr marL="457200" lvl="0" indent="-292100" algn="l" rtl="0">
                        <a:spcBef>
                          <a:spcPts val="0"/>
                        </a:spcBef>
                        <a:spcAft>
                          <a:spcPts val="0"/>
                        </a:spcAft>
                        <a:buSzPts val="1000"/>
                        <a:buFont typeface="Courier New"/>
                        <a:buChar char="●"/>
                      </a:pPr>
                      <a:r>
                        <a:rPr lang="en" sz="1000">
                          <a:latin typeface="Courier New"/>
                          <a:ea typeface="Courier New"/>
                          <a:cs typeface="Courier New"/>
                          <a:sym typeface="Courier New"/>
                        </a:rPr>
                        <a:t>write(char[])</a:t>
                      </a:r>
                      <a:endParaRPr sz="1000">
                        <a:latin typeface="Courier New"/>
                        <a:ea typeface="Courier New"/>
                        <a:cs typeface="Courier New"/>
                        <a:sym typeface="Courier New"/>
                      </a:endParaRPr>
                    </a:p>
                    <a:p>
                      <a:pPr marL="457200" lvl="0" indent="-292100" algn="l" rtl="0">
                        <a:spcBef>
                          <a:spcPts val="0"/>
                        </a:spcBef>
                        <a:spcAft>
                          <a:spcPts val="0"/>
                        </a:spcAft>
                        <a:buSzPts val="1000"/>
                        <a:buFont typeface="Courier New"/>
                        <a:buChar char="●"/>
                      </a:pPr>
                      <a:r>
                        <a:rPr lang="en" sz="1000">
                          <a:latin typeface="Courier New"/>
                          <a:ea typeface="Courier New"/>
                          <a:cs typeface="Courier New"/>
                          <a:sym typeface="Courier New"/>
                        </a:rPr>
                        <a:t>flush()</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12125">
                <a:tc vMerge="1">
                  <a:txBody>
                    <a:bodyPr/>
                    <a:lstStyle/>
                    <a:p>
                      <a:endParaRPr lang="en-US"/>
                    </a:p>
                  </a:txBody>
                  <a:tcPr/>
                </a:tc>
                <a:tc gridSpan="2">
                  <a:txBody>
                    <a:bodyPr/>
                    <a:lstStyle/>
                    <a:p>
                      <a:pPr marL="0" lvl="0" indent="0" algn="l" rtl="0">
                        <a:spcBef>
                          <a:spcPts val="0"/>
                        </a:spcBef>
                        <a:spcAft>
                          <a:spcPts val="0"/>
                        </a:spcAft>
                        <a:buNone/>
                      </a:pPr>
                      <a:r>
                        <a:rPr lang="en" sz="1000" u="sng">
                          <a:solidFill>
                            <a:schemeClr val="hlink"/>
                          </a:solidFill>
                          <a:hlinkClick r:id="rId7"/>
                        </a:rPr>
                        <a:t>InputStream &amp; Scanner</a:t>
                      </a:r>
                      <a:endParaRPr sz="1000"/>
                    </a:p>
                    <a:p>
                      <a:pPr marL="0" lvl="0" indent="0" algn="l" rtl="0">
                        <a:spcBef>
                          <a:spcPts val="0"/>
                        </a:spcBef>
                        <a:spcAft>
                          <a:spcPts val="0"/>
                        </a:spcAft>
                        <a:buNone/>
                      </a:pPr>
                      <a:r>
                        <a:rPr lang="en" sz="1000" b="1">
                          <a:latin typeface="Courier New"/>
                          <a:ea typeface="Courier New"/>
                          <a:cs typeface="Courier New"/>
                          <a:sym typeface="Courier New"/>
                        </a:rPr>
                        <a:t>Socket::getInputStream()</a:t>
                      </a:r>
                      <a:endParaRPr sz="1000" b="1">
                        <a:latin typeface="Courier New"/>
                        <a:ea typeface="Courier New"/>
                        <a:cs typeface="Courier New"/>
                        <a:sym typeface="Courier New"/>
                      </a:endParaRPr>
                    </a:p>
                    <a:p>
                      <a:pPr marL="0" lvl="0" indent="0" algn="l" rtl="0">
                        <a:spcBef>
                          <a:spcPts val="0"/>
                        </a:spcBef>
                        <a:spcAft>
                          <a:spcPts val="0"/>
                        </a:spcAft>
                        <a:buNone/>
                      </a:pPr>
                      <a:r>
                        <a:rPr lang="en" sz="1000" b="1">
                          <a:latin typeface="Courier New"/>
                          <a:ea typeface="Courier New"/>
                          <a:cs typeface="Courier New"/>
                          <a:sym typeface="Courier New"/>
                        </a:rPr>
                        <a:t>java.util.Scanner</a:t>
                      </a:r>
                      <a:endParaRPr sz="1000" b="1">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8"/>
                        </a:rPr>
                        <a:t>ServerSocket</a:t>
                      </a:r>
                      <a:endParaRPr sz="1000"/>
                    </a:p>
                    <a:p>
                      <a:pPr marL="0" lvl="0" indent="0" algn="l" rtl="0">
                        <a:spcBef>
                          <a:spcPts val="0"/>
                        </a:spcBef>
                        <a:spcAft>
                          <a:spcPts val="0"/>
                        </a:spcAft>
                        <a:buNone/>
                      </a:pPr>
                      <a:r>
                        <a:rPr lang="en" sz="1000" b="1">
                          <a:latin typeface="Courier New"/>
                          <a:ea typeface="Courier New"/>
                          <a:cs typeface="Courier New"/>
                          <a:sym typeface="Courier New"/>
                        </a:rPr>
                        <a:t>java.net.ServerSocket</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ServerSocket s = new ServerSocket(1234);</a:t>
                      </a:r>
                      <a:endParaRPr sz="1000">
                        <a:latin typeface="Courier New"/>
                        <a:ea typeface="Courier New"/>
                        <a:cs typeface="Courier New"/>
                        <a:sym typeface="Courier New"/>
                      </a:endParaRPr>
                    </a:p>
                    <a:p>
                      <a:pPr marL="457200" lvl="0" indent="-292100" algn="l" rtl="0">
                        <a:spcBef>
                          <a:spcPts val="0"/>
                        </a:spcBef>
                        <a:spcAft>
                          <a:spcPts val="0"/>
                        </a:spcAft>
                        <a:buSzPts val="1000"/>
                        <a:buFont typeface="Courier New"/>
                        <a:buChar char="●"/>
                      </a:pPr>
                      <a:r>
                        <a:rPr lang="en" sz="1000">
                          <a:latin typeface="Courier New"/>
                          <a:ea typeface="Courier New"/>
                          <a:cs typeface="Courier New"/>
                          <a:sym typeface="Courier New"/>
                        </a:rPr>
                        <a:t>accept()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59375">
                <a:tc vMerge="1">
                  <a:txBody>
                    <a:bodyPr/>
                    <a:lstStyle/>
                    <a:p>
                      <a:endParaRPr lang="en-US"/>
                    </a:p>
                  </a:txBody>
                  <a:tcPr/>
                </a:tc>
                <a:tc gridSpan="3">
                  <a:txBody>
                    <a:bodyPr/>
                    <a:lstStyle/>
                    <a:p>
                      <a:pPr marL="0" lvl="0" indent="0" algn="l" rtl="0">
                        <a:spcBef>
                          <a:spcPts val="0"/>
                        </a:spcBef>
                        <a:spcAft>
                          <a:spcPts val="0"/>
                        </a:spcAft>
                        <a:buNone/>
                      </a:pPr>
                      <a:r>
                        <a:rPr lang="en" sz="1000" u="sng">
                          <a:solidFill>
                            <a:schemeClr val="hlink"/>
                          </a:solidFill>
                          <a:hlinkClick r:id="rId9"/>
                        </a:rPr>
                        <a:t>DatagramPacket &amp; DatagramSocket</a:t>
                      </a:r>
                      <a:endParaRPr sz="1000"/>
                    </a:p>
                    <a:p>
                      <a:pPr marL="0" lvl="0" indent="0" algn="l" rtl="0">
                        <a:spcBef>
                          <a:spcPts val="0"/>
                        </a:spcBef>
                        <a:spcAft>
                          <a:spcPts val="0"/>
                        </a:spcAft>
                        <a:buNone/>
                      </a:pPr>
                      <a:r>
                        <a:rPr lang="en" sz="1000" b="1">
                          <a:latin typeface="Courier New"/>
                          <a:ea typeface="Courier New"/>
                          <a:cs typeface="Courier New"/>
                          <a:sym typeface="Courier New"/>
                        </a:rPr>
                        <a:t>java.net.DatagramPacket</a:t>
                      </a:r>
                      <a:endParaRPr sz="1000" b="1">
                        <a:latin typeface="Courier New"/>
                        <a:ea typeface="Courier New"/>
                        <a:cs typeface="Courier New"/>
                        <a:sym typeface="Courier New"/>
                      </a:endParaRPr>
                    </a:p>
                    <a:p>
                      <a:pPr marL="0" lvl="0" indent="0" algn="l" rtl="0">
                        <a:spcBef>
                          <a:spcPts val="0"/>
                        </a:spcBef>
                        <a:spcAft>
                          <a:spcPts val="0"/>
                        </a:spcAft>
                        <a:buNone/>
                      </a:pPr>
                      <a:r>
                        <a:rPr lang="en" sz="1000" b="1">
                          <a:latin typeface="Courier New"/>
                          <a:ea typeface="Courier New"/>
                          <a:cs typeface="Courier New"/>
                          <a:sym typeface="Courier New"/>
                        </a:rPr>
                        <a:t>java.net.DatagramSocket</a:t>
                      </a:r>
                      <a:endParaRPr sz="1000" b="1">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803" name="Google Shape;803;p74"/>
          <p:cNvSpPr txBox="1"/>
          <p:nvPr/>
        </p:nvSpPr>
        <p:spPr>
          <a:xfrm rot="-5400000">
            <a:off x="-2378350" y="23776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12: Networking </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807"/>
        <p:cNvGrpSpPr/>
        <p:nvPr/>
      </p:nvGrpSpPr>
      <p:grpSpPr>
        <a:xfrm>
          <a:off x="0" y="0"/>
          <a:ext cx="0" cy="0"/>
          <a:chOff x="0" y="0"/>
          <a:chExt cx="0" cy="0"/>
        </a:xfrm>
      </p:grpSpPr>
      <p:sp>
        <p:nvSpPr>
          <p:cNvPr id="808" name="Google Shape;808;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809" name="Google Shape;809;p75"/>
          <p:cNvSpPr txBox="1">
            <a:spLocks noGrp="1"/>
          </p:cNvSpPr>
          <p:nvPr>
            <p:ph type="title"/>
          </p:nvPr>
        </p:nvSpPr>
        <p:spPr>
          <a:xfrm>
            <a:off x="311725" y="437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Note About Running Multiple Programs</a:t>
            </a:r>
            <a:endParaRPr/>
          </a:p>
        </p:txBody>
      </p:sp>
      <p:sp>
        <p:nvSpPr>
          <p:cNvPr id="810" name="Google Shape;810;p75"/>
          <p:cNvSpPr txBox="1"/>
          <p:nvPr/>
        </p:nvSpPr>
        <p:spPr>
          <a:xfrm>
            <a:off x="3209850" y="1416875"/>
            <a:ext cx="2724300" cy="82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rPr>
              <a:t>When testing networking code you will often need to run multiple applications at the same time.</a:t>
            </a:r>
            <a:endParaRPr sz="1300">
              <a:solidFill>
                <a:schemeClr val="dk1"/>
              </a:solidFill>
              <a:latin typeface="Arial"/>
              <a:ea typeface="Arial"/>
              <a:cs typeface="Arial"/>
              <a:sym typeface="Arial"/>
            </a:endParaRPr>
          </a:p>
        </p:txBody>
      </p:sp>
      <p:sp>
        <p:nvSpPr>
          <p:cNvPr id="811" name="Google Shape;811;p75"/>
          <p:cNvSpPr txBox="1"/>
          <p:nvPr/>
        </p:nvSpPr>
        <p:spPr>
          <a:xfrm>
            <a:off x="3209850" y="2401550"/>
            <a:ext cx="2724300" cy="53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rPr>
              <a:t>You </a:t>
            </a:r>
            <a:r>
              <a:rPr lang="en" sz="1300" b="1" i="1">
                <a:solidFill>
                  <a:srgbClr val="FF0000"/>
                </a:solidFill>
              </a:rPr>
              <a:t>cannot</a:t>
            </a:r>
            <a:r>
              <a:rPr lang="en" sz="1300" i="1">
                <a:solidFill>
                  <a:srgbClr val="FF0000"/>
                </a:solidFill>
              </a:rPr>
              <a:t> </a:t>
            </a:r>
            <a:r>
              <a:rPr lang="en" sz="1300">
                <a:solidFill>
                  <a:schemeClr val="dk1"/>
                </a:solidFill>
              </a:rPr>
              <a:t>use the play button to do this in VS Code.</a:t>
            </a:r>
            <a:endParaRPr sz="1300">
              <a:solidFill>
                <a:schemeClr val="dk1"/>
              </a:solidFill>
              <a:latin typeface="Arial"/>
              <a:ea typeface="Arial"/>
              <a:cs typeface="Arial"/>
              <a:sym typeface="Arial"/>
            </a:endParaRPr>
          </a:p>
        </p:txBody>
      </p:sp>
      <p:sp>
        <p:nvSpPr>
          <p:cNvPr id="812" name="Google Shape;812;p75"/>
          <p:cNvSpPr txBox="1"/>
          <p:nvPr/>
        </p:nvSpPr>
        <p:spPr>
          <a:xfrm>
            <a:off x="3209850" y="3100325"/>
            <a:ext cx="2724300" cy="53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rPr>
              <a:t>Instead you can use the </a:t>
            </a:r>
            <a:r>
              <a:rPr lang="en" sz="1300">
                <a:solidFill>
                  <a:srgbClr val="FF0000"/>
                </a:solidFill>
                <a:latin typeface="Courier New"/>
                <a:ea typeface="Courier New"/>
                <a:cs typeface="Courier New"/>
                <a:sym typeface="Courier New"/>
              </a:rPr>
              <a:t>Run and Debug</a:t>
            </a:r>
            <a:r>
              <a:rPr lang="en" sz="1300">
                <a:solidFill>
                  <a:schemeClr val="dk1"/>
                </a:solidFill>
              </a:rPr>
              <a:t> activity (left bar).</a:t>
            </a:r>
            <a:endParaRPr sz="1300">
              <a:solidFill>
                <a:schemeClr val="dk1"/>
              </a:solidFill>
              <a:latin typeface="Arial"/>
              <a:ea typeface="Arial"/>
              <a:cs typeface="Arial"/>
              <a:sym typeface="Arial"/>
            </a:endParaRPr>
          </a:p>
        </p:txBody>
      </p:sp>
      <p:sp>
        <p:nvSpPr>
          <p:cNvPr id="813" name="Google Shape;813;p75"/>
          <p:cNvSpPr txBox="1"/>
          <p:nvPr/>
        </p:nvSpPr>
        <p:spPr>
          <a:xfrm>
            <a:off x="3209850" y="3799100"/>
            <a:ext cx="2724300" cy="53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sz="1300">
                <a:solidFill>
                  <a:schemeClr val="dk1"/>
                </a:solidFill>
              </a:rPr>
              <a:t>Alternatively, you can run </a:t>
            </a:r>
            <a:r>
              <a:rPr lang="en" sz="1300" b="1" i="1">
                <a:solidFill>
                  <a:srgbClr val="FF0000"/>
                </a:solidFill>
              </a:rPr>
              <a:t>multiple instances</a:t>
            </a:r>
            <a:r>
              <a:rPr lang="en" sz="1300">
                <a:solidFill>
                  <a:schemeClr val="dk1"/>
                </a:solidFill>
              </a:rPr>
              <a:t> of VS Code.</a:t>
            </a:r>
            <a:endParaRPr sz="13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409</TotalTime>
  <Words>7448</Words>
  <Application>Microsoft Office PowerPoint</Application>
  <PresentationFormat>On-screen Show (16:9)</PresentationFormat>
  <Paragraphs>777</Paragraphs>
  <Slides>44</Slides>
  <Notes>44</Notes>
  <HiddenSlides>1</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44</vt:i4>
      </vt:variant>
    </vt:vector>
  </HeadingPairs>
  <TitlesOfParts>
    <vt:vector size="57" baseType="lpstr">
      <vt:lpstr>Arial</vt:lpstr>
      <vt:lpstr>Calibri</vt:lpstr>
      <vt:lpstr>Cambria Math</vt:lpstr>
      <vt:lpstr>Consolas</vt:lpstr>
      <vt:lpstr>Courier New</vt:lpstr>
      <vt:lpstr>Merriweather</vt:lpstr>
      <vt:lpstr>Noto Sans Symbols</vt:lpstr>
      <vt:lpstr>Playfair Display</vt:lpstr>
      <vt:lpstr>Roboto</vt:lpstr>
      <vt:lpstr>Shadows Into Light</vt:lpstr>
      <vt:lpstr>Wingdings</vt:lpstr>
      <vt:lpstr>Paradigm</vt:lpstr>
      <vt:lpstr>Paradigm</vt:lpstr>
      <vt:lpstr>GCIS-124 Software Development &amp; Problem Solving</vt:lpstr>
      <vt:lpstr>Networking I</vt:lpstr>
      <vt:lpstr>Exceptions, IO, and Threads</vt:lpstr>
      <vt:lpstr>Networking</vt:lpstr>
      <vt:lpstr>Protocol Layers</vt:lpstr>
      <vt:lpstr>Network Models at a Glance</vt:lpstr>
      <vt:lpstr>TCP/IP</vt:lpstr>
      <vt:lpstr>Internet Protocol Addresses</vt:lpstr>
      <vt:lpstr>Hostnames &amp; DNS</vt:lpstr>
      <vt:lpstr>InetAddress</vt:lpstr>
      <vt:lpstr>InetAddress</vt:lpstr>
      <vt:lpstr>(Some) Networking Vocabulary</vt:lpstr>
      <vt:lpstr>(Some) Networking Vocabulary</vt:lpstr>
      <vt:lpstr>The World Wide Web</vt:lpstr>
      <vt:lpstr>URLs</vt:lpstr>
      <vt:lpstr>URL &amp; URLConnection</vt:lpstr>
      <vt:lpstr>A Closer Look at URL &amp; URLConnection</vt:lpstr>
      <vt:lpstr>A Closer Look at URL &amp; URLConnection</vt:lpstr>
      <vt:lpstr>URLConnection</vt:lpstr>
      <vt:lpstr>TCP/IP Connections With Sockets</vt:lpstr>
      <vt:lpstr>Open a Socket</vt:lpstr>
      <vt:lpstr>Sending Data</vt:lpstr>
      <vt:lpstr>Using PrintWriter to Send Data</vt:lpstr>
      <vt:lpstr>Using PrintWriter to Send Data</vt:lpstr>
      <vt:lpstr>Sending Data</vt:lpstr>
      <vt:lpstr>Receiving Data</vt:lpstr>
      <vt:lpstr>Using BufferedReader to Read Data</vt:lpstr>
      <vt:lpstr>Using BufferedReader to Read Data</vt:lpstr>
      <vt:lpstr>Reading Multiple Lines With a Do While.</vt:lpstr>
      <vt:lpstr>What About Streams</vt:lpstr>
      <vt:lpstr>Receiving Data</vt:lpstr>
      <vt:lpstr>Review: TCP/IP With Sockets</vt:lpstr>
      <vt:lpstr>Listening for Connections</vt:lpstr>
      <vt:lpstr>Listening for Connections </vt:lpstr>
      <vt:lpstr>Review: Sending Data</vt:lpstr>
      <vt:lpstr>Sending Data</vt:lpstr>
      <vt:lpstr>Review: Receiving Data</vt:lpstr>
      <vt:lpstr>Echo?</vt:lpstr>
      <vt:lpstr>Review: A Typical Client &amp; Server</vt:lpstr>
      <vt:lpstr>Echo! Echo! Echo! …</vt:lpstr>
      <vt:lpstr>Stream is Broken</vt:lpstr>
      <vt:lpstr>Summary &amp; Reflection</vt:lpstr>
      <vt:lpstr>PowerPoint Presentation</vt:lpstr>
      <vt:lpstr>A Note About Running Multiple Programs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26</cp:revision>
  <dcterms:modified xsi:type="dcterms:W3CDTF">2026-03-19T20:04:17Z</dcterms:modified>
</cp:coreProperties>
</file>