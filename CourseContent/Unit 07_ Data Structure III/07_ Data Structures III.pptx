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710" r:id="rId5"/>
    <p:sldMasterId id="2147483711" r:id="rId6"/>
    <p:sldMasterId id="2147483712" r:id="rId7"/>
    <p:sldMasterId id="2147483713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</p:sldIdLst>
  <p:sldSz cy="5143500" cx="9144000"/>
  <p:notesSz cx="6858000" cy="9144000"/>
  <p:embeddedFontLst>
    <p:embeddedFont>
      <p:font typeface="Roboto"/>
      <p:regular r:id="rId56"/>
      <p:bold r:id="rId57"/>
      <p:italic r:id="rId58"/>
      <p:boldItalic r:id="rId59"/>
    </p:embeddedFont>
    <p:embeddedFont>
      <p:font typeface="Shadows Into Light"/>
      <p:regular r:id="rId60"/>
    </p:embeddedFont>
    <p:embeddedFont>
      <p:font typeface="Merriweather"/>
      <p:regular r:id="rId61"/>
      <p:bold r:id="rId62"/>
      <p:italic r:id="rId63"/>
      <p:boldItalic r:id="rId64"/>
    </p:embeddedFont>
    <p:embeddedFont>
      <p:font typeface="Open Sans"/>
      <p:regular r:id="rId65"/>
      <p:bold r:id="rId66"/>
      <p:italic r:id="rId67"/>
      <p:boldItalic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523">
          <p15:clr>
            <a:srgbClr val="A4A3A4"/>
          </p15:clr>
        </p15:guide>
        <p15:guide id="2" pos="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8BCF444-FB6E-45BF-8B7D-5A214FA52ACE}">
  <a:tblStyle styleId="{88BCF444-FB6E-45BF-8B7D-5A214FA52A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033D936F-E8DA-4608-9ACD-538CA265D6F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523" orient="horz"/>
        <p:guide pos="3824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1.xml"/><Relationship Id="rId42" Type="http://schemas.openxmlformats.org/officeDocument/2006/relationships/slide" Target="slides/slide33.xml"/><Relationship Id="rId41" Type="http://schemas.openxmlformats.org/officeDocument/2006/relationships/slide" Target="slides/slide32.xml"/><Relationship Id="rId44" Type="http://schemas.openxmlformats.org/officeDocument/2006/relationships/slide" Target="slides/slide35.xml"/><Relationship Id="rId43" Type="http://schemas.openxmlformats.org/officeDocument/2006/relationships/slide" Target="slides/slide34.xml"/><Relationship Id="rId46" Type="http://schemas.openxmlformats.org/officeDocument/2006/relationships/slide" Target="slides/slide37.xml"/><Relationship Id="rId45" Type="http://schemas.openxmlformats.org/officeDocument/2006/relationships/slide" Target="slides/slide3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notesMaster" Target="notesMasters/notesMaster1.xml"/><Relationship Id="rId48" Type="http://schemas.openxmlformats.org/officeDocument/2006/relationships/slide" Target="slides/slide39.xml"/><Relationship Id="rId47" Type="http://schemas.openxmlformats.org/officeDocument/2006/relationships/slide" Target="slides/slide38.xml"/><Relationship Id="rId49" Type="http://schemas.openxmlformats.org/officeDocument/2006/relationships/slide" Target="slides/slide4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slideMaster" Target="slideMasters/slideMaster4.xml"/><Relationship Id="rId31" Type="http://schemas.openxmlformats.org/officeDocument/2006/relationships/slide" Target="slides/slide22.xml"/><Relationship Id="rId30" Type="http://schemas.openxmlformats.org/officeDocument/2006/relationships/slide" Target="slides/slide21.xml"/><Relationship Id="rId33" Type="http://schemas.openxmlformats.org/officeDocument/2006/relationships/slide" Target="slides/slide24.xml"/><Relationship Id="rId32" Type="http://schemas.openxmlformats.org/officeDocument/2006/relationships/slide" Target="slides/slide23.xml"/><Relationship Id="rId35" Type="http://schemas.openxmlformats.org/officeDocument/2006/relationships/slide" Target="slides/slide26.xml"/><Relationship Id="rId34" Type="http://schemas.openxmlformats.org/officeDocument/2006/relationships/slide" Target="slides/slide25.xml"/><Relationship Id="rId37" Type="http://schemas.openxmlformats.org/officeDocument/2006/relationships/slide" Target="slides/slide28.xml"/><Relationship Id="rId36" Type="http://schemas.openxmlformats.org/officeDocument/2006/relationships/slide" Target="slides/slide27.xml"/><Relationship Id="rId39" Type="http://schemas.openxmlformats.org/officeDocument/2006/relationships/slide" Target="slides/slide30.xml"/><Relationship Id="rId38" Type="http://schemas.openxmlformats.org/officeDocument/2006/relationships/slide" Target="slides/slide29.xml"/><Relationship Id="rId62" Type="http://schemas.openxmlformats.org/officeDocument/2006/relationships/font" Target="fonts/Merriweather-bold.fntdata"/><Relationship Id="rId61" Type="http://schemas.openxmlformats.org/officeDocument/2006/relationships/font" Target="fonts/Merriweather-regular.fntdata"/><Relationship Id="rId20" Type="http://schemas.openxmlformats.org/officeDocument/2006/relationships/slide" Target="slides/slide11.xml"/><Relationship Id="rId64" Type="http://schemas.openxmlformats.org/officeDocument/2006/relationships/font" Target="fonts/Merriweather-boldItalic.fntdata"/><Relationship Id="rId63" Type="http://schemas.openxmlformats.org/officeDocument/2006/relationships/font" Target="fonts/Merriweather-italic.fntdata"/><Relationship Id="rId22" Type="http://schemas.openxmlformats.org/officeDocument/2006/relationships/slide" Target="slides/slide13.xml"/><Relationship Id="rId66" Type="http://schemas.openxmlformats.org/officeDocument/2006/relationships/font" Target="fonts/OpenSans-bold.fntdata"/><Relationship Id="rId21" Type="http://schemas.openxmlformats.org/officeDocument/2006/relationships/slide" Target="slides/slide12.xml"/><Relationship Id="rId65" Type="http://schemas.openxmlformats.org/officeDocument/2006/relationships/font" Target="fonts/OpenSans-regular.fntdata"/><Relationship Id="rId24" Type="http://schemas.openxmlformats.org/officeDocument/2006/relationships/slide" Target="slides/slide15.xml"/><Relationship Id="rId68" Type="http://schemas.openxmlformats.org/officeDocument/2006/relationships/font" Target="fonts/OpenSans-boldItalic.fntdata"/><Relationship Id="rId23" Type="http://schemas.openxmlformats.org/officeDocument/2006/relationships/slide" Target="slides/slide14.xml"/><Relationship Id="rId67" Type="http://schemas.openxmlformats.org/officeDocument/2006/relationships/font" Target="fonts/OpenSans-italic.fntdata"/><Relationship Id="rId60" Type="http://schemas.openxmlformats.org/officeDocument/2006/relationships/font" Target="fonts/ShadowsIntoLight-regular.fntdata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28" Type="http://schemas.openxmlformats.org/officeDocument/2006/relationships/slide" Target="slides/slide19.xml"/><Relationship Id="rId27" Type="http://schemas.openxmlformats.org/officeDocument/2006/relationships/slide" Target="slides/slide18.xml"/><Relationship Id="rId29" Type="http://schemas.openxmlformats.org/officeDocument/2006/relationships/slide" Target="slides/slide20.xml"/><Relationship Id="rId51" Type="http://schemas.openxmlformats.org/officeDocument/2006/relationships/slide" Target="slides/slide42.xml"/><Relationship Id="rId50" Type="http://schemas.openxmlformats.org/officeDocument/2006/relationships/slide" Target="slides/slide41.xml"/><Relationship Id="rId53" Type="http://schemas.openxmlformats.org/officeDocument/2006/relationships/slide" Target="slides/slide44.xml"/><Relationship Id="rId52" Type="http://schemas.openxmlformats.org/officeDocument/2006/relationships/slide" Target="slides/slide43.xml"/><Relationship Id="rId11" Type="http://schemas.openxmlformats.org/officeDocument/2006/relationships/slide" Target="slides/slide2.xml"/><Relationship Id="rId55" Type="http://schemas.openxmlformats.org/officeDocument/2006/relationships/slide" Target="slides/slide46.xml"/><Relationship Id="rId10" Type="http://schemas.openxmlformats.org/officeDocument/2006/relationships/slide" Target="slides/slide1.xml"/><Relationship Id="rId54" Type="http://schemas.openxmlformats.org/officeDocument/2006/relationships/slide" Target="slides/slide45.xml"/><Relationship Id="rId13" Type="http://schemas.openxmlformats.org/officeDocument/2006/relationships/slide" Target="slides/slide4.xml"/><Relationship Id="rId57" Type="http://schemas.openxmlformats.org/officeDocument/2006/relationships/font" Target="fonts/Roboto-bold.fntdata"/><Relationship Id="rId12" Type="http://schemas.openxmlformats.org/officeDocument/2006/relationships/slide" Target="slides/slide3.xml"/><Relationship Id="rId56" Type="http://schemas.openxmlformats.org/officeDocument/2006/relationships/font" Target="fonts/Roboto-regular.fntdata"/><Relationship Id="rId15" Type="http://schemas.openxmlformats.org/officeDocument/2006/relationships/slide" Target="slides/slide6.xml"/><Relationship Id="rId59" Type="http://schemas.openxmlformats.org/officeDocument/2006/relationships/font" Target="fonts/Roboto-boldItalic.fntdata"/><Relationship Id="rId14" Type="http://schemas.openxmlformats.org/officeDocument/2006/relationships/slide" Target="slides/slide5.xml"/><Relationship Id="rId58" Type="http://schemas.openxmlformats.org/officeDocument/2006/relationships/font" Target="fonts/Roboto-italic.fntdata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2b9a8ac45a0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g2b9a8ac45a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b2a27292e8_0_9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g3b2a27292e8_0_9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Note that "in" is blue when used as an operator, and purple when used with a for loop.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b2a27292e8_0_10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b2a27292e8_0_10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b2a27292e8_0_10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b2a27292e8_0_10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b2a27292e8_0_10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b2a27292e8_0_10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b2a27292e8_0_10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b2a27292e8_0_10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c7d72bb9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bc7d72bb9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bc7d72bb96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g3bc7d72bb96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bb30fc5c81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bb30fc5c81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bc7d72bb96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3bc7d72bb96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bc7d72bb96_0_3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g3bc7d72bb96_0_3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92b3d6d1b5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392b3d6d1b5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92b3d6d1b5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92b3d6d1b5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92b3d6d1b5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92b3d6d1b5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92b3d6d1b5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92b3d6d1b5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bc7d72bb96_0_3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3bc7d72bb96_0_3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92b3d6d1b5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392b3d6d1b5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bb30fc5c81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3" name="Google Shape;593;g3bb30fc5c8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bb30fc5c81_0_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5" name="Google Shape;615;g3bb30fc5c81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You may mention that we will cover this in much more detail in the second course.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b30fc5c8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b30fc5c8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bb30fc5c81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bb30fc5c8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bb30fc5c81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bb30fc5c81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92b3d6d1b5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92b3d6d1b5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bc7d72bb96_0_4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3bc7d72bb96_0_4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392b3d6d1b5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2" name="Google Shape;742;g392b3d6d1b5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bb30fc5c81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3bb30fc5c81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9365f9dcd1_0_1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5" name="Google Shape;765;g39365f9dcd1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bc7d72bb96_0_4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bc7d72bb96_0_4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9365f9dcd1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39365f9dcd1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bb30fc5c81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1" name="Google Shape;801;g3bb30fc5c81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bb30fc5c81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bb30fc5c81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2b9a8ac45a0_0_37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1" name="Google Shape;821;g2b9a8ac45a0_0_37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392b3d6d1b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392b3d6d1b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9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92b3d6d1b5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392b3d6d1b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92b3d6d1b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92b3d6d1b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392b3d6d1b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7" name="Google Shape;867;g392b3d6d1b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92b3d6d1b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92b3d6d1b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2d99a256a72_6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2d99a256a72_6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2b9a8ac45a0_0_38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2b9a8ac45a0_0_38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2b9a8ac45a0_0_38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2b9a8ac45a0_0_38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2b9a8ac45a0_0_38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2b9a8ac45a0_0_38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g2b9a8ac45a0_0_38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" name="Google Shape;933;g2b9a8ac45a0_0_3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2b9a8ac45a0_0_38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4" name="Google Shape;944;g2b9a8ac45a0_0_38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data structures we have covered and that are available to use are in green.</a:t>
            </a:r>
            <a:br>
              <a:rPr lang="en"/>
            </a:br>
            <a:r>
              <a:rPr lang="en"/>
              <a:t>Don't spend too much time here explaining the various interfaces that we haven't discussed.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2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2dcb86e307a_69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4" name="Google Shape;994;g2dcb86e307a_69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8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1dd56d1ca8e_0_3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1dd56d1ca8e_0_3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-125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1" name="Google Shape;21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6446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4"/>
          <p:cNvSpPr txBox="1"/>
          <p:nvPr>
            <p:ph idx="2" type="body"/>
          </p:nvPr>
        </p:nvSpPr>
        <p:spPr>
          <a:xfrm>
            <a:off x="3154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3" type="body"/>
          </p:nvPr>
        </p:nvSpPr>
        <p:spPr>
          <a:xfrm>
            <a:off x="3154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4840017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/>
          <p:nvPr/>
        </p:nvSpPr>
        <p:spPr>
          <a:xfrm>
            <a:off x="4839900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" name="Google Shape;41;p7"/>
          <p:cNvSpPr txBox="1"/>
          <p:nvPr>
            <p:ph type="title"/>
          </p:nvPr>
        </p:nvSpPr>
        <p:spPr>
          <a:xfrm>
            <a:off x="5264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012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51922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2" name="Google Shape;7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3">
  <p:cSld name="TITLE_AND_BODY_3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oogle Shape;74;p1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4">
  <p:cSld name="TITLE_AND_BODY_4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2" name="Google Shape;8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ctivity">
  <p:cSld name="AUTOLAYOUT_1_1"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65250" y="731625"/>
            <a:ext cx="8955900" cy="1146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spAutoFit/>
          </a:bodyPr>
          <a:lstStyle>
            <a:lvl1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6" name="Google Shape;8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7" name="Google Shape;87;p17"/>
          <p:cNvSpPr txBox="1"/>
          <p:nvPr>
            <p:ph idx="2" type="body"/>
          </p:nvPr>
        </p:nvSpPr>
        <p:spPr>
          <a:xfrm>
            <a:off x="4420400" y="2013125"/>
            <a:ext cx="4520700" cy="282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8" name="Google Shape;88;p17"/>
          <p:cNvSpPr/>
          <p:nvPr/>
        </p:nvSpPr>
        <p:spPr>
          <a:xfrm>
            <a:off x="1365175" y="0"/>
            <a:ext cx="7778700" cy="64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7"/>
          <p:cNvSpPr txBox="1"/>
          <p:nvPr>
            <p:ph type="title"/>
          </p:nvPr>
        </p:nvSpPr>
        <p:spPr>
          <a:xfrm>
            <a:off x="1436850" y="100"/>
            <a:ext cx="7642500" cy="596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sp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0" name="Google Shape;90;p17"/>
          <p:cNvSpPr/>
          <p:nvPr/>
        </p:nvSpPr>
        <p:spPr>
          <a:xfrm>
            <a:off x="0" y="0"/>
            <a:ext cx="1365300" cy="645600"/>
          </a:xfrm>
          <a:prstGeom prst="rect">
            <a:avLst/>
          </a:prstGeom>
          <a:solidFill>
            <a:schemeClr val="accent5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 txBox="1"/>
          <p:nvPr>
            <p:ph idx="3" type="title"/>
          </p:nvPr>
        </p:nvSpPr>
        <p:spPr>
          <a:xfrm>
            <a:off x="65250" y="100"/>
            <a:ext cx="1253700" cy="596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sp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141600" y="4156900"/>
            <a:ext cx="3023700" cy="4785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1_One column 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/>
          <p:nvPr/>
        </p:nvSpPr>
        <p:spPr>
          <a:xfrm>
            <a:off x="4840017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4839900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96" name="Google Shape;96;p18"/>
          <p:cNvSpPr txBox="1"/>
          <p:nvPr>
            <p:ph idx="12" type="sldNum"/>
          </p:nvPr>
        </p:nvSpPr>
        <p:spPr>
          <a:xfrm>
            <a:off x="0" y="4946700"/>
            <a:ext cx="422100" cy="19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5192225" y="5009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2" type="body"/>
          </p:nvPr>
        </p:nvSpPr>
        <p:spPr>
          <a:xfrm>
            <a:off x="301625" y="501650"/>
            <a:ext cx="4165500" cy="44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Char char="○"/>
              <a:defRPr sz="1200"/>
            </a:lvl2pPr>
            <a:lvl3pPr indent="-298450" lvl="2" marL="13716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0" name="Google Shape;100;p18"/>
          <p:cNvSpPr txBox="1"/>
          <p:nvPr>
            <p:ph idx="3" type="body"/>
          </p:nvPr>
        </p:nvSpPr>
        <p:spPr>
          <a:xfrm>
            <a:off x="5192226" y="1278143"/>
            <a:ext cx="3706500" cy="26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200">
                <a:solidFill>
                  <a:schemeClr val="lt1"/>
                </a:solidFill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Activity"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9"/>
          <p:cNvSpPr/>
          <p:nvPr/>
        </p:nvSpPr>
        <p:spPr>
          <a:xfrm flipH="1" rot="10800000">
            <a:off x="365425" y="659700"/>
            <a:ext cx="1063500" cy="6855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9"/>
          <p:cNvSpPr/>
          <p:nvPr/>
        </p:nvSpPr>
        <p:spPr>
          <a:xfrm rot="10800000">
            <a:off x="439525" y="659700"/>
            <a:ext cx="989400" cy="6855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9"/>
          <p:cNvSpPr/>
          <p:nvPr/>
        </p:nvSpPr>
        <p:spPr>
          <a:xfrm>
            <a:off x="365425" y="0"/>
            <a:ext cx="1063500" cy="816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2454975" y="72350"/>
            <a:ext cx="6486000" cy="8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7" name="Google Shape;107;p19"/>
          <p:cNvSpPr txBox="1"/>
          <p:nvPr>
            <p:ph idx="1" type="body"/>
          </p:nvPr>
        </p:nvSpPr>
        <p:spPr>
          <a:xfrm>
            <a:off x="2454975" y="924350"/>
            <a:ext cx="64860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p19"/>
          <p:cNvSpPr txBox="1"/>
          <p:nvPr>
            <p:ph idx="2" type="body"/>
          </p:nvPr>
        </p:nvSpPr>
        <p:spPr>
          <a:xfrm>
            <a:off x="110475" y="1720575"/>
            <a:ext cx="2311200" cy="21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3" type="body"/>
          </p:nvPr>
        </p:nvSpPr>
        <p:spPr>
          <a:xfrm>
            <a:off x="2454975" y="2013125"/>
            <a:ext cx="6486000" cy="28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19"/>
          <p:cNvSpPr txBox="1"/>
          <p:nvPr>
            <p:ph idx="4" type="title"/>
          </p:nvPr>
        </p:nvSpPr>
        <p:spPr>
          <a:xfrm>
            <a:off x="365422" y="170425"/>
            <a:ext cx="10635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i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ow Collumns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622145" y="4922423"/>
            <a:ext cx="486900" cy="20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" name="Google Shape;116;p20"/>
          <p:cNvSpPr txBox="1"/>
          <p:nvPr>
            <p:ph idx="1" type="body"/>
          </p:nvPr>
        </p:nvSpPr>
        <p:spPr>
          <a:xfrm>
            <a:off x="311675" y="1316038"/>
            <a:ext cx="4141800" cy="36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7" name="Google Shape;117;p20"/>
          <p:cNvSpPr txBox="1"/>
          <p:nvPr>
            <p:ph idx="2" type="body"/>
          </p:nvPr>
        </p:nvSpPr>
        <p:spPr>
          <a:xfrm>
            <a:off x="4690538" y="1320512"/>
            <a:ext cx="4141800" cy="36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24" name="Google Shape;124;p2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5" name="Google Shape;125;p2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26" name="Google Shape;126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29" name="Google Shape;129;p2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accent1"/>
                </a:solidFill>
              </a:defRPr>
            </a:lvl1pPr>
            <a:lvl2pPr lvl="1" rtl="0">
              <a:buNone/>
              <a:defRPr>
                <a:solidFill>
                  <a:schemeClr val="accent1"/>
                </a:solidFill>
              </a:defRPr>
            </a:lvl2pPr>
            <a:lvl3pPr lvl="2" rtl="0">
              <a:buNone/>
              <a:defRPr>
                <a:solidFill>
                  <a:schemeClr val="accent1"/>
                </a:solidFill>
              </a:defRPr>
            </a:lvl3pPr>
            <a:lvl4pPr lvl="3" rtl="0">
              <a:buNone/>
              <a:defRPr>
                <a:solidFill>
                  <a:schemeClr val="accent1"/>
                </a:solidFill>
              </a:defRPr>
            </a:lvl4pPr>
            <a:lvl5pPr lvl="4" rtl="0">
              <a:buNone/>
              <a:defRPr>
                <a:solidFill>
                  <a:schemeClr val="accent1"/>
                </a:solidFill>
              </a:defRPr>
            </a:lvl5pPr>
            <a:lvl6pPr lvl="5" rtl="0">
              <a:buNone/>
              <a:defRPr>
                <a:solidFill>
                  <a:schemeClr val="accent1"/>
                </a:solidFill>
              </a:defRPr>
            </a:lvl6pPr>
            <a:lvl7pPr lvl="6" rtl="0">
              <a:buNone/>
              <a:defRPr>
                <a:solidFill>
                  <a:schemeClr val="accent1"/>
                </a:solidFill>
              </a:defRPr>
            </a:lvl7pPr>
            <a:lvl8pPr lvl="7" rtl="0">
              <a:buNone/>
              <a:defRPr>
                <a:solidFill>
                  <a:schemeClr val="accent1"/>
                </a:solidFill>
              </a:defRPr>
            </a:lvl8pPr>
            <a:lvl9pPr lvl="8" rtl="0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/>
          <p:nvPr/>
        </p:nvSpPr>
        <p:spPr>
          <a:xfrm>
            <a:off x="-125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134" name="Google Shape;134;p2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4"/>
          <p:cNvSpPr txBox="1"/>
          <p:nvPr>
            <p:ph type="title"/>
          </p:nvPr>
        </p:nvSpPr>
        <p:spPr>
          <a:xfrm>
            <a:off x="311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6" name="Google Shape;136;p24"/>
          <p:cNvSpPr txBox="1"/>
          <p:nvPr>
            <p:ph idx="1" type="body"/>
          </p:nvPr>
        </p:nvSpPr>
        <p:spPr>
          <a:xfrm>
            <a:off x="46446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7" name="Google Shape;137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8" name="Google Shape;138;p24"/>
          <p:cNvSpPr txBox="1"/>
          <p:nvPr>
            <p:ph idx="2" type="body"/>
          </p:nvPr>
        </p:nvSpPr>
        <p:spPr>
          <a:xfrm>
            <a:off x="3154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39" name="Google Shape;139;p24"/>
          <p:cNvSpPr txBox="1"/>
          <p:nvPr>
            <p:ph idx="3" type="body"/>
          </p:nvPr>
        </p:nvSpPr>
        <p:spPr>
          <a:xfrm>
            <a:off x="3154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3" name="Google Shape;143;p2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44" name="Google Shape;144;p2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45" name="Google Shape;145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9" name="Google Shape;149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/>
          <p:nvPr/>
        </p:nvSpPr>
        <p:spPr>
          <a:xfrm>
            <a:off x="4840017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7"/>
          <p:cNvSpPr/>
          <p:nvPr/>
        </p:nvSpPr>
        <p:spPr>
          <a:xfrm>
            <a:off x="4839900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153" name="Google Shape;153;p27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4" name="Google Shape;154;p27"/>
          <p:cNvSpPr txBox="1"/>
          <p:nvPr>
            <p:ph type="title"/>
          </p:nvPr>
        </p:nvSpPr>
        <p:spPr>
          <a:xfrm>
            <a:off x="5264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5" name="Google Shape;155;p27"/>
          <p:cNvSpPr txBox="1"/>
          <p:nvPr>
            <p:ph idx="1" type="body"/>
          </p:nvPr>
        </p:nvSpPr>
        <p:spPr>
          <a:xfrm>
            <a:off x="3012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56" name="Google Shape;156;p27"/>
          <p:cNvSpPr txBox="1"/>
          <p:nvPr>
            <p:ph idx="2" type="body"/>
          </p:nvPr>
        </p:nvSpPr>
        <p:spPr>
          <a:xfrm>
            <a:off x="51922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7" name="Google Shape;157;p27"/>
          <p:cNvSpPr txBox="1"/>
          <p:nvPr>
            <p:ph idx="3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0" name="Google Shape;160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accent1"/>
                </a:solidFill>
              </a:defRPr>
            </a:lvl1pPr>
            <a:lvl2pPr lvl="1" rtl="0">
              <a:buNone/>
              <a:defRPr>
                <a:solidFill>
                  <a:schemeClr val="accent1"/>
                </a:solidFill>
              </a:defRPr>
            </a:lvl2pPr>
            <a:lvl3pPr lvl="2" rtl="0">
              <a:buNone/>
              <a:defRPr>
                <a:solidFill>
                  <a:schemeClr val="accent1"/>
                </a:solidFill>
              </a:defRPr>
            </a:lvl3pPr>
            <a:lvl4pPr lvl="3" rtl="0">
              <a:buNone/>
              <a:defRPr>
                <a:solidFill>
                  <a:schemeClr val="accent1"/>
                </a:solidFill>
              </a:defRPr>
            </a:lvl4pPr>
            <a:lvl5pPr lvl="4" rtl="0">
              <a:buNone/>
              <a:defRPr>
                <a:solidFill>
                  <a:schemeClr val="accent1"/>
                </a:solidFill>
              </a:defRPr>
            </a:lvl5pPr>
            <a:lvl6pPr lvl="5" rtl="0">
              <a:buNone/>
              <a:defRPr>
                <a:solidFill>
                  <a:schemeClr val="accent1"/>
                </a:solidFill>
              </a:defRPr>
            </a:lvl6pPr>
            <a:lvl7pPr lvl="6" rtl="0">
              <a:buNone/>
              <a:defRPr>
                <a:solidFill>
                  <a:schemeClr val="accent1"/>
                </a:solidFill>
              </a:defRPr>
            </a:lvl7pPr>
            <a:lvl8pPr lvl="7" rtl="0">
              <a:buNone/>
              <a:defRPr>
                <a:solidFill>
                  <a:schemeClr val="accent1"/>
                </a:solidFill>
              </a:defRPr>
            </a:lvl8pPr>
            <a:lvl9pPr lvl="8" rtl="0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4" name="Google Shape;164;p2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65" name="Google Shape;165;p2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66" name="Google Shape;166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170" name="Google Shape;17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3" name="Google Shape;173;p3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74" name="Google Shape;17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" name="Google Shape;178;p33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33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33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33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2" name="Google Shape;182;p33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3" name="Google Shape;183;p3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1_One column text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4"/>
          <p:cNvSpPr/>
          <p:nvPr/>
        </p:nvSpPr>
        <p:spPr>
          <a:xfrm>
            <a:off x="4840017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34"/>
          <p:cNvSpPr/>
          <p:nvPr/>
        </p:nvSpPr>
        <p:spPr>
          <a:xfrm>
            <a:off x="4839900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34"/>
          <p:cNvSpPr txBox="1"/>
          <p:nvPr>
            <p:ph type="title"/>
          </p:nvPr>
        </p:nvSpPr>
        <p:spPr>
          <a:xfrm>
            <a:off x="5192225" y="5009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9" name="Google Shape;189;p34"/>
          <p:cNvSpPr txBox="1"/>
          <p:nvPr>
            <p:ph idx="1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0" name="Google Shape;190;p34"/>
          <p:cNvSpPr txBox="1"/>
          <p:nvPr>
            <p:ph idx="2" type="body"/>
          </p:nvPr>
        </p:nvSpPr>
        <p:spPr>
          <a:xfrm>
            <a:off x="301625" y="501650"/>
            <a:ext cx="4165500" cy="44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91" name="Google Shape;191;p34"/>
          <p:cNvSpPr txBox="1"/>
          <p:nvPr>
            <p:ph idx="3" type="body"/>
          </p:nvPr>
        </p:nvSpPr>
        <p:spPr>
          <a:xfrm>
            <a:off x="5192226" y="1278143"/>
            <a:ext cx="3706500" cy="26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AUTOLAYOUT_2"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5"/>
          <p:cNvSpPr/>
          <p:nvPr/>
        </p:nvSpPr>
        <p:spPr>
          <a:xfrm flipH="1" rot="10800000">
            <a:off x="365425" y="659700"/>
            <a:ext cx="1063500" cy="6855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5"/>
          <p:cNvSpPr/>
          <p:nvPr/>
        </p:nvSpPr>
        <p:spPr>
          <a:xfrm rot="10800000">
            <a:off x="439525" y="659700"/>
            <a:ext cx="989400" cy="6855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5"/>
          <p:cNvSpPr/>
          <p:nvPr/>
        </p:nvSpPr>
        <p:spPr>
          <a:xfrm>
            <a:off x="365425" y="0"/>
            <a:ext cx="1063500" cy="816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5"/>
          <p:cNvSpPr txBox="1"/>
          <p:nvPr>
            <p:ph type="title"/>
          </p:nvPr>
        </p:nvSpPr>
        <p:spPr>
          <a:xfrm>
            <a:off x="2454975" y="72350"/>
            <a:ext cx="6486000" cy="8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2454975" y="924350"/>
            <a:ext cx="64860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9" name="Google Shape;199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0" name="Google Shape;200;p35"/>
          <p:cNvSpPr txBox="1"/>
          <p:nvPr>
            <p:ph idx="2" type="body"/>
          </p:nvPr>
        </p:nvSpPr>
        <p:spPr>
          <a:xfrm>
            <a:off x="110475" y="1720575"/>
            <a:ext cx="2311200" cy="21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1" name="Google Shape;201;p35"/>
          <p:cNvSpPr txBox="1"/>
          <p:nvPr>
            <p:ph idx="3" type="body"/>
          </p:nvPr>
        </p:nvSpPr>
        <p:spPr>
          <a:xfrm>
            <a:off x="2454975" y="2013125"/>
            <a:ext cx="6486000" cy="28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2" name="Google Shape;202;p35"/>
          <p:cNvSpPr txBox="1"/>
          <p:nvPr>
            <p:ph idx="4" type="title"/>
          </p:nvPr>
        </p:nvSpPr>
        <p:spPr>
          <a:xfrm>
            <a:off x="365422" y="170425"/>
            <a:ext cx="10635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i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ctivity">
  <p:cSld name="AUTOLAYOUT_1_1">
    <p:bg>
      <p:bgPr>
        <a:solidFill>
          <a:srgbClr val="FFFFFF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6"/>
          <p:cNvSpPr txBox="1"/>
          <p:nvPr>
            <p:ph idx="1" type="body"/>
          </p:nvPr>
        </p:nvSpPr>
        <p:spPr>
          <a:xfrm>
            <a:off x="65250" y="731625"/>
            <a:ext cx="8955900" cy="1146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sp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 sz="1400">
                <a:solidFill>
                  <a:schemeClr val="dk2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 sz="1400">
                <a:solidFill>
                  <a:schemeClr val="dk2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Char char="■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6" name="Google Shape;206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2pPr>
            <a:lvl3pPr lvl="2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3pPr>
            <a:lvl4pPr lvl="3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4pPr>
            <a:lvl5pPr lvl="4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5pPr>
            <a:lvl6pPr lvl="5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6pPr>
            <a:lvl7pPr lvl="6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7pPr>
            <a:lvl8pPr lvl="7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8pPr>
            <a:lvl9pPr lvl="8"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7" name="Google Shape;207;p36"/>
          <p:cNvSpPr txBox="1"/>
          <p:nvPr>
            <p:ph idx="2" type="body"/>
          </p:nvPr>
        </p:nvSpPr>
        <p:spPr>
          <a:xfrm>
            <a:off x="4420400" y="2013125"/>
            <a:ext cx="4520700" cy="282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8" name="Google Shape;208;p36"/>
          <p:cNvSpPr/>
          <p:nvPr/>
        </p:nvSpPr>
        <p:spPr>
          <a:xfrm>
            <a:off x="1365175" y="0"/>
            <a:ext cx="7778700" cy="64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6"/>
          <p:cNvSpPr txBox="1"/>
          <p:nvPr>
            <p:ph type="title"/>
          </p:nvPr>
        </p:nvSpPr>
        <p:spPr>
          <a:xfrm>
            <a:off x="1436850" y="100"/>
            <a:ext cx="7642500" cy="596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0" name="Google Shape;210;p36"/>
          <p:cNvSpPr/>
          <p:nvPr/>
        </p:nvSpPr>
        <p:spPr>
          <a:xfrm>
            <a:off x="0" y="0"/>
            <a:ext cx="1365300" cy="645600"/>
          </a:xfrm>
          <a:prstGeom prst="rect">
            <a:avLst/>
          </a:prstGeom>
          <a:solidFill>
            <a:schemeClr val="accent5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36"/>
          <p:cNvSpPr txBox="1"/>
          <p:nvPr>
            <p:ph idx="3" type="title"/>
          </p:nvPr>
        </p:nvSpPr>
        <p:spPr>
          <a:xfrm>
            <a:off x="65250" y="100"/>
            <a:ext cx="1253700" cy="596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1"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2" name="Google Shape;212;p36"/>
          <p:cNvSpPr txBox="1"/>
          <p:nvPr>
            <p:ph idx="4" type="body"/>
          </p:nvPr>
        </p:nvSpPr>
        <p:spPr>
          <a:xfrm>
            <a:off x="141600" y="4156900"/>
            <a:ext cx="3023700" cy="4785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219" name="Google Shape;219;p38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20" name="Google Shape;220;p38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21" name="Google Shape;221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9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224" name="Google Shape;224;p39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26" name="Google Shape;226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accent1"/>
                </a:solidFill>
              </a:defRPr>
            </a:lvl1pPr>
            <a:lvl2pPr lvl="1" rtl="0">
              <a:buNone/>
              <a:defRPr>
                <a:solidFill>
                  <a:schemeClr val="accent1"/>
                </a:solidFill>
              </a:defRPr>
            </a:lvl2pPr>
            <a:lvl3pPr lvl="2" rtl="0">
              <a:buNone/>
              <a:defRPr>
                <a:solidFill>
                  <a:schemeClr val="accent1"/>
                </a:solidFill>
              </a:defRPr>
            </a:lvl3pPr>
            <a:lvl4pPr lvl="3" rtl="0">
              <a:buNone/>
              <a:defRPr>
                <a:solidFill>
                  <a:schemeClr val="accent1"/>
                </a:solidFill>
              </a:defRPr>
            </a:lvl4pPr>
            <a:lvl5pPr lvl="4" rtl="0">
              <a:buNone/>
              <a:defRPr>
                <a:solidFill>
                  <a:schemeClr val="accent1"/>
                </a:solidFill>
              </a:defRPr>
            </a:lvl5pPr>
            <a:lvl6pPr lvl="5" rtl="0">
              <a:buNone/>
              <a:defRPr>
                <a:solidFill>
                  <a:schemeClr val="accent1"/>
                </a:solidFill>
              </a:defRPr>
            </a:lvl6pPr>
            <a:lvl7pPr lvl="6" rtl="0">
              <a:buNone/>
              <a:defRPr>
                <a:solidFill>
                  <a:schemeClr val="accent1"/>
                </a:solidFill>
              </a:defRPr>
            </a:lvl7pPr>
            <a:lvl8pPr lvl="7" rtl="0">
              <a:buNone/>
              <a:defRPr>
                <a:solidFill>
                  <a:schemeClr val="accent1"/>
                </a:solidFill>
              </a:defRPr>
            </a:lvl8pPr>
            <a:lvl9pPr lvl="8" rtl="0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0"/>
          <p:cNvSpPr/>
          <p:nvPr/>
        </p:nvSpPr>
        <p:spPr>
          <a:xfrm>
            <a:off x="-125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29" name="Google Shape;229;p40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40"/>
          <p:cNvSpPr txBox="1"/>
          <p:nvPr>
            <p:ph type="title"/>
          </p:nvPr>
        </p:nvSpPr>
        <p:spPr>
          <a:xfrm>
            <a:off x="311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1" name="Google Shape;231;p40"/>
          <p:cNvSpPr txBox="1"/>
          <p:nvPr>
            <p:ph idx="1" type="body"/>
          </p:nvPr>
        </p:nvSpPr>
        <p:spPr>
          <a:xfrm>
            <a:off x="46446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2" name="Google Shape;232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40"/>
          <p:cNvSpPr txBox="1"/>
          <p:nvPr>
            <p:ph idx="2" type="body"/>
          </p:nvPr>
        </p:nvSpPr>
        <p:spPr>
          <a:xfrm>
            <a:off x="3154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34" name="Google Shape;234;p40"/>
          <p:cNvSpPr txBox="1"/>
          <p:nvPr>
            <p:ph idx="3" type="body"/>
          </p:nvPr>
        </p:nvSpPr>
        <p:spPr>
          <a:xfrm>
            <a:off x="3154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41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8" name="Google Shape;238;p41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9" name="Google Shape;239;p41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0" name="Google Shape;240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2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42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4" name="Google Shape;24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3"/>
          <p:cNvSpPr/>
          <p:nvPr/>
        </p:nvSpPr>
        <p:spPr>
          <a:xfrm>
            <a:off x="4840017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43"/>
          <p:cNvSpPr/>
          <p:nvPr/>
        </p:nvSpPr>
        <p:spPr>
          <a:xfrm>
            <a:off x="4839900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48" name="Google Shape;248;p43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9" name="Google Shape;249;p43"/>
          <p:cNvSpPr txBox="1"/>
          <p:nvPr>
            <p:ph type="title"/>
          </p:nvPr>
        </p:nvSpPr>
        <p:spPr>
          <a:xfrm>
            <a:off x="5264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0" name="Google Shape;250;p43"/>
          <p:cNvSpPr txBox="1"/>
          <p:nvPr>
            <p:ph idx="1" type="body"/>
          </p:nvPr>
        </p:nvSpPr>
        <p:spPr>
          <a:xfrm>
            <a:off x="3012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1" name="Google Shape;251;p43"/>
          <p:cNvSpPr txBox="1"/>
          <p:nvPr>
            <p:ph idx="2" type="body"/>
          </p:nvPr>
        </p:nvSpPr>
        <p:spPr>
          <a:xfrm>
            <a:off x="51922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52" name="Google Shape;252;p43"/>
          <p:cNvSpPr txBox="1"/>
          <p:nvPr>
            <p:ph idx="3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4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55" name="Google Shape;255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accent1"/>
                </a:solidFill>
              </a:defRPr>
            </a:lvl1pPr>
            <a:lvl2pPr lvl="1" rtl="0">
              <a:buNone/>
              <a:defRPr>
                <a:solidFill>
                  <a:schemeClr val="accent1"/>
                </a:solidFill>
              </a:defRPr>
            </a:lvl2pPr>
            <a:lvl3pPr lvl="2" rtl="0">
              <a:buNone/>
              <a:defRPr>
                <a:solidFill>
                  <a:schemeClr val="accent1"/>
                </a:solidFill>
              </a:defRPr>
            </a:lvl3pPr>
            <a:lvl4pPr lvl="3" rtl="0">
              <a:buNone/>
              <a:defRPr>
                <a:solidFill>
                  <a:schemeClr val="accent1"/>
                </a:solidFill>
              </a:defRPr>
            </a:lvl4pPr>
            <a:lvl5pPr lvl="4" rtl="0">
              <a:buNone/>
              <a:defRPr>
                <a:solidFill>
                  <a:schemeClr val="accent1"/>
                </a:solidFill>
              </a:defRPr>
            </a:lvl5pPr>
            <a:lvl6pPr lvl="5" rtl="0">
              <a:buNone/>
              <a:defRPr>
                <a:solidFill>
                  <a:schemeClr val="accent1"/>
                </a:solidFill>
              </a:defRPr>
            </a:lvl6pPr>
            <a:lvl7pPr lvl="6" rtl="0">
              <a:buNone/>
              <a:defRPr>
                <a:solidFill>
                  <a:schemeClr val="accent1"/>
                </a:solidFill>
              </a:defRPr>
            </a:lvl7pPr>
            <a:lvl8pPr lvl="7" rtl="0">
              <a:buNone/>
              <a:defRPr>
                <a:solidFill>
                  <a:schemeClr val="accent1"/>
                </a:solidFill>
              </a:defRPr>
            </a:lvl8pPr>
            <a:lvl9pPr lvl="8" rtl="0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45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9" name="Google Shape;259;p45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260" name="Google Shape;260;p45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61" name="Google Shape;261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46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265" name="Google Shape;265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7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8" name="Google Shape;268;p47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269" name="Google Shape;269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49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5" name="Google Shape;275;p49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76" name="Google Shape;276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9" name="Google Shape;279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80" name="Google Shape;280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3">
  <p:cSld name="TITLE_AND_BODY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2" name="Google Shape;282;p51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51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4" name="Google Shape;284;p51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85" name="Google Shape;285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4">
  <p:cSld name="TITLE_AND_BODY_4"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8" name="Google Shape;288;p5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89" name="Google Shape;289;p5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4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296" name="Google Shape;296;p54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97" name="Google Shape;297;p54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55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301" name="Google Shape;301;p55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302" name="Google Shape;302;p55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3" name="Google Shape;303;p55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/>
          <p:nvPr/>
        </p:nvSpPr>
        <p:spPr>
          <a:xfrm>
            <a:off x="-125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306" name="Google Shape;306;p56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56"/>
          <p:cNvSpPr txBox="1"/>
          <p:nvPr>
            <p:ph type="title"/>
          </p:nvPr>
        </p:nvSpPr>
        <p:spPr>
          <a:xfrm>
            <a:off x="311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8" name="Google Shape;308;p56"/>
          <p:cNvSpPr txBox="1"/>
          <p:nvPr>
            <p:ph idx="1" type="body"/>
          </p:nvPr>
        </p:nvSpPr>
        <p:spPr>
          <a:xfrm>
            <a:off x="46446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0" name="Google Shape;310;p56"/>
          <p:cNvSpPr txBox="1"/>
          <p:nvPr>
            <p:ph idx="2" type="body"/>
          </p:nvPr>
        </p:nvSpPr>
        <p:spPr>
          <a:xfrm>
            <a:off x="3154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311" name="Google Shape;311;p56"/>
          <p:cNvSpPr txBox="1"/>
          <p:nvPr>
            <p:ph idx="3" type="body"/>
          </p:nvPr>
        </p:nvSpPr>
        <p:spPr>
          <a:xfrm>
            <a:off x="3154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7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57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5" name="Google Shape;315;p57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6" name="Google Shape;316;p57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7" name="Google Shape;317;p57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8"/>
          <p:cNvSpPr/>
          <p:nvPr/>
        </p:nvSpPr>
        <p:spPr>
          <a:xfrm>
            <a:off x="0" y="0"/>
            <a:ext cx="9144000" cy="7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58"/>
          <p:cNvSpPr txBox="1"/>
          <p:nvPr>
            <p:ph type="title"/>
          </p:nvPr>
        </p:nvSpPr>
        <p:spPr>
          <a:xfrm>
            <a:off x="311700" y="10527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1" name="Google Shape;321;p58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9"/>
          <p:cNvSpPr/>
          <p:nvPr/>
        </p:nvSpPr>
        <p:spPr>
          <a:xfrm>
            <a:off x="4840017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59"/>
          <p:cNvSpPr/>
          <p:nvPr/>
        </p:nvSpPr>
        <p:spPr>
          <a:xfrm>
            <a:off x="4839900" y="0"/>
            <a:ext cx="4316900" cy="4887028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325" name="Google Shape;325;p59"/>
          <p:cNvSpPr txBox="1"/>
          <p:nvPr>
            <p:ph idx="12" type="sldNum"/>
          </p:nvPr>
        </p:nvSpPr>
        <p:spPr>
          <a:xfrm>
            <a:off x="90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6" name="Google Shape;326;p59"/>
          <p:cNvSpPr txBox="1"/>
          <p:nvPr>
            <p:ph type="title"/>
          </p:nvPr>
        </p:nvSpPr>
        <p:spPr>
          <a:xfrm>
            <a:off x="5264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012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28" name="Google Shape;328;p59"/>
          <p:cNvSpPr txBox="1"/>
          <p:nvPr>
            <p:ph idx="2" type="body"/>
          </p:nvPr>
        </p:nvSpPr>
        <p:spPr>
          <a:xfrm>
            <a:off x="5192225" y="1286175"/>
            <a:ext cx="3706500" cy="26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Char char="●"/>
              <a:defRPr>
                <a:solidFill>
                  <a:srgbClr val="FFFFFF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>
                <a:solidFill>
                  <a:srgbClr val="FFFFFF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100"/>
              <a:buChar char="○"/>
              <a:defRPr>
                <a:solidFill>
                  <a:srgbClr val="FFFFFF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1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329" name="Google Shape;329;p59"/>
          <p:cNvSpPr txBox="1"/>
          <p:nvPr>
            <p:ph idx="3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60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2" name="Google Shape;332;p60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61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61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6" name="Google Shape;336;p61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37" name="Google Shape;337;p61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38" name="Google Shape;338;p61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62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62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342" name="Google Shape;342;p62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3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5" name="Google Shape;345;p63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46" name="Google Shape;346;p63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64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5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6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2" name="Google Shape;352;p65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53" name="Google Shape;353;p65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6" name="Google Shape;356;p6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57" name="Google Shape;357;p66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3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48.xml"/><Relationship Id="rId16" Type="http://schemas.openxmlformats.org/officeDocument/2006/relationships/theme" Target="../theme/theme4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/Relationships>
</file>

<file path=ppt/slideMasters/_rels/slideMaster4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1.xml"/><Relationship Id="rId1" Type="http://schemas.openxmlformats.org/officeDocument/2006/relationships/slideLayout" Target="../slideLayouts/slideLayout50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120" name="Google Shape;120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1" name="Google Shape;12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215" name="Google Shape;215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16" name="Google Shape;216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292" name="Google Shape;292;p5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93" name="Google Shape;293;p53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docs.oracle.com/en/java/javase/21/docs/api/java.base/java/util/HashSet.html" TargetMode="External"/><Relationship Id="rId4" Type="http://schemas.openxmlformats.org/officeDocument/2006/relationships/hyperlink" Target="https://docs.oracle.com/en/java/javase/21/docs/api/java.base/java/util/TreeSet.html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docs.oracle.com/en/java/javase/21/docs/api/java.base/java/util/HashMap.html" TargetMode="External"/><Relationship Id="rId4" Type="http://schemas.openxmlformats.org/officeDocument/2006/relationships/hyperlink" Target="https://docs.oracle.com/en/java/javase/21/docs/api/java.base/java/util/TreeMap.html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en.wikipedia.org/wiki/Red%E2%80%93black_tree" TargetMode="External"/><Relationship Id="rId4" Type="http://schemas.openxmlformats.org/officeDocument/2006/relationships/image" Target="../media/image18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docs.google.com/presentation/d/1zvTaX7Z3Lb9pimeq_IS5wZqLtjRRiFpG1aiKJ4aKLRE/edit#slide=id.g2d99a256a72_6_0" TargetMode="External"/><Relationship Id="rId4" Type="http://schemas.openxmlformats.org/officeDocument/2006/relationships/hyperlink" Target="https://docs.google.com/presentation/d/1zvTaX7Z3Lb9pimeq_IS5wZqLtjRRiFpG1aiKJ4aKLRE/edit#slide=id.g2d99a256a72_6_10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67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GCIS-124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Software Development &amp; Problem Solving</a:t>
            </a:r>
            <a:endParaRPr sz="3100"/>
          </a:p>
        </p:txBody>
      </p:sp>
      <p:sp>
        <p:nvSpPr>
          <p:cNvPr id="363" name="Google Shape;363;p67"/>
          <p:cNvSpPr txBox="1"/>
          <p:nvPr>
            <p:ph idx="1" type="subTitle"/>
          </p:nvPr>
        </p:nvSpPr>
        <p:spPr>
          <a:xfrm>
            <a:off x="311700" y="1878550"/>
            <a:ext cx="44913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600"/>
              <a:t>07</a:t>
            </a:r>
            <a:r>
              <a:rPr i="1" lang="en" sz="2600"/>
              <a:t>: Data Structures II</a:t>
            </a:r>
            <a:r>
              <a:rPr i="1" lang="en" sz="2600"/>
              <a:t>I</a:t>
            </a:r>
            <a:endParaRPr i="1" sz="2600"/>
          </a:p>
        </p:txBody>
      </p:sp>
      <p:grpSp>
        <p:nvGrpSpPr>
          <p:cNvPr id="364" name="Google Shape;364;p67"/>
          <p:cNvGrpSpPr/>
          <p:nvPr/>
        </p:nvGrpSpPr>
        <p:grpSpPr>
          <a:xfrm>
            <a:off x="5001999" y="4264475"/>
            <a:ext cx="3908400" cy="738300"/>
            <a:chOff x="5001999" y="4264475"/>
            <a:chExt cx="3908400" cy="738300"/>
          </a:xfrm>
        </p:grpSpPr>
        <p:sp>
          <p:nvSpPr>
            <p:cNvPr id="365" name="Google Shape;365;p67"/>
            <p:cNvSpPr/>
            <p:nvPr/>
          </p:nvSpPr>
          <p:spPr>
            <a:xfrm>
              <a:off x="5001999" y="4264475"/>
              <a:ext cx="3908400" cy="7383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626B7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66" name="Google Shape;366;p6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088600" y="4363853"/>
              <a:ext cx="3725223" cy="54484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8"/>
          <p:cNvSpPr txBox="1"/>
          <p:nvPr>
            <p:ph type="title"/>
          </p:nvPr>
        </p:nvSpPr>
        <p:spPr>
          <a:xfrm>
            <a:off x="311725" y="2723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Data Structures III</a:t>
            </a:r>
            <a:endParaRPr/>
          </a:p>
        </p:txBody>
      </p:sp>
      <p:sp>
        <p:nvSpPr>
          <p:cNvPr id="372" name="Google Shape;372;p68"/>
          <p:cNvSpPr txBox="1"/>
          <p:nvPr>
            <p:ph idx="1" type="body"/>
          </p:nvPr>
        </p:nvSpPr>
        <p:spPr>
          <a:xfrm>
            <a:off x="4644675" y="272325"/>
            <a:ext cx="4166400" cy="4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this unit we will continue exploring </a:t>
            </a:r>
            <a:r>
              <a:rPr b="1" i="1" lang="en">
                <a:solidFill>
                  <a:srgbClr val="FF0000"/>
                </a:solidFill>
              </a:rPr>
              <a:t>abstract data types</a:t>
            </a:r>
            <a:r>
              <a:rPr lang="en"/>
              <a:t> and </a:t>
            </a:r>
            <a:r>
              <a:rPr b="1" i="1" lang="en">
                <a:solidFill>
                  <a:srgbClr val="FF0000"/>
                </a:solidFill>
              </a:rPr>
              <a:t>data structures</a:t>
            </a:r>
            <a:r>
              <a:rPr lang="en"/>
              <a:t>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An abstract data type describes the behavior of a data structure from the perspective of its user without providing any implementation details.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Every abstract data type (ADT) may be implemented in more than one way.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When solving a new problem, choosing the most efficient implementation is just as important as choosing the correct data structure.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 will examine two different abstract data types and implement each of them in at least one way including: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Tree Sets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Hash Sets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Tree Maps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Hash Maps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 will begin by focusing on the </a:t>
            </a:r>
            <a:r>
              <a:rPr b="1" i="1" lang="en">
                <a:solidFill>
                  <a:srgbClr val="FF0000"/>
                </a:solidFill>
              </a:rPr>
              <a:t>Set</a:t>
            </a:r>
            <a:r>
              <a:rPr lang="en"/>
              <a:t> ADT.</a:t>
            </a:r>
            <a:endParaRPr/>
          </a:p>
        </p:txBody>
      </p:sp>
      <p:sp>
        <p:nvSpPr>
          <p:cNvPr id="373" name="Google Shape;373;p6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4" name="Google Shape;374;p68"/>
          <p:cNvSpPr txBox="1"/>
          <p:nvPr>
            <p:ph idx="3" type="body"/>
          </p:nvPr>
        </p:nvSpPr>
        <p:spPr>
          <a:xfrm>
            <a:off x="311725" y="989725"/>
            <a:ext cx="37065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i="1" lang="en" sz="1200">
                <a:solidFill>
                  <a:srgbClr val="FF0000"/>
                </a:solidFill>
              </a:rPr>
              <a:t>H</a:t>
            </a:r>
            <a:r>
              <a:rPr b="1" i="1" lang="en" sz="1200">
                <a:solidFill>
                  <a:srgbClr val="FF0000"/>
                </a:solidFill>
              </a:rPr>
              <a:t>ashing data structures</a:t>
            </a:r>
            <a:r>
              <a:rPr lang="en" sz="1200"/>
              <a:t>, like sets and maps (dictionary)</a:t>
            </a:r>
            <a:r>
              <a:rPr lang="en" sz="1200"/>
              <a:t> are </a:t>
            </a:r>
            <a:r>
              <a:rPr lang="en" sz="1200"/>
              <a:t>built</a:t>
            </a:r>
            <a:r>
              <a:rPr lang="en" sz="1200"/>
              <a:t> on top of </a:t>
            </a:r>
            <a:r>
              <a:rPr b="1" i="1" lang="en" sz="1200">
                <a:solidFill>
                  <a:srgbClr val="FF0000"/>
                </a:solidFill>
              </a:rPr>
              <a:t>an array</a:t>
            </a:r>
            <a:r>
              <a:rPr lang="en" sz="1200"/>
              <a:t>.</a:t>
            </a:r>
            <a:endParaRPr sz="1200"/>
          </a:p>
        </p:txBody>
      </p:sp>
      <p:graphicFrame>
        <p:nvGraphicFramePr>
          <p:cNvPr id="375" name="Google Shape;375;p68"/>
          <p:cNvGraphicFramePr/>
          <p:nvPr/>
        </p:nvGraphicFramePr>
        <p:xfrm>
          <a:off x="633575" y="4132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76" name="Google Shape;376;p68"/>
          <p:cNvSpPr txBox="1"/>
          <p:nvPr>
            <p:ph idx="3" type="body"/>
          </p:nvPr>
        </p:nvSpPr>
        <p:spPr>
          <a:xfrm>
            <a:off x="311725" y="1614449"/>
            <a:ext cx="3706500" cy="6381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A </a:t>
            </a:r>
            <a:r>
              <a:rPr b="1" i="1" lang="en" sz="1200">
                <a:solidFill>
                  <a:srgbClr val="FF0000"/>
                </a:solidFill>
              </a:rPr>
              <a:t>hash function</a:t>
            </a:r>
            <a:r>
              <a:rPr lang="en" sz="1200"/>
              <a:t> is used to convert arbitrary values into </a:t>
            </a:r>
            <a:r>
              <a:rPr b="1" i="1" lang="en" sz="1200">
                <a:solidFill>
                  <a:srgbClr val="FF0000"/>
                </a:solidFill>
              </a:rPr>
              <a:t>integers</a:t>
            </a:r>
            <a:r>
              <a:rPr lang="en" sz="1200"/>
              <a:t>, which can then be used to find an </a:t>
            </a:r>
            <a:r>
              <a:rPr b="1" i="1" lang="en" sz="1200">
                <a:solidFill>
                  <a:srgbClr val="FF0000"/>
                </a:solidFill>
              </a:rPr>
              <a:t>index </a:t>
            </a:r>
            <a:r>
              <a:rPr lang="en" sz="1200"/>
              <a:t> in the array.</a:t>
            </a:r>
            <a:endParaRPr sz="1200"/>
          </a:p>
        </p:txBody>
      </p:sp>
      <p:sp>
        <p:nvSpPr>
          <p:cNvPr id="377" name="Google Shape;377;p68"/>
          <p:cNvSpPr txBox="1"/>
          <p:nvPr/>
        </p:nvSpPr>
        <p:spPr>
          <a:xfrm>
            <a:off x="552175" y="24839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"abc"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" name="Google Shape;378;p68"/>
          <p:cNvSpPr txBox="1"/>
          <p:nvPr/>
        </p:nvSpPr>
        <p:spPr>
          <a:xfrm>
            <a:off x="1390375" y="24839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"def"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68"/>
          <p:cNvSpPr txBox="1"/>
          <p:nvPr/>
        </p:nvSpPr>
        <p:spPr>
          <a:xfrm>
            <a:off x="2228575" y="24839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"ghi"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" name="Google Shape;380;p68"/>
          <p:cNvSpPr txBox="1"/>
          <p:nvPr/>
        </p:nvSpPr>
        <p:spPr>
          <a:xfrm>
            <a:off x="3066775" y="24839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"jkl"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" name="Google Shape;381;p68"/>
          <p:cNvSpPr/>
          <p:nvPr/>
        </p:nvSpPr>
        <p:spPr>
          <a:xfrm>
            <a:off x="898375" y="2763825"/>
            <a:ext cx="681775" cy="1376650"/>
          </a:xfrm>
          <a:custGeom>
            <a:rect b="b" l="l" r="r" t="t"/>
            <a:pathLst>
              <a:path extrusionOk="0" h="55066" w="27271">
                <a:moveTo>
                  <a:pt x="0" y="0"/>
                </a:moveTo>
                <a:lnTo>
                  <a:pt x="0" y="27231"/>
                </a:lnTo>
                <a:lnTo>
                  <a:pt x="27271" y="42976"/>
                </a:lnTo>
                <a:lnTo>
                  <a:pt x="27271" y="55066"/>
                </a:lnTo>
              </a:path>
            </a:pathLst>
          </a:custGeom>
          <a:noFill/>
          <a:ln cap="flat" cmpd="sng" w="19050">
            <a:solidFill>
              <a:srgbClr val="EA9999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382" name="Google Shape;382;p68"/>
          <p:cNvSpPr/>
          <p:nvPr/>
        </p:nvSpPr>
        <p:spPr>
          <a:xfrm>
            <a:off x="1745550" y="2756275"/>
            <a:ext cx="1750250" cy="1369075"/>
          </a:xfrm>
          <a:custGeom>
            <a:rect b="b" l="l" r="r" t="t"/>
            <a:pathLst>
              <a:path extrusionOk="0" h="54763" w="70010">
                <a:moveTo>
                  <a:pt x="0" y="0"/>
                </a:moveTo>
                <a:lnTo>
                  <a:pt x="0" y="25717"/>
                </a:lnTo>
                <a:lnTo>
                  <a:pt x="70010" y="44476"/>
                </a:lnTo>
                <a:lnTo>
                  <a:pt x="70010" y="54763"/>
                </a:lnTo>
              </a:path>
            </a:pathLst>
          </a:custGeom>
          <a:noFill/>
          <a:ln cap="flat" cmpd="sng" w="19050">
            <a:solidFill>
              <a:srgbClr val="93C47D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383" name="Google Shape;383;p68"/>
          <p:cNvSpPr/>
          <p:nvPr/>
        </p:nvSpPr>
        <p:spPr>
          <a:xfrm>
            <a:off x="1972450" y="2756275"/>
            <a:ext cx="612713" cy="1384200"/>
          </a:xfrm>
          <a:custGeom>
            <a:rect b="b" l="l" r="r" t="t"/>
            <a:pathLst>
              <a:path extrusionOk="0" h="55368" w="26660">
                <a:moveTo>
                  <a:pt x="26660" y="0"/>
                </a:moveTo>
                <a:lnTo>
                  <a:pt x="26660" y="23902"/>
                </a:lnTo>
                <a:lnTo>
                  <a:pt x="0" y="39294"/>
                </a:lnTo>
                <a:lnTo>
                  <a:pt x="0" y="55368"/>
                </a:lnTo>
              </a:path>
            </a:pathLst>
          </a:custGeom>
          <a:noFill/>
          <a:ln cap="flat" cmpd="sng" w="19050">
            <a:solidFill>
              <a:srgbClr val="D5A6BD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384" name="Google Shape;384;p68"/>
          <p:cNvSpPr/>
          <p:nvPr/>
        </p:nvSpPr>
        <p:spPr>
          <a:xfrm>
            <a:off x="860550" y="2748700"/>
            <a:ext cx="2564200" cy="1369075"/>
          </a:xfrm>
          <a:custGeom>
            <a:rect b="b" l="l" r="r" t="t"/>
            <a:pathLst>
              <a:path extrusionOk="0" h="54763" w="102568">
                <a:moveTo>
                  <a:pt x="102568" y="0"/>
                </a:moveTo>
                <a:lnTo>
                  <a:pt x="102568" y="27836"/>
                </a:lnTo>
                <a:lnTo>
                  <a:pt x="0" y="44476"/>
                </a:lnTo>
                <a:lnTo>
                  <a:pt x="0" y="54763"/>
                </a:lnTo>
              </a:path>
            </a:pathLst>
          </a:custGeom>
          <a:noFill/>
          <a:ln cap="flat" cmpd="sng" w="19050">
            <a:solidFill>
              <a:srgbClr val="FFE599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385" name="Google Shape;385;p68"/>
          <p:cNvSpPr/>
          <p:nvPr/>
        </p:nvSpPr>
        <p:spPr>
          <a:xfrm>
            <a:off x="633625" y="3040828"/>
            <a:ext cx="3062700" cy="393600"/>
          </a:xfrm>
          <a:prstGeom prst="rect">
            <a:avLst/>
          </a:prstGeom>
          <a:solidFill>
            <a:srgbClr val="4A86E8"/>
          </a:solidFill>
          <a:ln cap="flat" cmpd="sng" w="190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Hash Function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9"/>
          <p:cNvSpPr txBox="1"/>
          <p:nvPr>
            <p:ph type="title"/>
          </p:nvPr>
        </p:nvSpPr>
        <p:spPr>
          <a:xfrm>
            <a:off x="311725" y="276878"/>
            <a:ext cx="37065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700"/>
              <a:t>Review: Python Sets</a:t>
            </a:r>
            <a:endParaRPr sz="2700"/>
          </a:p>
        </p:txBody>
      </p:sp>
      <p:sp>
        <p:nvSpPr>
          <p:cNvPr id="391" name="Google Shape;391;p6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2" name="Google Shape;392;p69"/>
          <p:cNvSpPr txBox="1"/>
          <p:nvPr>
            <p:ph idx="1" type="body"/>
          </p:nvPr>
        </p:nvSpPr>
        <p:spPr>
          <a:xfrm>
            <a:off x="4539700" y="254350"/>
            <a:ext cx="4210800" cy="468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S</a:t>
            </a:r>
            <a:r>
              <a:rPr b="1" i="1" lang="en">
                <a:solidFill>
                  <a:srgbClr val="FF0000"/>
                </a:solidFill>
              </a:rPr>
              <a:t>et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is an abstract data type that guarantees all of the elements it contains are </a:t>
            </a:r>
            <a:r>
              <a:rPr b="1" i="1" lang="en">
                <a:solidFill>
                  <a:srgbClr val="FF0000"/>
                </a:solidFill>
              </a:rPr>
              <a:t>unique</a:t>
            </a:r>
            <a:r>
              <a:rPr lang="en"/>
              <a:t>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 learned about them last semester in Python.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interface for a Set commonly includes:</a:t>
            </a:r>
            <a:endParaRPr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i="1" lang="en" sz="1200">
                <a:solidFill>
                  <a:srgbClr val="FF0000"/>
                </a:solidFill>
              </a:rPr>
              <a:t>add</a:t>
            </a:r>
            <a:r>
              <a:rPr lang="en" sz="1200"/>
              <a:t> - adds a value to the set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i="1" lang="en" sz="1200">
                <a:solidFill>
                  <a:srgbClr val="FF0000"/>
                </a:solidFill>
              </a:rPr>
              <a:t>contains</a:t>
            </a:r>
            <a:r>
              <a:rPr lang="en" sz="1200"/>
              <a:t> - determines if a value is in the set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i="1" lang="en" sz="1200">
                <a:solidFill>
                  <a:srgbClr val="FF0000"/>
                </a:solidFill>
              </a:rPr>
              <a:t>remove</a:t>
            </a:r>
            <a:r>
              <a:rPr lang="en" sz="1200"/>
              <a:t> - removes a value from the set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i="1" lang="en" sz="1200">
                <a:solidFill>
                  <a:srgbClr val="FF0000"/>
                </a:solidFill>
              </a:rPr>
              <a:t>size</a:t>
            </a:r>
            <a:r>
              <a:rPr lang="en" sz="1200"/>
              <a:t> - returns the </a:t>
            </a:r>
            <a:r>
              <a:rPr lang="en" sz="1200"/>
              <a:t>length</a:t>
            </a:r>
            <a:r>
              <a:rPr lang="en" sz="1200"/>
              <a:t> of the set</a:t>
            </a:r>
            <a:endParaRPr sz="1200"/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Take a moment and try to remember some of the problems we used set's to solve last semester.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Python's set uses a specific </a:t>
            </a:r>
            <a:r>
              <a:rPr lang="en" sz="1200"/>
              <a:t>implantation</a:t>
            </a:r>
            <a:r>
              <a:rPr lang="en" sz="1200"/>
              <a:t> that makes ordering impossible.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We'll make one of those too.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However, that's not a requirement for sets so we'll start with an implementation that is orderable.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69"/>
          <p:cNvSpPr txBox="1"/>
          <p:nvPr/>
        </p:nvSpPr>
        <p:spPr>
          <a:xfrm>
            <a:off x="237655" y="1809274"/>
            <a:ext cx="3870900" cy="2493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= {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0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a_set: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"3 is in the set!"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0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 sz="10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value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 sz="10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b_set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0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"abcdcba"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15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b_set</a:t>
            </a:r>
            <a:r>
              <a:rPr lang="en" sz="1000"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# {'c', 'd', 'b', 'a'}</a:t>
            </a:r>
            <a:endParaRPr sz="1000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" name="Google Shape;394;p69"/>
          <p:cNvSpPr txBox="1"/>
          <p:nvPr>
            <p:ph idx="3" type="body"/>
          </p:nvPr>
        </p:nvSpPr>
        <p:spPr>
          <a:xfrm>
            <a:off x="237655" y="4404410"/>
            <a:ext cx="3870900" cy="4920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100"/>
              <a:t>Sets in Java will be used similarly but the notation (syntax) will be substantially different.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69"/>
          <p:cNvSpPr txBox="1"/>
          <p:nvPr>
            <p:ph idx="3" type="body"/>
          </p:nvPr>
        </p:nvSpPr>
        <p:spPr>
          <a:xfrm>
            <a:off x="237650" y="1214102"/>
            <a:ext cx="3870900" cy="4920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100"/>
              <a:t>Below is a quick review of how we used </a:t>
            </a:r>
            <a:r>
              <a:rPr b="1" i="1" lang="en" sz="1100">
                <a:solidFill>
                  <a:srgbClr val="FF0000"/>
                </a:solidFill>
              </a:rPr>
              <a:t>sets</a:t>
            </a:r>
            <a:r>
              <a:rPr lang="en" sz="1100"/>
              <a:t> in Python.</a:t>
            </a:r>
            <a:endParaRPr sz="11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70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Interface</a:t>
            </a:r>
            <a:endParaRPr/>
          </a:p>
        </p:txBody>
      </p:sp>
      <p:sp>
        <p:nvSpPr>
          <p:cNvPr id="401" name="Google Shape;401;p70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Before we create a specific implementation, we should define the ADT operations using an interface. This way, all implementations can be used interchangeably.</a:t>
            </a:r>
            <a:endParaRPr/>
          </a:p>
        </p:txBody>
      </p:sp>
      <p:sp>
        <p:nvSpPr>
          <p:cNvPr id="402" name="Google Shape;402;p7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3" name="Google Shape;403;p70"/>
          <p:cNvSpPr txBox="1"/>
          <p:nvPr>
            <p:ph idx="2" type="body"/>
          </p:nvPr>
        </p:nvSpPr>
        <p:spPr>
          <a:xfrm>
            <a:off x="3611750" y="1751525"/>
            <a:ext cx="5329500" cy="19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Start by creating a new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sets</a:t>
            </a:r>
            <a:r>
              <a:rPr lang="en"/>
              <a:t> package in this unit's repository which we'll use for all the set activities.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Using the UML on the left, create a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/>
              <a:t> interface.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Since we know we'll want to use it with lots of types, go ahead and make it generic from the start.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000"/>
              </a:spcAft>
              <a:buSzPts val="1300"/>
              <a:buChar char="●"/>
            </a:pPr>
            <a:r>
              <a:rPr lang="en"/>
              <a:t>Ensure there are no errors by checking your problems tab.</a:t>
            </a:r>
            <a:endParaRPr/>
          </a:p>
        </p:txBody>
      </p:sp>
      <p:sp>
        <p:nvSpPr>
          <p:cNvPr id="404" name="Google Shape;404;p70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</a:t>
            </a:r>
            <a:endParaRPr/>
          </a:p>
        </p:txBody>
      </p:sp>
      <p:pic>
        <p:nvPicPr>
          <p:cNvPr id="405" name="Google Shape;405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98325"/>
            <a:ext cx="3306950" cy="2196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71"/>
          <p:cNvSpPr txBox="1"/>
          <p:nvPr>
            <p:ph idx="1" type="body"/>
          </p:nvPr>
        </p:nvSpPr>
        <p:spPr>
          <a:xfrm>
            <a:off x="65250" y="731625"/>
            <a:ext cx="8955900" cy="9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One common implementation for a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/>
              <a:t> is using a Binary Tree. It's relatively </a:t>
            </a:r>
            <a:r>
              <a:rPr lang="en"/>
              <a:t>efficient</a:t>
            </a:r>
            <a:r>
              <a:rPr lang="en"/>
              <a:t> and allows the items to be ordered. It's also </a:t>
            </a:r>
            <a:r>
              <a:rPr lang="en"/>
              <a:t>convenient</a:t>
            </a:r>
            <a:r>
              <a:rPr lang="en"/>
              <a:t> since we wrote a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BinarySearchTree</a:t>
            </a:r>
            <a:r>
              <a:rPr lang="en"/>
              <a:t> implementation last unit.</a:t>
            </a:r>
            <a:endParaRPr/>
          </a:p>
        </p:txBody>
      </p:sp>
      <p:sp>
        <p:nvSpPr>
          <p:cNvPr id="411" name="Google Shape;411;p7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2" name="Google Shape;412;p71"/>
          <p:cNvSpPr txBox="1"/>
          <p:nvPr>
            <p:ph idx="2" type="body"/>
          </p:nvPr>
        </p:nvSpPr>
        <p:spPr>
          <a:xfrm>
            <a:off x="3574625" y="1801175"/>
            <a:ext cx="5366400" cy="261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Start by creating a new class,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, that </a:t>
            </a:r>
            <a:r>
              <a:rPr lang="en"/>
              <a:t>implements</a:t>
            </a:r>
            <a:r>
              <a:rPr lang="en"/>
              <a:t>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/>
              <a:t> interface.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Instead of an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"/>
              <a:t> the generic identifier for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 should be</a:t>
            </a:r>
            <a:endParaRPr/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 extends Comparable&lt;E&gt;</a:t>
            </a:r>
            <a:endParaRPr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Add a </a:t>
            </a:r>
            <a:r>
              <a:rPr b="1" i="1" lang="en">
                <a:solidFill>
                  <a:srgbClr val="FF0000"/>
                </a:solidFill>
              </a:rPr>
              <a:t>constructor</a:t>
            </a:r>
            <a:r>
              <a:rPr lang="en"/>
              <a:t> that creates an empty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BinarySearchTree</a:t>
            </a:r>
            <a:r>
              <a:rPr lang="en"/>
              <a:t> for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tree</a:t>
            </a:r>
            <a:r>
              <a:rPr lang="en"/>
              <a:t> attribute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Implement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n"/>
              <a:t> method.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now, stub out the other interface methods.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main, create a Set and print its size.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i="1" lang="en">
                <a:solidFill>
                  <a:srgbClr val="FF0000"/>
                </a:solidFill>
              </a:rPr>
              <a:t>Challenge</a:t>
            </a:r>
            <a:r>
              <a:rPr lang="en"/>
              <a:t>: Add a toString implementation for the Set that returns the stored data as a String. Test it in main. </a:t>
            </a:r>
            <a:endParaRPr/>
          </a:p>
        </p:txBody>
      </p:sp>
      <p:sp>
        <p:nvSpPr>
          <p:cNvPr id="413" name="Google Shape;413;p71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Tree Set</a:t>
            </a:r>
            <a:endParaRPr/>
          </a:p>
        </p:txBody>
      </p:sp>
      <p:sp>
        <p:nvSpPr>
          <p:cNvPr id="414" name="Google Shape;414;p71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7.2</a:t>
            </a:r>
            <a:endParaRPr/>
          </a:p>
        </p:txBody>
      </p:sp>
      <p:sp>
        <p:nvSpPr>
          <p:cNvPr id="415" name="Google Shape;415;p71"/>
          <p:cNvSpPr txBox="1"/>
          <p:nvPr>
            <p:ph idx="4" type="body"/>
          </p:nvPr>
        </p:nvSpPr>
        <p:spPr>
          <a:xfrm>
            <a:off x="180725" y="4333550"/>
            <a:ext cx="33939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Don't worry about the scary looking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 extends Comparable&lt;E&gt;</a:t>
            </a:r>
            <a:r>
              <a:rPr lang="en"/>
              <a:t>. That just ensures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"/>
              <a:t> is comparable which is required for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BST</a:t>
            </a:r>
            <a:r>
              <a:rPr lang="en"/>
              <a:t>.</a:t>
            </a:r>
            <a:endParaRPr/>
          </a:p>
        </p:txBody>
      </p:sp>
      <p:pic>
        <p:nvPicPr>
          <p:cNvPr id="416" name="Google Shape;41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15477"/>
            <a:ext cx="3483000" cy="2412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72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Let's finish up the TreeSet </a:t>
            </a:r>
            <a:r>
              <a:rPr lang="en"/>
              <a:t>implementation</a:t>
            </a:r>
            <a:r>
              <a:rPr lang="en"/>
              <a:t> by adding implementations for the add and contains methods.</a:t>
            </a:r>
            <a:endParaRPr/>
          </a:p>
        </p:txBody>
      </p:sp>
      <p:sp>
        <p:nvSpPr>
          <p:cNvPr id="422" name="Google Shape;422;p7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3" name="Google Shape;423;p72"/>
          <p:cNvSpPr txBox="1"/>
          <p:nvPr>
            <p:ph idx="2" type="body"/>
          </p:nvPr>
        </p:nvSpPr>
        <p:spPr>
          <a:xfrm>
            <a:off x="3746000" y="1479475"/>
            <a:ext cx="5195100" cy="291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Implement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/>
              <a:t> method using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BinarySearchTree</a:t>
            </a:r>
            <a:r>
              <a:rPr lang="en"/>
              <a:t>'s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insert</a:t>
            </a:r>
            <a:r>
              <a:rPr lang="en"/>
              <a:t> method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Implement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contains</a:t>
            </a:r>
            <a:r>
              <a:rPr lang="en"/>
              <a:t> method using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BinarySearchTree</a:t>
            </a:r>
            <a:r>
              <a:rPr lang="en"/>
              <a:t>'s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search</a:t>
            </a:r>
            <a:r>
              <a:rPr lang="en"/>
              <a:t> method.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Since our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BinarySearchTree</a:t>
            </a:r>
            <a:r>
              <a:rPr lang="en"/>
              <a:t> doesn't have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remove</a:t>
            </a:r>
            <a:r>
              <a:rPr lang="en"/>
              <a:t>, our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's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remove</a:t>
            </a:r>
            <a:r>
              <a:rPr lang="en"/>
              <a:t> should throw the </a:t>
            </a:r>
            <a:r>
              <a:rPr lang="en">
                <a:solidFill>
                  <a:srgbClr val="FF000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UnsupportedOperationException</a:t>
            </a:r>
            <a:r>
              <a:rPr lang="en">
                <a:highlight>
                  <a:srgbClr val="FFFFFF"/>
                </a:highlight>
              </a:rPr>
              <a:t>.</a:t>
            </a:r>
            <a:endParaRPr>
              <a:highlight>
                <a:srgbClr val="FFFFFF"/>
              </a:highlight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highlight>
                  <a:srgbClr val="FFFFFF"/>
                </a:highlight>
              </a:rPr>
              <a:t>In </a:t>
            </a:r>
            <a:r>
              <a:rPr lang="en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>
                <a:highlight>
                  <a:srgbClr val="FFFFFF"/>
                </a:highlight>
              </a:rPr>
              <a:t>, test the </a:t>
            </a:r>
            <a:r>
              <a:rPr lang="en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>
                <a:highlight>
                  <a:srgbClr val="FFFFFF"/>
                </a:highlight>
              </a:rPr>
              <a:t> by adding a few items to it. Check that they were added by using the </a:t>
            </a:r>
            <a:r>
              <a:rPr lang="en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n">
                <a:highlight>
                  <a:srgbClr val="FFFFFF"/>
                </a:highlight>
              </a:rPr>
              <a:t> or </a:t>
            </a:r>
            <a:r>
              <a:rPr lang="en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>
                <a:highlight>
                  <a:srgbClr val="FFFFFF"/>
                </a:highlight>
              </a:rPr>
              <a:t> methods.</a:t>
            </a:r>
            <a:endParaRPr>
              <a:highlight>
                <a:srgbClr val="FFFFFF"/>
              </a:highlight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highlight>
                  <a:srgbClr val="FFFFFF"/>
                </a:highlight>
              </a:rPr>
              <a:t>Also add tests for checking to see if the </a:t>
            </a:r>
            <a:r>
              <a:rPr lang="en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>
                <a:highlight>
                  <a:srgbClr val="FFFFFF"/>
                </a:highlight>
              </a:rPr>
              <a:t> </a:t>
            </a:r>
            <a:r>
              <a:rPr lang="en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contains</a:t>
            </a:r>
            <a:r>
              <a:rPr lang="en">
                <a:highlight>
                  <a:srgbClr val="FFFFFF"/>
                </a:highlight>
              </a:rPr>
              <a:t> a value that that in the set and one that is not.</a:t>
            </a:r>
            <a:endParaRPr>
              <a:highlight>
                <a:srgbClr val="FFFFFF"/>
              </a:highlight>
            </a:endParaRPr>
          </a:p>
        </p:txBody>
      </p:sp>
      <p:sp>
        <p:nvSpPr>
          <p:cNvPr id="424" name="Google Shape;424;p72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Finishing Up</a:t>
            </a:r>
            <a:endParaRPr/>
          </a:p>
        </p:txBody>
      </p:sp>
      <p:sp>
        <p:nvSpPr>
          <p:cNvPr id="425" name="Google Shape;425;p72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7.3</a:t>
            </a:r>
            <a:endParaRPr/>
          </a:p>
        </p:txBody>
      </p:sp>
      <p:sp>
        <p:nvSpPr>
          <p:cNvPr id="426" name="Google Shape;426;p72"/>
          <p:cNvSpPr txBox="1"/>
          <p:nvPr>
            <p:ph idx="4" type="body"/>
          </p:nvPr>
        </p:nvSpPr>
        <p:spPr>
          <a:xfrm>
            <a:off x="141600" y="4156900"/>
            <a:ext cx="33954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uncommon for implementations of an </a:t>
            </a:r>
            <a:r>
              <a:rPr lang="en"/>
              <a:t>interface</a:t>
            </a:r>
            <a:r>
              <a:rPr lang="en"/>
              <a:t> to not support every operation. In this case, it won't support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remove</a:t>
            </a:r>
            <a:r>
              <a:rPr lang="en"/>
              <a:t>.</a:t>
            </a:r>
            <a:endParaRPr/>
          </a:p>
        </p:txBody>
      </p:sp>
      <p:pic>
        <p:nvPicPr>
          <p:cNvPr id="427" name="Google Shape;427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15765"/>
            <a:ext cx="3441200" cy="23839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73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At the moment, our TreeSet implementation does </a:t>
            </a:r>
            <a:r>
              <a:rPr lang="en"/>
              <a:t>everything</a:t>
            </a:r>
            <a:r>
              <a:rPr lang="en"/>
              <a:t> we mentioned the Python set does, except for one thing. We can't use it in a for loop. That's pretty useful so let's fix that now.</a:t>
            </a:r>
            <a:endParaRPr/>
          </a:p>
        </p:txBody>
      </p:sp>
      <p:sp>
        <p:nvSpPr>
          <p:cNvPr id="433" name="Google Shape;433;p7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4" name="Google Shape;434;p73"/>
          <p:cNvSpPr txBox="1"/>
          <p:nvPr>
            <p:ph idx="2" type="body"/>
          </p:nvPr>
        </p:nvSpPr>
        <p:spPr>
          <a:xfrm>
            <a:off x="3620850" y="1641975"/>
            <a:ext cx="5320500" cy="19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To use a data structure in a </a:t>
            </a:r>
            <a:r>
              <a:rPr b="1" i="1" lang="en">
                <a:solidFill>
                  <a:srgbClr val="FF0000"/>
                </a:solidFill>
              </a:rPr>
              <a:t>foreach</a:t>
            </a:r>
            <a:r>
              <a:rPr lang="en"/>
              <a:t> loop, it must be iterable.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Using the updated UML on the left, make the Set and TreeSet iterable.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NodeBST</a:t>
            </a:r>
            <a:r>
              <a:rPr lang="en"/>
              <a:t> iterator has been provided for you.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000"/>
              </a:spcAft>
              <a:buSzPts val="1300"/>
              <a:buChar char="●"/>
            </a:pPr>
            <a:r>
              <a:rPr lang="en"/>
              <a:t>Test your code by printing each element in your set, one per line, use a foreach loop.</a:t>
            </a:r>
            <a:endParaRPr/>
          </a:p>
        </p:txBody>
      </p:sp>
      <p:sp>
        <p:nvSpPr>
          <p:cNvPr id="435" name="Google Shape;435;p73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/>
              <a:t> Loop?</a:t>
            </a:r>
            <a:endParaRPr/>
          </a:p>
        </p:txBody>
      </p:sp>
      <p:sp>
        <p:nvSpPr>
          <p:cNvPr id="436" name="Google Shape;436;p73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7.4</a:t>
            </a:r>
            <a:endParaRPr/>
          </a:p>
        </p:txBody>
      </p:sp>
      <p:sp>
        <p:nvSpPr>
          <p:cNvPr id="437" name="Google Shape;437;p73"/>
          <p:cNvSpPr txBox="1"/>
          <p:nvPr>
            <p:ph idx="4" type="body"/>
          </p:nvPr>
        </p:nvSpPr>
        <p:spPr>
          <a:xfrm>
            <a:off x="141600" y="4156900"/>
            <a:ext cx="33819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the </a:t>
            </a:r>
            <a:r>
              <a:rPr b="1" i="1" lang="en">
                <a:solidFill>
                  <a:srgbClr val="FF0000"/>
                </a:solidFill>
              </a:rPr>
              <a:t>Iterable</a:t>
            </a:r>
            <a:r>
              <a:rPr lang="en"/>
              <a:t> interface to enable Sets to be used in a </a:t>
            </a:r>
            <a:r>
              <a:rPr b="1" i="1" lang="en">
                <a:solidFill>
                  <a:srgbClr val="FF0000"/>
                </a:solidFill>
              </a:rPr>
              <a:t>foreach</a:t>
            </a:r>
            <a:r>
              <a:rPr i="1" lang="en"/>
              <a:t> </a:t>
            </a:r>
            <a:r>
              <a:rPr lang="en"/>
              <a:t>loop.</a:t>
            </a:r>
            <a:endParaRPr/>
          </a:p>
        </p:txBody>
      </p:sp>
      <p:pic>
        <p:nvPicPr>
          <p:cNvPr id="438" name="Google Shape;438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98325"/>
            <a:ext cx="3468451" cy="24009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74"/>
          <p:cNvSpPr txBox="1"/>
          <p:nvPr>
            <p:ph type="title"/>
          </p:nvPr>
        </p:nvSpPr>
        <p:spPr>
          <a:xfrm>
            <a:off x="311725" y="5009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74"/>
          <p:cNvSpPr txBox="1"/>
          <p:nvPr>
            <p:ph idx="1" type="body"/>
          </p:nvPr>
        </p:nvSpPr>
        <p:spPr>
          <a:xfrm>
            <a:off x="4644675" y="213325"/>
            <a:ext cx="4166400" cy="484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Java's name for an associative array is </a:t>
            </a:r>
            <a:r>
              <a:rPr b="1" i="1" lang="en">
                <a:solidFill>
                  <a:srgbClr val="FF0000"/>
                </a:solidFill>
              </a:rPr>
              <a:t>Map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It is used to </a:t>
            </a:r>
            <a:r>
              <a:rPr b="1" i="1" lang="en">
                <a:solidFill>
                  <a:srgbClr val="FF0000"/>
                </a:solidFill>
              </a:rPr>
              <a:t>associate</a:t>
            </a:r>
            <a:r>
              <a:rPr lang="en"/>
              <a:t> one object with another object.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Python's dictionary is one implementation of an associative array.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Normally, maps include at a minimum the following operations: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add</a:t>
            </a:r>
            <a:r>
              <a:rPr b="1" i="1" lang="en">
                <a:solidFill>
                  <a:srgbClr val="FF0000"/>
                </a:solidFill>
              </a:rPr>
              <a:t>(key, value)</a:t>
            </a:r>
            <a:r>
              <a:rPr lang="en"/>
              <a:t> - adds the key, value pair to the map. If they key already exists it replaces the existing value of the key with the specified value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get(key)</a:t>
            </a:r>
            <a:r>
              <a:rPr lang="en"/>
              <a:t> - returns the value associated with the key. Throws an exception if key is not in the map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contains(key)</a:t>
            </a:r>
            <a:r>
              <a:rPr lang="en"/>
              <a:t> - determines if key is in the map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remove(key)</a:t>
            </a:r>
            <a:r>
              <a:rPr lang="en"/>
              <a:t> - removes the key entry from the map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size()</a:t>
            </a:r>
            <a:r>
              <a:rPr lang="en"/>
              <a:t> - the number of entries in the map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Our implementation will have all of these, and a couple of quality of life operations.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toString()</a:t>
            </a:r>
            <a:r>
              <a:rPr lang="en"/>
              <a:t> - for easy viewing of the stored data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>
                <a:solidFill>
                  <a:srgbClr val="FF0000"/>
                </a:solidFill>
              </a:rPr>
              <a:t>iterator()</a:t>
            </a:r>
            <a:r>
              <a:rPr lang="en"/>
              <a:t> - allow iteration by keys (similar to python)</a:t>
            </a:r>
            <a:endParaRPr/>
          </a:p>
        </p:txBody>
      </p:sp>
      <p:sp>
        <p:nvSpPr>
          <p:cNvPr id="445" name="Google Shape;445;p7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6" name="Google Shape;446;p74"/>
          <p:cNvSpPr txBox="1"/>
          <p:nvPr>
            <p:ph idx="3" type="body"/>
          </p:nvPr>
        </p:nvSpPr>
        <p:spPr>
          <a:xfrm>
            <a:off x="315425" y="4089650"/>
            <a:ext cx="3706500" cy="80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FF0000"/>
                </a:solidFill>
              </a:rPr>
              <a:t>Maps</a:t>
            </a:r>
            <a:r>
              <a:rPr lang="en"/>
              <a:t> are a common and powerful data structure that lets developers </a:t>
            </a:r>
            <a:r>
              <a:rPr b="1" i="1" lang="en">
                <a:solidFill>
                  <a:srgbClr val="FF0000"/>
                </a:solidFill>
              </a:rPr>
              <a:t>associate </a:t>
            </a:r>
            <a:r>
              <a:rPr lang="en"/>
              <a:t>one object with another one.</a:t>
            </a:r>
            <a:endParaRPr/>
          </a:p>
        </p:txBody>
      </p:sp>
      <p:pic>
        <p:nvPicPr>
          <p:cNvPr id="447" name="Google Shape;447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651" y="1330775"/>
            <a:ext cx="3362050" cy="24085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7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Review: Python Dictionaries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453" name="Google Shape;453;p75"/>
          <p:cNvSpPr txBox="1"/>
          <p:nvPr>
            <p:ph idx="1" type="body"/>
          </p:nvPr>
        </p:nvSpPr>
        <p:spPr>
          <a:xfrm>
            <a:off x="182500" y="1381575"/>
            <a:ext cx="4341600" cy="37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dictionary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is </a:t>
            </a:r>
            <a:r>
              <a:rPr i="1" lang="en"/>
              <a:t>sort of</a:t>
            </a:r>
            <a:r>
              <a:rPr lang="en"/>
              <a:t> like a list, except instead of numeric indices, it uses </a:t>
            </a:r>
            <a:r>
              <a:rPr b="1" i="1" lang="en">
                <a:solidFill>
                  <a:srgbClr val="FF0000"/>
                </a:solidFill>
              </a:rPr>
              <a:t>keys</a:t>
            </a:r>
            <a:r>
              <a:rPr lang="en"/>
              <a:t>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As with a list index, a </a:t>
            </a:r>
            <a:r>
              <a:rPr b="1" i="1" lang="en">
                <a:solidFill>
                  <a:srgbClr val="FF0000"/>
                </a:solidFill>
              </a:rPr>
              <a:t>key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can be used to retrieve a </a:t>
            </a:r>
            <a:r>
              <a:rPr b="1" i="1" lang="en">
                <a:solidFill>
                  <a:srgbClr val="FF0000"/>
                </a:solidFill>
              </a:rPr>
              <a:t>value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from the dictionary.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this way, a dictionary can be said to be a collection of </a:t>
            </a:r>
            <a:r>
              <a:rPr b="1" i="1" lang="en">
                <a:solidFill>
                  <a:srgbClr val="FF0000"/>
                </a:solidFill>
              </a:rPr>
              <a:t>key:value</a:t>
            </a:r>
            <a:r>
              <a:rPr lang="en"/>
              <a:t> pairs.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Given some </a:t>
            </a:r>
            <a:r>
              <a:rPr b="1" i="1" lang="en">
                <a:solidFill>
                  <a:srgbClr val="FF0000"/>
                </a:solidFill>
              </a:rPr>
              <a:t>key</a:t>
            </a:r>
            <a:r>
              <a:rPr lang="en"/>
              <a:t>, the dictionary will return the corresponding </a:t>
            </a:r>
            <a:r>
              <a:rPr b="1" i="1" lang="en">
                <a:solidFill>
                  <a:srgbClr val="FF0000"/>
                </a:solidFill>
              </a:rPr>
              <a:t>value</a:t>
            </a:r>
            <a:r>
              <a:rPr lang="en"/>
              <a:t>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is similar to a list that, given some index will return the value at that index.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i="1" lang="en">
                <a:solidFill>
                  <a:srgbClr val="FF0000"/>
                </a:solidFill>
              </a:rPr>
              <a:t>Keys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do not need to be numbers. They can be many different Python types, including strings.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Like </a:t>
            </a:r>
            <a:r>
              <a:rPr b="1" i="1" lang="en">
                <a:solidFill>
                  <a:srgbClr val="FF0000"/>
                </a:solidFill>
              </a:rPr>
              <a:t>sets</a:t>
            </a:r>
            <a:r>
              <a:rPr lang="en"/>
              <a:t>, the Python dictionary is a </a:t>
            </a:r>
            <a:r>
              <a:rPr b="1" i="1" lang="en">
                <a:solidFill>
                  <a:srgbClr val="FF0000"/>
                </a:solidFill>
              </a:rPr>
              <a:t>hashing data structure</a:t>
            </a:r>
            <a:r>
              <a:rPr lang="en"/>
              <a:t>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hash function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is used to convert the key into an integer, which is then used to find an index in an array.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Because of this, only </a:t>
            </a:r>
            <a:r>
              <a:rPr b="1" i="1" lang="en">
                <a:solidFill>
                  <a:srgbClr val="FF0000"/>
                </a:solidFill>
              </a:rPr>
              <a:t>hashable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types can be used as keys.</a:t>
            </a:r>
            <a:endParaRPr/>
          </a:p>
        </p:txBody>
      </p:sp>
      <p:sp>
        <p:nvSpPr>
          <p:cNvPr id="454" name="Google Shape;454;p7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5" name="Google Shape;455;p75"/>
          <p:cNvSpPr txBox="1"/>
          <p:nvPr/>
        </p:nvSpPr>
        <p:spPr>
          <a:xfrm>
            <a:off x="4778750" y="2253500"/>
            <a:ext cx="3865200" cy="15051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b_dict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{}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c_dict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{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"one"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"two"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c_dict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"three"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] =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15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c_dict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"one"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] =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1111</a:t>
            </a:r>
            <a:endParaRPr sz="1150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4778750" y="1422025"/>
            <a:ext cx="3865200" cy="7185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empty</a:t>
            </a:r>
            <a:r>
              <a:rPr b="0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dictionary may be created using the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built-in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i="0" lang="en" sz="12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dict()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function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b="1" i="1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pair of empty curly braces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(this is why we can't create an empty literal set).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4778750" y="3860425"/>
            <a:ext cx="3865200" cy="505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literal dictionary can also be created by enclosing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key:value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pairs in curly braces.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75"/>
          <p:cNvSpPr txBox="1"/>
          <p:nvPr/>
        </p:nvSpPr>
        <p:spPr>
          <a:xfrm>
            <a:off x="4778750" y="4492724"/>
            <a:ext cx="3865200" cy="505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Keys can be used like </a:t>
            </a:r>
            <a:r>
              <a:rPr b="1" i="1" lang="en" sz="1200">
                <a:solidFill>
                  <a:srgbClr val="FF0000"/>
                </a:solidFill>
              </a:rPr>
              <a:t>indices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an array or list to add or change values in the dictionary.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9" name="Google Shape;459;p75"/>
          <p:cNvGrpSpPr/>
          <p:nvPr/>
        </p:nvGrpSpPr>
        <p:grpSpPr>
          <a:xfrm>
            <a:off x="5159025" y="2140525"/>
            <a:ext cx="1552325" cy="380950"/>
            <a:chOff x="5159025" y="2140525"/>
            <a:chExt cx="1552325" cy="380950"/>
          </a:xfrm>
        </p:grpSpPr>
        <p:sp>
          <p:nvSpPr>
            <p:cNvPr id="460" name="Google Shape;460;p75"/>
            <p:cNvSpPr/>
            <p:nvPr/>
          </p:nvSpPr>
          <p:spPr>
            <a:xfrm>
              <a:off x="5159025" y="2327375"/>
              <a:ext cx="1233600" cy="194100"/>
            </a:xfrm>
            <a:prstGeom prst="rect">
              <a:avLst/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61" name="Google Shape;461;p75"/>
            <p:cNvCxnSpPr>
              <a:stCxn id="456" idx="2"/>
              <a:endCxn id="460" idx="3"/>
            </p:cNvCxnSpPr>
            <p:nvPr/>
          </p:nvCxnSpPr>
          <p:spPr>
            <a:xfrm rot="5400000">
              <a:off x="6410150" y="2123125"/>
              <a:ext cx="283800" cy="318600"/>
            </a:xfrm>
            <a:prstGeom prst="bentConnector2">
              <a:avLst/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462" name="Google Shape;462;p75"/>
          <p:cNvGrpSpPr/>
          <p:nvPr/>
        </p:nvGrpSpPr>
        <p:grpSpPr>
          <a:xfrm>
            <a:off x="5159025" y="2140525"/>
            <a:ext cx="1552325" cy="609550"/>
            <a:chOff x="5159025" y="2140525"/>
            <a:chExt cx="1552325" cy="609550"/>
          </a:xfrm>
        </p:grpSpPr>
        <p:sp>
          <p:nvSpPr>
            <p:cNvPr id="463" name="Google Shape;463;p75"/>
            <p:cNvSpPr/>
            <p:nvPr/>
          </p:nvSpPr>
          <p:spPr>
            <a:xfrm>
              <a:off x="5159025" y="2555975"/>
              <a:ext cx="1233600" cy="194100"/>
            </a:xfrm>
            <a:prstGeom prst="rect">
              <a:avLst/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64" name="Google Shape;464;p75"/>
            <p:cNvCxnSpPr>
              <a:stCxn id="456" idx="2"/>
              <a:endCxn id="463" idx="3"/>
            </p:cNvCxnSpPr>
            <p:nvPr/>
          </p:nvCxnSpPr>
          <p:spPr>
            <a:xfrm rot="5400000">
              <a:off x="6295850" y="2237425"/>
              <a:ext cx="512400" cy="318600"/>
            </a:xfrm>
            <a:prstGeom prst="bentConnector2">
              <a:avLst/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465" name="Google Shape;465;p75"/>
          <p:cNvGrpSpPr/>
          <p:nvPr/>
        </p:nvGrpSpPr>
        <p:grpSpPr>
          <a:xfrm>
            <a:off x="4778750" y="3043334"/>
            <a:ext cx="2615875" cy="1069991"/>
            <a:chOff x="4778750" y="3043334"/>
            <a:chExt cx="2615875" cy="1069991"/>
          </a:xfrm>
        </p:grpSpPr>
        <p:sp>
          <p:nvSpPr>
            <p:cNvPr id="466" name="Google Shape;466;p75"/>
            <p:cNvSpPr/>
            <p:nvPr/>
          </p:nvSpPr>
          <p:spPr>
            <a:xfrm>
              <a:off x="5159025" y="3043334"/>
              <a:ext cx="2235600" cy="194100"/>
            </a:xfrm>
            <a:prstGeom prst="rect">
              <a:avLst/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67" name="Google Shape;467;p75"/>
            <p:cNvCxnSpPr>
              <a:stCxn id="457" idx="1"/>
              <a:endCxn id="466" idx="1"/>
            </p:cNvCxnSpPr>
            <p:nvPr/>
          </p:nvCxnSpPr>
          <p:spPr>
            <a:xfrm flipH="1" rot="10800000">
              <a:off x="4778750" y="3140425"/>
              <a:ext cx="380400" cy="972900"/>
            </a:xfrm>
            <a:prstGeom prst="bentConnector3">
              <a:avLst>
                <a:gd fmla="val -62599" name="adj1"/>
              </a:avLst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468" name="Google Shape;468;p75"/>
          <p:cNvGrpSpPr/>
          <p:nvPr/>
        </p:nvGrpSpPr>
        <p:grpSpPr>
          <a:xfrm>
            <a:off x="5159025" y="3281064"/>
            <a:ext cx="3484925" cy="1464560"/>
            <a:chOff x="5159025" y="3281064"/>
            <a:chExt cx="3484925" cy="1464560"/>
          </a:xfrm>
        </p:grpSpPr>
        <p:sp>
          <p:nvSpPr>
            <p:cNvPr id="469" name="Google Shape;469;p75"/>
            <p:cNvSpPr/>
            <p:nvPr/>
          </p:nvSpPr>
          <p:spPr>
            <a:xfrm>
              <a:off x="5159025" y="3281064"/>
              <a:ext cx="1683600" cy="443400"/>
            </a:xfrm>
            <a:prstGeom prst="rect">
              <a:avLst/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470" name="Google Shape;470;p75"/>
            <p:cNvCxnSpPr>
              <a:stCxn id="458" idx="3"/>
              <a:endCxn id="469" idx="3"/>
            </p:cNvCxnSpPr>
            <p:nvPr/>
          </p:nvCxnSpPr>
          <p:spPr>
            <a:xfrm rot="10800000">
              <a:off x="6842750" y="3502724"/>
              <a:ext cx="1801200" cy="1242900"/>
            </a:xfrm>
            <a:prstGeom prst="bentConnector3">
              <a:avLst>
                <a:gd fmla="val -13220" name="adj1"/>
              </a:avLst>
            </a:prstGeom>
            <a:noFill/>
            <a:ln cap="flat" cmpd="sng" w="19050">
              <a:solidFill>
                <a:srgbClr val="FF0000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6"/>
          <p:cNvSpPr txBox="1"/>
          <p:nvPr>
            <p:ph type="title"/>
          </p:nvPr>
        </p:nvSpPr>
        <p:spPr>
          <a:xfrm>
            <a:off x="5264725" y="427838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Implementations</a:t>
            </a:r>
            <a:endParaRPr/>
          </a:p>
        </p:txBody>
      </p:sp>
      <p:sp>
        <p:nvSpPr>
          <p:cNvPr id="476" name="Google Shape;476;p76"/>
          <p:cNvSpPr txBox="1"/>
          <p:nvPr>
            <p:ph idx="1" type="body"/>
          </p:nvPr>
        </p:nvSpPr>
        <p:spPr>
          <a:xfrm>
            <a:off x="3012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Similar to the Set, a </a:t>
            </a:r>
            <a:r>
              <a:rPr b="1" i="1" lang="en">
                <a:solidFill>
                  <a:srgbClr val="FF0000"/>
                </a:solidFill>
              </a:rPr>
              <a:t>Map</a:t>
            </a:r>
            <a:r>
              <a:rPr lang="en"/>
              <a:t> has a couple common implementations.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Tree based maps that maintain order by key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Hash based maps that are faster but have no order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Tree based map implementation would be similar to the </a:t>
            </a:r>
            <a:r>
              <a:rPr lang="en"/>
              <a:t>implementation</a:t>
            </a:r>
            <a:r>
              <a:rPr lang="en"/>
              <a:t> we did for Set.</a:t>
            </a:r>
            <a:endParaRPr/>
          </a:p>
          <a:p>
            <a:pPr indent="-298450" lvl="1" marL="914400" rtl="0" algn="l">
              <a:spcBef>
                <a:spcPts val="100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But with a key/value pair rather than a single value..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this reason we'll only create a </a:t>
            </a:r>
            <a:r>
              <a:rPr b="1" i="1" lang="en">
                <a:solidFill>
                  <a:srgbClr val="FF0000"/>
                </a:solidFill>
              </a:rPr>
              <a:t>hash based</a:t>
            </a:r>
            <a:r>
              <a:rPr lang="en"/>
              <a:t> map implementation.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000"/>
              </a:spcAft>
              <a:buSzPts val="1300"/>
              <a:buChar char="●"/>
            </a:pPr>
            <a:r>
              <a:rPr lang="en"/>
              <a:t>At the end of the unit, we'll look at Java's implementations which includes a full tree and hash implementation.</a:t>
            </a:r>
            <a:endParaRPr/>
          </a:p>
        </p:txBody>
      </p:sp>
      <p:sp>
        <p:nvSpPr>
          <p:cNvPr id="477" name="Google Shape;477;p76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8" name="Google Shape;478;p76"/>
          <p:cNvSpPr txBox="1"/>
          <p:nvPr>
            <p:ph idx="3" type="body"/>
          </p:nvPr>
        </p:nvSpPr>
        <p:spPr>
          <a:xfrm>
            <a:off x="5192225" y="4190325"/>
            <a:ext cx="3706500" cy="70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many data structures, Maps have multiple common implementations.</a:t>
            </a:r>
            <a:endParaRPr/>
          </a:p>
        </p:txBody>
      </p:sp>
      <p:pic>
        <p:nvPicPr>
          <p:cNvPr id="479" name="Google Shape;479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7575" y="1161950"/>
            <a:ext cx="3375809" cy="2819587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77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 Interface</a:t>
            </a:r>
            <a:endParaRPr/>
          </a:p>
        </p:txBody>
      </p:sp>
      <p:sp>
        <p:nvSpPr>
          <p:cNvPr id="485" name="Google Shape;485;p77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Before we create a specific implementation, we should define the ADT operations using an interface. This way, all implementations can be used interchangeably.</a:t>
            </a:r>
            <a:endParaRPr/>
          </a:p>
        </p:txBody>
      </p:sp>
      <p:sp>
        <p:nvSpPr>
          <p:cNvPr id="486" name="Google Shape;486;p7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7" name="Google Shape;487;p77"/>
          <p:cNvSpPr txBox="1"/>
          <p:nvPr>
            <p:ph idx="2" type="body"/>
          </p:nvPr>
        </p:nvSpPr>
        <p:spPr>
          <a:xfrm>
            <a:off x="3611750" y="1751525"/>
            <a:ext cx="5329500" cy="192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Start by creating a new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maps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package in this unit's repository which we'll use for all the set activities.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Using the UML on the left, create a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interface.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Since we know we'll want to use it with lots of types, go ahead and make it generic from the start.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000"/>
              </a:spcAft>
              <a:buSzPts val="1300"/>
              <a:buChar char="●"/>
            </a:pPr>
            <a:r>
              <a:rPr lang="en"/>
              <a:t>Ensure there are no errors by checking your problems tab.</a:t>
            </a:r>
            <a:endParaRPr/>
          </a:p>
        </p:txBody>
      </p:sp>
      <p:sp>
        <p:nvSpPr>
          <p:cNvPr id="488" name="Google Shape;488;p77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7.5</a:t>
            </a:r>
            <a:endParaRPr/>
          </a:p>
        </p:txBody>
      </p:sp>
      <p:pic>
        <p:nvPicPr>
          <p:cNvPr id="489" name="Google Shape;489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98325"/>
            <a:ext cx="3306950" cy="2324497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77"/>
          <p:cNvSpPr txBox="1"/>
          <p:nvPr>
            <p:ph idx="4" type="body"/>
          </p:nvPr>
        </p:nvSpPr>
        <p:spPr>
          <a:xfrm>
            <a:off x="206625" y="4001275"/>
            <a:ext cx="30618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Map </a:t>
            </a:r>
            <a:r>
              <a:rPr lang="en"/>
              <a:t>and </a:t>
            </a:r>
            <a:r>
              <a:rPr b="1" lang="en"/>
              <a:t>Set </a:t>
            </a:r>
            <a:r>
              <a:rPr lang="en"/>
              <a:t>interfaces are very similar, but there are subtle </a:t>
            </a:r>
            <a:r>
              <a:rPr b="1" lang="en">
                <a:solidFill>
                  <a:srgbClr val="FF0000"/>
                </a:solidFill>
              </a:rPr>
              <a:t>differences</a:t>
            </a:r>
            <a:r>
              <a:rPr lang="en"/>
              <a:t>. Pay close attention when </a:t>
            </a:r>
            <a:r>
              <a:rPr lang="en"/>
              <a:t>creating</a:t>
            </a:r>
            <a:r>
              <a:rPr lang="en"/>
              <a:t> it.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78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6" name="Google Shape;496;p78"/>
          <p:cNvSpPr txBox="1"/>
          <p:nvPr>
            <p:ph type="title"/>
          </p:nvPr>
        </p:nvSpPr>
        <p:spPr>
          <a:xfrm>
            <a:off x="5264725" y="1961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Hash Map</a:t>
            </a:r>
            <a:endParaRPr sz="2000"/>
          </a:p>
        </p:txBody>
      </p:sp>
      <p:sp>
        <p:nvSpPr>
          <p:cNvPr id="497" name="Google Shape;497;p78"/>
          <p:cNvSpPr txBox="1"/>
          <p:nvPr>
            <p:ph idx="1" type="body"/>
          </p:nvPr>
        </p:nvSpPr>
        <p:spPr>
          <a:xfrm>
            <a:off x="280425" y="209211"/>
            <a:ext cx="4417500" cy="47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Another common Map implantation uses hashing to store and retrieve the set items.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hash function</a:t>
            </a:r>
            <a:r>
              <a:rPr lang="en"/>
              <a:t> is a one-way function that, given an arbitrary input value, produces a </a:t>
            </a:r>
            <a:r>
              <a:rPr b="1" i="1" lang="en">
                <a:solidFill>
                  <a:srgbClr val="FF0000"/>
                </a:solidFill>
              </a:rPr>
              <a:t>number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as output.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Converting input into a </a:t>
            </a:r>
            <a:r>
              <a:rPr b="1" i="1" lang="en">
                <a:solidFill>
                  <a:srgbClr val="FF0000"/>
                </a:solidFill>
              </a:rPr>
              <a:t>hash code</a:t>
            </a:r>
            <a:r>
              <a:rPr lang="en"/>
              <a:t> is called </a:t>
            </a:r>
            <a:r>
              <a:rPr b="1" i="1" lang="en">
                <a:solidFill>
                  <a:srgbClr val="FF0000"/>
                </a:solidFill>
              </a:rPr>
              <a:t>hashing</a:t>
            </a:r>
            <a:r>
              <a:rPr lang="en"/>
              <a:t>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Most hashing data structures use an array to store the data.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Arrays are used because because all elements are created at construction and it's very efficient.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hash function is used to convert the object being stored into an integer (</a:t>
            </a:r>
            <a:r>
              <a:rPr b="1" i="1" lang="en"/>
              <a:t>hash code</a:t>
            </a:r>
            <a:r>
              <a:rPr lang="en"/>
              <a:t>) which is used to get an </a:t>
            </a:r>
            <a:r>
              <a:rPr b="1" i="1" lang="en">
                <a:solidFill>
                  <a:srgbClr val="FF0000"/>
                </a:solidFill>
              </a:rPr>
              <a:t>index</a:t>
            </a:r>
            <a:r>
              <a:rPr lang="en"/>
              <a:t> into the array.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Since there are over 2 billion possible "indexes" in a Java int, we don't want to make an array that big.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Instead, the hash code is constrained to the size of the array using </a:t>
            </a:r>
            <a:r>
              <a:rPr b="1" i="1" lang="en">
                <a:solidFill>
                  <a:srgbClr val="FF0000"/>
                </a:solidFill>
              </a:rPr>
              <a:t>modulo</a:t>
            </a:r>
            <a:r>
              <a:rPr lang="en"/>
              <a:t> of the array length.</a:t>
            </a:r>
            <a:endParaRPr/>
          </a:p>
        </p:txBody>
      </p:sp>
      <p:sp>
        <p:nvSpPr>
          <p:cNvPr id="498" name="Google Shape;498;p78"/>
          <p:cNvSpPr txBox="1"/>
          <p:nvPr>
            <p:ph idx="3" type="body"/>
          </p:nvPr>
        </p:nvSpPr>
        <p:spPr>
          <a:xfrm>
            <a:off x="5192225" y="1032125"/>
            <a:ext cx="37065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A hash map is a </a:t>
            </a:r>
            <a:r>
              <a:rPr b="1" i="1" lang="en" sz="1200">
                <a:solidFill>
                  <a:srgbClr val="FF0000"/>
                </a:solidFill>
              </a:rPr>
              <a:t>hashing data structure</a:t>
            </a:r>
            <a:r>
              <a:rPr lang="en" sz="1200"/>
              <a:t> that is built on top of </a:t>
            </a:r>
            <a:r>
              <a:rPr b="1" i="1" lang="en" sz="1200">
                <a:solidFill>
                  <a:srgbClr val="FF0000"/>
                </a:solidFill>
              </a:rPr>
              <a:t>an array</a:t>
            </a:r>
            <a:r>
              <a:rPr lang="en" sz="1200"/>
              <a:t>.</a:t>
            </a:r>
            <a:endParaRPr sz="1200"/>
          </a:p>
        </p:txBody>
      </p:sp>
      <p:graphicFrame>
        <p:nvGraphicFramePr>
          <p:cNvPr id="499" name="Google Shape;499;p78"/>
          <p:cNvGraphicFramePr/>
          <p:nvPr/>
        </p:nvGraphicFramePr>
        <p:xfrm>
          <a:off x="5514075" y="4175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00" name="Google Shape;500;p78"/>
          <p:cNvSpPr txBox="1"/>
          <p:nvPr>
            <p:ph idx="3" type="body"/>
          </p:nvPr>
        </p:nvSpPr>
        <p:spPr>
          <a:xfrm>
            <a:off x="5192225" y="1656849"/>
            <a:ext cx="3706500" cy="6381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A </a:t>
            </a:r>
            <a:r>
              <a:rPr b="1" i="1" lang="en" sz="1200">
                <a:solidFill>
                  <a:srgbClr val="FF0000"/>
                </a:solidFill>
              </a:rPr>
              <a:t>hash function</a:t>
            </a:r>
            <a:r>
              <a:rPr lang="en" sz="1200"/>
              <a:t> is used to convert arbitrary values into </a:t>
            </a:r>
            <a:r>
              <a:rPr b="1" i="1" lang="en" sz="1200">
                <a:solidFill>
                  <a:srgbClr val="FF0000"/>
                </a:solidFill>
              </a:rPr>
              <a:t>integers</a:t>
            </a:r>
            <a:r>
              <a:rPr lang="en" sz="1200"/>
              <a:t>, which can then be used to find an </a:t>
            </a:r>
            <a:r>
              <a:rPr b="1" i="1" lang="en" sz="1200">
                <a:solidFill>
                  <a:srgbClr val="FF0000"/>
                </a:solidFill>
              </a:rPr>
              <a:t>index</a:t>
            </a:r>
            <a:r>
              <a:rPr lang="en" sz="1200"/>
              <a:t> in the array.</a:t>
            </a:r>
            <a:endParaRPr sz="1200"/>
          </a:p>
        </p:txBody>
      </p:sp>
      <p:sp>
        <p:nvSpPr>
          <p:cNvPr id="501" name="Google Shape;501;p78"/>
          <p:cNvSpPr txBox="1"/>
          <p:nvPr/>
        </p:nvSpPr>
        <p:spPr>
          <a:xfrm>
            <a:off x="5432675" y="25263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"abc"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" name="Google Shape;502;p78"/>
          <p:cNvSpPr txBox="1"/>
          <p:nvPr/>
        </p:nvSpPr>
        <p:spPr>
          <a:xfrm>
            <a:off x="6270875" y="25263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"def"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" name="Google Shape;503;p78"/>
          <p:cNvSpPr txBox="1"/>
          <p:nvPr/>
        </p:nvSpPr>
        <p:spPr>
          <a:xfrm>
            <a:off x="7109075" y="25263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"ghi"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" name="Google Shape;504;p78"/>
          <p:cNvSpPr txBox="1"/>
          <p:nvPr/>
        </p:nvSpPr>
        <p:spPr>
          <a:xfrm>
            <a:off x="7947275" y="2526375"/>
            <a:ext cx="7110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"jkl"</a:t>
            </a:r>
            <a:endParaRPr b="0" i="0" sz="1400" u="none" cap="none" strike="noStrike">
              <a:solidFill>
                <a:srgbClr val="CE917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78"/>
          <p:cNvSpPr/>
          <p:nvPr/>
        </p:nvSpPr>
        <p:spPr>
          <a:xfrm>
            <a:off x="5778875" y="2806225"/>
            <a:ext cx="681775" cy="1376650"/>
          </a:xfrm>
          <a:custGeom>
            <a:rect b="b" l="l" r="r" t="t"/>
            <a:pathLst>
              <a:path extrusionOk="0" h="55066" w="27271">
                <a:moveTo>
                  <a:pt x="0" y="0"/>
                </a:moveTo>
                <a:lnTo>
                  <a:pt x="0" y="27231"/>
                </a:lnTo>
                <a:lnTo>
                  <a:pt x="27271" y="42976"/>
                </a:lnTo>
                <a:lnTo>
                  <a:pt x="27271" y="55066"/>
                </a:lnTo>
              </a:path>
            </a:pathLst>
          </a:custGeom>
          <a:noFill/>
          <a:ln cap="flat" cmpd="sng" w="19050">
            <a:solidFill>
              <a:srgbClr val="EA9999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506" name="Google Shape;506;p78"/>
          <p:cNvSpPr/>
          <p:nvPr/>
        </p:nvSpPr>
        <p:spPr>
          <a:xfrm>
            <a:off x="6626050" y="2798675"/>
            <a:ext cx="1750250" cy="1369075"/>
          </a:xfrm>
          <a:custGeom>
            <a:rect b="b" l="l" r="r" t="t"/>
            <a:pathLst>
              <a:path extrusionOk="0" h="54763" w="70010">
                <a:moveTo>
                  <a:pt x="0" y="0"/>
                </a:moveTo>
                <a:lnTo>
                  <a:pt x="0" y="25717"/>
                </a:lnTo>
                <a:lnTo>
                  <a:pt x="70010" y="44476"/>
                </a:lnTo>
                <a:lnTo>
                  <a:pt x="70010" y="54763"/>
                </a:lnTo>
              </a:path>
            </a:pathLst>
          </a:custGeom>
          <a:noFill/>
          <a:ln cap="flat" cmpd="sng" w="19050">
            <a:solidFill>
              <a:srgbClr val="93C47D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507" name="Google Shape;507;p78"/>
          <p:cNvSpPr/>
          <p:nvPr/>
        </p:nvSpPr>
        <p:spPr>
          <a:xfrm>
            <a:off x="6852950" y="2798675"/>
            <a:ext cx="612713" cy="1384200"/>
          </a:xfrm>
          <a:custGeom>
            <a:rect b="b" l="l" r="r" t="t"/>
            <a:pathLst>
              <a:path extrusionOk="0" h="55368" w="26660">
                <a:moveTo>
                  <a:pt x="26660" y="0"/>
                </a:moveTo>
                <a:lnTo>
                  <a:pt x="26660" y="23902"/>
                </a:lnTo>
                <a:lnTo>
                  <a:pt x="0" y="39294"/>
                </a:lnTo>
                <a:lnTo>
                  <a:pt x="0" y="55368"/>
                </a:lnTo>
              </a:path>
            </a:pathLst>
          </a:custGeom>
          <a:noFill/>
          <a:ln cap="flat" cmpd="sng" w="19050">
            <a:solidFill>
              <a:srgbClr val="D5A6BD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508" name="Google Shape;508;p78"/>
          <p:cNvSpPr/>
          <p:nvPr/>
        </p:nvSpPr>
        <p:spPr>
          <a:xfrm>
            <a:off x="5741050" y="2791100"/>
            <a:ext cx="2564200" cy="1369075"/>
          </a:xfrm>
          <a:custGeom>
            <a:rect b="b" l="l" r="r" t="t"/>
            <a:pathLst>
              <a:path extrusionOk="0" h="54763" w="102568">
                <a:moveTo>
                  <a:pt x="102568" y="0"/>
                </a:moveTo>
                <a:lnTo>
                  <a:pt x="102568" y="27836"/>
                </a:lnTo>
                <a:lnTo>
                  <a:pt x="0" y="44476"/>
                </a:lnTo>
                <a:lnTo>
                  <a:pt x="0" y="54763"/>
                </a:lnTo>
              </a:path>
            </a:pathLst>
          </a:custGeom>
          <a:noFill/>
          <a:ln cap="flat" cmpd="sng" w="19050">
            <a:solidFill>
              <a:srgbClr val="FFE599"/>
            </a:solidFill>
            <a:prstDash val="solid"/>
            <a:round/>
            <a:headEnd len="sm" w="sm" type="none"/>
            <a:tailEnd len="med" w="med" type="triangle"/>
          </a:ln>
        </p:spPr>
      </p:sp>
      <p:sp>
        <p:nvSpPr>
          <p:cNvPr id="509" name="Google Shape;509;p78"/>
          <p:cNvSpPr/>
          <p:nvPr/>
        </p:nvSpPr>
        <p:spPr>
          <a:xfrm>
            <a:off x="5514125" y="3083228"/>
            <a:ext cx="3062700" cy="393600"/>
          </a:xfrm>
          <a:prstGeom prst="rect">
            <a:avLst/>
          </a:prstGeom>
          <a:solidFill>
            <a:srgbClr val="4A86E8"/>
          </a:solidFill>
          <a:ln cap="flat" cmpd="sng" w="190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Hash Function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79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Hash Map</a:t>
            </a:r>
            <a:endParaRPr/>
          </a:p>
        </p:txBody>
      </p:sp>
      <p:sp>
        <p:nvSpPr>
          <p:cNvPr id="515" name="Google Shape;515;p7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6" name="Google Shape;516;p79"/>
          <p:cNvSpPr txBox="1"/>
          <p:nvPr>
            <p:ph idx="2" type="body"/>
          </p:nvPr>
        </p:nvSpPr>
        <p:spPr>
          <a:xfrm>
            <a:off x="3277800" y="1326094"/>
            <a:ext cx="5663400" cy="357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maps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package, add a new class named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/>
              <a:t>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Use the UML on the left to guide the </a:t>
            </a:r>
            <a:r>
              <a:rPr lang="en"/>
              <a:t>class</a:t>
            </a:r>
            <a:r>
              <a:rPr lang="en"/>
              <a:t> creation.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Since an array index can only store one item,</a:t>
            </a:r>
            <a:r>
              <a:rPr lang="en"/>
              <a:t> create a small inner class that holds two items (the key and value) named </a:t>
            </a:r>
            <a:r>
              <a:rPr b="1" i="1" lang="en">
                <a:solidFill>
                  <a:srgbClr val="FF0000"/>
                </a:solidFill>
              </a:rPr>
              <a:t>Element</a:t>
            </a:r>
            <a:r>
              <a:rPr lang="en"/>
              <a:t>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We'll use a starting "array" </a:t>
            </a:r>
            <a:r>
              <a:rPr b="1" i="1" lang="en">
                <a:solidFill>
                  <a:srgbClr val="FF0000"/>
                </a:solidFill>
              </a:rPr>
              <a:t>capacity of 3</a:t>
            </a:r>
            <a:r>
              <a:rPr lang="en"/>
              <a:t>, which you can hard code or add as a constant.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We're going to use an ArrayList for our "array".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In the constructor, create a new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ArrayList</a:t>
            </a:r>
            <a:r>
              <a:rPr lang="en"/>
              <a:t> and assign it to elements.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Then add capacity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r>
              <a:rPr lang="en"/>
              <a:t> entities to the list.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These are needed so we can access the indexes correctly.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</a:t>
            </a:r>
            <a:r>
              <a:rPr lang="en"/>
              <a:t>initial</a:t>
            </a:r>
            <a:r>
              <a:rPr lang="en"/>
              <a:t> </a:t>
            </a:r>
            <a:r>
              <a:rPr b="1" i="1" lang="en">
                <a:solidFill>
                  <a:srgbClr val="FF0000"/>
                </a:solidFill>
              </a:rPr>
              <a:t>size will be 0</a:t>
            </a:r>
            <a:r>
              <a:rPr lang="en"/>
              <a:t> because it is a new map.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Implement</a:t>
            </a:r>
            <a:r>
              <a:rPr lang="en"/>
              <a:t> the </a:t>
            </a:r>
            <a:r>
              <a:rPr lang="en"/>
              <a:t>constructor</a:t>
            </a:r>
            <a:r>
              <a:rPr lang="en"/>
              <a:t> and size and stub out the other methods.</a:t>
            </a:r>
            <a:endParaRPr/>
          </a:p>
        </p:txBody>
      </p:sp>
      <p:sp>
        <p:nvSpPr>
          <p:cNvPr id="517" name="Google Shape;517;p79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7.6</a:t>
            </a:r>
            <a:endParaRPr/>
          </a:p>
        </p:txBody>
      </p:sp>
      <p:sp>
        <p:nvSpPr>
          <p:cNvPr id="518" name="Google Shape;518;p79"/>
          <p:cNvSpPr txBox="1"/>
          <p:nvPr>
            <p:ph idx="4" type="body"/>
          </p:nvPr>
        </p:nvSpPr>
        <p:spPr>
          <a:xfrm>
            <a:off x="208268" y="4173265"/>
            <a:ext cx="30237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While we previously discussed using an array to hold the elements, using an ArrayList will be simpler given Java's issues with generic arrays.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19" name="Google Shape;519;p79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Now that we've seen how </a:t>
            </a:r>
            <a:r>
              <a:rPr lang="en"/>
              <a:t>hashing</a:t>
            </a:r>
            <a:r>
              <a:rPr lang="en"/>
              <a:t> works with arrays, it's time to create our hash set implementation.</a:t>
            </a:r>
            <a:endParaRPr/>
          </a:p>
        </p:txBody>
      </p:sp>
      <p:pic>
        <p:nvPicPr>
          <p:cNvPr id="520" name="Google Shape;520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275" y="1515375"/>
            <a:ext cx="3088525" cy="25982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80"/>
          <p:cNvSpPr/>
          <p:nvPr/>
        </p:nvSpPr>
        <p:spPr>
          <a:xfrm>
            <a:off x="3837654" y="1407235"/>
            <a:ext cx="1631700" cy="2715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rgbClr val="FFE5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8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7" name="Google Shape;527;p8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To a Map In Detail</a:t>
            </a:r>
            <a:endParaRPr/>
          </a:p>
        </p:txBody>
      </p:sp>
      <p:sp>
        <p:nvSpPr>
          <p:cNvPr id="528" name="Google Shape;528;p80"/>
          <p:cNvSpPr txBox="1"/>
          <p:nvPr/>
        </p:nvSpPr>
        <p:spPr>
          <a:xfrm>
            <a:off x="4485925" y="1410925"/>
            <a:ext cx="8679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"abc"</a:t>
            </a:r>
            <a:endParaRPr b="0" i="0" sz="1600" u="none" cap="none" strike="noStrike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123</a:t>
            </a:r>
            <a:endParaRPr sz="16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9" name="Google Shape;529;p80"/>
          <p:cNvCxnSpPr>
            <a:stCxn id="528" idx="2"/>
            <a:endCxn id="530" idx="0"/>
          </p:cNvCxnSpPr>
          <p:nvPr/>
        </p:nvCxnSpPr>
        <p:spPr>
          <a:xfrm>
            <a:off x="4919875" y="1892425"/>
            <a:ext cx="0" cy="27150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31" name="Google Shape;531;p80"/>
          <p:cNvSpPr txBox="1"/>
          <p:nvPr/>
        </p:nvSpPr>
        <p:spPr>
          <a:xfrm>
            <a:off x="4525216" y="2678825"/>
            <a:ext cx="789300" cy="2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>
                <a:solidFill>
                  <a:srgbClr val="4A86E8"/>
                </a:solidFill>
                <a:latin typeface="Consolas"/>
                <a:ea typeface="Consolas"/>
                <a:cs typeface="Consolas"/>
                <a:sym typeface="Consolas"/>
              </a:rPr>
              <a:t>96354</a:t>
            </a:r>
            <a:endParaRPr b="0" i="0" sz="1600" u="none" cap="none" strike="noStrike">
              <a:solidFill>
                <a:srgbClr val="4A86E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2" name="Google Shape;532;p80"/>
          <p:cNvCxnSpPr>
            <a:stCxn id="530" idx="2"/>
            <a:endCxn id="531" idx="0"/>
          </p:cNvCxnSpPr>
          <p:nvPr/>
        </p:nvCxnSpPr>
        <p:spPr>
          <a:xfrm>
            <a:off x="4919866" y="2557627"/>
            <a:ext cx="0" cy="121200"/>
          </a:xfrm>
          <a:prstGeom prst="straightConnector1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33" name="Google Shape;533;p80"/>
          <p:cNvCxnSpPr>
            <a:stCxn id="531" idx="2"/>
            <a:endCxn id="534" idx="0"/>
          </p:cNvCxnSpPr>
          <p:nvPr/>
        </p:nvCxnSpPr>
        <p:spPr>
          <a:xfrm>
            <a:off x="4919866" y="2964125"/>
            <a:ext cx="0" cy="200700"/>
          </a:xfrm>
          <a:prstGeom prst="straightConnector1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35" name="Google Shape;535;p80"/>
          <p:cNvSpPr txBox="1"/>
          <p:nvPr/>
        </p:nvSpPr>
        <p:spPr>
          <a:xfrm>
            <a:off x="3978666" y="3700313"/>
            <a:ext cx="789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b="0" i="0" sz="1600" u="none" cap="none" strike="noStrike">
              <a:solidFill>
                <a:srgbClr val="6AA84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6" name="Google Shape;536;p80"/>
          <p:cNvCxnSpPr>
            <a:stCxn id="534" idx="2"/>
            <a:endCxn id="535" idx="0"/>
          </p:cNvCxnSpPr>
          <p:nvPr/>
        </p:nvCxnSpPr>
        <p:spPr>
          <a:xfrm flipH="1">
            <a:off x="4373266" y="3558487"/>
            <a:ext cx="546600" cy="1419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37" name="Google Shape;537;p80"/>
          <p:cNvCxnSpPr>
            <a:stCxn id="535" idx="2"/>
          </p:cNvCxnSpPr>
          <p:nvPr/>
        </p:nvCxnSpPr>
        <p:spPr>
          <a:xfrm>
            <a:off x="4373316" y="3928913"/>
            <a:ext cx="5700" cy="2313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538" name="Google Shape;538;p80"/>
          <p:cNvGraphicFramePr/>
          <p:nvPr/>
        </p:nvGraphicFramePr>
        <p:xfrm>
          <a:off x="3388466" y="41465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30" name="Google Shape;530;p80"/>
          <p:cNvSpPr/>
          <p:nvPr/>
        </p:nvSpPr>
        <p:spPr>
          <a:xfrm>
            <a:off x="3388516" y="2164027"/>
            <a:ext cx="3062700" cy="393600"/>
          </a:xfrm>
          <a:prstGeom prst="rect">
            <a:avLst/>
          </a:prstGeom>
          <a:solidFill>
            <a:srgbClr val="4A86E8"/>
          </a:solidFill>
          <a:ln cap="flat" cmpd="sng" w="190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Hash Function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80"/>
          <p:cNvSpPr/>
          <p:nvPr/>
        </p:nvSpPr>
        <p:spPr>
          <a:xfrm>
            <a:off x="3388516" y="3164887"/>
            <a:ext cx="3062700" cy="393600"/>
          </a:xfrm>
          <a:prstGeom prst="rect">
            <a:avLst/>
          </a:prstGeom>
          <a:solidFill>
            <a:srgbClr val="6AA84F"/>
          </a:solidFill>
          <a:ln cap="flat" cmpd="sng" w="19050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Modulo 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80"/>
          <p:cNvSpPr txBox="1"/>
          <p:nvPr>
            <p:ph idx="4294967295" type="body"/>
          </p:nvPr>
        </p:nvSpPr>
        <p:spPr>
          <a:xfrm>
            <a:off x="233000" y="1691400"/>
            <a:ext cx="28149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rgbClr val="000000"/>
                </a:solidFill>
              </a:rPr>
              <a:t>First, hash the </a:t>
            </a:r>
            <a:r>
              <a:rPr b="1" i="1" lang="en" sz="1200">
                <a:solidFill>
                  <a:srgbClr val="FF0000"/>
                </a:solidFill>
              </a:rPr>
              <a:t>key</a:t>
            </a:r>
            <a:r>
              <a:rPr lang="en" sz="1200">
                <a:solidFill>
                  <a:srgbClr val="000000"/>
                </a:solidFill>
              </a:rPr>
              <a:t> using a </a:t>
            </a:r>
            <a:r>
              <a:rPr b="1" i="1" lang="en" sz="1200">
                <a:solidFill>
                  <a:srgbClr val="FF0000"/>
                </a:solidFill>
              </a:rPr>
              <a:t>hash function</a:t>
            </a:r>
            <a:r>
              <a:rPr lang="en" sz="1200">
                <a:solidFill>
                  <a:srgbClr val="000000"/>
                </a:solidFill>
              </a:rPr>
              <a:t>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540" name="Google Shape;540;p80"/>
          <p:cNvSpPr txBox="1"/>
          <p:nvPr>
            <p:ph idx="4294967295" type="body"/>
          </p:nvPr>
        </p:nvSpPr>
        <p:spPr>
          <a:xfrm>
            <a:off x="233000" y="2552075"/>
            <a:ext cx="28149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rgbClr val="000000"/>
                </a:solidFill>
              </a:rPr>
              <a:t>This produces a </a:t>
            </a:r>
            <a:r>
              <a:rPr b="1" i="1" lang="en" sz="1200">
                <a:solidFill>
                  <a:srgbClr val="FF0000"/>
                </a:solidFill>
              </a:rPr>
              <a:t>hash code</a:t>
            </a:r>
            <a:r>
              <a:rPr lang="en" sz="1200">
                <a:solidFill>
                  <a:srgbClr val="000000"/>
                </a:solidFill>
              </a:rPr>
              <a:t> which is an integer.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541" name="Google Shape;541;p80"/>
          <p:cNvSpPr txBox="1"/>
          <p:nvPr>
            <p:ph idx="4294967295" type="body"/>
          </p:nvPr>
        </p:nvSpPr>
        <p:spPr>
          <a:xfrm>
            <a:off x="233000" y="3412738"/>
            <a:ext cx="28149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i="1" lang="en" sz="1200">
                <a:solidFill>
                  <a:srgbClr val="FF0000"/>
                </a:solidFill>
              </a:rPr>
              <a:t>Modulo</a:t>
            </a:r>
            <a:r>
              <a:rPr lang="en" sz="1200">
                <a:solidFill>
                  <a:srgbClr val="000000"/>
                </a:solidFill>
              </a:rPr>
              <a:t> the code by the size of the array to get the index.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542" name="Google Shape;542;p80"/>
          <p:cNvSpPr txBox="1"/>
          <p:nvPr>
            <p:ph idx="4294967295" type="body"/>
          </p:nvPr>
        </p:nvSpPr>
        <p:spPr>
          <a:xfrm>
            <a:off x="233000" y="4273425"/>
            <a:ext cx="28149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rgbClr val="000000"/>
                </a:solidFill>
              </a:rPr>
              <a:t>Store the kay and value at the </a:t>
            </a:r>
            <a:r>
              <a:rPr b="1" i="1" lang="en" sz="1200">
                <a:solidFill>
                  <a:srgbClr val="FF0000"/>
                </a:solidFill>
              </a:rPr>
              <a:t>index</a:t>
            </a:r>
            <a:r>
              <a:rPr lang="en" sz="1200">
                <a:solidFill>
                  <a:srgbClr val="000000"/>
                </a:solidFill>
              </a:rPr>
              <a:t>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543" name="Google Shape;543;p80"/>
          <p:cNvSpPr/>
          <p:nvPr/>
        </p:nvSpPr>
        <p:spPr>
          <a:xfrm>
            <a:off x="3952800" y="4146575"/>
            <a:ext cx="7893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100"/>
              <a:t>"abc"</a:t>
            </a:r>
            <a:endParaRPr sz="11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100"/>
              <a:t>123</a:t>
            </a:r>
            <a:endParaRPr sz="1100"/>
          </a:p>
        </p:txBody>
      </p:sp>
      <p:sp>
        <p:nvSpPr>
          <p:cNvPr id="544" name="Google Shape;544;p80"/>
          <p:cNvSpPr txBox="1"/>
          <p:nvPr>
            <p:ph idx="4294967295" type="body"/>
          </p:nvPr>
        </p:nvSpPr>
        <p:spPr>
          <a:xfrm>
            <a:off x="7012000" y="1480425"/>
            <a:ext cx="17661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rgbClr val="000000"/>
                </a:solidFill>
              </a:rPr>
              <a:t>Value to be stored.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545" name="Google Shape;545;p80"/>
          <p:cNvSpPr txBox="1"/>
          <p:nvPr>
            <p:ph idx="4294967295" type="body"/>
          </p:nvPr>
        </p:nvSpPr>
        <p:spPr>
          <a:xfrm>
            <a:off x="7012001" y="4073975"/>
            <a:ext cx="17661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rgbClr val="000000"/>
                </a:solidFill>
              </a:rPr>
              <a:t>Array used for storage.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546" name="Google Shape;546;p80"/>
          <p:cNvSpPr txBox="1"/>
          <p:nvPr/>
        </p:nvSpPr>
        <p:spPr>
          <a:xfrm>
            <a:off x="3823943" y="1415036"/>
            <a:ext cx="8679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key:</a:t>
            </a:r>
            <a:endParaRPr b="0" i="0" sz="16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value:</a:t>
            </a:r>
            <a:endParaRPr sz="16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81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</a:t>
            </a:r>
            <a:endParaRPr/>
          </a:p>
        </p:txBody>
      </p:sp>
      <p:sp>
        <p:nvSpPr>
          <p:cNvPr id="552" name="Google Shape;552;p81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The first order of business is to add something to our hash set. This will involve hashing the value and adding it to the underlying array.</a:t>
            </a:r>
            <a:endParaRPr/>
          </a:p>
        </p:txBody>
      </p:sp>
      <p:sp>
        <p:nvSpPr>
          <p:cNvPr id="553" name="Google Shape;553;p8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4" name="Google Shape;554;p81"/>
          <p:cNvSpPr txBox="1"/>
          <p:nvPr>
            <p:ph idx="4" type="body"/>
          </p:nvPr>
        </p:nvSpPr>
        <p:spPr>
          <a:xfrm>
            <a:off x="370550" y="4542797"/>
            <a:ext cx="30237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need to store the key and value as we have to check the key on each access.</a:t>
            </a:r>
            <a:endParaRPr/>
          </a:p>
        </p:txBody>
      </p:sp>
      <p:sp>
        <p:nvSpPr>
          <p:cNvPr id="555" name="Google Shape;555;p81"/>
          <p:cNvSpPr txBox="1"/>
          <p:nvPr>
            <p:ph idx="2" type="body"/>
          </p:nvPr>
        </p:nvSpPr>
        <p:spPr>
          <a:xfrm>
            <a:off x="3394250" y="1261224"/>
            <a:ext cx="5626800" cy="39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Get the hash code by calling </a:t>
            </a:r>
            <a:r>
              <a:rPr lang="en" sz="14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.hashCode()</a:t>
            </a:r>
            <a:r>
              <a:rPr lang="en" sz="1400"/>
              <a:t> on the key of the key/value pair</a:t>
            </a:r>
            <a:r>
              <a:rPr lang="en" sz="1400"/>
              <a:t>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Using </a:t>
            </a:r>
            <a:r>
              <a:rPr b="1" i="1" lang="en" sz="1400">
                <a:solidFill>
                  <a:srgbClr val="FF0000"/>
                </a:solidFill>
              </a:rPr>
              <a:t>modulo</a:t>
            </a:r>
            <a:r>
              <a:rPr lang="en" sz="1400"/>
              <a:t> arithmetic, constrain the hash code to a value that will fit into the preallocated List.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Check the </a:t>
            </a:r>
            <a:r>
              <a:rPr lang="en" sz="14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elements</a:t>
            </a:r>
            <a:r>
              <a:rPr lang="en" sz="1400"/>
              <a:t> list at the determined index.</a:t>
            </a:r>
            <a:endParaRPr sz="14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If it is </a:t>
            </a:r>
            <a:r>
              <a:rPr b="1" i="1" lang="en" sz="1200">
                <a:solidFill>
                  <a:srgbClr val="FF0000"/>
                </a:solidFill>
              </a:rPr>
              <a:t>not empty</a:t>
            </a:r>
            <a:r>
              <a:rPr lang="en" sz="1200"/>
              <a:t>, check to see if the key at the stored index matches the provided key.</a:t>
            </a:r>
            <a:endParaRPr sz="1200"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If they match, update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Element</a:t>
            </a:r>
            <a:r>
              <a:rPr lang="en"/>
              <a:t> at index to store the new value.and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If they don't match,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/>
              <a:t>.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Else,  create a new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Element</a:t>
            </a:r>
            <a:r>
              <a:rPr lang="en" sz="1200"/>
              <a:t> using the key and value and </a:t>
            </a:r>
            <a:r>
              <a:rPr b="1" i="1" lang="en" sz="1200">
                <a:solidFill>
                  <a:srgbClr val="FF0000"/>
                </a:solidFill>
              </a:rPr>
              <a:t>set</a:t>
            </a:r>
            <a:r>
              <a:rPr lang="en" sz="1200"/>
              <a:t> the element to the list at the index.</a:t>
            </a:r>
            <a:endParaRPr sz="1200"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Increase the size by 1.</a:t>
            </a:r>
            <a:endParaRPr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en"/>
              <a:t>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/>
              <a:t>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400"/>
              <a:t>In main, add a few items to the map, printing out the return value. How many did you need to add before you received a return of </a:t>
            </a:r>
            <a:r>
              <a:rPr b="1" i="1" lang="en" sz="1400">
                <a:solidFill>
                  <a:srgbClr val="FF0000"/>
                </a:solidFill>
              </a:rPr>
              <a:t>false</a:t>
            </a:r>
            <a:r>
              <a:rPr lang="en" sz="1400"/>
              <a:t>?</a:t>
            </a:r>
            <a:endParaRPr sz="1400"/>
          </a:p>
        </p:txBody>
      </p:sp>
      <p:sp>
        <p:nvSpPr>
          <p:cNvPr id="556" name="Google Shape;556;p81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7.7</a:t>
            </a:r>
            <a:endParaRPr/>
          </a:p>
        </p:txBody>
      </p:sp>
      <p:pic>
        <p:nvPicPr>
          <p:cNvPr id="557" name="Google Shape;55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013" y="1418272"/>
            <a:ext cx="2818775" cy="305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82"/>
          <p:cNvSpPr txBox="1"/>
          <p:nvPr>
            <p:ph idx="1" type="body"/>
          </p:nvPr>
        </p:nvSpPr>
        <p:spPr>
          <a:xfrm>
            <a:off x="65250" y="731625"/>
            <a:ext cx="89559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One of the primary uses of a set is to check for containment. Let's add that </a:t>
            </a:r>
            <a:r>
              <a:rPr lang="en"/>
              <a:t>feature</a:t>
            </a:r>
            <a:r>
              <a:rPr lang="en"/>
              <a:t> now.</a:t>
            </a:r>
            <a:endParaRPr/>
          </a:p>
        </p:txBody>
      </p:sp>
      <p:sp>
        <p:nvSpPr>
          <p:cNvPr id="563" name="Google Shape;563;p8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4" name="Google Shape;564;p82"/>
          <p:cNvSpPr txBox="1"/>
          <p:nvPr>
            <p:ph idx="2" type="body"/>
          </p:nvPr>
        </p:nvSpPr>
        <p:spPr>
          <a:xfrm>
            <a:off x="3349125" y="1342725"/>
            <a:ext cx="5592000" cy="312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Calculate the index of the value using the same process as add.</a:t>
            </a:r>
            <a:endParaRPr sz="14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If you didn't already, now might be a good time to create a </a:t>
            </a:r>
            <a:r>
              <a:rPr lang="en" sz="1200"/>
              <a:t>separate</a:t>
            </a:r>
            <a:r>
              <a:rPr lang="en" sz="1200"/>
              <a:t> </a:t>
            </a:r>
            <a:r>
              <a:rPr b="1" i="1" lang="en" sz="1200">
                <a:solidFill>
                  <a:srgbClr val="FF0000"/>
                </a:solidFill>
              </a:rPr>
              <a:t>private</a:t>
            </a:r>
            <a:r>
              <a:rPr lang="en" sz="1200"/>
              <a:t> method for calculating an index rather than </a:t>
            </a:r>
            <a:r>
              <a:rPr lang="en" sz="1200"/>
              <a:t>rewriting</a:t>
            </a:r>
            <a:r>
              <a:rPr lang="en" sz="1200"/>
              <a:t> it for each method.</a:t>
            </a:r>
            <a:endParaRPr sz="1200"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Check to see if the object being checked is </a:t>
            </a:r>
            <a:r>
              <a:rPr lang="en" sz="1400"/>
              <a:t>equivalent</a:t>
            </a:r>
            <a:r>
              <a:rPr lang="en" sz="1400"/>
              <a:t> to the one stored at that index.</a:t>
            </a:r>
            <a:endParaRPr sz="14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Remember to use </a:t>
            </a:r>
            <a:r>
              <a:rPr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.equals</a:t>
            </a:r>
            <a:r>
              <a:rPr lang="en" sz="1200"/>
              <a:t> and not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Return 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 sz="1400"/>
              <a:t> if the are equal and 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1400"/>
              <a:t> otherwise.</a:t>
            </a:r>
            <a:endParaRPr sz="1400"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Test the contains method in main by looking for a value that is in the map and one that is not in the map.</a:t>
            </a:r>
            <a:endParaRPr sz="1400"/>
          </a:p>
        </p:txBody>
      </p:sp>
      <p:sp>
        <p:nvSpPr>
          <p:cNvPr id="565" name="Google Shape;565;p82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Contains</a:t>
            </a:r>
            <a:endParaRPr/>
          </a:p>
        </p:txBody>
      </p:sp>
      <p:sp>
        <p:nvSpPr>
          <p:cNvPr id="566" name="Google Shape;566;p82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7.8</a:t>
            </a:r>
            <a:endParaRPr/>
          </a:p>
        </p:txBody>
      </p:sp>
      <p:sp>
        <p:nvSpPr>
          <p:cNvPr id="567" name="Google Shape;567;p82"/>
          <p:cNvSpPr txBox="1"/>
          <p:nvPr>
            <p:ph idx="4" type="body"/>
          </p:nvPr>
        </p:nvSpPr>
        <p:spPr>
          <a:xfrm>
            <a:off x="268100" y="4497311"/>
            <a:ext cx="30237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 and contains are very similar, except contains </a:t>
            </a:r>
            <a:r>
              <a:rPr b="1" i="1" lang="en"/>
              <a:t>doesn't</a:t>
            </a:r>
            <a:r>
              <a:rPr lang="en"/>
              <a:t> change the map.</a:t>
            </a:r>
            <a:endParaRPr/>
          </a:p>
        </p:txBody>
      </p:sp>
      <p:pic>
        <p:nvPicPr>
          <p:cNvPr id="568" name="Google Shape;5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275" y="1515375"/>
            <a:ext cx="3214949" cy="270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83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Now that we have items in our map, it's time to add code to let us view the values when provided a key.</a:t>
            </a:r>
            <a:endParaRPr/>
          </a:p>
        </p:txBody>
      </p:sp>
      <p:sp>
        <p:nvSpPr>
          <p:cNvPr id="574" name="Google Shape;574;p8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5" name="Google Shape;575;p83"/>
          <p:cNvSpPr txBox="1"/>
          <p:nvPr>
            <p:ph idx="2" type="body"/>
          </p:nvPr>
        </p:nvSpPr>
        <p:spPr>
          <a:xfrm>
            <a:off x="3237150" y="1333500"/>
            <a:ext cx="5703900" cy="317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Use the contains method to see if the key is stored in the map.</a:t>
            </a:r>
            <a:endParaRPr sz="1400"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If it is:</a:t>
            </a:r>
            <a:endParaRPr sz="1400"/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Calculate the index.</a:t>
            </a:r>
            <a:endParaRPr sz="1300"/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Check that the index element's key and the provided key match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Remember to use </a:t>
            </a:r>
            <a:r>
              <a:rPr lang="en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equals</a:t>
            </a:r>
            <a:r>
              <a:rPr lang="en" sz="1300"/>
              <a:t> and not </a:t>
            </a: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sz="1300"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If they do, return the index element's value. </a:t>
            </a:r>
            <a:r>
              <a:rPr b="1" i="1" lang="en" sz="1300">
                <a:solidFill>
                  <a:srgbClr val="FF0000"/>
                </a:solidFill>
              </a:rPr>
              <a:t>Do not</a:t>
            </a:r>
            <a:r>
              <a:rPr lang="en" sz="1300"/>
              <a:t> return the entire element.</a:t>
            </a:r>
            <a:endParaRPr sz="1300"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In all other cases, i.e. the keys don't </a:t>
            </a:r>
            <a:r>
              <a:rPr lang="en" sz="1400"/>
              <a:t>match</a:t>
            </a:r>
            <a:r>
              <a:rPr lang="en" sz="1400"/>
              <a:t> or there is not key, return </a:t>
            </a:r>
            <a:r>
              <a:rPr lang="en" sz="14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r>
              <a:rPr lang="en" sz="1400"/>
              <a:t>. </a:t>
            </a:r>
            <a:endParaRPr sz="1400"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Test the method in main by getting a value that is in the map and one that is not in the map.</a:t>
            </a:r>
            <a:endParaRPr sz="1400"/>
          </a:p>
        </p:txBody>
      </p:sp>
      <p:sp>
        <p:nvSpPr>
          <p:cNvPr id="576" name="Google Shape;576;p83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</a:t>
            </a:r>
            <a:endParaRPr/>
          </a:p>
        </p:txBody>
      </p:sp>
      <p:sp>
        <p:nvSpPr>
          <p:cNvPr id="577" name="Google Shape;577;p83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7.9</a:t>
            </a:r>
            <a:endParaRPr/>
          </a:p>
        </p:txBody>
      </p:sp>
      <p:sp>
        <p:nvSpPr>
          <p:cNvPr id="578" name="Google Shape;578;p83"/>
          <p:cNvSpPr txBox="1"/>
          <p:nvPr>
            <p:ph idx="4" type="body"/>
          </p:nvPr>
        </p:nvSpPr>
        <p:spPr>
          <a:xfrm>
            <a:off x="141600" y="4156900"/>
            <a:ext cx="3095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Since multiple keys can wind out having the same index, we always have to check the key equals the stored one.</a:t>
            </a:r>
            <a:endParaRPr/>
          </a:p>
        </p:txBody>
      </p:sp>
      <p:pic>
        <p:nvPicPr>
          <p:cNvPr id="579" name="Google Shape;57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725" y="1399800"/>
            <a:ext cx="3214949" cy="270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4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While not used as often, sometimes it can be </a:t>
            </a:r>
            <a:r>
              <a:rPr lang="en"/>
              <a:t>useful</a:t>
            </a:r>
            <a:r>
              <a:rPr lang="en"/>
              <a:t> to remove items from a set. We'll </a:t>
            </a:r>
            <a:r>
              <a:rPr lang="en"/>
              <a:t>implement</a:t>
            </a:r>
            <a:r>
              <a:rPr lang="en"/>
              <a:t> that now.</a:t>
            </a:r>
            <a:endParaRPr/>
          </a:p>
        </p:txBody>
      </p:sp>
      <p:sp>
        <p:nvSpPr>
          <p:cNvPr id="585" name="Google Shape;585;p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6" name="Google Shape;586;p84"/>
          <p:cNvSpPr txBox="1"/>
          <p:nvPr>
            <p:ph idx="2" type="body"/>
          </p:nvPr>
        </p:nvSpPr>
        <p:spPr>
          <a:xfrm>
            <a:off x="3365050" y="1407250"/>
            <a:ext cx="5576100" cy="32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Start by checking to see if the map contains the </a:t>
            </a:r>
            <a:r>
              <a:rPr b="1" i="1" lang="en">
                <a:solidFill>
                  <a:srgbClr val="FF0000"/>
                </a:solidFill>
              </a:rPr>
              <a:t>key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If it does: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Check to make sure the stored key at index matches the key to be removed.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Use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equals</a:t>
            </a:r>
            <a:r>
              <a:rPr lang="en" sz="1200"/>
              <a:t> and not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If it the requested key: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Save the stored </a:t>
            </a:r>
            <a:r>
              <a:rPr b="1" i="1" lang="en">
                <a:solidFill>
                  <a:srgbClr val="FF0000"/>
                </a:solidFill>
              </a:rPr>
              <a:t>value</a:t>
            </a:r>
            <a:r>
              <a:rPr lang="en"/>
              <a:t> as a temporary.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S</a:t>
            </a:r>
            <a:r>
              <a:rPr lang="en" sz="1200"/>
              <a:t>et the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lement</a:t>
            </a:r>
            <a:r>
              <a:rPr lang="en" sz="1200"/>
              <a:t> at index to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D</a:t>
            </a:r>
            <a:r>
              <a:rPr lang="en" sz="1200"/>
              <a:t>ecrement the size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Return the temporary value.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If it is not the requested value or the key isn't contained: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</a:t>
            </a:r>
            <a:r>
              <a:rPr lang="en" sz="1200"/>
              <a:t>turn</a:t>
            </a:r>
            <a:r>
              <a:rPr lang="en" sz="1200"/>
              <a:t>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Test in main by removing an item in the set and verify it was removed. Then try removing an item that is not in the set.</a:t>
            </a:r>
            <a:endParaRPr/>
          </a:p>
        </p:txBody>
      </p:sp>
      <p:sp>
        <p:nvSpPr>
          <p:cNvPr id="587" name="Google Shape;587;p84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Remove</a:t>
            </a:r>
            <a:endParaRPr/>
          </a:p>
        </p:txBody>
      </p:sp>
      <p:sp>
        <p:nvSpPr>
          <p:cNvPr id="588" name="Google Shape;588;p84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7.10</a:t>
            </a:r>
            <a:endParaRPr/>
          </a:p>
        </p:txBody>
      </p:sp>
      <p:sp>
        <p:nvSpPr>
          <p:cNvPr id="589" name="Google Shape;589;p84"/>
          <p:cNvSpPr txBox="1"/>
          <p:nvPr>
            <p:ph idx="4" type="body"/>
          </p:nvPr>
        </p:nvSpPr>
        <p:spPr>
          <a:xfrm>
            <a:off x="141600" y="4313775"/>
            <a:ext cx="32151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Remove should return the </a:t>
            </a:r>
            <a:r>
              <a:rPr b="1" i="1" lang="en">
                <a:solidFill>
                  <a:srgbClr val="FF0000"/>
                </a:solidFill>
              </a:rPr>
              <a:t>value</a:t>
            </a:r>
            <a:r>
              <a:rPr lang="en"/>
              <a:t> of the item that was remove, not the item itself.</a:t>
            </a:r>
            <a:endParaRPr/>
          </a:p>
        </p:txBody>
      </p:sp>
      <p:pic>
        <p:nvPicPr>
          <p:cNvPr id="590" name="Google Shape;590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275" y="1515375"/>
            <a:ext cx="3214949" cy="270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85"/>
          <p:cNvSpPr txBox="1"/>
          <p:nvPr>
            <p:ph type="title"/>
          </p:nvPr>
        </p:nvSpPr>
        <p:spPr>
          <a:xfrm>
            <a:off x="387925" y="1199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596" name="Google Shape;596;p85"/>
          <p:cNvSpPr txBox="1"/>
          <p:nvPr>
            <p:ph idx="1" type="body"/>
          </p:nvPr>
        </p:nvSpPr>
        <p:spPr>
          <a:xfrm>
            <a:off x="4451975" y="183100"/>
            <a:ext cx="4455600" cy="48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There are an </a:t>
            </a:r>
            <a:r>
              <a:rPr b="1" i="1" lang="en">
                <a:solidFill>
                  <a:srgbClr val="FF0000"/>
                </a:solidFill>
              </a:rPr>
              <a:t>infinite number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of possible </a:t>
            </a:r>
            <a:r>
              <a:rPr b="1" i="1" lang="en">
                <a:solidFill>
                  <a:srgbClr val="FF0000"/>
                </a:solidFill>
              </a:rPr>
              <a:t>inputs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to a hash function, but there are a </a:t>
            </a:r>
            <a:r>
              <a:rPr b="1" i="1" lang="en">
                <a:solidFill>
                  <a:srgbClr val="FF0000"/>
                </a:solidFill>
              </a:rPr>
              <a:t>finite number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of possible </a:t>
            </a:r>
            <a:r>
              <a:rPr b="1" i="1" lang="en">
                <a:solidFill>
                  <a:srgbClr val="FF0000"/>
                </a:solidFill>
              </a:rPr>
              <a:t>outputs</a:t>
            </a:r>
            <a:r>
              <a:rPr lang="en"/>
              <a:t>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 range of hash code values is limited by the size of an integer in Java.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means that it is not only </a:t>
            </a:r>
            <a:r>
              <a:rPr b="1" i="1" lang="en">
                <a:solidFill>
                  <a:srgbClr val="FF0000"/>
                </a:solidFill>
              </a:rPr>
              <a:t>possible</a:t>
            </a:r>
            <a:r>
              <a:rPr lang="en"/>
              <a:t>, but </a:t>
            </a:r>
            <a:r>
              <a:rPr b="1" i="1" lang="en">
                <a:solidFill>
                  <a:srgbClr val="FF0000"/>
                </a:solidFill>
              </a:rPr>
              <a:t>likely </a:t>
            </a:r>
            <a:r>
              <a:rPr lang="en"/>
              <a:t>that two different values will have the same hash code.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is one reason why hash functions only work </a:t>
            </a:r>
            <a:r>
              <a:rPr b="1" i="1" lang="en">
                <a:solidFill>
                  <a:srgbClr val="FF0000"/>
                </a:solidFill>
              </a:rPr>
              <a:t>one-way</a:t>
            </a:r>
            <a:r>
              <a:rPr lang="en"/>
              <a:t>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array used to store hashed values is also </a:t>
            </a:r>
            <a:r>
              <a:rPr b="1" i="1" lang="en">
                <a:solidFill>
                  <a:srgbClr val="FF0000"/>
                </a:solidFill>
              </a:rPr>
              <a:t>very small</a:t>
            </a:r>
            <a:r>
              <a:rPr lang="en"/>
              <a:t> compared to the range of possible hash codes.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is to conserve memory; we don't want to allocate an array big enough to hold </a:t>
            </a:r>
            <a:r>
              <a:rPr b="1" i="1" lang="en"/>
              <a:t>billions</a:t>
            </a:r>
            <a:r>
              <a:rPr lang="en"/>
              <a:t> of elements if we don't need to.</a:t>
            </a:r>
            <a:endParaRPr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 hash code must be converted into an </a:t>
            </a:r>
            <a:r>
              <a:rPr b="1" i="1" lang="en">
                <a:solidFill>
                  <a:srgbClr val="FF0000"/>
                </a:solidFill>
              </a:rPr>
              <a:t>index </a:t>
            </a:r>
            <a:r>
              <a:rPr lang="en"/>
              <a:t>in the array, e.g. using </a:t>
            </a:r>
            <a:r>
              <a:rPr b="1" i="1" lang="en">
                <a:solidFill>
                  <a:srgbClr val="FF0000"/>
                </a:solidFill>
              </a:rPr>
              <a:t>modulo</a:t>
            </a:r>
            <a:r>
              <a:rPr lang="en"/>
              <a:t> with the size of the array.</a:t>
            </a:r>
            <a:endParaRPr/>
          </a:p>
          <a:p>
            <a:pPr indent="-3111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Together, </a:t>
            </a:r>
            <a:r>
              <a:rPr b="1" i="1" lang="en">
                <a:solidFill>
                  <a:srgbClr val="FF0000"/>
                </a:solidFill>
              </a:rPr>
              <a:t>duplicate hash codes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and </a:t>
            </a:r>
            <a:r>
              <a:rPr b="1" i="1" lang="en">
                <a:solidFill>
                  <a:srgbClr val="FF0000"/>
                </a:solidFill>
              </a:rPr>
              <a:t>a limited number of available indices</a:t>
            </a:r>
            <a:r>
              <a:rPr lang="en"/>
              <a:t> in the array mean that it is </a:t>
            </a:r>
            <a:r>
              <a:rPr b="1" i="1" lang="en">
                <a:solidFill>
                  <a:srgbClr val="FF0000"/>
                </a:solidFill>
              </a:rPr>
              <a:t>inevitable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that two values will be hashed to the same index. </a:t>
            </a:r>
            <a:endParaRPr/>
          </a:p>
        </p:txBody>
      </p:sp>
      <p:sp>
        <p:nvSpPr>
          <p:cNvPr id="597" name="Google Shape;597;p8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aphicFrame>
        <p:nvGraphicFramePr>
          <p:cNvPr id="598" name="Google Shape;598;p85"/>
          <p:cNvGraphicFramePr/>
          <p:nvPr/>
        </p:nvGraphicFramePr>
        <p:xfrm>
          <a:off x="713475" y="305253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u="none" cap="none" strike="noStrike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99" name="Google Shape;599;p85"/>
          <p:cNvSpPr txBox="1"/>
          <p:nvPr/>
        </p:nvSpPr>
        <p:spPr>
          <a:xfrm>
            <a:off x="391625" y="762658"/>
            <a:ext cx="3706500" cy="5220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When two different values are hashed into the same index in an array, this is referred to as a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collision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0" name="Google Shape;600;p85"/>
          <p:cNvGrpSpPr/>
          <p:nvPr/>
        </p:nvGrpSpPr>
        <p:grpSpPr>
          <a:xfrm>
            <a:off x="632075" y="1403583"/>
            <a:ext cx="3225600" cy="1656527"/>
            <a:chOff x="5051675" y="2013183"/>
            <a:chExt cx="3225600" cy="1656527"/>
          </a:xfrm>
        </p:grpSpPr>
        <p:sp>
          <p:nvSpPr>
            <p:cNvPr id="601" name="Google Shape;601;p85"/>
            <p:cNvSpPr txBox="1"/>
            <p:nvPr/>
          </p:nvSpPr>
          <p:spPr>
            <a:xfrm>
              <a:off x="5051675" y="2013183"/>
              <a:ext cx="711000" cy="28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CE9178"/>
                  </a:solidFill>
                  <a:latin typeface="Consolas"/>
                  <a:ea typeface="Consolas"/>
                  <a:cs typeface="Consolas"/>
                  <a:sym typeface="Consolas"/>
                </a:rPr>
                <a:t>"abc"</a:t>
              </a:r>
              <a:endParaRPr b="0" i="0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2" name="Google Shape;602;p85"/>
            <p:cNvSpPr txBox="1"/>
            <p:nvPr/>
          </p:nvSpPr>
          <p:spPr>
            <a:xfrm>
              <a:off x="5889875" y="2013183"/>
              <a:ext cx="711000" cy="28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CE9178"/>
                  </a:solidFill>
                  <a:latin typeface="Consolas"/>
                  <a:ea typeface="Consolas"/>
                  <a:cs typeface="Consolas"/>
                  <a:sym typeface="Consolas"/>
                </a:rPr>
                <a:t>"def"</a:t>
              </a:r>
              <a:endParaRPr b="0" i="0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3" name="Google Shape;603;p85"/>
            <p:cNvSpPr txBox="1"/>
            <p:nvPr/>
          </p:nvSpPr>
          <p:spPr>
            <a:xfrm>
              <a:off x="6728075" y="2013183"/>
              <a:ext cx="711000" cy="28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CE9178"/>
                  </a:solidFill>
                  <a:latin typeface="Consolas"/>
                  <a:ea typeface="Consolas"/>
                  <a:cs typeface="Consolas"/>
                  <a:sym typeface="Consolas"/>
                </a:rPr>
                <a:t>"ghi"</a:t>
              </a:r>
              <a:endParaRPr b="0" i="0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4" name="Google Shape;604;p85"/>
            <p:cNvSpPr txBox="1"/>
            <p:nvPr/>
          </p:nvSpPr>
          <p:spPr>
            <a:xfrm>
              <a:off x="7566275" y="2013183"/>
              <a:ext cx="711000" cy="28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CE9178"/>
                  </a:solidFill>
                  <a:latin typeface="Consolas"/>
                  <a:ea typeface="Consolas"/>
                  <a:cs typeface="Consolas"/>
                  <a:sym typeface="Consolas"/>
                </a:rPr>
                <a:t>"jkl"</a:t>
              </a:r>
              <a:endParaRPr b="0" i="0" sz="14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5" name="Google Shape;605;p85"/>
            <p:cNvSpPr/>
            <p:nvPr/>
          </p:nvSpPr>
          <p:spPr>
            <a:xfrm>
              <a:off x="5397875" y="2293033"/>
              <a:ext cx="612711" cy="1376650"/>
            </a:xfrm>
            <a:custGeom>
              <a:rect b="b" l="l" r="r" t="t"/>
              <a:pathLst>
                <a:path extrusionOk="0" h="55066" w="27271">
                  <a:moveTo>
                    <a:pt x="0" y="0"/>
                  </a:moveTo>
                  <a:lnTo>
                    <a:pt x="0" y="27231"/>
                  </a:lnTo>
                  <a:lnTo>
                    <a:pt x="27271" y="42976"/>
                  </a:lnTo>
                  <a:lnTo>
                    <a:pt x="27271" y="55066"/>
                  </a:lnTo>
                </a:path>
              </a:pathLst>
            </a:custGeom>
            <a:noFill/>
            <a:ln cap="flat" cmpd="sng" w="19050">
              <a:solidFill>
                <a:srgbClr val="980000"/>
              </a:solidFill>
              <a:prstDash val="solid"/>
              <a:round/>
              <a:headEnd len="sm" w="sm" type="none"/>
              <a:tailEnd len="med" w="med" type="triangle"/>
            </a:ln>
          </p:spPr>
        </p:sp>
        <p:sp>
          <p:nvSpPr>
            <p:cNvPr id="606" name="Google Shape;606;p85"/>
            <p:cNvSpPr/>
            <p:nvPr/>
          </p:nvSpPr>
          <p:spPr>
            <a:xfrm>
              <a:off x="6245050" y="2285483"/>
              <a:ext cx="1750250" cy="1369075"/>
            </a:xfrm>
            <a:custGeom>
              <a:rect b="b" l="l" r="r" t="t"/>
              <a:pathLst>
                <a:path extrusionOk="0" h="54763" w="70010">
                  <a:moveTo>
                    <a:pt x="0" y="0"/>
                  </a:moveTo>
                  <a:lnTo>
                    <a:pt x="0" y="25717"/>
                  </a:lnTo>
                  <a:lnTo>
                    <a:pt x="70010" y="44476"/>
                  </a:lnTo>
                  <a:lnTo>
                    <a:pt x="70010" y="54763"/>
                  </a:lnTo>
                </a:path>
              </a:pathLst>
            </a:custGeom>
            <a:noFill/>
            <a:ln cap="flat" cmpd="sng" w="19050">
              <a:solidFill>
                <a:srgbClr val="38761D"/>
              </a:solidFill>
              <a:prstDash val="solid"/>
              <a:round/>
              <a:headEnd len="sm" w="sm" type="none"/>
              <a:tailEnd len="med" w="med" type="triangle"/>
            </a:ln>
          </p:spPr>
        </p:sp>
        <p:sp>
          <p:nvSpPr>
            <p:cNvPr id="607" name="Google Shape;607;p85"/>
            <p:cNvSpPr/>
            <p:nvPr/>
          </p:nvSpPr>
          <p:spPr>
            <a:xfrm>
              <a:off x="5334446" y="2285475"/>
              <a:ext cx="1750229" cy="1384200"/>
            </a:xfrm>
            <a:custGeom>
              <a:rect b="b" l="l" r="r" t="t"/>
              <a:pathLst>
                <a:path extrusionOk="0" h="55368" w="26660">
                  <a:moveTo>
                    <a:pt x="26660" y="0"/>
                  </a:moveTo>
                  <a:lnTo>
                    <a:pt x="26660" y="23902"/>
                  </a:lnTo>
                  <a:lnTo>
                    <a:pt x="0" y="39294"/>
                  </a:lnTo>
                  <a:lnTo>
                    <a:pt x="0" y="55368"/>
                  </a:lnTo>
                </a:path>
              </a:pathLst>
            </a:custGeom>
            <a:noFill/>
            <a:ln cap="flat" cmpd="sng" w="19050">
              <a:solidFill>
                <a:srgbClr val="A64D79"/>
              </a:solidFill>
              <a:prstDash val="solid"/>
              <a:round/>
              <a:headEnd len="sm" w="sm" type="none"/>
              <a:tailEnd len="med" w="med" type="triangle"/>
            </a:ln>
          </p:spPr>
        </p:sp>
        <p:sp>
          <p:nvSpPr>
            <p:cNvPr id="608" name="Google Shape;608;p85"/>
            <p:cNvSpPr/>
            <p:nvPr/>
          </p:nvSpPr>
          <p:spPr>
            <a:xfrm>
              <a:off x="6174075" y="2277908"/>
              <a:ext cx="1750323" cy="1391802"/>
            </a:xfrm>
            <a:custGeom>
              <a:rect b="b" l="l" r="r" t="t"/>
              <a:pathLst>
                <a:path extrusionOk="0" h="54763" w="102568">
                  <a:moveTo>
                    <a:pt x="102568" y="0"/>
                  </a:moveTo>
                  <a:lnTo>
                    <a:pt x="102568" y="27836"/>
                  </a:lnTo>
                  <a:lnTo>
                    <a:pt x="0" y="44476"/>
                  </a:lnTo>
                  <a:lnTo>
                    <a:pt x="0" y="54763"/>
                  </a:lnTo>
                </a:path>
              </a:pathLst>
            </a:custGeom>
            <a:noFill/>
            <a:ln cap="flat" cmpd="sng" w="19050">
              <a:solidFill>
                <a:srgbClr val="FF9900"/>
              </a:solidFill>
              <a:prstDash val="solid"/>
              <a:round/>
              <a:headEnd len="sm" w="sm" type="none"/>
              <a:tailEnd len="med" w="med" type="triangle"/>
            </a:ln>
          </p:spPr>
        </p:sp>
        <p:sp>
          <p:nvSpPr>
            <p:cNvPr id="609" name="Google Shape;609;p85"/>
            <p:cNvSpPr/>
            <p:nvPr/>
          </p:nvSpPr>
          <p:spPr>
            <a:xfrm>
              <a:off x="5133125" y="2570036"/>
              <a:ext cx="3062700" cy="393600"/>
            </a:xfrm>
            <a:prstGeom prst="rect">
              <a:avLst/>
            </a:prstGeom>
            <a:solidFill>
              <a:srgbClr val="4A86E8"/>
            </a:solidFill>
            <a:ln cap="flat" cmpd="sng" w="19050">
              <a:solidFill>
                <a:srgbClr val="0000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Hash Function</a:t>
              </a:r>
              <a:endPara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0" name="Google Shape;610;p85"/>
          <p:cNvSpPr txBox="1"/>
          <p:nvPr/>
        </p:nvSpPr>
        <p:spPr>
          <a:xfrm>
            <a:off x="391625" y="3833500"/>
            <a:ext cx="3706500" cy="5220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When this happens, it is not acceptable to simply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throw away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one of the values.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85"/>
          <p:cNvSpPr/>
          <p:nvPr/>
        </p:nvSpPr>
        <p:spPr>
          <a:xfrm>
            <a:off x="1314875" y="2826075"/>
            <a:ext cx="711000" cy="919500"/>
          </a:xfrm>
          <a:prstGeom prst="ellipse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85"/>
          <p:cNvSpPr txBox="1"/>
          <p:nvPr/>
        </p:nvSpPr>
        <p:spPr>
          <a:xfrm>
            <a:off x="391625" y="4453528"/>
            <a:ext cx="3706500" cy="5220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collision</a:t>
            </a:r>
            <a:r>
              <a:rPr b="0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be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resolved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some way, and this has a negative impact on performance.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6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8" name="Google Shape;618;p86"/>
          <p:cNvSpPr txBox="1"/>
          <p:nvPr>
            <p:ph type="title"/>
          </p:nvPr>
        </p:nvSpPr>
        <p:spPr>
          <a:xfrm>
            <a:off x="5036125" y="1199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600"/>
              <a:t>Hash Functions</a:t>
            </a:r>
            <a:endParaRPr sz="2600"/>
          </a:p>
        </p:txBody>
      </p:sp>
      <p:sp>
        <p:nvSpPr>
          <p:cNvPr id="619" name="Google Shape;619;p86"/>
          <p:cNvSpPr txBox="1"/>
          <p:nvPr>
            <p:ph idx="1" type="body"/>
          </p:nvPr>
        </p:nvSpPr>
        <p:spPr>
          <a:xfrm>
            <a:off x="187500" y="119925"/>
            <a:ext cx="4482900" cy="4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 good hash function has the following characteristics.</a:t>
            </a:r>
            <a:endParaRPr sz="14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It is </a:t>
            </a:r>
            <a:r>
              <a:rPr b="1" i="1" lang="en" sz="1200">
                <a:solidFill>
                  <a:srgbClr val="FF0000"/>
                </a:solidFill>
              </a:rPr>
              <a:t>fast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meaning that it runs in </a:t>
            </a:r>
            <a:r>
              <a:rPr b="1" i="1" lang="en" sz="1200">
                <a:solidFill>
                  <a:srgbClr val="FF0000"/>
                </a:solidFill>
              </a:rPr>
              <a:t>constant time</a:t>
            </a:r>
            <a:r>
              <a:rPr lang="en" sz="1200"/>
              <a:t> (or close to it relative to n).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It is </a:t>
            </a:r>
            <a:r>
              <a:rPr b="1" i="1" lang="en" sz="1200">
                <a:solidFill>
                  <a:srgbClr val="FF0000"/>
                </a:solidFill>
              </a:rPr>
              <a:t>consistent</a:t>
            </a:r>
            <a:r>
              <a:rPr lang="en" sz="1200"/>
              <a:t>. Because the hash function is used to </a:t>
            </a:r>
            <a:r>
              <a:rPr b="1" i="1" lang="en" sz="1200">
                <a:solidFill>
                  <a:srgbClr val="FF0000"/>
                </a:solidFill>
              </a:rPr>
              <a:t>store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and </a:t>
            </a:r>
            <a:r>
              <a:rPr b="1" i="1" lang="en" sz="1200">
                <a:solidFill>
                  <a:srgbClr val="FF0000"/>
                </a:solidFill>
              </a:rPr>
              <a:t>retrieve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values it must </a:t>
            </a:r>
            <a:r>
              <a:rPr b="1" i="1" lang="en" sz="1200">
                <a:solidFill>
                  <a:srgbClr val="FF0000"/>
                </a:solidFill>
              </a:rPr>
              <a:t>always </a:t>
            </a:r>
            <a:r>
              <a:rPr lang="en" sz="1200"/>
              <a:t>return the same hash code for the same input.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It </a:t>
            </a:r>
            <a:r>
              <a:rPr b="1" i="1" lang="en" sz="1200">
                <a:solidFill>
                  <a:srgbClr val="FF0000"/>
                </a:solidFill>
              </a:rPr>
              <a:t>minimizes collisions</a:t>
            </a:r>
            <a:r>
              <a:rPr lang="en" sz="1200"/>
              <a:t> by ensuring that, as much as possible, two different input values will result in two different hash codes.</a:t>
            </a:r>
            <a:endParaRPr sz="1200"/>
          </a:p>
          <a:p>
            <a:pPr indent="-3175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 </a:t>
            </a:r>
            <a:r>
              <a:rPr b="1" i="1" lang="en" sz="1400">
                <a:solidFill>
                  <a:srgbClr val="FF0000"/>
                </a:solidFill>
              </a:rPr>
              <a:t>bad</a:t>
            </a:r>
            <a:r>
              <a:rPr lang="en" sz="1400">
                <a:solidFill>
                  <a:srgbClr val="FF0000"/>
                </a:solidFill>
              </a:rPr>
              <a:t> </a:t>
            </a:r>
            <a:r>
              <a:rPr lang="en" sz="1400"/>
              <a:t>hash function will break one or more of these rules, which will slow down the performance of a hashing data structure.</a:t>
            </a:r>
            <a:endParaRPr sz="14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We would like the basic operations like </a:t>
            </a:r>
            <a:r>
              <a:rPr i="1" lang="en" sz="1200"/>
              <a:t>adding</a:t>
            </a:r>
            <a:r>
              <a:rPr lang="en" sz="1200"/>
              <a:t> new elements to a set or a dictionary to run in constant time.</a:t>
            </a:r>
            <a:endParaRPr sz="1200"/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bad hash function can slow the data structure down to the point where it is no faster than using a list or an array.</a:t>
            </a:r>
            <a:endParaRPr sz="1200"/>
          </a:p>
        </p:txBody>
      </p:sp>
      <p:sp>
        <p:nvSpPr>
          <p:cNvPr id="620" name="Google Shape;620;p86"/>
          <p:cNvSpPr txBox="1"/>
          <p:nvPr/>
        </p:nvSpPr>
        <p:spPr>
          <a:xfrm>
            <a:off x="4959800" y="758025"/>
            <a:ext cx="4048200" cy="5295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 are two basic ways to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resolve</a:t>
            </a:r>
            <a:r>
              <a:rPr b="1" i="1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collisions in a hashing data structure: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open addressing</a:t>
            </a:r>
            <a:r>
              <a:rPr b="0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chaining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21" name="Google Shape;621;p86"/>
          <p:cNvGraphicFramePr/>
          <p:nvPr/>
        </p:nvGraphicFramePr>
        <p:xfrm>
          <a:off x="5447525" y="2582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622" name="Google Shape;622;p86"/>
          <p:cNvSpPr txBox="1"/>
          <p:nvPr/>
        </p:nvSpPr>
        <p:spPr>
          <a:xfrm>
            <a:off x="4959800" y="1422624"/>
            <a:ext cx="4048200" cy="6843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When a collision occurs while using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open addressing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the data structure will search for the next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open address</a:t>
            </a:r>
            <a:r>
              <a:rPr b="0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which to store the value.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86"/>
          <p:cNvSpPr txBox="1"/>
          <p:nvPr/>
        </p:nvSpPr>
        <p:spPr>
          <a:xfrm>
            <a:off x="4959800" y="3251425"/>
            <a:ext cx="4048200" cy="5295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When a collision occurs while using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chaining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the elements are stored in a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list</a:t>
            </a:r>
            <a:r>
              <a:rPr b="0" i="0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each index.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4" name="Google Shape;624;p86"/>
          <p:cNvCxnSpPr/>
          <p:nvPr/>
        </p:nvCxnSpPr>
        <p:spPr>
          <a:xfrm>
            <a:off x="5772300" y="2225550"/>
            <a:ext cx="247200" cy="353400"/>
          </a:xfrm>
          <a:prstGeom prst="straightConnector1">
            <a:avLst/>
          </a:prstGeom>
          <a:noFill/>
          <a:ln cap="flat" cmpd="sng" w="19050">
            <a:solidFill>
              <a:srgbClr val="EA99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25" name="Google Shape;625;p86"/>
          <p:cNvSpPr/>
          <p:nvPr/>
        </p:nvSpPr>
        <p:spPr>
          <a:xfrm>
            <a:off x="6047850" y="2359800"/>
            <a:ext cx="339125" cy="219025"/>
          </a:xfrm>
          <a:custGeom>
            <a:rect b="b" l="l" r="r" t="t"/>
            <a:pathLst>
              <a:path extrusionOk="0" h="8761" w="13565">
                <a:moveTo>
                  <a:pt x="0" y="8761"/>
                </a:moveTo>
                <a:cubicBezTo>
                  <a:pt x="1649" y="7301"/>
                  <a:pt x="7630" y="0"/>
                  <a:pt x="9891" y="0"/>
                </a:cubicBezTo>
                <a:cubicBezTo>
                  <a:pt x="12152" y="0"/>
                  <a:pt x="12953" y="7301"/>
                  <a:pt x="13565" y="8761"/>
                </a:cubicBezTo>
              </a:path>
            </a:pathLst>
          </a:custGeom>
          <a:noFill/>
          <a:ln cap="flat" cmpd="sng" w="19050">
            <a:solidFill>
              <a:srgbClr val="EA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86"/>
          <p:cNvSpPr/>
          <p:nvPr/>
        </p:nvSpPr>
        <p:spPr>
          <a:xfrm>
            <a:off x="6428850" y="2359800"/>
            <a:ext cx="339125" cy="219025"/>
          </a:xfrm>
          <a:custGeom>
            <a:rect b="b" l="l" r="r" t="t"/>
            <a:pathLst>
              <a:path extrusionOk="0" h="8761" w="13565">
                <a:moveTo>
                  <a:pt x="0" y="8761"/>
                </a:moveTo>
                <a:cubicBezTo>
                  <a:pt x="1649" y="7301"/>
                  <a:pt x="7630" y="0"/>
                  <a:pt x="9891" y="0"/>
                </a:cubicBezTo>
                <a:cubicBezTo>
                  <a:pt x="12152" y="0"/>
                  <a:pt x="12953" y="7301"/>
                  <a:pt x="13565" y="8761"/>
                </a:cubicBezTo>
              </a:path>
            </a:pathLst>
          </a:custGeom>
          <a:noFill/>
          <a:ln cap="flat" cmpd="sng" w="19050">
            <a:solidFill>
              <a:srgbClr val="EA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86"/>
          <p:cNvSpPr/>
          <p:nvPr/>
        </p:nvSpPr>
        <p:spPr>
          <a:xfrm>
            <a:off x="6809850" y="2359800"/>
            <a:ext cx="339125" cy="219025"/>
          </a:xfrm>
          <a:custGeom>
            <a:rect b="b" l="l" r="r" t="t"/>
            <a:pathLst>
              <a:path extrusionOk="0" h="8761" w="13565">
                <a:moveTo>
                  <a:pt x="0" y="8761"/>
                </a:moveTo>
                <a:cubicBezTo>
                  <a:pt x="1649" y="7301"/>
                  <a:pt x="7630" y="0"/>
                  <a:pt x="9891" y="0"/>
                </a:cubicBezTo>
                <a:cubicBezTo>
                  <a:pt x="12152" y="0"/>
                  <a:pt x="12953" y="7301"/>
                  <a:pt x="13565" y="8761"/>
                </a:cubicBezTo>
              </a:path>
            </a:pathLst>
          </a:custGeom>
          <a:noFill/>
          <a:ln cap="flat" cmpd="sng" w="19050">
            <a:solidFill>
              <a:srgbClr val="EA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86"/>
          <p:cNvSpPr txBox="1"/>
          <p:nvPr/>
        </p:nvSpPr>
        <p:spPr>
          <a:xfrm>
            <a:off x="4954825" y="3892925"/>
            <a:ext cx="4048200" cy="9396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both cases, adding or finding an element requires a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linear search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over some number of elements. The more often collisions occur, the more the time complexity approaches </a:t>
            </a:r>
            <a:r>
              <a:rPr b="1" i="1" lang="en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O(n)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instead of </a:t>
            </a:r>
            <a:r>
              <a:rPr b="1" i="1" lang="en" sz="1200">
                <a:solidFill>
                  <a:srgbClr val="FF0000"/>
                </a:solidFill>
              </a:rPr>
              <a:t>O(1)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8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4" name="Google Shape;634;p87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Chaining in Detail</a:t>
            </a:r>
            <a:endParaRPr/>
          </a:p>
        </p:txBody>
      </p:sp>
      <p:graphicFrame>
        <p:nvGraphicFramePr>
          <p:cNvPr id="635" name="Google Shape;635;p87"/>
          <p:cNvGraphicFramePr/>
          <p:nvPr/>
        </p:nvGraphicFramePr>
        <p:xfrm>
          <a:off x="2547812" y="211965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0" marL="0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0" marL="0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0" marL="0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cxnSp>
        <p:nvCxnSpPr>
          <p:cNvPr id="636" name="Google Shape;636;p87"/>
          <p:cNvCxnSpPr/>
          <p:nvPr/>
        </p:nvCxnSpPr>
        <p:spPr>
          <a:xfrm>
            <a:off x="2860612" y="1756750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37" name="Google Shape;637;p87"/>
          <p:cNvSpPr txBox="1"/>
          <p:nvPr/>
        </p:nvSpPr>
        <p:spPr>
          <a:xfrm>
            <a:off x="2455637" y="1399425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"a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":1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638" name="Google Shape;638;p87"/>
          <p:cNvGraphicFramePr/>
          <p:nvPr/>
        </p:nvGraphicFramePr>
        <p:xfrm>
          <a:off x="2534162" y="380300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"b":2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</a:tr>
            </a:tbl>
          </a:graphicData>
        </a:graphic>
      </p:graphicFrame>
      <p:cxnSp>
        <p:nvCxnSpPr>
          <p:cNvPr id="639" name="Google Shape;639;p87"/>
          <p:cNvCxnSpPr/>
          <p:nvPr/>
        </p:nvCxnSpPr>
        <p:spPr>
          <a:xfrm>
            <a:off x="3674937" y="3434300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40" name="Google Shape;640;p87"/>
          <p:cNvSpPr txBox="1"/>
          <p:nvPr/>
        </p:nvSpPr>
        <p:spPr>
          <a:xfrm>
            <a:off x="3269962" y="3076975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b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":2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641" name="Google Shape;641;p87"/>
          <p:cNvGraphicFramePr/>
          <p:nvPr/>
        </p:nvGraphicFramePr>
        <p:xfrm>
          <a:off x="4663598" y="21193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"b":2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"c":3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642" name="Google Shape;642;p87"/>
          <p:cNvCxnSpPr/>
          <p:nvPr/>
        </p:nvCxnSpPr>
        <p:spPr>
          <a:xfrm>
            <a:off x="5011647" y="1750630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43" name="Google Shape;643;p87"/>
          <p:cNvSpPr txBox="1"/>
          <p:nvPr/>
        </p:nvSpPr>
        <p:spPr>
          <a:xfrm>
            <a:off x="4606672" y="1393305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c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":3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644" name="Google Shape;644;p87"/>
          <p:cNvGraphicFramePr/>
          <p:nvPr/>
        </p:nvGraphicFramePr>
        <p:xfrm>
          <a:off x="4666391" y="38054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"d":4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"b":2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"c":3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645" name="Google Shape;645;p87"/>
          <p:cNvCxnSpPr/>
          <p:nvPr/>
        </p:nvCxnSpPr>
        <p:spPr>
          <a:xfrm>
            <a:off x="5392367" y="3436740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46" name="Google Shape;646;p87"/>
          <p:cNvSpPr txBox="1"/>
          <p:nvPr/>
        </p:nvSpPr>
        <p:spPr>
          <a:xfrm>
            <a:off x="4987392" y="3079415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":4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647" name="Google Shape;647;p87"/>
          <p:cNvGraphicFramePr/>
          <p:nvPr/>
        </p:nvGraphicFramePr>
        <p:xfrm>
          <a:off x="6823544" y="212545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"d":4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"b":2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"c":3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"e":5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648" name="Google Shape;648;p87"/>
          <p:cNvCxnSpPr/>
          <p:nvPr/>
        </p:nvCxnSpPr>
        <p:spPr>
          <a:xfrm>
            <a:off x="7549521" y="1756743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49" name="Google Shape;649;p87"/>
          <p:cNvSpPr txBox="1"/>
          <p:nvPr/>
        </p:nvSpPr>
        <p:spPr>
          <a:xfrm>
            <a:off x="7144546" y="1399418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":5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650" name="Google Shape;650;p87"/>
          <p:cNvGraphicFramePr/>
          <p:nvPr/>
        </p:nvGraphicFramePr>
        <p:xfrm>
          <a:off x="6817937" y="380544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"d":4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"b":2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"c":3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"e":5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"f":6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651" name="Google Shape;651;p87"/>
          <p:cNvCxnSpPr/>
          <p:nvPr/>
        </p:nvCxnSpPr>
        <p:spPr>
          <a:xfrm>
            <a:off x="7165986" y="3436733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52" name="Google Shape;652;p87"/>
          <p:cNvSpPr txBox="1"/>
          <p:nvPr/>
        </p:nvSpPr>
        <p:spPr>
          <a:xfrm>
            <a:off x="6761011" y="3079408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":6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653" name="Google Shape;653;p87"/>
          <p:cNvGrpSpPr/>
          <p:nvPr/>
        </p:nvGrpSpPr>
        <p:grpSpPr>
          <a:xfrm>
            <a:off x="2548427" y="2111022"/>
            <a:ext cx="1549132" cy="412132"/>
            <a:chOff x="621889" y="2074922"/>
            <a:chExt cx="1549132" cy="412132"/>
          </a:xfrm>
        </p:grpSpPr>
        <p:sp>
          <p:nvSpPr>
            <p:cNvPr id="654" name="Google Shape;654;p87"/>
            <p:cNvSpPr txBox="1"/>
            <p:nvPr/>
          </p:nvSpPr>
          <p:spPr>
            <a:xfrm rot="5400000">
              <a:off x="1001119" y="2082223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87"/>
            <p:cNvSpPr txBox="1"/>
            <p:nvPr/>
          </p:nvSpPr>
          <p:spPr>
            <a:xfrm rot="5400000">
              <a:off x="618889" y="2077922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87"/>
            <p:cNvSpPr txBox="1"/>
            <p:nvPr/>
          </p:nvSpPr>
          <p:spPr>
            <a:xfrm rot="5400000">
              <a:off x="1388878" y="2082838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87"/>
            <p:cNvSpPr txBox="1"/>
            <p:nvPr/>
          </p:nvSpPr>
          <p:spPr>
            <a:xfrm rot="5400000">
              <a:off x="1771722" y="2087754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58" name="Google Shape;658;p87"/>
          <p:cNvSpPr txBox="1"/>
          <p:nvPr/>
        </p:nvSpPr>
        <p:spPr>
          <a:xfrm rot="5400000">
            <a:off x="2922954" y="3801701"/>
            <a:ext cx="4023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[ 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87"/>
          <p:cNvSpPr txBox="1"/>
          <p:nvPr/>
        </p:nvSpPr>
        <p:spPr>
          <a:xfrm rot="5400000">
            <a:off x="2540725" y="3797399"/>
            <a:ext cx="4023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[ 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p87"/>
          <p:cNvSpPr txBox="1"/>
          <p:nvPr/>
        </p:nvSpPr>
        <p:spPr>
          <a:xfrm rot="5400000">
            <a:off x="3310713" y="3802315"/>
            <a:ext cx="4023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[ 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1" name="Google Shape;661;p87"/>
          <p:cNvSpPr txBox="1"/>
          <p:nvPr/>
        </p:nvSpPr>
        <p:spPr>
          <a:xfrm rot="5400000">
            <a:off x="3693557" y="3807231"/>
            <a:ext cx="4023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[ 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62" name="Google Shape;662;p87"/>
          <p:cNvGrpSpPr/>
          <p:nvPr/>
        </p:nvGrpSpPr>
        <p:grpSpPr>
          <a:xfrm>
            <a:off x="4673420" y="2109818"/>
            <a:ext cx="1549132" cy="802312"/>
            <a:chOff x="621889" y="2074922"/>
            <a:chExt cx="1549132" cy="802312"/>
          </a:xfrm>
        </p:grpSpPr>
        <p:sp>
          <p:nvSpPr>
            <p:cNvPr id="663" name="Google Shape;663;p87"/>
            <p:cNvSpPr txBox="1"/>
            <p:nvPr/>
          </p:nvSpPr>
          <p:spPr>
            <a:xfrm rot="5400000">
              <a:off x="803268" y="2280084"/>
              <a:ext cx="7980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87"/>
            <p:cNvSpPr txBox="1"/>
            <p:nvPr/>
          </p:nvSpPr>
          <p:spPr>
            <a:xfrm rot="5400000">
              <a:off x="618889" y="2077922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87"/>
            <p:cNvSpPr txBox="1"/>
            <p:nvPr/>
          </p:nvSpPr>
          <p:spPr>
            <a:xfrm rot="5400000">
              <a:off x="1388878" y="2082838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87"/>
            <p:cNvSpPr txBox="1"/>
            <p:nvPr/>
          </p:nvSpPr>
          <p:spPr>
            <a:xfrm rot="5400000">
              <a:off x="1771722" y="2087754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87"/>
          <p:cNvGrpSpPr/>
          <p:nvPr/>
        </p:nvGrpSpPr>
        <p:grpSpPr>
          <a:xfrm>
            <a:off x="4679510" y="3798483"/>
            <a:ext cx="1549132" cy="802312"/>
            <a:chOff x="621889" y="2074922"/>
            <a:chExt cx="1549132" cy="802312"/>
          </a:xfrm>
        </p:grpSpPr>
        <p:sp>
          <p:nvSpPr>
            <p:cNvPr id="668" name="Google Shape;668;p87"/>
            <p:cNvSpPr txBox="1"/>
            <p:nvPr/>
          </p:nvSpPr>
          <p:spPr>
            <a:xfrm rot="5400000">
              <a:off x="803268" y="2280084"/>
              <a:ext cx="7980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87"/>
            <p:cNvSpPr txBox="1"/>
            <p:nvPr/>
          </p:nvSpPr>
          <p:spPr>
            <a:xfrm rot="5400000">
              <a:off x="618889" y="2077922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87"/>
            <p:cNvSpPr txBox="1"/>
            <p:nvPr/>
          </p:nvSpPr>
          <p:spPr>
            <a:xfrm rot="5400000">
              <a:off x="1388878" y="2082838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87"/>
            <p:cNvSpPr txBox="1"/>
            <p:nvPr/>
          </p:nvSpPr>
          <p:spPr>
            <a:xfrm rot="5400000">
              <a:off x="1771722" y="2087754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2" name="Google Shape;672;p87"/>
          <p:cNvGrpSpPr/>
          <p:nvPr/>
        </p:nvGrpSpPr>
        <p:grpSpPr>
          <a:xfrm>
            <a:off x="6836668" y="2123352"/>
            <a:ext cx="1549132" cy="802312"/>
            <a:chOff x="621889" y="2074922"/>
            <a:chExt cx="1549132" cy="802312"/>
          </a:xfrm>
        </p:grpSpPr>
        <p:sp>
          <p:nvSpPr>
            <p:cNvPr id="673" name="Google Shape;673;p87"/>
            <p:cNvSpPr txBox="1"/>
            <p:nvPr/>
          </p:nvSpPr>
          <p:spPr>
            <a:xfrm rot="5400000">
              <a:off x="803268" y="2280084"/>
              <a:ext cx="7980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4" name="Google Shape;674;p87"/>
            <p:cNvSpPr txBox="1"/>
            <p:nvPr/>
          </p:nvSpPr>
          <p:spPr>
            <a:xfrm rot="5400000">
              <a:off x="618889" y="2077922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5" name="Google Shape;675;p87"/>
            <p:cNvSpPr txBox="1"/>
            <p:nvPr/>
          </p:nvSpPr>
          <p:spPr>
            <a:xfrm rot="5400000">
              <a:off x="1191616" y="2280112"/>
              <a:ext cx="7968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87"/>
            <p:cNvSpPr txBox="1"/>
            <p:nvPr/>
          </p:nvSpPr>
          <p:spPr>
            <a:xfrm rot="5400000">
              <a:off x="1771722" y="2087754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7" name="Google Shape;677;p87"/>
          <p:cNvGrpSpPr/>
          <p:nvPr/>
        </p:nvGrpSpPr>
        <p:grpSpPr>
          <a:xfrm>
            <a:off x="6821832" y="3805898"/>
            <a:ext cx="1549132" cy="1193199"/>
            <a:chOff x="621889" y="2074922"/>
            <a:chExt cx="1549132" cy="1193199"/>
          </a:xfrm>
        </p:grpSpPr>
        <p:sp>
          <p:nvSpPr>
            <p:cNvPr id="678" name="Google Shape;678;p87"/>
            <p:cNvSpPr txBox="1"/>
            <p:nvPr/>
          </p:nvSpPr>
          <p:spPr>
            <a:xfrm rot="5400000">
              <a:off x="607820" y="2475521"/>
              <a:ext cx="11889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87"/>
            <p:cNvSpPr txBox="1"/>
            <p:nvPr/>
          </p:nvSpPr>
          <p:spPr>
            <a:xfrm rot="5400000">
              <a:off x="618889" y="2077922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87"/>
            <p:cNvSpPr txBox="1"/>
            <p:nvPr/>
          </p:nvSpPr>
          <p:spPr>
            <a:xfrm rot="5400000">
              <a:off x="1191616" y="2280112"/>
              <a:ext cx="7968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1" name="Google Shape;681;p87"/>
            <p:cNvSpPr txBox="1"/>
            <p:nvPr/>
          </p:nvSpPr>
          <p:spPr>
            <a:xfrm rot="5400000">
              <a:off x="1771722" y="2087754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82" name="Google Shape;682;p87"/>
          <p:cNvSpPr txBox="1"/>
          <p:nvPr>
            <p:ph idx="4294967295" type="body"/>
          </p:nvPr>
        </p:nvSpPr>
        <p:spPr>
          <a:xfrm>
            <a:off x="177700" y="1587463"/>
            <a:ext cx="20229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i="1" lang="en" sz="1200">
                <a:solidFill>
                  <a:srgbClr val="FF0000"/>
                </a:solidFill>
              </a:rPr>
              <a:t>Each </a:t>
            </a:r>
            <a:r>
              <a:rPr b="1" i="1" lang="en" sz="1200">
                <a:solidFill>
                  <a:srgbClr val="FF0000"/>
                </a:solidFill>
              </a:rPr>
              <a:t>element</a:t>
            </a:r>
            <a:r>
              <a:rPr b="1" i="1" lang="en" sz="1200">
                <a:solidFill>
                  <a:srgbClr val="FF0000"/>
                </a:solidFill>
              </a:rPr>
              <a:t> </a:t>
            </a:r>
            <a:r>
              <a:rPr lang="en" sz="1200">
                <a:solidFill>
                  <a:srgbClr val="000000"/>
                </a:solidFill>
              </a:rPr>
              <a:t>in the array is a </a:t>
            </a:r>
            <a:r>
              <a:rPr b="1" i="1" lang="en" sz="1200">
                <a:solidFill>
                  <a:srgbClr val="FF0000"/>
                </a:solidFill>
              </a:rPr>
              <a:t>list</a:t>
            </a:r>
            <a:endParaRPr b="1" i="1" sz="1200">
              <a:solidFill>
                <a:srgbClr val="FF0000"/>
              </a:solidFill>
            </a:endParaRPr>
          </a:p>
        </p:txBody>
      </p:sp>
      <p:sp>
        <p:nvSpPr>
          <p:cNvPr id="683" name="Google Shape;683;p87"/>
          <p:cNvSpPr txBox="1"/>
          <p:nvPr>
            <p:ph idx="4294967295" type="body"/>
          </p:nvPr>
        </p:nvSpPr>
        <p:spPr>
          <a:xfrm>
            <a:off x="175200" y="3242663"/>
            <a:ext cx="2022900" cy="6717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chemeClr val="dk1"/>
                </a:solidFill>
              </a:rPr>
              <a:t>When a </a:t>
            </a:r>
            <a:r>
              <a:rPr b="1" i="1" lang="en" sz="1200">
                <a:solidFill>
                  <a:srgbClr val="FF0000"/>
                </a:solidFill>
              </a:rPr>
              <a:t>collision</a:t>
            </a:r>
            <a:r>
              <a:rPr lang="en" sz="1200">
                <a:solidFill>
                  <a:schemeClr val="dk1"/>
                </a:solidFill>
              </a:rPr>
              <a:t> occurs, </a:t>
            </a:r>
            <a:r>
              <a:rPr b="1" i="1" lang="en" sz="1200">
                <a:solidFill>
                  <a:srgbClr val="FF0000"/>
                </a:solidFill>
              </a:rPr>
              <a:t>append </a:t>
            </a:r>
            <a:r>
              <a:rPr lang="en" sz="1200">
                <a:solidFill>
                  <a:schemeClr val="dk1"/>
                </a:solidFill>
              </a:rPr>
              <a:t>the item to the </a:t>
            </a:r>
            <a:r>
              <a:rPr b="1" i="1" lang="en" sz="1200">
                <a:solidFill>
                  <a:srgbClr val="FF0000"/>
                </a:solidFill>
              </a:rPr>
              <a:t>list</a:t>
            </a:r>
            <a:r>
              <a:rPr lang="en" sz="1200">
                <a:solidFill>
                  <a:srgbClr val="000000"/>
                </a:solidFill>
              </a:rPr>
              <a:t> at the </a:t>
            </a:r>
            <a:r>
              <a:rPr b="1" i="1" lang="en" sz="1200">
                <a:solidFill>
                  <a:srgbClr val="FF0000"/>
                </a:solidFill>
              </a:rPr>
              <a:t>hashed index</a:t>
            </a:r>
            <a:r>
              <a:rPr lang="en" sz="1200">
                <a:solidFill>
                  <a:srgbClr val="000000"/>
                </a:solidFill>
              </a:rPr>
              <a:t>.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684" name="Google Shape;684;p87"/>
          <p:cNvSpPr txBox="1"/>
          <p:nvPr>
            <p:ph idx="4294967295" type="body"/>
          </p:nvPr>
        </p:nvSpPr>
        <p:spPr>
          <a:xfrm>
            <a:off x="177700" y="2372613"/>
            <a:ext cx="2022900" cy="538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rgbClr val="000000"/>
                </a:solidFill>
              </a:rPr>
              <a:t>New items are added to the list at the </a:t>
            </a:r>
            <a:r>
              <a:rPr b="1" i="1" lang="en" sz="1200">
                <a:solidFill>
                  <a:srgbClr val="FF0000"/>
                </a:solidFill>
              </a:rPr>
              <a:t>hashed index </a:t>
            </a:r>
            <a:endParaRPr b="1" i="1" sz="1200">
              <a:solidFill>
                <a:srgbClr val="FF0000"/>
              </a:solidFill>
            </a:endParaRPr>
          </a:p>
        </p:txBody>
      </p:sp>
      <p:sp>
        <p:nvSpPr>
          <p:cNvPr id="685" name="Google Shape;685;p87"/>
          <p:cNvSpPr txBox="1"/>
          <p:nvPr>
            <p:ph idx="4294967295" type="body"/>
          </p:nvPr>
        </p:nvSpPr>
        <p:spPr>
          <a:xfrm>
            <a:off x="177700" y="4245613"/>
            <a:ext cx="2022900" cy="6717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>
                <a:solidFill>
                  <a:schemeClr val="dk1"/>
                </a:solidFill>
              </a:rPr>
              <a:t>This eliminates </a:t>
            </a:r>
            <a:r>
              <a:rPr b="1" i="1" lang="en" sz="1200">
                <a:solidFill>
                  <a:srgbClr val="FF0000"/>
                </a:solidFill>
              </a:rPr>
              <a:t>clustering</a:t>
            </a:r>
            <a:r>
              <a:rPr lang="en" sz="1200">
                <a:solidFill>
                  <a:schemeClr val="dk1"/>
                </a:solidFill>
              </a:rPr>
              <a:t> but an overfull map will still be </a:t>
            </a:r>
            <a:r>
              <a:rPr b="1" i="1" lang="en" sz="1200">
                <a:solidFill>
                  <a:srgbClr val="FF0000"/>
                </a:solidFill>
              </a:rPr>
              <a:t>inefficient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8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1" name="Google Shape;691;p88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Chaining</a:t>
            </a:r>
            <a:endParaRPr/>
          </a:p>
        </p:txBody>
      </p:sp>
      <p:sp>
        <p:nvSpPr>
          <p:cNvPr id="692" name="Google Shape;692;p88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Currently we can only get 1 or 2 items in our set before we have a collision and start </a:t>
            </a:r>
            <a:r>
              <a:rPr lang="en"/>
              <a:t>losing</a:t>
            </a:r>
            <a:r>
              <a:rPr lang="en"/>
              <a:t> data. We can fix that by changing the implementation to use chaining.</a:t>
            </a:r>
            <a:endParaRPr/>
          </a:p>
        </p:txBody>
      </p:sp>
      <p:sp>
        <p:nvSpPr>
          <p:cNvPr id="693" name="Google Shape;693;p88"/>
          <p:cNvSpPr txBox="1"/>
          <p:nvPr>
            <p:ph idx="4" type="body"/>
          </p:nvPr>
        </p:nvSpPr>
        <p:spPr>
          <a:xfrm>
            <a:off x="152400" y="4239850"/>
            <a:ext cx="30237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chaining, each index is a </a:t>
            </a:r>
            <a:r>
              <a:rPr b="1" i="1" lang="en">
                <a:solidFill>
                  <a:srgbClr val="FF0000"/>
                </a:solidFill>
              </a:rPr>
              <a:t>list</a:t>
            </a:r>
            <a:r>
              <a:rPr lang="en"/>
              <a:t>.</a:t>
            </a:r>
            <a:endParaRPr/>
          </a:p>
        </p:txBody>
      </p:sp>
      <p:sp>
        <p:nvSpPr>
          <p:cNvPr id="694" name="Google Shape;694;p88"/>
          <p:cNvSpPr txBox="1"/>
          <p:nvPr>
            <p:ph idx="2" type="body"/>
          </p:nvPr>
        </p:nvSpPr>
        <p:spPr>
          <a:xfrm>
            <a:off x="3321475" y="1647275"/>
            <a:ext cx="5582700" cy="238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To start with adjust the the class to match the updated UML on the left.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The only real change is the type of the array</a:t>
            </a:r>
            <a:endParaRPr sz="1200"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the constructor, initialize each element of the Array with a new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LinkedList&lt;Element&gt;</a:t>
            </a:r>
            <a:r>
              <a:rPr lang="en"/>
              <a:t>.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Previously it was initialized with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r>
              <a:rPr lang="en" sz="1200"/>
              <a:t>.</a:t>
            </a:r>
            <a:endParaRPr sz="1200"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Create an empty map and verify it has a size of 0.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You may need to temporarily comment out some of the existing code due to the </a:t>
            </a:r>
            <a:r>
              <a:rPr lang="en"/>
              <a:t>array </a:t>
            </a:r>
            <a:r>
              <a:rPr lang="en"/>
              <a:t>type change.</a:t>
            </a:r>
            <a:endParaRPr/>
          </a:p>
        </p:txBody>
      </p:sp>
      <p:sp>
        <p:nvSpPr>
          <p:cNvPr id="695" name="Google Shape;695;p88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7.11</a:t>
            </a:r>
            <a:endParaRPr/>
          </a:p>
        </p:txBody>
      </p:sp>
      <p:pic>
        <p:nvPicPr>
          <p:cNvPr id="696" name="Google Shape;696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98325"/>
            <a:ext cx="3023701" cy="25106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89"/>
          <p:cNvSpPr txBox="1"/>
          <p:nvPr>
            <p:ph idx="1" type="body"/>
          </p:nvPr>
        </p:nvSpPr>
        <p:spPr>
          <a:xfrm>
            <a:off x="65250" y="731625"/>
            <a:ext cx="8955900" cy="9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Now that we've adjusted elements to use chaining we need to adjust each of the implemented methods to properly use it. This involves hashing to a location in the array and then working with the inner list.</a:t>
            </a:r>
            <a:endParaRPr/>
          </a:p>
        </p:txBody>
      </p:sp>
      <p:sp>
        <p:nvSpPr>
          <p:cNvPr id="702" name="Google Shape;702;p8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3" name="Google Shape;703;p89"/>
          <p:cNvSpPr txBox="1"/>
          <p:nvPr>
            <p:ph idx="2" type="body"/>
          </p:nvPr>
        </p:nvSpPr>
        <p:spPr>
          <a:xfrm>
            <a:off x="3165300" y="1610025"/>
            <a:ext cx="5775900" cy="34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add(key, value)</a:t>
            </a:r>
            <a:r>
              <a:rPr lang="en"/>
              <a:t>: Calculate the index and scan the list at index (use a </a:t>
            </a:r>
            <a:r>
              <a:rPr lang="en"/>
              <a:t>foreach</a:t>
            </a:r>
            <a:r>
              <a:rPr lang="en"/>
              <a:t> loop):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key</a:t>
            </a:r>
            <a:r>
              <a:rPr lang="en"/>
              <a:t> is found, update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/>
              <a:t> and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Otherwise, append the new element to the list, increase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n"/>
              <a:t>,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contains(key)</a:t>
            </a:r>
            <a:r>
              <a:rPr lang="en"/>
              <a:t>: Calculate the index, if the </a:t>
            </a:r>
            <a:r>
              <a:rPr lang="en"/>
              <a:t>requested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key</a:t>
            </a:r>
            <a:r>
              <a:rPr lang="en"/>
              <a:t> is in the inner list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/>
              <a:t>, otherwise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get(key)</a:t>
            </a:r>
            <a:r>
              <a:rPr lang="en"/>
              <a:t>: Calculate the index and scan the list: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key</a:t>
            </a:r>
            <a:r>
              <a:rPr lang="en"/>
              <a:t> is found, return the associated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Otherwise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remove(key)</a:t>
            </a:r>
            <a:r>
              <a:rPr lang="en"/>
              <a:t>: Calculate the index and scan the list: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key</a:t>
            </a:r>
            <a:r>
              <a:rPr lang="en"/>
              <a:t> is found, remove the containing element, decrease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n"/>
              <a:t>, and return the associated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Otherwise return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l">
              <a:spcBef>
                <a:spcPts val="1000"/>
              </a:spcBef>
              <a:spcAft>
                <a:spcPts val="0"/>
              </a:spcAft>
              <a:buSzPts val="1200"/>
              <a:buChar char="●"/>
            </a:pPr>
            <a:r>
              <a:rPr i="1" lang="en" sz="1200"/>
              <a:t>You may be tempted to use contains for get and remove but it doesn't really save you any typing and is less efficient than searching directly.</a:t>
            </a:r>
            <a:endParaRPr i="1" sz="1200"/>
          </a:p>
        </p:txBody>
      </p:sp>
      <p:sp>
        <p:nvSpPr>
          <p:cNvPr id="704" name="Google Shape;704;p89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Link in the Chain</a:t>
            </a:r>
            <a:endParaRPr/>
          </a:p>
        </p:txBody>
      </p:sp>
      <p:sp>
        <p:nvSpPr>
          <p:cNvPr id="705" name="Google Shape;705;p89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7.12</a:t>
            </a:r>
            <a:endParaRPr/>
          </a:p>
        </p:txBody>
      </p:sp>
      <p:sp>
        <p:nvSpPr>
          <p:cNvPr id="706" name="Google Shape;706;p89"/>
          <p:cNvSpPr txBox="1"/>
          <p:nvPr>
            <p:ph idx="4" type="body"/>
          </p:nvPr>
        </p:nvSpPr>
        <p:spPr>
          <a:xfrm>
            <a:off x="141600" y="3778973"/>
            <a:ext cx="30237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using </a:t>
            </a:r>
            <a:r>
              <a:rPr b="1" i="1" lang="en">
                <a:solidFill>
                  <a:srgbClr val="FF0000"/>
                </a:solidFill>
              </a:rPr>
              <a:t>chaining</a:t>
            </a:r>
            <a:r>
              <a:rPr lang="en"/>
              <a:t>, collisions are added to the </a:t>
            </a:r>
            <a:r>
              <a:rPr b="1" i="1" lang="en">
                <a:solidFill>
                  <a:srgbClr val="FF0000"/>
                </a:solidFill>
              </a:rPr>
              <a:t>end </a:t>
            </a:r>
            <a:r>
              <a:rPr lang="en"/>
              <a:t>of the array at index.</a:t>
            </a:r>
            <a:endParaRPr/>
          </a:p>
        </p:txBody>
      </p:sp>
      <p:graphicFrame>
        <p:nvGraphicFramePr>
          <p:cNvPr id="707" name="Google Shape;707;p89"/>
          <p:cNvGraphicFramePr/>
          <p:nvPr/>
        </p:nvGraphicFramePr>
        <p:xfrm>
          <a:off x="905400" y="24320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{88BCF444-FB6E-45BF-8B7D-5A214FA52ACE}</a:tableStyleId>
              </a:tblPr>
              <a:tblGrid>
                <a:gridCol w="382850"/>
                <a:gridCol w="382850"/>
                <a:gridCol w="382850"/>
                <a:gridCol w="3828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"a":1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"d":4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200"/>
                        <a:t>"b":2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"c":3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"e":5</a:t>
                      </a:r>
                      <a:endParaRPr sz="1200"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u="none" cap="none" strike="noStrike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"f":6</a:t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0" marL="0" anchor="ctr">
                    <a:lnL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708" name="Google Shape;708;p89"/>
          <p:cNvCxnSpPr/>
          <p:nvPr/>
        </p:nvCxnSpPr>
        <p:spPr>
          <a:xfrm>
            <a:off x="1253449" y="2063293"/>
            <a:ext cx="239700" cy="368700"/>
          </a:xfrm>
          <a:prstGeom prst="straightConnector1">
            <a:avLst/>
          </a:prstGeom>
          <a:noFill/>
          <a:ln cap="flat" cmpd="sng" w="19050">
            <a:solidFill>
              <a:srgbClr val="3C78D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9" name="Google Shape;709;p89"/>
          <p:cNvSpPr txBox="1"/>
          <p:nvPr/>
        </p:nvSpPr>
        <p:spPr>
          <a:xfrm>
            <a:off x="848474" y="1705968"/>
            <a:ext cx="795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600" u="none" cap="none" strike="noStrike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en" sz="1600">
                <a:solidFill>
                  <a:srgbClr val="3C78D8"/>
                </a:solidFill>
                <a:latin typeface="Consolas"/>
                <a:ea typeface="Consolas"/>
                <a:cs typeface="Consolas"/>
                <a:sym typeface="Consolas"/>
              </a:rPr>
              <a:t>f":6</a:t>
            </a:r>
            <a:endParaRPr sz="1600">
              <a:solidFill>
                <a:srgbClr val="3C78D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710" name="Google Shape;710;p89"/>
          <p:cNvGrpSpPr/>
          <p:nvPr/>
        </p:nvGrpSpPr>
        <p:grpSpPr>
          <a:xfrm>
            <a:off x="909294" y="2432457"/>
            <a:ext cx="1549132" cy="1193199"/>
            <a:chOff x="621889" y="2074922"/>
            <a:chExt cx="1549132" cy="1193199"/>
          </a:xfrm>
        </p:grpSpPr>
        <p:sp>
          <p:nvSpPr>
            <p:cNvPr id="711" name="Google Shape;711;p89"/>
            <p:cNvSpPr txBox="1"/>
            <p:nvPr/>
          </p:nvSpPr>
          <p:spPr>
            <a:xfrm rot="5400000">
              <a:off x="607820" y="2475521"/>
              <a:ext cx="11889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2" name="Google Shape;712;p89"/>
            <p:cNvSpPr txBox="1"/>
            <p:nvPr/>
          </p:nvSpPr>
          <p:spPr>
            <a:xfrm rot="5400000">
              <a:off x="618889" y="2077922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89"/>
            <p:cNvSpPr txBox="1"/>
            <p:nvPr/>
          </p:nvSpPr>
          <p:spPr>
            <a:xfrm rot="5400000">
              <a:off x="1191616" y="2280112"/>
              <a:ext cx="7968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   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89"/>
            <p:cNvSpPr txBox="1"/>
            <p:nvPr/>
          </p:nvSpPr>
          <p:spPr>
            <a:xfrm rot="5400000">
              <a:off x="1771722" y="2087754"/>
              <a:ext cx="4023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0" spcFirstLastPara="1" rIns="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[  </a:t>
              </a:r>
              <a:r>
                <a:rPr lang="en" sz="10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 sz="24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]</a:t>
              </a:r>
              <a:endPara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15" name="Google Shape;715;p89"/>
          <p:cNvSpPr txBox="1"/>
          <p:nvPr>
            <p:ph idx="4" type="body"/>
          </p:nvPr>
        </p:nvSpPr>
        <p:spPr>
          <a:xfrm>
            <a:off x="141600" y="4458019"/>
            <a:ext cx="30237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most operations, you'll need to </a:t>
            </a:r>
            <a:r>
              <a:rPr b="1" i="1" lang="en">
                <a:solidFill>
                  <a:srgbClr val="FF0000"/>
                </a:solidFill>
              </a:rPr>
              <a:t>walk</a:t>
            </a:r>
            <a:r>
              <a:rPr lang="en"/>
              <a:t> </a:t>
            </a:r>
            <a:r>
              <a:rPr b="1" i="1" lang="en">
                <a:solidFill>
                  <a:srgbClr val="FF0000"/>
                </a:solidFill>
              </a:rPr>
              <a:t>the list</a:t>
            </a:r>
            <a:r>
              <a:rPr lang="en"/>
              <a:t> to find the element to change.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90"/>
          <p:cNvSpPr txBox="1"/>
          <p:nvPr>
            <p:ph idx="1" type="body"/>
          </p:nvPr>
        </p:nvSpPr>
        <p:spPr>
          <a:xfrm>
            <a:off x="65250" y="731625"/>
            <a:ext cx="8955900" cy="9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Hopefully at this point you have a fully functional HashMap. While it works, it's currently impossibly to see what all the keys and values are using only the map. Let's fix that by adding a toString.</a:t>
            </a:r>
            <a:endParaRPr/>
          </a:p>
        </p:txBody>
      </p:sp>
      <p:sp>
        <p:nvSpPr>
          <p:cNvPr id="721" name="Google Shape;721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2" name="Google Shape;722;p90"/>
          <p:cNvSpPr txBox="1"/>
          <p:nvPr>
            <p:ph idx="2" type="body"/>
          </p:nvPr>
        </p:nvSpPr>
        <p:spPr>
          <a:xfrm>
            <a:off x="3303025" y="1563206"/>
            <a:ext cx="5637900" cy="3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Write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/>
              <a:t> for the class that returns the entries as a comma separated list surrounded by curly braces (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{}</a:t>
            </a:r>
            <a:r>
              <a:rPr lang="en"/>
              <a:t>).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Example: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{"a":1, "c":3, "b":2}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First, Create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/>
              <a:t> array of </a:t>
            </a:r>
            <a:r>
              <a:rPr lang="en"/>
              <a:t>length</a:t>
            </a:r>
            <a:r>
              <a:rPr lang="en"/>
              <a:t> size to hold all the key-</a:t>
            </a:r>
            <a:r>
              <a:rPr lang="en"/>
              <a:t>value pairs.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Visit every index in the the elements outer list and then every element in the inner list.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each element in the inner list, add the key value pair to the string array.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Now might be a good time to write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/>
              <a:t> method for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Element</a:t>
            </a:r>
            <a:r>
              <a:rPr lang="en"/>
              <a:t> inner class.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Lastly,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join</a:t>
            </a:r>
            <a:r>
              <a:rPr lang="en"/>
              <a:t> the array together with "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/>
              <a:t>" as the separator to create the string and add the beginning and ending curly braces.</a:t>
            </a:r>
            <a:endParaRPr/>
          </a:p>
        </p:txBody>
      </p:sp>
      <p:sp>
        <p:nvSpPr>
          <p:cNvPr id="723" name="Google Shape;723;p90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toString</a:t>
            </a:r>
            <a:endParaRPr/>
          </a:p>
        </p:txBody>
      </p:sp>
      <p:sp>
        <p:nvSpPr>
          <p:cNvPr id="724" name="Google Shape;724;p90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7.13</a:t>
            </a:r>
            <a:endParaRPr/>
          </a:p>
        </p:txBody>
      </p:sp>
      <p:sp>
        <p:nvSpPr>
          <p:cNvPr id="725" name="Google Shape;725;p90"/>
          <p:cNvSpPr txBox="1"/>
          <p:nvPr>
            <p:ph idx="4" type="body"/>
          </p:nvPr>
        </p:nvSpPr>
        <p:spPr>
          <a:xfrm>
            <a:off x="205875" y="3705226"/>
            <a:ext cx="2959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String.join</a:t>
            </a:r>
            <a:r>
              <a:rPr lang="en"/>
              <a:t> is a </a:t>
            </a:r>
            <a:r>
              <a:rPr lang="en"/>
              <a:t>convenient</a:t>
            </a:r>
            <a:r>
              <a:rPr lang="en"/>
              <a:t> way to add a collection of items </a:t>
            </a:r>
            <a:r>
              <a:rPr lang="en"/>
              <a:t>together</a:t>
            </a:r>
            <a:r>
              <a:rPr lang="en"/>
              <a:t> as a string with a set </a:t>
            </a:r>
            <a:r>
              <a:rPr lang="en"/>
              <a:t>delimiter</a:t>
            </a:r>
            <a:r>
              <a:rPr lang="en"/>
              <a:t>.</a:t>
            </a:r>
            <a:endParaRPr/>
          </a:p>
        </p:txBody>
      </p:sp>
      <p:sp>
        <p:nvSpPr>
          <p:cNvPr id="726" name="Google Shape;726;p90"/>
          <p:cNvSpPr txBox="1"/>
          <p:nvPr/>
        </p:nvSpPr>
        <p:spPr>
          <a:xfrm>
            <a:off x="205875" y="1775950"/>
            <a:ext cx="2959500" cy="1401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[] words = </a:t>
            </a:r>
            <a:endParaRPr sz="120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r>
              <a:rPr lang="en" sz="12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"Java"</a:t>
            </a: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2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"is"</a:t>
            </a: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2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"fun"</a:t>
            </a: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20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result = </a:t>
            </a:r>
            <a:endParaRPr sz="120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String.join(</a:t>
            </a:r>
            <a:r>
              <a:rPr lang="en" sz="12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 "</a:t>
            </a: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words);</a:t>
            </a:r>
            <a:endParaRPr sz="120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System.out.println(result);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90"/>
          <p:cNvSpPr txBox="1"/>
          <p:nvPr/>
        </p:nvSpPr>
        <p:spPr>
          <a:xfrm>
            <a:off x="205875" y="3251428"/>
            <a:ext cx="2959500" cy="369300"/>
          </a:xfrm>
          <a:prstGeom prst="rect">
            <a:avLst/>
          </a:prstGeom>
          <a:solidFill>
            <a:srgbClr val="666666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FF00"/>
                </a:solidFill>
                <a:highlight>
                  <a:srgbClr val="666666"/>
                </a:highlight>
                <a:latin typeface="Courier New"/>
                <a:ea typeface="Courier New"/>
                <a:cs typeface="Courier New"/>
                <a:sym typeface="Courier New"/>
              </a:rPr>
              <a:t>Java is </a:t>
            </a:r>
            <a:r>
              <a:rPr b="1" lang="en" sz="1200">
                <a:solidFill>
                  <a:srgbClr val="00FF00"/>
                </a:solidFill>
                <a:highlight>
                  <a:srgbClr val="666666"/>
                </a:highlight>
                <a:latin typeface="Courier New"/>
                <a:ea typeface="Courier New"/>
                <a:cs typeface="Courier New"/>
                <a:sym typeface="Courier New"/>
              </a:rPr>
              <a:t>fun</a:t>
            </a:r>
            <a:endParaRPr b="1" sz="1300">
              <a:solidFill>
                <a:srgbClr val="00FF00"/>
              </a:solidFill>
              <a:highlight>
                <a:srgbClr val="666666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28" name="Google Shape;728;p90"/>
          <p:cNvSpPr txBox="1"/>
          <p:nvPr>
            <p:ph idx="4" type="body"/>
          </p:nvPr>
        </p:nvSpPr>
        <p:spPr>
          <a:xfrm>
            <a:off x="205875" y="4519409"/>
            <a:ext cx="29595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is more efficient than multiple +'s and handles the ending </a:t>
            </a:r>
            <a:r>
              <a:rPr lang="en"/>
              <a:t>delimiter</a:t>
            </a:r>
            <a:r>
              <a:rPr lang="en"/>
              <a:t> well.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91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While being able to see all the data is helpful, it doesn't let us </a:t>
            </a:r>
            <a:r>
              <a:rPr lang="en"/>
              <a:t>programmatically</a:t>
            </a:r>
            <a:r>
              <a:rPr lang="en"/>
              <a:t> use the data in the HashMap. For that, we need an iterator so we can view the keys in a foreach loop.</a:t>
            </a:r>
            <a:endParaRPr/>
          </a:p>
        </p:txBody>
      </p:sp>
      <p:sp>
        <p:nvSpPr>
          <p:cNvPr id="734" name="Google Shape;734;p9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5" name="Google Shape;735;p91"/>
          <p:cNvSpPr txBox="1"/>
          <p:nvPr>
            <p:ph idx="2" type="body"/>
          </p:nvPr>
        </p:nvSpPr>
        <p:spPr>
          <a:xfrm>
            <a:off x="3303025" y="1729125"/>
            <a:ext cx="5637900" cy="312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First, have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"/>
              <a:t> interface extend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Iterable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Only for the keys, similar to python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/>
              <a:t>, implement the iterator, method by returning an </a:t>
            </a:r>
            <a:r>
              <a:rPr b="1" i="1" lang="en">
                <a:solidFill>
                  <a:srgbClr val="FF0000"/>
                </a:solidFill>
              </a:rPr>
              <a:t>anonymous class</a:t>
            </a:r>
            <a:r>
              <a:rPr lang="en"/>
              <a:t> that implements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Iterator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Most likely, you'll want an index for the outer array and an index for the </a:t>
            </a:r>
            <a:r>
              <a:rPr lang="en"/>
              <a:t>inner</a:t>
            </a:r>
            <a:r>
              <a:rPr lang="en"/>
              <a:t> array (i.e.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outerIndex</a:t>
            </a:r>
            <a:r>
              <a:rPr lang="en"/>
              <a:t> and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innerIndex</a:t>
            </a:r>
            <a:r>
              <a:rPr lang="en"/>
              <a:t>).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hasNext()</a:t>
            </a:r>
            <a:r>
              <a:rPr lang="en"/>
              <a:t> should look through the outer array until it finds the next inner array that is </a:t>
            </a:r>
            <a:r>
              <a:rPr b="1" i="1" lang="en">
                <a:solidFill>
                  <a:srgbClr val="FF0000"/>
                </a:solidFill>
              </a:rPr>
              <a:t>not empty</a:t>
            </a:r>
            <a:r>
              <a:rPr lang="en"/>
              <a:t>. 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innerIndex</a:t>
            </a:r>
            <a:r>
              <a:rPr lang="en"/>
              <a:t> is valid, increment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innerI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ndex</a:t>
            </a:r>
            <a:r>
              <a:rPr lang="en"/>
              <a:t> and return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innerI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ndex</a:t>
            </a:r>
            <a:r>
              <a:rPr lang="en"/>
              <a:t> is </a:t>
            </a:r>
            <a:r>
              <a:rPr b="1" i="1" lang="en">
                <a:solidFill>
                  <a:srgbClr val="FF0000"/>
                </a:solidFill>
              </a:rPr>
              <a:t>out of range</a:t>
            </a:r>
            <a:r>
              <a:rPr lang="en"/>
              <a:t>, increment the </a:t>
            </a:r>
            <a:r>
              <a:rPr lang="en">
                <a:solidFill>
                  <a:srgbClr val="FF0000"/>
                </a:solidFill>
              </a:rPr>
              <a:t>outerIndex</a:t>
            </a:r>
            <a:r>
              <a:rPr lang="en"/>
              <a:t>, set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innerIndex</a:t>
            </a:r>
            <a:r>
              <a:rPr lang="en"/>
              <a:t> to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/>
              <a:t>, and keep looking.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outerIndex</a:t>
            </a:r>
            <a:r>
              <a:rPr lang="en"/>
              <a:t> is out of range, return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next()</a:t>
            </a:r>
            <a:r>
              <a:rPr lang="en"/>
              <a:t> should return the key at the outer index | inner index location and increment the inner index.</a:t>
            </a:r>
            <a:endParaRPr/>
          </a:p>
        </p:txBody>
      </p:sp>
      <p:sp>
        <p:nvSpPr>
          <p:cNvPr id="736" name="Google Shape;736;p91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Iterator</a:t>
            </a:r>
            <a:endParaRPr/>
          </a:p>
        </p:txBody>
      </p:sp>
      <p:sp>
        <p:nvSpPr>
          <p:cNvPr id="737" name="Google Shape;737;p91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7.14</a:t>
            </a:r>
            <a:endParaRPr/>
          </a:p>
        </p:txBody>
      </p:sp>
      <p:sp>
        <p:nvSpPr>
          <p:cNvPr id="738" name="Google Shape;738;p91"/>
          <p:cNvSpPr txBox="1"/>
          <p:nvPr>
            <p:ph idx="4" type="body"/>
          </p:nvPr>
        </p:nvSpPr>
        <p:spPr>
          <a:xfrm>
            <a:off x="152400" y="4405776"/>
            <a:ext cx="30237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Element class removed for readability.</a:t>
            </a:r>
            <a:endParaRPr/>
          </a:p>
        </p:txBody>
      </p:sp>
      <p:pic>
        <p:nvPicPr>
          <p:cNvPr id="739" name="Google Shape;739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98325"/>
            <a:ext cx="3081673" cy="26529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92"/>
          <p:cNvSpPr txBox="1"/>
          <p:nvPr>
            <p:ph type="title"/>
          </p:nvPr>
        </p:nvSpPr>
        <p:spPr>
          <a:xfrm>
            <a:off x="311725" y="196125"/>
            <a:ext cx="37065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400"/>
              <a:t>HashMap Complexities</a:t>
            </a:r>
            <a:endParaRPr sz="2400"/>
          </a:p>
        </p:txBody>
      </p:sp>
      <p:sp>
        <p:nvSpPr>
          <p:cNvPr id="745" name="Google Shape;745;p92"/>
          <p:cNvSpPr txBox="1"/>
          <p:nvPr>
            <p:ph idx="1" type="body"/>
          </p:nvPr>
        </p:nvSpPr>
        <p:spPr>
          <a:xfrm>
            <a:off x="4339875" y="21825"/>
            <a:ext cx="4729200" cy="46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An </a:t>
            </a:r>
            <a:r>
              <a:rPr b="1" i="1" lang="en">
                <a:solidFill>
                  <a:srgbClr val="FF0000"/>
                </a:solidFill>
              </a:rPr>
              <a:t>ArrayList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offers </a:t>
            </a:r>
            <a:r>
              <a:rPr b="1" i="1" lang="en">
                <a:solidFill>
                  <a:srgbClr val="FF0000"/>
                </a:solidFill>
              </a:rPr>
              <a:t>constant time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access provided that the index of the element is known.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anArray.get(5) = "abc"</a:t>
            </a:r>
            <a:endParaRPr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a_string = anArray.get(7)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 use the hash function to find the index.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When using </a:t>
            </a:r>
            <a:r>
              <a:rPr b="1" i="1" lang="en">
                <a:solidFill>
                  <a:srgbClr val="FF0000"/>
                </a:solidFill>
              </a:rPr>
              <a:t>chaining</a:t>
            </a:r>
            <a:r>
              <a:rPr lang="en"/>
              <a:t>, the inner </a:t>
            </a:r>
            <a:r>
              <a:rPr b="1" i="1" lang="en">
                <a:solidFill>
                  <a:srgbClr val="FF0000"/>
                </a:solidFill>
              </a:rPr>
              <a:t>LinkedList</a:t>
            </a:r>
            <a:r>
              <a:rPr lang="en"/>
              <a:t> must be searched which is a </a:t>
            </a:r>
            <a:r>
              <a:rPr b="1" i="1" lang="en">
                <a:solidFill>
                  <a:srgbClr val="FF0000"/>
                </a:solidFill>
              </a:rPr>
              <a:t>O(n)</a:t>
            </a:r>
            <a:r>
              <a:rPr lang="en"/>
              <a:t> operation.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Therefore the complexity of our </a:t>
            </a:r>
            <a:r>
              <a:rPr b="1" i="1" lang="en">
                <a:solidFill>
                  <a:srgbClr val="FF0000"/>
                </a:solidFill>
              </a:rPr>
              <a:t>HashMap</a:t>
            </a:r>
            <a:r>
              <a:rPr lang="en"/>
              <a:t> will be determined by how large the linked lists are.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every list has only one or two items in it, the map will have a time complexity of </a:t>
            </a:r>
            <a:r>
              <a:rPr b="1" i="1" lang="en">
                <a:solidFill>
                  <a:srgbClr val="FF0000"/>
                </a:solidFill>
              </a:rPr>
              <a:t>O(1)</a:t>
            </a:r>
            <a:r>
              <a:rPr lang="en"/>
              <a:t> for each individual operation.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If the chains are long, the complexity will approach </a:t>
            </a:r>
            <a:r>
              <a:rPr b="1" i="1" lang="en">
                <a:solidFill>
                  <a:srgbClr val="FF0000"/>
                </a:solidFill>
              </a:rPr>
              <a:t>O(n)</a:t>
            </a:r>
            <a:r>
              <a:rPr lang="en"/>
              <a:t>, where </a:t>
            </a:r>
            <a:r>
              <a:rPr b="1" i="1" lang="en">
                <a:solidFill>
                  <a:srgbClr val="FF0000"/>
                </a:solidFill>
              </a:rPr>
              <a:t>n</a:t>
            </a:r>
            <a:r>
              <a:rPr lang="en"/>
              <a:t> is the average inner list </a:t>
            </a:r>
            <a:r>
              <a:rPr b="1" i="1" lang="en">
                <a:solidFill>
                  <a:srgbClr val="FF0000"/>
                </a:solidFill>
              </a:rPr>
              <a:t>length</a:t>
            </a:r>
            <a:r>
              <a:rPr lang="en"/>
              <a:t>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this reason, it's important we </a:t>
            </a:r>
            <a:r>
              <a:rPr b="1" i="1" lang="en">
                <a:solidFill>
                  <a:srgbClr val="FF0000"/>
                </a:solidFill>
              </a:rPr>
              <a:t>don't overfill</a:t>
            </a:r>
            <a:r>
              <a:rPr lang="en"/>
              <a:t> the map.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I.E. We want the </a:t>
            </a:r>
            <a:r>
              <a:rPr b="1" i="1" lang="en">
                <a:solidFill>
                  <a:srgbClr val="FF0000"/>
                </a:solidFill>
              </a:rPr>
              <a:t>size</a:t>
            </a:r>
            <a:r>
              <a:rPr lang="en"/>
              <a:t> of the map to be about the </a:t>
            </a:r>
            <a:r>
              <a:rPr b="1" i="1" lang="en">
                <a:solidFill>
                  <a:srgbClr val="FF0000"/>
                </a:solidFill>
              </a:rPr>
              <a:t>same as</a:t>
            </a:r>
            <a:r>
              <a:rPr lang="en"/>
              <a:t> the </a:t>
            </a:r>
            <a:r>
              <a:rPr b="1" i="1" lang="en">
                <a:solidFill>
                  <a:srgbClr val="FF0000"/>
                </a:solidFill>
              </a:rPr>
              <a:t>length</a:t>
            </a:r>
            <a:r>
              <a:rPr lang="en"/>
              <a:t> of the outer ArrayList. 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This system also only works if our hash function evenly distributes the hash codes.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ts val="1100"/>
              <a:buChar char="○"/>
            </a:pPr>
            <a:r>
              <a:rPr lang="en"/>
              <a:t>I.E. If everything hashes to index 0, the complexity will be </a:t>
            </a:r>
            <a:r>
              <a:rPr b="1" i="1" lang="en">
                <a:solidFill>
                  <a:srgbClr val="FF0000"/>
                </a:solidFill>
              </a:rPr>
              <a:t>O(n)</a:t>
            </a:r>
            <a:r>
              <a:rPr lang="en"/>
              <a:t> since it's basically just a linked list at that point.</a:t>
            </a:r>
            <a:endParaRPr/>
          </a:p>
        </p:txBody>
      </p:sp>
      <p:sp>
        <p:nvSpPr>
          <p:cNvPr id="746" name="Google Shape;746;p9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47" name="Google Shape;747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550" y="2397300"/>
            <a:ext cx="2372851" cy="1749675"/>
          </a:xfrm>
          <a:prstGeom prst="rect">
            <a:avLst/>
          </a:prstGeom>
          <a:noFill/>
          <a:ln>
            <a:noFill/>
          </a:ln>
        </p:spPr>
      </p:pic>
      <p:sp>
        <p:nvSpPr>
          <p:cNvPr id="748" name="Google Shape;748;p92"/>
          <p:cNvSpPr txBox="1"/>
          <p:nvPr>
            <p:ph idx="3" type="body"/>
          </p:nvPr>
        </p:nvSpPr>
        <p:spPr>
          <a:xfrm>
            <a:off x="315425" y="858434"/>
            <a:ext cx="3706500" cy="736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The primary characteristic of a set is that it can maintain a collection of </a:t>
            </a:r>
            <a:r>
              <a:rPr b="1" i="1" lang="en" sz="1200">
                <a:solidFill>
                  <a:srgbClr val="FF0000"/>
                </a:solidFill>
              </a:rPr>
              <a:t>unique elements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with very good performance.</a:t>
            </a:r>
            <a:endParaRPr sz="1200"/>
          </a:p>
        </p:txBody>
      </p:sp>
      <p:sp>
        <p:nvSpPr>
          <p:cNvPr id="749" name="Google Shape;749;p92"/>
          <p:cNvSpPr txBox="1"/>
          <p:nvPr>
            <p:ph idx="3" type="body"/>
          </p:nvPr>
        </p:nvSpPr>
        <p:spPr>
          <a:xfrm>
            <a:off x="311725" y="1749302"/>
            <a:ext cx="3706500" cy="571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Adding a new element and finding an element using the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en" sz="1200"/>
              <a:t> operator should both run in </a:t>
            </a:r>
            <a:r>
              <a:rPr b="1" i="1" lang="en" sz="1200">
                <a:solidFill>
                  <a:srgbClr val="FF0000"/>
                </a:solidFill>
              </a:rPr>
              <a:t>constant time</a:t>
            </a:r>
            <a:r>
              <a:rPr lang="en" sz="1200"/>
              <a:t>.</a:t>
            </a:r>
            <a:endParaRPr sz="1200"/>
          </a:p>
        </p:txBody>
      </p:sp>
      <p:sp>
        <p:nvSpPr>
          <p:cNvPr id="750" name="Google Shape;750;p92"/>
          <p:cNvSpPr txBox="1"/>
          <p:nvPr>
            <p:ph idx="3" type="body"/>
          </p:nvPr>
        </p:nvSpPr>
        <p:spPr>
          <a:xfrm>
            <a:off x="315425" y="4269216"/>
            <a:ext cx="3706500" cy="571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But the nature of the set's </a:t>
            </a:r>
            <a:r>
              <a:rPr b="1" i="1" lang="en" sz="1200">
                <a:solidFill>
                  <a:srgbClr val="FF0000"/>
                </a:solidFill>
              </a:rPr>
              <a:t>hashing algorithm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means that the order of the elements is </a:t>
            </a:r>
            <a:r>
              <a:rPr b="1" i="1" lang="en" sz="1200">
                <a:solidFill>
                  <a:srgbClr val="FF0000"/>
                </a:solidFill>
              </a:rPr>
              <a:t>arbitrary</a:t>
            </a:r>
            <a:r>
              <a:rPr lang="en" sz="1200"/>
              <a:t>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93"/>
          <p:cNvSpPr txBox="1"/>
          <p:nvPr>
            <p:ph idx="1" type="body"/>
          </p:nvPr>
        </p:nvSpPr>
        <p:spPr>
          <a:xfrm>
            <a:off x="65250" y="731625"/>
            <a:ext cx="8955900" cy="128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Currently you should be able to add any number of items to your HashMap. However, with a capacity of 3 it won't take very long to lose its </a:t>
            </a:r>
            <a:r>
              <a:rPr lang="en"/>
              <a:t>efficiency</a:t>
            </a:r>
            <a:r>
              <a:rPr lang="en"/>
              <a:t>. Think of storing 1000 </a:t>
            </a:r>
            <a:r>
              <a:rPr lang="en"/>
              <a:t>items</a:t>
            </a:r>
            <a:r>
              <a:rPr lang="en"/>
              <a:t> in the set. Each list would be ~333 items long, each of which require a linear search. To solve this, let's grow the outer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ArrayList</a:t>
            </a:r>
            <a:r>
              <a:rPr lang="en"/>
              <a:t> if the size equals the list's capacity (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elements.size()</a:t>
            </a:r>
            <a:r>
              <a:rPr lang="en"/>
              <a:t>).</a:t>
            </a:r>
            <a:endParaRPr/>
          </a:p>
        </p:txBody>
      </p:sp>
      <p:sp>
        <p:nvSpPr>
          <p:cNvPr id="756" name="Google Shape;756;p9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7" name="Google Shape;757;p93"/>
          <p:cNvSpPr txBox="1"/>
          <p:nvPr>
            <p:ph idx="2" type="body"/>
          </p:nvPr>
        </p:nvSpPr>
        <p:spPr>
          <a:xfrm>
            <a:off x="3349125" y="2013125"/>
            <a:ext cx="5592000" cy="30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Create a new private method,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resizeIfNeeded</a:t>
            </a:r>
            <a:r>
              <a:rPr lang="en"/>
              <a:t>, to resize the list.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First, check to see if the map's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n"/>
              <a:t> is &gt;=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elements.size()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If so create a </a:t>
            </a:r>
            <a:r>
              <a:rPr b="1" i="1" lang="en">
                <a:solidFill>
                  <a:srgbClr val="FF0000"/>
                </a:solidFill>
              </a:rPr>
              <a:t>new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ArrayList</a:t>
            </a:r>
            <a:r>
              <a:rPr lang="en"/>
              <a:t> and add </a:t>
            </a:r>
            <a:r>
              <a:rPr b="1" i="1" lang="en">
                <a:solidFill>
                  <a:srgbClr val="FF0000"/>
                </a:solidFill>
              </a:rPr>
              <a:t>size * 2</a:t>
            </a:r>
            <a:r>
              <a:rPr lang="en"/>
              <a:t>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LinkedList</a:t>
            </a:r>
            <a:r>
              <a:rPr lang="en"/>
              <a:t>s to it.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reference</a:t>
            </a:r>
            <a:r>
              <a:rPr lang="en"/>
              <a:t> the </a:t>
            </a:r>
            <a:r>
              <a:rPr lang="en"/>
              <a:t>constructor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Make the list unmodifiable to ensure new items cannot be added.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Collections.unmodifiableList(newArrayList</a:t>
            </a:r>
            <a:r>
              <a:rPr lang="en">
                <a:solidFill>
                  <a:srgbClr val="FF0000"/>
                </a:solidFill>
              </a:rPr>
              <a:t>)</a:t>
            </a:r>
            <a:r>
              <a:rPr lang="en"/>
              <a:t> returns an unmodifiable view of the new ArrayList.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Set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equal to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Store a reference to elements and change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this.elements</a:t>
            </a:r>
            <a:r>
              <a:rPr lang="en"/>
              <a:t> to </a:t>
            </a:r>
            <a:r>
              <a:rPr lang="en"/>
              <a:t>reference</a:t>
            </a:r>
            <a:r>
              <a:rPr lang="en"/>
              <a:t> the new unmodifiable list.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i="1" lang="en">
                <a:solidFill>
                  <a:srgbClr val="FF0000"/>
                </a:solidFill>
              </a:rPr>
              <a:t>For each entry</a:t>
            </a:r>
            <a:r>
              <a:rPr lang="en"/>
              <a:t> in the old elements list of lists, add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Element</a:t>
            </a:r>
            <a:r>
              <a:rPr lang="en"/>
              <a:t> to the map using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this.add</a:t>
            </a:r>
            <a:r>
              <a:rPr lang="en"/>
              <a:t> method.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Make sure to test that everything is working as expected. </a:t>
            </a:r>
            <a:endParaRPr/>
          </a:p>
        </p:txBody>
      </p:sp>
      <p:sp>
        <p:nvSpPr>
          <p:cNvPr id="758" name="Google Shape;758;p93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Resizing</a:t>
            </a:r>
            <a:endParaRPr/>
          </a:p>
        </p:txBody>
      </p:sp>
      <p:sp>
        <p:nvSpPr>
          <p:cNvPr id="759" name="Google Shape;759;p93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7.15</a:t>
            </a:r>
            <a:endParaRPr/>
          </a:p>
        </p:txBody>
      </p:sp>
      <p:sp>
        <p:nvSpPr>
          <p:cNvPr id="760" name="Google Shape;760;p93"/>
          <p:cNvSpPr txBox="1"/>
          <p:nvPr>
            <p:ph idx="4" type="body"/>
          </p:nvPr>
        </p:nvSpPr>
        <p:spPr>
          <a:xfrm>
            <a:off x="141525" y="3825080"/>
            <a:ext cx="32076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resize, create a new elements ArrayList that is twice as big as the original.</a:t>
            </a:r>
            <a:endParaRPr/>
          </a:p>
        </p:txBody>
      </p:sp>
      <p:sp>
        <p:nvSpPr>
          <p:cNvPr id="761" name="Google Shape;761;p93"/>
          <p:cNvSpPr txBox="1"/>
          <p:nvPr>
            <p:ph idx="4" type="body"/>
          </p:nvPr>
        </p:nvSpPr>
        <p:spPr>
          <a:xfrm>
            <a:off x="141525" y="4462392"/>
            <a:ext cx="32076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in the new ArrayList and add all the elements from the old list to the new one.</a:t>
            </a:r>
            <a:endParaRPr/>
          </a:p>
        </p:txBody>
      </p:sp>
      <p:sp>
        <p:nvSpPr>
          <p:cNvPr id="762" name="Google Shape;762;p93"/>
          <p:cNvSpPr txBox="1"/>
          <p:nvPr/>
        </p:nvSpPr>
        <p:spPr>
          <a:xfrm>
            <a:off x="141675" y="2015615"/>
            <a:ext cx="3207600" cy="17604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if need to resize: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oldElements = elements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newElements = new array list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add size * 2 inner linked lists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make unmodifiable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elements = newElements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size = 0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  add() oldElements elements to the map</a:t>
            </a:r>
            <a:endParaRPr sz="1300">
              <a:solidFill>
                <a:schemeClr val="dk2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4"/>
          <p:cNvSpPr txBox="1"/>
          <p:nvPr>
            <p:ph type="title"/>
          </p:nvPr>
        </p:nvSpPr>
        <p:spPr>
          <a:xfrm>
            <a:off x="5264725" y="44143"/>
            <a:ext cx="3706500" cy="8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400"/>
              <a:t>Sets &amp; Dictionaries</a:t>
            </a:r>
            <a:endParaRPr sz="2400"/>
          </a:p>
        </p:txBody>
      </p:sp>
      <p:sp>
        <p:nvSpPr>
          <p:cNvPr id="768" name="Google Shape;768;p94"/>
          <p:cNvSpPr txBox="1"/>
          <p:nvPr>
            <p:ph idx="1" type="body"/>
          </p:nvPr>
        </p:nvSpPr>
        <p:spPr>
          <a:xfrm>
            <a:off x="301275" y="119925"/>
            <a:ext cx="4437900" cy="48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Take a quick look at the review code on the right.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Python uses a </a:t>
            </a:r>
            <a:r>
              <a:rPr lang="en"/>
              <a:t>hashing</a:t>
            </a:r>
            <a:r>
              <a:rPr lang="en"/>
              <a:t> based </a:t>
            </a:r>
            <a:r>
              <a:rPr lang="en"/>
              <a:t>implementation</a:t>
            </a:r>
            <a:r>
              <a:rPr lang="en"/>
              <a:t> for both its set and dictionary.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this reason their usage and constraints are very similar.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fact, it is common to implement a </a:t>
            </a:r>
            <a:r>
              <a:rPr lang="en"/>
              <a:t>hashset</a:t>
            </a:r>
            <a:r>
              <a:rPr lang="en"/>
              <a:t> using a hashmap.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the most part all of the operations will just be a pass through to the hashmap methods.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o"/>
            </a:pPr>
            <a:r>
              <a:rPr lang="en"/>
              <a:t>Example for the HashSet class:</a:t>
            </a:r>
            <a:endParaRPr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@Override</a:t>
            </a:r>
            <a:endParaRPr sz="11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public boolean contains(E value){</a:t>
            </a:r>
            <a:endParaRPr sz="11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    return map.contains (value)</a:t>
            </a:r>
            <a:endParaRPr sz="11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</a:t>
            </a:r>
            <a:r>
              <a:rPr lang="en"/>
              <a:t>here are a couple places where we'll need to make some small adjustments to the map logic.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o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/>
              <a:t> - Maps allow for overwriting the value but sets dont.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o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remove</a:t>
            </a:r>
            <a:r>
              <a:rPr lang="en"/>
              <a:t> - Map returns the removed value but sets return a boolean.</a:t>
            </a:r>
            <a:endParaRPr/>
          </a:p>
          <a:p>
            <a:pPr indent="-2984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o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/>
              <a:t> - Maps </a:t>
            </a:r>
            <a:r>
              <a:rPr lang="en"/>
              <a:t>have</a:t>
            </a:r>
            <a:r>
              <a:rPr lang="en"/>
              <a:t> two pieces for each element while sets have one.</a:t>
            </a:r>
            <a:endParaRPr/>
          </a:p>
        </p:txBody>
      </p:sp>
      <p:sp>
        <p:nvSpPr>
          <p:cNvPr id="769" name="Google Shape;769;p94"/>
          <p:cNvSpPr txBox="1"/>
          <p:nvPr>
            <p:ph idx="3" type="body"/>
          </p:nvPr>
        </p:nvSpPr>
        <p:spPr>
          <a:xfrm>
            <a:off x="5264725" y="927996"/>
            <a:ext cx="3706500" cy="4851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460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200"/>
              <a:t>Sets and Dictionaries can be created/initialized using curly braces (</a:t>
            </a:r>
            <a:r>
              <a:rPr b="1"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{}</a:t>
            </a:r>
            <a:r>
              <a:rPr lang="en" sz="1200"/>
              <a:t>)</a:t>
            </a:r>
            <a:endParaRPr/>
          </a:p>
        </p:txBody>
      </p:sp>
      <p:sp>
        <p:nvSpPr>
          <p:cNvPr id="770" name="Google Shape;770;p94"/>
          <p:cNvSpPr txBox="1"/>
          <p:nvPr/>
        </p:nvSpPr>
        <p:spPr>
          <a:xfrm>
            <a:off x="5264725" y="1508656"/>
            <a:ext cx="3706500" cy="2964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()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b_set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{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15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a_set: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"3 is in the set!"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15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()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b_dict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{}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c_dict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{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"one"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"two"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c_dict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"three"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] =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15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c_dict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"one"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] = </a:t>
            </a:r>
            <a:r>
              <a:rPr lang="en" sz="11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1111</a:t>
            </a:r>
            <a:endParaRPr sz="1150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p94"/>
          <p:cNvSpPr txBox="1"/>
          <p:nvPr/>
        </p:nvSpPr>
        <p:spPr>
          <a:xfrm>
            <a:off x="5264725" y="4545694"/>
            <a:ext cx="3706500" cy="5058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Keys can be used like </a:t>
            </a:r>
            <a:r>
              <a:rPr b="1" i="1" lang="en" sz="1200">
                <a:solidFill>
                  <a:srgbClr val="FF0000"/>
                </a:solidFill>
              </a:rPr>
              <a:t>indices </a:t>
            </a:r>
            <a:r>
              <a:rPr b="0" i="0" lang="en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an array or list to add or change values in the dictionary.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2" name="Google Shape;772;p94"/>
          <p:cNvCxnSpPr>
            <a:stCxn id="771" idx="1"/>
          </p:cNvCxnSpPr>
          <p:nvPr/>
        </p:nvCxnSpPr>
        <p:spPr>
          <a:xfrm flipH="1" rot="10800000">
            <a:off x="5264725" y="4112494"/>
            <a:ext cx="356700" cy="686100"/>
          </a:xfrm>
          <a:prstGeom prst="curvedConnector4">
            <a:avLst>
              <a:gd fmla="val -64088" name="adj1"/>
              <a:gd fmla="val 106105" name="adj2"/>
            </a:avLst>
          </a:prstGeom>
          <a:noFill/>
          <a:ln cap="flat" cmpd="sng" w="15875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73" name="Google Shape;773;p94"/>
          <p:cNvSpPr/>
          <p:nvPr/>
        </p:nvSpPr>
        <p:spPr>
          <a:xfrm>
            <a:off x="7109723" y="1421843"/>
            <a:ext cx="1388438" cy="432826"/>
          </a:xfrm>
          <a:custGeom>
            <a:rect b="b" l="l" r="r" t="t"/>
            <a:pathLst>
              <a:path extrusionOk="0" h="466659" w="1551327">
                <a:moveTo>
                  <a:pt x="1551327" y="0"/>
                </a:moveTo>
                <a:cubicBezTo>
                  <a:pt x="1377906" y="137685"/>
                  <a:pt x="1204486" y="275370"/>
                  <a:pt x="945931" y="353147"/>
                </a:cubicBezTo>
                <a:cubicBezTo>
                  <a:pt x="687376" y="430924"/>
                  <a:pt x="0" y="466659"/>
                  <a:pt x="0" y="466659"/>
                </a:cubicBezTo>
                <a:lnTo>
                  <a:pt x="0" y="466659"/>
                </a:ln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94"/>
          <p:cNvSpPr/>
          <p:nvPr/>
        </p:nvSpPr>
        <p:spPr>
          <a:xfrm>
            <a:off x="6661982" y="1419880"/>
            <a:ext cx="2020138" cy="1980149"/>
          </a:xfrm>
          <a:custGeom>
            <a:rect b="b" l="l" r="r" t="t"/>
            <a:pathLst>
              <a:path extrusionOk="0" h="1980149" w="2020138">
                <a:moveTo>
                  <a:pt x="2017986" y="0"/>
                </a:moveTo>
                <a:cubicBezTo>
                  <a:pt x="2025343" y="620110"/>
                  <a:pt x="2032701" y="1240220"/>
                  <a:pt x="1696370" y="1570245"/>
                </a:cubicBezTo>
                <a:cubicBezTo>
                  <a:pt x="1360039" y="1900270"/>
                  <a:pt x="680019" y="1940209"/>
                  <a:pt x="0" y="1980149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94"/>
          <p:cNvSpPr/>
          <p:nvPr/>
        </p:nvSpPr>
        <p:spPr>
          <a:xfrm>
            <a:off x="7935836" y="1426186"/>
            <a:ext cx="927012" cy="2465727"/>
          </a:xfrm>
          <a:custGeom>
            <a:rect b="b" l="l" r="r" t="t"/>
            <a:pathLst>
              <a:path extrusionOk="0" h="2465727" w="927012">
                <a:moveTo>
                  <a:pt x="927012" y="0"/>
                </a:moveTo>
                <a:cubicBezTo>
                  <a:pt x="907042" y="593834"/>
                  <a:pt x="887073" y="1187669"/>
                  <a:pt x="800888" y="1576552"/>
                </a:cubicBezTo>
                <a:cubicBezTo>
                  <a:pt x="714703" y="1965435"/>
                  <a:pt x="543384" y="2185101"/>
                  <a:pt x="409903" y="2333297"/>
                </a:cubicBezTo>
                <a:cubicBezTo>
                  <a:pt x="276422" y="2481493"/>
                  <a:pt x="70419" y="2443655"/>
                  <a:pt x="0" y="2465727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94"/>
          <p:cNvSpPr/>
          <p:nvPr/>
        </p:nvSpPr>
        <p:spPr>
          <a:xfrm>
            <a:off x="5129398" y="4336608"/>
            <a:ext cx="473141" cy="337275"/>
          </a:xfrm>
          <a:custGeom>
            <a:rect b="b" l="l" r="r" t="t"/>
            <a:pathLst>
              <a:path extrusionOk="0" h="337275" w="473141">
                <a:moveTo>
                  <a:pt x="138912" y="337275"/>
                </a:moveTo>
                <a:cubicBezTo>
                  <a:pt x="67442" y="294708"/>
                  <a:pt x="-4028" y="252141"/>
                  <a:pt x="176" y="198538"/>
                </a:cubicBezTo>
                <a:cubicBezTo>
                  <a:pt x="4380" y="144935"/>
                  <a:pt x="85310" y="45087"/>
                  <a:pt x="164137" y="15658"/>
                </a:cubicBezTo>
                <a:cubicBezTo>
                  <a:pt x="242964" y="-13771"/>
                  <a:pt x="358052" y="4096"/>
                  <a:pt x="473141" y="21964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95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Implement a HashSet using an internal HashMap. The set's values will be the keys in the map. The values in the map will always be null.</a:t>
            </a:r>
            <a:endParaRPr/>
          </a:p>
        </p:txBody>
      </p:sp>
      <p:sp>
        <p:nvSpPr>
          <p:cNvPr id="782" name="Google Shape;782;p9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3" name="Google Shape;783;p95"/>
          <p:cNvSpPr txBox="1"/>
          <p:nvPr>
            <p:ph idx="2" type="body"/>
          </p:nvPr>
        </p:nvSpPr>
        <p:spPr>
          <a:xfrm>
            <a:off x="3165300" y="1683725"/>
            <a:ext cx="5775900" cy="256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Create a new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/>
              <a:t> class in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sets</a:t>
            </a:r>
            <a:r>
              <a:rPr lang="en"/>
              <a:t> package that implements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/>
              <a:t> interface.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Implement all the required methods.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Most will just be wrappers for the map's methods except for: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- Check to see if the value is a key in the map. If it is not, add the new value to the map as its key with a value of null. Otherwise, return false.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remove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- </a:t>
            </a:r>
            <a:r>
              <a:rPr lang="en" sz="1200"/>
              <a:t>Check to see if the value is a key in the map. If it is, remove the key from the map and return true, otherwise return false.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- This isn't required by the interface so you don't have to do it. If you want to, consider using the maps iterator.</a:t>
            </a:r>
            <a:endParaRPr sz="1200"/>
          </a:p>
        </p:txBody>
      </p:sp>
      <p:sp>
        <p:nvSpPr>
          <p:cNvPr id="784" name="Google Shape;784;p95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HashSet</a:t>
            </a:r>
            <a:endParaRPr/>
          </a:p>
        </p:txBody>
      </p:sp>
      <p:sp>
        <p:nvSpPr>
          <p:cNvPr id="785" name="Google Shape;785;p95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7.16</a:t>
            </a:r>
            <a:endParaRPr/>
          </a:p>
        </p:txBody>
      </p:sp>
      <p:sp>
        <p:nvSpPr>
          <p:cNvPr id="786" name="Google Shape;786;p95"/>
          <p:cNvSpPr txBox="1"/>
          <p:nvPr>
            <p:ph idx="4" type="body"/>
          </p:nvPr>
        </p:nvSpPr>
        <p:spPr>
          <a:xfrm>
            <a:off x="141600" y="4156900"/>
            <a:ext cx="3023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wrapper </a:t>
            </a:r>
            <a:r>
              <a:rPr lang="en"/>
              <a:t>is a method that </a:t>
            </a:r>
            <a:r>
              <a:rPr b="1" i="1" lang="en">
                <a:solidFill>
                  <a:srgbClr val="FF0000"/>
                </a:solidFill>
              </a:rPr>
              <a:t>only </a:t>
            </a:r>
            <a:r>
              <a:rPr lang="en"/>
              <a:t>calls a </a:t>
            </a:r>
            <a:r>
              <a:rPr lang="en"/>
              <a:t>different</a:t>
            </a:r>
            <a:r>
              <a:rPr lang="en"/>
              <a:t> classes method for its implementation.</a:t>
            </a:r>
            <a:endParaRPr/>
          </a:p>
        </p:txBody>
      </p:sp>
      <p:pic>
        <p:nvPicPr>
          <p:cNvPr id="787" name="Google Shape;787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98325"/>
            <a:ext cx="3095730" cy="2407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96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Let's test our new HashSet by adding some custom class instances to it. We'll want to verify all the methods but we are really focusing on the uniqueness aspect.</a:t>
            </a:r>
            <a:endParaRPr/>
          </a:p>
        </p:txBody>
      </p:sp>
      <p:sp>
        <p:nvSpPr>
          <p:cNvPr id="793" name="Google Shape;793;p9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4" name="Google Shape;794;p96"/>
          <p:cNvSpPr txBox="1"/>
          <p:nvPr>
            <p:ph idx="2" type="body"/>
          </p:nvPr>
        </p:nvSpPr>
        <p:spPr>
          <a:xfrm>
            <a:off x="3165300" y="1590225"/>
            <a:ext cx="5775900" cy="344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Create a new class in the top level unit package named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 that uses the UML on the left.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Pick your favorite item that you regularly buy from the store that comes in multiple sizes (chips, drinks, gummies, etc.).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main, create a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/>
              <a:t> of your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Add at least </a:t>
            </a:r>
            <a:r>
              <a:rPr b="1" i="1" lang="en">
                <a:solidFill>
                  <a:srgbClr val="FF0000"/>
                </a:solidFill>
              </a:rPr>
              <a:t>6</a:t>
            </a:r>
            <a:r>
              <a:rPr lang="en"/>
              <a:t> different instances of the same item to the set. I.E. 6 snack sized bags of Lay's </a:t>
            </a:r>
            <a:r>
              <a:rPr lang="en"/>
              <a:t>potato</a:t>
            </a:r>
            <a:r>
              <a:rPr lang="en"/>
              <a:t> chips:</a:t>
            </a:r>
            <a:endParaRPr/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set.add (new GroceryItem ("Lays Chips", 1));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Make sure you add 6 different instances, not just one instance 6 times.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What happens?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Fix the issue by creating an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equals</a:t>
            </a:r>
            <a:r>
              <a:rPr lang="en"/>
              <a:t> method for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 that makes all items with the same name </a:t>
            </a:r>
            <a:r>
              <a:rPr lang="en"/>
              <a:t>equivalent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Rerun your code, did it fix the issue fully?</a:t>
            </a:r>
            <a:r>
              <a:rPr lang="en"/>
              <a:t> </a:t>
            </a:r>
            <a:endParaRPr/>
          </a:p>
        </p:txBody>
      </p:sp>
      <p:sp>
        <p:nvSpPr>
          <p:cNvPr id="795" name="Google Shape;795;p96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Time</a:t>
            </a:r>
            <a:endParaRPr/>
          </a:p>
        </p:txBody>
      </p:sp>
      <p:sp>
        <p:nvSpPr>
          <p:cNvPr id="796" name="Google Shape;796;p96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7.17</a:t>
            </a:r>
            <a:endParaRPr/>
          </a:p>
        </p:txBody>
      </p:sp>
      <p:sp>
        <p:nvSpPr>
          <p:cNvPr id="797" name="Google Shape;797;p96"/>
          <p:cNvSpPr txBox="1"/>
          <p:nvPr>
            <p:ph idx="4" type="body"/>
          </p:nvPr>
        </p:nvSpPr>
        <p:spPr>
          <a:xfrm>
            <a:off x="141600" y="4156900"/>
            <a:ext cx="3023700" cy="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Sets should ensure </a:t>
            </a:r>
            <a:r>
              <a:rPr b="1" i="1" lang="en">
                <a:solidFill>
                  <a:srgbClr val="FF0000"/>
                </a:solidFill>
              </a:rPr>
              <a:t>uniqueness</a:t>
            </a:r>
            <a:r>
              <a:rPr lang="en"/>
              <a:t> among the items contained in it.</a:t>
            </a:r>
            <a:endParaRPr/>
          </a:p>
        </p:txBody>
      </p:sp>
      <p:pic>
        <p:nvPicPr>
          <p:cNvPr id="798" name="Google Shape;798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200" y="1861150"/>
            <a:ext cx="2860500" cy="18805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97"/>
          <p:cNvSpPr txBox="1"/>
          <p:nvPr>
            <p:ph idx="1" type="body"/>
          </p:nvPr>
        </p:nvSpPr>
        <p:spPr>
          <a:xfrm>
            <a:off x="301275" y="500925"/>
            <a:ext cx="4166400" cy="44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</a:t>
            </a:r>
            <a:r>
              <a:rPr lang="en"/>
              <a:t>here is one last caveat to remember about hashing based data structures.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Hash is used to locate an item and equals is used to verify we have the correct item.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This means if two items that are equal don't hash to the same location bad things can </a:t>
            </a:r>
            <a:r>
              <a:rPr lang="en"/>
              <a:t>happen.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For this reason, if the data structure used as the key has a custom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equals</a:t>
            </a:r>
            <a:r>
              <a:rPr lang="en"/>
              <a:t> method, it must also have a custom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/>
              <a:t> method that ensures </a:t>
            </a:r>
            <a:r>
              <a:rPr b="1" i="1" lang="en">
                <a:solidFill>
                  <a:srgbClr val="FF0000"/>
                </a:solidFill>
              </a:rPr>
              <a:t>equal items hash to the same location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practice, this normally means whatever values are used for equals are the values used in generating the hash code.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You can make a custom hash method by overriding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hashCode()</a:t>
            </a:r>
            <a:r>
              <a:rPr lang="en"/>
              <a:t> method inherited from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/>
              <a:t> base class.</a:t>
            </a:r>
            <a:endParaRPr/>
          </a:p>
        </p:txBody>
      </p:sp>
      <p:sp>
        <p:nvSpPr>
          <p:cNvPr id="804" name="Google Shape;804;p97"/>
          <p:cNvSpPr txBox="1"/>
          <p:nvPr>
            <p:ph idx="12" type="sldNum"/>
          </p:nvPr>
        </p:nvSpPr>
        <p:spPr>
          <a:xfrm>
            <a:off x="90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05" name="Google Shape;805;p97"/>
          <p:cNvSpPr txBox="1"/>
          <p:nvPr>
            <p:ph idx="3" type="body"/>
          </p:nvPr>
        </p:nvSpPr>
        <p:spPr>
          <a:xfrm>
            <a:off x="5192225" y="4089650"/>
            <a:ext cx="3706500" cy="80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Items that are equal </a:t>
            </a:r>
            <a:r>
              <a:rPr b="1" i="1" lang="en">
                <a:solidFill>
                  <a:srgbClr val="FF0000"/>
                </a:solidFill>
              </a:rPr>
              <a:t>must</a:t>
            </a:r>
            <a:r>
              <a:rPr lang="en"/>
              <a:t> hash to the same location or errors can occur.</a:t>
            </a:r>
            <a:endParaRPr/>
          </a:p>
        </p:txBody>
      </p:sp>
      <p:sp>
        <p:nvSpPr>
          <p:cNvPr id="806" name="Google Shape;806;p97"/>
          <p:cNvSpPr txBox="1"/>
          <p:nvPr>
            <p:ph type="title"/>
          </p:nvPr>
        </p:nvSpPr>
        <p:spPr>
          <a:xfrm>
            <a:off x="5264725" y="192525"/>
            <a:ext cx="3706500" cy="9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Equal Hash </a:t>
            </a:r>
            <a:r>
              <a:rPr lang="en"/>
              <a:t>Covenant</a:t>
            </a:r>
            <a:endParaRPr/>
          </a:p>
        </p:txBody>
      </p:sp>
      <p:pic>
        <p:nvPicPr>
          <p:cNvPr id="807" name="Google Shape;807;p97"/>
          <p:cNvPicPr preferRelativeResize="0"/>
          <p:nvPr/>
        </p:nvPicPr>
        <p:blipFill rotWithShape="1">
          <a:blip r:embed="rId3">
            <a:alphaModFix/>
          </a:blip>
          <a:srcRect b="0" l="13739" r="12627" t="0"/>
          <a:stretch/>
        </p:blipFill>
        <p:spPr>
          <a:xfrm>
            <a:off x="5192225" y="1361675"/>
            <a:ext cx="3706500" cy="25167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9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3" name="Google Shape;813;p98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Custom Hash</a:t>
            </a:r>
            <a:endParaRPr/>
          </a:p>
        </p:txBody>
      </p:sp>
      <p:sp>
        <p:nvSpPr>
          <p:cNvPr id="814" name="Google Shape;814;p98"/>
          <p:cNvSpPr txBox="1"/>
          <p:nvPr>
            <p:ph idx="1" type="body"/>
          </p:nvPr>
        </p:nvSpPr>
        <p:spPr>
          <a:xfrm>
            <a:off x="65250" y="731625"/>
            <a:ext cx="8955900" cy="7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Even though we have an equals we don't have the </a:t>
            </a:r>
            <a:r>
              <a:rPr lang="en"/>
              <a:t>equivalent</a:t>
            </a:r>
            <a:r>
              <a:rPr lang="en"/>
              <a:t> hash so items are slipping through that shouldn't be. Solve this by adding a hash method that uses the same data as equals.</a:t>
            </a:r>
            <a:endParaRPr/>
          </a:p>
        </p:txBody>
      </p:sp>
      <p:sp>
        <p:nvSpPr>
          <p:cNvPr id="815" name="Google Shape;815;p98"/>
          <p:cNvSpPr txBox="1"/>
          <p:nvPr>
            <p:ph idx="4" type="body"/>
          </p:nvPr>
        </p:nvSpPr>
        <p:spPr>
          <a:xfrm>
            <a:off x="121800" y="4367025"/>
            <a:ext cx="3043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Java objects, you can use their </a:t>
            </a:r>
            <a:r>
              <a:rPr b="1" i="1" lang="en">
                <a:solidFill>
                  <a:srgbClr val="FF0000"/>
                </a:solidFill>
              </a:rPr>
              <a:t>hashCode</a:t>
            </a:r>
            <a:r>
              <a:rPr lang="en"/>
              <a:t>. For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n"/>
              <a:t>s we normally just use the value directly.</a:t>
            </a:r>
            <a:endParaRPr/>
          </a:p>
        </p:txBody>
      </p:sp>
      <p:sp>
        <p:nvSpPr>
          <p:cNvPr id="816" name="Google Shape;816;p98"/>
          <p:cNvSpPr txBox="1"/>
          <p:nvPr>
            <p:ph idx="2" type="body"/>
          </p:nvPr>
        </p:nvSpPr>
        <p:spPr>
          <a:xfrm>
            <a:off x="3165300" y="1683725"/>
            <a:ext cx="5775900" cy="298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Add a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/>
              <a:t> method to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 class.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method should </a:t>
            </a:r>
            <a:r>
              <a:rPr b="1" i="1" lang="en">
                <a:solidFill>
                  <a:srgbClr val="FF0000"/>
                </a:solidFill>
              </a:rPr>
              <a:t>calculate a hash code</a:t>
            </a:r>
            <a:r>
              <a:rPr lang="en"/>
              <a:t> using only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's name.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Re-run your code and verify everything is working correctly.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Now add a new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 to the set that has the same name but a </a:t>
            </a:r>
            <a:r>
              <a:rPr b="1" i="1" lang="en">
                <a:solidFill>
                  <a:srgbClr val="FF0000"/>
                </a:solidFill>
              </a:rPr>
              <a:t>different weight</a:t>
            </a:r>
            <a:r>
              <a:rPr lang="en"/>
              <a:t>. I.E. </a:t>
            </a:r>
            <a:endParaRPr/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set.add (new GroceryItem ("Lays Chips", 14.5));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Run your code again and see what happens.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Update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GroceryItem</a:t>
            </a:r>
            <a:r>
              <a:rPr lang="en"/>
              <a:t>'s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equals</a:t>
            </a:r>
            <a:r>
              <a:rPr lang="en"/>
              <a:t> and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/>
              <a:t> to account for different weights. I.E. Two items with the same name but different weights are considered </a:t>
            </a:r>
            <a:r>
              <a:rPr b="1" i="1" lang="en">
                <a:solidFill>
                  <a:srgbClr val="FF0000"/>
                </a:solidFill>
              </a:rPr>
              <a:t>different</a:t>
            </a:r>
            <a:r>
              <a:rPr lang="en"/>
              <a:t> items.</a:t>
            </a:r>
            <a:endParaRPr/>
          </a:p>
        </p:txBody>
      </p:sp>
      <p:sp>
        <p:nvSpPr>
          <p:cNvPr id="817" name="Google Shape;817;p98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7.18</a:t>
            </a:r>
            <a:endParaRPr/>
          </a:p>
        </p:txBody>
      </p:sp>
      <p:sp>
        <p:nvSpPr>
          <p:cNvPr id="818" name="Google Shape;818;p98"/>
          <p:cNvSpPr txBox="1"/>
          <p:nvPr/>
        </p:nvSpPr>
        <p:spPr>
          <a:xfrm>
            <a:off x="121800" y="1431299"/>
            <a:ext cx="3043500" cy="29052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SSN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salary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@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Override</a:t>
            </a:r>
            <a:endParaRPr sz="1050">
              <a:solidFill>
                <a:srgbClr val="267F99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boolean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equals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instanceof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Slides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equals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       SSN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SSN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@</a:t>
            </a:r>
            <a:r>
              <a:rPr lang="en" sz="1050">
                <a:solidFill>
                  <a:srgbClr val="267F99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Override</a:t>
            </a:r>
            <a:endParaRPr sz="1050">
              <a:solidFill>
                <a:srgbClr val="267F99"/>
              </a:solidFill>
              <a:highlight>
                <a:srgbClr val="E7F0F8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hashCode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50">
              <a:solidFill>
                <a:srgbClr val="3B3B3B"/>
              </a:solidFill>
              <a:highlight>
                <a:srgbClr val="E7F0F8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50">
                <a:solidFill>
                  <a:srgbClr val="AF00D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hashCode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() </a:t>
            </a:r>
            <a:r>
              <a:rPr lang="en" sz="1050"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SSN</a:t>
            </a: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50">
              <a:solidFill>
                <a:srgbClr val="3B3B3B"/>
              </a:solidFill>
              <a:highlight>
                <a:srgbClr val="E7F0F8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E7F0F8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50">
              <a:solidFill>
                <a:srgbClr val="3B3B3B"/>
              </a:solidFill>
              <a:highlight>
                <a:srgbClr val="E7F0F8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99"/>
          <p:cNvSpPr txBox="1"/>
          <p:nvPr>
            <p:ph type="title"/>
          </p:nvPr>
        </p:nvSpPr>
        <p:spPr>
          <a:xfrm>
            <a:off x="5099350" y="7056"/>
            <a:ext cx="37995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JCF</a:t>
            </a:r>
            <a:r>
              <a:rPr lang="en" sz="2100"/>
              <a:t> Data Structures: </a:t>
            </a: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2100"/>
              <a:t>,</a:t>
            </a:r>
            <a:r>
              <a:rPr lang="en" sz="2100"/>
              <a:t> </a:t>
            </a: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 sz="2100"/>
              <a:t>, </a:t>
            </a: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2100"/>
              <a:t>, and </a:t>
            </a:r>
            <a:r>
              <a:rPr lang="en" sz="2100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endParaRPr sz="21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24" name="Google Shape;824;p99"/>
          <p:cNvSpPr txBox="1"/>
          <p:nvPr>
            <p:ph idx="12" type="sldNum"/>
          </p:nvPr>
        </p:nvSpPr>
        <p:spPr>
          <a:xfrm>
            <a:off x="14258" y="47394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5" name="Google Shape;825;p99"/>
          <p:cNvSpPr txBox="1"/>
          <p:nvPr>
            <p:ph idx="1" type="body"/>
          </p:nvPr>
        </p:nvSpPr>
        <p:spPr>
          <a:xfrm>
            <a:off x="0" y="288175"/>
            <a:ext cx="4754700" cy="422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Just like us, Java has a </a:t>
            </a:r>
            <a:r>
              <a:rPr b="1" i="1" lang="en">
                <a:solidFill>
                  <a:srgbClr val="FF0000"/>
                </a:solidFill>
              </a:rPr>
              <a:t>Set</a:t>
            </a:r>
            <a:r>
              <a:rPr lang="en"/>
              <a:t> and </a:t>
            </a:r>
            <a:r>
              <a:rPr b="1" i="1" lang="en">
                <a:solidFill>
                  <a:srgbClr val="FF0000"/>
                </a:solidFill>
              </a:rPr>
              <a:t>Map</a:t>
            </a:r>
            <a:r>
              <a:rPr lang="en"/>
              <a:t> interface along with two implementations for each.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</a:t>
            </a:r>
            <a:r>
              <a:rPr b="1" i="1" lang="en">
                <a:solidFill>
                  <a:srgbClr val="FF0000"/>
                </a:solidFill>
              </a:rPr>
              <a:t>TreeSet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in Java is an implementation of the </a:t>
            </a:r>
            <a:r>
              <a:rPr b="1" i="1" lang="en">
                <a:solidFill>
                  <a:srgbClr val="FF0000"/>
                </a:solidFill>
              </a:rPr>
              <a:t>Set</a:t>
            </a:r>
            <a:r>
              <a:rPr lang="en"/>
              <a:t> abstract data type that maintains its elements in sorted order.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</a:t>
            </a:r>
            <a:r>
              <a:rPr b="1" i="1" lang="en">
                <a:solidFill>
                  <a:srgbClr val="FF0000"/>
                </a:solidFill>
              </a:rPr>
              <a:t>HashSet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in Java is an implementation of the </a:t>
            </a:r>
            <a:r>
              <a:rPr b="1" i="1" lang="en">
                <a:solidFill>
                  <a:srgbClr val="FF0000"/>
                </a:solidFill>
              </a:rPr>
              <a:t>Set</a:t>
            </a:r>
            <a:r>
              <a:rPr lang="en"/>
              <a:t> abstract data type that uses hashing, similar to pythons. It does not maintain order.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</a:t>
            </a:r>
            <a:r>
              <a:rPr b="1" i="1" lang="en">
                <a:solidFill>
                  <a:srgbClr val="FF0000"/>
                </a:solidFill>
              </a:rPr>
              <a:t>TreeMap</a:t>
            </a:r>
            <a:r>
              <a:rPr lang="en"/>
              <a:t> in Java is an implementation of the </a:t>
            </a:r>
            <a:r>
              <a:rPr b="1" i="1" lang="en">
                <a:solidFill>
                  <a:srgbClr val="FF0000"/>
                </a:solidFill>
              </a:rPr>
              <a:t>Map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abstract data type that maintains its </a:t>
            </a:r>
            <a:r>
              <a:rPr b="1" i="1" lang="en">
                <a:solidFill>
                  <a:srgbClr val="FF0000"/>
                </a:solidFill>
              </a:rPr>
              <a:t>keys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in sorted order.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</a:t>
            </a:r>
            <a:r>
              <a:rPr b="1" i="1" lang="en">
                <a:solidFill>
                  <a:srgbClr val="FF0000"/>
                </a:solidFill>
              </a:rPr>
              <a:t>HashMap</a:t>
            </a:r>
            <a:r>
              <a:rPr lang="en"/>
              <a:t> in Java is an implementation of the </a:t>
            </a:r>
            <a:r>
              <a:rPr b="1" i="1" lang="en">
                <a:solidFill>
                  <a:srgbClr val="FF0000"/>
                </a:solidFill>
              </a:rPr>
              <a:t>Map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abstract data type that hashes on </a:t>
            </a:r>
            <a:r>
              <a:rPr b="1" i="1" lang="en">
                <a:solidFill>
                  <a:srgbClr val="FF0000"/>
                </a:solidFill>
              </a:rPr>
              <a:t>keys</a:t>
            </a:r>
            <a:r>
              <a:rPr lang="en">
                <a:solidFill>
                  <a:srgbClr val="666666"/>
                </a:solidFill>
              </a:rPr>
              <a:t>, similar to python's dictionary</a:t>
            </a:r>
            <a:r>
              <a:rPr lang="en"/>
              <a:t>. It also does not maintain order.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b="1" i="1" lang="en">
                <a:solidFill>
                  <a:srgbClr val="FF0000"/>
                </a:solidFill>
              </a:rPr>
              <a:t>Both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b="1" i="1" lang="en">
                <a:solidFill>
                  <a:srgbClr val="FF0000"/>
                </a:solidFill>
              </a:rPr>
              <a:t>tree-based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data structures (</a:t>
            </a:r>
            <a:r>
              <a:rPr b="1" lang="en"/>
              <a:t>TreeSet</a:t>
            </a:r>
            <a:r>
              <a:rPr lang="en"/>
              <a:t> and </a:t>
            </a:r>
            <a:r>
              <a:rPr b="1" lang="en"/>
              <a:t>TreeMap</a:t>
            </a:r>
            <a:r>
              <a:rPr lang="en"/>
              <a:t>) require that the elements implement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/>
              <a:t> or that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/>
              <a:t> is provided to help with the sorting.</a:t>
            </a:r>
            <a:endParaRPr/>
          </a:p>
        </p:txBody>
      </p:sp>
      <p:sp>
        <p:nvSpPr>
          <p:cNvPr id="826" name="Google Shape;826;p99"/>
          <p:cNvSpPr txBox="1"/>
          <p:nvPr>
            <p:ph idx="3" type="body"/>
          </p:nvPr>
        </p:nvSpPr>
        <p:spPr>
          <a:xfrm>
            <a:off x="5099263" y="3291425"/>
            <a:ext cx="3799500" cy="92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</a:t>
            </a:r>
            <a:r>
              <a:rPr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and </a:t>
            </a:r>
            <a:r>
              <a:rPr lang="en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are alternate implementations of abstract data types with which you are already familiar. They provide all of the same operations.</a:t>
            </a:r>
            <a:endParaRPr sz="1200"/>
          </a:p>
        </p:txBody>
      </p:sp>
      <p:pic>
        <p:nvPicPr>
          <p:cNvPr id="827" name="Google Shape;827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9350" y="1152375"/>
            <a:ext cx="3799374" cy="2035948"/>
          </a:xfrm>
          <a:prstGeom prst="rect">
            <a:avLst/>
          </a:prstGeom>
          <a:noFill/>
          <a:ln>
            <a:noFill/>
          </a:ln>
        </p:spPr>
      </p:pic>
      <p:sp>
        <p:nvSpPr>
          <p:cNvPr id="828" name="Google Shape;828;p99"/>
          <p:cNvSpPr txBox="1"/>
          <p:nvPr>
            <p:ph idx="3" type="body"/>
          </p:nvPr>
        </p:nvSpPr>
        <p:spPr>
          <a:xfrm>
            <a:off x="5099275" y="4317925"/>
            <a:ext cx="3799500" cy="73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fundamental difference is that both keep the values that they store </a:t>
            </a:r>
            <a:r>
              <a:rPr b="1" i="1" lang="en" sz="1200">
                <a:solidFill>
                  <a:srgbClr val="FF0000"/>
                </a:solidFill>
              </a:rPr>
              <a:t>in sorted order</a:t>
            </a:r>
            <a:r>
              <a:rPr lang="en" sz="1200"/>
              <a:t>. This makes them perform slightly </a:t>
            </a:r>
            <a:r>
              <a:rPr b="1" i="1" lang="en" sz="1200">
                <a:solidFill>
                  <a:srgbClr val="FF0000"/>
                </a:solidFill>
              </a:rPr>
              <a:t>slower</a:t>
            </a:r>
            <a:r>
              <a:rPr lang="en" sz="1200"/>
              <a:t>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100"/>
          <p:cNvSpPr txBox="1"/>
          <p:nvPr>
            <p:ph idx="1" type="body"/>
          </p:nvPr>
        </p:nvSpPr>
        <p:spPr>
          <a:xfrm>
            <a:off x="4383775" y="109800"/>
            <a:ext cx="4608300" cy="48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You should recall that the primary characteristic of a </a:t>
            </a:r>
            <a:r>
              <a:rPr b="1" i="1" lang="en">
                <a:solidFill>
                  <a:srgbClr val="FF0000"/>
                </a:solidFill>
              </a:rPr>
              <a:t>set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is that it guarantees that its elements are </a:t>
            </a:r>
            <a:r>
              <a:rPr b="1" i="1" lang="en">
                <a:solidFill>
                  <a:srgbClr val="FF0000"/>
                </a:solidFill>
              </a:rPr>
              <a:t>unique</a:t>
            </a:r>
            <a:r>
              <a:rPr lang="en"/>
              <a:t>. 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set ADT provides at least the following operations: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add(E)</a:t>
            </a:r>
            <a:r>
              <a:rPr lang="en"/>
              <a:t> - adds an element to the set.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remove(E)</a:t>
            </a:r>
            <a:r>
              <a:rPr lang="en"/>
              <a:t> - removes an element from the set.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contains(E)</a:t>
            </a:r>
            <a:r>
              <a:rPr lang="en"/>
              <a:t> - returns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/>
              <a:t> if the element is in the set, and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/>
              <a:t> otherwise.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size()</a:t>
            </a:r>
            <a:r>
              <a:rPr lang="en"/>
              <a:t> - returns the number of elements in the set.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hash set</a:t>
            </a:r>
            <a:r>
              <a:rPr lang="en"/>
              <a:t> provides constant time (</a:t>
            </a:r>
            <a:r>
              <a:rPr i="1" lang="en"/>
              <a:t>O(1)</a:t>
            </a:r>
            <a:r>
              <a:rPr lang="en"/>
              <a:t>) performance for all basic operations.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 drawback is that the elements are stored in an unpredictable order.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Java's implementation is </a:t>
            </a:r>
            <a:r>
              <a:rPr lang="en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java.util.HashSet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tree set</a:t>
            </a:r>
            <a:r>
              <a:rPr lang="en"/>
              <a:t> maintains its elements in </a:t>
            </a:r>
            <a:r>
              <a:rPr b="1" i="1" lang="en">
                <a:solidFill>
                  <a:srgbClr val="FF0000"/>
                </a:solidFill>
              </a:rPr>
              <a:t>sorted order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means that the elements must implement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/>
              <a:t> or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/>
              <a:t> must be provided.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Elements are stored in a </a:t>
            </a:r>
            <a:r>
              <a:rPr b="1" i="1" lang="en">
                <a:solidFill>
                  <a:srgbClr val="FF0000"/>
                </a:solidFill>
              </a:rPr>
              <a:t>binary tree</a:t>
            </a:r>
            <a:r>
              <a:rPr lang="en"/>
              <a:t> similar to a heap.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 expected time complexity of most basic operations is therefore </a:t>
            </a:r>
            <a:r>
              <a:rPr i="1" lang="en"/>
              <a:t>O(log</a:t>
            </a:r>
            <a:r>
              <a:rPr baseline="-25000" i="1" lang="en"/>
              <a:t>2</a:t>
            </a:r>
            <a:r>
              <a:rPr i="1" lang="en"/>
              <a:t>n)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Java's implementation is </a:t>
            </a:r>
            <a:r>
              <a:rPr lang="en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java.util.TreeSet</a:t>
            </a:r>
            <a:r>
              <a:rPr lang="en"/>
              <a:t>.</a:t>
            </a:r>
            <a:endParaRPr/>
          </a:p>
        </p:txBody>
      </p:sp>
      <p:sp>
        <p:nvSpPr>
          <p:cNvPr id="834" name="Google Shape;834;p100"/>
          <p:cNvSpPr txBox="1"/>
          <p:nvPr>
            <p:ph idx="12" type="sldNum"/>
          </p:nvPr>
        </p:nvSpPr>
        <p:spPr>
          <a:xfrm>
            <a:off x="8555892" y="473218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35" name="Google Shape;835;p100"/>
          <p:cNvSpPr txBox="1"/>
          <p:nvPr>
            <p:ph type="title"/>
          </p:nvPr>
        </p:nvSpPr>
        <p:spPr>
          <a:xfrm>
            <a:off x="311725" y="196125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JCF Sets</a:t>
            </a:r>
            <a:endParaRPr/>
          </a:p>
        </p:txBody>
      </p:sp>
      <p:sp>
        <p:nvSpPr>
          <p:cNvPr id="836" name="Google Shape;836;p100"/>
          <p:cNvSpPr txBox="1"/>
          <p:nvPr>
            <p:ph idx="3" type="body"/>
          </p:nvPr>
        </p:nvSpPr>
        <p:spPr>
          <a:xfrm>
            <a:off x="194125" y="834225"/>
            <a:ext cx="3942000" cy="58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Java provides two main set implementations: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 sz="1200"/>
              <a:t> and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200"/>
              <a:t>.</a:t>
            </a:r>
            <a:endParaRPr sz="1200"/>
          </a:p>
        </p:txBody>
      </p:sp>
      <p:sp>
        <p:nvSpPr>
          <p:cNvPr id="837" name="Google Shape;837;p100"/>
          <p:cNvSpPr txBox="1"/>
          <p:nvPr/>
        </p:nvSpPr>
        <p:spPr>
          <a:xfrm>
            <a:off x="194125" y="1554125"/>
            <a:ext cx="3942000" cy="20433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1 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&lt;&gt;();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2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"z"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3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"y"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4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"x"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5  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6 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8  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100"/>
          <p:cNvSpPr txBox="1"/>
          <p:nvPr>
            <p:ph idx="3" type="body"/>
          </p:nvPr>
        </p:nvSpPr>
        <p:spPr>
          <a:xfrm>
            <a:off x="193975" y="3735625"/>
            <a:ext cx="3942000" cy="79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 sz="1200"/>
              <a:t> is faster, but it's elements are stored in arbitrary order. The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200"/>
              <a:t> maintains its elements in sorted order at the cost of time complexity.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10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4" name="Google Shape;844;p101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Closer Look at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endParaRPr/>
          </a:p>
        </p:txBody>
      </p:sp>
      <p:sp>
        <p:nvSpPr>
          <p:cNvPr id="845" name="Google Shape;845;p101"/>
          <p:cNvSpPr txBox="1"/>
          <p:nvPr/>
        </p:nvSpPr>
        <p:spPr>
          <a:xfrm>
            <a:off x="2829300" y="1975925"/>
            <a:ext cx="3485400" cy="20433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1 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&lt;&gt;();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2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"z"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3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"y"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4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"x"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5  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6 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8  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0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1" name="Google Shape;851;p102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Closer Look at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endParaRPr/>
          </a:p>
        </p:txBody>
      </p:sp>
      <p:sp>
        <p:nvSpPr>
          <p:cNvPr id="852" name="Google Shape;852;p102"/>
          <p:cNvSpPr txBox="1"/>
          <p:nvPr/>
        </p:nvSpPr>
        <p:spPr>
          <a:xfrm>
            <a:off x="2829300" y="1975925"/>
            <a:ext cx="3485400" cy="20433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1 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TreeSet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&lt;&gt;();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2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"z"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3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"y"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4 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"x"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5  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6 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1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1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1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8  </a:t>
            </a:r>
            <a:r>
              <a:rPr lang="en" sz="11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102"/>
          <p:cNvSpPr/>
          <p:nvPr/>
        </p:nvSpPr>
        <p:spPr>
          <a:xfrm>
            <a:off x="2617600" y="1603174"/>
            <a:ext cx="599725" cy="490410"/>
          </a:xfrm>
          <a:custGeom>
            <a:rect b="b" l="l" r="r" t="t"/>
            <a:pathLst>
              <a:path extrusionOk="0" h="18000" w="23989">
                <a:moveTo>
                  <a:pt x="0" y="5017"/>
                </a:moveTo>
                <a:cubicBezTo>
                  <a:pt x="2258" y="4265"/>
                  <a:pt x="9549" y="-1662"/>
                  <a:pt x="13547" y="502"/>
                </a:cubicBezTo>
                <a:cubicBezTo>
                  <a:pt x="17545" y="2666"/>
                  <a:pt x="22249" y="15084"/>
                  <a:pt x="23989" y="18000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854" name="Google Shape;854;p102"/>
          <p:cNvSpPr txBox="1"/>
          <p:nvPr/>
        </p:nvSpPr>
        <p:spPr>
          <a:xfrm>
            <a:off x="169325" y="1354675"/>
            <a:ext cx="2547300" cy="7389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200"/>
              <a:t> is an implementation of the same abstract data type as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 sz="1200"/>
              <a:t>.</a:t>
            </a:r>
            <a:endParaRPr sz="1200"/>
          </a:p>
        </p:txBody>
      </p:sp>
      <p:sp>
        <p:nvSpPr>
          <p:cNvPr id="855" name="Google Shape;855;p102"/>
          <p:cNvSpPr/>
          <p:nvPr/>
        </p:nvSpPr>
        <p:spPr>
          <a:xfrm>
            <a:off x="3831175" y="1415358"/>
            <a:ext cx="2645825" cy="673100"/>
          </a:xfrm>
          <a:custGeom>
            <a:rect b="b" l="l" r="r" t="t"/>
            <a:pathLst>
              <a:path extrusionOk="0" h="26924" w="105833">
                <a:moveTo>
                  <a:pt x="105833" y="11966"/>
                </a:moveTo>
                <a:cubicBezTo>
                  <a:pt x="90593" y="10038"/>
                  <a:pt x="32032" y="-2098"/>
                  <a:pt x="14393" y="395"/>
                </a:cubicBezTo>
                <a:cubicBezTo>
                  <a:pt x="-3246" y="2888"/>
                  <a:pt x="2399" y="22503"/>
                  <a:pt x="0" y="26924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856" name="Google Shape;856;p102"/>
          <p:cNvSpPr txBox="1"/>
          <p:nvPr/>
        </p:nvSpPr>
        <p:spPr>
          <a:xfrm>
            <a:off x="6427375" y="1354675"/>
            <a:ext cx="2547300" cy="5541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type used with 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200"/>
              <a:t> must be naturally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 sz="1200"/>
              <a:t>…</a:t>
            </a:r>
            <a:endParaRPr sz="1200"/>
          </a:p>
        </p:txBody>
      </p:sp>
      <p:sp>
        <p:nvSpPr>
          <p:cNvPr id="857" name="Google Shape;857;p102"/>
          <p:cNvSpPr txBox="1"/>
          <p:nvPr/>
        </p:nvSpPr>
        <p:spPr>
          <a:xfrm>
            <a:off x="6427375" y="2680625"/>
            <a:ext cx="2547300" cy="330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TreeSet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&lt;&gt;(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DogComparator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1100"/>
          </a:p>
        </p:txBody>
      </p:sp>
      <p:sp>
        <p:nvSpPr>
          <p:cNvPr id="858" name="Google Shape;858;p102"/>
          <p:cNvSpPr/>
          <p:nvPr/>
        </p:nvSpPr>
        <p:spPr>
          <a:xfrm>
            <a:off x="8226775" y="2497675"/>
            <a:ext cx="171100" cy="296325"/>
          </a:xfrm>
          <a:custGeom>
            <a:rect b="b" l="l" r="r" t="t"/>
            <a:pathLst>
              <a:path extrusionOk="0" h="11853" w="6844">
                <a:moveTo>
                  <a:pt x="0" y="0"/>
                </a:moveTo>
                <a:cubicBezTo>
                  <a:pt x="1129" y="753"/>
                  <a:pt x="6491" y="2540"/>
                  <a:pt x="6773" y="4515"/>
                </a:cubicBezTo>
                <a:cubicBezTo>
                  <a:pt x="7055" y="6491"/>
                  <a:pt x="2540" y="10630"/>
                  <a:pt x="1693" y="11853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859" name="Google Shape;859;p102"/>
          <p:cNvSpPr txBox="1"/>
          <p:nvPr/>
        </p:nvSpPr>
        <p:spPr>
          <a:xfrm>
            <a:off x="6427375" y="2017650"/>
            <a:ext cx="2547300" cy="5541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…</a:t>
            </a:r>
            <a:r>
              <a:rPr b="1" i="1" lang="en" sz="1200"/>
              <a:t>or</a:t>
            </a:r>
            <a:r>
              <a:rPr lang="en" sz="1200"/>
              <a:t> 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 sz="1200"/>
              <a:t> can be passed into the constructor, e.g.:</a:t>
            </a:r>
            <a:endParaRPr sz="1200"/>
          </a:p>
        </p:txBody>
      </p:sp>
      <p:sp>
        <p:nvSpPr>
          <p:cNvPr id="860" name="Google Shape;860;p102"/>
          <p:cNvSpPr/>
          <p:nvPr/>
        </p:nvSpPr>
        <p:spPr>
          <a:xfrm>
            <a:off x="2532950" y="2716400"/>
            <a:ext cx="635000" cy="384375"/>
          </a:xfrm>
          <a:custGeom>
            <a:rect b="b" l="l" r="r" t="t"/>
            <a:pathLst>
              <a:path extrusionOk="0" h="15375" w="25400">
                <a:moveTo>
                  <a:pt x="0" y="11006"/>
                </a:moveTo>
                <a:cubicBezTo>
                  <a:pt x="1882" y="11665"/>
                  <a:pt x="7056" y="16791"/>
                  <a:pt x="11289" y="14957"/>
                </a:cubicBezTo>
                <a:cubicBezTo>
                  <a:pt x="15522" y="13123"/>
                  <a:pt x="23048" y="2493"/>
                  <a:pt x="25400" y="0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861" name="Google Shape;861;p102"/>
          <p:cNvSpPr txBox="1"/>
          <p:nvPr/>
        </p:nvSpPr>
        <p:spPr>
          <a:xfrm>
            <a:off x="169325" y="2455000"/>
            <a:ext cx="2547300" cy="9234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200"/>
              <a:t> provides all of the same operations as 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 sz="1200"/>
              <a:t>, and also guarantees that the elements are unique…</a:t>
            </a:r>
            <a:endParaRPr sz="1200"/>
          </a:p>
        </p:txBody>
      </p:sp>
      <p:sp>
        <p:nvSpPr>
          <p:cNvPr id="862" name="Google Shape;862;p102"/>
          <p:cNvSpPr txBox="1"/>
          <p:nvPr/>
        </p:nvSpPr>
        <p:spPr>
          <a:xfrm>
            <a:off x="2836325" y="4106325"/>
            <a:ext cx="3478500" cy="831300"/>
          </a:xfrm>
          <a:prstGeom prst="rect">
            <a:avLst/>
          </a:prstGeom>
          <a:solidFill>
            <a:srgbClr val="000000"/>
          </a:solidFill>
          <a:ln cap="flat" cmpd="sng" w="19050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x</a:t>
            </a:r>
            <a:endParaRPr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y</a:t>
            </a:r>
            <a:endParaRPr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z</a:t>
            </a:r>
            <a:endParaRPr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p102"/>
          <p:cNvSpPr/>
          <p:nvPr/>
        </p:nvSpPr>
        <p:spPr>
          <a:xfrm>
            <a:off x="2582325" y="3457225"/>
            <a:ext cx="656175" cy="451567"/>
          </a:xfrm>
          <a:custGeom>
            <a:rect b="b" l="l" r="r" t="t"/>
            <a:pathLst>
              <a:path extrusionOk="0" h="27285" w="26247">
                <a:moveTo>
                  <a:pt x="0" y="23424"/>
                </a:moveTo>
                <a:cubicBezTo>
                  <a:pt x="1458" y="23847"/>
                  <a:pt x="4375" y="29868"/>
                  <a:pt x="8749" y="25964"/>
                </a:cubicBezTo>
                <a:cubicBezTo>
                  <a:pt x="13124" y="22060"/>
                  <a:pt x="23331" y="4327"/>
                  <a:pt x="26247" y="0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864" name="Google Shape;864;p102"/>
          <p:cNvSpPr txBox="1"/>
          <p:nvPr/>
        </p:nvSpPr>
        <p:spPr>
          <a:xfrm>
            <a:off x="169325" y="3739825"/>
            <a:ext cx="2547300" cy="9234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major difference that you will notice is that, when iterating over the elements, they are in </a:t>
            </a:r>
            <a:r>
              <a:rPr b="1" i="1" lang="en" sz="1200">
                <a:solidFill>
                  <a:srgbClr val="FF0000"/>
                </a:solidFill>
              </a:rPr>
              <a:t>sorted order</a:t>
            </a:r>
            <a:r>
              <a:rPr lang="en" sz="1200"/>
              <a:t>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103"/>
          <p:cNvSpPr txBox="1"/>
          <p:nvPr>
            <p:ph idx="1" type="body"/>
          </p:nvPr>
        </p:nvSpPr>
        <p:spPr>
          <a:xfrm>
            <a:off x="65250" y="731625"/>
            <a:ext cx="8955900" cy="9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There is nothing like conducting an experiment to see how the different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/>
              <a:t> implementations work. Practice using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/>
              <a:t> and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 to store strings and see how they behave differently.</a:t>
            </a:r>
            <a:endParaRPr/>
          </a:p>
        </p:txBody>
      </p:sp>
      <p:sp>
        <p:nvSpPr>
          <p:cNvPr id="870" name="Google Shape;870;p10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71" name="Google Shape;871;p103"/>
          <p:cNvSpPr txBox="1"/>
          <p:nvPr>
            <p:ph idx="2" type="body"/>
          </p:nvPr>
        </p:nvSpPr>
        <p:spPr>
          <a:xfrm>
            <a:off x="2916500" y="1708325"/>
            <a:ext cx="5948700" cy="297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Create a new Java class named "</a:t>
            </a:r>
            <a:r>
              <a:rPr lang="en" sz="14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SetsAndMaps</a:t>
            </a:r>
            <a:r>
              <a:rPr lang="en" sz="1400"/>
              <a:t>" and define a method named "</a:t>
            </a:r>
            <a:r>
              <a:rPr lang="en" sz="14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addAndPrint</a:t>
            </a:r>
            <a:r>
              <a:rPr lang="en" sz="1400"/>
              <a:t>" that declares a parameter for a 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Set&lt;String&gt;</a:t>
            </a:r>
            <a:r>
              <a:rPr lang="en" sz="1400"/>
              <a:t>.</a:t>
            </a:r>
            <a:endParaRPr sz="14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Add at least 5 strings to the set in no particular order. Make sure to vary the case of the first letters of the strings, e.g.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"aardvark"</a:t>
            </a:r>
            <a:r>
              <a:rPr lang="en" sz="1200"/>
              <a:t>,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"Zoo"</a:t>
            </a:r>
            <a:r>
              <a:rPr lang="en" sz="1200"/>
              <a:t>,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"Monkey"</a:t>
            </a:r>
            <a:r>
              <a:rPr lang="en" sz="1200"/>
              <a:t>,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"zebra"</a:t>
            </a:r>
            <a:r>
              <a:rPr lang="en" sz="1200"/>
              <a:t>,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"shark"</a:t>
            </a:r>
            <a:r>
              <a:rPr lang="en" sz="1200"/>
              <a:t>.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Use 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200"/>
              <a:t>-each loop to iterate over the values in the set and print them to standard output.</a:t>
            </a:r>
            <a:endParaRPr sz="1200"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Define a 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400"/>
              <a:t> method with the appropriate signature.</a:t>
            </a:r>
            <a:endParaRPr sz="1400"/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SzPts val="1000"/>
              <a:buChar char="○"/>
            </a:pPr>
            <a:r>
              <a:rPr lang="en" sz="1200"/>
              <a:t>Call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addAndPrint</a:t>
            </a:r>
            <a:r>
              <a:rPr lang="en" sz="1200"/>
              <a:t> with an empty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HashSet&lt;String</a:t>
            </a:r>
            <a:r>
              <a:rPr lang="en" sz="1200"/>
              <a:t>&gt;.</a:t>
            </a:r>
            <a:endParaRPr sz="1200"/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SzPts val="1000"/>
              <a:buChar char="○"/>
            </a:pPr>
            <a:r>
              <a:rPr lang="en" sz="1200"/>
              <a:t>Call it a second time with an empty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TreeSet&lt;String&gt;</a:t>
            </a:r>
            <a:r>
              <a:rPr lang="en" sz="1200"/>
              <a:t>.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Run your code.</a:t>
            </a:r>
            <a:endParaRPr sz="1200"/>
          </a:p>
        </p:txBody>
      </p:sp>
      <p:sp>
        <p:nvSpPr>
          <p:cNvPr id="872" name="Google Shape;872;p103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 Practice</a:t>
            </a:r>
            <a:endParaRPr/>
          </a:p>
        </p:txBody>
      </p:sp>
      <p:sp>
        <p:nvSpPr>
          <p:cNvPr id="873" name="Google Shape;873;p103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7.19</a:t>
            </a:r>
            <a:endParaRPr/>
          </a:p>
        </p:txBody>
      </p:sp>
      <p:sp>
        <p:nvSpPr>
          <p:cNvPr id="874" name="Google Shape;874;p103"/>
          <p:cNvSpPr txBox="1"/>
          <p:nvPr/>
        </p:nvSpPr>
        <p:spPr>
          <a:xfrm>
            <a:off x="134075" y="1786750"/>
            <a:ext cx="2709300" cy="1720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TreeSet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&lt;&gt;();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"z"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"y"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"x"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103"/>
          <p:cNvSpPr txBox="1"/>
          <p:nvPr/>
        </p:nvSpPr>
        <p:spPr>
          <a:xfrm>
            <a:off x="134075" y="3649050"/>
            <a:ext cx="2709300" cy="7389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We are using </a:t>
            </a:r>
            <a:r>
              <a:rPr b="1" i="1" lang="en" sz="1200">
                <a:solidFill>
                  <a:srgbClr val="FF0000"/>
                </a:solidFill>
              </a:rPr>
              <a:t>polymorphism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to write code that will work with any kind of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Set</a:t>
            </a:r>
            <a:r>
              <a:rPr lang="en" sz="1200"/>
              <a:t>.</a:t>
            </a:r>
            <a:endParaRPr sz="12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04"/>
          <p:cNvSpPr txBox="1"/>
          <p:nvPr>
            <p:ph idx="1" type="body"/>
          </p:nvPr>
        </p:nvSpPr>
        <p:spPr>
          <a:xfrm>
            <a:off x="65250" y="731625"/>
            <a:ext cx="8955900" cy="9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You may have noticed that the natural ordering of strings arranges capital letters before lowercase letters, e.g.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"Zoo"</a:t>
            </a:r>
            <a:r>
              <a:rPr lang="en"/>
              <a:t> comes before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"aardvark"</a:t>
            </a:r>
            <a:r>
              <a:rPr lang="en"/>
              <a:t>. Let's fix that by writing a custom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/>
              <a:t>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/>
              <a:t> and providing it to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 to use in sorting.</a:t>
            </a:r>
            <a:endParaRPr/>
          </a:p>
        </p:txBody>
      </p:sp>
      <p:sp>
        <p:nvSpPr>
          <p:cNvPr id="881" name="Google Shape;881;p10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2" name="Google Shape;882;p104"/>
          <p:cNvSpPr txBox="1"/>
          <p:nvPr>
            <p:ph idx="2" type="body"/>
          </p:nvPr>
        </p:nvSpPr>
        <p:spPr>
          <a:xfrm>
            <a:off x="3257275" y="1784525"/>
            <a:ext cx="5683800" cy="253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Create a new Java class named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AlphabeticComparator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that implements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Comparator&lt;String</a:t>
            </a:r>
            <a:r>
              <a:rPr lang="en"/>
              <a:t>&gt;.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Override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compare</a:t>
            </a:r>
            <a:r>
              <a:rPr lang="en"/>
              <a:t> method to compare two strings.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Convert the strings to </a:t>
            </a:r>
            <a:r>
              <a:rPr b="1" i="1" lang="en">
                <a:solidFill>
                  <a:srgbClr val="FF0000"/>
                </a:solidFill>
              </a:rPr>
              <a:t>lowercase</a:t>
            </a:r>
            <a:r>
              <a:rPr lang="en"/>
              <a:t>, then compare the first to the second, e.g.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a.compareTo(b)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Return the result.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/>
              <a:t> method in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SetsAndMaps</a:t>
            </a:r>
            <a:r>
              <a:rPr lang="en"/>
              <a:t> class: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Create an instance of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AlphabeticComparator</a:t>
            </a:r>
            <a:r>
              <a:rPr lang="en"/>
              <a:t> and pass it into the constructor of a new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TreeSet&lt;String&gt;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Call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addAndPrint</a:t>
            </a:r>
            <a:r>
              <a:rPr lang="en"/>
              <a:t> method with the new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Run your code!</a:t>
            </a:r>
            <a:endParaRPr/>
          </a:p>
        </p:txBody>
      </p:sp>
      <p:sp>
        <p:nvSpPr>
          <p:cNvPr id="883" name="Google Shape;883;p104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More </a:t>
            </a:r>
            <a:r>
              <a:rPr lang="en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>
                <a:solidFill>
                  <a:schemeClr val="lt1"/>
                </a:solidFill>
              </a:rPr>
              <a:t> Practice</a:t>
            </a:r>
            <a:endParaRPr/>
          </a:p>
        </p:txBody>
      </p:sp>
      <p:sp>
        <p:nvSpPr>
          <p:cNvPr id="884" name="Google Shape;884;p104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7.20</a:t>
            </a:r>
            <a:endParaRPr/>
          </a:p>
        </p:txBody>
      </p:sp>
      <p:sp>
        <p:nvSpPr>
          <p:cNvPr id="885" name="Google Shape;885;p104"/>
          <p:cNvSpPr txBox="1"/>
          <p:nvPr/>
        </p:nvSpPr>
        <p:spPr>
          <a:xfrm>
            <a:off x="147750" y="1814150"/>
            <a:ext cx="3011400" cy="1708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AlienComp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implements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Comparator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Alien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&gt; {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   @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Override</a:t>
            </a:r>
            <a:endParaRPr sz="900">
              <a:solidFill>
                <a:srgbClr val="267F99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9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compare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Alien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o1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Alien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o2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sym1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o1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getSymbol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9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sym2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o2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getSymbol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9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            sym1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compareToIgnoreCase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sym2</a:t>
            </a: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    } 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900">
              <a:solidFill>
                <a:srgbClr val="4A86E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105"/>
          <p:cNvSpPr txBox="1"/>
          <p:nvPr>
            <p:ph idx="12" type="sldNum"/>
          </p:nvPr>
        </p:nvSpPr>
        <p:spPr>
          <a:xfrm>
            <a:off x="14258" y="47394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1" name="Google Shape;891;p105"/>
          <p:cNvSpPr txBox="1"/>
          <p:nvPr>
            <p:ph type="title"/>
          </p:nvPr>
        </p:nvSpPr>
        <p:spPr>
          <a:xfrm>
            <a:off x="4942775" y="171525"/>
            <a:ext cx="41001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Java Maps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(dictionary)</a:t>
            </a:r>
            <a:endParaRPr sz="1800"/>
          </a:p>
        </p:txBody>
      </p:sp>
      <p:sp>
        <p:nvSpPr>
          <p:cNvPr id="892" name="Google Shape;892;p105"/>
          <p:cNvSpPr txBox="1"/>
          <p:nvPr>
            <p:ph idx="1" type="body"/>
          </p:nvPr>
        </p:nvSpPr>
        <p:spPr>
          <a:xfrm>
            <a:off x="65100" y="63025"/>
            <a:ext cx="4673400" cy="50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Java's equivalent to the Python dictionary is the </a:t>
            </a:r>
            <a:r>
              <a:rPr b="1" i="1" lang="en">
                <a:solidFill>
                  <a:srgbClr val="FF0000"/>
                </a:solidFill>
              </a:rPr>
              <a:t>map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map ADT provides at least the following operations: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put(K,V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/>
              <a:t> - adds the specified key/value pair to the map.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get(K)</a:t>
            </a:r>
            <a:r>
              <a:rPr lang="en"/>
              <a:t> - returns the value associated with the key.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remove(K)</a:t>
            </a:r>
            <a:r>
              <a:rPr lang="en"/>
              <a:t> - removes the specified key and its value from the map and returns the value.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containsKey(K)</a:t>
            </a:r>
            <a:r>
              <a:rPr lang="en"/>
              <a:t> - returns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/>
              <a:t> if the key is in the map, and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/>
              <a:t> otherwise.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size()</a:t>
            </a:r>
            <a:r>
              <a:rPr lang="en"/>
              <a:t> - returns the number of key/value pairs in the map.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hash map</a:t>
            </a:r>
            <a:r>
              <a:rPr lang="en"/>
              <a:t> provides constant time </a:t>
            </a:r>
            <a:r>
              <a:rPr i="1" lang="en"/>
              <a:t>(O(1))</a:t>
            </a:r>
            <a:r>
              <a:rPr lang="en"/>
              <a:t> performance for all basic operations.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 drawback is that the keys are stored in an unpredictable order.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Java's implementation is </a:t>
            </a:r>
            <a:r>
              <a:rPr lang="en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java.util.HashMap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>
                <a:solidFill>
                  <a:srgbClr val="FF0000"/>
                </a:solidFill>
              </a:rPr>
              <a:t>tree map</a:t>
            </a:r>
            <a:r>
              <a:rPr lang="en"/>
              <a:t> maintains its keys in </a:t>
            </a:r>
            <a:r>
              <a:rPr b="1" i="1" lang="en">
                <a:solidFill>
                  <a:srgbClr val="FF0000"/>
                </a:solidFill>
              </a:rPr>
              <a:t>sorted order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means that the keys must implement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/>
              <a:t> or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/>
              <a:t> must be provided.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Like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, the expected complexity of all basic operations is </a:t>
            </a:r>
            <a:r>
              <a:rPr i="1" lang="en"/>
              <a:t>O(log</a:t>
            </a:r>
            <a:r>
              <a:rPr baseline="-25000" i="1" lang="en"/>
              <a:t>2</a:t>
            </a:r>
            <a:r>
              <a:rPr i="1" lang="en"/>
              <a:t>n)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Java's implementation is </a:t>
            </a:r>
            <a:r>
              <a:rPr lang="en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java.util.TreeMap</a:t>
            </a:r>
            <a:r>
              <a:rPr lang="en"/>
              <a:t>.</a:t>
            </a:r>
            <a:endParaRPr/>
          </a:p>
        </p:txBody>
      </p:sp>
      <p:sp>
        <p:nvSpPr>
          <p:cNvPr id="893" name="Google Shape;893;p105"/>
          <p:cNvSpPr txBox="1"/>
          <p:nvPr>
            <p:ph idx="3" type="body"/>
          </p:nvPr>
        </p:nvSpPr>
        <p:spPr>
          <a:xfrm>
            <a:off x="4942775" y="1214775"/>
            <a:ext cx="4100100" cy="58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Java provides two main map implementations: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 sz="1200"/>
              <a:t> and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200"/>
              <a:t>.</a:t>
            </a:r>
            <a:endParaRPr/>
          </a:p>
        </p:txBody>
      </p:sp>
      <p:sp>
        <p:nvSpPr>
          <p:cNvPr id="894" name="Google Shape;894;p105"/>
          <p:cNvSpPr txBox="1"/>
          <p:nvPr/>
        </p:nvSpPr>
        <p:spPr>
          <a:xfrm>
            <a:off x="4942775" y="1884438"/>
            <a:ext cx="4100100" cy="1918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Map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TreeMap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&lt;&gt;(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DogComparator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"Buttercup"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"Flash"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BLOODHOUND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"Hermione"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"Princess Fluffypants"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CORGIE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keySet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()) {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95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95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 is a "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95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950">
              <a:solidFill>
                <a:srgbClr val="267F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5" name="Google Shape;895;p105"/>
          <p:cNvSpPr txBox="1"/>
          <p:nvPr>
            <p:ph idx="3" type="body"/>
          </p:nvPr>
        </p:nvSpPr>
        <p:spPr>
          <a:xfrm>
            <a:off x="4959275" y="3890925"/>
            <a:ext cx="4067100" cy="79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 sz="1200"/>
              <a:t> is faster, but it's keys are stored in arbitrary order. The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200"/>
              <a:t> maintains its keys in sorted order at the cost of time complexity.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9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10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1" name="Google Shape;901;p10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Closer Look at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endParaRPr/>
          </a:p>
        </p:txBody>
      </p:sp>
      <p:sp>
        <p:nvSpPr>
          <p:cNvPr id="902" name="Google Shape;902;p106"/>
          <p:cNvSpPr txBox="1"/>
          <p:nvPr/>
        </p:nvSpPr>
        <p:spPr>
          <a:xfrm>
            <a:off x="2439750" y="2138225"/>
            <a:ext cx="4264500" cy="1918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Map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TreeMap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&lt;&gt;(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DogAgeComparator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"Buttercup"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"Flash"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BLOODHOUND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"Hermione"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"Princess Fluffypants"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CORGIE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chemeClr val="dk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keySet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()) {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 is a 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950">
              <a:solidFill>
                <a:srgbClr val="267F99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0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8" name="Google Shape;908;p107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Closer Look at the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09" name="Google Shape;909;p107"/>
          <p:cNvSpPr txBox="1"/>
          <p:nvPr/>
        </p:nvSpPr>
        <p:spPr>
          <a:xfrm>
            <a:off x="2439750" y="2138225"/>
            <a:ext cx="4264500" cy="19185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Map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TreeMap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&lt;&gt;(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DogAgeComparator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"Buttercup"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"Flash"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BLOODHOUND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"Hermione"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"Princess Fluffypants"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95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CORGIE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chemeClr val="dk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keySet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()) {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950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0070C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95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" is a "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95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95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950"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950">
              <a:solidFill>
                <a:srgbClr val="267F99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0" name="Google Shape;910;p107"/>
          <p:cNvSpPr/>
          <p:nvPr/>
        </p:nvSpPr>
        <p:spPr>
          <a:xfrm>
            <a:off x="2307175" y="1678700"/>
            <a:ext cx="910150" cy="550850"/>
          </a:xfrm>
          <a:custGeom>
            <a:rect b="b" l="l" r="r" t="t"/>
            <a:pathLst>
              <a:path extrusionOk="0" h="22034" w="13388">
                <a:moveTo>
                  <a:pt x="0" y="4254"/>
                </a:moveTo>
                <a:cubicBezTo>
                  <a:pt x="2211" y="3690"/>
                  <a:pt x="12277" y="-2095"/>
                  <a:pt x="13265" y="868"/>
                </a:cubicBezTo>
                <a:cubicBezTo>
                  <a:pt x="14253" y="3831"/>
                  <a:pt x="7150" y="18506"/>
                  <a:pt x="5927" y="22034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911" name="Google Shape;911;p107"/>
          <p:cNvSpPr txBox="1"/>
          <p:nvPr/>
        </p:nvSpPr>
        <p:spPr>
          <a:xfrm>
            <a:off x="169325" y="1354675"/>
            <a:ext cx="2191500" cy="9234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200"/>
              <a:t> is an implementation of the same abstract data type as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 sz="1200"/>
              <a:t>.</a:t>
            </a:r>
            <a:endParaRPr sz="1200"/>
          </a:p>
        </p:txBody>
      </p:sp>
      <p:sp>
        <p:nvSpPr>
          <p:cNvPr id="912" name="Google Shape;912;p107"/>
          <p:cNvSpPr/>
          <p:nvPr/>
        </p:nvSpPr>
        <p:spPr>
          <a:xfrm>
            <a:off x="5623275" y="1612550"/>
            <a:ext cx="1255936" cy="645225"/>
          </a:xfrm>
          <a:custGeom>
            <a:rect b="b" l="l" r="r" t="t"/>
            <a:pathLst>
              <a:path extrusionOk="0" h="25809" w="37818">
                <a:moveTo>
                  <a:pt x="37818" y="10851"/>
                </a:moveTo>
                <a:cubicBezTo>
                  <a:pt x="32879" y="9111"/>
                  <a:pt x="14488" y="-2084"/>
                  <a:pt x="8185" y="409"/>
                </a:cubicBezTo>
                <a:cubicBezTo>
                  <a:pt x="1882" y="2902"/>
                  <a:pt x="1364" y="21576"/>
                  <a:pt x="0" y="25809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913" name="Google Shape;913;p107"/>
          <p:cNvSpPr txBox="1"/>
          <p:nvPr/>
        </p:nvSpPr>
        <p:spPr>
          <a:xfrm>
            <a:off x="6829775" y="1354675"/>
            <a:ext cx="2191500" cy="11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</a:t>
            </a:r>
            <a:r>
              <a:rPr b="1" i="1" lang="en" sz="1200">
                <a:solidFill>
                  <a:srgbClr val="FF0000"/>
                </a:solidFill>
              </a:rPr>
              <a:t>key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type used must be naturally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 sz="1200"/>
              <a:t> or 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 sz="1200"/>
              <a:t> must be given to the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200"/>
              <a:t> to use when sorting the keys.</a:t>
            </a:r>
            <a:endParaRPr sz="1200"/>
          </a:p>
        </p:txBody>
      </p:sp>
      <p:sp>
        <p:nvSpPr>
          <p:cNvPr id="914" name="Google Shape;914;p107"/>
          <p:cNvSpPr txBox="1"/>
          <p:nvPr/>
        </p:nvSpPr>
        <p:spPr>
          <a:xfrm>
            <a:off x="6829775" y="2571750"/>
            <a:ext cx="2191500" cy="9234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It does not matter whether or not the </a:t>
            </a:r>
            <a:r>
              <a:rPr b="1" i="1" lang="en" sz="1200">
                <a:solidFill>
                  <a:srgbClr val="FF0000"/>
                </a:solidFill>
              </a:rPr>
              <a:t>values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in the map are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 sz="1200"/>
              <a:t>. </a:t>
            </a:r>
            <a:r>
              <a:rPr b="1" i="1" lang="en" sz="1200">
                <a:solidFill>
                  <a:srgbClr val="FF0000"/>
                </a:solidFill>
              </a:rPr>
              <a:t>Only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the keys are sorted.</a:t>
            </a:r>
            <a:endParaRPr sz="1200"/>
          </a:p>
        </p:txBody>
      </p:sp>
      <p:sp>
        <p:nvSpPr>
          <p:cNvPr id="915" name="Google Shape;915;p107"/>
          <p:cNvSpPr/>
          <p:nvPr/>
        </p:nvSpPr>
        <p:spPr>
          <a:xfrm>
            <a:off x="2271900" y="3153825"/>
            <a:ext cx="670275" cy="197550"/>
          </a:xfrm>
          <a:custGeom>
            <a:rect b="b" l="l" r="r" t="t"/>
            <a:pathLst>
              <a:path extrusionOk="0" h="7902" w="26811">
                <a:moveTo>
                  <a:pt x="0" y="5927"/>
                </a:moveTo>
                <a:cubicBezTo>
                  <a:pt x="3622" y="6209"/>
                  <a:pt x="17263" y="8608"/>
                  <a:pt x="21731" y="7620"/>
                </a:cubicBezTo>
                <a:cubicBezTo>
                  <a:pt x="26200" y="6632"/>
                  <a:pt x="25964" y="1270"/>
                  <a:pt x="26811" y="0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916" name="Google Shape;916;p107"/>
          <p:cNvSpPr txBox="1"/>
          <p:nvPr/>
        </p:nvSpPr>
        <p:spPr>
          <a:xfrm>
            <a:off x="169325" y="2497625"/>
            <a:ext cx="2191500" cy="11082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200"/>
              <a:t> provides all of the same operations as a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 sz="1200"/>
              <a:t>, and also guarantees that the keys are unique… </a:t>
            </a:r>
            <a:endParaRPr sz="1200"/>
          </a:p>
        </p:txBody>
      </p:sp>
      <p:sp>
        <p:nvSpPr>
          <p:cNvPr id="917" name="Google Shape;917;p107"/>
          <p:cNvSpPr/>
          <p:nvPr/>
        </p:nvSpPr>
        <p:spPr>
          <a:xfrm>
            <a:off x="2286000" y="3556000"/>
            <a:ext cx="500425" cy="500739"/>
          </a:xfrm>
          <a:custGeom>
            <a:rect b="b" l="l" r="r" t="t"/>
            <a:pathLst>
              <a:path extrusionOk="0" h="22327" w="20017">
                <a:moveTo>
                  <a:pt x="0" y="19473"/>
                </a:moveTo>
                <a:cubicBezTo>
                  <a:pt x="3199" y="19755"/>
                  <a:pt x="16463" y="24413"/>
                  <a:pt x="19191" y="21167"/>
                </a:cubicBezTo>
                <a:cubicBezTo>
                  <a:pt x="21919" y="17922"/>
                  <a:pt x="16839" y="3528"/>
                  <a:pt x="16369" y="0"/>
                </a:cubicBezTo>
              </a:path>
            </a:pathLst>
          </a:cu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918" name="Google Shape;918;p107"/>
          <p:cNvSpPr txBox="1"/>
          <p:nvPr/>
        </p:nvSpPr>
        <p:spPr>
          <a:xfrm>
            <a:off x="2439775" y="4148675"/>
            <a:ext cx="4264500" cy="800400"/>
          </a:xfrm>
          <a:prstGeom prst="rect">
            <a:avLst/>
          </a:prstGeom>
          <a:solidFill>
            <a:srgbClr val="000000"/>
          </a:solidFill>
          <a:ln cap="flat" cmpd="sng" w="19050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Princess Fluffypants(age 1) is a CORGIE</a:t>
            </a:r>
            <a:endParaRPr sz="1000"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Hermione(age 2) is a BASSET</a:t>
            </a:r>
            <a:endParaRPr sz="1000"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Flash(age 8) is a BLOODHOUND</a:t>
            </a:r>
            <a:endParaRPr sz="1000"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1C232"/>
                </a:solidFill>
                <a:latin typeface="Consolas"/>
                <a:ea typeface="Consolas"/>
                <a:cs typeface="Consolas"/>
                <a:sym typeface="Consolas"/>
              </a:rPr>
              <a:t>Buttercup(age 10) is a BASSET</a:t>
            </a:r>
            <a:endParaRPr sz="1000">
              <a:solidFill>
                <a:srgbClr val="F1C23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9" name="Google Shape;919;p107"/>
          <p:cNvSpPr txBox="1"/>
          <p:nvPr/>
        </p:nvSpPr>
        <p:spPr>
          <a:xfrm>
            <a:off x="169325" y="3873900"/>
            <a:ext cx="2191500" cy="9234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The major difference that you will notice is that, when iterating over the keys, they are in </a:t>
            </a:r>
            <a:r>
              <a:rPr b="1" i="1" lang="en" sz="1200">
                <a:solidFill>
                  <a:srgbClr val="FF0000"/>
                </a:solidFill>
              </a:rPr>
              <a:t>sorted order</a:t>
            </a:r>
            <a:r>
              <a:rPr lang="en" sz="1200"/>
              <a:t>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3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108"/>
          <p:cNvSpPr txBox="1"/>
          <p:nvPr>
            <p:ph idx="1" type="body"/>
          </p:nvPr>
        </p:nvSpPr>
        <p:spPr>
          <a:xfrm>
            <a:off x="65250" y="731625"/>
            <a:ext cx="8955900" cy="9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There is nothing like conducting an experiment to see how the different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"/>
              <a:t> implementations work. Practice using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/>
              <a:t> and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/>
              <a:t> to store string keys and see how they behave differently.</a:t>
            </a:r>
            <a:endParaRPr/>
          </a:p>
        </p:txBody>
      </p:sp>
      <p:sp>
        <p:nvSpPr>
          <p:cNvPr id="925" name="Google Shape;925;p10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26" name="Google Shape;926;p108"/>
          <p:cNvSpPr txBox="1"/>
          <p:nvPr>
            <p:ph idx="2" type="body"/>
          </p:nvPr>
        </p:nvSpPr>
        <p:spPr>
          <a:xfrm>
            <a:off x="3312775" y="1784525"/>
            <a:ext cx="5628300" cy="315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Open the 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SetsAndMaps</a:t>
            </a:r>
            <a:r>
              <a:rPr lang="en"/>
              <a:t> class and define a method named "</a:t>
            </a:r>
            <a:r>
              <a:rPr lang="en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putAndPrint</a:t>
            </a:r>
            <a:r>
              <a:rPr lang="en"/>
              <a:t>" that declares a parameter for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Map&lt;String, Integer&gt;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Add at least 5 key/value pairs to the map in no particular order. Make sure to vary the case of the first letters of the keys, e.g.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"aardvark"</a:t>
            </a:r>
            <a:r>
              <a:rPr lang="en"/>
              <a:t>,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"Zoo"</a:t>
            </a:r>
            <a:r>
              <a:rPr lang="en"/>
              <a:t>,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"Monkey"</a:t>
            </a:r>
            <a:r>
              <a:rPr lang="en"/>
              <a:t>,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"zebra"</a:t>
            </a:r>
            <a:r>
              <a:rPr lang="en"/>
              <a:t>,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"shark"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Use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/>
              <a:t>-each loop to iterate over the keys in the map and print them to standard output.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Define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/>
              <a:t> method with the appropriate signature.</a:t>
            </a:r>
            <a:endParaRPr/>
          </a:p>
          <a:p>
            <a:pPr indent="-285750" lvl="1" marL="914400" rtl="0" algn="l">
              <a:spcBef>
                <a:spcPts val="0"/>
              </a:spcBef>
              <a:spcAft>
                <a:spcPts val="0"/>
              </a:spcAft>
              <a:buSzPts val="900"/>
              <a:buChar char="○"/>
            </a:pPr>
            <a:r>
              <a:rPr lang="en"/>
              <a:t>Call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putAndPrint</a:t>
            </a:r>
            <a:r>
              <a:rPr lang="en"/>
              <a:t> with an empty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HashMap&lt;String&gt;</a:t>
            </a:r>
            <a:r>
              <a:rPr lang="en"/>
              <a:t>.</a:t>
            </a:r>
            <a:endParaRPr/>
          </a:p>
          <a:p>
            <a:pPr indent="-285750" lvl="1" marL="914400" rtl="0" algn="l">
              <a:spcBef>
                <a:spcPts val="0"/>
              </a:spcBef>
              <a:spcAft>
                <a:spcPts val="0"/>
              </a:spcAft>
              <a:buSzPts val="900"/>
              <a:buChar char="○"/>
            </a:pPr>
            <a:r>
              <a:rPr lang="en"/>
              <a:t>Call it a second time with an empty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TreeMap&lt;String&gt;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Call it a third time with an empty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TreeMap&lt;String&gt;</a:t>
            </a:r>
            <a:r>
              <a:rPr lang="en"/>
              <a:t> that uses an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AlphabeticComparator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Run your code.</a:t>
            </a:r>
            <a:endParaRPr/>
          </a:p>
        </p:txBody>
      </p:sp>
      <p:sp>
        <p:nvSpPr>
          <p:cNvPr id="927" name="Google Shape;927;p108"/>
          <p:cNvSpPr txBox="1"/>
          <p:nvPr>
            <p:ph type="title"/>
          </p:nvPr>
        </p:nvSpPr>
        <p:spPr>
          <a:xfrm>
            <a:off x="1436850" y="100"/>
            <a:ext cx="76425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/>
              <a:t> Practice</a:t>
            </a:r>
            <a:endParaRPr/>
          </a:p>
        </p:txBody>
      </p:sp>
      <p:sp>
        <p:nvSpPr>
          <p:cNvPr id="928" name="Google Shape;928;p108"/>
          <p:cNvSpPr txBox="1"/>
          <p:nvPr>
            <p:ph idx="3" type="title"/>
          </p:nvPr>
        </p:nvSpPr>
        <p:spPr>
          <a:xfrm>
            <a:off x="65250" y="100"/>
            <a:ext cx="1253700" cy="6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7.21</a:t>
            </a:r>
            <a:endParaRPr/>
          </a:p>
        </p:txBody>
      </p:sp>
      <p:sp>
        <p:nvSpPr>
          <p:cNvPr id="929" name="Google Shape;929;p108"/>
          <p:cNvSpPr txBox="1"/>
          <p:nvPr/>
        </p:nvSpPr>
        <p:spPr>
          <a:xfrm>
            <a:off x="160800" y="1802375"/>
            <a:ext cx="2979000" cy="2146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Map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= 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    new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TreeMap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&lt;&gt;(</a:t>
            </a: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DogComparator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"Buttercup"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8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"Flash"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8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BLOODHOUND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"Hermione"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8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BASSET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put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"Princess Fluffypants"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8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),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Breed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CORGIE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keySet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()) {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267F99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0070C1"/>
                </a:solidFill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println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+ </a:t>
            </a:r>
            <a:r>
              <a:rPr lang="en" sz="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 is a "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 + 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        dogs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dog</a:t>
            </a: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8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800">
              <a:solidFill>
                <a:srgbClr val="267F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0" name="Google Shape;930;p108"/>
          <p:cNvSpPr txBox="1"/>
          <p:nvPr/>
        </p:nvSpPr>
        <p:spPr>
          <a:xfrm>
            <a:off x="160800" y="4054150"/>
            <a:ext cx="2979000" cy="554100"/>
          </a:xfrm>
          <a:prstGeom prst="rect">
            <a:avLst/>
          </a:prstGeom>
          <a:solidFill>
            <a:srgbClr val="FFF2CC"/>
          </a:solidFill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We are using </a:t>
            </a:r>
            <a:r>
              <a:rPr b="1" i="1" lang="en" sz="1200">
                <a:solidFill>
                  <a:srgbClr val="FF0000"/>
                </a:solidFill>
              </a:rPr>
              <a:t>polymorphism</a:t>
            </a:r>
            <a:r>
              <a:rPr lang="en" sz="1200">
                <a:solidFill>
                  <a:srgbClr val="FF0000"/>
                </a:solidFill>
              </a:rPr>
              <a:t> </a:t>
            </a:r>
            <a:r>
              <a:rPr lang="en" sz="1200"/>
              <a:t>to write code that will work with any kind of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" sz="1200"/>
              <a:t>.</a:t>
            </a:r>
            <a:endParaRPr sz="12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4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10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6" name="Google Shape;936;p109"/>
          <p:cNvSpPr txBox="1"/>
          <p:nvPr>
            <p:ph type="title"/>
          </p:nvPr>
        </p:nvSpPr>
        <p:spPr>
          <a:xfrm>
            <a:off x="315425" y="101600"/>
            <a:ext cx="37065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Tree vs. Hash</a:t>
            </a:r>
            <a:endParaRPr/>
          </a:p>
        </p:txBody>
      </p:sp>
      <p:sp>
        <p:nvSpPr>
          <p:cNvPr id="937" name="Google Shape;937;p109"/>
          <p:cNvSpPr txBox="1"/>
          <p:nvPr>
            <p:ph idx="1" type="body"/>
          </p:nvPr>
        </p:nvSpPr>
        <p:spPr>
          <a:xfrm>
            <a:off x="4325067" y="38075"/>
            <a:ext cx="4698900" cy="507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 </a:t>
            </a:r>
            <a:r>
              <a:rPr b="1" i="1" lang="en" u="sng">
                <a:solidFill>
                  <a:srgbClr val="4A86E8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Red-Black Tree</a:t>
            </a:r>
            <a:r>
              <a:rPr lang="en"/>
              <a:t> is a self-balancing binary search tree.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i="1" lang="en"/>
              <a:t>"</a:t>
            </a:r>
            <a:r>
              <a:rPr b="1" i="1" lang="en">
                <a:solidFill>
                  <a:srgbClr val="FF0000"/>
                </a:solidFill>
              </a:rPr>
              <a:t>Self-balancing</a:t>
            </a:r>
            <a:r>
              <a:rPr b="1" i="1" lang="en"/>
              <a:t>"</a:t>
            </a:r>
            <a:r>
              <a:rPr lang="en"/>
              <a:t> means that, as values are added, the tree makes sure that they are moved around to maintain balance without breaking the rules of a BST.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Remember that a balanced BST guarantees </a:t>
            </a:r>
            <a:r>
              <a:rPr b="1" i="1" lang="en">
                <a:solidFill>
                  <a:srgbClr val="FF0000"/>
                </a:solidFill>
              </a:rPr>
              <a:t>O(log</a:t>
            </a:r>
            <a:r>
              <a:rPr b="1" baseline="-25000" i="1" lang="en">
                <a:solidFill>
                  <a:srgbClr val="FF0000"/>
                </a:solidFill>
              </a:rPr>
              <a:t>2</a:t>
            </a:r>
            <a:r>
              <a:rPr b="1" i="1" lang="en">
                <a:solidFill>
                  <a:srgbClr val="FF0000"/>
                </a:solidFill>
              </a:rPr>
              <a:t>n)</a:t>
            </a:r>
            <a:r>
              <a:rPr lang="en"/>
              <a:t> search time.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The complexity of inserting into or removing from a red-black tree is </a:t>
            </a:r>
            <a:r>
              <a:rPr b="1" i="1" lang="en">
                <a:solidFill>
                  <a:srgbClr val="FF0000"/>
                </a:solidFill>
              </a:rPr>
              <a:t>O(log</a:t>
            </a:r>
            <a:r>
              <a:rPr b="1" baseline="-25000" i="1" lang="en">
                <a:solidFill>
                  <a:srgbClr val="FF0000"/>
                </a:solidFill>
              </a:rPr>
              <a:t>2</a:t>
            </a:r>
            <a:r>
              <a:rPr b="1" i="1" lang="en">
                <a:solidFill>
                  <a:srgbClr val="FF0000"/>
                </a:solidFill>
              </a:rPr>
              <a:t>n)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Java's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 and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/>
              <a:t> both use red-black trees to keep elements in sorted order.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means that inserting a new value or removing a value has a complexity of </a:t>
            </a:r>
            <a:r>
              <a:rPr b="1" i="1" lang="en">
                <a:solidFill>
                  <a:srgbClr val="FF0000"/>
                </a:solidFill>
              </a:rPr>
              <a:t>O(log</a:t>
            </a:r>
            <a:r>
              <a:rPr b="1" baseline="-25000" i="1" lang="en">
                <a:solidFill>
                  <a:srgbClr val="FF0000"/>
                </a:solidFill>
              </a:rPr>
              <a:t>2</a:t>
            </a:r>
            <a:r>
              <a:rPr b="1" i="1" lang="en">
                <a:solidFill>
                  <a:srgbClr val="FF0000"/>
                </a:solidFill>
              </a:rPr>
              <a:t>n)</a:t>
            </a:r>
            <a:r>
              <a:rPr lang="en"/>
              <a:t>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It also means that determining whether or not a value is contained in the data structure has a complexity of </a:t>
            </a:r>
            <a:r>
              <a:rPr b="1" i="1" lang="en">
                <a:solidFill>
                  <a:srgbClr val="FF0000"/>
                </a:solidFill>
              </a:rPr>
              <a:t>O(log</a:t>
            </a:r>
            <a:r>
              <a:rPr b="1" baseline="-25000" i="1" lang="en">
                <a:solidFill>
                  <a:srgbClr val="FF0000"/>
                </a:solidFill>
              </a:rPr>
              <a:t>2</a:t>
            </a:r>
            <a:r>
              <a:rPr b="1" i="1" lang="en">
                <a:solidFill>
                  <a:srgbClr val="FF0000"/>
                </a:solidFill>
              </a:rPr>
              <a:t>n)</a:t>
            </a:r>
            <a:r>
              <a:rPr lang="en"/>
              <a:t>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Recall that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HashSet</a:t>
            </a:r>
            <a:r>
              <a:rPr lang="en"/>
              <a:t> and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/>
              <a:t> provide </a:t>
            </a:r>
            <a:r>
              <a:rPr b="1" i="1" lang="en">
                <a:solidFill>
                  <a:srgbClr val="FF0000"/>
                </a:solidFill>
              </a:rPr>
              <a:t>O(1)</a:t>
            </a:r>
            <a:r>
              <a:rPr lang="en"/>
              <a:t> (</a:t>
            </a:r>
            <a:r>
              <a:rPr b="1" i="1" lang="en">
                <a:solidFill>
                  <a:srgbClr val="FF0000"/>
                </a:solidFill>
              </a:rPr>
              <a:t>constant time</a:t>
            </a:r>
            <a:r>
              <a:rPr lang="en"/>
              <a:t>) performance for all basic operations.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This means that adding, removing, and searching all run much faster than in the tree-based versions.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Therefore, you should </a:t>
            </a:r>
            <a:r>
              <a:rPr b="1" i="1" lang="en">
                <a:solidFill>
                  <a:srgbClr val="FF0000"/>
                </a:solidFill>
              </a:rPr>
              <a:t>only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use a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/>
              <a:t> or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/>
              <a:t> if you </a:t>
            </a:r>
            <a:r>
              <a:rPr b="1" i="1" lang="en">
                <a:solidFill>
                  <a:srgbClr val="FF0000"/>
                </a:solidFill>
              </a:rPr>
              <a:t>must</a:t>
            </a:r>
            <a:r>
              <a:rPr lang="en">
                <a:solidFill>
                  <a:srgbClr val="FF0000"/>
                </a:solidFill>
              </a:rPr>
              <a:t> </a:t>
            </a:r>
            <a:r>
              <a:rPr lang="en"/>
              <a:t>maintain the elements in sorted order.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Otherwise, you should choose the </a:t>
            </a:r>
            <a:r>
              <a:rPr b="1" i="1" lang="en">
                <a:solidFill>
                  <a:srgbClr val="FF0000"/>
                </a:solidFill>
              </a:rPr>
              <a:t>faster </a:t>
            </a:r>
            <a:r>
              <a:rPr lang="en"/>
              <a:t>versions.</a:t>
            </a:r>
            <a:endParaRPr/>
          </a:p>
        </p:txBody>
      </p:sp>
      <p:sp>
        <p:nvSpPr>
          <p:cNvPr id="938" name="Google Shape;938;p109"/>
          <p:cNvSpPr txBox="1"/>
          <p:nvPr>
            <p:ph idx="3" type="body"/>
          </p:nvPr>
        </p:nvSpPr>
        <p:spPr>
          <a:xfrm>
            <a:off x="280163" y="3015775"/>
            <a:ext cx="3706500" cy="69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Not only are </a:t>
            </a: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TreeSet</a:t>
            </a:r>
            <a:r>
              <a:rPr lang="en" sz="1100"/>
              <a:t> and </a:t>
            </a: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TreeMap</a:t>
            </a:r>
            <a:r>
              <a:rPr lang="en" sz="1100"/>
              <a:t> harder to use because of the additional requirements that elements be </a:t>
            </a: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Comparable</a:t>
            </a:r>
            <a:r>
              <a:rPr lang="en" sz="1100"/>
              <a:t> and/or a </a:t>
            </a:r>
            <a:r>
              <a:rPr lang="en" sz="1100">
                <a:latin typeface="Courier New"/>
                <a:ea typeface="Courier New"/>
                <a:cs typeface="Courier New"/>
                <a:sym typeface="Courier New"/>
              </a:rPr>
              <a:t>Comparator</a:t>
            </a:r>
            <a:r>
              <a:rPr lang="en" sz="1100"/>
              <a:t> be provided…</a:t>
            </a:r>
            <a:endParaRPr sz="1100"/>
          </a:p>
        </p:txBody>
      </p:sp>
      <p:sp>
        <p:nvSpPr>
          <p:cNvPr id="939" name="Google Shape;939;p109"/>
          <p:cNvSpPr txBox="1"/>
          <p:nvPr>
            <p:ph idx="3" type="body"/>
          </p:nvPr>
        </p:nvSpPr>
        <p:spPr>
          <a:xfrm>
            <a:off x="280150" y="3821525"/>
            <a:ext cx="3706500" cy="52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…but they are also </a:t>
            </a:r>
            <a:r>
              <a:rPr b="1" i="1" lang="en" sz="1100">
                <a:solidFill>
                  <a:srgbClr val="FF0000"/>
                </a:solidFill>
              </a:rPr>
              <a:t>slower</a:t>
            </a:r>
            <a:r>
              <a:rPr lang="en" sz="1100">
                <a:solidFill>
                  <a:srgbClr val="FF0000"/>
                </a:solidFill>
              </a:rPr>
              <a:t> </a:t>
            </a:r>
            <a:r>
              <a:rPr lang="en" sz="1100"/>
              <a:t>than their hashing counterparts.</a:t>
            </a:r>
            <a:endParaRPr sz="1100"/>
          </a:p>
        </p:txBody>
      </p:sp>
      <p:sp>
        <p:nvSpPr>
          <p:cNvPr id="940" name="Google Shape;940;p109"/>
          <p:cNvSpPr txBox="1"/>
          <p:nvPr>
            <p:ph idx="3" type="body"/>
          </p:nvPr>
        </p:nvSpPr>
        <p:spPr>
          <a:xfrm>
            <a:off x="280175" y="4457775"/>
            <a:ext cx="3706500" cy="52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Unless the elements absolutely, positively </a:t>
            </a:r>
            <a:r>
              <a:rPr b="1" i="1" lang="en" sz="1100">
                <a:solidFill>
                  <a:srgbClr val="FF0000"/>
                </a:solidFill>
              </a:rPr>
              <a:t>must</a:t>
            </a:r>
            <a:r>
              <a:rPr lang="en" sz="1100">
                <a:solidFill>
                  <a:srgbClr val="FF0000"/>
                </a:solidFill>
              </a:rPr>
              <a:t> </a:t>
            </a:r>
            <a:r>
              <a:rPr lang="en" sz="1100"/>
              <a:t>be kept in sorted order, choose the hashing version for its speed.</a:t>
            </a:r>
            <a:endParaRPr sz="1100"/>
          </a:p>
        </p:txBody>
      </p:sp>
      <p:pic>
        <p:nvPicPr>
          <p:cNvPr id="941" name="Google Shape;941;p10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0803" y="705786"/>
            <a:ext cx="3263925" cy="21759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p11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</a:t>
            </a:r>
            <a:r>
              <a:rPr i="1" lang="en"/>
              <a:t>Incomplete</a:t>
            </a:r>
            <a:r>
              <a:rPr lang="en"/>
              <a:t> JCF Class Hierarchy</a:t>
            </a:r>
            <a:endParaRPr/>
          </a:p>
        </p:txBody>
      </p:sp>
      <p:sp>
        <p:nvSpPr>
          <p:cNvPr id="947" name="Google Shape;947;p1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8" name="Google Shape;948;p110"/>
          <p:cNvSpPr txBox="1"/>
          <p:nvPr/>
        </p:nvSpPr>
        <p:spPr>
          <a:xfrm>
            <a:off x="335550" y="1349250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6AA84F"/>
                </a:solidFill>
                <a:latin typeface="Open Sans"/>
                <a:ea typeface="Open Sans"/>
                <a:cs typeface="Open Sans"/>
                <a:sym typeface="Open Sans"/>
              </a:rPr>
              <a:t>Iterable</a:t>
            </a:r>
            <a:endParaRPr b="1" i="1">
              <a:solidFill>
                <a:srgbClr val="6AA84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9" name="Google Shape;949;p110"/>
          <p:cNvSpPr txBox="1"/>
          <p:nvPr/>
        </p:nvSpPr>
        <p:spPr>
          <a:xfrm>
            <a:off x="335550" y="2096700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Collection</a:t>
            </a: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0" name="Google Shape;950;p110"/>
          <p:cNvSpPr txBox="1"/>
          <p:nvPr/>
        </p:nvSpPr>
        <p:spPr>
          <a:xfrm>
            <a:off x="2212950" y="1349250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6AA84F"/>
                </a:solidFill>
                <a:latin typeface="Open Sans"/>
                <a:ea typeface="Open Sans"/>
                <a:cs typeface="Open Sans"/>
                <a:sym typeface="Open Sans"/>
              </a:rPr>
              <a:t>Queue</a:t>
            </a:r>
            <a:endParaRPr b="1" i="1">
              <a:solidFill>
                <a:srgbClr val="6AA84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1" name="Google Shape;951;p110"/>
          <p:cNvSpPr txBox="1"/>
          <p:nvPr/>
        </p:nvSpPr>
        <p:spPr>
          <a:xfrm>
            <a:off x="2222613" y="2804313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6AA84F"/>
                </a:solidFill>
                <a:latin typeface="Open Sans"/>
                <a:ea typeface="Open Sans"/>
                <a:cs typeface="Open Sans"/>
                <a:sym typeface="Open Sans"/>
              </a:rPr>
              <a:t>List</a:t>
            </a:r>
            <a:endParaRPr b="1" i="1">
              <a:solidFill>
                <a:srgbClr val="6AA84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2" name="Google Shape;952;p110"/>
          <p:cNvSpPr txBox="1"/>
          <p:nvPr/>
        </p:nvSpPr>
        <p:spPr>
          <a:xfrm>
            <a:off x="2212950" y="3837950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Set</a:t>
            </a:r>
            <a:endParaRPr b="1" i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3" name="Google Shape;953;p110"/>
          <p:cNvSpPr txBox="1"/>
          <p:nvPr/>
        </p:nvSpPr>
        <p:spPr>
          <a:xfrm>
            <a:off x="4109700" y="1349250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Deque</a:t>
            </a: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4" name="Google Shape;954;p110"/>
          <p:cNvSpPr txBox="1"/>
          <p:nvPr/>
        </p:nvSpPr>
        <p:spPr>
          <a:xfrm>
            <a:off x="4109700" y="3837950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HashSet</a:t>
            </a:r>
            <a:endParaRPr b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5" name="Google Shape;955;p110"/>
          <p:cNvSpPr txBox="1"/>
          <p:nvPr/>
        </p:nvSpPr>
        <p:spPr>
          <a:xfrm>
            <a:off x="6006450" y="1349250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ArrayDeque</a:t>
            </a:r>
            <a:endParaRPr b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6" name="Google Shape;956;p110"/>
          <p:cNvSpPr txBox="1"/>
          <p:nvPr/>
        </p:nvSpPr>
        <p:spPr>
          <a:xfrm>
            <a:off x="4109700" y="2098300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Open Sans"/>
                <a:ea typeface="Open Sans"/>
                <a:cs typeface="Open Sans"/>
                <a:sym typeface="Open Sans"/>
              </a:rPr>
              <a:t>LinkedList</a:t>
            </a:r>
            <a:endParaRPr b="1">
              <a:solidFill>
                <a:srgbClr val="6AA84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7" name="Google Shape;957;p110"/>
          <p:cNvSpPr txBox="1"/>
          <p:nvPr/>
        </p:nvSpPr>
        <p:spPr>
          <a:xfrm>
            <a:off x="4109700" y="2582459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Open Sans"/>
                <a:ea typeface="Open Sans"/>
                <a:cs typeface="Open Sans"/>
                <a:sym typeface="Open Sans"/>
              </a:rPr>
              <a:t>ArrayList</a:t>
            </a:r>
            <a:endParaRPr b="1">
              <a:solidFill>
                <a:srgbClr val="6AA84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8" name="Google Shape;958;p110"/>
          <p:cNvSpPr txBox="1"/>
          <p:nvPr/>
        </p:nvSpPr>
        <p:spPr>
          <a:xfrm>
            <a:off x="2212950" y="4650625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SortedSet</a:t>
            </a: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9" name="Google Shape;959;p110"/>
          <p:cNvSpPr txBox="1"/>
          <p:nvPr/>
        </p:nvSpPr>
        <p:spPr>
          <a:xfrm>
            <a:off x="4109700" y="4650625"/>
            <a:ext cx="1437900" cy="393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NavigableSet</a:t>
            </a: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60" name="Google Shape;960;p110"/>
          <p:cNvSpPr txBox="1"/>
          <p:nvPr/>
        </p:nvSpPr>
        <p:spPr>
          <a:xfrm>
            <a:off x="6006450" y="4650625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TreeSet</a:t>
            </a:r>
            <a:endParaRPr b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61" name="Google Shape;961;p110"/>
          <p:cNvCxnSpPr>
            <a:stCxn id="949" idx="0"/>
            <a:endCxn id="948" idx="2"/>
          </p:cNvCxnSpPr>
          <p:nvPr/>
        </p:nvCxnSpPr>
        <p:spPr>
          <a:xfrm rot="10800000">
            <a:off x="1054500" y="1743000"/>
            <a:ext cx="0" cy="3537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62" name="Google Shape;962;p110"/>
          <p:cNvCxnSpPr>
            <a:stCxn id="950" idx="1"/>
            <a:endCxn id="949" idx="3"/>
          </p:cNvCxnSpPr>
          <p:nvPr/>
        </p:nvCxnSpPr>
        <p:spPr>
          <a:xfrm flipH="1">
            <a:off x="1773450" y="1546050"/>
            <a:ext cx="439500" cy="747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63" name="Google Shape;963;p110"/>
          <p:cNvCxnSpPr>
            <a:stCxn id="951" idx="1"/>
            <a:endCxn id="949" idx="3"/>
          </p:cNvCxnSpPr>
          <p:nvPr/>
        </p:nvCxnSpPr>
        <p:spPr>
          <a:xfrm rot="10800000">
            <a:off x="1773513" y="2293413"/>
            <a:ext cx="449100" cy="707700"/>
          </a:xfrm>
          <a:prstGeom prst="bentConnector3">
            <a:avLst>
              <a:gd fmla="val 5000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64" name="Google Shape;964;p110"/>
          <p:cNvCxnSpPr>
            <a:stCxn id="965" idx="0"/>
            <a:endCxn id="950" idx="2"/>
          </p:cNvCxnSpPr>
          <p:nvPr/>
        </p:nvCxnSpPr>
        <p:spPr>
          <a:xfrm rot="-5400000">
            <a:off x="2819850" y="1854823"/>
            <a:ext cx="224700" cy="600"/>
          </a:xfrm>
          <a:prstGeom prst="bentConnector3">
            <a:avLst>
              <a:gd fmla="val 49983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66" name="Google Shape;966;p110"/>
          <p:cNvCxnSpPr>
            <a:stCxn id="955" idx="1"/>
            <a:endCxn id="953" idx="3"/>
          </p:cNvCxnSpPr>
          <p:nvPr/>
        </p:nvCxnSpPr>
        <p:spPr>
          <a:xfrm flipH="1">
            <a:off x="5547750" y="1546050"/>
            <a:ext cx="458700" cy="600"/>
          </a:xfrm>
          <a:prstGeom prst="bentConnector3">
            <a:avLst>
              <a:gd fmla="val 49984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967" name="Google Shape;967;p110"/>
          <p:cNvCxnSpPr>
            <a:stCxn id="956" idx="1"/>
            <a:endCxn id="951" idx="3"/>
          </p:cNvCxnSpPr>
          <p:nvPr/>
        </p:nvCxnSpPr>
        <p:spPr>
          <a:xfrm flipH="1">
            <a:off x="3660600" y="2295100"/>
            <a:ext cx="449100" cy="705900"/>
          </a:xfrm>
          <a:prstGeom prst="bentConnector3">
            <a:avLst>
              <a:gd fmla="val 50010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968" name="Google Shape;968;p110"/>
          <p:cNvCxnSpPr>
            <a:stCxn id="956" idx="0"/>
            <a:endCxn id="953" idx="2"/>
          </p:cNvCxnSpPr>
          <p:nvPr/>
        </p:nvCxnSpPr>
        <p:spPr>
          <a:xfrm rot="-5400000">
            <a:off x="4651200" y="1920250"/>
            <a:ext cx="355500" cy="600"/>
          </a:xfrm>
          <a:prstGeom prst="bentConnector3">
            <a:avLst>
              <a:gd fmla="val 49993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969" name="Google Shape;969;p110"/>
          <p:cNvCxnSpPr>
            <a:stCxn id="957" idx="1"/>
            <a:endCxn id="951" idx="3"/>
          </p:cNvCxnSpPr>
          <p:nvPr/>
        </p:nvCxnSpPr>
        <p:spPr>
          <a:xfrm flipH="1">
            <a:off x="3660600" y="2779259"/>
            <a:ext cx="449100" cy="222000"/>
          </a:xfrm>
          <a:prstGeom prst="bentConnector3">
            <a:avLst>
              <a:gd fmla="val 50010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970" name="Google Shape;970;p110"/>
          <p:cNvCxnSpPr>
            <a:stCxn id="952" idx="1"/>
            <a:endCxn id="949" idx="3"/>
          </p:cNvCxnSpPr>
          <p:nvPr/>
        </p:nvCxnSpPr>
        <p:spPr>
          <a:xfrm rot="10800000">
            <a:off x="1773450" y="2293550"/>
            <a:ext cx="439500" cy="17412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71" name="Google Shape;971;p110"/>
          <p:cNvCxnSpPr>
            <a:stCxn id="954" idx="1"/>
            <a:endCxn id="952" idx="3"/>
          </p:cNvCxnSpPr>
          <p:nvPr/>
        </p:nvCxnSpPr>
        <p:spPr>
          <a:xfrm flipH="1">
            <a:off x="3651000" y="4034750"/>
            <a:ext cx="458700" cy="600"/>
          </a:xfrm>
          <a:prstGeom prst="bentConnector3">
            <a:avLst>
              <a:gd fmla="val 49984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972" name="Google Shape;972;p110"/>
          <p:cNvCxnSpPr>
            <a:stCxn id="958" idx="0"/>
            <a:endCxn id="952" idx="2"/>
          </p:cNvCxnSpPr>
          <p:nvPr/>
        </p:nvCxnSpPr>
        <p:spPr>
          <a:xfrm rot="-5400000">
            <a:off x="2722650" y="4440775"/>
            <a:ext cx="419100" cy="600"/>
          </a:xfrm>
          <a:prstGeom prst="bentConnector3">
            <a:avLst>
              <a:gd fmla="val 4999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73" name="Google Shape;973;p110"/>
          <p:cNvSpPr txBox="1"/>
          <p:nvPr/>
        </p:nvSpPr>
        <p:spPr>
          <a:xfrm>
            <a:off x="5988150" y="3680050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HashMap</a:t>
            </a:r>
            <a:endParaRPr b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74" name="Google Shape;974;p110"/>
          <p:cNvSpPr txBox="1"/>
          <p:nvPr/>
        </p:nvSpPr>
        <p:spPr>
          <a:xfrm>
            <a:off x="7507050" y="3680050"/>
            <a:ext cx="1437900" cy="393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TreeMap</a:t>
            </a:r>
            <a:endParaRPr b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75" name="Google Shape;975;p110"/>
          <p:cNvCxnSpPr>
            <a:stCxn id="974" idx="0"/>
            <a:endCxn id="976" idx="2"/>
          </p:cNvCxnSpPr>
          <p:nvPr/>
        </p:nvCxnSpPr>
        <p:spPr>
          <a:xfrm flipH="1" rot="5400000">
            <a:off x="7630350" y="3084400"/>
            <a:ext cx="424500" cy="766800"/>
          </a:xfrm>
          <a:prstGeom prst="bentConnector3">
            <a:avLst>
              <a:gd fmla="val 50012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977" name="Google Shape;977;p110"/>
          <p:cNvCxnSpPr>
            <a:stCxn id="973" idx="0"/>
            <a:endCxn id="976" idx="2"/>
          </p:cNvCxnSpPr>
          <p:nvPr/>
        </p:nvCxnSpPr>
        <p:spPr>
          <a:xfrm rot="-5400000">
            <a:off x="6870900" y="3091750"/>
            <a:ext cx="424500" cy="752100"/>
          </a:xfrm>
          <a:prstGeom prst="bentConnector3">
            <a:avLst>
              <a:gd fmla="val 50012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grpSp>
        <p:nvGrpSpPr>
          <p:cNvPr id="978" name="Google Shape;978;p110"/>
          <p:cNvGrpSpPr/>
          <p:nvPr/>
        </p:nvGrpSpPr>
        <p:grpSpPr>
          <a:xfrm>
            <a:off x="6740250" y="2080038"/>
            <a:ext cx="1437900" cy="1175413"/>
            <a:chOff x="6816450" y="1927638"/>
            <a:chExt cx="1437900" cy="1175413"/>
          </a:xfrm>
        </p:grpSpPr>
        <p:sp>
          <p:nvSpPr>
            <p:cNvPr id="976" name="Google Shape;976;p110"/>
            <p:cNvSpPr txBox="1"/>
            <p:nvPr/>
          </p:nvSpPr>
          <p:spPr>
            <a:xfrm>
              <a:off x="6816450" y="2321250"/>
              <a:ext cx="1437900" cy="781800"/>
            </a:xfrm>
            <a:prstGeom prst="rect">
              <a:avLst/>
            </a:prstGeom>
            <a:noFill/>
            <a:ln cap="flat" cmpd="sng" w="9525">
              <a:solidFill>
                <a:srgbClr val="98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000">
                  <a:latin typeface="Open Sans"/>
                  <a:ea typeface="Open Sans"/>
                  <a:cs typeface="Open Sans"/>
                  <a:sym typeface="Open Sans"/>
                </a:rPr>
                <a:t>+put(key, value)</a:t>
              </a:r>
              <a:endParaRPr i="1" sz="1000">
                <a:latin typeface="Open Sans"/>
                <a:ea typeface="Open Sans"/>
                <a:cs typeface="Open Sans"/>
                <a:sym typeface="Open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000">
                  <a:latin typeface="Open Sans"/>
                  <a:ea typeface="Open Sans"/>
                  <a:cs typeface="Open Sans"/>
                  <a:sym typeface="Open Sans"/>
                </a:rPr>
                <a:t>+get(key): value</a:t>
              </a:r>
              <a:endParaRPr i="1" sz="1000">
                <a:latin typeface="Open Sans"/>
                <a:ea typeface="Open Sans"/>
                <a:cs typeface="Open Sans"/>
                <a:sym typeface="Open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000">
                  <a:latin typeface="Open Sans"/>
                  <a:ea typeface="Open Sans"/>
                  <a:cs typeface="Open Sans"/>
                  <a:sym typeface="Open Sans"/>
                </a:rPr>
                <a:t>+contains(K):boolean</a:t>
              </a:r>
              <a:endParaRPr i="1" sz="1000">
                <a:latin typeface="Open Sans"/>
                <a:ea typeface="Open Sans"/>
                <a:cs typeface="Open Sans"/>
                <a:sym typeface="Open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000">
                  <a:latin typeface="Open Sans"/>
                  <a:ea typeface="Open Sans"/>
                  <a:cs typeface="Open Sans"/>
                  <a:sym typeface="Open Sans"/>
                </a:rPr>
                <a:t>+size():int</a:t>
              </a:r>
              <a:endParaRPr i="1" sz="1000"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979" name="Google Shape;979;p110"/>
            <p:cNvSpPr txBox="1"/>
            <p:nvPr/>
          </p:nvSpPr>
          <p:spPr>
            <a:xfrm>
              <a:off x="6816450" y="1927638"/>
              <a:ext cx="1437900" cy="393600"/>
            </a:xfrm>
            <a:prstGeom prst="rect">
              <a:avLst/>
            </a:prstGeom>
            <a:noFill/>
            <a:ln cap="flat" cmpd="sng" w="9525">
              <a:solidFill>
                <a:srgbClr val="98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">
                  <a:solidFill>
                    <a:srgbClr val="6A9955"/>
                  </a:solidFill>
                  <a:latin typeface="Open Sans"/>
                  <a:ea typeface="Open Sans"/>
                  <a:cs typeface="Open Sans"/>
                  <a:sym typeface="Open Sans"/>
                </a:rPr>
                <a:t>Map</a:t>
              </a:r>
              <a:endParaRPr b="1" i="1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980" name="Google Shape;980;p110"/>
          <p:cNvSpPr txBox="1"/>
          <p:nvPr/>
        </p:nvSpPr>
        <p:spPr>
          <a:xfrm>
            <a:off x="335550" y="2491900"/>
            <a:ext cx="1437900" cy="747600"/>
          </a:xfrm>
          <a:prstGeom prst="rect">
            <a:avLst/>
          </a:prstGeom>
          <a:noFill/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000">
                <a:latin typeface="Open Sans"/>
                <a:ea typeface="Open Sans"/>
                <a:cs typeface="Open Sans"/>
                <a:sym typeface="Open Sans"/>
              </a:rPr>
              <a:t>+add(E)</a:t>
            </a:r>
            <a:endParaRPr i="1" sz="10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000">
                <a:latin typeface="Open Sans"/>
                <a:ea typeface="Open Sans"/>
                <a:cs typeface="Open Sans"/>
                <a:sym typeface="Open Sans"/>
              </a:rPr>
              <a:t>+contains(E):boolean</a:t>
            </a:r>
            <a:endParaRPr i="1" sz="10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000">
                <a:latin typeface="Open Sans"/>
                <a:ea typeface="Open Sans"/>
                <a:cs typeface="Open Sans"/>
                <a:sym typeface="Open Sans"/>
              </a:rPr>
              <a:t>+remove(E)</a:t>
            </a:r>
            <a:endParaRPr i="1" sz="10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000">
                <a:latin typeface="Open Sans"/>
                <a:ea typeface="Open Sans"/>
                <a:cs typeface="Open Sans"/>
                <a:sym typeface="Open Sans"/>
              </a:rPr>
              <a:t>+size():int</a:t>
            </a:r>
            <a:endParaRPr i="1" sz="1000"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81" name="Google Shape;981;p110"/>
          <p:cNvCxnSpPr/>
          <p:nvPr/>
        </p:nvCxnSpPr>
        <p:spPr>
          <a:xfrm flipH="1">
            <a:off x="3650700" y="4847425"/>
            <a:ext cx="459000" cy="600"/>
          </a:xfrm>
          <a:prstGeom prst="bentConnector3">
            <a:avLst>
              <a:gd fmla="val 49984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2" name="Google Shape;982;p110"/>
          <p:cNvCxnSpPr/>
          <p:nvPr/>
        </p:nvCxnSpPr>
        <p:spPr>
          <a:xfrm flipH="1">
            <a:off x="5547450" y="4847425"/>
            <a:ext cx="459000" cy="600"/>
          </a:xfrm>
          <a:prstGeom prst="bentConnector3">
            <a:avLst>
              <a:gd fmla="val 49984" name="adj1"/>
            </a:avLst>
          </a:pr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triangle"/>
          </a:ln>
        </p:spPr>
      </p:cxnSp>
      <p:sp>
        <p:nvSpPr>
          <p:cNvPr id="983" name="Google Shape;983;p110"/>
          <p:cNvSpPr/>
          <p:nvPr/>
        </p:nvSpPr>
        <p:spPr>
          <a:xfrm>
            <a:off x="361075" y="3945050"/>
            <a:ext cx="121500" cy="121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984" name="Google Shape;984;p110"/>
          <p:cNvSpPr txBox="1"/>
          <p:nvPr/>
        </p:nvSpPr>
        <p:spPr>
          <a:xfrm>
            <a:off x="433697" y="3874325"/>
            <a:ext cx="137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Roboto"/>
                <a:ea typeface="Roboto"/>
                <a:cs typeface="Roboto"/>
                <a:sym typeface="Roboto"/>
              </a:rPr>
              <a:t>Interface (italics)</a:t>
            </a:r>
            <a:endParaRPr i="1"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110"/>
          <p:cNvSpPr/>
          <p:nvPr/>
        </p:nvSpPr>
        <p:spPr>
          <a:xfrm>
            <a:off x="361075" y="4173650"/>
            <a:ext cx="121500" cy="1215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6" name="Google Shape;986;p110"/>
          <p:cNvSpPr txBox="1"/>
          <p:nvPr/>
        </p:nvSpPr>
        <p:spPr>
          <a:xfrm>
            <a:off x="433697" y="4102925"/>
            <a:ext cx="137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Implementation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110"/>
          <p:cNvSpPr txBox="1"/>
          <p:nvPr/>
        </p:nvSpPr>
        <p:spPr>
          <a:xfrm>
            <a:off x="256532" y="3613578"/>
            <a:ext cx="137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latin typeface="Roboto"/>
                <a:ea typeface="Roboto"/>
                <a:cs typeface="Roboto"/>
                <a:sym typeface="Roboto"/>
              </a:rPr>
              <a:t>Legend</a:t>
            </a:r>
            <a:endParaRPr sz="1200"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110"/>
          <p:cNvSpPr/>
          <p:nvPr/>
        </p:nvSpPr>
        <p:spPr>
          <a:xfrm>
            <a:off x="3884234" y="3024300"/>
            <a:ext cx="250750" cy="257119"/>
          </a:xfrm>
          <a:custGeom>
            <a:rect b="b" l="l" r="r" t="t"/>
            <a:pathLst>
              <a:path extrusionOk="0" h="20060" w="10030">
                <a:moveTo>
                  <a:pt x="0" y="0"/>
                </a:moveTo>
                <a:lnTo>
                  <a:pt x="0" y="20060"/>
                </a:lnTo>
                <a:lnTo>
                  <a:pt x="10030" y="20060"/>
                </a:lnTo>
              </a:path>
            </a:pathLst>
          </a:custGeom>
          <a:noFill/>
          <a:ln cap="flat" cmpd="sng" w="9525">
            <a:solidFill>
              <a:srgbClr val="000000"/>
            </a:solidFill>
            <a:prstDash val="dash"/>
            <a:round/>
            <a:headEnd len="med" w="med" type="none"/>
            <a:tailEnd len="med" w="med" type="none"/>
          </a:ln>
        </p:spPr>
      </p:sp>
      <p:sp>
        <p:nvSpPr>
          <p:cNvPr id="989" name="Google Shape;989;p110"/>
          <p:cNvSpPr txBox="1"/>
          <p:nvPr/>
        </p:nvSpPr>
        <p:spPr>
          <a:xfrm>
            <a:off x="433697" y="4331525"/>
            <a:ext cx="137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OK to use (green)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110"/>
          <p:cNvSpPr txBox="1"/>
          <p:nvPr/>
        </p:nvSpPr>
        <p:spPr>
          <a:xfrm>
            <a:off x="2212950" y="1967473"/>
            <a:ext cx="1437900" cy="501600"/>
          </a:xfrm>
          <a:prstGeom prst="rect">
            <a:avLst/>
          </a:prstGeom>
          <a:noFill/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PriorityQueue</a:t>
            </a:r>
            <a:endParaRPr b="1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6A9955"/>
                </a:solidFill>
                <a:latin typeface="Open Sans"/>
                <a:ea typeface="Open Sans"/>
                <a:cs typeface="Open Sans"/>
                <a:sym typeface="Open Sans"/>
              </a:rPr>
              <a:t>(aka Heap)</a:t>
            </a:r>
            <a:endParaRPr b="1" sz="900">
              <a:solidFill>
                <a:srgbClr val="6A99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90" name="Google Shape;990;p110"/>
          <p:cNvCxnSpPr>
            <a:stCxn id="953" idx="1"/>
            <a:endCxn id="950" idx="3"/>
          </p:cNvCxnSpPr>
          <p:nvPr/>
        </p:nvCxnSpPr>
        <p:spPr>
          <a:xfrm flipH="1">
            <a:off x="3651000" y="1546050"/>
            <a:ext cx="458700" cy="600"/>
          </a:xfrm>
          <a:prstGeom prst="bentConnector3">
            <a:avLst>
              <a:gd fmla="val 50016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1" name="Google Shape;991;p110"/>
          <p:cNvSpPr txBox="1"/>
          <p:nvPr/>
        </p:nvSpPr>
        <p:spPr>
          <a:xfrm>
            <a:off x="4117125" y="3084709"/>
            <a:ext cx="1437900" cy="393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4A8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Open Sans"/>
                <a:ea typeface="Open Sans"/>
                <a:cs typeface="Open Sans"/>
                <a:sym typeface="Open Sans"/>
              </a:rPr>
              <a:t>Stack</a:t>
            </a:r>
            <a:endParaRPr b="1">
              <a:solidFill>
                <a:srgbClr val="6AA84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6" name="Google Shape;996;p111"/>
          <p:cNvGraphicFramePr/>
          <p:nvPr/>
        </p:nvGraphicFramePr>
        <p:xfrm>
          <a:off x="-10" y="-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{033D936F-E8DA-4608-9ACD-538CA265D6F0}</a:tableStyleId>
              </a:tblPr>
              <a:tblGrid>
                <a:gridCol w="388675"/>
                <a:gridCol w="4377650"/>
                <a:gridCol w="4377650"/>
              </a:tblGrid>
              <a:tr h="2993350">
                <a:tc row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hlinkClick r:id="rId3"/>
                        </a:rPr>
                        <a:t>Java Sets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Set&lt;Integer&gt; nums = new TreeSet&lt;&gt;();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Set&lt;Integer&gt; otherNums = new HashSet&lt;&gt;();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nums.add(1);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hlinkClick r:id="rId4"/>
                        </a:rPr>
                        <a:t>Java Maps (dictionary)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// Can also use HashMap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Map&lt;Integer, String&gt; numbers = new TreeMap&lt;&gt;();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numbers.put(1, “One”);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numbers.put(2, “Two”);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for (int i : numbers.keySet()) {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  System.out.println(numbers.get(i));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}</a:t>
                      </a:r>
                      <a:endParaRPr sz="10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5015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97" name="Google Shape;997;p111"/>
          <p:cNvSpPr txBox="1"/>
          <p:nvPr/>
        </p:nvSpPr>
        <p:spPr>
          <a:xfrm rot="-5400000">
            <a:off x="-2378350" y="2377688"/>
            <a:ext cx="5151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Unit 7 : Data Structures III</a:t>
            </a:r>
            <a:endParaRPr sz="130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12"/>
          <p:cNvSpPr txBox="1"/>
          <p:nvPr>
            <p:ph type="title"/>
          </p:nvPr>
        </p:nvSpPr>
        <p:spPr>
          <a:xfrm>
            <a:off x="311725" y="196125"/>
            <a:ext cx="8520600" cy="62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Summary &amp; Reflection</a:t>
            </a:r>
            <a:endParaRPr sz="3900"/>
          </a:p>
        </p:txBody>
      </p:sp>
      <p:sp>
        <p:nvSpPr>
          <p:cNvPr id="1003" name="Google Shape;1003;p112"/>
          <p:cNvSpPr/>
          <p:nvPr/>
        </p:nvSpPr>
        <p:spPr>
          <a:xfrm>
            <a:off x="3934950" y="1656500"/>
            <a:ext cx="1905000" cy="1233000"/>
          </a:xfrm>
          <a:prstGeom prst="cloudCallout">
            <a:avLst>
              <a:gd fmla="val 60382" name="adj1"/>
              <a:gd fmla="val 60947" name="adj2"/>
            </a:avLst>
          </a:prstGeom>
          <a:solidFill>
            <a:srgbClr val="C9DAF8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What is one new thing that you learned today?</a:t>
            </a:r>
            <a:endParaRPr sz="1200"/>
          </a:p>
        </p:txBody>
      </p:sp>
      <p:pic>
        <p:nvPicPr>
          <p:cNvPr id="1004" name="Google Shape;1004;p1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1400" y="3077250"/>
            <a:ext cx="1504525" cy="1504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5" name="Google Shape;1005;p112"/>
          <p:cNvSpPr/>
          <p:nvPr/>
        </p:nvSpPr>
        <p:spPr>
          <a:xfrm>
            <a:off x="5992350" y="1351700"/>
            <a:ext cx="1905000" cy="1233000"/>
          </a:xfrm>
          <a:prstGeom prst="cloudCallout">
            <a:avLst>
              <a:gd fmla="val -15427" name="adj1"/>
              <a:gd fmla="val 82691" name="adj2"/>
            </a:avLst>
          </a:prstGeom>
          <a:solidFill>
            <a:srgbClr val="D9EAD3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What is one thing that you wish you knew more about as we move forward?</a:t>
            </a:r>
            <a:endParaRPr sz="1000"/>
          </a:p>
        </p:txBody>
      </p:sp>
      <p:sp>
        <p:nvSpPr>
          <p:cNvPr id="1006" name="Google Shape;1006;p112"/>
          <p:cNvSpPr/>
          <p:nvPr/>
        </p:nvSpPr>
        <p:spPr>
          <a:xfrm>
            <a:off x="7003525" y="2549050"/>
            <a:ext cx="1905000" cy="1233000"/>
          </a:xfrm>
          <a:prstGeom prst="cloudCallout">
            <a:avLst>
              <a:gd fmla="val -66241" name="adj1"/>
              <a:gd fmla="val 20639" name="adj2"/>
            </a:avLst>
          </a:prstGeom>
          <a:solidFill>
            <a:srgbClr val="FCE5CD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What one question do you have about today’s class?</a:t>
            </a:r>
            <a:endParaRPr sz="1200"/>
          </a:p>
        </p:txBody>
      </p:sp>
      <p:sp>
        <p:nvSpPr>
          <p:cNvPr id="1007" name="Google Shape;1007;p112"/>
          <p:cNvSpPr txBox="1"/>
          <p:nvPr/>
        </p:nvSpPr>
        <p:spPr>
          <a:xfrm>
            <a:off x="4107225" y="4689650"/>
            <a:ext cx="46671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Please answer the questions above in your notes for today.</a:t>
            </a:r>
            <a:endParaRPr sz="12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08" name="Google Shape;1008;p1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172163">
            <a:off x="798432" y="944685"/>
            <a:ext cx="2945835" cy="3808755"/>
          </a:xfrm>
          <a:prstGeom prst="rect">
            <a:avLst/>
          </a:prstGeom>
          <a:noFill/>
          <a:ln>
            <a:noFill/>
          </a:ln>
        </p:spPr>
      </p:pic>
      <p:sp>
        <p:nvSpPr>
          <p:cNvPr id="1009" name="Google Shape;1009;p112"/>
          <p:cNvSpPr txBox="1"/>
          <p:nvPr>
            <p:ph idx="1" type="body"/>
          </p:nvPr>
        </p:nvSpPr>
        <p:spPr>
          <a:xfrm rot="-1168295">
            <a:off x="1011648" y="1531349"/>
            <a:ext cx="2569455" cy="2929916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Binary Trees!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○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value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○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left subtree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○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right subtree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Binary Search Trees!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Comparable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○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Natural Order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Comparator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○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Alternate Order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Heaps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HashSet &amp; TreeSet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Shadows Into Light"/>
              <a:buChar char="●"/>
            </a:pPr>
            <a:r>
              <a:rPr lang="en" sz="1500">
                <a:solidFill>
                  <a:srgbClr val="FF0000"/>
                </a:solidFill>
                <a:latin typeface="Shadows Into Light"/>
                <a:ea typeface="Shadows Into Light"/>
                <a:cs typeface="Shadows Into Light"/>
                <a:sym typeface="Shadows Into Light"/>
              </a:rPr>
              <a:t>HashMap &amp; TreeMap</a:t>
            </a:r>
            <a:endParaRPr sz="1500">
              <a:solidFill>
                <a:srgbClr val="FF0000"/>
              </a:solidFill>
              <a:latin typeface="Shadows Into Light"/>
              <a:ea typeface="Shadows Into Light"/>
              <a:cs typeface="Shadows Into Light"/>
              <a:sym typeface="Shadows Into Light"/>
            </a:endParaRPr>
          </a:p>
        </p:txBody>
      </p:sp>
      <p:sp>
        <p:nvSpPr>
          <p:cNvPr id="1010" name="Google Shape;1010;p1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