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10" r:id="rId1"/>
    <p:sldMasterId id="2147483711" r:id="rId2"/>
    <p:sldMasterId id="2147483712" r:id="rId3"/>
    <p:sldMasterId id="2147483713" r:id="rId4"/>
  </p:sldMasterIdLst>
  <p:notesMasterIdLst>
    <p:notesMasterId r:id="rId5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23">
          <p15:clr>
            <a:srgbClr val="A4A3A4"/>
          </p15:clr>
        </p15:guide>
        <p15:guide id="2" pos="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BCF444-FB6E-45BF-8B7D-5A214FA52ACE}">
  <a:tblStyle styleId="{88BCF444-FB6E-45BF-8B7D-5A214FA52AC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33D936F-E8DA-4608-9ACD-538CA265D6F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868" autoAdjust="0"/>
  </p:normalViewPr>
  <p:slideViewPr>
    <p:cSldViewPr snapToGrid="0">
      <p:cViewPr varScale="1">
        <p:scale>
          <a:sx n="122" d="100"/>
          <a:sy n="122" d="100"/>
        </p:scale>
        <p:origin x="96" y="336"/>
      </p:cViewPr>
      <p:guideLst>
        <p:guide orient="horz" pos="2523"/>
        <p:guide pos="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b9a8ac45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g2b9a8ac45a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b2a27292e8_0_9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g3b2a27292e8_0_9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Note that "in" is blue when used as an operator, and purple when used with a for loop.</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b2a27292e8_0_10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b2a27292e8_0_1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b2a27292e8_0_10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b2a27292e8_0_10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solidFill>
                  <a:srgbClr val="FF0000"/>
                </a:solidFill>
                <a:highlight>
                  <a:srgbClr val="FFFF00"/>
                </a:highlight>
                <a:latin typeface="Courier New"/>
                <a:ea typeface="Courier New"/>
                <a:cs typeface="Courier New"/>
                <a:sym typeface="Courier New"/>
              </a:rPr>
              <a:t>E extends Comparable&lt;E&gt;</a:t>
            </a:r>
            <a:endParaRPr lang="en-US" dirty="0">
              <a:solidFill>
                <a:srgbClr val="FF0000"/>
              </a:solidFill>
              <a:highlight>
                <a:srgbClr val="FFFF00"/>
              </a:highlight>
              <a:latin typeface="Courier New"/>
              <a:ea typeface="Courier New"/>
              <a:cs typeface="Courier New"/>
              <a:sym typeface="Courier New"/>
            </a:endParaRPr>
          </a:p>
          <a:p>
            <a:pPr marL="171450" lvl="0" indent="-171450" algn="l" rtl="0">
              <a:spcBef>
                <a:spcPts val="0"/>
              </a:spcBef>
              <a:spcAft>
                <a:spcPts val="0"/>
              </a:spcAft>
              <a:buFont typeface="Wingdings" panose="05000000000000000000" pitchFamily="2" charset="2"/>
              <a:buChar char="n"/>
            </a:pPr>
            <a:r>
              <a:rPr lang="en-US" dirty="0"/>
              <a:t>Because </a:t>
            </a:r>
            <a:r>
              <a:rPr lang="en-US" dirty="0" err="1"/>
              <a:t>BinarySearchTree</a:t>
            </a:r>
            <a:r>
              <a:rPr lang="en-US" dirty="0"/>
              <a:t> uses </a:t>
            </a:r>
            <a:r>
              <a:rPr lang="en-US" dirty="0" err="1"/>
              <a:t>compareTo</a:t>
            </a:r>
            <a:r>
              <a:rPr lang="en-US" dirty="0"/>
              <a:t> method to place the values in correct order.</a:t>
            </a:r>
          </a:p>
          <a:p>
            <a:pPr marL="0" lvl="0" indent="0" algn="l" rtl="0">
              <a:spcBef>
                <a:spcPts val="0"/>
              </a:spcBef>
              <a:spcAft>
                <a:spcPts val="0"/>
              </a:spcAft>
              <a:buFont typeface="Wingdings" panose="05000000000000000000" pitchFamily="2" charset="2"/>
              <a:buNone/>
            </a:pPr>
            <a:endParaRPr lang="en-US" dirty="0"/>
          </a:p>
          <a:p>
            <a:pPr marL="0" lvl="0" indent="0" algn="l" rtl="0">
              <a:spcBef>
                <a:spcPts val="0"/>
              </a:spcBef>
              <a:spcAft>
                <a:spcPts val="0"/>
              </a:spcAft>
              <a:buFont typeface="Wingdings" panose="05000000000000000000" pitchFamily="2" charset="2"/>
              <a:buNone/>
            </a:pPr>
            <a:r>
              <a:rPr lang="en-US" dirty="0"/>
              <a:t>public class </a:t>
            </a:r>
            <a:r>
              <a:rPr lang="en-US" dirty="0" err="1"/>
              <a:t>TreeSet</a:t>
            </a:r>
            <a:r>
              <a:rPr lang="en-US" dirty="0"/>
              <a:t>&lt;E extends Comparable&lt;E&gt;&gt; implements Set&lt;E&gt;</a:t>
            </a:r>
          </a:p>
          <a:p>
            <a:pPr marL="0" lvl="0" indent="0" algn="l" rtl="0">
              <a:spcBef>
                <a:spcPts val="0"/>
              </a:spcBef>
              <a:spcAft>
                <a:spcPts val="0"/>
              </a:spcAft>
              <a:buFont typeface="Wingdings" panose="05000000000000000000" pitchFamily="2" charset="2"/>
              <a:buNone/>
            </a:pPr>
            <a:r>
              <a:rPr lang="en-US" dirty="0"/>
              <a:t>public class </a:t>
            </a:r>
            <a:r>
              <a:rPr lang="en-US" dirty="0" err="1"/>
              <a:t>TreeSet</a:t>
            </a:r>
            <a:r>
              <a:rPr lang="en-US" dirty="0"/>
              <a:t>&lt;Comparable&lt;E&gt;&gt; implements Set&lt;E&gt; </a:t>
            </a:r>
            <a:r>
              <a:rPr lang="en-US" dirty="0">
                <a:sym typeface="Wingdings" panose="05000000000000000000" pitchFamily="2" charset="2"/>
              </a:rPr>
              <a:t> Incorrect Syntax. You can not use Interface name as part of generic definition.</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b2a27292e8_0_1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b2a27292e8_0_1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b2a27292e8_0_1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b2a27292e8_0_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 Iterator Implementation here.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bc7d72bb96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bc7d72bb96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bc7d72bb96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0" name="Google Shape;450;g3bc7d72bb96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Give an example of Student.</a:t>
            </a:r>
          </a:p>
          <a:p>
            <a:pPr marL="0" lvl="0" indent="0" algn="l" rtl="0">
              <a:lnSpc>
                <a:spcPct val="100000"/>
              </a:lnSpc>
              <a:spcBef>
                <a:spcPts val="0"/>
              </a:spcBef>
              <a:spcAft>
                <a:spcPts val="0"/>
              </a:spcAft>
              <a:buSzPts val="1100"/>
              <a:buNone/>
            </a:pPr>
            <a:r>
              <a:rPr lang="en-US" dirty="0"/>
              <a:t>Key : Student ID</a:t>
            </a:r>
          </a:p>
          <a:p>
            <a:pPr marL="0" lvl="0" indent="0" algn="l" rtl="0">
              <a:lnSpc>
                <a:spcPct val="100000"/>
              </a:lnSpc>
              <a:spcBef>
                <a:spcPts val="0"/>
              </a:spcBef>
              <a:spcAft>
                <a:spcPts val="0"/>
              </a:spcAft>
              <a:buSzPts val="1100"/>
              <a:buNone/>
            </a:pPr>
            <a:r>
              <a:rPr lang="en-US" dirty="0"/>
              <a:t>Value : Student Object containing name, address, etc.</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bb30fc5c81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bb30fc5c81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highlight>
                  <a:srgbClr val="FFFF00"/>
                </a:highlight>
              </a:rPr>
              <a:t>But with a key/value pair rather than a single value..</a:t>
            </a:r>
          </a:p>
          <a:p>
            <a:pPr marL="0" lvl="0" indent="0" algn="l" rtl="0">
              <a:spcBef>
                <a:spcPts val="0"/>
              </a:spcBef>
              <a:spcAft>
                <a:spcPts val="0"/>
              </a:spcAft>
              <a:buNone/>
            </a:pPr>
            <a:r>
              <a:rPr lang="en-US" dirty="0"/>
              <a:t>Use </a:t>
            </a:r>
            <a:r>
              <a:rPr lang="en-US" dirty="0" err="1"/>
              <a:t>NodeBST</a:t>
            </a:r>
            <a:r>
              <a:rPr lang="en-US" dirty="0"/>
              <a:t>&lt;E&gt; Where E is an object with attributes we need.</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bc7d72bb96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3bc7d72bb96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bc7d72bb96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3" name="Google Shape;493;g3bc7d72bb96_0_3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Use the </a:t>
            </a:r>
            <a:r>
              <a:rPr lang="en-US" dirty="0" err="1"/>
              <a:t>hashCode</a:t>
            </a:r>
            <a:r>
              <a:rPr lang="en-US" dirty="0"/>
              <a:t>() function.</a:t>
            </a:r>
          </a:p>
          <a:p>
            <a:pPr marL="0" lvl="0" indent="0" algn="l" rtl="0">
              <a:lnSpc>
                <a:spcPct val="100000"/>
              </a:lnSpc>
              <a:spcBef>
                <a:spcPts val="0"/>
              </a:spcBef>
              <a:spcAft>
                <a:spcPts val="0"/>
              </a:spcAft>
              <a:buSzPts val="1100"/>
              <a:buNone/>
            </a:pPr>
            <a:r>
              <a:rPr lang="en-US" dirty="0"/>
              <a:t>For number </a:t>
            </a:r>
            <a:r>
              <a:rPr lang="en-US" dirty="0" err="1"/>
              <a:t>hashcode</a:t>
            </a:r>
            <a:r>
              <a:rPr lang="en-US" dirty="0"/>
              <a:t> could be same as number.</a:t>
            </a:r>
          </a:p>
          <a:p>
            <a:pPr marL="0" lvl="0" indent="0" algn="l" rtl="0">
              <a:lnSpc>
                <a:spcPct val="100000"/>
              </a:lnSpc>
              <a:spcBef>
                <a:spcPts val="0"/>
              </a:spcBef>
              <a:spcAft>
                <a:spcPts val="0"/>
              </a:spcAft>
              <a:buSzPts val="1100"/>
              <a:buNone/>
            </a:pPr>
            <a:r>
              <a:rPr lang="en-US" dirty="0"/>
              <a:t>How about String() </a:t>
            </a:r>
            <a:r>
              <a:rPr lang="en-US" dirty="0">
                <a:sym typeface="Wingdings" panose="05000000000000000000" pitchFamily="2" charset="2"/>
              </a:rPr>
              <a:t> It could be different value.</a:t>
            </a:r>
          </a:p>
          <a:p>
            <a:pPr marL="0" lvl="0" indent="0" algn="l" rtl="0">
              <a:lnSpc>
                <a:spcPct val="100000"/>
              </a:lnSpc>
              <a:spcBef>
                <a:spcPts val="0"/>
              </a:spcBef>
              <a:spcAft>
                <a:spcPts val="0"/>
              </a:spcAft>
              <a:buSzPts val="1100"/>
              <a:buNone/>
            </a:pPr>
            <a:endParaRPr lang="en-US" dirty="0">
              <a:sym typeface="Wingdings" panose="05000000000000000000" pitchFamily="2" charset="2"/>
            </a:endParaRPr>
          </a:p>
          <a:p>
            <a:pPr marL="0" lvl="0" indent="0" algn="l" rtl="0">
              <a:lnSpc>
                <a:spcPct val="100000"/>
              </a:lnSpc>
              <a:spcBef>
                <a:spcPts val="0"/>
              </a:spcBef>
              <a:spcAft>
                <a:spcPts val="0"/>
              </a:spcAft>
              <a:buSzPts val="1100"/>
              <a:buNone/>
            </a:pPr>
            <a:r>
              <a:rPr lang="en-US" dirty="0">
                <a:sym typeface="Wingdings" panose="05000000000000000000" pitchFamily="2" charset="2"/>
              </a:rPr>
              <a:t>Once you have the number then create the modulus to find exact location in the Array</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92b3d6d1b5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392b3d6d1b5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will use </a:t>
            </a:r>
            <a:r>
              <a:rPr lang="en-US" dirty="0" err="1"/>
              <a:t>ArrayList</a:t>
            </a:r>
            <a:r>
              <a:rPr lang="en-US" dirty="0"/>
              <a:t>&lt;&gt; for our purpose</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92b3d6d1b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392b3d6d1b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92b3d6d1b5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92b3d6d1b5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Why you’ll eventually get </a:t>
            </a:r>
            <a:r>
              <a:rPr lang="en-US" sz="1100" b="1" i="0" u="none" strike="noStrike" cap="none" dirty="0">
                <a:solidFill>
                  <a:srgbClr val="000000"/>
                </a:solidFill>
                <a:latin typeface="Arial"/>
                <a:ea typeface="Arial"/>
                <a:cs typeface="Arial"/>
                <a:sym typeface="Arial"/>
              </a:rPr>
              <a:t>false</a:t>
            </a:r>
            <a:endParaRPr lang="en-US" b="1" dirty="0"/>
          </a:p>
          <a:p>
            <a:r>
              <a:rPr lang="en-US" dirty="0"/>
              <a:t>Because the capacity starts at </a:t>
            </a:r>
            <a:r>
              <a:rPr lang="en-US" b="1" dirty="0"/>
              <a:t>3</a:t>
            </a:r>
            <a:r>
              <a:rPr lang="en-US" dirty="0"/>
              <a:t>, you only have 3 buckets. Once you try inserting a 4th </a:t>
            </a:r>
            <a:r>
              <a:rPr lang="en-US" i="1" dirty="0"/>
              <a:t>different</a:t>
            </a:r>
            <a:r>
              <a:rPr lang="en-US" dirty="0"/>
              <a:t> key that hashes to an already-occupied index, you’ll hit a collision and return </a:t>
            </a:r>
            <a:r>
              <a:rPr lang="en-US" sz="1100" b="0" i="0" u="none" strike="noStrike" cap="none" dirty="0">
                <a:solidFill>
                  <a:srgbClr val="000000"/>
                </a:solidFill>
                <a:latin typeface="Arial"/>
                <a:ea typeface="Arial"/>
                <a:cs typeface="Arial"/>
                <a:sym typeface="Arial"/>
              </a:rPr>
              <a:t>false</a:t>
            </a:r>
            <a:r>
              <a:rPr lang="en-US" dirty="0"/>
              <a:t> (per the slide’s simplified behavior).</a:t>
            </a:r>
          </a:p>
          <a:p>
            <a:endParaRPr lang="en-US" dirty="0"/>
          </a:p>
          <a:p>
            <a:r>
              <a:rPr lang="en-US" dirty="0"/>
              <a:t>Create Calculate Index Method first. Talk about how it may get negative.</a:t>
            </a:r>
          </a:p>
          <a:p>
            <a:r>
              <a:rPr lang="en-US" b="1" dirty="0"/>
              <a:t>Can a Object such as Student be used as key in Map</a:t>
            </a:r>
          </a:p>
          <a:p>
            <a:r>
              <a:rPr lang="en-US" dirty="0"/>
              <a:t>Yes ✅ — a </a:t>
            </a:r>
            <a:r>
              <a:rPr lang="en-US" sz="1100" b="0" i="0" u="none" strike="noStrike" cap="none" dirty="0">
                <a:solidFill>
                  <a:srgbClr val="000000"/>
                </a:solidFill>
                <a:latin typeface="Arial"/>
                <a:ea typeface="Arial"/>
                <a:cs typeface="Arial"/>
                <a:sym typeface="Arial"/>
              </a:rPr>
              <a:t>Student</a:t>
            </a:r>
            <a:r>
              <a:rPr lang="en-US" dirty="0"/>
              <a:t> object </a:t>
            </a:r>
            <a:r>
              <a:rPr lang="en-US" b="1" dirty="0"/>
              <a:t>can absolutely be used as a key in a </a:t>
            </a:r>
            <a:r>
              <a:rPr lang="en-US" sz="1100" b="1" i="0" u="none" strike="noStrike" cap="none" dirty="0">
                <a:solidFill>
                  <a:srgbClr val="000000"/>
                </a:solidFill>
                <a:latin typeface="Arial"/>
                <a:ea typeface="Arial"/>
                <a:cs typeface="Arial"/>
                <a:sym typeface="Arial"/>
              </a:rPr>
              <a:t>Map</a:t>
            </a:r>
            <a:r>
              <a:rPr lang="en-US" dirty="0"/>
              <a:t>.</a:t>
            </a:r>
          </a:p>
          <a:p>
            <a:pPr lvl="1"/>
            <a:r>
              <a:rPr lang="en-US" dirty="0"/>
              <a:t>But there’s a very important rule.</a:t>
            </a:r>
          </a:p>
          <a:p>
            <a:pPr lvl="1"/>
            <a:r>
              <a:rPr lang="en-US" dirty="0"/>
              <a:t>If you use a custom object as a key in a </a:t>
            </a:r>
            <a:r>
              <a:rPr lang="en-US" sz="1100" b="0" i="0" u="none" strike="noStrike" cap="none" dirty="0">
                <a:solidFill>
                  <a:srgbClr val="000000"/>
                </a:solidFill>
                <a:latin typeface="Arial"/>
                <a:ea typeface="Arial"/>
                <a:cs typeface="Arial"/>
                <a:sym typeface="Arial"/>
              </a:rPr>
              <a:t>HashMap</a:t>
            </a:r>
            <a:r>
              <a:rPr lang="en-US" dirty="0"/>
              <a:t>, you MUST properly override:</a:t>
            </a:r>
          </a:p>
          <a:p>
            <a:pPr lvl="1"/>
            <a:r>
              <a:rPr lang="en-US" sz="1100" b="0" i="0" u="none" strike="noStrike" cap="none" dirty="0">
                <a:solidFill>
                  <a:srgbClr val="000000"/>
                </a:solidFill>
                <a:latin typeface="Arial"/>
                <a:ea typeface="Arial"/>
                <a:cs typeface="Arial"/>
                <a:sym typeface="Arial"/>
              </a:rPr>
              <a:t>equals()</a:t>
            </a:r>
            <a:endParaRPr lang="en-US" dirty="0"/>
          </a:p>
          <a:p>
            <a:pPr lvl="1"/>
            <a:r>
              <a:rPr lang="en-US" sz="1100" b="0" i="0" u="none" strike="noStrike" cap="none" dirty="0" err="1">
                <a:solidFill>
                  <a:srgbClr val="000000"/>
                </a:solidFill>
                <a:latin typeface="Arial"/>
                <a:ea typeface="Arial"/>
                <a:cs typeface="Arial"/>
                <a:sym typeface="Arial"/>
              </a:rPr>
              <a:t>hashCode</a:t>
            </a:r>
            <a:r>
              <a:rPr lang="en-US" sz="1100" b="0" i="0" u="none" strike="noStrike" cap="none" dirty="0">
                <a:solidFill>
                  <a:srgbClr val="000000"/>
                </a:solidFill>
                <a:latin typeface="Arial"/>
                <a:ea typeface="Arial"/>
                <a:cs typeface="Arial"/>
                <a:sym typeface="Arial"/>
              </a:rPr>
              <a:t>()</a:t>
            </a:r>
            <a:endParaRPr lang="en-US" dirty="0"/>
          </a:p>
          <a:p>
            <a:pPr lvl="1"/>
            <a:r>
              <a:rPr lang="en-US" dirty="0"/>
              <a:t>Otherwise, your map will behave incorrectly.</a:t>
            </a:r>
          </a:p>
          <a:p>
            <a:endParaRPr lang="en-US" dirty="0"/>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92b3d6d1b5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392b3d6d1b5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Implements </a:t>
            </a:r>
            <a:r>
              <a:rPr lang="en-US" dirty="0" err="1"/>
              <a:t>ContainsKey</a:t>
            </a:r>
            <a:r>
              <a:rPr lang="en-US" dirty="0"/>
              <a:t> method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Can null be stored as key</a:t>
            </a:r>
          </a:p>
          <a:p>
            <a:r>
              <a:rPr lang="en-US" dirty="0"/>
              <a:t>✔ </a:t>
            </a:r>
            <a:r>
              <a:rPr lang="en-US" b="1" dirty="0"/>
              <a:t>YES — HashMap allows one null key.</a:t>
            </a:r>
            <a:endParaRPr lang="en-US" dirty="0"/>
          </a:p>
          <a:p>
            <a:r>
              <a:rPr lang="en-US" b="1" dirty="0"/>
              <a:t>Why only one?</a:t>
            </a:r>
          </a:p>
          <a:p>
            <a:r>
              <a:rPr lang="en-US" dirty="0"/>
              <a:t>Because a Map cannot have duplicate keys.</a:t>
            </a:r>
          </a:p>
          <a:p>
            <a:r>
              <a:rPr lang="en-US" dirty="0"/>
              <a:t>Internally:</a:t>
            </a:r>
          </a:p>
          <a:p>
            <a:r>
              <a:rPr lang="en-US" sz="1100" b="0" i="0" u="none" strike="noStrike" cap="none" dirty="0">
                <a:solidFill>
                  <a:srgbClr val="000000"/>
                </a:solidFill>
                <a:latin typeface="Arial"/>
                <a:ea typeface="Arial"/>
                <a:cs typeface="Arial"/>
                <a:sym typeface="Arial"/>
              </a:rPr>
              <a:t>null</a:t>
            </a:r>
            <a:r>
              <a:rPr lang="en-US" dirty="0"/>
              <a:t> key is stored in bucket index </a:t>
            </a:r>
            <a:r>
              <a:rPr lang="en-US" sz="1100" b="0" i="0" u="none" strike="noStrike" cap="none" dirty="0">
                <a:solidFill>
                  <a:srgbClr val="000000"/>
                </a:solidFill>
                <a:latin typeface="Arial"/>
                <a:ea typeface="Arial"/>
                <a:cs typeface="Arial"/>
                <a:sym typeface="Arial"/>
              </a:rPr>
              <a:t>0</a:t>
            </a:r>
            <a:endParaRPr lang="en-US" dirty="0"/>
          </a:p>
          <a:p>
            <a:r>
              <a:rPr lang="en-US" dirty="0"/>
              <a:t>No </a:t>
            </a:r>
            <a:r>
              <a:rPr lang="en-US" sz="1100" b="0" i="0" u="none" strike="noStrike" cap="none" dirty="0" err="1">
                <a:solidFill>
                  <a:srgbClr val="000000"/>
                </a:solidFill>
                <a:latin typeface="Arial"/>
                <a:ea typeface="Arial"/>
                <a:cs typeface="Arial"/>
                <a:sym typeface="Arial"/>
              </a:rPr>
              <a:t>hashCode</a:t>
            </a:r>
            <a:r>
              <a:rPr lang="en-US" sz="1100" b="0" i="0" u="none" strike="noStrike" cap="none" dirty="0">
                <a:solidFill>
                  <a:srgbClr val="000000"/>
                </a:solidFill>
                <a:latin typeface="Arial"/>
                <a:ea typeface="Arial"/>
                <a:cs typeface="Arial"/>
                <a:sym typeface="Arial"/>
              </a:rPr>
              <a:t>()</a:t>
            </a:r>
            <a:r>
              <a:rPr lang="en-US" dirty="0"/>
              <a:t> is called (since null has no methods)</a:t>
            </a:r>
          </a:p>
          <a:p>
            <a:r>
              <a:rPr lang="en-US" dirty="0"/>
              <a:t>You can also retrieve it:</a:t>
            </a:r>
          </a:p>
          <a:p>
            <a:pPr marL="0" lvl="0" indent="0" algn="l" rtl="0">
              <a:spcBef>
                <a:spcPts val="0"/>
              </a:spcBef>
              <a:spcAft>
                <a:spcPts val="0"/>
              </a:spcAft>
              <a:buNone/>
            </a:pPr>
            <a:endParaRPr lang="en-US" dirty="0"/>
          </a:p>
          <a:p>
            <a:r>
              <a:rPr lang="en-US" b="1" dirty="0"/>
              <a:t>❌ 3️⃣ </a:t>
            </a:r>
            <a:r>
              <a:rPr lang="en-US" b="1" dirty="0" err="1"/>
              <a:t>TreeMap</a:t>
            </a:r>
            <a:endParaRPr lang="en-US" b="1" dirty="0"/>
          </a:p>
          <a:p>
            <a:pPr rtl="0"/>
            <a:r>
              <a:rPr lang="en-US" sz="1100" b="0" i="0" u="none" strike="noStrike" cap="none" dirty="0">
                <a:solidFill>
                  <a:srgbClr val="000000"/>
                </a:solidFill>
                <a:latin typeface="Arial"/>
                <a:ea typeface="Arial"/>
                <a:cs typeface="Arial"/>
                <a:sym typeface="Arial"/>
              </a:rPr>
              <a:t>Map&lt;String, String&gt; map = new </a:t>
            </a:r>
            <a:r>
              <a:rPr lang="en-US" sz="1100" b="0" i="0" u="none" strike="noStrike" cap="none" dirty="0" err="1">
                <a:solidFill>
                  <a:srgbClr val="000000"/>
                </a:solidFill>
                <a:latin typeface="Arial"/>
                <a:ea typeface="Arial"/>
                <a:cs typeface="Arial"/>
                <a:sym typeface="Arial"/>
              </a:rPr>
              <a:t>TreeMap</a:t>
            </a:r>
            <a:r>
              <a:rPr lang="en-US" sz="1100" b="0" i="0" u="none" strike="noStrike" cap="none" dirty="0">
                <a:solidFill>
                  <a:srgbClr val="000000"/>
                </a:solidFill>
                <a:latin typeface="Arial"/>
                <a:ea typeface="Arial"/>
                <a:cs typeface="Arial"/>
                <a:sym typeface="Arial"/>
              </a:rPr>
              <a:t>&lt;&gt;();</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map.put</a:t>
            </a:r>
            <a:r>
              <a:rPr lang="en-US" sz="1100" b="0" i="0" u="none" strike="noStrike" cap="none" dirty="0">
                <a:solidFill>
                  <a:srgbClr val="000000"/>
                </a:solidFill>
                <a:latin typeface="Arial"/>
                <a:ea typeface="Arial"/>
                <a:cs typeface="Arial"/>
                <a:sym typeface="Arial"/>
              </a:rPr>
              <a:t>(null, "Hello");  // ❌ </a:t>
            </a:r>
            <a:r>
              <a:rPr lang="en-US" sz="1100" b="0" i="0" u="none" strike="noStrike" cap="none" dirty="0" err="1">
                <a:solidFill>
                  <a:srgbClr val="000000"/>
                </a:solidFill>
                <a:latin typeface="Arial"/>
                <a:ea typeface="Arial"/>
                <a:cs typeface="Arial"/>
                <a:sym typeface="Arial"/>
              </a:rPr>
              <a:t>NullPointerException</a:t>
            </a:r>
            <a:endParaRPr lang="en-US" sz="1100" b="0" i="0" u="none" strike="noStrike" cap="none" dirty="0">
              <a:solidFill>
                <a:srgbClr val="000000"/>
              </a:solidFill>
              <a:latin typeface="Arial"/>
              <a:ea typeface="Arial"/>
              <a:cs typeface="Arial"/>
              <a:sym typeface="Arial"/>
            </a:endParaRPr>
          </a:p>
          <a:p>
            <a:r>
              <a:rPr lang="en-US" dirty="0"/>
              <a:t>❌ </a:t>
            </a:r>
            <a:r>
              <a:rPr lang="en-US" b="1" dirty="0"/>
              <a:t>NO — </a:t>
            </a:r>
            <a:r>
              <a:rPr lang="en-US" b="1" dirty="0" err="1"/>
              <a:t>TreeMap</a:t>
            </a:r>
            <a:r>
              <a:rPr lang="en-US" b="1" dirty="0"/>
              <a:t> does NOT allow null keys</a:t>
            </a:r>
            <a:endParaRPr lang="en-US" dirty="0"/>
          </a:p>
          <a:p>
            <a:r>
              <a:rPr lang="en-US" b="1" dirty="0"/>
              <a:t>Why?</a:t>
            </a:r>
          </a:p>
          <a:p>
            <a:r>
              <a:rPr lang="en-US" dirty="0" err="1"/>
              <a:t>TreeMap</a:t>
            </a:r>
            <a:r>
              <a:rPr lang="en-US" dirty="0"/>
              <a:t> sorts keys using:</a:t>
            </a:r>
          </a:p>
          <a:p>
            <a:r>
              <a:rPr lang="en-US" sz="1100" b="0" i="0" u="none" strike="noStrike" cap="none" dirty="0" err="1">
                <a:solidFill>
                  <a:srgbClr val="000000"/>
                </a:solidFill>
                <a:latin typeface="Arial"/>
                <a:ea typeface="Arial"/>
                <a:cs typeface="Arial"/>
                <a:sym typeface="Arial"/>
              </a:rPr>
              <a:t>compareTo</a:t>
            </a:r>
            <a:r>
              <a:rPr lang="en-US" sz="1100" b="0" i="0" u="none" strike="noStrike" cap="none" dirty="0">
                <a:solidFill>
                  <a:srgbClr val="000000"/>
                </a:solidFill>
                <a:latin typeface="Arial"/>
                <a:ea typeface="Arial"/>
                <a:cs typeface="Arial"/>
                <a:sym typeface="Arial"/>
              </a:rPr>
              <a:t>()</a:t>
            </a:r>
            <a:br>
              <a:rPr lang="en-US" dirty="0"/>
            </a:br>
            <a:r>
              <a:rPr lang="en-US" dirty="0"/>
              <a:t>or</a:t>
            </a:r>
          </a:p>
          <a:p>
            <a:r>
              <a:rPr lang="en-US" sz="1100" b="0" i="0" u="none" strike="noStrike" cap="none" dirty="0">
                <a:solidFill>
                  <a:srgbClr val="000000"/>
                </a:solidFill>
                <a:latin typeface="Arial"/>
                <a:ea typeface="Arial"/>
                <a:cs typeface="Arial"/>
                <a:sym typeface="Arial"/>
              </a:rPr>
              <a:t>Comparator</a:t>
            </a:r>
            <a:endParaRPr lang="en-US" dirty="0"/>
          </a:p>
          <a:p>
            <a:r>
              <a:rPr lang="en-US" dirty="0"/>
              <a:t>To compare, it must call a method on the key.</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3bc7d72bb96_0_3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3bc7d72bb96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92b3d6d1b5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392b3d6d1b5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bb30fc5c8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3" name="Google Shape;593;g3bb30fc5c8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bb30fc5c8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5" name="Google Shape;615;g3bb30fc5c81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 dirty="0"/>
              <a:t>You may men</a:t>
            </a:r>
            <a:r>
              <a:rPr lang="en-US" dirty="0" err="1"/>
              <a:t>tion</a:t>
            </a:r>
            <a:r>
              <a:rPr lang="en-US" dirty="0"/>
              <a:t> that we will cover this in much more detail in the second course.</a:t>
            </a:r>
          </a:p>
          <a:p>
            <a:pPr marL="0" lvl="0" indent="0" algn="l" rtl="0">
              <a:lnSpc>
                <a:spcPct val="100000"/>
              </a:lnSpc>
              <a:spcBef>
                <a:spcPts val="0"/>
              </a:spcBef>
              <a:spcAft>
                <a:spcPts val="0"/>
              </a:spcAft>
              <a:buSzPts val="1100"/>
              <a:buNone/>
            </a:pPr>
            <a:endParaRPr lang="en" dirty="0"/>
          </a:p>
          <a:p>
            <a:r>
              <a:rPr lang="en-US" b="1" dirty="0"/>
              <a:t>🔹 Types of Open Addressing</a:t>
            </a:r>
          </a:p>
          <a:p>
            <a:r>
              <a:rPr lang="en-US" dirty="0"/>
              <a:t>There are 3 common probing strategies:</a:t>
            </a:r>
          </a:p>
          <a:p>
            <a:r>
              <a:rPr lang="en-US" b="1" dirty="0"/>
              <a:t>1️⃣ Linear Probing</a:t>
            </a:r>
          </a:p>
          <a:p>
            <a:r>
              <a:rPr lang="en-US" dirty="0"/>
              <a:t>Move one step at a time: index = </a:t>
            </a:r>
            <a:r>
              <a:rPr lang="en-US" b="1" dirty="0"/>
              <a:t>(hash + 1) % </a:t>
            </a:r>
            <a:r>
              <a:rPr lang="en-US" b="1" dirty="0" err="1"/>
              <a:t>tableSize</a:t>
            </a:r>
            <a:endParaRPr lang="en-US" b="1" dirty="0"/>
          </a:p>
          <a:p>
            <a:r>
              <a:rPr lang="en-US" b="1" dirty="0"/>
              <a:t>2️⃣ Quadratic Probing</a:t>
            </a:r>
          </a:p>
          <a:p>
            <a:r>
              <a:rPr lang="en-US" dirty="0"/>
              <a:t>Move in squares: hash + 1²</a:t>
            </a:r>
          </a:p>
          <a:p>
            <a:r>
              <a:rPr lang="en-US" b="1" dirty="0"/>
              <a:t>3️⃣ Double Hashing</a:t>
            </a:r>
          </a:p>
          <a:p>
            <a:r>
              <a:rPr lang="en-US" dirty="0"/>
              <a:t>Use a second hash function to determine jump distance. Second hash % size</a:t>
            </a:r>
          </a:p>
          <a:p>
            <a:endParaRPr lang="en-US" dirty="0"/>
          </a:p>
          <a:p>
            <a:r>
              <a:rPr lang="en-US" dirty="0"/>
              <a:t>Get</a:t>
            </a:r>
          </a:p>
          <a:p>
            <a:r>
              <a:rPr lang="en-US" b="1" dirty="0"/>
              <a:t>🔹 Core Rule</a:t>
            </a:r>
          </a:p>
          <a:p>
            <a:r>
              <a:rPr lang="en-US" dirty="0"/>
              <a:t>In </a:t>
            </a:r>
            <a:r>
              <a:rPr lang="en-US" b="1" dirty="0"/>
              <a:t>open addressing</a:t>
            </a:r>
            <a:r>
              <a:rPr lang="en-US" dirty="0"/>
              <a:t>, </a:t>
            </a:r>
            <a:r>
              <a:rPr lang="en-US" sz="1100" b="0" i="0" u="none" strike="noStrike" cap="none" dirty="0">
                <a:solidFill>
                  <a:srgbClr val="000000"/>
                </a:solidFill>
                <a:latin typeface="Arial"/>
                <a:ea typeface="Arial"/>
                <a:cs typeface="Arial"/>
                <a:sym typeface="Arial"/>
              </a:rPr>
              <a:t>get(key)</a:t>
            </a:r>
            <a:r>
              <a:rPr lang="en-US" dirty="0"/>
              <a:t> must:</a:t>
            </a:r>
          </a:p>
          <a:p>
            <a:r>
              <a:rPr lang="en-US" dirty="0"/>
              <a:t>Follow the SAME probing sequence that was used during insertion.</a:t>
            </a:r>
          </a:p>
          <a:p>
            <a:r>
              <a:rPr lang="en-US" dirty="0"/>
              <a:t>Example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10 → hash = 3 → store at index 3</a:t>
            </a:r>
            <a:br>
              <a:rPr lang="en-US" dirty="0"/>
            </a:br>
            <a:r>
              <a:rPr lang="en-US" dirty="0"/>
              <a:t>17 → hash = 3 → collision → store at 4</a:t>
            </a:r>
            <a:br>
              <a:rPr lang="en-US" dirty="0"/>
            </a:br>
            <a:r>
              <a:rPr lang="en-US" dirty="0"/>
              <a:t>24 → hash = 3 → collision → store at 5</a:t>
            </a:r>
          </a:p>
          <a:p>
            <a:endParaRPr lang="en-US" dirty="0"/>
          </a:p>
          <a:p>
            <a:r>
              <a:rPr lang="en-US" b="1" dirty="0"/>
              <a:t>🔹 Now: get(24)</a:t>
            </a:r>
          </a:p>
          <a:p>
            <a:r>
              <a:rPr lang="en-US" b="1" dirty="0"/>
              <a:t>Step 1</a:t>
            </a:r>
          </a:p>
          <a:p>
            <a:r>
              <a:rPr lang="en-US" dirty="0"/>
              <a:t>Compute hash:</a:t>
            </a:r>
          </a:p>
          <a:p>
            <a:pPr rtl="0"/>
            <a:r>
              <a:rPr lang="en-US" sz="1100" b="0" i="0" u="none" strike="noStrike" cap="none" dirty="0">
                <a:solidFill>
                  <a:srgbClr val="000000"/>
                </a:solidFill>
                <a:latin typeface="Arial"/>
                <a:ea typeface="Arial"/>
                <a:cs typeface="Arial"/>
                <a:sym typeface="Arial"/>
              </a:rPr>
              <a:t>hash = 24 % 7 = 3</a:t>
            </a:r>
          </a:p>
          <a:p>
            <a:r>
              <a:rPr lang="en-US" dirty="0"/>
              <a:t>Check index 3:</a:t>
            </a:r>
          </a:p>
          <a:p>
            <a:pPr rtl="0"/>
            <a:r>
              <a:rPr lang="en-US" sz="1100" b="0" i="0" u="none" strike="noStrike" cap="none" dirty="0">
                <a:solidFill>
                  <a:srgbClr val="000000"/>
                </a:solidFill>
                <a:latin typeface="Arial"/>
                <a:ea typeface="Arial"/>
                <a:cs typeface="Arial"/>
                <a:sym typeface="Arial"/>
              </a:rPr>
              <a:t>table[3] = 10 ❌ not 24</a:t>
            </a:r>
          </a:p>
          <a:p>
            <a:pPr rtl="0"/>
            <a:r>
              <a:rPr lang="en-US" sz="1100" b="0" i="0" u="none" strike="noStrike" cap="none" dirty="0">
                <a:solidFill>
                  <a:srgbClr val="000000"/>
                </a:solidFill>
                <a:latin typeface="Arial"/>
                <a:ea typeface="Arial"/>
                <a:cs typeface="Arial"/>
                <a:sym typeface="Arial"/>
              </a:rPr>
              <a:t>index = (3 + 1) % 7 = 4</a:t>
            </a:r>
          </a:p>
          <a:p>
            <a:r>
              <a:rPr lang="en-US" dirty="0"/>
              <a:t>Check index 4:</a:t>
            </a:r>
          </a:p>
          <a:p>
            <a:pPr rtl="0"/>
            <a:r>
              <a:rPr lang="en-US" sz="1100" b="0" i="0" u="none" strike="noStrike" cap="none" dirty="0">
                <a:solidFill>
                  <a:srgbClr val="000000"/>
                </a:solidFill>
                <a:latin typeface="Arial"/>
                <a:ea typeface="Arial"/>
                <a:cs typeface="Arial"/>
                <a:sym typeface="Arial"/>
              </a:rPr>
              <a:t>table[4] = 17 ❌ not 24</a:t>
            </a:r>
          </a:p>
          <a:p>
            <a:r>
              <a:rPr lang="en-US" dirty="0"/>
              <a:t>Probe again:</a:t>
            </a:r>
          </a:p>
          <a:p>
            <a:pPr rtl="0"/>
            <a:r>
              <a:rPr lang="en-US" sz="1100" b="0" i="0" u="none" strike="noStrike" cap="none" dirty="0">
                <a:solidFill>
                  <a:srgbClr val="000000"/>
                </a:solidFill>
                <a:latin typeface="Arial"/>
                <a:ea typeface="Arial"/>
                <a:cs typeface="Arial"/>
                <a:sym typeface="Arial"/>
              </a:rPr>
              <a:t>index = 5</a:t>
            </a:r>
          </a:p>
          <a:p>
            <a:r>
              <a:rPr lang="en-US" dirty="0"/>
              <a:t>Check:</a:t>
            </a:r>
          </a:p>
          <a:p>
            <a:pPr rtl="0"/>
            <a:r>
              <a:rPr lang="en-US" sz="1100" b="0" i="0" u="none" strike="noStrike" cap="none" dirty="0">
                <a:solidFill>
                  <a:srgbClr val="000000"/>
                </a:solidFill>
                <a:latin typeface="Arial"/>
                <a:ea typeface="Arial"/>
                <a:cs typeface="Arial"/>
                <a:sym typeface="Arial"/>
              </a:rPr>
              <a:t>table[5] = 24 ✔ FOUND</a:t>
            </a:r>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bb30fc5c81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b30fc5c8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 the term bucket</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3bb30fc5c81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3bb30fc5c81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Following changes will occur for </a:t>
            </a:r>
            <a:r>
              <a:rPr lang="en-US" dirty="0" err="1"/>
              <a:t>Chainging</a:t>
            </a:r>
            <a:endParaRPr lang="en-US" dirty="0"/>
          </a:p>
          <a:p>
            <a:pPr marL="228600" lvl="0" indent="-228600" algn="l" rtl="0">
              <a:spcBef>
                <a:spcPts val="0"/>
              </a:spcBef>
              <a:spcAft>
                <a:spcPts val="0"/>
              </a:spcAft>
              <a:buAutoNum type="arabicPeriod"/>
            </a:pPr>
            <a:r>
              <a:rPr lang="en-US" dirty="0"/>
              <a:t>Definition of elements</a:t>
            </a:r>
          </a:p>
          <a:p>
            <a:pPr marL="228600" lvl="0" indent="-228600" algn="l" rtl="0">
              <a:spcBef>
                <a:spcPts val="0"/>
              </a:spcBef>
              <a:spcAft>
                <a:spcPts val="0"/>
              </a:spcAft>
              <a:buAutoNum type="arabicPeriod"/>
            </a:pPr>
            <a:r>
              <a:rPr lang="en-US" dirty="0"/>
              <a:t>Constructor</a:t>
            </a:r>
          </a:p>
          <a:p>
            <a:pPr marL="228600" lvl="0" indent="-228600" algn="l" rtl="0">
              <a:spcBef>
                <a:spcPts val="0"/>
              </a:spcBef>
              <a:spcAft>
                <a:spcPts val="0"/>
              </a:spcAft>
              <a:buAutoNum type="arabicPeriod"/>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3bb30fc5c8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3bb30fc5c8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92b3d6d1b5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392b3d6d1b5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3bc7d72bb96_0_4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3bc7d72bb96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392b3d6d1b5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2" name="Google Shape;742;g392b3d6d1b5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3bb30fc5c81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3bb30fc5c81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purpose of this line elements = </a:t>
            </a:r>
            <a:r>
              <a:rPr lang="en-US" dirty="0" err="1"/>
              <a:t>Collections.unmodifiableList</a:t>
            </a:r>
            <a:r>
              <a:rPr lang="en-US" dirty="0"/>
              <a:t>(</a:t>
            </a:r>
            <a:r>
              <a:rPr lang="en-US" dirty="0" err="1"/>
              <a:t>newElements</a:t>
            </a:r>
            <a:r>
              <a:rPr lang="en-US" dirty="0"/>
              <a:t>);</a:t>
            </a:r>
          </a:p>
          <a:p>
            <a:pPr marL="0" lvl="0" indent="0" algn="l" rtl="0">
              <a:spcBef>
                <a:spcPts val="0"/>
              </a:spcBef>
              <a:spcAft>
                <a:spcPts val="0"/>
              </a:spcAft>
              <a:buNone/>
            </a:pPr>
            <a:endParaRPr lang="en-US" dirty="0"/>
          </a:p>
          <a:p>
            <a:r>
              <a:rPr lang="en-US" dirty="0"/>
              <a:t>In your assignment slide, it says:</a:t>
            </a:r>
          </a:p>
          <a:p>
            <a:r>
              <a:rPr lang="en-US" dirty="0"/>
              <a:t>"Make the list unmodifiable to ensure new items cannot be added."</a:t>
            </a:r>
          </a:p>
          <a:p>
            <a:r>
              <a:rPr lang="en-US" dirty="0"/>
              <a:t>This means:</a:t>
            </a:r>
          </a:p>
          <a:p>
            <a:r>
              <a:rPr lang="en-US" dirty="0">
                <a:highlight>
                  <a:srgbClr val="FFFF00"/>
                </a:highlight>
              </a:rPr>
              <a:t>Prevent accidentally changing the number of buckets</a:t>
            </a:r>
          </a:p>
          <a:p>
            <a:r>
              <a:rPr lang="en-US" dirty="0"/>
              <a:t>Ensure resizing happens only through </a:t>
            </a:r>
            <a:r>
              <a:rPr lang="en-US" sz="1100" b="0" i="0" u="none" strike="noStrike" cap="none" dirty="0" err="1">
                <a:solidFill>
                  <a:srgbClr val="000000"/>
                </a:solidFill>
                <a:latin typeface="Arial"/>
                <a:ea typeface="Arial"/>
                <a:cs typeface="Arial"/>
                <a:sym typeface="Arial"/>
              </a:rPr>
              <a:t>resizeIfNeeded</a:t>
            </a:r>
            <a:r>
              <a:rPr lang="en-US" sz="1100" b="0" i="0" u="none" strike="noStrike" cap="none" dirty="0">
                <a:solidFill>
                  <a:srgbClr val="000000"/>
                </a:solidFill>
                <a:latin typeface="Arial"/>
                <a:ea typeface="Arial"/>
                <a:cs typeface="Arial"/>
                <a:sym typeface="Arial"/>
              </a:rPr>
              <a:t>()</a:t>
            </a:r>
            <a:endParaRPr lang="en-US" dirty="0"/>
          </a:p>
          <a:p>
            <a:r>
              <a:rPr lang="en-US" dirty="0"/>
              <a:t>Protect structural integrity of the hash table</a:t>
            </a:r>
          </a:p>
          <a:p>
            <a:r>
              <a:rPr lang="en-US" dirty="0"/>
              <a:t>So the purpose is:</a:t>
            </a:r>
          </a:p>
          <a:p>
            <a:r>
              <a:rPr lang="en-US" dirty="0"/>
              <a:t>Protect the outer bucket structure.</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39365f9dcd1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5" name="Google Shape;765;g39365f9dcd1_0_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3bc7d72bb96_0_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3bc7d72bb96_0_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39365f9dcd1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39365f9dcd1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Issue is that size will be 6</a:t>
            </a:r>
          </a:p>
          <a:p>
            <a:r>
              <a:rPr lang="en-US" b="1" dirty="0"/>
              <a:t>Before overriding equals/</a:t>
            </a:r>
            <a:r>
              <a:rPr lang="en-US" b="1" dirty="0" err="1"/>
              <a:t>hashCode</a:t>
            </a:r>
            <a:r>
              <a:rPr lang="en-US" b="1" dirty="0"/>
              <a:t>:</a:t>
            </a:r>
          </a:p>
          <a:p>
            <a:r>
              <a:rPr lang="en-US" sz="1100" b="0" i="0" u="none" strike="noStrike" cap="none" dirty="0">
                <a:solidFill>
                  <a:srgbClr val="000000"/>
                </a:solidFill>
                <a:latin typeface="Arial"/>
                <a:ea typeface="Arial"/>
                <a:cs typeface="Arial"/>
                <a:sym typeface="Arial"/>
              </a:rPr>
              <a:t>size</a:t>
            </a:r>
            <a:r>
              <a:rPr lang="en-US" dirty="0"/>
              <a:t> will be </a:t>
            </a:r>
            <a:r>
              <a:rPr lang="en-US" b="1" dirty="0"/>
              <a:t>6</a:t>
            </a:r>
            <a:r>
              <a:rPr lang="en-US" dirty="0"/>
              <a:t> (all are “different objects”)</a:t>
            </a:r>
          </a:p>
          <a:p>
            <a:r>
              <a:rPr lang="en-US" b="1" dirty="0"/>
              <a:t>After overriding equals AND </a:t>
            </a:r>
            <a:r>
              <a:rPr lang="en-US" b="1" dirty="0" err="1"/>
              <a:t>hashCode</a:t>
            </a:r>
            <a:r>
              <a:rPr lang="en-US" b="1" dirty="0"/>
              <a:t> based on name:</a:t>
            </a:r>
          </a:p>
          <a:p>
            <a:r>
              <a:rPr lang="en-US" sz="1100" b="0" i="0" u="none" strike="noStrike" cap="none" dirty="0">
                <a:solidFill>
                  <a:srgbClr val="000000"/>
                </a:solidFill>
                <a:latin typeface="Arial"/>
                <a:ea typeface="Arial"/>
                <a:cs typeface="Arial"/>
                <a:sym typeface="Arial"/>
              </a:rPr>
              <a:t>size</a:t>
            </a:r>
            <a:r>
              <a:rPr lang="en-US" dirty="0"/>
              <a:t> will be </a:t>
            </a:r>
            <a:r>
              <a:rPr lang="en-US" b="1" dirty="0"/>
              <a:t>1</a:t>
            </a:r>
            <a:endParaRPr lang="en-US" dirty="0"/>
          </a:p>
          <a:p>
            <a:r>
              <a:rPr lang="en-US" dirty="0"/>
              <a:t>only one “Lays Chips” stays in the set (first inserted)</a:t>
            </a:r>
          </a:p>
          <a:p>
            <a:pPr marL="0" lvl="0" indent="0" algn="l" rtl="0">
              <a:spcBef>
                <a:spcPts val="0"/>
              </a:spcBef>
              <a:spcAft>
                <a:spcPts val="0"/>
              </a:spcAft>
              <a:buNone/>
            </a:pPr>
            <a:r>
              <a:rPr lang="en-US" dirty="0"/>
              <a:t>{Diet Coke (16.9 oz), Diet Coke (16.9 oz), Diet Coke (16.9 oz), Diet Coke (16.9 oz), Diet Coke (16.9 oz), Diet Coke (16.9 oz)}</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By default, Set will use equals() method to see if they are same of not. Objects are not equal.</a:t>
            </a:r>
          </a:p>
          <a:p>
            <a:pPr marL="0" lvl="0" indent="0" algn="l" rtl="0">
              <a:spcBef>
                <a:spcPts val="0"/>
              </a:spcBef>
              <a:spcAft>
                <a:spcPts val="0"/>
              </a:spcAft>
              <a:buNone/>
            </a:pPr>
            <a:r>
              <a:rPr lang="en-US" dirty="0"/>
              <a:t>==========</a:t>
            </a:r>
          </a:p>
          <a:p>
            <a:pPr marL="0" lvl="0" indent="0" algn="l" rtl="0">
              <a:spcBef>
                <a:spcPts val="0"/>
              </a:spcBef>
              <a:spcAft>
                <a:spcPts val="0"/>
              </a:spcAft>
              <a:buNone/>
            </a:pPr>
            <a:r>
              <a:rPr lang="en-US" dirty="0"/>
              <a:t>Just Implementing equals is not enough</a:t>
            </a:r>
          </a:p>
          <a:p>
            <a:r>
              <a:rPr lang="en-US" dirty="0"/>
              <a:t>Hash-based structures (like your </a:t>
            </a:r>
            <a:r>
              <a:rPr lang="en-US" sz="1100" b="0" i="0" u="none" strike="noStrike" cap="none" dirty="0">
                <a:solidFill>
                  <a:srgbClr val="000000"/>
                </a:solidFill>
                <a:latin typeface="Arial"/>
                <a:ea typeface="Arial"/>
                <a:cs typeface="Arial"/>
                <a:sym typeface="Arial"/>
              </a:rPr>
              <a:t>HashSet</a:t>
            </a:r>
            <a:r>
              <a:rPr lang="en-US" dirty="0"/>
              <a:t> built on </a:t>
            </a:r>
            <a:r>
              <a:rPr lang="en-US" sz="1100" b="0" i="0" u="none" strike="noStrike" cap="none" dirty="0" err="1">
                <a:solidFill>
                  <a:srgbClr val="000000"/>
                </a:solidFill>
                <a:latin typeface="Arial"/>
                <a:ea typeface="Arial"/>
                <a:cs typeface="Arial"/>
                <a:sym typeface="Arial"/>
              </a:rPr>
              <a:t>HashMapChaining</a:t>
            </a:r>
            <a:r>
              <a:rPr lang="en-US" dirty="0"/>
              <a:t>) use:</a:t>
            </a:r>
          </a:p>
          <a:p>
            <a:r>
              <a:rPr lang="en-US" b="1" dirty="0" err="1">
                <a:highlight>
                  <a:srgbClr val="FFFF00"/>
                </a:highlight>
              </a:rPr>
              <a:t>hashCode</a:t>
            </a:r>
            <a:r>
              <a:rPr lang="en-US" b="1" dirty="0">
                <a:highlight>
                  <a:srgbClr val="FFFF00"/>
                </a:highlight>
              </a:rPr>
              <a:t>() first</a:t>
            </a:r>
            <a:endParaRPr lang="en-US" dirty="0">
              <a:highlight>
                <a:srgbClr val="FFFF00"/>
              </a:highlight>
            </a:endParaRPr>
          </a:p>
          <a:p>
            <a:r>
              <a:rPr lang="en-US" dirty="0">
                <a:highlight>
                  <a:srgbClr val="FFFF00"/>
                </a:highlight>
              </a:rPr>
              <a:t>Then </a:t>
            </a:r>
            <a:r>
              <a:rPr lang="en-US" b="1" dirty="0">
                <a:highlight>
                  <a:srgbClr val="FFFF00"/>
                </a:highlight>
              </a:rPr>
              <a:t>equals()</a:t>
            </a:r>
            <a:endParaRPr lang="en-US" dirty="0">
              <a:highlight>
                <a:srgbClr val="FFFF00"/>
              </a:highlight>
            </a:endParaRPr>
          </a:p>
          <a:p>
            <a:r>
              <a:rPr lang="en-US" dirty="0"/>
              <a:t>If you override only </a:t>
            </a:r>
            <a:r>
              <a:rPr lang="en-US" sz="1100" b="0" i="0" u="none" strike="noStrike" cap="none" dirty="0">
                <a:solidFill>
                  <a:srgbClr val="000000"/>
                </a:solidFill>
                <a:latin typeface="Arial"/>
                <a:ea typeface="Arial"/>
                <a:cs typeface="Arial"/>
                <a:sym typeface="Arial"/>
              </a:rPr>
              <a:t>equals()</a:t>
            </a:r>
            <a:r>
              <a:rPr lang="en-US" dirty="0"/>
              <a:t>:</a:t>
            </a:r>
          </a:p>
          <a:p>
            <a:r>
              <a:rPr lang="en-US" dirty="0"/>
              <a:t>The objects may be logically equal</a:t>
            </a:r>
          </a:p>
          <a:p>
            <a:r>
              <a:rPr lang="en-US" dirty="0"/>
              <a:t>But they still go into </a:t>
            </a:r>
            <a:r>
              <a:rPr lang="en-US" b="1" dirty="0"/>
              <a:t>different buckets</a:t>
            </a:r>
            <a:endParaRPr lang="en-US" dirty="0"/>
          </a:p>
          <a:p>
            <a:r>
              <a:rPr lang="en-US" dirty="0"/>
              <a:t>So </a:t>
            </a:r>
            <a:r>
              <a:rPr lang="en-US" sz="1100" b="0" i="0" u="none" strike="noStrike" cap="none" dirty="0">
                <a:solidFill>
                  <a:srgbClr val="000000"/>
                </a:solidFill>
                <a:latin typeface="Arial"/>
                <a:ea typeface="Arial"/>
                <a:cs typeface="Arial"/>
                <a:sym typeface="Arial"/>
              </a:rPr>
              <a:t>equals()</a:t>
            </a:r>
            <a:r>
              <a:rPr lang="en-US" dirty="0"/>
              <a:t> is never even checked</a:t>
            </a:r>
          </a:p>
          <a:p>
            <a:endParaRPr lang="en-US" dirty="0"/>
          </a:p>
          <a:p>
            <a:pPr marL="158750" indent="0">
              <a:buNone/>
            </a:pPr>
            <a:r>
              <a:rPr lang="en-US" dirty="0"/>
              <a:t>We need to override </a:t>
            </a:r>
            <a:r>
              <a:rPr lang="en-US" dirty="0" err="1"/>
              <a:t>hashcode</a:t>
            </a:r>
            <a:r>
              <a:rPr lang="en-US" dirty="0"/>
              <a:t> as well.</a:t>
            </a:r>
          </a:p>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bb30fc5c81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1" name="Google Shape;801;g3bb30fc5c81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3bb30fc5c81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3bb30fc5c81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Problem is your are </a:t>
            </a:r>
            <a:r>
              <a:rPr lang="en-US" dirty="0" err="1"/>
              <a:t>equallying</a:t>
            </a:r>
            <a:r>
              <a:rPr lang="en-US" dirty="0"/>
              <a:t> only on name. so with different weight, they still based on name so just one entry.</a:t>
            </a: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b9a8ac45a0_0_3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1" name="Google Shape;821;g2b9a8ac45a0_0_3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92b3d6d1b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392b3d6d1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92b3d6d1b5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392b3d6d1b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392b3d6d1b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392b3d6d1b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392b3d6d1b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392b3d6d1b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1️⃣ HashSet Output</a:t>
            </a:r>
          </a:p>
          <a:p>
            <a:r>
              <a:rPr lang="en-US" dirty="0"/>
              <a:t>Order is unpredictable</a:t>
            </a:r>
          </a:p>
          <a:p>
            <a:r>
              <a:rPr lang="en-US" dirty="0"/>
              <a:t>Based on hash codes</a:t>
            </a:r>
          </a:p>
          <a:p>
            <a:r>
              <a:rPr lang="en-US" dirty="0"/>
              <a:t>No sorting</a:t>
            </a:r>
          </a:p>
          <a:p>
            <a:pPr marL="0" lvl="0" indent="0" algn="l" rtl="0">
              <a:spcBef>
                <a:spcPts val="0"/>
              </a:spcBef>
              <a:spcAft>
                <a:spcPts val="0"/>
              </a:spcAft>
              <a:buNone/>
            </a:pPr>
            <a:endParaRPr lang="en-US" dirty="0"/>
          </a:p>
          <a:p>
            <a:r>
              <a:rPr lang="en-US" b="1" dirty="0"/>
              <a:t>2️⃣ </a:t>
            </a:r>
            <a:r>
              <a:rPr lang="en-US" b="1" dirty="0" err="1"/>
              <a:t>TreeSet</a:t>
            </a:r>
            <a:r>
              <a:rPr lang="en-US" b="1" dirty="0"/>
              <a:t> Output</a:t>
            </a:r>
          </a:p>
          <a:p>
            <a:r>
              <a:rPr lang="en-US" dirty="0"/>
              <a:t>Sorted order</a:t>
            </a:r>
          </a:p>
          <a:p>
            <a:r>
              <a:rPr lang="en-US" dirty="0"/>
              <a:t>Natural ordering (String implements Comparable)</a:t>
            </a:r>
          </a:p>
          <a:p>
            <a:r>
              <a:rPr lang="en-US" dirty="0"/>
              <a:t>Uppercase letters come before lowercase</a:t>
            </a:r>
          </a:p>
          <a:p>
            <a:pPr marL="0" lvl="0" indent="0" algn="l" rtl="0">
              <a:spcBef>
                <a:spcPts val="0"/>
              </a:spcBef>
              <a:spcAft>
                <a:spcPts val="0"/>
              </a:spcAft>
              <a:buNone/>
            </a:pP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392b3d6d1b5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 name="Google Shape;878;g392b3d6d1b5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d99a256a72_6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8" name="Google Shape;888;g2d99a256a72_6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b9a8ac45a0_0_38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2b9a8ac45a0_0_38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b9a8ac45a0_0_38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2b9a8ac45a0_0_38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TreeMap</a:t>
            </a:r>
            <a:r>
              <a:rPr lang="en-US" dirty="0"/>
              <a:t> does not allow null values.</a:t>
            </a: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b9a8ac45a0_0_38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2" name="Google Shape;922;g2b9a8ac45a0_0_3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b9a8ac45a0_0_38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3" name="Google Shape;933;g2b9a8ac45a0_0_38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b9a8ac45a0_0_38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2b9a8ac45a0_0_3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data structures we have covered and that are available to use are in green.</a:t>
            </a:r>
            <a:br>
              <a:rPr lang="en"/>
            </a:br>
            <a:r>
              <a:rPr lang="en"/>
              <a:t>Don't spend too much time here explaining the various interfaces that we haven't discussed.</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dcb86e307a_69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4" name="Google Shape;994;g2dcb86e307a_69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1dd56d1ca8e_0_3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1dd56d1ca8e_0_3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73"/>
        <p:cNvGrpSpPr/>
        <p:nvPr/>
      </p:nvGrpSpPr>
      <p:grpSpPr>
        <a:xfrm>
          <a:off x="0" y="0"/>
          <a:ext cx="0" cy="0"/>
          <a:chOff x="0" y="0"/>
          <a:chExt cx="0" cy="0"/>
        </a:xfrm>
      </p:grpSpPr>
      <p:cxnSp>
        <p:nvCxnSpPr>
          <p:cNvPr id="74" name="Google Shape;74;p1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75" name="Google Shape;75;p15"/>
          <p:cNvSpPr txBox="1">
            <a:spLocks noGrp="1"/>
          </p:cNvSpPr>
          <p:nvPr>
            <p:ph type="title"/>
          </p:nvPr>
        </p:nvSpPr>
        <p:spPr>
          <a:xfrm>
            <a:off x="387900" y="458025"/>
            <a:ext cx="8368200" cy="686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 name="Google Shape;76;p15"/>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78"/>
        <p:cNvGrpSpPr/>
        <p:nvPr/>
      </p:nvGrpSpPr>
      <p:grpSpPr>
        <a:xfrm>
          <a:off x="0" y="0"/>
          <a:ext cx="0" cy="0"/>
          <a:chOff x="0" y="0"/>
          <a:chExt cx="0" cy="0"/>
        </a:xfrm>
      </p:grpSpPr>
      <p:sp>
        <p:nvSpPr>
          <p:cNvPr id="79" name="Google Shape;79;p1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2" name="Google Shape;82;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83"/>
        <p:cNvGrpSpPr/>
        <p:nvPr/>
      </p:nvGrpSpPr>
      <p:grpSpPr>
        <a:xfrm>
          <a:off x="0" y="0"/>
          <a:ext cx="0" cy="0"/>
          <a:chOff x="0" y="0"/>
          <a:chExt cx="0" cy="0"/>
        </a:xfrm>
      </p:grpSpPr>
      <p:sp>
        <p:nvSpPr>
          <p:cNvPr id="84" name="Google Shape;84;p17"/>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7"/>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86" name="Google Shape;86;p17"/>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7" name="Google Shape;87;p17"/>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8" name="Google Shape;88;p17"/>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7"/>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0" name="Google Shape;90;p17"/>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7"/>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2" name="Google Shape;92;p17"/>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93"/>
        <p:cNvGrpSpPr/>
        <p:nvPr/>
      </p:nvGrpSpPr>
      <p:grpSpPr>
        <a:xfrm>
          <a:off x="0" y="0"/>
          <a:ext cx="0" cy="0"/>
          <a:chOff x="0" y="0"/>
          <a:chExt cx="0" cy="0"/>
        </a:xfrm>
      </p:grpSpPr>
      <p:sp>
        <p:nvSpPr>
          <p:cNvPr id="94" name="Google Shape;94;p18"/>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8"/>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96" name="Google Shape;96;p18"/>
          <p:cNvSpPr txBox="1">
            <a:spLocks noGrp="1"/>
          </p:cNvSpPr>
          <p:nvPr>
            <p:ph type="sldNum" idx="12"/>
          </p:nvPr>
        </p:nvSpPr>
        <p:spPr>
          <a:xfrm>
            <a:off x="0" y="4946700"/>
            <a:ext cx="422100" cy="196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97" name="Google Shape;97;p18"/>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98" name="Google Shape;98;p18"/>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99" name="Google Shape;99;p18"/>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600"/>
              </a:spcBef>
              <a:spcAft>
                <a:spcPts val="0"/>
              </a:spcAft>
              <a:buSzPts val="1100"/>
              <a:buChar char="○"/>
              <a:defRPr sz="1200"/>
            </a:lvl2pPr>
            <a:lvl3pPr marL="1371600" lvl="2" indent="-298450" algn="l" rtl="0">
              <a:lnSpc>
                <a:spcPct val="115000"/>
              </a:lnSpc>
              <a:spcBef>
                <a:spcPts val="600"/>
              </a:spcBef>
              <a:spcAft>
                <a:spcPts val="0"/>
              </a:spcAft>
              <a:buSzPts val="1100"/>
              <a:buChar char="■"/>
              <a:defRPr/>
            </a:lvl3pPr>
            <a:lvl4pPr marL="1828800" lvl="3" indent="-298450" algn="l" rtl="0">
              <a:lnSpc>
                <a:spcPct val="115000"/>
              </a:lnSpc>
              <a:spcBef>
                <a:spcPts val="600"/>
              </a:spcBef>
              <a:spcAft>
                <a:spcPts val="0"/>
              </a:spcAft>
              <a:buSzPts val="1100"/>
              <a:buChar char="●"/>
              <a:defRPr/>
            </a:lvl4pPr>
            <a:lvl5pPr marL="2286000" lvl="4" indent="-298450" algn="l" rtl="0">
              <a:lnSpc>
                <a:spcPct val="115000"/>
              </a:lnSpc>
              <a:spcBef>
                <a:spcPts val="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00" name="Google Shape;100;p18"/>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sz="1200">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p:cSld name="Activity">
    <p:bg>
      <p:bgPr>
        <a:solidFill>
          <a:srgbClr val="FFFFFF"/>
        </a:solidFill>
        <a:effectLst/>
      </p:bgPr>
    </p:bg>
    <p:spTree>
      <p:nvGrpSpPr>
        <p:cNvPr id="1" name="Shape 101"/>
        <p:cNvGrpSpPr/>
        <p:nvPr/>
      </p:nvGrpSpPr>
      <p:grpSpPr>
        <a:xfrm>
          <a:off x="0" y="0"/>
          <a:ext cx="0" cy="0"/>
          <a:chOff x="0" y="0"/>
          <a:chExt cx="0" cy="0"/>
        </a:xfrm>
      </p:grpSpPr>
      <p:sp>
        <p:nvSpPr>
          <p:cNvPr id="102" name="Google Shape;102;p19"/>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9"/>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9"/>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9"/>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9"/>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07" name="Google Shape;107;p19"/>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08" name="Google Shape;10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09" name="Google Shape;109;p19"/>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0" name="Google Shape;110;p19"/>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1" name="Google Shape;111;p19"/>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Tow Collumns">
    <p:spTree>
      <p:nvGrpSpPr>
        <p:cNvPr id="1" name="Shape 112"/>
        <p:cNvGrpSpPr/>
        <p:nvPr/>
      </p:nvGrpSpPr>
      <p:grpSpPr>
        <a:xfrm>
          <a:off x="0" y="0"/>
          <a:ext cx="0" cy="0"/>
          <a:chOff x="0" y="0"/>
          <a:chExt cx="0" cy="0"/>
        </a:xfrm>
      </p:grpSpPr>
      <p:sp>
        <p:nvSpPr>
          <p:cNvPr id="113" name="Google Shape;113;p20"/>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20"/>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15" name="Google Shape;115;p20"/>
          <p:cNvSpPr txBox="1">
            <a:spLocks noGrp="1"/>
          </p:cNvSpPr>
          <p:nvPr>
            <p:ph type="sldNum" idx="12"/>
          </p:nvPr>
        </p:nvSpPr>
        <p:spPr>
          <a:xfrm>
            <a:off x="8622145" y="4922423"/>
            <a:ext cx="486900" cy="207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16" name="Google Shape;116;p20"/>
          <p:cNvSpPr txBox="1">
            <a:spLocks noGrp="1"/>
          </p:cNvSpPr>
          <p:nvPr>
            <p:ph type="body" idx="1"/>
          </p:nvPr>
        </p:nvSpPr>
        <p:spPr>
          <a:xfrm>
            <a:off x="311675" y="1316038"/>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7" name="Google Shape;117;p20"/>
          <p:cNvSpPr txBox="1">
            <a:spLocks noGrp="1"/>
          </p:cNvSpPr>
          <p:nvPr>
            <p:ph type="body" idx="2"/>
          </p:nvPr>
        </p:nvSpPr>
        <p:spPr>
          <a:xfrm>
            <a:off x="4690538" y="1320512"/>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22"/>
        <p:cNvGrpSpPr/>
        <p:nvPr/>
      </p:nvGrpSpPr>
      <p:grpSpPr>
        <a:xfrm>
          <a:off x="0" y="0"/>
          <a:ext cx="0" cy="0"/>
          <a:chOff x="0" y="0"/>
          <a:chExt cx="0" cy="0"/>
        </a:xfrm>
      </p:grpSpPr>
      <p:sp>
        <p:nvSpPr>
          <p:cNvPr id="123" name="Google Shape;123;p2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24" name="Google Shape;124;p2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5" name="Google Shape;125;p2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26" name="Google Shape;126;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27"/>
        <p:cNvGrpSpPr/>
        <p:nvPr/>
      </p:nvGrpSpPr>
      <p:grpSpPr>
        <a:xfrm>
          <a:off x="0" y="0"/>
          <a:ext cx="0" cy="0"/>
          <a:chOff x="0" y="0"/>
          <a:chExt cx="0" cy="0"/>
        </a:xfrm>
      </p:grpSpPr>
      <p:sp>
        <p:nvSpPr>
          <p:cNvPr id="128" name="Google Shape;128;p2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29" name="Google Shape;129;p2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30" name="Google Shape;130;p2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31" name="Google Shape;131;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2"/>
        <p:cNvGrpSpPr/>
        <p:nvPr/>
      </p:nvGrpSpPr>
      <p:grpSpPr>
        <a:xfrm>
          <a:off x="0" y="0"/>
          <a:ext cx="0" cy="0"/>
          <a:chOff x="0" y="0"/>
          <a:chExt cx="0" cy="0"/>
        </a:xfrm>
      </p:grpSpPr>
      <p:sp>
        <p:nvSpPr>
          <p:cNvPr id="133" name="Google Shape;133;p2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34" name="Google Shape;134;p2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6" name="Google Shape;136;p2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7" name="Google Shape;137;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8" name="Google Shape;138;p2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39" name="Google Shape;139;p2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0"/>
        <p:cNvGrpSpPr/>
        <p:nvPr/>
      </p:nvGrpSpPr>
      <p:grpSpPr>
        <a:xfrm>
          <a:off x="0" y="0"/>
          <a:ext cx="0" cy="0"/>
          <a:chOff x="0" y="0"/>
          <a:chExt cx="0" cy="0"/>
        </a:xfrm>
      </p:grpSpPr>
      <p:sp>
        <p:nvSpPr>
          <p:cNvPr id="141" name="Google Shape;141;p2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3" name="Google Shape;143;p2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4" name="Google Shape;144;p2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5" name="Google Shape;14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6"/>
        <p:cNvGrpSpPr/>
        <p:nvPr/>
      </p:nvGrpSpPr>
      <p:grpSpPr>
        <a:xfrm>
          <a:off x="0" y="0"/>
          <a:ext cx="0" cy="0"/>
          <a:chOff x="0" y="0"/>
          <a:chExt cx="0" cy="0"/>
        </a:xfrm>
      </p:grpSpPr>
      <p:sp>
        <p:nvSpPr>
          <p:cNvPr id="147" name="Google Shape;147;p2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9" name="Google Shape;14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sp>
        <p:nvSpPr>
          <p:cNvPr id="151" name="Google Shape;151;p2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53" name="Google Shape;153;p2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54" name="Google Shape;154;p2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5" name="Google Shape;155;p2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6" name="Google Shape;156;p2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57" name="Google Shape;157;p2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60" name="Google Shape;160;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1"/>
        <p:cNvGrpSpPr/>
        <p:nvPr/>
      </p:nvGrpSpPr>
      <p:grpSpPr>
        <a:xfrm>
          <a:off x="0" y="0"/>
          <a:ext cx="0" cy="0"/>
          <a:chOff x="0" y="0"/>
          <a:chExt cx="0" cy="0"/>
        </a:xfrm>
      </p:grpSpPr>
      <p:sp>
        <p:nvSpPr>
          <p:cNvPr id="162" name="Google Shape;162;p2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64" name="Google Shape;164;p2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65" name="Google Shape;165;p2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6" name="Google Shape;16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7"/>
        <p:cNvGrpSpPr/>
        <p:nvPr/>
      </p:nvGrpSpPr>
      <p:grpSpPr>
        <a:xfrm>
          <a:off x="0" y="0"/>
          <a:ext cx="0" cy="0"/>
          <a:chOff x="0" y="0"/>
          <a:chExt cx="0" cy="0"/>
        </a:xfrm>
      </p:grpSpPr>
      <p:sp>
        <p:nvSpPr>
          <p:cNvPr id="168" name="Google Shape;168;p3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70" name="Google Shape;17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71"/>
        <p:cNvGrpSpPr/>
        <p:nvPr/>
      </p:nvGrpSpPr>
      <p:grpSpPr>
        <a:xfrm>
          <a:off x="0" y="0"/>
          <a:ext cx="0" cy="0"/>
          <a:chOff x="0" y="0"/>
          <a:chExt cx="0" cy="0"/>
        </a:xfrm>
      </p:grpSpPr>
      <p:sp>
        <p:nvSpPr>
          <p:cNvPr id="172" name="Google Shape;172;p3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73" name="Google Shape;173;p3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74" name="Google Shape;174;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5"/>
        <p:cNvGrpSpPr/>
        <p:nvPr/>
      </p:nvGrpSpPr>
      <p:grpSpPr>
        <a:xfrm>
          <a:off x="0" y="0"/>
          <a:ext cx="0" cy="0"/>
          <a:chOff x="0" y="0"/>
          <a:chExt cx="0" cy="0"/>
        </a:xfrm>
      </p:grpSpPr>
      <p:sp>
        <p:nvSpPr>
          <p:cNvPr id="176" name="Google Shape;17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77"/>
        <p:cNvGrpSpPr/>
        <p:nvPr/>
      </p:nvGrpSpPr>
      <p:grpSpPr>
        <a:xfrm>
          <a:off x="0" y="0"/>
          <a:ext cx="0" cy="0"/>
          <a:chOff x="0" y="0"/>
          <a:chExt cx="0" cy="0"/>
        </a:xfrm>
      </p:grpSpPr>
      <p:cxnSp>
        <p:nvCxnSpPr>
          <p:cNvPr id="178" name="Google Shape;178;p33"/>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179" name="Google Shape;179;p33"/>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180" name="Google Shape;180;p33"/>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181" name="Google Shape;181;p33"/>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2" name="Google Shape;182;p33"/>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83" name="Google Shape;183;p3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184"/>
        <p:cNvGrpSpPr/>
        <p:nvPr/>
      </p:nvGrpSpPr>
      <p:grpSpPr>
        <a:xfrm>
          <a:off x="0" y="0"/>
          <a:ext cx="0" cy="0"/>
          <a:chOff x="0" y="0"/>
          <a:chExt cx="0" cy="0"/>
        </a:xfrm>
      </p:grpSpPr>
      <p:sp>
        <p:nvSpPr>
          <p:cNvPr id="185" name="Google Shape;185;p3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87" name="Google Shape;187;p34"/>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34"/>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89" name="Google Shape;189;p34"/>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190" name="Google Shape;190;p34"/>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0"/>
              </a:spcBef>
              <a:spcAft>
                <a:spcPts val="0"/>
              </a:spcAft>
              <a:buSzPts val="1100"/>
              <a:buChar char="○"/>
              <a:defRPr/>
            </a:lvl2pPr>
            <a:lvl3pPr marL="1371600" lvl="2" indent="-298450" algn="l" rtl="0">
              <a:lnSpc>
                <a:spcPct val="115000"/>
              </a:lnSpc>
              <a:spcBef>
                <a:spcPts val="0"/>
              </a:spcBef>
              <a:spcAft>
                <a:spcPts val="0"/>
              </a:spcAft>
              <a:buSzPts val="1100"/>
              <a:buChar char="■"/>
              <a:defRPr/>
            </a:lvl3pPr>
            <a:lvl4pPr marL="1828800" lvl="3" indent="-298450" algn="l" rtl="0">
              <a:lnSpc>
                <a:spcPct val="115000"/>
              </a:lnSpc>
              <a:spcBef>
                <a:spcPts val="0"/>
              </a:spcBef>
              <a:spcAft>
                <a:spcPts val="0"/>
              </a:spcAft>
              <a:buSzPts val="1100"/>
              <a:buChar char="●"/>
              <a:defRPr/>
            </a:lvl4pPr>
            <a:lvl5pPr marL="2286000" lvl="4" indent="-298450" algn="l" rtl="0">
              <a:lnSpc>
                <a:spcPct val="115000"/>
              </a:lnSpc>
              <a:spcBef>
                <a:spcPts val="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91" name="Google Shape;191;p34"/>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ustom layout">
  <p:cSld name="AUTOLAYOUT_2">
    <p:bg>
      <p:bgPr>
        <a:solidFill>
          <a:srgbClr val="FFFFFF"/>
        </a:solidFill>
        <a:effectLst/>
      </p:bgPr>
    </p:bg>
    <p:spTree>
      <p:nvGrpSpPr>
        <p:cNvPr id="1" name="Shape 192"/>
        <p:cNvGrpSpPr/>
        <p:nvPr/>
      </p:nvGrpSpPr>
      <p:grpSpPr>
        <a:xfrm>
          <a:off x="0" y="0"/>
          <a:ext cx="0" cy="0"/>
          <a:chOff x="0" y="0"/>
          <a:chExt cx="0" cy="0"/>
        </a:xfrm>
      </p:grpSpPr>
      <p:sp>
        <p:nvSpPr>
          <p:cNvPr id="193" name="Google Shape;193;p35"/>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35"/>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35"/>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35"/>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35"/>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98" name="Google Shape;198;p35"/>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99" name="Google Shape;19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00" name="Google Shape;200;p35"/>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01" name="Google Shape;201;p35"/>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02" name="Google Shape;202;p35"/>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203"/>
        <p:cNvGrpSpPr/>
        <p:nvPr/>
      </p:nvGrpSpPr>
      <p:grpSpPr>
        <a:xfrm>
          <a:off x="0" y="0"/>
          <a:ext cx="0" cy="0"/>
          <a:chOff x="0" y="0"/>
          <a:chExt cx="0" cy="0"/>
        </a:xfrm>
      </p:grpSpPr>
      <p:sp>
        <p:nvSpPr>
          <p:cNvPr id="204" name="Google Shape;204;p36"/>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6"/>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a:lnSpc>
                <a:spcPct val="115000"/>
              </a:lnSpc>
              <a:spcBef>
                <a:spcPts val="0"/>
              </a:spcBef>
              <a:spcAft>
                <a:spcPts val="0"/>
              </a:spcAft>
              <a:buClr>
                <a:schemeClr val="dk2"/>
              </a:buClr>
              <a:buSzPts val="1600"/>
              <a:buChar char="●"/>
              <a:defRPr sz="1600">
                <a:solidFill>
                  <a:schemeClr val="dk2"/>
                </a:solidFill>
              </a:defRPr>
            </a:lvl1pPr>
            <a:lvl2pPr marL="914400" lvl="1" indent="-298450" algn="l">
              <a:lnSpc>
                <a:spcPct val="115000"/>
              </a:lnSpc>
              <a:spcBef>
                <a:spcPts val="1600"/>
              </a:spcBef>
              <a:spcAft>
                <a:spcPts val="0"/>
              </a:spcAft>
              <a:buClr>
                <a:schemeClr val="dk2"/>
              </a:buClr>
              <a:buSzPts val="1100"/>
              <a:buChar char="○"/>
              <a:defRPr sz="1400">
                <a:solidFill>
                  <a:schemeClr val="dk2"/>
                </a:solidFill>
              </a:defRPr>
            </a:lvl2pPr>
            <a:lvl3pPr marL="1371600" lvl="2" indent="-298450" algn="l">
              <a:lnSpc>
                <a:spcPct val="115000"/>
              </a:lnSpc>
              <a:spcBef>
                <a:spcPts val="1600"/>
              </a:spcBef>
              <a:spcAft>
                <a:spcPts val="0"/>
              </a:spcAft>
              <a:buClr>
                <a:schemeClr val="dk2"/>
              </a:buClr>
              <a:buSzPts val="1100"/>
              <a:buChar char="■"/>
              <a:defRPr sz="1400">
                <a:solidFill>
                  <a:schemeClr val="dk2"/>
                </a:solidFill>
              </a:defRPr>
            </a:lvl3pPr>
            <a:lvl4pPr marL="1828800" lvl="3" indent="-298450" algn="l">
              <a:lnSpc>
                <a:spcPct val="115000"/>
              </a:lnSpc>
              <a:spcBef>
                <a:spcPts val="1600"/>
              </a:spcBef>
              <a:spcAft>
                <a:spcPts val="0"/>
              </a:spcAft>
              <a:buClr>
                <a:schemeClr val="dk2"/>
              </a:buClr>
              <a:buSzPts val="1100"/>
              <a:buChar char="●"/>
              <a:defRPr sz="1400">
                <a:solidFill>
                  <a:schemeClr val="dk2"/>
                </a:solidFill>
              </a:defRPr>
            </a:lvl4pPr>
            <a:lvl5pPr marL="2286000" lvl="4" indent="-298450" algn="l">
              <a:lnSpc>
                <a:spcPct val="115000"/>
              </a:lnSpc>
              <a:spcBef>
                <a:spcPts val="1600"/>
              </a:spcBef>
              <a:spcAft>
                <a:spcPts val="0"/>
              </a:spcAft>
              <a:buClr>
                <a:schemeClr val="dk2"/>
              </a:buClr>
              <a:buSzPts val="1100"/>
              <a:buChar char="○"/>
              <a:defRPr sz="1400">
                <a:solidFill>
                  <a:schemeClr val="dk2"/>
                </a:solidFill>
              </a:defRPr>
            </a:lvl5pPr>
            <a:lvl6pPr marL="2743200" lvl="5" indent="-298450" algn="l">
              <a:lnSpc>
                <a:spcPct val="115000"/>
              </a:lnSpc>
              <a:spcBef>
                <a:spcPts val="1600"/>
              </a:spcBef>
              <a:spcAft>
                <a:spcPts val="0"/>
              </a:spcAft>
              <a:buClr>
                <a:schemeClr val="dk2"/>
              </a:buClr>
              <a:buSzPts val="1100"/>
              <a:buChar char="■"/>
              <a:defRPr sz="1400">
                <a:solidFill>
                  <a:schemeClr val="dk2"/>
                </a:solidFill>
              </a:defRPr>
            </a:lvl6pPr>
            <a:lvl7pPr marL="3200400" lvl="6" indent="-298450" algn="l">
              <a:lnSpc>
                <a:spcPct val="115000"/>
              </a:lnSpc>
              <a:spcBef>
                <a:spcPts val="1600"/>
              </a:spcBef>
              <a:spcAft>
                <a:spcPts val="0"/>
              </a:spcAft>
              <a:buClr>
                <a:schemeClr val="dk2"/>
              </a:buClr>
              <a:buSzPts val="1100"/>
              <a:buChar char="●"/>
              <a:defRPr sz="1400">
                <a:solidFill>
                  <a:schemeClr val="dk2"/>
                </a:solidFill>
              </a:defRPr>
            </a:lvl7pPr>
            <a:lvl8pPr marL="3657600" lvl="7" indent="-298450" algn="l">
              <a:lnSpc>
                <a:spcPct val="115000"/>
              </a:lnSpc>
              <a:spcBef>
                <a:spcPts val="1600"/>
              </a:spcBef>
              <a:spcAft>
                <a:spcPts val="0"/>
              </a:spcAft>
              <a:buClr>
                <a:schemeClr val="dk2"/>
              </a:buClr>
              <a:buSzPts val="1100"/>
              <a:buChar char="○"/>
              <a:defRPr sz="1400">
                <a:solidFill>
                  <a:schemeClr val="dk2"/>
                </a:solidFill>
              </a:defRPr>
            </a:lvl8pPr>
            <a:lvl9pPr marL="4114800" lvl="8" indent="-298450" algn="l">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06" name="Google Shape;206;p36"/>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07" name="Google Shape;207;p36"/>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8" name="Google Shape;208;p36"/>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6"/>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a:lnSpc>
                <a:spcPct val="100000"/>
              </a:lnSpc>
              <a:spcBef>
                <a:spcPts val="0"/>
              </a:spcBef>
              <a:spcAft>
                <a:spcPts val="0"/>
              </a:spcAft>
              <a:buClr>
                <a:srgbClr val="FFFFFF"/>
              </a:buClr>
              <a:buSzPts val="3000"/>
              <a:buNone/>
              <a:defRPr sz="3000">
                <a:solidFill>
                  <a:srgbClr val="FFFFFF"/>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10" name="Google Shape;210;p36"/>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6"/>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a:lnSpc>
                <a:spcPct val="100000"/>
              </a:lnSpc>
              <a:spcBef>
                <a:spcPts val="0"/>
              </a:spcBef>
              <a:spcAft>
                <a:spcPts val="0"/>
              </a:spcAft>
              <a:buClr>
                <a:srgbClr val="FFFFFF"/>
              </a:buClr>
              <a:buSzPts val="3000"/>
              <a:buNone/>
              <a:defRPr sz="3000">
                <a:solidFill>
                  <a:srgbClr val="FFFFFF"/>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12" name="Google Shape;212;p36"/>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17"/>
        <p:cNvGrpSpPr/>
        <p:nvPr/>
      </p:nvGrpSpPr>
      <p:grpSpPr>
        <a:xfrm>
          <a:off x="0" y="0"/>
          <a:ext cx="0" cy="0"/>
          <a:chOff x="0" y="0"/>
          <a:chExt cx="0" cy="0"/>
        </a:xfrm>
      </p:grpSpPr>
      <p:sp>
        <p:nvSpPr>
          <p:cNvPr id="218" name="Google Shape;218;p38"/>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19" name="Google Shape;219;p38"/>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20" name="Google Shape;220;p38"/>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21" name="Google Shape;221;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22"/>
        <p:cNvGrpSpPr/>
        <p:nvPr/>
      </p:nvGrpSpPr>
      <p:grpSpPr>
        <a:xfrm>
          <a:off x="0" y="0"/>
          <a:ext cx="0" cy="0"/>
          <a:chOff x="0" y="0"/>
          <a:chExt cx="0" cy="0"/>
        </a:xfrm>
      </p:grpSpPr>
      <p:sp>
        <p:nvSpPr>
          <p:cNvPr id="223" name="Google Shape;223;p39"/>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24" name="Google Shape;224;p39"/>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225" name="Google Shape;225;p39"/>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26" name="Google Shape;226;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7"/>
        <p:cNvGrpSpPr/>
        <p:nvPr/>
      </p:nvGrpSpPr>
      <p:grpSpPr>
        <a:xfrm>
          <a:off x="0" y="0"/>
          <a:ext cx="0" cy="0"/>
          <a:chOff x="0" y="0"/>
          <a:chExt cx="0" cy="0"/>
        </a:xfrm>
      </p:grpSpPr>
      <p:sp>
        <p:nvSpPr>
          <p:cNvPr id="228" name="Google Shape;228;p40"/>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29" name="Google Shape;229;p40"/>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0"/>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31" name="Google Shape;231;p40"/>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32" name="Google Shape;23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33" name="Google Shape;233;p40"/>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34" name="Google Shape;234;p40"/>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5"/>
        <p:cNvGrpSpPr/>
        <p:nvPr/>
      </p:nvGrpSpPr>
      <p:grpSpPr>
        <a:xfrm>
          <a:off x="0" y="0"/>
          <a:ext cx="0" cy="0"/>
          <a:chOff x="0" y="0"/>
          <a:chExt cx="0" cy="0"/>
        </a:xfrm>
      </p:grpSpPr>
      <p:sp>
        <p:nvSpPr>
          <p:cNvPr id="236" name="Google Shape;236;p4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38" name="Google Shape;238;p41"/>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39" name="Google Shape;239;p41"/>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40" name="Google Shape;240;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1"/>
        <p:cNvGrpSpPr/>
        <p:nvPr/>
      </p:nvGrpSpPr>
      <p:grpSpPr>
        <a:xfrm>
          <a:off x="0" y="0"/>
          <a:ext cx="0" cy="0"/>
          <a:chOff x="0" y="0"/>
          <a:chExt cx="0" cy="0"/>
        </a:xfrm>
      </p:grpSpPr>
      <p:sp>
        <p:nvSpPr>
          <p:cNvPr id="242" name="Google Shape;242;p4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44" name="Google Shape;24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5"/>
        <p:cNvGrpSpPr/>
        <p:nvPr/>
      </p:nvGrpSpPr>
      <p:grpSpPr>
        <a:xfrm>
          <a:off x="0" y="0"/>
          <a:ext cx="0" cy="0"/>
          <a:chOff x="0" y="0"/>
          <a:chExt cx="0" cy="0"/>
        </a:xfrm>
      </p:grpSpPr>
      <p:sp>
        <p:nvSpPr>
          <p:cNvPr id="246" name="Google Shape;246;p43"/>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3"/>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48" name="Google Shape;248;p4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49" name="Google Shape;249;p43"/>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50" name="Google Shape;250;p43"/>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51" name="Google Shape;251;p43"/>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52" name="Google Shape;252;p43"/>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53"/>
        <p:cNvGrpSpPr/>
        <p:nvPr/>
      </p:nvGrpSpPr>
      <p:grpSpPr>
        <a:xfrm>
          <a:off x="0" y="0"/>
          <a:ext cx="0" cy="0"/>
          <a:chOff x="0" y="0"/>
          <a:chExt cx="0" cy="0"/>
        </a:xfrm>
      </p:grpSpPr>
      <p:sp>
        <p:nvSpPr>
          <p:cNvPr id="254" name="Google Shape;254;p44"/>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55" name="Google Shape;255;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56"/>
        <p:cNvGrpSpPr/>
        <p:nvPr/>
      </p:nvGrpSpPr>
      <p:grpSpPr>
        <a:xfrm>
          <a:off x="0" y="0"/>
          <a:ext cx="0" cy="0"/>
          <a:chOff x="0" y="0"/>
          <a:chExt cx="0" cy="0"/>
        </a:xfrm>
      </p:grpSpPr>
      <p:sp>
        <p:nvSpPr>
          <p:cNvPr id="257" name="Google Shape;257;p45"/>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5"/>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59" name="Google Shape;259;p45"/>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60" name="Google Shape;260;p45"/>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61" name="Google Shape;261;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2"/>
        <p:cNvGrpSpPr/>
        <p:nvPr/>
      </p:nvGrpSpPr>
      <p:grpSpPr>
        <a:xfrm>
          <a:off x="0" y="0"/>
          <a:ext cx="0" cy="0"/>
          <a:chOff x="0" y="0"/>
          <a:chExt cx="0" cy="0"/>
        </a:xfrm>
      </p:grpSpPr>
      <p:sp>
        <p:nvSpPr>
          <p:cNvPr id="263" name="Google Shape;263;p46"/>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6"/>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65" name="Google Shape;265;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66"/>
        <p:cNvGrpSpPr/>
        <p:nvPr/>
      </p:nvGrpSpPr>
      <p:grpSpPr>
        <a:xfrm>
          <a:off x="0" y="0"/>
          <a:ext cx="0" cy="0"/>
          <a:chOff x="0" y="0"/>
          <a:chExt cx="0" cy="0"/>
        </a:xfrm>
      </p:grpSpPr>
      <p:sp>
        <p:nvSpPr>
          <p:cNvPr id="267" name="Google Shape;267;p47"/>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268" name="Google Shape;268;p47"/>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269" name="Google Shape;269;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0"/>
        <p:cNvGrpSpPr/>
        <p:nvPr/>
      </p:nvGrpSpPr>
      <p:grpSpPr>
        <a:xfrm>
          <a:off x="0" y="0"/>
          <a:ext cx="0" cy="0"/>
          <a:chOff x="0" y="0"/>
          <a:chExt cx="0" cy="0"/>
        </a:xfrm>
      </p:grpSpPr>
      <p:sp>
        <p:nvSpPr>
          <p:cNvPr id="271" name="Google Shape;271;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72"/>
        <p:cNvGrpSpPr/>
        <p:nvPr/>
      </p:nvGrpSpPr>
      <p:grpSpPr>
        <a:xfrm>
          <a:off x="0" y="0"/>
          <a:ext cx="0" cy="0"/>
          <a:chOff x="0" y="0"/>
          <a:chExt cx="0" cy="0"/>
        </a:xfrm>
      </p:grpSpPr>
      <p:sp>
        <p:nvSpPr>
          <p:cNvPr id="273" name="Google Shape;273;p4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9"/>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5" name="Google Shape;275;p4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76" name="Google Shape;276;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77"/>
        <p:cNvGrpSpPr/>
        <p:nvPr/>
      </p:nvGrpSpPr>
      <p:grpSpPr>
        <a:xfrm>
          <a:off x="0" y="0"/>
          <a:ext cx="0" cy="0"/>
          <a:chOff x="0" y="0"/>
          <a:chExt cx="0" cy="0"/>
        </a:xfrm>
      </p:grpSpPr>
      <p:sp>
        <p:nvSpPr>
          <p:cNvPr id="278" name="Google Shape;278;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9" name="Google Shape;279;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0" name="Google Shape;280;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281"/>
        <p:cNvGrpSpPr/>
        <p:nvPr/>
      </p:nvGrpSpPr>
      <p:grpSpPr>
        <a:xfrm>
          <a:off x="0" y="0"/>
          <a:ext cx="0" cy="0"/>
          <a:chOff x="0" y="0"/>
          <a:chExt cx="0" cy="0"/>
        </a:xfrm>
      </p:grpSpPr>
      <p:cxnSp>
        <p:nvCxnSpPr>
          <p:cNvPr id="282" name="Google Shape;282;p51"/>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83" name="Google Shape;283;p51"/>
          <p:cNvSpPr txBox="1">
            <a:spLocks noGrp="1"/>
          </p:cNvSpPr>
          <p:nvPr>
            <p:ph type="title"/>
          </p:nvPr>
        </p:nvSpPr>
        <p:spPr>
          <a:xfrm>
            <a:off x="387900" y="458025"/>
            <a:ext cx="8368200" cy="686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4" name="Google Shape;284;p51"/>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5" name="Google Shape;285;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286"/>
        <p:cNvGrpSpPr/>
        <p:nvPr/>
      </p:nvGrpSpPr>
      <p:grpSpPr>
        <a:xfrm>
          <a:off x="0" y="0"/>
          <a:ext cx="0" cy="0"/>
          <a:chOff x="0" y="0"/>
          <a:chExt cx="0" cy="0"/>
        </a:xfrm>
      </p:grpSpPr>
      <p:sp>
        <p:nvSpPr>
          <p:cNvPr id="287" name="Google Shape;287;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8" name="Google Shape;288;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9" name="Google Shape;289;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94"/>
        <p:cNvGrpSpPr/>
        <p:nvPr/>
      </p:nvGrpSpPr>
      <p:grpSpPr>
        <a:xfrm>
          <a:off x="0" y="0"/>
          <a:ext cx="0" cy="0"/>
          <a:chOff x="0" y="0"/>
          <a:chExt cx="0" cy="0"/>
        </a:xfrm>
      </p:grpSpPr>
      <p:sp>
        <p:nvSpPr>
          <p:cNvPr id="295" name="Google Shape;295;p54"/>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96" name="Google Shape;296;p54"/>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97" name="Google Shape;297;p54"/>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98" name="Google Shape;298;p5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99"/>
        <p:cNvGrpSpPr/>
        <p:nvPr/>
      </p:nvGrpSpPr>
      <p:grpSpPr>
        <a:xfrm>
          <a:off x="0" y="0"/>
          <a:ext cx="0" cy="0"/>
          <a:chOff x="0" y="0"/>
          <a:chExt cx="0" cy="0"/>
        </a:xfrm>
      </p:grpSpPr>
      <p:sp>
        <p:nvSpPr>
          <p:cNvPr id="300" name="Google Shape;300;p55"/>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301" name="Google Shape;301;p55"/>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302" name="Google Shape;302;p55"/>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03" name="Google Shape;303;p5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4"/>
        <p:cNvGrpSpPr/>
        <p:nvPr/>
      </p:nvGrpSpPr>
      <p:grpSpPr>
        <a:xfrm>
          <a:off x="0" y="0"/>
          <a:ext cx="0" cy="0"/>
          <a:chOff x="0" y="0"/>
          <a:chExt cx="0" cy="0"/>
        </a:xfrm>
      </p:grpSpPr>
      <p:sp>
        <p:nvSpPr>
          <p:cNvPr id="305" name="Google Shape;305;p56"/>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06" name="Google Shape;306;p56"/>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56"/>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8" name="Google Shape;308;p56"/>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9" name="Google Shape;309;p5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10" name="Google Shape;310;p56"/>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311" name="Google Shape;311;p56"/>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2"/>
        <p:cNvGrpSpPr/>
        <p:nvPr/>
      </p:nvGrpSpPr>
      <p:grpSpPr>
        <a:xfrm>
          <a:off x="0" y="0"/>
          <a:ext cx="0" cy="0"/>
          <a:chOff x="0" y="0"/>
          <a:chExt cx="0" cy="0"/>
        </a:xfrm>
      </p:grpSpPr>
      <p:sp>
        <p:nvSpPr>
          <p:cNvPr id="313" name="Google Shape;313;p57"/>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15" name="Google Shape;315;p57"/>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6" name="Google Shape;316;p57"/>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7" name="Google Shape;317;p5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8"/>
        <p:cNvGrpSpPr/>
        <p:nvPr/>
      </p:nvGrpSpPr>
      <p:grpSpPr>
        <a:xfrm>
          <a:off x="0" y="0"/>
          <a:ext cx="0" cy="0"/>
          <a:chOff x="0" y="0"/>
          <a:chExt cx="0" cy="0"/>
        </a:xfrm>
      </p:grpSpPr>
      <p:sp>
        <p:nvSpPr>
          <p:cNvPr id="319" name="Google Shape;319;p58"/>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8"/>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21" name="Google Shape;321;p5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2"/>
        <p:cNvGrpSpPr/>
        <p:nvPr/>
      </p:nvGrpSpPr>
      <p:grpSpPr>
        <a:xfrm>
          <a:off x="0" y="0"/>
          <a:ext cx="0" cy="0"/>
          <a:chOff x="0" y="0"/>
          <a:chExt cx="0" cy="0"/>
        </a:xfrm>
      </p:grpSpPr>
      <p:sp>
        <p:nvSpPr>
          <p:cNvPr id="323" name="Google Shape;323;p59"/>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9"/>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25" name="Google Shape;325;p59"/>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26" name="Google Shape;326;p59"/>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27" name="Google Shape;327;p59"/>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8" name="Google Shape;328;p59"/>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329" name="Google Shape;329;p59"/>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30"/>
        <p:cNvGrpSpPr/>
        <p:nvPr/>
      </p:nvGrpSpPr>
      <p:grpSpPr>
        <a:xfrm>
          <a:off x="0" y="0"/>
          <a:ext cx="0" cy="0"/>
          <a:chOff x="0" y="0"/>
          <a:chExt cx="0" cy="0"/>
        </a:xfrm>
      </p:grpSpPr>
      <p:sp>
        <p:nvSpPr>
          <p:cNvPr id="331" name="Google Shape;331;p60"/>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32" name="Google Shape;332;p6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3"/>
        <p:cNvGrpSpPr/>
        <p:nvPr/>
      </p:nvGrpSpPr>
      <p:grpSpPr>
        <a:xfrm>
          <a:off x="0" y="0"/>
          <a:ext cx="0" cy="0"/>
          <a:chOff x="0" y="0"/>
          <a:chExt cx="0" cy="0"/>
        </a:xfrm>
      </p:grpSpPr>
      <p:sp>
        <p:nvSpPr>
          <p:cNvPr id="334" name="Google Shape;334;p61"/>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61"/>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36" name="Google Shape;336;p61"/>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337" name="Google Shape;337;p61"/>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38" name="Google Shape;338;p6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9"/>
        <p:cNvGrpSpPr/>
        <p:nvPr/>
      </p:nvGrpSpPr>
      <p:grpSpPr>
        <a:xfrm>
          <a:off x="0" y="0"/>
          <a:ext cx="0" cy="0"/>
          <a:chOff x="0" y="0"/>
          <a:chExt cx="0" cy="0"/>
        </a:xfrm>
      </p:grpSpPr>
      <p:sp>
        <p:nvSpPr>
          <p:cNvPr id="340" name="Google Shape;340;p62"/>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62"/>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342" name="Google Shape;342;p6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343"/>
        <p:cNvGrpSpPr/>
        <p:nvPr/>
      </p:nvGrpSpPr>
      <p:grpSpPr>
        <a:xfrm>
          <a:off x="0" y="0"/>
          <a:ext cx="0" cy="0"/>
          <a:chOff x="0" y="0"/>
          <a:chExt cx="0" cy="0"/>
        </a:xfrm>
      </p:grpSpPr>
      <p:sp>
        <p:nvSpPr>
          <p:cNvPr id="344" name="Google Shape;344;p63"/>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345" name="Google Shape;345;p63"/>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346" name="Google Shape;346;p6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7"/>
        <p:cNvGrpSpPr/>
        <p:nvPr/>
      </p:nvGrpSpPr>
      <p:grpSpPr>
        <a:xfrm>
          <a:off x="0" y="0"/>
          <a:ext cx="0" cy="0"/>
          <a:chOff x="0" y="0"/>
          <a:chExt cx="0" cy="0"/>
        </a:xfrm>
      </p:grpSpPr>
      <p:sp>
        <p:nvSpPr>
          <p:cNvPr id="348" name="Google Shape;348;p6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349"/>
        <p:cNvGrpSpPr/>
        <p:nvPr/>
      </p:nvGrpSpPr>
      <p:grpSpPr>
        <a:xfrm>
          <a:off x="0" y="0"/>
          <a:ext cx="0" cy="0"/>
          <a:chOff x="0" y="0"/>
          <a:chExt cx="0" cy="0"/>
        </a:xfrm>
      </p:grpSpPr>
      <p:sp>
        <p:nvSpPr>
          <p:cNvPr id="350" name="Google Shape;350;p6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65"/>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2" name="Google Shape;352;p6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53" name="Google Shape;353;p6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354"/>
        <p:cNvGrpSpPr/>
        <p:nvPr/>
      </p:nvGrpSpPr>
      <p:grpSpPr>
        <a:xfrm>
          <a:off x="0" y="0"/>
          <a:ext cx="0" cy="0"/>
          <a:chOff x="0" y="0"/>
          <a:chExt cx="0" cy="0"/>
        </a:xfrm>
      </p:grpSpPr>
      <p:sp>
        <p:nvSpPr>
          <p:cNvPr id="355" name="Google Shape;355;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6" name="Google Shape;356;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57" name="Google Shape;357;p6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6"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6" Type="http://schemas.openxmlformats.org/officeDocument/2006/relationships/theme" Target="../theme/theme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20" name="Google Shape;120;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21" name="Google Shape;12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13"/>
        <p:cNvGrpSpPr/>
        <p:nvPr/>
      </p:nvGrpSpPr>
      <p:grpSpPr>
        <a:xfrm>
          <a:off x="0" y="0"/>
          <a:ext cx="0" cy="0"/>
          <a:chOff x="0" y="0"/>
          <a:chExt cx="0" cy="0"/>
        </a:xfrm>
      </p:grpSpPr>
      <p:sp>
        <p:nvSpPr>
          <p:cNvPr id="214" name="Google Shape;214;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15" name="Google Shape;215;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16" name="Google Shape;21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90"/>
        <p:cNvGrpSpPr/>
        <p:nvPr/>
      </p:nvGrpSpPr>
      <p:grpSpPr>
        <a:xfrm>
          <a:off x="0" y="0"/>
          <a:ext cx="0" cy="0"/>
          <a:chOff x="0" y="0"/>
          <a:chExt cx="0" cy="0"/>
        </a:xfrm>
      </p:grpSpPr>
      <p:sp>
        <p:nvSpPr>
          <p:cNvPr id="291" name="Google Shape;291;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92" name="Google Shape;292;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93" name="Google Shape;293;p53"/>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s://docs.oracle.com/en/java/javase/21/docs/api/java.base/java/util/HashSet.html"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hyperlink" Target="https://docs.oracle.com/en/java/javase/21/docs/api/java.base/java/util/TreeSet.html"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hyperlink" Target="https://docs.oracle.com/en/java/javase/21/docs/api/java.base/java/util/HashMap.html" TargetMode="External"/><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hyperlink" Target="https://docs.oracle.com/en/java/javase/21/docs/api/java.base/java/util/TreeMap.html"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hyperlink" Target="https://en.wikipedia.org/wiki/Red%E2%80%93black_tree" TargetMode="External"/><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3" Type="http://schemas.openxmlformats.org/officeDocument/2006/relationships/hyperlink" Target="https://docs.google.com/presentation/d/1zvTaX7Z3Lb9pimeq_IS5wZqLtjRRiFpG1aiKJ4aKLRE/edit#slide=id.g2d99a256a72_6_0" TargetMode="External"/><Relationship Id="rId2" Type="http://schemas.openxmlformats.org/officeDocument/2006/relationships/notesSlide" Target="../notesSlides/notesSlide45.xml"/><Relationship Id="rId1" Type="http://schemas.openxmlformats.org/officeDocument/2006/relationships/slideLayout" Target="../slideLayouts/slideLayout60.xml"/><Relationship Id="rId4" Type="http://schemas.openxmlformats.org/officeDocument/2006/relationships/hyperlink" Target="https://docs.google.com/presentation/d/1zvTaX7Z3Lb9pimeq_IS5wZqLtjRRiFpG1aiKJ4aKLRE/edit#slide=id.g2d99a256a72_6_10"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38.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67"/>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363" name="Google Shape;363;p67"/>
          <p:cNvSpPr txBox="1">
            <a:spLocks noGrp="1"/>
          </p:cNvSpPr>
          <p:nvPr>
            <p:ph type="subTitle" idx="1"/>
          </p:nvPr>
        </p:nvSpPr>
        <p:spPr>
          <a:xfrm>
            <a:off x="311700" y="1878550"/>
            <a:ext cx="4491300" cy="7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07: Data Structures III</a:t>
            </a:r>
            <a:endParaRPr sz="2600" i="1"/>
          </a:p>
        </p:txBody>
      </p:sp>
      <p:grpSp>
        <p:nvGrpSpPr>
          <p:cNvPr id="364" name="Google Shape;364;p67"/>
          <p:cNvGrpSpPr/>
          <p:nvPr/>
        </p:nvGrpSpPr>
        <p:grpSpPr>
          <a:xfrm>
            <a:off x="5001999" y="4264475"/>
            <a:ext cx="3908400" cy="738300"/>
            <a:chOff x="5001999" y="4264475"/>
            <a:chExt cx="3908400" cy="738300"/>
          </a:xfrm>
        </p:grpSpPr>
        <p:sp>
          <p:nvSpPr>
            <p:cNvPr id="365" name="Google Shape;365;p67"/>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6" name="Google Shape;366;p67"/>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68"/>
          <p:cNvSpPr txBox="1">
            <a:spLocks noGrp="1"/>
          </p:cNvSpPr>
          <p:nvPr>
            <p:ph type="title"/>
          </p:nvPr>
        </p:nvSpPr>
        <p:spPr>
          <a:xfrm>
            <a:off x="3117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Data Structures III</a:t>
            </a:r>
            <a:endParaRPr/>
          </a:p>
        </p:txBody>
      </p:sp>
      <p:sp>
        <p:nvSpPr>
          <p:cNvPr id="372" name="Google Shape;372;p68"/>
          <p:cNvSpPr txBox="1">
            <a:spLocks noGrp="1"/>
          </p:cNvSpPr>
          <p:nvPr>
            <p:ph type="body" idx="1"/>
          </p:nvPr>
        </p:nvSpPr>
        <p:spPr>
          <a:xfrm>
            <a:off x="4644675" y="272325"/>
            <a:ext cx="4166400" cy="45774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In this unit we will continue exploring </a:t>
            </a:r>
            <a:r>
              <a:rPr lang="en" b="1" i="1" dirty="0">
                <a:solidFill>
                  <a:srgbClr val="FF0000"/>
                </a:solidFill>
              </a:rPr>
              <a:t>abstract data types</a:t>
            </a:r>
            <a:r>
              <a:rPr lang="en" dirty="0"/>
              <a:t> and </a:t>
            </a:r>
            <a:r>
              <a:rPr lang="en" b="1" i="1" dirty="0">
                <a:solidFill>
                  <a:srgbClr val="FF0000"/>
                </a:solidFill>
              </a:rPr>
              <a:t>data structures</a:t>
            </a:r>
            <a:r>
              <a:rPr lang="en" dirty="0"/>
              <a:t>.</a:t>
            </a:r>
            <a:endParaRPr dirty="0"/>
          </a:p>
          <a:p>
            <a:pPr marL="914400" lvl="1" indent="-298450" algn="l" rtl="0">
              <a:lnSpc>
                <a:spcPct val="115000"/>
              </a:lnSpc>
              <a:spcBef>
                <a:spcPts val="0"/>
              </a:spcBef>
              <a:spcAft>
                <a:spcPts val="0"/>
              </a:spcAft>
              <a:buSzPts val="1100"/>
              <a:buChar char="○"/>
            </a:pPr>
            <a:r>
              <a:rPr lang="en" dirty="0"/>
              <a:t>An abstract data type describes the behavior of a data structure from the perspective of its user without providing any implementation details.</a:t>
            </a:r>
            <a:endParaRPr dirty="0"/>
          </a:p>
          <a:p>
            <a:pPr marL="914400" lvl="1" indent="-298450" algn="l" rtl="0">
              <a:lnSpc>
                <a:spcPct val="115000"/>
              </a:lnSpc>
              <a:spcBef>
                <a:spcPts val="0"/>
              </a:spcBef>
              <a:spcAft>
                <a:spcPts val="0"/>
              </a:spcAft>
              <a:buSzPts val="1100"/>
              <a:buChar char="○"/>
            </a:pPr>
            <a:r>
              <a:rPr lang="en" dirty="0"/>
              <a:t>Every abstract data type (ADT) may be implemented in more than one way.</a:t>
            </a:r>
            <a:endParaRPr dirty="0"/>
          </a:p>
          <a:p>
            <a:pPr marL="914400" lvl="1" indent="-298450" algn="l" rtl="0">
              <a:lnSpc>
                <a:spcPct val="115000"/>
              </a:lnSpc>
              <a:spcBef>
                <a:spcPts val="0"/>
              </a:spcBef>
              <a:spcAft>
                <a:spcPts val="0"/>
              </a:spcAft>
              <a:buSzPts val="1100"/>
              <a:buChar char="○"/>
            </a:pPr>
            <a:r>
              <a:rPr lang="en" dirty="0"/>
              <a:t>When solving a new problem, choosing the most efficient implementation is just as important as choosing the correct data structure.</a:t>
            </a:r>
            <a:endParaRPr dirty="0"/>
          </a:p>
          <a:p>
            <a:pPr marL="457200" lvl="0" indent="-311150" algn="l" rtl="0">
              <a:lnSpc>
                <a:spcPct val="115000"/>
              </a:lnSpc>
              <a:spcBef>
                <a:spcPts val="1000"/>
              </a:spcBef>
              <a:spcAft>
                <a:spcPts val="0"/>
              </a:spcAft>
              <a:buSzPts val="1300"/>
              <a:buChar char="●"/>
            </a:pPr>
            <a:r>
              <a:rPr lang="en" dirty="0"/>
              <a:t>We will examine two different abstract data types and implement each of them in at least one way including:</a:t>
            </a:r>
            <a:endParaRPr dirty="0"/>
          </a:p>
          <a:p>
            <a:pPr marL="914400" lvl="1" indent="-298450" algn="l" rtl="0">
              <a:lnSpc>
                <a:spcPct val="115000"/>
              </a:lnSpc>
              <a:spcBef>
                <a:spcPts val="0"/>
              </a:spcBef>
              <a:spcAft>
                <a:spcPts val="0"/>
              </a:spcAft>
              <a:buSzPts val="1100"/>
              <a:buChar char="○"/>
            </a:pPr>
            <a:r>
              <a:rPr lang="en" dirty="0">
                <a:highlight>
                  <a:srgbClr val="FFFF00"/>
                </a:highlight>
              </a:rPr>
              <a:t>Tree Sets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Hash Sets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Tree Maps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Hash Maps</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We will begin by focusing on the </a:t>
            </a:r>
            <a:r>
              <a:rPr lang="en" b="1" i="1" dirty="0">
                <a:solidFill>
                  <a:srgbClr val="FF0000"/>
                </a:solidFill>
              </a:rPr>
              <a:t>Set</a:t>
            </a:r>
            <a:r>
              <a:rPr lang="en" dirty="0"/>
              <a:t> ADT.</a:t>
            </a:r>
            <a:endParaRPr dirty="0"/>
          </a:p>
        </p:txBody>
      </p:sp>
      <p:sp>
        <p:nvSpPr>
          <p:cNvPr id="373" name="Google Shape;373;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374" name="Google Shape;374;p68"/>
          <p:cNvSpPr txBox="1">
            <a:spLocks noGrp="1"/>
          </p:cNvSpPr>
          <p:nvPr>
            <p:ph type="body" idx="3"/>
          </p:nvPr>
        </p:nvSpPr>
        <p:spPr>
          <a:xfrm>
            <a:off x="311725" y="989725"/>
            <a:ext cx="37065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b="1" i="1">
                <a:solidFill>
                  <a:srgbClr val="FF0000"/>
                </a:solidFill>
              </a:rPr>
              <a:t>Hashing data structures</a:t>
            </a:r>
            <a:r>
              <a:rPr lang="en" sz="1200"/>
              <a:t>, like sets and maps (dictionary) are built on top of </a:t>
            </a:r>
            <a:r>
              <a:rPr lang="en" sz="1200" b="1" i="1">
                <a:solidFill>
                  <a:srgbClr val="FF0000"/>
                </a:solidFill>
              </a:rPr>
              <a:t>an array</a:t>
            </a:r>
            <a:r>
              <a:rPr lang="en" sz="1200"/>
              <a:t>.</a:t>
            </a:r>
            <a:endParaRPr sz="1200"/>
          </a:p>
        </p:txBody>
      </p:sp>
      <p:graphicFrame>
        <p:nvGraphicFramePr>
          <p:cNvPr id="375" name="Google Shape;375;p68"/>
          <p:cNvGraphicFramePr/>
          <p:nvPr/>
        </p:nvGraphicFramePr>
        <p:xfrm>
          <a:off x="633575" y="4132925"/>
          <a:ext cx="30628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0</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1</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2</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3</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4</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5</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6</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7</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76" name="Google Shape;376;p68"/>
          <p:cNvSpPr txBox="1">
            <a:spLocks noGrp="1"/>
          </p:cNvSpPr>
          <p:nvPr>
            <p:ph type="body" idx="3"/>
          </p:nvPr>
        </p:nvSpPr>
        <p:spPr>
          <a:xfrm>
            <a:off x="311725" y="1614449"/>
            <a:ext cx="37065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A </a:t>
            </a:r>
            <a:r>
              <a:rPr lang="en" sz="1200" b="1" i="1">
                <a:solidFill>
                  <a:srgbClr val="FF0000"/>
                </a:solidFill>
              </a:rPr>
              <a:t>hash function</a:t>
            </a:r>
            <a:r>
              <a:rPr lang="en" sz="1200"/>
              <a:t> is used to convert arbitrary values into </a:t>
            </a:r>
            <a:r>
              <a:rPr lang="en" sz="1200" b="1" i="1">
                <a:solidFill>
                  <a:srgbClr val="FF0000"/>
                </a:solidFill>
              </a:rPr>
              <a:t>integers</a:t>
            </a:r>
            <a:r>
              <a:rPr lang="en" sz="1200"/>
              <a:t>, which can then be used to find an </a:t>
            </a:r>
            <a:r>
              <a:rPr lang="en" sz="1200" b="1" i="1">
                <a:solidFill>
                  <a:srgbClr val="FF0000"/>
                </a:solidFill>
              </a:rPr>
              <a:t>index </a:t>
            </a:r>
            <a:r>
              <a:rPr lang="en" sz="1200"/>
              <a:t> in the array.</a:t>
            </a:r>
            <a:endParaRPr sz="1200"/>
          </a:p>
        </p:txBody>
      </p:sp>
      <p:sp>
        <p:nvSpPr>
          <p:cNvPr id="377" name="Google Shape;377;p68"/>
          <p:cNvSpPr txBox="1"/>
          <p:nvPr/>
        </p:nvSpPr>
        <p:spPr>
          <a:xfrm>
            <a:off x="552175" y="24839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"abc"</a:t>
            </a:r>
            <a:endParaRPr sz="1400" b="0" i="0" u="none" strike="noStrike" cap="none">
              <a:solidFill>
                <a:srgbClr val="CE9178"/>
              </a:solidFill>
              <a:latin typeface="Consolas"/>
              <a:ea typeface="Consolas"/>
              <a:cs typeface="Consolas"/>
              <a:sym typeface="Consolas"/>
            </a:endParaRPr>
          </a:p>
        </p:txBody>
      </p:sp>
      <p:sp>
        <p:nvSpPr>
          <p:cNvPr id="378" name="Google Shape;378;p68"/>
          <p:cNvSpPr txBox="1"/>
          <p:nvPr/>
        </p:nvSpPr>
        <p:spPr>
          <a:xfrm>
            <a:off x="1390375" y="24839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"def"</a:t>
            </a:r>
            <a:endParaRPr sz="1400" b="0" i="0" u="none" strike="noStrike" cap="none">
              <a:solidFill>
                <a:srgbClr val="CE9178"/>
              </a:solidFill>
              <a:latin typeface="Consolas"/>
              <a:ea typeface="Consolas"/>
              <a:cs typeface="Consolas"/>
              <a:sym typeface="Consolas"/>
            </a:endParaRPr>
          </a:p>
        </p:txBody>
      </p:sp>
      <p:sp>
        <p:nvSpPr>
          <p:cNvPr id="379" name="Google Shape;379;p68"/>
          <p:cNvSpPr txBox="1"/>
          <p:nvPr/>
        </p:nvSpPr>
        <p:spPr>
          <a:xfrm>
            <a:off x="2228575" y="24839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"ghi"</a:t>
            </a:r>
            <a:endParaRPr sz="1400" b="0" i="0" u="none" strike="noStrike" cap="none">
              <a:solidFill>
                <a:srgbClr val="CE9178"/>
              </a:solidFill>
              <a:latin typeface="Consolas"/>
              <a:ea typeface="Consolas"/>
              <a:cs typeface="Consolas"/>
              <a:sym typeface="Consolas"/>
            </a:endParaRPr>
          </a:p>
        </p:txBody>
      </p:sp>
      <p:sp>
        <p:nvSpPr>
          <p:cNvPr id="380" name="Google Shape;380;p68"/>
          <p:cNvSpPr txBox="1"/>
          <p:nvPr/>
        </p:nvSpPr>
        <p:spPr>
          <a:xfrm>
            <a:off x="3066775" y="24839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"jkl"</a:t>
            </a:r>
            <a:endParaRPr sz="1400" b="0" i="0" u="none" strike="noStrike" cap="none">
              <a:solidFill>
                <a:srgbClr val="CE9178"/>
              </a:solidFill>
              <a:latin typeface="Consolas"/>
              <a:ea typeface="Consolas"/>
              <a:cs typeface="Consolas"/>
              <a:sym typeface="Consolas"/>
            </a:endParaRPr>
          </a:p>
        </p:txBody>
      </p:sp>
      <p:sp>
        <p:nvSpPr>
          <p:cNvPr id="381" name="Google Shape;381;p68"/>
          <p:cNvSpPr/>
          <p:nvPr/>
        </p:nvSpPr>
        <p:spPr>
          <a:xfrm>
            <a:off x="898375" y="2763825"/>
            <a:ext cx="681775" cy="1376650"/>
          </a:xfrm>
          <a:custGeom>
            <a:avLst/>
            <a:gdLst/>
            <a:ahLst/>
            <a:cxnLst/>
            <a:rect l="l" t="t" r="r" b="b"/>
            <a:pathLst>
              <a:path w="27271" h="55066" extrusionOk="0">
                <a:moveTo>
                  <a:pt x="0" y="0"/>
                </a:moveTo>
                <a:lnTo>
                  <a:pt x="0" y="27231"/>
                </a:lnTo>
                <a:lnTo>
                  <a:pt x="27271" y="42976"/>
                </a:lnTo>
                <a:lnTo>
                  <a:pt x="27271" y="55066"/>
                </a:lnTo>
              </a:path>
            </a:pathLst>
          </a:custGeom>
          <a:noFill/>
          <a:ln w="19050" cap="flat" cmpd="sng">
            <a:solidFill>
              <a:srgbClr val="EA9999"/>
            </a:solidFill>
            <a:prstDash val="solid"/>
            <a:round/>
            <a:headEnd type="none" w="sm" len="sm"/>
            <a:tailEnd type="triangle" w="med" len="med"/>
          </a:ln>
        </p:spPr>
        <p:txBody>
          <a:bodyPr/>
          <a:lstStyle/>
          <a:p>
            <a:endParaRPr lang="en-US"/>
          </a:p>
        </p:txBody>
      </p:sp>
      <p:sp>
        <p:nvSpPr>
          <p:cNvPr id="382" name="Google Shape;382;p68"/>
          <p:cNvSpPr/>
          <p:nvPr/>
        </p:nvSpPr>
        <p:spPr>
          <a:xfrm>
            <a:off x="1745550" y="2756275"/>
            <a:ext cx="1750250" cy="1369075"/>
          </a:xfrm>
          <a:custGeom>
            <a:avLst/>
            <a:gdLst/>
            <a:ahLst/>
            <a:cxnLst/>
            <a:rect l="l" t="t" r="r" b="b"/>
            <a:pathLst>
              <a:path w="70010" h="54763" extrusionOk="0">
                <a:moveTo>
                  <a:pt x="0" y="0"/>
                </a:moveTo>
                <a:lnTo>
                  <a:pt x="0" y="25717"/>
                </a:lnTo>
                <a:lnTo>
                  <a:pt x="70010" y="44476"/>
                </a:lnTo>
                <a:lnTo>
                  <a:pt x="70010" y="54763"/>
                </a:lnTo>
              </a:path>
            </a:pathLst>
          </a:custGeom>
          <a:noFill/>
          <a:ln w="19050" cap="flat" cmpd="sng">
            <a:solidFill>
              <a:srgbClr val="93C47D"/>
            </a:solidFill>
            <a:prstDash val="solid"/>
            <a:round/>
            <a:headEnd type="none" w="sm" len="sm"/>
            <a:tailEnd type="triangle" w="med" len="med"/>
          </a:ln>
        </p:spPr>
        <p:txBody>
          <a:bodyPr/>
          <a:lstStyle/>
          <a:p>
            <a:endParaRPr lang="en-US"/>
          </a:p>
        </p:txBody>
      </p:sp>
      <p:sp>
        <p:nvSpPr>
          <p:cNvPr id="383" name="Google Shape;383;p68"/>
          <p:cNvSpPr/>
          <p:nvPr/>
        </p:nvSpPr>
        <p:spPr>
          <a:xfrm>
            <a:off x="1972450" y="2756275"/>
            <a:ext cx="612713" cy="1384200"/>
          </a:xfrm>
          <a:custGeom>
            <a:avLst/>
            <a:gdLst/>
            <a:ahLst/>
            <a:cxnLst/>
            <a:rect l="l" t="t" r="r" b="b"/>
            <a:pathLst>
              <a:path w="26660" h="55368" extrusionOk="0">
                <a:moveTo>
                  <a:pt x="26660" y="0"/>
                </a:moveTo>
                <a:lnTo>
                  <a:pt x="26660" y="23902"/>
                </a:lnTo>
                <a:lnTo>
                  <a:pt x="0" y="39294"/>
                </a:lnTo>
                <a:lnTo>
                  <a:pt x="0" y="55368"/>
                </a:lnTo>
              </a:path>
            </a:pathLst>
          </a:custGeom>
          <a:noFill/>
          <a:ln w="19050" cap="flat" cmpd="sng">
            <a:solidFill>
              <a:srgbClr val="D5A6BD"/>
            </a:solidFill>
            <a:prstDash val="solid"/>
            <a:round/>
            <a:headEnd type="none" w="sm" len="sm"/>
            <a:tailEnd type="triangle" w="med" len="med"/>
          </a:ln>
        </p:spPr>
        <p:txBody>
          <a:bodyPr/>
          <a:lstStyle/>
          <a:p>
            <a:endParaRPr lang="en-US"/>
          </a:p>
        </p:txBody>
      </p:sp>
      <p:sp>
        <p:nvSpPr>
          <p:cNvPr id="384" name="Google Shape;384;p68"/>
          <p:cNvSpPr/>
          <p:nvPr/>
        </p:nvSpPr>
        <p:spPr>
          <a:xfrm>
            <a:off x="860550" y="2748700"/>
            <a:ext cx="2564200" cy="1369075"/>
          </a:xfrm>
          <a:custGeom>
            <a:avLst/>
            <a:gdLst/>
            <a:ahLst/>
            <a:cxnLst/>
            <a:rect l="l" t="t" r="r" b="b"/>
            <a:pathLst>
              <a:path w="102568" h="54763" extrusionOk="0">
                <a:moveTo>
                  <a:pt x="102568" y="0"/>
                </a:moveTo>
                <a:lnTo>
                  <a:pt x="102568" y="27836"/>
                </a:lnTo>
                <a:lnTo>
                  <a:pt x="0" y="44476"/>
                </a:lnTo>
                <a:lnTo>
                  <a:pt x="0" y="54763"/>
                </a:lnTo>
              </a:path>
            </a:pathLst>
          </a:custGeom>
          <a:noFill/>
          <a:ln w="19050" cap="flat" cmpd="sng">
            <a:solidFill>
              <a:srgbClr val="FFE599"/>
            </a:solidFill>
            <a:prstDash val="solid"/>
            <a:round/>
            <a:headEnd type="none" w="sm" len="sm"/>
            <a:tailEnd type="triangle" w="med" len="med"/>
          </a:ln>
        </p:spPr>
        <p:txBody>
          <a:bodyPr/>
          <a:lstStyle/>
          <a:p>
            <a:endParaRPr lang="en-US"/>
          </a:p>
        </p:txBody>
      </p:sp>
      <p:sp>
        <p:nvSpPr>
          <p:cNvPr id="385" name="Google Shape;385;p68"/>
          <p:cNvSpPr/>
          <p:nvPr/>
        </p:nvSpPr>
        <p:spPr>
          <a:xfrm>
            <a:off x="633625" y="3040828"/>
            <a:ext cx="3062700" cy="393600"/>
          </a:xfrm>
          <a:prstGeom prst="rect">
            <a:avLst/>
          </a:prstGeom>
          <a:solidFill>
            <a:srgbClr val="4A86E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Hash Function</a:t>
            </a:r>
            <a:endParaRPr sz="1400" b="0" i="0" u="none" strike="noStrike" cap="none">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69"/>
          <p:cNvSpPr txBox="1">
            <a:spLocks noGrp="1"/>
          </p:cNvSpPr>
          <p:nvPr>
            <p:ph type="title"/>
          </p:nvPr>
        </p:nvSpPr>
        <p:spPr>
          <a:xfrm>
            <a:off x="311725" y="276878"/>
            <a:ext cx="37065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700"/>
              <a:t>Review: Python Sets</a:t>
            </a:r>
            <a:endParaRPr sz="2700"/>
          </a:p>
        </p:txBody>
      </p:sp>
      <p:sp>
        <p:nvSpPr>
          <p:cNvPr id="391" name="Google Shape;391;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392" name="Google Shape;392;p69"/>
          <p:cNvSpPr txBox="1">
            <a:spLocks noGrp="1"/>
          </p:cNvSpPr>
          <p:nvPr>
            <p:ph type="body" idx="1"/>
          </p:nvPr>
        </p:nvSpPr>
        <p:spPr>
          <a:xfrm>
            <a:off x="4539700" y="254350"/>
            <a:ext cx="4210800" cy="4684200"/>
          </a:xfrm>
          <a:prstGeom prst="rect">
            <a:avLst/>
          </a:prstGeom>
          <a:noFill/>
          <a:ln>
            <a:noFill/>
          </a:ln>
        </p:spPr>
        <p:txBody>
          <a:bodyPr spcFirstLastPara="1" wrap="square" lIns="91425" tIns="91425" rIns="91425" bIns="91425" anchor="ctr" anchorCtr="0">
            <a:noAutofit/>
          </a:bodyPr>
          <a:lstStyle/>
          <a:p>
            <a:pPr marL="457200" lvl="0" indent="-311150" algn="l" rtl="0">
              <a:lnSpc>
                <a:spcPct val="115000"/>
              </a:lnSpc>
              <a:spcBef>
                <a:spcPts val="0"/>
              </a:spcBef>
              <a:spcAft>
                <a:spcPts val="0"/>
              </a:spcAft>
              <a:buSzPts val="1300"/>
              <a:buChar char="●"/>
            </a:pPr>
            <a:r>
              <a:rPr lang="en" dirty="0">
                <a:highlight>
                  <a:srgbClr val="FFFF00"/>
                </a:highlight>
              </a:rPr>
              <a:t>A </a:t>
            </a:r>
            <a:r>
              <a:rPr lang="en" b="1" i="1" dirty="0">
                <a:solidFill>
                  <a:srgbClr val="FF0000"/>
                </a:solidFill>
                <a:highlight>
                  <a:srgbClr val="FFFF00"/>
                </a:highlight>
              </a:rPr>
              <a:t>Set</a:t>
            </a:r>
            <a:r>
              <a:rPr lang="en" dirty="0">
                <a:solidFill>
                  <a:srgbClr val="FF0000"/>
                </a:solidFill>
                <a:highlight>
                  <a:srgbClr val="FFFF00"/>
                </a:highlight>
              </a:rPr>
              <a:t> </a:t>
            </a:r>
            <a:r>
              <a:rPr lang="en" dirty="0">
                <a:highlight>
                  <a:srgbClr val="FFFF00"/>
                </a:highlight>
              </a:rPr>
              <a:t>is an abstract data type that guarantees all of the elements it contains are </a:t>
            </a:r>
            <a:r>
              <a:rPr lang="en" b="1" i="1" dirty="0">
                <a:solidFill>
                  <a:srgbClr val="FF0000"/>
                </a:solidFill>
                <a:highlight>
                  <a:srgbClr val="FFFF00"/>
                </a:highlight>
              </a:rPr>
              <a:t>unique</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We learned about them last semester in Python.</a:t>
            </a:r>
            <a:endParaRPr dirty="0"/>
          </a:p>
          <a:p>
            <a:pPr marL="457200" lvl="0" indent="-311150" algn="l" rtl="0">
              <a:lnSpc>
                <a:spcPct val="115000"/>
              </a:lnSpc>
              <a:spcBef>
                <a:spcPts val="1000"/>
              </a:spcBef>
              <a:spcAft>
                <a:spcPts val="0"/>
              </a:spcAft>
              <a:buSzPts val="1300"/>
              <a:buChar char="●"/>
            </a:pPr>
            <a:r>
              <a:rPr lang="en" dirty="0"/>
              <a:t>The interface for a Set commonly includes:</a:t>
            </a:r>
            <a:endParaRPr dirty="0"/>
          </a:p>
          <a:p>
            <a:pPr marL="914400" lvl="1" indent="-304800" algn="l" rtl="0">
              <a:lnSpc>
                <a:spcPct val="115000"/>
              </a:lnSpc>
              <a:spcBef>
                <a:spcPts val="0"/>
              </a:spcBef>
              <a:spcAft>
                <a:spcPts val="0"/>
              </a:spcAft>
              <a:buSzPts val="1200"/>
              <a:buChar char="○"/>
            </a:pPr>
            <a:r>
              <a:rPr lang="en" sz="1200" b="1" i="1" dirty="0">
                <a:solidFill>
                  <a:srgbClr val="FF0000"/>
                </a:solidFill>
                <a:highlight>
                  <a:srgbClr val="FFFF00"/>
                </a:highlight>
              </a:rPr>
              <a:t>add</a:t>
            </a:r>
            <a:r>
              <a:rPr lang="en" sz="1200" dirty="0">
                <a:highlight>
                  <a:srgbClr val="FFFF00"/>
                </a:highlight>
              </a:rPr>
              <a:t> - adds a value to the set</a:t>
            </a:r>
            <a:endParaRPr sz="1200" dirty="0">
              <a:highlight>
                <a:srgbClr val="FFFF00"/>
              </a:highlight>
            </a:endParaRPr>
          </a:p>
          <a:p>
            <a:pPr marL="914400" lvl="1" indent="-304800" algn="l" rtl="0">
              <a:lnSpc>
                <a:spcPct val="115000"/>
              </a:lnSpc>
              <a:spcBef>
                <a:spcPts val="0"/>
              </a:spcBef>
              <a:spcAft>
                <a:spcPts val="0"/>
              </a:spcAft>
              <a:buSzPts val="1200"/>
              <a:buChar char="○"/>
            </a:pPr>
            <a:r>
              <a:rPr lang="en" sz="1200" b="1" i="1" dirty="0">
                <a:solidFill>
                  <a:srgbClr val="FF0000"/>
                </a:solidFill>
                <a:highlight>
                  <a:srgbClr val="FFFF00"/>
                </a:highlight>
              </a:rPr>
              <a:t>contains</a:t>
            </a:r>
            <a:r>
              <a:rPr lang="en" sz="1200" dirty="0">
                <a:highlight>
                  <a:srgbClr val="FFFF00"/>
                </a:highlight>
              </a:rPr>
              <a:t> - determines if a value is in the set</a:t>
            </a:r>
            <a:endParaRPr sz="1200" dirty="0">
              <a:highlight>
                <a:srgbClr val="FFFF00"/>
              </a:highlight>
            </a:endParaRPr>
          </a:p>
          <a:p>
            <a:pPr marL="914400" lvl="1" indent="-304800" algn="l" rtl="0">
              <a:lnSpc>
                <a:spcPct val="115000"/>
              </a:lnSpc>
              <a:spcBef>
                <a:spcPts val="0"/>
              </a:spcBef>
              <a:spcAft>
                <a:spcPts val="0"/>
              </a:spcAft>
              <a:buSzPts val="1200"/>
              <a:buChar char="○"/>
            </a:pPr>
            <a:r>
              <a:rPr lang="en" sz="1200" b="1" i="1" dirty="0">
                <a:solidFill>
                  <a:srgbClr val="FF0000"/>
                </a:solidFill>
                <a:highlight>
                  <a:srgbClr val="FFFF00"/>
                </a:highlight>
              </a:rPr>
              <a:t>remove</a:t>
            </a:r>
            <a:r>
              <a:rPr lang="en" sz="1200" dirty="0">
                <a:highlight>
                  <a:srgbClr val="FFFF00"/>
                </a:highlight>
              </a:rPr>
              <a:t> - removes a value from the set</a:t>
            </a:r>
            <a:endParaRPr sz="1200" dirty="0">
              <a:highlight>
                <a:srgbClr val="FFFF00"/>
              </a:highlight>
            </a:endParaRPr>
          </a:p>
          <a:p>
            <a:pPr marL="914400" lvl="1" indent="-304800" algn="l" rtl="0">
              <a:lnSpc>
                <a:spcPct val="115000"/>
              </a:lnSpc>
              <a:spcBef>
                <a:spcPts val="0"/>
              </a:spcBef>
              <a:spcAft>
                <a:spcPts val="0"/>
              </a:spcAft>
              <a:buSzPts val="1200"/>
              <a:buChar char="○"/>
            </a:pPr>
            <a:r>
              <a:rPr lang="en" sz="1200" b="1" i="1" dirty="0">
                <a:solidFill>
                  <a:srgbClr val="FF0000"/>
                </a:solidFill>
                <a:highlight>
                  <a:srgbClr val="FFFF00"/>
                </a:highlight>
              </a:rPr>
              <a:t>size</a:t>
            </a:r>
            <a:r>
              <a:rPr lang="en" sz="1200" dirty="0">
                <a:highlight>
                  <a:srgbClr val="FFFF00"/>
                </a:highlight>
              </a:rPr>
              <a:t> - returns the length of the set</a:t>
            </a:r>
            <a:endParaRPr sz="1200" dirty="0">
              <a:highlight>
                <a:srgbClr val="FFFF00"/>
              </a:highlight>
            </a:endParaRPr>
          </a:p>
          <a:p>
            <a:pPr marL="914400" lvl="0" indent="0" algn="l" rtl="0">
              <a:lnSpc>
                <a:spcPct val="115000"/>
              </a:lnSpc>
              <a:spcBef>
                <a:spcPts val="0"/>
              </a:spcBef>
              <a:spcAft>
                <a:spcPts val="0"/>
              </a:spcAft>
              <a:buNone/>
            </a:pPr>
            <a:endParaRPr sz="1200" dirty="0"/>
          </a:p>
          <a:p>
            <a:pPr marL="457200" lvl="0" indent="-304800" algn="l" rtl="0">
              <a:lnSpc>
                <a:spcPct val="115000"/>
              </a:lnSpc>
              <a:spcBef>
                <a:spcPts val="0"/>
              </a:spcBef>
              <a:spcAft>
                <a:spcPts val="0"/>
              </a:spcAft>
              <a:buSzPts val="1200"/>
              <a:buChar char="●"/>
            </a:pPr>
            <a:r>
              <a:rPr lang="en" sz="1200" dirty="0"/>
              <a:t>Take a moment and try to remember some of the problems we used set's to solve last semester.</a:t>
            </a:r>
            <a:endParaRPr sz="1200" dirty="0"/>
          </a:p>
          <a:p>
            <a:pPr marL="457200" lvl="0" indent="-304800" algn="l" rtl="0">
              <a:lnSpc>
                <a:spcPct val="115000"/>
              </a:lnSpc>
              <a:spcBef>
                <a:spcPts val="1000"/>
              </a:spcBef>
              <a:spcAft>
                <a:spcPts val="0"/>
              </a:spcAft>
              <a:buSzPts val="1200"/>
              <a:buChar char="●"/>
            </a:pPr>
            <a:r>
              <a:rPr lang="en" sz="1200" dirty="0">
                <a:highlight>
                  <a:srgbClr val="FFFF00"/>
                </a:highlight>
              </a:rPr>
              <a:t>Python's set uses a specific implantation that makes ordering </a:t>
            </a:r>
            <a:r>
              <a:rPr lang="en" sz="1200" dirty="0"/>
              <a:t>impossible.</a:t>
            </a:r>
            <a:endParaRPr sz="1200" dirty="0"/>
          </a:p>
          <a:p>
            <a:pPr marL="914400" lvl="1" indent="-304800" algn="l" rtl="0">
              <a:lnSpc>
                <a:spcPct val="115000"/>
              </a:lnSpc>
              <a:spcBef>
                <a:spcPts val="0"/>
              </a:spcBef>
              <a:spcAft>
                <a:spcPts val="0"/>
              </a:spcAft>
              <a:buSzPts val="1200"/>
              <a:buChar char="○"/>
            </a:pPr>
            <a:r>
              <a:rPr lang="en" sz="1200" dirty="0"/>
              <a:t>We'll make one of those too.</a:t>
            </a:r>
            <a:endParaRPr sz="1200" dirty="0"/>
          </a:p>
          <a:p>
            <a:pPr marL="914400" lvl="1" indent="-304800" algn="l" rtl="0">
              <a:lnSpc>
                <a:spcPct val="115000"/>
              </a:lnSpc>
              <a:spcBef>
                <a:spcPts val="0"/>
              </a:spcBef>
              <a:spcAft>
                <a:spcPts val="0"/>
              </a:spcAft>
              <a:buSzPts val="1200"/>
              <a:buChar char="○"/>
            </a:pPr>
            <a:r>
              <a:rPr lang="en" sz="1200" dirty="0"/>
              <a:t>However, </a:t>
            </a:r>
            <a:r>
              <a:rPr lang="en" sz="1200" dirty="0">
                <a:highlight>
                  <a:srgbClr val="FFFF00"/>
                </a:highlight>
              </a:rPr>
              <a:t>that's not a requirement for sets </a:t>
            </a:r>
            <a:r>
              <a:rPr lang="en" sz="1200" dirty="0"/>
              <a:t>so we'll start with an implementation that is orderable.</a:t>
            </a:r>
            <a:endParaRPr sz="1200" dirty="0"/>
          </a:p>
          <a:p>
            <a:pPr marL="0" lvl="0" indent="0" algn="l" rtl="0">
              <a:lnSpc>
                <a:spcPct val="115000"/>
              </a:lnSpc>
              <a:spcBef>
                <a:spcPts val="0"/>
              </a:spcBef>
              <a:spcAft>
                <a:spcPts val="0"/>
              </a:spcAft>
              <a:buNone/>
            </a:pPr>
            <a:endParaRPr dirty="0"/>
          </a:p>
        </p:txBody>
      </p:sp>
      <p:sp>
        <p:nvSpPr>
          <p:cNvPr id="393" name="Google Shape;393;p69"/>
          <p:cNvSpPr txBox="1"/>
          <p:nvPr/>
        </p:nvSpPr>
        <p:spPr>
          <a:xfrm>
            <a:off x="237655" y="1809274"/>
            <a:ext cx="3870900" cy="2493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a_set</a:t>
            </a:r>
            <a:r>
              <a:rPr lang="en" sz="1000" dirty="0">
                <a:latin typeface="Consolas"/>
                <a:ea typeface="Consolas"/>
                <a:cs typeface="Consolas"/>
                <a:sym typeface="Consolas"/>
              </a:rPr>
              <a:t> = {</a:t>
            </a:r>
            <a:r>
              <a:rPr lang="en" sz="1000" dirty="0">
                <a:solidFill>
                  <a:srgbClr val="098658"/>
                </a:solidFill>
                <a:latin typeface="Consolas"/>
                <a:ea typeface="Consolas"/>
                <a:cs typeface="Consolas"/>
                <a:sym typeface="Consolas"/>
              </a:rPr>
              <a:t>1</a:t>
            </a:r>
            <a:r>
              <a:rPr lang="en" sz="1000" dirty="0">
                <a:latin typeface="Consolas"/>
                <a:ea typeface="Consolas"/>
                <a:cs typeface="Consolas"/>
                <a:sym typeface="Consolas"/>
              </a:rPr>
              <a:t>, </a:t>
            </a:r>
            <a:r>
              <a:rPr lang="en" sz="1000" dirty="0">
                <a:solidFill>
                  <a:srgbClr val="098658"/>
                </a:solidFill>
                <a:latin typeface="Consolas"/>
                <a:ea typeface="Consolas"/>
                <a:cs typeface="Consolas"/>
                <a:sym typeface="Consolas"/>
              </a:rPr>
              <a:t>2</a:t>
            </a:r>
            <a:r>
              <a:rPr lang="en" sz="1000" dirty="0">
                <a:latin typeface="Consolas"/>
                <a:ea typeface="Consolas"/>
                <a:cs typeface="Consolas"/>
                <a:sym typeface="Consolas"/>
              </a:rPr>
              <a:t>, </a:t>
            </a:r>
            <a:r>
              <a:rPr lang="en" sz="1000" dirty="0">
                <a:solidFill>
                  <a:srgbClr val="098658"/>
                </a:solidFill>
                <a:latin typeface="Consolas"/>
                <a:ea typeface="Consolas"/>
                <a:cs typeface="Consolas"/>
                <a:sym typeface="Consolas"/>
              </a:rPr>
              <a:t>3</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2</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a_set</a:t>
            </a:r>
            <a:r>
              <a:rPr lang="en" sz="1000" dirty="0">
                <a:latin typeface="Consolas"/>
                <a:ea typeface="Consolas"/>
                <a:cs typeface="Consolas"/>
                <a:sym typeface="Consolas"/>
              </a:rPr>
              <a:t>.</a:t>
            </a:r>
            <a:r>
              <a:rPr lang="en" sz="1000" dirty="0">
                <a:solidFill>
                  <a:srgbClr val="795E26"/>
                </a:solidFill>
                <a:latin typeface="Consolas"/>
                <a:ea typeface="Consolas"/>
                <a:cs typeface="Consolas"/>
                <a:sym typeface="Consolas"/>
              </a:rPr>
              <a:t>add</a:t>
            </a:r>
            <a:r>
              <a:rPr lang="en" sz="1000" dirty="0">
                <a:latin typeface="Consolas"/>
                <a:ea typeface="Consolas"/>
                <a:cs typeface="Consolas"/>
                <a:sym typeface="Consolas"/>
              </a:rPr>
              <a:t>(</a:t>
            </a:r>
            <a:r>
              <a:rPr lang="en" sz="1000" dirty="0">
                <a:solidFill>
                  <a:srgbClr val="098658"/>
                </a:solidFill>
                <a:latin typeface="Consolas"/>
                <a:ea typeface="Consolas"/>
                <a:cs typeface="Consolas"/>
                <a:sym typeface="Consolas"/>
              </a:rPr>
              <a:t>4</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3</a:t>
            </a:r>
            <a:endParaRPr sz="1000" dirty="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4</a:t>
            </a:r>
            <a:r>
              <a:rPr lang="en" sz="1000" dirty="0">
                <a:latin typeface="Consolas"/>
                <a:ea typeface="Consolas"/>
                <a:cs typeface="Consolas"/>
                <a:sym typeface="Consolas"/>
              </a:rPr>
              <a:t>   </a:t>
            </a:r>
            <a:r>
              <a:rPr lang="en" sz="1000" dirty="0">
                <a:solidFill>
                  <a:srgbClr val="AF00DB"/>
                </a:solidFill>
                <a:latin typeface="Consolas"/>
                <a:ea typeface="Consolas"/>
                <a:cs typeface="Consolas"/>
                <a:sym typeface="Consolas"/>
              </a:rPr>
              <a:t>if</a:t>
            </a:r>
            <a:r>
              <a:rPr lang="en" sz="1000" dirty="0">
                <a:latin typeface="Consolas"/>
                <a:ea typeface="Consolas"/>
                <a:cs typeface="Consolas"/>
                <a:sym typeface="Consolas"/>
              </a:rPr>
              <a:t> </a:t>
            </a:r>
            <a:r>
              <a:rPr lang="en" sz="1000" dirty="0">
                <a:solidFill>
                  <a:srgbClr val="098658"/>
                </a:solidFill>
                <a:latin typeface="Consolas"/>
                <a:ea typeface="Consolas"/>
                <a:cs typeface="Consolas"/>
                <a:sym typeface="Consolas"/>
              </a:rPr>
              <a:t>3</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in</a:t>
            </a:r>
            <a:r>
              <a:rPr lang="en" sz="1000" dirty="0">
                <a:latin typeface="Consolas"/>
                <a:ea typeface="Consolas"/>
                <a:cs typeface="Consolas"/>
                <a:sym typeface="Consolas"/>
              </a:rPr>
              <a:t> a_set: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5</a:t>
            </a:r>
            <a:r>
              <a:rPr lang="en" sz="1000" dirty="0">
                <a:latin typeface="Consolas"/>
                <a:ea typeface="Consolas"/>
                <a:cs typeface="Consolas"/>
                <a:sym typeface="Consolas"/>
              </a:rPr>
              <a:t>       </a:t>
            </a:r>
            <a:r>
              <a:rPr lang="en" sz="1000" dirty="0">
                <a:solidFill>
                  <a:srgbClr val="795E26"/>
                </a:solidFill>
                <a:latin typeface="Consolas"/>
                <a:ea typeface="Consolas"/>
                <a:cs typeface="Consolas"/>
                <a:sym typeface="Consolas"/>
              </a:rPr>
              <a:t>print</a:t>
            </a:r>
            <a:r>
              <a:rPr lang="en" sz="1000" dirty="0">
                <a:latin typeface="Consolas"/>
                <a:ea typeface="Consolas"/>
                <a:cs typeface="Consolas"/>
                <a:sym typeface="Consolas"/>
              </a:rPr>
              <a:t>(</a:t>
            </a:r>
            <a:r>
              <a:rPr lang="en" sz="1000" dirty="0">
                <a:solidFill>
                  <a:srgbClr val="A31515"/>
                </a:solidFill>
                <a:latin typeface="Consolas"/>
                <a:ea typeface="Consolas"/>
                <a:cs typeface="Consolas"/>
                <a:sym typeface="Consolas"/>
              </a:rPr>
              <a:t>"3 is in the set!"</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6</a:t>
            </a:r>
            <a:r>
              <a:rPr lang="en" sz="1000" dirty="0">
                <a:latin typeface="Consolas"/>
                <a:ea typeface="Consolas"/>
                <a:cs typeface="Consolas"/>
                <a:sym typeface="Consolas"/>
              </a:rPr>
              <a:t>   </a:t>
            </a:r>
            <a:r>
              <a:rPr lang="en" sz="1000" dirty="0">
                <a:solidFill>
                  <a:srgbClr val="AF00DB"/>
                </a:solidFill>
                <a:latin typeface="Consolas"/>
                <a:ea typeface="Consolas"/>
                <a:cs typeface="Consolas"/>
                <a:sym typeface="Consolas"/>
              </a:rPr>
              <a:t>else</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7</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a_set</a:t>
            </a:r>
            <a:r>
              <a:rPr lang="en" sz="1000" dirty="0">
                <a:latin typeface="Consolas"/>
                <a:ea typeface="Consolas"/>
                <a:cs typeface="Consolas"/>
                <a:sym typeface="Consolas"/>
              </a:rPr>
              <a:t>.</a:t>
            </a:r>
            <a:r>
              <a:rPr lang="en" sz="1000" dirty="0">
                <a:solidFill>
                  <a:srgbClr val="795E26"/>
                </a:solidFill>
                <a:latin typeface="Consolas"/>
                <a:ea typeface="Consolas"/>
                <a:cs typeface="Consolas"/>
                <a:sym typeface="Consolas"/>
              </a:rPr>
              <a:t>add</a:t>
            </a:r>
            <a:r>
              <a:rPr lang="en" sz="1000" dirty="0">
                <a:latin typeface="Consolas"/>
                <a:ea typeface="Consolas"/>
                <a:cs typeface="Consolas"/>
                <a:sym typeface="Consolas"/>
              </a:rPr>
              <a:t>(</a:t>
            </a:r>
            <a:r>
              <a:rPr lang="en" sz="1000" dirty="0">
                <a:solidFill>
                  <a:srgbClr val="098658"/>
                </a:solidFill>
                <a:latin typeface="Consolas"/>
                <a:ea typeface="Consolas"/>
                <a:cs typeface="Consolas"/>
                <a:sym typeface="Consolas"/>
              </a:rPr>
              <a:t>3</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8</a:t>
            </a:r>
            <a:endParaRPr sz="1000" dirty="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9</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a_set</a:t>
            </a:r>
            <a:r>
              <a:rPr lang="en" sz="1000" dirty="0">
                <a:latin typeface="Consolas"/>
                <a:ea typeface="Consolas"/>
                <a:cs typeface="Consolas"/>
                <a:sym typeface="Consolas"/>
              </a:rPr>
              <a:t>.</a:t>
            </a:r>
            <a:r>
              <a:rPr lang="en" sz="1000" dirty="0">
                <a:solidFill>
                  <a:srgbClr val="795E26"/>
                </a:solidFill>
                <a:latin typeface="Consolas"/>
                <a:ea typeface="Consolas"/>
                <a:cs typeface="Consolas"/>
                <a:sym typeface="Consolas"/>
              </a:rPr>
              <a:t>add</a:t>
            </a:r>
            <a:r>
              <a:rPr lang="en" sz="1000" dirty="0">
                <a:latin typeface="Consolas"/>
                <a:ea typeface="Consolas"/>
                <a:cs typeface="Consolas"/>
                <a:sym typeface="Consolas"/>
              </a:rPr>
              <a:t>(</a:t>
            </a:r>
            <a:r>
              <a:rPr lang="en" sz="1000" dirty="0">
                <a:solidFill>
                  <a:srgbClr val="098658"/>
                </a:solidFill>
                <a:latin typeface="Consolas"/>
                <a:ea typeface="Consolas"/>
                <a:cs typeface="Consolas"/>
                <a:sym typeface="Consolas"/>
              </a:rPr>
              <a:t>2</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10</a:t>
            </a:r>
            <a:endParaRPr sz="1000" dirty="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11</a:t>
            </a:r>
            <a:r>
              <a:rPr lang="en" sz="1000" dirty="0">
                <a:latin typeface="Consolas"/>
                <a:ea typeface="Consolas"/>
                <a:cs typeface="Consolas"/>
                <a:sym typeface="Consolas"/>
              </a:rPr>
              <a:t>  </a:t>
            </a:r>
            <a:r>
              <a:rPr lang="en" sz="1000" dirty="0">
                <a:solidFill>
                  <a:srgbClr val="AF00DB"/>
                </a:solidFill>
                <a:latin typeface="Consolas"/>
                <a:ea typeface="Consolas"/>
                <a:cs typeface="Consolas"/>
                <a:sym typeface="Consolas"/>
              </a:rPr>
              <a:t>for</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value</a:t>
            </a:r>
            <a:r>
              <a:rPr lang="en" sz="1000" dirty="0">
                <a:latin typeface="Consolas"/>
                <a:ea typeface="Consolas"/>
                <a:cs typeface="Consolas"/>
                <a:sym typeface="Consolas"/>
              </a:rPr>
              <a:t> </a:t>
            </a:r>
            <a:r>
              <a:rPr lang="en" sz="1000" dirty="0">
                <a:solidFill>
                  <a:srgbClr val="AF00DB"/>
                </a:solidFill>
                <a:latin typeface="Consolas"/>
                <a:ea typeface="Consolas"/>
                <a:cs typeface="Consolas"/>
                <a:sym typeface="Consolas"/>
              </a:rPr>
              <a:t>in</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a_set</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12</a:t>
            </a:r>
            <a:r>
              <a:rPr lang="en" sz="1000" dirty="0">
                <a:latin typeface="Consolas"/>
                <a:ea typeface="Consolas"/>
                <a:cs typeface="Consolas"/>
                <a:sym typeface="Consolas"/>
              </a:rPr>
              <a:t>      </a:t>
            </a:r>
            <a:r>
              <a:rPr lang="en" sz="1000" dirty="0">
                <a:solidFill>
                  <a:srgbClr val="795E26"/>
                </a:solidFill>
                <a:latin typeface="Consolas"/>
                <a:ea typeface="Consolas"/>
                <a:cs typeface="Consolas"/>
                <a:sym typeface="Consolas"/>
              </a:rPr>
              <a:t>print</a:t>
            </a:r>
            <a:r>
              <a:rPr lang="en" sz="1000" dirty="0">
                <a:latin typeface="Consolas"/>
                <a:ea typeface="Consolas"/>
                <a:cs typeface="Consolas"/>
                <a:sym typeface="Consolas"/>
              </a:rPr>
              <a:t>(</a:t>
            </a:r>
            <a:r>
              <a:rPr lang="en" sz="1000" dirty="0">
                <a:solidFill>
                  <a:srgbClr val="001080"/>
                </a:solidFill>
                <a:latin typeface="Consolas"/>
                <a:ea typeface="Consolas"/>
                <a:cs typeface="Consolas"/>
                <a:sym typeface="Consolas"/>
              </a:rPr>
              <a:t>value</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13</a:t>
            </a:r>
            <a:endParaRPr sz="1000" dirty="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14</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b_set</a:t>
            </a:r>
            <a:r>
              <a:rPr lang="en" sz="1000" dirty="0">
                <a:latin typeface="Consolas"/>
                <a:ea typeface="Consolas"/>
                <a:cs typeface="Consolas"/>
                <a:sym typeface="Consolas"/>
              </a:rPr>
              <a:t> = </a:t>
            </a:r>
            <a:r>
              <a:rPr lang="en" sz="1000" dirty="0">
                <a:solidFill>
                  <a:srgbClr val="267F99"/>
                </a:solidFill>
                <a:latin typeface="Consolas"/>
                <a:ea typeface="Consolas"/>
                <a:cs typeface="Consolas"/>
                <a:sym typeface="Consolas"/>
              </a:rPr>
              <a:t>set</a:t>
            </a:r>
            <a:r>
              <a:rPr lang="en" sz="1000" dirty="0">
                <a:latin typeface="Consolas"/>
                <a:ea typeface="Consolas"/>
                <a:cs typeface="Consolas"/>
                <a:sym typeface="Consolas"/>
              </a:rPr>
              <a:t>(</a:t>
            </a:r>
            <a:r>
              <a:rPr lang="en" sz="1000" dirty="0">
                <a:solidFill>
                  <a:srgbClr val="A31515"/>
                </a:solidFill>
                <a:latin typeface="Consolas"/>
                <a:ea typeface="Consolas"/>
                <a:cs typeface="Consolas"/>
                <a:sym typeface="Consolas"/>
              </a:rPr>
              <a:t>"abcdcba"</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15</a:t>
            </a:r>
            <a:r>
              <a:rPr lang="en" sz="1000" dirty="0">
                <a:latin typeface="Consolas"/>
                <a:ea typeface="Consolas"/>
                <a:cs typeface="Consolas"/>
                <a:sym typeface="Consolas"/>
              </a:rPr>
              <a:t>  </a:t>
            </a:r>
            <a:r>
              <a:rPr lang="en" sz="1000" dirty="0">
                <a:solidFill>
                  <a:srgbClr val="795E26"/>
                </a:solidFill>
                <a:latin typeface="Consolas"/>
                <a:ea typeface="Consolas"/>
                <a:cs typeface="Consolas"/>
                <a:sym typeface="Consolas"/>
              </a:rPr>
              <a:t>print</a:t>
            </a:r>
            <a:r>
              <a:rPr lang="en" sz="1000" dirty="0">
                <a:latin typeface="Consolas"/>
                <a:ea typeface="Consolas"/>
                <a:cs typeface="Consolas"/>
                <a:sym typeface="Consolas"/>
              </a:rPr>
              <a:t>(</a:t>
            </a:r>
            <a:r>
              <a:rPr lang="en" sz="1000" dirty="0">
                <a:solidFill>
                  <a:srgbClr val="001080"/>
                </a:solidFill>
                <a:latin typeface="Consolas"/>
                <a:ea typeface="Consolas"/>
                <a:cs typeface="Consolas"/>
                <a:sym typeface="Consolas"/>
              </a:rPr>
              <a:t>b_set</a:t>
            </a:r>
            <a:r>
              <a:rPr lang="en" sz="1000" dirty="0">
                <a:latin typeface="Consolas"/>
                <a:ea typeface="Consolas"/>
                <a:cs typeface="Consolas"/>
                <a:sym typeface="Consolas"/>
              </a:rPr>
              <a:t>) </a:t>
            </a:r>
            <a:r>
              <a:rPr lang="en" sz="1000" dirty="0">
                <a:solidFill>
                  <a:srgbClr val="008000"/>
                </a:solidFill>
                <a:latin typeface="Consolas"/>
                <a:ea typeface="Consolas"/>
                <a:cs typeface="Consolas"/>
                <a:sym typeface="Consolas"/>
              </a:rPr>
              <a:t># {'c', 'd', 'b', 'a'}</a:t>
            </a:r>
            <a:endParaRPr sz="1000" dirty="0">
              <a:solidFill>
                <a:srgbClr val="999999"/>
              </a:solidFill>
              <a:latin typeface="Consolas"/>
              <a:ea typeface="Consolas"/>
              <a:cs typeface="Consolas"/>
              <a:sym typeface="Consolas"/>
            </a:endParaRPr>
          </a:p>
        </p:txBody>
      </p:sp>
      <p:sp>
        <p:nvSpPr>
          <p:cNvPr id="394" name="Google Shape;394;p69"/>
          <p:cNvSpPr txBox="1">
            <a:spLocks noGrp="1"/>
          </p:cNvSpPr>
          <p:nvPr>
            <p:ph type="body" idx="3"/>
          </p:nvPr>
        </p:nvSpPr>
        <p:spPr>
          <a:xfrm>
            <a:off x="237655" y="4404410"/>
            <a:ext cx="3870900" cy="49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a:t>Sets in Java will be used similarly but the notation (syntax) will be substantially different.</a:t>
            </a:r>
            <a:endParaRPr sz="1100">
              <a:solidFill>
                <a:srgbClr val="000000"/>
              </a:solidFill>
              <a:latin typeface="Arial"/>
              <a:ea typeface="Arial"/>
              <a:cs typeface="Arial"/>
              <a:sym typeface="Arial"/>
            </a:endParaRPr>
          </a:p>
        </p:txBody>
      </p:sp>
      <p:sp>
        <p:nvSpPr>
          <p:cNvPr id="395" name="Google Shape;395;p69"/>
          <p:cNvSpPr txBox="1">
            <a:spLocks noGrp="1"/>
          </p:cNvSpPr>
          <p:nvPr>
            <p:ph type="body" idx="3"/>
          </p:nvPr>
        </p:nvSpPr>
        <p:spPr>
          <a:xfrm>
            <a:off x="237650" y="1214102"/>
            <a:ext cx="3870900" cy="49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a:t>Below is a quick review of how we used </a:t>
            </a:r>
            <a:r>
              <a:rPr lang="en" sz="1100" b="1" i="1">
                <a:solidFill>
                  <a:srgbClr val="FF0000"/>
                </a:solidFill>
              </a:rPr>
              <a:t>sets</a:t>
            </a:r>
            <a:r>
              <a:rPr lang="en" sz="1100"/>
              <a:t> in Python.</a:t>
            </a:r>
            <a:endParaRPr sz="11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7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Set Interface</a:t>
            </a:r>
            <a:endParaRPr/>
          </a:p>
        </p:txBody>
      </p:sp>
      <p:sp>
        <p:nvSpPr>
          <p:cNvPr id="401" name="Google Shape;401;p7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Before we create a specific implementation, we should define the ADT operations using an interface. This way, all implementations can be used interchangeably.</a:t>
            </a:r>
            <a:endParaRPr/>
          </a:p>
        </p:txBody>
      </p:sp>
      <p:sp>
        <p:nvSpPr>
          <p:cNvPr id="402" name="Google Shape;402;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403" name="Google Shape;403;p70"/>
          <p:cNvSpPr txBox="1">
            <a:spLocks noGrp="1"/>
          </p:cNvSpPr>
          <p:nvPr>
            <p:ph type="body" idx="2"/>
          </p:nvPr>
        </p:nvSpPr>
        <p:spPr>
          <a:xfrm>
            <a:off x="3611750" y="1751525"/>
            <a:ext cx="5329500" cy="192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Start by creating a new </a:t>
            </a:r>
            <a:r>
              <a:rPr lang="en" dirty="0">
                <a:solidFill>
                  <a:srgbClr val="FF0000"/>
                </a:solidFill>
                <a:latin typeface="Courier New"/>
                <a:ea typeface="Courier New"/>
                <a:cs typeface="Courier New"/>
                <a:sym typeface="Courier New"/>
              </a:rPr>
              <a:t>sets</a:t>
            </a:r>
            <a:r>
              <a:rPr lang="en" dirty="0"/>
              <a:t> package in this unit's repository which we'll use for all the set activities.</a:t>
            </a:r>
            <a:endParaRPr dirty="0"/>
          </a:p>
          <a:p>
            <a:pPr marL="457200" lvl="0" indent="-311150" algn="l" rtl="0">
              <a:spcBef>
                <a:spcPts val="1000"/>
              </a:spcBef>
              <a:spcAft>
                <a:spcPts val="0"/>
              </a:spcAft>
              <a:buSzPts val="1300"/>
              <a:buChar char="●"/>
            </a:pPr>
            <a:r>
              <a:rPr lang="en" dirty="0"/>
              <a:t>Using the UML on the left, create a </a:t>
            </a:r>
            <a:r>
              <a:rPr lang="en" dirty="0">
                <a:solidFill>
                  <a:srgbClr val="FF0000"/>
                </a:solidFill>
                <a:latin typeface="Courier New"/>
                <a:ea typeface="Courier New"/>
                <a:cs typeface="Courier New"/>
                <a:sym typeface="Courier New"/>
              </a:rPr>
              <a:t>Set</a:t>
            </a:r>
            <a:r>
              <a:rPr lang="en" dirty="0"/>
              <a:t> interface.</a:t>
            </a:r>
            <a:endParaRPr dirty="0"/>
          </a:p>
          <a:p>
            <a:pPr marL="457200" lvl="0" indent="-311150" algn="l" rtl="0">
              <a:spcBef>
                <a:spcPts val="1000"/>
              </a:spcBef>
              <a:spcAft>
                <a:spcPts val="0"/>
              </a:spcAft>
              <a:buSzPts val="1300"/>
              <a:buChar char="●"/>
            </a:pPr>
            <a:r>
              <a:rPr lang="en" dirty="0"/>
              <a:t>Since we know we'll want to use it with lots of types, go ahead and make it generic from the start.</a:t>
            </a:r>
            <a:endParaRPr dirty="0"/>
          </a:p>
          <a:p>
            <a:pPr marL="457200" lvl="0" indent="-311150" algn="l" rtl="0">
              <a:spcBef>
                <a:spcPts val="1000"/>
              </a:spcBef>
              <a:spcAft>
                <a:spcPts val="1000"/>
              </a:spcAft>
              <a:buSzPts val="1300"/>
              <a:buChar char="●"/>
            </a:pPr>
            <a:r>
              <a:rPr lang="en" dirty="0"/>
              <a:t>Ensure there are no errors by checking your problems tab.</a:t>
            </a:r>
            <a:endParaRPr dirty="0"/>
          </a:p>
        </p:txBody>
      </p:sp>
      <p:sp>
        <p:nvSpPr>
          <p:cNvPr id="404" name="Google Shape;404;p7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a:t>
            </a:r>
            <a:endParaRPr/>
          </a:p>
        </p:txBody>
      </p:sp>
      <p:pic>
        <p:nvPicPr>
          <p:cNvPr id="405" name="Google Shape;405;p70"/>
          <p:cNvPicPr preferRelativeResize="0"/>
          <p:nvPr/>
        </p:nvPicPr>
        <p:blipFill>
          <a:blip r:embed="rId3">
            <a:alphaModFix/>
          </a:blip>
          <a:stretch>
            <a:fillRect/>
          </a:stretch>
        </p:blipFill>
        <p:spPr>
          <a:xfrm>
            <a:off x="152400" y="1598325"/>
            <a:ext cx="3306950" cy="21960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71"/>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One common implementation for a </a:t>
            </a:r>
            <a:r>
              <a:rPr lang="en" dirty="0">
                <a:solidFill>
                  <a:srgbClr val="FF0000"/>
                </a:solidFill>
                <a:highlight>
                  <a:srgbClr val="FFFF00"/>
                </a:highlight>
                <a:latin typeface="Courier New"/>
                <a:ea typeface="Courier New"/>
                <a:cs typeface="Courier New"/>
                <a:sym typeface="Courier New"/>
              </a:rPr>
              <a:t>Set</a:t>
            </a:r>
            <a:r>
              <a:rPr lang="en" dirty="0">
                <a:highlight>
                  <a:srgbClr val="FFFF00"/>
                </a:highlight>
              </a:rPr>
              <a:t> is using a Binary Tree</a:t>
            </a:r>
            <a:r>
              <a:rPr lang="en" dirty="0"/>
              <a:t>. It's relatively efficient and allows the items to be ordered. It's also convenient since we wrote a </a:t>
            </a:r>
            <a:r>
              <a:rPr lang="en" dirty="0">
                <a:solidFill>
                  <a:srgbClr val="FF0000"/>
                </a:solidFill>
                <a:highlight>
                  <a:srgbClr val="FFFF00"/>
                </a:highlight>
                <a:latin typeface="Courier New"/>
                <a:ea typeface="Courier New"/>
                <a:cs typeface="Courier New"/>
                <a:sym typeface="Courier New"/>
              </a:rPr>
              <a:t>BinarySearchTree</a:t>
            </a:r>
            <a:r>
              <a:rPr lang="en" dirty="0"/>
              <a:t> implementation last unit.</a:t>
            </a:r>
            <a:endParaRPr dirty="0"/>
          </a:p>
        </p:txBody>
      </p:sp>
      <p:sp>
        <p:nvSpPr>
          <p:cNvPr id="411" name="Google Shape;411;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412" name="Google Shape;412;p71"/>
          <p:cNvSpPr txBox="1">
            <a:spLocks noGrp="1"/>
          </p:cNvSpPr>
          <p:nvPr>
            <p:ph type="body" idx="2"/>
          </p:nvPr>
        </p:nvSpPr>
        <p:spPr>
          <a:xfrm>
            <a:off x="3574625" y="1801175"/>
            <a:ext cx="5366400" cy="264454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Start by creating a new class, </a:t>
            </a:r>
            <a:r>
              <a:rPr lang="en" dirty="0">
                <a:solidFill>
                  <a:srgbClr val="FF0000"/>
                </a:solidFill>
                <a:latin typeface="Courier New"/>
                <a:ea typeface="Courier New"/>
                <a:cs typeface="Courier New"/>
                <a:sym typeface="Courier New"/>
              </a:rPr>
              <a:t>TreeSet</a:t>
            </a:r>
            <a:r>
              <a:rPr lang="en" dirty="0"/>
              <a:t>, that implements the </a:t>
            </a:r>
            <a:r>
              <a:rPr lang="en" dirty="0">
                <a:latin typeface="Courier New"/>
                <a:ea typeface="Courier New"/>
                <a:cs typeface="Courier New"/>
                <a:sym typeface="Courier New"/>
              </a:rPr>
              <a:t>Set</a:t>
            </a:r>
            <a:r>
              <a:rPr lang="en" dirty="0"/>
              <a:t> interface.</a:t>
            </a:r>
            <a:endParaRPr dirty="0"/>
          </a:p>
          <a:p>
            <a:pPr marL="914400" lvl="1" indent="-298450" algn="l" rtl="0">
              <a:spcBef>
                <a:spcPts val="0"/>
              </a:spcBef>
              <a:spcAft>
                <a:spcPts val="0"/>
              </a:spcAft>
              <a:buSzPts val="1100"/>
              <a:buChar char="○"/>
            </a:pPr>
            <a:r>
              <a:rPr lang="en" dirty="0"/>
              <a:t>Instead of an </a:t>
            </a:r>
            <a:r>
              <a:rPr lang="en" dirty="0">
                <a:latin typeface="Courier New"/>
                <a:ea typeface="Courier New"/>
                <a:cs typeface="Courier New"/>
                <a:sym typeface="Courier New"/>
              </a:rPr>
              <a:t>E</a:t>
            </a:r>
            <a:r>
              <a:rPr lang="en" dirty="0"/>
              <a:t> the generic identifier for </a:t>
            </a:r>
            <a:r>
              <a:rPr lang="en" dirty="0">
                <a:latin typeface="Courier New"/>
                <a:ea typeface="Courier New"/>
                <a:cs typeface="Courier New"/>
                <a:sym typeface="Courier New"/>
              </a:rPr>
              <a:t>TreeSet</a:t>
            </a:r>
            <a:r>
              <a:rPr lang="en" dirty="0"/>
              <a:t> should be</a:t>
            </a:r>
            <a:endParaRPr dirty="0"/>
          </a:p>
          <a:p>
            <a:pPr marL="914400" lvl="0" indent="0" algn="l" rtl="0">
              <a:spcBef>
                <a:spcPts val="0"/>
              </a:spcBef>
              <a:spcAft>
                <a:spcPts val="0"/>
              </a:spcAft>
              <a:buNone/>
            </a:pPr>
            <a:r>
              <a:rPr lang="en" sz="1100" dirty="0">
                <a:solidFill>
                  <a:srgbClr val="FF0000"/>
                </a:solidFill>
                <a:highlight>
                  <a:srgbClr val="FFFF00"/>
                </a:highlight>
                <a:latin typeface="Courier New"/>
                <a:ea typeface="Courier New"/>
                <a:cs typeface="Courier New"/>
                <a:sym typeface="Courier New"/>
              </a:rPr>
              <a:t>E extends Comparable&lt;E&gt;</a:t>
            </a:r>
            <a:endParaRPr dirty="0">
              <a:solidFill>
                <a:srgbClr val="FF0000"/>
              </a:solidFill>
              <a:highlight>
                <a:srgbClr val="FFFF00"/>
              </a:highlight>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Add a </a:t>
            </a:r>
            <a:r>
              <a:rPr lang="en" b="1" i="1" dirty="0">
                <a:solidFill>
                  <a:srgbClr val="FF0000"/>
                </a:solidFill>
              </a:rPr>
              <a:t>constructor</a:t>
            </a:r>
            <a:r>
              <a:rPr lang="en" dirty="0"/>
              <a:t> that creates an empty </a:t>
            </a:r>
            <a:r>
              <a:rPr lang="en" dirty="0">
                <a:latin typeface="Courier New"/>
                <a:ea typeface="Courier New"/>
                <a:cs typeface="Courier New"/>
                <a:sym typeface="Courier New"/>
              </a:rPr>
              <a:t>BinarySearchTree</a:t>
            </a:r>
            <a:r>
              <a:rPr lang="en" dirty="0"/>
              <a:t> for the </a:t>
            </a:r>
            <a:r>
              <a:rPr lang="en" dirty="0">
                <a:solidFill>
                  <a:srgbClr val="FF0000"/>
                </a:solidFill>
                <a:latin typeface="Courier New"/>
                <a:ea typeface="Courier New"/>
                <a:cs typeface="Courier New"/>
                <a:sym typeface="Courier New"/>
              </a:rPr>
              <a:t>tree</a:t>
            </a:r>
            <a:r>
              <a:rPr lang="en" dirty="0"/>
              <a:t> attribute.</a:t>
            </a:r>
            <a:endParaRPr dirty="0"/>
          </a:p>
          <a:p>
            <a:pPr marL="457200" lvl="0" indent="-311150" algn="l" rtl="0">
              <a:spcBef>
                <a:spcPts val="0"/>
              </a:spcBef>
              <a:spcAft>
                <a:spcPts val="0"/>
              </a:spcAft>
              <a:buSzPts val="1300"/>
              <a:buChar char="●"/>
            </a:pPr>
            <a:r>
              <a:rPr lang="en" dirty="0"/>
              <a:t>Implement the </a:t>
            </a:r>
            <a:r>
              <a:rPr lang="en" dirty="0">
                <a:solidFill>
                  <a:srgbClr val="FF0000"/>
                </a:solidFill>
                <a:latin typeface="Courier New"/>
                <a:ea typeface="Courier New"/>
                <a:cs typeface="Courier New"/>
                <a:sym typeface="Courier New"/>
              </a:rPr>
              <a:t>size</a:t>
            </a:r>
            <a:r>
              <a:rPr lang="en" dirty="0"/>
              <a:t> method.</a:t>
            </a:r>
            <a:endParaRPr dirty="0"/>
          </a:p>
          <a:p>
            <a:pPr marL="457200" lvl="0" indent="-311150" algn="l" rtl="0">
              <a:spcBef>
                <a:spcPts val="0"/>
              </a:spcBef>
              <a:spcAft>
                <a:spcPts val="0"/>
              </a:spcAft>
              <a:buSzPts val="1300"/>
              <a:buChar char="●"/>
            </a:pPr>
            <a:r>
              <a:rPr lang="en" dirty="0"/>
              <a:t>For now, stub out the other interface methods.</a:t>
            </a:r>
            <a:endParaRPr dirty="0"/>
          </a:p>
          <a:p>
            <a:pPr marL="457200" lvl="0" indent="-311150" algn="l" rtl="0">
              <a:spcBef>
                <a:spcPts val="0"/>
              </a:spcBef>
              <a:spcAft>
                <a:spcPts val="0"/>
              </a:spcAft>
              <a:buSzPts val="1300"/>
              <a:buChar char="●"/>
            </a:pPr>
            <a:r>
              <a:rPr lang="en" dirty="0"/>
              <a:t>In main, create a Set and print its size.</a:t>
            </a:r>
            <a:endParaRPr dirty="0"/>
          </a:p>
          <a:p>
            <a:pPr marL="457200" lvl="0" indent="-311150" algn="l" rtl="0">
              <a:spcBef>
                <a:spcPts val="0"/>
              </a:spcBef>
              <a:spcAft>
                <a:spcPts val="0"/>
              </a:spcAft>
              <a:buSzPts val="1300"/>
              <a:buChar char="●"/>
            </a:pPr>
            <a:r>
              <a:rPr lang="en" b="1" i="1" dirty="0">
                <a:solidFill>
                  <a:srgbClr val="FF0000"/>
                </a:solidFill>
              </a:rPr>
              <a:t>Challenge</a:t>
            </a:r>
            <a:r>
              <a:rPr lang="en" dirty="0"/>
              <a:t>: Add a </a:t>
            </a:r>
            <a:r>
              <a:rPr lang="en" dirty="0">
                <a:highlight>
                  <a:srgbClr val="FFFF00"/>
                </a:highlight>
              </a:rPr>
              <a:t>toString</a:t>
            </a:r>
            <a:r>
              <a:rPr lang="en" dirty="0"/>
              <a:t> implementation for the Set that returns the stored data as a String. Test it in main. </a:t>
            </a:r>
            <a:endParaRPr dirty="0"/>
          </a:p>
        </p:txBody>
      </p:sp>
      <p:sp>
        <p:nvSpPr>
          <p:cNvPr id="413" name="Google Shape;413;p7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Tree Set</a:t>
            </a:r>
            <a:endParaRPr/>
          </a:p>
        </p:txBody>
      </p:sp>
      <p:sp>
        <p:nvSpPr>
          <p:cNvPr id="414" name="Google Shape;414;p7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7.2</a:t>
            </a:r>
            <a:endParaRPr/>
          </a:p>
        </p:txBody>
      </p:sp>
      <p:sp>
        <p:nvSpPr>
          <p:cNvPr id="415" name="Google Shape;415;p71"/>
          <p:cNvSpPr txBox="1">
            <a:spLocks noGrp="1"/>
          </p:cNvSpPr>
          <p:nvPr>
            <p:ph type="body" idx="4"/>
          </p:nvPr>
        </p:nvSpPr>
        <p:spPr>
          <a:xfrm>
            <a:off x="180725" y="4333550"/>
            <a:ext cx="33939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Don't worry about the scary looking </a:t>
            </a:r>
            <a:r>
              <a:rPr lang="en">
                <a:latin typeface="Courier New"/>
                <a:ea typeface="Courier New"/>
                <a:cs typeface="Courier New"/>
                <a:sym typeface="Courier New"/>
              </a:rPr>
              <a:t>E extends Comparable&lt;E&gt;</a:t>
            </a:r>
            <a:r>
              <a:rPr lang="en"/>
              <a:t>. That just ensures </a:t>
            </a:r>
            <a:r>
              <a:rPr lang="en">
                <a:latin typeface="Courier New"/>
                <a:ea typeface="Courier New"/>
                <a:cs typeface="Courier New"/>
                <a:sym typeface="Courier New"/>
              </a:rPr>
              <a:t>E</a:t>
            </a:r>
            <a:r>
              <a:rPr lang="en"/>
              <a:t> is comparable which is required for a </a:t>
            </a:r>
            <a:r>
              <a:rPr lang="en">
                <a:latin typeface="Courier New"/>
                <a:ea typeface="Courier New"/>
                <a:cs typeface="Courier New"/>
                <a:sym typeface="Courier New"/>
              </a:rPr>
              <a:t>BST</a:t>
            </a:r>
            <a:r>
              <a:rPr lang="en"/>
              <a:t>.</a:t>
            </a:r>
            <a:endParaRPr/>
          </a:p>
        </p:txBody>
      </p:sp>
      <p:pic>
        <p:nvPicPr>
          <p:cNvPr id="416" name="Google Shape;416;p71"/>
          <p:cNvPicPr preferRelativeResize="0"/>
          <p:nvPr/>
        </p:nvPicPr>
        <p:blipFill>
          <a:blip r:embed="rId3">
            <a:alphaModFix/>
          </a:blip>
          <a:stretch>
            <a:fillRect/>
          </a:stretch>
        </p:blipFill>
        <p:spPr>
          <a:xfrm>
            <a:off x="152400" y="1815477"/>
            <a:ext cx="3483000" cy="2412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7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finish up the TreeSet implementation by adding implementations for the add and contains methods.</a:t>
            </a:r>
            <a:endParaRPr/>
          </a:p>
        </p:txBody>
      </p:sp>
      <p:sp>
        <p:nvSpPr>
          <p:cNvPr id="422" name="Google Shape;422;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423" name="Google Shape;423;p72"/>
          <p:cNvSpPr txBox="1">
            <a:spLocks noGrp="1"/>
          </p:cNvSpPr>
          <p:nvPr>
            <p:ph type="body" idx="2"/>
          </p:nvPr>
        </p:nvSpPr>
        <p:spPr>
          <a:xfrm>
            <a:off x="3746000" y="1479475"/>
            <a:ext cx="5195100" cy="2945391"/>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highlight>
                  <a:srgbClr val="FFFF00"/>
                </a:highlight>
              </a:rPr>
              <a:t>Implement the </a:t>
            </a:r>
            <a:r>
              <a:rPr lang="en" dirty="0">
                <a:solidFill>
                  <a:srgbClr val="FF0000"/>
                </a:solidFill>
                <a:highlight>
                  <a:srgbClr val="FFFF00"/>
                </a:highlight>
                <a:latin typeface="Courier New"/>
                <a:ea typeface="Courier New"/>
                <a:cs typeface="Courier New"/>
                <a:sym typeface="Courier New"/>
              </a:rPr>
              <a:t>add</a:t>
            </a:r>
            <a:r>
              <a:rPr lang="en" dirty="0">
                <a:highlight>
                  <a:srgbClr val="FFFF00"/>
                </a:highlight>
              </a:rPr>
              <a:t> method using the </a:t>
            </a:r>
            <a:r>
              <a:rPr lang="en" dirty="0">
                <a:highlight>
                  <a:srgbClr val="FFFF00"/>
                </a:highlight>
                <a:latin typeface="Courier New"/>
                <a:ea typeface="Courier New"/>
                <a:cs typeface="Courier New"/>
                <a:sym typeface="Courier New"/>
              </a:rPr>
              <a:t>BinarySearchTree</a:t>
            </a:r>
            <a:r>
              <a:rPr lang="en" dirty="0">
                <a:highlight>
                  <a:srgbClr val="FFFF00"/>
                </a:highlight>
              </a:rPr>
              <a:t>'s </a:t>
            </a:r>
            <a:r>
              <a:rPr lang="en" dirty="0">
                <a:highlight>
                  <a:srgbClr val="FFFF00"/>
                </a:highlight>
                <a:latin typeface="Courier New"/>
                <a:ea typeface="Courier New"/>
                <a:cs typeface="Courier New"/>
                <a:sym typeface="Courier New"/>
              </a:rPr>
              <a:t>insert</a:t>
            </a:r>
            <a:r>
              <a:rPr lang="en" dirty="0">
                <a:highlight>
                  <a:srgbClr val="FFFF00"/>
                </a:highlight>
              </a:rPr>
              <a:t> method.</a:t>
            </a:r>
            <a:endParaRPr dirty="0">
              <a:highlight>
                <a:srgbClr val="FFFF00"/>
              </a:highlight>
            </a:endParaRPr>
          </a:p>
          <a:p>
            <a:pPr marL="457200" lvl="0" indent="-311150" algn="l" rtl="0">
              <a:spcBef>
                <a:spcPts val="0"/>
              </a:spcBef>
              <a:spcAft>
                <a:spcPts val="0"/>
              </a:spcAft>
              <a:buSzPts val="1300"/>
              <a:buChar char="●"/>
            </a:pPr>
            <a:r>
              <a:rPr lang="en" dirty="0"/>
              <a:t>Implement the </a:t>
            </a:r>
            <a:r>
              <a:rPr lang="en" dirty="0">
                <a:solidFill>
                  <a:srgbClr val="FF0000"/>
                </a:solidFill>
                <a:latin typeface="Courier New"/>
                <a:ea typeface="Courier New"/>
                <a:cs typeface="Courier New"/>
                <a:sym typeface="Courier New"/>
              </a:rPr>
              <a:t>contains</a:t>
            </a:r>
            <a:r>
              <a:rPr lang="en" dirty="0"/>
              <a:t> method using the </a:t>
            </a:r>
            <a:r>
              <a:rPr lang="en" dirty="0">
                <a:latin typeface="Courier New"/>
                <a:ea typeface="Courier New"/>
                <a:cs typeface="Courier New"/>
                <a:sym typeface="Courier New"/>
              </a:rPr>
              <a:t>BinarySearchTree</a:t>
            </a:r>
            <a:r>
              <a:rPr lang="en" dirty="0"/>
              <a:t>'s </a:t>
            </a:r>
            <a:r>
              <a:rPr lang="en" dirty="0">
                <a:latin typeface="Courier New"/>
                <a:ea typeface="Courier New"/>
                <a:cs typeface="Courier New"/>
                <a:sym typeface="Courier New"/>
              </a:rPr>
              <a:t>search</a:t>
            </a:r>
            <a:r>
              <a:rPr lang="en" dirty="0"/>
              <a:t> method.</a:t>
            </a:r>
            <a:endParaRPr dirty="0"/>
          </a:p>
          <a:p>
            <a:pPr marL="457200" lvl="0" indent="-311150" algn="l" rtl="0">
              <a:spcBef>
                <a:spcPts val="0"/>
              </a:spcBef>
              <a:spcAft>
                <a:spcPts val="0"/>
              </a:spcAft>
              <a:buSzPts val="1300"/>
              <a:buChar char="●"/>
            </a:pPr>
            <a:r>
              <a:rPr lang="en" dirty="0"/>
              <a:t>Since our </a:t>
            </a:r>
            <a:r>
              <a:rPr lang="en" dirty="0">
                <a:latin typeface="Courier New"/>
                <a:ea typeface="Courier New"/>
                <a:cs typeface="Courier New"/>
                <a:sym typeface="Courier New"/>
              </a:rPr>
              <a:t>BinarySearchTree</a:t>
            </a:r>
            <a:r>
              <a:rPr lang="en" dirty="0"/>
              <a:t> doesn't have a </a:t>
            </a:r>
            <a:r>
              <a:rPr lang="en" dirty="0">
                <a:latin typeface="Courier New"/>
                <a:ea typeface="Courier New"/>
                <a:cs typeface="Courier New"/>
                <a:sym typeface="Courier New"/>
              </a:rPr>
              <a:t>remove</a:t>
            </a:r>
            <a:r>
              <a:rPr lang="en" dirty="0"/>
              <a:t>, our </a:t>
            </a:r>
            <a:r>
              <a:rPr lang="en" dirty="0">
                <a:highlight>
                  <a:srgbClr val="FFFF00"/>
                </a:highlight>
                <a:latin typeface="Courier New"/>
                <a:ea typeface="Courier New"/>
                <a:cs typeface="Courier New"/>
                <a:sym typeface="Courier New"/>
              </a:rPr>
              <a:t>TreeSet</a:t>
            </a:r>
            <a:r>
              <a:rPr lang="en" dirty="0">
                <a:highlight>
                  <a:srgbClr val="FFFF00"/>
                </a:highlight>
              </a:rPr>
              <a:t>'s </a:t>
            </a:r>
            <a:r>
              <a:rPr lang="en" dirty="0">
                <a:solidFill>
                  <a:srgbClr val="FF0000"/>
                </a:solidFill>
                <a:highlight>
                  <a:srgbClr val="FFFF00"/>
                </a:highlight>
                <a:latin typeface="Courier New"/>
                <a:ea typeface="Courier New"/>
                <a:cs typeface="Courier New"/>
                <a:sym typeface="Courier New"/>
              </a:rPr>
              <a:t>remove</a:t>
            </a:r>
            <a:r>
              <a:rPr lang="en" dirty="0">
                <a:highlight>
                  <a:srgbClr val="FFFF00"/>
                </a:highlight>
              </a:rPr>
              <a:t> should throw the </a:t>
            </a:r>
            <a:r>
              <a:rPr lang="en" dirty="0">
                <a:solidFill>
                  <a:srgbClr val="FF0000"/>
                </a:solidFill>
                <a:highlight>
                  <a:srgbClr val="FFFF00"/>
                </a:highlight>
                <a:latin typeface="Consolas"/>
                <a:ea typeface="Consolas"/>
                <a:cs typeface="Consolas"/>
                <a:sym typeface="Consolas"/>
              </a:rPr>
              <a:t>UnsupportedOperationException</a:t>
            </a:r>
            <a:r>
              <a:rPr lang="en" dirty="0">
                <a:highlight>
                  <a:srgbClr val="FFFF00"/>
                </a:highlight>
              </a:rPr>
              <a:t>.</a:t>
            </a:r>
            <a:endParaRPr dirty="0">
              <a:highlight>
                <a:srgbClr val="FFFF00"/>
              </a:highlight>
            </a:endParaRPr>
          </a:p>
          <a:p>
            <a:pPr marL="457200" lvl="0" indent="-311150" algn="l" rtl="0">
              <a:spcBef>
                <a:spcPts val="0"/>
              </a:spcBef>
              <a:spcAft>
                <a:spcPts val="0"/>
              </a:spcAft>
              <a:buSzPts val="1300"/>
              <a:buChar char="●"/>
            </a:pPr>
            <a:r>
              <a:rPr lang="en" dirty="0">
                <a:highlight>
                  <a:srgbClr val="FFFFFF"/>
                </a:highlight>
              </a:rPr>
              <a:t>In </a:t>
            </a:r>
            <a:r>
              <a:rPr lang="en" dirty="0">
                <a:highlight>
                  <a:srgbClr val="FFFFFF"/>
                </a:highlight>
                <a:latin typeface="Courier New"/>
                <a:ea typeface="Courier New"/>
                <a:cs typeface="Courier New"/>
                <a:sym typeface="Courier New"/>
              </a:rPr>
              <a:t>main</a:t>
            </a:r>
            <a:r>
              <a:rPr lang="en" dirty="0">
                <a:highlight>
                  <a:srgbClr val="FFFFFF"/>
                </a:highlight>
              </a:rPr>
              <a:t>, test the </a:t>
            </a:r>
            <a:r>
              <a:rPr lang="en" dirty="0">
                <a:highlight>
                  <a:srgbClr val="FFFFFF"/>
                </a:highlight>
                <a:latin typeface="Courier New"/>
                <a:ea typeface="Courier New"/>
                <a:cs typeface="Courier New"/>
                <a:sym typeface="Courier New"/>
              </a:rPr>
              <a:t>TreeSet</a:t>
            </a:r>
            <a:r>
              <a:rPr lang="en" dirty="0">
                <a:highlight>
                  <a:srgbClr val="FFFFFF"/>
                </a:highlight>
              </a:rPr>
              <a:t> by adding a few items to it. Check that they were added by using the </a:t>
            </a:r>
            <a:r>
              <a:rPr lang="en" dirty="0">
                <a:highlight>
                  <a:srgbClr val="FFFFFF"/>
                </a:highlight>
                <a:latin typeface="Courier New"/>
                <a:ea typeface="Courier New"/>
                <a:cs typeface="Courier New"/>
                <a:sym typeface="Courier New"/>
              </a:rPr>
              <a:t>size</a:t>
            </a:r>
            <a:r>
              <a:rPr lang="en" dirty="0">
                <a:highlight>
                  <a:srgbClr val="FFFFFF"/>
                </a:highlight>
              </a:rPr>
              <a:t> or </a:t>
            </a:r>
            <a:r>
              <a:rPr lang="en" dirty="0">
                <a:highlight>
                  <a:srgbClr val="FFFFFF"/>
                </a:highlight>
                <a:latin typeface="Courier New"/>
                <a:ea typeface="Courier New"/>
                <a:cs typeface="Courier New"/>
                <a:sym typeface="Courier New"/>
              </a:rPr>
              <a:t>toString</a:t>
            </a:r>
            <a:r>
              <a:rPr lang="en" dirty="0">
                <a:highlight>
                  <a:srgbClr val="FFFFFF"/>
                </a:highlight>
              </a:rPr>
              <a:t> methods.</a:t>
            </a:r>
            <a:endParaRPr dirty="0">
              <a:highlight>
                <a:srgbClr val="FFFFFF"/>
              </a:highlight>
            </a:endParaRPr>
          </a:p>
          <a:p>
            <a:pPr marL="457200" lvl="0" indent="-311150" algn="l" rtl="0">
              <a:spcBef>
                <a:spcPts val="0"/>
              </a:spcBef>
              <a:spcAft>
                <a:spcPts val="0"/>
              </a:spcAft>
              <a:buSzPts val="1300"/>
              <a:buChar char="●"/>
            </a:pPr>
            <a:r>
              <a:rPr lang="en" dirty="0">
                <a:highlight>
                  <a:srgbClr val="FFFFFF"/>
                </a:highlight>
              </a:rPr>
              <a:t>Also add tests for checking to see if the </a:t>
            </a:r>
            <a:r>
              <a:rPr lang="en" dirty="0">
                <a:highlight>
                  <a:srgbClr val="FFFFFF"/>
                </a:highlight>
                <a:latin typeface="Courier New"/>
                <a:ea typeface="Courier New"/>
                <a:cs typeface="Courier New"/>
                <a:sym typeface="Courier New"/>
              </a:rPr>
              <a:t>Set</a:t>
            </a:r>
            <a:r>
              <a:rPr lang="en" dirty="0">
                <a:highlight>
                  <a:srgbClr val="FFFFFF"/>
                </a:highlight>
              </a:rPr>
              <a:t> </a:t>
            </a:r>
            <a:r>
              <a:rPr lang="en" dirty="0">
                <a:solidFill>
                  <a:srgbClr val="FF0000"/>
                </a:solidFill>
                <a:highlight>
                  <a:srgbClr val="FFFFFF"/>
                </a:highlight>
                <a:latin typeface="Courier New"/>
                <a:ea typeface="Courier New"/>
                <a:cs typeface="Courier New"/>
                <a:sym typeface="Courier New"/>
              </a:rPr>
              <a:t>contains</a:t>
            </a:r>
            <a:r>
              <a:rPr lang="en" dirty="0">
                <a:highlight>
                  <a:srgbClr val="FFFFFF"/>
                </a:highlight>
              </a:rPr>
              <a:t> a value that that in the set and one that is not.</a:t>
            </a:r>
            <a:endParaRPr dirty="0">
              <a:highlight>
                <a:srgbClr val="FFFFFF"/>
              </a:highlight>
            </a:endParaRPr>
          </a:p>
        </p:txBody>
      </p:sp>
      <p:sp>
        <p:nvSpPr>
          <p:cNvPr id="424" name="Google Shape;424;p7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Finishing Up</a:t>
            </a:r>
            <a:endParaRPr/>
          </a:p>
        </p:txBody>
      </p:sp>
      <p:sp>
        <p:nvSpPr>
          <p:cNvPr id="425" name="Google Shape;425;p7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7.3</a:t>
            </a:r>
            <a:endParaRPr/>
          </a:p>
        </p:txBody>
      </p:sp>
      <p:sp>
        <p:nvSpPr>
          <p:cNvPr id="426" name="Google Shape;426;p72"/>
          <p:cNvSpPr txBox="1">
            <a:spLocks noGrp="1"/>
          </p:cNvSpPr>
          <p:nvPr>
            <p:ph type="body" idx="4"/>
          </p:nvPr>
        </p:nvSpPr>
        <p:spPr>
          <a:xfrm>
            <a:off x="141600" y="4156900"/>
            <a:ext cx="33954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It's not uncommon for implementations of an interface to not support every operation. </a:t>
            </a:r>
            <a:r>
              <a:rPr lang="en" dirty="0">
                <a:highlight>
                  <a:srgbClr val="FFFF00"/>
                </a:highlight>
              </a:rPr>
              <a:t>In this case, it won't support </a:t>
            </a:r>
            <a:r>
              <a:rPr lang="en" dirty="0">
                <a:highlight>
                  <a:srgbClr val="FFFF00"/>
                </a:highlight>
                <a:latin typeface="Courier New"/>
                <a:ea typeface="Courier New"/>
                <a:cs typeface="Courier New"/>
                <a:sym typeface="Courier New"/>
              </a:rPr>
              <a:t>remove</a:t>
            </a:r>
            <a:r>
              <a:rPr lang="en" dirty="0">
                <a:highlight>
                  <a:srgbClr val="FFFF00"/>
                </a:highlight>
              </a:rPr>
              <a:t>.</a:t>
            </a:r>
            <a:endParaRPr dirty="0">
              <a:highlight>
                <a:srgbClr val="FFFF00"/>
              </a:highlight>
            </a:endParaRPr>
          </a:p>
        </p:txBody>
      </p:sp>
      <p:pic>
        <p:nvPicPr>
          <p:cNvPr id="427" name="Google Shape;427;p72"/>
          <p:cNvPicPr preferRelativeResize="0"/>
          <p:nvPr/>
        </p:nvPicPr>
        <p:blipFill>
          <a:blip r:embed="rId3">
            <a:alphaModFix/>
          </a:blip>
          <a:stretch>
            <a:fillRect/>
          </a:stretch>
        </p:blipFill>
        <p:spPr>
          <a:xfrm>
            <a:off x="152400" y="1515765"/>
            <a:ext cx="3441200" cy="238394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7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At the moment, our TreeSet implementation does everything we mentioned the Python set does, except for one thing. We can't use it in a for loop. That's pretty useful so let's fix that now.</a:t>
            </a:r>
            <a:endParaRPr dirty="0"/>
          </a:p>
        </p:txBody>
      </p:sp>
      <p:sp>
        <p:nvSpPr>
          <p:cNvPr id="433" name="Google Shape;433;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434" name="Google Shape;434;p73"/>
          <p:cNvSpPr txBox="1">
            <a:spLocks noGrp="1"/>
          </p:cNvSpPr>
          <p:nvPr>
            <p:ph type="body" idx="2"/>
          </p:nvPr>
        </p:nvSpPr>
        <p:spPr>
          <a:xfrm>
            <a:off x="3620850" y="1641975"/>
            <a:ext cx="5320500" cy="192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To use a data structure in a </a:t>
            </a:r>
            <a:r>
              <a:rPr lang="en" b="1" i="1" dirty="0">
                <a:solidFill>
                  <a:srgbClr val="FF0000"/>
                </a:solidFill>
              </a:rPr>
              <a:t>foreach</a:t>
            </a:r>
            <a:r>
              <a:rPr lang="en" dirty="0"/>
              <a:t> loop, it must be iterable.</a:t>
            </a:r>
            <a:endParaRPr dirty="0"/>
          </a:p>
          <a:p>
            <a:pPr marL="457200" lvl="0" indent="-311150" algn="l" rtl="0">
              <a:spcBef>
                <a:spcPts val="1000"/>
              </a:spcBef>
              <a:spcAft>
                <a:spcPts val="0"/>
              </a:spcAft>
              <a:buSzPts val="1300"/>
              <a:buChar char="●"/>
            </a:pPr>
            <a:r>
              <a:rPr lang="en" dirty="0"/>
              <a:t>Using the updated UML on the left, make the Set and TreeSet iterable.</a:t>
            </a:r>
            <a:endParaRPr dirty="0"/>
          </a:p>
          <a:p>
            <a:pPr marL="457200" lvl="0" indent="-311150" algn="l" rtl="0">
              <a:spcBef>
                <a:spcPts val="1000"/>
              </a:spcBef>
              <a:spcAft>
                <a:spcPts val="0"/>
              </a:spcAft>
              <a:buSzPts val="1300"/>
              <a:buChar char="●"/>
            </a:pPr>
            <a:r>
              <a:rPr lang="en" dirty="0"/>
              <a:t>A </a:t>
            </a:r>
            <a:r>
              <a:rPr lang="en" dirty="0">
                <a:latin typeface="Courier New"/>
                <a:ea typeface="Courier New"/>
                <a:cs typeface="Courier New"/>
                <a:sym typeface="Courier New"/>
              </a:rPr>
              <a:t>NodeBST</a:t>
            </a:r>
            <a:r>
              <a:rPr lang="en" dirty="0"/>
              <a:t> iterator has been provided for you.</a:t>
            </a:r>
            <a:endParaRPr dirty="0"/>
          </a:p>
          <a:p>
            <a:pPr marL="457200" lvl="0" indent="-311150" algn="l" rtl="0">
              <a:spcBef>
                <a:spcPts val="1000"/>
              </a:spcBef>
              <a:spcAft>
                <a:spcPts val="1000"/>
              </a:spcAft>
              <a:buSzPts val="1300"/>
              <a:buChar char="●"/>
            </a:pPr>
            <a:r>
              <a:rPr lang="en" dirty="0"/>
              <a:t>Test your code by printing each element in your set, one per line, use a foreach loop.</a:t>
            </a:r>
            <a:endParaRPr dirty="0"/>
          </a:p>
        </p:txBody>
      </p:sp>
      <p:sp>
        <p:nvSpPr>
          <p:cNvPr id="435" name="Google Shape;435;p7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What About the </a:t>
            </a:r>
            <a:r>
              <a:rPr lang="en">
                <a:latin typeface="Courier New"/>
                <a:ea typeface="Courier New"/>
                <a:cs typeface="Courier New"/>
                <a:sym typeface="Courier New"/>
              </a:rPr>
              <a:t>for</a:t>
            </a:r>
            <a:r>
              <a:rPr lang="en"/>
              <a:t> Loop?</a:t>
            </a:r>
            <a:endParaRPr/>
          </a:p>
        </p:txBody>
      </p:sp>
      <p:sp>
        <p:nvSpPr>
          <p:cNvPr id="436" name="Google Shape;436;p7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7.4</a:t>
            </a:r>
            <a:endParaRPr/>
          </a:p>
        </p:txBody>
      </p:sp>
      <p:sp>
        <p:nvSpPr>
          <p:cNvPr id="437" name="Google Shape;437;p73"/>
          <p:cNvSpPr txBox="1">
            <a:spLocks noGrp="1"/>
          </p:cNvSpPr>
          <p:nvPr>
            <p:ph type="body" idx="4"/>
          </p:nvPr>
        </p:nvSpPr>
        <p:spPr>
          <a:xfrm>
            <a:off x="141600" y="4156900"/>
            <a:ext cx="33819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Use the </a:t>
            </a:r>
            <a:r>
              <a:rPr lang="en" b="1" i="1">
                <a:solidFill>
                  <a:srgbClr val="FF0000"/>
                </a:solidFill>
              </a:rPr>
              <a:t>Iterable</a:t>
            </a:r>
            <a:r>
              <a:rPr lang="en"/>
              <a:t> interface to enable Sets to be used in a </a:t>
            </a:r>
            <a:r>
              <a:rPr lang="en" b="1" i="1">
                <a:solidFill>
                  <a:srgbClr val="FF0000"/>
                </a:solidFill>
              </a:rPr>
              <a:t>foreach</a:t>
            </a:r>
            <a:r>
              <a:rPr lang="en" i="1"/>
              <a:t> </a:t>
            </a:r>
            <a:r>
              <a:rPr lang="en"/>
              <a:t>loop.</a:t>
            </a:r>
            <a:endParaRPr/>
          </a:p>
        </p:txBody>
      </p:sp>
      <p:pic>
        <p:nvPicPr>
          <p:cNvPr id="438" name="Google Shape;438;p73"/>
          <p:cNvPicPr preferRelativeResize="0"/>
          <p:nvPr/>
        </p:nvPicPr>
        <p:blipFill>
          <a:blip r:embed="rId3">
            <a:alphaModFix/>
          </a:blip>
          <a:stretch>
            <a:fillRect/>
          </a:stretch>
        </p:blipFill>
        <p:spPr>
          <a:xfrm>
            <a:off x="152400" y="1598325"/>
            <a:ext cx="3468451" cy="240097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7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Maps</a:t>
            </a:r>
            <a:endParaRPr/>
          </a:p>
          <a:p>
            <a:pPr marL="0" lvl="0" indent="0" algn="l" rtl="0">
              <a:spcBef>
                <a:spcPts val="0"/>
              </a:spcBef>
              <a:spcAft>
                <a:spcPts val="0"/>
              </a:spcAft>
              <a:buNone/>
            </a:pPr>
            <a:endParaRPr/>
          </a:p>
        </p:txBody>
      </p:sp>
      <p:sp>
        <p:nvSpPr>
          <p:cNvPr id="444" name="Google Shape;444;p74"/>
          <p:cNvSpPr txBox="1">
            <a:spLocks noGrp="1"/>
          </p:cNvSpPr>
          <p:nvPr>
            <p:ph type="body" idx="1"/>
          </p:nvPr>
        </p:nvSpPr>
        <p:spPr>
          <a:xfrm>
            <a:off x="4644675" y="213325"/>
            <a:ext cx="4166400" cy="48435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Java's name for an associative array is </a:t>
            </a:r>
            <a:r>
              <a:rPr lang="en" b="1" i="1" dirty="0">
                <a:solidFill>
                  <a:srgbClr val="FF0000"/>
                </a:solidFill>
              </a:rPr>
              <a:t>Map</a:t>
            </a:r>
            <a:r>
              <a:rPr lang="en" dirty="0"/>
              <a:t>.</a:t>
            </a:r>
            <a:endParaRPr dirty="0"/>
          </a:p>
          <a:p>
            <a:pPr marL="457200" lvl="0" indent="-311150" algn="l" rtl="0">
              <a:spcBef>
                <a:spcPts val="0"/>
              </a:spcBef>
              <a:spcAft>
                <a:spcPts val="0"/>
              </a:spcAft>
              <a:buSzPts val="1300"/>
              <a:buChar char="●"/>
            </a:pPr>
            <a:r>
              <a:rPr lang="en" dirty="0">
                <a:highlight>
                  <a:srgbClr val="FFFF00"/>
                </a:highlight>
              </a:rPr>
              <a:t>It is used to </a:t>
            </a:r>
            <a:r>
              <a:rPr lang="en" b="1" i="1" dirty="0">
                <a:solidFill>
                  <a:srgbClr val="FF0000"/>
                </a:solidFill>
                <a:highlight>
                  <a:srgbClr val="FFFF00"/>
                </a:highlight>
              </a:rPr>
              <a:t>associate</a:t>
            </a:r>
            <a:r>
              <a:rPr lang="en" dirty="0">
                <a:highlight>
                  <a:srgbClr val="FFFF00"/>
                </a:highlight>
              </a:rPr>
              <a:t> one object with another object.</a:t>
            </a:r>
            <a:endParaRPr dirty="0">
              <a:highlight>
                <a:srgbClr val="FFFF00"/>
              </a:highlight>
            </a:endParaRPr>
          </a:p>
          <a:p>
            <a:pPr marL="914400" lvl="1" indent="-298450" algn="l" rtl="0">
              <a:spcBef>
                <a:spcPts val="0"/>
              </a:spcBef>
              <a:spcAft>
                <a:spcPts val="0"/>
              </a:spcAft>
              <a:buSzPts val="1100"/>
              <a:buChar char="○"/>
            </a:pPr>
            <a:r>
              <a:rPr lang="en" dirty="0"/>
              <a:t>Python's </a:t>
            </a:r>
            <a:r>
              <a:rPr lang="en" dirty="0">
                <a:highlight>
                  <a:srgbClr val="FFFF00"/>
                </a:highlight>
              </a:rPr>
              <a:t>dictionary</a:t>
            </a:r>
            <a:r>
              <a:rPr lang="en" dirty="0"/>
              <a:t> is one implementation of an associative array.</a:t>
            </a:r>
            <a:endParaRPr dirty="0"/>
          </a:p>
          <a:p>
            <a:pPr marL="457200" lvl="0" indent="-311150" algn="l" rtl="0">
              <a:spcBef>
                <a:spcPts val="1000"/>
              </a:spcBef>
              <a:spcAft>
                <a:spcPts val="0"/>
              </a:spcAft>
              <a:buSzPts val="1300"/>
              <a:buChar char="●"/>
            </a:pPr>
            <a:r>
              <a:rPr lang="en" dirty="0"/>
              <a:t>Normally, maps include at a minimum the following operations:</a:t>
            </a:r>
            <a:endParaRPr dirty="0"/>
          </a:p>
          <a:p>
            <a:pPr marL="914400" lvl="1" indent="-298450" algn="l" rtl="0">
              <a:spcBef>
                <a:spcPts val="0"/>
              </a:spcBef>
              <a:spcAft>
                <a:spcPts val="0"/>
              </a:spcAft>
              <a:buSzPts val="1100"/>
              <a:buChar char="○"/>
            </a:pPr>
            <a:r>
              <a:rPr lang="en" b="1" i="1" dirty="0">
                <a:solidFill>
                  <a:srgbClr val="FF0000"/>
                </a:solidFill>
                <a:highlight>
                  <a:srgbClr val="FFFF00"/>
                </a:highlight>
              </a:rPr>
              <a:t>add(key, value)</a:t>
            </a:r>
            <a:r>
              <a:rPr lang="en" dirty="0">
                <a:highlight>
                  <a:srgbClr val="FFFF00"/>
                </a:highlight>
              </a:rPr>
              <a:t> </a:t>
            </a:r>
            <a:r>
              <a:rPr lang="en" dirty="0"/>
              <a:t>- adds the key, value pair to the map. If they key already exists it replaces the existing value of the key with the specified value</a:t>
            </a:r>
            <a:endParaRPr dirty="0"/>
          </a:p>
          <a:p>
            <a:pPr marL="914400" lvl="1" indent="-298450" algn="l" rtl="0">
              <a:spcBef>
                <a:spcPts val="0"/>
              </a:spcBef>
              <a:spcAft>
                <a:spcPts val="0"/>
              </a:spcAft>
              <a:buSzPts val="1100"/>
              <a:buChar char="○"/>
            </a:pPr>
            <a:r>
              <a:rPr lang="en" b="1" i="1" dirty="0">
                <a:solidFill>
                  <a:srgbClr val="FF0000"/>
                </a:solidFill>
              </a:rPr>
              <a:t>get(key)</a:t>
            </a:r>
            <a:r>
              <a:rPr lang="en" dirty="0"/>
              <a:t> - returns the value associated with the key. Throws an exception if key is not in the map</a:t>
            </a:r>
            <a:endParaRPr dirty="0"/>
          </a:p>
          <a:p>
            <a:pPr marL="914400" lvl="1" indent="-298450" algn="l" rtl="0">
              <a:spcBef>
                <a:spcPts val="0"/>
              </a:spcBef>
              <a:spcAft>
                <a:spcPts val="0"/>
              </a:spcAft>
              <a:buSzPts val="1100"/>
              <a:buChar char="○"/>
            </a:pPr>
            <a:r>
              <a:rPr lang="en" b="1" i="1" dirty="0">
                <a:solidFill>
                  <a:srgbClr val="FF0000"/>
                </a:solidFill>
              </a:rPr>
              <a:t>contains(key)</a:t>
            </a:r>
            <a:r>
              <a:rPr lang="en" dirty="0"/>
              <a:t> - determines if key is in the map</a:t>
            </a:r>
            <a:endParaRPr dirty="0"/>
          </a:p>
          <a:p>
            <a:pPr marL="914400" lvl="1" indent="-298450" algn="l" rtl="0">
              <a:spcBef>
                <a:spcPts val="0"/>
              </a:spcBef>
              <a:spcAft>
                <a:spcPts val="0"/>
              </a:spcAft>
              <a:buSzPts val="1100"/>
              <a:buChar char="○"/>
            </a:pPr>
            <a:r>
              <a:rPr lang="en" b="1" i="1" dirty="0">
                <a:solidFill>
                  <a:srgbClr val="FF0000"/>
                </a:solidFill>
              </a:rPr>
              <a:t>remove(key)</a:t>
            </a:r>
            <a:r>
              <a:rPr lang="en" dirty="0"/>
              <a:t> - removes the key entry from the map</a:t>
            </a:r>
            <a:endParaRPr dirty="0"/>
          </a:p>
          <a:p>
            <a:pPr marL="914400" lvl="1" indent="-298450" algn="l" rtl="0">
              <a:spcBef>
                <a:spcPts val="0"/>
              </a:spcBef>
              <a:spcAft>
                <a:spcPts val="0"/>
              </a:spcAft>
              <a:buSzPts val="1100"/>
              <a:buChar char="○"/>
            </a:pPr>
            <a:r>
              <a:rPr lang="en" b="1" i="1" dirty="0">
                <a:solidFill>
                  <a:srgbClr val="FF0000"/>
                </a:solidFill>
              </a:rPr>
              <a:t>size()</a:t>
            </a:r>
            <a:r>
              <a:rPr lang="en" dirty="0"/>
              <a:t> - the number of entries in the map</a:t>
            </a:r>
            <a:endParaRPr dirty="0"/>
          </a:p>
          <a:p>
            <a:pPr marL="457200" lvl="0" indent="-311150" algn="l" rtl="0">
              <a:spcBef>
                <a:spcPts val="1000"/>
              </a:spcBef>
              <a:spcAft>
                <a:spcPts val="0"/>
              </a:spcAft>
              <a:buSzPts val="1300"/>
              <a:buChar char="●"/>
            </a:pPr>
            <a:r>
              <a:rPr lang="en" dirty="0"/>
              <a:t>Our implementation will have all of these, and a couple of quality of life operations.</a:t>
            </a:r>
            <a:endParaRPr dirty="0"/>
          </a:p>
          <a:p>
            <a:pPr marL="914400" lvl="1" indent="-298450" algn="l" rtl="0">
              <a:spcBef>
                <a:spcPts val="0"/>
              </a:spcBef>
              <a:spcAft>
                <a:spcPts val="0"/>
              </a:spcAft>
              <a:buSzPts val="1100"/>
              <a:buChar char="○"/>
            </a:pPr>
            <a:r>
              <a:rPr lang="en" b="1" i="1" dirty="0">
                <a:solidFill>
                  <a:srgbClr val="FF0000"/>
                </a:solidFill>
                <a:highlight>
                  <a:srgbClr val="FFFF00"/>
                </a:highlight>
              </a:rPr>
              <a:t>toString</a:t>
            </a:r>
            <a:r>
              <a:rPr lang="en" b="1" i="1" dirty="0">
                <a:solidFill>
                  <a:srgbClr val="FF0000"/>
                </a:solidFill>
              </a:rPr>
              <a:t>()</a:t>
            </a:r>
            <a:r>
              <a:rPr lang="en" dirty="0"/>
              <a:t> - for easy viewing of the stored data</a:t>
            </a:r>
            <a:endParaRPr dirty="0"/>
          </a:p>
          <a:p>
            <a:pPr marL="914400" lvl="1" indent="-298450" algn="l" rtl="0">
              <a:spcBef>
                <a:spcPts val="0"/>
              </a:spcBef>
              <a:spcAft>
                <a:spcPts val="0"/>
              </a:spcAft>
              <a:buSzPts val="1100"/>
              <a:buChar char="○"/>
            </a:pPr>
            <a:r>
              <a:rPr lang="en" b="1" i="1" dirty="0">
                <a:solidFill>
                  <a:srgbClr val="FF0000"/>
                </a:solidFill>
                <a:highlight>
                  <a:srgbClr val="FFFF00"/>
                </a:highlight>
              </a:rPr>
              <a:t>iterator</a:t>
            </a:r>
            <a:r>
              <a:rPr lang="en" b="1" i="1" dirty="0">
                <a:solidFill>
                  <a:srgbClr val="FF0000"/>
                </a:solidFill>
              </a:rPr>
              <a:t>()</a:t>
            </a:r>
            <a:r>
              <a:rPr lang="en" dirty="0"/>
              <a:t> - allow iteration by keys (similar to python)</a:t>
            </a:r>
            <a:endParaRPr dirty="0"/>
          </a:p>
        </p:txBody>
      </p:sp>
      <p:sp>
        <p:nvSpPr>
          <p:cNvPr id="445" name="Google Shape;445;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446" name="Google Shape;446;p74"/>
          <p:cNvSpPr txBox="1">
            <a:spLocks noGrp="1"/>
          </p:cNvSpPr>
          <p:nvPr>
            <p:ph type="body" idx="3"/>
          </p:nvPr>
        </p:nvSpPr>
        <p:spPr>
          <a:xfrm>
            <a:off x="3154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i="1">
                <a:solidFill>
                  <a:srgbClr val="FF0000"/>
                </a:solidFill>
              </a:rPr>
              <a:t>Maps</a:t>
            </a:r>
            <a:r>
              <a:rPr lang="en"/>
              <a:t> are a common and powerful data structure that lets developers </a:t>
            </a:r>
            <a:r>
              <a:rPr lang="en" b="1" i="1">
                <a:solidFill>
                  <a:srgbClr val="FF0000"/>
                </a:solidFill>
              </a:rPr>
              <a:t>associate </a:t>
            </a:r>
            <a:r>
              <a:rPr lang="en"/>
              <a:t>one object with another one.</a:t>
            </a:r>
            <a:endParaRPr/>
          </a:p>
        </p:txBody>
      </p:sp>
      <p:pic>
        <p:nvPicPr>
          <p:cNvPr id="447" name="Google Shape;447;p74"/>
          <p:cNvPicPr preferRelativeResize="0"/>
          <p:nvPr/>
        </p:nvPicPr>
        <p:blipFill>
          <a:blip r:embed="rId3">
            <a:alphaModFix/>
          </a:blip>
          <a:stretch>
            <a:fillRect/>
          </a:stretch>
        </p:blipFill>
        <p:spPr>
          <a:xfrm>
            <a:off x="487651" y="1330775"/>
            <a:ext cx="3362050" cy="2408550"/>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75"/>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Review: Python Dictionaries</a:t>
            </a:r>
            <a:endParaRPr/>
          </a:p>
          <a:p>
            <a:pPr marL="0" lvl="0" indent="0" algn="l" rtl="0">
              <a:lnSpc>
                <a:spcPct val="100000"/>
              </a:lnSpc>
              <a:spcBef>
                <a:spcPts val="0"/>
              </a:spcBef>
              <a:spcAft>
                <a:spcPts val="0"/>
              </a:spcAft>
              <a:buSzPts val="2800"/>
              <a:buNone/>
            </a:pPr>
            <a:endParaRPr/>
          </a:p>
          <a:p>
            <a:pPr marL="0" lvl="0" indent="0" algn="l" rtl="0">
              <a:lnSpc>
                <a:spcPct val="100000"/>
              </a:lnSpc>
              <a:spcBef>
                <a:spcPts val="0"/>
              </a:spcBef>
              <a:spcAft>
                <a:spcPts val="0"/>
              </a:spcAft>
              <a:buSzPts val="2800"/>
              <a:buNone/>
            </a:pPr>
            <a:endParaRPr/>
          </a:p>
        </p:txBody>
      </p:sp>
      <p:sp>
        <p:nvSpPr>
          <p:cNvPr id="453" name="Google Shape;453;p75"/>
          <p:cNvSpPr txBox="1">
            <a:spLocks noGrp="1"/>
          </p:cNvSpPr>
          <p:nvPr>
            <p:ph type="body" idx="1"/>
          </p:nvPr>
        </p:nvSpPr>
        <p:spPr>
          <a:xfrm>
            <a:off x="182500" y="1381575"/>
            <a:ext cx="4341600" cy="37095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highlight>
                  <a:srgbClr val="FFFF00"/>
                </a:highlight>
              </a:rPr>
              <a:t>A </a:t>
            </a:r>
            <a:r>
              <a:rPr lang="en" b="1" i="1" dirty="0">
                <a:solidFill>
                  <a:srgbClr val="FF0000"/>
                </a:solidFill>
                <a:highlight>
                  <a:srgbClr val="FFFF00"/>
                </a:highlight>
              </a:rPr>
              <a:t>dictionary</a:t>
            </a:r>
            <a:r>
              <a:rPr lang="en" dirty="0">
                <a:solidFill>
                  <a:srgbClr val="FF0000"/>
                </a:solidFill>
                <a:highlight>
                  <a:srgbClr val="FFFF00"/>
                </a:highlight>
              </a:rPr>
              <a:t> </a:t>
            </a:r>
            <a:r>
              <a:rPr lang="en" dirty="0">
                <a:highlight>
                  <a:srgbClr val="FFFF00"/>
                </a:highlight>
              </a:rPr>
              <a:t>is </a:t>
            </a:r>
            <a:r>
              <a:rPr lang="en" i="1" dirty="0">
                <a:highlight>
                  <a:srgbClr val="FFFF00"/>
                </a:highlight>
              </a:rPr>
              <a:t>sort of</a:t>
            </a:r>
            <a:r>
              <a:rPr lang="en" dirty="0">
                <a:highlight>
                  <a:srgbClr val="FFFF00"/>
                </a:highlight>
              </a:rPr>
              <a:t> like a list, except instead of numeric indices, it uses </a:t>
            </a:r>
            <a:r>
              <a:rPr lang="en" b="1" i="1" dirty="0">
                <a:solidFill>
                  <a:srgbClr val="FF0000"/>
                </a:solidFill>
                <a:highlight>
                  <a:srgbClr val="FFFF00"/>
                </a:highlight>
              </a:rPr>
              <a:t>keys</a:t>
            </a:r>
            <a:r>
              <a:rPr lang="en" dirty="0">
                <a:highlight>
                  <a:srgbClr val="FFFF00"/>
                </a:highlight>
              </a:rPr>
              <a:t>.</a:t>
            </a:r>
            <a:endParaRPr dirty="0">
              <a:highlight>
                <a:srgbClr val="FFFF00"/>
              </a:highlight>
            </a:endParaRPr>
          </a:p>
          <a:p>
            <a:pPr marL="457200" lvl="0" indent="-311150" algn="l" rtl="0">
              <a:lnSpc>
                <a:spcPct val="100000"/>
              </a:lnSpc>
              <a:spcBef>
                <a:spcPts val="0"/>
              </a:spcBef>
              <a:spcAft>
                <a:spcPts val="0"/>
              </a:spcAft>
              <a:buSzPts val="1300"/>
              <a:buChar char="●"/>
            </a:pPr>
            <a:r>
              <a:rPr lang="en" dirty="0"/>
              <a:t>As with a list index, a </a:t>
            </a:r>
            <a:r>
              <a:rPr lang="en" b="1" i="1" dirty="0">
                <a:solidFill>
                  <a:srgbClr val="FF0000"/>
                </a:solidFill>
              </a:rPr>
              <a:t>key</a:t>
            </a:r>
            <a:r>
              <a:rPr lang="en" dirty="0">
                <a:solidFill>
                  <a:srgbClr val="FF0000"/>
                </a:solidFill>
              </a:rPr>
              <a:t> </a:t>
            </a:r>
            <a:r>
              <a:rPr lang="en" dirty="0"/>
              <a:t>can be used to retrieve a </a:t>
            </a:r>
            <a:r>
              <a:rPr lang="en" b="1" i="1" dirty="0">
                <a:solidFill>
                  <a:srgbClr val="FF0000"/>
                </a:solidFill>
              </a:rPr>
              <a:t>value</a:t>
            </a:r>
            <a:r>
              <a:rPr lang="en" dirty="0">
                <a:solidFill>
                  <a:srgbClr val="FF0000"/>
                </a:solidFill>
              </a:rPr>
              <a:t> </a:t>
            </a:r>
            <a:r>
              <a:rPr lang="en" dirty="0"/>
              <a:t>from the dictionary.</a:t>
            </a:r>
            <a:endParaRPr dirty="0"/>
          </a:p>
          <a:p>
            <a:pPr marL="457200" lvl="0" indent="-311150" algn="l" rtl="0">
              <a:lnSpc>
                <a:spcPct val="100000"/>
              </a:lnSpc>
              <a:spcBef>
                <a:spcPts val="0"/>
              </a:spcBef>
              <a:spcAft>
                <a:spcPts val="0"/>
              </a:spcAft>
              <a:buSzPts val="1300"/>
              <a:buChar char="●"/>
            </a:pPr>
            <a:r>
              <a:rPr lang="en" dirty="0"/>
              <a:t>In this way, a dictionary can be said to be a collection of </a:t>
            </a:r>
            <a:r>
              <a:rPr lang="en" b="1" i="1" dirty="0">
                <a:solidFill>
                  <a:srgbClr val="FF0000"/>
                </a:solidFill>
                <a:highlight>
                  <a:srgbClr val="FFFF00"/>
                </a:highlight>
              </a:rPr>
              <a:t>key:value</a:t>
            </a:r>
            <a:r>
              <a:rPr lang="en" dirty="0">
                <a:highlight>
                  <a:srgbClr val="FFFF00"/>
                </a:highlight>
              </a:rPr>
              <a:t> </a:t>
            </a:r>
            <a:r>
              <a:rPr lang="en" dirty="0"/>
              <a:t>pairs.</a:t>
            </a:r>
            <a:endParaRPr dirty="0"/>
          </a:p>
          <a:p>
            <a:pPr marL="914400" lvl="1" indent="-298450" algn="l" rtl="0">
              <a:lnSpc>
                <a:spcPct val="100000"/>
              </a:lnSpc>
              <a:spcBef>
                <a:spcPts val="0"/>
              </a:spcBef>
              <a:spcAft>
                <a:spcPts val="0"/>
              </a:spcAft>
              <a:buSzPts val="1100"/>
              <a:buChar char="○"/>
            </a:pPr>
            <a:r>
              <a:rPr lang="en" dirty="0"/>
              <a:t>Given some </a:t>
            </a:r>
            <a:r>
              <a:rPr lang="en" b="1" i="1" dirty="0">
                <a:solidFill>
                  <a:srgbClr val="FF0000"/>
                </a:solidFill>
              </a:rPr>
              <a:t>key</a:t>
            </a:r>
            <a:r>
              <a:rPr lang="en" dirty="0"/>
              <a:t>, the dictionary will return the corresponding </a:t>
            </a:r>
            <a:r>
              <a:rPr lang="en" b="1" i="1" dirty="0">
                <a:solidFill>
                  <a:srgbClr val="FF0000"/>
                </a:solidFill>
              </a:rPr>
              <a:t>value</a:t>
            </a:r>
            <a:r>
              <a:rPr lang="en" dirty="0"/>
              <a:t>.</a:t>
            </a:r>
            <a:endParaRPr dirty="0"/>
          </a:p>
          <a:p>
            <a:pPr marL="914400" lvl="1" indent="-298450" algn="l" rtl="0">
              <a:lnSpc>
                <a:spcPct val="100000"/>
              </a:lnSpc>
              <a:spcBef>
                <a:spcPts val="0"/>
              </a:spcBef>
              <a:spcAft>
                <a:spcPts val="0"/>
              </a:spcAft>
              <a:buSzPts val="1100"/>
              <a:buChar char="○"/>
            </a:pPr>
            <a:r>
              <a:rPr lang="en" dirty="0"/>
              <a:t>This is similar to a list that, given some index will return the value at that index.</a:t>
            </a:r>
            <a:endParaRPr dirty="0"/>
          </a:p>
          <a:p>
            <a:pPr marL="457200" lvl="0" indent="-311150" algn="l" rtl="0">
              <a:lnSpc>
                <a:spcPct val="100000"/>
              </a:lnSpc>
              <a:spcBef>
                <a:spcPts val="0"/>
              </a:spcBef>
              <a:spcAft>
                <a:spcPts val="0"/>
              </a:spcAft>
              <a:buSzPts val="1300"/>
              <a:buChar char="●"/>
            </a:pPr>
            <a:r>
              <a:rPr lang="en" b="1" i="1" dirty="0">
                <a:solidFill>
                  <a:srgbClr val="FF0000"/>
                </a:solidFill>
                <a:highlight>
                  <a:srgbClr val="FFFF00"/>
                </a:highlight>
              </a:rPr>
              <a:t>Keys</a:t>
            </a:r>
            <a:r>
              <a:rPr lang="en" dirty="0">
                <a:solidFill>
                  <a:srgbClr val="FF0000"/>
                </a:solidFill>
                <a:highlight>
                  <a:srgbClr val="FFFF00"/>
                </a:highlight>
              </a:rPr>
              <a:t> </a:t>
            </a:r>
            <a:r>
              <a:rPr lang="en" dirty="0">
                <a:highlight>
                  <a:srgbClr val="FFFF00"/>
                </a:highlight>
              </a:rPr>
              <a:t>do not need to be numbers</a:t>
            </a:r>
            <a:r>
              <a:rPr lang="en" dirty="0"/>
              <a:t>. They can be many different Python types, including strings.</a:t>
            </a:r>
            <a:endParaRPr dirty="0"/>
          </a:p>
          <a:p>
            <a:pPr marL="457200" lvl="0" indent="-311150" algn="l" rtl="0">
              <a:lnSpc>
                <a:spcPct val="100000"/>
              </a:lnSpc>
              <a:spcBef>
                <a:spcPts val="0"/>
              </a:spcBef>
              <a:spcAft>
                <a:spcPts val="0"/>
              </a:spcAft>
              <a:buSzPts val="1300"/>
              <a:buChar char="●"/>
            </a:pPr>
            <a:r>
              <a:rPr lang="en" dirty="0"/>
              <a:t>Like </a:t>
            </a:r>
            <a:r>
              <a:rPr lang="en" b="1" i="1" dirty="0">
                <a:solidFill>
                  <a:srgbClr val="FF0000"/>
                </a:solidFill>
              </a:rPr>
              <a:t>sets</a:t>
            </a:r>
            <a:r>
              <a:rPr lang="en" dirty="0"/>
              <a:t>, the Python dictionary is a </a:t>
            </a:r>
            <a:r>
              <a:rPr lang="en" b="1" i="1" dirty="0">
                <a:solidFill>
                  <a:srgbClr val="FF0000"/>
                </a:solidFill>
                <a:highlight>
                  <a:srgbClr val="FFFF00"/>
                </a:highlight>
              </a:rPr>
              <a:t>hashing data structure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A </a:t>
            </a:r>
            <a:r>
              <a:rPr lang="en" b="1" i="1" dirty="0">
                <a:solidFill>
                  <a:srgbClr val="FF0000"/>
                </a:solidFill>
              </a:rPr>
              <a:t>hash function</a:t>
            </a:r>
            <a:r>
              <a:rPr lang="en" dirty="0">
                <a:solidFill>
                  <a:srgbClr val="FF0000"/>
                </a:solidFill>
              </a:rPr>
              <a:t> </a:t>
            </a:r>
            <a:r>
              <a:rPr lang="en" dirty="0"/>
              <a:t>is used to convert the key into an integer, which is then used to find an index in an array.</a:t>
            </a:r>
            <a:endParaRPr dirty="0"/>
          </a:p>
          <a:p>
            <a:pPr marL="914400" lvl="1" indent="-298450" algn="l" rtl="0">
              <a:lnSpc>
                <a:spcPct val="100000"/>
              </a:lnSpc>
              <a:spcBef>
                <a:spcPts val="0"/>
              </a:spcBef>
              <a:spcAft>
                <a:spcPts val="0"/>
              </a:spcAft>
              <a:buSzPts val="1100"/>
              <a:buChar char="○"/>
            </a:pPr>
            <a:r>
              <a:rPr lang="en" dirty="0">
                <a:highlight>
                  <a:srgbClr val="FFFF00"/>
                </a:highlight>
              </a:rPr>
              <a:t>Because of this, only </a:t>
            </a:r>
            <a:r>
              <a:rPr lang="en" b="1" i="1" dirty="0">
                <a:solidFill>
                  <a:srgbClr val="FF0000"/>
                </a:solidFill>
                <a:highlight>
                  <a:srgbClr val="FFFF00"/>
                </a:highlight>
              </a:rPr>
              <a:t>hashable</a:t>
            </a:r>
            <a:r>
              <a:rPr lang="en" dirty="0">
                <a:solidFill>
                  <a:srgbClr val="FF0000"/>
                </a:solidFill>
                <a:highlight>
                  <a:srgbClr val="FFFF00"/>
                </a:highlight>
              </a:rPr>
              <a:t> </a:t>
            </a:r>
            <a:r>
              <a:rPr lang="en" dirty="0">
                <a:highlight>
                  <a:srgbClr val="FFFF00"/>
                </a:highlight>
              </a:rPr>
              <a:t>types can be used as keys.</a:t>
            </a:r>
            <a:endParaRPr dirty="0">
              <a:highlight>
                <a:srgbClr val="FFFF00"/>
              </a:highlight>
            </a:endParaRPr>
          </a:p>
        </p:txBody>
      </p:sp>
      <p:sp>
        <p:nvSpPr>
          <p:cNvPr id="454" name="Google Shape;454;p7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455" name="Google Shape;455;p75"/>
          <p:cNvSpPr txBox="1"/>
          <p:nvPr/>
        </p:nvSpPr>
        <p:spPr>
          <a:xfrm>
            <a:off x="4778750" y="2253500"/>
            <a:ext cx="3865200" cy="150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35714"/>
              </a:lnSpc>
              <a:spcBef>
                <a:spcPts val="0"/>
              </a:spcBef>
              <a:spcAft>
                <a:spcPts val="0"/>
              </a:spcAft>
              <a:buNone/>
            </a:pPr>
            <a:r>
              <a:rPr lang="en" sz="1150">
                <a:solidFill>
                  <a:srgbClr val="098658"/>
                </a:solidFill>
                <a:latin typeface="Consolas"/>
                <a:ea typeface="Consolas"/>
                <a:cs typeface="Consolas"/>
                <a:sym typeface="Consolas"/>
              </a:rPr>
              <a:t>1</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a_dict</a:t>
            </a:r>
            <a:r>
              <a:rPr lang="en" sz="1150">
                <a:latin typeface="Consolas"/>
                <a:ea typeface="Consolas"/>
                <a:cs typeface="Consolas"/>
                <a:sym typeface="Consolas"/>
              </a:rPr>
              <a:t> = </a:t>
            </a:r>
            <a:r>
              <a:rPr lang="en" sz="1150">
                <a:solidFill>
                  <a:srgbClr val="267F99"/>
                </a:solidFill>
                <a:latin typeface="Consolas"/>
                <a:ea typeface="Consolas"/>
                <a:cs typeface="Consolas"/>
                <a:sym typeface="Consolas"/>
              </a:rPr>
              <a:t>dict</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098658"/>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b_dict</a:t>
            </a:r>
            <a:r>
              <a:rPr lang="en" sz="1150">
                <a:latin typeface="Consolas"/>
                <a:ea typeface="Consolas"/>
                <a:cs typeface="Consolas"/>
                <a:sym typeface="Consolas"/>
              </a:rPr>
              <a:t> =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098658"/>
                </a:solidFill>
                <a:latin typeface="Consolas"/>
                <a:ea typeface="Consolas"/>
                <a:cs typeface="Consolas"/>
                <a:sym typeface="Consolas"/>
              </a:rPr>
              <a:t>3</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098658"/>
                </a:solidFill>
                <a:latin typeface="Consolas"/>
                <a:ea typeface="Consolas"/>
                <a:cs typeface="Consolas"/>
                <a:sym typeface="Consolas"/>
              </a:rPr>
              <a:t>4</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c_dict</a:t>
            </a:r>
            <a:r>
              <a:rPr lang="en" sz="1150">
                <a:latin typeface="Consolas"/>
                <a:ea typeface="Consolas"/>
                <a:cs typeface="Consolas"/>
                <a:sym typeface="Consolas"/>
              </a:rPr>
              <a:t> = {</a:t>
            </a:r>
            <a:r>
              <a:rPr lang="en" sz="1150">
                <a:solidFill>
                  <a:srgbClr val="A31515"/>
                </a:solidFill>
                <a:latin typeface="Consolas"/>
                <a:ea typeface="Consolas"/>
                <a:cs typeface="Consolas"/>
                <a:sym typeface="Consolas"/>
              </a:rPr>
              <a:t>"one"</a:t>
            </a:r>
            <a:r>
              <a:rPr lang="en" sz="1150">
                <a:latin typeface="Consolas"/>
                <a:ea typeface="Consolas"/>
                <a:cs typeface="Consolas"/>
                <a:sym typeface="Consolas"/>
              </a:rPr>
              <a:t>:</a:t>
            </a:r>
            <a:r>
              <a:rPr lang="en" sz="1150">
                <a:solidFill>
                  <a:srgbClr val="098658"/>
                </a:solidFill>
                <a:latin typeface="Consolas"/>
                <a:ea typeface="Consolas"/>
                <a:cs typeface="Consolas"/>
                <a:sym typeface="Consolas"/>
              </a:rPr>
              <a:t>1</a:t>
            </a:r>
            <a:r>
              <a:rPr lang="en" sz="1150">
                <a:latin typeface="Consolas"/>
                <a:ea typeface="Consolas"/>
                <a:cs typeface="Consolas"/>
                <a:sym typeface="Consolas"/>
              </a:rPr>
              <a:t>, </a:t>
            </a:r>
            <a:r>
              <a:rPr lang="en" sz="1150">
                <a:solidFill>
                  <a:srgbClr val="A31515"/>
                </a:solidFill>
                <a:latin typeface="Consolas"/>
                <a:ea typeface="Consolas"/>
                <a:cs typeface="Consolas"/>
                <a:sym typeface="Consolas"/>
              </a:rPr>
              <a:t>"two"</a:t>
            </a:r>
            <a:r>
              <a:rPr lang="en" sz="1150">
                <a:latin typeface="Consolas"/>
                <a:ea typeface="Consolas"/>
                <a:cs typeface="Consolas"/>
                <a:sym typeface="Consolas"/>
              </a:rPr>
              <a:t>:</a:t>
            </a:r>
            <a:r>
              <a:rPr lang="en" sz="1150">
                <a:solidFill>
                  <a:srgbClr val="098658"/>
                </a:solidFill>
                <a:latin typeface="Consolas"/>
                <a:ea typeface="Consolas"/>
                <a:cs typeface="Consolas"/>
                <a:sym typeface="Consolas"/>
              </a:rPr>
              <a:t>2</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098658"/>
                </a:solidFill>
                <a:latin typeface="Consolas"/>
                <a:ea typeface="Consolas"/>
                <a:cs typeface="Consolas"/>
                <a:sym typeface="Consolas"/>
              </a:rPr>
              <a:t>5</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c_dict</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"three"</a:t>
            </a:r>
            <a:r>
              <a:rPr lang="en" sz="1150">
                <a:latin typeface="Consolas"/>
                <a:ea typeface="Consolas"/>
                <a:cs typeface="Consolas"/>
                <a:sym typeface="Consolas"/>
              </a:rPr>
              <a:t>] = </a:t>
            </a:r>
            <a:r>
              <a:rPr lang="en" sz="1150">
                <a:solidFill>
                  <a:srgbClr val="098658"/>
                </a:solidFill>
                <a:latin typeface="Consolas"/>
                <a:ea typeface="Consolas"/>
                <a:cs typeface="Consolas"/>
                <a:sym typeface="Consolas"/>
              </a:rPr>
              <a:t>3</a:t>
            </a:r>
            <a:endParaRPr sz="1150">
              <a:solidFill>
                <a:srgbClr val="098658"/>
              </a:solidFill>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098658"/>
                </a:solidFill>
                <a:latin typeface="Consolas"/>
                <a:ea typeface="Consolas"/>
                <a:cs typeface="Consolas"/>
                <a:sym typeface="Consolas"/>
              </a:rPr>
              <a:t>6</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c_dict</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"one"</a:t>
            </a:r>
            <a:r>
              <a:rPr lang="en" sz="1150">
                <a:latin typeface="Consolas"/>
                <a:ea typeface="Consolas"/>
                <a:cs typeface="Consolas"/>
                <a:sym typeface="Consolas"/>
              </a:rPr>
              <a:t>] = </a:t>
            </a:r>
            <a:r>
              <a:rPr lang="en" sz="1150">
                <a:solidFill>
                  <a:srgbClr val="098658"/>
                </a:solidFill>
                <a:latin typeface="Consolas"/>
                <a:ea typeface="Consolas"/>
                <a:cs typeface="Consolas"/>
                <a:sym typeface="Consolas"/>
              </a:rPr>
              <a:t>1111</a:t>
            </a:r>
            <a:endParaRPr sz="1150">
              <a:solidFill>
                <a:srgbClr val="999999"/>
              </a:solidFill>
              <a:latin typeface="Consolas"/>
              <a:ea typeface="Consolas"/>
              <a:cs typeface="Consolas"/>
              <a:sym typeface="Consolas"/>
            </a:endParaRPr>
          </a:p>
        </p:txBody>
      </p:sp>
      <p:sp>
        <p:nvSpPr>
          <p:cNvPr id="456" name="Google Shape;456;p75"/>
          <p:cNvSpPr txBox="1"/>
          <p:nvPr/>
        </p:nvSpPr>
        <p:spPr>
          <a:xfrm>
            <a:off x="4778750" y="1422025"/>
            <a:ext cx="3865200" cy="71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An </a:t>
            </a:r>
            <a:r>
              <a:rPr lang="en" sz="1200" b="1" i="1" u="none" strike="noStrike" cap="none" dirty="0">
                <a:solidFill>
                  <a:srgbClr val="FF0000"/>
                </a:solidFill>
                <a:latin typeface="Arial"/>
                <a:ea typeface="Arial"/>
                <a:cs typeface="Arial"/>
                <a:sym typeface="Arial"/>
              </a:rPr>
              <a:t>empty</a:t>
            </a:r>
            <a:r>
              <a:rPr lang="en" sz="1200" b="0" i="0" u="none" strike="noStrike" cap="none" dirty="0">
                <a:solidFill>
                  <a:srgbClr val="FF0000"/>
                </a:solidFill>
                <a:latin typeface="Arial"/>
                <a:ea typeface="Arial"/>
                <a:cs typeface="Arial"/>
                <a:sym typeface="Arial"/>
              </a:rPr>
              <a:t> </a:t>
            </a:r>
            <a:r>
              <a:rPr lang="en" sz="1200" b="0" i="0" u="none" strike="noStrike" cap="none" dirty="0">
                <a:solidFill>
                  <a:srgbClr val="000000"/>
                </a:solidFill>
                <a:latin typeface="Arial"/>
                <a:ea typeface="Arial"/>
                <a:cs typeface="Arial"/>
                <a:sym typeface="Arial"/>
              </a:rPr>
              <a:t>dictionary may be created using the </a:t>
            </a:r>
            <a:r>
              <a:rPr lang="en" sz="1200" b="1" i="1" u="none" strike="noStrike" cap="none" dirty="0">
                <a:solidFill>
                  <a:srgbClr val="FF0000"/>
                </a:solidFill>
                <a:latin typeface="Arial"/>
                <a:ea typeface="Arial"/>
                <a:cs typeface="Arial"/>
                <a:sym typeface="Arial"/>
              </a:rPr>
              <a:t>built-in</a:t>
            </a:r>
            <a:r>
              <a:rPr lang="en" sz="1200" b="0" i="0" u="none" strike="noStrike" cap="none" dirty="0">
                <a:solidFill>
                  <a:srgbClr val="000000"/>
                </a:solidFill>
                <a:latin typeface="Arial"/>
                <a:ea typeface="Arial"/>
                <a:cs typeface="Arial"/>
                <a:sym typeface="Arial"/>
              </a:rPr>
              <a:t> </a:t>
            </a:r>
            <a:r>
              <a:rPr lang="en" sz="1200" i="0" u="none" strike="noStrike" cap="none" dirty="0">
                <a:solidFill>
                  <a:srgbClr val="000000"/>
                </a:solidFill>
                <a:highlight>
                  <a:srgbClr val="FFFF00"/>
                </a:highlight>
                <a:latin typeface="Courier New"/>
                <a:ea typeface="Courier New"/>
                <a:cs typeface="Courier New"/>
                <a:sym typeface="Courier New"/>
              </a:rPr>
              <a:t>dict()</a:t>
            </a:r>
            <a:r>
              <a:rPr lang="en" sz="1200" b="0" i="0" u="none" strike="noStrike" cap="none" dirty="0">
                <a:solidFill>
                  <a:srgbClr val="000000"/>
                </a:solidFill>
                <a:highlight>
                  <a:srgbClr val="FFFF00"/>
                </a:highlight>
                <a:sym typeface="Arial"/>
              </a:rPr>
              <a:t> </a:t>
            </a:r>
            <a:r>
              <a:rPr lang="en" sz="1200" b="0" i="0" u="none" strike="noStrike" cap="none" dirty="0">
                <a:solidFill>
                  <a:srgbClr val="000000"/>
                </a:solidFill>
                <a:latin typeface="Arial"/>
                <a:ea typeface="Arial"/>
                <a:cs typeface="Arial"/>
                <a:sym typeface="Arial"/>
              </a:rPr>
              <a:t>function </a:t>
            </a:r>
            <a:r>
              <a:rPr lang="en" sz="1200" b="1" i="1" u="none" strike="noStrike" cap="none" dirty="0">
                <a:solidFill>
                  <a:srgbClr val="FF0000"/>
                </a:solidFill>
                <a:latin typeface="Arial"/>
                <a:ea typeface="Arial"/>
                <a:cs typeface="Arial"/>
                <a:sym typeface="Arial"/>
              </a:rPr>
              <a:t>or</a:t>
            </a:r>
            <a:r>
              <a:rPr lang="en" sz="1200" b="1" i="1" u="none" strike="noStrike" cap="none" dirty="0">
                <a:solidFill>
                  <a:srgbClr val="000000"/>
                </a:solidFill>
                <a:latin typeface="Arial"/>
                <a:ea typeface="Arial"/>
                <a:cs typeface="Arial"/>
                <a:sym typeface="Arial"/>
              </a:rPr>
              <a:t> </a:t>
            </a:r>
            <a:r>
              <a:rPr lang="en" sz="1200" b="0" i="0" u="none" strike="noStrike" cap="none" dirty="0">
                <a:solidFill>
                  <a:srgbClr val="000000"/>
                </a:solidFill>
                <a:latin typeface="Arial"/>
                <a:ea typeface="Arial"/>
                <a:cs typeface="Arial"/>
                <a:sym typeface="Arial"/>
              </a:rPr>
              <a:t>a </a:t>
            </a:r>
            <a:r>
              <a:rPr lang="en" sz="1200" b="1" i="1" u="none" strike="noStrike" cap="none" dirty="0">
                <a:solidFill>
                  <a:srgbClr val="FF0000"/>
                </a:solidFill>
                <a:latin typeface="Arial"/>
                <a:ea typeface="Arial"/>
                <a:cs typeface="Arial"/>
                <a:sym typeface="Arial"/>
              </a:rPr>
              <a:t>pair of empty curly braces</a:t>
            </a:r>
            <a:r>
              <a:rPr lang="en" sz="1200" b="0" i="0" u="none" strike="noStrike" cap="none" dirty="0">
                <a:solidFill>
                  <a:srgbClr val="000000"/>
                </a:solidFill>
                <a:latin typeface="Arial"/>
                <a:ea typeface="Arial"/>
                <a:cs typeface="Arial"/>
                <a:sym typeface="Arial"/>
              </a:rPr>
              <a:t> (this is why we can't create an empty literal set).</a:t>
            </a:r>
            <a:endParaRPr sz="1200" b="0" i="0" u="none" strike="noStrike" cap="none" dirty="0">
              <a:solidFill>
                <a:srgbClr val="000000"/>
              </a:solidFill>
              <a:latin typeface="Arial"/>
              <a:ea typeface="Arial"/>
              <a:cs typeface="Arial"/>
              <a:sym typeface="Arial"/>
            </a:endParaRPr>
          </a:p>
        </p:txBody>
      </p:sp>
      <p:sp>
        <p:nvSpPr>
          <p:cNvPr id="457" name="Google Shape;457;p75"/>
          <p:cNvSpPr txBox="1"/>
          <p:nvPr/>
        </p:nvSpPr>
        <p:spPr>
          <a:xfrm>
            <a:off x="4778750" y="3860425"/>
            <a:ext cx="3865200" cy="505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A literal dictionary can also be created by enclosing </a:t>
            </a:r>
            <a:r>
              <a:rPr lang="en" sz="1200" b="1" i="1" u="none" strike="noStrike" cap="none">
                <a:solidFill>
                  <a:srgbClr val="FF0000"/>
                </a:solidFill>
                <a:latin typeface="Arial"/>
                <a:ea typeface="Arial"/>
                <a:cs typeface="Arial"/>
                <a:sym typeface="Arial"/>
              </a:rPr>
              <a:t>key:value</a:t>
            </a:r>
            <a:r>
              <a:rPr lang="en" sz="1200" b="0" i="0" u="none" strike="noStrike" cap="none">
                <a:solidFill>
                  <a:srgbClr val="000000"/>
                </a:solidFill>
                <a:latin typeface="Arial"/>
                <a:ea typeface="Arial"/>
                <a:cs typeface="Arial"/>
                <a:sym typeface="Arial"/>
              </a:rPr>
              <a:t> pairs in curly braces.</a:t>
            </a:r>
            <a:endParaRPr sz="1200" b="0" i="0" u="none" strike="noStrike" cap="none">
              <a:solidFill>
                <a:srgbClr val="000000"/>
              </a:solidFill>
              <a:latin typeface="Arial"/>
              <a:ea typeface="Arial"/>
              <a:cs typeface="Arial"/>
              <a:sym typeface="Arial"/>
            </a:endParaRPr>
          </a:p>
        </p:txBody>
      </p:sp>
      <p:sp>
        <p:nvSpPr>
          <p:cNvPr id="458" name="Google Shape;458;p75"/>
          <p:cNvSpPr txBox="1"/>
          <p:nvPr/>
        </p:nvSpPr>
        <p:spPr>
          <a:xfrm>
            <a:off x="4778750" y="4492724"/>
            <a:ext cx="3865200" cy="505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Keys can be used like </a:t>
            </a:r>
            <a:r>
              <a:rPr lang="en" sz="1200" b="1" i="1">
                <a:solidFill>
                  <a:srgbClr val="FF0000"/>
                </a:solidFill>
              </a:rPr>
              <a:t>indices</a:t>
            </a:r>
            <a:r>
              <a:rPr lang="en" sz="1200" b="1" i="1"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in an array or list to add or change values in the dictionary.</a:t>
            </a:r>
            <a:endParaRPr sz="1200" b="0" i="0" u="none" strike="noStrike" cap="none">
              <a:solidFill>
                <a:srgbClr val="000000"/>
              </a:solidFill>
              <a:latin typeface="Arial"/>
              <a:ea typeface="Arial"/>
              <a:cs typeface="Arial"/>
              <a:sym typeface="Arial"/>
            </a:endParaRPr>
          </a:p>
        </p:txBody>
      </p:sp>
      <p:grpSp>
        <p:nvGrpSpPr>
          <p:cNvPr id="459" name="Google Shape;459;p75"/>
          <p:cNvGrpSpPr/>
          <p:nvPr/>
        </p:nvGrpSpPr>
        <p:grpSpPr>
          <a:xfrm>
            <a:off x="5159025" y="2140525"/>
            <a:ext cx="1552325" cy="380950"/>
            <a:chOff x="5159025" y="2140525"/>
            <a:chExt cx="1552325" cy="380950"/>
          </a:xfrm>
        </p:grpSpPr>
        <p:sp>
          <p:nvSpPr>
            <p:cNvPr id="460" name="Google Shape;460;p75"/>
            <p:cNvSpPr/>
            <p:nvPr/>
          </p:nvSpPr>
          <p:spPr>
            <a:xfrm>
              <a:off x="5159025" y="2327375"/>
              <a:ext cx="1233600" cy="194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461" name="Google Shape;461;p75"/>
            <p:cNvCxnSpPr>
              <a:stCxn id="456" idx="2"/>
              <a:endCxn id="460" idx="3"/>
            </p:cNvCxnSpPr>
            <p:nvPr/>
          </p:nvCxnSpPr>
          <p:spPr>
            <a:xfrm rot="5400000">
              <a:off x="6410150" y="2123125"/>
              <a:ext cx="283800" cy="318600"/>
            </a:xfrm>
            <a:prstGeom prst="bentConnector2">
              <a:avLst/>
            </a:prstGeom>
            <a:noFill/>
            <a:ln w="19050" cap="flat" cmpd="sng">
              <a:solidFill>
                <a:srgbClr val="FF0000"/>
              </a:solidFill>
              <a:prstDash val="solid"/>
              <a:round/>
              <a:headEnd type="none" w="med" len="med"/>
              <a:tailEnd type="none" w="med" len="med"/>
            </a:ln>
          </p:spPr>
        </p:cxnSp>
      </p:grpSp>
      <p:grpSp>
        <p:nvGrpSpPr>
          <p:cNvPr id="462" name="Google Shape;462;p75"/>
          <p:cNvGrpSpPr/>
          <p:nvPr/>
        </p:nvGrpSpPr>
        <p:grpSpPr>
          <a:xfrm>
            <a:off x="5159025" y="2140525"/>
            <a:ext cx="1552325" cy="609550"/>
            <a:chOff x="5159025" y="2140525"/>
            <a:chExt cx="1552325" cy="609550"/>
          </a:xfrm>
        </p:grpSpPr>
        <p:sp>
          <p:nvSpPr>
            <p:cNvPr id="463" name="Google Shape;463;p75"/>
            <p:cNvSpPr/>
            <p:nvPr/>
          </p:nvSpPr>
          <p:spPr>
            <a:xfrm>
              <a:off x="5159025" y="2555975"/>
              <a:ext cx="1233600" cy="194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464" name="Google Shape;464;p75"/>
            <p:cNvCxnSpPr>
              <a:stCxn id="456" idx="2"/>
              <a:endCxn id="463" idx="3"/>
            </p:cNvCxnSpPr>
            <p:nvPr/>
          </p:nvCxnSpPr>
          <p:spPr>
            <a:xfrm rot="5400000">
              <a:off x="6295850" y="2237425"/>
              <a:ext cx="512400" cy="318600"/>
            </a:xfrm>
            <a:prstGeom prst="bentConnector2">
              <a:avLst/>
            </a:prstGeom>
            <a:noFill/>
            <a:ln w="19050" cap="flat" cmpd="sng">
              <a:solidFill>
                <a:srgbClr val="FF0000"/>
              </a:solidFill>
              <a:prstDash val="solid"/>
              <a:round/>
              <a:headEnd type="none" w="med" len="med"/>
              <a:tailEnd type="none" w="med" len="med"/>
            </a:ln>
          </p:spPr>
        </p:cxnSp>
      </p:grpSp>
      <p:grpSp>
        <p:nvGrpSpPr>
          <p:cNvPr id="465" name="Google Shape;465;p75"/>
          <p:cNvGrpSpPr/>
          <p:nvPr/>
        </p:nvGrpSpPr>
        <p:grpSpPr>
          <a:xfrm>
            <a:off x="4778750" y="3043334"/>
            <a:ext cx="2615875" cy="1069991"/>
            <a:chOff x="4778750" y="3043334"/>
            <a:chExt cx="2615875" cy="1069991"/>
          </a:xfrm>
        </p:grpSpPr>
        <p:sp>
          <p:nvSpPr>
            <p:cNvPr id="466" name="Google Shape;466;p75"/>
            <p:cNvSpPr/>
            <p:nvPr/>
          </p:nvSpPr>
          <p:spPr>
            <a:xfrm>
              <a:off x="5159025" y="3043334"/>
              <a:ext cx="2235600" cy="194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467" name="Google Shape;467;p75"/>
            <p:cNvCxnSpPr>
              <a:stCxn id="457" idx="1"/>
              <a:endCxn id="466" idx="1"/>
            </p:cNvCxnSpPr>
            <p:nvPr/>
          </p:nvCxnSpPr>
          <p:spPr>
            <a:xfrm rot="10800000" flipH="1">
              <a:off x="4778750" y="3140425"/>
              <a:ext cx="380400" cy="972900"/>
            </a:xfrm>
            <a:prstGeom prst="bentConnector3">
              <a:avLst>
                <a:gd name="adj1" fmla="val -62599"/>
              </a:avLst>
            </a:prstGeom>
            <a:noFill/>
            <a:ln w="19050" cap="flat" cmpd="sng">
              <a:solidFill>
                <a:srgbClr val="FF0000"/>
              </a:solidFill>
              <a:prstDash val="solid"/>
              <a:round/>
              <a:headEnd type="none" w="med" len="med"/>
              <a:tailEnd type="none" w="med" len="med"/>
            </a:ln>
          </p:spPr>
        </p:cxnSp>
      </p:grpSp>
      <p:grpSp>
        <p:nvGrpSpPr>
          <p:cNvPr id="468" name="Google Shape;468;p75"/>
          <p:cNvGrpSpPr/>
          <p:nvPr/>
        </p:nvGrpSpPr>
        <p:grpSpPr>
          <a:xfrm>
            <a:off x="5159025" y="3281064"/>
            <a:ext cx="3484925" cy="1464560"/>
            <a:chOff x="5159025" y="3281064"/>
            <a:chExt cx="3484925" cy="1464560"/>
          </a:xfrm>
        </p:grpSpPr>
        <p:sp>
          <p:nvSpPr>
            <p:cNvPr id="469" name="Google Shape;469;p75"/>
            <p:cNvSpPr/>
            <p:nvPr/>
          </p:nvSpPr>
          <p:spPr>
            <a:xfrm>
              <a:off x="5159025" y="3281064"/>
              <a:ext cx="1683600" cy="443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470" name="Google Shape;470;p75"/>
            <p:cNvCxnSpPr>
              <a:stCxn id="458" idx="3"/>
              <a:endCxn id="469" idx="3"/>
            </p:cNvCxnSpPr>
            <p:nvPr/>
          </p:nvCxnSpPr>
          <p:spPr>
            <a:xfrm rot="10800000">
              <a:off x="6842750" y="3502724"/>
              <a:ext cx="1801200" cy="1242900"/>
            </a:xfrm>
            <a:prstGeom prst="bentConnector3">
              <a:avLst>
                <a:gd name="adj1" fmla="val -13220"/>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55"/>
                                        </p:tgtEl>
                                        <p:attrNameLst>
                                          <p:attrName>style.visibility</p:attrName>
                                        </p:attrNameLst>
                                      </p:cBhvr>
                                      <p:to>
                                        <p:strVal val="visible"/>
                                      </p:to>
                                    </p:set>
                                    <p:animEffect transition="in" filter="fade">
                                      <p:cBhvr>
                                        <p:cTn id="43" dur="1000"/>
                                        <p:tgtEl>
                                          <p:spTgt spid="455"/>
                                        </p:tgtEl>
                                      </p:cBhvr>
                                    </p:animEffect>
                                  </p:childTnLst>
                                </p:cTn>
                              </p:par>
                              <p:par>
                                <p:cTn id="44" presetID="10" presetClass="entr" presetSubtype="0" fill="hold" nodeType="withEffect">
                                  <p:stCondLst>
                                    <p:cond delay="0"/>
                                  </p:stCondLst>
                                  <p:childTnLst>
                                    <p:set>
                                      <p:cBhvr>
                                        <p:cTn id="45" dur="1" fill="hold">
                                          <p:stCondLst>
                                            <p:cond delay="0"/>
                                          </p:stCondLst>
                                        </p:cTn>
                                        <p:tgtEl>
                                          <p:spTgt spid="456"/>
                                        </p:tgtEl>
                                        <p:attrNameLst>
                                          <p:attrName>style.visibility</p:attrName>
                                        </p:attrNameLst>
                                      </p:cBhvr>
                                      <p:to>
                                        <p:strVal val="visible"/>
                                      </p:to>
                                    </p:set>
                                    <p:animEffect transition="in" filter="fade">
                                      <p:cBhvr>
                                        <p:cTn id="46" dur="1000"/>
                                        <p:tgtEl>
                                          <p:spTgt spid="456"/>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459"/>
                                        </p:tgtEl>
                                        <p:attrNameLst>
                                          <p:attrName>style.visibility</p:attrName>
                                        </p:attrNameLst>
                                      </p:cBhvr>
                                      <p:to>
                                        <p:strVal val="visible"/>
                                      </p:to>
                                    </p:set>
                                    <p:animEffect transition="in" filter="fade">
                                      <p:cBhvr>
                                        <p:cTn id="50" dur="1000"/>
                                        <p:tgtEl>
                                          <p:spTgt spid="459"/>
                                        </p:tgtEl>
                                      </p:cBhvr>
                                    </p:animEffect>
                                  </p:childTnLst>
                                </p:cTn>
                              </p:par>
                            </p:childTnLst>
                          </p:cTn>
                        </p:par>
                        <p:par>
                          <p:cTn id="51" fill="hold">
                            <p:stCondLst>
                              <p:cond delay="2000"/>
                            </p:stCondLst>
                            <p:childTnLst>
                              <p:par>
                                <p:cTn id="52" presetID="10" presetClass="entr" presetSubtype="0" fill="hold" nodeType="afterEffect">
                                  <p:stCondLst>
                                    <p:cond delay="0"/>
                                  </p:stCondLst>
                                  <p:childTnLst>
                                    <p:set>
                                      <p:cBhvr>
                                        <p:cTn id="53" dur="1" fill="hold">
                                          <p:stCondLst>
                                            <p:cond delay="0"/>
                                          </p:stCondLst>
                                        </p:cTn>
                                        <p:tgtEl>
                                          <p:spTgt spid="462"/>
                                        </p:tgtEl>
                                        <p:attrNameLst>
                                          <p:attrName>style.visibility</p:attrName>
                                        </p:attrNameLst>
                                      </p:cBhvr>
                                      <p:to>
                                        <p:strVal val="visible"/>
                                      </p:to>
                                    </p:set>
                                    <p:animEffect transition="in" filter="fade">
                                      <p:cBhvr>
                                        <p:cTn id="54" dur="1000"/>
                                        <p:tgtEl>
                                          <p:spTgt spid="46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57"/>
                                        </p:tgtEl>
                                        <p:attrNameLst>
                                          <p:attrName>style.visibility</p:attrName>
                                        </p:attrNameLst>
                                      </p:cBhvr>
                                      <p:to>
                                        <p:strVal val="visible"/>
                                      </p:to>
                                    </p:set>
                                    <p:animEffect transition="in" filter="fade">
                                      <p:cBhvr>
                                        <p:cTn id="59" dur="1000"/>
                                        <p:tgtEl>
                                          <p:spTgt spid="457"/>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465"/>
                                        </p:tgtEl>
                                        <p:attrNameLst>
                                          <p:attrName>style.visibility</p:attrName>
                                        </p:attrNameLst>
                                      </p:cBhvr>
                                      <p:to>
                                        <p:strVal val="visible"/>
                                      </p:to>
                                    </p:set>
                                    <p:animEffect transition="in" filter="fade">
                                      <p:cBhvr>
                                        <p:cTn id="63" dur="1000"/>
                                        <p:tgtEl>
                                          <p:spTgt spid="46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458"/>
                                        </p:tgtEl>
                                        <p:attrNameLst>
                                          <p:attrName>style.visibility</p:attrName>
                                        </p:attrNameLst>
                                      </p:cBhvr>
                                      <p:to>
                                        <p:strVal val="visible"/>
                                      </p:to>
                                    </p:set>
                                    <p:animEffect transition="in" filter="fade">
                                      <p:cBhvr>
                                        <p:cTn id="68" dur="1000"/>
                                        <p:tgtEl>
                                          <p:spTgt spid="458"/>
                                        </p:tgtEl>
                                      </p:cBhvr>
                                    </p:animEffect>
                                  </p:childTnLst>
                                </p:cTn>
                              </p:par>
                            </p:childTnLst>
                          </p:cTn>
                        </p:par>
                        <p:par>
                          <p:cTn id="69" fill="hold">
                            <p:stCondLst>
                              <p:cond delay="1000"/>
                            </p:stCondLst>
                            <p:childTnLst>
                              <p:par>
                                <p:cTn id="70" presetID="10" presetClass="entr" presetSubtype="0" fill="hold" nodeType="afterEffect">
                                  <p:stCondLst>
                                    <p:cond delay="0"/>
                                  </p:stCondLst>
                                  <p:childTnLst>
                                    <p:set>
                                      <p:cBhvr>
                                        <p:cTn id="71" dur="1" fill="hold">
                                          <p:stCondLst>
                                            <p:cond delay="0"/>
                                          </p:stCondLst>
                                        </p:cTn>
                                        <p:tgtEl>
                                          <p:spTgt spid="468"/>
                                        </p:tgtEl>
                                        <p:attrNameLst>
                                          <p:attrName>style.visibility</p:attrName>
                                        </p:attrNameLst>
                                      </p:cBhvr>
                                      <p:to>
                                        <p:strVal val="visible"/>
                                      </p:to>
                                    </p:set>
                                    <p:animEffect transition="in" filter="fade">
                                      <p:cBhvr>
                                        <p:cTn id="72" dur="1000"/>
                                        <p:tgtEl>
                                          <p:spTgt spid="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76"/>
          <p:cNvSpPr txBox="1">
            <a:spLocks noGrp="1"/>
          </p:cNvSpPr>
          <p:nvPr>
            <p:ph type="title"/>
          </p:nvPr>
        </p:nvSpPr>
        <p:spPr>
          <a:xfrm>
            <a:off x="5264725" y="427838"/>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Implementations</a:t>
            </a:r>
            <a:endParaRPr/>
          </a:p>
        </p:txBody>
      </p:sp>
      <p:sp>
        <p:nvSpPr>
          <p:cNvPr id="476" name="Google Shape;476;p76"/>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Similar to the Set, a </a:t>
            </a:r>
            <a:r>
              <a:rPr lang="en" b="1" i="1" dirty="0">
                <a:solidFill>
                  <a:srgbClr val="FF0000"/>
                </a:solidFill>
              </a:rPr>
              <a:t>Map</a:t>
            </a:r>
            <a:r>
              <a:rPr lang="en" dirty="0"/>
              <a:t> has a couple common implementations.</a:t>
            </a:r>
            <a:endParaRPr dirty="0"/>
          </a:p>
          <a:p>
            <a:pPr marL="914400" lvl="1" indent="-298450" algn="l" rtl="0">
              <a:spcBef>
                <a:spcPts val="0"/>
              </a:spcBef>
              <a:spcAft>
                <a:spcPts val="0"/>
              </a:spcAft>
              <a:buSzPts val="1100"/>
              <a:buChar char="○"/>
            </a:pPr>
            <a:r>
              <a:rPr lang="en" dirty="0">
                <a:highlight>
                  <a:srgbClr val="FFFF00"/>
                </a:highlight>
              </a:rPr>
              <a:t>Tree based maps </a:t>
            </a:r>
            <a:r>
              <a:rPr lang="en" dirty="0"/>
              <a:t>that maintain order by key</a:t>
            </a:r>
            <a:endParaRPr dirty="0"/>
          </a:p>
          <a:p>
            <a:pPr marL="914400" lvl="1" indent="-298450" algn="l" rtl="0">
              <a:spcBef>
                <a:spcPts val="0"/>
              </a:spcBef>
              <a:spcAft>
                <a:spcPts val="0"/>
              </a:spcAft>
              <a:buSzPts val="1100"/>
              <a:buChar char="○"/>
            </a:pPr>
            <a:r>
              <a:rPr lang="en" dirty="0">
                <a:highlight>
                  <a:srgbClr val="FFFF00"/>
                </a:highlight>
              </a:rPr>
              <a:t>Hash based maps </a:t>
            </a:r>
            <a:r>
              <a:rPr lang="en" dirty="0"/>
              <a:t>that are faster but have no order</a:t>
            </a:r>
            <a:endParaRPr dirty="0"/>
          </a:p>
          <a:p>
            <a:pPr marL="457200" lvl="0" indent="-311150" algn="l" rtl="0">
              <a:spcBef>
                <a:spcPts val="1000"/>
              </a:spcBef>
              <a:spcAft>
                <a:spcPts val="0"/>
              </a:spcAft>
              <a:buSzPts val="1300"/>
              <a:buChar char="●"/>
            </a:pPr>
            <a:r>
              <a:rPr lang="en" dirty="0"/>
              <a:t>A Tree based map implementation would be similar to the implementation we did for Set.</a:t>
            </a:r>
            <a:endParaRPr dirty="0"/>
          </a:p>
          <a:p>
            <a:pPr marL="914400" lvl="1" indent="-298450" algn="l" rtl="0">
              <a:spcBef>
                <a:spcPts val="1000"/>
              </a:spcBef>
              <a:spcAft>
                <a:spcPts val="0"/>
              </a:spcAft>
              <a:buSzPts val="1100"/>
              <a:buChar char="○"/>
            </a:pPr>
            <a:r>
              <a:rPr lang="en" dirty="0">
                <a:highlight>
                  <a:srgbClr val="FFFF00"/>
                </a:highlight>
              </a:rPr>
              <a:t>But with a key/value pair rather than a single value..</a:t>
            </a:r>
            <a:endParaRPr dirty="0">
              <a:highlight>
                <a:srgbClr val="FFFF00"/>
              </a:highlight>
            </a:endParaRPr>
          </a:p>
          <a:p>
            <a:pPr marL="457200" lvl="0" indent="-311150" algn="l" rtl="0">
              <a:spcBef>
                <a:spcPts val="1000"/>
              </a:spcBef>
              <a:spcAft>
                <a:spcPts val="0"/>
              </a:spcAft>
              <a:buSzPts val="1300"/>
              <a:buChar char="●"/>
            </a:pPr>
            <a:r>
              <a:rPr lang="en" dirty="0"/>
              <a:t>For this reason we'll only create a </a:t>
            </a:r>
            <a:r>
              <a:rPr lang="en" b="1" i="1" dirty="0">
                <a:solidFill>
                  <a:srgbClr val="FF0000"/>
                </a:solidFill>
                <a:highlight>
                  <a:srgbClr val="FFFF00"/>
                </a:highlight>
              </a:rPr>
              <a:t>hash based</a:t>
            </a:r>
            <a:r>
              <a:rPr lang="en" dirty="0">
                <a:highlight>
                  <a:srgbClr val="FFFF00"/>
                </a:highlight>
              </a:rPr>
              <a:t> map implementation.</a:t>
            </a:r>
            <a:endParaRPr dirty="0">
              <a:highlight>
                <a:srgbClr val="FFFF00"/>
              </a:highlight>
            </a:endParaRPr>
          </a:p>
          <a:p>
            <a:pPr marL="457200" lvl="0" indent="-311150" algn="l" rtl="0">
              <a:spcBef>
                <a:spcPts val="1000"/>
              </a:spcBef>
              <a:spcAft>
                <a:spcPts val="1000"/>
              </a:spcAft>
              <a:buSzPts val="1300"/>
              <a:buChar char="●"/>
            </a:pPr>
            <a:r>
              <a:rPr lang="en" dirty="0"/>
              <a:t>At the end of the unit, we'll look at Java's implementations which includes a full tree and hash implementation.</a:t>
            </a:r>
            <a:endParaRPr dirty="0"/>
          </a:p>
        </p:txBody>
      </p:sp>
      <p:sp>
        <p:nvSpPr>
          <p:cNvPr id="477" name="Google Shape;477;p7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478" name="Google Shape;478;p76"/>
          <p:cNvSpPr txBox="1">
            <a:spLocks noGrp="1"/>
          </p:cNvSpPr>
          <p:nvPr>
            <p:ph type="body" idx="3"/>
          </p:nvPr>
        </p:nvSpPr>
        <p:spPr>
          <a:xfrm>
            <a:off x="5192225" y="4190325"/>
            <a:ext cx="3706500" cy="70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Like many data structures, Maps have multiple common implementations.</a:t>
            </a:r>
            <a:endParaRPr/>
          </a:p>
        </p:txBody>
      </p:sp>
      <p:pic>
        <p:nvPicPr>
          <p:cNvPr id="479" name="Google Shape;479;p76"/>
          <p:cNvPicPr preferRelativeResize="0"/>
          <p:nvPr/>
        </p:nvPicPr>
        <p:blipFill>
          <a:blip r:embed="rId3">
            <a:alphaModFix/>
          </a:blip>
          <a:stretch>
            <a:fillRect/>
          </a:stretch>
        </p:blipFill>
        <p:spPr>
          <a:xfrm>
            <a:off x="5357575" y="1161950"/>
            <a:ext cx="3375809" cy="2819587"/>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7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Map Interface</a:t>
            </a:r>
            <a:endParaRPr/>
          </a:p>
        </p:txBody>
      </p:sp>
      <p:sp>
        <p:nvSpPr>
          <p:cNvPr id="485" name="Google Shape;485;p7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Before we create a specific implementation, we should define the ADT operations using an interface. This way, all implementations can be used interchangeably.</a:t>
            </a:r>
            <a:endParaRPr/>
          </a:p>
        </p:txBody>
      </p:sp>
      <p:sp>
        <p:nvSpPr>
          <p:cNvPr id="486" name="Google Shape;486;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487" name="Google Shape;487;p77"/>
          <p:cNvSpPr txBox="1">
            <a:spLocks noGrp="1"/>
          </p:cNvSpPr>
          <p:nvPr>
            <p:ph type="body" idx="2"/>
          </p:nvPr>
        </p:nvSpPr>
        <p:spPr>
          <a:xfrm>
            <a:off x="3611750" y="1751525"/>
            <a:ext cx="5329500" cy="192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Start by creating a new </a:t>
            </a:r>
            <a:r>
              <a:rPr lang="en">
                <a:solidFill>
                  <a:srgbClr val="FF0000"/>
                </a:solidFill>
                <a:latin typeface="Courier New"/>
                <a:ea typeface="Courier New"/>
                <a:cs typeface="Courier New"/>
                <a:sym typeface="Courier New"/>
              </a:rPr>
              <a:t>maps</a:t>
            </a:r>
            <a:r>
              <a:rPr lang="en">
                <a:solidFill>
                  <a:srgbClr val="FF0000"/>
                </a:solidFill>
              </a:rPr>
              <a:t> </a:t>
            </a:r>
            <a:r>
              <a:rPr lang="en"/>
              <a:t>package in this unit's repository which we'll use for all the set activities.</a:t>
            </a:r>
            <a:endParaRPr/>
          </a:p>
          <a:p>
            <a:pPr marL="457200" lvl="0" indent="-311150" algn="l" rtl="0">
              <a:spcBef>
                <a:spcPts val="1000"/>
              </a:spcBef>
              <a:spcAft>
                <a:spcPts val="0"/>
              </a:spcAft>
              <a:buSzPts val="1300"/>
              <a:buChar char="●"/>
            </a:pPr>
            <a:r>
              <a:rPr lang="en"/>
              <a:t>Using the UML on the left, create a </a:t>
            </a:r>
            <a:r>
              <a:rPr lang="en">
                <a:solidFill>
                  <a:srgbClr val="FF0000"/>
                </a:solidFill>
                <a:latin typeface="Courier New"/>
                <a:ea typeface="Courier New"/>
                <a:cs typeface="Courier New"/>
                <a:sym typeface="Courier New"/>
              </a:rPr>
              <a:t>Map</a:t>
            </a:r>
            <a:r>
              <a:rPr lang="en">
                <a:solidFill>
                  <a:srgbClr val="FF0000"/>
                </a:solidFill>
              </a:rPr>
              <a:t> </a:t>
            </a:r>
            <a:r>
              <a:rPr lang="en"/>
              <a:t>interface.</a:t>
            </a:r>
            <a:endParaRPr/>
          </a:p>
          <a:p>
            <a:pPr marL="457200" lvl="0" indent="-311150" algn="l" rtl="0">
              <a:spcBef>
                <a:spcPts val="1000"/>
              </a:spcBef>
              <a:spcAft>
                <a:spcPts val="0"/>
              </a:spcAft>
              <a:buSzPts val="1300"/>
              <a:buChar char="●"/>
            </a:pPr>
            <a:r>
              <a:rPr lang="en"/>
              <a:t>Since we know we'll want to use it with lots of types, go ahead and make it generic from the start.</a:t>
            </a:r>
            <a:endParaRPr/>
          </a:p>
          <a:p>
            <a:pPr marL="457200" lvl="0" indent="-311150" algn="l" rtl="0">
              <a:spcBef>
                <a:spcPts val="1000"/>
              </a:spcBef>
              <a:spcAft>
                <a:spcPts val="1000"/>
              </a:spcAft>
              <a:buSzPts val="1300"/>
              <a:buChar char="●"/>
            </a:pPr>
            <a:r>
              <a:rPr lang="en"/>
              <a:t>Ensure there are no errors by checking your problems tab.</a:t>
            </a:r>
            <a:endParaRPr/>
          </a:p>
        </p:txBody>
      </p:sp>
      <p:sp>
        <p:nvSpPr>
          <p:cNvPr id="488" name="Google Shape;488;p7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7.5</a:t>
            </a:r>
            <a:endParaRPr/>
          </a:p>
        </p:txBody>
      </p:sp>
      <p:pic>
        <p:nvPicPr>
          <p:cNvPr id="489" name="Google Shape;489;p77"/>
          <p:cNvPicPr preferRelativeResize="0"/>
          <p:nvPr/>
        </p:nvPicPr>
        <p:blipFill>
          <a:blip r:embed="rId3">
            <a:alphaModFix/>
          </a:blip>
          <a:stretch>
            <a:fillRect/>
          </a:stretch>
        </p:blipFill>
        <p:spPr>
          <a:xfrm>
            <a:off x="152400" y="1598325"/>
            <a:ext cx="3306950" cy="2324497"/>
          </a:xfrm>
          <a:prstGeom prst="rect">
            <a:avLst/>
          </a:prstGeom>
          <a:noFill/>
          <a:ln>
            <a:noFill/>
          </a:ln>
        </p:spPr>
      </p:pic>
      <p:sp>
        <p:nvSpPr>
          <p:cNvPr id="490" name="Google Shape;490;p77"/>
          <p:cNvSpPr txBox="1">
            <a:spLocks noGrp="1"/>
          </p:cNvSpPr>
          <p:nvPr>
            <p:ph type="body" idx="4"/>
          </p:nvPr>
        </p:nvSpPr>
        <p:spPr>
          <a:xfrm>
            <a:off x="206625" y="4001275"/>
            <a:ext cx="30618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a:t>
            </a:r>
            <a:r>
              <a:rPr lang="en" b="1"/>
              <a:t>Map </a:t>
            </a:r>
            <a:r>
              <a:rPr lang="en"/>
              <a:t>and </a:t>
            </a:r>
            <a:r>
              <a:rPr lang="en" b="1"/>
              <a:t>Set </a:t>
            </a:r>
            <a:r>
              <a:rPr lang="en"/>
              <a:t>interfaces are very similar, but there are subtle </a:t>
            </a:r>
            <a:r>
              <a:rPr lang="en" b="1">
                <a:solidFill>
                  <a:srgbClr val="FF0000"/>
                </a:solidFill>
              </a:rPr>
              <a:t>differences</a:t>
            </a:r>
            <a:r>
              <a:rPr lang="en"/>
              <a:t>. Pay close attention when creating it.</a:t>
            </a:r>
            <a:endParaRPr>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8"/>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496" name="Google Shape;496;p78"/>
          <p:cNvSpPr txBox="1">
            <a:spLocks noGrp="1"/>
          </p:cNvSpPr>
          <p:nvPr>
            <p:ph type="title"/>
          </p:nvPr>
        </p:nvSpPr>
        <p:spPr>
          <a:xfrm>
            <a:off x="5264725" y="1961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dirty="0"/>
              <a:t>Hash Map</a:t>
            </a:r>
            <a:endParaRPr sz="2000" dirty="0"/>
          </a:p>
        </p:txBody>
      </p:sp>
      <p:sp>
        <p:nvSpPr>
          <p:cNvPr id="497" name="Google Shape;497;p78"/>
          <p:cNvSpPr txBox="1">
            <a:spLocks noGrp="1"/>
          </p:cNvSpPr>
          <p:nvPr>
            <p:ph type="body" idx="1"/>
          </p:nvPr>
        </p:nvSpPr>
        <p:spPr>
          <a:xfrm>
            <a:off x="280425" y="209211"/>
            <a:ext cx="4417500" cy="47391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dirty="0"/>
              <a:t>Another common Map implantation uses hashing to store and retrieve the set items.</a:t>
            </a:r>
            <a:endParaRPr dirty="0"/>
          </a:p>
          <a:p>
            <a:pPr marL="457200" lvl="0" indent="-311150" algn="l" rtl="0">
              <a:lnSpc>
                <a:spcPct val="115000"/>
              </a:lnSpc>
              <a:spcBef>
                <a:spcPts val="1000"/>
              </a:spcBef>
              <a:spcAft>
                <a:spcPts val="0"/>
              </a:spcAft>
              <a:buSzPts val="1300"/>
              <a:buChar char="●"/>
            </a:pPr>
            <a:r>
              <a:rPr lang="en" dirty="0"/>
              <a:t>A </a:t>
            </a:r>
            <a:r>
              <a:rPr lang="en" b="1" i="1" dirty="0">
                <a:solidFill>
                  <a:srgbClr val="FF0000"/>
                </a:solidFill>
                <a:highlight>
                  <a:srgbClr val="FFFF00"/>
                </a:highlight>
              </a:rPr>
              <a:t>hash function</a:t>
            </a:r>
            <a:r>
              <a:rPr lang="en" dirty="0">
                <a:highlight>
                  <a:srgbClr val="FFFF00"/>
                </a:highlight>
              </a:rPr>
              <a:t> </a:t>
            </a:r>
            <a:r>
              <a:rPr lang="en" dirty="0"/>
              <a:t>is a one-way function that, given an arbitrary input value, produces a </a:t>
            </a:r>
            <a:r>
              <a:rPr lang="en" b="1" i="1" dirty="0">
                <a:solidFill>
                  <a:srgbClr val="FF0000"/>
                </a:solidFill>
              </a:rPr>
              <a:t>number</a:t>
            </a:r>
            <a:r>
              <a:rPr lang="en" dirty="0">
                <a:solidFill>
                  <a:srgbClr val="FF0000"/>
                </a:solidFill>
              </a:rPr>
              <a:t> </a:t>
            </a:r>
            <a:r>
              <a:rPr lang="en" dirty="0"/>
              <a:t>as output.</a:t>
            </a:r>
            <a:endParaRPr dirty="0"/>
          </a:p>
          <a:p>
            <a:pPr marL="457200" lvl="0" indent="0" algn="l" rtl="0">
              <a:lnSpc>
                <a:spcPct val="115000"/>
              </a:lnSpc>
              <a:spcBef>
                <a:spcPts val="0"/>
              </a:spcBef>
              <a:spcAft>
                <a:spcPts val="0"/>
              </a:spcAft>
              <a:buNone/>
            </a:pPr>
            <a:endParaRPr dirty="0"/>
          </a:p>
          <a:p>
            <a:pPr marL="457200" lvl="0" indent="-311150" algn="l" rtl="0">
              <a:lnSpc>
                <a:spcPct val="115000"/>
              </a:lnSpc>
              <a:spcBef>
                <a:spcPts val="0"/>
              </a:spcBef>
              <a:spcAft>
                <a:spcPts val="0"/>
              </a:spcAft>
              <a:buSzPts val="1300"/>
              <a:buChar char="●"/>
            </a:pPr>
            <a:r>
              <a:rPr lang="en" dirty="0"/>
              <a:t>Converting input into a </a:t>
            </a:r>
            <a:r>
              <a:rPr lang="en" b="1" i="1" dirty="0">
                <a:solidFill>
                  <a:srgbClr val="FF0000"/>
                </a:solidFill>
                <a:highlight>
                  <a:srgbClr val="FFFF00"/>
                </a:highlight>
              </a:rPr>
              <a:t>hash code</a:t>
            </a:r>
            <a:r>
              <a:rPr lang="en" dirty="0">
                <a:highlight>
                  <a:srgbClr val="FFFF00"/>
                </a:highlight>
              </a:rPr>
              <a:t> is called </a:t>
            </a:r>
            <a:r>
              <a:rPr lang="en" b="1" i="1" dirty="0">
                <a:solidFill>
                  <a:srgbClr val="FF0000"/>
                </a:solidFill>
                <a:highlight>
                  <a:srgbClr val="FFFF00"/>
                </a:highlight>
              </a:rPr>
              <a:t>hashing</a:t>
            </a:r>
            <a:r>
              <a:rPr lang="en" dirty="0"/>
              <a:t>.</a:t>
            </a:r>
            <a:endParaRPr dirty="0"/>
          </a:p>
          <a:p>
            <a:pPr marL="457200" lvl="0" indent="0" algn="l" rtl="0">
              <a:lnSpc>
                <a:spcPct val="115000"/>
              </a:lnSpc>
              <a:spcBef>
                <a:spcPts val="0"/>
              </a:spcBef>
              <a:spcAft>
                <a:spcPts val="0"/>
              </a:spcAft>
              <a:buNone/>
            </a:pPr>
            <a:endParaRPr dirty="0"/>
          </a:p>
          <a:p>
            <a:pPr marL="457200" lvl="0" indent="-311150" algn="l" rtl="0">
              <a:lnSpc>
                <a:spcPct val="115000"/>
              </a:lnSpc>
              <a:spcBef>
                <a:spcPts val="0"/>
              </a:spcBef>
              <a:spcAft>
                <a:spcPts val="0"/>
              </a:spcAft>
              <a:buSzPts val="1300"/>
              <a:buChar char="●"/>
            </a:pPr>
            <a:r>
              <a:rPr lang="en" dirty="0"/>
              <a:t>Most hashing data structures use an array to store the data.</a:t>
            </a:r>
            <a:endParaRPr dirty="0"/>
          </a:p>
          <a:p>
            <a:pPr marL="914400" lvl="1" indent="-298450" algn="l" rtl="0">
              <a:lnSpc>
                <a:spcPct val="115000"/>
              </a:lnSpc>
              <a:spcBef>
                <a:spcPts val="0"/>
              </a:spcBef>
              <a:spcAft>
                <a:spcPts val="0"/>
              </a:spcAft>
              <a:buSzPts val="1100"/>
              <a:buChar char="○"/>
            </a:pPr>
            <a:r>
              <a:rPr lang="en" dirty="0"/>
              <a:t>Arrays are used because because all elements are created at construction and it's very efficient.</a:t>
            </a:r>
            <a:endParaRPr dirty="0"/>
          </a:p>
          <a:p>
            <a:pPr marL="457200" lvl="0" indent="-311150" algn="l" rtl="0">
              <a:lnSpc>
                <a:spcPct val="115000"/>
              </a:lnSpc>
              <a:spcBef>
                <a:spcPts val="1000"/>
              </a:spcBef>
              <a:spcAft>
                <a:spcPts val="0"/>
              </a:spcAft>
              <a:buSzPts val="1300"/>
              <a:buChar char="●"/>
            </a:pPr>
            <a:r>
              <a:rPr lang="en" dirty="0"/>
              <a:t>The hash function is used to convert the object being stored into an integer (</a:t>
            </a:r>
            <a:r>
              <a:rPr lang="en" b="1" i="1" dirty="0"/>
              <a:t>hash code</a:t>
            </a:r>
            <a:r>
              <a:rPr lang="en" dirty="0"/>
              <a:t>) which is used to get an </a:t>
            </a:r>
            <a:r>
              <a:rPr lang="en" b="1" i="1" dirty="0">
                <a:solidFill>
                  <a:srgbClr val="FF0000"/>
                </a:solidFill>
                <a:highlight>
                  <a:srgbClr val="FFFF00"/>
                </a:highlight>
              </a:rPr>
              <a:t>index</a:t>
            </a:r>
            <a:r>
              <a:rPr lang="en" dirty="0"/>
              <a:t> into the array.</a:t>
            </a:r>
            <a:endParaRPr dirty="0"/>
          </a:p>
          <a:p>
            <a:pPr marL="457200" lvl="0" indent="-311150" algn="l" rtl="0">
              <a:lnSpc>
                <a:spcPct val="115000"/>
              </a:lnSpc>
              <a:spcBef>
                <a:spcPts val="1000"/>
              </a:spcBef>
              <a:spcAft>
                <a:spcPts val="0"/>
              </a:spcAft>
              <a:buSzPts val="1300"/>
              <a:buChar char="●"/>
            </a:pPr>
            <a:r>
              <a:rPr lang="en" dirty="0"/>
              <a:t>Since there are over </a:t>
            </a:r>
            <a:r>
              <a:rPr lang="en" dirty="0">
                <a:highlight>
                  <a:srgbClr val="FFFF00"/>
                </a:highlight>
              </a:rPr>
              <a:t>2 billion possible "indexes" </a:t>
            </a:r>
            <a:r>
              <a:rPr lang="en" dirty="0"/>
              <a:t>in a Java int, we don't want to make an array that big.</a:t>
            </a:r>
            <a:endParaRPr dirty="0"/>
          </a:p>
          <a:p>
            <a:pPr marL="457200" lvl="0" indent="-311150" algn="l" rtl="0">
              <a:lnSpc>
                <a:spcPct val="115000"/>
              </a:lnSpc>
              <a:spcBef>
                <a:spcPts val="1000"/>
              </a:spcBef>
              <a:spcAft>
                <a:spcPts val="0"/>
              </a:spcAft>
              <a:buSzPts val="1300"/>
              <a:buChar char="●"/>
            </a:pPr>
            <a:r>
              <a:rPr lang="en" dirty="0"/>
              <a:t>Instead, the hash code is constrained to the size of the </a:t>
            </a:r>
            <a:r>
              <a:rPr lang="en" dirty="0">
                <a:highlight>
                  <a:srgbClr val="FFFF00"/>
                </a:highlight>
              </a:rPr>
              <a:t>array using </a:t>
            </a:r>
            <a:r>
              <a:rPr lang="en" b="1" i="1" dirty="0">
                <a:solidFill>
                  <a:srgbClr val="FF0000"/>
                </a:solidFill>
                <a:highlight>
                  <a:srgbClr val="FFFF00"/>
                </a:highlight>
              </a:rPr>
              <a:t>modulo</a:t>
            </a:r>
            <a:r>
              <a:rPr lang="en" dirty="0">
                <a:highlight>
                  <a:srgbClr val="FFFF00"/>
                </a:highlight>
              </a:rPr>
              <a:t> of the array length</a:t>
            </a:r>
            <a:r>
              <a:rPr lang="en" dirty="0"/>
              <a:t>.</a:t>
            </a:r>
            <a:endParaRPr dirty="0"/>
          </a:p>
        </p:txBody>
      </p:sp>
      <p:sp>
        <p:nvSpPr>
          <p:cNvPr id="498" name="Google Shape;498;p78"/>
          <p:cNvSpPr txBox="1">
            <a:spLocks noGrp="1"/>
          </p:cNvSpPr>
          <p:nvPr>
            <p:ph type="body" idx="3"/>
          </p:nvPr>
        </p:nvSpPr>
        <p:spPr>
          <a:xfrm>
            <a:off x="5192225" y="1032125"/>
            <a:ext cx="37065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A hash map is a </a:t>
            </a:r>
            <a:r>
              <a:rPr lang="en" sz="1200" b="1" i="1" dirty="0">
                <a:solidFill>
                  <a:srgbClr val="FF0000"/>
                </a:solidFill>
              </a:rPr>
              <a:t>hashing data structure</a:t>
            </a:r>
            <a:r>
              <a:rPr lang="en" sz="1200" dirty="0"/>
              <a:t> that is built on top of </a:t>
            </a:r>
            <a:r>
              <a:rPr lang="en" sz="1200" b="1" i="1" dirty="0">
                <a:solidFill>
                  <a:srgbClr val="FF0000"/>
                </a:solidFill>
              </a:rPr>
              <a:t>an array</a:t>
            </a:r>
            <a:r>
              <a:rPr lang="en" sz="1200" dirty="0"/>
              <a:t>.</a:t>
            </a:r>
            <a:endParaRPr sz="1200" dirty="0"/>
          </a:p>
        </p:txBody>
      </p:sp>
      <p:graphicFrame>
        <p:nvGraphicFramePr>
          <p:cNvPr id="499" name="Google Shape;499;p78"/>
          <p:cNvGraphicFramePr/>
          <p:nvPr/>
        </p:nvGraphicFramePr>
        <p:xfrm>
          <a:off x="5514075" y="4175325"/>
          <a:ext cx="30628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0</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1</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2</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3</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4</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5</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6</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7</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500" name="Google Shape;500;p78"/>
          <p:cNvSpPr txBox="1">
            <a:spLocks noGrp="1"/>
          </p:cNvSpPr>
          <p:nvPr>
            <p:ph type="body" idx="3"/>
          </p:nvPr>
        </p:nvSpPr>
        <p:spPr>
          <a:xfrm>
            <a:off x="5192225" y="1656849"/>
            <a:ext cx="37065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A </a:t>
            </a:r>
            <a:r>
              <a:rPr lang="en" sz="1200" b="1" i="1" dirty="0">
                <a:solidFill>
                  <a:srgbClr val="FF0000"/>
                </a:solidFill>
              </a:rPr>
              <a:t>hash function</a:t>
            </a:r>
            <a:r>
              <a:rPr lang="en" sz="1200" dirty="0"/>
              <a:t> is used to convert arbitrary values into </a:t>
            </a:r>
            <a:r>
              <a:rPr lang="en" sz="1200" b="1" i="1" dirty="0">
                <a:solidFill>
                  <a:srgbClr val="FF0000"/>
                </a:solidFill>
              </a:rPr>
              <a:t>integers</a:t>
            </a:r>
            <a:r>
              <a:rPr lang="en" sz="1200" dirty="0"/>
              <a:t>, which can then be used to find an </a:t>
            </a:r>
            <a:r>
              <a:rPr lang="en" sz="1200" b="1" i="1" dirty="0">
                <a:solidFill>
                  <a:srgbClr val="FF0000"/>
                </a:solidFill>
              </a:rPr>
              <a:t>index</a:t>
            </a:r>
            <a:r>
              <a:rPr lang="en" sz="1200" dirty="0"/>
              <a:t> in the array.</a:t>
            </a:r>
            <a:endParaRPr sz="1200" dirty="0"/>
          </a:p>
        </p:txBody>
      </p:sp>
      <p:sp>
        <p:nvSpPr>
          <p:cNvPr id="501" name="Google Shape;501;p78"/>
          <p:cNvSpPr txBox="1"/>
          <p:nvPr/>
        </p:nvSpPr>
        <p:spPr>
          <a:xfrm>
            <a:off x="5432675" y="25263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"abc"</a:t>
            </a:r>
            <a:endParaRPr sz="1400" b="0" i="0" u="none" strike="noStrike" cap="none">
              <a:solidFill>
                <a:srgbClr val="CE9178"/>
              </a:solidFill>
              <a:latin typeface="Consolas"/>
              <a:ea typeface="Consolas"/>
              <a:cs typeface="Consolas"/>
              <a:sym typeface="Consolas"/>
            </a:endParaRPr>
          </a:p>
        </p:txBody>
      </p:sp>
      <p:sp>
        <p:nvSpPr>
          <p:cNvPr id="502" name="Google Shape;502;p78"/>
          <p:cNvSpPr txBox="1"/>
          <p:nvPr/>
        </p:nvSpPr>
        <p:spPr>
          <a:xfrm>
            <a:off x="6270875" y="25263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"def"</a:t>
            </a:r>
            <a:endParaRPr sz="1400" b="0" i="0" u="none" strike="noStrike" cap="none">
              <a:solidFill>
                <a:srgbClr val="CE9178"/>
              </a:solidFill>
              <a:latin typeface="Consolas"/>
              <a:ea typeface="Consolas"/>
              <a:cs typeface="Consolas"/>
              <a:sym typeface="Consolas"/>
            </a:endParaRPr>
          </a:p>
        </p:txBody>
      </p:sp>
      <p:sp>
        <p:nvSpPr>
          <p:cNvPr id="503" name="Google Shape;503;p78"/>
          <p:cNvSpPr txBox="1"/>
          <p:nvPr/>
        </p:nvSpPr>
        <p:spPr>
          <a:xfrm>
            <a:off x="7109075" y="25263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"ghi"</a:t>
            </a:r>
            <a:endParaRPr sz="1400" b="0" i="0" u="none" strike="noStrike" cap="none">
              <a:solidFill>
                <a:srgbClr val="CE9178"/>
              </a:solidFill>
              <a:latin typeface="Consolas"/>
              <a:ea typeface="Consolas"/>
              <a:cs typeface="Consolas"/>
              <a:sym typeface="Consolas"/>
            </a:endParaRPr>
          </a:p>
        </p:txBody>
      </p:sp>
      <p:sp>
        <p:nvSpPr>
          <p:cNvPr id="504" name="Google Shape;504;p78"/>
          <p:cNvSpPr txBox="1"/>
          <p:nvPr/>
        </p:nvSpPr>
        <p:spPr>
          <a:xfrm>
            <a:off x="7947275" y="25263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"jkl"</a:t>
            </a:r>
            <a:endParaRPr sz="1400" b="0" i="0" u="none" strike="noStrike" cap="none">
              <a:solidFill>
                <a:srgbClr val="CE9178"/>
              </a:solidFill>
              <a:latin typeface="Consolas"/>
              <a:ea typeface="Consolas"/>
              <a:cs typeface="Consolas"/>
              <a:sym typeface="Consolas"/>
            </a:endParaRPr>
          </a:p>
        </p:txBody>
      </p:sp>
      <p:sp>
        <p:nvSpPr>
          <p:cNvPr id="505" name="Google Shape;505;p78"/>
          <p:cNvSpPr/>
          <p:nvPr/>
        </p:nvSpPr>
        <p:spPr>
          <a:xfrm>
            <a:off x="5778875" y="2806225"/>
            <a:ext cx="681775" cy="1376650"/>
          </a:xfrm>
          <a:custGeom>
            <a:avLst/>
            <a:gdLst/>
            <a:ahLst/>
            <a:cxnLst/>
            <a:rect l="l" t="t" r="r" b="b"/>
            <a:pathLst>
              <a:path w="27271" h="55066" extrusionOk="0">
                <a:moveTo>
                  <a:pt x="0" y="0"/>
                </a:moveTo>
                <a:lnTo>
                  <a:pt x="0" y="27231"/>
                </a:lnTo>
                <a:lnTo>
                  <a:pt x="27271" y="42976"/>
                </a:lnTo>
                <a:lnTo>
                  <a:pt x="27271" y="55066"/>
                </a:lnTo>
              </a:path>
            </a:pathLst>
          </a:custGeom>
          <a:noFill/>
          <a:ln w="19050" cap="flat" cmpd="sng">
            <a:solidFill>
              <a:srgbClr val="EA9999"/>
            </a:solidFill>
            <a:prstDash val="solid"/>
            <a:round/>
            <a:headEnd type="none" w="sm" len="sm"/>
            <a:tailEnd type="triangle" w="med" len="med"/>
          </a:ln>
        </p:spPr>
        <p:txBody>
          <a:bodyPr/>
          <a:lstStyle/>
          <a:p>
            <a:endParaRPr lang="en-US"/>
          </a:p>
        </p:txBody>
      </p:sp>
      <p:sp>
        <p:nvSpPr>
          <p:cNvPr id="506" name="Google Shape;506;p78"/>
          <p:cNvSpPr/>
          <p:nvPr/>
        </p:nvSpPr>
        <p:spPr>
          <a:xfrm>
            <a:off x="6626050" y="2798675"/>
            <a:ext cx="1750250" cy="1369075"/>
          </a:xfrm>
          <a:custGeom>
            <a:avLst/>
            <a:gdLst/>
            <a:ahLst/>
            <a:cxnLst/>
            <a:rect l="l" t="t" r="r" b="b"/>
            <a:pathLst>
              <a:path w="70010" h="54763" extrusionOk="0">
                <a:moveTo>
                  <a:pt x="0" y="0"/>
                </a:moveTo>
                <a:lnTo>
                  <a:pt x="0" y="25717"/>
                </a:lnTo>
                <a:lnTo>
                  <a:pt x="70010" y="44476"/>
                </a:lnTo>
                <a:lnTo>
                  <a:pt x="70010" y="54763"/>
                </a:lnTo>
              </a:path>
            </a:pathLst>
          </a:custGeom>
          <a:noFill/>
          <a:ln w="19050" cap="flat" cmpd="sng">
            <a:solidFill>
              <a:srgbClr val="93C47D"/>
            </a:solidFill>
            <a:prstDash val="solid"/>
            <a:round/>
            <a:headEnd type="none" w="sm" len="sm"/>
            <a:tailEnd type="triangle" w="med" len="med"/>
          </a:ln>
        </p:spPr>
        <p:txBody>
          <a:bodyPr/>
          <a:lstStyle/>
          <a:p>
            <a:endParaRPr lang="en-US"/>
          </a:p>
        </p:txBody>
      </p:sp>
      <p:sp>
        <p:nvSpPr>
          <p:cNvPr id="507" name="Google Shape;507;p78"/>
          <p:cNvSpPr/>
          <p:nvPr/>
        </p:nvSpPr>
        <p:spPr>
          <a:xfrm>
            <a:off x="6852950" y="2798675"/>
            <a:ext cx="612713" cy="1384200"/>
          </a:xfrm>
          <a:custGeom>
            <a:avLst/>
            <a:gdLst/>
            <a:ahLst/>
            <a:cxnLst/>
            <a:rect l="l" t="t" r="r" b="b"/>
            <a:pathLst>
              <a:path w="26660" h="55368" extrusionOk="0">
                <a:moveTo>
                  <a:pt x="26660" y="0"/>
                </a:moveTo>
                <a:lnTo>
                  <a:pt x="26660" y="23902"/>
                </a:lnTo>
                <a:lnTo>
                  <a:pt x="0" y="39294"/>
                </a:lnTo>
                <a:lnTo>
                  <a:pt x="0" y="55368"/>
                </a:lnTo>
              </a:path>
            </a:pathLst>
          </a:custGeom>
          <a:noFill/>
          <a:ln w="19050" cap="flat" cmpd="sng">
            <a:solidFill>
              <a:srgbClr val="D5A6BD"/>
            </a:solidFill>
            <a:prstDash val="solid"/>
            <a:round/>
            <a:headEnd type="none" w="sm" len="sm"/>
            <a:tailEnd type="triangle" w="med" len="med"/>
          </a:ln>
        </p:spPr>
        <p:txBody>
          <a:bodyPr/>
          <a:lstStyle/>
          <a:p>
            <a:endParaRPr lang="en-US"/>
          </a:p>
        </p:txBody>
      </p:sp>
      <p:sp>
        <p:nvSpPr>
          <p:cNvPr id="508" name="Google Shape;508;p78"/>
          <p:cNvSpPr/>
          <p:nvPr/>
        </p:nvSpPr>
        <p:spPr>
          <a:xfrm>
            <a:off x="5741050" y="2791100"/>
            <a:ext cx="2564200" cy="1369075"/>
          </a:xfrm>
          <a:custGeom>
            <a:avLst/>
            <a:gdLst/>
            <a:ahLst/>
            <a:cxnLst/>
            <a:rect l="l" t="t" r="r" b="b"/>
            <a:pathLst>
              <a:path w="102568" h="54763" extrusionOk="0">
                <a:moveTo>
                  <a:pt x="102568" y="0"/>
                </a:moveTo>
                <a:lnTo>
                  <a:pt x="102568" y="27836"/>
                </a:lnTo>
                <a:lnTo>
                  <a:pt x="0" y="44476"/>
                </a:lnTo>
                <a:lnTo>
                  <a:pt x="0" y="54763"/>
                </a:lnTo>
              </a:path>
            </a:pathLst>
          </a:custGeom>
          <a:noFill/>
          <a:ln w="19050" cap="flat" cmpd="sng">
            <a:solidFill>
              <a:srgbClr val="FFE599"/>
            </a:solidFill>
            <a:prstDash val="solid"/>
            <a:round/>
            <a:headEnd type="none" w="sm" len="sm"/>
            <a:tailEnd type="triangle" w="med" len="med"/>
          </a:ln>
        </p:spPr>
        <p:txBody>
          <a:bodyPr/>
          <a:lstStyle/>
          <a:p>
            <a:endParaRPr lang="en-US"/>
          </a:p>
        </p:txBody>
      </p:sp>
      <p:sp>
        <p:nvSpPr>
          <p:cNvPr id="509" name="Google Shape;509;p78"/>
          <p:cNvSpPr/>
          <p:nvPr/>
        </p:nvSpPr>
        <p:spPr>
          <a:xfrm>
            <a:off x="5514125" y="3083228"/>
            <a:ext cx="3062700" cy="393600"/>
          </a:xfrm>
          <a:prstGeom prst="rect">
            <a:avLst/>
          </a:prstGeom>
          <a:solidFill>
            <a:srgbClr val="4A86E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Hash Function</a:t>
            </a:r>
            <a:endParaRPr sz="1400" b="0" i="0" u="none" strike="noStrike" cap="none">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8"/>
                                        </p:tgtEl>
                                        <p:attrNameLst>
                                          <p:attrName>style.visibility</p:attrName>
                                        </p:attrNameLst>
                                      </p:cBhvr>
                                      <p:to>
                                        <p:strVal val="visible"/>
                                      </p:to>
                                    </p:set>
                                    <p:animEffect transition="in" filter="fade">
                                      <p:cBhvr>
                                        <p:cTn id="47" dur="1000"/>
                                        <p:tgtEl>
                                          <p:spTgt spid="498"/>
                                        </p:tgtEl>
                                      </p:cBhvr>
                                    </p:animEffect>
                                  </p:childTnLst>
                                </p:cTn>
                              </p:par>
                              <p:par>
                                <p:cTn id="48" presetID="10" presetClass="entr" presetSubtype="0" fill="hold" nodeType="withEffect">
                                  <p:stCondLst>
                                    <p:cond delay="0"/>
                                  </p:stCondLst>
                                  <p:childTnLst>
                                    <p:set>
                                      <p:cBhvr>
                                        <p:cTn id="49" dur="1" fill="hold">
                                          <p:stCondLst>
                                            <p:cond delay="0"/>
                                          </p:stCondLst>
                                        </p:cTn>
                                        <p:tgtEl>
                                          <p:spTgt spid="499"/>
                                        </p:tgtEl>
                                        <p:attrNameLst>
                                          <p:attrName>style.visibility</p:attrName>
                                        </p:attrNameLst>
                                      </p:cBhvr>
                                      <p:to>
                                        <p:strVal val="visible"/>
                                      </p:to>
                                    </p:set>
                                    <p:animEffect transition="in" filter="fade">
                                      <p:cBhvr>
                                        <p:cTn id="50" dur="1000"/>
                                        <p:tgtEl>
                                          <p:spTgt spid="49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00"/>
                                        </p:tgtEl>
                                        <p:attrNameLst>
                                          <p:attrName>style.visibility</p:attrName>
                                        </p:attrNameLst>
                                      </p:cBhvr>
                                      <p:to>
                                        <p:strVal val="visible"/>
                                      </p:to>
                                    </p:set>
                                    <p:animEffect transition="in" filter="fade">
                                      <p:cBhvr>
                                        <p:cTn id="55" dur="1000"/>
                                        <p:tgtEl>
                                          <p:spTgt spid="500"/>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509"/>
                                        </p:tgtEl>
                                        <p:attrNameLst>
                                          <p:attrName>style.visibility</p:attrName>
                                        </p:attrNameLst>
                                      </p:cBhvr>
                                      <p:to>
                                        <p:strVal val="visible"/>
                                      </p:to>
                                    </p:set>
                                    <p:animEffect transition="in" filter="fade">
                                      <p:cBhvr>
                                        <p:cTn id="59" dur="1000"/>
                                        <p:tgtEl>
                                          <p:spTgt spid="50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01"/>
                                        </p:tgtEl>
                                        <p:attrNameLst>
                                          <p:attrName>style.visibility</p:attrName>
                                        </p:attrNameLst>
                                      </p:cBhvr>
                                      <p:to>
                                        <p:strVal val="visible"/>
                                      </p:to>
                                    </p:set>
                                    <p:animEffect transition="in" filter="fade">
                                      <p:cBhvr>
                                        <p:cTn id="64" dur="1000"/>
                                        <p:tgtEl>
                                          <p:spTgt spid="501"/>
                                        </p:tgtEl>
                                      </p:cBhvr>
                                    </p:animEffect>
                                  </p:childTnLst>
                                </p:cTn>
                              </p:par>
                            </p:childTnLst>
                          </p:cTn>
                        </p:par>
                        <p:par>
                          <p:cTn id="65" fill="hold">
                            <p:stCondLst>
                              <p:cond delay="1000"/>
                            </p:stCondLst>
                            <p:childTnLst>
                              <p:par>
                                <p:cTn id="66" presetID="10" presetClass="entr" presetSubtype="0" fill="hold" nodeType="afterEffect">
                                  <p:stCondLst>
                                    <p:cond delay="0"/>
                                  </p:stCondLst>
                                  <p:childTnLst>
                                    <p:set>
                                      <p:cBhvr>
                                        <p:cTn id="67" dur="1" fill="hold">
                                          <p:stCondLst>
                                            <p:cond delay="0"/>
                                          </p:stCondLst>
                                        </p:cTn>
                                        <p:tgtEl>
                                          <p:spTgt spid="505"/>
                                        </p:tgtEl>
                                        <p:attrNameLst>
                                          <p:attrName>style.visibility</p:attrName>
                                        </p:attrNameLst>
                                      </p:cBhvr>
                                      <p:to>
                                        <p:strVal val="visible"/>
                                      </p:to>
                                    </p:set>
                                    <p:animEffect transition="in" filter="fade">
                                      <p:cBhvr>
                                        <p:cTn id="68" dur="1000"/>
                                        <p:tgtEl>
                                          <p:spTgt spid="50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502"/>
                                        </p:tgtEl>
                                        <p:attrNameLst>
                                          <p:attrName>style.visibility</p:attrName>
                                        </p:attrNameLst>
                                      </p:cBhvr>
                                      <p:to>
                                        <p:strVal val="visible"/>
                                      </p:to>
                                    </p:set>
                                    <p:animEffect transition="in" filter="fade">
                                      <p:cBhvr>
                                        <p:cTn id="73" dur="1000"/>
                                        <p:tgtEl>
                                          <p:spTgt spid="502"/>
                                        </p:tgtEl>
                                      </p:cBhvr>
                                    </p:animEffect>
                                  </p:childTnLst>
                                </p:cTn>
                              </p:par>
                            </p:childTnLst>
                          </p:cTn>
                        </p:par>
                        <p:par>
                          <p:cTn id="74" fill="hold">
                            <p:stCondLst>
                              <p:cond delay="1000"/>
                            </p:stCondLst>
                            <p:childTnLst>
                              <p:par>
                                <p:cTn id="75" presetID="10" presetClass="entr" presetSubtype="0" fill="hold" nodeType="afterEffect">
                                  <p:stCondLst>
                                    <p:cond delay="0"/>
                                  </p:stCondLst>
                                  <p:childTnLst>
                                    <p:set>
                                      <p:cBhvr>
                                        <p:cTn id="76" dur="1" fill="hold">
                                          <p:stCondLst>
                                            <p:cond delay="0"/>
                                          </p:stCondLst>
                                        </p:cTn>
                                        <p:tgtEl>
                                          <p:spTgt spid="506"/>
                                        </p:tgtEl>
                                        <p:attrNameLst>
                                          <p:attrName>style.visibility</p:attrName>
                                        </p:attrNameLst>
                                      </p:cBhvr>
                                      <p:to>
                                        <p:strVal val="visible"/>
                                      </p:to>
                                    </p:set>
                                    <p:animEffect transition="in" filter="fade">
                                      <p:cBhvr>
                                        <p:cTn id="77" dur="1000"/>
                                        <p:tgtEl>
                                          <p:spTgt spid="50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03"/>
                                        </p:tgtEl>
                                        <p:attrNameLst>
                                          <p:attrName>style.visibility</p:attrName>
                                        </p:attrNameLst>
                                      </p:cBhvr>
                                      <p:to>
                                        <p:strVal val="visible"/>
                                      </p:to>
                                    </p:set>
                                    <p:animEffect transition="in" filter="fade">
                                      <p:cBhvr>
                                        <p:cTn id="82" dur="1000"/>
                                        <p:tgtEl>
                                          <p:spTgt spid="503"/>
                                        </p:tgtEl>
                                      </p:cBhvr>
                                    </p:animEffect>
                                  </p:childTnLst>
                                </p:cTn>
                              </p:par>
                            </p:childTnLst>
                          </p:cTn>
                        </p:par>
                        <p:par>
                          <p:cTn id="83" fill="hold">
                            <p:stCondLst>
                              <p:cond delay="1000"/>
                            </p:stCondLst>
                            <p:childTnLst>
                              <p:par>
                                <p:cTn id="84" presetID="10" presetClass="entr" presetSubtype="0" fill="hold" nodeType="afterEffect">
                                  <p:stCondLst>
                                    <p:cond delay="0"/>
                                  </p:stCondLst>
                                  <p:childTnLst>
                                    <p:set>
                                      <p:cBhvr>
                                        <p:cTn id="85" dur="1" fill="hold">
                                          <p:stCondLst>
                                            <p:cond delay="0"/>
                                          </p:stCondLst>
                                        </p:cTn>
                                        <p:tgtEl>
                                          <p:spTgt spid="507"/>
                                        </p:tgtEl>
                                        <p:attrNameLst>
                                          <p:attrName>style.visibility</p:attrName>
                                        </p:attrNameLst>
                                      </p:cBhvr>
                                      <p:to>
                                        <p:strVal val="visible"/>
                                      </p:to>
                                    </p:set>
                                    <p:animEffect transition="in" filter="fade">
                                      <p:cBhvr>
                                        <p:cTn id="86" dur="1000"/>
                                        <p:tgtEl>
                                          <p:spTgt spid="507"/>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504"/>
                                        </p:tgtEl>
                                        <p:attrNameLst>
                                          <p:attrName>style.visibility</p:attrName>
                                        </p:attrNameLst>
                                      </p:cBhvr>
                                      <p:to>
                                        <p:strVal val="visible"/>
                                      </p:to>
                                    </p:set>
                                    <p:animEffect transition="in" filter="fade">
                                      <p:cBhvr>
                                        <p:cTn id="91" dur="1000"/>
                                        <p:tgtEl>
                                          <p:spTgt spid="504"/>
                                        </p:tgtEl>
                                      </p:cBhvr>
                                    </p:animEffect>
                                  </p:childTnLst>
                                </p:cTn>
                              </p:par>
                            </p:childTnLst>
                          </p:cTn>
                        </p:par>
                        <p:par>
                          <p:cTn id="92" fill="hold">
                            <p:stCondLst>
                              <p:cond delay="1000"/>
                            </p:stCondLst>
                            <p:childTnLst>
                              <p:par>
                                <p:cTn id="93" presetID="10" presetClass="entr" presetSubtype="0" fill="hold" nodeType="afterEffect">
                                  <p:stCondLst>
                                    <p:cond delay="0"/>
                                  </p:stCondLst>
                                  <p:childTnLst>
                                    <p:set>
                                      <p:cBhvr>
                                        <p:cTn id="94" dur="1" fill="hold">
                                          <p:stCondLst>
                                            <p:cond delay="0"/>
                                          </p:stCondLst>
                                        </p:cTn>
                                        <p:tgtEl>
                                          <p:spTgt spid="508"/>
                                        </p:tgtEl>
                                        <p:attrNameLst>
                                          <p:attrName>style.visibility</p:attrName>
                                        </p:attrNameLst>
                                      </p:cBhvr>
                                      <p:to>
                                        <p:strVal val="visible"/>
                                      </p:to>
                                    </p:set>
                                    <p:animEffect transition="in" filter="fade">
                                      <p:cBhvr>
                                        <p:cTn id="95" dur="1000"/>
                                        <p:tgtEl>
                                          <p:spTgt spid="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7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Implementing a Hash Map</a:t>
            </a:r>
            <a:endParaRPr/>
          </a:p>
        </p:txBody>
      </p:sp>
      <p:sp>
        <p:nvSpPr>
          <p:cNvPr id="515" name="Google Shape;515;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516" name="Google Shape;516;p79"/>
          <p:cNvSpPr txBox="1">
            <a:spLocks noGrp="1"/>
          </p:cNvSpPr>
          <p:nvPr>
            <p:ph type="body" idx="2"/>
          </p:nvPr>
        </p:nvSpPr>
        <p:spPr>
          <a:xfrm>
            <a:off x="3277800" y="1326094"/>
            <a:ext cx="5663400" cy="3579600"/>
          </a:xfrm>
          <a:prstGeom prst="rect">
            <a:avLst/>
          </a:prstGeom>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In the </a:t>
            </a:r>
            <a:r>
              <a:rPr lang="en" dirty="0">
                <a:solidFill>
                  <a:srgbClr val="FF0000"/>
                </a:solidFill>
                <a:latin typeface="Courier New"/>
                <a:ea typeface="Courier New"/>
                <a:cs typeface="Courier New"/>
                <a:sym typeface="Courier New"/>
              </a:rPr>
              <a:t>maps</a:t>
            </a:r>
            <a:r>
              <a:rPr lang="en" dirty="0">
                <a:solidFill>
                  <a:srgbClr val="FF0000"/>
                </a:solidFill>
              </a:rPr>
              <a:t> </a:t>
            </a:r>
            <a:r>
              <a:rPr lang="en" dirty="0"/>
              <a:t>package, add a new class named </a:t>
            </a:r>
            <a:r>
              <a:rPr lang="en" dirty="0">
                <a:solidFill>
                  <a:srgbClr val="FF0000"/>
                </a:solidFill>
                <a:latin typeface="Courier New"/>
                <a:ea typeface="Courier New"/>
                <a:cs typeface="Courier New"/>
                <a:sym typeface="Courier New"/>
              </a:rPr>
              <a:t>HashMap</a:t>
            </a:r>
            <a:r>
              <a:rPr lang="en" dirty="0"/>
              <a:t>.</a:t>
            </a:r>
            <a:endParaRPr dirty="0"/>
          </a:p>
          <a:p>
            <a:pPr marL="457200" lvl="0" indent="-311150" algn="l" rtl="0">
              <a:lnSpc>
                <a:spcPct val="115000"/>
              </a:lnSpc>
              <a:spcBef>
                <a:spcPts val="1000"/>
              </a:spcBef>
              <a:spcAft>
                <a:spcPts val="0"/>
              </a:spcAft>
              <a:buSzPts val="1300"/>
              <a:buChar char="●"/>
            </a:pPr>
            <a:r>
              <a:rPr lang="en" dirty="0"/>
              <a:t>Use the UML on the left to guide the class creation.</a:t>
            </a:r>
            <a:endParaRPr dirty="0"/>
          </a:p>
          <a:p>
            <a:pPr marL="457200" lvl="0" indent="-311150" algn="l" rtl="0">
              <a:lnSpc>
                <a:spcPct val="115000"/>
              </a:lnSpc>
              <a:spcBef>
                <a:spcPts val="1000"/>
              </a:spcBef>
              <a:spcAft>
                <a:spcPts val="0"/>
              </a:spcAft>
              <a:buSzPts val="1300"/>
              <a:buChar char="●"/>
            </a:pPr>
            <a:r>
              <a:rPr lang="en" dirty="0">
                <a:highlight>
                  <a:srgbClr val="FFFF00"/>
                </a:highlight>
              </a:rPr>
              <a:t>Since an array index can only store one item, create a small inner class that holds two items (the key and value) named </a:t>
            </a:r>
            <a:r>
              <a:rPr lang="en" b="1" i="1" dirty="0">
                <a:solidFill>
                  <a:srgbClr val="FF0000"/>
                </a:solidFill>
                <a:highlight>
                  <a:srgbClr val="FFFF00"/>
                </a:highlight>
              </a:rPr>
              <a:t>Element</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We'll use a starting "array" </a:t>
            </a:r>
            <a:r>
              <a:rPr lang="en" b="1" i="1" dirty="0">
                <a:solidFill>
                  <a:srgbClr val="FF0000"/>
                </a:solidFill>
              </a:rPr>
              <a:t>capacity of 3</a:t>
            </a:r>
            <a:r>
              <a:rPr lang="en" dirty="0"/>
              <a:t>, which you can hard code or add as a constant.</a:t>
            </a:r>
            <a:endParaRPr dirty="0"/>
          </a:p>
          <a:p>
            <a:pPr marL="457200" lvl="0" indent="-311150" algn="l" rtl="0">
              <a:lnSpc>
                <a:spcPct val="115000"/>
              </a:lnSpc>
              <a:spcBef>
                <a:spcPts val="1000"/>
              </a:spcBef>
              <a:spcAft>
                <a:spcPts val="0"/>
              </a:spcAft>
              <a:buSzPts val="1300"/>
              <a:buChar char="●"/>
            </a:pPr>
            <a:r>
              <a:rPr lang="en" dirty="0"/>
              <a:t>We're going to use an </a:t>
            </a:r>
            <a:r>
              <a:rPr lang="en" dirty="0">
                <a:highlight>
                  <a:srgbClr val="FFFF00"/>
                </a:highlight>
              </a:rPr>
              <a:t>ArrayList for our "array".</a:t>
            </a:r>
            <a:endParaRPr dirty="0">
              <a:highlight>
                <a:srgbClr val="FFFF00"/>
              </a:highlight>
            </a:endParaRPr>
          </a:p>
          <a:p>
            <a:pPr marL="914400" lvl="1" indent="-298450" algn="l" rtl="0">
              <a:lnSpc>
                <a:spcPct val="115000"/>
              </a:lnSpc>
              <a:spcBef>
                <a:spcPts val="0"/>
              </a:spcBef>
              <a:spcAft>
                <a:spcPts val="0"/>
              </a:spcAft>
              <a:buSzPts val="1100"/>
              <a:buChar char="○"/>
            </a:pPr>
            <a:r>
              <a:rPr lang="en" dirty="0"/>
              <a:t>In the constructor, create a new </a:t>
            </a:r>
            <a:r>
              <a:rPr lang="en" dirty="0">
                <a:latin typeface="Courier New"/>
                <a:ea typeface="Courier New"/>
                <a:cs typeface="Courier New"/>
                <a:sym typeface="Courier New"/>
              </a:rPr>
              <a:t>ArrayList</a:t>
            </a:r>
            <a:r>
              <a:rPr lang="en" dirty="0"/>
              <a:t> and assign it to elements.</a:t>
            </a:r>
            <a:endParaRPr dirty="0"/>
          </a:p>
          <a:p>
            <a:pPr marL="914400" lvl="1" indent="-298450" algn="l" rtl="0">
              <a:lnSpc>
                <a:spcPct val="115000"/>
              </a:lnSpc>
              <a:spcBef>
                <a:spcPts val="0"/>
              </a:spcBef>
              <a:spcAft>
                <a:spcPts val="0"/>
              </a:spcAft>
              <a:buSzPts val="1100"/>
              <a:buChar char="○"/>
            </a:pPr>
            <a:r>
              <a:rPr lang="en" dirty="0"/>
              <a:t>Then add </a:t>
            </a:r>
            <a:r>
              <a:rPr lang="en" dirty="0">
                <a:highlight>
                  <a:srgbClr val="FFFF00"/>
                </a:highlight>
              </a:rPr>
              <a:t>capacity </a:t>
            </a:r>
            <a:r>
              <a:rPr lang="en" dirty="0">
                <a:highlight>
                  <a:srgbClr val="FFFF00"/>
                </a:highlight>
                <a:latin typeface="Courier New"/>
                <a:ea typeface="Courier New"/>
                <a:cs typeface="Courier New"/>
                <a:sym typeface="Courier New"/>
              </a:rPr>
              <a:t>null</a:t>
            </a:r>
            <a:r>
              <a:rPr lang="en" dirty="0">
                <a:highlight>
                  <a:srgbClr val="FFFF00"/>
                </a:highlight>
              </a:rPr>
              <a:t> entities to the list.</a:t>
            </a:r>
            <a:endParaRPr dirty="0">
              <a:highlight>
                <a:srgbClr val="FFFF00"/>
              </a:highlight>
            </a:endParaRPr>
          </a:p>
          <a:p>
            <a:pPr marL="914400" lvl="1" indent="-298450" algn="l" rtl="0">
              <a:lnSpc>
                <a:spcPct val="115000"/>
              </a:lnSpc>
              <a:spcBef>
                <a:spcPts val="0"/>
              </a:spcBef>
              <a:spcAft>
                <a:spcPts val="0"/>
              </a:spcAft>
              <a:buSzPts val="1100"/>
              <a:buChar char="○"/>
            </a:pPr>
            <a:r>
              <a:rPr lang="en" dirty="0"/>
              <a:t>These are needed so we can access the indexes correctly.</a:t>
            </a:r>
            <a:endParaRPr dirty="0"/>
          </a:p>
          <a:p>
            <a:pPr marL="457200" lvl="0" indent="-311150" algn="l" rtl="0">
              <a:lnSpc>
                <a:spcPct val="115000"/>
              </a:lnSpc>
              <a:spcBef>
                <a:spcPts val="1000"/>
              </a:spcBef>
              <a:spcAft>
                <a:spcPts val="0"/>
              </a:spcAft>
              <a:buSzPts val="1300"/>
              <a:buChar char="●"/>
            </a:pPr>
            <a:r>
              <a:rPr lang="en" dirty="0"/>
              <a:t>The initial </a:t>
            </a:r>
            <a:r>
              <a:rPr lang="en" b="1" i="1" dirty="0">
                <a:solidFill>
                  <a:srgbClr val="FF0000"/>
                </a:solidFill>
              </a:rPr>
              <a:t>size will be 0</a:t>
            </a:r>
            <a:r>
              <a:rPr lang="en" dirty="0"/>
              <a:t> because it is a new map.</a:t>
            </a:r>
            <a:endParaRPr dirty="0"/>
          </a:p>
          <a:p>
            <a:pPr marL="457200" lvl="0" indent="-311150" algn="l" rtl="0">
              <a:lnSpc>
                <a:spcPct val="115000"/>
              </a:lnSpc>
              <a:spcBef>
                <a:spcPts val="1000"/>
              </a:spcBef>
              <a:spcAft>
                <a:spcPts val="0"/>
              </a:spcAft>
              <a:buSzPts val="1300"/>
              <a:buChar char="●"/>
            </a:pPr>
            <a:r>
              <a:rPr lang="en" dirty="0"/>
              <a:t>Implement the </a:t>
            </a:r>
            <a:r>
              <a:rPr lang="en" dirty="0">
                <a:highlight>
                  <a:srgbClr val="FFFF00"/>
                </a:highlight>
              </a:rPr>
              <a:t>constructor and size </a:t>
            </a:r>
            <a:r>
              <a:rPr lang="en" dirty="0"/>
              <a:t>and stub out the other methods.</a:t>
            </a:r>
            <a:endParaRPr dirty="0"/>
          </a:p>
        </p:txBody>
      </p:sp>
      <p:sp>
        <p:nvSpPr>
          <p:cNvPr id="517" name="Google Shape;517;p7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7.6</a:t>
            </a:r>
            <a:endParaRPr/>
          </a:p>
        </p:txBody>
      </p:sp>
      <p:sp>
        <p:nvSpPr>
          <p:cNvPr id="518" name="Google Shape;518;p79"/>
          <p:cNvSpPr txBox="1">
            <a:spLocks noGrp="1"/>
          </p:cNvSpPr>
          <p:nvPr>
            <p:ph type="body" idx="4"/>
          </p:nvPr>
        </p:nvSpPr>
        <p:spPr>
          <a:xfrm>
            <a:off x="208268" y="4173265"/>
            <a:ext cx="30237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While we previously discussed using an array to hold the elements, using an ArrayList will be simpler given Java's issues with generic arrays.</a:t>
            </a:r>
            <a:endParaRPr>
              <a:latin typeface="Courier New"/>
              <a:ea typeface="Courier New"/>
              <a:cs typeface="Courier New"/>
              <a:sym typeface="Courier New"/>
            </a:endParaRPr>
          </a:p>
        </p:txBody>
      </p:sp>
      <p:sp>
        <p:nvSpPr>
          <p:cNvPr id="519" name="Google Shape;519;p7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Now that we've seen how hashing works with arrays, it's time to create our hash set implementation.</a:t>
            </a:r>
            <a:endParaRPr dirty="0"/>
          </a:p>
        </p:txBody>
      </p:sp>
      <p:pic>
        <p:nvPicPr>
          <p:cNvPr id="520" name="Google Shape;520;p79"/>
          <p:cNvPicPr preferRelativeResize="0"/>
          <p:nvPr/>
        </p:nvPicPr>
        <p:blipFill>
          <a:blip r:embed="rId3">
            <a:alphaModFix/>
          </a:blip>
          <a:stretch>
            <a:fillRect/>
          </a:stretch>
        </p:blipFill>
        <p:spPr>
          <a:xfrm>
            <a:off x="189275" y="1515375"/>
            <a:ext cx="3088525" cy="259824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80"/>
          <p:cNvSpPr/>
          <p:nvPr/>
        </p:nvSpPr>
        <p:spPr>
          <a:xfrm>
            <a:off x="3837654" y="1407235"/>
            <a:ext cx="1631700" cy="271500"/>
          </a:xfrm>
          <a:prstGeom prst="rect">
            <a:avLst/>
          </a:prstGeom>
          <a:solidFill>
            <a:srgbClr val="FFFF00"/>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526" name="Google Shape;526;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527" name="Google Shape;527;p8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Adding To a Map In Detail</a:t>
            </a:r>
            <a:endParaRPr/>
          </a:p>
        </p:txBody>
      </p:sp>
      <p:sp>
        <p:nvSpPr>
          <p:cNvPr id="528" name="Google Shape;528;p80"/>
          <p:cNvSpPr txBox="1"/>
          <p:nvPr/>
        </p:nvSpPr>
        <p:spPr>
          <a:xfrm>
            <a:off x="4485925" y="1410925"/>
            <a:ext cx="8679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FF0000"/>
                </a:solidFill>
                <a:latin typeface="Consolas"/>
                <a:ea typeface="Consolas"/>
                <a:cs typeface="Consolas"/>
                <a:sym typeface="Consolas"/>
              </a:rPr>
              <a:t>"abc"</a:t>
            </a:r>
            <a:endParaRPr sz="1600" b="0" i="0" u="none" strike="noStrike" cap="none">
              <a:solidFill>
                <a:srgbClr val="FF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400"/>
              <a:buFont typeface="Arial"/>
              <a:buNone/>
            </a:pPr>
            <a:r>
              <a:rPr lang="en" sz="1600">
                <a:solidFill>
                  <a:srgbClr val="FF0000"/>
                </a:solidFill>
                <a:latin typeface="Consolas"/>
                <a:ea typeface="Consolas"/>
                <a:cs typeface="Consolas"/>
                <a:sym typeface="Consolas"/>
              </a:rPr>
              <a:t>123</a:t>
            </a:r>
            <a:endParaRPr sz="1600">
              <a:solidFill>
                <a:srgbClr val="FF0000"/>
              </a:solidFill>
              <a:latin typeface="Consolas"/>
              <a:ea typeface="Consolas"/>
              <a:cs typeface="Consolas"/>
              <a:sym typeface="Consolas"/>
            </a:endParaRPr>
          </a:p>
        </p:txBody>
      </p:sp>
      <p:cxnSp>
        <p:nvCxnSpPr>
          <p:cNvPr id="529" name="Google Shape;529;p80"/>
          <p:cNvCxnSpPr>
            <a:stCxn id="528" idx="2"/>
            <a:endCxn id="530" idx="0"/>
          </p:cNvCxnSpPr>
          <p:nvPr/>
        </p:nvCxnSpPr>
        <p:spPr>
          <a:xfrm>
            <a:off x="4919875" y="1892425"/>
            <a:ext cx="0" cy="271500"/>
          </a:xfrm>
          <a:prstGeom prst="straightConnector1">
            <a:avLst/>
          </a:prstGeom>
          <a:noFill/>
          <a:ln w="19050" cap="flat" cmpd="sng">
            <a:solidFill>
              <a:srgbClr val="FF0000"/>
            </a:solidFill>
            <a:prstDash val="solid"/>
            <a:round/>
            <a:headEnd type="none" w="med" len="med"/>
            <a:tailEnd type="triangle" w="med" len="med"/>
          </a:ln>
        </p:spPr>
      </p:cxnSp>
      <p:sp>
        <p:nvSpPr>
          <p:cNvPr id="531" name="Google Shape;531;p80"/>
          <p:cNvSpPr txBox="1"/>
          <p:nvPr/>
        </p:nvSpPr>
        <p:spPr>
          <a:xfrm>
            <a:off x="4525216" y="2678825"/>
            <a:ext cx="7893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a:solidFill>
                  <a:srgbClr val="4A86E8"/>
                </a:solidFill>
                <a:latin typeface="Consolas"/>
                <a:ea typeface="Consolas"/>
                <a:cs typeface="Consolas"/>
                <a:sym typeface="Consolas"/>
              </a:rPr>
              <a:t>96354</a:t>
            </a:r>
            <a:endParaRPr sz="1600" b="0" i="0" u="none" strike="noStrike" cap="none">
              <a:solidFill>
                <a:srgbClr val="4A86E8"/>
              </a:solidFill>
              <a:latin typeface="Consolas"/>
              <a:ea typeface="Consolas"/>
              <a:cs typeface="Consolas"/>
              <a:sym typeface="Consolas"/>
            </a:endParaRPr>
          </a:p>
        </p:txBody>
      </p:sp>
      <p:cxnSp>
        <p:nvCxnSpPr>
          <p:cNvPr id="532" name="Google Shape;532;p80"/>
          <p:cNvCxnSpPr>
            <a:stCxn id="530" idx="2"/>
            <a:endCxn id="531" idx="0"/>
          </p:cNvCxnSpPr>
          <p:nvPr/>
        </p:nvCxnSpPr>
        <p:spPr>
          <a:xfrm>
            <a:off x="4919866" y="2557627"/>
            <a:ext cx="0" cy="121200"/>
          </a:xfrm>
          <a:prstGeom prst="straightConnector1">
            <a:avLst/>
          </a:prstGeom>
          <a:noFill/>
          <a:ln w="19050" cap="flat" cmpd="sng">
            <a:solidFill>
              <a:srgbClr val="4A86E8"/>
            </a:solidFill>
            <a:prstDash val="solid"/>
            <a:round/>
            <a:headEnd type="none" w="med" len="med"/>
            <a:tailEnd type="none" w="med" len="med"/>
          </a:ln>
        </p:spPr>
      </p:cxnSp>
      <p:cxnSp>
        <p:nvCxnSpPr>
          <p:cNvPr id="533" name="Google Shape;533;p80"/>
          <p:cNvCxnSpPr>
            <a:stCxn id="531" idx="2"/>
            <a:endCxn id="534" idx="0"/>
          </p:cNvCxnSpPr>
          <p:nvPr/>
        </p:nvCxnSpPr>
        <p:spPr>
          <a:xfrm>
            <a:off x="4919866" y="2964125"/>
            <a:ext cx="0" cy="200700"/>
          </a:xfrm>
          <a:prstGeom prst="straightConnector1">
            <a:avLst/>
          </a:prstGeom>
          <a:noFill/>
          <a:ln w="19050" cap="flat" cmpd="sng">
            <a:solidFill>
              <a:srgbClr val="4A86E8"/>
            </a:solidFill>
            <a:prstDash val="solid"/>
            <a:round/>
            <a:headEnd type="none" w="med" len="med"/>
            <a:tailEnd type="triangle" w="med" len="med"/>
          </a:ln>
        </p:spPr>
      </p:cxnSp>
      <p:sp>
        <p:nvSpPr>
          <p:cNvPr id="535" name="Google Shape;535;p80"/>
          <p:cNvSpPr txBox="1"/>
          <p:nvPr/>
        </p:nvSpPr>
        <p:spPr>
          <a:xfrm>
            <a:off x="3978666" y="3700313"/>
            <a:ext cx="789300" cy="228600"/>
          </a:xfrm>
          <a:prstGeom prst="rect">
            <a:avLst/>
          </a:prstGeom>
          <a:no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a:solidFill>
                  <a:srgbClr val="6AA84F"/>
                </a:solidFill>
                <a:latin typeface="Consolas"/>
                <a:ea typeface="Consolas"/>
                <a:cs typeface="Consolas"/>
                <a:sym typeface="Consolas"/>
              </a:rPr>
              <a:t>2</a:t>
            </a:r>
            <a:endParaRPr sz="1600" b="0" i="0" u="none" strike="noStrike" cap="none">
              <a:solidFill>
                <a:srgbClr val="6AA84F"/>
              </a:solidFill>
              <a:latin typeface="Consolas"/>
              <a:ea typeface="Consolas"/>
              <a:cs typeface="Consolas"/>
              <a:sym typeface="Consolas"/>
            </a:endParaRPr>
          </a:p>
        </p:txBody>
      </p:sp>
      <p:cxnSp>
        <p:nvCxnSpPr>
          <p:cNvPr id="536" name="Google Shape;536;p80"/>
          <p:cNvCxnSpPr>
            <a:stCxn id="534" idx="2"/>
            <a:endCxn id="535" idx="0"/>
          </p:cNvCxnSpPr>
          <p:nvPr/>
        </p:nvCxnSpPr>
        <p:spPr>
          <a:xfrm flipH="1">
            <a:off x="4373266" y="3558487"/>
            <a:ext cx="546600" cy="141900"/>
          </a:xfrm>
          <a:prstGeom prst="straightConnector1">
            <a:avLst/>
          </a:prstGeom>
          <a:noFill/>
          <a:ln w="19050" cap="flat" cmpd="sng">
            <a:solidFill>
              <a:srgbClr val="6AA84F"/>
            </a:solidFill>
            <a:prstDash val="solid"/>
            <a:round/>
            <a:headEnd type="none" w="med" len="med"/>
            <a:tailEnd type="none" w="med" len="med"/>
          </a:ln>
        </p:spPr>
      </p:cxnSp>
      <p:cxnSp>
        <p:nvCxnSpPr>
          <p:cNvPr id="537" name="Google Shape;537;p80"/>
          <p:cNvCxnSpPr>
            <a:stCxn id="535" idx="2"/>
          </p:cNvCxnSpPr>
          <p:nvPr/>
        </p:nvCxnSpPr>
        <p:spPr>
          <a:xfrm>
            <a:off x="4373316" y="3928913"/>
            <a:ext cx="5700" cy="231300"/>
          </a:xfrm>
          <a:prstGeom prst="straightConnector1">
            <a:avLst/>
          </a:prstGeom>
          <a:noFill/>
          <a:ln w="19050" cap="flat" cmpd="sng">
            <a:solidFill>
              <a:srgbClr val="6AA84F"/>
            </a:solidFill>
            <a:prstDash val="solid"/>
            <a:round/>
            <a:headEnd type="none" w="med" len="med"/>
            <a:tailEnd type="triangle" w="med" len="med"/>
          </a:ln>
        </p:spPr>
      </p:cxnSp>
      <p:graphicFrame>
        <p:nvGraphicFramePr>
          <p:cNvPr id="538" name="Google Shape;538;p80"/>
          <p:cNvGraphicFramePr/>
          <p:nvPr/>
        </p:nvGraphicFramePr>
        <p:xfrm>
          <a:off x="3388466" y="4146595"/>
          <a:ext cx="30628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100" u="none" strike="noStrike" cap="none"/>
                    </a:p>
                  </a:txBody>
                  <a:tcPr marL="0" marR="0"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0</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1</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2</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3</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4</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5</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6</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7</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530" name="Google Shape;530;p80"/>
          <p:cNvSpPr/>
          <p:nvPr/>
        </p:nvSpPr>
        <p:spPr>
          <a:xfrm>
            <a:off x="3388516" y="2164027"/>
            <a:ext cx="3062700" cy="393600"/>
          </a:xfrm>
          <a:prstGeom prst="rect">
            <a:avLst/>
          </a:prstGeom>
          <a:solidFill>
            <a:srgbClr val="4A86E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Hash Function</a:t>
            </a:r>
            <a:endParaRPr sz="1400" b="0" i="0" u="none" strike="noStrike" cap="none">
              <a:solidFill>
                <a:srgbClr val="FFFFFF"/>
              </a:solidFill>
              <a:latin typeface="Arial"/>
              <a:ea typeface="Arial"/>
              <a:cs typeface="Arial"/>
              <a:sym typeface="Arial"/>
            </a:endParaRPr>
          </a:p>
        </p:txBody>
      </p:sp>
      <p:sp>
        <p:nvSpPr>
          <p:cNvPr id="534" name="Google Shape;534;p80"/>
          <p:cNvSpPr/>
          <p:nvPr/>
        </p:nvSpPr>
        <p:spPr>
          <a:xfrm>
            <a:off x="3388516" y="3164887"/>
            <a:ext cx="3062700" cy="393600"/>
          </a:xfrm>
          <a:prstGeom prst="rect">
            <a:avLst/>
          </a:prstGeom>
          <a:solidFill>
            <a:srgbClr val="6AA84F"/>
          </a:solidFill>
          <a:ln w="19050"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a:solidFill>
                  <a:srgbClr val="FFFFFF"/>
                </a:solidFill>
              </a:rPr>
              <a:t>Modulo 8</a:t>
            </a:r>
            <a:endParaRPr sz="1400" b="0" i="0" u="none" strike="noStrike" cap="none">
              <a:solidFill>
                <a:srgbClr val="FFFFFF"/>
              </a:solidFill>
              <a:latin typeface="Arial"/>
              <a:ea typeface="Arial"/>
              <a:cs typeface="Arial"/>
              <a:sym typeface="Arial"/>
            </a:endParaRPr>
          </a:p>
        </p:txBody>
      </p:sp>
      <p:sp>
        <p:nvSpPr>
          <p:cNvPr id="539" name="Google Shape;539;p80"/>
          <p:cNvSpPr txBox="1">
            <a:spLocks noGrp="1"/>
          </p:cNvSpPr>
          <p:nvPr>
            <p:ph type="body" idx="4294967295"/>
          </p:nvPr>
        </p:nvSpPr>
        <p:spPr>
          <a:xfrm>
            <a:off x="233000" y="1691400"/>
            <a:ext cx="2814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First, hash the </a:t>
            </a:r>
            <a:r>
              <a:rPr lang="en" sz="1200" b="1" i="1">
                <a:solidFill>
                  <a:srgbClr val="FF0000"/>
                </a:solidFill>
              </a:rPr>
              <a:t>key</a:t>
            </a:r>
            <a:r>
              <a:rPr lang="en" sz="1200">
                <a:solidFill>
                  <a:srgbClr val="000000"/>
                </a:solidFill>
              </a:rPr>
              <a:t> using a </a:t>
            </a:r>
            <a:r>
              <a:rPr lang="en" sz="1200" b="1" i="1">
                <a:solidFill>
                  <a:srgbClr val="FF0000"/>
                </a:solidFill>
              </a:rPr>
              <a:t>hash function</a:t>
            </a:r>
            <a:r>
              <a:rPr lang="en" sz="1200">
                <a:solidFill>
                  <a:srgbClr val="000000"/>
                </a:solidFill>
              </a:rPr>
              <a:t>.</a:t>
            </a:r>
            <a:endParaRPr sz="1200">
              <a:solidFill>
                <a:srgbClr val="000000"/>
              </a:solidFill>
            </a:endParaRPr>
          </a:p>
        </p:txBody>
      </p:sp>
      <p:sp>
        <p:nvSpPr>
          <p:cNvPr id="540" name="Google Shape;540;p80"/>
          <p:cNvSpPr txBox="1">
            <a:spLocks noGrp="1"/>
          </p:cNvSpPr>
          <p:nvPr>
            <p:ph type="body" idx="4294967295"/>
          </p:nvPr>
        </p:nvSpPr>
        <p:spPr>
          <a:xfrm>
            <a:off x="233000" y="2552075"/>
            <a:ext cx="2814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This produces a </a:t>
            </a:r>
            <a:r>
              <a:rPr lang="en" sz="1200" b="1" i="1">
                <a:solidFill>
                  <a:srgbClr val="FF0000"/>
                </a:solidFill>
              </a:rPr>
              <a:t>hash code</a:t>
            </a:r>
            <a:r>
              <a:rPr lang="en" sz="1200">
                <a:solidFill>
                  <a:srgbClr val="000000"/>
                </a:solidFill>
              </a:rPr>
              <a:t> which is an integer.</a:t>
            </a:r>
            <a:endParaRPr sz="1200">
              <a:solidFill>
                <a:srgbClr val="000000"/>
              </a:solidFill>
            </a:endParaRPr>
          </a:p>
        </p:txBody>
      </p:sp>
      <p:sp>
        <p:nvSpPr>
          <p:cNvPr id="541" name="Google Shape;541;p80"/>
          <p:cNvSpPr txBox="1">
            <a:spLocks noGrp="1"/>
          </p:cNvSpPr>
          <p:nvPr>
            <p:ph type="body" idx="4294967295"/>
          </p:nvPr>
        </p:nvSpPr>
        <p:spPr>
          <a:xfrm>
            <a:off x="233000" y="3412738"/>
            <a:ext cx="2814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b="1" i="1">
                <a:solidFill>
                  <a:srgbClr val="FF0000"/>
                </a:solidFill>
              </a:rPr>
              <a:t>Modulo</a:t>
            </a:r>
            <a:r>
              <a:rPr lang="en" sz="1200">
                <a:solidFill>
                  <a:srgbClr val="000000"/>
                </a:solidFill>
              </a:rPr>
              <a:t> the code by the size of the array to get the index.</a:t>
            </a:r>
            <a:endParaRPr sz="1200">
              <a:solidFill>
                <a:srgbClr val="000000"/>
              </a:solidFill>
            </a:endParaRPr>
          </a:p>
        </p:txBody>
      </p:sp>
      <p:sp>
        <p:nvSpPr>
          <p:cNvPr id="542" name="Google Shape;542;p80"/>
          <p:cNvSpPr txBox="1">
            <a:spLocks noGrp="1"/>
          </p:cNvSpPr>
          <p:nvPr>
            <p:ph type="body" idx="4294967295"/>
          </p:nvPr>
        </p:nvSpPr>
        <p:spPr>
          <a:xfrm>
            <a:off x="233000" y="4273425"/>
            <a:ext cx="2814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Store the kay and value at the </a:t>
            </a:r>
            <a:r>
              <a:rPr lang="en" sz="1200" b="1" i="1">
                <a:solidFill>
                  <a:srgbClr val="FF0000"/>
                </a:solidFill>
              </a:rPr>
              <a:t>index</a:t>
            </a:r>
            <a:r>
              <a:rPr lang="en" sz="1200">
                <a:solidFill>
                  <a:srgbClr val="000000"/>
                </a:solidFill>
              </a:rPr>
              <a:t>.</a:t>
            </a:r>
            <a:endParaRPr sz="1200">
              <a:solidFill>
                <a:srgbClr val="000000"/>
              </a:solidFill>
            </a:endParaRPr>
          </a:p>
        </p:txBody>
      </p:sp>
      <p:sp>
        <p:nvSpPr>
          <p:cNvPr id="543" name="Google Shape;543;p80"/>
          <p:cNvSpPr/>
          <p:nvPr/>
        </p:nvSpPr>
        <p:spPr>
          <a:xfrm>
            <a:off x="3952800" y="4146575"/>
            <a:ext cx="7893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400"/>
              <a:buFont typeface="Arial"/>
              <a:buNone/>
            </a:pPr>
            <a:r>
              <a:rPr lang="en" sz="1100"/>
              <a:t>"abc"</a:t>
            </a:r>
            <a:endParaRPr sz="1100"/>
          </a:p>
          <a:p>
            <a:pPr marL="0" lvl="0" indent="0" algn="ctr" rtl="0">
              <a:spcBef>
                <a:spcPts val="0"/>
              </a:spcBef>
              <a:spcAft>
                <a:spcPts val="0"/>
              </a:spcAft>
              <a:buClr>
                <a:srgbClr val="000000"/>
              </a:buClr>
              <a:buSzPts val="1400"/>
              <a:buFont typeface="Arial"/>
              <a:buNone/>
            </a:pPr>
            <a:r>
              <a:rPr lang="en" sz="1100"/>
              <a:t>123</a:t>
            </a:r>
            <a:endParaRPr sz="1100"/>
          </a:p>
        </p:txBody>
      </p:sp>
      <p:sp>
        <p:nvSpPr>
          <p:cNvPr id="544" name="Google Shape;544;p80"/>
          <p:cNvSpPr txBox="1">
            <a:spLocks noGrp="1"/>
          </p:cNvSpPr>
          <p:nvPr>
            <p:ph type="body" idx="4294967295"/>
          </p:nvPr>
        </p:nvSpPr>
        <p:spPr>
          <a:xfrm>
            <a:off x="7012000" y="1480425"/>
            <a:ext cx="17661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Value to be stored.</a:t>
            </a:r>
            <a:endParaRPr sz="1200">
              <a:solidFill>
                <a:srgbClr val="000000"/>
              </a:solidFill>
            </a:endParaRPr>
          </a:p>
        </p:txBody>
      </p:sp>
      <p:sp>
        <p:nvSpPr>
          <p:cNvPr id="545" name="Google Shape;545;p80"/>
          <p:cNvSpPr txBox="1">
            <a:spLocks noGrp="1"/>
          </p:cNvSpPr>
          <p:nvPr>
            <p:ph type="body" idx="4294967295"/>
          </p:nvPr>
        </p:nvSpPr>
        <p:spPr>
          <a:xfrm>
            <a:off x="7012001" y="4073975"/>
            <a:ext cx="17661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Array used for storage.</a:t>
            </a:r>
            <a:endParaRPr sz="1200">
              <a:solidFill>
                <a:srgbClr val="000000"/>
              </a:solidFill>
            </a:endParaRPr>
          </a:p>
        </p:txBody>
      </p:sp>
      <p:sp>
        <p:nvSpPr>
          <p:cNvPr id="546" name="Google Shape;546;p80"/>
          <p:cNvSpPr txBox="1"/>
          <p:nvPr/>
        </p:nvSpPr>
        <p:spPr>
          <a:xfrm>
            <a:off x="3823943" y="1415036"/>
            <a:ext cx="867900" cy="4815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600">
                <a:solidFill>
                  <a:schemeClr val="dk1"/>
                </a:solidFill>
                <a:latin typeface="Consolas"/>
                <a:ea typeface="Consolas"/>
                <a:cs typeface="Consolas"/>
                <a:sym typeface="Consolas"/>
              </a:rPr>
              <a:t>key:</a:t>
            </a:r>
            <a:endParaRPr sz="1600" b="0" i="0" u="none" strike="noStrike" cap="none">
              <a:solidFill>
                <a:schemeClr val="dk1"/>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400"/>
              <a:buFont typeface="Arial"/>
              <a:buNone/>
            </a:pPr>
            <a:r>
              <a:rPr lang="en" sz="1600">
                <a:solidFill>
                  <a:schemeClr val="dk1"/>
                </a:solidFill>
                <a:latin typeface="Consolas"/>
                <a:ea typeface="Consolas"/>
                <a:cs typeface="Consolas"/>
                <a:sym typeface="Consolas"/>
              </a:rPr>
              <a:t>value:</a:t>
            </a:r>
            <a:endParaRPr sz="1600">
              <a:solidFill>
                <a:schemeClr val="dk1"/>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9"/>
                                        </p:tgtEl>
                                        <p:attrNameLst>
                                          <p:attrName>style.visibility</p:attrName>
                                        </p:attrNameLst>
                                      </p:cBhvr>
                                      <p:to>
                                        <p:strVal val="visible"/>
                                      </p:to>
                                    </p:set>
                                    <p:animEffect transition="in" filter="fade">
                                      <p:cBhvr>
                                        <p:cTn id="7" dur="500"/>
                                        <p:tgtEl>
                                          <p:spTgt spid="53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29"/>
                                        </p:tgtEl>
                                        <p:attrNameLst>
                                          <p:attrName>style.visibility</p:attrName>
                                        </p:attrNameLst>
                                      </p:cBhvr>
                                      <p:to>
                                        <p:strVal val="visible"/>
                                      </p:to>
                                    </p:set>
                                    <p:animEffect transition="in" filter="fade">
                                      <p:cBhvr>
                                        <p:cTn id="11" dur="500"/>
                                        <p:tgtEl>
                                          <p:spTgt spid="52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30"/>
                                        </p:tgtEl>
                                        <p:attrNameLst>
                                          <p:attrName>style.visibility</p:attrName>
                                        </p:attrNameLst>
                                      </p:cBhvr>
                                      <p:to>
                                        <p:strVal val="visible"/>
                                      </p:to>
                                    </p:set>
                                    <p:animEffect transition="in" filter="fade">
                                      <p:cBhvr>
                                        <p:cTn id="15" dur="500"/>
                                        <p:tgtEl>
                                          <p:spTgt spid="5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40"/>
                                        </p:tgtEl>
                                        <p:attrNameLst>
                                          <p:attrName>style.visibility</p:attrName>
                                        </p:attrNameLst>
                                      </p:cBhvr>
                                      <p:to>
                                        <p:strVal val="visible"/>
                                      </p:to>
                                    </p:set>
                                    <p:animEffect transition="in" filter="fade">
                                      <p:cBhvr>
                                        <p:cTn id="20" dur="500"/>
                                        <p:tgtEl>
                                          <p:spTgt spid="540"/>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532"/>
                                        </p:tgtEl>
                                        <p:attrNameLst>
                                          <p:attrName>style.visibility</p:attrName>
                                        </p:attrNameLst>
                                      </p:cBhvr>
                                      <p:to>
                                        <p:strVal val="visible"/>
                                      </p:to>
                                    </p:set>
                                    <p:animEffect transition="in" filter="fade">
                                      <p:cBhvr>
                                        <p:cTn id="24" dur="500"/>
                                        <p:tgtEl>
                                          <p:spTgt spid="532"/>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531"/>
                                        </p:tgtEl>
                                        <p:attrNameLst>
                                          <p:attrName>style.visibility</p:attrName>
                                        </p:attrNameLst>
                                      </p:cBhvr>
                                      <p:to>
                                        <p:strVal val="visible"/>
                                      </p:to>
                                    </p:set>
                                    <p:animEffect transition="in" filter="fade">
                                      <p:cBhvr>
                                        <p:cTn id="28" dur="500"/>
                                        <p:tgtEl>
                                          <p:spTgt spid="53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41"/>
                                        </p:tgtEl>
                                        <p:attrNameLst>
                                          <p:attrName>style.visibility</p:attrName>
                                        </p:attrNameLst>
                                      </p:cBhvr>
                                      <p:to>
                                        <p:strVal val="visible"/>
                                      </p:to>
                                    </p:set>
                                    <p:animEffect transition="in" filter="fade">
                                      <p:cBhvr>
                                        <p:cTn id="33" dur="500"/>
                                        <p:tgtEl>
                                          <p:spTgt spid="541"/>
                                        </p:tgtEl>
                                      </p:cBhvr>
                                    </p:animEffec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533"/>
                                        </p:tgtEl>
                                        <p:attrNameLst>
                                          <p:attrName>style.visibility</p:attrName>
                                        </p:attrNameLst>
                                      </p:cBhvr>
                                      <p:to>
                                        <p:strVal val="visible"/>
                                      </p:to>
                                    </p:set>
                                    <p:animEffect transition="in" filter="fade">
                                      <p:cBhvr>
                                        <p:cTn id="37" dur="500"/>
                                        <p:tgtEl>
                                          <p:spTgt spid="533"/>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534"/>
                                        </p:tgtEl>
                                        <p:attrNameLst>
                                          <p:attrName>style.visibility</p:attrName>
                                        </p:attrNameLst>
                                      </p:cBhvr>
                                      <p:to>
                                        <p:strVal val="visible"/>
                                      </p:to>
                                    </p:set>
                                    <p:animEffect transition="in" filter="fade">
                                      <p:cBhvr>
                                        <p:cTn id="41" dur="500"/>
                                        <p:tgtEl>
                                          <p:spTgt spid="534"/>
                                        </p:tgtEl>
                                      </p:cBhvr>
                                    </p:animEffect>
                                  </p:childTnLst>
                                </p:cTn>
                              </p:par>
                            </p:childTnLst>
                          </p:cTn>
                        </p:par>
                        <p:par>
                          <p:cTn id="42" fill="hold">
                            <p:stCondLst>
                              <p:cond delay="1500"/>
                            </p:stCondLst>
                            <p:childTnLst>
                              <p:par>
                                <p:cTn id="43" presetID="10" presetClass="entr" presetSubtype="0" fill="hold" nodeType="afterEffect">
                                  <p:stCondLst>
                                    <p:cond delay="0"/>
                                  </p:stCondLst>
                                  <p:childTnLst>
                                    <p:set>
                                      <p:cBhvr>
                                        <p:cTn id="44" dur="1" fill="hold">
                                          <p:stCondLst>
                                            <p:cond delay="0"/>
                                          </p:stCondLst>
                                        </p:cTn>
                                        <p:tgtEl>
                                          <p:spTgt spid="536"/>
                                        </p:tgtEl>
                                        <p:attrNameLst>
                                          <p:attrName>style.visibility</p:attrName>
                                        </p:attrNameLst>
                                      </p:cBhvr>
                                      <p:to>
                                        <p:strVal val="visible"/>
                                      </p:to>
                                    </p:set>
                                    <p:animEffect transition="in" filter="fade">
                                      <p:cBhvr>
                                        <p:cTn id="45" dur="500"/>
                                        <p:tgtEl>
                                          <p:spTgt spid="536"/>
                                        </p:tgtEl>
                                      </p:cBhvr>
                                    </p:animEffect>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535"/>
                                        </p:tgtEl>
                                        <p:attrNameLst>
                                          <p:attrName>style.visibility</p:attrName>
                                        </p:attrNameLst>
                                      </p:cBhvr>
                                      <p:to>
                                        <p:strVal val="visible"/>
                                      </p:to>
                                    </p:set>
                                    <p:animEffect transition="in" filter="fade">
                                      <p:cBhvr>
                                        <p:cTn id="49" dur="500"/>
                                        <p:tgtEl>
                                          <p:spTgt spid="53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542"/>
                                        </p:tgtEl>
                                        <p:attrNameLst>
                                          <p:attrName>style.visibility</p:attrName>
                                        </p:attrNameLst>
                                      </p:cBhvr>
                                      <p:to>
                                        <p:strVal val="visible"/>
                                      </p:to>
                                    </p:set>
                                    <p:animEffect transition="in" filter="fade">
                                      <p:cBhvr>
                                        <p:cTn id="54" dur="1000"/>
                                        <p:tgtEl>
                                          <p:spTgt spid="542"/>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537"/>
                                        </p:tgtEl>
                                        <p:attrNameLst>
                                          <p:attrName>style.visibility</p:attrName>
                                        </p:attrNameLst>
                                      </p:cBhvr>
                                      <p:to>
                                        <p:strVal val="visible"/>
                                      </p:to>
                                    </p:set>
                                    <p:animEffect transition="in" filter="fade">
                                      <p:cBhvr>
                                        <p:cTn id="58" dur="500"/>
                                        <p:tgtEl>
                                          <p:spTgt spid="537"/>
                                        </p:tgtEl>
                                      </p:cBhvr>
                                    </p:animEffect>
                                  </p:childTnLst>
                                </p:cTn>
                              </p:par>
                            </p:childTnLst>
                          </p:cTn>
                        </p:par>
                        <p:par>
                          <p:cTn id="59" fill="hold">
                            <p:stCondLst>
                              <p:cond delay="1500"/>
                            </p:stCondLst>
                            <p:childTnLst>
                              <p:par>
                                <p:cTn id="60" presetID="10" presetClass="entr" presetSubtype="0" fill="hold" nodeType="afterEffect">
                                  <p:stCondLst>
                                    <p:cond delay="0"/>
                                  </p:stCondLst>
                                  <p:childTnLst>
                                    <p:set>
                                      <p:cBhvr>
                                        <p:cTn id="61" dur="1" fill="hold">
                                          <p:stCondLst>
                                            <p:cond delay="0"/>
                                          </p:stCondLst>
                                        </p:cTn>
                                        <p:tgtEl>
                                          <p:spTgt spid="543"/>
                                        </p:tgtEl>
                                        <p:attrNameLst>
                                          <p:attrName>style.visibility</p:attrName>
                                        </p:attrNameLst>
                                      </p:cBhvr>
                                      <p:to>
                                        <p:strVal val="visible"/>
                                      </p:to>
                                    </p:set>
                                    <p:animEffect transition="in" filter="fade">
                                      <p:cBhvr>
                                        <p:cTn id="62" dur="500"/>
                                        <p:tgtEl>
                                          <p:spTgt spid="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8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a:t>
            </a:r>
            <a:endParaRPr/>
          </a:p>
        </p:txBody>
      </p:sp>
      <p:sp>
        <p:nvSpPr>
          <p:cNvPr id="552" name="Google Shape;552;p8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first order of business is to add something to our hash set. This will involve hashing the value and adding it to the underlying array.</a:t>
            </a:r>
            <a:endParaRPr/>
          </a:p>
        </p:txBody>
      </p:sp>
      <p:sp>
        <p:nvSpPr>
          <p:cNvPr id="553" name="Google Shape;553;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554" name="Google Shape;554;p81"/>
          <p:cNvSpPr txBox="1">
            <a:spLocks noGrp="1"/>
          </p:cNvSpPr>
          <p:nvPr>
            <p:ph type="body" idx="4"/>
          </p:nvPr>
        </p:nvSpPr>
        <p:spPr>
          <a:xfrm>
            <a:off x="370550" y="4542797"/>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We need to store the key and value as we have to check the key on each access.</a:t>
            </a:r>
            <a:endParaRPr/>
          </a:p>
        </p:txBody>
      </p:sp>
      <p:sp>
        <p:nvSpPr>
          <p:cNvPr id="555" name="Google Shape;555;p81"/>
          <p:cNvSpPr txBox="1">
            <a:spLocks noGrp="1"/>
          </p:cNvSpPr>
          <p:nvPr>
            <p:ph type="body" idx="2"/>
          </p:nvPr>
        </p:nvSpPr>
        <p:spPr>
          <a:xfrm>
            <a:off x="3394250" y="1261224"/>
            <a:ext cx="5626800" cy="39582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Get the hash code by calling </a:t>
            </a:r>
            <a:r>
              <a:rPr lang="en" sz="1400" dirty="0">
                <a:solidFill>
                  <a:srgbClr val="FF0000"/>
                </a:solidFill>
                <a:highlight>
                  <a:srgbClr val="FFFF00"/>
                </a:highlight>
                <a:latin typeface="Courier New"/>
                <a:ea typeface="Courier New"/>
                <a:cs typeface="Courier New"/>
                <a:sym typeface="Courier New"/>
              </a:rPr>
              <a:t>.hashCode()</a:t>
            </a:r>
            <a:r>
              <a:rPr lang="en" sz="1400" dirty="0">
                <a:highlight>
                  <a:srgbClr val="FFFF00"/>
                </a:highlight>
              </a:rPr>
              <a:t> </a:t>
            </a:r>
            <a:r>
              <a:rPr lang="en" sz="1400" dirty="0"/>
              <a:t>on the key of the key/value pair.</a:t>
            </a:r>
            <a:endParaRPr sz="1400" dirty="0"/>
          </a:p>
          <a:p>
            <a:pPr marL="457200" lvl="0" indent="-317500" algn="l" rtl="0">
              <a:spcBef>
                <a:spcPts val="0"/>
              </a:spcBef>
              <a:spcAft>
                <a:spcPts val="0"/>
              </a:spcAft>
              <a:buSzPts val="1400"/>
              <a:buChar char="●"/>
            </a:pPr>
            <a:r>
              <a:rPr lang="en" sz="1400" dirty="0"/>
              <a:t>Using </a:t>
            </a:r>
            <a:r>
              <a:rPr lang="en" sz="1400" b="1" i="1" dirty="0">
                <a:solidFill>
                  <a:srgbClr val="FF0000"/>
                </a:solidFill>
              </a:rPr>
              <a:t>modulo</a:t>
            </a:r>
            <a:r>
              <a:rPr lang="en" sz="1400" dirty="0"/>
              <a:t> arithmetic and Math.abs(), constrain the hash code to a value that will fit into the preallocated List.</a:t>
            </a:r>
            <a:endParaRPr sz="1400" dirty="0"/>
          </a:p>
          <a:p>
            <a:pPr marL="457200" lvl="0" indent="-317500" algn="l" rtl="0">
              <a:spcBef>
                <a:spcPts val="0"/>
              </a:spcBef>
              <a:spcAft>
                <a:spcPts val="0"/>
              </a:spcAft>
              <a:buSzPts val="1400"/>
              <a:buChar char="●"/>
            </a:pPr>
            <a:r>
              <a:rPr lang="en" sz="1400" dirty="0"/>
              <a:t>Check the </a:t>
            </a:r>
            <a:r>
              <a:rPr lang="en" sz="1400" dirty="0">
                <a:solidFill>
                  <a:srgbClr val="FF0000"/>
                </a:solidFill>
                <a:latin typeface="Courier New"/>
                <a:ea typeface="Courier New"/>
                <a:cs typeface="Courier New"/>
                <a:sym typeface="Courier New"/>
              </a:rPr>
              <a:t>elements</a:t>
            </a:r>
            <a:r>
              <a:rPr lang="en" sz="1400" dirty="0"/>
              <a:t> list at the determined index.</a:t>
            </a:r>
            <a:endParaRPr sz="1400" dirty="0"/>
          </a:p>
          <a:p>
            <a:pPr marL="914400" lvl="1" indent="-304800" algn="l" rtl="0">
              <a:spcBef>
                <a:spcPts val="0"/>
              </a:spcBef>
              <a:spcAft>
                <a:spcPts val="0"/>
              </a:spcAft>
              <a:buSzPts val="1200"/>
              <a:buChar char="○"/>
            </a:pPr>
            <a:r>
              <a:rPr lang="en" sz="1200" dirty="0"/>
              <a:t>If it is </a:t>
            </a:r>
            <a:r>
              <a:rPr lang="en" sz="1200" b="1" i="1" dirty="0">
                <a:solidFill>
                  <a:srgbClr val="FF0000"/>
                </a:solidFill>
              </a:rPr>
              <a:t>not empty</a:t>
            </a:r>
            <a:r>
              <a:rPr lang="en" sz="1200" dirty="0"/>
              <a:t>, check to see if the key at the stored index matches the provided key.</a:t>
            </a:r>
            <a:endParaRPr sz="1200" dirty="0"/>
          </a:p>
          <a:p>
            <a:pPr marL="1371600" lvl="2" indent="-298450" algn="l" rtl="0">
              <a:spcBef>
                <a:spcPts val="0"/>
              </a:spcBef>
              <a:spcAft>
                <a:spcPts val="0"/>
              </a:spcAft>
              <a:buSzPts val="1100"/>
              <a:buChar char="■"/>
            </a:pPr>
            <a:r>
              <a:rPr lang="en" dirty="0"/>
              <a:t>If they match, update the </a:t>
            </a:r>
            <a:r>
              <a:rPr lang="en" dirty="0">
                <a:latin typeface="Courier New"/>
                <a:ea typeface="Courier New"/>
                <a:cs typeface="Courier New"/>
                <a:sym typeface="Courier New"/>
              </a:rPr>
              <a:t>Element</a:t>
            </a:r>
            <a:r>
              <a:rPr lang="en" dirty="0"/>
              <a:t> at index to store the new value.and return </a:t>
            </a:r>
            <a:r>
              <a:rPr lang="en" dirty="0">
                <a:latin typeface="Courier New"/>
                <a:ea typeface="Courier New"/>
                <a:cs typeface="Courier New"/>
                <a:sym typeface="Courier New"/>
              </a:rPr>
              <a:t>true.</a:t>
            </a:r>
            <a:endParaRPr dirty="0">
              <a:latin typeface="Courier New"/>
              <a:ea typeface="Courier New"/>
              <a:cs typeface="Courier New"/>
              <a:sym typeface="Courier New"/>
            </a:endParaRPr>
          </a:p>
          <a:p>
            <a:pPr marL="1371600" lvl="2" indent="-298450" algn="l" rtl="0">
              <a:spcBef>
                <a:spcPts val="0"/>
              </a:spcBef>
              <a:spcAft>
                <a:spcPts val="0"/>
              </a:spcAft>
              <a:buSzPts val="1100"/>
              <a:buChar char="■"/>
            </a:pPr>
            <a:r>
              <a:rPr lang="en" dirty="0"/>
              <a:t>If they don't match, return </a:t>
            </a:r>
            <a:r>
              <a:rPr lang="en" dirty="0">
                <a:latin typeface="Courier New"/>
                <a:ea typeface="Courier New"/>
                <a:cs typeface="Courier New"/>
                <a:sym typeface="Courier New"/>
              </a:rPr>
              <a:t>false</a:t>
            </a:r>
            <a:r>
              <a:rPr lang="en" dirty="0"/>
              <a:t>.</a:t>
            </a:r>
            <a:endParaRPr dirty="0"/>
          </a:p>
          <a:p>
            <a:pPr marL="914400" lvl="1" indent="-304800" algn="l" rtl="0">
              <a:spcBef>
                <a:spcPts val="0"/>
              </a:spcBef>
              <a:spcAft>
                <a:spcPts val="0"/>
              </a:spcAft>
              <a:buSzPts val="1200"/>
              <a:buChar char="○"/>
            </a:pPr>
            <a:r>
              <a:rPr lang="en" sz="1200" dirty="0"/>
              <a:t>Else,  create a new </a:t>
            </a:r>
            <a:r>
              <a:rPr lang="en" sz="1200" dirty="0">
                <a:latin typeface="Courier New"/>
                <a:ea typeface="Courier New"/>
                <a:cs typeface="Courier New"/>
                <a:sym typeface="Courier New"/>
              </a:rPr>
              <a:t>Element</a:t>
            </a:r>
            <a:r>
              <a:rPr lang="en" sz="1200" dirty="0"/>
              <a:t> using the key and value and </a:t>
            </a:r>
            <a:r>
              <a:rPr lang="en" sz="1200" b="1" i="1" dirty="0">
                <a:solidFill>
                  <a:srgbClr val="FF0000"/>
                </a:solidFill>
              </a:rPr>
              <a:t>set</a:t>
            </a:r>
            <a:r>
              <a:rPr lang="en" sz="1200" dirty="0"/>
              <a:t> the element to the list at the index.</a:t>
            </a:r>
            <a:endParaRPr sz="1200" dirty="0"/>
          </a:p>
          <a:p>
            <a:pPr marL="1371600" lvl="2" indent="-298450" algn="l" rtl="0">
              <a:spcBef>
                <a:spcPts val="0"/>
              </a:spcBef>
              <a:spcAft>
                <a:spcPts val="0"/>
              </a:spcAft>
              <a:buSzPts val="1100"/>
              <a:buChar char="■"/>
            </a:pPr>
            <a:r>
              <a:rPr lang="en" dirty="0"/>
              <a:t>Increase the size by 1.</a:t>
            </a:r>
            <a:endParaRPr dirty="0"/>
          </a:p>
          <a:p>
            <a:pPr marL="1371600" lvl="2" indent="-298450" algn="l" rtl="0">
              <a:spcBef>
                <a:spcPts val="0"/>
              </a:spcBef>
              <a:spcAft>
                <a:spcPts val="0"/>
              </a:spcAft>
              <a:buSzPts val="1100"/>
              <a:buChar char="■"/>
            </a:pPr>
            <a:r>
              <a:rPr lang="en" dirty="0"/>
              <a:t>Return </a:t>
            </a:r>
            <a:r>
              <a:rPr lang="en" dirty="0">
                <a:latin typeface="Courier New"/>
                <a:ea typeface="Courier New"/>
                <a:cs typeface="Courier New"/>
                <a:sym typeface="Courier New"/>
              </a:rPr>
              <a:t>true</a:t>
            </a:r>
            <a:r>
              <a:rPr lang="en" dirty="0"/>
              <a:t>.</a:t>
            </a:r>
            <a:endParaRPr dirty="0"/>
          </a:p>
          <a:p>
            <a:pPr marL="457200" lvl="0" indent="-304800" algn="l" rtl="0">
              <a:spcBef>
                <a:spcPts val="0"/>
              </a:spcBef>
              <a:spcAft>
                <a:spcPts val="0"/>
              </a:spcAft>
              <a:buSzPts val="1200"/>
              <a:buChar char="●"/>
            </a:pPr>
            <a:r>
              <a:rPr lang="en" sz="1400" dirty="0"/>
              <a:t>In main, add a few items to the map, printing out the return value. How many did you need to add before you received a return of </a:t>
            </a:r>
            <a:r>
              <a:rPr lang="en" sz="1400" b="1" i="1" dirty="0">
                <a:solidFill>
                  <a:srgbClr val="FF0000"/>
                </a:solidFill>
              </a:rPr>
              <a:t>false</a:t>
            </a:r>
            <a:r>
              <a:rPr lang="en" sz="1400" dirty="0"/>
              <a:t>?</a:t>
            </a:r>
            <a:endParaRPr sz="1400" dirty="0"/>
          </a:p>
        </p:txBody>
      </p:sp>
      <p:sp>
        <p:nvSpPr>
          <p:cNvPr id="556" name="Google Shape;556;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7.7</a:t>
            </a:r>
            <a:endParaRPr/>
          </a:p>
        </p:txBody>
      </p:sp>
      <p:pic>
        <p:nvPicPr>
          <p:cNvPr id="557" name="Google Shape;557;p81"/>
          <p:cNvPicPr preferRelativeResize="0"/>
          <p:nvPr/>
        </p:nvPicPr>
        <p:blipFill>
          <a:blip r:embed="rId3">
            <a:alphaModFix/>
          </a:blip>
          <a:stretch>
            <a:fillRect/>
          </a:stretch>
        </p:blipFill>
        <p:spPr>
          <a:xfrm>
            <a:off x="473013" y="1418272"/>
            <a:ext cx="2818775" cy="3050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82"/>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One of the primary uses of a set is to check for containment. Let's add that feature now.</a:t>
            </a:r>
            <a:endParaRPr/>
          </a:p>
        </p:txBody>
      </p:sp>
      <p:sp>
        <p:nvSpPr>
          <p:cNvPr id="563" name="Google Shape;563;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564" name="Google Shape;564;p82"/>
          <p:cNvSpPr txBox="1">
            <a:spLocks noGrp="1"/>
          </p:cNvSpPr>
          <p:nvPr>
            <p:ph type="body" idx="2"/>
          </p:nvPr>
        </p:nvSpPr>
        <p:spPr>
          <a:xfrm>
            <a:off x="3349125" y="1342725"/>
            <a:ext cx="5592000" cy="31215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Calculate the index of the value using the same process as add.</a:t>
            </a:r>
            <a:endParaRPr sz="1400" dirty="0"/>
          </a:p>
          <a:p>
            <a:pPr marL="914400" lvl="1" indent="-304800" algn="l" rtl="0">
              <a:spcBef>
                <a:spcPts val="0"/>
              </a:spcBef>
              <a:spcAft>
                <a:spcPts val="0"/>
              </a:spcAft>
              <a:buSzPts val="1200"/>
              <a:buChar char="○"/>
            </a:pPr>
            <a:r>
              <a:rPr lang="en" sz="1200" dirty="0"/>
              <a:t>If you didn't already, now might be a good time to create a separate </a:t>
            </a:r>
            <a:r>
              <a:rPr lang="en" sz="1200" b="1" i="1" dirty="0">
                <a:solidFill>
                  <a:srgbClr val="FF0000"/>
                </a:solidFill>
              </a:rPr>
              <a:t>private</a:t>
            </a:r>
            <a:r>
              <a:rPr lang="en" sz="1200" dirty="0"/>
              <a:t> method for calculating an index rather than rewriting it for each method.</a:t>
            </a:r>
            <a:endParaRPr sz="1200" dirty="0"/>
          </a:p>
          <a:p>
            <a:pPr marL="457200" lvl="0" indent="-317500" algn="l" rtl="0">
              <a:spcBef>
                <a:spcPts val="1000"/>
              </a:spcBef>
              <a:spcAft>
                <a:spcPts val="0"/>
              </a:spcAft>
              <a:buSzPts val="1400"/>
              <a:buChar char="●"/>
            </a:pPr>
            <a:r>
              <a:rPr lang="en" sz="1400" dirty="0"/>
              <a:t>Check to see if the object being checked is equivalent to the one stored at that index.</a:t>
            </a:r>
            <a:endParaRPr sz="1400" dirty="0"/>
          </a:p>
          <a:p>
            <a:pPr marL="914400" lvl="1" indent="-304800" algn="l" rtl="0">
              <a:spcBef>
                <a:spcPts val="0"/>
              </a:spcBef>
              <a:spcAft>
                <a:spcPts val="0"/>
              </a:spcAft>
              <a:buSzPts val="1200"/>
              <a:buChar char="○"/>
            </a:pPr>
            <a:r>
              <a:rPr lang="en" sz="1200" dirty="0"/>
              <a:t>Remember to use </a:t>
            </a:r>
            <a:r>
              <a:rPr lang="en" sz="1200" dirty="0">
                <a:solidFill>
                  <a:srgbClr val="FF0000"/>
                </a:solidFill>
                <a:latin typeface="Courier New"/>
                <a:ea typeface="Courier New"/>
                <a:cs typeface="Courier New"/>
                <a:sym typeface="Courier New"/>
              </a:rPr>
              <a:t>.equals</a:t>
            </a:r>
            <a:r>
              <a:rPr lang="en" sz="1200" dirty="0"/>
              <a:t> and not </a:t>
            </a:r>
            <a:r>
              <a:rPr lang="en" sz="1200" dirty="0">
                <a:latin typeface="Courier New"/>
                <a:ea typeface="Courier New"/>
                <a:cs typeface="Courier New"/>
                <a:sym typeface="Courier New"/>
              </a:rPr>
              <a:t>==</a:t>
            </a:r>
            <a:endParaRPr sz="1200" dirty="0">
              <a:latin typeface="Courier New"/>
              <a:ea typeface="Courier New"/>
              <a:cs typeface="Courier New"/>
              <a:sym typeface="Courier New"/>
            </a:endParaRPr>
          </a:p>
          <a:p>
            <a:pPr marL="457200" lvl="0" indent="-317500" algn="l" rtl="0">
              <a:spcBef>
                <a:spcPts val="1000"/>
              </a:spcBef>
              <a:spcAft>
                <a:spcPts val="0"/>
              </a:spcAft>
              <a:buSzPts val="1400"/>
              <a:buChar char="●"/>
            </a:pPr>
            <a:r>
              <a:rPr lang="en" sz="1400" dirty="0"/>
              <a:t>Return </a:t>
            </a:r>
            <a:r>
              <a:rPr lang="en" sz="1400" dirty="0">
                <a:latin typeface="Courier New"/>
                <a:ea typeface="Courier New"/>
                <a:cs typeface="Courier New"/>
                <a:sym typeface="Courier New"/>
              </a:rPr>
              <a:t>true</a:t>
            </a:r>
            <a:r>
              <a:rPr lang="en" sz="1400" dirty="0"/>
              <a:t> if the are equal and </a:t>
            </a:r>
            <a:r>
              <a:rPr lang="en" sz="1400" dirty="0">
                <a:latin typeface="Courier New"/>
                <a:ea typeface="Courier New"/>
                <a:cs typeface="Courier New"/>
                <a:sym typeface="Courier New"/>
              </a:rPr>
              <a:t>false</a:t>
            </a:r>
            <a:r>
              <a:rPr lang="en" sz="1400" dirty="0"/>
              <a:t> otherwise.</a:t>
            </a:r>
            <a:endParaRPr sz="1400" dirty="0"/>
          </a:p>
          <a:p>
            <a:pPr marL="457200" lvl="0" indent="-317500" algn="l" rtl="0">
              <a:spcBef>
                <a:spcPts val="1000"/>
              </a:spcBef>
              <a:spcAft>
                <a:spcPts val="0"/>
              </a:spcAft>
              <a:buSzPts val="1400"/>
              <a:buChar char="●"/>
            </a:pPr>
            <a:r>
              <a:rPr lang="en" sz="1400" dirty="0"/>
              <a:t>Test the contains method in main by looking for a value that is in the map and one that is not in the map.</a:t>
            </a:r>
            <a:endParaRPr sz="1400" dirty="0"/>
          </a:p>
        </p:txBody>
      </p:sp>
      <p:sp>
        <p:nvSpPr>
          <p:cNvPr id="565" name="Google Shape;565;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Contains</a:t>
            </a:r>
            <a:endParaRPr/>
          </a:p>
        </p:txBody>
      </p:sp>
      <p:sp>
        <p:nvSpPr>
          <p:cNvPr id="566" name="Google Shape;566;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7.8</a:t>
            </a:r>
            <a:endParaRPr/>
          </a:p>
        </p:txBody>
      </p:sp>
      <p:sp>
        <p:nvSpPr>
          <p:cNvPr id="567" name="Google Shape;567;p82"/>
          <p:cNvSpPr txBox="1">
            <a:spLocks noGrp="1"/>
          </p:cNvSpPr>
          <p:nvPr>
            <p:ph type="body" idx="4"/>
          </p:nvPr>
        </p:nvSpPr>
        <p:spPr>
          <a:xfrm>
            <a:off x="268100" y="4497311"/>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Add and contains are very similar, except contains </a:t>
            </a:r>
            <a:r>
              <a:rPr lang="en" b="1" i="1"/>
              <a:t>doesn't</a:t>
            </a:r>
            <a:r>
              <a:rPr lang="en"/>
              <a:t> change the map.</a:t>
            </a:r>
            <a:endParaRPr/>
          </a:p>
        </p:txBody>
      </p:sp>
      <p:pic>
        <p:nvPicPr>
          <p:cNvPr id="568" name="Google Shape;568;p82"/>
          <p:cNvPicPr preferRelativeResize="0"/>
          <p:nvPr/>
        </p:nvPicPr>
        <p:blipFill>
          <a:blip r:embed="rId3">
            <a:alphaModFix/>
          </a:blip>
          <a:stretch>
            <a:fillRect/>
          </a:stretch>
        </p:blipFill>
        <p:spPr>
          <a:xfrm>
            <a:off x="189275" y="1515375"/>
            <a:ext cx="3214949" cy="2704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8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 have items in our map, it's time to add code to let us view the values when provided a key.</a:t>
            </a:r>
            <a:endParaRPr/>
          </a:p>
        </p:txBody>
      </p:sp>
      <p:sp>
        <p:nvSpPr>
          <p:cNvPr id="574" name="Google Shape;574;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575" name="Google Shape;575;p83"/>
          <p:cNvSpPr txBox="1">
            <a:spLocks noGrp="1"/>
          </p:cNvSpPr>
          <p:nvPr>
            <p:ph type="body" idx="2"/>
          </p:nvPr>
        </p:nvSpPr>
        <p:spPr>
          <a:xfrm>
            <a:off x="3237150" y="1333500"/>
            <a:ext cx="5703900" cy="3174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Use the contains method to see if the key is stored in the map.</a:t>
            </a:r>
            <a:endParaRPr sz="1400" dirty="0"/>
          </a:p>
          <a:p>
            <a:pPr marL="457200" lvl="0" indent="-317500" algn="l" rtl="0">
              <a:spcBef>
                <a:spcPts val="1000"/>
              </a:spcBef>
              <a:spcAft>
                <a:spcPts val="0"/>
              </a:spcAft>
              <a:buSzPts val="1400"/>
              <a:buChar char="●"/>
            </a:pPr>
            <a:r>
              <a:rPr lang="en" sz="1400" dirty="0"/>
              <a:t>If it is:</a:t>
            </a:r>
            <a:endParaRPr sz="1400" dirty="0"/>
          </a:p>
          <a:p>
            <a:pPr marL="914400" lvl="1" indent="-311150" algn="l" rtl="0">
              <a:spcBef>
                <a:spcPts val="0"/>
              </a:spcBef>
              <a:spcAft>
                <a:spcPts val="0"/>
              </a:spcAft>
              <a:buSzPts val="1300"/>
              <a:buChar char="○"/>
            </a:pPr>
            <a:r>
              <a:rPr lang="en" sz="1300" dirty="0"/>
              <a:t>Calculate the index.</a:t>
            </a:r>
            <a:endParaRPr sz="1300" dirty="0"/>
          </a:p>
          <a:p>
            <a:pPr marL="914400" lvl="1" indent="-311150" algn="l" rtl="0">
              <a:spcBef>
                <a:spcPts val="0"/>
              </a:spcBef>
              <a:spcAft>
                <a:spcPts val="0"/>
              </a:spcAft>
              <a:buSzPts val="1300"/>
              <a:buChar char="○"/>
            </a:pPr>
            <a:r>
              <a:rPr lang="en" sz="1300" dirty="0"/>
              <a:t>Check that the index element's key and the provided key match</a:t>
            </a:r>
            <a:endParaRPr sz="1300" dirty="0"/>
          </a:p>
          <a:p>
            <a:pPr marL="1371600" lvl="2" indent="-311150" algn="l" rtl="0">
              <a:spcBef>
                <a:spcPts val="0"/>
              </a:spcBef>
              <a:spcAft>
                <a:spcPts val="0"/>
              </a:spcAft>
              <a:buSzPts val="1300"/>
              <a:buChar char="■"/>
            </a:pPr>
            <a:r>
              <a:rPr lang="en" sz="1300" dirty="0"/>
              <a:t>Remember to use </a:t>
            </a:r>
            <a:r>
              <a:rPr lang="en" sz="1300" dirty="0">
                <a:solidFill>
                  <a:srgbClr val="FF0000"/>
                </a:solidFill>
                <a:latin typeface="Courier New"/>
                <a:ea typeface="Courier New"/>
                <a:cs typeface="Courier New"/>
                <a:sym typeface="Courier New"/>
              </a:rPr>
              <a:t>equals</a:t>
            </a:r>
            <a:r>
              <a:rPr lang="en" sz="1300" dirty="0"/>
              <a:t> and not </a:t>
            </a:r>
            <a:r>
              <a:rPr lang="en" sz="1300" dirty="0">
                <a:latin typeface="Courier New"/>
                <a:ea typeface="Courier New"/>
                <a:cs typeface="Courier New"/>
                <a:sym typeface="Courier New"/>
              </a:rPr>
              <a:t>==</a:t>
            </a:r>
            <a:endParaRPr sz="1300" dirty="0">
              <a:latin typeface="Courier New"/>
              <a:ea typeface="Courier New"/>
              <a:cs typeface="Courier New"/>
              <a:sym typeface="Courier New"/>
            </a:endParaRPr>
          </a:p>
          <a:p>
            <a:pPr marL="914400" lvl="1" indent="-311150" algn="l" rtl="0">
              <a:spcBef>
                <a:spcPts val="0"/>
              </a:spcBef>
              <a:spcAft>
                <a:spcPts val="0"/>
              </a:spcAft>
              <a:buSzPts val="1300"/>
              <a:buChar char="○"/>
            </a:pPr>
            <a:r>
              <a:rPr lang="en" sz="1300" dirty="0"/>
              <a:t>If they do, return the index element's value. </a:t>
            </a:r>
            <a:r>
              <a:rPr lang="en" sz="1300" b="1" i="1" dirty="0">
                <a:solidFill>
                  <a:srgbClr val="FF0000"/>
                </a:solidFill>
              </a:rPr>
              <a:t>Do not</a:t>
            </a:r>
            <a:r>
              <a:rPr lang="en" sz="1300" dirty="0"/>
              <a:t> return the entire element.</a:t>
            </a:r>
            <a:endParaRPr sz="1300" dirty="0"/>
          </a:p>
          <a:p>
            <a:pPr marL="457200" lvl="0" indent="-317500" algn="l" rtl="0">
              <a:spcBef>
                <a:spcPts val="1000"/>
              </a:spcBef>
              <a:spcAft>
                <a:spcPts val="0"/>
              </a:spcAft>
              <a:buSzPts val="1400"/>
              <a:buChar char="●"/>
            </a:pPr>
            <a:r>
              <a:rPr lang="en" sz="1400" dirty="0"/>
              <a:t>In all other cases, i.e. the keys don't match or there is not key, return </a:t>
            </a:r>
            <a:r>
              <a:rPr lang="en" sz="1400" dirty="0">
                <a:solidFill>
                  <a:srgbClr val="FF0000"/>
                </a:solidFill>
                <a:latin typeface="Courier New"/>
                <a:ea typeface="Courier New"/>
                <a:cs typeface="Courier New"/>
                <a:sym typeface="Courier New"/>
              </a:rPr>
              <a:t>null</a:t>
            </a:r>
            <a:r>
              <a:rPr lang="en" sz="1400" dirty="0"/>
              <a:t>. </a:t>
            </a:r>
            <a:endParaRPr sz="1400" dirty="0"/>
          </a:p>
          <a:p>
            <a:pPr marL="457200" lvl="0" indent="-317500" algn="l" rtl="0">
              <a:spcBef>
                <a:spcPts val="1000"/>
              </a:spcBef>
              <a:spcAft>
                <a:spcPts val="0"/>
              </a:spcAft>
              <a:buSzPts val="1400"/>
              <a:buChar char="●"/>
            </a:pPr>
            <a:r>
              <a:rPr lang="en" sz="1400" dirty="0"/>
              <a:t>Test the method in main by getting a value that is in the map and one that is not in the map.</a:t>
            </a:r>
            <a:endParaRPr sz="1400" dirty="0"/>
          </a:p>
        </p:txBody>
      </p:sp>
      <p:sp>
        <p:nvSpPr>
          <p:cNvPr id="576" name="Google Shape;576;p8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Get</a:t>
            </a:r>
            <a:endParaRPr/>
          </a:p>
        </p:txBody>
      </p:sp>
      <p:sp>
        <p:nvSpPr>
          <p:cNvPr id="577" name="Google Shape;577;p8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7.9</a:t>
            </a:r>
            <a:endParaRPr/>
          </a:p>
        </p:txBody>
      </p:sp>
      <p:sp>
        <p:nvSpPr>
          <p:cNvPr id="578" name="Google Shape;578;p83"/>
          <p:cNvSpPr txBox="1">
            <a:spLocks noGrp="1"/>
          </p:cNvSpPr>
          <p:nvPr>
            <p:ph type="body" idx="4"/>
          </p:nvPr>
        </p:nvSpPr>
        <p:spPr>
          <a:xfrm>
            <a:off x="141600" y="4156900"/>
            <a:ext cx="3095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Since multiple keys can wind out having the same index, we always have to check the key equals the stored one.</a:t>
            </a:r>
            <a:endParaRPr/>
          </a:p>
        </p:txBody>
      </p:sp>
      <p:pic>
        <p:nvPicPr>
          <p:cNvPr id="579" name="Google Shape;579;p83"/>
          <p:cNvPicPr preferRelativeResize="0"/>
          <p:nvPr/>
        </p:nvPicPr>
        <p:blipFill>
          <a:blip r:embed="rId3">
            <a:alphaModFix/>
          </a:blip>
          <a:stretch>
            <a:fillRect/>
          </a:stretch>
        </p:blipFill>
        <p:spPr>
          <a:xfrm>
            <a:off x="106725" y="1399800"/>
            <a:ext cx="3214949" cy="2704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8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While not used as often, sometimes it can be useful to remove items from a set. We'll implement that now.</a:t>
            </a:r>
            <a:endParaRPr/>
          </a:p>
        </p:txBody>
      </p:sp>
      <p:sp>
        <p:nvSpPr>
          <p:cNvPr id="585" name="Google Shape;585;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586" name="Google Shape;586;p84"/>
          <p:cNvSpPr txBox="1">
            <a:spLocks noGrp="1"/>
          </p:cNvSpPr>
          <p:nvPr>
            <p:ph type="body" idx="2"/>
          </p:nvPr>
        </p:nvSpPr>
        <p:spPr>
          <a:xfrm>
            <a:off x="3365050" y="1407250"/>
            <a:ext cx="5576100" cy="3216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Start by checking to see if the map contains the </a:t>
            </a:r>
            <a:r>
              <a:rPr lang="en" b="1" i="1" dirty="0">
                <a:solidFill>
                  <a:srgbClr val="FF0000"/>
                </a:solidFill>
              </a:rPr>
              <a:t>key</a:t>
            </a:r>
            <a:r>
              <a:rPr lang="en" dirty="0"/>
              <a:t>.</a:t>
            </a:r>
            <a:endParaRPr dirty="0"/>
          </a:p>
          <a:p>
            <a:pPr marL="457200" lvl="0" indent="-311150" algn="l" rtl="0">
              <a:spcBef>
                <a:spcPts val="0"/>
              </a:spcBef>
              <a:spcAft>
                <a:spcPts val="0"/>
              </a:spcAft>
              <a:buSzPts val="1300"/>
              <a:buChar char="●"/>
            </a:pPr>
            <a:r>
              <a:rPr lang="en" dirty="0"/>
              <a:t>If it does:</a:t>
            </a:r>
            <a:endParaRPr dirty="0"/>
          </a:p>
          <a:p>
            <a:pPr marL="914400" lvl="1" indent="-304800" algn="l" rtl="0">
              <a:spcBef>
                <a:spcPts val="0"/>
              </a:spcBef>
              <a:spcAft>
                <a:spcPts val="0"/>
              </a:spcAft>
              <a:buSzPts val="1200"/>
              <a:buChar char="○"/>
            </a:pPr>
            <a:r>
              <a:rPr lang="en" sz="1200" dirty="0"/>
              <a:t>Check to make sure the stored key at index matches the key to be removed.</a:t>
            </a:r>
            <a:endParaRPr sz="1200" dirty="0"/>
          </a:p>
          <a:p>
            <a:pPr marL="914400" lvl="1" indent="-304800" algn="l" rtl="0">
              <a:spcBef>
                <a:spcPts val="0"/>
              </a:spcBef>
              <a:spcAft>
                <a:spcPts val="0"/>
              </a:spcAft>
              <a:buSzPts val="1200"/>
              <a:buChar char="○"/>
            </a:pPr>
            <a:r>
              <a:rPr lang="en" sz="1200" dirty="0"/>
              <a:t>Use </a:t>
            </a:r>
            <a:r>
              <a:rPr lang="en" sz="1200" dirty="0">
                <a:latin typeface="Courier New"/>
                <a:ea typeface="Courier New"/>
                <a:cs typeface="Courier New"/>
                <a:sym typeface="Courier New"/>
              </a:rPr>
              <a:t>equals</a:t>
            </a:r>
            <a:r>
              <a:rPr lang="en" sz="1200" dirty="0"/>
              <a:t> and not </a:t>
            </a:r>
            <a:r>
              <a:rPr lang="en" sz="1200" dirty="0">
                <a:latin typeface="Courier New"/>
                <a:ea typeface="Courier New"/>
                <a:cs typeface="Courier New"/>
                <a:sym typeface="Courier New"/>
              </a:rPr>
              <a:t>==</a:t>
            </a:r>
            <a:endParaRPr sz="1200" dirty="0">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If it the requested key:</a:t>
            </a:r>
            <a:endParaRPr dirty="0"/>
          </a:p>
          <a:p>
            <a:pPr marL="914400" lvl="1" indent="-298450" algn="l" rtl="0">
              <a:spcBef>
                <a:spcPts val="0"/>
              </a:spcBef>
              <a:spcAft>
                <a:spcPts val="0"/>
              </a:spcAft>
              <a:buSzPts val="1100"/>
              <a:buChar char="○"/>
            </a:pPr>
            <a:r>
              <a:rPr lang="en" dirty="0"/>
              <a:t>Save the stored </a:t>
            </a:r>
            <a:r>
              <a:rPr lang="en" b="1" i="1" dirty="0">
                <a:solidFill>
                  <a:srgbClr val="FF0000"/>
                </a:solidFill>
              </a:rPr>
              <a:t>value</a:t>
            </a:r>
            <a:r>
              <a:rPr lang="en" dirty="0"/>
              <a:t> as a temporary.</a:t>
            </a:r>
            <a:endParaRPr dirty="0"/>
          </a:p>
          <a:p>
            <a:pPr marL="914400" lvl="1" indent="-304800" algn="l" rtl="0">
              <a:spcBef>
                <a:spcPts val="0"/>
              </a:spcBef>
              <a:spcAft>
                <a:spcPts val="0"/>
              </a:spcAft>
              <a:buSzPts val="1200"/>
              <a:buChar char="○"/>
            </a:pPr>
            <a:r>
              <a:rPr lang="en" sz="1200" dirty="0">
                <a:highlight>
                  <a:srgbClr val="FFFF00"/>
                </a:highlight>
              </a:rPr>
              <a:t>Set the </a:t>
            </a:r>
            <a:r>
              <a:rPr lang="en" sz="1200" dirty="0">
                <a:highlight>
                  <a:srgbClr val="FFFF00"/>
                </a:highlight>
                <a:latin typeface="Courier New"/>
                <a:ea typeface="Courier New"/>
                <a:cs typeface="Courier New"/>
                <a:sym typeface="Courier New"/>
              </a:rPr>
              <a:t>Element</a:t>
            </a:r>
            <a:r>
              <a:rPr lang="en" sz="1200" dirty="0">
                <a:highlight>
                  <a:srgbClr val="FFFF00"/>
                </a:highlight>
              </a:rPr>
              <a:t> at index to </a:t>
            </a:r>
            <a:r>
              <a:rPr lang="en" sz="1200" dirty="0">
                <a:highlight>
                  <a:srgbClr val="FFFF00"/>
                </a:highlight>
                <a:latin typeface="Courier New"/>
                <a:ea typeface="Courier New"/>
                <a:cs typeface="Courier New"/>
                <a:sym typeface="Courier New"/>
              </a:rPr>
              <a:t>null</a:t>
            </a:r>
            <a:endParaRPr sz="1200" dirty="0">
              <a:highlight>
                <a:srgbClr val="FFFF00"/>
              </a:highlight>
              <a:latin typeface="Courier New"/>
              <a:ea typeface="Courier New"/>
              <a:cs typeface="Courier New"/>
              <a:sym typeface="Courier New"/>
            </a:endParaRPr>
          </a:p>
          <a:p>
            <a:pPr marL="914400" lvl="1" indent="-304800" algn="l" rtl="0">
              <a:spcBef>
                <a:spcPts val="0"/>
              </a:spcBef>
              <a:spcAft>
                <a:spcPts val="0"/>
              </a:spcAft>
              <a:buSzPts val="1200"/>
              <a:buChar char="○"/>
            </a:pPr>
            <a:r>
              <a:rPr lang="en" sz="1200" dirty="0"/>
              <a:t>Decrement the size</a:t>
            </a:r>
            <a:endParaRPr sz="1200" dirty="0"/>
          </a:p>
          <a:p>
            <a:pPr marL="914400" lvl="1" indent="-304800" algn="l" rtl="0">
              <a:spcBef>
                <a:spcPts val="0"/>
              </a:spcBef>
              <a:spcAft>
                <a:spcPts val="0"/>
              </a:spcAft>
              <a:buSzPts val="1200"/>
              <a:buChar char="○"/>
            </a:pPr>
            <a:r>
              <a:rPr lang="en" sz="1200" dirty="0"/>
              <a:t>Return the temporary value.</a:t>
            </a:r>
            <a:endParaRPr sz="1200" dirty="0"/>
          </a:p>
          <a:p>
            <a:pPr marL="457200" lvl="0" indent="-311150" algn="l" rtl="0">
              <a:spcBef>
                <a:spcPts val="0"/>
              </a:spcBef>
              <a:spcAft>
                <a:spcPts val="0"/>
              </a:spcAft>
              <a:buSzPts val="1300"/>
              <a:buChar char="●"/>
            </a:pPr>
            <a:r>
              <a:rPr lang="en" dirty="0"/>
              <a:t>If it is not the requested value or the key isn't contained:</a:t>
            </a:r>
            <a:endParaRPr dirty="0"/>
          </a:p>
          <a:p>
            <a:pPr marL="914400" lvl="1" indent="-304800" algn="l" rtl="0">
              <a:spcBef>
                <a:spcPts val="0"/>
              </a:spcBef>
              <a:spcAft>
                <a:spcPts val="0"/>
              </a:spcAft>
              <a:buSzPts val="1200"/>
              <a:buChar char="○"/>
            </a:pPr>
            <a:r>
              <a:rPr lang="en" sz="1200" dirty="0"/>
              <a:t>Return </a:t>
            </a:r>
            <a:r>
              <a:rPr lang="en" sz="1200" dirty="0">
                <a:latin typeface="Courier New"/>
                <a:ea typeface="Courier New"/>
                <a:cs typeface="Courier New"/>
                <a:sym typeface="Courier New"/>
              </a:rPr>
              <a:t>null</a:t>
            </a:r>
            <a:endParaRPr sz="1200" dirty="0">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Test in main by removing an item in the set and verify it was removed. Then try removing an item that is not in the set.</a:t>
            </a:r>
            <a:endParaRPr dirty="0"/>
          </a:p>
        </p:txBody>
      </p:sp>
      <p:sp>
        <p:nvSpPr>
          <p:cNvPr id="587" name="Google Shape;587;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Remove</a:t>
            </a:r>
            <a:endParaRPr/>
          </a:p>
        </p:txBody>
      </p:sp>
      <p:sp>
        <p:nvSpPr>
          <p:cNvPr id="588" name="Google Shape;588;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7.10</a:t>
            </a:r>
            <a:endParaRPr/>
          </a:p>
        </p:txBody>
      </p:sp>
      <p:sp>
        <p:nvSpPr>
          <p:cNvPr id="589" name="Google Shape;589;p84"/>
          <p:cNvSpPr txBox="1">
            <a:spLocks noGrp="1"/>
          </p:cNvSpPr>
          <p:nvPr>
            <p:ph type="body" idx="4"/>
          </p:nvPr>
        </p:nvSpPr>
        <p:spPr>
          <a:xfrm>
            <a:off x="141600" y="4313775"/>
            <a:ext cx="32151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Remove should return the </a:t>
            </a:r>
            <a:r>
              <a:rPr lang="en" b="1" i="1">
                <a:solidFill>
                  <a:srgbClr val="FF0000"/>
                </a:solidFill>
              </a:rPr>
              <a:t>value</a:t>
            </a:r>
            <a:r>
              <a:rPr lang="en"/>
              <a:t> of the item that was remove, not the item itself.</a:t>
            </a:r>
            <a:endParaRPr/>
          </a:p>
        </p:txBody>
      </p:sp>
      <p:pic>
        <p:nvPicPr>
          <p:cNvPr id="590" name="Google Shape;590;p84"/>
          <p:cNvPicPr preferRelativeResize="0"/>
          <p:nvPr/>
        </p:nvPicPr>
        <p:blipFill>
          <a:blip r:embed="rId3">
            <a:alphaModFix/>
          </a:blip>
          <a:stretch>
            <a:fillRect/>
          </a:stretch>
        </p:blipFill>
        <p:spPr>
          <a:xfrm>
            <a:off x="189275" y="1515375"/>
            <a:ext cx="3214949" cy="2704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85"/>
          <p:cNvSpPr txBox="1">
            <a:spLocks noGrp="1"/>
          </p:cNvSpPr>
          <p:nvPr>
            <p:ph type="title"/>
          </p:nvPr>
        </p:nvSpPr>
        <p:spPr>
          <a:xfrm>
            <a:off x="3879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Collisions</a:t>
            </a:r>
            <a:endParaRPr/>
          </a:p>
        </p:txBody>
      </p:sp>
      <p:sp>
        <p:nvSpPr>
          <p:cNvPr id="596" name="Google Shape;596;p85"/>
          <p:cNvSpPr txBox="1">
            <a:spLocks noGrp="1"/>
          </p:cNvSpPr>
          <p:nvPr>
            <p:ph type="body" idx="1"/>
          </p:nvPr>
        </p:nvSpPr>
        <p:spPr>
          <a:xfrm>
            <a:off x="4451975" y="183100"/>
            <a:ext cx="4455600" cy="48543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There are an </a:t>
            </a:r>
            <a:r>
              <a:rPr lang="en" b="1" i="1" dirty="0">
                <a:solidFill>
                  <a:srgbClr val="FF0000"/>
                </a:solidFill>
              </a:rPr>
              <a:t>infinite number</a:t>
            </a:r>
            <a:r>
              <a:rPr lang="en" dirty="0">
                <a:solidFill>
                  <a:srgbClr val="FF0000"/>
                </a:solidFill>
              </a:rPr>
              <a:t> </a:t>
            </a:r>
            <a:r>
              <a:rPr lang="en" dirty="0"/>
              <a:t>of possible </a:t>
            </a:r>
            <a:r>
              <a:rPr lang="en" b="1" i="1" dirty="0">
                <a:solidFill>
                  <a:srgbClr val="FF0000"/>
                </a:solidFill>
              </a:rPr>
              <a:t>inputs</a:t>
            </a:r>
            <a:r>
              <a:rPr lang="en" dirty="0">
                <a:solidFill>
                  <a:srgbClr val="FF0000"/>
                </a:solidFill>
              </a:rPr>
              <a:t> </a:t>
            </a:r>
            <a:r>
              <a:rPr lang="en" dirty="0"/>
              <a:t>to a hash function, but there are a </a:t>
            </a:r>
            <a:r>
              <a:rPr lang="en" b="1" i="1" dirty="0">
                <a:solidFill>
                  <a:srgbClr val="FF0000"/>
                </a:solidFill>
              </a:rPr>
              <a:t>finite number</a:t>
            </a:r>
            <a:r>
              <a:rPr lang="en" dirty="0">
                <a:solidFill>
                  <a:srgbClr val="FF0000"/>
                </a:solidFill>
              </a:rPr>
              <a:t> </a:t>
            </a:r>
            <a:r>
              <a:rPr lang="en" dirty="0"/>
              <a:t>of possible </a:t>
            </a:r>
            <a:r>
              <a:rPr lang="en" b="1" i="1" dirty="0">
                <a:solidFill>
                  <a:srgbClr val="FF0000"/>
                </a:solidFill>
              </a:rPr>
              <a:t>outputs</a:t>
            </a:r>
            <a:r>
              <a:rPr lang="en" dirty="0"/>
              <a:t>.</a:t>
            </a:r>
            <a:endParaRPr dirty="0"/>
          </a:p>
          <a:p>
            <a:pPr marL="914400" lvl="1" indent="-298450" algn="l" rtl="0">
              <a:lnSpc>
                <a:spcPct val="115000"/>
              </a:lnSpc>
              <a:spcBef>
                <a:spcPts val="0"/>
              </a:spcBef>
              <a:spcAft>
                <a:spcPts val="0"/>
              </a:spcAft>
              <a:buSzPts val="1100"/>
              <a:buChar char="○"/>
            </a:pPr>
            <a:r>
              <a:rPr lang="en" dirty="0"/>
              <a:t>The range of hash code values is limited by the size of an integer in Java.</a:t>
            </a:r>
            <a:endParaRPr dirty="0"/>
          </a:p>
          <a:p>
            <a:pPr marL="914400" lvl="1" indent="-298450" algn="l" rtl="0">
              <a:lnSpc>
                <a:spcPct val="115000"/>
              </a:lnSpc>
              <a:spcBef>
                <a:spcPts val="0"/>
              </a:spcBef>
              <a:spcAft>
                <a:spcPts val="0"/>
              </a:spcAft>
              <a:buSzPts val="1100"/>
              <a:buChar char="○"/>
            </a:pPr>
            <a:r>
              <a:rPr lang="en" dirty="0"/>
              <a:t>This means that it is not only </a:t>
            </a:r>
            <a:r>
              <a:rPr lang="en" b="1" i="1" dirty="0">
                <a:solidFill>
                  <a:srgbClr val="FF0000"/>
                </a:solidFill>
              </a:rPr>
              <a:t>possible</a:t>
            </a:r>
            <a:r>
              <a:rPr lang="en" dirty="0"/>
              <a:t>, but </a:t>
            </a:r>
            <a:r>
              <a:rPr lang="en" b="1" i="1" dirty="0">
                <a:solidFill>
                  <a:srgbClr val="FF0000"/>
                </a:solidFill>
              </a:rPr>
              <a:t>likely </a:t>
            </a:r>
            <a:r>
              <a:rPr lang="en" dirty="0"/>
              <a:t>that two different values will have the same hash code.</a:t>
            </a:r>
            <a:endParaRPr dirty="0"/>
          </a:p>
          <a:p>
            <a:pPr marL="914400" lvl="1" indent="-298450" algn="l" rtl="0">
              <a:lnSpc>
                <a:spcPct val="115000"/>
              </a:lnSpc>
              <a:spcBef>
                <a:spcPts val="0"/>
              </a:spcBef>
              <a:spcAft>
                <a:spcPts val="0"/>
              </a:spcAft>
              <a:buSzPts val="1100"/>
              <a:buChar char="○"/>
            </a:pPr>
            <a:r>
              <a:rPr lang="en" dirty="0"/>
              <a:t>This is one reason why hash functions only work </a:t>
            </a:r>
            <a:r>
              <a:rPr lang="en" b="1" i="1" dirty="0">
                <a:solidFill>
                  <a:srgbClr val="FF0000"/>
                </a:solidFill>
              </a:rPr>
              <a:t>one-way</a:t>
            </a:r>
            <a:r>
              <a:rPr lang="en" dirty="0"/>
              <a:t>.</a:t>
            </a:r>
            <a:endParaRPr dirty="0"/>
          </a:p>
          <a:p>
            <a:pPr marL="457200" lvl="0" indent="-311150" algn="l" rtl="0">
              <a:lnSpc>
                <a:spcPct val="115000"/>
              </a:lnSpc>
              <a:spcBef>
                <a:spcPts val="1000"/>
              </a:spcBef>
              <a:spcAft>
                <a:spcPts val="0"/>
              </a:spcAft>
              <a:buSzPts val="1300"/>
              <a:buChar char="●"/>
            </a:pPr>
            <a:r>
              <a:rPr lang="en" dirty="0"/>
              <a:t>The array used to store hashed values is also </a:t>
            </a:r>
            <a:r>
              <a:rPr lang="en" b="1" i="1" dirty="0">
                <a:solidFill>
                  <a:srgbClr val="FF0000"/>
                </a:solidFill>
              </a:rPr>
              <a:t>very small</a:t>
            </a:r>
            <a:r>
              <a:rPr lang="en" dirty="0"/>
              <a:t> compared to the range of possible hash codes.</a:t>
            </a:r>
            <a:endParaRPr dirty="0"/>
          </a:p>
          <a:p>
            <a:pPr marL="914400" lvl="1" indent="-298450" algn="l" rtl="0">
              <a:lnSpc>
                <a:spcPct val="115000"/>
              </a:lnSpc>
              <a:spcBef>
                <a:spcPts val="0"/>
              </a:spcBef>
              <a:spcAft>
                <a:spcPts val="0"/>
              </a:spcAft>
              <a:buSzPts val="1100"/>
              <a:buChar char="○"/>
            </a:pPr>
            <a:r>
              <a:rPr lang="en" dirty="0"/>
              <a:t>This is to conserve memory; we don't want to allocate an array big enough to hold </a:t>
            </a:r>
            <a:r>
              <a:rPr lang="en" b="1" i="1" dirty="0"/>
              <a:t>billions</a:t>
            </a:r>
            <a:r>
              <a:rPr lang="en" dirty="0"/>
              <a:t> of elements if we don't need to.</a:t>
            </a:r>
            <a:endParaRPr dirty="0"/>
          </a:p>
          <a:p>
            <a:pPr marL="914400" lvl="1" indent="-298450" algn="l" rtl="0">
              <a:lnSpc>
                <a:spcPct val="115000"/>
              </a:lnSpc>
              <a:spcBef>
                <a:spcPts val="0"/>
              </a:spcBef>
              <a:spcAft>
                <a:spcPts val="0"/>
              </a:spcAft>
              <a:buSzPts val="1100"/>
              <a:buChar char="○"/>
            </a:pPr>
            <a:r>
              <a:rPr lang="en" dirty="0"/>
              <a:t>The hash code must be converted into an </a:t>
            </a:r>
            <a:r>
              <a:rPr lang="en" b="1" i="1" dirty="0">
                <a:solidFill>
                  <a:srgbClr val="FF0000"/>
                </a:solidFill>
              </a:rPr>
              <a:t>index </a:t>
            </a:r>
            <a:r>
              <a:rPr lang="en" dirty="0"/>
              <a:t>in the array, e.g. using </a:t>
            </a:r>
            <a:r>
              <a:rPr lang="en" b="1" i="1" dirty="0">
                <a:solidFill>
                  <a:srgbClr val="FF0000"/>
                </a:solidFill>
              </a:rPr>
              <a:t>modulo</a:t>
            </a:r>
            <a:r>
              <a:rPr lang="en" dirty="0"/>
              <a:t> with the size of the array.</a:t>
            </a:r>
            <a:endParaRPr dirty="0"/>
          </a:p>
          <a:p>
            <a:pPr marL="457200" lvl="0" indent="-311150" algn="l" rtl="0">
              <a:lnSpc>
                <a:spcPct val="115000"/>
              </a:lnSpc>
              <a:spcBef>
                <a:spcPts val="1000"/>
              </a:spcBef>
              <a:spcAft>
                <a:spcPts val="0"/>
              </a:spcAft>
              <a:buSzPts val="1300"/>
              <a:buChar char="●"/>
            </a:pPr>
            <a:r>
              <a:rPr lang="en" dirty="0"/>
              <a:t>Together, </a:t>
            </a:r>
            <a:r>
              <a:rPr lang="en" b="1" i="1" dirty="0">
                <a:solidFill>
                  <a:srgbClr val="FF0000"/>
                </a:solidFill>
                <a:highlight>
                  <a:srgbClr val="FFFF00"/>
                </a:highlight>
              </a:rPr>
              <a:t>duplicate hash codes</a:t>
            </a:r>
            <a:r>
              <a:rPr lang="en" dirty="0">
                <a:solidFill>
                  <a:srgbClr val="FF0000"/>
                </a:solidFill>
                <a:highlight>
                  <a:srgbClr val="FFFF00"/>
                </a:highlight>
              </a:rPr>
              <a:t> </a:t>
            </a:r>
            <a:r>
              <a:rPr lang="en" dirty="0"/>
              <a:t>and </a:t>
            </a:r>
            <a:r>
              <a:rPr lang="en" b="1" i="1" dirty="0">
                <a:solidFill>
                  <a:srgbClr val="FF0000"/>
                </a:solidFill>
              </a:rPr>
              <a:t>a limited </a:t>
            </a:r>
            <a:r>
              <a:rPr lang="en" b="1" i="1" dirty="0">
                <a:solidFill>
                  <a:srgbClr val="FF0000"/>
                </a:solidFill>
                <a:highlight>
                  <a:srgbClr val="FFFF00"/>
                </a:highlight>
              </a:rPr>
              <a:t>number of available indices</a:t>
            </a:r>
            <a:r>
              <a:rPr lang="en" dirty="0">
                <a:highlight>
                  <a:srgbClr val="FFFF00"/>
                </a:highlight>
              </a:rPr>
              <a:t> </a:t>
            </a:r>
            <a:r>
              <a:rPr lang="en" dirty="0"/>
              <a:t>in the array mean that it is </a:t>
            </a:r>
            <a:r>
              <a:rPr lang="en" b="1" i="1" dirty="0">
                <a:solidFill>
                  <a:srgbClr val="FF0000"/>
                </a:solidFill>
              </a:rPr>
              <a:t>inevitable</a:t>
            </a:r>
            <a:r>
              <a:rPr lang="en" dirty="0">
                <a:solidFill>
                  <a:srgbClr val="FF0000"/>
                </a:solidFill>
              </a:rPr>
              <a:t> </a:t>
            </a:r>
            <a:r>
              <a:rPr lang="en" dirty="0"/>
              <a:t>that two values will be hashed to the same index. </a:t>
            </a:r>
            <a:endParaRPr dirty="0"/>
          </a:p>
        </p:txBody>
      </p:sp>
      <p:sp>
        <p:nvSpPr>
          <p:cNvPr id="597" name="Google Shape;597;p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graphicFrame>
        <p:nvGraphicFramePr>
          <p:cNvPr id="598" name="Google Shape;598;p85"/>
          <p:cNvGraphicFramePr/>
          <p:nvPr/>
        </p:nvGraphicFramePr>
        <p:xfrm>
          <a:off x="713475" y="3052533"/>
          <a:ext cx="30628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0</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1</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2</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3</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4</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5</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6</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7</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599" name="Google Shape;599;p85"/>
          <p:cNvSpPr txBox="1"/>
          <p:nvPr/>
        </p:nvSpPr>
        <p:spPr>
          <a:xfrm>
            <a:off x="391625" y="762658"/>
            <a:ext cx="3706500" cy="52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two different values are hashed into the same index in an array, this is referred to as a </a:t>
            </a:r>
            <a:r>
              <a:rPr lang="en" sz="1200" b="1" i="1" u="none" strike="noStrike" cap="none">
                <a:solidFill>
                  <a:srgbClr val="FF0000"/>
                </a:solidFill>
                <a:latin typeface="Arial"/>
                <a:ea typeface="Arial"/>
                <a:cs typeface="Arial"/>
                <a:sym typeface="Arial"/>
              </a:rPr>
              <a:t>collision</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pSp>
        <p:nvGrpSpPr>
          <p:cNvPr id="600" name="Google Shape;600;p85"/>
          <p:cNvGrpSpPr/>
          <p:nvPr/>
        </p:nvGrpSpPr>
        <p:grpSpPr>
          <a:xfrm>
            <a:off x="632075" y="1403583"/>
            <a:ext cx="3225600" cy="1656527"/>
            <a:chOff x="5051675" y="2013183"/>
            <a:chExt cx="3225600" cy="1656527"/>
          </a:xfrm>
        </p:grpSpPr>
        <p:sp>
          <p:nvSpPr>
            <p:cNvPr id="601" name="Google Shape;601;p85"/>
            <p:cNvSpPr txBox="1"/>
            <p:nvPr/>
          </p:nvSpPr>
          <p:spPr>
            <a:xfrm>
              <a:off x="5051675" y="2013183"/>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"abc"</a:t>
              </a:r>
              <a:endParaRPr sz="1400" b="0" i="0" u="none" strike="noStrike" cap="none">
                <a:solidFill>
                  <a:srgbClr val="CE9178"/>
                </a:solidFill>
                <a:latin typeface="Consolas"/>
                <a:ea typeface="Consolas"/>
                <a:cs typeface="Consolas"/>
                <a:sym typeface="Consolas"/>
              </a:endParaRPr>
            </a:p>
          </p:txBody>
        </p:sp>
        <p:sp>
          <p:nvSpPr>
            <p:cNvPr id="602" name="Google Shape;602;p85"/>
            <p:cNvSpPr txBox="1"/>
            <p:nvPr/>
          </p:nvSpPr>
          <p:spPr>
            <a:xfrm>
              <a:off x="5889875" y="2013183"/>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"def"</a:t>
              </a:r>
              <a:endParaRPr sz="1400" b="0" i="0" u="none" strike="noStrike" cap="none">
                <a:solidFill>
                  <a:srgbClr val="CE9178"/>
                </a:solidFill>
                <a:latin typeface="Consolas"/>
                <a:ea typeface="Consolas"/>
                <a:cs typeface="Consolas"/>
                <a:sym typeface="Consolas"/>
              </a:endParaRPr>
            </a:p>
          </p:txBody>
        </p:sp>
        <p:sp>
          <p:nvSpPr>
            <p:cNvPr id="603" name="Google Shape;603;p85"/>
            <p:cNvSpPr txBox="1"/>
            <p:nvPr/>
          </p:nvSpPr>
          <p:spPr>
            <a:xfrm>
              <a:off x="6728075" y="2013183"/>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"ghi"</a:t>
              </a:r>
              <a:endParaRPr sz="1400" b="0" i="0" u="none" strike="noStrike" cap="none">
                <a:solidFill>
                  <a:srgbClr val="CE9178"/>
                </a:solidFill>
                <a:latin typeface="Consolas"/>
                <a:ea typeface="Consolas"/>
                <a:cs typeface="Consolas"/>
                <a:sym typeface="Consolas"/>
              </a:endParaRPr>
            </a:p>
          </p:txBody>
        </p:sp>
        <p:sp>
          <p:nvSpPr>
            <p:cNvPr id="604" name="Google Shape;604;p85"/>
            <p:cNvSpPr txBox="1"/>
            <p:nvPr/>
          </p:nvSpPr>
          <p:spPr>
            <a:xfrm>
              <a:off x="7566275" y="2013183"/>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"jkl"</a:t>
              </a:r>
              <a:endParaRPr sz="1400" b="0" i="0" u="none" strike="noStrike" cap="none">
                <a:solidFill>
                  <a:srgbClr val="CE9178"/>
                </a:solidFill>
                <a:latin typeface="Consolas"/>
                <a:ea typeface="Consolas"/>
                <a:cs typeface="Consolas"/>
                <a:sym typeface="Consolas"/>
              </a:endParaRPr>
            </a:p>
          </p:txBody>
        </p:sp>
        <p:sp>
          <p:nvSpPr>
            <p:cNvPr id="605" name="Google Shape;605;p85"/>
            <p:cNvSpPr/>
            <p:nvPr/>
          </p:nvSpPr>
          <p:spPr>
            <a:xfrm>
              <a:off x="5397875" y="2293033"/>
              <a:ext cx="612711" cy="1376650"/>
            </a:xfrm>
            <a:custGeom>
              <a:avLst/>
              <a:gdLst/>
              <a:ahLst/>
              <a:cxnLst/>
              <a:rect l="l" t="t" r="r" b="b"/>
              <a:pathLst>
                <a:path w="27271" h="55066" extrusionOk="0">
                  <a:moveTo>
                    <a:pt x="0" y="0"/>
                  </a:moveTo>
                  <a:lnTo>
                    <a:pt x="0" y="27231"/>
                  </a:lnTo>
                  <a:lnTo>
                    <a:pt x="27271" y="42976"/>
                  </a:lnTo>
                  <a:lnTo>
                    <a:pt x="27271" y="55066"/>
                  </a:lnTo>
                </a:path>
              </a:pathLst>
            </a:custGeom>
            <a:noFill/>
            <a:ln w="19050" cap="flat" cmpd="sng">
              <a:solidFill>
                <a:srgbClr val="980000"/>
              </a:solidFill>
              <a:prstDash val="solid"/>
              <a:round/>
              <a:headEnd type="none" w="sm" len="sm"/>
              <a:tailEnd type="triangle" w="med" len="med"/>
            </a:ln>
          </p:spPr>
          <p:txBody>
            <a:bodyPr/>
            <a:lstStyle/>
            <a:p>
              <a:endParaRPr lang="en-US"/>
            </a:p>
          </p:txBody>
        </p:sp>
        <p:sp>
          <p:nvSpPr>
            <p:cNvPr id="606" name="Google Shape;606;p85"/>
            <p:cNvSpPr/>
            <p:nvPr/>
          </p:nvSpPr>
          <p:spPr>
            <a:xfrm>
              <a:off x="6245050" y="2285483"/>
              <a:ext cx="1750250" cy="1369075"/>
            </a:xfrm>
            <a:custGeom>
              <a:avLst/>
              <a:gdLst/>
              <a:ahLst/>
              <a:cxnLst/>
              <a:rect l="l" t="t" r="r" b="b"/>
              <a:pathLst>
                <a:path w="70010" h="54763" extrusionOk="0">
                  <a:moveTo>
                    <a:pt x="0" y="0"/>
                  </a:moveTo>
                  <a:lnTo>
                    <a:pt x="0" y="25717"/>
                  </a:lnTo>
                  <a:lnTo>
                    <a:pt x="70010" y="44476"/>
                  </a:lnTo>
                  <a:lnTo>
                    <a:pt x="70010" y="54763"/>
                  </a:lnTo>
                </a:path>
              </a:pathLst>
            </a:custGeom>
            <a:noFill/>
            <a:ln w="19050" cap="flat" cmpd="sng">
              <a:solidFill>
                <a:srgbClr val="38761D"/>
              </a:solidFill>
              <a:prstDash val="solid"/>
              <a:round/>
              <a:headEnd type="none" w="sm" len="sm"/>
              <a:tailEnd type="triangle" w="med" len="med"/>
            </a:ln>
          </p:spPr>
          <p:txBody>
            <a:bodyPr/>
            <a:lstStyle/>
            <a:p>
              <a:endParaRPr lang="en-US"/>
            </a:p>
          </p:txBody>
        </p:sp>
        <p:sp>
          <p:nvSpPr>
            <p:cNvPr id="607" name="Google Shape;607;p85"/>
            <p:cNvSpPr/>
            <p:nvPr/>
          </p:nvSpPr>
          <p:spPr>
            <a:xfrm>
              <a:off x="5334446" y="2285475"/>
              <a:ext cx="1750229" cy="1384200"/>
            </a:xfrm>
            <a:custGeom>
              <a:avLst/>
              <a:gdLst/>
              <a:ahLst/>
              <a:cxnLst/>
              <a:rect l="l" t="t" r="r" b="b"/>
              <a:pathLst>
                <a:path w="26660" h="55368" extrusionOk="0">
                  <a:moveTo>
                    <a:pt x="26660" y="0"/>
                  </a:moveTo>
                  <a:lnTo>
                    <a:pt x="26660" y="23902"/>
                  </a:lnTo>
                  <a:lnTo>
                    <a:pt x="0" y="39294"/>
                  </a:lnTo>
                  <a:lnTo>
                    <a:pt x="0" y="55368"/>
                  </a:lnTo>
                </a:path>
              </a:pathLst>
            </a:custGeom>
            <a:noFill/>
            <a:ln w="19050" cap="flat" cmpd="sng">
              <a:solidFill>
                <a:srgbClr val="A64D79"/>
              </a:solidFill>
              <a:prstDash val="solid"/>
              <a:round/>
              <a:headEnd type="none" w="sm" len="sm"/>
              <a:tailEnd type="triangle" w="med" len="med"/>
            </a:ln>
          </p:spPr>
          <p:txBody>
            <a:bodyPr/>
            <a:lstStyle/>
            <a:p>
              <a:endParaRPr lang="en-US"/>
            </a:p>
          </p:txBody>
        </p:sp>
        <p:sp>
          <p:nvSpPr>
            <p:cNvPr id="608" name="Google Shape;608;p85"/>
            <p:cNvSpPr/>
            <p:nvPr/>
          </p:nvSpPr>
          <p:spPr>
            <a:xfrm>
              <a:off x="6174075" y="2277908"/>
              <a:ext cx="1750323" cy="1391802"/>
            </a:xfrm>
            <a:custGeom>
              <a:avLst/>
              <a:gdLst/>
              <a:ahLst/>
              <a:cxnLst/>
              <a:rect l="l" t="t" r="r" b="b"/>
              <a:pathLst>
                <a:path w="102568" h="54763" extrusionOk="0">
                  <a:moveTo>
                    <a:pt x="102568" y="0"/>
                  </a:moveTo>
                  <a:lnTo>
                    <a:pt x="102568" y="27836"/>
                  </a:lnTo>
                  <a:lnTo>
                    <a:pt x="0" y="44476"/>
                  </a:lnTo>
                  <a:lnTo>
                    <a:pt x="0" y="54763"/>
                  </a:lnTo>
                </a:path>
              </a:pathLst>
            </a:custGeom>
            <a:noFill/>
            <a:ln w="19050" cap="flat" cmpd="sng">
              <a:solidFill>
                <a:srgbClr val="FF9900"/>
              </a:solidFill>
              <a:prstDash val="solid"/>
              <a:round/>
              <a:headEnd type="none" w="sm" len="sm"/>
              <a:tailEnd type="triangle" w="med" len="med"/>
            </a:ln>
          </p:spPr>
          <p:txBody>
            <a:bodyPr/>
            <a:lstStyle/>
            <a:p>
              <a:endParaRPr lang="en-US"/>
            </a:p>
          </p:txBody>
        </p:sp>
        <p:sp>
          <p:nvSpPr>
            <p:cNvPr id="609" name="Google Shape;609;p85"/>
            <p:cNvSpPr/>
            <p:nvPr/>
          </p:nvSpPr>
          <p:spPr>
            <a:xfrm>
              <a:off x="5133125" y="2570036"/>
              <a:ext cx="3062700" cy="393600"/>
            </a:xfrm>
            <a:prstGeom prst="rect">
              <a:avLst/>
            </a:prstGeom>
            <a:solidFill>
              <a:srgbClr val="4A86E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Hash Function</a:t>
              </a:r>
              <a:endParaRPr sz="1400" b="0" i="0" u="none" strike="noStrike" cap="none">
                <a:solidFill>
                  <a:srgbClr val="FFFFFF"/>
                </a:solidFill>
                <a:latin typeface="Arial"/>
                <a:ea typeface="Arial"/>
                <a:cs typeface="Arial"/>
                <a:sym typeface="Arial"/>
              </a:endParaRPr>
            </a:p>
          </p:txBody>
        </p:sp>
      </p:grpSp>
      <p:sp>
        <p:nvSpPr>
          <p:cNvPr id="610" name="Google Shape;610;p85"/>
          <p:cNvSpPr txBox="1"/>
          <p:nvPr/>
        </p:nvSpPr>
        <p:spPr>
          <a:xfrm>
            <a:off x="391625" y="3833500"/>
            <a:ext cx="3706500" cy="52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this happens, it is not acceptable to simply </a:t>
            </a:r>
            <a:r>
              <a:rPr lang="en" sz="1200" b="1" i="1" u="none" strike="noStrike" cap="none">
                <a:solidFill>
                  <a:srgbClr val="FF0000"/>
                </a:solidFill>
                <a:latin typeface="Arial"/>
                <a:ea typeface="Arial"/>
                <a:cs typeface="Arial"/>
                <a:sym typeface="Arial"/>
              </a:rPr>
              <a:t>throw away</a:t>
            </a:r>
            <a:r>
              <a:rPr lang="en" sz="1200" b="0" i="0" u="none" strike="noStrike" cap="none">
                <a:solidFill>
                  <a:srgbClr val="000000"/>
                </a:solidFill>
                <a:latin typeface="Arial"/>
                <a:ea typeface="Arial"/>
                <a:cs typeface="Arial"/>
                <a:sym typeface="Arial"/>
              </a:rPr>
              <a:t> one of the values.</a:t>
            </a:r>
            <a:endParaRPr sz="1200" b="0" i="0" u="none" strike="noStrike" cap="none">
              <a:solidFill>
                <a:srgbClr val="000000"/>
              </a:solidFill>
              <a:latin typeface="Arial"/>
              <a:ea typeface="Arial"/>
              <a:cs typeface="Arial"/>
              <a:sym typeface="Arial"/>
            </a:endParaRPr>
          </a:p>
        </p:txBody>
      </p:sp>
      <p:sp>
        <p:nvSpPr>
          <p:cNvPr id="611" name="Google Shape;611;p85"/>
          <p:cNvSpPr/>
          <p:nvPr/>
        </p:nvSpPr>
        <p:spPr>
          <a:xfrm>
            <a:off x="1314875" y="2826075"/>
            <a:ext cx="711000" cy="919500"/>
          </a:xfrm>
          <a:prstGeom prst="ellipse">
            <a:avLst/>
          </a:prstGeom>
          <a:no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85"/>
          <p:cNvSpPr txBox="1"/>
          <p:nvPr/>
        </p:nvSpPr>
        <p:spPr>
          <a:xfrm>
            <a:off x="391625" y="4453528"/>
            <a:ext cx="3706500" cy="52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a:t>
            </a:r>
            <a:r>
              <a:rPr lang="en" sz="1200" b="1" i="1" u="none" strike="noStrike" cap="none">
                <a:solidFill>
                  <a:srgbClr val="FF0000"/>
                </a:solidFill>
                <a:latin typeface="Arial"/>
                <a:ea typeface="Arial"/>
                <a:cs typeface="Arial"/>
                <a:sym typeface="Arial"/>
              </a:rPr>
              <a:t>collision</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must be </a:t>
            </a:r>
            <a:r>
              <a:rPr lang="en" sz="1200" b="1" i="1" u="none" strike="noStrike" cap="none">
                <a:solidFill>
                  <a:srgbClr val="FF0000"/>
                </a:solidFill>
                <a:latin typeface="Arial"/>
                <a:ea typeface="Arial"/>
                <a:cs typeface="Arial"/>
                <a:sym typeface="Arial"/>
              </a:rPr>
              <a:t>resolved </a:t>
            </a:r>
            <a:r>
              <a:rPr lang="en" sz="1200" b="0" i="0" u="none" strike="noStrike" cap="none">
                <a:solidFill>
                  <a:srgbClr val="000000"/>
                </a:solidFill>
                <a:latin typeface="Arial"/>
                <a:ea typeface="Arial"/>
                <a:cs typeface="Arial"/>
                <a:sym typeface="Arial"/>
              </a:rPr>
              <a:t>in some way, and this has a negative impact on performance.</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9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99"/>
                                        </p:tgtEl>
                                        <p:attrNameLst>
                                          <p:attrName>style.visibility</p:attrName>
                                        </p:attrNameLst>
                                      </p:cBhvr>
                                      <p:to>
                                        <p:strVal val="visible"/>
                                      </p:to>
                                    </p:set>
                                    <p:animEffect transition="in" filter="fade">
                                      <p:cBhvr>
                                        <p:cTn id="39" dur="1000"/>
                                        <p:tgtEl>
                                          <p:spTgt spid="599"/>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600"/>
                                        </p:tgtEl>
                                        <p:attrNameLst>
                                          <p:attrName>style.visibility</p:attrName>
                                        </p:attrNameLst>
                                      </p:cBhvr>
                                      <p:to>
                                        <p:strVal val="visible"/>
                                      </p:to>
                                    </p:set>
                                    <p:animEffect transition="in" filter="fade">
                                      <p:cBhvr>
                                        <p:cTn id="43" dur="1000"/>
                                        <p:tgtEl>
                                          <p:spTgt spid="600"/>
                                        </p:tgtEl>
                                      </p:cBhvr>
                                    </p:animEffect>
                                  </p:childTnLst>
                                </p:cTn>
                              </p:par>
                              <p:par>
                                <p:cTn id="44" presetID="10" presetClass="entr" presetSubtype="0" fill="hold" nodeType="withEffect">
                                  <p:stCondLst>
                                    <p:cond delay="0"/>
                                  </p:stCondLst>
                                  <p:childTnLst>
                                    <p:set>
                                      <p:cBhvr>
                                        <p:cTn id="45" dur="1" fill="hold">
                                          <p:stCondLst>
                                            <p:cond delay="0"/>
                                          </p:stCondLst>
                                        </p:cTn>
                                        <p:tgtEl>
                                          <p:spTgt spid="598"/>
                                        </p:tgtEl>
                                        <p:attrNameLst>
                                          <p:attrName>style.visibility</p:attrName>
                                        </p:attrNameLst>
                                      </p:cBhvr>
                                      <p:to>
                                        <p:strVal val="visible"/>
                                      </p:to>
                                    </p:set>
                                    <p:animEffect transition="in" filter="fade">
                                      <p:cBhvr>
                                        <p:cTn id="46" dur="1000"/>
                                        <p:tgtEl>
                                          <p:spTgt spid="598"/>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611"/>
                                        </p:tgtEl>
                                        <p:attrNameLst>
                                          <p:attrName>style.visibility</p:attrName>
                                        </p:attrNameLst>
                                      </p:cBhvr>
                                      <p:to>
                                        <p:strVal val="visible"/>
                                      </p:to>
                                    </p:set>
                                    <p:animEffect transition="in" filter="fade">
                                      <p:cBhvr>
                                        <p:cTn id="50" dur="1000"/>
                                        <p:tgtEl>
                                          <p:spTgt spid="6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10"/>
                                        </p:tgtEl>
                                        <p:attrNameLst>
                                          <p:attrName>style.visibility</p:attrName>
                                        </p:attrNameLst>
                                      </p:cBhvr>
                                      <p:to>
                                        <p:strVal val="visible"/>
                                      </p:to>
                                    </p:set>
                                    <p:animEffect transition="in" filter="fade">
                                      <p:cBhvr>
                                        <p:cTn id="55" dur="1000"/>
                                        <p:tgtEl>
                                          <p:spTgt spid="61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12"/>
                                        </p:tgtEl>
                                        <p:attrNameLst>
                                          <p:attrName>style.visibility</p:attrName>
                                        </p:attrNameLst>
                                      </p:cBhvr>
                                      <p:to>
                                        <p:strVal val="visible"/>
                                      </p:to>
                                    </p:set>
                                    <p:animEffect transition="in" filter="fade">
                                      <p:cBhvr>
                                        <p:cTn id="60" dur="1000"/>
                                        <p:tgtEl>
                                          <p:spTgt spid="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86"/>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618" name="Google Shape;618;p86"/>
          <p:cNvSpPr txBox="1">
            <a:spLocks noGrp="1"/>
          </p:cNvSpPr>
          <p:nvPr>
            <p:ph type="title"/>
          </p:nvPr>
        </p:nvSpPr>
        <p:spPr>
          <a:xfrm>
            <a:off x="5036125" y="1199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600"/>
              <a:t>Hash Functions</a:t>
            </a:r>
            <a:endParaRPr sz="2600"/>
          </a:p>
        </p:txBody>
      </p:sp>
      <p:sp>
        <p:nvSpPr>
          <p:cNvPr id="619" name="Google Shape;619;p86"/>
          <p:cNvSpPr txBox="1">
            <a:spLocks noGrp="1"/>
          </p:cNvSpPr>
          <p:nvPr>
            <p:ph type="body" idx="1"/>
          </p:nvPr>
        </p:nvSpPr>
        <p:spPr>
          <a:xfrm>
            <a:off x="187500" y="119925"/>
            <a:ext cx="4482900" cy="47547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SzPts val="1400"/>
              <a:buChar char="●"/>
            </a:pPr>
            <a:r>
              <a:rPr lang="en" sz="1400" dirty="0"/>
              <a:t>A good hash function has the following characteristics.</a:t>
            </a:r>
            <a:endParaRPr sz="1400" dirty="0"/>
          </a:p>
          <a:p>
            <a:pPr marL="914400" lvl="1" indent="-304800" algn="l" rtl="0">
              <a:lnSpc>
                <a:spcPct val="115000"/>
              </a:lnSpc>
              <a:spcBef>
                <a:spcPts val="0"/>
              </a:spcBef>
              <a:spcAft>
                <a:spcPts val="0"/>
              </a:spcAft>
              <a:buSzPts val="1200"/>
              <a:buChar char="○"/>
            </a:pPr>
            <a:r>
              <a:rPr lang="en" sz="1200" dirty="0">
                <a:highlight>
                  <a:srgbClr val="FFFF00"/>
                </a:highlight>
              </a:rPr>
              <a:t>It is </a:t>
            </a:r>
            <a:r>
              <a:rPr lang="en" sz="1200" b="1" i="1" dirty="0">
                <a:solidFill>
                  <a:srgbClr val="FF0000"/>
                </a:solidFill>
                <a:highlight>
                  <a:srgbClr val="FFFF00"/>
                </a:highlight>
              </a:rPr>
              <a:t>fast</a:t>
            </a:r>
            <a:r>
              <a:rPr lang="en" sz="1200" dirty="0">
                <a:solidFill>
                  <a:srgbClr val="FF0000"/>
                </a:solidFill>
                <a:highlight>
                  <a:srgbClr val="FFFF00"/>
                </a:highlight>
              </a:rPr>
              <a:t> </a:t>
            </a:r>
            <a:r>
              <a:rPr lang="en" sz="1200" dirty="0">
                <a:highlight>
                  <a:srgbClr val="FFFF00"/>
                </a:highlight>
              </a:rPr>
              <a:t>meaning that it runs in </a:t>
            </a:r>
            <a:r>
              <a:rPr lang="en" sz="1200" b="1" i="1" dirty="0">
                <a:solidFill>
                  <a:srgbClr val="FF0000"/>
                </a:solidFill>
                <a:highlight>
                  <a:srgbClr val="FFFF00"/>
                </a:highlight>
              </a:rPr>
              <a:t>constant time</a:t>
            </a:r>
            <a:r>
              <a:rPr lang="en" sz="1200" dirty="0">
                <a:highlight>
                  <a:srgbClr val="FFFF00"/>
                </a:highlight>
              </a:rPr>
              <a:t> (or close to it relative to n).</a:t>
            </a:r>
            <a:endParaRPr sz="1200" dirty="0">
              <a:highlight>
                <a:srgbClr val="FFFF00"/>
              </a:highlight>
            </a:endParaRPr>
          </a:p>
          <a:p>
            <a:pPr marL="914400" lvl="1" indent="-304800" algn="l" rtl="0">
              <a:lnSpc>
                <a:spcPct val="115000"/>
              </a:lnSpc>
              <a:spcBef>
                <a:spcPts val="1000"/>
              </a:spcBef>
              <a:spcAft>
                <a:spcPts val="0"/>
              </a:spcAft>
              <a:buSzPts val="1200"/>
              <a:buChar char="○"/>
            </a:pPr>
            <a:r>
              <a:rPr lang="en" sz="1200" dirty="0"/>
              <a:t>It is </a:t>
            </a:r>
            <a:r>
              <a:rPr lang="en" sz="1200" b="1" i="1" dirty="0">
                <a:solidFill>
                  <a:srgbClr val="FF0000"/>
                </a:solidFill>
              </a:rPr>
              <a:t>consistent</a:t>
            </a:r>
            <a:r>
              <a:rPr lang="en" sz="1200" dirty="0"/>
              <a:t>. Because the hash function is used to </a:t>
            </a:r>
            <a:r>
              <a:rPr lang="en" sz="1200" b="1" i="1" dirty="0">
                <a:solidFill>
                  <a:srgbClr val="FF0000"/>
                </a:solidFill>
              </a:rPr>
              <a:t>store</a:t>
            </a:r>
            <a:r>
              <a:rPr lang="en" sz="1200" dirty="0">
                <a:solidFill>
                  <a:srgbClr val="FF0000"/>
                </a:solidFill>
              </a:rPr>
              <a:t> </a:t>
            </a:r>
            <a:r>
              <a:rPr lang="en" sz="1200" dirty="0"/>
              <a:t>and </a:t>
            </a:r>
            <a:r>
              <a:rPr lang="en" sz="1200" b="1" i="1" dirty="0">
                <a:solidFill>
                  <a:srgbClr val="FF0000"/>
                </a:solidFill>
              </a:rPr>
              <a:t>retrieve</a:t>
            </a:r>
            <a:r>
              <a:rPr lang="en" sz="1200" dirty="0">
                <a:solidFill>
                  <a:srgbClr val="FF0000"/>
                </a:solidFill>
              </a:rPr>
              <a:t> </a:t>
            </a:r>
            <a:r>
              <a:rPr lang="en" sz="1200" dirty="0"/>
              <a:t>values it must </a:t>
            </a:r>
            <a:r>
              <a:rPr lang="en" sz="1200" b="1" i="1" dirty="0">
                <a:solidFill>
                  <a:srgbClr val="FF0000"/>
                </a:solidFill>
              </a:rPr>
              <a:t>always </a:t>
            </a:r>
            <a:r>
              <a:rPr lang="en" sz="1200" dirty="0"/>
              <a:t>return the </a:t>
            </a:r>
            <a:r>
              <a:rPr lang="en" sz="1200" dirty="0">
                <a:highlight>
                  <a:srgbClr val="FFFF00"/>
                </a:highlight>
              </a:rPr>
              <a:t>same hash code for the same input.</a:t>
            </a:r>
            <a:endParaRPr sz="1200" dirty="0">
              <a:highlight>
                <a:srgbClr val="FFFF00"/>
              </a:highlight>
            </a:endParaRPr>
          </a:p>
          <a:p>
            <a:pPr marL="914400" lvl="1" indent="-304800" algn="l" rtl="0">
              <a:lnSpc>
                <a:spcPct val="115000"/>
              </a:lnSpc>
              <a:spcBef>
                <a:spcPts val="1000"/>
              </a:spcBef>
              <a:spcAft>
                <a:spcPts val="0"/>
              </a:spcAft>
              <a:buSzPts val="1200"/>
              <a:buChar char="○"/>
            </a:pPr>
            <a:r>
              <a:rPr lang="en" sz="1200" dirty="0"/>
              <a:t>It </a:t>
            </a:r>
            <a:r>
              <a:rPr lang="en" sz="1200" b="1" i="1" dirty="0">
                <a:solidFill>
                  <a:srgbClr val="FF0000"/>
                </a:solidFill>
              </a:rPr>
              <a:t>minimizes collisions</a:t>
            </a:r>
            <a:r>
              <a:rPr lang="en" sz="1200" dirty="0"/>
              <a:t> by ensuring that, as much as possible, two different input values will result in two different hash codes.</a:t>
            </a:r>
            <a:endParaRPr sz="1200" dirty="0"/>
          </a:p>
          <a:p>
            <a:pPr marL="457200" lvl="0" indent="-317500" algn="l" rtl="0">
              <a:lnSpc>
                <a:spcPct val="115000"/>
              </a:lnSpc>
              <a:spcBef>
                <a:spcPts val="1000"/>
              </a:spcBef>
              <a:spcAft>
                <a:spcPts val="0"/>
              </a:spcAft>
              <a:buSzPts val="1400"/>
              <a:buChar char="●"/>
            </a:pPr>
            <a:r>
              <a:rPr lang="en" sz="1400" dirty="0"/>
              <a:t>A </a:t>
            </a:r>
            <a:r>
              <a:rPr lang="en" sz="1400" b="1" i="1" dirty="0">
                <a:solidFill>
                  <a:srgbClr val="FF0000"/>
                </a:solidFill>
              </a:rPr>
              <a:t>bad</a:t>
            </a:r>
            <a:r>
              <a:rPr lang="en" sz="1400" dirty="0">
                <a:solidFill>
                  <a:srgbClr val="FF0000"/>
                </a:solidFill>
              </a:rPr>
              <a:t> </a:t>
            </a:r>
            <a:r>
              <a:rPr lang="en" sz="1400" dirty="0"/>
              <a:t>hash function will break one or more of these rules, which will slow down the performance of a hashing data structure.</a:t>
            </a:r>
            <a:endParaRPr sz="1400" dirty="0"/>
          </a:p>
          <a:p>
            <a:pPr marL="914400" lvl="1" indent="-304800" algn="l" rtl="0">
              <a:lnSpc>
                <a:spcPct val="115000"/>
              </a:lnSpc>
              <a:spcBef>
                <a:spcPts val="0"/>
              </a:spcBef>
              <a:spcAft>
                <a:spcPts val="0"/>
              </a:spcAft>
              <a:buSzPts val="1200"/>
              <a:buChar char="○"/>
            </a:pPr>
            <a:r>
              <a:rPr lang="en" sz="1200" dirty="0"/>
              <a:t>We would like the basic operations like </a:t>
            </a:r>
            <a:r>
              <a:rPr lang="en" sz="1200" i="1" dirty="0"/>
              <a:t>adding</a:t>
            </a:r>
            <a:r>
              <a:rPr lang="en" sz="1200" dirty="0"/>
              <a:t> new elements to a set or a dictionary to run in constant time.</a:t>
            </a:r>
            <a:endParaRPr sz="1200" dirty="0"/>
          </a:p>
          <a:p>
            <a:pPr marL="914400" lvl="1" indent="-304800" algn="l" rtl="0">
              <a:lnSpc>
                <a:spcPct val="115000"/>
              </a:lnSpc>
              <a:spcBef>
                <a:spcPts val="0"/>
              </a:spcBef>
              <a:spcAft>
                <a:spcPts val="0"/>
              </a:spcAft>
              <a:buSzPts val="1200"/>
              <a:buChar char="○"/>
            </a:pPr>
            <a:r>
              <a:rPr lang="en" sz="1200" dirty="0"/>
              <a:t>A bad hash function can slow the data structure down to the point where it is no faster than using a list or an array.</a:t>
            </a:r>
            <a:endParaRPr sz="1200" dirty="0"/>
          </a:p>
        </p:txBody>
      </p:sp>
      <p:sp>
        <p:nvSpPr>
          <p:cNvPr id="620" name="Google Shape;620;p86"/>
          <p:cNvSpPr txBox="1"/>
          <p:nvPr/>
        </p:nvSpPr>
        <p:spPr>
          <a:xfrm>
            <a:off x="4959800" y="758025"/>
            <a:ext cx="4048200" cy="52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There are two basic ways to </a:t>
            </a:r>
            <a:r>
              <a:rPr lang="en" sz="1200" b="1" i="1" u="none" strike="noStrike" cap="none" dirty="0">
                <a:solidFill>
                  <a:srgbClr val="FF0000"/>
                </a:solidFill>
                <a:latin typeface="Arial"/>
                <a:ea typeface="Arial"/>
                <a:cs typeface="Arial"/>
                <a:sym typeface="Arial"/>
              </a:rPr>
              <a:t>resolve</a:t>
            </a:r>
            <a:r>
              <a:rPr lang="en" sz="1200" b="1" i="1" u="none" strike="noStrike" cap="none" dirty="0">
                <a:solidFill>
                  <a:srgbClr val="000000"/>
                </a:solidFill>
                <a:latin typeface="Arial"/>
                <a:ea typeface="Arial"/>
                <a:cs typeface="Arial"/>
                <a:sym typeface="Arial"/>
              </a:rPr>
              <a:t> </a:t>
            </a:r>
            <a:r>
              <a:rPr lang="en" sz="1200" b="0" i="0" u="none" strike="noStrike" cap="none" dirty="0">
                <a:solidFill>
                  <a:srgbClr val="000000"/>
                </a:solidFill>
                <a:latin typeface="Arial"/>
                <a:ea typeface="Arial"/>
                <a:cs typeface="Arial"/>
                <a:sym typeface="Arial"/>
              </a:rPr>
              <a:t>collisions in a hashing data structure: </a:t>
            </a:r>
            <a:r>
              <a:rPr lang="en" sz="1200" b="1" i="1" u="none" strike="noStrike" cap="none" dirty="0">
                <a:solidFill>
                  <a:srgbClr val="FF0000"/>
                </a:solidFill>
                <a:latin typeface="Arial"/>
                <a:ea typeface="Arial"/>
                <a:cs typeface="Arial"/>
                <a:sym typeface="Arial"/>
              </a:rPr>
              <a:t>open addressing</a:t>
            </a:r>
            <a:r>
              <a:rPr lang="en" sz="1200" b="0" i="0" u="none" strike="noStrike" cap="none" dirty="0">
                <a:solidFill>
                  <a:srgbClr val="FF0000"/>
                </a:solidFill>
                <a:latin typeface="Arial"/>
                <a:ea typeface="Arial"/>
                <a:cs typeface="Arial"/>
                <a:sym typeface="Arial"/>
              </a:rPr>
              <a:t> </a:t>
            </a:r>
            <a:r>
              <a:rPr lang="en" sz="1200" b="0" i="0" u="none" strike="noStrike" cap="none" dirty="0">
                <a:solidFill>
                  <a:srgbClr val="000000"/>
                </a:solidFill>
                <a:latin typeface="Arial"/>
                <a:ea typeface="Arial"/>
                <a:cs typeface="Arial"/>
                <a:sym typeface="Arial"/>
              </a:rPr>
              <a:t>and </a:t>
            </a:r>
            <a:r>
              <a:rPr lang="en" sz="1200" b="1" i="1" u="none" strike="noStrike" cap="none" dirty="0">
                <a:solidFill>
                  <a:srgbClr val="FF0000"/>
                </a:solidFill>
                <a:latin typeface="Arial"/>
                <a:ea typeface="Arial"/>
                <a:cs typeface="Arial"/>
                <a:sym typeface="Arial"/>
              </a:rPr>
              <a:t>chaining</a:t>
            </a:r>
            <a:r>
              <a:rPr lang="en" sz="12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graphicFrame>
        <p:nvGraphicFramePr>
          <p:cNvPr id="621" name="Google Shape;621;p86"/>
          <p:cNvGraphicFramePr/>
          <p:nvPr/>
        </p:nvGraphicFramePr>
        <p:xfrm>
          <a:off x="5447525" y="2582625"/>
          <a:ext cx="3062800" cy="39621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A9999"/>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A9999"/>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A9999"/>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bl>
          </a:graphicData>
        </a:graphic>
      </p:graphicFrame>
      <p:sp>
        <p:nvSpPr>
          <p:cNvPr id="622" name="Google Shape;622;p86"/>
          <p:cNvSpPr txBox="1"/>
          <p:nvPr/>
        </p:nvSpPr>
        <p:spPr>
          <a:xfrm>
            <a:off x="4959800" y="1422624"/>
            <a:ext cx="4048200" cy="68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When a collision occurs while using </a:t>
            </a:r>
            <a:r>
              <a:rPr lang="en" sz="1200" b="1" i="1" u="none" strike="noStrike" cap="none" dirty="0">
                <a:solidFill>
                  <a:srgbClr val="FF0000"/>
                </a:solidFill>
                <a:latin typeface="Arial"/>
                <a:ea typeface="Arial"/>
                <a:cs typeface="Arial"/>
                <a:sym typeface="Arial"/>
              </a:rPr>
              <a:t>open addressing</a:t>
            </a:r>
            <a:r>
              <a:rPr lang="en" sz="1200" b="0" i="0" u="none" strike="noStrike" cap="none" dirty="0">
                <a:solidFill>
                  <a:srgbClr val="000000"/>
                </a:solidFill>
                <a:latin typeface="Arial"/>
                <a:ea typeface="Arial"/>
                <a:cs typeface="Arial"/>
                <a:sym typeface="Arial"/>
              </a:rPr>
              <a:t>, the data structure will search for the next </a:t>
            </a:r>
            <a:r>
              <a:rPr lang="en" sz="1200" b="1" i="1" u="none" strike="noStrike" cap="none" dirty="0">
                <a:solidFill>
                  <a:srgbClr val="FF0000"/>
                </a:solidFill>
                <a:latin typeface="Arial"/>
                <a:ea typeface="Arial"/>
                <a:cs typeface="Arial"/>
                <a:sym typeface="Arial"/>
              </a:rPr>
              <a:t>open address</a:t>
            </a:r>
            <a:r>
              <a:rPr lang="en" sz="1200" b="0" i="0" u="none" strike="noStrike" cap="none" dirty="0">
                <a:solidFill>
                  <a:srgbClr val="FF0000"/>
                </a:solidFill>
                <a:latin typeface="Arial"/>
                <a:ea typeface="Arial"/>
                <a:cs typeface="Arial"/>
                <a:sym typeface="Arial"/>
              </a:rPr>
              <a:t> </a:t>
            </a:r>
            <a:r>
              <a:rPr lang="en" sz="1200" b="0" i="0" u="none" strike="noStrike" cap="none" dirty="0">
                <a:solidFill>
                  <a:srgbClr val="000000"/>
                </a:solidFill>
                <a:latin typeface="Arial"/>
                <a:ea typeface="Arial"/>
                <a:cs typeface="Arial"/>
                <a:sym typeface="Arial"/>
              </a:rPr>
              <a:t>in which to store the value.</a:t>
            </a:r>
            <a:endParaRPr sz="1200" b="0" i="0" u="none" strike="noStrike" cap="none" dirty="0">
              <a:solidFill>
                <a:srgbClr val="000000"/>
              </a:solidFill>
              <a:latin typeface="Arial"/>
              <a:ea typeface="Arial"/>
              <a:cs typeface="Arial"/>
              <a:sym typeface="Arial"/>
            </a:endParaRPr>
          </a:p>
        </p:txBody>
      </p:sp>
      <p:sp>
        <p:nvSpPr>
          <p:cNvPr id="623" name="Google Shape;623;p86"/>
          <p:cNvSpPr txBox="1"/>
          <p:nvPr/>
        </p:nvSpPr>
        <p:spPr>
          <a:xfrm>
            <a:off x="4959800" y="3251425"/>
            <a:ext cx="4048200" cy="52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When a collision occurs while using </a:t>
            </a:r>
            <a:r>
              <a:rPr lang="en" sz="1200" b="1" i="1" u="none" strike="noStrike" cap="none" dirty="0">
                <a:solidFill>
                  <a:srgbClr val="FF0000"/>
                </a:solidFill>
                <a:latin typeface="Arial"/>
                <a:ea typeface="Arial"/>
                <a:cs typeface="Arial"/>
                <a:sym typeface="Arial"/>
              </a:rPr>
              <a:t>chaining</a:t>
            </a:r>
            <a:r>
              <a:rPr lang="en" sz="1200" b="0" i="0" u="none" strike="noStrike" cap="none" dirty="0">
                <a:solidFill>
                  <a:srgbClr val="000000"/>
                </a:solidFill>
                <a:latin typeface="Arial"/>
                <a:ea typeface="Arial"/>
                <a:cs typeface="Arial"/>
                <a:sym typeface="Arial"/>
              </a:rPr>
              <a:t>, the elements are stored in a </a:t>
            </a:r>
            <a:r>
              <a:rPr lang="en" sz="1200" b="1" i="1" u="none" strike="noStrike" cap="none" dirty="0">
                <a:solidFill>
                  <a:srgbClr val="FF0000"/>
                </a:solidFill>
                <a:highlight>
                  <a:srgbClr val="FFFF00"/>
                </a:highlight>
                <a:latin typeface="Arial"/>
                <a:ea typeface="Arial"/>
                <a:cs typeface="Arial"/>
                <a:sym typeface="Arial"/>
              </a:rPr>
              <a:t>list</a:t>
            </a:r>
            <a:r>
              <a:rPr lang="en" sz="1200" b="0" i="0" u="none" strike="noStrike" cap="none" dirty="0">
                <a:solidFill>
                  <a:srgbClr val="FF0000"/>
                </a:solidFill>
                <a:highlight>
                  <a:srgbClr val="FFFF00"/>
                </a:highlight>
                <a:latin typeface="Arial"/>
                <a:ea typeface="Arial"/>
                <a:cs typeface="Arial"/>
                <a:sym typeface="Arial"/>
              </a:rPr>
              <a:t> </a:t>
            </a:r>
            <a:r>
              <a:rPr lang="en" sz="1200" b="0" i="0" u="none" strike="noStrike" cap="none" dirty="0">
                <a:solidFill>
                  <a:srgbClr val="000000"/>
                </a:solidFill>
                <a:highlight>
                  <a:srgbClr val="FFFF00"/>
                </a:highlight>
                <a:latin typeface="Arial"/>
                <a:ea typeface="Arial"/>
                <a:cs typeface="Arial"/>
                <a:sym typeface="Arial"/>
              </a:rPr>
              <a:t>at each index.</a:t>
            </a:r>
            <a:endParaRPr sz="1200" b="0" i="0" u="none" strike="noStrike" cap="none" dirty="0">
              <a:solidFill>
                <a:srgbClr val="000000"/>
              </a:solidFill>
              <a:highlight>
                <a:srgbClr val="FFFF00"/>
              </a:highlight>
              <a:latin typeface="Arial"/>
              <a:ea typeface="Arial"/>
              <a:cs typeface="Arial"/>
              <a:sym typeface="Arial"/>
            </a:endParaRPr>
          </a:p>
        </p:txBody>
      </p:sp>
      <p:cxnSp>
        <p:nvCxnSpPr>
          <p:cNvPr id="624" name="Google Shape;624;p86"/>
          <p:cNvCxnSpPr/>
          <p:nvPr/>
        </p:nvCxnSpPr>
        <p:spPr>
          <a:xfrm>
            <a:off x="5772300" y="2225550"/>
            <a:ext cx="247200" cy="353400"/>
          </a:xfrm>
          <a:prstGeom prst="straightConnector1">
            <a:avLst/>
          </a:prstGeom>
          <a:noFill/>
          <a:ln w="19050" cap="flat" cmpd="sng">
            <a:solidFill>
              <a:srgbClr val="EA9999"/>
            </a:solidFill>
            <a:prstDash val="solid"/>
            <a:round/>
            <a:headEnd type="none" w="sm" len="sm"/>
            <a:tailEnd type="triangle" w="med" len="med"/>
          </a:ln>
        </p:spPr>
      </p:cxnSp>
      <p:sp>
        <p:nvSpPr>
          <p:cNvPr id="625" name="Google Shape;625;p86"/>
          <p:cNvSpPr/>
          <p:nvPr/>
        </p:nvSpPr>
        <p:spPr>
          <a:xfrm>
            <a:off x="6047850" y="2359800"/>
            <a:ext cx="339125" cy="219025"/>
          </a:xfrm>
          <a:custGeom>
            <a:avLst/>
            <a:gdLst/>
            <a:ahLst/>
            <a:cxnLst/>
            <a:rect l="l" t="t" r="r" b="b"/>
            <a:pathLst>
              <a:path w="13565" h="8761" extrusionOk="0">
                <a:moveTo>
                  <a:pt x="0" y="8761"/>
                </a:moveTo>
                <a:cubicBezTo>
                  <a:pt x="1649" y="7301"/>
                  <a:pt x="7630" y="0"/>
                  <a:pt x="9891" y="0"/>
                </a:cubicBezTo>
                <a:cubicBezTo>
                  <a:pt x="12152" y="0"/>
                  <a:pt x="12953" y="7301"/>
                  <a:pt x="13565" y="8761"/>
                </a:cubicBezTo>
              </a:path>
            </a:pathLst>
          </a:custGeom>
          <a:noFill/>
          <a:ln w="19050"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86"/>
          <p:cNvSpPr/>
          <p:nvPr/>
        </p:nvSpPr>
        <p:spPr>
          <a:xfrm>
            <a:off x="6428850" y="2359800"/>
            <a:ext cx="339125" cy="219025"/>
          </a:xfrm>
          <a:custGeom>
            <a:avLst/>
            <a:gdLst/>
            <a:ahLst/>
            <a:cxnLst/>
            <a:rect l="l" t="t" r="r" b="b"/>
            <a:pathLst>
              <a:path w="13565" h="8761" extrusionOk="0">
                <a:moveTo>
                  <a:pt x="0" y="8761"/>
                </a:moveTo>
                <a:cubicBezTo>
                  <a:pt x="1649" y="7301"/>
                  <a:pt x="7630" y="0"/>
                  <a:pt x="9891" y="0"/>
                </a:cubicBezTo>
                <a:cubicBezTo>
                  <a:pt x="12152" y="0"/>
                  <a:pt x="12953" y="7301"/>
                  <a:pt x="13565" y="8761"/>
                </a:cubicBezTo>
              </a:path>
            </a:pathLst>
          </a:custGeom>
          <a:noFill/>
          <a:ln w="19050"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86"/>
          <p:cNvSpPr/>
          <p:nvPr/>
        </p:nvSpPr>
        <p:spPr>
          <a:xfrm>
            <a:off x="6809850" y="2359800"/>
            <a:ext cx="339125" cy="219025"/>
          </a:xfrm>
          <a:custGeom>
            <a:avLst/>
            <a:gdLst/>
            <a:ahLst/>
            <a:cxnLst/>
            <a:rect l="l" t="t" r="r" b="b"/>
            <a:pathLst>
              <a:path w="13565" h="8761" extrusionOk="0">
                <a:moveTo>
                  <a:pt x="0" y="8761"/>
                </a:moveTo>
                <a:cubicBezTo>
                  <a:pt x="1649" y="7301"/>
                  <a:pt x="7630" y="0"/>
                  <a:pt x="9891" y="0"/>
                </a:cubicBezTo>
                <a:cubicBezTo>
                  <a:pt x="12152" y="0"/>
                  <a:pt x="12953" y="7301"/>
                  <a:pt x="13565" y="8761"/>
                </a:cubicBezTo>
              </a:path>
            </a:pathLst>
          </a:custGeom>
          <a:noFill/>
          <a:ln w="19050"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86"/>
          <p:cNvSpPr txBox="1"/>
          <p:nvPr/>
        </p:nvSpPr>
        <p:spPr>
          <a:xfrm>
            <a:off x="4954825" y="3892925"/>
            <a:ext cx="4048200" cy="939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In both cases, adding or finding an element requires a </a:t>
            </a:r>
            <a:r>
              <a:rPr lang="en" sz="1200" b="1" i="1" u="none" strike="noStrike" cap="none" dirty="0">
                <a:solidFill>
                  <a:srgbClr val="FF0000"/>
                </a:solidFill>
                <a:latin typeface="Arial"/>
                <a:ea typeface="Arial"/>
                <a:cs typeface="Arial"/>
                <a:sym typeface="Arial"/>
              </a:rPr>
              <a:t>linear search</a:t>
            </a:r>
            <a:r>
              <a:rPr lang="en" sz="1200" b="0" i="0" u="none" strike="noStrike" cap="none" dirty="0">
                <a:solidFill>
                  <a:srgbClr val="000000"/>
                </a:solidFill>
                <a:latin typeface="Arial"/>
                <a:ea typeface="Arial"/>
                <a:cs typeface="Arial"/>
                <a:sym typeface="Arial"/>
              </a:rPr>
              <a:t> over some number of elements. The more often collisions occur, the more the time complexity approaches </a:t>
            </a:r>
            <a:r>
              <a:rPr lang="en" sz="1200" b="1" i="1" u="none" strike="noStrike" cap="none" dirty="0">
                <a:solidFill>
                  <a:srgbClr val="FF0000"/>
                </a:solidFill>
                <a:latin typeface="Arial"/>
                <a:ea typeface="Arial"/>
                <a:cs typeface="Arial"/>
                <a:sym typeface="Arial"/>
              </a:rPr>
              <a:t>O(n)</a:t>
            </a:r>
            <a:r>
              <a:rPr lang="en" sz="1200" b="0" i="0" u="none" strike="noStrike" cap="none" dirty="0">
                <a:solidFill>
                  <a:srgbClr val="000000"/>
                </a:solidFill>
                <a:latin typeface="Arial"/>
                <a:ea typeface="Arial"/>
                <a:cs typeface="Arial"/>
                <a:sym typeface="Arial"/>
              </a:rPr>
              <a:t> instead of </a:t>
            </a:r>
            <a:r>
              <a:rPr lang="en" sz="1200" b="1" i="1" dirty="0">
                <a:solidFill>
                  <a:srgbClr val="FF0000"/>
                </a:solidFill>
              </a:rPr>
              <a:t>O(1)</a:t>
            </a:r>
            <a:r>
              <a:rPr lang="en" sz="12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20"/>
                                        </p:tgtEl>
                                        <p:attrNameLst>
                                          <p:attrName>style.visibility</p:attrName>
                                        </p:attrNameLst>
                                      </p:cBhvr>
                                      <p:to>
                                        <p:strVal val="visible"/>
                                      </p:to>
                                    </p:set>
                                    <p:animEffect transition="in" filter="fade">
                                      <p:cBhvr>
                                        <p:cTn id="35" dur="1000"/>
                                        <p:tgtEl>
                                          <p:spTgt spid="6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22"/>
                                        </p:tgtEl>
                                        <p:attrNameLst>
                                          <p:attrName>style.visibility</p:attrName>
                                        </p:attrNameLst>
                                      </p:cBhvr>
                                      <p:to>
                                        <p:strVal val="visible"/>
                                      </p:to>
                                    </p:set>
                                    <p:animEffect transition="in" filter="fade">
                                      <p:cBhvr>
                                        <p:cTn id="40" dur="1000"/>
                                        <p:tgtEl>
                                          <p:spTgt spid="622"/>
                                        </p:tgtEl>
                                      </p:cBhvr>
                                    </p:animEffect>
                                  </p:childTnLst>
                                </p:cTn>
                              </p:par>
                              <p:par>
                                <p:cTn id="41" presetID="10" presetClass="entr" presetSubtype="0" fill="hold" nodeType="withEffect">
                                  <p:stCondLst>
                                    <p:cond delay="0"/>
                                  </p:stCondLst>
                                  <p:childTnLst>
                                    <p:set>
                                      <p:cBhvr>
                                        <p:cTn id="42" dur="1" fill="hold">
                                          <p:stCondLst>
                                            <p:cond delay="0"/>
                                          </p:stCondLst>
                                        </p:cTn>
                                        <p:tgtEl>
                                          <p:spTgt spid="621"/>
                                        </p:tgtEl>
                                        <p:attrNameLst>
                                          <p:attrName>style.visibility</p:attrName>
                                        </p:attrNameLst>
                                      </p:cBhvr>
                                      <p:to>
                                        <p:strVal val="visible"/>
                                      </p:to>
                                    </p:set>
                                    <p:animEffect transition="in" filter="fade">
                                      <p:cBhvr>
                                        <p:cTn id="43" dur="1000"/>
                                        <p:tgtEl>
                                          <p:spTgt spid="621"/>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624"/>
                                        </p:tgtEl>
                                        <p:attrNameLst>
                                          <p:attrName>style.visibility</p:attrName>
                                        </p:attrNameLst>
                                      </p:cBhvr>
                                      <p:to>
                                        <p:strVal val="visible"/>
                                      </p:to>
                                    </p:set>
                                    <p:animEffect transition="in" filter="fade">
                                      <p:cBhvr>
                                        <p:cTn id="47" dur="1000"/>
                                        <p:tgtEl>
                                          <p:spTgt spid="624"/>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625"/>
                                        </p:tgtEl>
                                        <p:attrNameLst>
                                          <p:attrName>style.visibility</p:attrName>
                                        </p:attrNameLst>
                                      </p:cBhvr>
                                      <p:to>
                                        <p:strVal val="visible"/>
                                      </p:to>
                                    </p:set>
                                    <p:animEffect transition="in" filter="fade">
                                      <p:cBhvr>
                                        <p:cTn id="51" dur="1000"/>
                                        <p:tgtEl>
                                          <p:spTgt spid="625"/>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626"/>
                                        </p:tgtEl>
                                        <p:attrNameLst>
                                          <p:attrName>style.visibility</p:attrName>
                                        </p:attrNameLst>
                                      </p:cBhvr>
                                      <p:to>
                                        <p:strVal val="visible"/>
                                      </p:to>
                                    </p:set>
                                    <p:animEffect transition="in" filter="fade">
                                      <p:cBhvr>
                                        <p:cTn id="55" dur="1000"/>
                                        <p:tgtEl>
                                          <p:spTgt spid="626"/>
                                        </p:tgtEl>
                                      </p:cBhvr>
                                    </p:animEffect>
                                  </p:childTnLst>
                                </p:cTn>
                              </p:par>
                            </p:childTnLst>
                          </p:cTn>
                        </p:par>
                        <p:par>
                          <p:cTn id="56" fill="hold">
                            <p:stCondLst>
                              <p:cond delay="4000"/>
                            </p:stCondLst>
                            <p:childTnLst>
                              <p:par>
                                <p:cTn id="57" presetID="10" presetClass="entr" presetSubtype="0" fill="hold" nodeType="afterEffect">
                                  <p:stCondLst>
                                    <p:cond delay="0"/>
                                  </p:stCondLst>
                                  <p:childTnLst>
                                    <p:set>
                                      <p:cBhvr>
                                        <p:cTn id="58" dur="1" fill="hold">
                                          <p:stCondLst>
                                            <p:cond delay="0"/>
                                          </p:stCondLst>
                                        </p:cTn>
                                        <p:tgtEl>
                                          <p:spTgt spid="627"/>
                                        </p:tgtEl>
                                        <p:attrNameLst>
                                          <p:attrName>style.visibility</p:attrName>
                                        </p:attrNameLst>
                                      </p:cBhvr>
                                      <p:to>
                                        <p:strVal val="visible"/>
                                      </p:to>
                                    </p:set>
                                    <p:animEffect transition="in" filter="fade">
                                      <p:cBhvr>
                                        <p:cTn id="59" dur="1000"/>
                                        <p:tgtEl>
                                          <p:spTgt spid="62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623"/>
                                        </p:tgtEl>
                                        <p:attrNameLst>
                                          <p:attrName>style.visibility</p:attrName>
                                        </p:attrNameLst>
                                      </p:cBhvr>
                                      <p:to>
                                        <p:strVal val="visible"/>
                                      </p:to>
                                    </p:set>
                                    <p:animEffect transition="in" filter="fade">
                                      <p:cBhvr>
                                        <p:cTn id="64" dur="1000"/>
                                        <p:tgtEl>
                                          <p:spTgt spid="62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628"/>
                                        </p:tgtEl>
                                        <p:attrNameLst>
                                          <p:attrName>style.visibility</p:attrName>
                                        </p:attrNameLst>
                                      </p:cBhvr>
                                      <p:to>
                                        <p:strVal val="visible"/>
                                      </p:to>
                                    </p:set>
                                    <p:animEffect transition="in" filter="fade">
                                      <p:cBhvr>
                                        <p:cTn id="69" dur="1000"/>
                                        <p:tgtEl>
                                          <p:spTgt spid="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634" name="Google Shape;634;p8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Chaining in Detail</a:t>
            </a:r>
            <a:endParaRPr/>
          </a:p>
        </p:txBody>
      </p:sp>
      <p:graphicFrame>
        <p:nvGraphicFramePr>
          <p:cNvPr id="635" name="Google Shape;635;p87"/>
          <p:cNvGraphicFramePr/>
          <p:nvPr/>
        </p:nvGraphicFramePr>
        <p:xfrm>
          <a:off x="2547812" y="2119658"/>
          <a:ext cx="1531400" cy="39621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0" marR="0"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0" marR="0"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0" marR="0"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bl>
          </a:graphicData>
        </a:graphic>
      </p:graphicFrame>
      <p:cxnSp>
        <p:nvCxnSpPr>
          <p:cNvPr id="636" name="Google Shape;636;p87"/>
          <p:cNvCxnSpPr/>
          <p:nvPr/>
        </p:nvCxnSpPr>
        <p:spPr>
          <a:xfrm>
            <a:off x="2860612" y="1756750"/>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37" name="Google Shape;637;p87"/>
          <p:cNvSpPr txBox="1"/>
          <p:nvPr/>
        </p:nvSpPr>
        <p:spPr>
          <a:xfrm>
            <a:off x="2455637" y="1399425"/>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a:t>
            </a:r>
            <a:r>
              <a:rPr lang="en" sz="1600">
                <a:solidFill>
                  <a:srgbClr val="3C78D8"/>
                </a:solidFill>
                <a:latin typeface="Consolas"/>
                <a:ea typeface="Consolas"/>
                <a:cs typeface="Consolas"/>
                <a:sym typeface="Consolas"/>
              </a:rPr>
              <a:t>":1</a:t>
            </a:r>
            <a:endParaRPr sz="1600">
              <a:solidFill>
                <a:srgbClr val="3C78D8"/>
              </a:solidFill>
              <a:latin typeface="Consolas"/>
              <a:ea typeface="Consolas"/>
              <a:cs typeface="Consolas"/>
              <a:sym typeface="Consolas"/>
            </a:endParaRPr>
          </a:p>
        </p:txBody>
      </p:sp>
      <p:graphicFrame>
        <p:nvGraphicFramePr>
          <p:cNvPr id="638" name="Google Shape;638;p87"/>
          <p:cNvGraphicFramePr/>
          <p:nvPr/>
        </p:nvGraphicFramePr>
        <p:xfrm>
          <a:off x="2534162" y="3803008"/>
          <a:ext cx="1531400" cy="39621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0"/>
                  </a:ext>
                </a:extLst>
              </a:tr>
            </a:tbl>
          </a:graphicData>
        </a:graphic>
      </p:graphicFrame>
      <p:cxnSp>
        <p:nvCxnSpPr>
          <p:cNvPr id="639" name="Google Shape;639;p87"/>
          <p:cNvCxnSpPr/>
          <p:nvPr/>
        </p:nvCxnSpPr>
        <p:spPr>
          <a:xfrm>
            <a:off x="3674937" y="3434300"/>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40" name="Google Shape;640;p87"/>
          <p:cNvSpPr txBox="1"/>
          <p:nvPr/>
        </p:nvSpPr>
        <p:spPr>
          <a:xfrm>
            <a:off x="3269962" y="3076975"/>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b":2</a:t>
            </a:r>
            <a:endParaRPr sz="1600">
              <a:solidFill>
                <a:srgbClr val="3C78D8"/>
              </a:solidFill>
              <a:latin typeface="Consolas"/>
              <a:ea typeface="Consolas"/>
              <a:cs typeface="Consolas"/>
              <a:sym typeface="Consolas"/>
            </a:endParaRPr>
          </a:p>
        </p:txBody>
      </p:sp>
      <p:graphicFrame>
        <p:nvGraphicFramePr>
          <p:cNvPr id="641" name="Google Shape;641;p87"/>
          <p:cNvGraphicFramePr/>
          <p:nvPr/>
        </p:nvGraphicFramePr>
        <p:xfrm>
          <a:off x="4663598" y="2119338"/>
          <a:ext cx="15314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cxnSp>
        <p:nvCxnSpPr>
          <p:cNvPr id="642" name="Google Shape;642;p87"/>
          <p:cNvCxnSpPr/>
          <p:nvPr/>
        </p:nvCxnSpPr>
        <p:spPr>
          <a:xfrm>
            <a:off x="5011647" y="1750630"/>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43" name="Google Shape;643;p87"/>
          <p:cNvSpPr txBox="1"/>
          <p:nvPr/>
        </p:nvSpPr>
        <p:spPr>
          <a:xfrm>
            <a:off x="4606672" y="1393305"/>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c":3</a:t>
            </a:r>
            <a:endParaRPr sz="1600">
              <a:solidFill>
                <a:srgbClr val="3C78D8"/>
              </a:solidFill>
              <a:latin typeface="Consolas"/>
              <a:ea typeface="Consolas"/>
              <a:cs typeface="Consolas"/>
              <a:sym typeface="Consolas"/>
            </a:endParaRPr>
          </a:p>
        </p:txBody>
      </p:sp>
      <p:graphicFrame>
        <p:nvGraphicFramePr>
          <p:cNvPr id="644" name="Google Shape;644;p87"/>
          <p:cNvGraphicFramePr/>
          <p:nvPr/>
        </p:nvGraphicFramePr>
        <p:xfrm>
          <a:off x="4666391" y="3805448"/>
          <a:ext cx="15314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"d":4</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cxnSp>
        <p:nvCxnSpPr>
          <p:cNvPr id="645" name="Google Shape;645;p87"/>
          <p:cNvCxnSpPr/>
          <p:nvPr/>
        </p:nvCxnSpPr>
        <p:spPr>
          <a:xfrm>
            <a:off x="5392367" y="3436740"/>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46" name="Google Shape;646;p87"/>
          <p:cNvSpPr txBox="1"/>
          <p:nvPr/>
        </p:nvSpPr>
        <p:spPr>
          <a:xfrm>
            <a:off x="4987392" y="3079415"/>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d":4</a:t>
            </a:r>
            <a:endParaRPr sz="1600">
              <a:solidFill>
                <a:srgbClr val="3C78D8"/>
              </a:solidFill>
              <a:latin typeface="Consolas"/>
              <a:ea typeface="Consolas"/>
              <a:cs typeface="Consolas"/>
              <a:sym typeface="Consolas"/>
            </a:endParaRPr>
          </a:p>
        </p:txBody>
      </p:sp>
      <p:graphicFrame>
        <p:nvGraphicFramePr>
          <p:cNvPr id="647" name="Google Shape;647;p87"/>
          <p:cNvGraphicFramePr/>
          <p:nvPr/>
        </p:nvGraphicFramePr>
        <p:xfrm>
          <a:off x="6823544" y="2125451"/>
          <a:ext cx="15314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"d":4</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r>
                        <a:rPr lang="en" sz="1200"/>
                        <a:t>"e":5</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cxnSp>
        <p:nvCxnSpPr>
          <p:cNvPr id="648" name="Google Shape;648;p87"/>
          <p:cNvCxnSpPr/>
          <p:nvPr/>
        </p:nvCxnSpPr>
        <p:spPr>
          <a:xfrm>
            <a:off x="7549521" y="1756743"/>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49" name="Google Shape;649;p87"/>
          <p:cNvSpPr txBox="1"/>
          <p:nvPr/>
        </p:nvSpPr>
        <p:spPr>
          <a:xfrm>
            <a:off x="7144546" y="1399418"/>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e":5</a:t>
            </a:r>
            <a:endParaRPr sz="1600">
              <a:solidFill>
                <a:srgbClr val="3C78D8"/>
              </a:solidFill>
              <a:latin typeface="Consolas"/>
              <a:ea typeface="Consolas"/>
              <a:cs typeface="Consolas"/>
              <a:sym typeface="Consolas"/>
            </a:endParaRPr>
          </a:p>
        </p:txBody>
      </p:sp>
      <p:graphicFrame>
        <p:nvGraphicFramePr>
          <p:cNvPr id="650" name="Google Shape;650;p87"/>
          <p:cNvGraphicFramePr/>
          <p:nvPr/>
        </p:nvGraphicFramePr>
        <p:xfrm>
          <a:off x="6817937" y="3805441"/>
          <a:ext cx="1531400" cy="118863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"d":4</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r>
                        <a:rPr lang="en" sz="1200"/>
                        <a:t>"e":5</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"f":6</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51" name="Google Shape;651;p87"/>
          <p:cNvCxnSpPr/>
          <p:nvPr/>
        </p:nvCxnSpPr>
        <p:spPr>
          <a:xfrm>
            <a:off x="7165986" y="3436733"/>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52" name="Google Shape;652;p87"/>
          <p:cNvSpPr txBox="1"/>
          <p:nvPr/>
        </p:nvSpPr>
        <p:spPr>
          <a:xfrm>
            <a:off x="6761011" y="3079408"/>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f":6</a:t>
            </a:r>
            <a:endParaRPr sz="1600">
              <a:solidFill>
                <a:srgbClr val="3C78D8"/>
              </a:solidFill>
              <a:latin typeface="Consolas"/>
              <a:ea typeface="Consolas"/>
              <a:cs typeface="Consolas"/>
              <a:sym typeface="Consolas"/>
            </a:endParaRPr>
          </a:p>
        </p:txBody>
      </p:sp>
      <p:grpSp>
        <p:nvGrpSpPr>
          <p:cNvPr id="653" name="Google Shape;653;p87"/>
          <p:cNvGrpSpPr/>
          <p:nvPr/>
        </p:nvGrpSpPr>
        <p:grpSpPr>
          <a:xfrm>
            <a:off x="2548427" y="2111022"/>
            <a:ext cx="1549132" cy="412132"/>
            <a:chOff x="621889" y="2074922"/>
            <a:chExt cx="1549132" cy="412132"/>
          </a:xfrm>
        </p:grpSpPr>
        <p:sp>
          <p:nvSpPr>
            <p:cNvPr id="654" name="Google Shape;654;p87"/>
            <p:cNvSpPr txBox="1"/>
            <p:nvPr/>
          </p:nvSpPr>
          <p:spPr>
            <a:xfrm rot="5400000">
              <a:off x="1001119" y="2082223"/>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55" name="Google Shape;655;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56" name="Google Shape;656;p87"/>
            <p:cNvSpPr txBox="1"/>
            <p:nvPr/>
          </p:nvSpPr>
          <p:spPr>
            <a:xfrm rot="5400000">
              <a:off x="1388878" y="2082838"/>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57" name="Google Shape;657;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sp>
        <p:nvSpPr>
          <p:cNvPr id="658" name="Google Shape;658;p87"/>
          <p:cNvSpPr txBox="1"/>
          <p:nvPr/>
        </p:nvSpPr>
        <p:spPr>
          <a:xfrm rot="5400000">
            <a:off x="2922954" y="3801701"/>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59" name="Google Shape;659;p87"/>
          <p:cNvSpPr txBox="1"/>
          <p:nvPr/>
        </p:nvSpPr>
        <p:spPr>
          <a:xfrm rot="5400000">
            <a:off x="2540725" y="3797399"/>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0" name="Google Shape;660;p87"/>
          <p:cNvSpPr txBox="1"/>
          <p:nvPr/>
        </p:nvSpPr>
        <p:spPr>
          <a:xfrm rot="5400000">
            <a:off x="3310713" y="3802315"/>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1" name="Google Shape;661;p87"/>
          <p:cNvSpPr txBox="1"/>
          <p:nvPr/>
        </p:nvSpPr>
        <p:spPr>
          <a:xfrm rot="5400000">
            <a:off x="3693557" y="3807231"/>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nvGrpSpPr>
          <p:cNvPr id="662" name="Google Shape;662;p87"/>
          <p:cNvGrpSpPr/>
          <p:nvPr/>
        </p:nvGrpSpPr>
        <p:grpSpPr>
          <a:xfrm>
            <a:off x="4673420" y="2109818"/>
            <a:ext cx="1549132" cy="802312"/>
            <a:chOff x="621889" y="2074922"/>
            <a:chExt cx="1549132" cy="802312"/>
          </a:xfrm>
        </p:grpSpPr>
        <p:sp>
          <p:nvSpPr>
            <p:cNvPr id="663" name="Google Shape;663;p87"/>
            <p:cNvSpPr txBox="1"/>
            <p:nvPr/>
          </p:nvSpPr>
          <p:spPr>
            <a:xfrm rot="5400000">
              <a:off x="803268" y="2280084"/>
              <a:ext cx="7980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4" name="Google Shape;664;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5" name="Google Shape;665;p87"/>
            <p:cNvSpPr txBox="1"/>
            <p:nvPr/>
          </p:nvSpPr>
          <p:spPr>
            <a:xfrm rot="5400000">
              <a:off x="1388878" y="2082838"/>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6" name="Google Shape;666;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grpSp>
        <p:nvGrpSpPr>
          <p:cNvPr id="667" name="Google Shape;667;p87"/>
          <p:cNvGrpSpPr/>
          <p:nvPr/>
        </p:nvGrpSpPr>
        <p:grpSpPr>
          <a:xfrm>
            <a:off x="4679510" y="3798483"/>
            <a:ext cx="1549132" cy="802312"/>
            <a:chOff x="621889" y="2074922"/>
            <a:chExt cx="1549132" cy="802312"/>
          </a:xfrm>
        </p:grpSpPr>
        <p:sp>
          <p:nvSpPr>
            <p:cNvPr id="668" name="Google Shape;668;p87"/>
            <p:cNvSpPr txBox="1"/>
            <p:nvPr/>
          </p:nvSpPr>
          <p:spPr>
            <a:xfrm rot="5400000">
              <a:off x="803268" y="2280084"/>
              <a:ext cx="7980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9" name="Google Shape;669;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0" name="Google Shape;670;p87"/>
            <p:cNvSpPr txBox="1"/>
            <p:nvPr/>
          </p:nvSpPr>
          <p:spPr>
            <a:xfrm rot="5400000">
              <a:off x="1388878" y="2082838"/>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1" name="Google Shape;671;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grpSp>
        <p:nvGrpSpPr>
          <p:cNvPr id="672" name="Google Shape;672;p87"/>
          <p:cNvGrpSpPr/>
          <p:nvPr/>
        </p:nvGrpSpPr>
        <p:grpSpPr>
          <a:xfrm>
            <a:off x="6836668" y="2123352"/>
            <a:ext cx="1549132" cy="802312"/>
            <a:chOff x="621889" y="2074922"/>
            <a:chExt cx="1549132" cy="802312"/>
          </a:xfrm>
        </p:grpSpPr>
        <p:sp>
          <p:nvSpPr>
            <p:cNvPr id="673" name="Google Shape;673;p87"/>
            <p:cNvSpPr txBox="1"/>
            <p:nvPr/>
          </p:nvSpPr>
          <p:spPr>
            <a:xfrm rot="5400000">
              <a:off x="803268" y="2280084"/>
              <a:ext cx="7980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4" name="Google Shape;674;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5" name="Google Shape;675;p87"/>
            <p:cNvSpPr txBox="1"/>
            <p:nvPr/>
          </p:nvSpPr>
          <p:spPr>
            <a:xfrm rot="5400000">
              <a:off x="1191616" y="2280112"/>
              <a:ext cx="7968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6" name="Google Shape;676;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grpSp>
        <p:nvGrpSpPr>
          <p:cNvPr id="677" name="Google Shape;677;p87"/>
          <p:cNvGrpSpPr/>
          <p:nvPr/>
        </p:nvGrpSpPr>
        <p:grpSpPr>
          <a:xfrm>
            <a:off x="6821832" y="3805898"/>
            <a:ext cx="1549132" cy="1193199"/>
            <a:chOff x="621889" y="2074922"/>
            <a:chExt cx="1549132" cy="1193199"/>
          </a:xfrm>
        </p:grpSpPr>
        <p:sp>
          <p:nvSpPr>
            <p:cNvPr id="678" name="Google Shape;678;p87"/>
            <p:cNvSpPr txBox="1"/>
            <p:nvPr/>
          </p:nvSpPr>
          <p:spPr>
            <a:xfrm rot="5400000">
              <a:off x="607820" y="2475521"/>
              <a:ext cx="11889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9" name="Google Shape;679;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80" name="Google Shape;680;p87"/>
            <p:cNvSpPr txBox="1"/>
            <p:nvPr/>
          </p:nvSpPr>
          <p:spPr>
            <a:xfrm rot="5400000">
              <a:off x="1191616" y="2280112"/>
              <a:ext cx="7968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81" name="Google Shape;681;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sp>
        <p:nvSpPr>
          <p:cNvPr id="682" name="Google Shape;682;p87"/>
          <p:cNvSpPr txBox="1">
            <a:spLocks noGrp="1"/>
          </p:cNvSpPr>
          <p:nvPr>
            <p:ph type="body" idx="4294967295"/>
          </p:nvPr>
        </p:nvSpPr>
        <p:spPr>
          <a:xfrm>
            <a:off x="177700" y="1587463"/>
            <a:ext cx="2022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b="1" i="1">
                <a:solidFill>
                  <a:srgbClr val="FF0000"/>
                </a:solidFill>
              </a:rPr>
              <a:t>Each element </a:t>
            </a:r>
            <a:r>
              <a:rPr lang="en" sz="1200">
                <a:solidFill>
                  <a:srgbClr val="000000"/>
                </a:solidFill>
              </a:rPr>
              <a:t>in the array is a </a:t>
            </a:r>
            <a:r>
              <a:rPr lang="en" sz="1200" b="1" i="1">
                <a:solidFill>
                  <a:srgbClr val="FF0000"/>
                </a:solidFill>
              </a:rPr>
              <a:t>list</a:t>
            </a:r>
            <a:endParaRPr sz="1200" b="1" i="1">
              <a:solidFill>
                <a:srgbClr val="FF0000"/>
              </a:solidFill>
            </a:endParaRPr>
          </a:p>
        </p:txBody>
      </p:sp>
      <p:sp>
        <p:nvSpPr>
          <p:cNvPr id="683" name="Google Shape;683;p87"/>
          <p:cNvSpPr txBox="1">
            <a:spLocks noGrp="1"/>
          </p:cNvSpPr>
          <p:nvPr>
            <p:ph type="body" idx="4294967295"/>
          </p:nvPr>
        </p:nvSpPr>
        <p:spPr>
          <a:xfrm>
            <a:off x="175200" y="3242663"/>
            <a:ext cx="2022900" cy="67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chemeClr val="dk1"/>
                </a:solidFill>
              </a:rPr>
              <a:t>When a </a:t>
            </a:r>
            <a:r>
              <a:rPr lang="en" sz="1200" b="1" i="1">
                <a:solidFill>
                  <a:srgbClr val="FF0000"/>
                </a:solidFill>
              </a:rPr>
              <a:t>collision</a:t>
            </a:r>
            <a:r>
              <a:rPr lang="en" sz="1200">
                <a:solidFill>
                  <a:schemeClr val="dk1"/>
                </a:solidFill>
              </a:rPr>
              <a:t> occurs, </a:t>
            </a:r>
            <a:r>
              <a:rPr lang="en" sz="1200" b="1" i="1">
                <a:solidFill>
                  <a:srgbClr val="FF0000"/>
                </a:solidFill>
              </a:rPr>
              <a:t>append </a:t>
            </a:r>
            <a:r>
              <a:rPr lang="en" sz="1200">
                <a:solidFill>
                  <a:schemeClr val="dk1"/>
                </a:solidFill>
              </a:rPr>
              <a:t>the item to the </a:t>
            </a:r>
            <a:r>
              <a:rPr lang="en" sz="1200" b="1" i="1">
                <a:solidFill>
                  <a:srgbClr val="FF0000"/>
                </a:solidFill>
              </a:rPr>
              <a:t>list</a:t>
            </a:r>
            <a:r>
              <a:rPr lang="en" sz="1200">
                <a:solidFill>
                  <a:srgbClr val="000000"/>
                </a:solidFill>
              </a:rPr>
              <a:t> at the </a:t>
            </a:r>
            <a:r>
              <a:rPr lang="en" sz="1200" b="1" i="1">
                <a:solidFill>
                  <a:srgbClr val="FF0000"/>
                </a:solidFill>
              </a:rPr>
              <a:t>hashed index</a:t>
            </a:r>
            <a:r>
              <a:rPr lang="en" sz="1200">
                <a:solidFill>
                  <a:srgbClr val="000000"/>
                </a:solidFill>
              </a:rPr>
              <a:t>.</a:t>
            </a:r>
            <a:endParaRPr sz="1200">
              <a:solidFill>
                <a:srgbClr val="000000"/>
              </a:solidFill>
            </a:endParaRPr>
          </a:p>
        </p:txBody>
      </p:sp>
      <p:sp>
        <p:nvSpPr>
          <p:cNvPr id="684" name="Google Shape;684;p87"/>
          <p:cNvSpPr txBox="1">
            <a:spLocks noGrp="1"/>
          </p:cNvSpPr>
          <p:nvPr>
            <p:ph type="body" idx="4294967295"/>
          </p:nvPr>
        </p:nvSpPr>
        <p:spPr>
          <a:xfrm>
            <a:off x="177700" y="2372613"/>
            <a:ext cx="2022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New items are added to the list at the </a:t>
            </a:r>
            <a:r>
              <a:rPr lang="en" sz="1200" b="1" i="1">
                <a:solidFill>
                  <a:srgbClr val="FF0000"/>
                </a:solidFill>
              </a:rPr>
              <a:t>hashed index </a:t>
            </a:r>
            <a:endParaRPr sz="1200" b="1" i="1">
              <a:solidFill>
                <a:srgbClr val="FF0000"/>
              </a:solidFill>
            </a:endParaRPr>
          </a:p>
        </p:txBody>
      </p:sp>
      <p:sp>
        <p:nvSpPr>
          <p:cNvPr id="685" name="Google Shape;685;p87"/>
          <p:cNvSpPr txBox="1">
            <a:spLocks noGrp="1"/>
          </p:cNvSpPr>
          <p:nvPr>
            <p:ph type="body" idx="4294967295"/>
          </p:nvPr>
        </p:nvSpPr>
        <p:spPr>
          <a:xfrm>
            <a:off x="177700" y="4245613"/>
            <a:ext cx="2022900" cy="67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chemeClr val="dk1"/>
                </a:solidFill>
              </a:rPr>
              <a:t>This eliminates </a:t>
            </a:r>
            <a:r>
              <a:rPr lang="en" sz="1200" b="1" i="1">
                <a:solidFill>
                  <a:srgbClr val="FF0000"/>
                </a:solidFill>
              </a:rPr>
              <a:t>clustering</a:t>
            </a:r>
            <a:r>
              <a:rPr lang="en" sz="1200">
                <a:solidFill>
                  <a:schemeClr val="dk1"/>
                </a:solidFill>
              </a:rPr>
              <a:t> but an overfull map will still be </a:t>
            </a:r>
            <a:r>
              <a:rPr lang="en" sz="1200" b="1" i="1">
                <a:solidFill>
                  <a:srgbClr val="FF0000"/>
                </a:solidFill>
              </a:rPr>
              <a:t>inefficient</a:t>
            </a:r>
            <a:r>
              <a:rPr lang="en" sz="1200">
                <a:solidFill>
                  <a:schemeClr val="dk1"/>
                </a:solidFill>
              </a:rPr>
              <a:t>.</a:t>
            </a:r>
            <a:endParaRPr sz="12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4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4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6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8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4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6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4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4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4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7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5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5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5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7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691" name="Google Shape;691;p8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Chaining</a:t>
            </a:r>
            <a:endParaRPr/>
          </a:p>
        </p:txBody>
      </p:sp>
      <p:sp>
        <p:nvSpPr>
          <p:cNvPr id="692" name="Google Shape;692;p8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Currently we can only get 1 or 2 items in our set before we have a collision and start losing data. We can fix that by changing the implementation to use chaining.</a:t>
            </a:r>
            <a:endParaRPr dirty="0"/>
          </a:p>
        </p:txBody>
      </p:sp>
      <p:sp>
        <p:nvSpPr>
          <p:cNvPr id="693" name="Google Shape;693;p88"/>
          <p:cNvSpPr txBox="1">
            <a:spLocks noGrp="1"/>
          </p:cNvSpPr>
          <p:nvPr>
            <p:ph type="body" idx="4"/>
          </p:nvPr>
        </p:nvSpPr>
        <p:spPr>
          <a:xfrm>
            <a:off x="152400" y="4239850"/>
            <a:ext cx="3023700" cy="369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With chaining, each index is a </a:t>
            </a:r>
            <a:r>
              <a:rPr lang="en" b="1" i="1">
                <a:solidFill>
                  <a:srgbClr val="FF0000"/>
                </a:solidFill>
              </a:rPr>
              <a:t>list</a:t>
            </a:r>
            <a:r>
              <a:rPr lang="en"/>
              <a:t>.</a:t>
            </a:r>
            <a:endParaRPr/>
          </a:p>
        </p:txBody>
      </p:sp>
      <p:sp>
        <p:nvSpPr>
          <p:cNvPr id="694" name="Google Shape;694;p88"/>
          <p:cNvSpPr txBox="1">
            <a:spLocks noGrp="1"/>
          </p:cNvSpPr>
          <p:nvPr>
            <p:ph type="body" idx="2"/>
          </p:nvPr>
        </p:nvSpPr>
        <p:spPr>
          <a:xfrm>
            <a:off x="3321475" y="1647275"/>
            <a:ext cx="5582700" cy="2380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To start with adjust the the class to match the updated UML on the left.</a:t>
            </a:r>
            <a:endParaRPr dirty="0"/>
          </a:p>
          <a:p>
            <a:pPr marL="914400" lvl="1" indent="-304800" algn="l" rtl="0">
              <a:spcBef>
                <a:spcPts val="0"/>
              </a:spcBef>
              <a:spcAft>
                <a:spcPts val="0"/>
              </a:spcAft>
              <a:buSzPts val="1200"/>
              <a:buChar char="○"/>
            </a:pPr>
            <a:r>
              <a:rPr lang="en" sz="1200" dirty="0"/>
              <a:t>The only real change is the type of the array</a:t>
            </a:r>
            <a:endParaRPr sz="1200" dirty="0"/>
          </a:p>
          <a:p>
            <a:pPr marL="457200" lvl="0" indent="-311150" algn="l" rtl="0">
              <a:spcBef>
                <a:spcPts val="1000"/>
              </a:spcBef>
              <a:spcAft>
                <a:spcPts val="0"/>
              </a:spcAft>
              <a:buSzPts val="1300"/>
              <a:buChar char="●"/>
            </a:pPr>
            <a:r>
              <a:rPr lang="en" dirty="0"/>
              <a:t>In the constructor, initialize each element of the Array with a new </a:t>
            </a:r>
            <a:r>
              <a:rPr lang="en" dirty="0">
                <a:solidFill>
                  <a:srgbClr val="FF0000"/>
                </a:solidFill>
                <a:latin typeface="Courier New"/>
                <a:ea typeface="Courier New"/>
                <a:cs typeface="Courier New"/>
                <a:sym typeface="Courier New"/>
              </a:rPr>
              <a:t>LinkedList&lt;Element&gt;</a:t>
            </a:r>
            <a:r>
              <a:rPr lang="en" dirty="0"/>
              <a:t>.</a:t>
            </a:r>
            <a:endParaRPr dirty="0"/>
          </a:p>
          <a:p>
            <a:pPr marL="914400" lvl="1" indent="-304800" algn="l" rtl="0">
              <a:spcBef>
                <a:spcPts val="0"/>
              </a:spcBef>
              <a:spcAft>
                <a:spcPts val="0"/>
              </a:spcAft>
              <a:buSzPts val="1200"/>
              <a:buChar char="○"/>
            </a:pPr>
            <a:r>
              <a:rPr lang="en" sz="1200" dirty="0"/>
              <a:t>Previously it was initialized with </a:t>
            </a:r>
            <a:r>
              <a:rPr lang="en" sz="1200" dirty="0">
                <a:latin typeface="Courier New"/>
                <a:ea typeface="Courier New"/>
                <a:cs typeface="Courier New"/>
                <a:sym typeface="Courier New"/>
              </a:rPr>
              <a:t>null</a:t>
            </a:r>
            <a:r>
              <a:rPr lang="en" sz="1200" dirty="0"/>
              <a:t>.</a:t>
            </a:r>
            <a:endParaRPr sz="1200" dirty="0"/>
          </a:p>
          <a:p>
            <a:pPr marL="457200" lvl="0" indent="-311150" algn="l" rtl="0">
              <a:spcBef>
                <a:spcPts val="1000"/>
              </a:spcBef>
              <a:spcAft>
                <a:spcPts val="0"/>
              </a:spcAft>
              <a:buSzPts val="1300"/>
              <a:buChar char="●"/>
            </a:pPr>
            <a:r>
              <a:rPr lang="en" dirty="0"/>
              <a:t>Create an empty map and verify it has a size of 0.</a:t>
            </a:r>
            <a:endParaRPr dirty="0"/>
          </a:p>
          <a:p>
            <a:pPr marL="914400" lvl="1" indent="-298450" algn="l" rtl="0">
              <a:spcBef>
                <a:spcPts val="0"/>
              </a:spcBef>
              <a:spcAft>
                <a:spcPts val="0"/>
              </a:spcAft>
              <a:buSzPts val="1100"/>
              <a:buChar char="○"/>
            </a:pPr>
            <a:r>
              <a:rPr lang="en" dirty="0"/>
              <a:t>You may need to temporarily comment out some of the existing code due to the array type change.</a:t>
            </a:r>
            <a:endParaRPr dirty="0"/>
          </a:p>
        </p:txBody>
      </p:sp>
      <p:sp>
        <p:nvSpPr>
          <p:cNvPr id="695" name="Google Shape;695;p8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7.11</a:t>
            </a:r>
            <a:endParaRPr/>
          </a:p>
        </p:txBody>
      </p:sp>
      <p:pic>
        <p:nvPicPr>
          <p:cNvPr id="696" name="Google Shape;696;p88"/>
          <p:cNvPicPr preferRelativeResize="0"/>
          <p:nvPr/>
        </p:nvPicPr>
        <p:blipFill>
          <a:blip r:embed="rId3">
            <a:alphaModFix/>
          </a:blip>
          <a:stretch>
            <a:fillRect/>
          </a:stretch>
        </p:blipFill>
        <p:spPr>
          <a:xfrm>
            <a:off x="152400" y="1598325"/>
            <a:ext cx="3023701" cy="251066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8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we've adjusted elements to use chaining we need to adjust each of the implemented methods to properly use it. This involves hashing to a location in the array and then working with the inner list.</a:t>
            </a:r>
            <a:endParaRPr/>
          </a:p>
        </p:txBody>
      </p:sp>
      <p:sp>
        <p:nvSpPr>
          <p:cNvPr id="702" name="Google Shape;702;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703" name="Google Shape;703;p89"/>
          <p:cNvSpPr txBox="1">
            <a:spLocks noGrp="1"/>
          </p:cNvSpPr>
          <p:nvPr>
            <p:ph type="body" idx="2"/>
          </p:nvPr>
        </p:nvSpPr>
        <p:spPr>
          <a:xfrm>
            <a:off x="3165300" y="1610025"/>
            <a:ext cx="5775900" cy="3453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add(key, value)</a:t>
            </a:r>
            <a:r>
              <a:rPr lang="en" dirty="0"/>
              <a:t>: Calculate the index and scan the list at index (use a foreach loop):</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key</a:t>
            </a:r>
            <a:r>
              <a:rPr lang="en" dirty="0"/>
              <a:t> is found, update the </a:t>
            </a:r>
            <a:r>
              <a:rPr lang="en" dirty="0">
                <a:latin typeface="Courier New"/>
                <a:ea typeface="Courier New"/>
                <a:cs typeface="Courier New"/>
                <a:sym typeface="Courier New"/>
              </a:rPr>
              <a:t>value</a:t>
            </a:r>
            <a:r>
              <a:rPr lang="en" dirty="0"/>
              <a:t> and return </a:t>
            </a:r>
            <a:r>
              <a:rPr lang="en" dirty="0">
                <a:latin typeface="Courier New"/>
                <a:ea typeface="Courier New"/>
                <a:cs typeface="Courier New"/>
                <a:sym typeface="Courier New"/>
              </a:rPr>
              <a:t>true</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Otherwise, append the new element to the list, increase </a:t>
            </a:r>
            <a:r>
              <a:rPr lang="en" dirty="0">
                <a:latin typeface="Courier New"/>
                <a:ea typeface="Courier New"/>
                <a:cs typeface="Courier New"/>
                <a:sym typeface="Courier New"/>
              </a:rPr>
              <a:t>size</a:t>
            </a:r>
            <a:r>
              <a:rPr lang="en" dirty="0"/>
              <a:t>, return </a:t>
            </a:r>
            <a:r>
              <a:rPr lang="en" dirty="0">
                <a:latin typeface="Courier New"/>
                <a:ea typeface="Courier New"/>
                <a:cs typeface="Courier New"/>
                <a:sym typeface="Courier New"/>
              </a:rPr>
              <a:t>true</a:t>
            </a:r>
            <a:r>
              <a:rPr lang="en" dirty="0"/>
              <a:t>.</a:t>
            </a:r>
            <a:endParaRPr dirty="0"/>
          </a:p>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contains(key)</a:t>
            </a:r>
            <a:r>
              <a:rPr lang="en" dirty="0"/>
              <a:t>: Calculate the index, if the requested </a:t>
            </a:r>
            <a:r>
              <a:rPr lang="en" dirty="0">
                <a:latin typeface="Courier New"/>
                <a:ea typeface="Courier New"/>
                <a:cs typeface="Courier New"/>
                <a:sym typeface="Courier New"/>
              </a:rPr>
              <a:t>key</a:t>
            </a:r>
            <a:r>
              <a:rPr lang="en" dirty="0"/>
              <a:t> is in the inner list return </a:t>
            </a:r>
            <a:r>
              <a:rPr lang="en" dirty="0">
                <a:latin typeface="Courier New"/>
                <a:ea typeface="Courier New"/>
                <a:cs typeface="Courier New"/>
                <a:sym typeface="Courier New"/>
              </a:rPr>
              <a:t>true</a:t>
            </a:r>
            <a:r>
              <a:rPr lang="en" dirty="0"/>
              <a:t>, otherwise return </a:t>
            </a:r>
            <a:r>
              <a:rPr lang="en" dirty="0">
                <a:latin typeface="Courier New"/>
                <a:ea typeface="Courier New"/>
                <a:cs typeface="Courier New"/>
                <a:sym typeface="Courier New"/>
              </a:rPr>
              <a:t>false</a:t>
            </a:r>
            <a:endParaRPr dirty="0">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get(key)</a:t>
            </a:r>
            <a:r>
              <a:rPr lang="en" dirty="0"/>
              <a:t>: Calculate the index and scan the list:</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key</a:t>
            </a:r>
            <a:r>
              <a:rPr lang="en" dirty="0"/>
              <a:t> is found, return the associated </a:t>
            </a:r>
            <a:r>
              <a:rPr lang="en" dirty="0">
                <a:latin typeface="Courier New"/>
                <a:ea typeface="Courier New"/>
                <a:cs typeface="Courier New"/>
                <a:sym typeface="Courier New"/>
              </a:rPr>
              <a:t>value</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Otherwise return </a:t>
            </a:r>
            <a:r>
              <a:rPr lang="en" dirty="0">
                <a:latin typeface="Courier New"/>
                <a:ea typeface="Courier New"/>
                <a:cs typeface="Courier New"/>
                <a:sym typeface="Courier New"/>
              </a:rPr>
              <a:t>null</a:t>
            </a:r>
            <a:endParaRPr dirty="0">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remove(key)</a:t>
            </a:r>
            <a:r>
              <a:rPr lang="en" dirty="0"/>
              <a:t>: Calculate the index and scan the list:</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key</a:t>
            </a:r>
            <a:r>
              <a:rPr lang="en" dirty="0"/>
              <a:t> is found, remove the containing element, decrease </a:t>
            </a:r>
            <a:r>
              <a:rPr lang="en" dirty="0">
                <a:latin typeface="Courier New"/>
                <a:ea typeface="Courier New"/>
                <a:cs typeface="Courier New"/>
                <a:sym typeface="Courier New"/>
              </a:rPr>
              <a:t>size</a:t>
            </a:r>
            <a:r>
              <a:rPr lang="en" dirty="0"/>
              <a:t>, and return the associated </a:t>
            </a:r>
            <a:r>
              <a:rPr lang="en" dirty="0">
                <a:latin typeface="Courier New"/>
                <a:ea typeface="Courier New"/>
                <a:cs typeface="Courier New"/>
                <a:sym typeface="Courier New"/>
              </a:rPr>
              <a:t>value</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Otherwise return </a:t>
            </a:r>
            <a:r>
              <a:rPr lang="en" dirty="0">
                <a:latin typeface="Courier New"/>
                <a:ea typeface="Courier New"/>
                <a:cs typeface="Courier New"/>
                <a:sym typeface="Courier New"/>
              </a:rPr>
              <a:t>null</a:t>
            </a:r>
            <a:endParaRPr dirty="0">
              <a:latin typeface="Courier New"/>
              <a:ea typeface="Courier New"/>
              <a:cs typeface="Courier New"/>
              <a:sym typeface="Courier New"/>
            </a:endParaRPr>
          </a:p>
          <a:p>
            <a:pPr marL="457200" lvl="0" indent="-304800" algn="l" rtl="0">
              <a:spcBef>
                <a:spcPts val="1000"/>
              </a:spcBef>
              <a:spcAft>
                <a:spcPts val="0"/>
              </a:spcAft>
              <a:buSzPts val="1200"/>
              <a:buChar char="●"/>
            </a:pPr>
            <a:r>
              <a:rPr lang="en" sz="1200" i="1" dirty="0"/>
              <a:t>You may be tempted to use contains for get and remove but it doesn't really save you any typing and is less efficient than searching directly.</a:t>
            </a:r>
            <a:endParaRPr sz="1200" i="1" dirty="0"/>
          </a:p>
        </p:txBody>
      </p:sp>
      <p:sp>
        <p:nvSpPr>
          <p:cNvPr id="704" name="Google Shape;704;p8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Next Link in the Chain</a:t>
            </a:r>
            <a:endParaRPr/>
          </a:p>
        </p:txBody>
      </p:sp>
      <p:sp>
        <p:nvSpPr>
          <p:cNvPr id="705" name="Google Shape;705;p8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7.12</a:t>
            </a:r>
            <a:endParaRPr/>
          </a:p>
        </p:txBody>
      </p:sp>
      <p:sp>
        <p:nvSpPr>
          <p:cNvPr id="706" name="Google Shape;706;p89"/>
          <p:cNvSpPr txBox="1">
            <a:spLocks noGrp="1"/>
          </p:cNvSpPr>
          <p:nvPr>
            <p:ph type="body" idx="4"/>
          </p:nvPr>
        </p:nvSpPr>
        <p:spPr>
          <a:xfrm>
            <a:off x="141600" y="3778973"/>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When using </a:t>
            </a:r>
            <a:r>
              <a:rPr lang="en" b="1" i="1">
                <a:solidFill>
                  <a:srgbClr val="FF0000"/>
                </a:solidFill>
              </a:rPr>
              <a:t>chaining</a:t>
            </a:r>
            <a:r>
              <a:rPr lang="en"/>
              <a:t>, collisions are added to the </a:t>
            </a:r>
            <a:r>
              <a:rPr lang="en" b="1" i="1">
                <a:solidFill>
                  <a:srgbClr val="FF0000"/>
                </a:solidFill>
              </a:rPr>
              <a:t>end </a:t>
            </a:r>
            <a:r>
              <a:rPr lang="en"/>
              <a:t>of the array at index.</a:t>
            </a:r>
            <a:endParaRPr/>
          </a:p>
        </p:txBody>
      </p:sp>
      <p:graphicFrame>
        <p:nvGraphicFramePr>
          <p:cNvPr id="707" name="Google Shape;707;p89"/>
          <p:cNvGraphicFramePr/>
          <p:nvPr/>
        </p:nvGraphicFramePr>
        <p:xfrm>
          <a:off x="905400" y="2432001"/>
          <a:ext cx="1531400" cy="118863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"d":4</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r>
                        <a:rPr lang="en" sz="1200"/>
                        <a:t>"e":5</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"f":6</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08" name="Google Shape;708;p89"/>
          <p:cNvCxnSpPr/>
          <p:nvPr/>
        </p:nvCxnSpPr>
        <p:spPr>
          <a:xfrm>
            <a:off x="1253449" y="2063293"/>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709" name="Google Shape;709;p89"/>
          <p:cNvSpPr txBox="1"/>
          <p:nvPr/>
        </p:nvSpPr>
        <p:spPr>
          <a:xfrm>
            <a:off x="848474" y="1705968"/>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f":6</a:t>
            </a:r>
            <a:endParaRPr sz="1600">
              <a:solidFill>
                <a:srgbClr val="3C78D8"/>
              </a:solidFill>
              <a:latin typeface="Consolas"/>
              <a:ea typeface="Consolas"/>
              <a:cs typeface="Consolas"/>
              <a:sym typeface="Consolas"/>
            </a:endParaRPr>
          </a:p>
        </p:txBody>
      </p:sp>
      <p:grpSp>
        <p:nvGrpSpPr>
          <p:cNvPr id="710" name="Google Shape;710;p89"/>
          <p:cNvGrpSpPr/>
          <p:nvPr/>
        </p:nvGrpSpPr>
        <p:grpSpPr>
          <a:xfrm>
            <a:off x="909294" y="2432457"/>
            <a:ext cx="1549132" cy="1193199"/>
            <a:chOff x="621889" y="2074922"/>
            <a:chExt cx="1549132" cy="1193199"/>
          </a:xfrm>
        </p:grpSpPr>
        <p:sp>
          <p:nvSpPr>
            <p:cNvPr id="711" name="Google Shape;711;p89"/>
            <p:cNvSpPr txBox="1"/>
            <p:nvPr/>
          </p:nvSpPr>
          <p:spPr>
            <a:xfrm rot="5400000">
              <a:off x="607820" y="2475521"/>
              <a:ext cx="11889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712" name="Google Shape;712;p89"/>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713" name="Google Shape;713;p89"/>
            <p:cNvSpPr txBox="1"/>
            <p:nvPr/>
          </p:nvSpPr>
          <p:spPr>
            <a:xfrm rot="5400000">
              <a:off x="1191616" y="2280112"/>
              <a:ext cx="7968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714" name="Google Shape;714;p89"/>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sp>
        <p:nvSpPr>
          <p:cNvPr id="715" name="Google Shape;715;p89"/>
          <p:cNvSpPr txBox="1">
            <a:spLocks noGrp="1"/>
          </p:cNvSpPr>
          <p:nvPr>
            <p:ph type="body" idx="4"/>
          </p:nvPr>
        </p:nvSpPr>
        <p:spPr>
          <a:xfrm>
            <a:off x="141600" y="4458019"/>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For most operations, you'll need to </a:t>
            </a:r>
            <a:r>
              <a:rPr lang="en" b="1" i="1">
                <a:solidFill>
                  <a:srgbClr val="FF0000"/>
                </a:solidFill>
              </a:rPr>
              <a:t>walk</a:t>
            </a:r>
            <a:r>
              <a:rPr lang="en"/>
              <a:t> </a:t>
            </a:r>
            <a:r>
              <a:rPr lang="en" b="1" i="1">
                <a:solidFill>
                  <a:srgbClr val="FF0000"/>
                </a:solidFill>
              </a:rPr>
              <a:t>the list</a:t>
            </a:r>
            <a:r>
              <a:rPr lang="en"/>
              <a:t> to find the element to change.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9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Hopefully at this point you have a fully functional HashMap. While it works, it's currently impossibly to see what all the keys and values are using only the map. Let's fix that by adding a toString.</a:t>
            </a:r>
            <a:endParaRPr dirty="0"/>
          </a:p>
        </p:txBody>
      </p:sp>
      <p:sp>
        <p:nvSpPr>
          <p:cNvPr id="721" name="Google Shape;721;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722" name="Google Shape;722;p90"/>
          <p:cNvSpPr txBox="1">
            <a:spLocks noGrp="1"/>
          </p:cNvSpPr>
          <p:nvPr>
            <p:ph type="body" idx="2"/>
          </p:nvPr>
        </p:nvSpPr>
        <p:spPr>
          <a:xfrm>
            <a:off x="3303025" y="1563206"/>
            <a:ext cx="5637900" cy="3424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Write a </a:t>
            </a:r>
            <a:r>
              <a:rPr lang="en" dirty="0">
                <a:latin typeface="Courier New"/>
                <a:ea typeface="Courier New"/>
                <a:cs typeface="Courier New"/>
                <a:sym typeface="Courier New"/>
              </a:rPr>
              <a:t>toString</a:t>
            </a:r>
            <a:r>
              <a:rPr lang="en" dirty="0"/>
              <a:t> for the class that returns the entries as a comma separated list surrounded by curly braces (</a:t>
            </a:r>
            <a:r>
              <a:rPr lang="en" dirty="0">
                <a:latin typeface="Courier New"/>
                <a:ea typeface="Courier New"/>
                <a:cs typeface="Courier New"/>
                <a:sym typeface="Courier New"/>
              </a:rPr>
              <a:t>{}</a:t>
            </a:r>
            <a:r>
              <a:rPr lang="en" dirty="0"/>
              <a:t>).</a:t>
            </a:r>
            <a:endParaRPr dirty="0"/>
          </a:p>
          <a:p>
            <a:pPr marL="914400" lvl="1" indent="-298450" algn="l" rtl="0">
              <a:spcBef>
                <a:spcPts val="0"/>
              </a:spcBef>
              <a:spcAft>
                <a:spcPts val="0"/>
              </a:spcAft>
              <a:buSzPts val="1100"/>
              <a:buChar char="○"/>
            </a:pPr>
            <a:r>
              <a:rPr lang="en" dirty="0"/>
              <a:t>Example: </a:t>
            </a:r>
            <a:r>
              <a:rPr lang="en" dirty="0">
                <a:latin typeface="Courier New"/>
                <a:ea typeface="Courier New"/>
                <a:cs typeface="Courier New"/>
                <a:sym typeface="Courier New"/>
              </a:rPr>
              <a:t>{"a":1, "c":3, "b":2}</a:t>
            </a:r>
            <a:endParaRPr dirty="0"/>
          </a:p>
          <a:p>
            <a:pPr marL="457200" lvl="0" indent="-311150" algn="l" rtl="0">
              <a:spcBef>
                <a:spcPts val="1000"/>
              </a:spcBef>
              <a:spcAft>
                <a:spcPts val="0"/>
              </a:spcAft>
              <a:buSzPts val="1300"/>
              <a:buChar char="●"/>
            </a:pPr>
            <a:r>
              <a:rPr lang="en" dirty="0"/>
              <a:t>First, Create a </a:t>
            </a:r>
            <a:r>
              <a:rPr lang="en" dirty="0">
                <a:latin typeface="Courier New"/>
                <a:ea typeface="Courier New"/>
                <a:cs typeface="Courier New"/>
                <a:sym typeface="Courier New"/>
              </a:rPr>
              <a:t>String</a:t>
            </a:r>
            <a:r>
              <a:rPr lang="en" dirty="0"/>
              <a:t> array of length size to hold all the key-value pairs.</a:t>
            </a:r>
            <a:endParaRPr dirty="0"/>
          </a:p>
          <a:p>
            <a:pPr marL="457200" lvl="0" indent="-311150" algn="l" rtl="0">
              <a:spcBef>
                <a:spcPts val="0"/>
              </a:spcBef>
              <a:spcAft>
                <a:spcPts val="0"/>
              </a:spcAft>
              <a:buSzPts val="1300"/>
              <a:buChar char="●"/>
            </a:pPr>
            <a:r>
              <a:rPr lang="en" dirty="0"/>
              <a:t>Visit every index in the the elements outer list and then every element in the inner list.</a:t>
            </a:r>
            <a:endParaRPr dirty="0"/>
          </a:p>
          <a:p>
            <a:pPr marL="457200" lvl="0" indent="-311150" algn="l" rtl="0">
              <a:spcBef>
                <a:spcPts val="1000"/>
              </a:spcBef>
              <a:spcAft>
                <a:spcPts val="0"/>
              </a:spcAft>
              <a:buSzPts val="1300"/>
              <a:buChar char="●"/>
            </a:pPr>
            <a:r>
              <a:rPr lang="en" dirty="0"/>
              <a:t>For each element in the inner list, add the key value pair to the string array.</a:t>
            </a:r>
            <a:endParaRPr dirty="0"/>
          </a:p>
          <a:p>
            <a:pPr marL="914400" lvl="1" indent="-298450" algn="l" rtl="0">
              <a:spcBef>
                <a:spcPts val="0"/>
              </a:spcBef>
              <a:spcAft>
                <a:spcPts val="0"/>
              </a:spcAft>
              <a:buSzPts val="1100"/>
              <a:buChar char="○"/>
            </a:pPr>
            <a:r>
              <a:rPr lang="en" dirty="0"/>
              <a:t>Now might be a good time to write a </a:t>
            </a:r>
            <a:r>
              <a:rPr lang="en" dirty="0">
                <a:latin typeface="Courier New"/>
                <a:ea typeface="Courier New"/>
                <a:cs typeface="Courier New"/>
                <a:sym typeface="Courier New"/>
              </a:rPr>
              <a:t>toString</a:t>
            </a:r>
            <a:r>
              <a:rPr lang="en" dirty="0"/>
              <a:t> method for the </a:t>
            </a:r>
            <a:r>
              <a:rPr lang="en" dirty="0">
                <a:latin typeface="Courier New"/>
                <a:ea typeface="Courier New"/>
                <a:cs typeface="Courier New"/>
                <a:sym typeface="Courier New"/>
              </a:rPr>
              <a:t>Element</a:t>
            </a:r>
            <a:r>
              <a:rPr lang="en" dirty="0"/>
              <a:t> inner class.</a:t>
            </a:r>
            <a:endParaRPr dirty="0"/>
          </a:p>
          <a:p>
            <a:pPr marL="457200" lvl="0" indent="-311150" algn="l" rtl="0">
              <a:spcBef>
                <a:spcPts val="1000"/>
              </a:spcBef>
              <a:spcAft>
                <a:spcPts val="0"/>
              </a:spcAft>
              <a:buSzPts val="1300"/>
              <a:buChar char="●"/>
            </a:pPr>
            <a:r>
              <a:rPr lang="en" dirty="0"/>
              <a:t>Lastly, </a:t>
            </a:r>
            <a:r>
              <a:rPr lang="en" dirty="0">
                <a:solidFill>
                  <a:srgbClr val="FF0000"/>
                </a:solidFill>
                <a:latin typeface="Courier New"/>
                <a:ea typeface="Courier New"/>
                <a:cs typeface="Courier New"/>
                <a:sym typeface="Courier New"/>
              </a:rPr>
              <a:t>join</a:t>
            </a:r>
            <a:r>
              <a:rPr lang="en" dirty="0"/>
              <a:t> the array together with "</a:t>
            </a:r>
            <a:r>
              <a:rPr lang="en" dirty="0">
                <a:solidFill>
                  <a:srgbClr val="FF0000"/>
                </a:solidFill>
                <a:latin typeface="Courier New"/>
                <a:ea typeface="Courier New"/>
                <a:cs typeface="Courier New"/>
                <a:sym typeface="Courier New"/>
              </a:rPr>
              <a:t>, </a:t>
            </a:r>
            <a:r>
              <a:rPr lang="en" dirty="0"/>
              <a:t>" as the separator to create the string and add the beginning and ending curly braces.</a:t>
            </a:r>
            <a:endParaRPr dirty="0"/>
          </a:p>
        </p:txBody>
      </p:sp>
      <p:sp>
        <p:nvSpPr>
          <p:cNvPr id="723" name="Google Shape;723;p9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toString</a:t>
            </a:r>
            <a:endParaRPr/>
          </a:p>
        </p:txBody>
      </p:sp>
      <p:sp>
        <p:nvSpPr>
          <p:cNvPr id="724" name="Google Shape;724;p9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7.13</a:t>
            </a:r>
            <a:endParaRPr/>
          </a:p>
        </p:txBody>
      </p:sp>
      <p:sp>
        <p:nvSpPr>
          <p:cNvPr id="725" name="Google Shape;725;p90"/>
          <p:cNvSpPr txBox="1">
            <a:spLocks noGrp="1"/>
          </p:cNvSpPr>
          <p:nvPr>
            <p:ph type="body" idx="4"/>
          </p:nvPr>
        </p:nvSpPr>
        <p:spPr>
          <a:xfrm>
            <a:off x="205875" y="3705226"/>
            <a:ext cx="29595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String.join</a:t>
            </a:r>
            <a:r>
              <a:rPr lang="en"/>
              <a:t> is a convenient way to add a collection of items together as a string with a set delimiter.</a:t>
            </a:r>
            <a:endParaRPr/>
          </a:p>
        </p:txBody>
      </p:sp>
      <p:sp>
        <p:nvSpPr>
          <p:cNvPr id="726" name="Google Shape;726;p90"/>
          <p:cNvSpPr txBox="1"/>
          <p:nvPr/>
        </p:nvSpPr>
        <p:spPr>
          <a:xfrm>
            <a:off x="205875" y="1775950"/>
            <a:ext cx="2959500" cy="1401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00">
                <a:solidFill>
                  <a:srgbClr val="0000FF"/>
                </a:solidFill>
                <a:highlight>
                  <a:srgbClr val="FFFFFF"/>
                </a:highlight>
                <a:latin typeface="Consolas"/>
                <a:ea typeface="Consolas"/>
                <a:cs typeface="Consolas"/>
                <a:sym typeface="Consolas"/>
              </a:rPr>
              <a:t>String</a:t>
            </a:r>
            <a:r>
              <a:rPr lang="en" sz="1200">
                <a:highlight>
                  <a:srgbClr val="FFFFFF"/>
                </a:highlight>
                <a:latin typeface="Consolas"/>
                <a:ea typeface="Consolas"/>
                <a:cs typeface="Consolas"/>
                <a:sym typeface="Consolas"/>
              </a:rPr>
              <a:t>[] words = </a:t>
            </a:r>
            <a:endParaRPr sz="12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"Java"</a:t>
            </a:r>
            <a:r>
              <a:rPr lang="en" sz="1200">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"is"</a:t>
            </a:r>
            <a:r>
              <a:rPr lang="en" sz="1200">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"fun"</a:t>
            </a: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FF"/>
                </a:solidFill>
                <a:highlight>
                  <a:srgbClr val="FFFFFF"/>
                </a:highlight>
                <a:latin typeface="Consolas"/>
                <a:ea typeface="Consolas"/>
                <a:cs typeface="Consolas"/>
                <a:sym typeface="Consolas"/>
              </a:rPr>
              <a:t>String</a:t>
            </a:r>
            <a:r>
              <a:rPr lang="en" sz="1200">
                <a:highlight>
                  <a:srgbClr val="FFFFFF"/>
                </a:highlight>
                <a:latin typeface="Consolas"/>
                <a:ea typeface="Consolas"/>
                <a:cs typeface="Consolas"/>
                <a:sym typeface="Consolas"/>
              </a:rPr>
              <a:t> result = </a:t>
            </a:r>
            <a:endParaRPr sz="12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highlight>
                  <a:srgbClr val="FFFFFF"/>
                </a:highlight>
                <a:latin typeface="Consolas"/>
                <a:ea typeface="Consolas"/>
                <a:cs typeface="Consolas"/>
                <a:sym typeface="Consolas"/>
              </a:rPr>
              <a:t>   String.join(</a:t>
            </a:r>
            <a:r>
              <a:rPr lang="en" sz="1200">
                <a:solidFill>
                  <a:srgbClr val="A31515"/>
                </a:solidFill>
                <a:highlight>
                  <a:srgbClr val="FFFFFF"/>
                </a:highlight>
                <a:latin typeface="Consolas"/>
                <a:ea typeface="Consolas"/>
                <a:cs typeface="Consolas"/>
                <a:sym typeface="Consolas"/>
              </a:rPr>
              <a:t>" "</a:t>
            </a:r>
            <a:r>
              <a:rPr lang="en" sz="1200">
                <a:highlight>
                  <a:srgbClr val="FFFFFF"/>
                </a:highlight>
                <a:latin typeface="Consolas"/>
                <a:ea typeface="Consolas"/>
                <a:cs typeface="Consolas"/>
                <a:sym typeface="Consolas"/>
              </a:rPr>
              <a:t>, words);</a:t>
            </a:r>
            <a:endParaRPr sz="12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highlight>
                  <a:srgbClr val="FFFFFF"/>
                </a:highlight>
                <a:latin typeface="Consolas"/>
                <a:ea typeface="Consolas"/>
                <a:cs typeface="Consolas"/>
                <a:sym typeface="Consolas"/>
              </a:rPr>
              <a:t>System.out.println(result);</a:t>
            </a:r>
            <a:endParaRPr sz="1300">
              <a:solidFill>
                <a:schemeClr val="dk2"/>
              </a:solidFill>
              <a:latin typeface="Roboto"/>
              <a:ea typeface="Roboto"/>
              <a:cs typeface="Roboto"/>
              <a:sym typeface="Roboto"/>
            </a:endParaRPr>
          </a:p>
        </p:txBody>
      </p:sp>
      <p:sp>
        <p:nvSpPr>
          <p:cNvPr id="727" name="Google Shape;727;p90"/>
          <p:cNvSpPr txBox="1"/>
          <p:nvPr/>
        </p:nvSpPr>
        <p:spPr>
          <a:xfrm>
            <a:off x="205875" y="3251428"/>
            <a:ext cx="2959500" cy="369300"/>
          </a:xfrm>
          <a:prstGeom prst="rect">
            <a:avLst/>
          </a:prstGeom>
          <a:solidFill>
            <a:srgbClr val="666666"/>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00" b="1">
                <a:solidFill>
                  <a:srgbClr val="00FF00"/>
                </a:solidFill>
                <a:highlight>
                  <a:srgbClr val="666666"/>
                </a:highlight>
                <a:latin typeface="Courier New"/>
                <a:ea typeface="Courier New"/>
                <a:cs typeface="Courier New"/>
                <a:sym typeface="Courier New"/>
              </a:rPr>
              <a:t>Java is fun</a:t>
            </a:r>
            <a:endParaRPr sz="1300" b="1">
              <a:solidFill>
                <a:srgbClr val="00FF00"/>
              </a:solidFill>
              <a:highlight>
                <a:srgbClr val="666666"/>
              </a:highlight>
              <a:latin typeface="Courier New"/>
              <a:ea typeface="Courier New"/>
              <a:cs typeface="Courier New"/>
              <a:sym typeface="Courier New"/>
            </a:endParaRPr>
          </a:p>
        </p:txBody>
      </p:sp>
      <p:sp>
        <p:nvSpPr>
          <p:cNvPr id="728" name="Google Shape;728;p90"/>
          <p:cNvSpPr txBox="1">
            <a:spLocks noGrp="1"/>
          </p:cNvSpPr>
          <p:nvPr>
            <p:ph type="body" idx="4"/>
          </p:nvPr>
        </p:nvSpPr>
        <p:spPr>
          <a:xfrm>
            <a:off x="205875" y="4519409"/>
            <a:ext cx="29595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It is more efficient than multiple +'s and handles the ending delimiter well.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9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While being able to see all the data is helpful, it doesn't let us programmatically use the data in the HashMap. For that, we need an iterator so we can view the keys in a foreach loop.</a:t>
            </a:r>
            <a:endParaRPr dirty="0"/>
          </a:p>
        </p:txBody>
      </p:sp>
      <p:sp>
        <p:nvSpPr>
          <p:cNvPr id="734" name="Google Shape;734;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735" name="Google Shape;735;p91"/>
          <p:cNvSpPr txBox="1">
            <a:spLocks noGrp="1"/>
          </p:cNvSpPr>
          <p:nvPr>
            <p:ph type="body" idx="2"/>
          </p:nvPr>
        </p:nvSpPr>
        <p:spPr>
          <a:xfrm>
            <a:off x="3303025" y="1729125"/>
            <a:ext cx="5637900" cy="3128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First, have the </a:t>
            </a:r>
            <a:r>
              <a:rPr lang="en" dirty="0">
                <a:solidFill>
                  <a:srgbClr val="FF0000"/>
                </a:solidFill>
                <a:latin typeface="Courier New"/>
                <a:ea typeface="Courier New"/>
                <a:cs typeface="Courier New"/>
                <a:sym typeface="Courier New"/>
              </a:rPr>
              <a:t>Map</a:t>
            </a:r>
            <a:r>
              <a:rPr lang="en" dirty="0"/>
              <a:t> interface extend </a:t>
            </a:r>
            <a:r>
              <a:rPr lang="en" dirty="0">
                <a:solidFill>
                  <a:srgbClr val="FF0000"/>
                </a:solidFill>
                <a:latin typeface="Courier New"/>
                <a:ea typeface="Courier New"/>
                <a:cs typeface="Courier New"/>
                <a:sym typeface="Courier New"/>
              </a:rPr>
              <a:t>Iterable</a:t>
            </a:r>
            <a:r>
              <a:rPr lang="en" dirty="0"/>
              <a:t>.</a:t>
            </a:r>
            <a:endParaRPr dirty="0"/>
          </a:p>
          <a:p>
            <a:pPr marL="914400" lvl="1" indent="-298450" algn="l" rtl="0">
              <a:spcBef>
                <a:spcPts val="0"/>
              </a:spcBef>
              <a:spcAft>
                <a:spcPts val="0"/>
              </a:spcAft>
              <a:buSzPts val="1100"/>
              <a:buChar char="○"/>
            </a:pPr>
            <a:r>
              <a:rPr lang="en" dirty="0"/>
              <a:t>Only for the keys, similar to python</a:t>
            </a:r>
            <a:endParaRPr dirty="0"/>
          </a:p>
          <a:p>
            <a:pPr marL="457200" lvl="0" indent="-311150" algn="l" rtl="0">
              <a:spcBef>
                <a:spcPts val="0"/>
              </a:spcBef>
              <a:spcAft>
                <a:spcPts val="0"/>
              </a:spcAft>
              <a:buSzPts val="1300"/>
              <a:buChar char="●"/>
            </a:pPr>
            <a:r>
              <a:rPr lang="en" dirty="0"/>
              <a:t>In </a:t>
            </a:r>
            <a:r>
              <a:rPr lang="en" dirty="0">
                <a:solidFill>
                  <a:srgbClr val="FF0000"/>
                </a:solidFill>
                <a:latin typeface="Courier New"/>
                <a:ea typeface="Courier New"/>
                <a:cs typeface="Courier New"/>
                <a:sym typeface="Courier New"/>
              </a:rPr>
              <a:t>HashMap</a:t>
            </a:r>
            <a:r>
              <a:rPr lang="en" dirty="0"/>
              <a:t>, implement the iterator, method by returning an </a:t>
            </a:r>
            <a:r>
              <a:rPr lang="en" b="1" i="1" dirty="0">
                <a:solidFill>
                  <a:srgbClr val="FF0000"/>
                </a:solidFill>
              </a:rPr>
              <a:t>anonymous class</a:t>
            </a:r>
            <a:r>
              <a:rPr lang="en" dirty="0"/>
              <a:t> that implements </a:t>
            </a:r>
            <a:r>
              <a:rPr lang="en" dirty="0">
                <a:solidFill>
                  <a:srgbClr val="FF0000"/>
                </a:solidFill>
                <a:latin typeface="Courier New"/>
                <a:ea typeface="Courier New"/>
                <a:cs typeface="Courier New"/>
                <a:sym typeface="Courier New"/>
              </a:rPr>
              <a:t>Iterator</a:t>
            </a:r>
            <a:r>
              <a:rPr lang="en" dirty="0"/>
              <a:t>.</a:t>
            </a:r>
            <a:endParaRPr dirty="0"/>
          </a:p>
          <a:p>
            <a:pPr marL="914400" lvl="1" indent="-298450" algn="l" rtl="0">
              <a:spcBef>
                <a:spcPts val="0"/>
              </a:spcBef>
              <a:spcAft>
                <a:spcPts val="0"/>
              </a:spcAft>
              <a:buSzPts val="1100"/>
              <a:buChar char="○"/>
            </a:pPr>
            <a:r>
              <a:rPr lang="en" dirty="0"/>
              <a:t>Most likely, you'll want an index for the outer array and an index for the inner array (i.e. </a:t>
            </a:r>
            <a:r>
              <a:rPr lang="en" dirty="0">
                <a:latin typeface="Courier New"/>
                <a:ea typeface="Courier New"/>
                <a:cs typeface="Courier New"/>
                <a:sym typeface="Courier New"/>
              </a:rPr>
              <a:t>outerIndex</a:t>
            </a:r>
            <a:r>
              <a:rPr lang="en" dirty="0"/>
              <a:t> and </a:t>
            </a:r>
            <a:r>
              <a:rPr lang="en" dirty="0">
                <a:latin typeface="Courier New"/>
                <a:ea typeface="Courier New"/>
                <a:cs typeface="Courier New"/>
                <a:sym typeface="Courier New"/>
              </a:rPr>
              <a:t>innerIndex</a:t>
            </a:r>
            <a:r>
              <a:rPr lang="en" dirty="0"/>
              <a:t>).</a:t>
            </a:r>
            <a:endParaRPr dirty="0"/>
          </a:p>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hasNext()</a:t>
            </a:r>
            <a:r>
              <a:rPr lang="en" dirty="0"/>
              <a:t> should look through the outer array until it finds the next inner array that is </a:t>
            </a:r>
            <a:r>
              <a:rPr lang="en" b="1" i="1" dirty="0">
                <a:solidFill>
                  <a:srgbClr val="FF0000"/>
                </a:solidFill>
              </a:rPr>
              <a:t>not empty</a:t>
            </a:r>
            <a:r>
              <a:rPr lang="en" dirty="0"/>
              <a:t>. </a:t>
            </a:r>
            <a:endParaRPr dirty="0"/>
          </a:p>
          <a:p>
            <a:pPr marL="914400" lvl="1" indent="-298450" algn="l" rtl="0">
              <a:spcBef>
                <a:spcPts val="0"/>
              </a:spcBef>
              <a:spcAft>
                <a:spcPts val="0"/>
              </a:spcAft>
              <a:buSzPts val="1100"/>
              <a:buChar char="○"/>
            </a:pPr>
            <a:r>
              <a:rPr lang="en" dirty="0"/>
              <a:t>If </a:t>
            </a:r>
            <a:r>
              <a:rPr lang="en" dirty="0">
                <a:latin typeface="Courier New"/>
                <a:ea typeface="Courier New"/>
                <a:cs typeface="Courier New"/>
                <a:sym typeface="Courier New"/>
              </a:rPr>
              <a:t>innerIndex</a:t>
            </a:r>
            <a:r>
              <a:rPr lang="en" dirty="0"/>
              <a:t> is valid, increment the </a:t>
            </a:r>
            <a:r>
              <a:rPr lang="en" dirty="0">
                <a:latin typeface="Courier New"/>
                <a:ea typeface="Courier New"/>
                <a:cs typeface="Courier New"/>
                <a:sym typeface="Courier New"/>
              </a:rPr>
              <a:t>innerIndex</a:t>
            </a:r>
            <a:r>
              <a:rPr lang="en" dirty="0"/>
              <a:t> and return </a:t>
            </a:r>
            <a:r>
              <a:rPr lang="en" dirty="0">
                <a:solidFill>
                  <a:srgbClr val="FF0000"/>
                </a:solidFill>
                <a:latin typeface="Courier New"/>
                <a:ea typeface="Courier New"/>
                <a:cs typeface="Courier New"/>
                <a:sym typeface="Courier New"/>
              </a:rPr>
              <a:t>true</a:t>
            </a:r>
            <a:r>
              <a:rPr lang="en" dirty="0"/>
              <a:t>.</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innerIndex</a:t>
            </a:r>
            <a:r>
              <a:rPr lang="en" dirty="0"/>
              <a:t> is </a:t>
            </a:r>
            <a:r>
              <a:rPr lang="en" b="1" i="1" dirty="0">
                <a:solidFill>
                  <a:srgbClr val="FF0000"/>
                </a:solidFill>
              </a:rPr>
              <a:t>out of range</a:t>
            </a:r>
            <a:r>
              <a:rPr lang="en" dirty="0"/>
              <a:t>, increment the </a:t>
            </a:r>
            <a:r>
              <a:rPr lang="en" dirty="0">
                <a:solidFill>
                  <a:srgbClr val="FF0000"/>
                </a:solidFill>
              </a:rPr>
              <a:t>outerIndex</a:t>
            </a:r>
            <a:r>
              <a:rPr lang="en" dirty="0"/>
              <a:t>, set the </a:t>
            </a:r>
            <a:r>
              <a:rPr lang="en" dirty="0">
                <a:latin typeface="Courier New"/>
                <a:ea typeface="Courier New"/>
                <a:cs typeface="Courier New"/>
                <a:sym typeface="Courier New"/>
              </a:rPr>
              <a:t>innerIndex</a:t>
            </a:r>
            <a:r>
              <a:rPr lang="en" dirty="0"/>
              <a:t> to </a:t>
            </a:r>
            <a:r>
              <a:rPr lang="en" dirty="0">
                <a:latin typeface="Courier New"/>
                <a:ea typeface="Courier New"/>
                <a:cs typeface="Courier New"/>
                <a:sym typeface="Courier New"/>
              </a:rPr>
              <a:t>0</a:t>
            </a:r>
            <a:r>
              <a:rPr lang="en" dirty="0"/>
              <a:t>, and keep looking.</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outerIndex</a:t>
            </a:r>
            <a:r>
              <a:rPr lang="en" dirty="0"/>
              <a:t> is out of range, return </a:t>
            </a:r>
            <a:r>
              <a:rPr lang="en" dirty="0">
                <a:solidFill>
                  <a:srgbClr val="FF0000"/>
                </a:solidFill>
                <a:latin typeface="Courier New"/>
                <a:ea typeface="Courier New"/>
                <a:cs typeface="Courier New"/>
                <a:sym typeface="Courier New"/>
              </a:rPr>
              <a:t>false</a:t>
            </a:r>
            <a:r>
              <a:rPr lang="en" dirty="0"/>
              <a:t>.</a:t>
            </a:r>
            <a:endParaRPr dirty="0"/>
          </a:p>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next()</a:t>
            </a:r>
            <a:r>
              <a:rPr lang="en" dirty="0"/>
              <a:t> should return the key at the outer index | inner index location and increment the inner index.</a:t>
            </a:r>
            <a:endParaRPr dirty="0"/>
          </a:p>
        </p:txBody>
      </p:sp>
      <p:sp>
        <p:nvSpPr>
          <p:cNvPr id="736" name="Google Shape;736;p9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Iterator</a:t>
            </a:r>
            <a:endParaRPr/>
          </a:p>
        </p:txBody>
      </p:sp>
      <p:sp>
        <p:nvSpPr>
          <p:cNvPr id="737" name="Google Shape;737;p9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7.14</a:t>
            </a:r>
            <a:endParaRPr/>
          </a:p>
        </p:txBody>
      </p:sp>
      <p:sp>
        <p:nvSpPr>
          <p:cNvPr id="738" name="Google Shape;738;p91"/>
          <p:cNvSpPr txBox="1">
            <a:spLocks noGrp="1"/>
          </p:cNvSpPr>
          <p:nvPr>
            <p:ph type="body" idx="4"/>
          </p:nvPr>
        </p:nvSpPr>
        <p:spPr>
          <a:xfrm>
            <a:off x="152400" y="4405776"/>
            <a:ext cx="3023700" cy="369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Element class removed for readability.</a:t>
            </a:r>
            <a:endParaRPr/>
          </a:p>
        </p:txBody>
      </p:sp>
      <p:pic>
        <p:nvPicPr>
          <p:cNvPr id="739" name="Google Shape;739;p91"/>
          <p:cNvPicPr preferRelativeResize="0"/>
          <p:nvPr/>
        </p:nvPicPr>
        <p:blipFill>
          <a:blip r:embed="rId3">
            <a:alphaModFix/>
          </a:blip>
          <a:stretch>
            <a:fillRect/>
          </a:stretch>
        </p:blipFill>
        <p:spPr>
          <a:xfrm>
            <a:off x="152400" y="1598325"/>
            <a:ext cx="3081673" cy="265291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92"/>
          <p:cNvSpPr txBox="1">
            <a:spLocks noGrp="1"/>
          </p:cNvSpPr>
          <p:nvPr>
            <p:ph type="title"/>
          </p:nvPr>
        </p:nvSpPr>
        <p:spPr>
          <a:xfrm>
            <a:off x="311725" y="1961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a:t>HashMap Complexities</a:t>
            </a:r>
            <a:endParaRPr sz="2400"/>
          </a:p>
        </p:txBody>
      </p:sp>
      <p:sp>
        <p:nvSpPr>
          <p:cNvPr id="745" name="Google Shape;745;p92"/>
          <p:cNvSpPr txBox="1">
            <a:spLocks noGrp="1"/>
          </p:cNvSpPr>
          <p:nvPr>
            <p:ph type="body" idx="1"/>
          </p:nvPr>
        </p:nvSpPr>
        <p:spPr>
          <a:xfrm>
            <a:off x="4339875" y="-41711"/>
            <a:ext cx="4729200" cy="4816673"/>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An </a:t>
            </a:r>
            <a:r>
              <a:rPr lang="en" b="1" i="1" dirty="0">
                <a:solidFill>
                  <a:srgbClr val="FF0000"/>
                </a:solidFill>
              </a:rPr>
              <a:t>ArrayList</a:t>
            </a:r>
            <a:r>
              <a:rPr lang="en" dirty="0">
                <a:solidFill>
                  <a:srgbClr val="FF0000"/>
                </a:solidFill>
              </a:rPr>
              <a:t> </a:t>
            </a:r>
            <a:r>
              <a:rPr lang="en" dirty="0"/>
              <a:t>offers </a:t>
            </a:r>
            <a:r>
              <a:rPr lang="en" b="1" i="1" dirty="0">
                <a:solidFill>
                  <a:srgbClr val="FF0000"/>
                </a:solidFill>
              </a:rPr>
              <a:t>constant time</a:t>
            </a:r>
            <a:r>
              <a:rPr lang="en" dirty="0">
                <a:solidFill>
                  <a:srgbClr val="FF0000"/>
                </a:solidFill>
              </a:rPr>
              <a:t> </a:t>
            </a:r>
            <a:r>
              <a:rPr lang="en" dirty="0"/>
              <a:t>access provided that the index of the element is known.</a:t>
            </a:r>
            <a:endParaRPr dirty="0"/>
          </a:p>
          <a:p>
            <a:pPr marL="914400" lvl="1" indent="-298450" algn="l" rtl="0">
              <a:lnSpc>
                <a:spcPct val="100000"/>
              </a:lnSpc>
              <a:spcBef>
                <a:spcPts val="0"/>
              </a:spcBef>
              <a:spcAft>
                <a:spcPts val="0"/>
              </a:spcAft>
              <a:buSzPts val="1100"/>
              <a:buFont typeface="Courier New"/>
              <a:buChar char="○"/>
            </a:pPr>
            <a:r>
              <a:rPr lang="en" dirty="0">
                <a:solidFill>
                  <a:srgbClr val="FF0000"/>
                </a:solidFill>
                <a:latin typeface="Courier New"/>
                <a:ea typeface="Courier New"/>
                <a:cs typeface="Courier New"/>
                <a:sym typeface="Courier New"/>
              </a:rPr>
              <a:t>anArray.get(5) = "abc"</a:t>
            </a:r>
            <a:endParaRPr dirty="0">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Font typeface="Courier New"/>
              <a:buChar char="○"/>
            </a:pPr>
            <a:r>
              <a:rPr lang="en" dirty="0">
                <a:solidFill>
                  <a:srgbClr val="FF0000"/>
                </a:solidFill>
                <a:latin typeface="Courier New"/>
                <a:ea typeface="Courier New"/>
                <a:cs typeface="Courier New"/>
                <a:sym typeface="Courier New"/>
              </a:rPr>
              <a:t>a_string = anArray.get(7)</a:t>
            </a:r>
            <a:endParaRPr dirty="0"/>
          </a:p>
          <a:p>
            <a:pPr marL="457200" lvl="0" indent="-311150" algn="l" rtl="0">
              <a:lnSpc>
                <a:spcPct val="100000"/>
              </a:lnSpc>
              <a:spcBef>
                <a:spcPts val="1000"/>
              </a:spcBef>
              <a:spcAft>
                <a:spcPts val="0"/>
              </a:spcAft>
              <a:buSzPts val="1300"/>
              <a:buChar char="●"/>
            </a:pPr>
            <a:r>
              <a:rPr lang="en" dirty="0"/>
              <a:t>We use the hash function to find the index.</a:t>
            </a:r>
            <a:endParaRPr dirty="0"/>
          </a:p>
          <a:p>
            <a:pPr marL="457200" lvl="0" indent="-311150" algn="l" rtl="0">
              <a:lnSpc>
                <a:spcPct val="100000"/>
              </a:lnSpc>
              <a:spcBef>
                <a:spcPts val="1000"/>
              </a:spcBef>
              <a:spcAft>
                <a:spcPts val="0"/>
              </a:spcAft>
              <a:buSzPts val="1300"/>
              <a:buChar char="●"/>
            </a:pPr>
            <a:r>
              <a:rPr lang="en" dirty="0"/>
              <a:t>When using </a:t>
            </a:r>
            <a:r>
              <a:rPr lang="en" b="1" i="1" dirty="0">
                <a:solidFill>
                  <a:srgbClr val="FF0000"/>
                </a:solidFill>
              </a:rPr>
              <a:t>chaining</a:t>
            </a:r>
            <a:r>
              <a:rPr lang="en" dirty="0"/>
              <a:t>, the inner </a:t>
            </a:r>
            <a:r>
              <a:rPr lang="en" b="1" i="1" dirty="0">
                <a:solidFill>
                  <a:srgbClr val="FF0000"/>
                </a:solidFill>
              </a:rPr>
              <a:t>LinkedList</a:t>
            </a:r>
            <a:r>
              <a:rPr lang="en" dirty="0"/>
              <a:t> must be searched which is a </a:t>
            </a:r>
            <a:r>
              <a:rPr lang="en" b="1" i="1" dirty="0">
                <a:solidFill>
                  <a:srgbClr val="FF0000"/>
                </a:solidFill>
              </a:rPr>
              <a:t>O(n)</a:t>
            </a:r>
            <a:r>
              <a:rPr lang="en" dirty="0"/>
              <a:t> operation.</a:t>
            </a:r>
            <a:endParaRPr dirty="0"/>
          </a:p>
          <a:p>
            <a:pPr marL="457200" lvl="0" indent="-311150" algn="l" rtl="0">
              <a:lnSpc>
                <a:spcPct val="100000"/>
              </a:lnSpc>
              <a:spcBef>
                <a:spcPts val="1000"/>
              </a:spcBef>
              <a:spcAft>
                <a:spcPts val="0"/>
              </a:spcAft>
              <a:buSzPts val="1300"/>
              <a:buChar char="●"/>
            </a:pPr>
            <a:r>
              <a:rPr lang="en" dirty="0"/>
              <a:t>Therefore the complexity of our </a:t>
            </a:r>
            <a:r>
              <a:rPr lang="en" b="1" i="1" dirty="0">
                <a:solidFill>
                  <a:srgbClr val="FF0000"/>
                </a:solidFill>
              </a:rPr>
              <a:t>HashMap</a:t>
            </a:r>
            <a:r>
              <a:rPr lang="en" dirty="0"/>
              <a:t> will be determined by how large the linked lists are.</a:t>
            </a:r>
            <a:endParaRPr dirty="0"/>
          </a:p>
          <a:p>
            <a:pPr marL="914400" lvl="1" indent="-298450" algn="l" rtl="0">
              <a:lnSpc>
                <a:spcPct val="100000"/>
              </a:lnSpc>
              <a:spcBef>
                <a:spcPts val="0"/>
              </a:spcBef>
              <a:spcAft>
                <a:spcPts val="0"/>
              </a:spcAft>
              <a:buSzPts val="1100"/>
              <a:buChar char="○"/>
            </a:pPr>
            <a:r>
              <a:rPr lang="en" dirty="0"/>
              <a:t>If every list has only one or two items in it, the map will have a time complexity of </a:t>
            </a:r>
            <a:r>
              <a:rPr lang="en" b="1" i="1" dirty="0">
                <a:solidFill>
                  <a:srgbClr val="FF0000"/>
                </a:solidFill>
              </a:rPr>
              <a:t>O(1)</a:t>
            </a:r>
            <a:r>
              <a:rPr lang="en" dirty="0"/>
              <a:t> for each individual operation.</a:t>
            </a:r>
            <a:endParaRPr dirty="0"/>
          </a:p>
          <a:p>
            <a:pPr marL="914400" lvl="1" indent="-298450" algn="l" rtl="0">
              <a:lnSpc>
                <a:spcPct val="100000"/>
              </a:lnSpc>
              <a:spcBef>
                <a:spcPts val="0"/>
              </a:spcBef>
              <a:spcAft>
                <a:spcPts val="0"/>
              </a:spcAft>
              <a:buSzPts val="1100"/>
              <a:buChar char="○"/>
            </a:pPr>
            <a:r>
              <a:rPr lang="en" dirty="0"/>
              <a:t>If the </a:t>
            </a:r>
            <a:r>
              <a:rPr lang="en" dirty="0">
                <a:highlight>
                  <a:srgbClr val="FFFF00"/>
                </a:highlight>
              </a:rPr>
              <a:t>chains are long</a:t>
            </a:r>
            <a:r>
              <a:rPr lang="en" dirty="0"/>
              <a:t>, the complexity will approach </a:t>
            </a:r>
            <a:r>
              <a:rPr lang="en" b="1" i="1" dirty="0">
                <a:solidFill>
                  <a:srgbClr val="FF0000"/>
                </a:solidFill>
              </a:rPr>
              <a:t>O(n)</a:t>
            </a:r>
            <a:r>
              <a:rPr lang="en" dirty="0"/>
              <a:t>, where </a:t>
            </a:r>
            <a:r>
              <a:rPr lang="en" b="1" i="1" dirty="0">
                <a:solidFill>
                  <a:srgbClr val="FF0000"/>
                </a:solidFill>
              </a:rPr>
              <a:t>n</a:t>
            </a:r>
            <a:r>
              <a:rPr lang="en" dirty="0"/>
              <a:t> is the average inner list </a:t>
            </a:r>
            <a:r>
              <a:rPr lang="en" b="1" i="1" dirty="0">
                <a:solidFill>
                  <a:srgbClr val="FF0000"/>
                </a:solidFill>
              </a:rPr>
              <a:t>length</a:t>
            </a:r>
            <a:r>
              <a:rPr lang="en" dirty="0"/>
              <a:t>.</a:t>
            </a:r>
            <a:endParaRPr dirty="0"/>
          </a:p>
          <a:p>
            <a:pPr marL="457200" lvl="0" indent="-311150" algn="l" rtl="0">
              <a:lnSpc>
                <a:spcPct val="100000"/>
              </a:lnSpc>
              <a:spcBef>
                <a:spcPts val="1000"/>
              </a:spcBef>
              <a:spcAft>
                <a:spcPts val="0"/>
              </a:spcAft>
              <a:buSzPts val="1300"/>
              <a:buChar char="●"/>
            </a:pPr>
            <a:r>
              <a:rPr lang="en" dirty="0"/>
              <a:t>For this reason, it's important we </a:t>
            </a:r>
            <a:r>
              <a:rPr lang="en" b="1" i="1" dirty="0">
                <a:solidFill>
                  <a:srgbClr val="FF0000"/>
                </a:solidFill>
              </a:rPr>
              <a:t>don't overfill</a:t>
            </a:r>
            <a:r>
              <a:rPr lang="en" dirty="0"/>
              <a:t> the map.</a:t>
            </a:r>
            <a:endParaRPr dirty="0"/>
          </a:p>
          <a:p>
            <a:pPr marL="914400" lvl="1" indent="-298450" algn="l" rtl="0">
              <a:lnSpc>
                <a:spcPct val="100000"/>
              </a:lnSpc>
              <a:spcBef>
                <a:spcPts val="0"/>
              </a:spcBef>
              <a:spcAft>
                <a:spcPts val="0"/>
              </a:spcAft>
              <a:buSzPts val="1100"/>
              <a:buChar char="○"/>
            </a:pPr>
            <a:r>
              <a:rPr lang="en" dirty="0"/>
              <a:t>I.E. </a:t>
            </a:r>
            <a:r>
              <a:rPr lang="en" dirty="0">
                <a:highlight>
                  <a:srgbClr val="FFFF00"/>
                </a:highlight>
              </a:rPr>
              <a:t>We want the </a:t>
            </a:r>
            <a:r>
              <a:rPr lang="en" b="1" i="1" dirty="0">
                <a:solidFill>
                  <a:srgbClr val="FF0000"/>
                </a:solidFill>
                <a:highlight>
                  <a:srgbClr val="FFFF00"/>
                </a:highlight>
              </a:rPr>
              <a:t>size</a:t>
            </a:r>
            <a:r>
              <a:rPr lang="en" dirty="0">
                <a:highlight>
                  <a:srgbClr val="FFFF00"/>
                </a:highlight>
              </a:rPr>
              <a:t> of the map to be about the </a:t>
            </a:r>
            <a:r>
              <a:rPr lang="en" b="1" i="1" dirty="0">
                <a:solidFill>
                  <a:srgbClr val="FF0000"/>
                </a:solidFill>
                <a:highlight>
                  <a:srgbClr val="FFFF00"/>
                </a:highlight>
              </a:rPr>
              <a:t>same as</a:t>
            </a:r>
            <a:r>
              <a:rPr lang="en" dirty="0">
                <a:highlight>
                  <a:srgbClr val="FFFF00"/>
                </a:highlight>
              </a:rPr>
              <a:t> the </a:t>
            </a:r>
            <a:r>
              <a:rPr lang="en" b="1" i="1" dirty="0">
                <a:solidFill>
                  <a:srgbClr val="FF0000"/>
                </a:solidFill>
                <a:highlight>
                  <a:srgbClr val="FFFF00"/>
                </a:highlight>
              </a:rPr>
              <a:t>length</a:t>
            </a:r>
            <a:r>
              <a:rPr lang="en" dirty="0">
                <a:highlight>
                  <a:srgbClr val="FFFF00"/>
                </a:highlight>
              </a:rPr>
              <a:t> of the outer ArrayList. </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highlight>
                  <a:srgbClr val="FFFF00"/>
                </a:highlight>
              </a:rPr>
              <a:t>This system also only works if our hash function evenly distributes the hash codes.</a:t>
            </a:r>
            <a:endParaRPr dirty="0">
              <a:highlight>
                <a:srgbClr val="FFFF00"/>
              </a:highlight>
            </a:endParaRPr>
          </a:p>
          <a:p>
            <a:pPr marL="914400" lvl="1" indent="-298450" algn="l" rtl="0">
              <a:lnSpc>
                <a:spcPct val="100000"/>
              </a:lnSpc>
              <a:spcBef>
                <a:spcPts val="0"/>
              </a:spcBef>
              <a:spcAft>
                <a:spcPts val="1000"/>
              </a:spcAft>
              <a:buSzPts val="1100"/>
              <a:buChar char="○"/>
            </a:pPr>
            <a:r>
              <a:rPr lang="en" dirty="0"/>
              <a:t>I.E. If everything hashes to index </a:t>
            </a:r>
            <a:r>
              <a:rPr lang="en" dirty="0">
                <a:highlight>
                  <a:srgbClr val="FFFF00"/>
                </a:highlight>
              </a:rPr>
              <a:t>0, the complexity will be </a:t>
            </a:r>
            <a:r>
              <a:rPr lang="en" b="1" i="1" dirty="0">
                <a:solidFill>
                  <a:srgbClr val="FF0000"/>
                </a:solidFill>
                <a:highlight>
                  <a:srgbClr val="FFFF00"/>
                </a:highlight>
              </a:rPr>
              <a:t>O(n)</a:t>
            </a:r>
            <a:r>
              <a:rPr lang="en" dirty="0">
                <a:highlight>
                  <a:srgbClr val="FFFF00"/>
                </a:highlight>
              </a:rPr>
              <a:t> since it's basically just a linked list at that point.</a:t>
            </a:r>
            <a:endParaRPr dirty="0">
              <a:highlight>
                <a:srgbClr val="FFFF00"/>
              </a:highlight>
            </a:endParaRPr>
          </a:p>
        </p:txBody>
      </p:sp>
      <p:sp>
        <p:nvSpPr>
          <p:cNvPr id="746" name="Google Shape;746;p9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pic>
        <p:nvPicPr>
          <p:cNvPr id="747" name="Google Shape;747;p92"/>
          <p:cNvPicPr preferRelativeResize="0"/>
          <p:nvPr/>
        </p:nvPicPr>
        <p:blipFill rotWithShape="1">
          <a:blip r:embed="rId3">
            <a:alphaModFix/>
          </a:blip>
          <a:srcRect/>
          <a:stretch/>
        </p:blipFill>
        <p:spPr>
          <a:xfrm>
            <a:off x="978550" y="2397300"/>
            <a:ext cx="2372851" cy="1749675"/>
          </a:xfrm>
          <a:prstGeom prst="rect">
            <a:avLst/>
          </a:prstGeom>
          <a:noFill/>
          <a:ln>
            <a:noFill/>
          </a:ln>
        </p:spPr>
      </p:pic>
      <p:sp>
        <p:nvSpPr>
          <p:cNvPr id="748" name="Google Shape;748;p92"/>
          <p:cNvSpPr txBox="1">
            <a:spLocks noGrp="1"/>
          </p:cNvSpPr>
          <p:nvPr>
            <p:ph type="body" idx="3"/>
          </p:nvPr>
        </p:nvSpPr>
        <p:spPr>
          <a:xfrm>
            <a:off x="315425" y="858434"/>
            <a:ext cx="3706500" cy="736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The primary characteristic of a set is that it can maintain a collection of </a:t>
            </a:r>
            <a:r>
              <a:rPr lang="en" sz="1200" b="1" i="1">
                <a:solidFill>
                  <a:srgbClr val="FF0000"/>
                </a:solidFill>
              </a:rPr>
              <a:t>unique elements</a:t>
            </a:r>
            <a:r>
              <a:rPr lang="en" sz="1200">
                <a:solidFill>
                  <a:srgbClr val="FF0000"/>
                </a:solidFill>
              </a:rPr>
              <a:t> </a:t>
            </a:r>
            <a:r>
              <a:rPr lang="en" sz="1200"/>
              <a:t>with very good performance.</a:t>
            </a:r>
            <a:endParaRPr sz="1200"/>
          </a:p>
        </p:txBody>
      </p:sp>
      <p:sp>
        <p:nvSpPr>
          <p:cNvPr id="749" name="Google Shape;749;p92"/>
          <p:cNvSpPr txBox="1">
            <a:spLocks noGrp="1"/>
          </p:cNvSpPr>
          <p:nvPr>
            <p:ph type="body" idx="3"/>
          </p:nvPr>
        </p:nvSpPr>
        <p:spPr>
          <a:xfrm>
            <a:off x="311725" y="1749302"/>
            <a:ext cx="3706500" cy="571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Adding a new element and finding an element using the </a:t>
            </a:r>
            <a:r>
              <a:rPr lang="en" sz="1200" dirty="0">
                <a:latin typeface="Courier New"/>
                <a:ea typeface="Courier New"/>
                <a:cs typeface="Courier New"/>
                <a:sym typeface="Courier New"/>
              </a:rPr>
              <a:t>in</a:t>
            </a:r>
            <a:r>
              <a:rPr lang="en" sz="1200" dirty="0"/>
              <a:t> </a:t>
            </a:r>
            <a:r>
              <a:rPr lang="en" sz="1200" dirty="0">
                <a:highlight>
                  <a:srgbClr val="FFFF00"/>
                </a:highlight>
              </a:rPr>
              <a:t>operator should both run in </a:t>
            </a:r>
            <a:r>
              <a:rPr lang="en" sz="1200" b="1" i="1" dirty="0">
                <a:solidFill>
                  <a:srgbClr val="FF0000"/>
                </a:solidFill>
                <a:highlight>
                  <a:srgbClr val="FFFF00"/>
                </a:highlight>
              </a:rPr>
              <a:t>constant time</a:t>
            </a:r>
            <a:r>
              <a:rPr lang="en" sz="1200" dirty="0">
                <a:highlight>
                  <a:srgbClr val="FFFF00"/>
                </a:highlight>
              </a:rPr>
              <a:t>.</a:t>
            </a:r>
            <a:endParaRPr sz="1200" dirty="0">
              <a:highlight>
                <a:srgbClr val="FFFF00"/>
              </a:highlight>
            </a:endParaRPr>
          </a:p>
        </p:txBody>
      </p:sp>
      <p:sp>
        <p:nvSpPr>
          <p:cNvPr id="750" name="Google Shape;750;p92"/>
          <p:cNvSpPr txBox="1">
            <a:spLocks noGrp="1"/>
          </p:cNvSpPr>
          <p:nvPr>
            <p:ph type="body" idx="3"/>
          </p:nvPr>
        </p:nvSpPr>
        <p:spPr>
          <a:xfrm>
            <a:off x="315425" y="4269216"/>
            <a:ext cx="3706500" cy="571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But the nature of the set's </a:t>
            </a:r>
            <a:r>
              <a:rPr lang="en" sz="1200" b="1" i="1" dirty="0">
                <a:solidFill>
                  <a:srgbClr val="FF0000"/>
                </a:solidFill>
              </a:rPr>
              <a:t>hashing algorithm</a:t>
            </a:r>
            <a:r>
              <a:rPr lang="en" sz="1200" dirty="0">
                <a:solidFill>
                  <a:srgbClr val="FF0000"/>
                </a:solidFill>
              </a:rPr>
              <a:t> </a:t>
            </a:r>
            <a:r>
              <a:rPr lang="en" sz="1200" dirty="0"/>
              <a:t>means that the order of the elements is </a:t>
            </a:r>
            <a:r>
              <a:rPr lang="en" sz="1200" b="1" i="1" dirty="0">
                <a:solidFill>
                  <a:srgbClr val="FF0000"/>
                </a:solidFill>
              </a:rPr>
              <a:t>arbitrary</a:t>
            </a:r>
            <a:r>
              <a:rPr lang="en" sz="1200" dirty="0"/>
              <a:t>.</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4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4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4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4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4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48"/>
                                        </p:tgtEl>
                                        <p:attrNameLst>
                                          <p:attrName>style.visibility</p:attrName>
                                        </p:attrNameLst>
                                      </p:cBhvr>
                                      <p:to>
                                        <p:strVal val="visible"/>
                                      </p:to>
                                    </p:set>
                                    <p:animEffect transition="in" filter="fade">
                                      <p:cBhvr>
                                        <p:cTn id="55" dur="1000"/>
                                        <p:tgtEl>
                                          <p:spTgt spid="74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49"/>
                                        </p:tgtEl>
                                        <p:attrNameLst>
                                          <p:attrName>style.visibility</p:attrName>
                                        </p:attrNameLst>
                                      </p:cBhvr>
                                      <p:to>
                                        <p:strVal val="visible"/>
                                      </p:to>
                                    </p:set>
                                    <p:animEffect transition="in" filter="fade">
                                      <p:cBhvr>
                                        <p:cTn id="60" dur="1000"/>
                                        <p:tgtEl>
                                          <p:spTgt spid="74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747"/>
                                        </p:tgtEl>
                                        <p:attrNameLst>
                                          <p:attrName>style.visibility</p:attrName>
                                        </p:attrNameLst>
                                      </p:cBhvr>
                                      <p:to>
                                        <p:strVal val="visible"/>
                                      </p:to>
                                    </p:set>
                                    <p:animEffect transition="in" filter="fade">
                                      <p:cBhvr>
                                        <p:cTn id="65" dur="1000"/>
                                        <p:tgtEl>
                                          <p:spTgt spid="747"/>
                                        </p:tgtEl>
                                      </p:cBhvr>
                                    </p:animEffect>
                                  </p:childTnLst>
                                </p:cTn>
                              </p:par>
                              <p:par>
                                <p:cTn id="66" presetID="10" presetClass="entr" presetSubtype="0" fill="hold" nodeType="withEffect">
                                  <p:stCondLst>
                                    <p:cond delay="0"/>
                                  </p:stCondLst>
                                  <p:childTnLst>
                                    <p:set>
                                      <p:cBhvr>
                                        <p:cTn id="67" dur="1" fill="hold">
                                          <p:stCondLst>
                                            <p:cond delay="0"/>
                                          </p:stCondLst>
                                        </p:cTn>
                                        <p:tgtEl>
                                          <p:spTgt spid="750"/>
                                        </p:tgtEl>
                                        <p:attrNameLst>
                                          <p:attrName>style.visibility</p:attrName>
                                        </p:attrNameLst>
                                      </p:cBhvr>
                                      <p:to>
                                        <p:strVal val="visible"/>
                                      </p:to>
                                    </p:set>
                                    <p:animEffect transition="in" filter="fade">
                                      <p:cBhvr>
                                        <p:cTn id="68" dur="1000"/>
                                        <p:tgtEl>
                                          <p:spTgt spid="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93"/>
          <p:cNvSpPr txBox="1">
            <a:spLocks noGrp="1"/>
          </p:cNvSpPr>
          <p:nvPr>
            <p:ph type="body" idx="1"/>
          </p:nvPr>
        </p:nvSpPr>
        <p:spPr>
          <a:xfrm>
            <a:off x="65250" y="731625"/>
            <a:ext cx="8955900" cy="1522438"/>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Currently you should be able to add any number of items to your HashMap. However, with a capacity of 3 it won't take very long to lose its efficiency. Think of storing 1000 items in the set. Each list would be ~333 items long, each of which require a linear search. </a:t>
            </a:r>
            <a:r>
              <a:rPr lang="en" dirty="0">
                <a:highlight>
                  <a:srgbClr val="FFFF00"/>
                </a:highlight>
              </a:rPr>
              <a:t>To solve this, let's grow the outer </a:t>
            </a:r>
            <a:r>
              <a:rPr lang="en" dirty="0">
                <a:highlight>
                  <a:srgbClr val="FFFF00"/>
                </a:highlight>
                <a:latin typeface="Courier New"/>
                <a:ea typeface="Courier New"/>
                <a:cs typeface="Courier New"/>
                <a:sym typeface="Courier New"/>
              </a:rPr>
              <a:t>ArrayList</a:t>
            </a:r>
            <a:r>
              <a:rPr lang="en" dirty="0">
                <a:highlight>
                  <a:srgbClr val="FFFF00"/>
                </a:highlight>
              </a:rPr>
              <a:t> if the size equals the list's capacity (</a:t>
            </a:r>
            <a:r>
              <a:rPr lang="en" dirty="0">
                <a:highlight>
                  <a:srgbClr val="FFFF00"/>
                </a:highlight>
                <a:latin typeface="Courier New"/>
                <a:ea typeface="Courier New"/>
                <a:cs typeface="Courier New"/>
                <a:sym typeface="Courier New"/>
              </a:rPr>
              <a:t>elements.size()</a:t>
            </a:r>
            <a:r>
              <a:rPr lang="en" dirty="0">
                <a:highlight>
                  <a:srgbClr val="FFFF00"/>
                </a:highlight>
              </a:rPr>
              <a:t>).</a:t>
            </a:r>
            <a:endParaRPr dirty="0">
              <a:highlight>
                <a:srgbClr val="FFFF00"/>
              </a:highlight>
            </a:endParaRPr>
          </a:p>
        </p:txBody>
      </p:sp>
      <p:sp>
        <p:nvSpPr>
          <p:cNvPr id="756" name="Google Shape;756;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757" name="Google Shape;757;p93"/>
          <p:cNvSpPr txBox="1">
            <a:spLocks noGrp="1"/>
          </p:cNvSpPr>
          <p:nvPr>
            <p:ph type="body" idx="2"/>
          </p:nvPr>
        </p:nvSpPr>
        <p:spPr>
          <a:xfrm>
            <a:off x="3349125" y="2013125"/>
            <a:ext cx="5592000" cy="3039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private method, </a:t>
            </a:r>
            <a:r>
              <a:rPr lang="en" dirty="0">
                <a:solidFill>
                  <a:srgbClr val="FF0000"/>
                </a:solidFill>
                <a:latin typeface="Courier New"/>
                <a:ea typeface="Courier New"/>
                <a:cs typeface="Courier New"/>
                <a:sym typeface="Courier New"/>
              </a:rPr>
              <a:t>resizeIfNeeded</a:t>
            </a:r>
            <a:r>
              <a:rPr lang="en" dirty="0"/>
              <a:t>, to resize the list.</a:t>
            </a:r>
            <a:endParaRPr dirty="0"/>
          </a:p>
          <a:p>
            <a:pPr marL="457200" lvl="0" indent="-311150" algn="l" rtl="0">
              <a:spcBef>
                <a:spcPts val="0"/>
              </a:spcBef>
              <a:spcAft>
                <a:spcPts val="0"/>
              </a:spcAft>
              <a:buSzPts val="1300"/>
              <a:buChar char="●"/>
            </a:pPr>
            <a:r>
              <a:rPr lang="en" dirty="0"/>
              <a:t>First, check to see if the map's </a:t>
            </a:r>
            <a:r>
              <a:rPr lang="en" dirty="0">
                <a:latin typeface="Courier New"/>
                <a:ea typeface="Courier New"/>
                <a:cs typeface="Courier New"/>
                <a:sym typeface="Courier New"/>
              </a:rPr>
              <a:t>size</a:t>
            </a:r>
            <a:r>
              <a:rPr lang="en" dirty="0"/>
              <a:t> is &gt;= </a:t>
            </a:r>
            <a:r>
              <a:rPr lang="en" dirty="0">
                <a:latin typeface="Courier New"/>
                <a:ea typeface="Courier New"/>
                <a:cs typeface="Courier New"/>
                <a:sym typeface="Courier New"/>
              </a:rPr>
              <a:t>elements.size()</a:t>
            </a:r>
            <a:r>
              <a:rPr lang="en" dirty="0"/>
              <a:t>.</a:t>
            </a:r>
            <a:endParaRPr dirty="0"/>
          </a:p>
          <a:p>
            <a:pPr marL="457200" lvl="0" indent="-311150" algn="l" rtl="0">
              <a:spcBef>
                <a:spcPts val="0"/>
              </a:spcBef>
              <a:spcAft>
                <a:spcPts val="0"/>
              </a:spcAft>
              <a:buSzPts val="1300"/>
              <a:buChar char="●"/>
            </a:pPr>
            <a:r>
              <a:rPr lang="en" dirty="0"/>
              <a:t>If so create a </a:t>
            </a:r>
            <a:r>
              <a:rPr lang="en" b="1" i="1" dirty="0">
                <a:solidFill>
                  <a:srgbClr val="FF0000"/>
                </a:solidFill>
              </a:rPr>
              <a:t>new </a:t>
            </a:r>
            <a:r>
              <a:rPr lang="en" dirty="0">
                <a:latin typeface="Courier New"/>
                <a:ea typeface="Courier New"/>
                <a:cs typeface="Courier New"/>
                <a:sym typeface="Courier New"/>
              </a:rPr>
              <a:t>ArrayList</a:t>
            </a:r>
            <a:r>
              <a:rPr lang="en" dirty="0"/>
              <a:t> and add </a:t>
            </a:r>
            <a:r>
              <a:rPr lang="en" b="1" i="1" dirty="0">
                <a:solidFill>
                  <a:srgbClr val="FF0000"/>
                </a:solidFill>
              </a:rPr>
              <a:t>size * 2</a:t>
            </a:r>
            <a:r>
              <a:rPr lang="en" dirty="0"/>
              <a:t> </a:t>
            </a:r>
            <a:r>
              <a:rPr lang="en" dirty="0">
                <a:latin typeface="Courier New"/>
                <a:ea typeface="Courier New"/>
                <a:cs typeface="Courier New"/>
                <a:sym typeface="Courier New"/>
              </a:rPr>
              <a:t>LinkedList</a:t>
            </a:r>
            <a:r>
              <a:rPr lang="en" dirty="0"/>
              <a:t>s to it.</a:t>
            </a:r>
            <a:endParaRPr dirty="0"/>
          </a:p>
          <a:p>
            <a:pPr marL="914400" lvl="1" indent="-298450" algn="l" rtl="0">
              <a:spcBef>
                <a:spcPts val="0"/>
              </a:spcBef>
              <a:spcAft>
                <a:spcPts val="0"/>
              </a:spcAft>
              <a:buSzPts val="1100"/>
              <a:buChar char="○"/>
            </a:pPr>
            <a:r>
              <a:rPr lang="en" dirty="0"/>
              <a:t>reference the constructor</a:t>
            </a:r>
            <a:endParaRPr dirty="0"/>
          </a:p>
          <a:p>
            <a:pPr marL="457200" lvl="0" indent="-311150" algn="l" rtl="0">
              <a:spcBef>
                <a:spcPts val="0"/>
              </a:spcBef>
              <a:spcAft>
                <a:spcPts val="0"/>
              </a:spcAft>
              <a:buSzPts val="1300"/>
              <a:buChar char="●"/>
            </a:pPr>
            <a:r>
              <a:rPr lang="en" dirty="0"/>
              <a:t>Make the list unmodifiable to ensure new items cannot be added.</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Collections.unmodifiableList(newArrayList</a:t>
            </a:r>
            <a:r>
              <a:rPr lang="en" dirty="0">
                <a:solidFill>
                  <a:srgbClr val="FF0000"/>
                </a:solidFill>
              </a:rPr>
              <a:t>)</a:t>
            </a:r>
            <a:r>
              <a:rPr lang="en" dirty="0"/>
              <a:t> returns an unmodifiable view of the new ArrayList.</a:t>
            </a:r>
            <a:endParaRPr dirty="0"/>
          </a:p>
          <a:p>
            <a:pPr marL="457200" lvl="0" indent="-311150" algn="l" rtl="0">
              <a:spcBef>
                <a:spcPts val="0"/>
              </a:spcBef>
              <a:spcAft>
                <a:spcPts val="0"/>
              </a:spcAft>
              <a:buSzPts val="1300"/>
              <a:buChar char="●"/>
            </a:pPr>
            <a:r>
              <a:rPr lang="en" dirty="0"/>
              <a:t>Set the </a:t>
            </a:r>
            <a:r>
              <a:rPr lang="en" dirty="0">
                <a:solidFill>
                  <a:srgbClr val="FF0000"/>
                </a:solidFill>
                <a:latin typeface="Courier New"/>
                <a:ea typeface="Courier New"/>
                <a:cs typeface="Courier New"/>
                <a:sym typeface="Courier New"/>
              </a:rPr>
              <a:t>size</a:t>
            </a:r>
            <a:r>
              <a:rPr lang="en" dirty="0">
                <a:solidFill>
                  <a:srgbClr val="FF0000"/>
                </a:solidFill>
              </a:rPr>
              <a:t> </a:t>
            </a:r>
            <a:r>
              <a:rPr lang="en" dirty="0"/>
              <a:t>equal to </a:t>
            </a:r>
            <a:r>
              <a:rPr lang="en" dirty="0">
                <a:solidFill>
                  <a:srgbClr val="FF0000"/>
                </a:solidFill>
                <a:latin typeface="Courier New"/>
                <a:ea typeface="Courier New"/>
                <a:cs typeface="Courier New"/>
                <a:sym typeface="Courier New"/>
              </a:rPr>
              <a:t>0</a:t>
            </a:r>
            <a:endParaRPr dirty="0">
              <a:solidFill>
                <a:schemeClr val="dk1"/>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Store a reference to elements and change </a:t>
            </a:r>
            <a:r>
              <a:rPr lang="en" dirty="0">
                <a:latin typeface="Courier New"/>
                <a:ea typeface="Courier New"/>
                <a:cs typeface="Courier New"/>
                <a:sym typeface="Courier New"/>
              </a:rPr>
              <a:t>this.elements</a:t>
            </a:r>
            <a:r>
              <a:rPr lang="en" dirty="0"/>
              <a:t> to reference the new unmodifiable list.</a:t>
            </a:r>
            <a:endParaRPr dirty="0"/>
          </a:p>
          <a:p>
            <a:pPr marL="457200" lvl="0" indent="-311150" algn="l" rtl="0">
              <a:spcBef>
                <a:spcPts val="0"/>
              </a:spcBef>
              <a:spcAft>
                <a:spcPts val="0"/>
              </a:spcAft>
              <a:buSzPts val="1300"/>
              <a:buChar char="●"/>
            </a:pPr>
            <a:r>
              <a:rPr lang="en" b="1" i="1" dirty="0">
                <a:solidFill>
                  <a:srgbClr val="FF0000"/>
                </a:solidFill>
              </a:rPr>
              <a:t>For each entry</a:t>
            </a:r>
            <a:r>
              <a:rPr lang="en" dirty="0"/>
              <a:t> in the old elements list of lists, add the </a:t>
            </a:r>
            <a:r>
              <a:rPr lang="en" dirty="0">
                <a:latin typeface="Courier New"/>
                <a:ea typeface="Courier New"/>
                <a:cs typeface="Courier New"/>
                <a:sym typeface="Courier New"/>
              </a:rPr>
              <a:t>Element</a:t>
            </a:r>
            <a:r>
              <a:rPr lang="en" dirty="0"/>
              <a:t> to the map using the </a:t>
            </a:r>
            <a:r>
              <a:rPr lang="en" dirty="0">
                <a:latin typeface="Courier New"/>
                <a:ea typeface="Courier New"/>
                <a:cs typeface="Courier New"/>
                <a:sym typeface="Courier New"/>
              </a:rPr>
              <a:t>this.add</a:t>
            </a:r>
            <a:r>
              <a:rPr lang="en" dirty="0"/>
              <a:t> method.</a:t>
            </a:r>
            <a:endParaRPr dirty="0"/>
          </a:p>
          <a:p>
            <a:pPr marL="457200" lvl="0" indent="-311150" algn="l" rtl="0">
              <a:spcBef>
                <a:spcPts val="0"/>
              </a:spcBef>
              <a:spcAft>
                <a:spcPts val="0"/>
              </a:spcAft>
              <a:buSzPts val="1300"/>
              <a:buChar char="●"/>
            </a:pPr>
            <a:r>
              <a:rPr lang="en" dirty="0"/>
              <a:t>Make sure to test that everything is working as expected. </a:t>
            </a:r>
            <a:endParaRPr dirty="0"/>
          </a:p>
        </p:txBody>
      </p:sp>
      <p:sp>
        <p:nvSpPr>
          <p:cNvPr id="758" name="Google Shape;758;p9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Resizing</a:t>
            </a:r>
            <a:endParaRPr/>
          </a:p>
        </p:txBody>
      </p:sp>
      <p:sp>
        <p:nvSpPr>
          <p:cNvPr id="759" name="Google Shape;759;p9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7.15</a:t>
            </a:r>
            <a:endParaRPr/>
          </a:p>
        </p:txBody>
      </p:sp>
      <p:sp>
        <p:nvSpPr>
          <p:cNvPr id="760" name="Google Shape;760;p93"/>
          <p:cNvSpPr txBox="1">
            <a:spLocks noGrp="1"/>
          </p:cNvSpPr>
          <p:nvPr>
            <p:ph type="body" idx="4"/>
          </p:nvPr>
        </p:nvSpPr>
        <p:spPr>
          <a:xfrm>
            <a:off x="141525" y="3825080"/>
            <a:ext cx="32076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To resize, create a new elements ArrayList that is twice as big as the original.</a:t>
            </a:r>
            <a:endParaRPr/>
          </a:p>
        </p:txBody>
      </p:sp>
      <p:sp>
        <p:nvSpPr>
          <p:cNvPr id="761" name="Google Shape;761;p93"/>
          <p:cNvSpPr txBox="1">
            <a:spLocks noGrp="1"/>
          </p:cNvSpPr>
          <p:nvPr>
            <p:ph type="body" idx="4"/>
          </p:nvPr>
        </p:nvSpPr>
        <p:spPr>
          <a:xfrm>
            <a:off x="141525" y="4462392"/>
            <a:ext cx="32076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Swap in the new ArrayList and add all the elements from the old list to the new one.</a:t>
            </a:r>
            <a:endParaRPr/>
          </a:p>
        </p:txBody>
      </p:sp>
      <p:sp>
        <p:nvSpPr>
          <p:cNvPr id="762" name="Google Shape;762;p93"/>
          <p:cNvSpPr txBox="1"/>
          <p:nvPr/>
        </p:nvSpPr>
        <p:spPr>
          <a:xfrm>
            <a:off x="141675" y="2015615"/>
            <a:ext cx="3207600" cy="17604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if need to resize:</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oldElements = elements</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newElements = new array list</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add size * 2 inner linked lists</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make unmodifiable</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elements = newElements</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size = 0</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add() oldElements elements to the map</a:t>
            </a:r>
            <a:endParaRPr sz="1300">
              <a:solidFill>
                <a:schemeClr val="dk2"/>
              </a:solidFill>
              <a:latin typeface="Shadows Into Light"/>
              <a:ea typeface="Shadows Into Light"/>
              <a:cs typeface="Shadows Into Light"/>
              <a:sym typeface="Shadows Into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94"/>
          <p:cNvSpPr txBox="1">
            <a:spLocks noGrp="1"/>
          </p:cNvSpPr>
          <p:nvPr>
            <p:ph type="title"/>
          </p:nvPr>
        </p:nvSpPr>
        <p:spPr>
          <a:xfrm>
            <a:off x="5264725" y="44143"/>
            <a:ext cx="3706500" cy="8262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400"/>
              <a:t>Sets &amp; Dictionaries</a:t>
            </a:r>
            <a:endParaRPr sz="2400"/>
          </a:p>
        </p:txBody>
      </p:sp>
      <p:sp>
        <p:nvSpPr>
          <p:cNvPr id="768" name="Google Shape;768;p94"/>
          <p:cNvSpPr txBox="1">
            <a:spLocks noGrp="1"/>
          </p:cNvSpPr>
          <p:nvPr>
            <p:ph type="body" idx="1"/>
          </p:nvPr>
        </p:nvSpPr>
        <p:spPr>
          <a:xfrm>
            <a:off x="301275" y="119925"/>
            <a:ext cx="4437900" cy="48897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Take a quick look at the review code on the right.</a:t>
            </a:r>
            <a:endParaRPr dirty="0"/>
          </a:p>
          <a:p>
            <a:pPr marL="457200" lvl="0" indent="-311150" algn="l" rtl="0">
              <a:lnSpc>
                <a:spcPct val="100000"/>
              </a:lnSpc>
              <a:spcBef>
                <a:spcPts val="1000"/>
              </a:spcBef>
              <a:spcAft>
                <a:spcPts val="0"/>
              </a:spcAft>
              <a:buSzPts val="1300"/>
              <a:buChar char="●"/>
            </a:pPr>
            <a:r>
              <a:rPr lang="en" dirty="0"/>
              <a:t>Python uses a hashing based implementation for both its set and dictionary.</a:t>
            </a:r>
            <a:endParaRPr dirty="0"/>
          </a:p>
          <a:p>
            <a:pPr marL="457200" lvl="0" indent="-311150" algn="l" rtl="0">
              <a:lnSpc>
                <a:spcPct val="100000"/>
              </a:lnSpc>
              <a:spcBef>
                <a:spcPts val="1000"/>
              </a:spcBef>
              <a:spcAft>
                <a:spcPts val="0"/>
              </a:spcAft>
              <a:buSzPts val="1300"/>
              <a:buChar char="●"/>
            </a:pPr>
            <a:r>
              <a:rPr lang="en" dirty="0"/>
              <a:t>For this reason their usage and constraints are very similar.</a:t>
            </a:r>
            <a:endParaRPr dirty="0"/>
          </a:p>
          <a:p>
            <a:pPr marL="457200" lvl="0" indent="-311150" algn="l" rtl="0">
              <a:lnSpc>
                <a:spcPct val="100000"/>
              </a:lnSpc>
              <a:spcBef>
                <a:spcPts val="1000"/>
              </a:spcBef>
              <a:spcAft>
                <a:spcPts val="0"/>
              </a:spcAft>
              <a:buSzPts val="1300"/>
              <a:buChar char="●"/>
            </a:pPr>
            <a:r>
              <a:rPr lang="en" dirty="0"/>
              <a:t>In fact, it is common to implement a </a:t>
            </a:r>
            <a:r>
              <a:rPr lang="en" dirty="0">
                <a:highlight>
                  <a:srgbClr val="FFFF00"/>
                </a:highlight>
              </a:rPr>
              <a:t>hashset using a hashmap.</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For the most part all of the operations will just be a pass through to the hashmap methods.</a:t>
            </a:r>
            <a:endParaRPr dirty="0"/>
          </a:p>
          <a:p>
            <a:pPr marL="914400" lvl="1" indent="-298450" algn="l" rtl="0">
              <a:lnSpc>
                <a:spcPct val="100000"/>
              </a:lnSpc>
              <a:spcBef>
                <a:spcPts val="0"/>
              </a:spcBef>
              <a:spcAft>
                <a:spcPts val="0"/>
              </a:spcAft>
              <a:buSzPts val="1100"/>
              <a:buChar char="o"/>
            </a:pPr>
            <a:r>
              <a:rPr lang="en" dirty="0"/>
              <a:t>Example for the HashSet class:</a:t>
            </a:r>
            <a:endParaRPr dirty="0"/>
          </a:p>
          <a:p>
            <a:pPr marL="914400" lvl="0" indent="0" algn="l" rtl="0">
              <a:lnSpc>
                <a:spcPct val="100000"/>
              </a:lnSpc>
              <a:spcBef>
                <a:spcPts val="0"/>
              </a:spcBef>
              <a:spcAft>
                <a:spcPts val="0"/>
              </a:spcAft>
              <a:buNone/>
            </a:pPr>
            <a:r>
              <a:rPr lang="en" sz="1100" dirty="0">
                <a:latin typeface="Courier New"/>
                <a:ea typeface="Courier New"/>
                <a:cs typeface="Courier New"/>
                <a:sym typeface="Courier New"/>
              </a:rPr>
              <a:t>@Override</a:t>
            </a:r>
            <a:endParaRPr sz="1100" dirty="0">
              <a:latin typeface="Courier New"/>
              <a:ea typeface="Courier New"/>
              <a:cs typeface="Courier New"/>
              <a:sym typeface="Courier New"/>
            </a:endParaRPr>
          </a:p>
          <a:p>
            <a:pPr marL="914400" lvl="0" indent="0" algn="l" rtl="0">
              <a:lnSpc>
                <a:spcPct val="100000"/>
              </a:lnSpc>
              <a:spcBef>
                <a:spcPts val="0"/>
              </a:spcBef>
              <a:spcAft>
                <a:spcPts val="0"/>
              </a:spcAft>
              <a:buNone/>
            </a:pPr>
            <a:r>
              <a:rPr lang="en" sz="1100" dirty="0">
                <a:latin typeface="Courier New"/>
                <a:ea typeface="Courier New"/>
                <a:cs typeface="Courier New"/>
                <a:sym typeface="Courier New"/>
              </a:rPr>
              <a:t>public boolean contains(E value){</a:t>
            </a:r>
            <a:endParaRPr sz="1100" dirty="0">
              <a:latin typeface="Courier New"/>
              <a:ea typeface="Courier New"/>
              <a:cs typeface="Courier New"/>
              <a:sym typeface="Courier New"/>
            </a:endParaRPr>
          </a:p>
          <a:p>
            <a:pPr marL="914400" lvl="0" indent="0" algn="l" rtl="0">
              <a:lnSpc>
                <a:spcPct val="100000"/>
              </a:lnSpc>
              <a:spcBef>
                <a:spcPts val="0"/>
              </a:spcBef>
              <a:spcAft>
                <a:spcPts val="0"/>
              </a:spcAft>
              <a:buNone/>
            </a:pPr>
            <a:r>
              <a:rPr lang="en" sz="1100" dirty="0">
                <a:latin typeface="Courier New"/>
                <a:ea typeface="Courier New"/>
                <a:cs typeface="Courier New"/>
                <a:sym typeface="Courier New"/>
              </a:rPr>
              <a:t>    return map.contains (value)</a:t>
            </a:r>
            <a:endParaRPr sz="1100" dirty="0">
              <a:latin typeface="Courier New"/>
              <a:ea typeface="Courier New"/>
              <a:cs typeface="Courier New"/>
              <a:sym typeface="Courier New"/>
            </a:endParaRPr>
          </a:p>
          <a:p>
            <a:pPr marL="914400" lvl="0" indent="0" algn="l" rtl="0">
              <a:lnSpc>
                <a:spcPct val="100000"/>
              </a:lnSpc>
              <a:spcBef>
                <a:spcPts val="0"/>
              </a:spcBef>
              <a:spcAft>
                <a:spcPts val="0"/>
              </a:spcAft>
              <a:buNone/>
            </a:pPr>
            <a:r>
              <a:rPr lang="en" sz="1100" dirty="0">
                <a:latin typeface="Courier New"/>
                <a:ea typeface="Courier New"/>
                <a:cs typeface="Courier New"/>
                <a:sym typeface="Courier New"/>
              </a:rPr>
              <a:t>}</a:t>
            </a:r>
            <a:endParaRPr sz="1100" dirty="0">
              <a:latin typeface="Courier New"/>
              <a:ea typeface="Courier New"/>
              <a:cs typeface="Courier New"/>
              <a:sym typeface="Courier New"/>
            </a:endParaRPr>
          </a:p>
          <a:p>
            <a:pPr marL="457200" lvl="0" indent="-311150" algn="l" rtl="0">
              <a:lnSpc>
                <a:spcPct val="100000"/>
              </a:lnSpc>
              <a:spcBef>
                <a:spcPts val="1000"/>
              </a:spcBef>
              <a:spcAft>
                <a:spcPts val="0"/>
              </a:spcAft>
              <a:buSzPts val="1300"/>
              <a:buChar char="●"/>
            </a:pPr>
            <a:r>
              <a:rPr lang="en" sz="1300" dirty="0"/>
              <a:t>T</a:t>
            </a:r>
            <a:r>
              <a:rPr lang="en" dirty="0"/>
              <a:t>here are a couple places where we'll need to make some small adjustments to the map logic.</a:t>
            </a:r>
            <a:endParaRPr dirty="0"/>
          </a:p>
          <a:p>
            <a:pPr marL="914400" lvl="1" indent="-298450" algn="l" rtl="0">
              <a:lnSpc>
                <a:spcPct val="100000"/>
              </a:lnSpc>
              <a:spcBef>
                <a:spcPts val="0"/>
              </a:spcBef>
              <a:spcAft>
                <a:spcPts val="0"/>
              </a:spcAft>
              <a:buSzPts val="1100"/>
              <a:buChar char="o"/>
            </a:pPr>
            <a:r>
              <a:rPr lang="en" dirty="0">
                <a:solidFill>
                  <a:srgbClr val="FF0000"/>
                </a:solidFill>
                <a:latin typeface="Courier New"/>
                <a:ea typeface="Courier New"/>
                <a:cs typeface="Courier New"/>
                <a:sym typeface="Courier New"/>
              </a:rPr>
              <a:t>add</a:t>
            </a:r>
            <a:r>
              <a:rPr lang="en" dirty="0"/>
              <a:t> - </a:t>
            </a:r>
            <a:r>
              <a:rPr lang="en" dirty="0">
                <a:highlight>
                  <a:srgbClr val="FFFF00"/>
                </a:highlight>
              </a:rPr>
              <a:t>Maps allow for overwriting the value but sets dont.</a:t>
            </a:r>
            <a:endParaRPr dirty="0">
              <a:highlight>
                <a:srgbClr val="FFFF00"/>
              </a:highlight>
            </a:endParaRPr>
          </a:p>
          <a:p>
            <a:pPr marL="914400" lvl="1" indent="-298450" algn="l" rtl="0">
              <a:lnSpc>
                <a:spcPct val="100000"/>
              </a:lnSpc>
              <a:spcBef>
                <a:spcPts val="0"/>
              </a:spcBef>
              <a:spcAft>
                <a:spcPts val="0"/>
              </a:spcAft>
              <a:buSzPts val="1100"/>
              <a:buChar char="o"/>
            </a:pPr>
            <a:r>
              <a:rPr lang="en" dirty="0">
                <a:solidFill>
                  <a:srgbClr val="FF0000"/>
                </a:solidFill>
                <a:latin typeface="Courier New"/>
                <a:ea typeface="Courier New"/>
                <a:cs typeface="Courier New"/>
                <a:sym typeface="Courier New"/>
              </a:rPr>
              <a:t>remove</a:t>
            </a:r>
            <a:r>
              <a:rPr lang="en" dirty="0"/>
              <a:t> - </a:t>
            </a:r>
            <a:r>
              <a:rPr lang="en" dirty="0">
                <a:highlight>
                  <a:srgbClr val="FFFF00"/>
                </a:highlight>
              </a:rPr>
              <a:t>Map returns the removed value but sets return a boolean.</a:t>
            </a:r>
            <a:endParaRPr dirty="0">
              <a:highlight>
                <a:srgbClr val="FFFF00"/>
              </a:highlight>
            </a:endParaRPr>
          </a:p>
          <a:p>
            <a:pPr marL="914400" lvl="1" indent="-298450" algn="l" rtl="0">
              <a:lnSpc>
                <a:spcPct val="100000"/>
              </a:lnSpc>
              <a:spcBef>
                <a:spcPts val="0"/>
              </a:spcBef>
              <a:spcAft>
                <a:spcPts val="0"/>
              </a:spcAft>
              <a:buSzPts val="1100"/>
              <a:buChar char="o"/>
            </a:pPr>
            <a:r>
              <a:rPr lang="en" dirty="0">
                <a:solidFill>
                  <a:srgbClr val="FF0000"/>
                </a:solidFill>
                <a:latin typeface="Courier New"/>
                <a:ea typeface="Courier New"/>
                <a:cs typeface="Courier New"/>
                <a:sym typeface="Courier New"/>
              </a:rPr>
              <a:t>toString</a:t>
            </a:r>
            <a:r>
              <a:rPr lang="en" dirty="0"/>
              <a:t> - </a:t>
            </a:r>
            <a:r>
              <a:rPr lang="en" dirty="0">
                <a:highlight>
                  <a:srgbClr val="FFFF00"/>
                </a:highlight>
              </a:rPr>
              <a:t>Maps have two pieces for each element while sets have one.</a:t>
            </a:r>
            <a:endParaRPr dirty="0">
              <a:highlight>
                <a:srgbClr val="FFFF00"/>
              </a:highlight>
            </a:endParaRPr>
          </a:p>
        </p:txBody>
      </p:sp>
      <p:sp>
        <p:nvSpPr>
          <p:cNvPr id="769" name="Google Shape;769;p94"/>
          <p:cNvSpPr txBox="1">
            <a:spLocks noGrp="1"/>
          </p:cNvSpPr>
          <p:nvPr>
            <p:ph type="body" idx="3"/>
          </p:nvPr>
        </p:nvSpPr>
        <p:spPr>
          <a:xfrm>
            <a:off x="5264725" y="927996"/>
            <a:ext cx="3706500" cy="485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146050" lvl="0" indent="0" algn="l" rtl="0">
              <a:lnSpc>
                <a:spcPct val="115000"/>
              </a:lnSpc>
              <a:spcBef>
                <a:spcPts val="0"/>
              </a:spcBef>
              <a:spcAft>
                <a:spcPts val="0"/>
              </a:spcAft>
              <a:buSzPts val="1300"/>
              <a:buNone/>
            </a:pPr>
            <a:r>
              <a:rPr lang="en" sz="1200"/>
              <a:t>Sets and Dictionaries can be created/initialized using curly braces (</a:t>
            </a:r>
            <a:r>
              <a:rPr lang="en" sz="1200" b="1">
                <a:solidFill>
                  <a:srgbClr val="FF0000"/>
                </a:solidFill>
                <a:latin typeface="Courier New"/>
                <a:ea typeface="Courier New"/>
                <a:cs typeface="Courier New"/>
                <a:sym typeface="Courier New"/>
              </a:rPr>
              <a:t>{}</a:t>
            </a:r>
            <a:r>
              <a:rPr lang="en" sz="1200"/>
              <a:t>)</a:t>
            </a:r>
            <a:endParaRPr/>
          </a:p>
        </p:txBody>
      </p:sp>
      <p:sp>
        <p:nvSpPr>
          <p:cNvPr id="770" name="Google Shape;770;p94"/>
          <p:cNvSpPr txBox="1"/>
          <p:nvPr/>
        </p:nvSpPr>
        <p:spPr>
          <a:xfrm>
            <a:off x="5264725" y="1508656"/>
            <a:ext cx="3706500" cy="2964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1</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a_set</a:t>
            </a:r>
            <a:r>
              <a:rPr lang="en" sz="1150">
                <a:latin typeface="Consolas"/>
                <a:ea typeface="Consolas"/>
                <a:cs typeface="Consolas"/>
                <a:sym typeface="Consolas"/>
              </a:rPr>
              <a:t> = </a:t>
            </a:r>
            <a:r>
              <a:rPr lang="en" sz="1150">
                <a:solidFill>
                  <a:srgbClr val="267F99"/>
                </a:solidFill>
                <a:latin typeface="Consolas"/>
                <a:ea typeface="Consolas"/>
                <a:cs typeface="Consolas"/>
                <a:sym typeface="Consolas"/>
              </a:rPr>
              <a:t>set</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b_set</a:t>
            </a:r>
            <a:r>
              <a:rPr lang="en" sz="1150">
                <a:latin typeface="Consolas"/>
                <a:ea typeface="Consolas"/>
                <a:cs typeface="Consolas"/>
                <a:sym typeface="Consolas"/>
              </a:rPr>
              <a:t> = {</a:t>
            </a:r>
            <a:r>
              <a:rPr lang="en" sz="1150">
                <a:solidFill>
                  <a:srgbClr val="098658"/>
                </a:solidFill>
                <a:latin typeface="Consolas"/>
                <a:ea typeface="Consolas"/>
                <a:cs typeface="Consolas"/>
                <a:sym typeface="Consolas"/>
              </a:rPr>
              <a:t>1</a:t>
            </a: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3</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3</a:t>
            </a:r>
            <a:endParaRPr sz="1150">
              <a:solidFill>
                <a:srgbClr val="098658"/>
              </a:solidFill>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4</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if</a:t>
            </a: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3</a:t>
            </a:r>
            <a:r>
              <a:rPr lang="en" sz="1150">
                <a:latin typeface="Consolas"/>
                <a:ea typeface="Consolas"/>
                <a:cs typeface="Consolas"/>
                <a:sym typeface="Consolas"/>
              </a:rPr>
              <a:t> </a:t>
            </a:r>
            <a:r>
              <a:rPr lang="en" sz="1150">
                <a:solidFill>
                  <a:srgbClr val="0000FF"/>
                </a:solidFill>
                <a:latin typeface="Consolas"/>
                <a:ea typeface="Consolas"/>
                <a:cs typeface="Consolas"/>
                <a:sym typeface="Consolas"/>
              </a:rPr>
              <a:t>in</a:t>
            </a:r>
            <a:r>
              <a:rPr lang="en" sz="1150">
                <a:latin typeface="Consolas"/>
                <a:ea typeface="Consolas"/>
                <a:cs typeface="Consolas"/>
                <a:sym typeface="Consolas"/>
              </a:rPr>
              <a:t> a_set: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5</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print</a:t>
            </a:r>
            <a:r>
              <a:rPr lang="en" sz="1150">
                <a:latin typeface="Consolas"/>
                <a:ea typeface="Consolas"/>
                <a:cs typeface="Consolas"/>
                <a:sym typeface="Consolas"/>
              </a:rPr>
              <a:t> (</a:t>
            </a:r>
            <a:r>
              <a:rPr lang="en" sz="1150">
                <a:solidFill>
                  <a:srgbClr val="A31515"/>
                </a:solidFill>
                <a:latin typeface="Consolas"/>
                <a:ea typeface="Consolas"/>
                <a:cs typeface="Consolas"/>
                <a:sym typeface="Consolas"/>
              </a:rPr>
              <a:t>"3 is in the set!"</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6</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else</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7</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a_set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3</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8</a:t>
            </a:r>
            <a:endParaRPr sz="1150">
              <a:solidFill>
                <a:srgbClr val="098658"/>
              </a:solidFill>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9</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a_dict</a:t>
            </a:r>
            <a:r>
              <a:rPr lang="en" sz="1150">
                <a:latin typeface="Consolas"/>
                <a:ea typeface="Consolas"/>
                <a:cs typeface="Consolas"/>
                <a:sym typeface="Consolas"/>
              </a:rPr>
              <a:t> = </a:t>
            </a:r>
            <a:r>
              <a:rPr lang="en" sz="1150">
                <a:solidFill>
                  <a:srgbClr val="267F99"/>
                </a:solidFill>
                <a:latin typeface="Consolas"/>
                <a:ea typeface="Consolas"/>
                <a:cs typeface="Consolas"/>
                <a:sym typeface="Consolas"/>
              </a:rPr>
              <a:t>dict</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10</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b_dict</a:t>
            </a:r>
            <a:r>
              <a:rPr lang="en" sz="1150">
                <a:latin typeface="Consolas"/>
                <a:ea typeface="Consolas"/>
                <a:cs typeface="Consolas"/>
                <a:sym typeface="Consolas"/>
              </a:rPr>
              <a:t> = {}</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11</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12</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c_dict</a:t>
            </a:r>
            <a:r>
              <a:rPr lang="en" sz="1150">
                <a:latin typeface="Consolas"/>
                <a:ea typeface="Consolas"/>
                <a:cs typeface="Consolas"/>
                <a:sym typeface="Consolas"/>
              </a:rPr>
              <a:t> = {</a:t>
            </a:r>
            <a:r>
              <a:rPr lang="en" sz="1150">
                <a:solidFill>
                  <a:srgbClr val="A31515"/>
                </a:solidFill>
                <a:latin typeface="Consolas"/>
                <a:ea typeface="Consolas"/>
                <a:cs typeface="Consolas"/>
                <a:sym typeface="Consolas"/>
              </a:rPr>
              <a:t>"one"</a:t>
            </a:r>
            <a:r>
              <a:rPr lang="en" sz="1150">
                <a:latin typeface="Consolas"/>
                <a:ea typeface="Consolas"/>
                <a:cs typeface="Consolas"/>
                <a:sym typeface="Consolas"/>
              </a:rPr>
              <a:t>:</a:t>
            </a:r>
            <a:r>
              <a:rPr lang="en" sz="1150">
                <a:solidFill>
                  <a:srgbClr val="098658"/>
                </a:solidFill>
                <a:latin typeface="Consolas"/>
                <a:ea typeface="Consolas"/>
                <a:cs typeface="Consolas"/>
                <a:sym typeface="Consolas"/>
              </a:rPr>
              <a:t>1</a:t>
            </a:r>
            <a:r>
              <a:rPr lang="en" sz="1150">
                <a:latin typeface="Consolas"/>
                <a:ea typeface="Consolas"/>
                <a:cs typeface="Consolas"/>
                <a:sym typeface="Consolas"/>
              </a:rPr>
              <a:t>, </a:t>
            </a:r>
            <a:r>
              <a:rPr lang="en" sz="1150">
                <a:solidFill>
                  <a:srgbClr val="A31515"/>
                </a:solidFill>
                <a:latin typeface="Consolas"/>
                <a:ea typeface="Consolas"/>
                <a:cs typeface="Consolas"/>
                <a:sym typeface="Consolas"/>
              </a:rPr>
              <a:t>"two"</a:t>
            </a:r>
            <a:r>
              <a:rPr lang="en" sz="1150">
                <a:latin typeface="Consolas"/>
                <a:ea typeface="Consolas"/>
                <a:cs typeface="Consolas"/>
                <a:sym typeface="Consolas"/>
              </a:rPr>
              <a:t>:</a:t>
            </a:r>
            <a:r>
              <a:rPr lang="en" sz="1150">
                <a:solidFill>
                  <a:srgbClr val="098658"/>
                </a:solidFill>
                <a:latin typeface="Consolas"/>
                <a:ea typeface="Consolas"/>
                <a:cs typeface="Consolas"/>
                <a:sym typeface="Consolas"/>
              </a:rPr>
              <a:t>2</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13</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c_dict</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"three"</a:t>
            </a:r>
            <a:r>
              <a:rPr lang="en" sz="1150">
                <a:latin typeface="Consolas"/>
                <a:ea typeface="Consolas"/>
                <a:cs typeface="Consolas"/>
                <a:sym typeface="Consolas"/>
              </a:rPr>
              <a:t>] = </a:t>
            </a:r>
            <a:r>
              <a:rPr lang="en" sz="1150">
                <a:solidFill>
                  <a:srgbClr val="098658"/>
                </a:solidFill>
                <a:latin typeface="Consolas"/>
                <a:ea typeface="Consolas"/>
                <a:cs typeface="Consolas"/>
                <a:sym typeface="Consolas"/>
              </a:rPr>
              <a:t>3</a:t>
            </a:r>
            <a:endParaRPr sz="1150">
              <a:solidFill>
                <a:srgbClr val="098658"/>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14</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c_dict</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"one"</a:t>
            </a:r>
            <a:r>
              <a:rPr lang="en" sz="1150">
                <a:latin typeface="Consolas"/>
                <a:ea typeface="Consolas"/>
                <a:cs typeface="Consolas"/>
                <a:sym typeface="Consolas"/>
              </a:rPr>
              <a:t>] = </a:t>
            </a:r>
            <a:r>
              <a:rPr lang="en" sz="1150">
                <a:solidFill>
                  <a:srgbClr val="098658"/>
                </a:solidFill>
                <a:latin typeface="Consolas"/>
                <a:ea typeface="Consolas"/>
                <a:cs typeface="Consolas"/>
                <a:sym typeface="Consolas"/>
              </a:rPr>
              <a:t>1111</a:t>
            </a:r>
            <a:endParaRPr sz="1150">
              <a:solidFill>
                <a:srgbClr val="999999"/>
              </a:solidFill>
              <a:latin typeface="Consolas"/>
              <a:ea typeface="Consolas"/>
              <a:cs typeface="Consolas"/>
              <a:sym typeface="Consolas"/>
            </a:endParaRPr>
          </a:p>
        </p:txBody>
      </p:sp>
      <p:sp>
        <p:nvSpPr>
          <p:cNvPr id="771" name="Google Shape;771;p94"/>
          <p:cNvSpPr txBox="1"/>
          <p:nvPr/>
        </p:nvSpPr>
        <p:spPr>
          <a:xfrm>
            <a:off x="5264725" y="4545694"/>
            <a:ext cx="3706500" cy="505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Keys can be used like </a:t>
            </a:r>
            <a:r>
              <a:rPr lang="en" sz="1200" b="1" i="1">
                <a:solidFill>
                  <a:srgbClr val="FF0000"/>
                </a:solidFill>
              </a:rPr>
              <a:t>indices </a:t>
            </a:r>
            <a:r>
              <a:rPr lang="en" sz="1200" b="0" i="0" u="none" strike="noStrike" cap="none">
                <a:solidFill>
                  <a:srgbClr val="000000"/>
                </a:solidFill>
                <a:latin typeface="Arial"/>
                <a:ea typeface="Arial"/>
                <a:cs typeface="Arial"/>
                <a:sym typeface="Arial"/>
              </a:rPr>
              <a:t>in an array or list to add or change values in the dictionary.</a:t>
            </a:r>
            <a:endParaRPr sz="1200" b="0" i="0" u="none" strike="noStrike" cap="none">
              <a:solidFill>
                <a:srgbClr val="000000"/>
              </a:solidFill>
              <a:latin typeface="Arial"/>
              <a:ea typeface="Arial"/>
              <a:cs typeface="Arial"/>
              <a:sym typeface="Arial"/>
            </a:endParaRPr>
          </a:p>
        </p:txBody>
      </p:sp>
      <p:cxnSp>
        <p:nvCxnSpPr>
          <p:cNvPr id="772" name="Google Shape;772;p94"/>
          <p:cNvCxnSpPr>
            <a:stCxn id="771" idx="1"/>
          </p:cNvCxnSpPr>
          <p:nvPr/>
        </p:nvCxnSpPr>
        <p:spPr>
          <a:xfrm rot="10800000" flipH="1">
            <a:off x="5264725" y="4112494"/>
            <a:ext cx="356700" cy="686100"/>
          </a:xfrm>
          <a:prstGeom prst="curvedConnector4">
            <a:avLst>
              <a:gd name="adj1" fmla="val -64088"/>
              <a:gd name="adj2" fmla="val 106105"/>
            </a:avLst>
          </a:prstGeom>
          <a:noFill/>
          <a:ln w="15875" cap="flat" cmpd="sng">
            <a:solidFill>
              <a:srgbClr val="FF0000"/>
            </a:solidFill>
            <a:prstDash val="solid"/>
            <a:round/>
            <a:headEnd type="none" w="sm" len="sm"/>
            <a:tailEnd type="triangle" w="med" len="med"/>
          </a:ln>
        </p:spPr>
      </p:cxnSp>
      <p:sp>
        <p:nvSpPr>
          <p:cNvPr id="773" name="Google Shape;773;p94"/>
          <p:cNvSpPr/>
          <p:nvPr/>
        </p:nvSpPr>
        <p:spPr>
          <a:xfrm>
            <a:off x="7109723" y="1421843"/>
            <a:ext cx="1388438" cy="432826"/>
          </a:xfrm>
          <a:custGeom>
            <a:avLst/>
            <a:gdLst/>
            <a:ahLst/>
            <a:cxnLst/>
            <a:rect l="l" t="t" r="r" b="b"/>
            <a:pathLst>
              <a:path w="1551327" h="466659" extrusionOk="0">
                <a:moveTo>
                  <a:pt x="1551327" y="0"/>
                </a:moveTo>
                <a:cubicBezTo>
                  <a:pt x="1377906" y="137685"/>
                  <a:pt x="1204486" y="275370"/>
                  <a:pt x="945931" y="353147"/>
                </a:cubicBezTo>
                <a:cubicBezTo>
                  <a:pt x="687376" y="430924"/>
                  <a:pt x="0" y="466659"/>
                  <a:pt x="0" y="466659"/>
                </a:cubicBezTo>
                <a:lnTo>
                  <a:pt x="0" y="466659"/>
                </a:ln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74" name="Google Shape;774;p94"/>
          <p:cNvSpPr/>
          <p:nvPr/>
        </p:nvSpPr>
        <p:spPr>
          <a:xfrm>
            <a:off x="6661982" y="1419880"/>
            <a:ext cx="2020138" cy="1980149"/>
          </a:xfrm>
          <a:custGeom>
            <a:avLst/>
            <a:gdLst/>
            <a:ahLst/>
            <a:cxnLst/>
            <a:rect l="l" t="t" r="r" b="b"/>
            <a:pathLst>
              <a:path w="2020138" h="1980149" extrusionOk="0">
                <a:moveTo>
                  <a:pt x="2017986" y="0"/>
                </a:moveTo>
                <a:cubicBezTo>
                  <a:pt x="2025343" y="620110"/>
                  <a:pt x="2032701" y="1240220"/>
                  <a:pt x="1696370" y="1570245"/>
                </a:cubicBezTo>
                <a:cubicBezTo>
                  <a:pt x="1360039" y="1900270"/>
                  <a:pt x="680019" y="1940209"/>
                  <a:pt x="0" y="1980149"/>
                </a:cubicBez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75" name="Google Shape;775;p94"/>
          <p:cNvSpPr/>
          <p:nvPr/>
        </p:nvSpPr>
        <p:spPr>
          <a:xfrm>
            <a:off x="7935836" y="1426186"/>
            <a:ext cx="927012" cy="2465727"/>
          </a:xfrm>
          <a:custGeom>
            <a:avLst/>
            <a:gdLst/>
            <a:ahLst/>
            <a:cxnLst/>
            <a:rect l="l" t="t" r="r" b="b"/>
            <a:pathLst>
              <a:path w="927012" h="2465727" extrusionOk="0">
                <a:moveTo>
                  <a:pt x="927012" y="0"/>
                </a:moveTo>
                <a:cubicBezTo>
                  <a:pt x="907042" y="593834"/>
                  <a:pt x="887073" y="1187669"/>
                  <a:pt x="800888" y="1576552"/>
                </a:cubicBezTo>
                <a:cubicBezTo>
                  <a:pt x="714703" y="1965435"/>
                  <a:pt x="543384" y="2185101"/>
                  <a:pt x="409903" y="2333297"/>
                </a:cubicBezTo>
                <a:cubicBezTo>
                  <a:pt x="276422" y="2481493"/>
                  <a:pt x="70419" y="2443655"/>
                  <a:pt x="0" y="2465727"/>
                </a:cubicBez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76" name="Google Shape;776;p94"/>
          <p:cNvSpPr/>
          <p:nvPr/>
        </p:nvSpPr>
        <p:spPr>
          <a:xfrm>
            <a:off x="5129398" y="4336608"/>
            <a:ext cx="473141" cy="337275"/>
          </a:xfrm>
          <a:custGeom>
            <a:avLst/>
            <a:gdLst/>
            <a:ahLst/>
            <a:cxnLst/>
            <a:rect l="l" t="t" r="r" b="b"/>
            <a:pathLst>
              <a:path w="473141" h="337275" extrusionOk="0">
                <a:moveTo>
                  <a:pt x="138912" y="337275"/>
                </a:moveTo>
                <a:cubicBezTo>
                  <a:pt x="67442" y="294708"/>
                  <a:pt x="-4028" y="252141"/>
                  <a:pt x="176" y="198538"/>
                </a:cubicBezTo>
                <a:cubicBezTo>
                  <a:pt x="4380" y="144935"/>
                  <a:pt x="85310" y="45087"/>
                  <a:pt x="164137" y="15658"/>
                </a:cubicBezTo>
                <a:cubicBezTo>
                  <a:pt x="242964" y="-13771"/>
                  <a:pt x="358052" y="4096"/>
                  <a:pt x="473141" y="21964"/>
                </a:cubicBez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0"/>
                                        </p:tgtEl>
                                        <p:attrNameLst>
                                          <p:attrName>style.visibility</p:attrName>
                                        </p:attrNameLst>
                                      </p:cBhvr>
                                      <p:to>
                                        <p:strVal val="visible"/>
                                      </p:to>
                                    </p:set>
                                    <p:animEffect transition="in" filter="fade">
                                      <p:cBhvr>
                                        <p:cTn id="7" dur="1000"/>
                                        <p:tgtEl>
                                          <p:spTgt spid="7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9"/>
                                        </p:tgtEl>
                                        <p:attrNameLst>
                                          <p:attrName>style.visibility</p:attrName>
                                        </p:attrNameLst>
                                      </p:cBhvr>
                                      <p:to>
                                        <p:strVal val="visible"/>
                                      </p:to>
                                    </p:set>
                                    <p:animEffect transition="in" filter="fade">
                                      <p:cBhvr>
                                        <p:cTn id="12" dur="1000"/>
                                        <p:tgtEl>
                                          <p:spTgt spid="769"/>
                                        </p:tgtEl>
                                      </p:cBhvr>
                                    </p:animEffect>
                                  </p:childTnLst>
                                </p:cTn>
                              </p:par>
                              <p:par>
                                <p:cTn id="13" presetID="10" presetClass="entr" presetSubtype="0" fill="hold" nodeType="withEffect">
                                  <p:stCondLst>
                                    <p:cond delay="0"/>
                                  </p:stCondLst>
                                  <p:childTnLst>
                                    <p:set>
                                      <p:cBhvr>
                                        <p:cTn id="14" dur="1" fill="hold">
                                          <p:stCondLst>
                                            <p:cond delay="0"/>
                                          </p:stCondLst>
                                        </p:cTn>
                                        <p:tgtEl>
                                          <p:spTgt spid="773"/>
                                        </p:tgtEl>
                                        <p:attrNameLst>
                                          <p:attrName>style.visibility</p:attrName>
                                        </p:attrNameLst>
                                      </p:cBhvr>
                                      <p:to>
                                        <p:strVal val="visible"/>
                                      </p:to>
                                    </p:set>
                                    <p:animEffect transition="in" filter="fade">
                                      <p:cBhvr>
                                        <p:cTn id="15" dur="500"/>
                                        <p:tgtEl>
                                          <p:spTgt spid="773"/>
                                        </p:tgtEl>
                                      </p:cBhvr>
                                    </p:animEffect>
                                  </p:childTnLst>
                                </p:cTn>
                              </p:par>
                              <p:par>
                                <p:cTn id="16" presetID="10" presetClass="entr" presetSubtype="0" fill="hold" nodeType="withEffect">
                                  <p:stCondLst>
                                    <p:cond delay="0"/>
                                  </p:stCondLst>
                                  <p:childTnLst>
                                    <p:set>
                                      <p:cBhvr>
                                        <p:cTn id="17" dur="1" fill="hold">
                                          <p:stCondLst>
                                            <p:cond delay="0"/>
                                          </p:stCondLst>
                                        </p:cTn>
                                        <p:tgtEl>
                                          <p:spTgt spid="774"/>
                                        </p:tgtEl>
                                        <p:attrNameLst>
                                          <p:attrName>style.visibility</p:attrName>
                                        </p:attrNameLst>
                                      </p:cBhvr>
                                      <p:to>
                                        <p:strVal val="visible"/>
                                      </p:to>
                                    </p:set>
                                    <p:animEffect transition="in" filter="fade">
                                      <p:cBhvr>
                                        <p:cTn id="18" dur="500"/>
                                        <p:tgtEl>
                                          <p:spTgt spid="774"/>
                                        </p:tgtEl>
                                      </p:cBhvr>
                                    </p:animEffect>
                                  </p:childTnLst>
                                </p:cTn>
                              </p:par>
                              <p:par>
                                <p:cTn id="19" presetID="10" presetClass="entr" presetSubtype="0" fill="hold" nodeType="withEffect">
                                  <p:stCondLst>
                                    <p:cond delay="0"/>
                                  </p:stCondLst>
                                  <p:childTnLst>
                                    <p:set>
                                      <p:cBhvr>
                                        <p:cTn id="20" dur="1" fill="hold">
                                          <p:stCondLst>
                                            <p:cond delay="0"/>
                                          </p:stCondLst>
                                        </p:cTn>
                                        <p:tgtEl>
                                          <p:spTgt spid="775"/>
                                        </p:tgtEl>
                                        <p:attrNameLst>
                                          <p:attrName>style.visibility</p:attrName>
                                        </p:attrNameLst>
                                      </p:cBhvr>
                                      <p:to>
                                        <p:strVal val="visible"/>
                                      </p:to>
                                    </p:set>
                                    <p:animEffect transition="in" filter="fade">
                                      <p:cBhvr>
                                        <p:cTn id="21" dur="500"/>
                                        <p:tgtEl>
                                          <p:spTgt spid="77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71"/>
                                        </p:tgtEl>
                                        <p:attrNameLst>
                                          <p:attrName>style.visibility</p:attrName>
                                        </p:attrNameLst>
                                      </p:cBhvr>
                                      <p:to>
                                        <p:strVal val="visible"/>
                                      </p:to>
                                    </p:set>
                                    <p:animEffect transition="in" filter="fade">
                                      <p:cBhvr>
                                        <p:cTn id="26" dur="1000"/>
                                        <p:tgtEl>
                                          <p:spTgt spid="771"/>
                                        </p:tgtEl>
                                      </p:cBhvr>
                                    </p:animEffect>
                                  </p:childTnLst>
                                </p:cTn>
                              </p:par>
                              <p:par>
                                <p:cTn id="27" presetID="10" presetClass="entr" presetSubtype="0" fill="hold" nodeType="withEffect">
                                  <p:stCondLst>
                                    <p:cond delay="0"/>
                                  </p:stCondLst>
                                  <p:childTnLst>
                                    <p:set>
                                      <p:cBhvr>
                                        <p:cTn id="28" dur="1" fill="hold">
                                          <p:stCondLst>
                                            <p:cond delay="0"/>
                                          </p:stCondLst>
                                        </p:cTn>
                                        <p:tgtEl>
                                          <p:spTgt spid="776"/>
                                        </p:tgtEl>
                                        <p:attrNameLst>
                                          <p:attrName>style.visibility</p:attrName>
                                        </p:attrNameLst>
                                      </p:cBhvr>
                                      <p:to>
                                        <p:strVal val="visible"/>
                                      </p:to>
                                    </p:set>
                                    <p:animEffect transition="in" filter="fade">
                                      <p:cBhvr>
                                        <p:cTn id="29" dur="500"/>
                                        <p:tgtEl>
                                          <p:spTgt spid="776"/>
                                        </p:tgtEl>
                                      </p:cBhvr>
                                    </p:animEffect>
                                  </p:childTnLst>
                                </p:cTn>
                              </p:par>
                              <p:par>
                                <p:cTn id="30" presetID="10" presetClass="entr" presetSubtype="0" fill="hold" nodeType="withEffect">
                                  <p:stCondLst>
                                    <p:cond delay="0"/>
                                  </p:stCondLst>
                                  <p:childTnLst>
                                    <p:set>
                                      <p:cBhvr>
                                        <p:cTn id="31" dur="1" fill="hold">
                                          <p:stCondLst>
                                            <p:cond delay="0"/>
                                          </p:stCondLst>
                                        </p:cTn>
                                        <p:tgtEl>
                                          <p:spTgt spid="772"/>
                                        </p:tgtEl>
                                        <p:attrNameLst>
                                          <p:attrName>style.visibility</p:attrName>
                                        </p:attrNameLst>
                                      </p:cBhvr>
                                      <p:to>
                                        <p:strVal val="visible"/>
                                      </p:to>
                                    </p:set>
                                    <p:animEffect transition="in" filter="fade">
                                      <p:cBhvr>
                                        <p:cTn id="32" dur="500"/>
                                        <p:tgtEl>
                                          <p:spTgt spid="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95"/>
          <p:cNvSpPr txBox="1">
            <a:spLocks noGrp="1"/>
          </p:cNvSpPr>
          <p:nvPr>
            <p:ph type="body" idx="1"/>
          </p:nvPr>
        </p:nvSpPr>
        <p:spPr>
          <a:xfrm>
            <a:off x="65250" y="731625"/>
            <a:ext cx="8955900" cy="956129"/>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Implement a HashSet using an internal HashMap. The set's values will be the keys in the map. </a:t>
            </a:r>
            <a:r>
              <a:rPr lang="en" dirty="0">
                <a:highlight>
                  <a:srgbClr val="FFFF00"/>
                </a:highlight>
              </a:rPr>
              <a:t>The values in the map will always be null.</a:t>
            </a:r>
            <a:endParaRPr dirty="0">
              <a:highlight>
                <a:srgbClr val="FFFF00"/>
              </a:highlight>
            </a:endParaRPr>
          </a:p>
        </p:txBody>
      </p:sp>
      <p:sp>
        <p:nvSpPr>
          <p:cNvPr id="782" name="Google Shape;782;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783" name="Google Shape;783;p95"/>
          <p:cNvSpPr txBox="1">
            <a:spLocks noGrp="1"/>
          </p:cNvSpPr>
          <p:nvPr>
            <p:ph type="body" idx="2"/>
          </p:nvPr>
        </p:nvSpPr>
        <p:spPr>
          <a:xfrm>
            <a:off x="3165300" y="1683725"/>
            <a:ext cx="5775900" cy="2564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a:t>
            </a:r>
            <a:r>
              <a:rPr lang="en" dirty="0">
                <a:solidFill>
                  <a:srgbClr val="FF0000"/>
                </a:solidFill>
                <a:latin typeface="Courier New"/>
                <a:ea typeface="Courier New"/>
                <a:cs typeface="Courier New"/>
                <a:sym typeface="Courier New"/>
              </a:rPr>
              <a:t>HashSet</a:t>
            </a:r>
            <a:r>
              <a:rPr lang="en" dirty="0"/>
              <a:t> class in the </a:t>
            </a:r>
            <a:r>
              <a:rPr lang="en" dirty="0">
                <a:solidFill>
                  <a:srgbClr val="FF0000"/>
                </a:solidFill>
                <a:latin typeface="Courier New"/>
                <a:ea typeface="Courier New"/>
                <a:cs typeface="Courier New"/>
                <a:sym typeface="Courier New"/>
              </a:rPr>
              <a:t>sets</a:t>
            </a:r>
            <a:r>
              <a:rPr lang="en" dirty="0"/>
              <a:t> package that implements the </a:t>
            </a:r>
            <a:r>
              <a:rPr lang="en" dirty="0">
                <a:latin typeface="Courier New"/>
                <a:ea typeface="Courier New"/>
                <a:cs typeface="Courier New"/>
                <a:sym typeface="Courier New"/>
              </a:rPr>
              <a:t>Set</a:t>
            </a:r>
            <a:r>
              <a:rPr lang="en" dirty="0"/>
              <a:t> interface.</a:t>
            </a:r>
            <a:endParaRPr dirty="0"/>
          </a:p>
          <a:p>
            <a:pPr marL="457200" lvl="0" indent="-311150" algn="l" rtl="0">
              <a:spcBef>
                <a:spcPts val="0"/>
              </a:spcBef>
              <a:spcAft>
                <a:spcPts val="0"/>
              </a:spcAft>
              <a:buSzPts val="1300"/>
              <a:buChar char="●"/>
            </a:pPr>
            <a:r>
              <a:rPr lang="en" dirty="0"/>
              <a:t>Implement all the required methods.</a:t>
            </a:r>
            <a:endParaRPr dirty="0"/>
          </a:p>
          <a:p>
            <a:pPr marL="457200" lvl="0" indent="-311150" algn="l" rtl="0">
              <a:spcBef>
                <a:spcPts val="0"/>
              </a:spcBef>
              <a:spcAft>
                <a:spcPts val="0"/>
              </a:spcAft>
              <a:buSzPts val="1300"/>
              <a:buChar char="●"/>
            </a:pPr>
            <a:r>
              <a:rPr lang="en" dirty="0"/>
              <a:t>Most will just be wrappers for the map's methods except for:</a:t>
            </a:r>
            <a:endParaRPr dirty="0"/>
          </a:p>
          <a:p>
            <a:pPr marL="914400" lvl="1" indent="-304800" algn="l" rtl="0">
              <a:spcBef>
                <a:spcPts val="0"/>
              </a:spcBef>
              <a:spcAft>
                <a:spcPts val="0"/>
              </a:spcAft>
              <a:buSzPts val="1200"/>
              <a:buChar char="○"/>
            </a:pPr>
            <a:r>
              <a:rPr lang="en" sz="1200" dirty="0">
                <a:solidFill>
                  <a:srgbClr val="FF0000"/>
                </a:solidFill>
                <a:latin typeface="Courier New"/>
                <a:ea typeface="Courier New"/>
                <a:cs typeface="Courier New"/>
                <a:sym typeface="Courier New"/>
              </a:rPr>
              <a:t>add</a:t>
            </a:r>
            <a:r>
              <a:rPr lang="en" sz="1200" dirty="0">
                <a:solidFill>
                  <a:srgbClr val="FF0000"/>
                </a:solidFill>
              </a:rPr>
              <a:t> </a:t>
            </a:r>
            <a:r>
              <a:rPr lang="en" sz="1200" dirty="0"/>
              <a:t>- Check to see if the value is a key in the map. If it is not, add the new value to the map as its key with a value of null. Otherwise, return false.</a:t>
            </a:r>
            <a:endParaRPr sz="1200" dirty="0"/>
          </a:p>
          <a:p>
            <a:pPr marL="914400" lvl="1" indent="-304800" algn="l" rtl="0">
              <a:spcBef>
                <a:spcPts val="0"/>
              </a:spcBef>
              <a:spcAft>
                <a:spcPts val="0"/>
              </a:spcAft>
              <a:buSzPts val="1200"/>
              <a:buChar char="○"/>
            </a:pPr>
            <a:r>
              <a:rPr lang="en" sz="1200" dirty="0">
                <a:solidFill>
                  <a:srgbClr val="FF0000"/>
                </a:solidFill>
                <a:latin typeface="Courier New"/>
                <a:ea typeface="Courier New"/>
                <a:cs typeface="Courier New"/>
                <a:sym typeface="Courier New"/>
              </a:rPr>
              <a:t>remove</a:t>
            </a:r>
            <a:r>
              <a:rPr lang="en" sz="1200" dirty="0">
                <a:solidFill>
                  <a:srgbClr val="FF0000"/>
                </a:solidFill>
              </a:rPr>
              <a:t> </a:t>
            </a:r>
            <a:r>
              <a:rPr lang="en" sz="1200" dirty="0"/>
              <a:t>- Check to see if the value is a key in the map. If it is, remove the key from the map and return true, otherwise return false.</a:t>
            </a:r>
            <a:endParaRPr sz="1200" dirty="0"/>
          </a:p>
          <a:p>
            <a:pPr marL="914400" lvl="1" indent="-304800" algn="l" rtl="0">
              <a:spcBef>
                <a:spcPts val="0"/>
              </a:spcBef>
              <a:spcAft>
                <a:spcPts val="0"/>
              </a:spcAft>
              <a:buSzPts val="1200"/>
              <a:buChar char="○"/>
            </a:pPr>
            <a:r>
              <a:rPr lang="en" sz="1200" dirty="0">
                <a:solidFill>
                  <a:srgbClr val="FF0000"/>
                </a:solidFill>
                <a:latin typeface="Courier New"/>
                <a:ea typeface="Courier New"/>
                <a:cs typeface="Courier New"/>
                <a:sym typeface="Courier New"/>
              </a:rPr>
              <a:t>toString</a:t>
            </a:r>
            <a:r>
              <a:rPr lang="en" sz="1200" dirty="0">
                <a:solidFill>
                  <a:srgbClr val="FF0000"/>
                </a:solidFill>
              </a:rPr>
              <a:t> </a:t>
            </a:r>
            <a:r>
              <a:rPr lang="en" sz="1200" dirty="0"/>
              <a:t>- This isn't required by the interface so you don't have to do it. If you want to, consider using the maps iterator.</a:t>
            </a:r>
            <a:endParaRPr sz="1200" dirty="0"/>
          </a:p>
        </p:txBody>
      </p:sp>
      <p:sp>
        <p:nvSpPr>
          <p:cNvPr id="784" name="Google Shape;784;p9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HashSet</a:t>
            </a:r>
            <a:endParaRPr/>
          </a:p>
        </p:txBody>
      </p:sp>
      <p:sp>
        <p:nvSpPr>
          <p:cNvPr id="785" name="Google Shape;785;p9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7.16</a:t>
            </a:r>
            <a:endParaRPr/>
          </a:p>
        </p:txBody>
      </p:sp>
      <p:sp>
        <p:nvSpPr>
          <p:cNvPr id="786" name="Google Shape;786;p95"/>
          <p:cNvSpPr txBox="1">
            <a:spLocks noGrp="1"/>
          </p:cNvSpPr>
          <p:nvPr>
            <p:ph type="body" idx="4"/>
          </p:nvPr>
        </p:nvSpPr>
        <p:spPr>
          <a:xfrm>
            <a:off x="141600" y="41569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a:t>
            </a:r>
            <a:r>
              <a:rPr lang="en" b="1" i="1">
                <a:solidFill>
                  <a:srgbClr val="FF0000"/>
                </a:solidFill>
              </a:rPr>
              <a:t>wrapper </a:t>
            </a:r>
            <a:r>
              <a:rPr lang="en"/>
              <a:t>is a method that </a:t>
            </a:r>
            <a:r>
              <a:rPr lang="en" b="1" i="1">
                <a:solidFill>
                  <a:srgbClr val="FF0000"/>
                </a:solidFill>
              </a:rPr>
              <a:t>only </a:t>
            </a:r>
            <a:r>
              <a:rPr lang="en"/>
              <a:t>calls a different classes method for its implementation.</a:t>
            </a:r>
            <a:endParaRPr/>
          </a:p>
        </p:txBody>
      </p:sp>
      <p:pic>
        <p:nvPicPr>
          <p:cNvPr id="787" name="Google Shape;787;p95"/>
          <p:cNvPicPr preferRelativeResize="0"/>
          <p:nvPr/>
        </p:nvPicPr>
        <p:blipFill>
          <a:blip r:embed="rId3">
            <a:alphaModFix/>
          </a:blip>
          <a:stretch>
            <a:fillRect/>
          </a:stretch>
        </p:blipFill>
        <p:spPr>
          <a:xfrm>
            <a:off x="152400" y="1598325"/>
            <a:ext cx="3095730" cy="24070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9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test our new HashSet by adding some custom class instances to it. We'll want to verify all the methods but we are really focusing on the uniqueness aspect.</a:t>
            </a:r>
            <a:endParaRPr/>
          </a:p>
        </p:txBody>
      </p:sp>
      <p:sp>
        <p:nvSpPr>
          <p:cNvPr id="793" name="Google Shape;793;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794" name="Google Shape;794;p96"/>
          <p:cNvSpPr txBox="1">
            <a:spLocks noGrp="1"/>
          </p:cNvSpPr>
          <p:nvPr>
            <p:ph type="body" idx="2"/>
          </p:nvPr>
        </p:nvSpPr>
        <p:spPr>
          <a:xfrm>
            <a:off x="3165300" y="1590225"/>
            <a:ext cx="5775900" cy="3446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class in the top level unit package named </a:t>
            </a:r>
            <a:r>
              <a:rPr lang="en" dirty="0">
                <a:solidFill>
                  <a:srgbClr val="FF0000"/>
                </a:solidFill>
                <a:latin typeface="Courier New"/>
                <a:ea typeface="Courier New"/>
                <a:cs typeface="Courier New"/>
                <a:sym typeface="Courier New"/>
              </a:rPr>
              <a:t>GroceryItem</a:t>
            </a:r>
            <a:r>
              <a:rPr lang="en" dirty="0"/>
              <a:t> that uses the UML on the left.</a:t>
            </a:r>
            <a:endParaRPr dirty="0"/>
          </a:p>
          <a:p>
            <a:pPr marL="457200" lvl="0" indent="-311150" algn="l" rtl="0">
              <a:spcBef>
                <a:spcPts val="0"/>
              </a:spcBef>
              <a:spcAft>
                <a:spcPts val="0"/>
              </a:spcAft>
              <a:buSzPts val="1300"/>
              <a:buChar char="●"/>
            </a:pPr>
            <a:r>
              <a:rPr lang="en" dirty="0"/>
              <a:t>Pick your favorite item that you regularly buy from the store that comes in multiple sizes (chips, drinks, gummies, etc.).</a:t>
            </a:r>
            <a:endParaRPr dirty="0"/>
          </a:p>
          <a:p>
            <a:pPr marL="457200" lvl="0" indent="-311150" algn="l" rtl="0">
              <a:spcBef>
                <a:spcPts val="0"/>
              </a:spcBef>
              <a:spcAft>
                <a:spcPts val="0"/>
              </a:spcAft>
              <a:buSzPts val="1300"/>
              <a:buChar char="●"/>
            </a:pPr>
            <a:r>
              <a:rPr lang="en" dirty="0"/>
              <a:t>In main, create a </a:t>
            </a:r>
            <a:r>
              <a:rPr lang="en" dirty="0">
                <a:solidFill>
                  <a:srgbClr val="FF0000"/>
                </a:solidFill>
                <a:latin typeface="Courier New"/>
                <a:ea typeface="Courier New"/>
                <a:cs typeface="Courier New"/>
                <a:sym typeface="Courier New"/>
              </a:rPr>
              <a:t>HashSet</a:t>
            </a:r>
            <a:r>
              <a:rPr lang="en" dirty="0"/>
              <a:t> of your </a:t>
            </a:r>
            <a:r>
              <a:rPr lang="en" dirty="0">
                <a:latin typeface="Courier New"/>
                <a:ea typeface="Courier New"/>
                <a:cs typeface="Courier New"/>
                <a:sym typeface="Courier New"/>
              </a:rPr>
              <a:t>GroceryItem</a:t>
            </a:r>
            <a:r>
              <a:rPr lang="en" dirty="0"/>
              <a:t>.</a:t>
            </a:r>
            <a:endParaRPr dirty="0"/>
          </a:p>
          <a:p>
            <a:pPr marL="457200" lvl="0" indent="-311150" algn="l" rtl="0">
              <a:spcBef>
                <a:spcPts val="0"/>
              </a:spcBef>
              <a:spcAft>
                <a:spcPts val="0"/>
              </a:spcAft>
              <a:buSzPts val="1300"/>
              <a:buChar char="●"/>
            </a:pPr>
            <a:r>
              <a:rPr lang="en" dirty="0"/>
              <a:t>Add at least </a:t>
            </a:r>
            <a:r>
              <a:rPr lang="en" b="1" i="1" dirty="0">
                <a:solidFill>
                  <a:srgbClr val="FF0000"/>
                </a:solidFill>
              </a:rPr>
              <a:t>6</a:t>
            </a:r>
            <a:r>
              <a:rPr lang="en" dirty="0"/>
              <a:t> different instances of the same item to the set. I.E. 6 snack sized bags of Lay's potato chips:</a:t>
            </a:r>
            <a:endParaRPr dirty="0"/>
          </a:p>
          <a:p>
            <a:pPr marL="457200" lvl="0" indent="0" algn="l" rtl="0">
              <a:lnSpc>
                <a:spcPct val="150000"/>
              </a:lnSpc>
              <a:spcBef>
                <a:spcPts val="0"/>
              </a:spcBef>
              <a:spcAft>
                <a:spcPts val="0"/>
              </a:spcAft>
              <a:buNone/>
            </a:pPr>
            <a:r>
              <a:rPr lang="en" dirty="0">
                <a:latin typeface="Courier New"/>
                <a:ea typeface="Courier New"/>
                <a:cs typeface="Courier New"/>
                <a:sym typeface="Courier New"/>
              </a:rPr>
              <a:t>set.add (new GroceryItem ("Lays Chips", 1));</a:t>
            </a:r>
            <a:endParaRPr dirty="0">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Make sure you add 6 different instances, not just one instance 6 times.</a:t>
            </a:r>
            <a:endParaRPr dirty="0"/>
          </a:p>
          <a:p>
            <a:pPr marL="457200" lvl="0" indent="-311150" algn="l" rtl="0">
              <a:spcBef>
                <a:spcPts val="0"/>
              </a:spcBef>
              <a:spcAft>
                <a:spcPts val="0"/>
              </a:spcAft>
              <a:buSzPts val="1300"/>
              <a:buChar char="●"/>
            </a:pPr>
            <a:r>
              <a:rPr lang="en" dirty="0"/>
              <a:t>What happens?</a:t>
            </a:r>
            <a:endParaRPr dirty="0"/>
          </a:p>
          <a:p>
            <a:pPr marL="457200" lvl="0" indent="-311150" algn="l" rtl="0">
              <a:spcBef>
                <a:spcPts val="0"/>
              </a:spcBef>
              <a:spcAft>
                <a:spcPts val="0"/>
              </a:spcAft>
              <a:buSzPts val="1300"/>
              <a:buChar char="●"/>
            </a:pPr>
            <a:r>
              <a:rPr lang="en" dirty="0"/>
              <a:t>Fix the issue by creating an </a:t>
            </a:r>
            <a:r>
              <a:rPr lang="en" dirty="0">
                <a:solidFill>
                  <a:srgbClr val="FF0000"/>
                </a:solidFill>
                <a:latin typeface="Courier New"/>
                <a:ea typeface="Courier New"/>
                <a:cs typeface="Courier New"/>
                <a:sym typeface="Courier New"/>
              </a:rPr>
              <a:t>equals</a:t>
            </a:r>
            <a:r>
              <a:rPr lang="en" dirty="0"/>
              <a:t> method for </a:t>
            </a:r>
            <a:r>
              <a:rPr lang="en" dirty="0">
                <a:latin typeface="Courier New"/>
                <a:ea typeface="Courier New"/>
                <a:cs typeface="Courier New"/>
                <a:sym typeface="Courier New"/>
              </a:rPr>
              <a:t>GroceryItem</a:t>
            </a:r>
            <a:r>
              <a:rPr lang="en" dirty="0"/>
              <a:t> that makes all items with the same name equivalent.</a:t>
            </a:r>
            <a:endParaRPr dirty="0"/>
          </a:p>
          <a:p>
            <a:pPr marL="457200" lvl="0" indent="-311150" algn="l" rtl="0">
              <a:spcBef>
                <a:spcPts val="0"/>
              </a:spcBef>
              <a:spcAft>
                <a:spcPts val="0"/>
              </a:spcAft>
              <a:buSzPts val="1300"/>
              <a:buChar char="●"/>
            </a:pPr>
            <a:r>
              <a:rPr lang="en" dirty="0"/>
              <a:t>Rerun your code, did it fix the issue fully? </a:t>
            </a:r>
            <a:endParaRPr dirty="0"/>
          </a:p>
        </p:txBody>
      </p:sp>
      <p:sp>
        <p:nvSpPr>
          <p:cNvPr id="795" name="Google Shape;795;p9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Test Time</a:t>
            </a:r>
            <a:endParaRPr/>
          </a:p>
        </p:txBody>
      </p:sp>
      <p:sp>
        <p:nvSpPr>
          <p:cNvPr id="796" name="Google Shape;796;p9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7.17</a:t>
            </a:r>
            <a:endParaRPr/>
          </a:p>
        </p:txBody>
      </p:sp>
      <p:sp>
        <p:nvSpPr>
          <p:cNvPr id="797" name="Google Shape;797;p96"/>
          <p:cNvSpPr txBox="1">
            <a:spLocks noGrp="1"/>
          </p:cNvSpPr>
          <p:nvPr>
            <p:ph type="body" idx="4"/>
          </p:nvPr>
        </p:nvSpPr>
        <p:spPr>
          <a:xfrm>
            <a:off x="141600" y="41569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Sets should ensure </a:t>
            </a:r>
            <a:r>
              <a:rPr lang="en" b="1" i="1">
                <a:solidFill>
                  <a:srgbClr val="FF0000"/>
                </a:solidFill>
              </a:rPr>
              <a:t>uniqueness</a:t>
            </a:r>
            <a:r>
              <a:rPr lang="en"/>
              <a:t> among the items contained in it.</a:t>
            </a:r>
            <a:endParaRPr/>
          </a:p>
        </p:txBody>
      </p:sp>
      <p:pic>
        <p:nvPicPr>
          <p:cNvPr id="798" name="Google Shape;798;p96"/>
          <p:cNvPicPr preferRelativeResize="0"/>
          <p:nvPr/>
        </p:nvPicPr>
        <p:blipFill>
          <a:blip r:embed="rId3">
            <a:alphaModFix/>
          </a:blip>
          <a:stretch>
            <a:fillRect/>
          </a:stretch>
        </p:blipFill>
        <p:spPr>
          <a:xfrm>
            <a:off x="223200" y="1861150"/>
            <a:ext cx="2860500" cy="188051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9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highlight>
                  <a:srgbClr val="FFFF00"/>
                </a:highlight>
              </a:rPr>
              <a:t>There is one last caveat to remember about hashing based data structures.</a:t>
            </a:r>
            <a:endParaRPr dirty="0">
              <a:highlight>
                <a:srgbClr val="FFFF00"/>
              </a:highlight>
            </a:endParaRPr>
          </a:p>
          <a:p>
            <a:pPr marL="457200" lvl="0" indent="-311150" algn="l" rtl="0">
              <a:spcBef>
                <a:spcPts val="0"/>
              </a:spcBef>
              <a:spcAft>
                <a:spcPts val="0"/>
              </a:spcAft>
              <a:buSzPts val="1300"/>
              <a:buChar char="●"/>
            </a:pPr>
            <a:r>
              <a:rPr lang="en" dirty="0">
                <a:highlight>
                  <a:srgbClr val="FFFF00"/>
                </a:highlight>
              </a:rPr>
              <a:t>Hash is used to locate an item and equals is used to verify we have the correct item.</a:t>
            </a:r>
            <a:endParaRPr dirty="0">
              <a:highlight>
                <a:srgbClr val="FFFF00"/>
              </a:highlight>
            </a:endParaRPr>
          </a:p>
          <a:p>
            <a:pPr marL="457200" lvl="0" indent="-311150" algn="l" rtl="0">
              <a:spcBef>
                <a:spcPts val="0"/>
              </a:spcBef>
              <a:spcAft>
                <a:spcPts val="0"/>
              </a:spcAft>
              <a:buSzPts val="1300"/>
              <a:buChar char="●"/>
            </a:pPr>
            <a:r>
              <a:rPr lang="en" dirty="0"/>
              <a:t>This means if two items that are equal don't hash to the same location bad things can happen.</a:t>
            </a:r>
            <a:endParaRPr dirty="0"/>
          </a:p>
          <a:p>
            <a:pPr marL="457200" lvl="0" indent="-311150" algn="l" rtl="0">
              <a:spcBef>
                <a:spcPts val="0"/>
              </a:spcBef>
              <a:spcAft>
                <a:spcPts val="0"/>
              </a:spcAft>
              <a:buSzPts val="1300"/>
              <a:buChar char="●"/>
            </a:pPr>
            <a:r>
              <a:rPr lang="en" dirty="0">
                <a:highlight>
                  <a:srgbClr val="FFFF00"/>
                </a:highlight>
              </a:rPr>
              <a:t>For this reason, if the data structure used as the key has a custom </a:t>
            </a:r>
            <a:r>
              <a:rPr lang="en" dirty="0">
                <a:highlight>
                  <a:srgbClr val="FFFF00"/>
                </a:highlight>
                <a:latin typeface="Courier New"/>
                <a:ea typeface="Courier New"/>
                <a:cs typeface="Courier New"/>
                <a:sym typeface="Courier New"/>
              </a:rPr>
              <a:t>equals</a:t>
            </a:r>
            <a:r>
              <a:rPr lang="en" dirty="0">
                <a:highlight>
                  <a:srgbClr val="FFFF00"/>
                </a:highlight>
              </a:rPr>
              <a:t> method, it must also have a custom </a:t>
            </a:r>
            <a:r>
              <a:rPr lang="en" dirty="0">
                <a:highlight>
                  <a:srgbClr val="FFFF00"/>
                </a:highlight>
                <a:latin typeface="Courier New"/>
                <a:ea typeface="Courier New"/>
                <a:cs typeface="Courier New"/>
                <a:sym typeface="Courier New"/>
              </a:rPr>
              <a:t>hashCode</a:t>
            </a:r>
            <a:r>
              <a:rPr lang="en" dirty="0">
                <a:highlight>
                  <a:srgbClr val="FFFF00"/>
                </a:highlight>
              </a:rPr>
              <a:t> method that ensures </a:t>
            </a:r>
            <a:r>
              <a:rPr lang="en" b="1" i="1" dirty="0">
                <a:solidFill>
                  <a:srgbClr val="FF0000"/>
                </a:solidFill>
                <a:highlight>
                  <a:srgbClr val="FFFF00"/>
                </a:highlight>
              </a:rPr>
              <a:t>equal items hash to the same location</a:t>
            </a:r>
            <a:r>
              <a:rPr lang="en" dirty="0">
                <a:highlight>
                  <a:srgbClr val="FFFF00"/>
                </a:highlight>
              </a:rPr>
              <a:t>.</a:t>
            </a:r>
            <a:endParaRPr dirty="0">
              <a:highlight>
                <a:srgbClr val="FFFF00"/>
              </a:highlight>
            </a:endParaRPr>
          </a:p>
          <a:p>
            <a:pPr marL="457200" lvl="0" indent="-311150" algn="l" rtl="0">
              <a:spcBef>
                <a:spcPts val="0"/>
              </a:spcBef>
              <a:spcAft>
                <a:spcPts val="0"/>
              </a:spcAft>
              <a:buSzPts val="1300"/>
              <a:buChar char="●"/>
            </a:pPr>
            <a:r>
              <a:rPr lang="en" dirty="0"/>
              <a:t>In practice, this normally means whatever values are used for equals are the values used in generating the hash code.</a:t>
            </a:r>
            <a:endParaRPr dirty="0"/>
          </a:p>
          <a:p>
            <a:pPr marL="457200" lvl="0" indent="-311150" algn="l" rtl="0">
              <a:spcBef>
                <a:spcPts val="0"/>
              </a:spcBef>
              <a:spcAft>
                <a:spcPts val="0"/>
              </a:spcAft>
              <a:buSzPts val="1300"/>
              <a:buChar char="●"/>
            </a:pPr>
            <a:r>
              <a:rPr lang="en" dirty="0"/>
              <a:t>You can make a custom hash method by overriding the </a:t>
            </a:r>
            <a:r>
              <a:rPr lang="en" dirty="0">
                <a:solidFill>
                  <a:srgbClr val="FF0000"/>
                </a:solidFill>
                <a:latin typeface="Courier New"/>
                <a:ea typeface="Courier New"/>
                <a:cs typeface="Courier New"/>
                <a:sym typeface="Courier New"/>
              </a:rPr>
              <a:t>hashCode()</a:t>
            </a:r>
            <a:r>
              <a:rPr lang="en" dirty="0"/>
              <a:t> method inherited from the </a:t>
            </a:r>
            <a:r>
              <a:rPr lang="en" dirty="0">
                <a:latin typeface="Courier New"/>
                <a:ea typeface="Courier New"/>
                <a:cs typeface="Courier New"/>
                <a:sym typeface="Courier New"/>
              </a:rPr>
              <a:t>Object</a:t>
            </a:r>
            <a:r>
              <a:rPr lang="en" dirty="0"/>
              <a:t> base class.</a:t>
            </a:r>
            <a:endParaRPr dirty="0"/>
          </a:p>
        </p:txBody>
      </p:sp>
      <p:sp>
        <p:nvSpPr>
          <p:cNvPr id="804" name="Google Shape;804;p9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805" name="Google Shape;805;p97"/>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Items that are equal </a:t>
            </a:r>
            <a:r>
              <a:rPr lang="en" b="1" i="1">
                <a:solidFill>
                  <a:srgbClr val="FF0000"/>
                </a:solidFill>
              </a:rPr>
              <a:t>must</a:t>
            </a:r>
            <a:r>
              <a:rPr lang="en"/>
              <a:t> hash to the same location or errors can occur.</a:t>
            </a:r>
            <a:endParaRPr/>
          </a:p>
        </p:txBody>
      </p:sp>
      <p:sp>
        <p:nvSpPr>
          <p:cNvPr id="806" name="Google Shape;806;p97"/>
          <p:cNvSpPr txBox="1">
            <a:spLocks noGrp="1"/>
          </p:cNvSpPr>
          <p:nvPr>
            <p:ph type="title"/>
          </p:nvPr>
        </p:nvSpPr>
        <p:spPr>
          <a:xfrm>
            <a:off x="5264725" y="192525"/>
            <a:ext cx="3706500" cy="9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Equal Hash Covenant</a:t>
            </a:r>
            <a:endParaRPr/>
          </a:p>
        </p:txBody>
      </p:sp>
      <p:pic>
        <p:nvPicPr>
          <p:cNvPr id="807" name="Google Shape;807;p97"/>
          <p:cNvPicPr preferRelativeResize="0"/>
          <p:nvPr/>
        </p:nvPicPr>
        <p:blipFill rotWithShape="1">
          <a:blip r:embed="rId3">
            <a:alphaModFix/>
          </a:blip>
          <a:srcRect l="13739" r="12627"/>
          <a:stretch/>
        </p:blipFill>
        <p:spPr>
          <a:xfrm>
            <a:off x="5192225" y="1361675"/>
            <a:ext cx="3706500" cy="2516775"/>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813" name="Google Shape;813;p9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Create a Custom Hash</a:t>
            </a:r>
            <a:endParaRPr/>
          </a:p>
        </p:txBody>
      </p:sp>
      <p:sp>
        <p:nvSpPr>
          <p:cNvPr id="814" name="Google Shape;814;p9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Even though we have an equals we don't have the equivalent hash so items are slipping through that shouldn't be. Solve this by adding a hash method that uses the same data as equals.</a:t>
            </a:r>
            <a:endParaRPr/>
          </a:p>
        </p:txBody>
      </p:sp>
      <p:sp>
        <p:nvSpPr>
          <p:cNvPr id="815" name="Google Shape;815;p98"/>
          <p:cNvSpPr txBox="1">
            <a:spLocks noGrp="1"/>
          </p:cNvSpPr>
          <p:nvPr>
            <p:ph type="body" idx="4"/>
          </p:nvPr>
        </p:nvSpPr>
        <p:spPr>
          <a:xfrm>
            <a:off x="121800" y="4367025"/>
            <a:ext cx="30435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For Java objects, you can use their </a:t>
            </a:r>
            <a:r>
              <a:rPr lang="en" b="1" i="1">
                <a:solidFill>
                  <a:srgbClr val="FF0000"/>
                </a:solidFill>
              </a:rPr>
              <a:t>hashCode</a:t>
            </a:r>
            <a:r>
              <a:rPr lang="en"/>
              <a:t>. For </a:t>
            </a:r>
            <a:r>
              <a:rPr lang="en">
                <a:latin typeface="Courier New"/>
                <a:ea typeface="Courier New"/>
                <a:cs typeface="Courier New"/>
                <a:sym typeface="Courier New"/>
              </a:rPr>
              <a:t>int</a:t>
            </a:r>
            <a:r>
              <a:rPr lang="en"/>
              <a:t>s we normally just use the value directly.</a:t>
            </a:r>
            <a:endParaRPr/>
          </a:p>
        </p:txBody>
      </p:sp>
      <p:sp>
        <p:nvSpPr>
          <p:cNvPr id="816" name="Google Shape;816;p98"/>
          <p:cNvSpPr txBox="1">
            <a:spLocks noGrp="1"/>
          </p:cNvSpPr>
          <p:nvPr>
            <p:ph type="body" idx="2"/>
          </p:nvPr>
        </p:nvSpPr>
        <p:spPr>
          <a:xfrm>
            <a:off x="3165300" y="1683725"/>
            <a:ext cx="5775900" cy="298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Add a </a:t>
            </a:r>
            <a:r>
              <a:rPr lang="en" dirty="0">
                <a:solidFill>
                  <a:srgbClr val="FF0000"/>
                </a:solidFill>
                <a:latin typeface="Courier New"/>
                <a:ea typeface="Courier New"/>
                <a:cs typeface="Courier New"/>
                <a:sym typeface="Courier New"/>
              </a:rPr>
              <a:t>hashCode</a:t>
            </a:r>
            <a:r>
              <a:rPr lang="en" dirty="0"/>
              <a:t> method to the </a:t>
            </a:r>
            <a:r>
              <a:rPr lang="en" dirty="0">
                <a:latin typeface="Courier New"/>
                <a:ea typeface="Courier New"/>
                <a:cs typeface="Courier New"/>
                <a:sym typeface="Courier New"/>
              </a:rPr>
              <a:t>GroceryItem</a:t>
            </a:r>
            <a:r>
              <a:rPr lang="en" dirty="0"/>
              <a:t> class.</a:t>
            </a:r>
            <a:endParaRPr dirty="0"/>
          </a:p>
          <a:p>
            <a:pPr marL="457200" lvl="0" indent="-311150" algn="l" rtl="0">
              <a:spcBef>
                <a:spcPts val="0"/>
              </a:spcBef>
              <a:spcAft>
                <a:spcPts val="0"/>
              </a:spcAft>
              <a:buSzPts val="1300"/>
              <a:buChar char="●"/>
            </a:pPr>
            <a:r>
              <a:rPr lang="en" dirty="0"/>
              <a:t>The method should </a:t>
            </a:r>
            <a:r>
              <a:rPr lang="en" b="1" i="1" dirty="0">
                <a:solidFill>
                  <a:srgbClr val="FF0000"/>
                </a:solidFill>
              </a:rPr>
              <a:t>calculate a hash code</a:t>
            </a:r>
            <a:r>
              <a:rPr lang="en" dirty="0"/>
              <a:t> using only the </a:t>
            </a:r>
            <a:r>
              <a:rPr lang="en" dirty="0">
                <a:latin typeface="Courier New"/>
                <a:ea typeface="Courier New"/>
                <a:cs typeface="Courier New"/>
                <a:sym typeface="Courier New"/>
              </a:rPr>
              <a:t>GroceryItem</a:t>
            </a:r>
            <a:r>
              <a:rPr lang="en" dirty="0"/>
              <a:t>'s name.</a:t>
            </a:r>
            <a:endParaRPr dirty="0"/>
          </a:p>
          <a:p>
            <a:pPr marL="457200" lvl="0" indent="-311150" algn="l" rtl="0">
              <a:spcBef>
                <a:spcPts val="0"/>
              </a:spcBef>
              <a:spcAft>
                <a:spcPts val="0"/>
              </a:spcAft>
              <a:buSzPts val="1300"/>
              <a:buChar char="●"/>
            </a:pPr>
            <a:r>
              <a:rPr lang="en" dirty="0"/>
              <a:t>Re-run your code and verify everything is working correctly.</a:t>
            </a:r>
            <a:endParaRPr dirty="0"/>
          </a:p>
          <a:p>
            <a:pPr marL="457200" lvl="0" indent="0" algn="l" rtl="0">
              <a:spcBef>
                <a:spcPts val="0"/>
              </a:spcBef>
              <a:spcAft>
                <a:spcPts val="0"/>
              </a:spcAft>
              <a:buNone/>
            </a:pPr>
            <a:endParaRPr dirty="0"/>
          </a:p>
          <a:p>
            <a:pPr marL="457200" lvl="0" indent="-311150" algn="l" rtl="0">
              <a:spcBef>
                <a:spcPts val="0"/>
              </a:spcBef>
              <a:spcAft>
                <a:spcPts val="0"/>
              </a:spcAft>
              <a:buSzPts val="1300"/>
              <a:buChar char="●"/>
            </a:pPr>
            <a:r>
              <a:rPr lang="en" dirty="0"/>
              <a:t>Now add a new </a:t>
            </a:r>
            <a:r>
              <a:rPr lang="en" dirty="0">
                <a:latin typeface="Courier New"/>
                <a:ea typeface="Courier New"/>
                <a:cs typeface="Courier New"/>
                <a:sym typeface="Courier New"/>
              </a:rPr>
              <a:t>GroceryItem</a:t>
            </a:r>
            <a:r>
              <a:rPr lang="en" dirty="0"/>
              <a:t> to the set that has the same name but a </a:t>
            </a:r>
            <a:r>
              <a:rPr lang="en" b="1" i="1" dirty="0">
                <a:solidFill>
                  <a:srgbClr val="FF0000"/>
                </a:solidFill>
              </a:rPr>
              <a:t>different weight</a:t>
            </a:r>
            <a:r>
              <a:rPr lang="en" dirty="0"/>
              <a:t>. I.E. </a:t>
            </a:r>
            <a:endParaRPr dirty="0"/>
          </a:p>
          <a:p>
            <a:pPr marL="457200" lvl="0" indent="0" algn="l" rtl="0">
              <a:lnSpc>
                <a:spcPct val="150000"/>
              </a:lnSpc>
              <a:spcBef>
                <a:spcPts val="0"/>
              </a:spcBef>
              <a:spcAft>
                <a:spcPts val="0"/>
              </a:spcAft>
              <a:buNone/>
            </a:pPr>
            <a:r>
              <a:rPr lang="en" dirty="0">
                <a:latin typeface="Courier New"/>
                <a:ea typeface="Courier New"/>
                <a:cs typeface="Courier New"/>
                <a:sym typeface="Courier New"/>
              </a:rPr>
              <a:t>set.add (new GroceryItem ("Lays Chips", 14.5));</a:t>
            </a:r>
            <a:endParaRPr dirty="0">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Run your code again and see what happens. </a:t>
            </a:r>
            <a:endParaRPr dirty="0"/>
          </a:p>
          <a:p>
            <a:pPr marL="457200" lvl="0" indent="-311150" algn="l" rtl="0">
              <a:spcBef>
                <a:spcPts val="0"/>
              </a:spcBef>
              <a:spcAft>
                <a:spcPts val="0"/>
              </a:spcAft>
              <a:buSzPts val="1300"/>
              <a:buChar char="●"/>
            </a:pPr>
            <a:r>
              <a:rPr lang="en" dirty="0"/>
              <a:t>Update the </a:t>
            </a:r>
            <a:r>
              <a:rPr lang="en" dirty="0">
                <a:latin typeface="Courier New"/>
                <a:ea typeface="Courier New"/>
                <a:cs typeface="Courier New"/>
                <a:sym typeface="Courier New"/>
              </a:rPr>
              <a:t>GroceryItem</a:t>
            </a:r>
            <a:r>
              <a:rPr lang="en" dirty="0"/>
              <a:t>'s </a:t>
            </a:r>
            <a:r>
              <a:rPr lang="en" dirty="0">
                <a:solidFill>
                  <a:srgbClr val="FF0000"/>
                </a:solidFill>
                <a:latin typeface="Courier New"/>
                <a:ea typeface="Courier New"/>
                <a:cs typeface="Courier New"/>
                <a:sym typeface="Courier New"/>
              </a:rPr>
              <a:t>equals</a:t>
            </a:r>
            <a:r>
              <a:rPr lang="en" dirty="0"/>
              <a:t> and </a:t>
            </a:r>
            <a:r>
              <a:rPr lang="en" dirty="0">
                <a:solidFill>
                  <a:srgbClr val="FF0000"/>
                </a:solidFill>
                <a:latin typeface="Courier New"/>
                <a:ea typeface="Courier New"/>
                <a:cs typeface="Courier New"/>
                <a:sym typeface="Courier New"/>
              </a:rPr>
              <a:t>hashCode</a:t>
            </a:r>
            <a:r>
              <a:rPr lang="en" dirty="0"/>
              <a:t> to account for different weights. I.E. Two items with the same name but different weights are considered </a:t>
            </a:r>
            <a:r>
              <a:rPr lang="en" b="1" i="1" dirty="0">
                <a:solidFill>
                  <a:srgbClr val="FF0000"/>
                </a:solidFill>
              </a:rPr>
              <a:t>different</a:t>
            </a:r>
            <a:r>
              <a:rPr lang="en" dirty="0"/>
              <a:t> items.</a:t>
            </a:r>
            <a:endParaRPr dirty="0"/>
          </a:p>
        </p:txBody>
      </p:sp>
      <p:sp>
        <p:nvSpPr>
          <p:cNvPr id="817" name="Google Shape;817;p9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7.18</a:t>
            </a:r>
            <a:endParaRPr/>
          </a:p>
        </p:txBody>
      </p:sp>
      <p:sp>
        <p:nvSpPr>
          <p:cNvPr id="818" name="Google Shape;818;p98"/>
          <p:cNvSpPr txBox="1"/>
          <p:nvPr/>
        </p:nvSpPr>
        <p:spPr>
          <a:xfrm>
            <a:off x="121800" y="1431299"/>
            <a:ext cx="3043500" cy="2905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name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SSN</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double</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salary</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Override</a:t>
            </a:r>
            <a:endParaRPr sz="105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boolean</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equals</a:t>
            </a:r>
            <a:r>
              <a:rPr lang="en" sz="1050">
                <a:solidFill>
                  <a:srgbClr val="3B3B3B"/>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Object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obj</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if</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obj</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instanceof</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Slides</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other</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return</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name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equals</a:t>
            </a:r>
            <a:r>
              <a:rPr lang="en" sz="1050">
                <a:solidFill>
                  <a:srgbClr val="3B3B3B"/>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other</a:t>
            </a:r>
            <a:r>
              <a:rPr lang="en" sz="1050">
                <a:solidFill>
                  <a:srgbClr val="3B3B3B"/>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name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&amp;&amp;</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1080"/>
                </a:solidFill>
                <a:highlight>
                  <a:srgbClr val="FFFFFF"/>
                </a:highlight>
                <a:latin typeface="Consolas"/>
                <a:ea typeface="Consolas"/>
                <a:cs typeface="Consolas"/>
                <a:sym typeface="Consolas"/>
              </a:rPr>
              <a:t>           SSN</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other</a:t>
            </a:r>
            <a:r>
              <a:rPr lang="en" sz="1050">
                <a:solidFill>
                  <a:srgbClr val="3B3B3B"/>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SSN</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AF00DB"/>
                </a:solidFill>
                <a:highlight>
                  <a:srgbClr val="FFFFFF"/>
                </a:highlight>
                <a:latin typeface="Consolas"/>
                <a:ea typeface="Consolas"/>
                <a:cs typeface="Consolas"/>
                <a:sym typeface="Consolas"/>
              </a:rPr>
              <a:t>  return</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false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E7F0F8"/>
                </a:highlight>
                <a:latin typeface="Consolas"/>
                <a:ea typeface="Consolas"/>
                <a:cs typeface="Consolas"/>
                <a:sym typeface="Consolas"/>
              </a:rPr>
              <a:t>@</a:t>
            </a:r>
            <a:r>
              <a:rPr lang="en" sz="1050">
                <a:solidFill>
                  <a:srgbClr val="267F99"/>
                </a:solidFill>
                <a:highlight>
                  <a:srgbClr val="E7F0F8"/>
                </a:highlight>
                <a:latin typeface="Consolas"/>
                <a:ea typeface="Consolas"/>
                <a:cs typeface="Consolas"/>
                <a:sym typeface="Consolas"/>
              </a:rPr>
              <a:t>Override</a:t>
            </a:r>
            <a:endParaRPr sz="1050">
              <a:solidFill>
                <a:srgbClr val="267F99"/>
              </a:solidFill>
              <a:highlight>
                <a:srgbClr val="E7F0F8"/>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E7F0F8"/>
                </a:highlight>
                <a:latin typeface="Consolas"/>
                <a:ea typeface="Consolas"/>
                <a:cs typeface="Consolas"/>
                <a:sym typeface="Consolas"/>
              </a:rPr>
              <a:t>public</a:t>
            </a:r>
            <a:r>
              <a:rPr lang="en" sz="1050">
                <a:solidFill>
                  <a:srgbClr val="3B3B3B"/>
                </a:solidFill>
                <a:highlight>
                  <a:srgbClr val="E7F0F8"/>
                </a:highlight>
                <a:latin typeface="Consolas"/>
                <a:ea typeface="Consolas"/>
                <a:cs typeface="Consolas"/>
                <a:sym typeface="Consolas"/>
              </a:rPr>
              <a:t> </a:t>
            </a:r>
            <a:r>
              <a:rPr lang="en" sz="1050">
                <a:solidFill>
                  <a:srgbClr val="267F99"/>
                </a:solidFill>
                <a:highlight>
                  <a:srgbClr val="E7F0F8"/>
                </a:highlight>
                <a:latin typeface="Consolas"/>
                <a:ea typeface="Consolas"/>
                <a:cs typeface="Consolas"/>
                <a:sym typeface="Consolas"/>
              </a:rPr>
              <a:t>int</a:t>
            </a:r>
            <a:r>
              <a:rPr lang="en" sz="1050">
                <a:solidFill>
                  <a:srgbClr val="3B3B3B"/>
                </a:solidFill>
                <a:highlight>
                  <a:srgbClr val="E7F0F8"/>
                </a:highlight>
                <a:latin typeface="Consolas"/>
                <a:ea typeface="Consolas"/>
                <a:cs typeface="Consolas"/>
                <a:sym typeface="Consolas"/>
              </a:rPr>
              <a:t> </a:t>
            </a:r>
            <a:r>
              <a:rPr lang="en" sz="1050">
                <a:solidFill>
                  <a:srgbClr val="795E26"/>
                </a:solidFill>
                <a:highlight>
                  <a:srgbClr val="E7F0F8"/>
                </a:highlight>
                <a:latin typeface="Consolas"/>
                <a:ea typeface="Consolas"/>
                <a:cs typeface="Consolas"/>
                <a:sym typeface="Consolas"/>
              </a:rPr>
              <a:t>hashCode</a:t>
            </a:r>
            <a:r>
              <a:rPr lang="en" sz="1050">
                <a:solidFill>
                  <a:srgbClr val="3B3B3B"/>
                </a:solidFill>
                <a:highlight>
                  <a:srgbClr val="E7F0F8"/>
                </a:highlight>
                <a:latin typeface="Consolas"/>
                <a:ea typeface="Consolas"/>
                <a:cs typeface="Consolas"/>
                <a:sym typeface="Consolas"/>
              </a:rPr>
              <a:t>() {</a:t>
            </a:r>
            <a:endParaRPr sz="1050">
              <a:solidFill>
                <a:srgbClr val="3B3B3B"/>
              </a:solidFill>
              <a:highlight>
                <a:srgbClr val="E7F0F8"/>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E7F0F8"/>
                </a:highlight>
                <a:latin typeface="Consolas"/>
                <a:ea typeface="Consolas"/>
                <a:cs typeface="Consolas"/>
                <a:sym typeface="Consolas"/>
              </a:rPr>
              <a:t>  </a:t>
            </a:r>
            <a:r>
              <a:rPr lang="en" sz="1050">
                <a:solidFill>
                  <a:srgbClr val="AF00DB"/>
                </a:solidFill>
                <a:highlight>
                  <a:srgbClr val="E7F0F8"/>
                </a:highlight>
                <a:latin typeface="Consolas"/>
                <a:ea typeface="Consolas"/>
                <a:cs typeface="Consolas"/>
                <a:sym typeface="Consolas"/>
              </a:rPr>
              <a:t>return</a:t>
            </a:r>
            <a:r>
              <a:rPr lang="en" sz="1050">
                <a:solidFill>
                  <a:srgbClr val="3B3B3B"/>
                </a:solidFill>
                <a:highlight>
                  <a:srgbClr val="E7F0F8"/>
                </a:highlight>
                <a:latin typeface="Consolas"/>
                <a:ea typeface="Consolas"/>
                <a:cs typeface="Consolas"/>
                <a:sym typeface="Consolas"/>
              </a:rPr>
              <a:t> </a:t>
            </a:r>
            <a:r>
              <a:rPr lang="en" sz="1050">
                <a:solidFill>
                  <a:srgbClr val="001080"/>
                </a:solidFill>
                <a:highlight>
                  <a:srgbClr val="E7F0F8"/>
                </a:highlight>
                <a:latin typeface="Consolas"/>
                <a:ea typeface="Consolas"/>
                <a:cs typeface="Consolas"/>
                <a:sym typeface="Consolas"/>
              </a:rPr>
              <a:t>name</a:t>
            </a:r>
            <a:r>
              <a:rPr lang="en" sz="1050">
                <a:solidFill>
                  <a:srgbClr val="3B3B3B"/>
                </a:solidFill>
                <a:highlight>
                  <a:srgbClr val="E7F0F8"/>
                </a:highlight>
                <a:latin typeface="Consolas"/>
                <a:ea typeface="Consolas"/>
                <a:cs typeface="Consolas"/>
                <a:sym typeface="Consolas"/>
              </a:rPr>
              <a:t>.</a:t>
            </a:r>
            <a:r>
              <a:rPr lang="en" sz="1050">
                <a:solidFill>
                  <a:srgbClr val="795E26"/>
                </a:solidFill>
                <a:highlight>
                  <a:srgbClr val="E7F0F8"/>
                </a:highlight>
                <a:latin typeface="Consolas"/>
                <a:ea typeface="Consolas"/>
                <a:cs typeface="Consolas"/>
                <a:sym typeface="Consolas"/>
              </a:rPr>
              <a:t>hashCode</a:t>
            </a:r>
            <a:r>
              <a:rPr lang="en" sz="1050">
                <a:solidFill>
                  <a:srgbClr val="3B3B3B"/>
                </a:solidFill>
                <a:highlight>
                  <a:srgbClr val="E7F0F8"/>
                </a:highlight>
                <a:latin typeface="Consolas"/>
                <a:ea typeface="Consolas"/>
                <a:cs typeface="Consolas"/>
                <a:sym typeface="Consolas"/>
              </a:rPr>
              <a:t>() </a:t>
            </a:r>
            <a:r>
              <a:rPr lang="en" sz="1050">
                <a:highlight>
                  <a:srgbClr val="E7F0F8"/>
                </a:highlight>
                <a:latin typeface="Consolas"/>
                <a:ea typeface="Consolas"/>
                <a:cs typeface="Consolas"/>
                <a:sym typeface="Consolas"/>
              </a:rPr>
              <a:t>*</a:t>
            </a:r>
            <a:r>
              <a:rPr lang="en" sz="1050">
                <a:solidFill>
                  <a:srgbClr val="3B3B3B"/>
                </a:solidFill>
                <a:highlight>
                  <a:srgbClr val="E7F0F8"/>
                </a:highlight>
                <a:latin typeface="Consolas"/>
                <a:ea typeface="Consolas"/>
                <a:cs typeface="Consolas"/>
                <a:sym typeface="Consolas"/>
              </a:rPr>
              <a:t> </a:t>
            </a:r>
            <a:r>
              <a:rPr lang="en" sz="1050">
                <a:solidFill>
                  <a:srgbClr val="001080"/>
                </a:solidFill>
                <a:highlight>
                  <a:srgbClr val="E7F0F8"/>
                </a:highlight>
                <a:latin typeface="Consolas"/>
                <a:ea typeface="Consolas"/>
                <a:cs typeface="Consolas"/>
                <a:sym typeface="Consolas"/>
              </a:rPr>
              <a:t>SSN</a:t>
            </a:r>
            <a:r>
              <a:rPr lang="en" sz="1050">
                <a:solidFill>
                  <a:srgbClr val="3B3B3B"/>
                </a:solidFill>
                <a:highlight>
                  <a:srgbClr val="E7F0F8"/>
                </a:highlight>
                <a:latin typeface="Consolas"/>
                <a:ea typeface="Consolas"/>
                <a:cs typeface="Consolas"/>
                <a:sym typeface="Consolas"/>
              </a:rPr>
              <a:t>;</a:t>
            </a:r>
            <a:endParaRPr sz="1050">
              <a:solidFill>
                <a:srgbClr val="3B3B3B"/>
              </a:solidFill>
              <a:highlight>
                <a:srgbClr val="E7F0F8"/>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E7F0F8"/>
                </a:highlight>
                <a:latin typeface="Consolas"/>
                <a:ea typeface="Consolas"/>
                <a:cs typeface="Consolas"/>
                <a:sym typeface="Consolas"/>
              </a:rPr>
              <a:t>}</a:t>
            </a:r>
            <a:endParaRPr sz="1050">
              <a:solidFill>
                <a:srgbClr val="3B3B3B"/>
              </a:solidFill>
              <a:highlight>
                <a:srgbClr val="E7F0F8"/>
              </a:highlight>
              <a:latin typeface="Consolas"/>
              <a:ea typeface="Consolas"/>
              <a:cs typeface="Consolas"/>
              <a:sym typeface="Consolas"/>
            </a:endParaRPr>
          </a:p>
          <a:p>
            <a:pPr marL="0" lvl="0" indent="0" algn="l" rtl="0">
              <a:lnSpc>
                <a:spcPct val="100000"/>
              </a:lnSpc>
              <a:spcBef>
                <a:spcPts val="0"/>
              </a:spcBef>
              <a:spcAft>
                <a:spcPts val="0"/>
              </a:spcAft>
              <a:buNone/>
            </a:pPr>
            <a:endParaRPr sz="1300">
              <a:solidFill>
                <a:schemeClr val="dk2"/>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p99"/>
          <p:cNvSpPr txBox="1">
            <a:spLocks noGrp="1"/>
          </p:cNvSpPr>
          <p:nvPr>
            <p:ph type="title"/>
          </p:nvPr>
        </p:nvSpPr>
        <p:spPr>
          <a:xfrm>
            <a:off x="5099350" y="7056"/>
            <a:ext cx="3799500" cy="1154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100"/>
              <a:t>JCF Data Structures: </a:t>
            </a:r>
            <a:r>
              <a:rPr lang="en" sz="2100">
                <a:latin typeface="Courier New"/>
                <a:ea typeface="Courier New"/>
                <a:cs typeface="Courier New"/>
                <a:sym typeface="Courier New"/>
              </a:rPr>
              <a:t>TreeSet</a:t>
            </a:r>
            <a:r>
              <a:rPr lang="en" sz="2100"/>
              <a:t>, </a:t>
            </a:r>
            <a:r>
              <a:rPr lang="en" sz="2100">
                <a:latin typeface="Courier New"/>
                <a:ea typeface="Courier New"/>
                <a:cs typeface="Courier New"/>
                <a:sym typeface="Courier New"/>
              </a:rPr>
              <a:t>HashSet</a:t>
            </a:r>
            <a:r>
              <a:rPr lang="en" sz="2100"/>
              <a:t>, </a:t>
            </a:r>
            <a:r>
              <a:rPr lang="en" sz="2100">
                <a:latin typeface="Courier New"/>
                <a:ea typeface="Courier New"/>
                <a:cs typeface="Courier New"/>
                <a:sym typeface="Courier New"/>
              </a:rPr>
              <a:t>TreeMap</a:t>
            </a:r>
            <a:r>
              <a:rPr lang="en" sz="2100"/>
              <a:t>, and </a:t>
            </a:r>
            <a:r>
              <a:rPr lang="en" sz="2100">
                <a:latin typeface="Courier New"/>
                <a:ea typeface="Courier New"/>
                <a:cs typeface="Courier New"/>
                <a:sym typeface="Courier New"/>
              </a:rPr>
              <a:t>HashMap</a:t>
            </a:r>
            <a:endParaRPr sz="2100">
              <a:latin typeface="Courier New"/>
              <a:ea typeface="Courier New"/>
              <a:cs typeface="Courier New"/>
              <a:sym typeface="Courier New"/>
            </a:endParaRPr>
          </a:p>
        </p:txBody>
      </p:sp>
      <p:sp>
        <p:nvSpPr>
          <p:cNvPr id="824" name="Google Shape;824;p99"/>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33</a:t>
            </a:fld>
            <a:endParaRPr/>
          </a:p>
        </p:txBody>
      </p:sp>
      <p:sp>
        <p:nvSpPr>
          <p:cNvPr id="825" name="Google Shape;825;p99"/>
          <p:cNvSpPr txBox="1">
            <a:spLocks noGrp="1"/>
          </p:cNvSpPr>
          <p:nvPr>
            <p:ph type="body" idx="1"/>
          </p:nvPr>
        </p:nvSpPr>
        <p:spPr>
          <a:xfrm>
            <a:off x="0" y="288175"/>
            <a:ext cx="4754700" cy="42276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Just like us, Java has a </a:t>
            </a:r>
            <a:r>
              <a:rPr lang="en" b="1" i="1" dirty="0">
                <a:solidFill>
                  <a:srgbClr val="FF0000"/>
                </a:solidFill>
                <a:highlight>
                  <a:srgbClr val="FFFF00"/>
                </a:highlight>
              </a:rPr>
              <a:t>Set</a:t>
            </a:r>
            <a:r>
              <a:rPr lang="en" dirty="0">
                <a:highlight>
                  <a:srgbClr val="FFFF00"/>
                </a:highlight>
              </a:rPr>
              <a:t> and </a:t>
            </a:r>
            <a:r>
              <a:rPr lang="en" b="1" i="1" dirty="0">
                <a:solidFill>
                  <a:srgbClr val="FF0000"/>
                </a:solidFill>
                <a:highlight>
                  <a:srgbClr val="FFFF00"/>
                </a:highlight>
              </a:rPr>
              <a:t>Map</a:t>
            </a:r>
            <a:r>
              <a:rPr lang="en" dirty="0">
                <a:highlight>
                  <a:srgbClr val="FFFF00"/>
                </a:highlight>
              </a:rPr>
              <a:t> </a:t>
            </a:r>
            <a:r>
              <a:rPr lang="en" dirty="0"/>
              <a:t>interface along with two implementations for each.</a:t>
            </a:r>
            <a:endParaRPr dirty="0"/>
          </a:p>
          <a:p>
            <a:pPr marL="457200" lvl="0" indent="-311150" algn="l" rtl="0">
              <a:lnSpc>
                <a:spcPct val="100000"/>
              </a:lnSpc>
              <a:spcBef>
                <a:spcPts val="1000"/>
              </a:spcBef>
              <a:spcAft>
                <a:spcPts val="0"/>
              </a:spcAft>
              <a:buSzPts val="1300"/>
              <a:buChar char="●"/>
            </a:pPr>
            <a:r>
              <a:rPr lang="en" dirty="0"/>
              <a:t>The </a:t>
            </a:r>
            <a:r>
              <a:rPr lang="en" b="1" i="1" dirty="0">
                <a:solidFill>
                  <a:srgbClr val="FF0000"/>
                </a:solidFill>
              </a:rPr>
              <a:t>TreeSet</a:t>
            </a:r>
            <a:r>
              <a:rPr lang="en" dirty="0">
                <a:solidFill>
                  <a:srgbClr val="FF0000"/>
                </a:solidFill>
              </a:rPr>
              <a:t> </a:t>
            </a:r>
            <a:r>
              <a:rPr lang="en" dirty="0"/>
              <a:t>in Java is an implementation of the </a:t>
            </a:r>
            <a:r>
              <a:rPr lang="en" b="1" i="1" dirty="0">
                <a:solidFill>
                  <a:srgbClr val="FF0000"/>
                </a:solidFill>
              </a:rPr>
              <a:t>Set</a:t>
            </a:r>
            <a:r>
              <a:rPr lang="en" dirty="0"/>
              <a:t> abstract data type that maintains its elements in sorted order.</a:t>
            </a:r>
            <a:endParaRPr dirty="0"/>
          </a:p>
          <a:p>
            <a:pPr marL="457200" lvl="0" indent="-311150" algn="l" rtl="0">
              <a:lnSpc>
                <a:spcPct val="100000"/>
              </a:lnSpc>
              <a:spcBef>
                <a:spcPts val="1000"/>
              </a:spcBef>
              <a:spcAft>
                <a:spcPts val="0"/>
              </a:spcAft>
              <a:buSzPts val="1300"/>
              <a:buChar char="●"/>
            </a:pPr>
            <a:r>
              <a:rPr lang="en" dirty="0"/>
              <a:t>The </a:t>
            </a:r>
            <a:r>
              <a:rPr lang="en" b="1" i="1" dirty="0">
                <a:solidFill>
                  <a:srgbClr val="FF0000"/>
                </a:solidFill>
              </a:rPr>
              <a:t>HashSet</a:t>
            </a:r>
            <a:r>
              <a:rPr lang="en" dirty="0">
                <a:solidFill>
                  <a:srgbClr val="FF0000"/>
                </a:solidFill>
              </a:rPr>
              <a:t> </a:t>
            </a:r>
            <a:r>
              <a:rPr lang="en" dirty="0"/>
              <a:t>in Java is an implementation of the </a:t>
            </a:r>
            <a:r>
              <a:rPr lang="en" b="1" i="1" dirty="0">
                <a:solidFill>
                  <a:srgbClr val="FF0000"/>
                </a:solidFill>
              </a:rPr>
              <a:t>Set</a:t>
            </a:r>
            <a:r>
              <a:rPr lang="en" dirty="0"/>
              <a:t> abstract data type that uses hashing, similar to pythons. It does not maintain order.</a:t>
            </a:r>
            <a:endParaRPr dirty="0"/>
          </a:p>
          <a:p>
            <a:pPr marL="457200" lvl="0" indent="-311150" algn="l" rtl="0">
              <a:lnSpc>
                <a:spcPct val="100000"/>
              </a:lnSpc>
              <a:spcBef>
                <a:spcPts val="1000"/>
              </a:spcBef>
              <a:spcAft>
                <a:spcPts val="0"/>
              </a:spcAft>
              <a:buSzPts val="1300"/>
              <a:buChar char="●"/>
            </a:pPr>
            <a:r>
              <a:rPr lang="en" dirty="0"/>
              <a:t>The </a:t>
            </a:r>
            <a:r>
              <a:rPr lang="en" b="1" i="1" dirty="0">
                <a:solidFill>
                  <a:srgbClr val="FF0000"/>
                </a:solidFill>
              </a:rPr>
              <a:t>TreeMap</a:t>
            </a:r>
            <a:r>
              <a:rPr lang="en" dirty="0"/>
              <a:t> in Java is an implementation of the </a:t>
            </a:r>
            <a:r>
              <a:rPr lang="en" b="1" i="1" dirty="0">
                <a:solidFill>
                  <a:srgbClr val="FF0000"/>
                </a:solidFill>
              </a:rPr>
              <a:t>Map</a:t>
            </a:r>
            <a:r>
              <a:rPr lang="en" dirty="0">
                <a:solidFill>
                  <a:srgbClr val="FF0000"/>
                </a:solidFill>
              </a:rPr>
              <a:t> </a:t>
            </a:r>
            <a:r>
              <a:rPr lang="en" dirty="0"/>
              <a:t>abstract data type that maintains its </a:t>
            </a:r>
            <a:r>
              <a:rPr lang="en" b="1" i="1" dirty="0">
                <a:solidFill>
                  <a:srgbClr val="FF0000"/>
                </a:solidFill>
              </a:rPr>
              <a:t>keys</a:t>
            </a:r>
            <a:r>
              <a:rPr lang="en" dirty="0">
                <a:solidFill>
                  <a:srgbClr val="FF0000"/>
                </a:solidFill>
              </a:rPr>
              <a:t> </a:t>
            </a:r>
            <a:r>
              <a:rPr lang="en" dirty="0"/>
              <a:t>in sorted order.</a:t>
            </a:r>
            <a:endParaRPr dirty="0"/>
          </a:p>
          <a:p>
            <a:pPr marL="457200" lvl="0" indent="-311150" algn="l" rtl="0">
              <a:lnSpc>
                <a:spcPct val="100000"/>
              </a:lnSpc>
              <a:spcBef>
                <a:spcPts val="1000"/>
              </a:spcBef>
              <a:spcAft>
                <a:spcPts val="0"/>
              </a:spcAft>
              <a:buSzPts val="1300"/>
              <a:buChar char="●"/>
            </a:pPr>
            <a:r>
              <a:rPr lang="en" dirty="0"/>
              <a:t>The </a:t>
            </a:r>
            <a:r>
              <a:rPr lang="en" b="1" i="1" dirty="0">
                <a:solidFill>
                  <a:srgbClr val="FF0000"/>
                </a:solidFill>
              </a:rPr>
              <a:t>HashMap</a:t>
            </a:r>
            <a:r>
              <a:rPr lang="en" dirty="0"/>
              <a:t> in Java is an implementation of the </a:t>
            </a:r>
            <a:r>
              <a:rPr lang="en" b="1" i="1" dirty="0">
                <a:solidFill>
                  <a:srgbClr val="FF0000"/>
                </a:solidFill>
              </a:rPr>
              <a:t>Map</a:t>
            </a:r>
            <a:r>
              <a:rPr lang="en" dirty="0">
                <a:solidFill>
                  <a:srgbClr val="FF0000"/>
                </a:solidFill>
              </a:rPr>
              <a:t> </a:t>
            </a:r>
            <a:r>
              <a:rPr lang="en" dirty="0"/>
              <a:t>abstract data type that hashes on </a:t>
            </a:r>
            <a:r>
              <a:rPr lang="en" b="1" i="1" dirty="0">
                <a:solidFill>
                  <a:srgbClr val="FF0000"/>
                </a:solidFill>
              </a:rPr>
              <a:t>keys</a:t>
            </a:r>
            <a:r>
              <a:rPr lang="en" dirty="0">
                <a:solidFill>
                  <a:srgbClr val="666666"/>
                </a:solidFill>
              </a:rPr>
              <a:t>, similar to python's dictionary</a:t>
            </a:r>
            <a:r>
              <a:rPr lang="en" dirty="0"/>
              <a:t>. It also does not maintain order.</a:t>
            </a:r>
            <a:endParaRPr dirty="0"/>
          </a:p>
          <a:p>
            <a:pPr marL="457200" lvl="0" indent="-311150" algn="l" rtl="0">
              <a:lnSpc>
                <a:spcPct val="100000"/>
              </a:lnSpc>
              <a:spcBef>
                <a:spcPts val="1000"/>
              </a:spcBef>
              <a:spcAft>
                <a:spcPts val="0"/>
              </a:spcAft>
              <a:buSzPts val="1300"/>
              <a:buChar char="●"/>
            </a:pPr>
            <a:r>
              <a:rPr lang="en" b="1" i="1" dirty="0">
                <a:solidFill>
                  <a:srgbClr val="FF0000"/>
                </a:solidFill>
              </a:rPr>
              <a:t>Both</a:t>
            </a:r>
            <a:r>
              <a:rPr lang="en" dirty="0">
                <a:solidFill>
                  <a:srgbClr val="FF0000"/>
                </a:solidFill>
              </a:rPr>
              <a:t> </a:t>
            </a:r>
            <a:r>
              <a:rPr lang="en" b="1" i="1" dirty="0">
                <a:solidFill>
                  <a:srgbClr val="FF0000"/>
                </a:solidFill>
              </a:rPr>
              <a:t>tree-based</a:t>
            </a:r>
            <a:r>
              <a:rPr lang="en" dirty="0">
                <a:solidFill>
                  <a:srgbClr val="FF0000"/>
                </a:solidFill>
              </a:rPr>
              <a:t> </a:t>
            </a:r>
            <a:r>
              <a:rPr lang="en" dirty="0"/>
              <a:t>data structures (</a:t>
            </a:r>
            <a:r>
              <a:rPr lang="en" b="1" dirty="0"/>
              <a:t>TreeSet</a:t>
            </a:r>
            <a:r>
              <a:rPr lang="en" dirty="0"/>
              <a:t> and </a:t>
            </a:r>
            <a:r>
              <a:rPr lang="en" b="1" dirty="0"/>
              <a:t>TreeMap</a:t>
            </a:r>
            <a:r>
              <a:rPr lang="en" dirty="0"/>
              <a:t>) require that the elements implement </a:t>
            </a:r>
            <a:r>
              <a:rPr lang="en" dirty="0">
                <a:highlight>
                  <a:srgbClr val="FFFF00"/>
                </a:highlight>
                <a:latin typeface="Courier New"/>
                <a:ea typeface="Courier New"/>
                <a:cs typeface="Courier New"/>
                <a:sym typeface="Courier New"/>
              </a:rPr>
              <a:t>Comparable</a:t>
            </a:r>
            <a:r>
              <a:rPr lang="en" dirty="0">
                <a:highlight>
                  <a:srgbClr val="FFFF00"/>
                </a:highlight>
              </a:rPr>
              <a:t> or that a </a:t>
            </a:r>
            <a:r>
              <a:rPr lang="en" dirty="0">
                <a:highlight>
                  <a:srgbClr val="FFFF00"/>
                </a:highlight>
                <a:latin typeface="Courier New"/>
                <a:ea typeface="Courier New"/>
                <a:cs typeface="Courier New"/>
                <a:sym typeface="Courier New"/>
              </a:rPr>
              <a:t>Comparator</a:t>
            </a:r>
            <a:r>
              <a:rPr lang="en" dirty="0">
                <a:highlight>
                  <a:srgbClr val="FFFF00"/>
                </a:highlight>
              </a:rPr>
              <a:t> is provided to help with the sorting</a:t>
            </a:r>
            <a:r>
              <a:rPr lang="en" dirty="0"/>
              <a:t>.</a:t>
            </a:r>
            <a:endParaRPr dirty="0"/>
          </a:p>
        </p:txBody>
      </p:sp>
      <p:sp>
        <p:nvSpPr>
          <p:cNvPr id="826" name="Google Shape;826;p99"/>
          <p:cNvSpPr txBox="1">
            <a:spLocks noGrp="1"/>
          </p:cNvSpPr>
          <p:nvPr>
            <p:ph type="body" idx="3"/>
          </p:nvPr>
        </p:nvSpPr>
        <p:spPr>
          <a:xfrm>
            <a:off x="5099263" y="3291425"/>
            <a:ext cx="3799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 </a:t>
            </a:r>
            <a:r>
              <a:rPr lang="en" sz="1200">
                <a:solidFill>
                  <a:srgbClr val="FF0000"/>
                </a:solidFill>
                <a:latin typeface="Courier New"/>
                <a:ea typeface="Courier New"/>
                <a:cs typeface="Courier New"/>
                <a:sym typeface="Courier New"/>
              </a:rPr>
              <a:t>TreeSet</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TreeMap</a:t>
            </a:r>
            <a:r>
              <a:rPr lang="en" sz="1200">
                <a:solidFill>
                  <a:srgbClr val="FF0000"/>
                </a:solidFill>
              </a:rPr>
              <a:t> </a:t>
            </a:r>
            <a:r>
              <a:rPr lang="en" sz="1200"/>
              <a:t>are alternate implementations of abstract data types with which you are already familiar. They provide all of the same operations.</a:t>
            </a:r>
            <a:endParaRPr sz="1200"/>
          </a:p>
        </p:txBody>
      </p:sp>
      <p:pic>
        <p:nvPicPr>
          <p:cNvPr id="827" name="Google Shape;827;p99"/>
          <p:cNvPicPr preferRelativeResize="0"/>
          <p:nvPr/>
        </p:nvPicPr>
        <p:blipFill>
          <a:blip r:embed="rId3">
            <a:alphaModFix/>
          </a:blip>
          <a:stretch>
            <a:fillRect/>
          </a:stretch>
        </p:blipFill>
        <p:spPr>
          <a:xfrm>
            <a:off x="5099350" y="1152375"/>
            <a:ext cx="3799374" cy="2035948"/>
          </a:xfrm>
          <a:prstGeom prst="rect">
            <a:avLst/>
          </a:prstGeom>
          <a:noFill/>
          <a:ln>
            <a:noFill/>
          </a:ln>
        </p:spPr>
      </p:pic>
      <p:sp>
        <p:nvSpPr>
          <p:cNvPr id="828" name="Google Shape;828;p99"/>
          <p:cNvSpPr txBox="1">
            <a:spLocks noGrp="1"/>
          </p:cNvSpPr>
          <p:nvPr>
            <p:ph type="body" idx="3"/>
          </p:nvPr>
        </p:nvSpPr>
        <p:spPr>
          <a:xfrm>
            <a:off x="5099275" y="4317925"/>
            <a:ext cx="3799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 fundamental difference is that both keep the values that they store </a:t>
            </a:r>
            <a:r>
              <a:rPr lang="en" sz="1200" b="1" i="1">
                <a:solidFill>
                  <a:srgbClr val="FF0000"/>
                </a:solidFill>
              </a:rPr>
              <a:t>in sorted order</a:t>
            </a:r>
            <a:r>
              <a:rPr lang="en" sz="1200"/>
              <a:t>. This makes them perform slightly </a:t>
            </a:r>
            <a:r>
              <a:rPr lang="en" sz="1200" b="1" i="1">
                <a:solidFill>
                  <a:srgbClr val="FF0000"/>
                </a:solidFill>
              </a:rPr>
              <a:t>slower</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26"/>
                                        </p:tgtEl>
                                        <p:attrNameLst>
                                          <p:attrName>style.visibility</p:attrName>
                                        </p:attrNameLst>
                                      </p:cBhvr>
                                      <p:to>
                                        <p:strVal val="visible"/>
                                      </p:to>
                                    </p:set>
                                    <p:animEffect transition="in" filter="fade">
                                      <p:cBhvr>
                                        <p:cTn id="31" dur="1000"/>
                                        <p:tgtEl>
                                          <p:spTgt spid="826"/>
                                        </p:tgtEl>
                                      </p:cBhvr>
                                    </p:animEffect>
                                  </p:childTnLst>
                                </p:cTn>
                              </p:par>
                              <p:par>
                                <p:cTn id="32" presetID="10" presetClass="entr" presetSubtype="0" fill="hold" nodeType="withEffect">
                                  <p:stCondLst>
                                    <p:cond delay="0"/>
                                  </p:stCondLst>
                                  <p:childTnLst>
                                    <p:set>
                                      <p:cBhvr>
                                        <p:cTn id="33" dur="1" fill="hold">
                                          <p:stCondLst>
                                            <p:cond delay="0"/>
                                          </p:stCondLst>
                                        </p:cTn>
                                        <p:tgtEl>
                                          <p:spTgt spid="827"/>
                                        </p:tgtEl>
                                        <p:attrNameLst>
                                          <p:attrName>style.visibility</p:attrName>
                                        </p:attrNameLst>
                                      </p:cBhvr>
                                      <p:to>
                                        <p:strVal val="visible"/>
                                      </p:to>
                                    </p:set>
                                    <p:animEffect transition="in" filter="fade">
                                      <p:cBhvr>
                                        <p:cTn id="34" dur="1000"/>
                                        <p:tgtEl>
                                          <p:spTgt spid="82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100"/>
          <p:cNvSpPr txBox="1">
            <a:spLocks noGrp="1"/>
          </p:cNvSpPr>
          <p:nvPr>
            <p:ph type="body" idx="1"/>
          </p:nvPr>
        </p:nvSpPr>
        <p:spPr>
          <a:xfrm>
            <a:off x="4383775" y="109800"/>
            <a:ext cx="4608300" cy="4881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You should recall that the primary characteristic of a </a:t>
            </a:r>
            <a:r>
              <a:rPr lang="en" b="1" i="1" dirty="0">
                <a:solidFill>
                  <a:srgbClr val="FF0000"/>
                </a:solidFill>
              </a:rPr>
              <a:t>set</a:t>
            </a:r>
            <a:r>
              <a:rPr lang="en" dirty="0">
                <a:solidFill>
                  <a:srgbClr val="FF0000"/>
                </a:solidFill>
              </a:rPr>
              <a:t> </a:t>
            </a:r>
            <a:r>
              <a:rPr lang="en" dirty="0"/>
              <a:t>is that it guarantees that its elements are </a:t>
            </a:r>
            <a:r>
              <a:rPr lang="en" b="1" i="1" dirty="0">
                <a:solidFill>
                  <a:srgbClr val="FF0000"/>
                </a:solidFill>
              </a:rPr>
              <a:t>unique</a:t>
            </a:r>
            <a:r>
              <a:rPr lang="en" dirty="0"/>
              <a:t>. </a:t>
            </a:r>
            <a:endParaRPr dirty="0"/>
          </a:p>
          <a:p>
            <a:pPr marL="457200" lvl="0" indent="-311150" algn="l" rtl="0">
              <a:spcBef>
                <a:spcPts val="1000"/>
              </a:spcBef>
              <a:spcAft>
                <a:spcPts val="0"/>
              </a:spcAft>
              <a:buSzPts val="1300"/>
              <a:buChar char="●"/>
            </a:pPr>
            <a:r>
              <a:rPr lang="en" dirty="0"/>
              <a:t>The set ADT provides at least the following operations:</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add(E)</a:t>
            </a:r>
            <a:r>
              <a:rPr lang="en" dirty="0"/>
              <a:t> - adds an element to the set.</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remove(E)</a:t>
            </a:r>
            <a:r>
              <a:rPr lang="en" dirty="0"/>
              <a:t> - removes an element from the set.</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contains(E)</a:t>
            </a:r>
            <a:r>
              <a:rPr lang="en" dirty="0"/>
              <a:t> - returns </a:t>
            </a:r>
            <a:r>
              <a:rPr lang="en" dirty="0">
                <a:latin typeface="Courier New"/>
                <a:ea typeface="Courier New"/>
                <a:cs typeface="Courier New"/>
                <a:sym typeface="Courier New"/>
              </a:rPr>
              <a:t>true</a:t>
            </a:r>
            <a:r>
              <a:rPr lang="en" dirty="0"/>
              <a:t> if the element is in the set, and </a:t>
            </a:r>
            <a:r>
              <a:rPr lang="en" dirty="0">
                <a:latin typeface="Courier New"/>
                <a:ea typeface="Courier New"/>
                <a:cs typeface="Courier New"/>
                <a:sym typeface="Courier New"/>
              </a:rPr>
              <a:t>false</a:t>
            </a:r>
            <a:r>
              <a:rPr lang="en" dirty="0"/>
              <a:t> otherwise.</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size()</a:t>
            </a:r>
            <a:r>
              <a:rPr lang="en" dirty="0"/>
              <a:t> - returns the number of elements in the set.</a:t>
            </a:r>
            <a:endParaRPr dirty="0"/>
          </a:p>
          <a:p>
            <a:pPr marL="457200" lvl="0" indent="-311150" algn="l" rtl="0">
              <a:spcBef>
                <a:spcPts val="1000"/>
              </a:spcBef>
              <a:spcAft>
                <a:spcPts val="0"/>
              </a:spcAft>
              <a:buSzPts val="1300"/>
              <a:buChar char="●"/>
            </a:pPr>
            <a:r>
              <a:rPr lang="en" dirty="0"/>
              <a:t>A </a:t>
            </a:r>
            <a:r>
              <a:rPr lang="en" b="1" i="1" dirty="0">
                <a:solidFill>
                  <a:srgbClr val="FF0000"/>
                </a:solidFill>
              </a:rPr>
              <a:t>hash set</a:t>
            </a:r>
            <a:r>
              <a:rPr lang="en" dirty="0"/>
              <a:t> provides constant time (</a:t>
            </a:r>
            <a:r>
              <a:rPr lang="en" i="1" dirty="0"/>
              <a:t>O(1)</a:t>
            </a:r>
            <a:r>
              <a:rPr lang="en" dirty="0"/>
              <a:t>) performance for all basic operations.</a:t>
            </a:r>
            <a:endParaRPr dirty="0"/>
          </a:p>
          <a:p>
            <a:pPr marL="914400" lvl="1" indent="-298450" algn="l" rtl="0">
              <a:spcBef>
                <a:spcPts val="0"/>
              </a:spcBef>
              <a:spcAft>
                <a:spcPts val="0"/>
              </a:spcAft>
              <a:buSzPts val="1100"/>
              <a:buChar char="○"/>
            </a:pPr>
            <a:r>
              <a:rPr lang="en" dirty="0"/>
              <a:t>The drawback is that the elements are stored in an unpredictable order.</a:t>
            </a:r>
            <a:endParaRPr dirty="0"/>
          </a:p>
          <a:p>
            <a:pPr marL="914400" lvl="1" indent="-298450" algn="l" rtl="0">
              <a:spcBef>
                <a:spcPts val="0"/>
              </a:spcBef>
              <a:spcAft>
                <a:spcPts val="0"/>
              </a:spcAft>
              <a:buSzPts val="1100"/>
              <a:buChar char="○"/>
            </a:pPr>
            <a:r>
              <a:rPr lang="en" dirty="0"/>
              <a:t>Java's implementation is </a:t>
            </a:r>
            <a:r>
              <a:rPr lang="en" u="sng" dirty="0">
                <a:solidFill>
                  <a:schemeClr val="hlink"/>
                </a:solidFill>
                <a:latin typeface="Courier New"/>
                <a:ea typeface="Courier New"/>
                <a:cs typeface="Courier New"/>
                <a:sym typeface="Courier New"/>
                <a:hlinkClick r:id="rId3"/>
              </a:rPr>
              <a:t>java.util.HashSet</a:t>
            </a:r>
            <a:r>
              <a:rPr lang="en" dirty="0"/>
              <a:t>.</a:t>
            </a:r>
            <a:endParaRPr dirty="0"/>
          </a:p>
          <a:p>
            <a:pPr marL="457200" lvl="0" indent="-311150" algn="l" rtl="0">
              <a:spcBef>
                <a:spcPts val="1000"/>
              </a:spcBef>
              <a:spcAft>
                <a:spcPts val="0"/>
              </a:spcAft>
              <a:buSzPts val="1300"/>
              <a:buChar char="●"/>
            </a:pPr>
            <a:r>
              <a:rPr lang="en" dirty="0"/>
              <a:t>A </a:t>
            </a:r>
            <a:r>
              <a:rPr lang="en" b="1" i="1" dirty="0">
                <a:solidFill>
                  <a:srgbClr val="FF0000"/>
                </a:solidFill>
              </a:rPr>
              <a:t>tree set</a:t>
            </a:r>
            <a:r>
              <a:rPr lang="en" dirty="0"/>
              <a:t> maintains its elements in </a:t>
            </a:r>
            <a:r>
              <a:rPr lang="en" b="1" i="1" dirty="0">
                <a:solidFill>
                  <a:srgbClr val="FF0000"/>
                </a:solidFill>
              </a:rPr>
              <a:t>sorted order</a:t>
            </a:r>
            <a:r>
              <a:rPr lang="en" dirty="0"/>
              <a:t>.</a:t>
            </a:r>
            <a:endParaRPr dirty="0"/>
          </a:p>
          <a:p>
            <a:pPr marL="914400" lvl="1" indent="-298450" algn="l" rtl="0">
              <a:spcBef>
                <a:spcPts val="0"/>
              </a:spcBef>
              <a:spcAft>
                <a:spcPts val="0"/>
              </a:spcAft>
              <a:buSzPts val="1100"/>
              <a:buChar char="○"/>
            </a:pPr>
            <a:r>
              <a:rPr lang="en" dirty="0"/>
              <a:t>This means that the elements must implement </a:t>
            </a:r>
            <a:r>
              <a:rPr lang="en" dirty="0">
                <a:latin typeface="Courier New"/>
                <a:ea typeface="Courier New"/>
                <a:cs typeface="Courier New"/>
                <a:sym typeface="Courier New"/>
              </a:rPr>
              <a:t>Comparable</a:t>
            </a:r>
            <a:r>
              <a:rPr lang="en" dirty="0"/>
              <a:t> or a </a:t>
            </a:r>
            <a:r>
              <a:rPr lang="en" dirty="0">
                <a:latin typeface="Courier New"/>
                <a:ea typeface="Courier New"/>
                <a:cs typeface="Courier New"/>
                <a:sym typeface="Courier New"/>
              </a:rPr>
              <a:t>Comparator</a:t>
            </a:r>
            <a:r>
              <a:rPr lang="en" dirty="0"/>
              <a:t> must be provided.</a:t>
            </a:r>
            <a:endParaRPr dirty="0"/>
          </a:p>
          <a:p>
            <a:pPr marL="914400" lvl="1" indent="-298450" algn="l" rtl="0">
              <a:spcBef>
                <a:spcPts val="0"/>
              </a:spcBef>
              <a:spcAft>
                <a:spcPts val="0"/>
              </a:spcAft>
              <a:buSzPts val="1100"/>
              <a:buChar char="○"/>
            </a:pPr>
            <a:r>
              <a:rPr lang="en" dirty="0"/>
              <a:t>Elements are stored in a </a:t>
            </a:r>
            <a:r>
              <a:rPr lang="en" b="1" i="1" dirty="0">
                <a:solidFill>
                  <a:srgbClr val="FF0000"/>
                </a:solidFill>
              </a:rPr>
              <a:t>binary tree</a:t>
            </a:r>
            <a:r>
              <a:rPr lang="en" dirty="0"/>
              <a:t> similar to a heap.</a:t>
            </a:r>
            <a:endParaRPr dirty="0"/>
          </a:p>
          <a:p>
            <a:pPr marL="914400" lvl="1" indent="-298450" algn="l" rtl="0">
              <a:spcBef>
                <a:spcPts val="0"/>
              </a:spcBef>
              <a:spcAft>
                <a:spcPts val="0"/>
              </a:spcAft>
              <a:buSzPts val="1100"/>
              <a:buChar char="○"/>
            </a:pPr>
            <a:r>
              <a:rPr lang="en" dirty="0"/>
              <a:t>The expected time complexity of most basic operations is therefore </a:t>
            </a:r>
            <a:r>
              <a:rPr lang="en" i="1" dirty="0"/>
              <a:t>O(log</a:t>
            </a:r>
            <a:r>
              <a:rPr lang="en" i="1" baseline="-25000" dirty="0"/>
              <a:t>2</a:t>
            </a:r>
            <a:r>
              <a:rPr lang="en" i="1" dirty="0"/>
              <a:t>n)</a:t>
            </a:r>
            <a:r>
              <a:rPr lang="en" dirty="0"/>
              <a:t>.</a:t>
            </a:r>
            <a:endParaRPr dirty="0"/>
          </a:p>
          <a:p>
            <a:pPr marL="914400" lvl="1" indent="-298450" algn="l" rtl="0">
              <a:spcBef>
                <a:spcPts val="0"/>
              </a:spcBef>
              <a:spcAft>
                <a:spcPts val="0"/>
              </a:spcAft>
              <a:buSzPts val="1100"/>
              <a:buChar char="○"/>
            </a:pPr>
            <a:r>
              <a:rPr lang="en" dirty="0"/>
              <a:t>Java's implementation is </a:t>
            </a:r>
            <a:r>
              <a:rPr lang="en" u="sng" dirty="0">
                <a:solidFill>
                  <a:schemeClr val="hlink"/>
                </a:solidFill>
                <a:latin typeface="Courier New"/>
                <a:ea typeface="Courier New"/>
                <a:cs typeface="Courier New"/>
                <a:sym typeface="Courier New"/>
                <a:hlinkClick r:id="rId4"/>
              </a:rPr>
              <a:t>java.util.TreeSet</a:t>
            </a:r>
            <a:r>
              <a:rPr lang="en" dirty="0"/>
              <a:t>.</a:t>
            </a:r>
            <a:endParaRPr dirty="0"/>
          </a:p>
        </p:txBody>
      </p:sp>
      <p:sp>
        <p:nvSpPr>
          <p:cNvPr id="834" name="Google Shape;834;p100"/>
          <p:cNvSpPr txBox="1">
            <a:spLocks noGrp="1"/>
          </p:cNvSpPr>
          <p:nvPr>
            <p:ph type="sldNum" idx="12"/>
          </p:nvPr>
        </p:nvSpPr>
        <p:spPr>
          <a:xfrm>
            <a:off x="8555892" y="473218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835" name="Google Shape;835;p100"/>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JCF Sets</a:t>
            </a:r>
            <a:endParaRPr/>
          </a:p>
        </p:txBody>
      </p:sp>
      <p:sp>
        <p:nvSpPr>
          <p:cNvPr id="836" name="Google Shape;836;p100"/>
          <p:cNvSpPr txBox="1">
            <a:spLocks noGrp="1"/>
          </p:cNvSpPr>
          <p:nvPr>
            <p:ph type="body" idx="3"/>
          </p:nvPr>
        </p:nvSpPr>
        <p:spPr>
          <a:xfrm>
            <a:off x="194125" y="834225"/>
            <a:ext cx="3942000" cy="5817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Java provides two main set implementations: </a:t>
            </a:r>
            <a:r>
              <a:rPr lang="en" sz="1200">
                <a:latin typeface="Courier New"/>
                <a:ea typeface="Courier New"/>
                <a:cs typeface="Courier New"/>
                <a:sym typeface="Courier New"/>
              </a:rPr>
              <a:t>HashSet</a:t>
            </a:r>
            <a:r>
              <a:rPr lang="en" sz="1200"/>
              <a:t> and </a:t>
            </a:r>
            <a:r>
              <a:rPr lang="en" sz="1200">
                <a:latin typeface="Courier New"/>
                <a:ea typeface="Courier New"/>
                <a:cs typeface="Courier New"/>
                <a:sym typeface="Courier New"/>
              </a:rPr>
              <a:t>TreeSet</a:t>
            </a:r>
            <a:r>
              <a:rPr lang="en" sz="1200"/>
              <a:t>.</a:t>
            </a:r>
            <a:endParaRPr sz="1200"/>
          </a:p>
        </p:txBody>
      </p:sp>
      <p:sp>
        <p:nvSpPr>
          <p:cNvPr id="837" name="Google Shape;837;p100"/>
          <p:cNvSpPr txBox="1"/>
          <p:nvPr/>
        </p:nvSpPr>
        <p:spPr>
          <a:xfrm>
            <a:off x="194125" y="1554125"/>
            <a:ext cx="3942000" cy="20433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a:solidFill>
                  <a:srgbClr val="666666"/>
                </a:solidFill>
                <a:latin typeface="Consolas"/>
                <a:ea typeface="Consolas"/>
                <a:cs typeface="Consolas"/>
                <a:sym typeface="Consolas"/>
              </a:rPr>
              <a:t>1  </a:t>
            </a:r>
            <a:r>
              <a:rPr lang="en" sz="1150">
                <a:solidFill>
                  <a:srgbClr val="267F99"/>
                </a:solidFill>
                <a:latin typeface="Consolas"/>
                <a:ea typeface="Consolas"/>
                <a:cs typeface="Consolas"/>
                <a:sym typeface="Consolas"/>
              </a:rPr>
              <a:t>Set</a:t>
            </a:r>
            <a:r>
              <a:rPr lang="en" sz="1150">
                <a:latin typeface="Consolas"/>
                <a:ea typeface="Consolas"/>
                <a:cs typeface="Consolas"/>
                <a:sym typeface="Consolas"/>
              </a:rPr>
              <a:t>&lt;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&gt;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TreeSet</a:t>
            </a:r>
            <a:r>
              <a:rPr lang="en" sz="1150">
                <a:latin typeface="Consolas"/>
                <a:ea typeface="Consolas"/>
                <a:cs typeface="Consolas"/>
                <a:sym typeface="Consolas"/>
              </a:rPr>
              <a:t>&lt;&gt;();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2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"z"</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3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"y"</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4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"x"</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5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6  </a:t>
            </a:r>
            <a:r>
              <a:rPr lang="en" sz="1150">
                <a:solidFill>
                  <a:srgbClr val="AF00DB"/>
                </a:solidFill>
                <a:latin typeface="Consolas"/>
                <a:ea typeface="Consolas"/>
                <a:cs typeface="Consolas"/>
                <a:sym typeface="Consolas"/>
              </a:rPr>
              <a:t>for</a:t>
            </a:r>
            <a:r>
              <a:rPr lang="en" sz="1150">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7  </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8  </a:t>
            </a:r>
            <a:r>
              <a:rPr lang="en" sz="1150">
                <a:latin typeface="Consolas"/>
                <a:ea typeface="Consolas"/>
                <a:cs typeface="Consolas"/>
                <a:sym typeface="Consolas"/>
              </a:rPr>
              <a:t>}</a:t>
            </a:r>
            <a:endParaRPr sz="1500">
              <a:latin typeface="Roboto"/>
              <a:ea typeface="Roboto"/>
              <a:cs typeface="Roboto"/>
              <a:sym typeface="Roboto"/>
            </a:endParaRPr>
          </a:p>
        </p:txBody>
      </p:sp>
      <p:sp>
        <p:nvSpPr>
          <p:cNvPr id="838" name="Google Shape;838;p100"/>
          <p:cNvSpPr txBox="1">
            <a:spLocks noGrp="1"/>
          </p:cNvSpPr>
          <p:nvPr>
            <p:ph type="body" idx="3"/>
          </p:nvPr>
        </p:nvSpPr>
        <p:spPr>
          <a:xfrm>
            <a:off x="193975" y="3735625"/>
            <a:ext cx="3942000" cy="79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a:latin typeface="Courier New"/>
                <a:ea typeface="Courier New"/>
                <a:cs typeface="Courier New"/>
                <a:sym typeface="Courier New"/>
              </a:rPr>
              <a:t>HashSet</a:t>
            </a:r>
            <a:r>
              <a:rPr lang="en" sz="1200"/>
              <a:t> is faster, but it's elements are stored in arbitrary order. The </a:t>
            </a:r>
            <a:r>
              <a:rPr lang="en" sz="1200">
                <a:latin typeface="Courier New"/>
                <a:ea typeface="Courier New"/>
                <a:cs typeface="Courier New"/>
                <a:sym typeface="Courier New"/>
              </a:rPr>
              <a:t>TreeSet</a:t>
            </a:r>
            <a:r>
              <a:rPr lang="en" sz="1200"/>
              <a:t> maintains its elements in sorted order at the cost of time complexity.</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3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3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3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3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3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3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3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836"/>
                                        </p:tgtEl>
                                        <p:attrNameLst>
                                          <p:attrName>style.visibility</p:attrName>
                                        </p:attrNameLst>
                                      </p:cBhvr>
                                      <p:to>
                                        <p:strVal val="visible"/>
                                      </p:to>
                                    </p:set>
                                    <p:animEffect transition="in" filter="fade">
                                      <p:cBhvr>
                                        <p:cTn id="63" dur="1000"/>
                                        <p:tgtEl>
                                          <p:spTgt spid="836"/>
                                        </p:tgtEl>
                                      </p:cBhvr>
                                    </p:animEffect>
                                  </p:childTnLst>
                                </p:cTn>
                              </p:par>
                              <p:par>
                                <p:cTn id="64" presetID="1" presetClass="entr" presetSubtype="0" fill="hold" nodeType="withEffect">
                                  <p:stCondLst>
                                    <p:cond delay="0"/>
                                  </p:stCondLst>
                                  <p:childTnLst>
                                    <p:set>
                                      <p:cBhvr>
                                        <p:cTn id="65" dur="1" fill="hold">
                                          <p:stCondLst>
                                            <p:cond delay="0"/>
                                          </p:stCondLst>
                                        </p:cTn>
                                        <p:tgtEl>
                                          <p:spTgt spid="83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838"/>
                                        </p:tgtEl>
                                        <p:attrNameLst>
                                          <p:attrName>style.visibility</p:attrName>
                                        </p:attrNameLst>
                                      </p:cBhvr>
                                      <p:to>
                                        <p:strVal val="visible"/>
                                      </p:to>
                                    </p:set>
                                    <p:animEffect transition="in" filter="fade">
                                      <p:cBhvr>
                                        <p:cTn id="70" dur="1000"/>
                                        <p:tgtEl>
                                          <p:spTgt spid="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844" name="Google Shape;844;p10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TreeSet</a:t>
            </a:r>
            <a:endParaRPr/>
          </a:p>
        </p:txBody>
      </p:sp>
      <p:sp>
        <p:nvSpPr>
          <p:cNvPr id="845" name="Google Shape;845;p101"/>
          <p:cNvSpPr txBox="1"/>
          <p:nvPr/>
        </p:nvSpPr>
        <p:spPr>
          <a:xfrm>
            <a:off x="2829300" y="1975925"/>
            <a:ext cx="3485400" cy="2043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a:solidFill>
                  <a:srgbClr val="666666"/>
                </a:solidFill>
                <a:latin typeface="Consolas"/>
                <a:ea typeface="Consolas"/>
                <a:cs typeface="Consolas"/>
                <a:sym typeface="Consolas"/>
              </a:rPr>
              <a:t>1  </a:t>
            </a:r>
            <a:r>
              <a:rPr lang="en" sz="1150">
                <a:solidFill>
                  <a:srgbClr val="267F99"/>
                </a:solidFill>
                <a:latin typeface="Consolas"/>
                <a:ea typeface="Consolas"/>
                <a:cs typeface="Consolas"/>
                <a:sym typeface="Consolas"/>
              </a:rPr>
              <a:t>Set</a:t>
            </a:r>
            <a:r>
              <a:rPr lang="en" sz="1150">
                <a:latin typeface="Consolas"/>
                <a:ea typeface="Consolas"/>
                <a:cs typeface="Consolas"/>
                <a:sym typeface="Consolas"/>
              </a:rPr>
              <a:t>&lt;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&gt;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TreeSet</a:t>
            </a:r>
            <a:r>
              <a:rPr lang="en" sz="1150">
                <a:latin typeface="Consolas"/>
                <a:ea typeface="Consolas"/>
                <a:cs typeface="Consolas"/>
                <a:sym typeface="Consolas"/>
              </a:rPr>
              <a:t>&lt;&gt;();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2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"z"</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3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"y"</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4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"x"</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5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6  </a:t>
            </a:r>
            <a:r>
              <a:rPr lang="en" sz="1150">
                <a:solidFill>
                  <a:srgbClr val="AF00DB"/>
                </a:solidFill>
                <a:latin typeface="Consolas"/>
                <a:ea typeface="Consolas"/>
                <a:cs typeface="Consolas"/>
                <a:sym typeface="Consolas"/>
              </a:rPr>
              <a:t>for</a:t>
            </a:r>
            <a:r>
              <a:rPr lang="en" sz="1150">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7  </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8  </a:t>
            </a:r>
            <a:r>
              <a:rPr lang="en" sz="1150">
                <a:latin typeface="Consolas"/>
                <a:ea typeface="Consolas"/>
                <a:cs typeface="Consolas"/>
                <a:sym typeface="Consolas"/>
              </a:rPr>
              <a:t>}</a:t>
            </a:r>
            <a:endParaRPr sz="1500">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851" name="Google Shape;851;p10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TreeSet</a:t>
            </a:r>
            <a:endParaRPr/>
          </a:p>
        </p:txBody>
      </p:sp>
      <p:sp>
        <p:nvSpPr>
          <p:cNvPr id="852" name="Google Shape;852;p102"/>
          <p:cNvSpPr txBox="1"/>
          <p:nvPr/>
        </p:nvSpPr>
        <p:spPr>
          <a:xfrm>
            <a:off x="2829300" y="1975925"/>
            <a:ext cx="3485400" cy="2043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a:solidFill>
                  <a:srgbClr val="666666"/>
                </a:solidFill>
                <a:latin typeface="Consolas"/>
                <a:ea typeface="Consolas"/>
                <a:cs typeface="Consolas"/>
                <a:sym typeface="Consolas"/>
              </a:rPr>
              <a:t>1  </a:t>
            </a:r>
            <a:r>
              <a:rPr lang="en" sz="1150">
                <a:solidFill>
                  <a:srgbClr val="267F99"/>
                </a:solidFill>
                <a:latin typeface="Consolas"/>
                <a:ea typeface="Consolas"/>
                <a:cs typeface="Consolas"/>
                <a:sym typeface="Consolas"/>
              </a:rPr>
              <a:t>Set</a:t>
            </a:r>
            <a:r>
              <a:rPr lang="en" sz="1150">
                <a:latin typeface="Consolas"/>
                <a:ea typeface="Consolas"/>
                <a:cs typeface="Consolas"/>
                <a:sym typeface="Consolas"/>
              </a:rPr>
              <a:t>&lt;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&gt;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TreeSet</a:t>
            </a:r>
            <a:r>
              <a:rPr lang="en" sz="1150">
                <a:latin typeface="Consolas"/>
                <a:ea typeface="Consolas"/>
                <a:cs typeface="Consolas"/>
                <a:sym typeface="Consolas"/>
              </a:rPr>
              <a:t>&lt;&gt;();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2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"z"</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3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"y"</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4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"x"</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5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6  </a:t>
            </a:r>
            <a:r>
              <a:rPr lang="en" sz="1150">
                <a:solidFill>
                  <a:srgbClr val="AF00DB"/>
                </a:solidFill>
                <a:latin typeface="Consolas"/>
                <a:ea typeface="Consolas"/>
                <a:cs typeface="Consolas"/>
                <a:sym typeface="Consolas"/>
              </a:rPr>
              <a:t>for</a:t>
            </a:r>
            <a:r>
              <a:rPr lang="en" sz="1150">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7  </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8  </a:t>
            </a:r>
            <a:r>
              <a:rPr lang="en" sz="1150">
                <a:latin typeface="Consolas"/>
                <a:ea typeface="Consolas"/>
                <a:cs typeface="Consolas"/>
                <a:sym typeface="Consolas"/>
              </a:rPr>
              <a:t>}</a:t>
            </a:r>
            <a:endParaRPr sz="1500">
              <a:latin typeface="Roboto"/>
              <a:ea typeface="Roboto"/>
              <a:cs typeface="Roboto"/>
              <a:sym typeface="Roboto"/>
            </a:endParaRPr>
          </a:p>
        </p:txBody>
      </p:sp>
      <p:sp>
        <p:nvSpPr>
          <p:cNvPr id="853" name="Google Shape;853;p102"/>
          <p:cNvSpPr/>
          <p:nvPr/>
        </p:nvSpPr>
        <p:spPr>
          <a:xfrm>
            <a:off x="2617600" y="1603174"/>
            <a:ext cx="599725" cy="490410"/>
          </a:xfrm>
          <a:custGeom>
            <a:avLst/>
            <a:gdLst/>
            <a:ahLst/>
            <a:cxnLst/>
            <a:rect l="l" t="t" r="r" b="b"/>
            <a:pathLst>
              <a:path w="23989" h="18000" extrusionOk="0">
                <a:moveTo>
                  <a:pt x="0" y="5017"/>
                </a:moveTo>
                <a:cubicBezTo>
                  <a:pt x="2258" y="4265"/>
                  <a:pt x="9549" y="-1662"/>
                  <a:pt x="13547" y="502"/>
                </a:cubicBezTo>
                <a:cubicBezTo>
                  <a:pt x="17545" y="2666"/>
                  <a:pt x="22249" y="15084"/>
                  <a:pt x="23989" y="1800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54" name="Google Shape;854;p102"/>
          <p:cNvSpPr txBox="1"/>
          <p:nvPr/>
        </p:nvSpPr>
        <p:spPr>
          <a:xfrm>
            <a:off x="169325" y="1354675"/>
            <a:ext cx="2547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Courier New"/>
                <a:ea typeface="Courier New"/>
                <a:cs typeface="Courier New"/>
                <a:sym typeface="Courier New"/>
              </a:rPr>
              <a:t>TreeSet</a:t>
            </a:r>
            <a:r>
              <a:rPr lang="en" sz="1200"/>
              <a:t> is an implementation of the same abstract data type as </a:t>
            </a:r>
            <a:r>
              <a:rPr lang="en" sz="1200">
                <a:latin typeface="Courier New"/>
                <a:ea typeface="Courier New"/>
                <a:cs typeface="Courier New"/>
                <a:sym typeface="Courier New"/>
              </a:rPr>
              <a:t>HashSet</a:t>
            </a:r>
            <a:r>
              <a:rPr lang="en" sz="1200"/>
              <a:t>.</a:t>
            </a:r>
            <a:endParaRPr sz="1200"/>
          </a:p>
        </p:txBody>
      </p:sp>
      <p:sp>
        <p:nvSpPr>
          <p:cNvPr id="855" name="Google Shape;855;p102"/>
          <p:cNvSpPr/>
          <p:nvPr/>
        </p:nvSpPr>
        <p:spPr>
          <a:xfrm>
            <a:off x="3831175" y="1415358"/>
            <a:ext cx="2645825" cy="673100"/>
          </a:xfrm>
          <a:custGeom>
            <a:avLst/>
            <a:gdLst/>
            <a:ahLst/>
            <a:cxnLst/>
            <a:rect l="l" t="t" r="r" b="b"/>
            <a:pathLst>
              <a:path w="105833" h="26924" extrusionOk="0">
                <a:moveTo>
                  <a:pt x="105833" y="11966"/>
                </a:moveTo>
                <a:cubicBezTo>
                  <a:pt x="90593" y="10038"/>
                  <a:pt x="32032" y="-2098"/>
                  <a:pt x="14393" y="395"/>
                </a:cubicBezTo>
                <a:cubicBezTo>
                  <a:pt x="-3246" y="2888"/>
                  <a:pt x="2399" y="22503"/>
                  <a:pt x="0" y="2692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56" name="Google Shape;856;p102"/>
          <p:cNvSpPr txBox="1"/>
          <p:nvPr/>
        </p:nvSpPr>
        <p:spPr>
          <a:xfrm>
            <a:off x="6427375" y="1354675"/>
            <a:ext cx="2547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type used with a </a:t>
            </a:r>
            <a:r>
              <a:rPr lang="en" sz="1200">
                <a:latin typeface="Courier New"/>
                <a:ea typeface="Courier New"/>
                <a:cs typeface="Courier New"/>
                <a:sym typeface="Courier New"/>
              </a:rPr>
              <a:t>TreeSet</a:t>
            </a:r>
            <a:r>
              <a:rPr lang="en" sz="1200"/>
              <a:t> must be naturally </a:t>
            </a:r>
            <a:r>
              <a:rPr lang="en" sz="1200">
                <a:latin typeface="Courier New"/>
                <a:ea typeface="Courier New"/>
                <a:cs typeface="Courier New"/>
                <a:sym typeface="Courier New"/>
              </a:rPr>
              <a:t>Comparable</a:t>
            </a:r>
            <a:r>
              <a:rPr lang="en" sz="1200"/>
              <a:t>…</a:t>
            </a:r>
            <a:endParaRPr sz="1200"/>
          </a:p>
        </p:txBody>
      </p:sp>
      <p:sp>
        <p:nvSpPr>
          <p:cNvPr id="857" name="Google Shape;857;p102"/>
          <p:cNvSpPr txBox="1"/>
          <p:nvPr/>
        </p:nvSpPr>
        <p:spPr>
          <a:xfrm>
            <a:off x="6427375" y="2680625"/>
            <a:ext cx="2547300" cy="330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TreeSet</a:t>
            </a:r>
            <a:r>
              <a:rPr lang="en" sz="950">
                <a:latin typeface="Consolas"/>
                <a:ea typeface="Consolas"/>
                <a:cs typeface="Consolas"/>
                <a:sym typeface="Consolas"/>
              </a:rPr>
              <a:t>&lt;&gt;(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DogComparator</a:t>
            </a:r>
            <a:r>
              <a:rPr lang="en" sz="950">
                <a:latin typeface="Consolas"/>
                <a:ea typeface="Consolas"/>
                <a:cs typeface="Consolas"/>
                <a:sym typeface="Consolas"/>
              </a:rPr>
              <a:t>());</a:t>
            </a:r>
            <a:endParaRPr sz="1100"/>
          </a:p>
        </p:txBody>
      </p:sp>
      <p:sp>
        <p:nvSpPr>
          <p:cNvPr id="858" name="Google Shape;858;p102"/>
          <p:cNvSpPr/>
          <p:nvPr/>
        </p:nvSpPr>
        <p:spPr>
          <a:xfrm>
            <a:off x="8226775" y="2497675"/>
            <a:ext cx="171100" cy="296325"/>
          </a:xfrm>
          <a:custGeom>
            <a:avLst/>
            <a:gdLst/>
            <a:ahLst/>
            <a:cxnLst/>
            <a:rect l="l" t="t" r="r" b="b"/>
            <a:pathLst>
              <a:path w="6844" h="11853" extrusionOk="0">
                <a:moveTo>
                  <a:pt x="0" y="0"/>
                </a:moveTo>
                <a:cubicBezTo>
                  <a:pt x="1129" y="753"/>
                  <a:pt x="6491" y="2540"/>
                  <a:pt x="6773" y="4515"/>
                </a:cubicBezTo>
                <a:cubicBezTo>
                  <a:pt x="7055" y="6491"/>
                  <a:pt x="2540" y="10630"/>
                  <a:pt x="1693" y="1185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59" name="Google Shape;859;p102"/>
          <p:cNvSpPr txBox="1"/>
          <p:nvPr/>
        </p:nvSpPr>
        <p:spPr>
          <a:xfrm>
            <a:off x="6427375" y="2017650"/>
            <a:ext cx="2547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t>
            </a:r>
            <a:r>
              <a:rPr lang="en" sz="1200" b="1" i="1"/>
              <a:t>or</a:t>
            </a:r>
            <a:r>
              <a:rPr lang="en" sz="1200"/>
              <a:t> a </a:t>
            </a:r>
            <a:r>
              <a:rPr lang="en" sz="1200">
                <a:latin typeface="Courier New"/>
                <a:ea typeface="Courier New"/>
                <a:cs typeface="Courier New"/>
                <a:sym typeface="Courier New"/>
              </a:rPr>
              <a:t>Comparator</a:t>
            </a:r>
            <a:r>
              <a:rPr lang="en" sz="1200"/>
              <a:t> can be passed into the constructor, e.g.:</a:t>
            </a:r>
            <a:endParaRPr sz="1200"/>
          </a:p>
        </p:txBody>
      </p:sp>
      <p:sp>
        <p:nvSpPr>
          <p:cNvPr id="860" name="Google Shape;860;p102"/>
          <p:cNvSpPr/>
          <p:nvPr/>
        </p:nvSpPr>
        <p:spPr>
          <a:xfrm>
            <a:off x="2532950" y="2716400"/>
            <a:ext cx="635000" cy="384375"/>
          </a:xfrm>
          <a:custGeom>
            <a:avLst/>
            <a:gdLst/>
            <a:ahLst/>
            <a:cxnLst/>
            <a:rect l="l" t="t" r="r" b="b"/>
            <a:pathLst>
              <a:path w="25400" h="15375" extrusionOk="0">
                <a:moveTo>
                  <a:pt x="0" y="11006"/>
                </a:moveTo>
                <a:cubicBezTo>
                  <a:pt x="1882" y="11665"/>
                  <a:pt x="7056" y="16791"/>
                  <a:pt x="11289" y="14957"/>
                </a:cubicBezTo>
                <a:cubicBezTo>
                  <a:pt x="15522" y="13123"/>
                  <a:pt x="23048" y="2493"/>
                  <a:pt x="2540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61" name="Google Shape;861;p102"/>
          <p:cNvSpPr txBox="1"/>
          <p:nvPr/>
        </p:nvSpPr>
        <p:spPr>
          <a:xfrm>
            <a:off x="169325" y="2455000"/>
            <a:ext cx="25473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 </a:t>
            </a:r>
            <a:r>
              <a:rPr lang="en" sz="1200">
                <a:latin typeface="Courier New"/>
                <a:ea typeface="Courier New"/>
                <a:cs typeface="Courier New"/>
                <a:sym typeface="Courier New"/>
              </a:rPr>
              <a:t>TreeSet</a:t>
            </a:r>
            <a:r>
              <a:rPr lang="en" sz="1200"/>
              <a:t> provides all of the same operations as a </a:t>
            </a:r>
            <a:r>
              <a:rPr lang="en" sz="1200">
                <a:latin typeface="Courier New"/>
                <a:ea typeface="Courier New"/>
                <a:cs typeface="Courier New"/>
                <a:sym typeface="Courier New"/>
              </a:rPr>
              <a:t>HashSet</a:t>
            </a:r>
            <a:r>
              <a:rPr lang="en" sz="1200"/>
              <a:t>, and also guarantees that the elements are unique…</a:t>
            </a:r>
            <a:endParaRPr sz="1200"/>
          </a:p>
        </p:txBody>
      </p:sp>
      <p:sp>
        <p:nvSpPr>
          <p:cNvPr id="862" name="Google Shape;862;p102"/>
          <p:cNvSpPr txBox="1"/>
          <p:nvPr/>
        </p:nvSpPr>
        <p:spPr>
          <a:xfrm>
            <a:off x="2836325" y="4106325"/>
            <a:ext cx="3478500" cy="831300"/>
          </a:xfrm>
          <a:prstGeom prst="rect">
            <a:avLst/>
          </a:prstGeom>
          <a:solidFill>
            <a:srgbClr val="000000"/>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1C232"/>
                </a:solidFill>
                <a:latin typeface="Consolas"/>
                <a:ea typeface="Consolas"/>
                <a:cs typeface="Consolas"/>
                <a:sym typeface="Consolas"/>
              </a:rPr>
              <a:t>x</a:t>
            </a:r>
            <a:endParaRPr>
              <a:solidFill>
                <a:srgbClr val="F1C232"/>
              </a:solidFill>
              <a:latin typeface="Consolas"/>
              <a:ea typeface="Consolas"/>
              <a:cs typeface="Consolas"/>
              <a:sym typeface="Consolas"/>
            </a:endParaRPr>
          </a:p>
          <a:p>
            <a:pPr marL="0" lvl="0" indent="0" algn="l" rtl="0">
              <a:spcBef>
                <a:spcPts val="0"/>
              </a:spcBef>
              <a:spcAft>
                <a:spcPts val="0"/>
              </a:spcAft>
              <a:buNone/>
            </a:pPr>
            <a:r>
              <a:rPr lang="en">
                <a:solidFill>
                  <a:srgbClr val="F1C232"/>
                </a:solidFill>
                <a:latin typeface="Consolas"/>
                <a:ea typeface="Consolas"/>
                <a:cs typeface="Consolas"/>
                <a:sym typeface="Consolas"/>
              </a:rPr>
              <a:t>y</a:t>
            </a:r>
            <a:endParaRPr>
              <a:solidFill>
                <a:srgbClr val="F1C232"/>
              </a:solidFill>
              <a:latin typeface="Consolas"/>
              <a:ea typeface="Consolas"/>
              <a:cs typeface="Consolas"/>
              <a:sym typeface="Consolas"/>
            </a:endParaRPr>
          </a:p>
          <a:p>
            <a:pPr marL="0" lvl="0" indent="0" algn="l" rtl="0">
              <a:spcBef>
                <a:spcPts val="0"/>
              </a:spcBef>
              <a:spcAft>
                <a:spcPts val="0"/>
              </a:spcAft>
              <a:buNone/>
            </a:pPr>
            <a:r>
              <a:rPr lang="en">
                <a:solidFill>
                  <a:srgbClr val="F1C232"/>
                </a:solidFill>
                <a:latin typeface="Consolas"/>
                <a:ea typeface="Consolas"/>
                <a:cs typeface="Consolas"/>
                <a:sym typeface="Consolas"/>
              </a:rPr>
              <a:t>z</a:t>
            </a:r>
            <a:endParaRPr>
              <a:solidFill>
                <a:srgbClr val="F1C232"/>
              </a:solidFill>
              <a:latin typeface="Consolas"/>
              <a:ea typeface="Consolas"/>
              <a:cs typeface="Consolas"/>
              <a:sym typeface="Consolas"/>
            </a:endParaRPr>
          </a:p>
        </p:txBody>
      </p:sp>
      <p:sp>
        <p:nvSpPr>
          <p:cNvPr id="863" name="Google Shape;863;p102"/>
          <p:cNvSpPr/>
          <p:nvPr/>
        </p:nvSpPr>
        <p:spPr>
          <a:xfrm>
            <a:off x="2582325" y="3457225"/>
            <a:ext cx="656175" cy="451567"/>
          </a:xfrm>
          <a:custGeom>
            <a:avLst/>
            <a:gdLst/>
            <a:ahLst/>
            <a:cxnLst/>
            <a:rect l="l" t="t" r="r" b="b"/>
            <a:pathLst>
              <a:path w="26247" h="27285" extrusionOk="0">
                <a:moveTo>
                  <a:pt x="0" y="23424"/>
                </a:moveTo>
                <a:cubicBezTo>
                  <a:pt x="1458" y="23847"/>
                  <a:pt x="4375" y="29868"/>
                  <a:pt x="8749" y="25964"/>
                </a:cubicBezTo>
                <a:cubicBezTo>
                  <a:pt x="13124" y="22060"/>
                  <a:pt x="23331" y="4327"/>
                  <a:pt x="26247"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64" name="Google Shape;864;p102"/>
          <p:cNvSpPr txBox="1"/>
          <p:nvPr/>
        </p:nvSpPr>
        <p:spPr>
          <a:xfrm>
            <a:off x="169325" y="3739825"/>
            <a:ext cx="25473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major difference that you will notice is that, when iterating over the elements, they are in </a:t>
            </a:r>
            <a:r>
              <a:rPr lang="en" sz="1200" b="1" i="1">
                <a:solidFill>
                  <a:srgbClr val="FF0000"/>
                </a:solidFill>
              </a:rPr>
              <a:t>sorted order</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54"/>
                                        </p:tgtEl>
                                        <p:attrNameLst>
                                          <p:attrName>style.visibility</p:attrName>
                                        </p:attrNameLst>
                                      </p:cBhvr>
                                      <p:to>
                                        <p:strVal val="visible"/>
                                      </p:to>
                                    </p:set>
                                    <p:animEffect transition="in" filter="fade">
                                      <p:cBhvr>
                                        <p:cTn id="7" dur="1000"/>
                                        <p:tgtEl>
                                          <p:spTgt spid="85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53"/>
                                        </p:tgtEl>
                                        <p:attrNameLst>
                                          <p:attrName>style.visibility</p:attrName>
                                        </p:attrNameLst>
                                      </p:cBhvr>
                                      <p:to>
                                        <p:strVal val="visible"/>
                                      </p:to>
                                    </p:set>
                                    <p:animEffect transition="in" filter="fade">
                                      <p:cBhvr>
                                        <p:cTn id="11" dur="1000"/>
                                        <p:tgtEl>
                                          <p:spTgt spid="85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56"/>
                                        </p:tgtEl>
                                        <p:attrNameLst>
                                          <p:attrName>style.visibility</p:attrName>
                                        </p:attrNameLst>
                                      </p:cBhvr>
                                      <p:to>
                                        <p:strVal val="visible"/>
                                      </p:to>
                                    </p:set>
                                    <p:animEffect transition="in" filter="fade">
                                      <p:cBhvr>
                                        <p:cTn id="16" dur="1000"/>
                                        <p:tgtEl>
                                          <p:spTgt spid="856"/>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855"/>
                                        </p:tgtEl>
                                        <p:attrNameLst>
                                          <p:attrName>style.visibility</p:attrName>
                                        </p:attrNameLst>
                                      </p:cBhvr>
                                      <p:to>
                                        <p:strVal val="visible"/>
                                      </p:to>
                                    </p:set>
                                    <p:animEffect transition="in" filter="fade">
                                      <p:cBhvr>
                                        <p:cTn id="20" dur="1000"/>
                                        <p:tgtEl>
                                          <p:spTgt spid="85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59"/>
                                        </p:tgtEl>
                                        <p:attrNameLst>
                                          <p:attrName>style.visibility</p:attrName>
                                        </p:attrNameLst>
                                      </p:cBhvr>
                                      <p:to>
                                        <p:strVal val="visible"/>
                                      </p:to>
                                    </p:set>
                                    <p:animEffect transition="in" filter="fade">
                                      <p:cBhvr>
                                        <p:cTn id="25" dur="1000"/>
                                        <p:tgtEl>
                                          <p:spTgt spid="859"/>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858"/>
                                        </p:tgtEl>
                                        <p:attrNameLst>
                                          <p:attrName>style.visibility</p:attrName>
                                        </p:attrNameLst>
                                      </p:cBhvr>
                                      <p:to>
                                        <p:strVal val="visible"/>
                                      </p:to>
                                    </p:set>
                                    <p:animEffect transition="in" filter="fade">
                                      <p:cBhvr>
                                        <p:cTn id="29" dur="1000"/>
                                        <p:tgtEl>
                                          <p:spTgt spid="858"/>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857"/>
                                        </p:tgtEl>
                                        <p:attrNameLst>
                                          <p:attrName>style.visibility</p:attrName>
                                        </p:attrNameLst>
                                      </p:cBhvr>
                                      <p:to>
                                        <p:strVal val="visible"/>
                                      </p:to>
                                    </p:set>
                                    <p:animEffect transition="in" filter="fade">
                                      <p:cBhvr>
                                        <p:cTn id="33" dur="1000"/>
                                        <p:tgtEl>
                                          <p:spTgt spid="85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61"/>
                                        </p:tgtEl>
                                        <p:attrNameLst>
                                          <p:attrName>style.visibility</p:attrName>
                                        </p:attrNameLst>
                                      </p:cBhvr>
                                      <p:to>
                                        <p:strVal val="visible"/>
                                      </p:to>
                                    </p:set>
                                    <p:animEffect transition="in" filter="fade">
                                      <p:cBhvr>
                                        <p:cTn id="38" dur="1000"/>
                                        <p:tgtEl>
                                          <p:spTgt spid="861"/>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860"/>
                                        </p:tgtEl>
                                        <p:attrNameLst>
                                          <p:attrName>style.visibility</p:attrName>
                                        </p:attrNameLst>
                                      </p:cBhvr>
                                      <p:to>
                                        <p:strVal val="visible"/>
                                      </p:to>
                                    </p:set>
                                    <p:animEffect transition="in" filter="fade">
                                      <p:cBhvr>
                                        <p:cTn id="42" dur="1000"/>
                                        <p:tgtEl>
                                          <p:spTgt spid="86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64"/>
                                        </p:tgtEl>
                                        <p:attrNameLst>
                                          <p:attrName>style.visibility</p:attrName>
                                        </p:attrNameLst>
                                      </p:cBhvr>
                                      <p:to>
                                        <p:strVal val="visible"/>
                                      </p:to>
                                    </p:set>
                                    <p:animEffect transition="in" filter="fade">
                                      <p:cBhvr>
                                        <p:cTn id="47" dur="1000"/>
                                        <p:tgtEl>
                                          <p:spTgt spid="864"/>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863"/>
                                        </p:tgtEl>
                                        <p:attrNameLst>
                                          <p:attrName>style.visibility</p:attrName>
                                        </p:attrNameLst>
                                      </p:cBhvr>
                                      <p:to>
                                        <p:strVal val="visible"/>
                                      </p:to>
                                    </p:set>
                                    <p:animEffect transition="in" filter="fade">
                                      <p:cBhvr>
                                        <p:cTn id="51" dur="1000"/>
                                        <p:tgtEl>
                                          <p:spTgt spid="863"/>
                                        </p:tgtEl>
                                      </p:cBhvr>
                                    </p:animEffec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862"/>
                                        </p:tgtEl>
                                        <p:attrNameLst>
                                          <p:attrName>style.visibility</p:attrName>
                                        </p:attrNameLst>
                                      </p:cBhvr>
                                      <p:to>
                                        <p:strVal val="visible"/>
                                      </p:to>
                                    </p:set>
                                    <p:animEffect transition="in" filter="fade">
                                      <p:cBhvr>
                                        <p:cTn id="55" dur="1000"/>
                                        <p:tgtEl>
                                          <p:spTgt spid="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103"/>
          <p:cNvSpPr txBox="1">
            <a:spLocks noGrp="1"/>
          </p:cNvSpPr>
          <p:nvPr>
            <p:ph type="body" idx="1"/>
          </p:nvPr>
        </p:nvSpPr>
        <p:spPr>
          <a:xfrm>
            <a:off x="65250" y="731625"/>
            <a:ext cx="8955900" cy="1162339"/>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dirty="0"/>
              <a:t>There is nothing like conducting an experiment to see how the different JCF </a:t>
            </a:r>
            <a:r>
              <a:rPr lang="en" dirty="0">
                <a:latin typeface="Courier New"/>
                <a:ea typeface="Courier New"/>
                <a:cs typeface="Courier New"/>
                <a:sym typeface="Courier New"/>
              </a:rPr>
              <a:t>Set</a:t>
            </a:r>
            <a:r>
              <a:rPr lang="en" dirty="0"/>
              <a:t> implementations work. Practice using a </a:t>
            </a:r>
            <a:r>
              <a:rPr lang="en" dirty="0">
                <a:latin typeface="Courier New"/>
                <a:ea typeface="Courier New"/>
                <a:cs typeface="Courier New"/>
                <a:sym typeface="Courier New"/>
              </a:rPr>
              <a:t>HashSet</a:t>
            </a:r>
            <a:r>
              <a:rPr lang="en" dirty="0"/>
              <a:t> and a </a:t>
            </a:r>
            <a:r>
              <a:rPr lang="en" dirty="0">
                <a:latin typeface="Courier New"/>
                <a:ea typeface="Courier New"/>
                <a:cs typeface="Courier New"/>
                <a:sym typeface="Courier New"/>
              </a:rPr>
              <a:t>TreeSet</a:t>
            </a:r>
            <a:r>
              <a:rPr lang="en" dirty="0"/>
              <a:t> to store strings and see how they behave differently.</a:t>
            </a:r>
            <a:endParaRPr dirty="0"/>
          </a:p>
        </p:txBody>
      </p:sp>
      <p:sp>
        <p:nvSpPr>
          <p:cNvPr id="870" name="Google Shape;870;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871" name="Google Shape;871;p103"/>
          <p:cNvSpPr txBox="1">
            <a:spLocks noGrp="1"/>
          </p:cNvSpPr>
          <p:nvPr>
            <p:ph type="body" idx="2"/>
          </p:nvPr>
        </p:nvSpPr>
        <p:spPr>
          <a:xfrm>
            <a:off x="2916500" y="1708325"/>
            <a:ext cx="5948700" cy="29757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Java class named "</a:t>
            </a:r>
            <a:r>
              <a:rPr lang="en" sz="1400" dirty="0">
                <a:solidFill>
                  <a:srgbClr val="FF0000"/>
                </a:solidFill>
                <a:latin typeface="Courier New"/>
                <a:ea typeface="Courier New"/>
                <a:cs typeface="Courier New"/>
                <a:sym typeface="Courier New"/>
              </a:rPr>
              <a:t>SetsAndMaps</a:t>
            </a:r>
            <a:r>
              <a:rPr lang="en" sz="1400" dirty="0"/>
              <a:t>" and define a method named "</a:t>
            </a:r>
            <a:r>
              <a:rPr lang="en" sz="1400" dirty="0">
                <a:solidFill>
                  <a:srgbClr val="FF0000"/>
                </a:solidFill>
                <a:latin typeface="Courier New"/>
                <a:ea typeface="Courier New"/>
                <a:cs typeface="Courier New"/>
                <a:sym typeface="Courier New"/>
              </a:rPr>
              <a:t>addAndPrint</a:t>
            </a:r>
            <a:r>
              <a:rPr lang="en" sz="1400" dirty="0"/>
              <a:t>" that declares a parameter for a </a:t>
            </a:r>
            <a:r>
              <a:rPr lang="en" sz="1400" dirty="0">
                <a:latin typeface="Courier New"/>
                <a:ea typeface="Courier New"/>
                <a:cs typeface="Courier New"/>
                <a:sym typeface="Courier New"/>
              </a:rPr>
              <a:t>Set&lt;String&gt;</a:t>
            </a:r>
            <a:r>
              <a:rPr lang="en" sz="1400" dirty="0"/>
              <a:t>.</a:t>
            </a:r>
            <a:endParaRPr sz="1400" dirty="0"/>
          </a:p>
          <a:p>
            <a:pPr marL="914400" lvl="1" indent="-304800" algn="l" rtl="0">
              <a:spcBef>
                <a:spcPts val="0"/>
              </a:spcBef>
              <a:spcAft>
                <a:spcPts val="0"/>
              </a:spcAft>
              <a:buSzPts val="1200"/>
              <a:buChar char="○"/>
            </a:pPr>
            <a:r>
              <a:rPr lang="en" sz="1200" dirty="0"/>
              <a:t>Add at least 5 strings to the set in no particular order. Make sure to vary the case of the first letters of the strings, e.g. </a:t>
            </a:r>
            <a:r>
              <a:rPr lang="en" sz="1200" dirty="0">
                <a:latin typeface="Courier New"/>
                <a:ea typeface="Courier New"/>
                <a:cs typeface="Courier New"/>
                <a:sym typeface="Courier New"/>
              </a:rPr>
              <a:t>"aardvark"</a:t>
            </a:r>
            <a:r>
              <a:rPr lang="en" sz="1200" dirty="0"/>
              <a:t>, </a:t>
            </a:r>
            <a:r>
              <a:rPr lang="en" sz="1200" dirty="0">
                <a:latin typeface="Courier New"/>
                <a:ea typeface="Courier New"/>
                <a:cs typeface="Courier New"/>
                <a:sym typeface="Courier New"/>
              </a:rPr>
              <a:t>"Zoo"</a:t>
            </a:r>
            <a:r>
              <a:rPr lang="en" sz="1200" dirty="0"/>
              <a:t>, </a:t>
            </a:r>
            <a:r>
              <a:rPr lang="en" sz="1200" dirty="0">
                <a:latin typeface="Courier New"/>
                <a:ea typeface="Courier New"/>
                <a:cs typeface="Courier New"/>
                <a:sym typeface="Courier New"/>
              </a:rPr>
              <a:t>"Monkey"</a:t>
            </a:r>
            <a:r>
              <a:rPr lang="en" sz="1200" dirty="0"/>
              <a:t>, </a:t>
            </a:r>
            <a:r>
              <a:rPr lang="en" sz="1200" dirty="0">
                <a:latin typeface="Courier New"/>
                <a:ea typeface="Courier New"/>
                <a:cs typeface="Courier New"/>
                <a:sym typeface="Courier New"/>
              </a:rPr>
              <a:t>"zebra"</a:t>
            </a:r>
            <a:r>
              <a:rPr lang="en" sz="1200" dirty="0"/>
              <a:t>, </a:t>
            </a:r>
            <a:r>
              <a:rPr lang="en" sz="1200" dirty="0">
                <a:latin typeface="Courier New"/>
                <a:ea typeface="Courier New"/>
                <a:cs typeface="Courier New"/>
                <a:sym typeface="Courier New"/>
              </a:rPr>
              <a:t>"shark"</a:t>
            </a:r>
            <a:r>
              <a:rPr lang="en" sz="1200" dirty="0"/>
              <a:t>.</a:t>
            </a:r>
            <a:endParaRPr sz="1200" dirty="0"/>
          </a:p>
          <a:p>
            <a:pPr marL="914400" lvl="1" indent="-304800" algn="l" rtl="0">
              <a:spcBef>
                <a:spcPts val="0"/>
              </a:spcBef>
              <a:spcAft>
                <a:spcPts val="0"/>
              </a:spcAft>
              <a:buSzPts val="1200"/>
              <a:buChar char="○"/>
            </a:pPr>
            <a:r>
              <a:rPr lang="en" sz="1200" dirty="0"/>
              <a:t>Use a </a:t>
            </a:r>
            <a:r>
              <a:rPr lang="en" sz="1200" dirty="0">
                <a:latin typeface="Courier New"/>
                <a:ea typeface="Courier New"/>
                <a:cs typeface="Courier New"/>
                <a:sym typeface="Courier New"/>
              </a:rPr>
              <a:t>for</a:t>
            </a:r>
            <a:r>
              <a:rPr lang="en" sz="1200" dirty="0"/>
              <a:t>-each loop to iterate over the values in the set and print them to standard output.</a:t>
            </a:r>
            <a:endParaRPr sz="1200" dirty="0"/>
          </a:p>
          <a:p>
            <a:pPr marL="457200" lvl="0" indent="-317500" algn="l" rtl="0">
              <a:spcBef>
                <a:spcPts val="1000"/>
              </a:spcBef>
              <a:spcAft>
                <a:spcPts val="0"/>
              </a:spcAft>
              <a:buSzPts val="1400"/>
              <a:buChar char="●"/>
            </a:pPr>
            <a:r>
              <a:rPr lang="en" sz="1400" dirty="0"/>
              <a:t>Define a </a:t>
            </a:r>
            <a:r>
              <a:rPr lang="en" sz="1400" dirty="0">
                <a:latin typeface="Courier New"/>
                <a:ea typeface="Courier New"/>
                <a:cs typeface="Courier New"/>
                <a:sym typeface="Courier New"/>
              </a:rPr>
              <a:t>main</a:t>
            </a:r>
            <a:r>
              <a:rPr lang="en" sz="1400" dirty="0"/>
              <a:t> method with the appropriate signature.</a:t>
            </a:r>
            <a:endParaRPr sz="1400" dirty="0"/>
          </a:p>
          <a:p>
            <a:pPr marL="914400" lvl="1" indent="-292100" algn="l" rtl="0">
              <a:spcBef>
                <a:spcPts val="0"/>
              </a:spcBef>
              <a:spcAft>
                <a:spcPts val="0"/>
              </a:spcAft>
              <a:buSzPts val="1000"/>
              <a:buChar char="○"/>
            </a:pPr>
            <a:r>
              <a:rPr lang="en" sz="1200" dirty="0"/>
              <a:t>Call </a:t>
            </a:r>
            <a:r>
              <a:rPr lang="en" sz="1200" dirty="0">
                <a:latin typeface="Courier New"/>
                <a:ea typeface="Courier New"/>
                <a:cs typeface="Courier New"/>
                <a:sym typeface="Courier New"/>
              </a:rPr>
              <a:t>addAndPrint</a:t>
            </a:r>
            <a:r>
              <a:rPr lang="en" sz="1200" dirty="0"/>
              <a:t> with an empty </a:t>
            </a:r>
            <a:r>
              <a:rPr lang="en" sz="1200" dirty="0">
                <a:latin typeface="Courier New"/>
                <a:ea typeface="Courier New"/>
                <a:cs typeface="Courier New"/>
                <a:sym typeface="Courier New"/>
              </a:rPr>
              <a:t>HashSet&lt;String</a:t>
            </a:r>
            <a:r>
              <a:rPr lang="en" sz="1200" dirty="0"/>
              <a:t>&gt;.</a:t>
            </a:r>
            <a:endParaRPr sz="1200" dirty="0"/>
          </a:p>
          <a:p>
            <a:pPr marL="914400" lvl="1" indent="-292100" algn="l" rtl="0">
              <a:spcBef>
                <a:spcPts val="0"/>
              </a:spcBef>
              <a:spcAft>
                <a:spcPts val="0"/>
              </a:spcAft>
              <a:buSzPts val="1000"/>
              <a:buChar char="○"/>
            </a:pPr>
            <a:r>
              <a:rPr lang="en" sz="1200" dirty="0"/>
              <a:t>Call it a second time with an empty </a:t>
            </a:r>
            <a:r>
              <a:rPr lang="en" sz="1200" dirty="0">
                <a:latin typeface="Courier New"/>
                <a:ea typeface="Courier New"/>
                <a:cs typeface="Courier New"/>
                <a:sym typeface="Courier New"/>
              </a:rPr>
              <a:t>TreeSet&lt;String&gt;</a:t>
            </a:r>
            <a:r>
              <a:rPr lang="en" sz="1200" dirty="0"/>
              <a:t>.</a:t>
            </a:r>
            <a:endParaRPr sz="1200" dirty="0"/>
          </a:p>
          <a:p>
            <a:pPr marL="914400" lvl="1" indent="-304800" algn="l" rtl="0">
              <a:spcBef>
                <a:spcPts val="0"/>
              </a:spcBef>
              <a:spcAft>
                <a:spcPts val="0"/>
              </a:spcAft>
              <a:buSzPts val="1200"/>
              <a:buChar char="○"/>
            </a:pPr>
            <a:r>
              <a:rPr lang="en" sz="1200" dirty="0"/>
              <a:t>Run your code.</a:t>
            </a:r>
            <a:endParaRPr sz="1200" dirty="0"/>
          </a:p>
        </p:txBody>
      </p:sp>
      <p:sp>
        <p:nvSpPr>
          <p:cNvPr id="872" name="Google Shape;872;p10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latin typeface="Courier New"/>
                <a:ea typeface="Courier New"/>
                <a:cs typeface="Courier New"/>
                <a:sym typeface="Courier New"/>
              </a:rPr>
              <a:t>TreeSet</a:t>
            </a:r>
            <a:r>
              <a:rPr lang="en"/>
              <a:t> Practice</a:t>
            </a:r>
            <a:endParaRPr/>
          </a:p>
        </p:txBody>
      </p:sp>
      <p:sp>
        <p:nvSpPr>
          <p:cNvPr id="873" name="Google Shape;873;p10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7.19</a:t>
            </a:r>
            <a:endParaRPr/>
          </a:p>
        </p:txBody>
      </p:sp>
      <p:sp>
        <p:nvSpPr>
          <p:cNvPr id="874" name="Google Shape;874;p103"/>
          <p:cNvSpPr txBox="1"/>
          <p:nvPr/>
        </p:nvSpPr>
        <p:spPr>
          <a:xfrm>
            <a:off x="134075" y="1786750"/>
            <a:ext cx="2709300" cy="172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267F99"/>
                </a:solidFill>
                <a:latin typeface="Consolas"/>
                <a:ea typeface="Consolas"/>
                <a:cs typeface="Consolas"/>
                <a:sym typeface="Consolas"/>
              </a:rPr>
              <a:t>Set</a:t>
            </a:r>
            <a:r>
              <a:rPr lang="en" sz="950">
                <a:latin typeface="Consolas"/>
                <a:ea typeface="Consolas"/>
                <a:cs typeface="Consolas"/>
                <a:sym typeface="Consolas"/>
              </a:rPr>
              <a:t>&lt;</a:t>
            </a:r>
            <a:r>
              <a:rPr lang="en" sz="950">
                <a:solidFill>
                  <a:srgbClr val="267F99"/>
                </a:solidFill>
                <a:latin typeface="Consolas"/>
                <a:ea typeface="Consolas"/>
                <a:cs typeface="Consolas"/>
                <a:sym typeface="Consolas"/>
              </a:rPr>
              <a:t>String</a:t>
            </a:r>
            <a:r>
              <a:rPr lang="en" sz="950">
                <a:latin typeface="Consolas"/>
                <a:ea typeface="Consolas"/>
                <a:cs typeface="Consolas"/>
                <a:sym typeface="Consolas"/>
              </a:rPr>
              <a:t>&gt; </a:t>
            </a: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 = </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TreeSet</a:t>
            </a:r>
            <a:r>
              <a:rPr lang="en" sz="950">
                <a:latin typeface="Consolas"/>
                <a:ea typeface="Consolas"/>
                <a:cs typeface="Consolas"/>
                <a:sym typeface="Consolas"/>
              </a:rPr>
              <a:t>&lt;&gt;();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add</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"z"</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add</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"y"</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add</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"x"</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666666"/>
                </a:solidFill>
                <a:latin typeface="Consolas"/>
                <a:ea typeface="Consolas"/>
                <a:cs typeface="Consolas"/>
                <a:sym typeface="Consolas"/>
              </a:rPr>
              <a:t>  </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AF00DB"/>
                </a:solidFill>
                <a:latin typeface="Consolas"/>
                <a:ea typeface="Consolas"/>
                <a:cs typeface="Consolas"/>
                <a:sym typeface="Consolas"/>
              </a:rPr>
              <a:t>for</a:t>
            </a:r>
            <a:r>
              <a:rPr lang="en" sz="950">
                <a:latin typeface="Consolas"/>
                <a:ea typeface="Consolas"/>
                <a:cs typeface="Consolas"/>
                <a:sym typeface="Consolas"/>
              </a:rPr>
              <a:t>(</a:t>
            </a:r>
            <a:r>
              <a:rPr lang="en" sz="950">
                <a:solidFill>
                  <a:srgbClr val="267F99"/>
                </a:solidFill>
                <a:latin typeface="Consolas"/>
                <a:ea typeface="Consolas"/>
                <a:cs typeface="Consolas"/>
                <a:sym typeface="Consolas"/>
              </a:rPr>
              <a:t>String</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s</a:t>
            </a:r>
            <a:r>
              <a:rPr lang="en" sz="950">
                <a:latin typeface="Consolas"/>
                <a:ea typeface="Consolas"/>
                <a:cs typeface="Consolas"/>
                <a:sym typeface="Consolas"/>
              </a:rPr>
              <a:t> </a:t>
            </a:r>
            <a:r>
              <a:rPr lang="en" sz="950">
                <a:solidFill>
                  <a:srgbClr val="AF00DB"/>
                </a:solidFill>
                <a:latin typeface="Consolas"/>
                <a:ea typeface="Consolas"/>
                <a:cs typeface="Consolas"/>
                <a:sym typeface="Consolas"/>
              </a:rPr>
              <a:t>:</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 {</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System</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out</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println</a:t>
            </a:r>
            <a:r>
              <a:rPr lang="en" sz="950">
                <a:latin typeface="Consolas"/>
                <a:ea typeface="Consolas"/>
                <a:cs typeface="Consolas"/>
                <a:sym typeface="Consolas"/>
              </a:rPr>
              <a:t>(</a:t>
            </a:r>
            <a:r>
              <a:rPr lang="en" sz="950">
                <a:solidFill>
                  <a:srgbClr val="001080"/>
                </a:solidFill>
                <a:latin typeface="Consolas"/>
                <a:ea typeface="Consolas"/>
                <a:cs typeface="Consolas"/>
                <a:sym typeface="Consolas"/>
              </a:rPr>
              <a:t>s</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a:t>
            </a:r>
            <a:endParaRPr sz="1300">
              <a:latin typeface="Roboto"/>
              <a:ea typeface="Roboto"/>
              <a:cs typeface="Roboto"/>
              <a:sym typeface="Roboto"/>
            </a:endParaRPr>
          </a:p>
        </p:txBody>
      </p:sp>
      <p:sp>
        <p:nvSpPr>
          <p:cNvPr id="875" name="Google Shape;875;p103"/>
          <p:cNvSpPr txBox="1"/>
          <p:nvPr/>
        </p:nvSpPr>
        <p:spPr>
          <a:xfrm>
            <a:off x="134075" y="3649050"/>
            <a:ext cx="2709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We are using </a:t>
            </a:r>
            <a:r>
              <a:rPr lang="en" sz="1200" b="1" i="1">
                <a:solidFill>
                  <a:srgbClr val="FF0000"/>
                </a:solidFill>
              </a:rPr>
              <a:t>polymorphism</a:t>
            </a:r>
            <a:r>
              <a:rPr lang="en" sz="1200">
                <a:solidFill>
                  <a:srgbClr val="FF0000"/>
                </a:solidFill>
              </a:rPr>
              <a:t> </a:t>
            </a:r>
            <a:r>
              <a:rPr lang="en" sz="1200"/>
              <a:t>to write code that will work with any kind of </a:t>
            </a:r>
            <a:r>
              <a:rPr lang="en" sz="1200">
                <a:latin typeface="Courier New"/>
                <a:ea typeface="Courier New"/>
                <a:cs typeface="Courier New"/>
                <a:sym typeface="Courier New"/>
              </a:rPr>
              <a:t>Set</a:t>
            </a:r>
            <a:r>
              <a:rPr lang="en" sz="1200"/>
              <a:t>.</a:t>
            </a:r>
            <a:endParaRPr sz="1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10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You may have noticed that the natural ordering of strings arranges capital letters before lowercase letters, e.g. </a:t>
            </a:r>
            <a:r>
              <a:rPr lang="en">
                <a:latin typeface="Courier New"/>
                <a:ea typeface="Courier New"/>
                <a:cs typeface="Courier New"/>
                <a:sym typeface="Courier New"/>
              </a:rPr>
              <a:t>"Zoo"</a:t>
            </a:r>
            <a:r>
              <a:rPr lang="en"/>
              <a:t> comes before </a:t>
            </a:r>
            <a:r>
              <a:rPr lang="en">
                <a:latin typeface="Courier New"/>
                <a:ea typeface="Courier New"/>
                <a:cs typeface="Courier New"/>
                <a:sym typeface="Courier New"/>
              </a:rPr>
              <a:t>"aardvark"</a:t>
            </a:r>
            <a:r>
              <a:rPr lang="en"/>
              <a:t>. Let's fix that by writing a custom </a:t>
            </a:r>
            <a:r>
              <a:rPr lang="en">
                <a:latin typeface="Courier New"/>
                <a:ea typeface="Courier New"/>
                <a:cs typeface="Courier New"/>
                <a:sym typeface="Courier New"/>
              </a:rPr>
              <a:t>String</a:t>
            </a:r>
            <a:r>
              <a:rPr lang="en"/>
              <a:t> </a:t>
            </a:r>
            <a:r>
              <a:rPr lang="en">
                <a:latin typeface="Courier New"/>
                <a:ea typeface="Courier New"/>
                <a:cs typeface="Courier New"/>
                <a:sym typeface="Courier New"/>
              </a:rPr>
              <a:t>Comparator</a:t>
            </a:r>
            <a:r>
              <a:rPr lang="en"/>
              <a:t> and providing it to a </a:t>
            </a:r>
            <a:r>
              <a:rPr lang="en">
                <a:latin typeface="Courier New"/>
                <a:ea typeface="Courier New"/>
                <a:cs typeface="Courier New"/>
                <a:sym typeface="Courier New"/>
              </a:rPr>
              <a:t>TreeSet</a:t>
            </a:r>
            <a:r>
              <a:rPr lang="en"/>
              <a:t> to use in sorting.</a:t>
            </a:r>
            <a:endParaRPr/>
          </a:p>
        </p:txBody>
      </p:sp>
      <p:sp>
        <p:nvSpPr>
          <p:cNvPr id="881" name="Google Shape;881;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882" name="Google Shape;882;p104"/>
          <p:cNvSpPr txBox="1">
            <a:spLocks noGrp="1"/>
          </p:cNvSpPr>
          <p:nvPr>
            <p:ph type="body" idx="2"/>
          </p:nvPr>
        </p:nvSpPr>
        <p:spPr>
          <a:xfrm>
            <a:off x="3257275" y="1784525"/>
            <a:ext cx="5683800" cy="2535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Java class named </a:t>
            </a:r>
            <a:r>
              <a:rPr lang="en" dirty="0">
                <a:solidFill>
                  <a:srgbClr val="FF0000"/>
                </a:solidFill>
                <a:latin typeface="Courier New"/>
                <a:ea typeface="Courier New"/>
                <a:cs typeface="Courier New"/>
                <a:sym typeface="Courier New"/>
              </a:rPr>
              <a:t>AlphabeticComparator</a:t>
            </a:r>
            <a:r>
              <a:rPr lang="en" dirty="0">
                <a:solidFill>
                  <a:srgbClr val="FF0000"/>
                </a:solidFill>
              </a:rPr>
              <a:t> </a:t>
            </a:r>
            <a:r>
              <a:rPr lang="en" dirty="0"/>
              <a:t>that implements </a:t>
            </a:r>
            <a:r>
              <a:rPr lang="en" dirty="0">
                <a:latin typeface="Courier New"/>
                <a:ea typeface="Courier New"/>
                <a:cs typeface="Courier New"/>
                <a:sym typeface="Courier New"/>
              </a:rPr>
              <a:t>Comparator&lt;String</a:t>
            </a:r>
            <a:r>
              <a:rPr lang="en" dirty="0"/>
              <a:t>&gt;.</a:t>
            </a:r>
            <a:endParaRPr dirty="0"/>
          </a:p>
          <a:p>
            <a:pPr marL="914400" lvl="1" indent="-298450" algn="l" rtl="0">
              <a:spcBef>
                <a:spcPts val="0"/>
              </a:spcBef>
              <a:spcAft>
                <a:spcPts val="0"/>
              </a:spcAft>
              <a:buSzPts val="1100"/>
              <a:buChar char="○"/>
            </a:pPr>
            <a:r>
              <a:rPr lang="en" dirty="0"/>
              <a:t>Override the </a:t>
            </a:r>
            <a:r>
              <a:rPr lang="en" dirty="0">
                <a:latin typeface="Courier New"/>
                <a:ea typeface="Courier New"/>
                <a:cs typeface="Courier New"/>
                <a:sym typeface="Courier New"/>
              </a:rPr>
              <a:t>compare</a:t>
            </a:r>
            <a:r>
              <a:rPr lang="en" dirty="0"/>
              <a:t> method to compare two strings.</a:t>
            </a:r>
            <a:endParaRPr dirty="0"/>
          </a:p>
          <a:p>
            <a:pPr marL="914400" lvl="1" indent="-298450" algn="l" rtl="0">
              <a:spcBef>
                <a:spcPts val="0"/>
              </a:spcBef>
              <a:spcAft>
                <a:spcPts val="0"/>
              </a:spcAft>
              <a:buSzPts val="1100"/>
              <a:buChar char="○"/>
            </a:pPr>
            <a:r>
              <a:rPr lang="en" dirty="0"/>
              <a:t>Convert the strings to </a:t>
            </a:r>
            <a:r>
              <a:rPr lang="en" b="1" i="1" dirty="0">
                <a:solidFill>
                  <a:srgbClr val="FF0000"/>
                </a:solidFill>
              </a:rPr>
              <a:t>lowercase</a:t>
            </a:r>
            <a:r>
              <a:rPr lang="en" dirty="0"/>
              <a:t>, then compare the first to the second, e.g. </a:t>
            </a:r>
            <a:r>
              <a:rPr lang="en" dirty="0">
                <a:solidFill>
                  <a:srgbClr val="FF0000"/>
                </a:solidFill>
                <a:latin typeface="Courier New"/>
                <a:ea typeface="Courier New"/>
                <a:cs typeface="Courier New"/>
                <a:sym typeface="Courier New"/>
              </a:rPr>
              <a:t>a.compareTo(b)</a:t>
            </a:r>
            <a:r>
              <a:rPr lang="en" dirty="0"/>
              <a:t>.</a:t>
            </a:r>
            <a:endParaRPr dirty="0"/>
          </a:p>
          <a:p>
            <a:pPr marL="914400" lvl="1" indent="-298450" algn="l" rtl="0">
              <a:spcBef>
                <a:spcPts val="0"/>
              </a:spcBef>
              <a:spcAft>
                <a:spcPts val="0"/>
              </a:spcAft>
              <a:buSzPts val="1100"/>
              <a:buChar char="○"/>
            </a:pPr>
            <a:r>
              <a:rPr lang="en" dirty="0"/>
              <a:t>Return the result.</a:t>
            </a:r>
            <a:endParaRPr dirty="0"/>
          </a:p>
          <a:p>
            <a:pPr marL="457200" lvl="0" indent="-311150" algn="l" rtl="0">
              <a:spcBef>
                <a:spcPts val="1000"/>
              </a:spcBef>
              <a:spcAft>
                <a:spcPts val="0"/>
              </a:spcAft>
              <a:buSzPts val="1300"/>
              <a:buChar char="●"/>
            </a:pPr>
            <a:r>
              <a:rPr lang="en" dirty="0"/>
              <a:t>In the </a:t>
            </a:r>
            <a:r>
              <a:rPr lang="en" dirty="0">
                <a:latin typeface="Courier New"/>
                <a:ea typeface="Courier New"/>
                <a:cs typeface="Courier New"/>
                <a:sym typeface="Courier New"/>
              </a:rPr>
              <a:t>main</a:t>
            </a:r>
            <a:r>
              <a:rPr lang="en" dirty="0"/>
              <a:t> method in the </a:t>
            </a:r>
            <a:r>
              <a:rPr lang="en" dirty="0">
                <a:latin typeface="Courier New"/>
                <a:ea typeface="Courier New"/>
                <a:cs typeface="Courier New"/>
                <a:sym typeface="Courier New"/>
              </a:rPr>
              <a:t>SetsAndMaps</a:t>
            </a:r>
            <a:r>
              <a:rPr lang="en" dirty="0"/>
              <a:t> class:</a:t>
            </a:r>
            <a:endParaRPr dirty="0"/>
          </a:p>
          <a:p>
            <a:pPr marL="914400" lvl="1" indent="-298450" algn="l" rtl="0">
              <a:spcBef>
                <a:spcPts val="0"/>
              </a:spcBef>
              <a:spcAft>
                <a:spcPts val="0"/>
              </a:spcAft>
              <a:buSzPts val="1100"/>
              <a:buChar char="○"/>
            </a:pPr>
            <a:r>
              <a:rPr lang="en" dirty="0"/>
              <a:t>Create an instance of the </a:t>
            </a:r>
            <a:r>
              <a:rPr lang="en" dirty="0">
                <a:latin typeface="Courier New"/>
                <a:ea typeface="Courier New"/>
                <a:cs typeface="Courier New"/>
                <a:sym typeface="Courier New"/>
              </a:rPr>
              <a:t>AlphabeticComparator</a:t>
            </a:r>
            <a:r>
              <a:rPr lang="en" dirty="0"/>
              <a:t> and pass it into the constructor of a new </a:t>
            </a:r>
            <a:r>
              <a:rPr lang="en" dirty="0">
                <a:latin typeface="Courier New"/>
                <a:ea typeface="Courier New"/>
                <a:cs typeface="Courier New"/>
                <a:sym typeface="Courier New"/>
              </a:rPr>
              <a:t>TreeSet&lt;String&gt;</a:t>
            </a:r>
            <a:r>
              <a:rPr lang="en" dirty="0"/>
              <a:t>.</a:t>
            </a:r>
            <a:endParaRPr dirty="0"/>
          </a:p>
          <a:p>
            <a:pPr marL="914400" lvl="1" indent="-298450" algn="l" rtl="0">
              <a:spcBef>
                <a:spcPts val="0"/>
              </a:spcBef>
              <a:spcAft>
                <a:spcPts val="0"/>
              </a:spcAft>
              <a:buSzPts val="1100"/>
              <a:buChar char="○"/>
            </a:pPr>
            <a:r>
              <a:rPr lang="en" dirty="0"/>
              <a:t>Call the </a:t>
            </a:r>
            <a:r>
              <a:rPr lang="en" dirty="0">
                <a:latin typeface="Courier New"/>
                <a:ea typeface="Courier New"/>
                <a:cs typeface="Courier New"/>
                <a:sym typeface="Courier New"/>
              </a:rPr>
              <a:t>addAndPrint</a:t>
            </a:r>
            <a:r>
              <a:rPr lang="en" dirty="0"/>
              <a:t> method with the new </a:t>
            </a:r>
            <a:r>
              <a:rPr lang="en" dirty="0">
                <a:latin typeface="Courier New"/>
                <a:ea typeface="Courier New"/>
                <a:cs typeface="Courier New"/>
                <a:sym typeface="Courier New"/>
              </a:rPr>
              <a:t>TreeSet</a:t>
            </a:r>
            <a:r>
              <a:rPr lang="en" dirty="0"/>
              <a:t>.</a:t>
            </a:r>
            <a:endParaRPr dirty="0"/>
          </a:p>
          <a:p>
            <a:pPr marL="914400" lvl="1" indent="-298450" algn="l" rtl="0">
              <a:spcBef>
                <a:spcPts val="0"/>
              </a:spcBef>
              <a:spcAft>
                <a:spcPts val="0"/>
              </a:spcAft>
              <a:buSzPts val="1100"/>
              <a:buChar char="○"/>
            </a:pPr>
            <a:r>
              <a:rPr lang="en" dirty="0"/>
              <a:t>Run your code!</a:t>
            </a:r>
            <a:endParaRPr dirty="0"/>
          </a:p>
        </p:txBody>
      </p:sp>
      <p:sp>
        <p:nvSpPr>
          <p:cNvPr id="883" name="Google Shape;883;p10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solidFill>
                  <a:schemeClr val="lt1"/>
                </a:solidFill>
              </a:rPr>
              <a:t>More </a:t>
            </a:r>
            <a:r>
              <a:rPr lang="en">
                <a:solidFill>
                  <a:schemeClr val="lt1"/>
                </a:solidFill>
                <a:latin typeface="Courier New"/>
                <a:ea typeface="Courier New"/>
                <a:cs typeface="Courier New"/>
                <a:sym typeface="Courier New"/>
              </a:rPr>
              <a:t>TreeSet</a:t>
            </a:r>
            <a:r>
              <a:rPr lang="en">
                <a:solidFill>
                  <a:schemeClr val="lt1"/>
                </a:solidFill>
              </a:rPr>
              <a:t> Practice</a:t>
            </a:r>
            <a:endParaRPr/>
          </a:p>
        </p:txBody>
      </p:sp>
      <p:sp>
        <p:nvSpPr>
          <p:cNvPr id="884" name="Google Shape;884;p10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7.20</a:t>
            </a:r>
            <a:endParaRPr/>
          </a:p>
        </p:txBody>
      </p:sp>
      <p:sp>
        <p:nvSpPr>
          <p:cNvPr id="885" name="Google Shape;885;p104"/>
          <p:cNvSpPr txBox="1"/>
          <p:nvPr/>
        </p:nvSpPr>
        <p:spPr>
          <a:xfrm>
            <a:off x="147750" y="1814150"/>
            <a:ext cx="3011400" cy="170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t>
            </a:r>
            <a:r>
              <a:rPr lang="en" sz="900">
                <a:latin typeface="Consolas"/>
                <a:ea typeface="Consolas"/>
                <a:cs typeface="Consolas"/>
                <a:sym typeface="Consolas"/>
              </a:rPr>
              <a:t> </a:t>
            </a:r>
            <a:endParaRPr sz="900">
              <a:latin typeface="Consolas"/>
              <a:ea typeface="Consolas"/>
              <a:cs typeface="Consolas"/>
              <a:sym typeface="Consolas"/>
            </a:endParaRPr>
          </a:p>
          <a:p>
            <a:pPr marL="0" lvl="0" indent="457200" algn="l" rtl="0">
              <a:lnSpc>
                <a:spcPct val="100000"/>
              </a:lnSpc>
              <a:spcBef>
                <a:spcPts val="0"/>
              </a:spcBef>
              <a:spcAft>
                <a:spcPts val="0"/>
              </a:spcAft>
              <a:buNone/>
            </a:pP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1080"/>
                </a:solidFill>
                <a:latin typeface="Consolas"/>
                <a:ea typeface="Consolas"/>
                <a:cs typeface="Consolas"/>
                <a:sym typeface="Consolas"/>
              </a:rPr>
              <a:t>            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compareToIgnoreCase</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105"/>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39</a:t>
            </a:fld>
            <a:endParaRPr/>
          </a:p>
        </p:txBody>
      </p:sp>
      <p:sp>
        <p:nvSpPr>
          <p:cNvPr id="891" name="Google Shape;891;p105"/>
          <p:cNvSpPr txBox="1">
            <a:spLocks noGrp="1"/>
          </p:cNvSpPr>
          <p:nvPr>
            <p:ph type="title"/>
          </p:nvPr>
        </p:nvSpPr>
        <p:spPr>
          <a:xfrm>
            <a:off x="4942775" y="171525"/>
            <a:ext cx="4100100" cy="8928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Java Maps</a:t>
            </a:r>
            <a:endParaRPr/>
          </a:p>
          <a:p>
            <a:pPr marL="0" lvl="0" indent="0" algn="l" rtl="0">
              <a:spcBef>
                <a:spcPts val="0"/>
              </a:spcBef>
              <a:spcAft>
                <a:spcPts val="0"/>
              </a:spcAft>
              <a:buNone/>
            </a:pPr>
            <a:r>
              <a:rPr lang="en" sz="1800"/>
              <a:t>(dictionary)</a:t>
            </a:r>
            <a:endParaRPr sz="1800"/>
          </a:p>
        </p:txBody>
      </p:sp>
      <p:sp>
        <p:nvSpPr>
          <p:cNvPr id="892" name="Google Shape;892;p105"/>
          <p:cNvSpPr txBox="1">
            <a:spLocks noGrp="1"/>
          </p:cNvSpPr>
          <p:nvPr>
            <p:ph type="body" idx="1"/>
          </p:nvPr>
        </p:nvSpPr>
        <p:spPr>
          <a:xfrm>
            <a:off x="65100" y="63025"/>
            <a:ext cx="4673400" cy="504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Java's equivalent to the Python dictionary is the </a:t>
            </a:r>
            <a:r>
              <a:rPr lang="en" b="1" i="1" dirty="0">
                <a:solidFill>
                  <a:srgbClr val="FF0000"/>
                </a:solidFill>
              </a:rPr>
              <a:t>map</a:t>
            </a:r>
            <a:r>
              <a:rPr lang="en" dirty="0"/>
              <a:t>.</a:t>
            </a:r>
            <a:endParaRPr dirty="0"/>
          </a:p>
          <a:p>
            <a:pPr marL="457200" lvl="0" indent="-311150" algn="l" rtl="0">
              <a:spcBef>
                <a:spcPts val="1000"/>
              </a:spcBef>
              <a:spcAft>
                <a:spcPts val="0"/>
              </a:spcAft>
              <a:buSzPts val="1300"/>
              <a:buChar char="●"/>
            </a:pPr>
            <a:r>
              <a:rPr lang="en" dirty="0"/>
              <a:t>The map ADT provides at least the following operations:</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put(K,V)</a:t>
            </a:r>
            <a:r>
              <a:rPr lang="en" dirty="0"/>
              <a:t> - adds the specified key/value pair to the map.</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get(K)</a:t>
            </a:r>
            <a:r>
              <a:rPr lang="en" dirty="0"/>
              <a:t> - returns the value associated with the key.</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remove(K)</a:t>
            </a:r>
            <a:r>
              <a:rPr lang="en" dirty="0"/>
              <a:t> - removes the specified key and its value from the map and returns the value.</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containsKey(K)</a:t>
            </a:r>
            <a:r>
              <a:rPr lang="en" dirty="0"/>
              <a:t> - returns </a:t>
            </a:r>
            <a:r>
              <a:rPr lang="en" dirty="0">
                <a:latin typeface="Courier New"/>
                <a:ea typeface="Courier New"/>
                <a:cs typeface="Courier New"/>
                <a:sym typeface="Courier New"/>
              </a:rPr>
              <a:t>true</a:t>
            </a:r>
            <a:r>
              <a:rPr lang="en" dirty="0"/>
              <a:t> if the key is in the map, and </a:t>
            </a:r>
            <a:r>
              <a:rPr lang="en" dirty="0">
                <a:latin typeface="Courier New"/>
                <a:ea typeface="Courier New"/>
                <a:cs typeface="Courier New"/>
                <a:sym typeface="Courier New"/>
              </a:rPr>
              <a:t>false</a:t>
            </a:r>
            <a:r>
              <a:rPr lang="en" dirty="0"/>
              <a:t> otherwise.</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size()</a:t>
            </a:r>
            <a:r>
              <a:rPr lang="en" dirty="0"/>
              <a:t> - returns the number of key/value pairs in the map.</a:t>
            </a:r>
            <a:endParaRPr dirty="0"/>
          </a:p>
          <a:p>
            <a:pPr marL="457200" lvl="0" indent="-311150" algn="l" rtl="0">
              <a:spcBef>
                <a:spcPts val="1000"/>
              </a:spcBef>
              <a:spcAft>
                <a:spcPts val="0"/>
              </a:spcAft>
              <a:buSzPts val="1300"/>
              <a:buChar char="●"/>
            </a:pPr>
            <a:r>
              <a:rPr lang="en" dirty="0"/>
              <a:t>A </a:t>
            </a:r>
            <a:r>
              <a:rPr lang="en" b="1" i="1" dirty="0">
                <a:solidFill>
                  <a:srgbClr val="FF0000"/>
                </a:solidFill>
              </a:rPr>
              <a:t>hash map</a:t>
            </a:r>
            <a:r>
              <a:rPr lang="en" dirty="0"/>
              <a:t> provides constant time </a:t>
            </a:r>
            <a:r>
              <a:rPr lang="en" i="1" dirty="0"/>
              <a:t>(O(1))</a:t>
            </a:r>
            <a:r>
              <a:rPr lang="en" dirty="0"/>
              <a:t> performance for all basic operations.</a:t>
            </a:r>
            <a:endParaRPr dirty="0"/>
          </a:p>
          <a:p>
            <a:pPr marL="914400" lvl="1" indent="-298450" algn="l" rtl="0">
              <a:spcBef>
                <a:spcPts val="0"/>
              </a:spcBef>
              <a:spcAft>
                <a:spcPts val="0"/>
              </a:spcAft>
              <a:buSzPts val="1100"/>
              <a:buChar char="○"/>
            </a:pPr>
            <a:r>
              <a:rPr lang="en" dirty="0"/>
              <a:t>The drawback is that the keys are stored in an unpredictable order.</a:t>
            </a:r>
            <a:endParaRPr dirty="0"/>
          </a:p>
          <a:p>
            <a:pPr marL="914400" lvl="1" indent="-298450" algn="l" rtl="0">
              <a:spcBef>
                <a:spcPts val="0"/>
              </a:spcBef>
              <a:spcAft>
                <a:spcPts val="0"/>
              </a:spcAft>
              <a:buSzPts val="1100"/>
              <a:buChar char="○"/>
            </a:pPr>
            <a:r>
              <a:rPr lang="en" dirty="0"/>
              <a:t>Java's implementation is </a:t>
            </a:r>
            <a:r>
              <a:rPr lang="en" u="sng" dirty="0">
                <a:solidFill>
                  <a:schemeClr val="hlink"/>
                </a:solidFill>
                <a:latin typeface="Courier New"/>
                <a:ea typeface="Courier New"/>
                <a:cs typeface="Courier New"/>
                <a:sym typeface="Courier New"/>
                <a:hlinkClick r:id="rId3"/>
              </a:rPr>
              <a:t>java.util.HashMap</a:t>
            </a:r>
            <a:r>
              <a:rPr lang="en" dirty="0"/>
              <a:t>.</a:t>
            </a:r>
            <a:endParaRPr dirty="0"/>
          </a:p>
          <a:p>
            <a:pPr marL="457200" lvl="0" indent="-311150" algn="l" rtl="0">
              <a:spcBef>
                <a:spcPts val="1000"/>
              </a:spcBef>
              <a:spcAft>
                <a:spcPts val="0"/>
              </a:spcAft>
              <a:buSzPts val="1300"/>
              <a:buChar char="●"/>
            </a:pPr>
            <a:r>
              <a:rPr lang="en" dirty="0"/>
              <a:t>A </a:t>
            </a:r>
            <a:r>
              <a:rPr lang="en" b="1" i="1" dirty="0">
                <a:solidFill>
                  <a:srgbClr val="FF0000"/>
                </a:solidFill>
              </a:rPr>
              <a:t>tree map</a:t>
            </a:r>
            <a:r>
              <a:rPr lang="en" dirty="0"/>
              <a:t> maintains its keys in </a:t>
            </a:r>
            <a:r>
              <a:rPr lang="en" b="1" i="1" dirty="0">
                <a:solidFill>
                  <a:srgbClr val="FF0000"/>
                </a:solidFill>
              </a:rPr>
              <a:t>sorted order</a:t>
            </a:r>
            <a:r>
              <a:rPr lang="en" dirty="0"/>
              <a:t>.</a:t>
            </a:r>
            <a:endParaRPr dirty="0"/>
          </a:p>
          <a:p>
            <a:pPr marL="914400" lvl="1" indent="-298450" algn="l" rtl="0">
              <a:spcBef>
                <a:spcPts val="0"/>
              </a:spcBef>
              <a:spcAft>
                <a:spcPts val="0"/>
              </a:spcAft>
              <a:buSzPts val="1100"/>
              <a:buChar char="○"/>
            </a:pPr>
            <a:r>
              <a:rPr lang="en" dirty="0"/>
              <a:t>This means that the keys must implement </a:t>
            </a:r>
            <a:r>
              <a:rPr lang="en" dirty="0">
                <a:latin typeface="Courier New"/>
                <a:ea typeface="Courier New"/>
                <a:cs typeface="Courier New"/>
                <a:sym typeface="Courier New"/>
              </a:rPr>
              <a:t>Comparable</a:t>
            </a:r>
            <a:r>
              <a:rPr lang="en" dirty="0"/>
              <a:t> or a </a:t>
            </a:r>
            <a:r>
              <a:rPr lang="en" dirty="0">
                <a:latin typeface="Courier New"/>
                <a:ea typeface="Courier New"/>
                <a:cs typeface="Courier New"/>
                <a:sym typeface="Courier New"/>
              </a:rPr>
              <a:t>Comparator</a:t>
            </a:r>
            <a:r>
              <a:rPr lang="en" dirty="0"/>
              <a:t> must be provided.</a:t>
            </a:r>
            <a:endParaRPr dirty="0"/>
          </a:p>
          <a:p>
            <a:pPr marL="914400" lvl="1" indent="-298450" algn="l" rtl="0">
              <a:spcBef>
                <a:spcPts val="0"/>
              </a:spcBef>
              <a:spcAft>
                <a:spcPts val="0"/>
              </a:spcAft>
              <a:buSzPts val="1100"/>
              <a:buChar char="○"/>
            </a:pPr>
            <a:r>
              <a:rPr lang="en" dirty="0"/>
              <a:t>Like </a:t>
            </a:r>
            <a:r>
              <a:rPr lang="en" dirty="0">
                <a:latin typeface="Courier New"/>
                <a:ea typeface="Courier New"/>
                <a:cs typeface="Courier New"/>
                <a:sym typeface="Courier New"/>
              </a:rPr>
              <a:t>TreeSet</a:t>
            </a:r>
            <a:r>
              <a:rPr lang="en" dirty="0"/>
              <a:t>, the expected complexity of all basic operations </a:t>
            </a:r>
            <a:r>
              <a:rPr lang="en" dirty="0">
                <a:highlight>
                  <a:srgbClr val="FFFF00"/>
                </a:highlight>
              </a:rPr>
              <a:t>is </a:t>
            </a:r>
            <a:r>
              <a:rPr lang="en" i="1" dirty="0">
                <a:highlight>
                  <a:srgbClr val="FFFF00"/>
                </a:highlight>
              </a:rPr>
              <a:t>O(log</a:t>
            </a:r>
            <a:r>
              <a:rPr lang="en" i="1" baseline="-25000" dirty="0">
                <a:highlight>
                  <a:srgbClr val="FFFF00"/>
                </a:highlight>
              </a:rPr>
              <a:t>2</a:t>
            </a:r>
            <a:r>
              <a:rPr lang="en" i="1" dirty="0">
                <a:highlight>
                  <a:srgbClr val="FFFF00"/>
                </a:highlight>
              </a:rPr>
              <a:t>n)</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Java's implementation is </a:t>
            </a:r>
            <a:r>
              <a:rPr lang="en" u="sng" dirty="0">
                <a:solidFill>
                  <a:schemeClr val="hlink"/>
                </a:solidFill>
                <a:latin typeface="Courier New"/>
                <a:ea typeface="Courier New"/>
                <a:cs typeface="Courier New"/>
                <a:sym typeface="Courier New"/>
                <a:hlinkClick r:id="rId4"/>
              </a:rPr>
              <a:t>java.util.TreeMap</a:t>
            </a:r>
            <a:r>
              <a:rPr lang="en" dirty="0"/>
              <a:t>.</a:t>
            </a:r>
            <a:endParaRPr dirty="0"/>
          </a:p>
        </p:txBody>
      </p:sp>
      <p:sp>
        <p:nvSpPr>
          <p:cNvPr id="893" name="Google Shape;893;p105"/>
          <p:cNvSpPr txBox="1">
            <a:spLocks noGrp="1"/>
          </p:cNvSpPr>
          <p:nvPr>
            <p:ph type="body" idx="3"/>
          </p:nvPr>
        </p:nvSpPr>
        <p:spPr>
          <a:xfrm>
            <a:off x="4942775" y="1214775"/>
            <a:ext cx="4100100" cy="5817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Java provides two main map implementations: </a:t>
            </a:r>
            <a:r>
              <a:rPr lang="en" sz="1200">
                <a:latin typeface="Courier New"/>
                <a:ea typeface="Courier New"/>
                <a:cs typeface="Courier New"/>
                <a:sym typeface="Courier New"/>
              </a:rPr>
              <a:t>HashMap</a:t>
            </a:r>
            <a:r>
              <a:rPr lang="en" sz="1200"/>
              <a:t> and </a:t>
            </a:r>
            <a:r>
              <a:rPr lang="en" sz="1200">
                <a:latin typeface="Courier New"/>
                <a:ea typeface="Courier New"/>
                <a:cs typeface="Courier New"/>
                <a:sym typeface="Courier New"/>
              </a:rPr>
              <a:t>TreeMap</a:t>
            </a:r>
            <a:r>
              <a:rPr lang="en" sz="1200"/>
              <a:t>.</a:t>
            </a:r>
            <a:endParaRPr/>
          </a:p>
        </p:txBody>
      </p:sp>
      <p:sp>
        <p:nvSpPr>
          <p:cNvPr id="894" name="Google Shape;894;p105"/>
          <p:cNvSpPr txBox="1"/>
          <p:nvPr/>
        </p:nvSpPr>
        <p:spPr>
          <a:xfrm>
            <a:off x="4942775" y="1884438"/>
            <a:ext cx="4100100" cy="1918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267F99"/>
                </a:solidFill>
                <a:latin typeface="Consolas"/>
                <a:ea typeface="Consolas"/>
                <a:cs typeface="Consolas"/>
                <a:sym typeface="Consolas"/>
              </a:rPr>
              <a:t>Map</a:t>
            </a:r>
            <a:r>
              <a:rPr lang="en" sz="950">
                <a:latin typeface="Consolas"/>
                <a:ea typeface="Consolas"/>
                <a:cs typeface="Consolas"/>
                <a:sym typeface="Consolas"/>
              </a:rPr>
              <a:t>&lt;</a:t>
            </a:r>
            <a:r>
              <a:rPr lang="en" sz="950">
                <a:solidFill>
                  <a:srgbClr val="267F99"/>
                </a:solidFill>
                <a:latin typeface="Consolas"/>
                <a:ea typeface="Consolas"/>
                <a:cs typeface="Consolas"/>
                <a:sym typeface="Consolas"/>
              </a:rPr>
              <a:t>Dog</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&gt; </a:t>
            </a: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 = </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TreeMap</a:t>
            </a:r>
            <a:r>
              <a:rPr lang="en" sz="950">
                <a:latin typeface="Consolas"/>
                <a:ea typeface="Consolas"/>
                <a:cs typeface="Consolas"/>
                <a:sym typeface="Consolas"/>
              </a:rPr>
              <a:t>&lt;&gt;(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DogComparator</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put</a:t>
            </a:r>
            <a:r>
              <a:rPr lang="en" sz="950">
                <a:latin typeface="Consolas"/>
                <a:ea typeface="Consolas"/>
                <a:cs typeface="Consolas"/>
                <a:sym typeface="Consolas"/>
              </a:rPr>
              <a: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"Buttercup"</a:t>
            </a:r>
            <a:r>
              <a:rPr lang="en" sz="950">
                <a:latin typeface="Consolas"/>
                <a:ea typeface="Consolas"/>
                <a:cs typeface="Consolas"/>
                <a:sym typeface="Consolas"/>
              </a:rPr>
              <a:t>, </a:t>
            </a:r>
            <a:r>
              <a:rPr lang="en" sz="950">
                <a:solidFill>
                  <a:srgbClr val="098658"/>
                </a:solidFill>
                <a:latin typeface="Consolas"/>
                <a:ea typeface="Consolas"/>
                <a:cs typeface="Consolas"/>
                <a:sym typeface="Consolas"/>
              </a:rPr>
              <a:t>10</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BASSET</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put</a:t>
            </a:r>
            <a:r>
              <a:rPr lang="en" sz="950">
                <a:latin typeface="Consolas"/>
                <a:ea typeface="Consolas"/>
                <a:cs typeface="Consolas"/>
                <a:sym typeface="Consolas"/>
              </a:rPr>
              <a: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"Flash"</a:t>
            </a:r>
            <a:r>
              <a:rPr lang="en" sz="950">
                <a:latin typeface="Consolas"/>
                <a:ea typeface="Consolas"/>
                <a:cs typeface="Consolas"/>
                <a:sym typeface="Consolas"/>
              </a:rPr>
              <a:t>, </a:t>
            </a:r>
            <a:r>
              <a:rPr lang="en" sz="950">
                <a:solidFill>
                  <a:srgbClr val="098658"/>
                </a:solidFill>
                <a:latin typeface="Consolas"/>
                <a:ea typeface="Consolas"/>
                <a:cs typeface="Consolas"/>
                <a:sym typeface="Consolas"/>
              </a:rPr>
              <a:t>8</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BLOODHOUND</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put</a:t>
            </a:r>
            <a:r>
              <a:rPr lang="en" sz="950">
                <a:latin typeface="Consolas"/>
                <a:ea typeface="Consolas"/>
                <a:cs typeface="Consolas"/>
                <a:sym typeface="Consolas"/>
              </a:rPr>
              <a: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"Hermione"</a:t>
            </a:r>
            <a:r>
              <a:rPr lang="en" sz="950">
                <a:latin typeface="Consolas"/>
                <a:ea typeface="Consolas"/>
                <a:cs typeface="Consolas"/>
                <a:sym typeface="Consolas"/>
              </a:rPr>
              <a:t>, </a:t>
            </a:r>
            <a:r>
              <a:rPr lang="en" sz="950">
                <a:solidFill>
                  <a:srgbClr val="098658"/>
                </a:solidFill>
                <a:latin typeface="Consolas"/>
                <a:ea typeface="Consolas"/>
                <a:cs typeface="Consolas"/>
                <a:sym typeface="Consolas"/>
              </a:rPr>
              <a:t>2</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BASSET</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put</a:t>
            </a:r>
            <a:r>
              <a:rPr lang="en" sz="950">
                <a:latin typeface="Consolas"/>
                <a:ea typeface="Consolas"/>
                <a:cs typeface="Consolas"/>
                <a:sym typeface="Consolas"/>
              </a:rPr>
              <a: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"Princess Fluffypants"</a:t>
            </a:r>
            <a:r>
              <a:rPr lang="en" sz="950">
                <a:latin typeface="Consolas"/>
                <a:ea typeface="Consolas"/>
                <a:cs typeface="Consolas"/>
                <a:sym typeface="Consolas"/>
              </a:rPr>
              <a:t>, </a:t>
            </a:r>
            <a:r>
              <a:rPr lang="en" sz="950">
                <a:solidFill>
                  <a:srgbClr val="098658"/>
                </a:solidFill>
                <a:latin typeface="Consolas"/>
                <a:ea typeface="Consolas"/>
                <a:cs typeface="Consolas"/>
                <a:sym typeface="Consolas"/>
              </a:rPr>
              <a:t>1</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CORGIE</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chemeClr val="dk2"/>
                </a:solidFill>
                <a:latin typeface="Consolas"/>
                <a:ea typeface="Consolas"/>
                <a:cs typeface="Consolas"/>
                <a:sym typeface="Consolas"/>
              </a:rPr>
              <a:t> </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AF00DB"/>
                </a:solidFill>
                <a:latin typeface="Consolas"/>
                <a:ea typeface="Consolas"/>
                <a:cs typeface="Consolas"/>
                <a:sym typeface="Consolas"/>
              </a:rPr>
              <a:t>for</a:t>
            </a:r>
            <a:r>
              <a:rPr lang="en" sz="950">
                <a:latin typeface="Consolas"/>
                <a:ea typeface="Consolas"/>
                <a:cs typeface="Consolas"/>
                <a:sym typeface="Consolas"/>
              </a:rPr>
              <a:t>(</a:t>
            </a:r>
            <a:r>
              <a:rPr lang="en" sz="950">
                <a:solidFill>
                  <a:srgbClr val="267F99"/>
                </a:solidFill>
                <a:latin typeface="Consolas"/>
                <a:ea typeface="Consolas"/>
                <a:cs typeface="Consolas"/>
                <a:sym typeface="Consolas"/>
              </a:rPr>
              <a:t>Dog</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dog</a:t>
            </a:r>
            <a:r>
              <a:rPr lang="en" sz="950">
                <a:latin typeface="Consolas"/>
                <a:ea typeface="Consolas"/>
                <a:cs typeface="Consolas"/>
                <a:sym typeface="Consolas"/>
              </a:rPr>
              <a:t> </a:t>
            </a:r>
            <a:r>
              <a:rPr lang="en" sz="950">
                <a:solidFill>
                  <a:srgbClr val="AF00DB"/>
                </a:solidFill>
                <a:latin typeface="Consolas"/>
                <a:ea typeface="Consolas"/>
                <a:cs typeface="Consolas"/>
                <a:sym typeface="Consolas"/>
              </a:rPr>
              <a:t>:</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keySet</a:t>
            </a:r>
            <a:r>
              <a:rPr lang="en" sz="950">
                <a:latin typeface="Consolas"/>
                <a:ea typeface="Consolas"/>
                <a:cs typeface="Consolas"/>
                <a:sym typeface="Consolas"/>
              </a:rPr>
              <a:t>()) {</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System</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out</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println</a:t>
            </a:r>
            <a:r>
              <a:rPr lang="en" sz="950">
                <a:latin typeface="Consolas"/>
                <a:ea typeface="Consolas"/>
                <a:cs typeface="Consolas"/>
                <a:sym typeface="Consolas"/>
              </a:rPr>
              <a:t>(</a:t>
            </a:r>
            <a:r>
              <a:rPr lang="en" sz="950">
                <a:solidFill>
                  <a:srgbClr val="001080"/>
                </a:solidFill>
                <a:latin typeface="Consolas"/>
                <a:ea typeface="Consolas"/>
                <a:cs typeface="Consolas"/>
                <a:sym typeface="Consolas"/>
              </a:rPr>
              <a:t>dog</a:t>
            </a:r>
            <a:r>
              <a:rPr lang="en" sz="950">
                <a:latin typeface="Consolas"/>
                <a:ea typeface="Consolas"/>
                <a:cs typeface="Consolas"/>
                <a:sym typeface="Consolas"/>
              </a:rPr>
              <a:t> + </a:t>
            </a:r>
            <a:r>
              <a:rPr lang="en" sz="950">
                <a:solidFill>
                  <a:srgbClr val="A31515"/>
                </a:solidFill>
                <a:latin typeface="Consolas"/>
                <a:ea typeface="Consolas"/>
                <a:cs typeface="Consolas"/>
                <a:sym typeface="Consolas"/>
              </a:rPr>
              <a:t>" is a "</a:t>
            </a:r>
            <a:r>
              <a:rPr lang="en" sz="950">
                <a:latin typeface="Consolas"/>
                <a:ea typeface="Consolas"/>
                <a:cs typeface="Consolas"/>
                <a:sym typeface="Consolas"/>
              </a:rPr>
              <a:t> + </a:t>
            </a: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get</a:t>
            </a:r>
            <a:r>
              <a:rPr lang="en" sz="950">
                <a:latin typeface="Consolas"/>
                <a:ea typeface="Consolas"/>
                <a:cs typeface="Consolas"/>
                <a:sym typeface="Consolas"/>
              </a:rPr>
              <a:t>(</a:t>
            </a:r>
            <a:r>
              <a:rPr lang="en" sz="950">
                <a:solidFill>
                  <a:srgbClr val="001080"/>
                </a:solidFill>
                <a:latin typeface="Consolas"/>
                <a:ea typeface="Consolas"/>
                <a:cs typeface="Consolas"/>
                <a:sym typeface="Consolas"/>
              </a:rPr>
              <a:t>dog</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a:t>
            </a:r>
            <a:endParaRPr sz="950">
              <a:solidFill>
                <a:srgbClr val="267F99"/>
              </a:solidFill>
              <a:latin typeface="Consolas"/>
              <a:ea typeface="Consolas"/>
              <a:cs typeface="Consolas"/>
              <a:sym typeface="Consolas"/>
            </a:endParaRPr>
          </a:p>
        </p:txBody>
      </p:sp>
      <p:sp>
        <p:nvSpPr>
          <p:cNvPr id="895" name="Google Shape;895;p105"/>
          <p:cNvSpPr txBox="1">
            <a:spLocks noGrp="1"/>
          </p:cNvSpPr>
          <p:nvPr>
            <p:ph type="body" idx="3"/>
          </p:nvPr>
        </p:nvSpPr>
        <p:spPr>
          <a:xfrm>
            <a:off x="4959275" y="3890925"/>
            <a:ext cx="4067100" cy="79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a:latin typeface="Courier New"/>
                <a:ea typeface="Courier New"/>
                <a:cs typeface="Courier New"/>
                <a:sym typeface="Courier New"/>
              </a:rPr>
              <a:t>HashMap</a:t>
            </a:r>
            <a:r>
              <a:rPr lang="en" sz="1200"/>
              <a:t> is faster, but it's keys are stored in arbitrary order. The </a:t>
            </a:r>
            <a:r>
              <a:rPr lang="en" sz="1200">
                <a:latin typeface="Courier New"/>
                <a:ea typeface="Courier New"/>
                <a:cs typeface="Courier New"/>
                <a:sym typeface="Courier New"/>
              </a:rPr>
              <a:t>TreeMap</a:t>
            </a:r>
            <a:r>
              <a:rPr lang="en" sz="1200"/>
              <a:t> maintains its keys in sorted order at the cost of time complexity.</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9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9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9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9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9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9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9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9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893"/>
                                        </p:tgtEl>
                                        <p:attrNameLst>
                                          <p:attrName>style.visibility</p:attrName>
                                        </p:attrNameLst>
                                      </p:cBhvr>
                                      <p:to>
                                        <p:strVal val="visible"/>
                                      </p:to>
                                    </p:set>
                                    <p:animEffect transition="in" filter="fade">
                                      <p:cBhvr>
                                        <p:cTn id="63" dur="1000"/>
                                        <p:tgtEl>
                                          <p:spTgt spid="893"/>
                                        </p:tgtEl>
                                      </p:cBhvr>
                                    </p:animEffect>
                                  </p:childTnLst>
                                </p:cTn>
                              </p:par>
                              <p:par>
                                <p:cTn id="64" presetID="1" presetClass="entr" presetSubtype="0" fill="hold" nodeType="withEffect">
                                  <p:stCondLst>
                                    <p:cond delay="0"/>
                                  </p:stCondLst>
                                  <p:childTnLst>
                                    <p:set>
                                      <p:cBhvr>
                                        <p:cTn id="65" dur="1" fill="hold">
                                          <p:stCondLst>
                                            <p:cond delay="0"/>
                                          </p:stCondLst>
                                        </p:cTn>
                                        <p:tgtEl>
                                          <p:spTgt spid="89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895"/>
                                        </p:tgtEl>
                                        <p:attrNameLst>
                                          <p:attrName>style.visibility</p:attrName>
                                        </p:attrNameLst>
                                      </p:cBhvr>
                                      <p:to>
                                        <p:strVal val="visible"/>
                                      </p:to>
                                    </p:set>
                                    <p:animEffect transition="in" filter="fade">
                                      <p:cBhvr>
                                        <p:cTn id="70" dur="1000"/>
                                        <p:tgtEl>
                                          <p:spTgt spid="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10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901" name="Google Shape;901;p10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TreeMap</a:t>
            </a:r>
            <a:endParaRPr/>
          </a:p>
        </p:txBody>
      </p:sp>
      <p:sp>
        <p:nvSpPr>
          <p:cNvPr id="902" name="Google Shape;902;p106"/>
          <p:cNvSpPr txBox="1"/>
          <p:nvPr/>
        </p:nvSpPr>
        <p:spPr>
          <a:xfrm>
            <a:off x="2439750" y="2138225"/>
            <a:ext cx="4264500" cy="191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267F99"/>
                </a:solidFill>
                <a:highlight>
                  <a:srgbClr val="FFFFFF"/>
                </a:highlight>
                <a:latin typeface="Consolas"/>
                <a:ea typeface="Consolas"/>
                <a:cs typeface="Consolas"/>
                <a:sym typeface="Consolas"/>
              </a:rPr>
              <a:t>Map</a:t>
            </a:r>
            <a:r>
              <a:rPr lang="en" sz="950">
                <a:highlight>
                  <a:srgbClr val="FFFFFF"/>
                </a:highlight>
                <a:latin typeface="Consolas"/>
                <a:ea typeface="Consolas"/>
                <a:cs typeface="Consolas"/>
                <a:sym typeface="Consolas"/>
              </a:rPr>
              <a:t>&lt;</a:t>
            </a:r>
            <a:r>
              <a:rPr lang="en" sz="950">
                <a:solidFill>
                  <a:srgbClr val="267F99"/>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&gt;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 = </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TreeMap</a:t>
            </a:r>
            <a:r>
              <a:rPr lang="en" sz="950">
                <a:highlight>
                  <a:srgbClr val="FFFFFF"/>
                </a:highlight>
                <a:latin typeface="Consolas"/>
                <a:ea typeface="Consolas"/>
                <a:cs typeface="Consolas"/>
                <a:sym typeface="Consolas"/>
              </a:rPr>
              <a:t>&lt;&gt;(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DogAgeComparator</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"Buttercup"</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10</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BASSET</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"Flash"</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8</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BLOODHOUND</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"Hermione"</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2</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BASSET</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"Princess Fluffypants"</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1</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CORGIE</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chemeClr val="dk2"/>
                </a:solidFill>
                <a:highlight>
                  <a:srgbClr val="FFFFFF"/>
                </a:highlight>
                <a:latin typeface="Consolas"/>
                <a:ea typeface="Consolas"/>
                <a:cs typeface="Consolas"/>
                <a:sym typeface="Consolas"/>
              </a:rPr>
              <a:t> </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AF00DB"/>
                </a:solidFill>
                <a:highlight>
                  <a:srgbClr val="FFFFFF"/>
                </a:highlight>
                <a:latin typeface="Consolas"/>
                <a:ea typeface="Consolas"/>
                <a:cs typeface="Consolas"/>
                <a:sym typeface="Consolas"/>
              </a:rPr>
              <a:t>for</a:t>
            </a:r>
            <a:r>
              <a:rPr lang="en" sz="950">
                <a:highlight>
                  <a:srgbClr val="FFFFFF"/>
                </a:highlight>
                <a:latin typeface="Consolas"/>
                <a:ea typeface="Consolas"/>
                <a:cs typeface="Consolas"/>
                <a:sym typeface="Consolas"/>
              </a:rPr>
              <a:t>(</a:t>
            </a:r>
            <a:r>
              <a:rPr lang="en" sz="950">
                <a:solidFill>
                  <a:srgbClr val="267F99"/>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AF00DB"/>
                </a:solidFill>
                <a:highlight>
                  <a:srgbClr val="FFFFFF"/>
                </a:highlight>
                <a:latin typeface="Consolas"/>
                <a:ea typeface="Consolas"/>
                <a:cs typeface="Consolas"/>
                <a:sym typeface="Consolas"/>
              </a:rPr>
              <a:t>:</a:t>
            </a:r>
            <a:r>
              <a:rPr lang="en" sz="950">
                <a:highlight>
                  <a:srgbClr val="FFFFFF"/>
                </a:highlight>
                <a:latin typeface="Consolas"/>
                <a:ea typeface="Consolas"/>
                <a:cs typeface="Consolas"/>
                <a:sym typeface="Consolas"/>
              </a:rPr>
              <a:t>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keySet</a:t>
            </a:r>
            <a:r>
              <a:rPr lang="en" sz="950">
                <a:highlight>
                  <a:srgbClr val="FFFFFF"/>
                </a:highlight>
                <a:latin typeface="Consolas"/>
                <a:ea typeface="Consolas"/>
                <a:cs typeface="Consolas"/>
                <a:sym typeface="Consolas"/>
              </a:rPr>
              <a:t>()) {</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System</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out</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println</a:t>
            </a:r>
            <a:r>
              <a:rPr lang="en" sz="950">
                <a:highlight>
                  <a:srgbClr val="FFFFFF"/>
                </a:highlight>
                <a:latin typeface="Consolas"/>
                <a:ea typeface="Consolas"/>
                <a:cs typeface="Consolas"/>
                <a:sym typeface="Consolas"/>
              </a:rPr>
              <a:t>(</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 </a:t>
            </a:r>
            <a:r>
              <a:rPr lang="en" sz="950">
                <a:solidFill>
                  <a:srgbClr val="A31515"/>
                </a:solidFill>
                <a:highlight>
                  <a:srgbClr val="FFFFFF"/>
                </a:highlight>
                <a:latin typeface="Consolas"/>
                <a:ea typeface="Consolas"/>
                <a:cs typeface="Consolas"/>
                <a:sym typeface="Consolas"/>
              </a:rPr>
              <a:t>" is a "</a:t>
            </a:r>
            <a:r>
              <a:rPr lang="en" sz="950">
                <a:highlight>
                  <a:srgbClr val="FFFFFF"/>
                </a:highlight>
                <a:latin typeface="Consolas"/>
                <a:ea typeface="Consolas"/>
                <a:cs typeface="Consolas"/>
                <a:sym typeface="Consolas"/>
              </a:rPr>
              <a:t> +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get</a:t>
            </a:r>
            <a:r>
              <a:rPr lang="en" sz="950">
                <a:highlight>
                  <a:srgbClr val="FFFFFF"/>
                </a:highlight>
                <a:latin typeface="Consolas"/>
                <a:ea typeface="Consolas"/>
                <a:cs typeface="Consolas"/>
                <a:sym typeface="Consolas"/>
              </a:rPr>
              <a:t>(</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highlight>
                  <a:srgbClr val="FFFFFF"/>
                </a:highlight>
                <a:latin typeface="Consolas"/>
                <a:ea typeface="Consolas"/>
                <a:cs typeface="Consolas"/>
                <a:sym typeface="Consolas"/>
              </a:rPr>
              <a:t>}</a:t>
            </a:r>
            <a:endParaRPr sz="950">
              <a:solidFill>
                <a:srgbClr val="267F99"/>
              </a:solidFill>
              <a:highlight>
                <a:srgbClr val="FFFFFF"/>
              </a:highlight>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10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908" name="Google Shape;908;p10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TreeMap</a:t>
            </a:r>
            <a:endParaRPr>
              <a:latin typeface="Courier New"/>
              <a:ea typeface="Courier New"/>
              <a:cs typeface="Courier New"/>
              <a:sym typeface="Courier New"/>
            </a:endParaRPr>
          </a:p>
        </p:txBody>
      </p:sp>
      <p:sp>
        <p:nvSpPr>
          <p:cNvPr id="909" name="Google Shape;909;p107"/>
          <p:cNvSpPr txBox="1"/>
          <p:nvPr/>
        </p:nvSpPr>
        <p:spPr>
          <a:xfrm>
            <a:off x="2439750" y="2138225"/>
            <a:ext cx="4264500" cy="191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267F99"/>
                </a:solidFill>
                <a:highlight>
                  <a:srgbClr val="FFFFFF"/>
                </a:highlight>
                <a:latin typeface="Consolas"/>
                <a:ea typeface="Consolas"/>
                <a:cs typeface="Consolas"/>
                <a:sym typeface="Consolas"/>
              </a:rPr>
              <a:t>Map</a:t>
            </a:r>
            <a:r>
              <a:rPr lang="en" sz="950">
                <a:highlight>
                  <a:srgbClr val="FFFFFF"/>
                </a:highlight>
                <a:latin typeface="Consolas"/>
                <a:ea typeface="Consolas"/>
                <a:cs typeface="Consolas"/>
                <a:sym typeface="Consolas"/>
              </a:rPr>
              <a:t>&lt;</a:t>
            </a:r>
            <a:r>
              <a:rPr lang="en" sz="950">
                <a:solidFill>
                  <a:srgbClr val="267F99"/>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&gt;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 = </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TreeMap</a:t>
            </a:r>
            <a:r>
              <a:rPr lang="en" sz="950">
                <a:highlight>
                  <a:srgbClr val="FFFFFF"/>
                </a:highlight>
                <a:latin typeface="Consolas"/>
                <a:ea typeface="Consolas"/>
                <a:cs typeface="Consolas"/>
                <a:sym typeface="Consolas"/>
              </a:rPr>
              <a:t>&lt;&gt;(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DogAgeComparator</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"Buttercup"</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10</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BASSET</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"Flash"</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8</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BLOODHOUND</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"Hermione"</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2</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BASSET</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"Princess Fluffypants"</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1</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CORGIE</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chemeClr val="dk2"/>
                </a:solidFill>
                <a:highlight>
                  <a:srgbClr val="FFFFFF"/>
                </a:highlight>
                <a:latin typeface="Consolas"/>
                <a:ea typeface="Consolas"/>
                <a:cs typeface="Consolas"/>
                <a:sym typeface="Consolas"/>
              </a:rPr>
              <a:t> </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AF00DB"/>
                </a:solidFill>
                <a:highlight>
                  <a:srgbClr val="FFFFFF"/>
                </a:highlight>
                <a:latin typeface="Consolas"/>
                <a:ea typeface="Consolas"/>
                <a:cs typeface="Consolas"/>
                <a:sym typeface="Consolas"/>
              </a:rPr>
              <a:t>for</a:t>
            </a:r>
            <a:r>
              <a:rPr lang="en" sz="950">
                <a:highlight>
                  <a:srgbClr val="FFFFFF"/>
                </a:highlight>
                <a:latin typeface="Consolas"/>
                <a:ea typeface="Consolas"/>
                <a:cs typeface="Consolas"/>
                <a:sym typeface="Consolas"/>
              </a:rPr>
              <a:t>(</a:t>
            </a:r>
            <a:r>
              <a:rPr lang="en" sz="950">
                <a:solidFill>
                  <a:srgbClr val="267F99"/>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AF00DB"/>
                </a:solidFill>
                <a:highlight>
                  <a:srgbClr val="FFFFFF"/>
                </a:highlight>
                <a:latin typeface="Consolas"/>
                <a:ea typeface="Consolas"/>
                <a:cs typeface="Consolas"/>
                <a:sym typeface="Consolas"/>
              </a:rPr>
              <a:t>:</a:t>
            </a:r>
            <a:r>
              <a:rPr lang="en" sz="950">
                <a:highlight>
                  <a:srgbClr val="FFFFFF"/>
                </a:highlight>
                <a:latin typeface="Consolas"/>
                <a:ea typeface="Consolas"/>
                <a:cs typeface="Consolas"/>
                <a:sym typeface="Consolas"/>
              </a:rPr>
              <a:t>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keySet</a:t>
            </a:r>
            <a:r>
              <a:rPr lang="en" sz="950">
                <a:highlight>
                  <a:srgbClr val="FFFFFF"/>
                </a:highlight>
                <a:latin typeface="Consolas"/>
                <a:ea typeface="Consolas"/>
                <a:cs typeface="Consolas"/>
                <a:sym typeface="Consolas"/>
              </a:rPr>
              <a:t>()) {</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System</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out</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println</a:t>
            </a:r>
            <a:r>
              <a:rPr lang="en" sz="950">
                <a:highlight>
                  <a:srgbClr val="FFFFFF"/>
                </a:highlight>
                <a:latin typeface="Consolas"/>
                <a:ea typeface="Consolas"/>
                <a:cs typeface="Consolas"/>
                <a:sym typeface="Consolas"/>
              </a:rPr>
              <a:t>(</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 </a:t>
            </a:r>
            <a:r>
              <a:rPr lang="en" sz="950">
                <a:solidFill>
                  <a:srgbClr val="A31515"/>
                </a:solidFill>
                <a:highlight>
                  <a:srgbClr val="FFFFFF"/>
                </a:highlight>
                <a:latin typeface="Consolas"/>
                <a:ea typeface="Consolas"/>
                <a:cs typeface="Consolas"/>
                <a:sym typeface="Consolas"/>
              </a:rPr>
              <a:t>" is a "</a:t>
            </a:r>
            <a:r>
              <a:rPr lang="en" sz="950">
                <a:highlight>
                  <a:srgbClr val="FFFFFF"/>
                </a:highlight>
                <a:latin typeface="Consolas"/>
                <a:ea typeface="Consolas"/>
                <a:cs typeface="Consolas"/>
                <a:sym typeface="Consolas"/>
              </a:rPr>
              <a:t> +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get</a:t>
            </a:r>
            <a:r>
              <a:rPr lang="en" sz="950">
                <a:highlight>
                  <a:srgbClr val="FFFFFF"/>
                </a:highlight>
                <a:latin typeface="Consolas"/>
                <a:ea typeface="Consolas"/>
                <a:cs typeface="Consolas"/>
                <a:sym typeface="Consolas"/>
              </a:rPr>
              <a:t>(</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highlight>
                  <a:srgbClr val="FFFFFF"/>
                </a:highlight>
                <a:latin typeface="Consolas"/>
                <a:ea typeface="Consolas"/>
                <a:cs typeface="Consolas"/>
                <a:sym typeface="Consolas"/>
              </a:rPr>
              <a:t>}</a:t>
            </a:r>
            <a:endParaRPr sz="950">
              <a:solidFill>
                <a:srgbClr val="267F99"/>
              </a:solidFill>
              <a:highlight>
                <a:srgbClr val="FFFFFF"/>
              </a:highlight>
              <a:latin typeface="Consolas"/>
              <a:ea typeface="Consolas"/>
              <a:cs typeface="Consolas"/>
              <a:sym typeface="Consolas"/>
            </a:endParaRPr>
          </a:p>
        </p:txBody>
      </p:sp>
      <p:sp>
        <p:nvSpPr>
          <p:cNvPr id="910" name="Google Shape;910;p107"/>
          <p:cNvSpPr/>
          <p:nvPr/>
        </p:nvSpPr>
        <p:spPr>
          <a:xfrm>
            <a:off x="2307175" y="1678700"/>
            <a:ext cx="910150" cy="550850"/>
          </a:xfrm>
          <a:custGeom>
            <a:avLst/>
            <a:gdLst/>
            <a:ahLst/>
            <a:cxnLst/>
            <a:rect l="l" t="t" r="r" b="b"/>
            <a:pathLst>
              <a:path w="13388" h="22034" extrusionOk="0">
                <a:moveTo>
                  <a:pt x="0" y="4254"/>
                </a:moveTo>
                <a:cubicBezTo>
                  <a:pt x="2211" y="3690"/>
                  <a:pt x="12277" y="-2095"/>
                  <a:pt x="13265" y="868"/>
                </a:cubicBezTo>
                <a:cubicBezTo>
                  <a:pt x="14253" y="3831"/>
                  <a:pt x="7150" y="18506"/>
                  <a:pt x="5927" y="2203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11" name="Google Shape;911;p107"/>
          <p:cNvSpPr txBox="1"/>
          <p:nvPr/>
        </p:nvSpPr>
        <p:spPr>
          <a:xfrm>
            <a:off x="169325" y="1354675"/>
            <a:ext cx="2191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Courier New"/>
                <a:ea typeface="Courier New"/>
                <a:cs typeface="Courier New"/>
                <a:sym typeface="Courier New"/>
              </a:rPr>
              <a:t>TreeMap</a:t>
            </a:r>
            <a:r>
              <a:rPr lang="en" sz="1200"/>
              <a:t> is an implementation of the same abstract data type as </a:t>
            </a:r>
            <a:r>
              <a:rPr lang="en" sz="1200">
                <a:latin typeface="Courier New"/>
                <a:ea typeface="Courier New"/>
                <a:cs typeface="Courier New"/>
                <a:sym typeface="Courier New"/>
              </a:rPr>
              <a:t>HashMap</a:t>
            </a:r>
            <a:r>
              <a:rPr lang="en" sz="1200"/>
              <a:t>.</a:t>
            </a:r>
            <a:endParaRPr sz="1200"/>
          </a:p>
        </p:txBody>
      </p:sp>
      <p:sp>
        <p:nvSpPr>
          <p:cNvPr id="912" name="Google Shape;912;p107"/>
          <p:cNvSpPr/>
          <p:nvPr/>
        </p:nvSpPr>
        <p:spPr>
          <a:xfrm>
            <a:off x="5623275" y="1612550"/>
            <a:ext cx="1255936" cy="645225"/>
          </a:xfrm>
          <a:custGeom>
            <a:avLst/>
            <a:gdLst/>
            <a:ahLst/>
            <a:cxnLst/>
            <a:rect l="l" t="t" r="r" b="b"/>
            <a:pathLst>
              <a:path w="37818" h="25809" extrusionOk="0">
                <a:moveTo>
                  <a:pt x="37818" y="10851"/>
                </a:moveTo>
                <a:cubicBezTo>
                  <a:pt x="32879" y="9111"/>
                  <a:pt x="14488" y="-2084"/>
                  <a:pt x="8185" y="409"/>
                </a:cubicBezTo>
                <a:cubicBezTo>
                  <a:pt x="1882" y="2902"/>
                  <a:pt x="1364" y="21576"/>
                  <a:pt x="0" y="2580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13" name="Google Shape;913;p107"/>
          <p:cNvSpPr txBox="1"/>
          <p:nvPr/>
        </p:nvSpPr>
        <p:spPr>
          <a:xfrm>
            <a:off x="6829775" y="1354675"/>
            <a:ext cx="21915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The </a:t>
            </a:r>
            <a:r>
              <a:rPr lang="en" sz="1200" b="1" i="1" dirty="0">
                <a:solidFill>
                  <a:srgbClr val="FF0000"/>
                </a:solidFill>
              </a:rPr>
              <a:t>key</a:t>
            </a:r>
            <a:r>
              <a:rPr lang="en" sz="1200" dirty="0">
                <a:solidFill>
                  <a:srgbClr val="FF0000"/>
                </a:solidFill>
              </a:rPr>
              <a:t> </a:t>
            </a:r>
            <a:r>
              <a:rPr lang="en" sz="1200" dirty="0"/>
              <a:t>type used must be naturally </a:t>
            </a:r>
            <a:r>
              <a:rPr lang="en" sz="1200" dirty="0">
                <a:latin typeface="Courier New"/>
                <a:ea typeface="Courier New"/>
                <a:cs typeface="Courier New"/>
                <a:sym typeface="Courier New"/>
              </a:rPr>
              <a:t>Comparable</a:t>
            </a:r>
            <a:r>
              <a:rPr lang="en" sz="1200" dirty="0"/>
              <a:t> or a </a:t>
            </a:r>
            <a:r>
              <a:rPr lang="en" sz="1200" dirty="0">
                <a:latin typeface="Courier New"/>
                <a:ea typeface="Courier New"/>
                <a:cs typeface="Courier New"/>
                <a:sym typeface="Courier New"/>
              </a:rPr>
              <a:t>Comparator</a:t>
            </a:r>
            <a:r>
              <a:rPr lang="en" sz="1200" dirty="0"/>
              <a:t> must be given to the </a:t>
            </a:r>
            <a:r>
              <a:rPr lang="en" sz="1200" dirty="0">
                <a:latin typeface="Courier New"/>
                <a:ea typeface="Courier New"/>
                <a:cs typeface="Courier New"/>
                <a:sym typeface="Courier New"/>
              </a:rPr>
              <a:t>TreeMap</a:t>
            </a:r>
            <a:r>
              <a:rPr lang="en" sz="1200" dirty="0"/>
              <a:t> to use when sorting the keys.</a:t>
            </a:r>
            <a:endParaRPr sz="1200" dirty="0"/>
          </a:p>
        </p:txBody>
      </p:sp>
      <p:sp>
        <p:nvSpPr>
          <p:cNvPr id="914" name="Google Shape;914;p107"/>
          <p:cNvSpPr txBox="1"/>
          <p:nvPr/>
        </p:nvSpPr>
        <p:spPr>
          <a:xfrm>
            <a:off x="6829775" y="2571750"/>
            <a:ext cx="2191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highlight>
                  <a:srgbClr val="FFFF00"/>
                </a:highlight>
              </a:rPr>
              <a:t>It does not matter whether or not the </a:t>
            </a:r>
            <a:r>
              <a:rPr lang="en" sz="1200" b="1" i="1" dirty="0">
                <a:solidFill>
                  <a:srgbClr val="FF0000"/>
                </a:solidFill>
                <a:highlight>
                  <a:srgbClr val="FFFF00"/>
                </a:highlight>
              </a:rPr>
              <a:t>values</a:t>
            </a:r>
            <a:r>
              <a:rPr lang="en" sz="1200" dirty="0">
                <a:solidFill>
                  <a:srgbClr val="FF0000"/>
                </a:solidFill>
                <a:highlight>
                  <a:srgbClr val="FFFF00"/>
                </a:highlight>
              </a:rPr>
              <a:t> </a:t>
            </a:r>
            <a:r>
              <a:rPr lang="en" sz="1200" dirty="0">
                <a:highlight>
                  <a:srgbClr val="FFFF00"/>
                </a:highlight>
              </a:rPr>
              <a:t>in the map are </a:t>
            </a:r>
            <a:r>
              <a:rPr lang="en" sz="1200" dirty="0">
                <a:highlight>
                  <a:srgbClr val="FFFF00"/>
                </a:highlight>
                <a:latin typeface="Courier New"/>
                <a:ea typeface="Courier New"/>
                <a:cs typeface="Courier New"/>
                <a:sym typeface="Courier New"/>
              </a:rPr>
              <a:t>Comparable</a:t>
            </a:r>
            <a:r>
              <a:rPr lang="en" sz="1200" dirty="0">
                <a:highlight>
                  <a:srgbClr val="FFFF00"/>
                </a:highlight>
              </a:rPr>
              <a:t>. </a:t>
            </a:r>
            <a:r>
              <a:rPr lang="en" sz="1200" b="1" i="1" dirty="0">
                <a:solidFill>
                  <a:srgbClr val="FF0000"/>
                </a:solidFill>
                <a:highlight>
                  <a:srgbClr val="FFFF00"/>
                </a:highlight>
              </a:rPr>
              <a:t>Only</a:t>
            </a:r>
            <a:r>
              <a:rPr lang="en" sz="1200" dirty="0">
                <a:solidFill>
                  <a:srgbClr val="FF0000"/>
                </a:solidFill>
                <a:highlight>
                  <a:srgbClr val="FFFF00"/>
                </a:highlight>
              </a:rPr>
              <a:t> </a:t>
            </a:r>
            <a:r>
              <a:rPr lang="en" sz="1200" dirty="0">
                <a:highlight>
                  <a:srgbClr val="FFFF00"/>
                </a:highlight>
              </a:rPr>
              <a:t>the keys are sorted.</a:t>
            </a:r>
            <a:endParaRPr sz="1200" dirty="0">
              <a:highlight>
                <a:srgbClr val="FFFF00"/>
              </a:highlight>
            </a:endParaRPr>
          </a:p>
        </p:txBody>
      </p:sp>
      <p:sp>
        <p:nvSpPr>
          <p:cNvPr id="915" name="Google Shape;915;p107"/>
          <p:cNvSpPr/>
          <p:nvPr/>
        </p:nvSpPr>
        <p:spPr>
          <a:xfrm>
            <a:off x="2271900" y="3153825"/>
            <a:ext cx="670275" cy="197550"/>
          </a:xfrm>
          <a:custGeom>
            <a:avLst/>
            <a:gdLst/>
            <a:ahLst/>
            <a:cxnLst/>
            <a:rect l="l" t="t" r="r" b="b"/>
            <a:pathLst>
              <a:path w="26811" h="7902" extrusionOk="0">
                <a:moveTo>
                  <a:pt x="0" y="5927"/>
                </a:moveTo>
                <a:cubicBezTo>
                  <a:pt x="3622" y="6209"/>
                  <a:pt x="17263" y="8608"/>
                  <a:pt x="21731" y="7620"/>
                </a:cubicBezTo>
                <a:cubicBezTo>
                  <a:pt x="26200" y="6632"/>
                  <a:pt x="25964" y="1270"/>
                  <a:pt x="26811"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16" name="Google Shape;916;p107"/>
          <p:cNvSpPr txBox="1"/>
          <p:nvPr/>
        </p:nvSpPr>
        <p:spPr>
          <a:xfrm>
            <a:off x="169325" y="2497625"/>
            <a:ext cx="21915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A </a:t>
            </a:r>
            <a:r>
              <a:rPr lang="en" sz="1200" dirty="0">
                <a:latin typeface="Courier New"/>
                <a:ea typeface="Courier New"/>
                <a:cs typeface="Courier New"/>
                <a:sym typeface="Courier New"/>
              </a:rPr>
              <a:t>TreeMap</a:t>
            </a:r>
            <a:r>
              <a:rPr lang="en" sz="1200" dirty="0"/>
              <a:t> provides all of the same operations as a </a:t>
            </a:r>
            <a:r>
              <a:rPr lang="en" sz="1200" dirty="0">
                <a:latin typeface="Courier New"/>
                <a:ea typeface="Courier New"/>
                <a:cs typeface="Courier New"/>
                <a:sym typeface="Courier New"/>
              </a:rPr>
              <a:t>HashMap</a:t>
            </a:r>
            <a:r>
              <a:rPr lang="en" sz="1200" dirty="0"/>
              <a:t>, and also guarantees that the keys are unique… </a:t>
            </a:r>
            <a:endParaRPr sz="1200" dirty="0"/>
          </a:p>
        </p:txBody>
      </p:sp>
      <p:sp>
        <p:nvSpPr>
          <p:cNvPr id="917" name="Google Shape;917;p107"/>
          <p:cNvSpPr/>
          <p:nvPr/>
        </p:nvSpPr>
        <p:spPr>
          <a:xfrm>
            <a:off x="2286000" y="3556000"/>
            <a:ext cx="500425" cy="500739"/>
          </a:xfrm>
          <a:custGeom>
            <a:avLst/>
            <a:gdLst/>
            <a:ahLst/>
            <a:cxnLst/>
            <a:rect l="l" t="t" r="r" b="b"/>
            <a:pathLst>
              <a:path w="20017" h="22327" extrusionOk="0">
                <a:moveTo>
                  <a:pt x="0" y="19473"/>
                </a:moveTo>
                <a:cubicBezTo>
                  <a:pt x="3199" y="19755"/>
                  <a:pt x="16463" y="24413"/>
                  <a:pt x="19191" y="21167"/>
                </a:cubicBezTo>
                <a:cubicBezTo>
                  <a:pt x="21919" y="17922"/>
                  <a:pt x="16839" y="3528"/>
                  <a:pt x="16369"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18" name="Google Shape;918;p107"/>
          <p:cNvSpPr txBox="1"/>
          <p:nvPr/>
        </p:nvSpPr>
        <p:spPr>
          <a:xfrm>
            <a:off x="2439775" y="4148675"/>
            <a:ext cx="4264500" cy="800400"/>
          </a:xfrm>
          <a:prstGeom prst="rect">
            <a:avLst/>
          </a:prstGeom>
          <a:solidFill>
            <a:srgbClr val="000000"/>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1C232"/>
                </a:solidFill>
                <a:latin typeface="Consolas"/>
                <a:ea typeface="Consolas"/>
                <a:cs typeface="Consolas"/>
                <a:sym typeface="Consolas"/>
              </a:rPr>
              <a:t>Princess Fluffypants(age 1) is a CORGIE</a:t>
            </a:r>
            <a:endParaRPr sz="1000">
              <a:solidFill>
                <a:srgbClr val="F1C232"/>
              </a:solidFill>
              <a:latin typeface="Consolas"/>
              <a:ea typeface="Consolas"/>
              <a:cs typeface="Consolas"/>
              <a:sym typeface="Consolas"/>
            </a:endParaRPr>
          </a:p>
          <a:p>
            <a:pPr marL="0" lvl="0" indent="0" algn="l" rtl="0">
              <a:spcBef>
                <a:spcPts val="0"/>
              </a:spcBef>
              <a:spcAft>
                <a:spcPts val="0"/>
              </a:spcAft>
              <a:buNone/>
            </a:pPr>
            <a:r>
              <a:rPr lang="en" sz="1000">
                <a:solidFill>
                  <a:srgbClr val="F1C232"/>
                </a:solidFill>
                <a:latin typeface="Consolas"/>
                <a:ea typeface="Consolas"/>
                <a:cs typeface="Consolas"/>
                <a:sym typeface="Consolas"/>
              </a:rPr>
              <a:t>Hermione(age 2) is a BASSET</a:t>
            </a:r>
            <a:endParaRPr sz="1000">
              <a:solidFill>
                <a:srgbClr val="F1C232"/>
              </a:solidFill>
              <a:latin typeface="Consolas"/>
              <a:ea typeface="Consolas"/>
              <a:cs typeface="Consolas"/>
              <a:sym typeface="Consolas"/>
            </a:endParaRPr>
          </a:p>
          <a:p>
            <a:pPr marL="0" lvl="0" indent="0" algn="l" rtl="0">
              <a:spcBef>
                <a:spcPts val="0"/>
              </a:spcBef>
              <a:spcAft>
                <a:spcPts val="0"/>
              </a:spcAft>
              <a:buNone/>
            </a:pPr>
            <a:r>
              <a:rPr lang="en" sz="1000">
                <a:solidFill>
                  <a:srgbClr val="F1C232"/>
                </a:solidFill>
                <a:latin typeface="Consolas"/>
                <a:ea typeface="Consolas"/>
                <a:cs typeface="Consolas"/>
                <a:sym typeface="Consolas"/>
              </a:rPr>
              <a:t>Flash(age 8) is a BLOODHOUND</a:t>
            </a:r>
            <a:endParaRPr sz="1000">
              <a:solidFill>
                <a:srgbClr val="F1C232"/>
              </a:solidFill>
              <a:latin typeface="Consolas"/>
              <a:ea typeface="Consolas"/>
              <a:cs typeface="Consolas"/>
              <a:sym typeface="Consolas"/>
            </a:endParaRPr>
          </a:p>
          <a:p>
            <a:pPr marL="0" lvl="0" indent="0" algn="l" rtl="0">
              <a:spcBef>
                <a:spcPts val="0"/>
              </a:spcBef>
              <a:spcAft>
                <a:spcPts val="0"/>
              </a:spcAft>
              <a:buNone/>
            </a:pPr>
            <a:r>
              <a:rPr lang="en" sz="1000">
                <a:solidFill>
                  <a:srgbClr val="F1C232"/>
                </a:solidFill>
                <a:latin typeface="Consolas"/>
                <a:ea typeface="Consolas"/>
                <a:cs typeface="Consolas"/>
                <a:sym typeface="Consolas"/>
              </a:rPr>
              <a:t>Buttercup(age 10) is a BASSET</a:t>
            </a:r>
            <a:endParaRPr sz="1000">
              <a:solidFill>
                <a:srgbClr val="F1C232"/>
              </a:solidFill>
              <a:latin typeface="Consolas"/>
              <a:ea typeface="Consolas"/>
              <a:cs typeface="Consolas"/>
              <a:sym typeface="Consolas"/>
            </a:endParaRPr>
          </a:p>
        </p:txBody>
      </p:sp>
      <p:sp>
        <p:nvSpPr>
          <p:cNvPr id="919" name="Google Shape;919;p107"/>
          <p:cNvSpPr txBox="1"/>
          <p:nvPr/>
        </p:nvSpPr>
        <p:spPr>
          <a:xfrm>
            <a:off x="169325" y="3873900"/>
            <a:ext cx="2191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major difference that you will notice is that, when iterating over the keys, they are in </a:t>
            </a:r>
            <a:r>
              <a:rPr lang="en" sz="1200" b="1" i="1">
                <a:solidFill>
                  <a:srgbClr val="FF0000"/>
                </a:solidFill>
              </a:rPr>
              <a:t>sorted order</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11"/>
                                        </p:tgtEl>
                                        <p:attrNameLst>
                                          <p:attrName>style.visibility</p:attrName>
                                        </p:attrNameLst>
                                      </p:cBhvr>
                                      <p:to>
                                        <p:strVal val="visible"/>
                                      </p:to>
                                    </p:set>
                                    <p:animEffect transition="in" filter="fade">
                                      <p:cBhvr>
                                        <p:cTn id="7" dur="1000"/>
                                        <p:tgtEl>
                                          <p:spTgt spid="91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10"/>
                                        </p:tgtEl>
                                        <p:attrNameLst>
                                          <p:attrName>style.visibility</p:attrName>
                                        </p:attrNameLst>
                                      </p:cBhvr>
                                      <p:to>
                                        <p:strVal val="visible"/>
                                      </p:to>
                                    </p:set>
                                    <p:animEffect transition="in" filter="fade">
                                      <p:cBhvr>
                                        <p:cTn id="11" dur="1000"/>
                                        <p:tgtEl>
                                          <p:spTgt spid="9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13"/>
                                        </p:tgtEl>
                                        <p:attrNameLst>
                                          <p:attrName>style.visibility</p:attrName>
                                        </p:attrNameLst>
                                      </p:cBhvr>
                                      <p:to>
                                        <p:strVal val="visible"/>
                                      </p:to>
                                    </p:set>
                                    <p:animEffect transition="in" filter="fade">
                                      <p:cBhvr>
                                        <p:cTn id="16" dur="1000"/>
                                        <p:tgtEl>
                                          <p:spTgt spid="913"/>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912"/>
                                        </p:tgtEl>
                                        <p:attrNameLst>
                                          <p:attrName>style.visibility</p:attrName>
                                        </p:attrNameLst>
                                      </p:cBhvr>
                                      <p:to>
                                        <p:strVal val="visible"/>
                                      </p:to>
                                    </p:set>
                                    <p:animEffect transition="in" filter="fade">
                                      <p:cBhvr>
                                        <p:cTn id="20" dur="1000"/>
                                        <p:tgtEl>
                                          <p:spTgt spid="9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14"/>
                                        </p:tgtEl>
                                        <p:attrNameLst>
                                          <p:attrName>style.visibility</p:attrName>
                                        </p:attrNameLst>
                                      </p:cBhvr>
                                      <p:to>
                                        <p:strVal val="visible"/>
                                      </p:to>
                                    </p:set>
                                    <p:animEffect transition="in" filter="fade">
                                      <p:cBhvr>
                                        <p:cTn id="25" dur="1000"/>
                                        <p:tgtEl>
                                          <p:spTgt spid="9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16"/>
                                        </p:tgtEl>
                                        <p:attrNameLst>
                                          <p:attrName>style.visibility</p:attrName>
                                        </p:attrNameLst>
                                      </p:cBhvr>
                                      <p:to>
                                        <p:strVal val="visible"/>
                                      </p:to>
                                    </p:set>
                                    <p:animEffect transition="in" filter="fade">
                                      <p:cBhvr>
                                        <p:cTn id="30" dur="1000"/>
                                        <p:tgtEl>
                                          <p:spTgt spid="916"/>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915"/>
                                        </p:tgtEl>
                                        <p:attrNameLst>
                                          <p:attrName>style.visibility</p:attrName>
                                        </p:attrNameLst>
                                      </p:cBhvr>
                                      <p:to>
                                        <p:strVal val="visible"/>
                                      </p:to>
                                    </p:set>
                                    <p:animEffect transition="in" filter="fade">
                                      <p:cBhvr>
                                        <p:cTn id="34" dur="1000"/>
                                        <p:tgtEl>
                                          <p:spTgt spid="9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19"/>
                                        </p:tgtEl>
                                        <p:attrNameLst>
                                          <p:attrName>style.visibility</p:attrName>
                                        </p:attrNameLst>
                                      </p:cBhvr>
                                      <p:to>
                                        <p:strVal val="visible"/>
                                      </p:to>
                                    </p:set>
                                    <p:animEffect transition="in" filter="fade">
                                      <p:cBhvr>
                                        <p:cTn id="39" dur="1000"/>
                                        <p:tgtEl>
                                          <p:spTgt spid="919"/>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917"/>
                                        </p:tgtEl>
                                        <p:attrNameLst>
                                          <p:attrName>style.visibility</p:attrName>
                                        </p:attrNameLst>
                                      </p:cBhvr>
                                      <p:to>
                                        <p:strVal val="visible"/>
                                      </p:to>
                                    </p:set>
                                    <p:animEffect transition="in" filter="fade">
                                      <p:cBhvr>
                                        <p:cTn id="43" dur="1000"/>
                                        <p:tgtEl>
                                          <p:spTgt spid="917"/>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918"/>
                                        </p:tgtEl>
                                        <p:attrNameLst>
                                          <p:attrName>style.visibility</p:attrName>
                                        </p:attrNameLst>
                                      </p:cBhvr>
                                      <p:to>
                                        <p:strVal val="visible"/>
                                      </p:to>
                                    </p:set>
                                    <p:animEffect transition="in" filter="fade">
                                      <p:cBhvr>
                                        <p:cTn id="47" dur="1000"/>
                                        <p:tgtEl>
                                          <p:spTgt spid="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0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There is nothing like conducting an experiment to see how the different </a:t>
            </a:r>
            <a:r>
              <a:rPr lang="en">
                <a:latin typeface="Courier New"/>
                <a:ea typeface="Courier New"/>
                <a:cs typeface="Courier New"/>
                <a:sym typeface="Courier New"/>
              </a:rPr>
              <a:t>Map</a:t>
            </a:r>
            <a:r>
              <a:rPr lang="en"/>
              <a:t> implementations work. Practice using a </a:t>
            </a:r>
            <a:r>
              <a:rPr lang="en">
                <a:latin typeface="Courier New"/>
                <a:ea typeface="Courier New"/>
                <a:cs typeface="Courier New"/>
                <a:sym typeface="Courier New"/>
              </a:rPr>
              <a:t>HashMap</a:t>
            </a:r>
            <a:r>
              <a:rPr lang="en"/>
              <a:t> and a </a:t>
            </a:r>
            <a:r>
              <a:rPr lang="en">
                <a:latin typeface="Courier New"/>
                <a:ea typeface="Courier New"/>
                <a:cs typeface="Courier New"/>
                <a:sym typeface="Courier New"/>
              </a:rPr>
              <a:t>TreeMap</a:t>
            </a:r>
            <a:r>
              <a:rPr lang="en"/>
              <a:t> to store string keys and see how they behave differently.</a:t>
            </a:r>
            <a:endParaRPr/>
          </a:p>
        </p:txBody>
      </p:sp>
      <p:sp>
        <p:nvSpPr>
          <p:cNvPr id="925" name="Google Shape;925;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926" name="Google Shape;926;p108"/>
          <p:cNvSpPr txBox="1">
            <a:spLocks noGrp="1"/>
          </p:cNvSpPr>
          <p:nvPr>
            <p:ph type="body" idx="2"/>
          </p:nvPr>
        </p:nvSpPr>
        <p:spPr>
          <a:xfrm>
            <a:off x="3312775" y="1784525"/>
            <a:ext cx="5628300" cy="3155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solidFill>
                  <a:srgbClr val="FF0000"/>
                </a:solidFill>
                <a:latin typeface="Courier New"/>
                <a:ea typeface="Courier New"/>
                <a:cs typeface="Courier New"/>
                <a:sym typeface="Courier New"/>
              </a:rPr>
              <a:t>SetsAndMaps</a:t>
            </a:r>
            <a:r>
              <a:rPr lang="en"/>
              <a:t> class and define a method named "</a:t>
            </a:r>
            <a:r>
              <a:rPr lang="en">
                <a:solidFill>
                  <a:srgbClr val="FF0000"/>
                </a:solidFill>
                <a:latin typeface="Courier New"/>
                <a:ea typeface="Courier New"/>
                <a:cs typeface="Courier New"/>
                <a:sym typeface="Courier New"/>
              </a:rPr>
              <a:t>putAndPrint</a:t>
            </a:r>
            <a:r>
              <a:rPr lang="en"/>
              <a:t>" that declares a parameter for a </a:t>
            </a:r>
            <a:r>
              <a:rPr lang="en">
                <a:latin typeface="Courier New"/>
                <a:ea typeface="Courier New"/>
                <a:cs typeface="Courier New"/>
                <a:sym typeface="Courier New"/>
              </a:rPr>
              <a:t>Map&lt;String, Integer&gt;</a:t>
            </a:r>
            <a:r>
              <a:rPr lang="en"/>
              <a:t>.</a:t>
            </a:r>
            <a:endParaRPr/>
          </a:p>
          <a:p>
            <a:pPr marL="914400" lvl="1" indent="-298450" algn="l" rtl="0">
              <a:spcBef>
                <a:spcPts val="0"/>
              </a:spcBef>
              <a:spcAft>
                <a:spcPts val="0"/>
              </a:spcAft>
              <a:buSzPts val="1100"/>
              <a:buChar char="○"/>
            </a:pPr>
            <a:r>
              <a:rPr lang="en"/>
              <a:t>Add at least 5 key/value pairs to the map in no particular order. Make sure to vary the case of the first letters of the keys, e.g. </a:t>
            </a:r>
            <a:r>
              <a:rPr lang="en">
                <a:latin typeface="Courier New"/>
                <a:ea typeface="Courier New"/>
                <a:cs typeface="Courier New"/>
                <a:sym typeface="Courier New"/>
              </a:rPr>
              <a:t>"aardvark"</a:t>
            </a:r>
            <a:r>
              <a:rPr lang="en"/>
              <a:t>, </a:t>
            </a:r>
            <a:r>
              <a:rPr lang="en">
                <a:latin typeface="Courier New"/>
                <a:ea typeface="Courier New"/>
                <a:cs typeface="Courier New"/>
                <a:sym typeface="Courier New"/>
              </a:rPr>
              <a:t>"Zoo"</a:t>
            </a:r>
            <a:r>
              <a:rPr lang="en"/>
              <a:t>, </a:t>
            </a:r>
            <a:r>
              <a:rPr lang="en">
                <a:latin typeface="Courier New"/>
                <a:ea typeface="Courier New"/>
                <a:cs typeface="Courier New"/>
                <a:sym typeface="Courier New"/>
              </a:rPr>
              <a:t>"Monkey"</a:t>
            </a:r>
            <a:r>
              <a:rPr lang="en"/>
              <a:t>, </a:t>
            </a:r>
            <a:r>
              <a:rPr lang="en">
                <a:latin typeface="Courier New"/>
                <a:ea typeface="Courier New"/>
                <a:cs typeface="Courier New"/>
                <a:sym typeface="Courier New"/>
              </a:rPr>
              <a:t>"zebra"</a:t>
            </a:r>
            <a:r>
              <a:rPr lang="en"/>
              <a:t>, </a:t>
            </a:r>
            <a:r>
              <a:rPr lang="en">
                <a:latin typeface="Courier New"/>
                <a:ea typeface="Courier New"/>
                <a:cs typeface="Courier New"/>
                <a:sym typeface="Courier New"/>
              </a:rPr>
              <a:t>"shark"</a:t>
            </a:r>
            <a:r>
              <a:rPr lang="en"/>
              <a:t>.</a:t>
            </a:r>
            <a:endParaRPr/>
          </a:p>
          <a:p>
            <a:pPr marL="914400" lvl="1" indent="-298450" algn="l" rtl="0">
              <a:spcBef>
                <a:spcPts val="0"/>
              </a:spcBef>
              <a:spcAft>
                <a:spcPts val="0"/>
              </a:spcAft>
              <a:buSzPts val="1100"/>
              <a:buChar char="○"/>
            </a:pPr>
            <a:r>
              <a:rPr lang="en"/>
              <a:t>Use a </a:t>
            </a:r>
            <a:r>
              <a:rPr lang="en">
                <a:latin typeface="Courier New"/>
                <a:ea typeface="Courier New"/>
                <a:cs typeface="Courier New"/>
                <a:sym typeface="Courier New"/>
              </a:rPr>
              <a:t>for</a:t>
            </a:r>
            <a:r>
              <a:rPr lang="en"/>
              <a:t>-each loop to iterate over the keys in the map and print them to standard output.</a:t>
            </a:r>
            <a:endParaRPr/>
          </a:p>
          <a:p>
            <a:pPr marL="457200" lvl="0" indent="-311150" algn="l" rtl="0">
              <a:spcBef>
                <a:spcPts val="1000"/>
              </a:spcBef>
              <a:spcAft>
                <a:spcPts val="0"/>
              </a:spcAft>
              <a:buSzPts val="1300"/>
              <a:buChar char="●"/>
            </a:pPr>
            <a:r>
              <a:rPr lang="en"/>
              <a:t>Define a </a:t>
            </a:r>
            <a:r>
              <a:rPr lang="en">
                <a:latin typeface="Courier New"/>
                <a:ea typeface="Courier New"/>
                <a:cs typeface="Courier New"/>
                <a:sym typeface="Courier New"/>
              </a:rPr>
              <a:t>main</a:t>
            </a:r>
            <a:r>
              <a:rPr lang="en"/>
              <a:t> method with the appropriate signature.</a:t>
            </a:r>
            <a:endParaRPr/>
          </a:p>
          <a:p>
            <a:pPr marL="914400" lvl="1" indent="-285750" algn="l" rtl="0">
              <a:spcBef>
                <a:spcPts val="0"/>
              </a:spcBef>
              <a:spcAft>
                <a:spcPts val="0"/>
              </a:spcAft>
              <a:buSzPts val="900"/>
              <a:buChar char="○"/>
            </a:pPr>
            <a:r>
              <a:rPr lang="en"/>
              <a:t>Call </a:t>
            </a:r>
            <a:r>
              <a:rPr lang="en">
                <a:latin typeface="Courier New"/>
                <a:ea typeface="Courier New"/>
                <a:cs typeface="Courier New"/>
                <a:sym typeface="Courier New"/>
              </a:rPr>
              <a:t>putAndPrint</a:t>
            </a:r>
            <a:r>
              <a:rPr lang="en"/>
              <a:t> with an empty </a:t>
            </a:r>
            <a:r>
              <a:rPr lang="en">
                <a:latin typeface="Courier New"/>
                <a:ea typeface="Courier New"/>
                <a:cs typeface="Courier New"/>
                <a:sym typeface="Courier New"/>
              </a:rPr>
              <a:t>HashMap&lt;String&gt;</a:t>
            </a:r>
            <a:r>
              <a:rPr lang="en"/>
              <a:t>.</a:t>
            </a:r>
            <a:endParaRPr/>
          </a:p>
          <a:p>
            <a:pPr marL="914400" lvl="1" indent="-285750" algn="l" rtl="0">
              <a:spcBef>
                <a:spcPts val="0"/>
              </a:spcBef>
              <a:spcAft>
                <a:spcPts val="0"/>
              </a:spcAft>
              <a:buSzPts val="900"/>
              <a:buChar char="○"/>
            </a:pPr>
            <a:r>
              <a:rPr lang="en"/>
              <a:t>Call it a second time with an empty </a:t>
            </a:r>
            <a:r>
              <a:rPr lang="en">
                <a:latin typeface="Courier New"/>
                <a:ea typeface="Courier New"/>
                <a:cs typeface="Courier New"/>
                <a:sym typeface="Courier New"/>
              </a:rPr>
              <a:t>TreeMap&lt;String&gt;</a:t>
            </a:r>
            <a:r>
              <a:rPr lang="en"/>
              <a:t>.</a:t>
            </a:r>
            <a:endParaRPr/>
          </a:p>
          <a:p>
            <a:pPr marL="914400" lvl="1" indent="-298450" algn="l" rtl="0">
              <a:spcBef>
                <a:spcPts val="0"/>
              </a:spcBef>
              <a:spcAft>
                <a:spcPts val="0"/>
              </a:spcAft>
              <a:buSzPts val="1100"/>
              <a:buChar char="○"/>
            </a:pPr>
            <a:r>
              <a:rPr lang="en"/>
              <a:t>Call it a third time with an empty </a:t>
            </a:r>
            <a:r>
              <a:rPr lang="en">
                <a:latin typeface="Courier New"/>
                <a:ea typeface="Courier New"/>
                <a:cs typeface="Courier New"/>
                <a:sym typeface="Courier New"/>
              </a:rPr>
              <a:t>TreeMap&lt;String&gt;</a:t>
            </a:r>
            <a:r>
              <a:rPr lang="en"/>
              <a:t> that uses an </a:t>
            </a:r>
            <a:r>
              <a:rPr lang="en">
                <a:latin typeface="Courier New"/>
                <a:ea typeface="Courier New"/>
                <a:cs typeface="Courier New"/>
                <a:sym typeface="Courier New"/>
              </a:rPr>
              <a:t>AlphabeticComparator</a:t>
            </a:r>
            <a:r>
              <a:rPr lang="en"/>
              <a:t>.</a:t>
            </a:r>
            <a:endParaRPr/>
          </a:p>
          <a:p>
            <a:pPr marL="914400" lvl="1" indent="-298450" algn="l" rtl="0">
              <a:spcBef>
                <a:spcPts val="0"/>
              </a:spcBef>
              <a:spcAft>
                <a:spcPts val="0"/>
              </a:spcAft>
              <a:buSzPts val="1100"/>
              <a:buChar char="○"/>
            </a:pPr>
            <a:r>
              <a:rPr lang="en"/>
              <a:t>Run your code.</a:t>
            </a:r>
            <a:endParaRPr/>
          </a:p>
        </p:txBody>
      </p:sp>
      <p:sp>
        <p:nvSpPr>
          <p:cNvPr id="927" name="Google Shape;927;p10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latin typeface="Courier New"/>
                <a:ea typeface="Courier New"/>
                <a:cs typeface="Courier New"/>
                <a:sym typeface="Courier New"/>
              </a:rPr>
              <a:t>TreeMap</a:t>
            </a:r>
            <a:r>
              <a:rPr lang="en"/>
              <a:t> Practice</a:t>
            </a:r>
            <a:endParaRPr/>
          </a:p>
        </p:txBody>
      </p:sp>
      <p:sp>
        <p:nvSpPr>
          <p:cNvPr id="928" name="Google Shape;928;p10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7.21</a:t>
            </a:r>
            <a:endParaRPr/>
          </a:p>
        </p:txBody>
      </p:sp>
      <p:sp>
        <p:nvSpPr>
          <p:cNvPr id="929" name="Google Shape;929;p108"/>
          <p:cNvSpPr txBox="1"/>
          <p:nvPr/>
        </p:nvSpPr>
        <p:spPr>
          <a:xfrm>
            <a:off x="160800" y="1802375"/>
            <a:ext cx="2979000" cy="2146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800">
                <a:solidFill>
                  <a:srgbClr val="267F99"/>
                </a:solidFill>
                <a:latin typeface="Consolas"/>
                <a:ea typeface="Consolas"/>
                <a:cs typeface="Consolas"/>
                <a:sym typeface="Consolas"/>
              </a:rPr>
              <a:t>Map</a:t>
            </a:r>
            <a:r>
              <a:rPr lang="en" sz="800">
                <a:latin typeface="Consolas"/>
                <a:ea typeface="Consolas"/>
                <a:cs typeface="Consolas"/>
                <a:sym typeface="Consolas"/>
              </a:rPr>
              <a:t>&lt;</a:t>
            </a:r>
            <a:r>
              <a:rPr lang="en" sz="800">
                <a:solidFill>
                  <a:srgbClr val="267F99"/>
                </a:solidFill>
                <a:latin typeface="Consolas"/>
                <a:ea typeface="Consolas"/>
                <a:cs typeface="Consolas"/>
                <a:sym typeface="Consolas"/>
              </a:rPr>
              <a:t>Dog</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&gt; </a:t>
            </a: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 = </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AF00DB"/>
                </a:solidFill>
                <a:latin typeface="Consolas"/>
                <a:ea typeface="Consolas"/>
                <a:cs typeface="Consolas"/>
                <a:sym typeface="Consolas"/>
              </a:rPr>
              <a:t>    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TreeMap</a:t>
            </a:r>
            <a:r>
              <a:rPr lang="en" sz="800">
                <a:latin typeface="Consolas"/>
                <a:ea typeface="Consolas"/>
                <a:cs typeface="Consolas"/>
                <a:sym typeface="Consolas"/>
              </a:rPr>
              <a:t>&lt;&gt;(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DogComparator</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put</a:t>
            </a:r>
            <a:r>
              <a:rPr lang="en" sz="800">
                <a:latin typeface="Consolas"/>
                <a:ea typeface="Consolas"/>
                <a:cs typeface="Consolas"/>
                <a:sym typeface="Consolas"/>
              </a:rPr>
              <a: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a:t>
            </a:r>
            <a:r>
              <a:rPr lang="en" sz="800">
                <a:latin typeface="Consolas"/>
                <a:ea typeface="Consolas"/>
                <a:cs typeface="Consolas"/>
                <a:sym typeface="Consolas"/>
              </a:rPr>
              <a:t>(</a:t>
            </a:r>
            <a:r>
              <a:rPr lang="en" sz="800">
                <a:solidFill>
                  <a:srgbClr val="A31515"/>
                </a:solidFill>
                <a:latin typeface="Consolas"/>
                <a:ea typeface="Consolas"/>
                <a:cs typeface="Consolas"/>
                <a:sym typeface="Consolas"/>
              </a:rPr>
              <a:t>"Buttercup"</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10</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BASSET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put</a:t>
            </a:r>
            <a:r>
              <a:rPr lang="en" sz="800">
                <a:latin typeface="Consolas"/>
                <a:ea typeface="Consolas"/>
                <a:cs typeface="Consolas"/>
                <a:sym typeface="Consolas"/>
              </a:rPr>
              <a: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a:t>
            </a:r>
            <a:r>
              <a:rPr lang="en" sz="800">
                <a:latin typeface="Consolas"/>
                <a:ea typeface="Consolas"/>
                <a:cs typeface="Consolas"/>
                <a:sym typeface="Consolas"/>
              </a:rPr>
              <a:t>(</a:t>
            </a:r>
            <a:r>
              <a:rPr lang="en" sz="800">
                <a:solidFill>
                  <a:srgbClr val="A31515"/>
                </a:solidFill>
                <a:latin typeface="Consolas"/>
                <a:ea typeface="Consolas"/>
                <a:cs typeface="Consolas"/>
                <a:sym typeface="Consolas"/>
              </a:rPr>
              <a:t>"Flash"</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8</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BLOODHOUND</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put</a:t>
            </a:r>
            <a:r>
              <a:rPr lang="en" sz="800">
                <a:latin typeface="Consolas"/>
                <a:ea typeface="Consolas"/>
                <a:cs typeface="Consolas"/>
                <a:sym typeface="Consolas"/>
              </a:rPr>
              <a: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a:t>
            </a:r>
            <a:r>
              <a:rPr lang="en" sz="800">
                <a:latin typeface="Consolas"/>
                <a:ea typeface="Consolas"/>
                <a:cs typeface="Consolas"/>
                <a:sym typeface="Consolas"/>
              </a:rPr>
              <a:t>(</a:t>
            </a:r>
            <a:r>
              <a:rPr lang="en" sz="800">
                <a:solidFill>
                  <a:srgbClr val="A31515"/>
                </a:solidFill>
                <a:latin typeface="Consolas"/>
                <a:ea typeface="Consolas"/>
                <a:cs typeface="Consolas"/>
                <a:sym typeface="Consolas"/>
              </a:rPr>
              <a:t>"Hermione"</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2</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BASSET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put</a:t>
            </a:r>
            <a:r>
              <a:rPr lang="en" sz="800">
                <a:latin typeface="Consolas"/>
                <a:ea typeface="Consolas"/>
                <a:cs typeface="Consolas"/>
                <a:sym typeface="Consolas"/>
              </a:rPr>
              <a: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a:t>
            </a:r>
            <a:r>
              <a:rPr lang="en" sz="800">
                <a:latin typeface="Consolas"/>
                <a:ea typeface="Consolas"/>
                <a:cs typeface="Consolas"/>
                <a:sym typeface="Consolas"/>
              </a:rPr>
              <a:t>(</a:t>
            </a:r>
            <a:r>
              <a:rPr lang="en" sz="800">
                <a:solidFill>
                  <a:srgbClr val="A31515"/>
                </a:solidFill>
                <a:latin typeface="Consolas"/>
                <a:ea typeface="Consolas"/>
                <a:cs typeface="Consolas"/>
                <a:sym typeface="Consolas"/>
              </a:rPr>
              <a:t>"Princess Fluffypants"</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CORGIE</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chemeClr val="dk2"/>
                </a:solidFill>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AF00DB"/>
                </a:solidFill>
                <a:latin typeface="Consolas"/>
                <a:ea typeface="Consolas"/>
                <a:cs typeface="Consolas"/>
                <a:sym typeface="Consolas"/>
              </a:rPr>
              <a:t>for</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Dog</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dog</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keySet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System</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out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println</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dog</a:t>
            </a:r>
            <a:r>
              <a:rPr lang="en" sz="800">
                <a:latin typeface="Consolas"/>
                <a:ea typeface="Consolas"/>
                <a:cs typeface="Consolas"/>
                <a:sym typeface="Consolas"/>
              </a:rPr>
              <a:t> + </a:t>
            </a:r>
            <a:r>
              <a:rPr lang="en" sz="800">
                <a:solidFill>
                  <a:srgbClr val="A31515"/>
                </a:solidFill>
                <a:latin typeface="Consolas"/>
                <a:ea typeface="Consolas"/>
                <a:cs typeface="Consolas"/>
                <a:sym typeface="Consolas"/>
              </a:rPr>
              <a:t>" is a "</a:t>
            </a:r>
            <a:r>
              <a:rPr lang="en" sz="800">
                <a:latin typeface="Consolas"/>
                <a:ea typeface="Consolas"/>
                <a:cs typeface="Consolas"/>
                <a:sym typeface="Consolas"/>
              </a:rPr>
              <a:t> + </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        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get</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dog</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latin typeface="Consolas"/>
                <a:ea typeface="Consolas"/>
                <a:cs typeface="Consolas"/>
                <a:sym typeface="Consolas"/>
              </a:rPr>
              <a:t>}</a:t>
            </a:r>
            <a:endParaRPr sz="800">
              <a:solidFill>
                <a:srgbClr val="267F99"/>
              </a:solidFill>
              <a:latin typeface="Consolas"/>
              <a:ea typeface="Consolas"/>
              <a:cs typeface="Consolas"/>
              <a:sym typeface="Consolas"/>
            </a:endParaRPr>
          </a:p>
        </p:txBody>
      </p:sp>
      <p:sp>
        <p:nvSpPr>
          <p:cNvPr id="930" name="Google Shape;930;p108"/>
          <p:cNvSpPr txBox="1"/>
          <p:nvPr/>
        </p:nvSpPr>
        <p:spPr>
          <a:xfrm>
            <a:off x="160800" y="4054150"/>
            <a:ext cx="29790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We are using </a:t>
            </a:r>
            <a:r>
              <a:rPr lang="en" sz="1200" b="1" i="1">
                <a:solidFill>
                  <a:srgbClr val="FF0000"/>
                </a:solidFill>
              </a:rPr>
              <a:t>polymorphism</a:t>
            </a:r>
            <a:r>
              <a:rPr lang="en" sz="1200">
                <a:solidFill>
                  <a:srgbClr val="FF0000"/>
                </a:solidFill>
              </a:rPr>
              <a:t> </a:t>
            </a:r>
            <a:r>
              <a:rPr lang="en" sz="1200"/>
              <a:t>to write code that will work with any kind of </a:t>
            </a:r>
            <a:r>
              <a:rPr lang="en" sz="1200">
                <a:latin typeface="Courier New"/>
                <a:ea typeface="Courier New"/>
                <a:cs typeface="Courier New"/>
                <a:sym typeface="Courier New"/>
              </a:rPr>
              <a:t>Map</a:t>
            </a:r>
            <a:r>
              <a:rPr lang="en" sz="1200"/>
              <a:t>.</a:t>
            </a:r>
            <a:endParaRPr sz="12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10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936" name="Google Shape;936;p109"/>
          <p:cNvSpPr txBox="1">
            <a:spLocks noGrp="1"/>
          </p:cNvSpPr>
          <p:nvPr>
            <p:ph type="title"/>
          </p:nvPr>
        </p:nvSpPr>
        <p:spPr>
          <a:xfrm>
            <a:off x="315425" y="101600"/>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Tree vs. Hash</a:t>
            </a:r>
            <a:endParaRPr/>
          </a:p>
        </p:txBody>
      </p:sp>
      <p:sp>
        <p:nvSpPr>
          <p:cNvPr id="937" name="Google Shape;937;p109"/>
          <p:cNvSpPr txBox="1">
            <a:spLocks noGrp="1"/>
          </p:cNvSpPr>
          <p:nvPr>
            <p:ph type="body" idx="1"/>
          </p:nvPr>
        </p:nvSpPr>
        <p:spPr>
          <a:xfrm>
            <a:off x="4325067" y="38075"/>
            <a:ext cx="4698900" cy="5075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 </a:t>
            </a:r>
            <a:r>
              <a:rPr lang="en" b="1" i="1" u="sng" dirty="0">
                <a:solidFill>
                  <a:srgbClr val="4A86E8"/>
                </a:solidFill>
                <a:hlinkClick r:id="rId3">
                  <a:extLst>
                    <a:ext uri="{A12FA001-AC4F-418D-AE19-62706E023703}">
                      <ahyp:hlinkClr xmlns:ahyp="http://schemas.microsoft.com/office/drawing/2018/hyperlinkcolor" val="tx"/>
                    </a:ext>
                  </a:extLst>
                </a:hlinkClick>
              </a:rPr>
              <a:t>Red-Black Tree</a:t>
            </a:r>
            <a:r>
              <a:rPr lang="en" dirty="0"/>
              <a:t> is a self-balancing binary search tree.</a:t>
            </a:r>
            <a:endParaRPr dirty="0"/>
          </a:p>
          <a:p>
            <a:pPr marL="914400" lvl="1" indent="-298450" algn="l" rtl="0">
              <a:spcBef>
                <a:spcPts val="0"/>
              </a:spcBef>
              <a:spcAft>
                <a:spcPts val="0"/>
              </a:spcAft>
              <a:buSzPts val="1100"/>
              <a:buChar char="○"/>
            </a:pPr>
            <a:r>
              <a:rPr lang="en" b="1" i="1" dirty="0"/>
              <a:t>"</a:t>
            </a:r>
            <a:r>
              <a:rPr lang="en" b="1" i="1" dirty="0">
                <a:solidFill>
                  <a:srgbClr val="FF0000"/>
                </a:solidFill>
              </a:rPr>
              <a:t>Self-balancing</a:t>
            </a:r>
            <a:r>
              <a:rPr lang="en" b="1" i="1" dirty="0"/>
              <a:t>"</a:t>
            </a:r>
            <a:r>
              <a:rPr lang="en" dirty="0"/>
              <a:t> means that, as values are added, the tree makes sure that they are moved around to maintain balance without breaking the rules of a BST.</a:t>
            </a:r>
            <a:endParaRPr dirty="0"/>
          </a:p>
          <a:p>
            <a:pPr marL="914400" lvl="1" indent="-298450" algn="l" rtl="0">
              <a:spcBef>
                <a:spcPts val="0"/>
              </a:spcBef>
              <a:spcAft>
                <a:spcPts val="0"/>
              </a:spcAft>
              <a:buSzPts val="1100"/>
              <a:buChar char="○"/>
            </a:pPr>
            <a:r>
              <a:rPr lang="en" dirty="0"/>
              <a:t>Remember that a balanced BST guarantees </a:t>
            </a:r>
            <a:r>
              <a:rPr lang="en" b="1" i="1" dirty="0">
                <a:solidFill>
                  <a:srgbClr val="FF0000"/>
                </a:solidFill>
              </a:rPr>
              <a:t>O(log</a:t>
            </a:r>
            <a:r>
              <a:rPr lang="en" b="1" i="1" baseline="-25000" dirty="0">
                <a:solidFill>
                  <a:srgbClr val="FF0000"/>
                </a:solidFill>
              </a:rPr>
              <a:t>2</a:t>
            </a:r>
            <a:r>
              <a:rPr lang="en" b="1" i="1" dirty="0">
                <a:solidFill>
                  <a:srgbClr val="FF0000"/>
                </a:solidFill>
              </a:rPr>
              <a:t>n)</a:t>
            </a:r>
            <a:r>
              <a:rPr lang="en" dirty="0"/>
              <a:t> search time.</a:t>
            </a:r>
            <a:endParaRPr dirty="0"/>
          </a:p>
          <a:p>
            <a:pPr marL="914400" lvl="1" indent="-298450" algn="l" rtl="0">
              <a:spcBef>
                <a:spcPts val="0"/>
              </a:spcBef>
              <a:spcAft>
                <a:spcPts val="0"/>
              </a:spcAft>
              <a:buSzPts val="1100"/>
              <a:buChar char="○"/>
            </a:pPr>
            <a:r>
              <a:rPr lang="en" dirty="0"/>
              <a:t>The complexity of inserting into or removing from a red-black tree is </a:t>
            </a:r>
            <a:r>
              <a:rPr lang="en" b="1" i="1" dirty="0">
                <a:solidFill>
                  <a:srgbClr val="FF0000"/>
                </a:solidFill>
              </a:rPr>
              <a:t>O(log</a:t>
            </a:r>
            <a:r>
              <a:rPr lang="en" b="1" i="1" baseline="-25000" dirty="0">
                <a:solidFill>
                  <a:srgbClr val="FF0000"/>
                </a:solidFill>
              </a:rPr>
              <a:t>2</a:t>
            </a:r>
            <a:r>
              <a:rPr lang="en" b="1" i="1" dirty="0">
                <a:solidFill>
                  <a:srgbClr val="FF0000"/>
                </a:solidFill>
              </a:rPr>
              <a:t>n)</a:t>
            </a:r>
            <a:r>
              <a:rPr lang="en" dirty="0"/>
              <a:t>.</a:t>
            </a:r>
            <a:endParaRPr dirty="0"/>
          </a:p>
          <a:p>
            <a:pPr marL="457200" lvl="0" indent="-311150" algn="l" rtl="0">
              <a:spcBef>
                <a:spcPts val="1000"/>
              </a:spcBef>
              <a:spcAft>
                <a:spcPts val="0"/>
              </a:spcAft>
              <a:buSzPts val="1300"/>
              <a:buChar char="●"/>
            </a:pPr>
            <a:r>
              <a:rPr lang="en" dirty="0"/>
              <a:t>Java's </a:t>
            </a:r>
            <a:r>
              <a:rPr lang="en" dirty="0">
                <a:latin typeface="Courier New"/>
                <a:ea typeface="Courier New"/>
                <a:cs typeface="Courier New"/>
                <a:sym typeface="Courier New"/>
              </a:rPr>
              <a:t>TreeSet</a:t>
            </a:r>
            <a:r>
              <a:rPr lang="en" dirty="0"/>
              <a:t> and </a:t>
            </a:r>
            <a:r>
              <a:rPr lang="en" dirty="0">
                <a:latin typeface="Courier New"/>
                <a:ea typeface="Courier New"/>
                <a:cs typeface="Courier New"/>
                <a:sym typeface="Courier New"/>
              </a:rPr>
              <a:t>TreeMap</a:t>
            </a:r>
            <a:r>
              <a:rPr lang="en" dirty="0"/>
              <a:t> both use red-black trees to keep elements in sorted order.</a:t>
            </a:r>
            <a:endParaRPr dirty="0"/>
          </a:p>
          <a:p>
            <a:pPr marL="914400" lvl="1" indent="-298450" algn="l" rtl="0">
              <a:spcBef>
                <a:spcPts val="0"/>
              </a:spcBef>
              <a:spcAft>
                <a:spcPts val="0"/>
              </a:spcAft>
              <a:buSzPts val="1100"/>
              <a:buChar char="○"/>
            </a:pPr>
            <a:r>
              <a:rPr lang="en" dirty="0"/>
              <a:t>This means that inserting a new value or removing a value has a complexity of </a:t>
            </a:r>
            <a:r>
              <a:rPr lang="en" b="1" i="1" dirty="0">
                <a:solidFill>
                  <a:srgbClr val="FF0000"/>
                </a:solidFill>
              </a:rPr>
              <a:t>O(log</a:t>
            </a:r>
            <a:r>
              <a:rPr lang="en" b="1" i="1" baseline="-25000" dirty="0">
                <a:solidFill>
                  <a:srgbClr val="FF0000"/>
                </a:solidFill>
              </a:rPr>
              <a:t>2</a:t>
            </a:r>
            <a:r>
              <a:rPr lang="en" b="1" i="1" dirty="0">
                <a:solidFill>
                  <a:srgbClr val="FF0000"/>
                </a:solidFill>
              </a:rPr>
              <a:t>n)</a:t>
            </a:r>
            <a:r>
              <a:rPr lang="en" dirty="0"/>
              <a:t>.</a:t>
            </a:r>
            <a:endParaRPr dirty="0"/>
          </a:p>
          <a:p>
            <a:pPr marL="914400" lvl="1" indent="-298450" algn="l" rtl="0">
              <a:spcBef>
                <a:spcPts val="0"/>
              </a:spcBef>
              <a:spcAft>
                <a:spcPts val="0"/>
              </a:spcAft>
              <a:buSzPts val="1100"/>
              <a:buChar char="○"/>
            </a:pPr>
            <a:r>
              <a:rPr lang="en" dirty="0"/>
              <a:t>It also means that determining whether or not a value is contained in the data structure has a complexity of </a:t>
            </a:r>
            <a:r>
              <a:rPr lang="en" b="1" i="1" dirty="0">
                <a:solidFill>
                  <a:srgbClr val="FF0000"/>
                </a:solidFill>
              </a:rPr>
              <a:t>O(log</a:t>
            </a:r>
            <a:r>
              <a:rPr lang="en" b="1" i="1" baseline="-25000" dirty="0">
                <a:solidFill>
                  <a:srgbClr val="FF0000"/>
                </a:solidFill>
              </a:rPr>
              <a:t>2</a:t>
            </a:r>
            <a:r>
              <a:rPr lang="en" b="1" i="1" dirty="0">
                <a:solidFill>
                  <a:srgbClr val="FF0000"/>
                </a:solidFill>
              </a:rPr>
              <a:t>n)</a:t>
            </a:r>
            <a:r>
              <a:rPr lang="en" dirty="0"/>
              <a:t>.</a:t>
            </a:r>
            <a:endParaRPr dirty="0"/>
          </a:p>
          <a:p>
            <a:pPr marL="457200" lvl="0" indent="-311150" algn="l" rtl="0">
              <a:spcBef>
                <a:spcPts val="1000"/>
              </a:spcBef>
              <a:spcAft>
                <a:spcPts val="0"/>
              </a:spcAft>
              <a:buSzPts val="1300"/>
              <a:buChar char="●"/>
            </a:pPr>
            <a:r>
              <a:rPr lang="en" dirty="0"/>
              <a:t>Recall that </a:t>
            </a:r>
            <a:r>
              <a:rPr lang="en" dirty="0">
                <a:latin typeface="Courier New"/>
                <a:ea typeface="Courier New"/>
                <a:cs typeface="Courier New"/>
                <a:sym typeface="Courier New"/>
              </a:rPr>
              <a:t>HashSet</a:t>
            </a:r>
            <a:r>
              <a:rPr lang="en" dirty="0"/>
              <a:t> and </a:t>
            </a:r>
            <a:r>
              <a:rPr lang="en" dirty="0">
                <a:latin typeface="Courier New"/>
                <a:ea typeface="Courier New"/>
                <a:cs typeface="Courier New"/>
                <a:sym typeface="Courier New"/>
              </a:rPr>
              <a:t>HashMap</a:t>
            </a:r>
            <a:r>
              <a:rPr lang="en" dirty="0"/>
              <a:t> provide </a:t>
            </a:r>
            <a:r>
              <a:rPr lang="en" b="1" i="1" dirty="0">
                <a:solidFill>
                  <a:srgbClr val="FF0000"/>
                </a:solidFill>
              </a:rPr>
              <a:t>O(1)</a:t>
            </a:r>
            <a:r>
              <a:rPr lang="en" dirty="0"/>
              <a:t> (</a:t>
            </a:r>
            <a:r>
              <a:rPr lang="en" b="1" i="1" dirty="0">
                <a:solidFill>
                  <a:srgbClr val="FF0000"/>
                </a:solidFill>
              </a:rPr>
              <a:t>constant time</a:t>
            </a:r>
            <a:r>
              <a:rPr lang="en" dirty="0"/>
              <a:t>) performance for all basic operations.</a:t>
            </a:r>
            <a:endParaRPr dirty="0"/>
          </a:p>
          <a:p>
            <a:pPr marL="914400" lvl="1" indent="-298450" algn="l" rtl="0">
              <a:spcBef>
                <a:spcPts val="0"/>
              </a:spcBef>
              <a:spcAft>
                <a:spcPts val="0"/>
              </a:spcAft>
              <a:buSzPts val="1100"/>
              <a:buChar char="○"/>
            </a:pPr>
            <a:r>
              <a:rPr lang="en" dirty="0"/>
              <a:t>This means that adding, removing, and searching all run much faster than in the tree-based versions.</a:t>
            </a:r>
            <a:endParaRPr dirty="0"/>
          </a:p>
          <a:p>
            <a:pPr marL="457200" lvl="0" indent="-311150" algn="l" rtl="0">
              <a:spcBef>
                <a:spcPts val="1000"/>
              </a:spcBef>
              <a:spcAft>
                <a:spcPts val="0"/>
              </a:spcAft>
              <a:buSzPts val="1300"/>
              <a:buChar char="●"/>
            </a:pPr>
            <a:r>
              <a:rPr lang="en" dirty="0"/>
              <a:t>Therefore, you should </a:t>
            </a:r>
            <a:r>
              <a:rPr lang="en" b="1" i="1" dirty="0">
                <a:solidFill>
                  <a:srgbClr val="FF0000"/>
                </a:solidFill>
              </a:rPr>
              <a:t>only</a:t>
            </a:r>
            <a:r>
              <a:rPr lang="en" dirty="0">
                <a:solidFill>
                  <a:srgbClr val="FF0000"/>
                </a:solidFill>
              </a:rPr>
              <a:t> </a:t>
            </a:r>
            <a:r>
              <a:rPr lang="en" dirty="0"/>
              <a:t>use a </a:t>
            </a:r>
            <a:r>
              <a:rPr lang="en" dirty="0">
                <a:latin typeface="Courier New"/>
                <a:ea typeface="Courier New"/>
                <a:cs typeface="Courier New"/>
                <a:sym typeface="Courier New"/>
              </a:rPr>
              <a:t>TreeSet</a:t>
            </a:r>
            <a:r>
              <a:rPr lang="en" dirty="0"/>
              <a:t> or </a:t>
            </a:r>
            <a:r>
              <a:rPr lang="en" dirty="0">
                <a:latin typeface="Courier New"/>
                <a:ea typeface="Courier New"/>
                <a:cs typeface="Courier New"/>
                <a:sym typeface="Courier New"/>
              </a:rPr>
              <a:t>TreeMap</a:t>
            </a:r>
            <a:r>
              <a:rPr lang="en" dirty="0"/>
              <a:t> if you </a:t>
            </a:r>
            <a:r>
              <a:rPr lang="en" b="1" i="1" dirty="0">
                <a:solidFill>
                  <a:srgbClr val="FF0000"/>
                </a:solidFill>
              </a:rPr>
              <a:t>must</a:t>
            </a:r>
            <a:r>
              <a:rPr lang="en" dirty="0">
                <a:solidFill>
                  <a:srgbClr val="FF0000"/>
                </a:solidFill>
              </a:rPr>
              <a:t> </a:t>
            </a:r>
            <a:r>
              <a:rPr lang="en" dirty="0"/>
              <a:t>maintain the elements in sorted order.</a:t>
            </a:r>
            <a:endParaRPr dirty="0"/>
          </a:p>
          <a:p>
            <a:pPr marL="914400" lvl="1" indent="-298450" algn="l" rtl="0">
              <a:spcBef>
                <a:spcPts val="0"/>
              </a:spcBef>
              <a:spcAft>
                <a:spcPts val="0"/>
              </a:spcAft>
              <a:buSzPts val="1100"/>
              <a:buChar char="○"/>
            </a:pPr>
            <a:r>
              <a:rPr lang="en" dirty="0"/>
              <a:t>Otherwise, you should choose the </a:t>
            </a:r>
            <a:r>
              <a:rPr lang="en" b="1" i="1" dirty="0">
                <a:solidFill>
                  <a:srgbClr val="FF0000"/>
                </a:solidFill>
              </a:rPr>
              <a:t>faster </a:t>
            </a:r>
            <a:r>
              <a:rPr lang="en" dirty="0"/>
              <a:t>versions.</a:t>
            </a:r>
            <a:endParaRPr dirty="0"/>
          </a:p>
        </p:txBody>
      </p:sp>
      <p:sp>
        <p:nvSpPr>
          <p:cNvPr id="938" name="Google Shape;938;p109"/>
          <p:cNvSpPr txBox="1">
            <a:spLocks noGrp="1"/>
          </p:cNvSpPr>
          <p:nvPr>
            <p:ph type="body" idx="3"/>
          </p:nvPr>
        </p:nvSpPr>
        <p:spPr>
          <a:xfrm>
            <a:off x="280163" y="3015775"/>
            <a:ext cx="3706500" cy="6927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100" dirty="0"/>
              <a:t>Not only are </a:t>
            </a:r>
            <a:r>
              <a:rPr lang="en" sz="1100" dirty="0">
                <a:latin typeface="Courier New"/>
                <a:ea typeface="Courier New"/>
                <a:cs typeface="Courier New"/>
                <a:sym typeface="Courier New"/>
              </a:rPr>
              <a:t>TreeSet</a:t>
            </a:r>
            <a:r>
              <a:rPr lang="en" sz="1100" dirty="0"/>
              <a:t> and </a:t>
            </a:r>
            <a:r>
              <a:rPr lang="en" sz="1100" dirty="0">
                <a:latin typeface="Courier New"/>
                <a:ea typeface="Courier New"/>
                <a:cs typeface="Courier New"/>
                <a:sym typeface="Courier New"/>
              </a:rPr>
              <a:t>TreeMap</a:t>
            </a:r>
            <a:r>
              <a:rPr lang="en" sz="1100" dirty="0"/>
              <a:t> harder to use because of the additional requirements that elements be </a:t>
            </a:r>
            <a:r>
              <a:rPr lang="en" sz="1100" dirty="0">
                <a:latin typeface="Courier New"/>
                <a:ea typeface="Courier New"/>
                <a:cs typeface="Courier New"/>
                <a:sym typeface="Courier New"/>
              </a:rPr>
              <a:t>Comparable</a:t>
            </a:r>
            <a:r>
              <a:rPr lang="en" sz="1100" dirty="0"/>
              <a:t> and/or a </a:t>
            </a:r>
            <a:r>
              <a:rPr lang="en" sz="1100" dirty="0">
                <a:latin typeface="Courier New"/>
                <a:ea typeface="Courier New"/>
                <a:cs typeface="Courier New"/>
                <a:sym typeface="Courier New"/>
              </a:rPr>
              <a:t>Comparator</a:t>
            </a:r>
            <a:r>
              <a:rPr lang="en" sz="1100" dirty="0"/>
              <a:t> be provided…</a:t>
            </a:r>
            <a:endParaRPr sz="1100" dirty="0"/>
          </a:p>
        </p:txBody>
      </p:sp>
      <p:sp>
        <p:nvSpPr>
          <p:cNvPr id="939" name="Google Shape;939;p109"/>
          <p:cNvSpPr txBox="1">
            <a:spLocks noGrp="1"/>
          </p:cNvSpPr>
          <p:nvPr>
            <p:ph type="body" idx="3"/>
          </p:nvPr>
        </p:nvSpPr>
        <p:spPr>
          <a:xfrm>
            <a:off x="280150" y="3821525"/>
            <a:ext cx="3706500" cy="5232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100" dirty="0"/>
              <a:t>…but they are also </a:t>
            </a:r>
            <a:r>
              <a:rPr lang="en" sz="1100" b="1" i="1" dirty="0">
                <a:solidFill>
                  <a:srgbClr val="FF0000"/>
                </a:solidFill>
              </a:rPr>
              <a:t>slower</a:t>
            </a:r>
            <a:r>
              <a:rPr lang="en" sz="1100" dirty="0">
                <a:solidFill>
                  <a:srgbClr val="FF0000"/>
                </a:solidFill>
              </a:rPr>
              <a:t> </a:t>
            </a:r>
            <a:r>
              <a:rPr lang="en" sz="1100" dirty="0"/>
              <a:t>than their hashing counterparts.</a:t>
            </a:r>
            <a:endParaRPr sz="1100" dirty="0"/>
          </a:p>
        </p:txBody>
      </p:sp>
      <p:sp>
        <p:nvSpPr>
          <p:cNvPr id="940" name="Google Shape;940;p109"/>
          <p:cNvSpPr txBox="1">
            <a:spLocks noGrp="1"/>
          </p:cNvSpPr>
          <p:nvPr>
            <p:ph type="body" idx="3"/>
          </p:nvPr>
        </p:nvSpPr>
        <p:spPr>
          <a:xfrm>
            <a:off x="280175" y="4457775"/>
            <a:ext cx="3706500" cy="5232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100"/>
              <a:t>Unless the elements absolutely, positively </a:t>
            </a:r>
            <a:r>
              <a:rPr lang="en" sz="1100" b="1" i="1">
                <a:solidFill>
                  <a:srgbClr val="FF0000"/>
                </a:solidFill>
              </a:rPr>
              <a:t>must</a:t>
            </a:r>
            <a:r>
              <a:rPr lang="en" sz="1100">
                <a:solidFill>
                  <a:srgbClr val="FF0000"/>
                </a:solidFill>
              </a:rPr>
              <a:t> </a:t>
            </a:r>
            <a:r>
              <a:rPr lang="en" sz="1100"/>
              <a:t>be kept in sorted order, choose the hashing version for its speed.</a:t>
            </a:r>
            <a:endParaRPr sz="1100"/>
          </a:p>
        </p:txBody>
      </p:sp>
      <p:pic>
        <p:nvPicPr>
          <p:cNvPr id="941" name="Google Shape;941;p109"/>
          <p:cNvPicPr preferRelativeResize="0"/>
          <p:nvPr/>
        </p:nvPicPr>
        <p:blipFill>
          <a:blip r:embed="rId4">
            <a:alphaModFix/>
          </a:blip>
          <a:stretch>
            <a:fillRect/>
          </a:stretch>
        </p:blipFill>
        <p:spPr>
          <a:xfrm>
            <a:off x="510803" y="705786"/>
            <a:ext cx="3263925" cy="2175950"/>
          </a:xfrm>
          <a:prstGeom prst="rect">
            <a:avLst/>
          </a:prstGeom>
          <a:noFill/>
          <a:ln w="19050" cap="flat" cmpd="sng">
            <a:solidFill>
              <a:schemeClr val="dk2"/>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3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3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3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938"/>
                                        </p:tgtEl>
                                        <p:attrNameLst>
                                          <p:attrName>style.visibility</p:attrName>
                                        </p:attrNameLst>
                                      </p:cBhvr>
                                      <p:to>
                                        <p:strVal val="visible"/>
                                      </p:to>
                                    </p:set>
                                    <p:animEffect transition="in" filter="fade">
                                      <p:cBhvr>
                                        <p:cTn id="51" dur="1000"/>
                                        <p:tgtEl>
                                          <p:spTgt spid="93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939"/>
                                        </p:tgtEl>
                                        <p:attrNameLst>
                                          <p:attrName>style.visibility</p:attrName>
                                        </p:attrNameLst>
                                      </p:cBhvr>
                                      <p:to>
                                        <p:strVal val="visible"/>
                                      </p:to>
                                    </p:set>
                                    <p:animEffect transition="in" filter="fade">
                                      <p:cBhvr>
                                        <p:cTn id="56" dur="1000"/>
                                        <p:tgtEl>
                                          <p:spTgt spid="93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940"/>
                                        </p:tgtEl>
                                        <p:attrNameLst>
                                          <p:attrName>style.visibility</p:attrName>
                                        </p:attrNameLst>
                                      </p:cBhvr>
                                      <p:to>
                                        <p:strVal val="visible"/>
                                      </p:to>
                                    </p:set>
                                    <p:animEffect transition="in" filter="fade">
                                      <p:cBhvr>
                                        <p:cTn id="61" dur="1000"/>
                                        <p:tgtEl>
                                          <p:spTgt spid="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11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t>
            </a:r>
            <a:r>
              <a:rPr lang="en" i="1"/>
              <a:t>Incomplete</a:t>
            </a:r>
            <a:r>
              <a:rPr lang="en"/>
              <a:t> JCF Class Hierarchy</a:t>
            </a:r>
            <a:endParaRPr/>
          </a:p>
        </p:txBody>
      </p:sp>
      <p:sp>
        <p:nvSpPr>
          <p:cNvPr id="947" name="Google Shape;947;p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948" name="Google Shape;948;p110"/>
          <p:cNvSpPr txBox="1"/>
          <p:nvPr/>
        </p:nvSpPr>
        <p:spPr>
          <a:xfrm>
            <a:off x="335550" y="13492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A84F"/>
                </a:solidFill>
                <a:latin typeface="Open Sans"/>
                <a:ea typeface="Open Sans"/>
                <a:cs typeface="Open Sans"/>
                <a:sym typeface="Open Sans"/>
              </a:rPr>
              <a:t>Iterable</a:t>
            </a:r>
            <a:endParaRPr b="1" i="1">
              <a:solidFill>
                <a:srgbClr val="6AA84F"/>
              </a:solidFill>
              <a:latin typeface="Open Sans"/>
              <a:ea typeface="Open Sans"/>
              <a:cs typeface="Open Sans"/>
              <a:sym typeface="Open Sans"/>
            </a:endParaRPr>
          </a:p>
        </p:txBody>
      </p:sp>
      <p:sp>
        <p:nvSpPr>
          <p:cNvPr id="949" name="Google Shape;949;p110"/>
          <p:cNvSpPr txBox="1"/>
          <p:nvPr/>
        </p:nvSpPr>
        <p:spPr>
          <a:xfrm>
            <a:off x="335550" y="209670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i="1">
                <a:latin typeface="Open Sans"/>
                <a:ea typeface="Open Sans"/>
                <a:cs typeface="Open Sans"/>
                <a:sym typeface="Open Sans"/>
              </a:rPr>
              <a:t>Collection</a:t>
            </a:r>
            <a:endParaRPr i="1">
              <a:latin typeface="Open Sans"/>
              <a:ea typeface="Open Sans"/>
              <a:cs typeface="Open Sans"/>
              <a:sym typeface="Open Sans"/>
            </a:endParaRPr>
          </a:p>
        </p:txBody>
      </p:sp>
      <p:sp>
        <p:nvSpPr>
          <p:cNvPr id="950" name="Google Shape;950;p110"/>
          <p:cNvSpPr txBox="1"/>
          <p:nvPr/>
        </p:nvSpPr>
        <p:spPr>
          <a:xfrm>
            <a:off x="2212950" y="13492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A84F"/>
                </a:solidFill>
                <a:latin typeface="Open Sans"/>
                <a:ea typeface="Open Sans"/>
                <a:cs typeface="Open Sans"/>
                <a:sym typeface="Open Sans"/>
              </a:rPr>
              <a:t>Queue</a:t>
            </a:r>
            <a:endParaRPr b="1" i="1">
              <a:solidFill>
                <a:srgbClr val="6AA84F"/>
              </a:solidFill>
              <a:latin typeface="Open Sans"/>
              <a:ea typeface="Open Sans"/>
              <a:cs typeface="Open Sans"/>
              <a:sym typeface="Open Sans"/>
            </a:endParaRPr>
          </a:p>
        </p:txBody>
      </p:sp>
      <p:sp>
        <p:nvSpPr>
          <p:cNvPr id="951" name="Google Shape;951;p110"/>
          <p:cNvSpPr txBox="1"/>
          <p:nvPr/>
        </p:nvSpPr>
        <p:spPr>
          <a:xfrm>
            <a:off x="2222613" y="2804313"/>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A84F"/>
                </a:solidFill>
                <a:latin typeface="Open Sans"/>
                <a:ea typeface="Open Sans"/>
                <a:cs typeface="Open Sans"/>
                <a:sym typeface="Open Sans"/>
              </a:rPr>
              <a:t>List</a:t>
            </a:r>
            <a:endParaRPr b="1" i="1">
              <a:solidFill>
                <a:srgbClr val="6AA84F"/>
              </a:solidFill>
              <a:latin typeface="Open Sans"/>
              <a:ea typeface="Open Sans"/>
              <a:cs typeface="Open Sans"/>
              <a:sym typeface="Open Sans"/>
            </a:endParaRPr>
          </a:p>
        </p:txBody>
      </p:sp>
      <p:sp>
        <p:nvSpPr>
          <p:cNvPr id="952" name="Google Shape;952;p110"/>
          <p:cNvSpPr txBox="1"/>
          <p:nvPr/>
        </p:nvSpPr>
        <p:spPr>
          <a:xfrm>
            <a:off x="2212950" y="38379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9955"/>
                </a:solidFill>
                <a:latin typeface="Open Sans"/>
                <a:ea typeface="Open Sans"/>
                <a:cs typeface="Open Sans"/>
                <a:sym typeface="Open Sans"/>
              </a:rPr>
              <a:t>Set</a:t>
            </a:r>
            <a:endParaRPr b="1" i="1">
              <a:solidFill>
                <a:srgbClr val="6A9955"/>
              </a:solidFill>
              <a:latin typeface="Open Sans"/>
              <a:ea typeface="Open Sans"/>
              <a:cs typeface="Open Sans"/>
              <a:sym typeface="Open Sans"/>
            </a:endParaRPr>
          </a:p>
        </p:txBody>
      </p:sp>
      <p:sp>
        <p:nvSpPr>
          <p:cNvPr id="953" name="Google Shape;953;p110"/>
          <p:cNvSpPr txBox="1"/>
          <p:nvPr/>
        </p:nvSpPr>
        <p:spPr>
          <a:xfrm>
            <a:off x="4109700" y="13492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i="1">
                <a:latin typeface="Open Sans"/>
                <a:ea typeface="Open Sans"/>
                <a:cs typeface="Open Sans"/>
                <a:sym typeface="Open Sans"/>
              </a:rPr>
              <a:t>Deque</a:t>
            </a:r>
            <a:endParaRPr i="1">
              <a:latin typeface="Open Sans"/>
              <a:ea typeface="Open Sans"/>
              <a:cs typeface="Open Sans"/>
              <a:sym typeface="Open Sans"/>
            </a:endParaRPr>
          </a:p>
        </p:txBody>
      </p:sp>
      <p:sp>
        <p:nvSpPr>
          <p:cNvPr id="954" name="Google Shape;954;p110"/>
          <p:cNvSpPr txBox="1"/>
          <p:nvPr/>
        </p:nvSpPr>
        <p:spPr>
          <a:xfrm>
            <a:off x="4109700" y="38379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HashSet</a:t>
            </a:r>
            <a:endParaRPr b="1">
              <a:solidFill>
                <a:srgbClr val="6A9955"/>
              </a:solidFill>
              <a:latin typeface="Open Sans"/>
              <a:ea typeface="Open Sans"/>
              <a:cs typeface="Open Sans"/>
              <a:sym typeface="Open Sans"/>
            </a:endParaRPr>
          </a:p>
        </p:txBody>
      </p:sp>
      <p:sp>
        <p:nvSpPr>
          <p:cNvPr id="955" name="Google Shape;955;p110"/>
          <p:cNvSpPr txBox="1"/>
          <p:nvPr/>
        </p:nvSpPr>
        <p:spPr>
          <a:xfrm>
            <a:off x="6006450" y="13492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ArrayDeque</a:t>
            </a:r>
            <a:endParaRPr b="1">
              <a:solidFill>
                <a:srgbClr val="6A9955"/>
              </a:solidFill>
              <a:latin typeface="Open Sans"/>
              <a:ea typeface="Open Sans"/>
              <a:cs typeface="Open Sans"/>
              <a:sym typeface="Open Sans"/>
            </a:endParaRPr>
          </a:p>
        </p:txBody>
      </p:sp>
      <p:sp>
        <p:nvSpPr>
          <p:cNvPr id="956" name="Google Shape;956;p110"/>
          <p:cNvSpPr txBox="1"/>
          <p:nvPr/>
        </p:nvSpPr>
        <p:spPr>
          <a:xfrm>
            <a:off x="4109700" y="209830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A84F"/>
                </a:solidFill>
                <a:latin typeface="Open Sans"/>
                <a:ea typeface="Open Sans"/>
                <a:cs typeface="Open Sans"/>
                <a:sym typeface="Open Sans"/>
              </a:rPr>
              <a:t>LinkedList</a:t>
            </a:r>
            <a:endParaRPr b="1">
              <a:solidFill>
                <a:srgbClr val="6AA84F"/>
              </a:solidFill>
              <a:latin typeface="Open Sans"/>
              <a:ea typeface="Open Sans"/>
              <a:cs typeface="Open Sans"/>
              <a:sym typeface="Open Sans"/>
            </a:endParaRPr>
          </a:p>
        </p:txBody>
      </p:sp>
      <p:sp>
        <p:nvSpPr>
          <p:cNvPr id="957" name="Google Shape;957;p110"/>
          <p:cNvSpPr txBox="1"/>
          <p:nvPr/>
        </p:nvSpPr>
        <p:spPr>
          <a:xfrm>
            <a:off x="4109700" y="2582459"/>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A84F"/>
                </a:solidFill>
                <a:latin typeface="Open Sans"/>
                <a:ea typeface="Open Sans"/>
                <a:cs typeface="Open Sans"/>
                <a:sym typeface="Open Sans"/>
              </a:rPr>
              <a:t>ArrayList</a:t>
            </a:r>
            <a:endParaRPr b="1">
              <a:solidFill>
                <a:srgbClr val="6AA84F"/>
              </a:solidFill>
              <a:latin typeface="Open Sans"/>
              <a:ea typeface="Open Sans"/>
              <a:cs typeface="Open Sans"/>
              <a:sym typeface="Open Sans"/>
            </a:endParaRPr>
          </a:p>
        </p:txBody>
      </p:sp>
      <p:sp>
        <p:nvSpPr>
          <p:cNvPr id="958" name="Google Shape;958;p110"/>
          <p:cNvSpPr txBox="1"/>
          <p:nvPr/>
        </p:nvSpPr>
        <p:spPr>
          <a:xfrm>
            <a:off x="2212950" y="4650625"/>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i="1">
                <a:latin typeface="Open Sans"/>
                <a:ea typeface="Open Sans"/>
                <a:cs typeface="Open Sans"/>
                <a:sym typeface="Open Sans"/>
              </a:rPr>
              <a:t>SortedSet</a:t>
            </a:r>
            <a:endParaRPr i="1">
              <a:latin typeface="Open Sans"/>
              <a:ea typeface="Open Sans"/>
              <a:cs typeface="Open Sans"/>
              <a:sym typeface="Open Sans"/>
            </a:endParaRPr>
          </a:p>
        </p:txBody>
      </p:sp>
      <p:sp>
        <p:nvSpPr>
          <p:cNvPr id="959" name="Google Shape;959;p110"/>
          <p:cNvSpPr txBox="1"/>
          <p:nvPr/>
        </p:nvSpPr>
        <p:spPr>
          <a:xfrm>
            <a:off x="4109700" y="4650625"/>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i="1">
                <a:latin typeface="Open Sans"/>
                <a:ea typeface="Open Sans"/>
                <a:cs typeface="Open Sans"/>
                <a:sym typeface="Open Sans"/>
              </a:rPr>
              <a:t>NavigableSet</a:t>
            </a:r>
            <a:endParaRPr i="1">
              <a:latin typeface="Open Sans"/>
              <a:ea typeface="Open Sans"/>
              <a:cs typeface="Open Sans"/>
              <a:sym typeface="Open Sans"/>
            </a:endParaRPr>
          </a:p>
        </p:txBody>
      </p:sp>
      <p:sp>
        <p:nvSpPr>
          <p:cNvPr id="960" name="Google Shape;960;p110"/>
          <p:cNvSpPr txBox="1"/>
          <p:nvPr/>
        </p:nvSpPr>
        <p:spPr>
          <a:xfrm>
            <a:off x="6006450" y="4650625"/>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TreeSet</a:t>
            </a:r>
            <a:endParaRPr b="1">
              <a:solidFill>
                <a:srgbClr val="6A9955"/>
              </a:solidFill>
              <a:latin typeface="Open Sans"/>
              <a:ea typeface="Open Sans"/>
              <a:cs typeface="Open Sans"/>
              <a:sym typeface="Open Sans"/>
            </a:endParaRPr>
          </a:p>
        </p:txBody>
      </p:sp>
      <p:cxnSp>
        <p:nvCxnSpPr>
          <p:cNvPr id="961" name="Google Shape;961;p110"/>
          <p:cNvCxnSpPr>
            <a:stCxn id="949" idx="0"/>
            <a:endCxn id="948" idx="2"/>
          </p:cNvCxnSpPr>
          <p:nvPr/>
        </p:nvCxnSpPr>
        <p:spPr>
          <a:xfrm rot="10800000">
            <a:off x="1054500" y="1743000"/>
            <a:ext cx="0" cy="353700"/>
          </a:xfrm>
          <a:prstGeom prst="straightConnector1">
            <a:avLst/>
          </a:prstGeom>
          <a:noFill/>
          <a:ln w="9525" cap="flat" cmpd="sng">
            <a:solidFill>
              <a:srgbClr val="000000"/>
            </a:solidFill>
            <a:prstDash val="solid"/>
            <a:round/>
            <a:headEnd type="none" w="med" len="med"/>
            <a:tailEnd type="triangle" w="med" len="med"/>
          </a:ln>
        </p:spPr>
      </p:cxnSp>
      <p:cxnSp>
        <p:nvCxnSpPr>
          <p:cNvPr id="962" name="Google Shape;962;p110"/>
          <p:cNvCxnSpPr>
            <a:stCxn id="950" idx="1"/>
            <a:endCxn id="949" idx="3"/>
          </p:cNvCxnSpPr>
          <p:nvPr/>
        </p:nvCxnSpPr>
        <p:spPr>
          <a:xfrm flipH="1">
            <a:off x="1773450" y="1546050"/>
            <a:ext cx="439500" cy="747600"/>
          </a:xfrm>
          <a:prstGeom prst="bentConnector3">
            <a:avLst>
              <a:gd name="adj1" fmla="val 50000"/>
            </a:avLst>
          </a:prstGeom>
          <a:noFill/>
          <a:ln w="9525" cap="flat" cmpd="sng">
            <a:solidFill>
              <a:srgbClr val="000000"/>
            </a:solidFill>
            <a:prstDash val="solid"/>
            <a:round/>
            <a:headEnd type="none" w="med" len="med"/>
            <a:tailEnd type="triangle" w="med" len="med"/>
          </a:ln>
        </p:spPr>
      </p:cxnSp>
      <p:cxnSp>
        <p:nvCxnSpPr>
          <p:cNvPr id="963" name="Google Shape;963;p110"/>
          <p:cNvCxnSpPr>
            <a:stCxn id="951" idx="1"/>
            <a:endCxn id="949" idx="3"/>
          </p:cNvCxnSpPr>
          <p:nvPr/>
        </p:nvCxnSpPr>
        <p:spPr>
          <a:xfrm rot="10800000">
            <a:off x="1773513" y="2293413"/>
            <a:ext cx="449100" cy="707700"/>
          </a:xfrm>
          <a:prstGeom prst="bentConnector3">
            <a:avLst>
              <a:gd name="adj1" fmla="val 50007"/>
            </a:avLst>
          </a:prstGeom>
          <a:noFill/>
          <a:ln w="9525" cap="flat" cmpd="sng">
            <a:solidFill>
              <a:srgbClr val="000000"/>
            </a:solidFill>
            <a:prstDash val="solid"/>
            <a:round/>
            <a:headEnd type="none" w="med" len="med"/>
            <a:tailEnd type="triangle" w="med" len="med"/>
          </a:ln>
        </p:spPr>
      </p:cxnSp>
      <p:cxnSp>
        <p:nvCxnSpPr>
          <p:cNvPr id="964" name="Google Shape;964;p110"/>
          <p:cNvCxnSpPr>
            <a:stCxn id="965" idx="0"/>
            <a:endCxn id="950" idx="2"/>
          </p:cNvCxnSpPr>
          <p:nvPr/>
        </p:nvCxnSpPr>
        <p:spPr>
          <a:xfrm rot="-5400000">
            <a:off x="2819850" y="1854823"/>
            <a:ext cx="224700" cy="600"/>
          </a:xfrm>
          <a:prstGeom prst="bentConnector3">
            <a:avLst>
              <a:gd name="adj1" fmla="val 49983"/>
            </a:avLst>
          </a:prstGeom>
          <a:noFill/>
          <a:ln w="9525" cap="flat" cmpd="sng">
            <a:solidFill>
              <a:srgbClr val="000000"/>
            </a:solidFill>
            <a:prstDash val="solid"/>
            <a:round/>
            <a:headEnd type="none" w="med" len="med"/>
            <a:tailEnd type="triangle" w="med" len="med"/>
          </a:ln>
        </p:spPr>
      </p:cxnSp>
      <p:cxnSp>
        <p:nvCxnSpPr>
          <p:cNvPr id="966" name="Google Shape;966;p110"/>
          <p:cNvCxnSpPr>
            <a:stCxn id="955" idx="1"/>
            <a:endCxn id="953" idx="3"/>
          </p:cNvCxnSpPr>
          <p:nvPr/>
        </p:nvCxnSpPr>
        <p:spPr>
          <a:xfrm flipH="1">
            <a:off x="5547750" y="1546050"/>
            <a:ext cx="458700" cy="600"/>
          </a:xfrm>
          <a:prstGeom prst="bentConnector3">
            <a:avLst>
              <a:gd name="adj1" fmla="val 49984"/>
            </a:avLst>
          </a:prstGeom>
          <a:noFill/>
          <a:ln w="9525" cap="flat" cmpd="sng">
            <a:solidFill>
              <a:srgbClr val="000000"/>
            </a:solidFill>
            <a:prstDash val="dash"/>
            <a:round/>
            <a:headEnd type="none" w="med" len="med"/>
            <a:tailEnd type="triangle" w="med" len="med"/>
          </a:ln>
        </p:spPr>
      </p:cxnSp>
      <p:cxnSp>
        <p:nvCxnSpPr>
          <p:cNvPr id="967" name="Google Shape;967;p110"/>
          <p:cNvCxnSpPr>
            <a:stCxn id="956" idx="1"/>
            <a:endCxn id="951" idx="3"/>
          </p:cNvCxnSpPr>
          <p:nvPr/>
        </p:nvCxnSpPr>
        <p:spPr>
          <a:xfrm flipH="1">
            <a:off x="3660600" y="2295100"/>
            <a:ext cx="449100" cy="705900"/>
          </a:xfrm>
          <a:prstGeom prst="bentConnector3">
            <a:avLst>
              <a:gd name="adj1" fmla="val 50010"/>
            </a:avLst>
          </a:prstGeom>
          <a:noFill/>
          <a:ln w="9525" cap="flat" cmpd="sng">
            <a:solidFill>
              <a:srgbClr val="000000"/>
            </a:solidFill>
            <a:prstDash val="dash"/>
            <a:round/>
            <a:headEnd type="none" w="med" len="med"/>
            <a:tailEnd type="triangle" w="med" len="med"/>
          </a:ln>
        </p:spPr>
      </p:cxnSp>
      <p:cxnSp>
        <p:nvCxnSpPr>
          <p:cNvPr id="968" name="Google Shape;968;p110"/>
          <p:cNvCxnSpPr>
            <a:stCxn id="956" idx="0"/>
            <a:endCxn id="953" idx="2"/>
          </p:cNvCxnSpPr>
          <p:nvPr/>
        </p:nvCxnSpPr>
        <p:spPr>
          <a:xfrm rot="-5400000">
            <a:off x="4651200" y="1920250"/>
            <a:ext cx="355500" cy="600"/>
          </a:xfrm>
          <a:prstGeom prst="bentConnector3">
            <a:avLst>
              <a:gd name="adj1" fmla="val 49993"/>
            </a:avLst>
          </a:prstGeom>
          <a:noFill/>
          <a:ln w="9525" cap="flat" cmpd="sng">
            <a:solidFill>
              <a:srgbClr val="000000"/>
            </a:solidFill>
            <a:prstDash val="dash"/>
            <a:round/>
            <a:headEnd type="none" w="med" len="med"/>
            <a:tailEnd type="triangle" w="med" len="med"/>
          </a:ln>
        </p:spPr>
      </p:cxnSp>
      <p:cxnSp>
        <p:nvCxnSpPr>
          <p:cNvPr id="969" name="Google Shape;969;p110"/>
          <p:cNvCxnSpPr>
            <a:stCxn id="957" idx="1"/>
            <a:endCxn id="951" idx="3"/>
          </p:cNvCxnSpPr>
          <p:nvPr/>
        </p:nvCxnSpPr>
        <p:spPr>
          <a:xfrm flipH="1">
            <a:off x="3660600" y="2779259"/>
            <a:ext cx="449100" cy="222000"/>
          </a:xfrm>
          <a:prstGeom prst="bentConnector3">
            <a:avLst>
              <a:gd name="adj1" fmla="val 50010"/>
            </a:avLst>
          </a:prstGeom>
          <a:noFill/>
          <a:ln w="9525" cap="flat" cmpd="sng">
            <a:solidFill>
              <a:srgbClr val="000000"/>
            </a:solidFill>
            <a:prstDash val="dash"/>
            <a:round/>
            <a:headEnd type="none" w="med" len="med"/>
            <a:tailEnd type="triangle" w="med" len="med"/>
          </a:ln>
        </p:spPr>
      </p:cxnSp>
      <p:cxnSp>
        <p:nvCxnSpPr>
          <p:cNvPr id="970" name="Google Shape;970;p110"/>
          <p:cNvCxnSpPr>
            <a:stCxn id="952" idx="1"/>
            <a:endCxn id="949" idx="3"/>
          </p:cNvCxnSpPr>
          <p:nvPr/>
        </p:nvCxnSpPr>
        <p:spPr>
          <a:xfrm rot="10800000">
            <a:off x="1773450" y="2293550"/>
            <a:ext cx="439500" cy="1741200"/>
          </a:xfrm>
          <a:prstGeom prst="bentConnector3">
            <a:avLst>
              <a:gd name="adj1" fmla="val 50000"/>
            </a:avLst>
          </a:prstGeom>
          <a:noFill/>
          <a:ln w="9525" cap="flat" cmpd="sng">
            <a:solidFill>
              <a:srgbClr val="000000"/>
            </a:solidFill>
            <a:prstDash val="solid"/>
            <a:round/>
            <a:headEnd type="none" w="med" len="med"/>
            <a:tailEnd type="triangle" w="med" len="med"/>
          </a:ln>
        </p:spPr>
      </p:cxnSp>
      <p:cxnSp>
        <p:nvCxnSpPr>
          <p:cNvPr id="971" name="Google Shape;971;p110"/>
          <p:cNvCxnSpPr>
            <a:stCxn id="954" idx="1"/>
            <a:endCxn id="952" idx="3"/>
          </p:cNvCxnSpPr>
          <p:nvPr/>
        </p:nvCxnSpPr>
        <p:spPr>
          <a:xfrm flipH="1">
            <a:off x="3651000" y="4034750"/>
            <a:ext cx="458700" cy="600"/>
          </a:xfrm>
          <a:prstGeom prst="bentConnector3">
            <a:avLst>
              <a:gd name="adj1" fmla="val 49984"/>
            </a:avLst>
          </a:prstGeom>
          <a:noFill/>
          <a:ln w="9525" cap="flat" cmpd="sng">
            <a:solidFill>
              <a:srgbClr val="000000"/>
            </a:solidFill>
            <a:prstDash val="dash"/>
            <a:round/>
            <a:headEnd type="none" w="med" len="med"/>
            <a:tailEnd type="triangle" w="med" len="med"/>
          </a:ln>
        </p:spPr>
      </p:cxnSp>
      <p:cxnSp>
        <p:nvCxnSpPr>
          <p:cNvPr id="972" name="Google Shape;972;p110"/>
          <p:cNvCxnSpPr>
            <a:stCxn id="958" idx="0"/>
            <a:endCxn id="952" idx="2"/>
          </p:cNvCxnSpPr>
          <p:nvPr/>
        </p:nvCxnSpPr>
        <p:spPr>
          <a:xfrm rot="-5400000">
            <a:off x="2722650" y="4440775"/>
            <a:ext cx="419100" cy="600"/>
          </a:xfrm>
          <a:prstGeom prst="bentConnector3">
            <a:avLst>
              <a:gd name="adj1" fmla="val 49997"/>
            </a:avLst>
          </a:prstGeom>
          <a:noFill/>
          <a:ln w="9525" cap="flat" cmpd="sng">
            <a:solidFill>
              <a:srgbClr val="000000"/>
            </a:solidFill>
            <a:prstDash val="solid"/>
            <a:round/>
            <a:headEnd type="none" w="med" len="med"/>
            <a:tailEnd type="triangle" w="med" len="med"/>
          </a:ln>
        </p:spPr>
      </p:cxnSp>
      <p:sp>
        <p:nvSpPr>
          <p:cNvPr id="973" name="Google Shape;973;p110"/>
          <p:cNvSpPr txBox="1"/>
          <p:nvPr/>
        </p:nvSpPr>
        <p:spPr>
          <a:xfrm>
            <a:off x="5988150" y="36800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HashMap</a:t>
            </a:r>
            <a:endParaRPr b="1">
              <a:solidFill>
                <a:srgbClr val="6A9955"/>
              </a:solidFill>
              <a:latin typeface="Open Sans"/>
              <a:ea typeface="Open Sans"/>
              <a:cs typeface="Open Sans"/>
              <a:sym typeface="Open Sans"/>
            </a:endParaRPr>
          </a:p>
        </p:txBody>
      </p:sp>
      <p:sp>
        <p:nvSpPr>
          <p:cNvPr id="974" name="Google Shape;974;p110"/>
          <p:cNvSpPr txBox="1"/>
          <p:nvPr/>
        </p:nvSpPr>
        <p:spPr>
          <a:xfrm>
            <a:off x="7507050" y="36800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TreeMap</a:t>
            </a:r>
            <a:endParaRPr b="1">
              <a:solidFill>
                <a:srgbClr val="6A9955"/>
              </a:solidFill>
              <a:latin typeface="Open Sans"/>
              <a:ea typeface="Open Sans"/>
              <a:cs typeface="Open Sans"/>
              <a:sym typeface="Open Sans"/>
            </a:endParaRPr>
          </a:p>
        </p:txBody>
      </p:sp>
      <p:cxnSp>
        <p:nvCxnSpPr>
          <p:cNvPr id="975" name="Google Shape;975;p110"/>
          <p:cNvCxnSpPr>
            <a:stCxn id="974" idx="0"/>
            <a:endCxn id="976" idx="2"/>
          </p:cNvCxnSpPr>
          <p:nvPr/>
        </p:nvCxnSpPr>
        <p:spPr>
          <a:xfrm rot="5400000" flipH="1">
            <a:off x="7630350" y="3084400"/>
            <a:ext cx="424500" cy="766800"/>
          </a:xfrm>
          <a:prstGeom prst="bentConnector3">
            <a:avLst>
              <a:gd name="adj1" fmla="val 50012"/>
            </a:avLst>
          </a:prstGeom>
          <a:noFill/>
          <a:ln w="9525" cap="flat" cmpd="sng">
            <a:solidFill>
              <a:srgbClr val="000000"/>
            </a:solidFill>
            <a:prstDash val="dash"/>
            <a:round/>
            <a:headEnd type="none" w="med" len="med"/>
            <a:tailEnd type="triangle" w="med" len="med"/>
          </a:ln>
        </p:spPr>
      </p:cxnSp>
      <p:cxnSp>
        <p:nvCxnSpPr>
          <p:cNvPr id="977" name="Google Shape;977;p110"/>
          <p:cNvCxnSpPr>
            <a:stCxn id="973" idx="0"/>
            <a:endCxn id="976" idx="2"/>
          </p:cNvCxnSpPr>
          <p:nvPr/>
        </p:nvCxnSpPr>
        <p:spPr>
          <a:xfrm rot="-5400000">
            <a:off x="6870900" y="3091750"/>
            <a:ext cx="424500" cy="752100"/>
          </a:xfrm>
          <a:prstGeom prst="bentConnector3">
            <a:avLst>
              <a:gd name="adj1" fmla="val 50012"/>
            </a:avLst>
          </a:prstGeom>
          <a:noFill/>
          <a:ln w="9525" cap="flat" cmpd="sng">
            <a:solidFill>
              <a:srgbClr val="000000"/>
            </a:solidFill>
            <a:prstDash val="dash"/>
            <a:round/>
            <a:headEnd type="none" w="med" len="med"/>
            <a:tailEnd type="triangle" w="med" len="med"/>
          </a:ln>
        </p:spPr>
      </p:cxnSp>
      <p:grpSp>
        <p:nvGrpSpPr>
          <p:cNvPr id="978" name="Google Shape;978;p110"/>
          <p:cNvGrpSpPr/>
          <p:nvPr/>
        </p:nvGrpSpPr>
        <p:grpSpPr>
          <a:xfrm>
            <a:off x="6740250" y="2080038"/>
            <a:ext cx="1437900" cy="1175413"/>
            <a:chOff x="6816450" y="1927638"/>
            <a:chExt cx="1437900" cy="1175413"/>
          </a:xfrm>
        </p:grpSpPr>
        <p:sp>
          <p:nvSpPr>
            <p:cNvPr id="976" name="Google Shape;976;p110"/>
            <p:cNvSpPr txBox="1"/>
            <p:nvPr/>
          </p:nvSpPr>
          <p:spPr>
            <a:xfrm>
              <a:off x="6816450" y="2321250"/>
              <a:ext cx="1437900" cy="7818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i="1">
                  <a:latin typeface="Open Sans"/>
                  <a:ea typeface="Open Sans"/>
                  <a:cs typeface="Open Sans"/>
                  <a:sym typeface="Open Sans"/>
                </a:rPr>
                <a:t>+put(key, value)</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+get(key): value</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+contains(K):boolean</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+size():int</a:t>
              </a:r>
              <a:endParaRPr sz="1000" i="1">
                <a:latin typeface="Open Sans"/>
                <a:ea typeface="Open Sans"/>
                <a:cs typeface="Open Sans"/>
                <a:sym typeface="Open Sans"/>
              </a:endParaRPr>
            </a:p>
          </p:txBody>
        </p:sp>
        <p:sp>
          <p:nvSpPr>
            <p:cNvPr id="979" name="Google Shape;979;p110"/>
            <p:cNvSpPr txBox="1"/>
            <p:nvPr/>
          </p:nvSpPr>
          <p:spPr>
            <a:xfrm>
              <a:off x="6816450" y="1927638"/>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9955"/>
                  </a:solidFill>
                  <a:latin typeface="Open Sans"/>
                  <a:ea typeface="Open Sans"/>
                  <a:cs typeface="Open Sans"/>
                  <a:sym typeface="Open Sans"/>
                </a:rPr>
                <a:t>Map</a:t>
              </a:r>
              <a:endParaRPr b="1" i="1">
                <a:solidFill>
                  <a:srgbClr val="6A9955"/>
                </a:solidFill>
                <a:latin typeface="Open Sans"/>
                <a:ea typeface="Open Sans"/>
                <a:cs typeface="Open Sans"/>
                <a:sym typeface="Open Sans"/>
              </a:endParaRPr>
            </a:p>
          </p:txBody>
        </p:sp>
      </p:grpSp>
      <p:sp>
        <p:nvSpPr>
          <p:cNvPr id="980" name="Google Shape;980;p110"/>
          <p:cNvSpPr txBox="1"/>
          <p:nvPr/>
        </p:nvSpPr>
        <p:spPr>
          <a:xfrm>
            <a:off x="335550" y="2491900"/>
            <a:ext cx="1437900" cy="747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i="1">
                <a:latin typeface="Open Sans"/>
                <a:ea typeface="Open Sans"/>
                <a:cs typeface="Open Sans"/>
                <a:sym typeface="Open Sans"/>
              </a:rPr>
              <a:t>+add(E)</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+contains(E):boolean</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+remove(E)</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+size():int</a:t>
            </a:r>
            <a:endParaRPr sz="1000" i="1">
              <a:latin typeface="Open Sans"/>
              <a:ea typeface="Open Sans"/>
              <a:cs typeface="Open Sans"/>
              <a:sym typeface="Open Sans"/>
            </a:endParaRPr>
          </a:p>
        </p:txBody>
      </p:sp>
      <p:cxnSp>
        <p:nvCxnSpPr>
          <p:cNvPr id="981" name="Google Shape;981;p110"/>
          <p:cNvCxnSpPr/>
          <p:nvPr/>
        </p:nvCxnSpPr>
        <p:spPr>
          <a:xfrm flipH="1">
            <a:off x="3650700" y="4847425"/>
            <a:ext cx="459000" cy="600"/>
          </a:xfrm>
          <a:prstGeom prst="bentConnector3">
            <a:avLst>
              <a:gd name="adj1" fmla="val 49984"/>
            </a:avLst>
          </a:prstGeom>
          <a:noFill/>
          <a:ln w="9525" cap="flat" cmpd="sng">
            <a:solidFill>
              <a:srgbClr val="000000"/>
            </a:solidFill>
            <a:prstDash val="solid"/>
            <a:round/>
            <a:headEnd type="none" w="med" len="med"/>
            <a:tailEnd type="triangle" w="med" len="med"/>
          </a:ln>
        </p:spPr>
      </p:cxnSp>
      <p:cxnSp>
        <p:nvCxnSpPr>
          <p:cNvPr id="982" name="Google Shape;982;p110"/>
          <p:cNvCxnSpPr/>
          <p:nvPr/>
        </p:nvCxnSpPr>
        <p:spPr>
          <a:xfrm flipH="1">
            <a:off x="5547450" y="4847425"/>
            <a:ext cx="459000" cy="600"/>
          </a:xfrm>
          <a:prstGeom prst="bentConnector3">
            <a:avLst>
              <a:gd name="adj1" fmla="val 49984"/>
            </a:avLst>
          </a:prstGeom>
          <a:noFill/>
          <a:ln w="9525" cap="flat" cmpd="sng">
            <a:solidFill>
              <a:srgbClr val="000000"/>
            </a:solidFill>
            <a:prstDash val="dash"/>
            <a:round/>
            <a:headEnd type="none" w="med" len="med"/>
            <a:tailEnd type="triangle" w="med" len="med"/>
          </a:ln>
        </p:spPr>
      </p:cxnSp>
      <p:sp>
        <p:nvSpPr>
          <p:cNvPr id="983" name="Google Shape;983;p110"/>
          <p:cNvSpPr/>
          <p:nvPr/>
        </p:nvSpPr>
        <p:spPr>
          <a:xfrm>
            <a:off x="361075" y="3945050"/>
            <a:ext cx="121500" cy="121500"/>
          </a:xfrm>
          <a:prstGeom prst="rect">
            <a:avLst/>
          </a:prstGeom>
          <a:solidFill>
            <a:srgbClr val="FFFFFF"/>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80000"/>
              </a:solidFill>
            </a:endParaRPr>
          </a:p>
        </p:txBody>
      </p:sp>
      <p:sp>
        <p:nvSpPr>
          <p:cNvPr id="984" name="Google Shape;984;p110"/>
          <p:cNvSpPr txBox="1"/>
          <p:nvPr/>
        </p:nvSpPr>
        <p:spPr>
          <a:xfrm>
            <a:off x="433697" y="3874325"/>
            <a:ext cx="1371900" cy="257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i="1">
                <a:latin typeface="Roboto"/>
                <a:ea typeface="Roboto"/>
                <a:cs typeface="Roboto"/>
                <a:sym typeface="Roboto"/>
              </a:rPr>
              <a:t>Interface (italics)</a:t>
            </a:r>
            <a:endParaRPr sz="1200" i="1">
              <a:latin typeface="Roboto"/>
              <a:ea typeface="Roboto"/>
              <a:cs typeface="Roboto"/>
              <a:sym typeface="Roboto"/>
            </a:endParaRPr>
          </a:p>
        </p:txBody>
      </p:sp>
      <p:sp>
        <p:nvSpPr>
          <p:cNvPr id="985" name="Google Shape;985;p110"/>
          <p:cNvSpPr/>
          <p:nvPr/>
        </p:nvSpPr>
        <p:spPr>
          <a:xfrm>
            <a:off x="361075" y="4173650"/>
            <a:ext cx="121500" cy="121500"/>
          </a:xfrm>
          <a:prstGeom prst="rect">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10"/>
          <p:cNvSpPr txBox="1"/>
          <p:nvPr/>
        </p:nvSpPr>
        <p:spPr>
          <a:xfrm>
            <a:off x="433697" y="4102925"/>
            <a:ext cx="1371900" cy="257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latin typeface="Roboto"/>
                <a:ea typeface="Roboto"/>
                <a:cs typeface="Roboto"/>
                <a:sym typeface="Roboto"/>
              </a:rPr>
              <a:t>Implementation</a:t>
            </a:r>
            <a:endParaRPr sz="1200">
              <a:latin typeface="Roboto"/>
              <a:ea typeface="Roboto"/>
              <a:cs typeface="Roboto"/>
              <a:sym typeface="Roboto"/>
            </a:endParaRPr>
          </a:p>
        </p:txBody>
      </p:sp>
      <p:sp>
        <p:nvSpPr>
          <p:cNvPr id="987" name="Google Shape;987;p110"/>
          <p:cNvSpPr txBox="1"/>
          <p:nvPr/>
        </p:nvSpPr>
        <p:spPr>
          <a:xfrm>
            <a:off x="256532" y="3613578"/>
            <a:ext cx="1371900" cy="257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u="sng">
                <a:latin typeface="Roboto"/>
                <a:ea typeface="Roboto"/>
                <a:cs typeface="Roboto"/>
                <a:sym typeface="Roboto"/>
              </a:rPr>
              <a:t>Legend</a:t>
            </a:r>
            <a:endParaRPr sz="1200" u="sng">
              <a:latin typeface="Roboto"/>
              <a:ea typeface="Roboto"/>
              <a:cs typeface="Roboto"/>
              <a:sym typeface="Roboto"/>
            </a:endParaRPr>
          </a:p>
        </p:txBody>
      </p:sp>
      <p:sp>
        <p:nvSpPr>
          <p:cNvPr id="988" name="Google Shape;988;p110"/>
          <p:cNvSpPr/>
          <p:nvPr/>
        </p:nvSpPr>
        <p:spPr>
          <a:xfrm>
            <a:off x="3884234" y="3024300"/>
            <a:ext cx="250750" cy="257119"/>
          </a:xfrm>
          <a:custGeom>
            <a:avLst/>
            <a:gdLst/>
            <a:ahLst/>
            <a:cxnLst/>
            <a:rect l="l" t="t" r="r" b="b"/>
            <a:pathLst>
              <a:path w="10030" h="20060" extrusionOk="0">
                <a:moveTo>
                  <a:pt x="0" y="0"/>
                </a:moveTo>
                <a:lnTo>
                  <a:pt x="0" y="20060"/>
                </a:lnTo>
                <a:lnTo>
                  <a:pt x="10030" y="20060"/>
                </a:lnTo>
              </a:path>
            </a:pathLst>
          </a:custGeom>
          <a:noFill/>
          <a:ln w="9525" cap="flat" cmpd="sng">
            <a:solidFill>
              <a:srgbClr val="000000"/>
            </a:solidFill>
            <a:prstDash val="dash"/>
            <a:round/>
            <a:headEnd type="none" w="med" len="med"/>
            <a:tailEnd type="none" w="med" len="med"/>
          </a:ln>
        </p:spPr>
        <p:txBody>
          <a:bodyPr/>
          <a:lstStyle/>
          <a:p>
            <a:endParaRPr lang="en-US"/>
          </a:p>
        </p:txBody>
      </p:sp>
      <p:sp>
        <p:nvSpPr>
          <p:cNvPr id="989" name="Google Shape;989;p110"/>
          <p:cNvSpPr txBox="1"/>
          <p:nvPr/>
        </p:nvSpPr>
        <p:spPr>
          <a:xfrm>
            <a:off x="433697" y="4331525"/>
            <a:ext cx="1371900" cy="257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6AA84F"/>
                </a:solidFill>
                <a:latin typeface="Roboto"/>
                <a:ea typeface="Roboto"/>
                <a:cs typeface="Roboto"/>
                <a:sym typeface="Roboto"/>
              </a:rPr>
              <a:t>OK to use (green)</a:t>
            </a:r>
            <a:endParaRPr sz="1200">
              <a:solidFill>
                <a:srgbClr val="6AA84F"/>
              </a:solidFill>
              <a:latin typeface="Roboto"/>
              <a:ea typeface="Roboto"/>
              <a:cs typeface="Roboto"/>
              <a:sym typeface="Roboto"/>
            </a:endParaRPr>
          </a:p>
        </p:txBody>
      </p:sp>
      <p:sp>
        <p:nvSpPr>
          <p:cNvPr id="965" name="Google Shape;965;p110"/>
          <p:cNvSpPr txBox="1"/>
          <p:nvPr/>
        </p:nvSpPr>
        <p:spPr>
          <a:xfrm>
            <a:off x="2212950" y="1967473"/>
            <a:ext cx="1437900" cy="501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PriorityQueue</a:t>
            </a:r>
            <a:endParaRPr b="1">
              <a:solidFill>
                <a:srgbClr val="6A9955"/>
              </a:solidFill>
              <a:latin typeface="Open Sans"/>
              <a:ea typeface="Open Sans"/>
              <a:cs typeface="Open Sans"/>
              <a:sym typeface="Open Sans"/>
            </a:endParaRPr>
          </a:p>
          <a:p>
            <a:pPr marL="0" lvl="0" indent="0" algn="ctr" rtl="0">
              <a:spcBef>
                <a:spcPts val="0"/>
              </a:spcBef>
              <a:spcAft>
                <a:spcPts val="0"/>
              </a:spcAft>
              <a:buNone/>
            </a:pPr>
            <a:r>
              <a:rPr lang="en" sz="900" b="1">
                <a:solidFill>
                  <a:srgbClr val="6A9955"/>
                </a:solidFill>
                <a:latin typeface="Open Sans"/>
                <a:ea typeface="Open Sans"/>
                <a:cs typeface="Open Sans"/>
                <a:sym typeface="Open Sans"/>
              </a:rPr>
              <a:t>(aka Heap)</a:t>
            </a:r>
            <a:endParaRPr sz="900" b="1">
              <a:solidFill>
                <a:srgbClr val="6A9955"/>
              </a:solidFill>
              <a:latin typeface="Open Sans"/>
              <a:ea typeface="Open Sans"/>
              <a:cs typeface="Open Sans"/>
              <a:sym typeface="Open Sans"/>
            </a:endParaRPr>
          </a:p>
        </p:txBody>
      </p:sp>
      <p:cxnSp>
        <p:nvCxnSpPr>
          <p:cNvPr id="990" name="Google Shape;990;p110"/>
          <p:cNvCxnSpPr>
            <a:stCxn id="953" idx="1"/>
            <a:endCxn id="950" idx="3"/>
          </p:cNvCxnSpPr>
          <p:nvPr/>
        </p:nvCxnSpPr>
        <p:spPr>
          <a:xfrm flipH="1">
            <a:off x="3651000" y="1546050"/>
            <a:ext cx="458700" cy="600"/>
          </a:xfrm>
          <a:prstGeom prst="bentConnector3">
            <a:avLst>
              <a:gd name="adj1" fmla="val 50016"/>
            </a:avLst>
          </a:prstGeom>
          <a:noFill/>
          <a:ln w="9525" cap="flat" cmpd="sng">
            <a:solidFill>
              <a:srgbClr val="000000"/>
            </a:solidFill>
            <a:prstDash val="solid"/>
            <a:round/>
            <a:headEnd type="none" w="med" len="med"/>
            <a:tailEnd type="triangle" w="med" len="med"/>
          </a:ln>
        </p:spPr>
      </p:cxnSp>
      <p:sp>
        <p:nvSpPr>
          <p:cNvPr id="991" name="Google Shape;991;p110"/>
          <p:cNvSpPr txBox="1"/>
          <p:nvPr/>
        </p:nvSpPr>
        <p:spPr>
          <a:xfrm>
            <a:off x="4117125" y="3084709"/>
            <a:ext cx="1437900" cy="393600"/>
          </a:xfrm>
          <a:prstGeom prst="rect">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A84F"/>
                </a:solidFill>
                <a:latin typeface="Open Sans"/>
                <a:ea typeface="Open Sans"/>
                <a:cs typeface="Open Sans"/>
                <a:sym typeface="Open Sans"/>
              </a:rPr>
              <a:t>Stack</a:t>
            </a:r>
            <a:endParaRPr b="1">
              <a:solidFill>
                <a:srgbClr val="6AA84F"/>
              </a:solidFill>
              <a:latin typeface="Open Sans"/>
              <a:ea typeface="Open Sans"/>
              <a:cs typeface="Open Sans"/>
              <a:sym typeface="Ope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graphicFrame>
        <p:nvGraphicFramePr>
          <p:cNvPr id="996" name="Google Shape;996;p111"/>
          <p:cNvGraphicFramePr/>
          <p:nvPr/>
        </p:nvGraphicFramePr>
        <p:xfrm>
          <a:off x="-10" y="-9"/>
          <a:ext cx="9143975" cy="5143500"/>
        </p:xfrm>
        <a:graphic>
          <a:graphicData uri="http://schemas.openxmlformats.org/drawingml/2006/table">
            <a:tbl>
              <a:tblPr>
                <a:noFill/>
                <a:tableStyleId>{033D936F-E8DA-4608-9ACD-538CA265D6F0}</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2993350">
                <a:tc rowSpan="2">
                  <a:txBody>
                    <a:bodyPr/>
                    <a:lstStyle/>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a:txBody>
                    <a:bodyPr/>
                    <a:lstStyle/>
                    <a:p>
                      <a:pPr marL="0" lvl="0" indent="0" algn="l" rtl="0">
                        <a:spcBef>
                          <a:spcPts val="0"/>
                        </a:spcBef>
                        <a:spcAft>
                          <a:spcPts val="0"/>
                        </a:spcAft>
                        <a:buNone/>
                      </a:pPr>
                      <a:r>
                        <a:rPr lang="en" sz="1000" u="sng">
                          <a:solidFill>
                            <a:schemeClr val="hlink"/>
                          </a:solidFill>
                          <a:hlinkClick r:id="rId3"/>
                        </a:rPr>
                        <a:t>Java Sets</a:t>
                      </a:r>
                      <a:endParaRPr sz="1000"/>
                    </a:p>
                    <a:p>
                      <a:pPr marL="0" lvl="0" indent="0" algn="l" rtl="0">
                        <a:spcBef>
                          <a:spcPts val="0"/>
                        </a:spcBef>
                        <a:spcAft>
                          <a:spcPts val="0"/>
                        </a:spcAft>
                        <a:buNone/>
                      </a:pPr>
                      <a:r>
                        <a:rPr lang="en" sz="1000">
                          <a:latin typeface="Courier New"/>
                          <a:ea typeface="Courier New"/>
                          <a:cs typeface="Courier New"/>
                          <a:sym typeface="Courier New"/>
                        </a:rPr>
                        <a:t>Set&lt;Integer&gt; nums = new TreeSet&lt;&gt;();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Set&lt;Integer&gt; otherNums = new HashSet&lt;&gt;();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nums.add(1);</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4"/>
                        </a:rPr>
                        <a:t>Java Maps (dictionary)</a:t>
                      </a:r>
                      <a:endParaRPr sz="1000"/>
                    </a:p>
                    <a:p>
                      <a:pPr marL="0" lvl="0" indent="0" algn="l" rtl="0">
                        <a:spcBef>
                          <a:spcPts val="0"/>
                        </a:spcBef>
                        <a:spcAft>
                          <a:spcPts val="0"/>
                        </a:spcAft>
                        <a:buNone/>
                      </a:pPr>
                      <a:r>
                        <a:rPr lang="en" sz="1000">
                          <a:latin typeface="Courier New"/>
                          <a:ea typeface="Courier New"/>
                          <a:cs typeface="Courier New"/>
                          <a:sym typeface="Courier New"/>
                        </a:rPr>
                        <a:t>// Can also use HashMap</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Map&lt;Integer, String&gt; numbers = new TreeMap&lt;&gt;();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numbers.put(1, “One”);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numbers.put(2, “Two”);</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for (int i : numbers.keySet())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System.out.println(numbers.get(i));</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150150">
                <a:tc v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997" name="Google Shape;997;p111"/>
          <p:cNvSpPr txBox="1"/>
          <p:nvPr/>
        </p:nvSpPr>
        <p:spPr>
          <a:xfrm rot="-5400000">
            <a:off x="-2378350" y="23776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7 : Data Structures III</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12"/>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1003" name="Google Shape;1003;p112"/>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1004" name="Google Shape;1004;p112"/>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1005" name="Google Shape;1005;p112"/>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1006" name="Google Shape;1006;p112"/>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1007" name="Google Shape;1007;p112"/>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008" name="Google Shape;1008;p112"/>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009" name="Google Shape;1009;p112"/>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Trees!</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value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left subtree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right subtree</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Search Trees!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Comparable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Natural Order</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Comparator</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Alternate Order</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Heaps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HashSet &amp; TreeSet</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HashMap &amp; TreeMap</a:t>
            </a:r>
            <a:endParaRPr sz="1500">
              <a:solidFill>
                <a:srgbClr val="FF0000"/>
              </a:solidFill>
              <a:latin typeface="Shadows Into Light"/>
              <a:ea typeface="Shadows Into Light"/>
              <a:cs typeface="Shadows Into Light"/>
              <a:sym typeface="Shadows Into Light"/>
            </a:endParaRPr>
          </a:p>
        </p:txBody>
      </p:sp>
      <p:sp>
        <p:nvSpPr>
          <p:cNvPr id="1010" name="Google Shape;1010;p1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998</TotalTime>
  <Words>9652</Words>
  <Application>Microsoft Office PowerPoint</Application>
  <PresentationFormat>On-screen Show (16:9)</PresentationFormat>
  <Paragraphs>982</Paragraphs>
  <Slides>46</Slides>
  <Notes>46</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46</vt:i4>
      </vt:variant>
    </vt:vector>
  </HeadingPairs>
  <TitlesOfParts>
    <vt:vector size="58" baseType="lpstr">
      <vt:lpstr>Arial</vt:lpstr>
      <vt:lpstr>Consolas</vt:lpstr>
      <vt:lpstr>Courier New</vt:lpstr>
      <vt:lpstr>Merriweather</vt:lpstr>
      <vt:lpstr>Open Sans</vt:lpstr>
      <vt:lpstr>Roboto</vt:lpstr>
      <vt:lpstr>Shadows Into Light</vt:lpstr>
      <vt:lpstr>Wingdings</vt:lpstr>
      <vt:lpstr>Paradigm</vt:lpstr>
      <vt:lpstr>Paradigm</vt:lpstr>
      <vt:lpstr>Paradigm</vt:lpstr>
      <vt:lpstr>Paradigm</vt:lpstr>
      <vt:lpstr>GCIS-124 Software Development &amp; Problem Solving</vt:lpstr>
      <vt:lpstr>Data Structures III</vt:lpstr>
      <vt:lpstr>Review: Python Sets</vt:lpstr>
      <vt:lpstr>Set Interface</vt:lpstr>
      <vt:lpstr>Tree Set</vt:lpstr>
      <vt:lpstr>Finishing Up</vt:lpstr>
      <vt:lpstr>What About the for Loop?</vt:lpstr>
      <vt:lpstr>Maps </vt:lpstr>
      <vt:lpstr>Review: Python Dictionaries  </vt:lpstr>
      <vt:lpstr>Implementations</vt:lpstr>
      <vt:lpstr>Map Interface</vt:lpstr>
      <vt:lpstr>Hash Map</vt:lpstr>
      <vt:lpstr>Implementing a Hash Map</vt:lpstr>
      <vt:lpstr>Adding To a Map In Detail</vt:lpstr>
      <vt:lpstr>Add</vt:lpstr>
      <vt:lpstr>Contains</vt:lpstr>
      <vt:lpstr>Get</vt:lpstr>
      <vt:lpstr>Remove</vt:lpstr>
      <vt:lpstr>Collisions</vt:lpstr>
      <vt:lpstr>Hash Functions</vt:lpstr>
      <vt:lpstr>Chaining in Detail</vt:lpstr>
      <vt:lpstr>Chaining</vt:lpstr>
      <vt:lpstr>Next Link in the Chain</vt:lpstr>
      <vt:lpstr>toString</vt:lpstr>
      <vt:lpstr>Iterator</vt:lpstr>
      <vt:lpstr>HashMap Complexities</vt:lpstr>
      <vt:lpstr>Resizing</vt:lpstr>
      <vt:lpstr>Sets &amp; Dictionaries</vt:lpstr>
      <vt:lpstr>HashSet</vt:lpstr>
      <vt:lpstr>Test Time</vt:lpstr>
      <vt:lpstr>Equal Hash Covenant</vt:lpstr>
      <vt:lpstr>Create a Custom Hash</vt:lpstr>
      <vt:lpstr>JCF Data Structures: TreeSet, HashSet, TreeMap, and HashMap</vt:lpstr>
      <vt:lpstr>JCF Sets</vt:lpstr>
      <vt:lpstr>A Closer Look at the TreeSet</vt:lpstr>
      <vt:lpstr>A Closer Look at the TreeSet</vt:lpstr>
      <vt:lpstr>TreeSet Practice</vt:lpstr>
      <vt:lpstr>More TreeSet Practice</vt:lpstr>
      <vt:lpstr>Java Maps (dictionary)</vt:lpstr>
      <vt:lpstr>A Closer Look at the TreeMap</vt:lpstr>
      <vt:lpstr>A Closer Look at the TreeMap</vt:lpstr>
      <vt:lpstr>TreeMap Practice</vt:lpstr>
      <vt:lpstr>Tree vs. Hash</vt:lpstr>
      <vt:lpstr>An Incomplete JCF Class Hierarchy</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22</cp:revision>
  <dcterms:modified xsi:type="dcterms:W3CDTF">2026-02-26T21:09:43Z</dcterms:modified>
</cp:coreProperties>
</file>