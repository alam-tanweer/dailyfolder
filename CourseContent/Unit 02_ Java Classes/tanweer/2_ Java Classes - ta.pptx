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9" r:id="rId1"/>
    <p:sldMasterId id="2147483690" r:id="rId2"/>
    <p:sldMasterId id="2147483691" r:id="rId3"/>
  </p:sldMasterIdLst>
  <p:notesMasterIdLst>
    <p:notesMasterId r:id="rId7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Lst>
  <p:sldSz cx="9144000" cy="5143500" type="screen16x9"/>
  <p:notesSz cx="6858000" cy="9144000"/>
  <p:embeddedFontLst>
    <p:embeddedFont>
      <p:font typeface="Consolas" panose="020B0609020204030204" pitchFamily="49" charset="0"/>
      <p:regular r:id="rId71"/>
      <p:bold r:id="rId72"/>
      <p:italic r:id="rId73"/>
      <p:boldItalic r:id="rId74"/>
    </p:embeddedFont>
    <p:embeddedFont>
      <p:font typeface="Merriweather" panose="00000500000000000000" pitchFamily="2" charset="0"/>
      <p:regular r:id="rId75"/>
      <p:bold r:id="rId76"/>
      <p:italic r:id="rId77"/>
      <p:boldItalic r:id="rId78"/>
    </p:embeddedFont>
    <p:embeddedFont>
      <p:font typeface="Roboto" panose="02000000000000000000" pitchFamily="2" charset="0"/>
      <p:regular r:id="rId79"/>
      <p:bold r:id="rId80"/>
      <p:italic r:id="rId81"/>
      <p:boldItalic r:id="rId82"/>
    </p:embeddedFont>
    <p:embeddedFont>
      <p:font typeface="Shadows Into Light" panose="020B0604020202020204" charset="0"/>
      <p:regular r:id="rId8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B0A160-8D32-47A0-BB77-B2D693EC1B64}">
  <a:tblStyle styleId="{DCB0A160-8D32-47A0-BB77-B2D693EC1B6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396" autoAdjust="0"/>
  </p:normalViewPr>
  <p:slideViewPr>
    <p:cSldViewPr snapToGrid="0">
      <p:cViewPr varScale="1">
        <p:scale>
          <a:sx n="116" d="100"/>
          <a:sy n="116" d="100"/>
        </p:scale>
        <p:origin x="114" y="84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presProps" Target="pres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4.fntdata"/><Relationship Id="rId79" Type="http://schemas.openxmlformats.org/officeDocument/2006/relationships/font" Target="fonts/font9.fntdata"/><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font" Target="fonts/font7.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2.fntdata"/><Relationship Id="rId80" Type="http://schemas.openxmlformats.org/officeDocument/2006/relationships/font" Target="fonts/font10.fntdata"/><Relationship Id="rId85"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notesMaster" Target="notesMasters/notesMaster1.xml"/><Relationship Id="rId75" Type="http://schemas.openxmlformats.org/officeDocument/2006/relationships/font" Target="fonts/font5.fntdata"/><Relationship Id="rId83"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font" Target="fonts/font3.fntdata"/><Relationship Id="rId78" Type="http://schemas.openxmlformats.org/officeDocument/2006/relationships/font" Target="fonts/font8.fntdata"/><Relationship Id="rId81" Type="http://schemas.openxmlformats.org/officeDocument/2006/relationships/font" Target="fonts/font11.fntdata"/><Relationship Id="rId86"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6.fntdata"/><Relationship Id="rId7" Type="http://schemas.openxmlformats.org/officeDocument/2006/relationships/slide" Target="slides/slide4.xml"/><Relationship Id="rId71" Type="http://schemas.openxmlformats.org/officeDocument/2006/relationships/font" Target="fonts/font1.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tableStyles" Target="tableStyles.xml"/><Relationship Id="rId61" Type="http://schemas.openxmlformats.org/officeDocument/2006/relationships/slide" Target="slides/slide58.xml"/><Relationship Id="rId82"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eb0c1e07d5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1eb0c1e07d5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7873e0b62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7873e0b62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Question – What does a class composed of</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State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Behavior</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c31bc1ac9f_0_8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c31bc1ac9f_0_8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Procedural program often have monolithic amount of code.</a:t>
            </a:r>
          </a:p>
          <a:p>
            <a:pPr marL="0" lvl="0" indent="0" algn="l" rtl="0">
              <a:spcBef>
                <a:spcPts val="0"/>
              </a:spcBef>
              <a:spcAft>
                <a:spcPts val="0"/>
              </a:spcAft>
              <a:buNone/>
            </a:pPr>
            <a:r>
              <a:rPr lang="en-US" dirty="0"/>
              <a:t>Separation of concern</a:t>
            </a:r>
          </a:p>
          <a:p>
            <a:pPr marL="0" lvl="0" indent="0" algn="l" rtl="0">
              <a:spcBef>
                <a:spcPts val="0"/>
              </a:spcBef>
              <a:spcAft>
                <a:spcPts val="0"/>
              </a:spcAft>
              <a:buNone/>
            </a:pPr>
            <a:r>
              <a:rPr lang="en-US" dirty="0"/>
              <a:t>	Each class handle one responsibility</a:t>
            </a:r>
          </a:p>
          <a:p>
            <a:pPr marL="0" lvl="0" indent="0" algn="l" rtl="0">
              <a:spcBef>
                <a:spcPts val="0"/>
              </a:spcBef>
              <a:spcAft>
                <a:spcPts val="0"/>
              </a:spcAft>
              <a:buNone/>
            </a:pPr>
            <a:r>
              <a:rPr lang="en-US" dirty="0"/>
              <a:t>	Give example of classroom.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What a class has</a:t>
            </a:r>
          </a:p>
          <a:p>
            <a:pPr marL="228600" lvl="0" indent="-228600" algn="l" rtl="0">
              <a:spcBef>
                <a:spcPts val="0"/>
              </a:spcBef>
              <a:spcAft>
                <a:spcPts val="0"/>
              </a:spcAft>
              <a:buAutoNum type="arabicPeriod"/>
            </a:pPr>
            <a:r>
              <a:rPr lang="en-US" dirty="0"/>
              <a:t>Attributes / Field</a:t>
            </a:r>
          </a:p>
          <a:p>
            <a:pPr marL="228600" lvl="0" indent="-228600" algn="l" rtl="0">
              <a:spcBef>
                <a:spcPts val="0"/>
              </a:spcBef>
              <a:spcAft>
                <a:spcPts val="0"/>
              </a:spcAft>
              <a:buAutoNum type="arabicPeriod"/>
            </a:pPr>
            <a:r>
              <a:rPr lang="en-US" dirty="0"/>
              <a:t>Action / method</a:t>
            </a:r>
          </a:p>
          <a:p>
            <a:pPr marL="228600" lvl="0" indent="-228600" algn="l" rtl="0">
              <a:spcBef>
                <a:spcPts val="0"/>
              </a:spcBef>
              <a:spcAft>
                <a:spcPts val="0"/>
              </a:spcAft>
              <a:buAutoNum type="arabicPeriod"/>
            </a:pPr>
            <a:endParaRPr lang="en-US" dirty="0"/>
          </a:p>
          <a:p>
            <a:pPr marL="228600" lvl="0" indent="-228600" algn="l" rtl="0">
              <a:spcBef>
                <a:spcPts val="0"/>
              </a:spcBef>
              <a:spcAft>
                <a:spcPts val="0"/>
              </a:spcAft>
              <a:buAutoNum type="arabicPeriod"/>
            </a:pPr>
            <a:endParaRPr lang="en-US" dirty="0"/>
          </a:p>
          <a:p>
            <a:pPr marL="0" lvl="0" indent="0" algn="l" rtl="0">
              <a:spcBef>
                <a:spcPts val="0"/>
              </a:spcBef>
              <a:spcAft>
                <a:spcPts val="0"/>
              </a:spcAft>
              <a:buNone/>
            </a:pPr>
            <a:r>
              <a:rPr lang="en-US" dirty="0"/>
              <a:t>OOO – Real world scenario</a:t>
            </a:r>
          </a:p>
          <a:p>
            <a:pPr marL="0" lvl="0" indent="0" algn="l" rtl="0">
              <a:spcBef>
                <a:spcPts val="0"/>
              </a:spcBef>
              <a:spcAft>
                <a:spcPts val="0"/>
              </a:spcAft>
              <a:buNone/>
            </a:pPr>
            <a:r>
              <a:rPr lang="en-US" dirty="0"/>
              <a:t>Classroom</a:t>
            </a:r>
          </a:p>
          <a:p>
            <a:pPr marL="171450" lvl="0" indent="-171450" algn="l" rtl="0">
              <a:spcBef>
                <a:spcPts val="0"/>
              </a:spcBef>
              <a:spcAft>
                <a:spcPts val="0"/>
              </a:spcAft>
              <a:buFontTx/>
              <a:buChar char="-"/>
            </a:pPr>
            <a:r>
              <a:rPr lang="en-US" dirty="0"/>
              <a:t>Professor – teaches</a:t>
            </a:r>
          </a:p>
          <a:p>
            <a:pPr marL="171450" lvl="0" indent="-171450" algn="l" rtl="0">
              <a:spcBef>
                <a:spcPts val="0"/>
              </a:spcBef>
              <a:spcAft>
                <a:spcPts val="0"/>
              </a:spcAft>
              <a:buFontTx/>
              <a:buChar char="-"/>
            </a:pPr>
            <a:r>
              <a:rPr lang="en-US" dirty="0"/>
              <a:t>TA – help with class </a:t>
            </a:r>
            <a:r>
              <a:rPr lang="en-US" dirty="0" err="1"/>
              <a:t>activites</a:t>
            </a:r>
            <a:endParaRPr lang="en-US" dirty="0"/>
          </a:p>
          <a:p>
            <a:pPr marL="171450" lvl="0" indent="-171450" algn="l" rtl="0">
              <a:spcBef>
                <a:spcPts val="0"/>
              </a:spcBef>
              <a:spcAft>
                <a:spcPts val="0"/>
              </a:spcAft>
              <a:buFontTx/>
              <a:buChar char="-"/>
            </a:pPr>
            <a:r>
              <a:rPr lang="en-US" dirty="0"/>
              <a:t>Students - enroll to class.</a:t>
            </a:r>
          </a:p>
          <a:p>
            <a:pPr marL="171450" lvl="0" indent="-171450" algn="l" rtl="0">
              <a:spcBef>
                <a:spcPts val="0"/>
              </a:spcBef>
              <a:spcAft>
                <a:spcPts val="0"/>
              </a:spcAft>
              <a:buFontTx/>
              <a:buChar char="-"/>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1c31bc1ac9f_0_8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1c31bc1ac9f_0_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2257798793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2257798793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2257798793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32257798793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Python, we can dynamically add variables.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Python, slots ensures that only certain variable with specific name can be added to class</a:t>
            </a:r>
          </a:p>
          <a:p>
            <a:pPr marL="0" lvl="0" indent="0" algn="l" rtl="0">
              <a:spcBef>
                <a:spcPts val="0"/>
              </a:spcBef>
              <a:spcAft>
                <a:spcPts val="0"/>
              </a:spcAft>
              <a:buNone/>
            </a:pPr>
            <a:r>
              <a:rPr lang="en-US" dirty="0"/>
              <a:t>But does not guarantee that specific variable will exists.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a9338e306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a9338e30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Class vs Object</a:t>
            </a:r>
          </a:p>
          <a:p>
            <a:pPr marL="0" lvl="0" indent="0" algn="l" rtl="0">
              <a:spcBef>
                <a:spcPts val="0"/>
              </a:spcBef>
              <a:spcAft>
                <a:spcPts val="0"/>
              </a:spcAft>
              <a:buNone/>
            </a:pPr>
            <a:r>
              <a:rPr lang="en-US" dirty="0"/>
              <a:t>Talk about different state by using Car example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Python </a:t>
            </a:r>
          </a:p>
          <a:p>
            <a:pPr marL="0" lvl="0" indent="0" algn="l" rtl="0">
              <a:spcBef>
                <a:spcPts val="0"/>
              </a:spcBef>
              <a:spcAft>
                <a:spcPts val="0"/>
              </a:spcAft>
              <a:buNone/>
            </a:pPr>
            <a:r>
              <a:rPr lang="en-US" dirty="0"/>
              <a:t>Constructor – </a:t>
            </a:r>
          </a:p>
          <a:p>
            <a:pPr marL="0" lvl="0" indent="0" algn="l" rtl="0">
              <a:spcBef>
                <a:spcPts val="0"/>
              </a:spcBef>
              <a:spcAft>
                <a:spcPts val="0"/>
              </a:spcAft>
              <a:buNone/>
            </a:pPr>
            <a:r>
              <a:rPr lang="en-US" dirty="0"/>
              <a:t> def __</a:t>
            </a:r>
            <a:r>
              <a:rPr lang="en-US" dirty="0" err="1"/>
              <a:t>init</a:t>
            </a:r>
            <a:r>
              <a:rPr lang="en-US" dirty="0"/>
              <a:t>__(self, name, age):</a:t>
            </a:r>
          </a:p>
          <a:p>
            <a:pPr marL="0" lvl="0" indent="0" algn="l" rtl="0">
              <a:spcBef>
                <a:spcPts val="0"/>
              </a:spcBef>
              <a:spcAft>
                <a:spcPts val="0"/>
              </a:spcAft>
              <a:buNone/>
            </a:pPr>
            <a:r>
              <a:rPr lang="en-US" dirty="0"/>
              <a:t>        self.name = name</a:t>
            </a:r>
          </a:p>
          <a:p>
            <a:pPr marL="0" lvl="0" indent="0" algn="l" rtl="0">
              <a:spcBef>
                <a:spcPts val="0"/>
              </a:spcBef>
              <a:spcAft>
                <a:spcPts val="0"/>
              </a:spcAft>
              <a:buNone/>
            </a:pPr>
            <a:r>
              <a:rPr lang="en-US" dirty="0"/>
              <a:t>        </a:t>
            </a:r>
            <a:r>
              <a:rPr lang="en-US" dirty="0" err="1"/>
              <a:t>self.age</a:t>
            </a:r>
            <a:r>
              <a:rPr lang="en-US" dirty="0"/>
              <a:t> = age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1c31bc1ac9f_0_8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1c31bc1ac9f_0_8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Value will be null - 0</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1c31bc1ac9f_0_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1c31bc1ac9f_0_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the java API, show the different packages and the purpose of grouping.</a:t>
            </a:r>
          </a:p>
          <a:p>
            <a:pPr marL="0" lvl="0" indent="0" algn="l" rtl="0">
              <a:spcBef>
                <a:spcPts val="0"/>
              </a:spcBef>
              <a:spcAft>
                <a:spcPts val="0"/>
              </a:spcAft>
              <a:buNone/>
            </a:pPr>
            <a:r>
              <a:rPr lang="en-US" dirty="0"/>
              <a:t>For example, io , net etc.</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err="1"/>
              <a:t>java.util.scanner</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Talk a bit of naming convention</a:t>
            </a:r>
          </a:p>
          <a:p>
            <a:pPr marL="0" lvl="0" indent="0" algn="l" rtl="0">
              <a:spcBef>
                <a:spcPts val="0"/>
              </a:spcBef>
              <a:spcAft>
                <a:spcPts val="0"/>
              </a:spcAft>
              <a:buNone/>
            </a:pPr>
            <a:r>
              <a:rPr lang="en-US" dirty="0"/>
              <a:t>Edu.rit.hr</a:t>
            </a:r>
          </a:p>
          <a:p>
            <a:pPr marL="0" lvl="0" indent="0" algn="l" rtl="0">
              <a:spcBef>
                <a:spcPts val="0"/>
              </a:spcBef>
              <a:spcAft>
                <a:spcPts val="0"/>
              </a:spcAft>
              <a:buNone/>
            </a:pPr>
            <a:r>
              <a:rPr lang="en-US" dirty="0" err="1"/>
              <a:t>Edu.rit.gol</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a9338e306d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a9338e306d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1c31bc1ac9f_0_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1c31bc1ac9f_0_9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9338e306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9338e306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Python </a:t>
            </a:r>
            <a:r>
              <a:rPr lang="en-US" dirty="0">
                <a:sym typeface="Wingdings" panose="05000000000000000000" pitchFamily="2" charset="2"/>
              </a:rPr>
              <a:t> __</a:t>
            </a:r>
            <a:r>
              <a:rPr lang="en-US" dirty="0" err="1">
                <a:sym typeface="Wingdings" panose="05000000000000000000" pitchFamily="2" charset="2"/>
              </a:rPr>
              <a:t>init</a:t>
            </a:r>
            <a:r>
              <a:rPr lang="en-US" dirty="0">
                <a:sym typeface="Wingdings" panose="05000000000000000000" pitchFamily="2" charset="2"/>
              </a:rPr>
              <a:t>__</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1c31bc1ac9f_0_8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1c31bc1ac9f_0_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Python</a:t>
            </a:r>
          </a:p>
          <a:p>
            <a:pPr marL="0" lvl="0" indent="0" algn="l" rtl="0">
              <a:spcBef>
                <a:spcPts val="0"/>
              </a:spcBef>
              <a:spcAft>
                <a:spcPts val="0"/>
              </a:spcAft>
              <a:buNone/>
            </a:pPr>
            <a:r>
              <a:rPr lang="en-US" dirty="0"/>
              <a:t>__</a:t>
            </a:r>
            <a:r>
              <a:rPr lang="en-US" dirty="0" err="1"/>
              <a:t>init</a:t>
            </a:r>
            <a:r>
              <a:rPr lang="en-US" dirty="0"/>
              <a:t>__</a:t>
            </a:r>
          </a:p>
          <a:p>
            <a:pPr marL="0" lvl="0" indent="0" algn="l" rtl="0">
              <a:spcBef>
                <a:spcPts val="0"/>
              </a:spcBef>
              <a:spcAft>
                <a:spcPts val="0"/>
              </a:spcAft>
              <a:buNone/>
            </a:pPr>
            <a:r>
              <a:rPr lang="en-US" dirty="0"/>
              <a:t>You need to add a variable to self to make it available. </a:t>
            </a:r>
            <a:r>
              <a:rPr lang="en-US" dirty="0">
                <a:sym typeface="Wingdings" panose="05000000000000000000" pitchFamily="2" charset="2"/>
              </a:rPr>
              <a:t> self.name = </a:t>
            </a:r>
            <a:r>
              <a:rPr lang="en-US" dirty="0" err="1">
                <a:sym typeface="Wingdings" panose="05000000000000000000" pitchFamily="2" charset="2"/>
              </a:rPr>
              <a:t>abc</a:t>
            </a: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In java you can’t dynamically add value to class. must be declared as part of class.</a:t>
            </a: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First do setup variable in default</a:t>
            </a:r>
          </a:p>
          <a:p>
            <a:pPr marL="0" lvl="0" indent="0" algn="l" rtl="0">
              <a:spcBef>
                <a:spcPts val="0"/>
              </a:spcBef>
              <a:spcAft>
                <a:spcPts val="0"/>
              </a:spcAft>
              <a:buNone/>
            </a:pPr>
            <a:r>
              <a:rPr lang="en-US" dirty="0">
                <a:sym typeface="Wingdings" panose="05000000000000000000" pitchFamily="2" charset="2"/>
              </a:rPr>
              <a:t>They custom constructor.</a:t>
            </a: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Try to avoid code where two variable could have potentially same name</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1eb0c1e07d5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1eb0c1e07d5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c4ce59d66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1c4ce59d66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You can’t use</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1c31bc1ac9f_0_8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1c31bc1ac9f_0_8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a9338e306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a9338e306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Short answer:</a:t>
            </a:r>
            <a:r>
              <a:rPr lang="en-US" dirty="0"/>
              <a:t> ❌ </a:t>
            </a:r>
            <a:r>
              <a:rPr lang="en-US" b="1" dirty="0"/>
              <a:t>No — Java does NOT support default parameter values</a:t>
            </a:r>
            <a:r>
              <a:rPr lang="en-US" dirty="0"/>
              <a:t> like Python or JavaScript.</a:t>
            </a:r>
          </a:p>
          <a:p>
            <a:pPr rtl="0"/>
            <a:r>
              <a:rPr lang="en-US" sz="1100" b="0" i="0" u="none" strike="noStrike" cap="none" dirty="0">
                <a:solidFill>
                  <a:srgbClr val="000000"/>
                </a:solidFill>
                <a:latin typeface="Arial"/>
                <a:ea typeface="Arial"/>
                <a:cs typeface="Arial"/>
                <a:sym typeface="Arial"/>
              </a:rPr>
              <a:t>void log(String msg, int level = 1) // ❌ NOT allowed in Java</a:t>
            </a:r>
          </a:p>
          <a:p>
            <a:r>
              <a:rPr lang="en-US" dirty="0"/>
              <a:t>But Java has </a:t>
            </a:r>
            <a:r>
              <a:rPr lang="en-US" b="1" dirty="0"/>
              <a:t>clean, standard workarounds</a:t>
            </a:r>
            <a:r>
              <a:rPr lang="en-US" dirty="0"/>
              <a:t> that are widely used and interview-safe.</a:t>
            </a:r>
          </a:p>
          <a:p>
            <a:endParaRPr lang="en-US" dirty="0"/>
          </a:p>
          <a:p>
            <a:r>
              <a:rPr lang="en-US" dirty="0"/>
              <a:t>❌ </a:t>
            </a:r>
            <a:r>
              <a:rPr lang="en-US" b="1" dirty="0"/>
              <a:t>No — Java cannot have two methods with the same name and same parameter list that differ only by return type.</a:t>
            </a:r>
            <a:endParaRPr lang="en-US" dirty="0"/>
          </a:p>
          <a:p>
            <a:r>
              <a:rPr lang="en-US" dirty="0"/>
              <a:t>This is </a:t>
            </a:r>
            <a:r>
              <a:rPr lang="en-US" b="1" dirty="0"/>
              <a:t>not allowed</a:t>
            </a:r>
            <a:r>
              <a:rPr lang="en-US" dirty="0"/>
              <a:t> by the Java language specification.</a:t>
            </a:r>
          </a:p>
          <a:p>
            <a:endParaRPr lang="en-US" dirty="0"/>
          </a:p>
          <a:p>
            <a:r>
              <a:rPr lang="en-US" b="1" dirty="0"/>
              <a:t>What </a:t>
            </a:r>
            <a:r>
              <a:rPr lang="en-US" b="1" i="1" dirty="0"/>
              <a:t>is</a:t>
            </a:r>
            <a:r>
              <a:rPr lang="en-US" b="1" dirty="0"/>
              <a:t> Method Overloading in Java?</a:t>
            </a:r>
          </a:p>
          <a:p>
            <a:r>
              <a:rPr lang="en-US" dirty="0"/>
              <a:t>Method overloading means:</a:t>
            </a:r>
          </a:p>
          <a:p>
            <a:r>
              <a:rPr lang="en-US" b="1" dirty="0"/>
              <a:t>Same method name</a:t>
            </a:r>
            <a:endParaRPr lang="en-US" dirty="0"/>
          </a:p>
          <a:p>
            <a:r>
              <a:rPr lang="en-US" b="1" dirty="0"/>
              <a:t>Different parameter list</a:t>
            </a:r>
            <a:r>
              <a:rPr lang="en-US" dirty="0"/>
              <a:t> (number, type, or order)</a:t>
            </a:r>
          </a:p>
          <a:p>
            <a:r>
              <a:rPr lang="en-US" dirty="0"/>
              <a:t>Return type </a:t>
            </a:r>
            <a:r>
              <a:rPr lang="en-US" b="1" dirty="0"/>
              <a:t>does NOT matter</a:t>
            </a:r>
            <a:r>
              <a:rPr lang="en-US" dirty="0"/>
              <a:t> for overloading.</a:t>
            </a:r>
          </a:p>
          <a:p>
            <a:endParaRPr lang="en-US" dirty="0"/>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1c4ce59d66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1c4ce59d66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What happens when you print the other attributes of the new ship?</a:t>
            </a:r>
            <a:endParaRPr lang="en-US" sz="1100" dirty="0">
              <a:latin typeface="Courier New"/>
              <a:ea typeface="Courier New"/>
              <a:cs typeface="Courier New"/>
              <a:sym typeface="Courier New"/>
            </a:endParaRPr>
          </a:p>
          <a:p>
            <a:pPr marL="0" lvl="0" indent="0" algn="l" rtl="0">
              <a:spcBef>
                <a:spcPts val="0"/>
              </a:spcBef>
              <a:spcAft>
                <a:spcPts val="0"/>
              </a:spcAft>
              <a:buNone/>
            </a:pPr>
            <a:r>
              <a:rPr lang="en-US" dirty="0"/>
              <a:t>They get default values.</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a9338e306d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a9338e306d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Encapsulation</a:t>
            </a:r>
          </a:p>
          <a:p>
            <a:pPr marL="171450" lvl="0" indent="-171450" algn="l" rtl="0">
              <a:spcBef>
                <a:spcPts val="0"/>
              </a:spcBef>
              <a:spcAft>
                <a:spcPts val="0"/>
              </a:spcAft>
              <a:buFontTx/>
              <a:buChar char="-"/>
            </a:pPr>
            <a:r>
              <a:rPr lang="en-US" dirty="0"/>
              <a:t>Information hiding – adding field and method to class</a:t>
            </a:r>
          </a:p>
          <a:p>
            <a:pPr marL="171450" lvl="0" indent="-171450" algn="l" rtl="0">
              <a:spcBef>
                <a:spcPts val="0"/>
              </a:spcBef>
              <a:spcAft>
                <a:spcPts val="0"/>
              </a:spcAft>
              <a:buFontTx/>
              <a:buChar char="-"/>
            </a:pPr>
            <a:r>
              <a:rPr lang="en-US" dirty="0"/>
              <a:t>Each car, running, starting, stopped </a:t>
            </a:r>
            <a:r>
              <a:rPr lang="en-US" dirty="0">
                <a:sym typeface="Wingdings" panose="05000000000000000000" pitchFamily="2" charset="2"/>
              </a:rPr>
              <a:t> basically defined by field values</a:t>
            </a:r>
          </a:p>
          <a:p>
            <a:pPr marL="171450" lvl="0" indent="-171450" algn="l" rtl="0">
              <a:spcBef>
                <a:spcPts val="0"/>
              </a:spcBef>
              <a:spcAft>
                <a:spcPts val="0"/>
              </a:spcAft>
              <a:buFontTx/>
              <a:buChar char="-"/>
            </a:pPr>
            <a:r>
              <a:rPr lang="en-US" dirty="0">
                <a:sym typeface="Wingdings" panose="05000000000000000000" pitchFamily="2" charset="2"/>
              </a:rPr>
              <a:t>Each car is different. Action of one car does not affect other car</a:t>
            </a:r>
          </a:p>
          <a:p>
            <a:pPr marL="171450" lvl="0" indent="-171450" algn="l" rtl="0">
              <a:spcBef>
                <a:spcPts val="0"/>
              </a:spcBef>
              <a:spcAft>
                <a:spcPts val="0"/>
              </a:spcAft>
              <a:buFontTx/>
              <a:buChar char="-"/>
            </a:pPr>
            <a:endParaRPr lang="en-US" dirty="0">
              <a:sym typeface="Wingdings" panose="05000000000000000000" pitchFamily="2" charset="2"/>
            </a:endParaRPr>
          </a:p>
          <a:p>
            <a:pPr marL="171450" lvl="0" indent="-171450" algn="l" rtl="0">
              <a:spcBef>
                <a:spcPts val="0"/>
              </a:spcBef>
              <a:spcAft>
                <a:spcPts val="0"/>
              </a:spcAft>
              <a:buFontTx/>
              <a:buChar char="-"/>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a9338e306d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a9338e306d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Access modifier at class level</a:t>
            </a:r>
          </a:p>
          <a:p>
            <a:r>
              <a:rPr lang="en-US" sz="1100" b="0" i="0" u="none" strike="noStrike" cap="none" dirty="0">
                <a:solidFill>
                  <a:srgbClr val="000000"/>
                </a:solidFill>
                <a:latin typeface="Arial"/>
                <a:ea typeface="Arial"/>
                <a:cs typeface="Arial"/>
                <a:sym typeface="Arial"/>
              </a:rPr>
              <a:t>public</a:t>
            </a:r>
            <a:r>
              <a:rPr lang="en-US" dirty="0"/>
              <a:t>✅ </a:t>
            </a:r>
            <a:r>
              <a:rPr lang="en-US" dirty="0" err="1"/>
              <a:t>YesAccessible</a:t>
            </a:r>
            <a:r>
              <a:rPr lang="en-US" dirty="0"/>
              <a:t> from </a:t>
            </a:r>
            <a:r>
              <a:rPr lang="en-US" b="1" dirty="0"/>
              <a:t>any package</a:t>
            </a:r>
            <a:endParaRPr lang="en-US" dirty="0"/>
          </a:p>
          <a:p>
            <a:r>
              <a:rPr lang="en-US" sz="1100" b="0" i="0" u="none" strike="noStrike" cap="none" dirty="0">
                <a:solidFill>
                  <a:srgbClr val="000000"/>
                </a:solidFill>
                <a:latin typeface="Arial"/>
                <a:ea typeface="Arial"/>
                <a:cs typeface="Arial"/>
                <a:sym typeface="Arial"/>
              </a:rPr>
              <a:t>protected</a:t>
            </a:r>
            <a:r>
              <a:rPr lang="en-US" dirty="0"/>
              <a:t>❌ </a:t>
            </a:r>
            <a:r>
              <a:rPr lang="en-US" dirty="0" err="1"/>
              <a:t>No</a:t>
            </a:r>
            <a:r>
              <a:rPr lang="en-US" b="1" dirty="0" err="1"/>
              <a:t>Not</a:t>
            </a:r>
            <a:r>
              <a:rPr lang="en-US" b="1" dirty="0"/>
              <a:t> allowed</a:t>
            </a:r>
            <a:r>
              <a:rPr lang="en-US" dirty="0"/>
              <a:t> for top-level classes</a:t>
            </a:r>
          </a:p>
          <a:p>
            <a:r>
              <a:rPr lang="en-US" sz="1100" b="0" i="0" u="none" strike="noStrike" cap="none" dirty="0">
                <a:solidFill>
                  <a:srgbClr val="000000"/>
                </a:solidFill>
                <a:latin typeface="Arial"/>
                <a:ea typeface="Arial"/>
                <a:cs typeface="Arial"/>
                <a:sym typeface="Arial"/>
              </a:rPr>
              <a:t>private</a:t>
            </a:r>
            <a:r>
              <a:rPr lang="en-US" dirty="0"/>
              <a:t>❌ </a:t>
            </a:r>
            <a:r>
              <a:rPr lang="en-US" dirty="0" err="1"/>
              <a:t>No</a:t>
            </a:r>
            <a:r>
              <a:rPr lang="en-US" b="1" dirty="0" err="1"/>
              <a:t>Not</a:t>
            </a:r>
            <a:r>
              <a:rPr lang="en-US" b="1" dirty="0"/>
              <a:t> allowed</a:t>
            </a:r>
            <a:r>
              <a:rPr lang="en-US" dirty="0"/>
              <a:t> for top-level classes</a:t>
            </a:r>
          </a:p>
          <a:p>
            <a:r>
              <a:rPr lang="en-US" i="1" dirty="0"/>
              <a:t>no specifier</a:t>
            </a:r>
            <a:r>
              <a:rPr lang="en-US" dirty="0"/>
              <a:t> (default)✅ </a:t>
            </a:r>
            <a:r>
              <a:rPr lang="en-US" dirty="0" err="1"/>
              <a:t>YesAccessible</a:t>
            </a:r>
            <a:r>
              <a:rPr lang="en-US" dirty="0"/>
              <a:t> </a:t>
            </a:r>
            <a:r>
              <a:rPr lang="en-US" b="1" dirty="0"/>
              <a:t>only within same package</a:t>
            </a:r>
            <a:endParaRPr lang="en-US" dirty="0"/>
          </a:p>
          <a:p>
            <a:pPr marL="0" lvl="0" indent="0" algn="l" rtl="0">
              <a:spcBef>
                <a:spcPts val="0"/>
              </a:spcBef>
              <a:spcAft>
                <a:spcPts val="0"/>
              </a:spcAft>
              <a:buNone/>
            </a:pPr>
            <a:endParaRPr lang="en-US" dirty="0"/>
          </a:p>
          <a:p>
            <a:r>
              <a:rPr lang="en-US" b="1" dirty="0"/>
              <a:t>Java does not allow</a:t>
            </a:r>
            <a:r>
              <a:rPr lang="en-US" dirty="0"/>
              <a:t> </a:t>
            </a:r>
            <a:r>
              <a:rPr lang="en-US" sz="1100" b="0" i="0" u="none" strike="noStrike" cap="none" dirty="0">
                <a:solidFill>
                  <a:srgbClr val="000000"/>
                </a:solidFill>
                <a:latin typeface="Arial"/>
                <a:ea typeface="Arial"/>
                <a:cs typeface="Arial"/>
                <a:sym typeface="Arial"/>
              </a:rPr>
              <a:t>private</a:t>
            </a:r>
            <a:r>
              <a:rPr lang="en-US" dirty="0"/>
              <a:t> or </a:t>
            </a:r>
            <a:r>
              <a:rPr lang="en-US" sz="1100" b="0" i="0" u="none" strike="noStrike" cap="none" dirty="0">
                <a:solidFill>
                  <a:srgbClr val="000000"/>
                </a:solidFill>
                <a:latin typeface="Arial"/>
                <a:ea typeface="Arial"/>
                <a:cs typeface="Arial"/>
                <a:sym typeface="Arial"/>
              </a:rPr>
              <a:t>protected</a:t>
            </a:r>
            <a:r>
              <a:rPr lang="en-US" dirty="0"/>
              <a:t> on </a:t>
            </a:r>
            <a:r>
              <a:rPr lang="en-US" b="1" dirty="0"/>
              <a:t>top-level classes</a:t>
            </a:r>
            <a:endParaRPr lang="en-US" dirty="0"/>
          </a:p>
          <a:p>
            <a:r>
              <a:rPr lang="en-US" dirty="0"/>
              <a:t>Reason:</a:t>
            </a:r>
          </a:p>
          <a:p>
            <a:r>
              <a:rPr lang="en-US" dirty="0"/>
              <a:t>A top-level class must be visible at least to its own package.</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c4ce59d66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c4ce59d66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StarWarsBattle</a:t>
            </a:r>
            <a:r>
              <a:rPr lang="en-US" dirty="0"/>
              <a:t> class is printing the variables. Variables are private now. </a:t>
            </a:r>
          </a:p>
          <a:p>
            <a:pPr marL="0" lvl="0" indent="0" algn="l" rtl="0">
              <a:spcBef>
                <a:spcPts val="0"/>
              </a:spcBef>
              <a:spcAft>
                <a:spcPts val="0"/>
              </a:spcAft>
              <a:buNone/>
            </a:pPr>
            <a:r>
              <a:rPr lang="en-US" dirty="0"/>
              <a:t>We will need to handle it through getter and setter method.</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a9338e306d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a9338e306d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Accessor and mutator concept is same as python</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1c4ce59d667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1c4ce59d667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Don’t need mutator for Weapons. Once set, you should have to set it again.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Same for ship.</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1c4ce59d667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1c4ce59d667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Using hard coding of values are risk. For example, damage type passed as argument would be risky if there is spelling mistake.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Enumeration feature in java allows you define set of values, and reduces the risk to error.</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1c4ce59d667_0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1c4ce59d667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Here just add</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1c4ce59d667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1c4ce59d667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err="1">
                <a:solidFill>
                  <a:srgbClr val="000000"/>
                </a:solidFill>
                <a:effectLst/>
                <a:latin typeface="Arial"/>
                <a:ea typeface="Arial"/>
                <a:cs typeface="Arial"/>
                <a:sym typeface="Arial"/>
              </a:rPr>
              <a:t>DamageType</a:t>
            </a:r>
            <a:r>
              <a:rPr lang="en-US" sz="1100" b="0" i="0" u="none" strike="noStrike" cap="none" dirty="0">
                <a:solidFill>
                  <a:srgbClr val="000000"/>
                </a:solidFill>
                <a:effectLst/>
                <a:latin typeface="Arial"/>
                <a:ea typeface="Arial"/>
                <a:cs typeface="Arial"/>
                <a:sym typeface="Arial"/>
              </a:rPr>
              <a:t> dd = new </a:t>
            </a:r>
            <a:r>
              <a:rPr lang="en-US" sz="1100" b="0" i="0" u="none" strike="noStrike" cap="none" dirty="0" err="1">
                <a:solidFill>
                  <a:srgbClr val="000000"/>
                </a:solidFill>
                <a:effectLst/>
                <a:latin typeface="Arial"/>
                <a:ea typeface="Arial"/>
                <a:cs typeface="Arial"/>
                <a:sym typeface="Arial"/>
              </a:rPr>
              <a:t>DamageType</a:t>
            </a:r>
            <a:r>
              <a:rPr lang="en-US" sz="1100" b="0" i="0" u="none" strike="noStrike" cap="none" dirty="0">
                <a:solidFill>
                  <a:srgbClr val="000000"/>
                </a:solidFill>
                <a:effectLst/>
                <a:latin typeface="Arial"/>
                <a:ea typeface="Arial"/>
                <a:cs typeface="Arial"/>
                <a:sym typeface="Arial"/>
              </a:rPr>
              <a:t>();</a:t>
            </a:r>
          </a:p>
          <a:p>
            <a:pPr marL="0" lvl="0" indent="0" algn="l" rtl="0">
              <a:spcBef>
                <a:spcPts val="0"/>
              </a:spcBef>
              <a:spcAft>
                <a:spcPts val="0"/>
              </a:spcAft>
              <a:buNone/>
            </a:pPr>
            <a:r>
              <a:rPr lang="en-US" dirty="0"/>
              <a:t>Will result in Error. It is private.</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1c4ce59d667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1c4ce59d667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1c4ce59d667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1c4ce59d667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Constructor is private. No need to initialize from outside.</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1c4ce59d667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1c4ce59d667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1c31bc1ac9f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1c31bc1ac9f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def __str__(self):</a:t>
            </a:r>
          </a:p>
          <a:p>
            <a:pPr marL="0" lvl="0" indent="0" algn="l" rtl="0">
              <a:spcBef>
                <a:spcPts val="0"/>
              </a:spcBef>
              <a:spcAft>
                <a:spcPts val="0"/>
              </a:spcAft>
              <a:buNone/>
            </a:pPr>
            <a:r>
              <a:rPr lang="en-US" dirty="0"/>
              <a:t>        return </a:t>
            </a:r>
            <a:r>
              <a:rPr lang="en-US" dirty="0" err="1"/>
              <a:t>f"Person</a:t>
            </a:r>
            <a:r>
              <a:rPr lang="en-US" dirty="0"/>
              <a:t>(name={self.name}, age={</a:t>
            </a:r>
            <a:r>
              <a:rPr lang="en-US" dirty="0" err="1"/>
              <a:t>self.age</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Even though you don’t have to add annotation, it is helpful as java will check that you are actually using </a:t>
            </a:r>
          </a:p>
          <a:p>
            <a:pPr marL="0" lvl="0" indent="0" algn="l" rtl="0">
              <a:spcBef>
                <a:spcPts val="0"/>
              </a:spcBef>
              <a:spcAft>
                <a:spcPts val="0"/>
              </a:spcAft>
              <a:buNone/>
            </a:pPr>
            <a:r>
              <a:rPr lang="en-US" dirty="0"/>
              <a:t>The correct method signature.</a:t>
            </a: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1c4ce59d667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1c4ce59d667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1c31bc1ac9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1c31bc1ac9f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def __eq__(self, other):</a:t>
            </a:r>
          </a:p>
          <a:p>
            <a:pPr marL="0" lvl="0" indent="0" algn="l" rtl="0">
              <a:spcBef>
                <a:spcPts val="0"/>
              </a:spcBef>
              <a:spcAft>
                <a:spcPts val="0"/>
              </a:spcAft>
              <a:buNone/>
            </a:pPr>
            <a:r>
              <a:rPr lang="en-US" dirty="0"/>
              <a:t>    ...</a:t>
            </a: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1c4ce59d667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1c4ce59d667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1c4ce59d667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1c4ce59d667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1c4ce59d667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1c4ce59d667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2d75d6e606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2d75d6e606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1c31bc1ac9f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1c31bc1ac9f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Operator overloading</a:t>
            </a:r>
          </a:p>
          <a:p>
            <a:pPr marL="0" lvl="0" indent="0" algn="l" rtl="0">
              <a:spcBef>
                <a:spcPts val="0"/>
              </a:spcBef>
              <a:spcAft>
                <a:spcPts val="0"/>
              </a:spcAft>
              <a:buNone/>
            </a:pPr>
            <a:r>
              <a:rPr lang="en-US" dirty="0"/>
              <a:t>+ </a:t>
            </a:r>
            <a:r>
              <a:rPr lang="en-US" dirty="0">
                <a:sym typeface="Wingdings" panose="05000000000000000000" pitchFamily="2" charset="2"/>
              </a:rPr>
              <a:t> Add and string </a:t>
            </a:r>
            <a:r>
              <a:rPr lang="en-US" dirty="0" err="1">
                <a:sym typeface="Wingdings" panose="05000000000000000000" pitchFamily="2" charset="2"/>
              </a:rPr>
              <a:t>concat</a:t>
            </a:r>
            <a:endParaRPr lang="en-US" dirty="0">
              <a:sym typeface="Wingdings" panose="05000000000000000000" pitchFamily="2" charset="2"/>
            </a:endParaRP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Python used </a:t>
            </a:r>
            <a:r>
              <a:rPr lang="en-US" dirty="0" err="1">
                <a:sym typeface="Wingdings" panose="05000000000000000000" pitchFamily="2" charset="2"/>
              </a:rPr>
              <a:t>lt</a:t>
            </a:r>
            <a:r>
              <a:rPr lang="en-US" dirty="0">
                <a:sym typeface="Wingdings" panose="05000000000000000000" pitchFamily="2" charset="2"/>
              </a:rPr>
              <a:t>, </a:t>
            </a:r>
            <a:r>
              <a:rPr lang="en-US" dirty="0" err="1">
                <a:sym typeface="Wingdings" panose="05000000000000000000" pitchFamily="2" charset="2"/>
              </a:rPr>
              <a:t>gt</a:t>
            </a:r>
            <a:r>
              <a:rPr lang="en-US" dirty="0">
                <a:sym typeface="Wingdings" panose="05000000000000000000" pitchFamily="2" charset="2"/>
              </a:rPr>
              <a:t> for sorting in a data structure.</a:t>
            </a:r>
          </a:p>
          <a:p>
            <a:pPr marL="0" lvl="0" indent="0" algn="l" rtl="0">
              <a:spcBef>
                <a:spcPts val="0"/>
              </a:spcBef>
              <a:spcAft>
                <a:spcPts val="0"/>
              </a:spcAft>
              <a:buNone/>
            </a:pPr>
            <a:r>
              <a:rPr lang="en-US" dirty="0">
                <a:sym typeface="Wingdings" panose="05000000000000000000" pitchFamily="2" charset="2"/>
              </a:rPr>
              <a:t>Java handles using something called comparator, which we will discuss later.</a:t>
            </a: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r>
              <a:rPr lang="en-US" dirty="0">
                <a:sym typeface="Wingdings" panose="05000000000000000000" pitchFamily="2" charset="2"/>
              </a:rPr>
              <a:t>__hash__  </a:t>
            </a:r>
            <a:r>
              <a:rPr lang="en-US" dirty="0" err="1">
                <a:sym typeface="Wingdings" panose="05000000000000000000" pitchFamily="2" charset="2"/>
              </a:rPr>
              <a:t>hashCode</a:t>
            </a:r>
            <a:r>
              <a:rPr lang="en-US" dirty="0">
                <a:sym typeface="Wingdings" panose="05000000000000000000" pitchFamily="2" charset="2"/>
              </a:rPr>
              <a:t>()</a:t>
            </a: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endParaRPr lang="en-US" dirty="0">
              <a:sym typeface="Wingdings" panose="05000000000000000000" pitchFamily="2" charset="2"/>
            </a:endParaRPr>
          </a:p>
          <a:p>
            <a:pPr marL="0" lvl="0" indent="0" algn="l" rtl="0">
              <a:spcBef>
                <a:spcPts val="0"/>
              </a:spcBef>
              <a:spcAft>
                <a:spcPts val="0"/>
              </a:spcAft>
              <a:buNone/>
            </a:pP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1e9bfb79fd1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1e9bfb79fd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1e9bfb79fd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4" name="Google Shape;714;g1e9bfb79fd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3"/>
        <p:cNvGrpSpPr/>
        <p:nvPr/>
      </p:nvGrpSpPr>
      <p:grpSpPr>
        <a:xfrm>
          <a:off x="0" y="0"/>
          <a:ext cx="0" cy="0"/>
          <a:chOff x="0" y="0"/>
          <a:chExt cx="0" cy="0"/>
        </a:xfrm>
      </p:grpSpPr>
      <p:sp>
        <p:nvSpPr>
          <p:cNvPr id="724" name="Google Shape;724;g1c31bc1ac9f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5" name="Google Shape;725;g1c31bc1ac9f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Create a static variables </a:t>
            </a:r>
            <a:r>
              <a:rPr lang="en-US" dirty="0" err="1"/>
              <a:t>IsAlive</a:t>
            </a:r>
            <a:r>
              <a:rPr lang="en-US" dirty="0"/>
              <a:t> and set on one. All of them die.</a:t>
            </a:r>
          </a:p>
          <a:p>
            <a:pPr marL="0" lvl="0" indent="0" algn="l" rtl="0">
              <a:spcBef>
                <a:spcPts val="0"/>
              </a:spcBef>
              <a:spcAft>
                <a:spcPts val="0"/>
              </a:spcAft>
              <a:buNone/>
            </a:pPr>
            <a:r>
              <a:rPr lang="en-US" dirty="0"/>
              <a:t>Show static method can’t access instance/non static method.</a:t>
            </a:r>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1c31bc1ac9f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 name="Google Shape;742;g1c31bc1ac9f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a:t>
            </a:r>
            <a:r>
              <a:rPr lang="en-US" b="1" dirty="0"/>
              <a:t>Yes, for a true constant in Java you should use </a:t>
            </a:r>
            <a:r>
              <a:rPr lang="en-US" sz="1100" b="1" i="0" u="none" strike="noStrike" cap="none" dirty="0">
                <a:solidFill>
                  <a:srgbClr val="000000"/>
                </a:solidFill>
                <a:latin typeface="Arial"/>
                <a:ea typeface="Arial"/>
                <a:cs typeface="Arial"/>
                <a:sym typeface="Arial"/>
              </a:rPr>
              <a:t>static final</a:t>
            </a:r>
            <a:r>
              <a:rPr lang="en-US" b="1" dirty="0"/>
              <a:t> together.</a:t>
            </a:r>
            <a:endParaRPr lang="en-US" dirty="0"/>
          </a:p>
          <a:p>
            <a:r>
              <a:rPr lang="en-US" dirty="0"/>
              <a:t>But </a:t>
            </a:r>
            <a:r>
              <a:rPr lang="en-US" b="1" dirty="0"/>
              <a:t>why both are needed</a:t>
            </a:r>
            <a:r>
              <a:rPr lang="en-US" dirty="0"/>
              <a:t> is the key part (and a common interview question).</a:t>
            </a:r>
          </a:p>
          <a:p>
            <a:pPr marL="0" lvl="0" indent="0" algn="l" rtl="0">
              <a:spcBef>
                <a:spcPts val="0"/>
              </a:spcBef>
              <a:spcAft>
                <a:spcPts val="0"/>
              </a:spcAft>
              <a:buNone/>
            </a:pPr>
            <a:endParaRPr lang="en-US" dirty="0"/>
          </a:p>
          <a:p>
            <a:r>
              <a:rPr lang="en-US" b="1" dirty="0"/>
              <a:t>What each keyword does</a:t>
            </a:r>
          </a:p>
          <a:p>
            <a:r>
              <a:rPr lang="en-US" sz="1100" b="1" i="0" u="none" strike="noStrike" cap="none" dirty="0">
                <a:solidFill>
                  <a:srgbClr val="000000"/>
                </a:solidFill>
                <a:latin typeface="Arial"/>
                <a:ea typeface="Arial"/>
                <a:cs typeface="Arial"/>
                <a:sym typeface="Arial"/>
              </a:rPr>
              <a:t>final</a:t>
            </a:r>
            <a:endParaRPr lang="en-US" b="1" dirty="0"/>
          </a:p>
          <a:p>
            <a:r>
              <a:rPr lang="en-US" dirty="0"/>
              <a:t>Prevents the value from being changed after assignment</a:t>
            </a:r>
          </a:p>
          <a:p>
            <a:r>
              <a:rPr lang="en-US" dirty="0"/>
              <a:t>Makes the variable </a:t>
            </a:r>
            <a:r>
              <a:rPr lang="en-US" b="1" dirty="0"/>
              <a:t>immutable</a:t>
            </a:r>
            <a:endParaRPr lang="en-US" dirty="0"/>
          </a:p>
          <a:p>
            <a:pPr marL="0" lvl="0" indent="0" algn="l" rtl="0">
              <a:spcBef>
                <a:spcPts val="0"/>
              </a:spcBef>
              <a:spcAft>
                <a:spcPts val="0"/>
              </a:spcAft>
              <a:buNone/>
            </a:pPr>
            <a:endParaRPr lang="en-US" dirty="0"/>
          </a:p>
          <a:p>
            <a:r>
              <a:rPr lang="en-US" sz="1100" b="1" i="0" u="none" strike="noStrike" cap="none" dirty="0">
                <a:solidFill>
                  <a:srgbClr val="000000"/>
                </a:solidFill>
                <a:latin typeface="Arial"/>
                <a:ea typeface="Arial"/>
                <a:cs typeface="Arial"/>
                <a:sym typeface="Arial"/>
              </a:rPr>
              <a:t>static</a:t>
            </a:r>
            <a:endParaRPr lang="en-US" b="1" dirty="0"/>
          </a:p>
          <a:p>
            <a:r>
              <a:rPr lang="en-US" dirty="0"/>
              <a:t>Makes the variable belong to the </a:t>
            </a:r>
            <a:r>
              <a:rPr lang="en-US" b="1" dirty="0"/>
              <a:t>class</a:t>
            </a:r>
            <a:r>
              <a:rPr lang="en-US" dirty="0"/>
              <a:t>, not to an instance</a:t>
            </a:r>
          </a:p>
          <a:p>
            <a:r>
              <a:rPr lang="en-US" dirty="0"/>
              <a:t>Only </a:t>
            </a:r>
            <a:r>
              <a:rPr lang="en-US" b="1" dirty="0"/>
              <a:t>one copy exists</a:t>
            </a:r>
            <a:r>
              <a:rPr lang="en-US" dirty="0"/>
              <a:t>, shared by all objects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1c757c7c69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1c757c7c69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Most Iconic Ships</a:t>
            </a:r>
          </a:p>
          <a:p>
            <a:r>
              <a:rPr lang="en-US" b="1" dirty="0"/>
              <a:t>Millennium Falcon</a:t>
            </a:r>
            <a:endParaRPr lang="en-US" dirty="0"/>
          </a:p>
          <a:p>
            <a:r>
              <a:rPr lang="en-US" b="1" dirty="0"/>
              <a:t>X-wing Starfighter</a:t>
            </a:r>
            <a:endParaRPr lang="en-US" dirty="0"/>
          </a:p>
          <a:p>
            <a:r>
              <a:rPr lang="en-US" b="1" dirty="0"/>
              <a:t>TIE Fighter</a:t>
            </a:r>
            <a:endParaRPr lang="en-US" dirty="0"/>
          </a:p>
          <a:p>
            <a:r>
              <a:rPr lang="en-US" b="1" dirty="0"/>
              <a:t>Imperial Star Destroyer</a:t>
            </a:r>
            <a:endParaRPr lang="en-US" dirty="0"/>
          </a:p>
          <a:p>
            <a:pPr marL="0" lvl="0" indent="0" algn="l" rtl="0">
              <a:spcBef>
                <a:spcPts val="0"/>
              </a:spcBef>
              <a:spcAft>
                <a:spcPts val="0"/>
              </a:spcAft>
              <a:buNone/>
            </a:pP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1c757c7c694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1c757c7c69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1c757c7c694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9" name="Google Shape;779;g1c757c7c694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322b8e1c78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8" name="Google Shape;788;g322b8e1c7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1c757c7c694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6" name="Google Shape;816;g1c757c7c694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students ask why we are not using GitHub - draw.io does not see their assignment repositories.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1c757c7c69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9" name="Google Shape;829;g1c757c7c69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1c31bc1ac9f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g1c31bc1ac9f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Many UML tool can generate the code as well.</a:t>
            </a:r>
          </a:p>
          <a:p>
            <a:pPr marL="0" lvl="0" indent="0" algn="l" rtl="0">
              <a:spcBef>
                <a:spcPts val="0"/>
              </a:spcBef>
              <a:spcAft>
                <a:spcPts val="0"/>
              </a:spcAft>
              <a:buNone/>
            </a:pPr>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g1c757c7c69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1" name="Google Shape;851;g1c757c7c69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Car </a:t>
            </a:r>
            <a:r>
              <a:rPr lang="en-US" dirty="0">
                <a:sym typeface="Wingdings" panose="05000000000000000000" pitchFamily="2" charset="2"/>
              </a:rPr>
              <a:t> Tire</a:t>
            </a:r>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1c757c7c694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1" name="Google Shape;871;g1c757c7c694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1c757c7c694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1c757c7c69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happens if you </a:t>
            </a:r>
            <a:r>
              <a:rPr lang="en" b="1" i="1" dirty="0">
                <a:solidFill>
                  <a:srgbClr val="FF0000"/>
                </a:solidFill>
              </a:rPr>
              <a:t>change</a:t>
            </a:r>
            <a:r>
              <a:rPr lang="en" dirty="0">
                <a:solidFill>
                  <a:srgbClr val="FF0000"/>
                </a:solidFill>
              </a:rPr>
              <a:t> </a:t>
            </a:r>
            <a:r>
              <a:rPr lang="en" dirty="0">
                <a:latin typeface="Courier New"/>
                <a:ea typeface="Courier New"/>
                <a:cs typeface="Courier New"/>
                <a:sym typeface="Courier New"/>
              </a:rPr>
              <a:t>DAYS_IN_YEAR</a:t>
            </a:r>
            <a:r>
              <a:rPr lang="en" dirty="0"/>
              <a:t> from your </a:t>
            </a:r>
            <a:r>
              <a:rPr lang="en" dirty="0">
                <a:latin typeface="Courier New"/>
                <a:ea typeface="Courier New"/>
                <a:cs typeface="Courier New"/>
                <a:sym typeface="Courier New"/>
              </a:rPr>
              <a:t>main</a:t>
            </a:r>
            <a:r>
              <a:rPr lang="en" dirty="0"/>
              <a:t> method </a:t>
            </a:r>
            <a:r>
              <a:rPr lang="en" b="1" i="1" dirty="0">
                <a:solidFill>
                  <a:srgbClr val="FF0000"/>
                </a:solidFill>
              </a:rPr>
              <a:t>before </a:t>
            </a:r>
            <a:r>
              <a:rPr lang="en" dirty="0"/>
              <a:t>calling the </a:t>
            </a:r>
            <a:r>
              <a:rPr lang="en" dirty="0">
                <a:latin typeface="Courier New"/>
                <a:ea typeface="Courier New"/>
                <a:cs typeface="Courier New"/>
                <a:sym typeface="Courier New"/>
              </a:rPr>
              <a:t>daysInYear</a:t>
            </a:r>
            <a:r>
              <a:rPr lang="en" dirty="0"/>
              <a:t> method</a:t>
            </a:r>
          </a:p>
          <a:p>
            <a:pPr marL="171450" lvl="0" indent="-171450" algn="l" rtl="0">
              <a:spcBef>
                <a:spcPts val="0"/>
              </a:spcBef>
              <a:spcAft>
                <a:spcPts val="0"/>
              </a:spcAft>
              <a:buFont typeface="Wingdings" panose="05000000000000000000" pitchFamily="2" charset="2"/>
              <a:buChar char="è"/>
            </a:pPr>
            <a:r>
              <a:rPr lang="en" dirty="0">
                <a:sym typeface="Wingdings" panose="05000000000000000000" pitchFamily="2" charset="2"/>
              </a:rPr>
              <a:t>You will get error.</a:t>
            </a:r>
          </a:p>
          <a:p>
            <a:pPr marL="171450" lvl="0" indent="-171450" algn="l" rtl="0">
              <a:spcBef>
                <a:spcPts val="0"/>
              </a:spcBef>
              <a:spcAft>
                <a:spcPts val="0"/>
              </a:spcAft>
              <a:buFont typeface="Wingdings" panose="05000000000000000000" pitchFamily="2" charset="2"/>
              <a:buChar char="è"/>
            </a:pPr>
            <a:endParaRPr lang="en" dirty="0">
              <a:sym typeface="Wingdings" panose="05000000000000000000" pitchFamily="2" charset="2"/>
            </a:endParaRPr>
          </a:p>
          <a:p>
            <a:pPr marL="171450" lvl="0" indent="-171450" algn="l" rtl="0">
              <a:spcBef>
                <a:spcPts val="0"/>
              </a:spcBef>
              <a:spcAft>
                <a:spcPts val="0"/>
              </a:spcAft>
              <a:buFont typeface="Wingdings" panose="05000000000000000000" pitchFamily="2" charset="2"/>
              <a:buChar char="è"/>
            </a:pPr>
            <a:endParaRPr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1c757c7c694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1c757c7c694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1c757c7c69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1c757c7c69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1c757c7c694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6" name="Google Shape;916;g1c757c7c694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1c31bc1ac9f_0_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7" name="Google Shape;927;g1c31bc1ac9f_0_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1c757c7c694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0" name="Google Shape;940;g1c757c7c694_0_1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1c31bc1ac9f_0_4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1c31bc1ac9f_0_4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1c757c7c694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4" name="Google Shape;964;g1c757c7c694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1c31bc1ac9f_0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5" name="Google Shape;975;g1c31bc1ac9f_0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1c757c7c694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9" name="Google Shape;989;g1c757c7c694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1c31bc1ac9f_0_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1c31bc1ac9f_0_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1c757c7c694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0" name="Google Shape;1010;g1c757c7c694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2d7c88f170c_1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1" name="Google Shape;1021;g2d7c88f170c_1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d7c88f170c_1_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7" name="Google Shape;1027;g2d7c88f170c_1_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1c31bc1ac9f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3" name="Google Shape;1033;g1c31bc1ac9f_0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21" name="Google Shape;21;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3" name="Google Shape;23;p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6" name="Google Shape;26;p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0" name="Google Shape;30;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1" name="Google Shape;31;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6" name="Google Shape;3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0" name="Google Shape;40;p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1" name="Google Shape;41;p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2" name="Google Shape;42;p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43" name="Google Shape;43;p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44" name="Google Shape;44;p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7" name="Google Shape;4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51" name="Google Shape;51;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52" name="Google Shape;52;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3" name="Google Shape;5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7" name="Google Shape;5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8"/>
        <p:cNvGrpSpPr/>
        <p:nvPr/>
      </p:nvGrpSpPr>
      <p:grpSpPr>
        <a:xfrm>
          <a:off x="0" y="0"/>
          <a:ext cx="0" cy="0"/>
          <a:chOff x="0" y="0"/>
          <a:chExt cx="0" cy="0"/>
        </a:xfrm>
      </p:grpSpPr>
      <p:sp>
        <p:nvSpPr>
          <p:cNvPr id="59" name="Google Shape;59;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61" name="Google Shape;61;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1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68" name="Google Shape;6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2" name="Google Shape;72;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Activity">
  <p:cSld name="AUTOLAYOUT_1_1">
    <p:bg>
      <p:bgPr>
        <a:solidFill>
          <a:srgbClr val="FFFFFF"/>
        </a:solidFill>
        <a:effectLst/>
      </p:bgPr>
    </p:bg>
    <p:spTree>
      <p:nvGrpSpPr>
        <p:cNvPr id="1" name="Shape 73"/>
        <p:cNvGrpSpPr/>
        <p:nvPr/>
      </p:nvGrpSpPr>
      <p:grpSpPr>
        <a:xfrm>
          <a:off x="0" y="0"/>
          <a:ext cx="0" cy="0"/>
          <a:chOff x="0" y="0"/>
          <a:chExt cx="0" cy="0"/>
        </a:xfrm>
      </p:grpSpPr>
      <p:sp>
        <p:nvSpPr>
          <p:cNvPr id="74" name="Google Shape;74;p15"/>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76" name="Google Shape;76;p15"/>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rtl="0">
              <a:lnSpc>
                <a:spcPct val="100000"/>
              </a:lnSpc>
              <a:spcAft>
                <a:spcPts val="0"/>
              </a:spcAft>
              <a:buNone/>
              <a:defRPr sz="1000">
                <a:solidFill>
                  <a:schemeClr val="dk2"/>
                </a:solidFill>
              </a:defRPr>
            </a:lvl1pPr>
            <a:lvl2pPr lvl="1" algn="r" rtl="0">
              <a:lnSpc>
                <a:spcPct val="100000"/>
              </a:lnSpc>
              <a:spcAft>
                <a:spcPts val="0"/>
              </a:spcAft>
              <a:buNone/>
              <a:defRPr sz="1000">
                <a:solidFill>
                  <a:schemeClr val="dk2"/>
                </a:solidFill>
              </a:defRPr>
            </a:lvl2pPr>
            <a:lvl3pPr lvl="2" algn="r" rtl="0">
              <a:lnSpc>
                <a:spcPct val="100000"/>
              </a:lnSpc>
              <a:spcAft>
                <a:spcPts val="0"/>
              </a:spcAft>
              <a:buNone/>
              <a:defRPr sz="1000">
                <a:solidFill>
                  <a:schemeClr val="dk2"/>
                </a:solidFill>
              </a:defRPr>
            </a:lvl3pPr>
            <a:lvl4pPr lvl="3" algn="r" rtl="0">
              <a:lnSpc>
                <a:spcPct val="100000"/>
              </a:lnSpc>
              <a:spcAft>
                <a:spcPts val="0"/>
              </a:spcAft>
              <a:buNone/>
              <a:defRPr sz="1000">
                <a:solidFill>
                  <a:schemeClr val="dk2"/>
                </a:solidFill>
              </a:defRPr>
            </a:lvl4pPr>
            <a:lvl5pPr lvl="4" algn="r" rtl="0">
              <a:lnSpc>
                <a:spcPct val="100000"/>
              </a:lnSpc>
              <a:spcAft>
                <a:spcPts val="0"/>
              </a:spcAft>
              <a:buNone/>
              <a:defRPr sz="1000">
                <a:solidFill>
                  <a:schemeClr val="dk2"/>
                </a:solidFill>
              </a:defRPr>
            </a:lvl5pPr>
            <a:lvl6pPr lvl="5" algn="r" rtl="0">
              <a:lnSpc>
                <a:spcPct val="100000"/>
              </a:lnSpc>
              <a:spcAft>
                <a:spcPts val="0"/>
              </a:spcAft>
              <a:buNone/>
              <a:defRPr sz="1000">
                <a:solidFill>
                  <a:schemeClr val="dk2"/>
                </a:solidFill>
              </a:defRPr>
            </a:lvl6pPr>
            <a:lvl7pPr lvl="6" algn="r" rtl="0">
              <a:lnSpc>
                <a:spcPct val="100000"/>
              </a:lnSpc>
              <a:spcAft>
                <a:spcPts val="0"/>
              </a:spcAft>
              <a:buNone/>
              <a:defRPr sz="1000">
                <a:solidFill>
                  <a:schemeClr val="dk2"/>
                </a:solidFill>
              </a:defRPr>
            </a:lvl7pPr>
            <a:lvl8pPr lvl="7" algn="r" rtl="0">
              <a:lnSpc>
                <a:spcPct val="100000"/>
              </a:lnSpc>
              <a:spcAft>
                <a:spcPts val="0"/>
              </a:spcAft>
              <a:buNone/>
              <a:defRPr sz="1000">
                <a:solidFill>
                  <a:schemeClr val="dk2"/>
                </a:solidFill>
              </a:defRPr>
            </a:lvl8pPr>
            <a:lvl9pPr lvl="8" algn="r" rtl="0">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77" name="Google Shape;77;p15"/>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78" name="Google Shape;78;p15"/>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80" name="Google Shape;80;p15"/>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rtl="0">
              <a:lnSpc>
                <a:spcPct val="100000"/>
              </a:lnSpc>
              <a:spcBef>
                <a:spcPts val="0"/>
              </a:spcBef>
              <a:spcAft>
                <a:spcPts val="0"/>
              </a:spcAft>
              <a:buClr>
                <a:srgbClr val="FFFFFF"/>
              </a:buClr>
              <a:buSzPts val="3000"/>
              <a:buNone/>
              <a:defRPr sz="3000">
                <a:solidFill>
                  <a:srgbClr val="FFFFFF"/>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82" name="Google Shape;82;p15"/>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87"/>
        <p:cNvGrpSpPr/>
        <p:nvPr/>
      </p:nvGrpSpPr>
      <p:grpSpPr>
        <a:xfrm>
          <a:off x="0" y="0"/>
          <a:ext cx="0" cy="0"/>
          <a:chOff x="0" y="0"/>
          <a:chExt cx="0" cy="0"/>
        </a:xfrm>
      </p:grpSpPr>
      <p:sp>
        <p:nvSpPr>
          <p:cNvPr id="88" name="Google Shape;88;p17"/>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89" name="Google Shape;89;p17"/>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0" name="Google Shape;90;p17"/>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91" name="Google Shape;91;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92"/>
        <p:cNvGrpSpPr/>
        <p:nvPr/>
      </p:nvGrpSpPr>
      <p:grpSpPr>
        <a:xfrm>
          <a:off x="0" y="0"/>
          <a:ext cx="0" cy="0"/>
          <a:chOff x="0" y="0"/>
          <a:chExt cx="0" cy="0"/>
        </a:xfrm>
      </p:grpSpPr>
      <p:sp>
        <p:nvSpPr>
          <p:cNvPr id="93" name="Google Shape;93;p18"/>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94" name="Google Shape;94;p18"/>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95" name="Google Shape;95;p18"/>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7"/>
        <p:cNvGrpSpPr/>
        <p:nvPr/>
      </p:nvGrpSpPr>
      <p:grpSpPr>
        <a:xfrm>
          <a:off x="0" y="0"/>
          <a:ext cx="0" cy="0"/>
          <a:chOff x="0" y="0"/>
          <a:chExt cx="0" cy="0"/>
        </a:xfrm>
      </p:grpSpPr>
      <p:sp>
        <p:nvSpPr>
          <p:cNvPr id="98" name="Google Shape;98;p19"/>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99" name="Google Shape;99;p19"/>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9"/>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01" name="Google Shape;101;p19"/>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2" name="Google Shape;102;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9"/>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04" name="Google Shape;104;p19"/>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5"/>
        <p:cNvGrpSpPr/>
        <p:nvPr/>
      </p:nvGrpSpPr>
      <p:grpSpPr>
        <a:xfrm>
          <a:off x="0" y="0"/>
          <a:ext cx="0" cy="0"/>
          <a:chOff x="0" y="0"/>
          <a:chExt cx="0" cy="0"/>
        </a:xfrm>
      </p:grpSpPr>
      <p:sp>
        <p:nvSpPr>
          <p:cNvPr id="106" name="Google Shape;106;p20"/>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08" name="Google Shape;108;p20"/>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09" name="Google Shape;109;p20"/>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10" name="Google Shape;11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1"/>
        <p:cNvGrpSpPr/>
        <p:nvPr/>
      </p:nvGrpSpPr>
      <p:grpSpPr>
        <a:xfrm>
          <a:off x="0" y="0"/>
          <a:ext cx="0" cy="0"/>
          <a:chOff x="0" y="0"/>
          <a:chExt cx="0" cy="0"/>
        </a:xfrm>
      </p:grpSpPr>
      <p:sp>
        <p:nvSpPr>
          <p:cNvPr id="112" name="Google Shape;112;p21"/>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1"/>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4" name="Google Shape;114;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5"/>
        <p:cNvGrpSpPr/>
        <p:nvPr/>
      </p:nvGrpSpPr>
      <p:grpSpPr>
        <a:xfrm>
          <a:off x="0" y="0"/>
          <a:ext cx="0" cy="0"/>
          <a:chOff x="0" y="0"/>
          <a:chExt cx="0" cy="0"/>
        </a:xfrm>
      </p:grpSpPr>
      <p:sp>
        <p:nvSpPr>
          <p:cNvPr id="116" name="Google Shape;116;p22"/>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18" name="Google Shape;118;p2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9" name="Google Shape;119;p22"/>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0" name="Google Shape;120;p22"/>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21" name="Google Shape;121;p22"/>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rgbClr val="FFFFFF"/>
              </a:buClr>
              <a:buSzPts val="1300"/>
              <a:buChar char="●"/>
              <a:defRPr>
                <a:solidFill>
                  <a:srgbClr val="FFFFFF"/>
                </a:solidFill>
              </a:defRPr>
            </a:lvl1pPr>
            <a:lvl2pPr marL="914400" lvl="1" indent="-298450" rtl="0">
              <a:spcBef>
                <a:spcPts val="1600"/>
              </a:spcBef>
              <a:spcAft>
                <a:spcPts val="0"/>
              </a:spcAft>
              <a:buClr>
                <a:srgbClr val="FFFFFF"/>
              </a:buClr>
              <a:buSzPts val="1100"/>
              <a:buChar char="○"/>
              <a:defRPr>
                <a:solidFill>
                  <a:srgbClr val="FFFFFF"/>
                </a:solidFill>
              </a:defRPr>
            </a:lvl2pPr>
            <a:lvl3pPr marL="1371600" lvl="2" indent="-298450" rtl="0">
              <a:spcBef>
                <a:spcPts val="1600"/>
              </a:spcBef>
              <a:spcAft>
                <a:spcPts val="0"/>
              </a:spcAft>
              <a:buClr>
                <a:srgbClr val="FFFFFF"/>
              </a:buClr>
              <a:buSzPts val="1100"/>
              <a:buChar char="■"/>
              <a:defRPr>
                <a:solidFill>
                  <a:srgbClr val="FFFFFF"/>
                </a:solidFill>
              </a:defRPr>
            </a:lvl3pPr>
            <a:lvl4pPr marL="1828800" lvl="3" indent="-298450" rtl="0">
              <a:spcBef>
                <a:spcPts val="1600"/>
              </a:spcBef>
              <a:spcAft>
                <a:spcPts val="0"/>
              </a:spcAft>
              <a:buClr>
                <a:srgbClr val="FFFFFF"/>
              </a:buClr>
              <a:buSzPts val="1100"/>
              <a:buChar char="●"/>
              <a:defRPr>
                <a:solidFill>
                  <a:srgbClr val="FFFFFF"/>
                </a:solidFill>
              </a:defRPr>
            </a:lvl4pPr>
            <a:lvl5pPr marL="2286000" lvl="4" indent="-298450" rtl="0">
              <a:spcBef>
                <a:spcPts val="1600"/>
              </a:spcBef>
              <a:spcAft>
                <a:spcPts val="0"/>
              </a:spcAft>
              <a:buClr>
                <a:srgbClr val="FFFFFF"/>
              </a:buClr>
              <a:buSzPts val="1100"/>
              <a:buChar char="○"/>
              <a:defRPr>
                <a:solidFill>
                  <a:srgbClr val="FFFFFF"/>
                </a:solidFill>
              </a:defRPr>
            </a:lvl5pPr>
            <a:lvl6pPr marL="2743200" lvl="5" indent="-298450" rtl="0">
              <a:spcBef>
                <a:spcPts val="1600"/>
              </a:spcBef>
              <a:spcAft>
                <a:spcPts val="0"/>
              </a:spcAft>
              <a:buClr>
                <a:srgbClr val="FFFFFF"/>
              </a:buClr>
              <a:buSzPts val="1100"/>
              <a:buChar char="■"/>
              <a:defRPr>
                <a:solidFill>
                  <a:srgbClr val="FFFFFF"/>
                </a:solidFill>
              </a:defRPr>
            </a:lvl6pPr>
            <a:lvl7pPr marL="3200400" lvl="6" indent="-298450" rtl="0">
              <a:spcBef>
                <a:spcPts val="1600"/>
              </a:spcBef>
              <a:spcAft>
                <a:spcPts val="0"/>
              </a:spcAft>
              <a:buClr>
                <a:srgbClr val="FFFFFF"/>
              </a:buClr>
              <a:buSzPts val="1100"/>
              <a:buChar char="●"/>
              <a:defRPr>
                <a:solidFill>
                  <a:srgbClr val="FFFFFF"/>
                </a:solidFill>
              </a:defRPr>
            </a:lvl7pPr>
            <a:lvl8pPr marL="3657600" lvl="7" indent="-298450" rtl="0">
              <a:spcBef>
                <a:spcPts val="1600"/>
              </a:spcBef>
              <a:spcAft>
                <a:spcPts val="0"/>
              </a:spcAft>
              <a:buClr>
                <a:srgbClr val="FFFFFF"/>
              </a:buClr>
              <a:buSzPts val="1100"/>
              <a:buChar char="○"/>
              <a:defRPr>
                <a:solidFill>
                  <a:srgbClr val="FFFFFF"/>
                </a:solidFill>
              </a:defRPr>
            </a:lvl8pPr>
            <a:lvl9pPr marL="4114800" lvl="8" indent="-298450" rtl="0">
              <a:spcBef>
                <a:spcPts val="1600"/>
              </a:spcBef>
              <a:spcAft>
                <a:spcPts val="1600"/>
              </a:spcAft>
              <a:buClr>
                <a:srgbClr val="FFFFFF"/>
              </a:buClr>
              <a:buSzPts val="1100"/>
              <a:buChar char="■"/>
              <a:defRPr>
                <a:solidFill>
                  <a:srgbClr val="FFFFFF"/>
                </a:solidFill>
              </a:defRPr>
            </a:lvl9pPr>
          </a:lstStyle>
          <a:p>
            <a:endParaRPr/>
          </a:p>
        </p:txBody>
      </p:sp>
      <p:sp>
        <p:nvSpPr>
          <p:cNvPr id="122" name="Google Shape;122;p22"/>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25" name="Google Shape;12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6"/>
        <p:cNvGrpSpPr/>
        <p:nvPr/>
      </p:nvGrpSpPr>
      <p:grpSpPr>
        <a:xfrm>
          <a:off x="0" y="0"/>
          <a:ext cx="0" cy="0"/>
          <a:chOff x="0" y="0"/>
          <a:chExt cx="0" cy="0"/>
        </a:xfrm>
      </p:grpSpPr>
      <p:sp>
        <p:nvSpPr>
          <p:cNvPr id="127" name="Google Shape;127;p24"/>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4"/>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9" name="Google Shape;129;p24"/>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130" name="Google Shape;130;p24"/>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31" name="Google Shape;131;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2"/>
        <p:cNvGrpSpPr/>
        <p:nvPr/>
      </p:nvGrpSpPr>
      <p:grpSpPr>
        <a:xfrm>
          <a:off x="0" y="0"/>
          <a:ext cx="0" cy="0"/>
          <a:chOff x="0" y="0"/>
          <a:chExt cx="0" cy="0"/>
        </a:xfrm>
      </p:grpSpPr>
      <p:sp>
        <p:nvSpPr>
          <p:cNvPr id="133" name="Google Shape;133;p25"/>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5"/>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135" name="Google Shape;135;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36"/>
        <p:cNvGrpSpPr/>
        <p:nvPr/>
      </p:nvGrpSpPr>
      <p:grpSpPr>
        <a:xfrm>
          <a:off x="0" y="0"/>
          <a:ext cx="0" cy="0"/>
          <a:chOff x="0" y="0"/>
          <a:chExt cx="0" cy="0"/>
        </a:xfrm>
      </p:grpSpPr>
      <p:sp>
        <p:nvSpPr>
          <p:cNvPr id="137" name="Google Shape;137;p26"/>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38" name="Google Shape;138;p26"/>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Clr>
                <a:schemeClr val="accent2"/>
              </a:buClr>
              <a:buSzPts val="1300"/>
              <a:buChar char="●"/>
              <a:defRPr>
                <a:solidFill>
                  <a:schemeClr val="accent2"/>
                </a:solidFill>
              </a:defRPr>
            </a:lvl1pPr>
            <a:lvl2pPr marL="914400" lvl="1" indent="-298450" rtl="0">
              <a:spcBef>
                <a:spcPts val="1600"/>
              </a:spcBef>
              <a:spcAft>
                <a:spcPts val="0"/>
              </a:spcAft>
              <a:buClr>
                <a:schemeClr val="accent2"/>
              </a:buClr>
              <a:buSzPts val="1100"/>
              <a:buChar char="○"/>
              <a:defRPr>
                <a:solidFill>
                  <a:schemeClr val="accent2"/>
                </a:solidFill>
              </a:defRPr>
            </a:lvl2pPr>
            <a:lvl3pPr marL="1371600" lvl="2" indent="-298450" rtl="0">
              <a:spcBef>
                <a:spcPts val="1600"/>
              </a:spcBef>
              <a:spcAft>
                <a:spcPts val="0"/>
              </a:spcAft>
              <a:buClr>
                <a:schemeClr val="accent2"/>
              </a:buClr>
              <a:buSzPts val="1100"/>
              <a:buChar char="■"/>
              <a:defRPr>
                <a:solidFill>
                  <a:schemeClr val="accent2"/>
                </a:solidFill>
              </a:defRPr>
            </a:lvl3pPr>
            <a:lvl4pPr marL="1828800" lvl="3" indent="-298450" rtl="0">
              <a:spcBef>
                <a:spcPts val="1600"/>
              </a:spcBef>
              <a:spcAft>
                <a:spcPts val="0"/>
              </a:spcAft>
              <a:buClr>
                <a:schemeClr val="accent2"/>
              </a:buClr>
              <a:buSzPts val="1100"/>
              <a:buChar char="●"/>
              <a:defRPr>
                <a:solidFill>
                  <a:schemeClr val="accent2"/>
                </a:solidFill>
              </a:defRPr>
            </a:lvl4pPr>
            <a:lvl5pPr marL="2286000" lvl="4" indent="-298450" rtl="0">
              <a:spcBef>
                <a:spcPts val="1600"/>
              </a:spcBef>
              <a:spcAft>
                <a:spcPts val="0"/>
              </a:spcAft>
              <a:buClr>
                <a:schemeClr val="accent2"/>
              </a:buClr>
              <a:buSzPts val="1100"/>
              <a:buChar char="○"/>
              <a:defRPr>
                <a:solidFill>
                  <a:schemeClr val="accent2"/>
                </a:solidFill>
              </a:defRPr>
            </a:lvl5pPr>
            <a:lvl6pPr marL="2743200" lvl="5" indent="-298450" rtl="0">
              <a:spcBef>
                <a:spcPts val="1600"/>
              </a:spcBef>
              <a:spcAft>
                <a:spcPts val="0"/>
              </a:spcAft>
              <a:buClr>
                <a:schemeClr val="accent2"/>
              </a:buClr>
              <a:buSzPts val="1100"/>
              <a:buChar char="■"/>
              <a:defRPr>
                <a:solidFill>
                  <a:schemeClr val="accent2"/>
                </a:solidFill>
              </a:defRPr>
            </a:lvl6pPr>
            <a:lvl7pPr marL="3200400" lvl="6" indent="-298450" rtl="0">
              <a:spcBef>
                <a:spcPts val="1600"/>
              </a:spcBef>
              <a:spcAft>
                <a:spcPts val="0"/>
              </a:spcAft>
              <a:buClr>
                <a:schemeClr val="accent2"/>
              </a:buClr>
              <a:buSzPts val="1100"/>
              <a:buChar char="●"/>
              <a:defRPr>
                <a:solidFill>
                  <a:schemeClr val="accent2"/>
                </a:solidFill>
              </a:defRPr>
            </a:lvl7pPr>
            <a:lvl8pPr marL="3657600" lvl="7" indent="-298450" rtl="0">
              <a:spcBef>
                <a:spcPts val="1600"/>
              </a:spcBef>
              <a:spcAft>
                <a:spcPts val="0"/>
              </a:spcAft>
              <a:buClr>
                <a:schemeClr val="accent2"/>
              </a:buClr>
              <a:buSzPts val="1100"/>
              <a:buChar char="○"/>
              <a:defRPr>
                <a:solidFill>
                  <a:schemeClr val="accent2"/>
                </a:solidFill>
              </a:defRPr>
            </a:lvl8pPr>
            <a:lvl9pPr marL="4114800" lvl="8" indent="-298450" rtl="0">
              <a:spcBef>
                <a:spcPts val="1600"/>
              </a:spcBef>
              <a:spcAft>
                <a:spcPts val="1600"/>
              </a:spcAft>
              <a:buClr>
                <a:schemeClr val="accent2"/>
              </a:buClr>
              <a:buSzPts val="1100"/>
              <a:buChar char="■"/>
              <a:defRPr>
                <a:solidFill>
                  <a:schemeClr val="accent2"/>
                </a:solidFill>
              </a:defRPr>
            </a:lvl9pPr>
          </a:lstStyle>
          <a:p>
            <a:endParaRPr/>
          </a:p>
        </p:txBody>
      </p:sp>
      <p:sp>
        <p:nvSpPr>
          <p:cNvPr id="139" name="Google Shape;13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0"/>
        <p:cNvGrpSpPr/>
        <p:nvPr/>
      </p:nvGrpSpPr>
      <p:grpSpPr>
        <a:xfrm>
          <a:off x="0" y="0"/>
          <a:ext cx="0" cy="0"/>
          <a:chOff x="0" y="0"/>
          <a:chExt cx="0" cy="0"/>
        </a:xfrm>
      </p:grpSpPr>
      <p:sp>
        <p:nvSpPr>
          <p:cNvPr id="141" name="Google Shape;141;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142"/>
        <p:cNvGrpSpPr/>
        <p:nvPr/>
      </p:nvGrpSpPr>
      <p:grpSpPr>
        <a:xfrm>
          <a:off x="0" y="0"/>
          <a:ext cx="0" cy="0"/>
          <a:chOff x="0" y="0"/>
          <a:chExt cx="0" cy="0"/>
        </a:xfrm>
      </p:grpSpPr>
      <p:cxnSp>
        <p:nvCxnSpPr>
          <p:cNvPr id="143" name="Google Shape;143;p28"/>
          <p:cNvCxnSpPr/>
          <p:nvPr/>
        </p:nvCxnSpPr>
        <p:spPr>
          <a:xfrm>
            <a:off x="2477724" y="415650"/>
            <a:ext cx="6244200" cy="0"/>
          </a:xfrm>
          <a:prstGeom prst="straightConnector1">
            <a:avLst/>
          </a:prstGeom>
          <a:noFill/>
          <a:ln w="38100" cap="flat" cmpd="sng">
            <a:solidFill>
              <a:schemeClr val="dk2"/>
            </a:solidFill>
            <a:prstDash val="solid"/>
            <a:round/>
            <a:headEnd type="none" w="sm" len="sm"/>
            <a:tailEnd type="none" w="sm" len="sm"/>
          </a:ln>
        </p:spPr>
      </p:cxnSp>
      <p:cxnSp>
        <p:nvCxnSpPr>
          <p:cNvPr id="144" name="Google Shape;144;p28"/>
          <p:cNvCxnSpPr/>
          <p:nvPr/>
        </p:nvCxnSpPr>
        <p:spPr>
          <a:xfrm>
            <a:off x="2477724" y="4740000"/>
            <a:ext cx="6244200" cy="0"/>
          </a:xfrm>
          <a:prstGeom prst="straightConnector1">
            <a:avLst/>
          </a:prstGeom>
          <a:noFill/>
          <a:ln w="19050" cap="flat" cmpd="sng">
            <a:solidFill>
              <a:schemeClr val="dk2"/>
            </a:solidFill>
            <a:prstDash val="solid"/>
            <a:round/>
            <a:headEnd type="none" w="sm" len="sm"/>
            <a:tailEnd type="none" w="sm" len="sm"/>
          </a:ln>
        </p:spPr>
      </p:cxnSp>
      <p:cxnSp>
        <p:nvCxnSpPr>
          <p:cNvPr id="145" name="Google Shape;145;p28"/>
          <p:cNvCxnSpPr/>
          <p:nvPr/>
        </p:nvCxnSpPr>
        <p:spPr>
          <a:xfrm>
            <a:off x="425198" y="415650"/>
            <a:ext cx="183300" cy="0"/>
          </a:xfrm>
          <a:prstGeom prst="straightConnector1">
            <a:avLst/>
          </a:prstGeom>
          <a:noFill/>
          <a:ln w="19050" cap="flat" cmpd="sng">
            <a:solidFill>
              <a:schemeClr val="dk2"/>
            </a:solidFill>
            <a:prstDash val="solid"/>
            <a:round/>
            <a:headEnd type="none" w="sm" len="sm"/>
            <a:tailEnd type="none" w="sm" len="sm"/>
          </a:ln>
        </p:spPr>
      </p:cxnSp>
      <p:sp>
        <p:nvSpPr>
          <p:cNvPr id="146" name="Google Shape;146;p28"/>
          <p:cNvSpPr txBox="1">
            <a:spLocks noGrp="1"/>
          </p:cNvSpPr>
          <p:nvPr>
            <p:ph type="title"/>
          </p:nvPr>
        </p:nvSpPr>
        <p:spPr>
          <a:xfrm>
            <a:off x="2400250" y="575950"/>
            <a:ext cx="6321600" cy="635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7" name="Google Shape;147;p28"/>
          <p:cNvSpPr txBox="1">
            <a:spLocks noGrp="1"/>
          </p:cNvSpPr>
          <p:nvPr>
            <p:ph type="body" idx="1"/>
          </p:nvPr>
        </p:nvSpPr>
        <p:spPr>
          <a:xfrm>
            <a:off x="2410112" y="1595776"/>
            <a:ext cx="6321600" cy="3002400"/>
          </a:xfrm>
          <a:prstGeom prst="rect">
            <a:avLst/>
          </a:prstGeom>
        </p:spPr>
        <p:txBody>
          <a:bodyPr spcFirstLastPara="1" wrap="square" lIns="91425" tIns="91425" rIns="91425" bIns="91425" anchor="t" anchorCtr="0">
            <a:noAutofit/>
          </a:bodyPr>
          <a:lstStyle>
            <a:lvl1pPr marL="457200" lvl="0" indent="-311150" rtl="0">
              <a:spcBef>
                <a:spcPts val="0"/>
              </a:spcBef>
              <a:spcAft>
                <a:spcPts val="0"/>
              </a:spcAft>
              <a:buSzPts val="1300"/>
              <a:buChar char="●"/>
              <a:defRPr/>
            </a:lvl1pPr>
            <a:lvl2pPr marL="914400" lvl="1" indent="-298450" rtl="0">
              <a:spcBef>
                <a:spcPts val="1600"/>
              </a:spcBef>
              <a:spcAft>
                <a:spcPts val="0"/>
              </a:spcAft>
              <a:buSzPts val="1100"/>
              <a:buChar char="○"/>
              <a:defRPr/>
            </a:lvl2pPr>
            <a:lvl3pPr marL="1371600" lvl="2" indent="-298450" rtl="0">
              <a:spcBef>
                <a:spcPts val="1600"/>
              </a:spcBef>
              <a:spcAft>
                <a:spcPts val="0"/>
              </a:spcAft>
              <a:buSzPts val="1100"/>
              <a:buChar char="■"/>
              <a:defRPr/>
            </a:lvl3pPr>
            <a:lvl4pPr marL="1828800" lvl="3" indent="-298450" rtl="0">
              <a:spcBef>
                <a:spcPts val="1600"/>
              </a:spcBef>
              <a:spcAft>
                <a:spcPts val="0"/>
              </a:spcAft>
              <a:buSzPts val="1100"/>
              <a:buChar char="●"/>
              <a:defRPr/>
            </a:lvl4pPr>
            <a:lvl5pPr marL="2286000" lvl="4" indent="-298450" rtl="0">
              <a:spcBef>
                <a:spcPts val="1600"/>
              </a:spcBef>
              <a:spcAft>
                <a:spcPts val="0"/>
              </a:spcAft>
              <a:buSzPts val="1100"/>
              <a:buChar char="○"/>
              <a:defRPr/>
            </a:lvl5pPr>
            <a:lvl6pPr marL="2743200" lvl="5" indent="-298450" rtl="0">
              <a:spcBef>
                <a:spcPts val="1600"/>
              </a:spcBef>
              <a:spcAft>
                <a:spcPts val="0"/>
              </a:spcAft>
              <a:buSzPts val="1100"/>
              <a:buChar char="■"/>
              <a:defRPr/>
            </a:lvl6pPr>
            <a:lvl7pPr marL="3200400" lvl="6" indent="-298450" rtl="0">
              <a:spcBef>
                <a:spcPts val="1600"/>
              </a:spcBef>
              <a:spcAft>
                <a:spcPts val="0"/>
              </a:spcAft>
              <a:buSzPts val="1100"/>
              <a:buChar char="●"/>
              <a:defRPr/>
            </a:lvl7pPr>
            <a:lvl8pPr marL="3657600" lvl="7" indent="-298450" rtl="0">
              <a:spcBef>
                <a:spcPts val="1600"/>
              </a:spcBef>
              <a:spcAft>
                <a:spcPts val="0"/>
              </a:spcAft>
              <a:buSzPts val="1100"/>
              <a:buChar char="○"/>
              <a:defRPr/>
            </a:lvl8pPr>
            <a:lvl9pPr marL="4114800" lvl="8" indent="-298450" rtl="0">
              <a:spcBef>
                <a:spcPts val="1600"/>
              </a:spcBef>
              <a:spcAft>
                <a:spcPts val="1600"/>
              </a:spcAft>
              <a:buSzPts val="1100"/>
              <a:buChar char="■"/>
              <a:defRPr/>
            </a:lvl9pPr>
          </a:lstStyle>
          <a:p>
            <a:endParaRPr/>
          </a:p>
        </p:txBody>
      </p:sp>
      <p:sp>
        <p:nvSpPr>
          <p:cNvPr id="148" name="Google Shape;148;p2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One column text 1">
  <p:cSld name="1_One column text">
    <p:spTree>
      <p:nvGrpSpPr>
        <p:cNvPr id="1" name="Shape 149"/>
        <p:cNvGrpSpPr/>
        <p:nvPr/>
      </p:nvGrpSpPr>
      <p:grpSpPr>
        <a:xfrm>
          <a:off x="0" y="0"/>
          <a:ext cx="0" cy="0"/>
          <a:chOff x="0" y="0"/>
          <a:chExt cx="0" cy="0"/>
        </a:xfrm>
      </p:grpSpPr>
      <p:sp>
        <p:nvSpPr>
          <p:cNvPr id="150" name="Google Shape;150;p29"/>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29"/>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52" name="Google Shape;152;p29"/>
          <p:cNvSpPr txBox="1">
            <a:spLocks noGrp="1"/>
          </p:cNvSpPr>
          <p:nvPr>
            <p:ph type="sldNum" idx="12"/>
          </p:nvPr>
        </p:nvSpPr>
        <p:spPr>
          <a:xfrm>
            <a:off x="90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53" name="Google Shape;153;p29"/>
          <p:cNvSpPr txBox="1">
            <a:spLocks noGrp="1"/>
          </p:cNvSpPr>
          <p:nvPr>
            <p:ph type="title"/>
          </p:nvPr>
        </p:nvSpPr>
        <p:spPr>
          <a:xfrm>
            <a:off x="5192225" y="500925"/>
            <a:ext cx="3706500" cy="6381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lt1"/>
              </a:buClr>
              <a:buSzPts val="2800"/>
              <a:buNone/>
              <a:defRPr>
                <a:solidFill>
                  <a:schemeClr val="lt1"/>
                </a:solidFill>
              </a:defRPr>
            </a:lvl1pPr>
            <a:lvl2pPr lvl="1" algn="l" rtl="0">
              <a:lnSpc>
                <a:spcPct val="100000"/>
              </a:lnSpc>
              <a:spcBef>
                <a:spcPts val="0"/>
              </a:spcBef>
              <a:spcAft>
                <a:spcPts val="0"/>
              </a:spcAft>
              <a:buClr>
                <a:schemeClr val="lt1"/>
              </a:buClr>
              <a:buSzPts val="2800"/>
              <a:buNone/>
              <a:defRPr>
                <a:solidFill>
                  <a:schemeClr val="lt1"/>
                </a:solidFill>
              </a:defRPr>
            </a:lvl2pPr>
            <a:lvl3pPr lvl="2" algn="l" rtl="0">
              <a:lnSpc>
                <a:spcPct val="100000"/>
              </a:lnSpc>
              <a:spcBef>
                <a:spcPts val="0"/>
              </a:spcBef>
              <a:spcAft>
                <a:spcPts val="0"/>
              </a:spcAft>
              <a:buClr>
                <a:schemeClr val="lt1"/>
              </a:buClr>
              <a:buSzPts val="2800"/>
              <a:buNone/>
              <a:defRPr>
                <a:solidFill>
                  <a:schemeClr val="lt1"/>
                </a:solidFill>
              </a:defRPr>
            </a:lvl3pPr>
            <a:lvl4pPr lvl="3" algn="l" rtl="0">
              <a:lnSpc>
                <a:spcPct val="100000"/>
              </a:lnSpc>
              <a:spcBef>
                <a:spcPts val="0"/>
              </a:spcBef>
              <a:spcAft>
                <a:spcPts val="0"/>
              </a:spcAft>
              <a:buClr>
                <a:schemeClr val="lt1"/>
              </a:buClr>
              <a:buSzPts val="2800"/>
              <a:buNone/>
              <a:defRPr>
                <a:solidFill>
                  <a:schemeClr val="lt1"/>
                </a:solidFill>
              </a:defRPr>
            </a:lvl4pPr>
            <a:lvl5pPr lvl="4" algn="l" rtl="0">
              <a:lnSpc>
                <a:spcPct val="100000"/>
              </a:lnSpc>
              <a:spcBef>
                <a:spcPts val="0"/>
              </a:spcBef>
              <a:spcAft>
                <a:spcPts val="0"/>
              </a:spcAft>
              <a:buClr>
                <a:schemeClr val="lt1"/>
              </a:buClr>
              <a:buSzPts val="2800"/>
              <a:buNone/>
              <a:defRPr>
                <a:solidFill>
                  <a:schemeClr val="lt1"/>
                </a:solidFill>
              </a:defRPr>
            </a:lvl5pPr>
            <a:lvl6pPr lvl="5" algn="l" rtl="0">
              <a:lnSpc>
                <a:spcPct val="100000"/>
              </a:lnSpc>
              <a:spcBef>
                <a:spcPts val="0"/>
              </a:spcBef>
              <a:spcAft>
                <a:spcPts val="0"/>
              </a:spcAft>
              <a:buClr>
                <a:schemeClr val="lt1"/>
              </a:buClr>
              <a:buSzPts val="2800"/>
              <a:buNone/>
              <a:defRPr>
                <a:solidFill>
                  <a:schemeClr val="lt1"/>
                </a:solidFill>
              </a:defRPr>
            </a:lvl6pPr>
            <a:lvl7pPr lvl="6" algn="l" rtl="0">
              <a:lnSpc>
                <a:spcPct val="100000"/>
              </a:lnSpc>
              <a:spcBef>
                <a:spcPts val="0"/>
              </a:spcBef>
              <a:spcAft>
                <a:spcPts val="0"/>
              </a:spcAft>
              <a:buClr>
                <a:schemeClr val="lt1"/>
              </a:buClr>
              <a:buSzPts val="2800"/>
              <a:buNone/>
              <a:defRPr>
                <a:solidFill>
                  <a:schemeClr val="lt1"/>
                </a:solidFill>
              </a:defRPr>
            </a:lvl7pPr>
            <a:lvl8pPr lvl="7" algn="l" rtl="0">
              <a:lnSpc>
                <a:spcPct val="100000"/>
              </a:lnSpc>
              <a:spcBef>
                <a:spcPts val="0"/>
              </a:spcBef>
              <a:spcAft>
                <a:spcPts val="0"/>
              </a:spcAft>
              <a:buClr>
                <a:schemeClr val="lt1"/>
              </a:buClr>
              <a:buSzPts val="2800"/>
              <a:buNone/>
              <a:defRPr>
                <a:solidFill>
                  <a:schemeClr val="lt1"/>
                </a:solidFill>
              </a:defRPr>
            </a:lvl8pPr>
            <a:lvl9pPr lvl="8" algn="l" rtl="0">
              <a:lnSpc>
                <a:spcPct val="100000"/>
              </a:lnSpc>
              <a:spcBef>
                <a:spcPts val="0"/>
              </a:spcBef>
              <a:spcAft>
                <a:spcPts val="0"/>
              </a:spcAft>
              <a:buClr>
                <a:schemeClr val="lt1"/>
              </a:buClr>
              <a:buSzPts val="2800"/>
              <a:buNone/>
              <a:defRPr>
                <a:solidFill>
                  <a:schemeClr val="lt1"/>
                </a:solidFill>
              </a:defRPr>
            </a:lvl9pPr>
          </a:lstStyle>
          <a:p>
            <a:endParaRPr/>
          </a:p>
        </p:txBody>
      </p:sp>
      <p:sp>
        <p:nvSpPr>
          <p:cNvPr id="154" name="Google Shape;154;p29"/>
          <p:cNvSpPr txBox="1">
            <a:spLocks noGrp="1"/>
          </p:cNvSpPr>
          <p:nvPr>
            <p:ph type="body" idx="1"/>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228600" algn="l" rtl="0">
              <a:lnSpc>
                <a:spcPct val="115000"/>
              </a:lnSpc>
              <a:spcBef>
                <a:spcPts val="0"/>
              </a:spcBef>
              <a:spcAft>
                <a:spcPts val="0"/>
              </a:spcAft>
              <a:buClr>
                <a:srgbClr val="000000"/>
              </a:buClr>
              <a:buSzPts val="1300"/>
              <a:buFont typeface="Arial"/>
              <a:buNone/>
              <a:defRPr>
                <a:solidFill>
                  <a:srgbClr val="000000"/>
                </a:solidFill>
                <a:latin typeface="Arial"/>
                <a:ea typeface="Arial"/>
                <a:cs typeface="Arial"/>
                <a:sym typeface="Arial"/>
              </a:defRPr>
            </a:lvl1pPr>
            <a:lvl2pPr marL="914400" lvl="1"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lgn="l" rtl="0">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
        <p:nvSpPr>
          <p:cNvPr id="155" name="Google Shape;155;p29"/>
          <p:cNvSpPr txBox="1">
            <a:spLocks noGrp="1"/>
          </p:cNvSpPr>
          <p:nvPr>
            <p:ph type="body" idx="2"/>
          </p:nvPr>
        </p:nvSpPr>
        <p:spPr>
          <a:xfrm>
            <a:off x="301625" y="501650"/>
            <a:ext cx="4165500" cy="4430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0"/>
              </a:spcBef>
              <a:spcAft>
                <a:spcPts val="0"/>
              </a:spcAft>
              <a:buSzPts val="1100"/>
              <a:buChar char="○"/>
              <a:defRPr/>
            </a:lvl2pPr>
            <a:lvl3pPr marL="1371600" lvl="2" indent="-298450" algn="l" rtl="0">
              <a:lnSpc>
                <a:spcPct val="115000"/>
              </a:lnSpc>
              <a:spcBef>
                <a:spcPts val="0"/>
              </a:spcBef>
              <a:spcAft>
                <a:spcPts val="0"/>
              </a:spcAft>
              <a:buSzPts val="1100"/>
              <a:buChar char="■"/>
              <a:defRPr/>
            </a:lvl3pPr>
            <a:lvl4pPr marL="1828800" lvl="3" indent="-298450" algn="l" rtl="0">
              <a:lnSpc>
                <a:spcPct val="115000"/>
              </a:lnSpc>
              <a:spcBef>
                <a:spcPts val="0"/>
              </a:spcBef>
              <a:spcAft>
                <a:spcPts val="0"/>
              </a:spcAft>
              <a:buSzPts val="1100"/>
              <a:buChar char="●"/>
              <a:defRPr/>
            </a:lvl4pPr>
            <a:lvl5pPr marL="2286000" lvl="4" indent="-298450" algn="l" rtl="0">
              <a:lnSpc>
                <a:spcPct val="115000"/>
              </a:lnSpc>
              <a:spcBef>
                <a:spcPts val="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56" name="Google Shape;156;p29"/>
          <p:cNvSpPr txBox="1">
            <a:spLocks noGrp="1"/>
          </p:cNvSpPr>
          <p:nvPr>
            <p:ph type="body" idx="3"/>
          </p:nvPr>
        </p:nvSpPr>
        <p:spPr>
          <a:xfrm>
            <a:off x="5192226" y="1278143"/>
            <a:ext cx="3706500" cy="26769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Clr>
                <a:schemeClr val="lt1"/>
              </a:buClr>
              <a:buSzPts val="1300"/>
              <a:buChar char="●"/>
              <a:defRPr>
                <a:solidFill>
                  <a:schemeClr val="lt1"/>
                </a:solidFill>
              </a:defRPr>
            </a:lvl1pPr>
            <a:lvl2pPr marL="914400" lvl="1" indent="-298450" algn="l" rtl="0">
              <a:lnSpc>
                <a:spcPct val="115000"/>
              </a:lnSpc>
              <a:spcBef>
                <a:spcPts val="0"/>
              </a:spcBef>
              <a:spcAft>
                <a:spcPts val="0"/>
              </a:spcAft>
              <a:buClr>
                <a:schemeClr val="lt1"/>
              </a:buClr>
              <a:buSzPts val="1100"/>
              <a:buChar char="○"/>
              <a:defRPr>
                <a:solidFill>
                  <a:schemeClr val="lt1"/>
                </a:solidFill>
              </a:defRPr>
            </a:lvl2pPr>
            <a:lvl3pPr marL="1371600" lvl="2" indent="-298450" algn="l" rtl="0">
              <a:lnSpc>
                <a:spcPct val="115000"/>
              </a:lnSpc>
              <a:spcBef>
                <a:spcPts val="0"/>
              </a:spcBef>
              <a:spcAft>
                <a:spcPts val="0"/>
              </a:spcAft>
              <a:buClr>
                <a:schemeClr val="lt1"/>
              </a:buClr>
              <a:buSzPts val="1100"/>
              <a:buChar char="■"/>
              <a:defRPr>
                <a:solidFill>
                  <a:schemeClr val="lt1"/>
                </a:solidFill>
              </a:defRPr>
            </a:lvl3pPr>
            <a:lvl4pPr marL="1828800" lvl="3" indent="-298450" algn="l" rtl="0">
              <a:lnSpc>
                <a:spcPct val="115000"/>
              </a:lnSpc>
              <a:spcBef>
                <a:spcPts val="0"/>
              </a:spcBef>
              <a:spcAft>
                <a:spcPts val="0"/>
              </a:spcAft>
              <a:buClr>
                <a:schemeClr val="lt1"/>
              </a:buClr>
              <a:buSzPts val="1100"/>
              <a:buChar char="●"/>
              <a:defRPr>
                <a:solidFill>
                  <a:schemeClr val="lt1"/>
                </a:solidFill>
              </a:defRPr>
            </a:lvl4pPr>
            <a:lvl5pPr marL="2286000" lvl="4" indent="-298450" algn="l" rtl="0">
              <a:lnSpc>
                <a:spcPct val="115000"/>
              </a:lnSpc>
              <a:spcBef>
                <a:spcPts val="0"/>
              </a:spcBef>
              <a:spcAft>
                <a:spcPts val="0"/>
              </a:spcAft>
              <a:buClr>
                <a:schemeClr val="lt1"/>
              </a:buClr>
              <a:buSzPts val="1100"/>
              <a:buChar char="○"/>
              <a:defRPr>
                <a:solidFill>
                  <a:schemeClr val="lt1"/>
                </a:solidFill>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ustom layout">
  <p:cSld name="AUTOLAYOUT_2">
    <p:bg>
      <p:bgPr>
        <a:solidFill>
          <a:srgbClr val="FFFFFF"/>
        </a:solidFill>
        <a:effectLst/>
      </p:bgPr>
    </p:bg>
    <p:spTree>
      <p:nvGrpSpPr>
        <p:cNvPr id="1" name="Shape 157"/>
        <p:cNvGrpSpPr/>
        <p:nvPr/>
      </p:nvGrpSpPr>
      <p:grpSpPr>
        <a:xfrm>
          <a:off x="0" y="0"/>
          <a:ext cx="0" cy="0"/>
          <a:chOff x="0" y="0"/>
          <a:chExt cx="0" cy="0"/>
        </a:xfrm>
      </p:grpSpPr>
      <p:sp>
        <p:nvSpPr>
          <p:cNvPr id="158" name="Google Shape;158;p30"/>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30"/>
          <p:cNvSpPr/>
          <p:nvPr/>
        </p:nvSpPr>
        <p:spPr>
          <a:xfrm rot="10800000" flipH="1">
            <a:off x="365425" y="659700"/>
            <a:ext cx="10635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30"/>
          <p:cNvSpPr/>
          <p:nvPr/>
        </p:nvSpPr>
        <p:spPr>
          <a:xfrm rot="10800000">
            <a:off x="439525" y="659700"/>
            <a:ext cx="989400" cy="685500"/>
          </a:xfrm>
          <a:prstGeom prst="rtTriangle">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30"/>
          <p:cNvSpPr/>
          <p:nvPr/>
        </p:nvSpPr>
        <p:spPr>
          <a:xfrm>
            <a:off x="365425" y="0"/>
            <a:ext cx="1063500" cy="8160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30"/>
          <p:cNvSpPr txBox="1">
            <a:spLocks noGrp="1"/>
          </p:cNvSpPr>
          <p:nvPr>
            <p:ph type="title"/>
          </p:nvPr>
        </p:nvSpPr>
        <p:spPr>
          <a:xfrm>
            <a:off x="2454975" y="72350"/>
            <a:ext cx="6486000" cy="852000"/>
          </a:xfrm>
          <a:prstGeom prst="rect">
            <a:avLst/>
          </a:prstGeom>
          <a:noFill/>
          <a:ln>
            <a:noFill/>
          </a:ln>
        </p:spPr>
        <p:txBody>
          <a:bodyPr spcFirstLastPara="1" wrap="square" lIns="91425" tIns="91425" rIns="91425" bIns="91425" anchor="t" anchorCtr="0">
            <a:noAutofit/>
          </a:bodyPr>
          <a:lstStyle>
            <a:lvl1pPr lvl="0" algn="l" rtl="0">
              <a:lnSpc>
                <a:spcPct val="100000"/>
              </a:lnSpc>
              <a:spcBef>
                <a:spcPts val="0"/>
              </a:spcBef>
              <a:spcAft>
                <a:spcPts val="0"/>
              </a:spcAft>
              <a:buClr>
                <a:schemeClr val="dk1"/>
              </a:buClr>
              <a:buSzPts val="3600"/>
              <a:buNone/>
              <a:defRPr sz="3600" b="1">
                <a:solidFill>
                  <a:schemeClr val="dk1"/>
                </a:solidFill>
              </a:defRPr>
            </a:lvl1pPr>
            <a:lvl2pPr lvl="1" algn="l" rtl="0">
              <a:lnSpc>
                <a:spcPct val="100000"/>
              </a:lnSpc>
              <a:spcBef>
                <a:spcPts val="0"/>
              </a:spcBef>
              <a:spcAft>
                <a:spcPts val="0"/>
              </a:spcAft>
              <a:buClr>
                <a:schemeClr val="dk1"/>
              </a:buClr>
              <a:buSzPts val="3600"/>
              <a:buNone/>
              <a:defRPr sz="3600" b="1">
                <a:solidFill>
                  <a:schemeClr val="dk1"/>
                </a:solidFill>
              </a:defRPr>
            </a:lvl2pPr>
            <a:lvl3pPr lvl="2" algn="l" rtl="0">
              <a:lnSpc>
                <a:spcPct val="100000"/>
              </a:lnSpc>
              <a:spcBef>
                <a:spcPts val="0"/>
              </a:spcBef>
              <a:spcAft>
                <a:spcPts val="0"/>
              </a:spcAft>
              <a:buClr>
                <a:schemeClr val="dk1"/>
              </a:buClr>
              <a:buSzPts val="3600"/>
              <a:buNone/>
              <a:defRPr sz="3600" b="1">
                <a:solidFill>
                  <a:schemeClr val="dk1"/>
                </a:solidFill>
              </a:defRPr>
            </a:lvl3pPr>
            <a:lvl4pPr lvl="3" algn="l" rtl="0">
              <a:lnSpc>
                <a:spcPct val="100000"/>
              </a:lnSpc>
              <a:spcBef>
                <a:spcPts val="0"/>
              </a:spcBef>
              <a:spcAft>
                <a:spcPts val="0"/>
              </a:spcAft>
              <a:buClr>
                <a:schemeClr val="dk1"/>
              </a:buClr>
              <a:buSzPts val="3600"/>
              <a:buNone/>
              <a:defRPr sz="3600" b="1">
                <a:solidFill>
                  <a:schemeClr val="dk1"/>
                </a:solidFill>
              </a:defRPr>
            </a:lvl4pPr>
            <a:lvl5pPr lvl="4" algn="l" rtl="0">
              <a:lnSpc>
                <a:spcPct val="100000"/>
              </a:lnSpc>
              <a:spcBef>
                <a:spcPts val="0"/>
              </a:spcBef>
              <a:spcAft>
                <a:spcPts val="0"/>
              </a:spcAft>
              <a:buClr>
                <a:schemeClr val="dk1"/>
              </a:buClr>
              <a:buSzPts val="3600"/>
              <a:buNone/>
              <a:defRPr sz="3600" b="1">
                <a:solidFill>
                  <a:schemeClr val="dk1"/>
                </a:solidFill>
              </a:defRPr>
            </a:lvl5pPr>
            <a:lvl6pPr lvl="5" algn="l" rtl="0">
              <a:lnSpc>
                <a:spcPct val="100000"/>
              </a:lnSpc>
              <a:spcBef>
                <a:spcPts val="0"/>
              </a:spcBef>
              <a:spcAft>
                <a:spcPts val="0"/>
              </a:spcAft>
              <a:buClr>
                <a:schemeClr val="dk1"/>
              </a:buClr>
              <a:buSzPts val="3600"/>
              <a:buNone/>
              <a:defRPr sz="3600" b="1">
                <a:solidFill>
                  <a:schemeClr val="dk1"/>
                </a:solidFill>
              </a:defRPr>
            </a:lvl6pPr>
            <a:lvl7pPr lvl="6" algn="l" rtl="0">
              <a:lnSpc>
                <a:spcPct val="100000"/>
              </a:lnSpc>
              <a:spcBef>
                <a:spcPts val="0"/>
              </a:spcBef>
              <a:spcAft>
                <a:spcPts val="0"/>
              </a:spcAft>
              <a:buClr>
                <a:schemeClr val="dk1"/>
              </a:buClr>
              <a:buSzPts val="3600"/>
              <a:buNone/>
              <a:defRPr sz="3600" b="1">
                <a:solidFill>
                  <a:schemeClr val="dk1"/>
                </a:solidFill>
              </a:defRPr>
            </a:lvl7pPr>
            <a:lvl8pPr lvl="7" algn="l" rtl="0">
              <a:lnSpc>
                <a:spcPct val="100000"/>
              </a:lnSpc>
              <a:spcBef>
                <a:spcPts val="0"/>
              </a:spcBef>
              <a:spcAft>
                <a:spcPts val="0"/>
              </a:spcAft>
              <a:buClr>
                <a:schemeClr val="dk1"/>
              </a:buClr>
              <a:buSzPts val="3600"/>
              <a:buNone/>
              <a:defRPr sz="3600" b="1">
                <a:solidFill>
                  <a:schemeClr val="dk1"/>
                </a:solidFill>
              </a:defRPr>
            </a:lvl8pPr>
            <a:lvl9pPr lvl="8" algn="l" rtl="0">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163" name="Google Shape;163;p30"/>
          <p:cNvSpPr txBox="1">
            <a:spLocks noGrp="1"/>
          </p:cNvSpPr>
          <p:nvPr>
            <p:ph type="body" idx="1"/>
          </p:nvPr>
        </p:nvSpPr>
        <p:spPr>
          <a:xfrm>
            <a:off x="2454975" y="924350"/>
            <a:ext cx="6486000" cy="1146600"/>
          </a:xfrm>
          <a:prstGeom prst="rect">
            <a:avLst/>
          </a:prstGeom>
          <a:noFill/>
          <a:ln>
            <a:noFill/>
          </a:ln>
        </p:spPr>
        <p:txBody>
          <a:bodyPr spcFirstLastPara="1" wrap="square" lIns="91425" tIns="91425" rIns="91425" bIns="91425" anchor="t" anchorCtr="0">
            <a:noAutofit/>
          </a:bodyPr>
          <a:lstStyle>
            <a:lvl1pPr marL="457200" lvl="0" indent="-330200" algn="l" rtl="0">
              <a:lnSpc>
                <a:spcPct val="115000"/>
              </a:lnSpc>
              <a:spcBef>
                <a:spcPts val="0"/>
              </a:spcBef>
              <a:spcAft>
                <a:spcPts val="0"/>
              </a:spcAft>
              <a:buClr>
                <a:schemeClr val="dk2"/>
              </a:buClr>
              <a:buSzPts val="1600"/>
              <a:buChar char="●"/>
              <a:defRPr sz="1600">
                <a:solidFill>
                  <a:schemeClr val="dk2"/>
                </a:solidFill>
              </a:defRPr>
            </a:lvl1pPr>
            <a:lvl2pPr marL="914400" lvl="1" indent="-298450" algn="l" rtl="0">
              <a:lnSpc>
                <a:spcPct val="115000"/>
              </a:lnSpc>
              <a:spcBef>
                <a:spcPts val="1600"/>
              </a:spcBef>
              <a:spcAft>
                <a:spcPts val="0"/>
              </a:spcAft>
              <a:buClr>
                <a:schemeClr val="dk2"/>
              </a:buClr>
              <a:buSzPts val="1100"/>
              <a:buChar char="○"/>
              <a:defRPr sz="1400">
                <a:solidFill>
                  <a:schemeClr val="dk2"/>
                </a:solidFill>
              </a:defRPr>
            </a:lvl2pPr>
            <a:lvl3pPr marL="1371600" lvl="2" indent="-298450" algn="l" rtl="0">
              <a:lnSpc>
                <a:spcPct val="115000"/>
              </a:lnSpc>
              <a:spcBef>
                <a:spcPts val="1600"/>
              </a:spcBef>
              <a:spcAft>
                <a:spcPts val="0"/>
              </a:spcAft>
              <a:buClr>
                <a:schemeClr val="dk2"/>
              </a:buClr>
              <a:buSzPts val="1100"/>
              <a:buChar char="■"/>
              <a:defRPr sz="1400">
                <a:solidFill>
                  <a:schemeClr val="dk2"/>
                </a:solidFill>
              </a:defRPr>
            </a:lvl3pPr>
            <a:lvl4pPr marL="1828800" lvl="3" indent="-298450" algn="l" rtl="0">
              <a:lnSpc>
                <a:spcPct val="115000"/>
              </a:lnSpc>
              <a:spcBef>
                <a:spcPts val="1600"/>
              </a:spcBef>
              <a:spcAft>
                <a:spcPts val="0"/>
              </a:spcAft>
              <a:buClr>
                <a:schemeClr val="dk2"/>
              </a:buClr>
              <a:buSzPts val="1100"/>
              <a:buChar char="●"/>
              <a:defRPr sz="1400">
                <a:solidFill>
                  <a:schemeClr val="dk2"/>
                </a:solidFill>
              </a:defRPr>
            </a:lvl4pPr>
            <a:lvl5pPr marL="2286000" lvl="4" indent="-298450" algn="l" rtl="0">
              <a:lnSpc>
                <a:spcPct val="115000"/>
              </a:lnSpc>
              <a:spcBef>
                <a:spcPts val="1600"/>
              </a:spcBef>
              <a:spcAft>
                <a:spcPts val="0"/>
              </a:spcAft>
              <a:buClr>
                <a:schemeClr val="dk2"/>
              </a:buClr>
              <a:buSzPts val="1100"/>
              <a:buChar char="○"/>
              <a:defRPr sz="1400">
                <a:solidFill>
                  <a:schemeClr val="dk2"/>
                </a:solidFill>
              </a:defRPr>
            </a:lvl5pPr>
            <a:lvl6pPr marL="2743200" lvl="5" indent="-298450" algn="l" rtl="0">
              <a:lnSpc>
                <a:spcPct val="115000"/>
              </a:lnSpc>
              <a:spcBef>
                <a:spcPts val="1600"/>
              </a:spcBef>
              <a:spcAft>
                <a:spcPts val="0"/>
              </a:spcAft>
              <a:buClr>
                <a:schemeClr val="dk2"/>
              </a:buClr>
              <a:buSzPts val="1100"/>
              <a:buChar char="■"/>
              <a:defRPr sz="1400">
                <a:solidFill>
                  <a:schemeClr val="dk2"/>
                </a:solidFill>
              </a:defRPr>
            </a:lvl6pPr>
            <a:lvl7pPr marL="3200400" lvl="6" indent="-298450" algn="l" rtl="0">
              <a:lnSpc>
                <a:spcPct val="115000"/>
              </a:lnSpc>
              <a:spcBef>
                <a:spcPts val="1600"/>
              </a:spcBef>
              <a:spcAft>
                <a:spcPts val="0"/>
              </a:spcAft>
              <a:buClr>
                <a:schemeClr val="dk2"/>
              </a:buClr>
              <a:buSzPts val="1100"/>
              <a:buChar char="●"/>
              <a:defRPr sz="1400">
                <a:solidFill>
                  <a:schemeClr val="dk2"/>
                </a:solidFill>
              </a:defRPr>
            </a:lvl7pPr>
            <a:lvl8pPr marL="3657600" lvl="7" indent="-298450" algn="l" rtl="0">
              <a:lnSpc>
                <a:spcPct val="115000"/>
              </a:lnSpc>
              <a:spcBef>
                <a:spcPts val="1600"/>
              </a:spcBef>
              <a:spcAft>
                <a:spcPts val="0"/>
              </a:spcAft>
              <a:buClr>
                <a:schemeClr val="dk2"/>
              </a:buClr>
              <a:buSzPts val="1100"/>
              <a:buChar char="○"/>
              <a:defRPr sz="1400">
                <a:solidFill>
                  <a:schemeClr val="dk2"/>
                </a:solidFill>
              </a:defRPr>
            </a:lvl8pPr>
            <a:lvl9pPr marL="4114800" lvl="8" indent="-298450" algn="l" rtl="0">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164" name="Google Shape;164;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65" name="Google Shape;165;p30"/>
          <p:cNvSpPr txBox="1">
            <a:spLocks noGrp="1"/>
          </p:cNvSpPr>
          <p:nvPr>
            <p:ph type="body" idx="2"/>
          </p:nvPr>
        </p:nvSpPr>
        <p:spPr>
          <a:xfrm>
            <a:off x="110475" y="1720575"/>
            <a:ext cx="2311200" cy="21765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66" name="Google Shape;166;p30"/>
          <p:cNvSpPr txBox="1">
            <a:spLocks noGrp="1"/>
          </p:cNvSpPr>
          <p:nvPr>
            <p:ph type="body" idx="3"/>
          </p:nvPr>
        </p:nvSpPr>
        <p:spPr>
          <a:xfrm>
            <a:off x="2454975" y="2013125"/>
            <a:ext cx="6486000" cy="2828700"/>
          </a:xfrm>
          <a:prstGeom prst="rect">
            <a:avLst/>
          </a:prstGeom>
          <a:noFill/>
          <a:ln>
            <a:noFill/>
          </a:ln>
        </p:spPr>
        <p:txBody>
          <a:bodyPr spcFirstLastPara="1" wrap="square" lIns="91425" tIns="91425" rIns="91425" bIns="91425" anchor="t" anchorCtr="0">
            <a:noAutofit/>
          </a:bodyPr>
          <a:lstStyle>
            <a:lvl1pPr marL="457200" lvl="0" indent="-311150" algn="l" rtl="0">
              <a:lnSpc>
                <a:spcPct val="115000"/>
              </a:lnSpc>
              <a:spcBef>
                <a:spcPts val="0"/>
              </a:spcBef>
              <a:spcAft>
                <a:spcPts val="0"/>
              </a:spcAft>
              <a:buSzPts val="1300"/>
              <a:buChar char="●"/>
              <a:defRPr/>
            </a:lvl1pPr>
            <a:lvl2pPr marL="914400" lvl="1" indent="-298450" algn="l" rtl="0">
              <a:lnSpc>
                <a:spcPct val="115000"/>
              </a:lnSpc>
              <a:spcBef>
                <a:spcPts val="1600"/>
              </a:spcBef>
              <a:spcAft>
                <a:spcPts val="0"/>
              </a:spcAft>
              <a:buSzPts val="1100"/>
              <a:buChar char="○"/>
              <a:defRPr/>
            </a:lvl2pPr>
            <a:lvl3pPr marL="1371600" lvl="2" indent="-298450" algn="l" rtl="0">
              <a:lnSpc>
                <a:spcPct val="115000"/>
              </a:lnSpc>
              <a:spcBef>
                <a:spcPts val="1600"/>
              </a:spcBef>
              <a:spcAft>
                <a:spcPts val="0"/>
              </a:spcAft>
              <a:buSzPts val="1100"/>
              <a:buChar char="■"/>
              <a:defRPr/>
            </a:lvl3pPr>
            <a:lvl4pPr marL="1828800" lvl="3" indent="-298450" algn="l" rtl="0">
              <a:lnSpc>
                <a:spcPct val="115000"/>
              </a:lnSpc>
              <a:spcBef>
                <a:spcPts val="1600"/>
              </a:spcBef>
              <a:spcAft>
                <a:spcPts val="0"/>
              </a:spcAft>
              <a:buSzPts val="1100"/>
              <a:buChar char="●"/>
              <a:defRPr/>
            </a:lvl4pPr>
            <a:lvl5pPr marL="2286000" lvl="4" indent="-298450" algn="l" rtl="0">
              <a:lnSpc>
                <a:spcPct val="115000"/>
              </a:lnSpc>
              <a:spcBef>
                <a:spcPts val="1600"/>
              </a:spcBef>
              <a:spcAft>
                <a:spcPts val="0"/>
              </a:spcAft>
              <a:buSzPts val="1100"/>
              <a:buChar char="○"/>
              <a:defRPr/>
            </a:lvl5pPr>
            <a:lvl6pPr marL="2743200" lvl="5" indent="-298450" algn="l" rtl="0">
              <a:lnSpc>
                <a:spcPct val="115000"/>
              </a:lnSpc>
              <a:spcBef>
                <a:spcPts val="1600"/>
              </a:spcBef>
              <a:spcAft>
                <a:spcPts val="0"/>
              </a:spcAft>
              <a:buSzPts val="1100"/>
              <a:buChar char="■"/>
              <a:defRPr/>
            </a:lvl6pPr>
            <a:lvl7pPr marL="3200400" lvl="6" indent="-298450" algn="l" rtl="0">
              <a:lnSpc>
                <a:spcPct val="115000"/>
              </a:lnSpc>
              <a:spcBef>
                <a:spcPts val="1600"/>
              </a:spcBef>
              <a:spcAft>
                <a:spcPts val="0"/>
              </a:spcAft>
              <a:buSzPts val="1100"/>
              <a:buChar char="●"/>
              <a:defRPr/>
            </a:lvl7pPr>
            <a:lvl8pPr marL="3657600" lvl="7" indent="-298450" algn="l" rtl="0">
              <a:lnSpc>
                <a:spcPct val="115000"/>
              </a:lnSpc>
              <a:spcBef>
                <a:spcPts val="1600"/>
              </a:spcBef>
              <a:spcAft>
                <a:spcPts val="0"/>
              </a:spcAft>
              <a:buSzPts val="1100"/>
              <a:buChar char="○"/>
              <a:defRPr/>
            </a:lvl8pPr>
            <a:lvl9pPr marL="4114800" lvl="8" indent="-298450" algn="l" rtl="0">
              <a:lnSpc>
                <a:spcPct val="115000"/>
              </a:lnSpc>
              <a:spcBef>
                <a:spcPts val="1600"/>
              </a:spcBef>
              <a:spcAft>
                <a:spcPts val="1600"/>
              </a:spcAft>
              <a:buSzPts val="1100"/>
              <a:buChar char="■"/>
              <a:defRPr/>
            </a:lvl9pPr>
          </a:lstStyle>
          <a:p>
            <a:endParaRPr/>
          </a:p>
        </p:txBody>
      </p:sp>
      <p:sp>
        <p:nvSpPr>
          <p:cNvPr id="167" name="Google Shape;167;p30"/>
          <p:cNvSpPr txBox="1">
            <a:spLocks noGrp="1"/>
          </p:cNvSpPr>
          <p:nvPr>
            <p:ph type="title" idx="4"/>
          </p:nvPr>
        </p:nvSpPr>
        <p:spPr>
          <a:xfrm>
            <a:off x="365422" y="170425"/>
            <a:ext cx="1063500" cy="539400"/>
          </a:xfrm>
          <a:prstGeom prst="rect">
            <a:avLst/>
          </a:prstGeom>
          <a:no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i="1">
                <a:solidFill>
                  <a:srgbClr val="FFFFFF"/>
                </a:solidFill>
                <a:latin typeface="Arial"/>
                <a:ea typeface="Arial"/>
                <a:cs typeface="Arial"/>
                <a:sym typeface="Arial"/>
              </a:defRPr>
            </a:lvl1pPr>
            <a:lvl2pPr lvl="1" algn="l" rtl="0">
              <a:lnSpc>
                <a:spcPct val="100000"/>
              </a:lnSpc>
              <a:spcBef>
                <a:spcPts val="0"/>
              </a:spcBef>
              <a:spcAft>
                <a:spcPts val="0"/>
              </a:spcAft>
              <a:buSzPts val="2800"/>
              <a:buNone/>
              <a:defRPr>
                <a:latin typeface="Roboto"/>
                <a:ea typeface="Roboto"/>
                <a:cs typeface="Roboto"/>
                <a:sym typeface="Roboto"/>
              </a:defRPr>
            </a:lvl2pPr>
            <a:lvl3pPr lvl="2" algn="l" rtl="0">
              <a:lnSpc>
                <a:spcPct val="100000"/>
              </a:lnSpc>
              <a:spcBef>
                <a:spcPts val="0"/>
              </a:spcBef>
              <a:spcAft>
                <a:spcPts val="0"/>
              </a:spcAft>
              <a:buSzPts val="2800"/>
              <a:buNone/>
              <a:defRPr>
                <a:latin typeface="Roboto"/>
                <a:ea typeface="Roboto"/>
                <a:cs typeface="Roboto"/>
                <a:sym typeface="Roboto"/>
              </a:defRPr>
            </a:lvl3pPr>
            <a:lvl4pPr lvl="3" algn="l" rtl="0">
              <a:lnSpc>
                <a:spcPct val="100000"/>
              </a:lnSpc>
              <a:spcBef>
                <a:spcPts val="0"/>
              </a:spcBef>
              <a:spcAft>
                <a:spcPts val="0"/>
              </a:spcAft>
              <a:buSzPts val="2800"/>
              <a:buNone/>
              <a:defRPr>
                <a:latin typeface="Roboto"/>
                <a:ea typeface="Roboto"/>
                <a:cs typeface="Roboto"/>
                <a:sym typeface="Roboto"/>
              </a:defRPr>
            </a:lvl4pPr>
            <a:lvl5pPr lvl="4" algn="l" rtl="0">
              <a:lnSpc>
                <a:spcPct val="100000"/>
              </a:lnSpc>
              <a:spcBef>
                <a:spcPts val="0"/>
              </a:spcBef>
              <a:spcAft>
                <a:spcPts val="0"/>
              </a:spcAft>
              <a:buSzPts val="2800"/>
              <a:buNone/>
              <a:defRPr>
                <a:latin typeface="Roboto"/>
                <a:ea typeface="Roboto"/>
                <a:cs typeface="Roboto"/>
                <a:sym typeface="Roboto"/>
              </a:defRPr>
            </a:lvl5pPr>
            <a:lvl6pPr lvl="5" algn="l" rtl="0">
              <a:lnSpc>
                <a:spcPct val="100000"/>
              </a:lnSpc>
              <a:spcBef>
                <a:spcPts val="0"/>
              </a:spcBef>
              <a:spcAft>
                <a:spcPts val="0"/>
              </a:spcAft>
              <a:buSzPts val="2800"/>
              <a:buNone/>
              <a:defRPr>
                <a:latin typeface="Roboto"/>
                <a:ea typeface="Roboto"/>
                <a:cs typeface="Roboto"/>
                <a:sym typeface="Roboto"/>
              </a:defRPr>
            </a:lvl6pPr>
            <a:lvl7pPr lvl="6" algn="l" rtl="0">
              <a:lnSpc>
                <a:spcPct val="100000"/>
              </a:lnSpc>
              <a:spcBef>
                <a:spcPts val="0"/>
              </a:spcBef>
              <a:spcAft>
                <a:spcPts val="0"/>
              </a:spcAft>
              <a:buSzPts val="2800"/>
              <a:buNone/>
              <a:defRPr>
                <a:latin typeface="Roboto"/>
                <a:ea typeface="Roboto"/>
                <a:cs typeface="Roboto"/>
                <a:sym typeface="Roboto"/>
              </a:defRPr>
            </a:lvl7pPr>
            <a:lvl8pPr lvl="7" algn="l" rtl="0">
              <a:lnSpc>
                <a:spcPct val="100000"/>
              </a:lnSpc>
              <a:spcBef>
                <a:spcPts val="0"/>
              </a:spcBef>
              <a:spcAft>
                <a:spcPts val="0"/>
              </a:spcAft>
              <a:buSzPts val="2800"/>
              <a:buNone/>
              <a:defRPr>
                <a:latin typeface="Roboto"/>
                <a:ea typeface="Roboto"/>
                <a:cs typeface="Roboto"/>
                <a:sym typeface="Roboto"/>
              </a:defRPr>
            </a:lvl8pPr>
            <a:lvl9pPr lvl="8" algn="l" rtl="0">
              <a:lnSpc>
                <a:spcPct val="100000"/>
              </a:lnSpc>
              <a:spcBef>
                <a:spcPts val="0"/>
              </a:spcBef>
              <a:spcAft>
                <a:spcPts val="0"/>
              </a:spcAft>
              <a:buSzPts val="2800"/>
              <a:buNone/>
              <a:defRPr>
                <a:latin typeface="Roboto"/>
                <a:ea typeface="Roboto"/>
                <a:cs typeface="Roboto"/>
                <a:sym typeface="Roboto"/>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172"/>
        <p:cNvGrpSpPr/>
        <p:nvPr/>
      </p:nvGrpSpPr>
      <p:grpSpPr>
        <a:xfrm>
          <a:off x="0" y="0"/>
          <a:ext cx="0" cy="0"/>
          <a:chOff x="0" y="0"/>
          <a:chExt cx="0" cy="0"/>
        </a:xfrm>
      </p:grpSpPr>
      <p:sp>
        <p:nvSpPr>
          <p:cNvPr id="173" name="Google Shape;173;p3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74" name="Google Shape;174;p3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75" name="Google Shape;175;p3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76" name="Google Shape;176;p3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77"/>
        <p:cNvGrpSpPr/>
        <p:nvPr/>
      </p:nvGrpSpPr>
      <p:grpSpPr>
        <a:xfrm>
          <a:off x="0" y="0"/>
          <a:ext cx="0" cy="0"/>
          <a:chOff x="0" y="0"/>
          <a:chExt cx="0" cy="0"/>
        </a:xfrm>
      </p:grpSpPr>
      <p:sp>
        <p:nvSpPr>
          <p:cNvPr id="178" name="Google Shape;178;p3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79" name="Google Shape;179;p3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80" name="Google Shape;180;p3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1" name="Google Shape;181;p3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2"/>
        <p:cNvGrpSpPr/>
        <p:nvPr/>
      </p:nvGrpSpPr>
      <p:grpSpPr>
        <a:xfrm>
          <a:off x="0" y="0"/>
          <a:ext cx="0" cy="0"/>
          <a:chOff x="0" y="0"/>
          <a:chExt cx="0" cy="0"/>
        </a:xfrm>
      </p:grpSpPr>
      <p:sp>
        <p:nvSpPr>
          <p:cNvPr id="183" name="Google Shape;183;p34"/>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184" name="Google Shape;184;p3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4"/>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6" name="Google Shape;186;p34"/>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87" name="Google Shape;187;p3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88" name="Google Shape;188;p34"/>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189" name="Google Shape;189;p34"/>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0"/>
        <p:cNvGrpSpPr/>
        <p:nvPr/>
      </p:nvGrpSpPr>
      <p:grpSpPr>
        <a:xfrm>
          <a:off x="0" y="0"/>
          <a:ext cx="0" cy="0"/>
          <a:chOff x="0" y="0"/>
          <a:chExt cx="0" cy="0"/>
        </a:xfrm>
      </p:grpSpPr>
      <p:sp>
        <p:nvSpPr>
          <p:cNvPr id="191" name="Google Shape;191;p3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93" name="Google Shape;193;p3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94" name="Google Shape;194;p3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95" name="Google Shape;195;p3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6"/>
        <p:cNvGrpSpPr/>
        <p:nvPr/>
      </p:nvGrpSpPr>
      <p:grpSpPr>
        <a:xfrm>
          <a:off x="0" y="0"/>
          <a:ext cx="0" cy="0"/>
          <a:chOff x="0" y="0"/>
          <a:chExt cx="0" cy="0"/>
        </a:xfrm>
      </p:grpSpPr>
      <p:sp>
        <p:nvSpPr>
          <p:cNvPr id="197" name="Google Shape;197;p36"/>
          <p:cNvSpPr/>
          <p:nvPr/>
        </p:nvSpPr>
        <p:spPr>
          <a:xfrm>
            <a:off x="0" y="0"/>
            <a:ext cx="9144000" cy="729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6"/>
          <p:cNvSpPr txBox="1">
            <a:spLocks noGrp="1"/>
          </p:cNvSpPr>
          <p:nvPr>
            <p:ph type="title"/>
          </p:nvPr>
        </p:nvSpPr>
        <p:spPr>
          <a:xfrm>
            <a:off x="311700" y="105275"/>
            <a:ext cx="8520600" cy="6237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99" name="Google Shape;199;p3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00"/>
        <p:cNvGrpSpPr/>
        <p:nvPr/>
      </p:nvGrpSpPr>
      <p:grpSpPr>
        <a:xfrm>
          <a:off x="0" y="0"/>
          <a:ext cx="0" cy="0"/>
          <a:chOff x="0" y="0"/>
          <a:chExt cx="0" cy="0"/>
        </a:xfrm>
      </p:grpSpPr>
      <p:sp>
        <p:nvSpPr>
          <p:cNvPr id="201" name="Google Shape;201;p37"/>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7"/>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03" name="Google Shape;203;p37"/>
          <p:cNvSpPr txBox="1">
            <a:spLocks noGrp="1"/>
          </p:cNvSpPr>
          <p:nvPr>
            <p:ph type="sldNum" idx="12"/>
          </p:nvPr>
        </p:nvSpPr>
        <p:spPr>
          <a:xfrm>
            <a:off x="90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04" name="Google Shape;204;p37"/>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05" name="Google Shape;205;p37"/>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06" name="Google Shape;206;p37"/>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207" name="Google Shape;207;p37"/>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lvl1pPr marL="457200" lvl="0"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208"/>
        <p:cNvGrpSpPr/>
        <p:nvPr/>
      </p:nvGrpSpPr>
      <p:grpSpPr>
        <a:xfrm>
          <a:off x="0" y="0"/>
          <a:ext cx="0" cy="0"/>
          <a:chOff x="0" y="0"/>
          <a:chExt cx="0" cy="0"/>
        </a:xfrm>
      </p:grpSpPr>
      <p:sp>
        <p:nvSpPr>
          <p:cNvPr id="209" name="Google Shape;209;p3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210" name="Google Shape;210;p38"/>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11"/>
        <p:cNvGrpSpPr/>
        <p:nvPr/>
      </p:nvGrpSpPr>
      <p:grpSpPr>
        <a:xfrm>
          <a:off x="0" y="0"/>
          <a:ext cx="0" cy="0"/>
          <a:chOff x="0" y="0"/>
          <a:chExt cx="0" cy="0"/>
        </a:xfrm>
      </p:grpSpPr>
      <p:sp>
        <p:nvSpPr>
          <p:cNvPr id="212" name="Google Shape;212;p3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14" name="Google Shape;214;p3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215" name="Google Shape;215;p3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16" name="Google Shape;216;p39"/>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7"/>
        <p:cNvGrpSpPr/>
        <p:nvPr/>
      </p:nvGrpSpPr>
      <p:grpSpPr>
        <a:xfrm>
          <a:off x="0" y="0"/>
          <a:ext cx="0" cy="0"/>
          <a:chOff x="0" y="0"/>
          <a:chExt cx="0" cy="0"/>
        </a:xfrm>
      </p:grpSpPr>
      <p:sp>
        <p:nvSpPr>
          <p:cNvPr id="218" name="Google Shape;218;p4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4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220" name="Google Shape;220;p40"/>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221"/>
        <p:cNvGrpSpPr/>
        <p:nvPr/>
      </p:nvGrpSpPr>
      <p:grpSpPr>
        <a:xfrm>
          <a:off x="0" y="0"/>
          <a:ext cx="0" cy="0"/>
          <a:chOff x="0" y="0"/>
          <a:chExt cx="0" cy="0"/>
        </a:xfrm>
      </p:grpSpPr>
      <p:sp>
        <p:nvSpPr>
          <p:cNvPr id="222" name="Google Shape;222;p4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23" name="Google Shape;223;p4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224" name="Google Shape;224;p4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5"/>
        <p:cNvGrpSpPr/>
        <p:nvPr/>
      </p:nvGrpSpPr>
      <p:grpSpPr>
        <a:xfrm>
          <a:off x="0" y="0"/>
          <a:ext cx="0" cy="0"/>
          <a:chOff x="0" y="0"/>
          <a:chExt cx="0" cy="0"/>
        </a:xfrm>
      </p:grpSpPr>
      <p:sp>
        <p:nvSpPr>
          <p:cNvPr id="226" name="Google Shape;226;p42"/>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227"/>
        <p:cNvGrpSpPr/>
        <p:nvPr/>
      </p:nvGrpSpPr>
      <p:grpSpPr>
        <a:xfrm>
          <a:off x="0" y="0"/>
          <a:ext cx="0" cy="0"/>
          <a:chOff x="0" y="0"/>
          <a:chExt cx="0" cy="0"/>
        </a:xfrm>
      </p:grpSpPr>
      <p:sp>
        <p:nvSpPr>
          <p:cNvPr id="228" name="Google Shape;228;p4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43"/>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0" name="Google Shape;230;p43"/>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31" name="Google Shape;231;p4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232"/>
        <p:cNvGrpSpPr/>
        <p:nvPr/>
      </p:nvGrpSpPr>
      <p:grpSpPr>
        <a:xfrm>
          <a:off x="0" y="0"/>
          <a:ext cx="0" cy="0"/>
          <a:chOff x="0" y="0"/>
          <a:chExt cx="0" cy="0"/>
        </a:xfrm>
      </p:grpSpPr>
      <p:sp>
        <p:nvSpPr>
          <p:cNvPr id="233" name="Google Shape;233;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34" name="Google Shape;234;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235" name="Google Shape;235;p4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85" name="Google Shape;85;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6" name="Google Shape;86;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latin typeface="Roboto"/>
                <a:ea typeface="Roboto"/>
                <a:cs typeface="Roboto"/>
                <a:sym typeface="Roboto"/>
              </a:defRPr>
            </a:lvl1pPr>
            <a:lvl2pPr lvl="1" algn="r" rtl="0">
              <a:buNone/>
              <a:defRPr sz="1000">
                <a:solidFill>
                  <a:schemeClr val="dk2"/>
                </a:solidFill>
                <a:latin typeface="Roboto"/>
                <a:ea typeface="Roboto"/>
                <a:cs typeface="Roboto"/>
                <a:sym typeface="Roboto"/>
              </a:defRPr>
            </a:lvl2pPr>
            <a:lvl3pPr lvl="2" algn="r" rtl="0">
              <a:buNone/>
              <a:defRPr sz="1000">
                <a:solidFill>
                  <a:schemeClr val="dk2"/>
                </a:solidFill>
                <a:latin typeface="Roboto"/>
                <a:ea typeface="Roboto"/>
                <a:cs typeface="Roboto"/>
                <a:sym typeface="Roboto"/>
              </a:defRPr>
            </a:lvl3pPr>
            <a:lvl4pPr lvl="3" algn="r" rtl="0">
              <a:buNone/>
              <a:defRPr sz="1000">
                <a:solidFill>
                  <a:schemeClr val="dk2"/>
                </a:solidFill>
                <a:latin typeface="Roboto"/>
                <a:ea typeface="Roboto"/>
                <a:cs typeface="Roboto"/>
                <a:sym typeface="Roboto"/>
              </a:defRPr>
            </a:lvl4pPr>
            <a:lvl5pPr lvl="4" algn="r" rtl="0">
              <a:buNone/>
              <a:defRPr sz="1000">
                <a:solidFill>
                  <a:schemeClr val="dk2"/>
                </a:solidFill>
                <a:latin typeface="Roboto"/>
                <a:ea typeface="Roboto"/>
                <a:cs typeface="Roboto"/>
                <a:sym typeface="Roboto"/>
              </a:defRPr>
            </a:lvl5pPr>
            <a:lvl6pPr lvl="5" algn="r" rtl="0">
              <a:buNone/>
              <a:defRPr sz="1000">
                <a:solidFill>
                  <a:schemeClr val="dk2"/>
                </a:solidFill>
                <a:latin typeface="Roboto"/>
                <a:ea typeface="Roboto"/>
                <a:cs typeface="Roboto"/>
                <a:sym typeface="Roboto"/>
              </a:defRPr>
            </a:lvl6pPr>
            <a:lvl7pPr lvl="6" algn="r" rtl="0">
              <a:buNone/>
              <a:defRPr sz="1000">
                <a:solidFill>
                  <a:schemeClr val="dk2"/>
                </a:solidFill>
                <a:latin typeface="Roboto"/>
                <a:ea typeface="Roboto"/>
                <a:cs typeface="Roboto"/>
                <a:sym typeface="Roboto"/>
              </a:defRPr>
            </a:lvl7pPr>
            <a:lvl8pPr lvl="7" algn="r" rtl="0">
              <a:buNone/>
              <a:defRPr sz="1000">
                <a:solidFill>
                  <a:schemeClr val="dk2"/>
                </a:solidFill>
                <a:latin typeface="Roboto"/>
                <a:ea typeface="Roboto"/>
                <a:cs typeface="Roboto"/>
                <a:sym typeface="Roboto"/>
              </a:defRPr>
            </a:lvl8pPr>
            <a:lvl9pPr lvl="8" algn="r" rtl="0">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170" name="Google Shape;170;p3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171" name="Google Shape;171;p31"/>
          <p:cNvSpPr txBox="1">
            <a:spLocks noGrp="1"/>
          </p:cNvSpPr>
          <p:nvPr>
            <p:ph type="sldNum" idx="12"/>
          </p:nvPr>
        </p:nvSpPr>
        <p:spPr>
          <a:xfrm>
            <a:off x="8472458" y="4663217"/>
            <a:ext cx="548700" cy="3387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3.xml"/></Relationships>
</file>

<file path=ppt/slides/_rels/slide47.xml.rels><?xml version="1.0" encoding="UTF-8" standalone="yes"?>
<Relationships xmlns="http://schemas.openxmlformats.org/package/2006/relationships"><Relationship Id="rId3" Type="http://schemas.openxmlformats.org/officeDocument/2006/relationships/hyperlink" Target="https://draw.io" TargetMode="External"/><Relationship Id="rId2" Type="http://schemas.openxmlformats.org/officeDocument/2006/relationships/notesSlide" Target="../notesSlides/notesSlide47.xml"/><Relationship Id="rId1" Type="http://schemas.openxmlformats.org/officeDocument/2006/relationships/slideLayout" Target="../slideLayouts/slideLayout14.xml"/><Relationship Id="rId5" Type="http://schemas.openxmlformats.org/officeDocument/2006/relationships/image" Target="../media/image15.png"/><Relationship Id="rId4" Type="http://schemas.openxmlformats.org/officeDocument/2006/relationships/hyperlink" Target="mailto:abc1234@g.rit.edu" TargetMode="External"/></Relationships>
</file>

<file path=ppt/slides/_rels/slide48.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notesSlide" Target="../notesSlides/notesSlide48.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33.xml"/><Relationship Id="rId5" Type="http://schemas.openxmlformats.org/officeDocument/2006/relationships/image" Target="../media/image20.png"/><Relationship Id="rId4" Type="http://schemas.openxmlformats.org/officeDocument/2006/relationships/image" Target="../media/image19.png"/></Relationships>
</file>

<file path=ppt/slides/_rels/slide51.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notesSlide" Target="../notesSlides/notesSlide51.xml"/><Relationship Id="rId1" Type="http://schemas.openxmlformats.org/officeDocument/2006/relationships/slideLayout" Target="../slideLayouts/slideLayout14.xml"/><Relationship Id="rId5" Type="http://schemas.openxmlformats.org/officeDocument/2006/relationships/image" Target="../media/image20.png"/><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hyperlink" Target="http://www.se.rit.edu/~gcis-124/StyleExample.java" TargetMode="External"/><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3" Type="http://schemas.openxmlformats.org/officeDocument/2006/relationships/hyperlink" Target="https://docs.oracle.com/en/java/javase/15/docs/api/java.base/java/lang/Object.html" TargetMode="External"/><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8" Type="http://schemas.openxmlformats.org/officeDocument/2006/relationships/hyperlink" Target="https://docs.google.com/presentation/d/1Y07fEXuvM0K4GxD_6WAAoQOw-0B9k3CqIQfP99-5WLk/edit#slide=id.ga9338e306d_0_56" TargetMode="External"/><Relationship Id="rId13" Type="http://schemas.openxmlformats.org/officeDocument/2006/relationships/hyperlink" Target="https://docs.google.com/presentation/d/1Y07fEXuvM0K4GxD_6WAAoQOw-0B9k3CqIQfP99-5WLk/edit#slide=id.g1c31bc1ac9f_0_8" TargetMode="External"/><Relationship Id="rId3" Type="http://schemas.openxmlformats.org/officeDocument/2006/relationships/hyperlink" Target="https://docs.google.com/presentation/d/1Y07fEXuvM0K4GxD_6WAAoQOw-0B9k3CqIQfP99-5WLk/edit#slide=id.ga9338e306d_0_0" TargetMode="External"/><Relationship Id="rId7" Type="http://schemas.openxmlformats.org/officeDocument/2006/relationships/hyperlink" Target="https://docs.google.com/presentation/d/1Y07fEXuvM0K4GxD_6WAAoQOw-0B9k3CqIQfP99-5WLk/edit#slide=id.ga9338e306d_0_24" TargetMode="External"/><Relationship Id="rId12" Type="http://schemas.openxmlformats.org/officeDocument/2006/relationships/hyperlink" Target="https://docs.google.com/presentation/d/1Y07fEXuvM0K4GxD_6WAAoQOw-0B9k3CqIQfP99-5WLk/edit#slide=id.g1e9bfb79fd1_0_31" TargetMode="External"/><Relationship Id="rId2" Type="http://schemas.openxmlformats.org/officeDocument/2006/relationships/notesSlide" Target="../notesSlides/notesSlide64.xml"/><Relationship Id="rId16" Type="http://schemas.openxmlformats.org/officeDocument/2006/relationships/hyperlink" Target="https://docs.google.com/presentation/d/1Y07fEXuvM0K4GxD_6WAAoQOw-0B9k3CqIQfP99-5WLk/edit#slide=id.g1c31bc1ac9f_0_506" TargetMode="External"/><Relationship Id="rId1" Type="http://schemas.openxmlformats.org/officeDocument/2006/relationships/slideLayout" Target="../slideLayouts/slideLayout39.xml"/><Relationship Id="rId6" Type="http://schemas.openxmlformats.org/officeDocument/2006/relationships/hyperlink" Target="https://docs.google.com/presentation/d/1Y07fEXuvM0K4GxD_6WAAoQOw-0B9k3CqIQfP99-5WLk/edit#slide=id.g1c31bc1ac9f_0_872" TargetMode="External"/><Relationship Id="rId11" Type="http://schemas.openxmlformats.org/officeDocument/2006/relationships/hyperlink" Target="https://docs.google.com/presentation/d/1Y07fEXuvM0K4GxD_6WAAoQOw-0B9k3CqIQfP99-5WLk/edit#slide=id.g1c4ce59d667_0_160" TargetMode="External"/><Relationship Id="rId5" Type="http://schemas.openxmlformats.org/officeDocument/2006/relationships/hyperlink" Target="https://docs.google.com/presentation/d/1Y07fEXuvM0K4GxD_6WAAoQOw-0B9k3CqIQfP99-5WLk/edit#slide=id.ga9338e306d_0_8" TargetMode="External"/><Relationship Id="rId15" Type="http://schemas.openxmlformats.org/officeDocument/2006/relationships/hyperlink" Target="https://docs.google.com/presentation/d/1Y07fEXuvM0K4GxD_6WAAoQOw-0B9k3CqIQfP99-5WLk/edit#slide=id.g1c31bc1ac9f_0_61" TargetMode="External"/><Relationship Id="rId10" Type="http://schemas.openxmlformats.org/officeDocument/2006/relationships/hyperlink" Target="https://docs.google.com/presentation/d/1Y07fEXuvM0K4GxD_6WAAoQOw-0B9k3CqIQfP99-5WLk/edit#slide=id.g1c4ce59d667_0_125" TargetMode="External"/><Relationship Id="rId4" Type="http://schemas.openxmlformats.org/officeDocument/2006/relationships/hyperlink" Target="https://docs.google.com/presentation/d/1Y07fEXuvM0K4GxD_6WAAoQOw-0B9k3CqIQfP99-5WLk/edit#slide=id.g1c31bc1ac9f_0_895" TargetMode="External"/><Relationship Id="rId9" Type="http://schemas.openxmlformats.org/officeDocument/2006/relationships/hyperlink" Target="https://docs.google.com/presentation/d/1Y07fEXuvM0K4GxD_6WAAoQOw-0B9k3CqIQfP99-5WLk/edit#slide=id.ga9338e306d_0_64" TargetMode="External"/><Relationship Id="rId14" Type="http://schemas.openxmlformats.org/officeDocument/2006/relationships/hyperlink" Target="https://docs.google.com/presentation/d/1Y07fEXuvM0K4GxD_6WAAoQOw-0B9k3CqIQfP99-5WLk/edit#slide=id.g1c31bc1ac9f_0_53"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s://docs.google.com/presentation/d/1Y07fEXuvM0K4GxD_6WAAoQOw-0B9k3CqIQfP99-5WLk/edit#slide=id.g1c31bc1ac9f_0_440" TargetMode="External"/><Relationship Id="rId2" Type="http://schemas.openxmlformats.org/officeDocument/2006/relationships/notesSlide" Target="../notesSlides/notesSlide65.xml"/><Relationship Id="rId1" Type="http://schemas.openxmlformats.org/officeDocument/2006/relationships/slideLayout" Target="../slideLayouts/slideLayout39.xml"/><Relationship Id="rId6" Type="http://schemas.openxmlformats.org/officeDocument/2006/relationships/hyperlink" Target="https://docs.google.com/presentation/d/1Y07fEXuvM0K4GxD_6WAAoQOw-0B9k3CqIQfP99-5WLk/edit#slide=id.g1c31bc1ac9f_0_26" TargetMode="External"/><Relationship Id="rId5" Type="http://schemas.openxmlformats.org/officeDocument/2006/relationships/hyperlink" Target="https://docs.google.com/presentation/d/1Y07fEXuvM0K4GxD_6WAAoQOw-0B9k3CqIQfP99-5WLk/edit#slide=id.g1c31bc1ac9f_0_484" TargetMode="External"/><Relationship Id="rId4" Type="http://schemas.openxmlformats.org/officeDocument/2006/relationships/hyperlink" Target="https://docs.google.com/presentation/d/1Y07fEXuvM0K4GxD_6WAAoQOw-0B9k3CqIQfP99-5WLk/edit#slide=id.g1c31bc1ac9f_0_462"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6.xml"/><Relationship Id="rId1" Type="http://schemas.openxmlformats.org/officeDocument/2006/relationships/slideLayout" Target="../slideLayouts/slideLayout4.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5"/>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241" name="Google Shape;241;p45"/>
          <p:cNvSpPr txBox="1">
            <a:spLocks noGrp="1"/>
          </p:cNvSpPr>
          <p:nvPr>
            <p:ph type="subTitle" idx="1"/>
          </p:nvPr>
        </p:nvSpPr>
        <p:spPr>
          <a:xfrm>
            <a:off x="311700" y="1878550"/>
            <a:ext cx="4491300" cy="7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2: Java Classes</a:t>
            </a:r>
            <a:endParaRPr sz="2600" i="1">
              <a:solidFill>
                <a:srgbClr val="FF0000"/>
              </a:solidFill>
            </a:endParaRPr>
          </a:p>
        </p:txBody>
      </p:sp>
      <p:grpSp>
        <p:nvGrpSpPr>
          <p:cNvPr id="242" name="Google Shape;242;p45"/>
          <p:cNvGrpSpPr/>
          <p:nvPr/>
        </p:nvGrpSpPr>
        <p:grpSpPr>
          <a:xfrm>
            <a:off x="5001999" y="4264475"/>
            <a:ext cx="3908400" cy="738300"/>
            <a:chOff x="5001999" y="4264475"/>
            <a:chExt cx="3908400" cy="738300"/>
          </a:xfrm>
        </p:grpSpPr>
        <p:sp>
          <p:nvSpPr>
            <p:cNvPr id="243" name="Google Shape;243;p45"/>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4" name="Google Shape;244;p45"/>
            <p:cNvPicPr preferRelativeResize="0"/>
            <p:nvPr/>
          </p:nvPicPr>
          <p:blipFill>
            <a:blip r:embed="rId3">
              <a:alphaModFix/>
            </a:blip>
            <a:stretch>
              <a:fill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46"/>
          <p:cNvPicPr preferRelativeResize="0"/>
          <p:nvPr/>
        </p:nvPicPr>
        <p:blipFill>
          <a:blip r:embed="rId3">
            <a:alphaModFix/>
          </a:blip>
          <a:stretch>
            <a:fillRect/>
          </a:stretch>
        </p:blipFill>
        <p:spPr>
          <a:xfrm>
            <a:off x="3547097" y="1068325"/>
            <a:ext cx="1326913" cy="3727775"/>
          </a:xfrm>
          <a:prstGeom prst="rect">
            <a:avLst/>
          </a:prstGeom>
          <a:noFill/>
          <a:ln>
            <a:noFill/>
          </a:ln>
        </p:spPr>
      </p:pic>
      <p:sp>
        <p:nvSpPr>
          <p:cNvPr id="250" name="Google Shape;250;p46"/>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2</a:t>
            </a:fld>
            <a:endParaRPr/>
          </a:p>
        </p:txBody>
      </p:sp>
      <p:pic>
        <p:nvPicPr>
          <p:cNvPr id="251" name="Google Shape;251;p46"/>
          <p:cNvPicPr preferRelativeResize="0"/>
          <p:nvPr/>
        </p:nvPicPr>
        <p:blipFill>
          <a:blip r:embed="rId4">
            <a:alphaModFix/>
          </a:blip>
          <a:stretch>
            <a:fillRect/>
          </a:stretch>
        </p:blipFill>
        <p:spPr>
          <a:xfrm>
            <a:off x="4941475" y="1121750"/>
            <a:ext cx="1283245" cy="3727775"/>
          </a:xfrm>
          <a:prstGeom prst="rect">
            <a:avLst/>
          </a:prstGeom>
          <a:noFill/>
          <a:ln>
            <a:noFill/>
          </a:ln>
        </p:spPr>
      </p:pic>
      <p:sp>
        <p:nvSpPr>
          <p:cNvPr id="252" name="Google Shape;252;p46"/>
          <p:cNvSpPr/>
          <p:nvPr/>
        </p:nvSpPr>
        <p:spPr>
          <a:xfrm>
            <a:off x="2148675" y="1271744"/>
            <a:ext cx="1369200" cy="615600"/>
          </a:xfrm>
          <a:prstGeom prst="wedgeRoundRectCallout">
            <a:avLst>
              <a:gd name="adj1" fmla="val 83507"/>
              <a:gd name="adj2" fmla="val 4459"/>
              <a:gd name="adj3" fmla="val 0"/>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I don't understand part 4.c. on the homework.</a:t>
            </a:r>
            <a:endParaRPr sz="1000"/>
          </a:p>
        </p:txBody>
      </p:sp>
      <p:sp>
        <p:nvSpPr>
          <p:cNvPr id="253" name="Google Shape;253;p46"/>
          <p:cNvSpPr/>
          <p:nvPr/>
        </p:nvSpPr>
        <p:spPr>
          <a:xfrm>
            <a:off x="6153675" y="1271750"/>
            <a:ext cx="2877000" cy="1961700"/>
          </a:xfrm>
          <a:prstGeom prst="wedgeRoundRectCallout">
            <a:avLst>
              <a:gd name="adj1" fmla="val -64417"/>
              <a:gd name="adj2" fmla="val -25380"/>
              <a:gd name="adj3" fmla="val 0"/>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Part 4.c. on homework 2.2 asks us to write a function that prompts the user to enter two floating point values and to print the product.</a:t>
            </a:r>
            <a:endParaRPr sz="1000"/>
          </a:p>
          <a:p>
            <a:pPr marL="0" lvl="0" indent="0" algn="ctr" rtl="0">
              <a:spcBef>
                <a:spcPts val="0"/>
              </a:spcBef>
              <a:spcAft>
                <a:spcPts val="0"/>
              </a:spcAft>
              <a:buNone/>
            </a:pPr>
            <a:endParaRPr sz="1000"/>
          </a:p>
          <a:p>
            <a:pPr marL="0" lvl="0" indent="0" algn="ctr" rtl="0">
              <a:spcBef>
                <a:spcPts val="0"/>
              </a:spcBef>
              <a:spcAft>
                <a:spcPts val="0"/>
              </a:spcAft>
              <a:buNone/>
            </a:pPr>
            <a:r>
              <a:rPr lang="en" sz="1000"/>
              <a:t>I reviewed slides 17-18 in the lecture, and I finished the practice activity. That all works fine.</a:t>
            </a:r>
            <a:endParaRPr sz="1000"/>
          </a:p>
          <a:p>
            <a:pPr marL="0" lvl="0" indent="0" algn="ctr" rtl="0">
              <a:spcBef>
                <a:spcPts val="0"/>
              </a:spcBef>
              <a:spcAft>
                <a:spcPts val="0"/>
              </a:spcAft>
              <a:buNone/>
            </a:pPr>
            <a:endParaRPr sz="1000"/>
          </a:p>
          <a:p>
            <a:pPr marL="0" lvl="0" indent="0" algn="ctr" rtl="0">
              <a:spcBef>
                <a:spcPts val="0"/>
              </a:spcBef>
              <a:spcAft>
                <a:spcPts val="0"/>
              </a:spcAft>
              <a:buNone/>
            </a:pPr>
            <a:r>
              <a:rPr lang="en" sz="1000"/>
              <a:t>But when I try to use the values entered by the user, I am getting an "input mismatch" error. Does anyone have a suggestion?</a:t>
            </a:r>
            <a:endParaRPr sz="1000"/>
          </a:p>
        </p:txBody>
      </p:sp>
      <p:sp>
        <p:nvSpPr>
          <p:cNvPr id="254" name="Google Shape;254;p46"/>
          <p:cNvSpPr txBox="1">
            <a:spLocks noGrp="1"/>
          </p:cNvSpPr>
          <p:nvPr>
            <p:ph type="title"/>
          </p:nvPr>
        </p:nvSpPr>
        <p:spPr>
          <a:xfrm>
            <a:off x="311725" y="67171"/>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Asking for Help</a:t>
            </a:r>
            <a:endParaRPr/>
          </a:p>
        </p:txBody>
      </p:sp>
      <p:sp>
        <p:nvSpPr>
          <p:cNvPr id="255" name="Google Shape;255;p46"/>
          <p:cNvSpPr txBox="1"/>
          <p:nvPr/>
        </p:nvSpPr>
        <p:spPr>
          <a:xfrm>
            <a:off x="127425" y="1984400"/>
            <a:ext cx="3363600" cy="2724300"/>
          </a:xfrm>
          <a:prstGeom prst="rect">
            <a:avLst/>
          </a:prstGeom>
          <a:solidFill>
            <a:srgbClr val="CFE2F3"/>
          </a:solidFill>
          <a:ln w="1905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You have all the resources that you need to solve the problems that have been given to you, but sometimes you may not be able to find the answers to the problems that you encounter.</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Asking for help in this course is both </a:t>
            </a:r>
            <a:r>
              <a:rPr lang="en" sz="1100" b="1" i="1">
                <a:solidFill>
                  <a:srgbClr val="FF0000"/>
                </a:solidFill>
              </a:rPr>
              <a:t>expected</a:t>
            </a:r>
            <a:r>
              <a:rPr lang="en" sz="1100">
                <a:solidFill>
                  <a:srgbClr val="FF0000"/>
                </a:solidFill>
              </a:rPr>
              <a:t> </a:t>
            </a:r>
            <a:r>
              <a:rPr lang="en" sz="1100"/>
              <a:t>and </a:t>
            </a:r>
            <a:r>
              <a:rPr lang="en" sz="1100" b="1" i="1">
                <a:solidFill>
                  <a:srgbClr val="FF0000"/>
                </a:solidFill>
              </a:rPr>
              <a:t>encouraged</a:t>
            </a:r>
            <a:r>
              <a:rPr lang="en" sz="1100"/>
              <a:t>.</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Spending time trying to solve the problem yourself will be a more valuable learning experience in the long run.</a:t>
            </a:r>
            <a:endParaRPr sz="1100"/>
          </a:p>
          <a:p>
            <a:pPr marL="0" lvl="0" indent="0" algn="l" rtl="0">
              <a:spcBef>
                <a:spcPts val="0"/>
              </a:spcBef>
              <a:spcAft>
                <a:spcPts val="0"/>
              </a:spcAft>
              <a:buNone/>
            </a:pPr>
            <a:endParaRPr sz="1100"/>
          </a:p>
          <a:p>
            <a:pPr marL="0" lvl="0" indent="0" algn="l" rtl="0">
              <a:spcBef>
                <a:spcPts val="0"/>
              </a:spcBef>
              <a:spcAft>
                <a:spcPts val="0"/>
              </a:spcAft>
              <a:buNone/>
            </a:pPr>
            <a:r>
              <a:rPr lang="en" sz="1100"/>
              <a:t>If you </a:t>
            </a:r>
            <a:r>
              <a:rPr lang="en" sz="1100" b="1" i="1">
                <a:solidFill>
                  <a:srgbClr val="FF0000"/>
                </a:solidFill>
              </a:rPr>
              <a:t>do</a:t>
            </a:r>
            <a:r>
              <a:rPr lang="en" sz="1100">
                <a:solidFill>
                  <a:srgbClr val="FF0000"/>
                </a:solidFill>
              </a:rPr>
              <a:t> </a:t>
            </a:r>
            <a:r>
              <a:rPr lang="en" sz="1100"/>
              <a:t>ask for help, try to be as detailed as possible to make it easier for others to help you by providing as much detail as you can.</a:t>
            </a:r>
            <a:endParaRPr sz="1100"/>
          </a:p>
        </p:txBody>
      </p:sp>
      <p:sp>
        <p:nvSpPr>
          <p:cNvPr id="256" name="Google Shape;256;p46"/>
          <p:cNvSpPr txBox="1"/>
          <p:nvPr/>
        </p:nvSpPr>
        <p:spPr>
          <a:xfrm>
            <a:off x="6153675" y="3355825"/>
            <a:ext cx="2877000" cy="1262100"/>
          </a:xfrm>
          <a:prstGeom prst="rect">
            <a:avLst/>
          </a:prstGeom>
          <a:solidFill>
            <a:srgbClr val="CFE2F3"/>
          </a:solidFill>
          <a:ln w="1905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228600" lvl="0" indent="-177800" algn="l" rtl="0">
              <a:spcBef>
                <a:spcPts val="0"/>
              </a:spcBef>
              <a:spcAft>
                <a:spcPts val="0"/>
              </a:spcAft>
              <a:buSzPts val="1000"/>
              <a:buFont typeface="Roboto"/>
              <a:buAutoNum type="arabicPeriod"/>
            </a:pPr>
            <a:r>
              <a:rPr lang="en" sz="1000">
                <a:latin typeface="Roboto"/>
                <a:ea typeface="Roboto"/>
                <a:cs typeface="Roboto"/>
                <a:sym typeface="Roboto"/>
              </a:rPr>
              <a:t>Begin by reviewing the lecture slides related to the problem that you are trying to solve</a:t>
            </a:r>
            <a:endParaRPr sz="1000">
              <a:latin typeface="Roboto"/>
              <a:ea typeface="Roboto"/>
              <a:cs typeface="Roboto"/>
              <a:sym typeface="Roboto"/>
            </a:endParaRPr>
          </a:p>
          <a:p>
            <a:pPr marL="228600" lvl="0" indent="-177800" algn="l" rtl="0">
              <a:spcBef>
                <a:spcPts val="0"/>
              </a:spcBef>
              <a:spcAft>
                <a:spcPts val="0"/>
              </a:spcAft>
              <a:buSzPts val="1000"/>
              <a:buFont typeface="Roboto"/>
              <a:buAutoNum type="arabicPeriod"/>
            </a:pPr>
            <a:r>
              <a:rPr lang="en" sz="1000">
                <a:latin typeface="Roboto"/>
                <a:ea typeface="Roboto"/>
                <a:cs typeface="Roboto"/>
                <a:sym typeface="Roboto"/>
              </a:rPr>
              <a:t>Try to solve the related class activities without looking at the answer</a:t>
            </a:r>
            <a:endParaRPr sz="1000">
              <a:latin typeface="Roboto"/>
              <a:ea typeface="Roboto"/>
              <a:cs typeface="Roboto"/>
              <a:sym typeface="Roboto"/>
            </a:endParaRPr>
          </a:p>
          <a:p>
            <a:pPr marL="228600" lvl="0" indent="-177800" algn="l" rtl="0">
              <a:spcBef>
                <a:spcPts val="0"/>
              </a:spcBef>
              <a:spcAft>
                <a:spcPts val="0"/>
              </a:spcAft>
              <a:buSzPts val="1000"/>
              <a:buFont typeface="Roboto"/>
              <a:buAutoNum type="arabicPeriod"/>
            </a:pPr>
            <a:r>
              <a:rPr lang="en" sz="1000">
                <a:latin typeface="Roboto"/>
                <a:ea typeface="Roboto"/>
                <a:cs typeface="Roboto"/>
                <a:sym typeface="Roboto"/>
              </a:rPr>
              <a:t>When asking for help, try to be as specific as possible about the problem you are having</a:t>
            </a:r>
            <a:endParaRPr sz="1000">
              <a:latin typeface="Roboto"/>
              <a:ea typeface="Roboto"/>
              <a:cs typeface="Roboto"/>
              <a:sym typeface="Roboto"/>
            </a:endParaRPr>
          </a:p>
        </p:txBody>
      </p:sp>
      <p:sp>
        <p:nvSpPr>
          <p:cNvPr id="257" name="Google Shape;257;p46"/>
          <p:cNvSpPr txBox="1"/>
          <p:nvPr/>
        </p:nvSpPr>
        <p:spPr>
          <a:xfrm>
            <a:off x="2148625" y="982750"/>
            <a:ext cx="13695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0000"/>
                </a:solidFill>
                <a:latin typeface="Roboto"/>
                <a:ea typeface="Roboto"/>
                <a:cs typeface="Roboto"/>
                <a:sym typeface="Roboto"/>
              </a:rPr>
              <a:t>Could be Improved</a:t>
            </a:r>
            <a:endParaRPr sz="1100">
              <a:solidFill>
                <a:srgbClr val="FF0000"/>
              </a:solidFill>
              <a:latin typeface="Roboto"/>
              <a:ea typeface="Roboto"/>
              <a:cs typeface="Roboto"/>
              <a:sym typeface="Roboto"/>
            </a:endParaRPr>
          </a:p>
        </p:txBody>
      </p:sp>
      <p:sp>
        <p:nvSpPr>
          <p:cNvPr id="258" name="Google Shape;258;p46"/>
          <p:cNvSpPr txBox="1"/>
          <p:nvPr/>
        </p:nvSpPr>
        <p:spPr>
          <a:xfrm>
            <a:off x="7107475" y="982751"/>
            <a:ext cx="10461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a:solidFill>
                  <a:srgbClr val="FF0000"/>
                </a:solidFill>
                <a:latin typeface="Roboto"/>
                <a:ea typeface="Roboto"/>
                <a:cs typeface="Roboto"/>
                <a:sym typeface="Roboto"/>
              </a:rPr>
              <a:t>MUCH Better</a:t>
            </a:r>
            <a:endParaRPr sz="1100">
              <a:solidFill>
                <a:srgbClr val="FF0000"/>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7"/>
          <p:cNvSpPr txBox="1">
            <a:spLocks noGrp="1"/>
          </p:cNvSpPr>
          <p:nvPr>
            <p:ph type="title"/>
          </p:nvPr>
        </p:nvSpPr>
        <p:spPr>
          <a:xfrm>
            <a:off x="311725" y="3485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 Classes</a:t>
            </a:r>
            <a:endParaRPr/>
          </a:p>
        </p:txBody>
      </p:sp>
      <p:sp>
        <p:nvSpPr>
          <p:cNvPr id="264" name="Google Shape;264;p47"/>
          <p:cNvSpPr txBox="1">
            <a:spLocks noGrp="1"/>
          </p:cNvSpPr>
          <p:nvPr>
            <p:ph type="body" idx="1"/>
          </p:nvPr>
        </p:nvSpPr>
        <p:spPr>
          <a:xfrm>
            <a:off x="4644675" y="239000"/>
            <a:ext cx="4166400" cy="45021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In the last course, </a:t>
            </a:r>
            <a:r>
              <a:rPr lang="en" sz="1400" dirty="0">
                <a:highlight>
                  <a:srgbClr val="FFFF00"/>
                </a:highlight>
              </a:rPr>
              <a:t>we looked at how to create classes and encapsulate state and behavior inside of them using the Python programming language</a:t>
            </a:r>
            <a:r>
              <a:rPr lang="en" sz="1400" dirty="0"/>
              <a:t>. </a:t>
            </a:r>
            <a:endParaRPr sz="1400" dirty="0"/>
          </a:p>
          <a:p>
            <a:pPr marL="457200" lvl="0" indent="-317500" algn="l" rtl="0">
              <a:spcBef>
                <a:spcPts val="1000"/>
              </a:spcBef>
              <a:spcAft>
                <a:spcPts val="0"/>
              </a:spcAft>
              <a:buSzPts val="1400"/>
              <a:buChar char="●"/>
            </a:pPr>
            <a:r>
              <a:rPr lang="en" sz="1400" dirty="0"/>
              <a:t>In this unit, we’ll explore how to do similar tasks using Java and ways to discuss our design with others.</a:t>
            </a:r>
            <a:endParaRPr sz="1400" dirty="0"/>
          </a:p>
          <a:p>
            <a:pPr marL="457200" lvl="0" indent="-317500" algn="l" rtl="0">
              <a:spcBef>
                <a:spcPts val="1000"/>
              </a:spcBef>
              <a:spcAft>
                <a:spcPts val="0"/>
              </a:spcAft>
              <a:buSzPts val="1400"/>
              <a:buChar char="●"/>
            </a:pPr>
            <a:r>
              <a:rPr lang="en" sz="1400" dirty="0"/>
              <a:t>We will discuss:</a:t>
            </a:r>
            <a:endParaRPr sz="1400" dirty="0"/>
          </a:p>
          <a:p>
            <a:pPr marL="914400" lvl="1" indent="-304800" algn="l" rtl="0">
              <a:spcBef>
                <a:spcPts val="0"/>
              </a:spcBef>
              <a:spcAft>
                <a:spcPts val="0"/>
              </a:spcAft>
              <a:buSzPts val="1200"/>
              <a:buChar char="○"/>
            </a:pPr>
            <a:r>
              <a:rPr lang="en" sz="1200" dirty="0">
                <a:highlight>
                  <a:srgbClr val="FFFF00"/>
                </a:highlight>
              </a:rPr>
              <a:t>Classes</a:t>
            </a:r>
            <a:r>
              <a:rPr lang="en" sz="1200" dirty="0"/>
              <a:t> </a:t>
            </a:r>
            <a:endParaRPr sz="1200" dirty="0"/>
          </a:p>
          <a:p>
            <a:pPr marL="914400" lvl="1" indent="-304800" algn="l" rtl="0">
              <a:spcBef>
                <a:spcPts val="0"/>
              </a:spcBef>
              <a:spcAft>
                <a:spcPts val="0"/>
              </a:spcAft>
              <a:buSzPts val="1200"/>
              <a:buChar char="○"/>
            </a:pPr>
            <a:r>
              <a:rPr lang="en" sz="1200" dirty="0"/>
              <a:t>Encapsulation &amp; Data Privacy</a:t>
            </a:r>
            <a:endParaRPr sz="1200" dirty="0"/>
          </a:p>
          <a:p>
            <a:pPr marL="914400" lvl="1" indent="-304800" algn="l" rtl="0">
              <a:spcBef>
                <a:spcPts val="0"/>
              </a:spcBef>
              <a:spcAft>
                <a:spcPts val="0"/>
              </a:spcAft>
              <a:buSzPts val="1200"/>
              <a:buChar char="○"/>
            </a:pPr>
            <a:r>
              <a:rPr lang="en" sz="1200" dirty="0">
                <a:highlight>
                  <a:srgbClr val="FFFF00"/>
                </a:highlight>
              </a:rPr>
              <a:t>Constructors</a:t>
            </a:r>
            <a:r>
              <a:rPr lang="en" sz="1200" dirty="0"/>
              <a:t> </a:t>
            </a:r>
            <a:endParaRPr sz="1200" dirty="0"/>
          </a:p>
          <a:p>
            <a:pPr marL="914400" lvl="1" indent="-304800" algn="l" rtl="0">
              <a:spcBef>
                <a:spcPts val="0"/>
              </a:spcBef>
              <a:spcAft>
                <a:spcPts val="0"/>
              </a:spcAft>
              <a:buSzPts val="1200"/>
              <a:buChar char="○"/>
            </a:pPr>
            <a:r>
              <a:rPr lang="en" sz="1200" dirty="0"/>
              <a:t>Special Methods</a:t>
            </a:r>
            <a:endParaRPr sz="1200" dirty="0"/>
          </a:p>
          <a:p>
            <a:pPr marL="914400" lvl="1" indent="-304800" algn="l" rtl="0">
              <a:spcBef>
                <a:spcPts val="0"/>
              </a:spcBef>
              <a:spcAft>
                <a:spcPts val="0"/>
              </a:spcAft>
              <a:buSzPts val="1200"/>
              <a:buChar char="○"/>
            </a:pPr>
            <a:r>
              <a:rPr lang="en" sz="1200" dirty="0">
                <a:highlight>
                  <a:srgbClr val="FFFF00"/>
                </a:highlight>
              </a:rPr>
              <a:t>Static &amp; Final</a:t>
            </a:r>
            <a:endParaRPr sz="1200" dirty="0">
              <a:highlight>
                <a:srgbClr val="FFFF00"/>
              </a:highlight>
            </a:endParaRPr>
          </a:p>
          <a:p>
            <a:pPr marL="914400" lvl="1" indent="-304800" algn="l" rtl="0">
              <a:spcBef>
                <a:spcPts val="0"/>
              </a:spcBef>
              <a:spcAft>
                <a:spcPts val="0"/>
              </a:spcAft>
              <a:buSzPts val="1200"/>
              <a:buChar char="○"/>
            </a:pPr>
            <a:r>
              <a:rPr lang="en" sz="1200" dirty="0"/>
              <a:t>Class Visualization with UML</a:t>
            </a:r>
            <a:endParaRPr sz="1200" dirty="0"/>
          </a:p>
          <a:p>
            <a:pPr marL="914400" lvl="1" indent="-304800" algn="l" rtl="0">
              <a:spcBef>
                <a:spcPts val="0"/>
              </a:spcBef>
              <a:spcAft>
                <a:spcPts val="0"/>
              </a:spcAft>
              <a:buSzPts val="1200"/>
              <a:buChar char="○"/>
            </a:pPr>
            <a:r>
              <a:rPr lang="en" sz="1200" dirty="0"/>
              <a:t>Potpourri - a mix of useful topics</a:t>
            </a:r>
            <a:endParaRPr sz="1200" dirty="0"/>
          </a:p>
          <a:p>
            <a:pPr marL="457200" lvl="0" indent="-317500" algn="l" rtl="0">
              <a:spcBef>
                <a:spcPts val="1000"/>
              </a:spcBef>
              <a:spcAft>
                <a:spcPts val="0"/>
              </a:spcAft>
              <a:buSzPts val="1400"/>
              <a:buChar char="●"/>
            </a:pPr>
            <a:r>
              <a:rPr lang="en" sz="1400" dirty="0"/>
              <a:t>To begin, we will focus on defining and creating instances of classes.</a:t>
            </a:r>
            <a:endParaRPr sz="1400" dirty="0"/>
          </a:p>
        </p:txBody>
      </p:sp>
      <p:sp>
        <p:nvSpPr>
          <p:cNvPr id="265" name="Google Shape;26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266" name="Google Shape;266;p47"/>
          <p:cNvSpPr txBox="1">
            <a:spLocks noGrp="1"/>
          </p:cNvSpPr>
          <p:nvPr>
            <p:ph type="body" idx="3"/>
          </p:nvPr>
        </p:nvSpPr>
        <p:spPr>
          <a:xfrm>
            <a:off x="315550" y="4375875"/>
            <a:ext cx="3706500" cy="5754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a:t>In this unit, we'll delve more deeply into Java classes and how they compare to Python's</a:t>
            </a:r>
            <a:endParaRPr/>
          </a:p>
        </p:txBody>
      </p:sp>
      <p:sp>
        <p:nvSpPr>
          <p:cNvPr id="267" name="Google Shape;267;p47"/>
          <p:cNvSpPr txBox="1"/>
          <p:nvPr/>
        </p:nvSpPr>
        <p:spPr>
          <a:xfrm>
            <a:off x="315550" y="1015675"/>
            <a:ext cx="3706500" cy="3235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100">
                <a:solidFill>
                  <a:srgbClr val="0000FF"/>
                </a:solidFill>
                <a:highlight>
                  <a:srgbClr val="FFFFFF"/>
                </a:highlight>
                <a:latin typeface="Consolas"/>
                <a:ea typeface="Consolas"/>
                <a:cs typeface="Consolas"/>
                <a:sym typeface="Consolas"/>
              </a:rPr>
              <a:t>package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lecture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class</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Pet</a:t>
            </a: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private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private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Pet</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name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getAge</a:t>
            </a:r>
            <a:r>
              <a:rPr lang="en" sz="1100">
                <a:highlight>
                  <a:srgbClr val="FFFFFF"/>
                </a:highlight>
                <a:latin typeface="Consolas"/>
                <a:ea typeface="Consolas"/>
                <a:cs typeface="Consolas"/>
                <a:sym typeface="Consolas"/>
              </a:rPr>
              <a:t> ()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return</a:t>
            </a: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void</a:t>
            </a:r>
            <a:r>
              <a:rPr lang="en" sz="1100">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birthday</a:t>
            </a:r>
            <a:r>
              <a:rPr lang="en" sz="1100">
                <a:highlight>
                  <a:srgbClr val="FFFFFF"/>
                </a:highlight>
                <a:latin typeface="Consolas"/>
                <a:ea typeface="Consolas"/>
                <a:cs typeface="Consolas"/>
                <a:sym typeface="Consolas"/>
              </a:rPr>
              <a:t> ()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    }   </a:t>
            </a:r>
            <a:endParaRPr sz="110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100">
                <a:highlight>
                  <a:srgbClr val="FFFFFF"/>
                </a:highlight>
                <a:latin typeface="Consolas"/>
                <a:ea typeface="Consolas"/>
                <a:cs typeface="Consolas"/>
                <a:sym typeface="Consolas"/>
              </a:rPr>
              <a:t>}</a:t>
            </a:r>
            <a:endParaRPr sz="1100">
              <a:highlight>
                <a:srgbClr val="FFFFFF"/>
              </a:highlight>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4">
                                            <p:txEl>
                                              <p:pRg st="0" end="0"/>
                                            </p:txEl>
                                          </p:spTgt>
                                        </p:tgtEl>
                                        <p:attrNameLst>
                                          <p:attrName>style.visibility</p:attrName>
                                        </p:attrNameLst>
                                      </p:cBhvr>
                                      <p:to>
                                        <p:strVal val="visible"/>
                                      </p:to>
                                    </p:set>
                                    <p:animEffect transition="in" filter="fade">
                                      <p:cBhvr>
                                        <p:cTn id="7" dur="1000"/>
                                        <p:tgtEl>
                                          <p:spTgt spid="2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4">
                                            <p:txEl>
                                              <p:pRg st="1" end="1"/>
                                            </p:txEl>
                                          </p:spTgt>
                                        </p:tgtEl>
                                        <p:attrNameLst>
                                          <p:attrName>style.visibility</p:attrName>
                                        </p:attrNameLst>
                                      </p:cBhvr>
                                      <p:to>
                                        <p:strVal val="visible"/>
                                      </p:to>
                                    </p:set>
                                    <p:animEffect transition="in" filter="fade">
                                      <p:cBhvr>
                                        <p:cTn id="12" dur="1000"/>
                                        <p:tgtEl>
                                          <p:spTgt spid="2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4">
                                            <p:txEl>
                                              <p:pRg st="2" end="2"/>
                                            </p:txEl>
                                          </p:spTgt>
                                        </p:tgtEl>
                                        <p:attrNameLst>
                                          <p:attrName>style.visibility</p:attrName>
                                        </p:attrNameLst>
                                      </p:cBhvr>
                                      <p:to>
                                        <p:strVal val="visible"/>
                                      </p:to>
                                    </p:set>
                                    <p:animEffect transition="in" filter="fade">
                                      <p:cBhvr>
                                        <p:cTn id="17" dur="1000"/>
                                        <p:tgtEl>
                                          <p:spTgt spid="26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4">
                                            <p:txEl>
                                              <p:pRg st="3" end="3"/>
                                            </p:txEl>
                                          </p:spTgt>
                                        </p:tgtEl>
                                        <p:attrNameLst>
                                          <p:attrName>style.visibility</p:attrName>
                                        </p:attrNameLst>
                                      </p:cBhvr>
                                      <p:to>
                                        <p:strVal val="visible"/>
                                      </p:to>
                                    </p:set>
                                    <p:animEffect transition="in" filter="fade">
                                      <p:cBhvr>
                                        <p:cTn id="22" dur="1000"/>
                                        <p:tgtEl>
                                          <p:spTgt spid="26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4">
                                            <p:txEl>
                                              <p:pRg st="4" end="4"/>
                                            </p:txEl>
                                          </p:spTgt>
                                        </p:tgtEl>
                                        <p:attrNameLst>
                                          <p:attrName>style.visibility</p:attrName>
                                        </p:attrNameLst>
                                      </p:cBhvr>
                                      <p:to>
                                        <p:strVal val="visible"/>
                                      </p:to>
                                    </p:set>
                                    <p:animEffect transition="in" filter="fade">
                                      <p:cBhvr>
                                        <p:cTn id="27" dur="1000"/>
                                        <p:tgtEl>
                                          <p:spTgt spid="26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4">
                                            <p:txEl>
                                              <p:pRg st="5" end="5"/>
                                            </p:txEl>
                                          </p:spTgt>
                                        </p:tgtEl>
                                        <p:attrNameLst>
                                          <p:attrName>style.visibility</p:attrName>
                                        </p:attrNameLst>
                                      </p:cBhvr>
                                      <p:to>
                                        <p:strVal val="visible"/>
                                      </p:to>
                                    </p:set>
                                    <p:animEffect transition="in" filter="fade">
                                      <p:cBhvr>
                                        <p:cTn id="32" dur="1000"/>
                                        <p:tgtEl>
                                          <p:spTgt spid="26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4">
                                            <p:txEl>
                                              <p:pRg st="6" end="6"/>
                                            </p:txEl>
                                          </p:spTgt>
                                        </p:tgtEl>
                                        <p:attrNameLst>
                                          <p:attrName>style.visibility</p:attrName>
                                        </p:attrNameLst>
                                      </p:cBhvr>
                                      <p:to>
                                        <p:strVal val="visible"/>
                                      </p:to>
                                    </p:set>
                                    <p:animEffect transition="in" filter="fade">
                                      <p:cBhvr>
                                        <p:cTn id="37" dur="1000"/>
                                        <p:tgtEl>
                                          <p:spTgt spid="26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4">
                                            <p:txEl>
                                              <p:pRg st="7" end="7"/>
                                            </p:txEl>
                                          </p:spTgt>
                                        </p:tgtEl>
                                        <p:attrNameLst>
                                          <p:attrName>style.visibility</p:attrName>
                                        </p:attrNameLst>
                                      </p:cBhvr>
                                      <p:to>
                                        <p:strVal val="visible"/>
                                      </p:to>
                                    </p:set>
                                    <p:animEffect transition="in" filter="fade">
                                      <p:cBhvr>
                                        <p:cTn id="42" dur="1000"/>
                                        <p:tgtEl>
                                          <p:spTgt spid="26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4">
                                            <p:txEl>
                                              <p:pRg st="8" end="8"/>
                                            </p:txEl>
                                          </p:spTgt>
                                        </p:tgtEl>
                                        <p:attrNameLst>
                                          <p:attrName>style.visibility</p:attrName>
                                        </p:attrNameLst>
                                      </p:cBhvr>
                                      <p:to>
                                        <p:strVal val="visible"/>
                                      </p:to>
                                    </p:set>
                                    <p:animEffect transition="in" filter="fade">
                                      <p:cBhvr>
                                        <p:cTn id="47" dur="1000"/>
                                        <p:tgtEl>
                                          <p:spTgt spid="26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64">
                                            <p:txEl>
                                              <p:pRg st="9" end="9"/>
                                            </p:txEl>
                                          </p:spTgt>
                                        </p:tgtEl>
                                        <p:attrNameLst>
                                          <p:attrName>style.visibility</p:attrName>
                                        </p:attrNameLst>
                                      </p:cBhvr>
                                      <p:to>
                                        <p:strVal val="visible"/>
                                      </p:to>
                                    </p:set>
                                    <p:animEffect transition="in" filter="fade">
                                      <p:cBhvr>
                                        <p:cTn id="52" dur="1000"/>
                                        <p:tgtEl>
                                          <p:spTgt spid="26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64">
                                            <p:txEl>
                                              <p:pRg st="10" end="10"/>
                                            </p:txEl>
                                          </p:spTgt>
                                        </p:tgtEl>
                                        <p:attrNameLst>
                                          <p:attrName>style.visibility</p:attrName>
                                        </p:attrNameLst>
                                      </p:cBhvr>
                                      <p:to>
                                        <p:strVal val="visible"/>
                                      </p:to>
                                    </p:set>
                                    <p:animEffect transition="in" filter="fade">
                                      <p:cBhvr>
                                        <p:cTn id="57" dur="1000"/>
                                        <p:tgtEl>
                                          <p:spTgt spid="26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66"/>
                                        </p:tgtEl>
                                        <p:attrNameLst>
                                          <p:attrName>style.visibility</p:attrName>
                                        </p:attrNameLst>
                                      </p:cBhvr>
                                      <p:to>
                                        <p:strVal val="visible"/>
                                      </p:to>
                                    </p:set>
                                    <p:animEffect transition="in" filter="fade">
                                      <p:cBhvr>
                                        <p:cTn id="62" dur="1000"/>
                                        <p:tgtEl>
                                          <p:spTgt spid="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48"/>
          <p:cNvSpPr txBox="1">
            <a:spLocks noGrp="1"/>
          </p:cNvSpPr>
          <p:nvPr>
            <p:ph type="body" idx="1"/>
          </p:nvPr>
        </p:nvSpPr>
        <p:spPr>
          <a:xfrm>
            <a:off x="173975" y="156525"/>
            <a:ext cx="4512900" cy="4910100"/>
          </a:xfrm>
          <a:prstGeom prst="rect">
            <a:avLst/>
          </a:prstGeom>
        </p:spPr>
        <p:txBody>
          <a:bodyPr spcFirstLastPara="1" wrap="square" lIns="91425" tIns="91425" rIns="91425" bIns="91425" anchor="t" anchorCtr="0">
            <a:spAutoFit/>
          </a:bodyPr>
          <a:lstStyle/>
          <a:p>
            <a:pPr marL="457200" lvl="0" indent="-311150" algn="l" rtl="0">
              <a:lnSpc>
                <a:spcPct val="100000"/>
              </a:lnSpc>
              <a:spcBef>
                <a:spcPts val="0"/>
              </a:spcBef>
              <a:spcAft>
                <a:spcPts val="0"/>
              </a:spcAft>
              <a:buSzPts val="1300"/>
              <a:buChar char="●"/>
            </a:pPr>
            <a:r>
              <a:rPr lang="en" dirty="0"/>
              <a:t>A typical object-oriented program will contain many small classes that work together to solve </a:t>
            </a:r>
            <a:r>
              <a:rPr lang="en" dirty="0">
                <a:highlight>
                  <a:srgbClr val="FFFF00"/>
                </a:highlight>
              </a:rPr>
              <a:t>a larger problem.</a:t>
            </a:r>
            <a:endParaRPr dirty="0">
              <a:highlight>
                <a:srgbClr val="FFFF00"/>
              </a:highlight>
            </a:endParaRPr>
          </a:p>
          <a:p>
            <a:pPr marL="914400" lvl="1" indent="-298450" algn="l" rtl="0">
              <a:lnSpc>
                <a:spcPct val="100000"/>
              </a:lnSpc>
              <a:spcBef>
                <a:spcPts val="0"/>
              </a:spcBef>
              <a:spcAft>
                <a:spcPts val="0"/>
              </a:spcAft>
              <a:buSzPts val="1100"/>
              <a:buChar char="○"/>
            </a:pPr>
            <a:r>
              <a:rPr lang="en" dirty="0"/>
              <a:t>But how does the programmer know which classes to create?</a:t>
            </a:r>
            <a:endParaRPr dirty="0"/>
          </a:p>
          <a:p>
            <a:pPr marL="914400" lvl="1" indent="-298450" algn="l" rtl="0">
              <a:lnSpc>
                <a:spcPct val="100000"/>
              </a:lnSpc>
              <a:spcBef>
                <a:spcPts val="0"/>
              </a:spcBef>
              <a:spcAft>
                <a:spcPts val="0"/>
              </a:spcAft>
              <a:buSzPts val="1100"/>
              <a:buChar char="○"/>
            </a:pPr>
            <a:r>
              <a:rPr lang="en" dirty="0"/>
              <a:t>How do they know what the attributes and methods in each class will be?</a:t>
            </a:r>
            <a:endParaRPr dirty="0"/>
          </a:p>
          <a:p>
            <a:pPr marL="457200" lvl="0" indent="-311150" algn="l" rtl="0">
              <a:lnSpc>
                <a:spcPct val="100000"/>
              </a:lnSpc>
              <a:spcBef>
                <a:spcPts val="0"/>
              </a:spcBef>
              <a:spcAft>
                <a:spcPts val="0"/>
              </a:spcAft>
              <a:buSzPts val="1300"/>
              <a:buChar char="●"/>
            </a:pPr>
            <a:r>
              <a:rPr lang="en" dirty="0"/>
              <a:t>Trying to </a:t>
            </a:r>
            <a:r>
              <a:rPr lang="en" dirty="0">
                <a:highlight>
                  <a:srgbClr val="FFFF00"/>
                </a:highlight>
              </a:rPr>
              <a:t>write a large, complex program</a:t>
            </a:r>
            <a:r>
              <a:rPr lang="en" dirty="0"/>
              <a:t> without first taking the time to plan will lead to lots of trial and error (wasted time).</a:t>
            </a:r>
            <a:endParaRPr dirty="0"/>
          </a:p>
          <a:p>
            <a:pPr marL="914400" lvl="1" indent="-298450" algn="l" rtl="0">
              <a:lnSpc>
                <a:spcPct val="100000"/>
              </a:lnSpc>
              <a:spcBef>
                <a:spcPts val="0"/>
              </a:spcBef>
              <a:spcAft>
                <a:spcPts val="0"/>
              </a:spcAft>
              <a:buSzPts val="1100"/>
              <a:buChar char="○"/>
            </a:pPr>
            <a:r>
              <a:rPr lang="en" dirty="0"/>
              <a:t>As well as lots and </a:t>
            </a:r>
            <a:r>
              <a:rPr lang="en" i="1" dirty="0"/>
              <a:t>lots</a:t>
            </a:r>
            <a:r>
              <a:rPr lang="en" dirty="0"/>
              <a:t> of bugs!</a:t>
            </a:r>
            <a:endParaRPr dirty="0"/>
          </a:p>
          <a:p>
            <a:pPr marL="457200" lvl="0" indent="-311150" algn="l" rtl="0">
              <a:lnSpc>
                <a:spcPct val="100000"/>
              </a:lnSpc>
              <a:spcBef>
                <a:spcPts val="0"/>
              </a:spcBef>
              <a:spcAft>
                <a:spcPts val="0"/>
              </a:spcAft>
              <a:buSzPts val="1300"/>
              <a:buChar char="●"/>
            </a:pPr>
            <a:r>
              <a:rPr lang="en" dirty="0"/>
              <a:t>The process of planning which classes, attributes and methods you need </a:t>
            </a:r>
            <a:r>
              <a:rPr lang="en" i="1" dirty="0"/>
              <a:t>before</a:t>
            </a:r>
            <a:r>
              <a:rPr lang="en" dirty="0"/>
              <a:t> you begin writing code is called </a:t>
            </a:r>
            <a:r>
              <a:rPr lang="en" b="1" i="1" dirty="0">
                <a:solidFill>
                  <a:srgbClr val="FF0000"/>
                </a:solidFill>
                <a:highlight>
                  <a:srgbClr val="FFFF00"/>
                </a:highlight>
              </a:rPr>
              <a:t>software design</a:t>
            </a:r>
            <a:r>
              <a:rPr lang="en" dirty="0">
                <a:highlight>
                  <a:srgbClr val="FFFF00"/>
                </a:highlight>
              </a:rPr>
              <a:t>.</a:t>
            </a:r>
            <a:endParaRPr dirty="0">
              <a:highlight>
                <a:srgbClr val="FFFF00"/>
              </a:highlight>
            </a:endParaRPr>
          </a:p>
          <a:p>
            <a:pPr marL="457200" lvl="0" indent="-311150" algn="l" rtl="0">
              <a:lnSpc>
                <a:spcPct val="100000"/>
              </a:lnSpc>
              <a:spcBef>
                <a:spcPts val="0"/>
              </a:spcBef>
              <a:spcAft>
                <a:spcPts val="0"/>
              </a:spcAft>
              <a:buSzPts val="1300"/>
              <a:buChar char="●"/>
            </a:pPr>
            <a:r>
              <a:rPr lang="en" dirty="0"/>
              <a:t>A common technique for starting your design is to perform a </a:t>
            </a:r>
            <a:r>
              <a:rPr lang="en" b="1" i="1" dirty="0">
                <a:solidFill>
                  <a:srgbClr val="FF0000"/>
                </a:solidFill>
                <a:highlight>
                  <a:srgbClr val="FFFF00"/>
                </a:highlight>
              </a:rPr>
              <a:t>noun/verb analysis</a:t>
            </a:r>
            <a:r>
              <a:rPr lang="en" dirty="0">
                <a:highlight>
                  <a:srgbClr val="FFFF00"/>
                </a:highlight>
              </a:rPr>
              <a:t>.</a:t>
            </a:r>
            <a:endParaRPr dirty="0">
              <a:highlight>
                <a:srgbClr val="FFFF00"/>
              </a:highlight>
            </a:endParaRPr>
          </a:p>
          <a:p>
            <a:pPr marL="457200" lvl="0" indent="-311150" algn="l" rtl="0">
              <a:lnSpc>
                <a:spcPct val="100000"/>
              </a:lnSpc>
              <a:spcBef>
                <a:spcPts val="0"/>
              </a:spcBef>
              <a:spcAft>
                <a:spcPts val="0"/>
              </a:spcAft>
              <a:buSzPts val="1300"/>
              <a:buChar char="●"/>
            </a:pPr>
            <a:r>
              <a:rPr lang="en" dirty="0"/>
              <a:t>We start by identifying all of the nouns in the problem statement. Many nouns will become classes or attributes.</a:t>
            </a:r>
            <a:endParaRPr dirty="0"/>
          </a:p>
          <a:p>
            <a:pPr marL="914400" lvl="1" indent="-298450" algn="l" rtl="0">
              <a:lnSpc>
                <a:spcPct val="100000"/>
              </a:lnSpc>
              <a:spcBef>
                <a:spcPts val="0"/>
              </a:spcBef>
              <a:spcAft>
                <a:spcPts val="0"/>
              </a:spcAft>
              <a:buSzPts val="1100"/>
              <a:buChar char="○"/>
            </a:pPr>
            <a:r>
              <a:rPr lang="en" dirty="0"/>
              <a:t>There is often a </a:t>
            </a:r>
            <a:r>
              <a:rPr lang="en" dirty="0">
                <a:highlight>
                  <a:srgbClr val="FFFF00"/>
                </a:highlight>
              </a:rPr>
              <a:t>system level noun </a:t>
            </a:r>
            <a:r>
              <a:rPr lang="en" dirty="0"/>
              <a:t>which describes the entire application. Most of the time this noun does not become a class or attribute.</a:t>
            </a:r>
            <a:endParaRPr dirty="0"/>
          </a:p>
          <a:p>
            <a:pPr marL="914400" lvl="1" indent="-298450" algn="l" rtl="0">
              <a:lnSpc>
                <a:spcPct val="100000"/>
              </a:lnSpc>
              <a:spcBef>
                <a:spcPts val="0"/>
              </a:spcBef>
              <a:spcAft>
                <a:spcPts val="0"/>
              </a:spcAft>
              <a:buSzPts val="1100"/>
              <a:buChar char="○"/>
            </a:pPr>
            <a:r>
              <a:rPr lang="en" dirty="0"/>
              <a:t>Examples: the game, the application, the system</a:t>
            </a:r>
            <a:endParaRPr dirty="0"/>
          </a:p>
          <a:p>
            <a:pPr marL="457200" lvl="0" indent="-311150" algn="l" rtl="0">
              <a:lnSpc>
                <a:spcPct val="100000"/>
              </a:lnSpc>
              <a:spcBef>
                <a:spcPts val="0"/>
              </a:spcBef>
              <a:spcAft>
                <a:spcPts val="0"/>
              </a:spcAft>
              <a:buSzPts val="1300"/>
              <a:buChar char="●"/>
            </a:pPr>
            <a:r>
              <a:rPr lang="en" dirty="0"/>
              <a:t>Many verbs will become methods in one of the classes.</a:t>
            </a:r>
            <a:endParaRPr sz="1200" dirty="0"/>
          </a:p>
        </p:txBody>
      </p:sp>
      <p:sp>
        <p:nvSpPr>
          <p:cNvPr id="273" name="Google Shape;273;p4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a:t>
            </a:fld>
            <a:endParaRPr/>
          </a:p>
        </p:txBody>
      </p:sp>
      <p:sp>
        <p:nvSpPr>
          <p:cNvPr id="274" name="Google Shape;274;p48"/>
          <p:cNvSpPr txBox="1">
            <a:spLocks noGrp="1"/>
          </p:cNvSpPr>
          <p:nvPr>
            <p:ph type="title"/>
          </p:nvPr>
        </p:nvSpPr>
        <p:spPr>
          <a:xfrm>
            <a:off x="5188525" y="3485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Noun/Verb Analysis</a:t>
            </a:r>
            <a:endParaRPr/>
          </a:p>
        </p:txBody>
      </p:sp>
      <p:sp>
        <p:nvSpPr>
          <p:cNvPr id="275" name="Google Shape;275;p48"/>
          <p:cNvSpPr txBox="1">
            <a:spLocks noGrp="1"/>
          </p:cNvSpPr>
          <p:nvPr>
            <p:ph type="body" idx="2"/>
          </p:nvPr>
        </p:nvSpPr>
        <p:spPr>
          <a:xfrm>
            <a:off x="5192225" y="1133775"/>
            <a:ext cx="3706500" cy="2697300"/>
          </a:xfrm>
          <a:prstGeom prst="rect">
            <a:avLst/>
          </a:prstGeom>
          <a:solidFill>
            <a:srgbClr val="C9DAF8"/>
          </a:solid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152400" lvl="0" indent="0" algn="l" rtl="0">
              <a:lnSpc>
                <a:spcPct val="115000"/>
              </a:lnSpc>
              <a:spcBef>
                <a:spcPts val="0"/>
              </a:spcBef>
              <a:spcAft>
                <a:spcPts val="0"/>
              </a:spcAft>
              <a:buNone/>
            </a:pPr>
            <a:r>
              <a:rPr lang="en">
                <a:solidFill>
                  <a:srgbClr val="000000"/>
                </a:solidFill>
              </a:rPr>
              <a:t>Problem Statement Fragment:</a:t>
            </a:r>
            <a:endParaRPr>
              <a:solidFill>
                <a:srgbClr val="000000"/>
              </a:solidFill>
            </a:endParaRPr>
          </a:p>
          <a:p>
            <a:pPr marL="152400" lvl="0" indent="0" algn="l" rtl="0">
              <a:lnSpc>
                <a:spcPct val="115000"/>
              </a:lnSpc>
              <a:spcBef>
                <a:spcPts val="0"/>
              </a:spcBef>
              <a:spcAft>
                <a:spcPts val="0"/>
              </a:spcAft>
              <a:buNone/>
            </a:pPr>
            <a:endParaRPr>
              <a:solidFill>
                <a:srgbClr val="000000"/>
              </a:solidFill>
            </a:endParaRPr>
          </a:p>
          <a:p>
            <a:pPr marL="152400" lvl="0" indent="0" algn="l" rtl="0">
              <a:lnSpc>
                <a:spcPct val="115000"/>
              </a:lnSpc>
              <a:spcBef>
                <a:spcPts val="0"/>
              </a:spcBef>
              <a:spcAft>
                <a:spcPts val="0"/>
              </a:spcAft>
              <a:buNone/>
            </a:pPr>
            <a:r>
              <a:rPr lang="en">
                <a:solidFill>
                  <a:srgbClr val="000000"/>
                </a:solidFill>
              </a:rPr>
              <a:t>Every item in the Star Wars Battle game has a name. Ships also have a hull rating that determines how much damage it can sustain before destruction. In addition, some ships have shields which recharge over time and must be depleted before the hull takes damage. Each ship also includes some level of armament. When fired, the weapons deal various types of damage to enemy ships.</a:t>
            </a:r>
            <a:endParaRPr>
              <a:solidFill>
                <a:srgbClr val="000000"/>
              </a:solidFill>
            </a:endParaRPr>
          </a:p>
          <a:p>
            <a:pPr marL="0" lvl="0" indent="0" algn="l" rtl="0">
              <a:spcBef>
                <a:spcPts val="0"/>
              </a:spcBef>
              <a:spcAft>
                <a:spcPts val="1600"/>
              </a:spcAft>
              <a:buNone/>
            </a:pPr>
            <a:endParaRPr>
              <a:solidFill>
                <a:srgbClr val="000000"/>
              </a:solidFill>
            </a:endParaRPr>
          </a:p>
        </p:txBody>
      </p:sp>
      <p:sp>
        <p:nvSpPr>
          <p:cNvPr id="276" name="Google Shape;276;p48"/>
          <p:cNvSpPr txBox="1">
            <a:spLocks noGrp="1"/>
          </p:cNvSpPr>
          <p:nvPr>
            <p:ph type="body" idx="3"/>
          </p:nvPr>
        </p:nvSpPr>
        <p:spPr>
          <a:xfrm>
            <a:off x="5192225" y="3937250"/>
            <a:ext cx="3706500" cy="785100"/>
          </a:xfrm>
          <a:prstGeom prst="rect">
            <a:avLst/>
          </a:prstGeom>
          <a:ln w="9525"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dirty="0"/>
              <a:t>Most problem statements will contain a very detailed description of the requirements that the software program must satisfy.</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7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7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7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9"/>
          <p:cNvSpPr txBox="1">
            <a:spLocks noGrp="1"/>
          </p:cNvSpPr>
          <p:nvPr>
            <p:ph type="body" idx="1"/>
          </p:nvPr>
        </p:nvSpPr>
        <p:spPr>
          <a:xfrm>
            <a:off x="65250" y="731625"/>
            <a:ext cx="8955900" cy="15639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You will soon see that even simple Java programs will often contain many small classes that work together to solve a larger problem. The first step in writing such a program is planning which classes you will need and what the attributes and methods in each class will be. This process is referred to as </a:t>
            </a:r>
            <a:r>
              <a:rPr lang="en" i="1" dirty="0"/>
              <a:t>software design</a:t>
            </a:r>
            <a:r>
              <a:rPr lang="en" dirty="0"/>
              <a:t>. Let's practice designing a software program based on the simple description below.</a:t>
            </a:r>
            <a:endParaRPr dirty="0"/>
          </a:p>
        </p:txBody>
      </p:sp>
      <p:sp>
        <p:nvSpPr>
          <p:cNvPr id="282" name="Google Shape;282;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283" name="Google Shape;283;p49"/>
          <p:cNvSpPr txBox="1">
            <a:spLocks noGrp="1"/>
          </p:cNvSpPr>
          <p:nvPr>
            <p:ph type="body" idx="2"/>
          </p:nvPr>
        </p:nvSpPr>
        <p:spPr>
          <a:xfrm>
            <a:off x="5204775" y="2330175"/>
            <a:ext cx="3736200" cy="2247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Start by creating a new </a:t>
            </a:r>
            <a:r>
              <a:rPr lang="en" dirty="0">
                <a:solidFill>
                  <a:srgbClr val="FF0000"/>
                </a:solidFill>
                <a:latin typeface="Courier New"/>
                <a:ea typeface="Courier New"/>
                <a:cs typeface="Courier New"/>
                <a:sym typeface="Courier New"/>
              </a:rPr>
              <a:t>design.txt</a:t>
            </a:r>
            <a:r>
              <a:rPr lang="en" dirty="0"/>
              <a:t> file in the root folder of your repository.</a:t>
            </a:r>
            <a:endParaRPr dirty="0"/>
          </a:p>
          <a:p>
            <a:pPr marL="457200" lvl="0" indent="-311150" algn="l" rtl="0">
              <a:spcBef>
                <a:spcPts val="0"/>
              </a:spcBef>
              <a:spcAft>
                <a:spcPts val="0"/>
              </a:spcAft>
              <a:buSzPts val="1300"/>
              <a:buChar char="●"/>
            </a:pPr>
            <a:r>
              <a:rPr lang="en" dirty="0"/>
              <a:t>List all the nouns</a:t>
            </a:r>
            <a:endParaRPr dirty="0"/>
          </a:p>
          <a:p>
            <a:pPr marL="914400" lvl="1" indent="-298450" algn="l" rtl="0">
              <a:spcBef>
                <a:spcPts val="0"/>
              </a:spcBef>
              <a:spcAft>
                <a:spcPts val="0"/>
              </a:spcAft>
              <a:buSzPts val="1100"/>
              <a:buChar char="○"/>
            </a:pPr>
            <a:r>
              <a:rPr lang="en" dirty="0"/>
              <a:t>Indent attributes below their respective class names</a:t>
            </a:r>
            <a:endParaRPr dirty="0"/>
          </a:p>
          <a:p>
            <a:pPr marL="457200" lvl="0" indent="-311150" algn="l" rtl="0">
              <a:spcBef>
                <a:spcPts val="0"/>
              </a:spcBef>
              <a:spcAft>
                <a:spcPts val="0"/>
              </a:spcAft>
              <a:buSzPts val="1300"/>
              <a:buChar char="●"/>
            </a:pPr>
            <a:r>
              <a:rPr lang="en" dirty="0"/>
              <a:t>Add the verbs to the listing</a:t>
            </a:r>
            <a:endParaRPr dirty="0"/>
          </a:p>
          <a:p>
            <a:pPr marL="914400" lvl="1" indent="-298450" algn="l" rtl="0">
              <a:spcBef>
                <a:spcPts val="0"/>
              </a:spcBef>
              <a:spcAft>
                <a:spcPts val="0"/>
              </a:spcAft>
              <a:buSzPts val="1100"/>
              <a:buChar char="○"/>
            </a:pPr>
            <a:r>
              <a:rPr lang="en" dirty="0"/>
              <a:t>Indent verbs below their encapsulating class name</a:t>
            </a:r>
            <a:endParaRPr dirty="0"/>
          </a:p>
          <a:p>
            <a:pPr marL="914400" lvl="1" indent="-298450" algn="l" rtl="0">
              <a:spcBef>
                <a:spcPts val="0"/>
              </a:spcBef>
              <a:spcAft>
                <a:spcPts val="0"/>
              </a:spcAft>
              <a:buSzPts val="1100"/>
              <a:buChar char="○"/>
            </a:pPr>
            <a:r>
              <a:rPr lang="en" dirty="0"/>
              <a:t>Include any known parameters inside the methods parentheses	</a:t>
            </a:r>
            <a:endParaRPr dirty="0"/>
          </a:p>
        </p:txBody>
      </p:sp>
      <p:sp>
        <p:nvSpPr>
          <p:cNvPr id="284" name="Google Shape;284;p4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Getting Started With Design</a:t>
            </a:r>
            <a:endParaRPr/>
          </a:p>
        </p:txBody>
      </p:sp>
      <p:sp>
        <p:nvSpPr>
          <p:cNvPr id="285" name="Google Shape;285;p4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a:t>
            </a:r>
            <a:endParaRPr/>
          </a:p>
        </p:txBody>
      </p:sp>
      <p:sp>
        <p:nvSpPr>
          <p:cNvPr id="286" name="Google Shape;286;p49"/>
          <p:cNvSpPr txBox="1">
            <a:spLocks noGrp="1"/>
          </p:cNvSpPr>
          <p:nvPr>
            <p:ph type="body" idx="4"/>
          </p:nvPr>
        </p:nvSpPr>
        <p:spPr>
          <a:xfrm>
            <a:off x="186675" y="2406375"/>
            <a:ext cx="5094300" cy="24012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b="1" dirty="0"/>
              <a:t>Problem Statement</a:t>
            </a:r>
            <a:endParaRPr b="1" dirty="0"/>
          </a:p>
          <a:p>
            <a:pPr marL="0" lvl="0" indent="0" algn="l" rtl="0">
              <a:spcBef>
                <a:spcPts val="0"/>
              </a:spcBef>
              <a:spcAft>
                <a:spcPts val="0"/>
              </a:spcAft>
              <a:buNone/>
            </a:pPr>
            <a:r>
              <a:rPr lang="en" dirty="0"/>
              <a:t>The </a:t>
            </a:r>
            <a:r>
              <a:rPr lang="en" dirty="0">
                <a:highlight>
                  <a:srgbClr val="FFFF00"/>
                </a:highlight>
              </a:rPr>
              <a:t>Star Wars Battle game </a:t>
            </a:r>
            <a:r>
              <a:rPr lang="en" dirty="0"/>
              <a:t>simulates </a:t>
            </a:r>
            <a:r>
              <a:rPr lang="en" dirty="0">
                <a:highlight>
                  <a:srgbClr val="FFFF00"/>
                </a:highlight>
              </a:rPr>
              <a:t>space battles </a:t>
            </a:r>
            <a:r>
              <a:rPr lang="en" dirty="0"/>
              <a:t>between various </a:t>
            </a:r>
            <a:r>
              <a:rPr lang="en" dirty="0">
                <a:highlight>
                  <a:srgbClr val="FFFF00"/>
                </a:highlight>
              </a:rPr>
              <a:t>ships</a:t>
            </a:r>
            <a:r>
              <a:rPr lang="en" dirty="0"/>
              <a:t> in the </a:t>
            </a:r>
            <a:r>
              <a:rPr lang="en" dirty="0">
                <a:highlight>
                  <a:srgbClr val="FFFF00"/>
                </a:highlight>
              </a:rPr>
              <a:t>Star Wars Cinematic Universe</a:t>
            </a:r>
            <a:r>
              <a:rPr lang="en" dirty="0"/>
              <a:t>. Every ship has a </a:t>
            </a:r>
            <a:r>
              <a:rPr lang="en" dirty="0">
                <a:highlight>
                  <a:srgbClr val="FFFF00"/>
                </a:highlight>
              </a:rPr>
              <a:t>name</a:t>
            </a:r>
            <a:r>
              <a:rPr lang="en" dirty="0"/>
              <a:t> and a </a:t>
            </a:r>
            <a:r>
              <a:rPr lang="en" dirty="0">
                <a:highlight>
                  <a:srgbClr val="FFFF00"/>
                </a:highlight>
              </a:rPr>
              <a:t>hull rating </a:t>
            </a:r>
            <a:r>
              <a:rPr lang="en" dirty="0"/>
              <a:t>that determines how much </a:t>
            </a:r>
            <a:r>
              <a:rPr lang="en" dirty="0">
                <a:highlight>
                  <a:srgbClr val="FFFF00"/>
                </a:highlight>
              </a:rPr>
              <a:t>damage</a:t>
            </a:r>
            <a:r>
              <a:rPr lang="en" dirty="0"/>
              <a:t> it can </a:t>
            </a:r>
            <a:r>
              <a:rPr lang="en" dirty="0">
                <a:highlight>
                  <a:srgbClr val="FFFF00"/>
                </a:highlight>
              </a:rPr>
              <a:t>sustain</a:t>
            </a:r>
            <a:r>
              <a:rPr lang="en" dirty="0"/>
              <a:t> before destruction. In addition, some ships have </a:t>
            </a:r>
            <a:r>
              <a:rPr lang="en" dirty="0">
                <a:highlight>
                  <a:srgbClr val="FFFF00"/>
                </a:highlight>
              </a:rPr>
              <a:t>shields</a:t>
            </a:r>
            <a:r>
              <a:rPr lang="en" dirty="0"/>
              <a:t> which </a:t>
            </a:r>
            <a:r>
              <a:rPr lang="en" dirty="0">
                <a:highlight>
                  <a:srgbClr val="FFFF00"/>
                </a:highlight>
              </a:rPr>
              <a:t>recharge</a:t>
            </a:r>
            <a:r>
              <a:rPr lang="en" dirty="0"/>
              <a:t> over </a:t>
            </a:r>
            <a:r>
              <a:rPr lang="en" dirty="0">
                <a:highlight>
                  <a:srgbClr val="FFFF00"/>
                </a:highlight>
              </a:rPr>
              <a:t>time</a:t>
            </a:r>
            <a:r>
              <a:rPr lang="en" dirty="0"/>
              <a:t> and must be depleted before the hull takes damage.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Each ship also includes some level of </a:t>
            </a:r>
            <a:r>
              <a:rPr lang="en" dirty="0">
                <a:highlight>
                  <a:srgbClr val="FFFF00"/>
                </a:highlight>
              </a:rPr>
              <a:t>armament</a:t>
            </a:r>
            <a:r>
              <a:rPr lang="en" dirty="0"/>
              <a:t>. Larger ships generally have </a:t>
            </a:r>
            <a:r>
              <a:rPr lang="en" dirty="0">
                <a:highlight>
                  <a:srgbClr val="FFFF00"/>
                </a:highlight>
              </a:rPr>
              <a:t>more</a:t>
            </a:r>
            <a:r>
              <a:rPr lang="en" dirty="0"/>
              <a:t> armament. When </a:t>
            </a:r>
            <a:r>
              <a:rPr lang="en" dirty="0">
                <a:highlight>
                  <a:srgbClr val="FFFF00"/>
                </a:highlight>
              </a:rPr>
              <a:t>fired</a:t>
            </a:r>
            <a:r>
              <a:rPr lang="en" dirty="0"/>
              <a:t>, the weapons deal </a:t>
            </a:r>
            <a:r>
              <a:rPr lang="en" dirty="0">
                <a:highlight>
                  <a:srgbClr val="FFFF00"/>
                </a:highlight>
              </a:rPr>
              <a:t>various types of damage to enemy ships</a:t>
            </a:r>
            <a:r>
              <a:rPr lang="en" dirty="0"/>
              <a:t>. Each weapon has a </a:t>
            </a:r>
            <a:r>
              <a:rPr lang="en" dirty="0">
                <a:highlight>
                  <a:srgbClr val="FFFF00"/>
                </a:highlight>
              </a:rPr>
              <a:t>name</a:t>
            </a:r>
            <a:r>
              <a:rPr lang="en" dirty="0"/>
              <a:t> and there are three types of color coded weapon damage: </a:t>
            </a:r>
            <a:r>
              <a:rPr lang="en" dirty="0">
                <a:highlight>
                  <a:srgbClr val="FFFF00"/>
                </a:highlight>
              </a:rPr>
              <a:t>Heavy (Green), Normal (Red), Ion (Blue).</a:t>
            </a:r>
            <a:endParaRPr dirty="0">
              <a:highlight>
                <a:srgbClr val="FF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Google Shape;291;p50"/>
          <p:cNvPicPr preferRelativeResize="0"/>
          <p:nvPr/>
        </p:nvPicPr>
        <p:blipFill>
          <a:blip r:embed="rId3">
            <a:alphaModFix/>
          </a:blip>
          <a:stretch>
            <a:fillRect/>
          </a:stretch>
        </p:blipFill>
        <p:spPr>
          <a:xfrm>
            <a:off x="5210725" y="456050"/>
            <a:ext cx="3814500" cy="3814500"/>
          </a:xfrm>
          <a:prstGeom prst="rect">
            <a:avLst/>
          </a:prstGeom>
          <a:noFill/>
          <a:ln>
            <a:noFill/>
          </a:ln>
        </p:spPr>
      </p:pic>
      <p:sp>
        <p:nvSpPr>
          <p:cNvPr id="292" name="Google Shape;292;p50"/>
          <p:cNvSpPr txBox="1">
            <a:spLocks noGrp="1"/>
          </p:cNvSpPr>
          <p:nvPr>
            <p:ph type="title"/>
          </p:nvPr>
        </p:nvSpPr>
        <p:spPr>
          <a:xfrm>
            <a:off x="5264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Fields</a:t>
            </a:r>
            <a:endParaRPr/>
          </a:p>
        </p:txBody>
      </p:sp>
      <p:sp>
        <p:nvSpPr>
          <p:cNvPr id="293" name="Google Shape;293;p50"/>
          <p:cNvSpPr txBox="1">
            <a:spLocks noGrp="1"/>
          </p:cNvSpPr>
          <p:nvPr>
            <p:ph type="body" idx="1"/>
          </p:nvPr>
        </p:nvSpPr>
        <p:spPr>
          <a:xfrm>
            <a:off x="329400" y="119925"/>
            <a:ext cx="4166400" cy="4944000"/>
          </a:xfrm>
          <a:prstGeom prst="rect">
            <a:avLst/>
          </a:prstGeom>
        </p:spPr>
        <p:txBody>
          <a:bodyPr spcFirstLastPara="1" wrap="square" lIns="91425" tIns="91425" rIns="91425" bIns="91425" anchor="t" anchorCtr="0">
            <a:spAutoFit/>
          </a:bodyPr>
          <a:lstStyle/>
          <a:p>
            <a:pPr marL="457200" lvl="0" indent="-313245" algn="l" rtl="0">
              <a:lnSpc>
                <a:spcPct val="115000"/>
              </a:lnSpc>
              <a:spcBef>
                <a:spcPts val="0"/>
              </a:spcBef>
              <a:spcAft>
                <a:spcPts val="0"/>
              </a:spcAft>
              <a:buSzPts val="1333"/>
              <a:buFont typeface="Calibri"/>
              <a:buChar char="●"/>
            </a:pPr>
            <a:r>
              <a:rPr lang="en" sz="1333" dirty="0"/>
              <a:t>So far, we have exclusively used Java to write </a:t>
            </a:r>
            <a:r>
              <a:rPr lang="en" sz="1333" b="1" i="1" dirty="0">
                <a:solidFill>
                  <a:srgbClr val="FF0000"/>
                </a:solidFill>
              </a:rPr>
              <a:t>procedural programs</a:t>
            </a:r>
            <a:r>
              <a:rPr lang="en" sz="1333" dirty="0"/>
              <a:t>.</a:t>
            </a:r>
            <a:endParaRPr sz="1333" dirty="0"/>
          </a:p>
          <a:p>
            <a:pPr marL="914400" lvl="1" indent="-300545" algn="l" rtl="0">
              <a:lnSpc>
                <a:spcPct val="115000"/>
              </a:lnSpc>
              <a:spcBef>
                <a:spcPts val="0"/>
              </a:spcBef>
              <a:spcAft>
                <a:spcPts val="0"/>
              </a:spcAft>
              <a:buSzPts val="1133"/>
              <a:buChar char="○"/>
            </a:pPr>
            <a:r>
              <a:rPr lang="en" sz="1133" dirty="0"/>
              <a:t>That is a program that encapsulates code into functions and then calls the functions when the program is executed.</a:t>
            </a:r>
            <a:endParaRPr sz="1133" dirty="0"/>
          </a:p>
          <a:p>
            <a:pPr marL="457200" lvl="0" indent="-306895" algn="l" rtl="0">
              <a:lnSpc>
                <a:spcPct val="115000"/>
              </a:lnSpc>
              <a:spcBef>
                <a:spcPts val="1000"/>
              </a:spcBef>
              <a:spcAft>
                <a:spcPts val="0"/>
              </a:spcAft>
              <a:buSzPts val="1233"/>
              <a:buChar char="●"/>
            </a:pPr>
            <a:r>
              <a:rPr lang="en" sz="1233" dirty="0"/>
              <a:t>By now you understand that, </a:t>
            </a:r>
            <a:r>
              <a:rPr lang="en" sz="1333" dirty="0"/>
              <a:t>in Java, almost everything you create will be part of a </a:t>
            </a:r>
            <a:r>
              <a:rPr lang="en" sz="1333" b="1" i="1" dirty="0">
                <a:solidFill>
                  <a:srgbClr val="FF0000"/>
                </a:solidFill>
              </a:rPr>
              <a:t>class</a:t>
            </a:r>
            <a:r>
              <a:rPr lang="en" sz="1333" dirty="0"/>
              <a:t>.</a:t>
            </a:r>
            <a:endParaRPr sz="1333" dirty="0"/>
          </a:p>
          <a:p>
            <a:pPr marL="457200" lvl="0" indent="-313245" algn="l" rtl="0">
              <a:lnSpc>
                <a:spcPct val="115000"/>
              </a:lnSpc>
              <a:spcBef>
                <a:spcPts val="1000"/>
              </a:spcBef>
              <a:spcAft>
                <a:spcPts val="0"/>
              </a:spcAft>
              <a:buSzPts val="1333"/>
              <a:buChar char="●"/>
            </a:pPr>
            <a:r>
              <a:rPr lang="en" sz="1333" dirty="0"/>
              <a:t>Even though we haven't done it in Java yet, classes </a:t>
            </a:r>
            <a:r>
              <a:rPr lang="en" sz="1333" i="1" dirty="0"/>
              <a:t>can</a:t>
            </a:r>
            <a:r>
              <a:rPr lang="en" sz="1333" dirty="0"/>
              <a:t> be used like a </a:t>
            </a:r>
            <a:r>
              <a:rPr lang="en" sz="1333" b="1" i="1" dirty="0">
                <a:solidFill>
                  <a:srgbClr val="FF0000"/>
                </a:solidFill>
                <a:highlight>
                  <a:srgbClr val="FFFF00"/>
                </a:highlight>
              </a:rPr>
              <a:t>blueprint</a:t>
            </a:r>
            <a:r>
              <a:rPr lang="en" sz="1333" dirty="0">
                <a:highlight>
                  <a:srgbClr val="FFFF00"/>
                </a:highlight>
              </a:rPr>
              <a:t> to define the </a:t>
            </a:r>
            <a:r>
              <a:rPr lang="en" sz="1333" b="1" i="1" dirty="0">
                <a:solidFill>
                  <a:srgbClr val="FF0000"/>
                </a:solidFill>
                <a:highlight>
                  <a:srgbClr val="FFFF00"/>
                </a:highlight>
              </a:rPr>
              <a:t>state</a:t>
            </a:r>
            <a:r>
              <a:rPr lang="en" sz="1333" dirty="0">
                <a:solidFill>
                  <a:srgbClr val="FF0000"/>
                </a:solidFill>
                <a:highlight>
                  <a:srgbClr val="FFFF00"/>
                </a:highlight>
              </a:rPr>
              <a:t> </a:t>
            </a:r>
            <a:r>
              <a:rPr lang="en" sz="1333" dirty="0">
                <a:highlight>
                  <a:srgbClr val="FFFF00"/>
                </a:highlight>
              </a:rPr>
              <a:t>and </a:t>
            </a:r>
            <a:r>
              <a:rPr lang="en" sz="1333" b="1" i="1" dirty="0">
                <a:solidFill>
                  <a:srgbClr val="FF0000"/>
                </a:solidFill>
                <a:highlight>
                  <a:srgbClr val="FFFF00"/>
                </a:highlight>
              </a:rPr>
              <a:t>behavior</a:t>
            </a:r>
            <a:r>
              <a:rPr lang="en" sz="1333" dirty="0">
                <a:solidFill>
                  <a:srgbClr val="FF0000"/>
                </a:solidFill>
                <a:highlight>
                  <a:srgbClr val="FFFF00"/>
                </a:highlight>
              </a:rPr>
              <a:t> </a:t>
            </a:r>
            <a:r>
              <a:rPr lang="en" sz="1333" dirty="0"/>
              <a:t>of some category of thing, e.g. pets or houses.</a:t>
            </a:r>
            <a:endParaRPr sz="1333" dirty="0"/>
          </a:p>
          <a:p>
            <a:pPr marL="914400" lvl="1" indent="-300545" algn="l" rtl="0">
              <a:lnSpc>
                <a:spcPct val="115000"/>
              </a:lnSpc>
              <a:spcBef>
                <a:spcPts val="0"/>
              </a:spcBef>
              <a:spcAft>
                <a:spcPts val="0"/>
              </a:spcAft>
              <a:buSzPts val="1133"/>
              <a:buChar char="○"/>
            </a:pPr>
            <a:r>
              <a:rPr lang="en" sz="1133" dirty="0"/>
              <a:t>Collectively, we refer to the state and behavior of a class as its </a:t>
            </a:r>
            <a:r>
              <a:rPr lang="en" sz="1133" b="1" i="1" dirty="0">
                <a:solidFill>
                  <a:srgbClr val="FF0000"/>
                </a:solidFill>
                <a:highlight>
                  <a:srgbClr val="FFFF00"/>
                </a:highlight>
              </a:rPr>
              <a:t>members</a:t>
            </a:r>
            <a:r>
              <a:rPr lang="en" sz="1133" dirty="0"/>
              <a:t>.</a:t>
            </a:r>
            <a:endParaRPr sz="1133" dirty="0"/>
          </a:p>
          <a:p>
            <a:pPr marL="457200" lvl="0" indent="-313245" algn="l" rtl="0">
              <a:lnSpc>
                <a:spcPct val="115000"/>
              </a:lnSpc>
              <a:spcBef>
                <a:spcPts val="1000"/>
              </a:spcBef>
              <a:spcAft>
                <a:spcPts val="0"/>
              </a:spcAft>
              <a:buSzPts val="1333"/>
              <a:buChar char="●"/>
            </a:pPr>
            <a:r>
              <a:rPr lang="en" sz="1333" dirty="0"/>
              <a:t>The state of a Java class comprises </a:t>
            </a:r>
            <a:r>
              <a:rPr lang="en" sz="1333" b="1" i="1" dirty="0">
                <a:solidFill>
                  <a:srgbClr val="FF0000"/>
                </a:solidFill>
                <a:highlight>
                  <a:srgbClr val="FFFF00"/>
                </a:highlight>
              </a:rPr>
              <a:t>variables</a:t>
            </a:r>
            <a:r>
              <a:rPr lang="en" sz="1333" dirty="0">
                <a:solidFill>
                  <a:srgbClr val="FF0000"/>
                </a:solidFill>
              </a:rPr>
              <a:t> </a:t>
            </a:r>
            <a:r>
              <a:rPr lang="en" sz="1333" dirty="0"/>
              <a:t>that are declared inside the body of the class, but </a:t>
            </a:r>
            <a:r>
              <a:rPr lang="en" sz="1333" dirty="0">
                <a:highlight>
                  <a:srgbClr val="FFFF00"/>
                </a:highlight>
              </a:rPr>
              <a:t>outside of any of its methods.</a:t>
            </a:r>
            <a:endParaRPr sz="1333" dirty="0">
              <a:highlight>
                <a:srgbClr val="FFFF00"/>
              </a:highlight>
            </a:endParaRPr>
          </a:p>
          <a:p>
            <a:pPr marL="914400" lvl="1" indent="-300545" algn="l" rtl="0">
              <a:lnSpc>
                <a:spcPct val="115000"/>
              </a:lnSpc>
              <a:spcBef>
                <a:spcPts val="0"/>
              </a:spcBef>
              <a:spcAft>
                <a:spcPts val="0"/>
              </a:spcAft>
              <a:buSzPts val="1133"/>
              <a:buChar char="○"/>
            </a:pPr>
            <a:r>
              <a:rPr lang="en" sz="1133" dirty="0"/>
              <a:t>We refer to these variables as </a:t>
            </a:r>
            <a:r>
              <a:rPr lang="en" sz="1133" b="1" i="1" dirty="0">
                <a:solidFill>
                  <a:srgbClr val="FF0000"/>
                </a:solidFill>
                <a:highlight>
                  <a:srgbClr val="FFFF00"/>
                </a:highlight>
              </a:rPr>
              <a:t>fields</a:t>
            </a:r>
            <a:r>
              <a:rPr lang="en" sz="1133" dirty="0"/>
              <a:t>.</a:t>
            </a:r>
            <a:endParaRPr sz="1133" dirty="0"/>
          </a:p>
          <a:p>
            <a:pPr marL="914400" lvl="1" indent="-300545" algn="l" rtl="0">
              <a:lnSpc>
                <a:spcPct val="115000"/>
              </a:lnSpc>
              <a:spcBef>
                <a:spcPts val="0"/>
              </a:spcBef>
              <a:spcAft>
                <a:spcPts val="0"/>
              </a:spcAft>
              <a:buSzPts val="1133"/>
              <a:buChar char="○"/>
            </a:pPr>
            <a:r>
              <a:rPr lang="en" sz="1133" dirty="0"/>
              <a:t>Fields are also sometimes called </a:t>
            </a:r>
            <a:r>
              <a:rPr lang="en" sz="1133" b="1" i="1" dirty="0">
                <a:solidFill>
                  <a:srgbClr val="FF0000"/>
                </a:solidFill>
              </a:rPr>
              <a:t>attributes</a:t>
            </a:r>
            <a:r>
              <a:rPr lang="en" sz="1133" dirty="0"/>
              <a:t>.</a:t>
            </a:r>
            <a:endParaRPr sz="1133" dirty="0"/>
          </a:p>
          <a:p>
            <a:pPr marL="914400" lvl="1" indent="-300545" algn="l" rtl="0">
              <a:lnSpc>
                <a:spcPct val="115000"/>
              </a:lnSpc>
              <a:spcBef>
                <a:spcPts val="0"/>
              </a:spcBef>
              <a:spcAft>
                <a:spcPts val="0"/>
              </a:spcAft>
              <a:buSzPts val="1133"/>
              <a:buChar char="○"/>
            </a:pPr>
            <a:r>
              <a:rPr lang="en" sz="1133" dirty="0"/>
              <a:t>At a minimum, each field must be declared with a </a:t>
            </a:r>
            <a:r>
              <a:rPr lang="en" sz="1133" b="1" i="1" dirty="0">
                <a:solidFill>
                  <a:srgbClr val="FF0000"/>
                </a:solidFill>
              </a:rPr>
              <a:t>type</a:t>
            </a:r>
            <a:r>
              <a:rPr lang="en" sz="1133" dirty="0">
                <a:solidFill>
                  <a:srgbClr val="FF0000"/>
                </a:solidFill>
              </a:rPr>
              <a:t> </a:t>
            </a:r>
            <a:r>
              <a:rPr lang="en" sz="1133" dirty="0"/>
              <a:t>and a </a:t>
            </a:r>
            <a:r>
              <a:rPr lang="en" sz="1133" b="1" i="1" dirty="0">
                <a:solidFill>
                  <a:srgbClr val="FF0000"/>
                </a:solidFill>
              </a:rPr>
              <a:t>unique name</a:t>
            </a:r>
            <a:r>
              <a:rPr lang="en" sz="1133" dirty="0"/>
              <a:t>.</a:t>
            </a:r>
            <a:endParaRPr sz="1133" dirty="0"/>
          </a:p>
        </p:txBody>
      </p:sp>
      <p:sp>
        <p:nvSpPr>
          <p:cNvPr id="294" name="Google Shape;294;p50"/>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sp>
        <p:nvSpPr>
          <p:cNvPr id="295" name="Google Shape;295;p50"/>
          <p:cNvSpPr txBox="1">
            <a:spLocks noGrp="1"/>
          </p:cNvSpPr>
          <p:nvPr>
            <p:ph type="body" idx="3"/>
          </p:nvPr>
        </p:nvSpPr>
        <p:spPr>
          <a:xfrm>
            <a:off x="5210725" y="4156900"/>
            <a:ext cx="3814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There are a lot of terms associated with Object-Oriented Programming. Understanding the vernacular can be just as important as programming.</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95"/>
                                        </p:tgtEl>
                                        <p:attrNameLst>
                                          <p:attrName>style.visibility</p:attrName>
                                        </p:attrNameLst>
                                      </p:cBhvr>
                                      <p:to>
                                        <p:strVal val="visible"/>
                                      </p:to>
                                    </p:set>
                                    <p:animEffect transition="in" filter="fade">
                                      <p:cBhvr>
                                        <p:cTn id="43" dur="100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51"/>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Fields</a:t>
            </a:r>
            <a:endParaRPr/>
          </a:p>
        </p:txBody>
      </p:sp>
      <p:sp>
        <p:nvSpPr>
          <p:cNvPr id="301" name="Google Shape;301;p51"/>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7</a:t>
            </a:fld>
            <a:endParaRPr/>
          </a:p>
        </p:txBody>
      </p:sp>
      <p:sp>
        <p:nvSpPr>
          <p:cNvPr id="302" name="Google Shape;302;p51"/>
          <p:cNvSpPr txBox="1">
            <a:spLocks noGrp="1"/>
          </p:cNvSpPr>
          <p:nvPr>
            <p:ph type="body" idx="4294967295"/>
          </p:nvPr>
        </p:nvSpPr>
        <p:spPr>
          <a:xfrm>
            <a:off x="4572000" y="1580552"/>
            <a:ext cx="3762000" cy="1982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1  </a:t>
            </a:r>
            <a:r>
              <a:rPr lang="en" sz="1500">
                <a:solidFill>
                  <a:srgbClr val="0000FF"/>
                </a:solidFill>
                <a:latin typeface="Consolas"/>
                <a:ea typeface="Consolas"/>
                <a:cs typeface="Consolas"/>
                <a:sym typeface="Consolas"/>
              </a:rPr>
              <a:t>public</a:t>
            </a:r>
            <a:r>
              <a:rPr lang="en" sz="1500">
                <a:solidFill>
                  <a:srgbClr val="000000"/>
                </a:solidFill>
                <a:latin typeface="Consolas"/>
                <a:ea typeface="Consolas"/>
                <a:cs typeface="Consolas"/>
                <a:sym typeface="Consolas"/>
              </a:rPr>
              <a:t> </a:t>
            </a:r>
            <a:r>
              <a:rPr lang="en" sz="1500">
                <a:solidFill>
                  <a:srgbClr val="0000FF"/>
                </a:solidFill>
                <a:latin typeface="Consolas"/>
                <a:ea typeface="Consolas"/>
                <a:cs typeface="Consolas"/>
                <a:sym typeface="Consolas"/>
              </a:rPr>
              <a:t>class</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House</a:t>
            </a:r>
            <a:r>
              <a:rPr lang="en" sz="1500">
                <a:solidFill>
                  <a:srgbClr val="000000"/>
                </a:solidFill>
                <a:latin typeface="Consolas"/>
                <a:ea typeface="Consolas"/>
                <a:cs typeface="Consolas"/>
                <a:sym typeface="Consolas"/>
              </a:rPr>
              <a:t> {</a:t>
            </a:r>
            <a:endParaRPr sz="15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2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int</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numBathrooms</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3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int</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numBedrooms</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4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boolean</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hvac</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5  </a:t>
            </a:r>
            <a:r>
              <a:rPr lang="en" sz="1500">
                <a:solidFill>
                  <a:srgbClr val="000000"/>
                </a:solidFill>
                <a:latin typeface="Consolas"/>
                <a:ea typeface="Consolas"/>
                <a:cs typeface="Consolas"/>
                <a:sym typeface="Consolas"/>
              </a:rPr>
              <a:t>  </a:t>
            </a:r>
            <a:r>
              <a:rPr lang="en" sz="1500">
                <a:solidFill>
                  <a:srgbClr val="267F99"/>
                </a:solidFill>
                <a:latin typeface="Consolas"/>
                <a:ea typeface="Consolas"/>
                <a:cs typeface="Consolas"/>
                <a:sym typeface="Consolas"/>
              </a:rPr>
              <a:t>String</a:t>
            </a:r>
            <a:r>
              <a:rPr lang="en" sz="1500">
                <a:solidFill>
                  <a:srgbClr val="000000"/>
                </a:solidFill>
                <a:latin typeface="Consolas"/>
                <a:ea typeface="Consolas"/>
                <a:cs typeface="Consolas"/>
                <a:sym typeface="Consolas"/>
              </a:rPr>
              <a:t> </a:t>
            </a:r>
            <a:r>
              <a:rPr lang="en" sz="1500">
                <a:solidFill>
                  <a:srgbClr val="001080"/>
                </a:solidFill>
                <a:latin typeface="Consolas"/>
                <a:ea typeface="Consolas"/>
                <a:cs typeface="Consolas"/>
                <a:sym typeface="Consolas"/>
              </a:rPr>
              <a:t>exteriorColor</a:t>
            </a:r>
            <a:r>
              <a:rPr lang="en" sz="1500">
                <a:solidFill>
                  <a:srgbClr val="000000"/>
                </a:solidFill>
                <a:latin typeface="Consolas"/>
                <a:ea typeface="Consolas"/>
                <a:cs typeface="Consolas"/>
                <a:sym typeface="Consolas"/>
              </a:rPr>
              <a:t>;</a:t>
            </a:r>
            <a:endParaRPr sz="15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500">
                <a:solidFill>
                  <a:srgbClr val="6AA84F"/>
                </a:solidFill>
                <a:latin typeface="Consolas"/>
                <a:ea typeface="Consolas"/>
                <a:cs typeface="Consolas"/>
                <a:sym typeface="Consolas"/>
              </a:rPr>
              <a:t>6 </a:t>
            </a:r>
            <a:r>
              <a:rPr lang="en" sz="1500">
                <a:solidFill>
                  <a:srgbClr val="000000"/>
                </a:solidFill>
                <a:latin typeface="Consolas"/>
                <a:ea typeface="Consolas"/>
                <a:cs typeface="Consolas"/>
                <a:sym typeface="Consolas"/>
              </a:rPr>
              <a:t>}</a:t>
            </a:r>
            <a:endParaRPr sz="1700"/>
          </a:p>
        </p:txBody>
      </p:sp>
      <p:sp>
        <p:nvSpPr>
          <p:cNvPr id="303" name="Google Shape;303;p51"/>
          <p:cNvSpPr txBox="1"/>
          <p:nvPr/>
        </p:nvSpPr>
        <p:spPr>
          <a:xfrm>
            <a:off x="311700" y="908400"/>
            <a:ext cx="38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You will recall that a </a:t>
            </a:r>
            <a:r>
              <a:rPr lang="en" sz="1200" b="1" i="1" dirty="0">
                <a:solidFill>
                  <a:srgbClr val="FF0000"/>
                </a:solidFill>
              </a:rPr>
              <a:t>class</a:t>
            </a:r>
            <a:r>
              <a:rPr lang="en" sz="1200" dirty="0">
                <a:solidFill>
                  <a:srgbClr val="FF0000"/>
                </a:solidFill>
              </a:rPr>
              <a:t> </a:t>
            </a:r>
            <a:r>
              <a:rPr lang="en" sz="1200" dirty="0"/>
              <a:t>is like a blueprint that defines the </a:t>
            </a:r>
            <a:r>
              <a:rPr lang="en" sz="1200" b="1" i="1" dirty="0">
                <a:solidFill>
                  <a:srgbClr val="FF0000"/>
                </a:solidFill>
              </a:rPr>
              <a:t>state </a:t>
            </a:r>
            <a:r>
              <a:rPr lang="en" sz="1200" dirty="0"/>
              <a:t>and </a:t>
            </a:r>
            <a:r>
              <a:rPr lang="en" sz="1200" b="1" i="1" dirty="0">
                <a:solidFill>
                  <a:srgbClr val="FF0000"/>
                </a:solidFill>
              </a:rPr>
              <a:t>behavior </a:t>
            </a:r>
            <a:r>
              <a:rPr lang="en" sz="1200" dirty="0"/>
              <a:t>of some category of things e.g. pets, cars, or houses.</a:t>
            </a:r>
            <a:endParaRPr sz="1200" dirty="0"/>
          </a:p>
        </p:txBody>
      </p:sp>
      <p:sp>
        <p:nvSpPr>
          <p:cNvPr id="304" name="Google Shape;304;p51"/>
          <p:cNvSpPr txBox="1"/>
          <p:nvPr/>
        </p:nvSpPr>
        <p:spPr>
          <a:xfrm>
            <a:off x="311700" y="1787850"/>
            <a:ext cx="38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The attributes that make up the state of the class are called </a:t>
            </a:r>
            <a:r>
              <a:rPr lang="en" sz="1200" b="1" i="1" dirty="0">
                <a:solidFill>
                  <a:srgbClr val="FF0000"/>
                </a:solidFill>
                <a:highlight>
                  <a:srgbClr val="FFFF00"/>
                </a:highlight>
              </a:rPr>
              <a:t>fields</a:t>
            </a:r>
            <a:r>
              <a:rPr lang="en" sz="1200" dirty="0"/>
              <a:t>; this is the object-oriented term for variables that are part of an object.</a:t>
            </a:r>
            <a:endParaRPr sz="1200" dirty="0"/>
          </a:p>
        </p:txBody>
      </p:sp>
      <p:sp>
        <p:nvSpPr>
          <p:cNvPr id="305" name="Google Shape;305;p51"/>
          <p:cNvSpPr txBox="1"/>
          <p:nvPr/>
        </p:nvSpPr>
        <p:spPr>
          <a:xfrm>
            <a:off x="311700" y="2667300"/>
            <a:ext cx="38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In Java, </a:t>
            </a:r>
            <a:r>
              <a:rPr lang="en" sz="1200" dirty="0">
                <a:highlight>
                  <a:srgbClr val="FFFF00"/>
                </a:highlight>
              </a:rPr>
              <a:t>fields are variables that are declared inside the body of the class,</a:t>
            </a:r>
            <a:r>
              <a:rPr lang="en" sz="1200" dirty="0"/>
              <a:t> but </a:t>
            </a:r>
            <a:r>
              <a:rPr lang="en" sz="1200" dirty="0">
                <a:highlight>
                  <a:srgbClr val="FFFF00"/>
                </a:highlight>
              </a:rPr>
              <a:t>outside</a:t>
            </a:r>
            <a:r>
              <a:rPr lang="en" sz="1200" dirty="0"/>
              <a:t> of any of its methods.</a:t>
            </a:r>
            <a:endParaRPr sz="1200" dirty="0"/>
          </a:p>
        </p:txBody>
      </p:sp>
      <p:sp>
        <p:nvSpPr>
          <p:cNvPr id="306" name="Google Shape;306;p51"/>
          <p:cNvSpPr txBox="1"/>
          <p:nvPr/>
        </p:nvSpPr>
        <p:spPr>
          <a:xfrm>
            <a:off x="311700" y="3546750"/>
            <a:ext cx="38145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highlight>
                  <a:srgbClr val="FFFF00"/>
                </a:highlight>
              </a:rPr>
              <a:t>Java fields are similar to slots </a:t>
            </a:r>
            <a:r>
              <a:rPr lang="en" sz="1200" dirty="0"/>
              <a:t>in Python except that Java will guarantee that every object has an instance of each of the fields defined by its class. </a:t>
            </a:r>
            <a:endParaRPr sz="1200" dirty="0"/>
          </a:p>
        </p:txBody>
      </p:sp>
      <p:grpSp>
        <p:nvGrpSpPr>
          <p:cNvPr id="307" name="Google Shape;307;p51"/>
          <p:cNvGrpSpPr/>
          <p:nvPr/>
        </p:nvGrpSpPr>
        <p:grpSpPr>
          <a:xfrm>
            <a:off x="4126200" y="1980050"/>
            <a:ext cx="3307900" cy="1245300"/>
            <a:chOff x="4126200" y="1980050"/>
            <a:chExt cx="3307900" cy="1245300"/>
          </a:xfrm>
        </p:grpSpPr>
        <p:sp>
          <p:nvSpPr>
            <p:cNvPr id="308" name="Google Shape;308;p51"/>
            <p:cNvSpPr/>
            <p:nvPr/>
          </p:nvSpPr>
          <p:spPr>
            <a:xfrm>
              <a:off x="5090500" y="1980050"/>
              <a:ext cx="2343600" cy="1245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309" name="Google Shape;309;p51"/>
            <p:cNvCxnSpPr>
              <a:stCxn id="305" idx="3"/>
              <a:endCxn id="308" idx="1"/>
            </p:cNvCxnSpPr>
            <p:nvPr/>
          </p:nvCxnSpPr>
          <p:spPr>
            <a:xfrm rot="10800000" flipH="1">
              <a:off x="4126200" y="2602650"/>
              <a:ext cx="964200" cy="434100"/>
            </a:xfrm>
            <a:prstGeom prst="bentConnector3">
              <a:avLst>
                <a:gd name="adj1" fmla="val 34923"/>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5"/>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30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315" name="Google Shape;315;p52"/>
          <p:cNvSpPr txBox="1">
            <a:spLocks noGrp="1"/>
          </p:cNvSpPr>
          <p:nvPr>
            <p:ph type="title"/>
          </p:nvPr>
        </p:nvSpPr>
        <p:spPr>
          <a:xfrm>
            <a:off x="465350" y="119925"/>
            <a:ext cx="3406800" cy="908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Object Creation</a:t>
            </a:r>
            <a:endParaRPr/>
          </a:p>
          <a:p>
            <a:pPr marL="0" lvl="0" indent="0" algn="l" rtl="0">
              <a:spcBef>
                <a:spcPts val="0"/>
              </a:spcBef>
              <a:spcAft>
                <a:spcPts val="0"/>
              </a:spcAft>
              <a:buNone/>
            </a:pPr>
            <a:r>
              <a:rPr lang="en" sz="1900"/>
              <a:t>(Default Constructors)</a:t>
            </a:r>
            <a:endParaRPr sz="1900"/>
          </a:p>
        </p:txBody>
      </p:sp>
      <p:sp>
        <p:nvSpPr>
          <p:cNvPr id="316" name="Google Shape;316;p52"/>
          <p:cNvSpPr txBox="1">
            <a:spLocks noGrp="1"/>
          </p:cNvSpPr>
          <p:nvPr>
            <p:ph type="body" idx="1"/>
          </p:nvPr>
        </p:nvSpPr>
        <p:spPr>
          <a:xfrm>
            <a:off x="4381800" y="39250"/>
            <a:ext cx="4445400" cy="5077800"/>
          </a:xfrm>
          <a:prstGeom prst="rect">
            <a:avLst/>
          </a:prstGeom>
        </p:spPr>
        <p:txBody>
          <a:bodyPr spcFirstLastPara="1" wrap="square" lIns="91425" tIns="91425" rIns="91425" bIns="91425" anchor="t" anchorCtr="0">
            <a:spAutoFit/>
          </a:bodyPr>
          <a:lstStyle/>
          <a:p>
            <a:pPr marL="457200" lvl="0" indent="-319595" algn="l" rtl="0">
              <a:lnSpc>
                <a:spcPct val="115000"/>
              </a:lnSpc>
              <a:spcBef>
                <a:spcPts val="0"/>
              </a:spcBef>
              <a:spcAft>
                <a:spcPts val="0"/>
              </a:spcAft>
              <a:buSzPts val="1433"/>
              <a:buFont typeface="Calibri"/>
              <a:buChar char="●"/>
            </a:pPr>
            <a:r>
              <a:rPr lang="en" sz="1433" dirty="0"/>
              <a:t>A class is like a </a:t>
            </a:r>
            <a:r>
              <a:rPr lang="en" sz="1433" b="1" i="1" dirty="0">
                <a:solidFill>
                  <a:srgbClr val="FF0000"/>
                </a:solidFill>
              </a:rPr>
              <a:t>blueprint</a:t>
            </a:r>
            <a:r>
              <a:rPr lang="en" sz="1433" dirty="0"/>
              <a:t> that tells us how to build something but a class cannot be used directly.</a:t>
            </a:r>
            <a:endParaRPr sz="1433" dirty="0"/>
          </a:p>
          <a:p>
            <a:pPr marL="914400" lvl="1" indent="-319595" algn="l" rtl="0">
              <a:lnSpc>
                <a:spcPct val="115000"/>
              </a:lnSpc>
              <a:spcBef>
                <a:spcPts val="0"/>
              </a:spcBef>
              <a:spcAft>
                <a:spcPts val="0"/>
              </a:spcAft>
              <a:buSzPts val="1433"/>
              <a:buChar char="○"/>
            </a:pPr>
            <a:r>
              <a:rPr lang="en" sz="1200" dirty="0"/>
              <a:t>Think of the blueprint to a house, you cannot live in the blueprint, you must build the house first.</a:t>
            </a:r>
            <a:endParaRPr sz="1200" dirty="0"/>
          </a:p>
          <a:p>
            <a:pPr marL="457200" lvl="0" indent="-319595" algn="l" rtl="0">
              <a:lnSpc>
                <a:spcPct val="115000"/>
              </a:lnSpc>
              <a:spcBef>
                <a:spcPts val="1000"/>
              </a:spcBef>
              <a:spcAft>
                <a:spcPts val="0"/>
              </a:spcAft>
              <a:buSzPts val="1433"/>
              <a:buFont typeface="Calibri"/>
              <a:buChar char="●"/>
            </a:pPr>
            <a:r>
              <a:rPr lang="en" sz="1433" dirty="0"/>
              <a:t>The process of construction is called </a:t>
            </a:r>
            <a:r>
              <a:rPr lang="en" sz="1433" b="1" i="1" dirty="0">
                <a:solidFill>
                  <a:srgbClr val="FF0000"/>
                </a:solidFill>
                <a:highlight>
                  <a:srgbClr val="FFFF00"/>
                </a:highlight>
              </a:rPr>
              <a:t>instantiation</a:t>
            </a:r>
            <a:r>
              <a:rPr lang="en" sz="1433" dirty="0"/>
              <a:t>.</a:t>
            </a:r>
            <a:endParaRPr sz="1433" b="1" i="1" dirty="0">
              <a:solidFill>
                <a:srgbClr val="FF0000"/>
              </a:solidFill>
            </a:endParaRPr>
          </a:p>
          <a:p>
            <a:pPr marL="914400" lvl="1" indent="-319595" algn="l" rtl="0">
              <a:lnSpc>
                <a:spcPct val="115000"/>
              </a:lnSpc>
              <a:spcBef>
                <a:spcPts val="0"/>
              </a:spcBef>
              <a:spcAft>
                <a:spcPts val="0"/>
              </a:spcAft>
              <a:buSzPts val="1433"/>
              <a:buFont typeface="Calibri"/>
              <a:buChar char="○"/>
            </a:pPr>
            <a:r>
              <a:rPr lang="en" sz="1200" dirty="0"/>
              <a:t>This is the process through which you create an </a:t>
            </a:r>
            <a:r>
              <a:rPr lang="en" sz="1200" b="1" i="1" dirty="0">
                <a:solidFill>
                  <a:srgbClr val="FF0000"/>
                </a:solidFill>
                <a:highlight>
                  <a:srgbClr val="FFFF00"/>
                </a:highlight>
              </a:rPr>
              <a:t>instance </a:t>
            </a:r>
            <a:r>
              <a:rPr lang="en" sz="1200" dirty="0">
                <a:highlight>
                  <a:srgbClr val="FFFF00"/>
                </a:highlight>
              </a:rPr>
              <a:t>(</a:t>
            </a:r>
            <a:r>
              <a:rPr lang="en" sz="1200" b="1" i="1" dirty="0">
                <a:solidFill>
                  <a:srgbClr val="FF0000"/>
                </a:solidFill>
                <a:highlight>
                  <a:srgbClr val="FFFF00"/>
                </a:highlight>
              </a:rPr>
              <a:t>object</a:t>
            </a:r>
            <a:r>
              <a:rPr lang="en" sz="1200" dirty="0">
                <a:highlight>
                  <a:srgbClr val="FFFF00"/>
                </a:highlight>
              </a:rPr>
              <a:t>) </a:t>
            </a:r>
            <a:r>
              <a:rPr lang="en" sz="1200" dirty="0"/>
              <a:t>of a class.</a:t>
            </a:r>
            <a:endParaRPr sz="1200" dirty="0"/>
          </a:p>
          <a:p>
            <a:pPr marL="457200" lvl="0" indent="-317500" algn="l" rtl="0">
              <a:spcBef>
                <a:spcPts val="1000"/>
              </a:spcBef>
              <a:spcAft>
                <a:spcPts val="0"/>
              </a:spcAft>
              <a:buSzPts val="1400"/>
              <a:buChar char="●"/>
            </a:pPr>
            <a:r>
              <a:rPr lang="en" sz="1400" dirty="0"/>
              <a:t>An </a:t>
            </a:r>
            <a:r>
              <a:rPr lang="en" sz="1400" b="1" i="1" dirty="0">
                <a:solidFill>
                  <a:srgbClr val="FF0000"/>
                </a:solidFill>
              </a:rPr>
              <a:t>object </a:t>
            </a:r>
            <a:r>
              <a:rPr lang="en" sz="1400" dirty="0"/>
              <a:t>acts like a </a:t>
            </a:r>
            <a:r>
              <a:rPr lang="en" sz="1400" b="1" i="1" dirty="0">
                <a:solidFill>
                  <a:srgbClr val="FF0000"/>
                </a:solidFill>
              </a:rPr>
              <a:t>container </a:t>
            </a:r>
            <a:r>
              <a:rPr lang="en" sz="1400" dirty="0"/>
              <a:t>that holds its </a:t>
            </a:r>
            <a:r>
              <a:rPr lang="en" sz="1400" b="1" i="1" dirty="0">
                <a:solidFill>
                  <a:srgbClr val="FF0000"/>
                </a:solidFill>
              </a:rPr>
              <a:t>state</a:t>
            </a:r>
            <a:r>
              <a:rPr lang="en" sz="1400" i="1" dirty="0">
                <a:solidFill>
                  <a:srgbClr val="FF0000"/>
                </a:solidFill>
              </a:rPr>
              <a:t> </a:t>
            </a:r>
            <a:r>
              <a:rPr lang="en" sz="1400" dirty="0"/>
              <a:t>and </a:t>
            </a:r>
            <a:r>
              <a:rPr lang="en" sz="1400" b="1" i="1" dirty="0">
                <a:solidFill>
                  <a:srgbClr val="FF0000"/>
                </a:solidFill>
              </a:rPr>
              <a:t>behavior</a:t>
            </a:r>
            <a:r>
              <a:rPr lang="en" sz="1400" i="1" dirty="0">
                <a:solidFill>
                  <a:srgbClr val="FF0000"/>
                </a:solidFill>
              </a:rPr>
              <a:t> </a:t>
            </a:r>
            <a:r>
              <a:rPr lang="en" sz="1400" dirty="0"/>
              <a:t>together in one place.</a:t>
            </a:r>
            <a:endParaRPr dirty="0"/>
          </a:p>
          <a:p>
            <a:pPr marL="457200" lvl="0" indent="-319595" algn="l" rtl="0">
              <a:lnSpc>
                <a:spcPct val="115000"/>
              </a:lnSpc>
              <a:spcBef>
                <a:spcPts val="1000"/>
              </a:spcBef>
              <a:spcAft>
                <a:spcPts val="0"/>
              </a:spcAft>
              <a:buSzPts val="1433"/>
              <a:buFont typeface="Calibri"/>
              <a:buChar char="●"/>
            </a:pPr>
            <a:r>
              <a:rPr lang="en" sz="1433" dirty="0"/>
              <a:t>Like Python, Java provides a </a:t>
            </a:r>
            <a:r>
              <a:rPr lang="en" sz="1433" b="1" i="1" dirty="0">
                <a:solidFill>
                  <a:srgbClr val="FF0000"/>
                </a:solidFill>
                <a:highlight>
                  <a:srgbClr val="FFFF00"/>
                </a:highlight>
              </a:rPr>
              <a:t>default constructor</a:t>
            </a:r>
            <a:r>
              <a:rPr lang="en" sz="1433" dirty="0">
                <a:highlight>
                  <a:srgbClr val="FFFF00"/>
                </a:highlight>
              </a:rPr>
              <a:t> </a:t>
            </a:r>
            <a:r>
              <a:rPr lang="en" sz="1433" dirty="0"/>
              <a:t>that can be used to create instances of a class.</a:t>
            </a:r>
            <a:endParaRPr sz="1433" dirty="0"/>
          </a:p>
          <a:p>
            <a:pPr marL="914400" lvl="1" indent="-304800" algn="l" rtl="0">
              <a:lnSpc>
                <a:spcPct val="115000"/>
              </a:lnSpc>
              <a:spcBef>
                <a:spcPts val="0"/>
              </a:spcBef>
              <a:spcAft>
                <a:spcPts val="0"/>
              </a:spcAft>
              <a:buSzPts val="1200"/>
              <a:buChar char="○"/>
            </a:pPr>
            <a:r>
              <a:rPr lang="en" sz="1200" dirty="0"/>
              <a:t>You must use it with the </a:t>
            </a:r>
            <a:r>
              <a:rPr lang="en" sz="1200" dirty="0">
                <a:solidFill>
                  <a:srgbClr val="FF0000"/>
                </a:solidFill>
                <a:latin typeface="Courier New"/>
                <a:ea typeface="Courier New"/>
                <a:cs typeface="Courier New"/>
                <a:sym typeface="Courier New"/>
              </a:rPr>
              <a:t>new</a:t>
            </a:r>
            <a:r>
              <a:rPr lang="en" sz="1200" dirty="0"/>
              <a:t> keyword, e.g.  </a:t>
            </a:r>
            <a:r>
              <a:rPr lang="en" sz="1200" dirty="0">
                <a:solidFill>
                  <a:srgbClr val="FF0000"/>
                </a:solidFill>
                <a:latin typeface="Courier New"/>
                <a:ea typeface="Courier New"/>
                <a:cs typeface="Courier New"/>
                <a:sym typeface="Courier New"/>
              </a:rPr>
              <a:t>House house = </a:t>
            </a:r>
            <a:r>
              <a:rPr lang="en" sz="1200" u="sng" dirty="0">
                <a:solidFill>
                  <a:srgbClr val="FF0000"/>
                </a:solidFill>
                <a:latin typeface="Courier New"/>
                <a:ea typeface="Courier New"/>
                <a:cs typeface="Courier New"/>
                <a:sym typeface="Courier New"/>
              </a:rPr>
              <a:t>new</a:t>
            </a:r>
            <a:r>
              <a:rPr lang="en" sz="1200" dirty="0">
                <a:solidFill>
                  <a:srgbClr val="FF0000"/>
                </a:solidFill>
                <a:latin typeface="Courier New"/>
                <a:ea typeface="Courier New"/>
                <a:cs typeface="Courier New"/>
                <a:sym typeface="Courier New"/>
              </a:rPr>
              <a:t> House();</a:t>
            </a:r>
            <a:endParaRPr sz="1200" dirty="0">
              <a:solidFill>
                <a:srgbClr val="FF0000"/>
              </a:solidFill>
              <a:latin typeface="Courier New"/>
              <a:ea typeface="Courier New"/>
              <a:cs typeface="Courier New"/>
              <a:sym typeface="Courier New"/>
            </a:endParaRPr>
          </a:p>
          <a:p>
            <a:pPr marL="914400" lvl="1" indent="-306895" algn="l" rtl="0">
              <a:lnSpc>
                <a:spcPct val="115000"/>
              </a:lnSpc>
              <a:spcBef>
                <a:spcPts val="0"/>
              </a:spcBef>
              <a:spcAft>
                <a:spcPts val="0"/>
              </a:spcAft>
              <a:buSzPts val="1233"/>
              <a:buChar char="○"/>
            </a:pPr>
            <a:r>
              <a:rPr lang="en" sz="1233" dirty="0"/>
              <a:t>Unlike Python</a:t>
            </a:r>
            <a:r>
              <a:rPr lang="en" sz="1233" dirty="0">
                <a:highlight>
                  <a:srgbClr val="FFFF00"/>
                </a:highlight>
              </a:rPr>
              <a:t>, when a Java object is created all of its attributes are </a:t>
            </a:r>
            <a:r>
              <a:rPr lang="en" sz="1233" b="1" i="1" dirty="0">
                <a:solidFill>
                  <a:srgbClr val="FF0000"/>
                </a:solidFill>
                <a:highlight>
                  <a:srgbClr val="FFFF00"/>
                </a:highlight>
              </a:rPr>
              <a:t>allocated </a:t>
            </a:r>
            <a:r>
              <a:rPr lang="en" sz="1233" dirty="0">
                <a:highlight>
                  <a:srgbClr val="FFFF00"/>
                </a:highlight>
              </a:rPr>
              <a:t>in memory and assigned default values.</a:t>
            </a:r>
            <a:endParaRPr sz="1433" dirty="0">
              <a:highlight>
                <a:srgbClr val="FFFF00"/>
              </a:highlight>
            </a:endParaRPr>
          </a:p>
        </p:txBody>
      </p:sp>
      <p:sp>
        <p:nvSpPr>
          <p:cNvPr id="317" name="Google Shape;317;p52"/>
          <p:cNvSpPr txBox="1">
            <a:spLocks noGrp="1"/>
          </p:cNvSpPr>
          <p:nvPr>
            <p:ph type="body" idx="3"/>
          </p:nvPr>
        </p:nvSpPr>
        <p:spPr>
          <a:xfrm>
            <a:off x="465350" y="3937250"/>
            <a:ext cx="3406800" cy="785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A new instance of a class must be constructed before the state and behavior in an object can be used.</a:t>
            </a:r>
            <a:endParaRPr/>
          </a:p>
        </p:txBody>
      </p:sp>
      <p:pic>
        <p:nvPicPr>
          <p:cNvPr id="318" name="Google Shape;318;p52"/>
          <p:cNvPicPr preferRelativeResize="0"/>
          <p:nvPr/>
        </p:nvPicPr>
        <p:blipFill>
          <a:blip r:embed="rId3">
            <a:alphaModFix/>
          </a:blip>
          <a:stretch>
            <a:fillRect/>
          </a:stretch>
        </p:blipFill>
        <p:spPr>
          <a:xfrm>
            <a:off x="465238" y="1096438"/>
            <a:ext cx="3406878" cy="2645826"/>
          </a:xfrm>
          <a:prstGeom prst="rect">
            <a:avLst/>
          </a:prstGeom>
          <a:noFill/>
          <a:ln w="9525" cap="flat" cmpd="sng">
            <a:solidFill>
              <a:srgbClr val="FFFFFF"/>
            </a:solidFill>
            <a:prstDash val="solid"/>
            <a:round/>
            <a:headEnd type="none" w="sm" len="sm"/>
            <a:tailEnd type="none" w="sm" len="s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1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3"/>
          <p:cNvSpPr txBox="1">
            <a:spLocks noGrp="1"/>
          </p:cNvSpPr>
          <p:nvPr>
            <p:ph type="body" idx="2"/>
          </p:nvPr>
        </p:nvSpPr>
        <p:spPr>
          <a:xfrm>
            <a:off x="3938100" y="1784525"/>
            <a:ext cx="5003100" cy="22729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t>Inside the </a:t>
            </a:r>
            <a:r>
              <a:rPr lang="en" sz="1200" dirty="0">
                <a:solidFill>
                  <a:srgbClr val="FF0000"/>
                </a:solidFill>
                <a:latin typeface="Courier New"/>
                <a:ea typeface="Courier New"/>
                <a:cs typeface="Courier New"/>
                <a:sym typeface="Courier New"/>
              </a:rPr>
              <a:t>src/main/java/unit02</a:t>
            </a:r>
            <a:r>
              <a:rPr lang="en" sz="1200" dirty="0"/>
              <a:t> folder, add a new file named "</a:t>
            </a:r>
            <a:r>
              <a:rPr lang="en" sz="1200" dirty="0">
                <a:solidFill>
                  <a:srgbClr val="FF0000"/>
                </a:solidFill>
                <a:latin typeface="Courier New"/>
                <a:ea typeface="Courier New"/>
                <a:cs typeface="Courier New"/>
                <a:sym typeface="Courier New"/>
              </a:rPr>
              <a:t>Weapon.java</a:t>
            </a:r>
            <a:r>
              <a:rPr lang="en" sz="1200" dirty="0"/>
              <a:t>".</a:t>
            </a:r>
            <a:endParaRPr sz="1200" dirty="0"/>
          </a:p>
          <a:p>
            <a:pPr marL="457200" lvl="0" indent="-304800" algn="l" rtl="0">
              <a:spcBef>
                <a:spcPts val="0"/>
              </a:spcBef>
              <a:spcAft>
                <a:spcPts val="0"/>
              </a:spcAft>
              <a:buSzPts val="1200"/>
              <a:buChar char="●"/>
            </a:pPr>
            <a:r>
              <a:rPr lang="en" sz="1200" dirty="0"/>
              <a:t>Edit the file to include the </a:t>
            </a:r>
            <a:r>
              <a:rPr lang="en" sz="1200" dirty="0">
                <a:latin typeface="Courier New"/>
                <a:ea typeface="Courier New"/>
                <a:cs typeface="Courier New"/>
                <a:sym typeface="Courier New"/>
              </a:rPr>
              <a:t>Weapon</a:t>
            </a:r>
            <a:r>
              <a:rPr lang="en" sz="1200" dirty="0"/>
              <a:t> class and all of its fields.</a:t>
            </a:r>
            <a:endParaRPr sz="1200" dirty="0"/>
          </a:p>
          <a:p>
            <a:pPr marL="914400" lvl="1" indent="-298450" algn="l" rtl="0">
              <a:spcBef>
                <a:spcPts val="0"/>
              </a:spcBef>
              <a:spcAft>
                <a:spcPts val="0"/>
              </a:spcAft>
              <a:buSzPts val="1100"/>
              <a:buChar char="○"/>
            </a:pPr>
            <a:r>
              <a:rPr lang="en" dirty="0"/>
              <a:t>Don't forget to declare the types as well as the names.</a:t>
            </a:r>
            <a:endParaRPr dirty="0"/>
          </a:p>
          <a:p>
            <a:pPr marL="914400" lvl="1" indent="-298450" algn="l" rtl="0">
              <a:spcBef>
                <a:spcPts val="0"/>
              </a:spcBef>
              <a:spcAft>
                <a:spcPts val="0"/>
              </a:spcAft>
              <a:buSzPts val="1100"/>
              <a:buChar char="○"/>
            </a:pPr>
            <a:r>
              <a:rPr lang="en" dirty="0"/>
              <a:t>You can make everything </a:t>
            </a:r>
            <a:r>
              <a:rPr lang="en" dirty="0">
                <a:highlight>
                  <a:srgbClr val="FFFF00"/>
                </a:highlight>
                <a:latin typeface="Courier New"/>
                <a:ea typeface="Courier New"/>
                <a:cs typeface="Courier New"/>
                <a:sym typeface="Courier New"/>
              </a:rPr>
              <a:t>public</a:t>
            </a:r>
            <a:r>
              <a:rPr lang="en" dirty="0"/>
              <a:t> for now, we'll fix it later.</a:t>
            </a:r>
            <a:endParaRPr dirty="0"/>
          </a:p>
          <a:p>
            <a:pPr marL="457200" lvl="0" indent="-304800" algn="l" rtl="0">
              <a:spcBef>
                <a:spcPts val="0"/>
              </a:spcBef>
              <a:spcAft>
                <a:spcPts val="0"/>
              </a:spcAft>
              <a:buSzPts val="1200"/>
              <a:buChar char="●"/>
            </a:pPr>
            <a:r>
              <a:rPr lang="en" sz="1200" dirty="0"/>
              <a:t>Create a new </a:t>
            </a:r>
            <a:r>
              <a:rPr lang="en" sz="1200" dirty="0">
                <a:solidFill>
                  <a:srgbClr val="FF0000"/>
                </a:solidFill>
                <a:latin typeface="Courier New"/>
                <a:ea typeface="Courier New"/>
                <a:cs typeface="Courier New"/>
                <a:sym typeface="Courier New"/>
              </a:rPr>
              <a:t>StarWarsBattle</a:t>
            </a:r>
            <a:r>
              <a:rPr lang="en" sz="1200" dirty="0"/>
              <a:t> class in the same directory. Add a </a:t>
            </a:r>
            <a:r>
              <a:rPr lang="en" sz="1200" dirty="0">
                <a:latin typeface="Courier New"/>
                <a:ea typeface="Courier New"/>
                <a:cs typeface="Courier New"/>
                <a:sym typeface="Courier New"/>
              </a:rPr>
              <a:t>main</a:t>
            </a:r>
            <a:r>
              <a:rPr lang="en" sz="1200" dirty="0"/>
              <a:t> method which creates an instance of the </a:t>
            </a:r>
            <a:r>
              <a:rPr lang="en" sz="1200" dirty="0">
                <a:latin typeface="Courier New"/>
                <a:ea typeface="Courier New"/>
                <a:cs typeface="Courier New"/>
                <a:sym typeface="Courier New"/>
              </a:rPr>
              <a:t>Weapon</a:t>
            </a:r>
            <a:r>
              <a:rPr lang="en" sz="1200" dirty="0"/>
              <a:t> class.</a:t>
            </a:r>
            <a:endParaRPr dirty="0"/>
          </a:p>
          <a:p>
            <a:pPr marL="914400" lvl="1" indent="-304800" algn="l" rtl="0">
              <a:spcBef>
                <a:spcPts val="0"/>
              </a:spcBef>
              <a:spcAft>
                <a:spcPts val="0"/>
              </a:spcAft>
              <a:buSzPts val="1200"/>
              <a:buChar char="○"/>
            </a:pPr>
            <a:r>
              <a:rPr lang="en" sz="1200" dirty="0">
                <a:highlight>
                  <a:srgbClr val="FFFF00"/>
                </a:highlight>
              </a:rPr>
              <a:t>Print out the weapon's </a:t>
            </a:r>
            <a:r>
              <a:rPr lang="en" sz="1200" dirty="0">
                <a:highlight>
                  <a:srgbClr val="FFFF00"/>
                </a:highlight>
                <a:latin typeface="Courier New"/>
                <a:ea typeface="Courier New"/>
                <a:cs typeface="Courier New"/>
                <a:sym typeface="Courier New"/>
              </a:rPr>
              <a:t>name</a:t>
            </a:r>
            <a:r>
              <a:rPr lang="en" sz="1200" dirty="0">
                <a:highlight>
                  <a:srgbClr val="FFFF00"/>
                </a:highlight>
              </a:rPr>
              <a:t> and </a:t>
            </a:r>
            <a:r>
              <a:rPr lang="en" sz="1200" dirty="0">
                <a:highlight>
                  <a:srgbClr val="FFFF00"/>
                </a:highlight>
                <a:latin typeface="Courier New"/>
                <a:ea typeface="Courier New"/>
                <a:cs typeface="Courier New"/>
                <a:sym typeface="Courier New"/>
              </a:rPr>
              <a:t>damage</a:t>
            </a:r>
            <a:r>
              <a:rPr lang="en" sz="1200" dirty="0">
                <a:highlight>
                  <a:srgbClr val="FFFF00"/>
                </a:highlight>
              </a:rPr>
              <a:t> value.</a:t>
            </a:r>
            <a:endParaRPr sz="1200" dirty="0">
              <a:highlight>
                <a:srgbClr val="FFFF00"/>
              </a:highlight>
            </a:endParaRPr>
          </a:p>
          <a:p>
            <a:pPr marL="914400" lvl="1" indent="-304800" algn="l" rtl="0">
              <a:spcBef>
                <a:spcPts val="0"/>
              </a:spcBef>
              <a:spcAft>
                <a:spcPts val="0"/>
              </a:spcAft>
              <a:buSzPts val="1200"/>
              <a:buChar char="○"/>
            </a:pPr>
            <a:r>
              <a:rPr lang="en" sz="1200" dirty="0"/>
              <a:t>Use the VSCode run button to run the class.</a:t>
            </a:r>
            <a:endParaRPr dirty="0">
              <a:solidFill>
                <a:srgbClr val="FF0000"/>
              </a:solidFill>
              <a:latin typeface="Courier New"/>
              <a:ea typeface="Courier New"/>
              <a:cs typeface="Courier New"/>
              <a:sym typeface="Courier New"/>
            </a:endParaRPr>
          </a:p>
        </p:txBody>
      </p:sp>
      <p:sp>
        <p:nvSpPr>
          <p:cNvPr id="324" name="Google Shape;324;p53"/>
          <p:cNvSpPr txBox="1">
            <a:spLocks noGrp="1"/>
          </p:cNvSpPr>
          <p:nvPr>
            <p:ph type="body" idx="1"/>
          </p:nvPr>
        </p:nvSpPr>
        <p:spPr>
          <a:xfrm>
            <a:off x="65250" y="655425"/>
            <a:ext cx="8955900" cy="1522438"/>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highlight>
                  <a:srgbClr val="FFFF00"/>
                </a:highlight>
              </a:rPr>
              <a:t>When implementing a design, we should start with any classes that do not </a:t>
            </a:r>
            <a:r>
              <a:rPr lang="en" b="1" i="1" dirty="0">
                <a:solidFill>
                  <a:srgbClr val="EE0000"/>
                </a:solidFill>
                <a:highlight>
                  <a:srgbClr val="FFFF00"/>
                </a:highlight>
              </a:rPr>
              <a:t>depend</a:t>
            </a:r>
            <a:r>
              <a:rPr lang="en" dirty="0">
                <a:highlight>
                  <a:srgbClr val="FFFF00"/>
                </a:highlight>
              </a:rPr>
              <a:t> on any other classes; </a:t>
            </a:r>
            <a:r>
              <a:rPr lang="en" dirty="0"/>
              <a:t>that means that they do not need any other classes to work. In the Star Wars Battle simulator, the </a:t>
            </a:r>
            <a:r>
              <a:rPr lang="en" dirty="0">
                <a:latin typeface="Courier New"/>
                <a:ea typeface="Courier New"/>
                <a:cs typeface="Courier New"/>
                <a:sym typeface="Courier New"/>
              </a:rPr>
              <a:t>Weapon</a:t>
            </a:r>
            <a:r>
              <a:rPr lang="en" dirty="0"/>
              <a:t> class doesn't depend on any other classes. Start implementing the </a:t>
            </a:r>
            <a:r>
              <a:rPr lang="en" dirty="0">
                <a:latin typeface="Courier New"/>
                <a:ea typeface="Courier New"/>
                <a:cs typeface="Courier New"/>
                <a:sym typeface="Courier New"/>
              </a:rPr>
              <a:t>Weapon</a:t>
            </a:r>
            <a:r>
              <a:rPr lang="en" dirty="0"/>
              <a:t> class based on the analysis that you did earlier.</a:t>
            </a:r>
            <a:endParaRPr dirty="0"/>
          </a:p>
        </p:txBody>
      </p:sp>
      <p:sp>
        <p:nvSpPr>
          <p:cNvPr id="325" name="Google Shape;325;p53"/>
          <p:cNvSpPr txBox="1">
            <a:spLocks noGrp="1"/>
          </p:cNvSpPr>
          <p:nvPr>
            <p:ph type="sldNum" idx="12"/>
          </p:nvPr>
        </p:nvSpPr>
        <p:spPr>
          <a:xfrm>
            <a:off x="8586092"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326" name="Google Shape;326;p5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Blasters Ready</a:t>
            </a:r>
            <a:endParaRPr/>
          </a:p>
        </p:txBody>
      </p:sp>
      <p:sp>
        <p:nvSpPr>
          <p:cNvPr id="327" name="Google Shape;327;p5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a:t>
            </a:r>
            <a:endParaRPr/>
          </a:p>
        </p:txBody>
      </p:sp>
      <p:sp>
        <p:nvSpPr>
          <p:cNvPr id="328" name="Google Shape;328;p53"/>
          <p:cNvSpPr txBox="1">
            <a:spLocks noGrp="1"/>
          </p:cNvSpPr>
          <p:nvPr>
            <p:ph type="body" idx="2"/>
          </p:nvPr>
        </p:nvSpPr>
        <p:spPr>
          <a:xfrm>
            <a:off x="116175" y="4031177"/>
            <a:ext cx="37620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a:solidFill>
                  <a:srgbClr val="000000"/>
                </a:solidFill>
                <a:latin typeface="Arial"/>
                <a:ea typeface="Arial"/>
                <a:cs typeface="Arial"/>
                <a:sym typeface="Arial"/>
              </a:rPr>
              <a:t>In Java, placing files in a directory adds them to a package (more later). For now, if </a:t>
            </a:r>
            <a:r>
              <a:rPr lang="en" sz="1200">
                <a:solidFill>
                  <a:srgbClr val="000000"/>
                </a:solidFill>
                <a:highlight>
                  <a:srgbClr val="D9D9D9"/>
                </a:highlight>
                <a:latin typeface="Courier New"/>
                <a:ea typeface="Courier New"/>
                <a:cs typeface="Courier New"/>
                <a:sym typeface="Courier New"/>
              </a:rPr>
              <a:t>package unit02;</a:t>
            </a:r>
            <a:r>
              <a:rPr lang="en" sz="1200">
                <a:solidFill>
                  <a:srgbClr val="000000"/>
                </a:solidFill>
                <a:latin typeface="Arial"/>
                <a:ea typeface="Arial"/>
                <a:cs typeface="Arial"/>
                <a:sym typeface="Arial"/>
              </a:rPr>
              <a:t> was not added automatically to the file, you'll need to manually add it.</a:t>
            </a:r>
            <a:endParaRPr sz="1200" b="1" i="1">
              <a:solidFill>
                <a:srgbClr val="000000"/>
              </a:solidFill>
              <a:latin typeface="Arial"/>
              <a:ea typeface="Arial"/>
              <a:cs typeface="Arial"/>
              <a:sym typeface="Arial"/>
            </a:endParaRPr>
          </a:p>
        </p:txBody>
      </p:sp>
      <p:sp>
        <p:nvSpPr>
          <p:cNvPr id="329" name="Google Shape;329;p53"/>
          <p:cNvSpPr txBox="1">
            <a:spLocks noGrp="1"/>
          </p:cNvSpPr>
          <p:nvPr>
            <p:ph type="body" idx="4"/>
          </p:nvPr>
        </p:nvSpPr>
        <p:spPr>
          <a:xfrm>
            <a:off x="116175" y="1905677"/>
            <a:ext cx="3762000" cy="20154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class</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House</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numBathrooms</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numBedrooms</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boolean</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hvac</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String</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exteriorColor</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main</a:t>
            </a:r>
            <a:r>
              <a:rPr lang="en" sz="900">
                <a:solidFill>
                  <a:srgbClr val="000000"/>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String</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args</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House</a:t>
            </a:r>
            <a:r>
              <a:rPr lang="en" sz="900">
                <a:solidFill>
                  <a:srgbClr val="000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myHouse</a:t>
            </a:r>
            <a:r>
              <a:rPr lang="en" sz="900">
                <a:solidFill>
                  <a:srgbClr val="000000"/>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new</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House</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900">
                <a:solidFill>
                  <a:srgbClr val="000000"/>
                </a:solidFill>
                <a:highlight>
                  <a:srgbClr val="FFFFFF"/>
                </a:highlight>
                <a:latin typeface="Consolas"/>
                <a:ea typeface="Consolas"/>
                <a:cs typeface="Consolas"/>
                <a:sym typeface="Consolas"/>
              </a:rPr>
              <a:t>}</a:t>
            </a:r>
            <a:endParaRPr sz="1100"/>
          </a:p>
        </p:txBody>
      </p:sp>
      <p:pic>
        <p:nvPicPr>
          <p:cNvPr id="330" name="Google Shape;330;p53"/>
          <p:cNvPicPr preferRelativeResize="0"/>
          <p:nvPr/>
        </p:nvPicPr>
        <p:blipFill rotWithShape="1">
          <a:blip r:embed="rId3">
            <a:alphaModFix/>
          </a:blip>
          <a:srcRect b="3456"/>
          <a:stretch/>
        </p:blipFill>
        <p:spPr>
          <a:xfrm>
            <a:off x="2560310" y="2026676"/>
            <a:ext cx="1206314" cy="943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pic>
        <p:nvPicPr>
          <p:cNvPr id="335" name="Google Shape;335;p54"/>
          <p:cNvPicPr preferRelativeResize="0"/>
          <p:nvPr/>
        </p:nvPicPr>
        <p:blipFill>
          <a:blip r:embed="rId3">
            <a:alphaModFix/>
          </a:blip>
          <a:stretch>
            <a:fillRect/>
          </a:stretch>
        </p:blipFill>
        <p:spPr>
          <a:xfrm>
            <a:off x="5993213" y="1285528"/>
            <a:ext cx="1788175" cy="1117060"/>
          </a:xfrm>
          <a:prstGeom prst="rect">
            <a:avLst/>
          </a:prstGeom>
          <a:noFill/>
          <a:ln w="19050" cap="flat" cmpd="sng">
            <a:solidFill>
              <a:schemeClr val="dk2"/>
            </a:solidFill>
            <a:prstDash val="solid"/>
            <a:round/>
            <a:headEnd type="none" w="sm" len="sm"/>
            <a:tailEnd type="none" w="sm" len="sm"/>
          </a:ln>
        </p:spPr>
      </p:pic>
      <p:sp>
        <p:nvSpPr>
          <p:cNvPr id="336" name="Google Shape;336;p54"/>
          <p:cNvSpPr txBox="1">
            <a:spLocks noGrp="1"/>
          </p:cNvSpPr>
          <p:nvPr>
            <p:ph type="title"/>
          </p:nvPr>
        </p:nvSpPr>
        <p:spPr>
          <a:xfrm>
            <a:off x="5062505" y="43725"/>
            <a:ext cx="38769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 Packages</a:t>
            </a:r>
            <a:endParaRPr/>
          </a:p>
        </p:txBody>
      </p:sp>
      <p:sp>
        <p:nvSpPr>
          <p:cNvPr id="337" name="Google Shape;337;p54"/>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sp>
        <p:nvSpPr>
          <p:cNvPr id="338" name="Google Shape;338;p54"/>
          <p:cNvSpPr txBox="1">
            <a:spLocks noGrp="1"/>
          </p:cNvSpPr>
          <p:nvPr>
            <p:ph type="body" idx="1"/>
          </p:nvPr>
        </p:nvSpPr>
        <p:spPr>
          <a:xfrm>
            <a:off x="226400" y="141650"/>
            <a:ext cx="4467900" cy="4898700"/>
          </a:xfrm>
          <a:prstGeom prst="rect">
            <a:avLst/>
          </a:prstGeom>
        </p:spPr>
        <p:txBody>
          <a:bodyPr spcFirstLastPara="1" wrap="square" lIns="91425" tIns="91425" rIns="91425" bIns="91425" anchor="t" anchorCtr="0">
            <a:spAutoFit/>
          </a:bodyPr>
          <a:lstStyle/>
          <a:p>
            <a:pPr marL="457200" lvl="0" indent="-307975" algn="l" rtl="0">
              <a:spcBef>
                <a:spcPts val="0"/>
              </a:spcBef>
              <a:spcAft>
                <a:spcPts val="0"/>
              </a:spcAft>
              <a:buSzPts val="1250"/>
              <a:buChar char="●"/>
            </a:pPr>
            <a:r>
              <a:rPr lang="en" sz="1250" dirty="0">
                <a:highlight>
                  <a:srgbClr val="FFFF00"/>
                </a:highlight>
              </a:rPr>
              <a:t>A </a:t>
            </a:r>
            <a:r>
              <a:rPr lang="en" sz="1250" b="1" i="1" dirty="0">
                <a:solidFill>
                  <a:srgbClr val="FF0000"/>
                </a:solidFill>
                <a:highlight>
                  <a:srgbClr val="FFFF00"/>
                </a:highlight>
              </a:rPr>
              <a:t>Java Package</a:t>
            </a:r>
            <a:r>
              <a:rPr lang="en" sz="1250" dirty="0">
                <a:highlight>
                  <a:srgbClr val="FFFF00"/>
                </a:highlight>
              </a:rPr>
              <a:t> is a namespace that is used to group related classes together.</a:t>
            </a:r>
            <a:endParaRPr sz="1250" dirty="0">
              <a:highlight>
                <a:srgbClr val="FFFF00"/>
              </a:highlight>
            </a:endParaRPr>
          </a:p>
          <a:p>
            <a:pPr marL="457200" lvl="0" indent="-307975" algn="l" rtl="0">
              <a:spcBef>
                <a:spcPts val="1000"/>
              </a:spcBef>
              <a:spcAft>
                <a:spcPts val="0"/>
              </a:spcAft>
              <a:buSzPts val="1250"/>
              <a:buChar char="●"/>
            </a:pPr>
            <a:r>
              <a:rPr lang="en" sz="1250" dirty="0"/>
              <a:t>Packages are used to </a:t>
            </a:r>
            <a:r>
              <a:rPr lang="en" sz="1250" dirty="0">
                <a:highlight>
                  <a:srgbClr val="FFFF00"/>
                </a:highlight>
              </a:rPr>
              <a:t>better organize </a:t>
            </a:r>
            <a:r>
              <a:rPr lang="en" sz="1250" dirty="0"/>
              <a:t>your code so that you do not end up with dozens (or hundreds) of classes in the same folder in a large software project.</a:t>
            </a:r>
            <a:endParaRPr sz="1250" dirty="0"/>
          </a:p>
          <a:p>
            <a:pPr marL="457200" lvl="0" indent="-307975" algn="l" rtl="0">
              <a:spcBef>
                <a:spcPts val="1000"/>
              </a:spcBef>
              <a:spcAft>
                <a:spcPts val="0"/>
              </a:spcAft>
              <a:buSzPts val="1250"/>
              <a:buChar char="●"/>
            </a:pPr>
            <a:r>
              <a:rPr lang="en" sz="1250" dirty="0"/>
              <a:t>The </a:t>
            </a:r>
            <a:r>
              <a:rPr lang="en" sz="1250" b="1" i="1" dirty="0">
                <a:solidFill>
                  <a:srgbClr val="FF0000"/>
                </a:solidFill>
              </a:rPr>
              <a:t>default package</a:t>
            </a:r>
            <a:r>
              <a:rPr lang="en" sz="1250" i="1" dirty="0"/>
              <a:t> </a:t>
            </a:r>
            <a:r>
              <a:rPr lang="en" sz="1250" dirty="0"/>
              <a:t>is in the </a:t>
            </a:r>
            <a:r>
              <a:rPr lang="en" sz="1250" dirty="0">
                <a:solidFill>
                  <a:srgbClr val="FF0000"/>
                </a:solidFill>
                <a:highlight>
                  <a:srgbClr val="FFFF00"/>
                </a:highlight>
                <a:latin typeface="Courier New"/>
                <a:ea typeface="Courier New"/>
                <a:cs typeface="Courier New"/>
                <a:sym typeface="Courier New"/>
              </a:rPr>
              <a:t>src/main/java</a:t>
            </a:r>
            <a:r>
              <a:rPr lang="en" sz="1250" dirty="0">
                <a:highlight>
                  <a:srgbClr val="FFFF00"/>
                </a:highlight>
              </a:rPr>
              <a:t> </a:t>
            </a:r>
            <a:r>
              <a:rPr lang="en" sz="1250" dirty="0"/>
              <a:t>folder in a Maven project and it </a:t>
            </a:r>
            <a:r>
              <a:rPr lang="en" sz="1250" i="1" dirty="0"/>
              <a:t>does not have a name</a:t>
            </a:r>
            <a:r>
              <a:rPr lang="en" sz="1250" dirty="0"/>
              <a:t>.</a:t>
            </a:r>
            <a:endParaRPr sz="1250" dirty="0"/>
          </a:p>
          <a:p>
            <a:pPr marL="914400" lvl="1" indent="-298450" algn="l" rtl="0">
              <a:spcBef>
                <a:spcPts val="0"/>
              </a:spcBef>
              <a:spcAft>
                <a:spcPts val="0"/>
              </a:spcAft>
              <a:buSzPts val="1100"/>
              <a:buChar char="○"/>
            </a:pPr>
            <a:r>
              <a:rPr lang="en" dirty="0"/>
              <a:t>Classes in the default package </a:t>
            </a:r>
            <a:r>
              <a:rPr lang="en" dirty="0">
                <a:highlight>
                  <a:srgbClr val="FFFF00"/>
                </a:highlight>
              </a:rPr>
              <a:t>do not include a package statement at the top.</a:t>
            </a:r>
            <a:endParaRPr dirty="0">
              <a:highlight>
                <a:srgbClr val="FFFF00"/>
              </a:highlight>
            </a:endParaRPr>
          </a:p>
          <a:p>
            <a:pPr marL="914400" lvl="1" indent="-298450" algn="l" rtl="0">
              <a:spcBef>
                <a:spcPts val="0"/>
              </a:spcBef>
              <a:spcAft>
                <a:spcPts val="0"/>
              </a:spcAft>
              <a:buSzPts val="1100"/>
              <a:buChar char="○"/>
            </a:pPr>
            <a:r>
              <a:rPr lang="en" dirty="0"/>
              <a:t>Use of the </a:t>
            </a:r>
            <a:r>
              <a:rPr lang="en" dirty="0">
                <a:highlight>
                  <a:srgbClr val="FFFF00"/>
                </a:highlight>
              </a:rPr>
              <a:t>default package is strongly discouraged</a:t>
            </a:r>
            <a:r>
              <a:rPr lang="en" dirty="0"/>
              <a:t>. In fact, Maven will generate an error if you try to put a class in the default package!</a:t>
            </a:r>
            <a:endParaRPr dirty="0"/>
          </a:p>
          <a:p>
            <a:pPr marL="457200" lvl="0" indent="-307975" algn="l" rtl="0">
              <a:spcBef>
                <a:spcPts val="1000"/>
              </a:spcBef>
              <a:spcAft>
                <a:spcPts val="0"/>
              </a:spcAft>
              <a:buSzPts val="1250"/>
              <a:buChar char="●"/>
            </a:pPr>
            <a:r>
              <a:rPr lang="en" sz="1250" dirty="0"/>
              <a:t>For other packages, there is a </a:t>
            </a:r>
            <a:r>
              <a:rPr lang="en" sz="1250" dirty="0">
                <a:highlight>
                  <a:srgbClr val="FFFF00"/>
                </a:highlight>
              </a:rPr>
              <a:t>very strong correlation between the name of a package and its location </a:t>
            </a:r>
            <a:r>
              <a:rPr lang="en" sz="1250" dirty="0"/>
              <a:t>in the file system.</a:t>
            </a:r>
            <a:endParaRPr sz="1250" dirty="0"/>
          </a:p>
          <a:p>
            <a:pPr marL="914400" lvl="1" indent="-298450" algn="l" rtl="0">
              <a:spcBef>
                <a:spcPts val="0"/>
              </a:spcBef>
              <a:spcAft>
                <a:spcPts val="0"/>
              </a:spcAft>
              <a:buSzPts val="1100"/>
              <a:buChar char="○"/>
            </a:pPr>
            <a:r>
              <a:rPr lang="en" dirty="0"/>
              <a:t>These packages are in subfolders, e.g. </a:t>
            </a:r>
            <a:r>
              <a:rPr lang="en" dirty="0">
                <a:solidFill>
                  <a:srgbClr val="666666"/>
                </a:solidFill>
                <a:latin typeface="Courier New"/>
                <a:ea typeface="Courier New"/>
                <a:cs typeface="Courier New"/>
                <a:sym typeface="Courier New"/>
              </a:rPr>
              <a:t>src/main/java/</a:t>
            </a:r>
            <a:r>
              <a:rPr lang="en" dirty="0">
                <a:solidFill>
                  <a:srgbClr val="FF0000"/>
                </a:solidFill>
                <a:latin typeface="Courier New"/>
                <a:ea typeface="Courier New"/>
                <a:cs typeface="Courier New"/>
                <a:sym typeface="Courier New"/>
              </a:rPr>
              <a:t>my/pkg/name</a:t>
            </a:r>
            <a:endParaRPr dirty="0">
              <a:solidFill>
                <a:srgbClr val="FF0000"/>
              </a:solidFill>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highlight>
                  <a:srgbClr val="FFFF00"/>
                </a:highlight>
              </a:rPr>
              <a:t>The name of the package must match the folder(s) exactly, including case.</a:t>
            </a:r>
            <a:endParaRPr dirty="0">
              <a:highlight>
                <a:srgbClr val="FFFF00"/>
              </a:highlight>
            </a:endParaRPr>
          </a:p>
          <a:p>
            <a:pPr marL="914400" lvl="1" indent="-298450" algn="l" rtl="0">
              <a:spcBef>
                <a:spcPts val="0"/>
              </a:spcBef>
              <a:spcAft>
                <a:spcPts val="0"/>
              </a:spcAft>
              <a:buSzPts val="1100"/>
              <a:buChar char="○"/>
            </a:pPr>
            <a:r>
              <a:rPr lang="en" dirty="0"/>
              <a:t>If the folders are nested, dots (</a:t>
            </a:r>
            <a:r>
              <a:rPr lang="en" b="1" dirty="0">
                <a:solidFill>
                  <a:srgbClr val="FF0000"/>
                </a:solidFill>
                <a:latin typeface="Courier New"/>
                <a:ea typeface="Courier New"/>
                <a:cs typeface="Courier New"/>
                <a:sym typeface="Courier New"/>
              </a:rPr>
              <a:t>.</a:t>
            </a:r>
            <a:r>
              <a:rPr lang="en" dirty="0"/>
              <a:t>) are used to separate the names, e.g. </a:t>
            </a:r>
            <a:r>
              <a:rPr lang="en" dirty="0">
                <a:solidFill>
                  <a:srgbClr val="FF0000"/>
                </a:solidFill>
                <a:latin typeface="Courier New"/>
                <a:ea typeface="Courier New"/>
                <a:cs typeface="Courier New"/>
                <a:sym typeface="Courier New"/>
              </a:rPr>
              <a:t>package my.pkg.name;</a:t>
            </a:r>
            <a:endParaRPr dirty="0"/>
          </a:p>
        </p:txBody>
      </p:sp>
      <p:sp>
        <p:nvSpPr>
          <p:cNvPr id="339" name="Google Shape;339;p54"/>
          <p:cNvSpPr txBox="1">
            <a:spLocks noGrp="1"/>
          </p:cNvSpPr>
          <p:nvPr>
            <p:ph type="body" idx="3"/>
          </p:nvPr>
        </p:nvSpPr>
        <p:spPr>
          <a:xfrm>
            <a:off x="4986300" y="650500"/>
            <a:ext cx="40191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Classes in a package are located in a folder with the same name as the package.</a:t>
            </a:r>
            <a:endParaRPr sz="1200" dirty="0"/>
          </a:p>
        </p:txBody>
      </p:sp>
      <p:sp>
        <p:nvSpPr>
          <p:cNvPr id="340" name="Google Shape;340;p54"/>
          <p:cNvSpPr/>
          <p:nvPr/>
        </p:nvSpPr>
        <p:spPr>
          <a:xfrm>
            <a:off x="7088775" y="1878725"/>
            <a:ext cx="1624732" cy="923471"/>
          </a:xfrm>
          <a:custGeom>
            <a:avLst/>
            <a:gdLst/>
            <a:ahLst/>
            <a:cxnLst/>
            <a:rect l="l" t="t" r="r" b="b"/>
            <a:pathLst>
              <a:path w="80512" h="64387" extrusionOk="0">
                <a:moveTo>
                  <a:pt x="57200" y="64387"/>
                </a:moveTo>
                <a:cubicBezTo>
                  <a:pt x="60744" y="55503"/>
                  <a:pt x="87996" y="21811"/>
                  <a:pt x="78463" y="11080"/>
                </a:cubicBezTo>
                <a:cubicBezTo>
                  <a:pt x="68930" y="349"/>
                  <a:pt x="13077" y="1847"/>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341" name="Google Shape;341;p54"/>
          <p:cNvSpPr txBox="1">
            <a:spLocks noGrp="1"/>
          </p:cNvSpPr>
          <p:nvPr>
            <p:ph type="body" idx="3"/>
          </p:nvPr>
        </p:nvSpPr>
        <p:spPr>
          <a:xfrm>
            <a:off x="4949575" y="2483500"/>
            <a:ext cx="40557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The </a:t>
            </a:r>
            <a:r>
              <a:rPr lang="en" sz="1200" dirty="0">
                <a:latin typeface="Courier New"/>
                <a:ea typeface="Courier New"/>
                <a:cs typeface="Courier New"/>
                <a:sym typeface="Courier New"/>
              </a:rPr>
              <a:t>Dog</a:t>
            </a:r>
            <a:r>
              <a:rPr lang="en" sz="1200" dirty="0"/>
              <a:t> class is in the </a:t>
            </a:r>
            <a:r>
              <a:rPr lang="en" sz="1200" dirty="0">
                <a:solidFill>
                  <a:srgbClr val="FF0000"/>
                </a:solidFill>
                <a:latin typeface="Courier New"/>
                <a:ea typeface="Courier New"/>
                <a:cs typeface="Courier New"/>
                <a:sym typeface="Courier New"/>
              </a:rPr>
              <a:t>unit02.activities</a:t>
            </a:r>
            <a:r>
              <a:rPr lang="en" sz="1200" dirty="0"/>
              <a:t> package in the </a:t>
            </a:r>
            <a:r>
              <a:rPr lang="en" sz="1200" dirty="0">
                <a:latin typeface="Courier New"/>
                <a:ea typeface="Courier New"/>
                <a:cs typeface="Courier New"/>
                <a:sym typeface="Courier New"/>
              </a:rPr>
              <a:t>src/main/java/</a:t>
            </a:r>
            <a:r>
              <a:rPr lang="en" sz="1200" dirty="0">
                <a:solidFill>
                  <a:srgbClr val="FF0000"/>
                </a:solidFill>
                <a:latin typeface="Courier New"/>
                <a:ea typeface="Courier New"/>
                <a:cs typeface="Courier New"/>
                <a:sym typeface="Courier New"/>
              </a:rPr>
              <a:t>unit02/activities</a:t>
            </a:r>
            <a:r>
              <a:rPr lang="en" sz="1200" dirty="0"/>
              <a:t> folder in the project.</a:t>
            </a:r>
            <a:endParaRPr sz="1200" dirty="0"/>
          </a:p>
        </p:txBody>
      </p:sp>
      <p:sp>
        <p:nvSpPr>
          <p:cNvPr id="342" name="Google Shape;342;p54"/>
          <p:cNvSpPr txBox="1"/>
          <p:nvPr/>
        </p:nvSpPr>
        <p:spPr>
          <a:xfrm>
            <a:off x="5708725" y="3953100"/>
            <a:ext cx="2537400" cy="1004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dirty="0">
                <a:solidFill>
                  <a:srgbClr val="0000FF"/>
                </a:solidFill>
                <a:latin typeface="Consolas"/>
                <a:ea typeface="Consolas"/>
                <a:cs typeface="Consolas"/>
                <a:sym typeface="Consolas"/>
              </a:rPr>
              <a:t> package</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unit02</a:t>
            </a:r>
            <a:r>
              <a:rPr lang="en" sz="1050" dirty="0">
                <a:latin typeface="Consolas"/>
                <a:ea typeface="Consolas"/>
                <a:cs typeface="Consolas"/>
                <a:sym typeface="Consolas"/>
              </a:rPr>
              <a:t>.</a:t>
            </a:r>
            <a:r>
              <a:rPr lang="en" sz="1050" dirty="0">
                <a:solidFill>
                  <a:srgbClr val="267F99"/>
                </a:solidFill>
                <a:latin typeface="Consolas"/>
                <a:ea typeface="Consolas"/>
                <a:cs typeface="Consolas"/>
                <a:sym typeface="Consolas"/>
              </a:rPr>
              <a:t>activities</a:t>
            </a:r>
            <a:r>
              <a:rPr lang="en" sz="1050" dirty="0">
                <a:latin typeface="Consolas"/>
                <a:ea typeface="Consolas"/>
                <a:cs typeface="Consolas"/>
                <a:sym typeface="Consolas"/>
              </a:rPr>
              <a:t>;</a:t>
            </a:r>
            <a:endParaRPr sz="1050" dirty="0">
              <a:latin typeface="Consolas"/>
              <a:ea typeface="Consolas"/>
              <a:cs typeface="Consolas"/>
              <a:sym typeface="Consolas"/>
            </a:endParaRPr>
          </a:p>
          <a:p>
            <a:pPr marL="0" lvl="0" indent="0" algn="l" rtl="0">
              <a:lnSpc>
                <a:spcPct val="135714"/>
              </a:lnSpc>
              <a:spcBef>
                <a:spcPts val="0"/>
              </a:spcBef>
              <a:spcAft>
                <a:spcPts val="0"/>
              </a:spcAft>
              <a:buNone/>
            </a:pP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solidFill>
                  <a:srgbClr val="0000FF"/>
                </a:solidFill>
                <a:latin typeface="Consolas"/>
                <a:ea typeface="Consolas"/>
                <a:cs typeface="Consolas"/>
                <a:sym typeface="Consolas"/>
              </a:rPr>
              <a:t> public</a:t>
            </a:r>
            <a:r>
              <a:rPr lang="en" sz="1050" dirty="0">
                <a:latin typeface="Consolas"/>
                <a:ea typeface="Consolas"/>
                <a:cs typeface="Consolas"/>
                <a:sym typeface="Consolas"/>
              </a:rPr>
              <a:t> </a:t>
            </a:r>
            <a:r>
              <a:rPr lang="en" sz="1050" dirty="0">
                <a:solidFill>
                  <a:srgbClr val="0000FF"/>
                </a:solidFill>
                <a:latin typeface="Consolas"/>
                <a:ea typeface="Consolas"/>
                <a:cs typeface="Consolas"/>
                <a:sym typeface="Consolas"/>
              </a:rPr>
              <a:t>class</a:t>
            </a:r>
            <a:r>
              <a:rPr lang="en" sz="1050" dirty="0">
                <a:latin typeface="Consolas"/>
                <a:ea typeface="Consolas"/>
                <a:cs typeface="Consolas"/>
                <a:sym typeface="Consolas"/>
              </a:rPr>
              <a:t> </a:t>
            </a:r>
            <a:r>
              <a:rPr lang="en" sz="1050" dirty="0">
                <a:solidFill>
                  <a:srgbClr val="267F99"/>
                </a:solidFill>
                <a:latin typeface="Consolas"/>
                <a:ea typeface="Consolas"/>
                <a:cs typeface="Consolas"/>
                <a:sym typeface="Consolas"/>
              </a:rPr>
              <a:t>Dog</a:t>
            </a:r>
            <a:r>
              <a:rPr lang="en" sz="1050" dirty="0">
                <a:latin typeface="Consolas"/>
                <a:ea typeface="Consolas"/>
                <a:cs typeface="Consolas"/>
                <a:sym typeface="Consolas"/>
              </a:rPr>
              <a:t> {</a:t>
            </a:r>
            <a:endParaRPr sz="1050" dirty="0">
              <a:latin typeface="Consolas"/>
              <a:ea typeface="Consolas"/>
              <a:cs typeface="Consolas"/>
              <a:sym typeface="Consolas"/>
            </a:endParaRPr>
          </a:p>
          <a:p>
            <a:pPr marL="0" lvl="0" indent="0" algn="l" rtl="0">
              <a:lnSpc>
                <a:spcPct val="135714"/>
              </a:lnSpc>
              <a:spcBef>
                <a:spcPts val="0"/>
              </a:spcBef>
              <a:spcAft>
                <a:spcPts val="0"/>
              </a:spcAft>
              <a:buNone/>
            </a:pPr>
            <a:r>
              <a:rPr lang="en" sz="1050" dirty="0">
                <a:latin typeface="Consolas"/>
                <a:ea typeface="Consolas"/>
                <a:cs typeface="Consolas"/>
                <a:sym typeface="Consolas"/>
              </a:rPr>
              <a:t> }</a:t>
            </a:r>
            <a:endParaRPr sz="1050" dirty="0">
              <a:latin typeface="Consolas"/>
              <a:ea typeface="Consolas"/>
              <a:cs typeface="Consolas"/>
              <a:sym typeface="Consolas"/>
            </a:endParaRPr>
          </a:p>
        </p:txBody>
      </p:sp>
      <p:sp>
        <p:nvSpPr>
          <p:cNvPr id="343" name="Google Shape;343;p54"/>
          <p:cNvSpPr/>
          <p:nvPr/>
        </p:nvSpPr>
        <p:spPr>
          <a:xfrm>
            <a:off x="5063324" y="3803350"/>
            <a:ext cx="768992" cy="445575"/>
          </a:xfrm>
          <a:custGeom>
            <a:avLst/>
            <a:gdLst/>
            <a:ahLst/>
            <a:cxnLst/>
            <a:rect l="l" t="t" r="r" b="b"/>
            <a:pathLst>
              <a:path w="28363" h="17823" extrusionOk="0">
                <a:moveTo>
                  <a:pt x="10694" y="0"/>
                </a:moveTo>
                <a:cubicBezTo>
                  <a:pt x="8997" y="2845"/>
                  <a:pt x="-2433" y="14624"/>
                  <a:pt x="512" y="17070"/>
                </a:cubicBezTo>
                <a:cubicBezTo>
                  <a:pt x="3457" y="19516"/>
                  <a:pt x="23721" y="15073"/>
                  <a:pt x="28363" y="14674"/>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344" name="Google Shape;344;p54"/>
          <p:cNvSpPr txBox="1">
            <a:spLocks noGrp="1"/>
          </p:cNvSpPr>
          <p:nvPr>
            <p:ph type="body" idx="3"/>
          </p:nvPr>
        </p:nvSpPr>
        <p:spPr>
          <a:xfrm>
            <a:off x="4949587" y="3310700"/>
            <a:ext cx="40557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The class must also include a corresponding</a:t>
            </a:r>
            <a:r>
              <a:rPr lang="en" sz="1200" b="1" i="1">
                <a:solidFill>
                  <a:srgbClr val="FF0000"/>
                </a:solidFill>
              </a:rPr>
              <a:t> package statement</a:t>
            </a:r>
            <a:r>
              <a:rPr lang="en" sz="1200"/>
              <a:t> at the top of the class.</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3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39"/>
                                        </p:tgtEl>
                                        <p:attrNameLst>
                                          <p:attrName>style.visibility</p:attrName>
                                        </p:attrNameLst>
                                      </p:cBhvr>
                                      <p:to>
                                        <p:strVal val="visible"/>
                                      </p:to>
                                    </p:set>
                                    <p:animEffect transition="in" filter="fade">
                                      <p:cBhvr>
                                        <p:cTn id="43" dur="1000"/>
                                        <p:tgtEl>
                                          <p:spTgt spid="339"/>
                                        </p:tgtEl>
                                      </p:cBhvr>
                                    </p:animEffect>
                                  </p:childTnLst>
                                </p:cTn>
                              </p:par>
                              <p:par>
                                <p:cTn id="44" presetID="10" presetClass="entr" presetSubtype="0" fill="hold" nodeType="withEffect">
                                  <p:stCondLst>
                                    <p:cond delay="0"/>
                                  </p:stCondLst>
                                  <p:childTnLst>
                                    <p:set>
                                      <p:cBhvr>
                                        <p:cTn id="45" dur="1" fill="hold">
                                          <p:stCondLst>
                                            <p:cond delay="0"/>
                                          </p:stCondLst>
                                        </p:cTn>
                                        <p:tgtEl>
                                          <p:spTgt spid="341"/>
                                        </p:tgtEl>
                                        <p:attrNameLst>
                                          <p:attrName>style.visibility</p:attrName>
                                        </p:attrNameLst>
                                      </p:cBhvr>
                                      <p:to>
                                        <p:strVal val="visible"/>
                                      </p:to>
                                    </p:set>
                                    <p:animEffect transition="in" filter="fade">
                                      <p:cBhvr>
                                        <p:cTn id="46" dur="1000"/>
                                        <p:tgtEl>
                                          <p:spTgt spid="341"/>
                                        </p:tgtEl>
                                      </p:cBhvr>
                                    </p:animEffect>
                                  </p:childTnLst>
                                </p:cTn>
                              </p:par>
                              <p:par>
                                <p:cTn id="47" presetID="10" presetClass="entr" presetSubtype="0" fill="hold" nodeType="withEffect">
                                  <p:stCondLst>
                                    <p:cond delay="0"/>
                                  </p:stCondLst>
                                  <p:childTnLst>
                                    <p:set>
                                      <p:cBhvr>
                                        <p:cTn id="48" dur="1" fill="hold">
                                          <p:stCondLst>
                                            <p:cond delay="0"/>
                                          </p:stCondLst>
                                        </p:cTn>
                                        <p:tgtEl>
                                          <p:spTgt spid="335"/>
                                        </p:tgtEl>
                                        <p:attrNameLst>
                                          <p:attrName>style.visibility</p:attrName>
                                        </p:attrNameLst>
                                      </p:cBhvr>
                                      <p:to>
                                        <p:strVal val="visible"/>
                                      </p:to>
                                    </p:set>
                                    <p:animEffect transition="in" filter="fade">
                                      <p:cBhvr>
                                        <p:cTn id="49" dur="1000"/>
                                        <p:tgtEl>
                                          <p:spTgt spid="335"/>
                                        </p:tgtEl>
                                      </p:cBhvr>
                                    </p:animEffect>
                                  </p:childTnLst>
                                </p:cTn>
                              </p:par>
                            </p:childTnLst>
                          </p:cTn>
                        </p:par>
                        <p:par>
                          <p:cTn id="50" fill="hold">
                            <p:stCondLst>
                              <p:cond delay="1000"/>
                            </p:stCondLst>
                            <p:childTnLst>
                              <p:par>
                                <p:cTn id="51" presetID="10" presetClass="entr" presetSubtype="0" fill="hold" nodeType="afterEffect">
                                  <p:stCondLst>
                                    <p:cond delay="0"/>
                                  </p:stCondLst>
                                  <p:childTnLst>
                                    <p:set>
                                      <p:cBhvr>
                                        <p:cTn id="52" dur="1" fill="hold">
                                          <p:stCondLst>
                                            <p:cond delay="0"/>
                                          </p:stCondLst>
                                        </p:cTn>
                                        <p:tgtEl>
                                          <p:spTgt spid="340"/>
                                        </p:tgtEl>
                                        <p:attrNameLst>
                                          <p:attrName>style.visibility</p:attrName>
                                        </p:attrNameLst>
                                      </p:cBhvr>
                                      <p:to>
                                        <p:strVal val="visible"/>
                                      </p:to>
                                    </p:set>
                                    <p:animEffect transition="in" filter="fade">
                                      <p:cBhvr>
                                        <p:cTn id="53" dur="1000"/>
                                        <p:tgtEl>
                                          <p:spTgt spid="34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44"/>
                                        </p:tgtEl>
                                        <p:attrNameLst>
                                          <p:attrName>style.visibility</p:attrName>
                                        </p:attrNameLst>
                                      </p:cBhvr>
                                      <p:to>
                                        <p:strVal val="visible"/>
                                      </p:to>
                                    </p:set>
                                    <p:animEffect transition="in" filter="fade">
                                      <p:cBhvr>
                                        <p:cTn id="58" dur="1000"/>
                                        <p:tgtEl>
                                          <p:spTgt spid="344"/>
                                        </p:tgtEl>
                                      </p:cBhvr>
                                    </p:animEffect>
                                  </p:childTnLst>
                                </p:cTn>
                              </p:par>
                              <p:par>
                                <p:cTn id="59" presetID="10" presetClass="entr" presetSubtype="0" fill="hold" nodeType="withEffect">
                                  <p:stCondLst>
                                    <p:cond delay="0"/>
                                  </p:stCondLst>
                                  <p:childTnLst>
                                    <p:set>
                                      <p:cBhvr>
                                        <p:cTn id="60" dur="1" fill="hold">
                                          <p:stCondLst>
                                            <p:cond delay="0"/>
                                          </p:stCondLst>
                                        </p:cTn>
                                        <p:tgtEl>
                                          <p:spTgt spid="342"/>
                                        </p:tgtEl>
                                        <p:attrNameLst>
                                          <p:attrName>style.visibility</p:attrName>
                                        </p:attrNameLst>
                                      </p:cBhvr>
                                      <p:to>
                                        <p:strVal val="visible"/>
                                      </p:to>
                                    </p:set>
                                    <p:animEffect transition="in" filter="fade">
                                      <p:cBhvr>
                                        <p:cTn id="61" dur="1000"/>
                                        <p:tgtEl>
                                          <p:spTgt spid="342"/>
                                        </p:tgtEl>
                                      </p:cBhvr>
                                    </p:animEffect>
                                  </p:childTnLst>
                                </p:cTn>
                              </p:par>
                            </p:childTnLst>
                          </p:cTn>
                        </p:par>
                        <p:par>
                          <p:cTn id="62" fill="hold">
                            <p:stCondLst>
                              <p:cond delay="1000"/>
                            </p:stCondLst>
                            <p:childTnLst>
                              <p:par>
                                <p:cTn id="63" presetID="10" presetClass="entr" presetSubtype="0" fill="hold" nodeType="afterEffect">
                                  <p:stCondLst>
                                    <p:cond delay="0"/>
                                  </p:stCondLst>
                                  <p:childTnLst>
                                    <p:set>
                                      <p:cBhvr>
                                        <p:cTn id="64" dur="1" fill="hold">
                                          <p:stCondLst>
                                            <p:cond delay="0"/>
                                          </p:stCondLst>
                                        </p:cTn>
                                        <p:tgtEl>
                                          <p:spTgt spid="343"/>
                                        </p:tgtEl>
                                        <p:attrNameLst>
                                          <p:attrName>style.visibility</p:attrName>
                                        </p:attrNameLst>
                                      </p:cBhvr>
                                      <p:to>
                                        <p:strVal val="visible"/>
                                      </p:to>
                                    </p:set>
                                    <p:animEffect transition="in" filter="fade">
                                      <p:cBhvr>
                                        <p:cTn id="65" dur="1000"/>
                                        <p:tgtEl>
                                          <p:spTgt spid="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5"/>
          <p:cNvSpPr txBox="1">
            <a:spLocks noGrp="1"/>
          </p:cNvSpPr>
          <p:nvPr>
            <p:ph type="title"/>
          </p:nvPr>
        </p:nvSpPr>
        <p:spPr>
          <a:xfrm>
            <a:off x="311725" y="3485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Packages &amp; Scope</a:t>
            </a:r>
            <a:endParaRPr/>
          </a:p>
        </p:txBody>
      </p:sp>
      <p:sp>
        <p:nvSpPr>
          <p:cNvPr id="350" name="Google Shape;350;p5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351" name="Google Shape;351;p55"/>
          <p:cNvSpPr txBox="1">
            <a:spLocks noGrp="1"/>
          </p:cNvSpPr>
          <p:nvPr>
            <p:ph type="body" idx="2"/>
          </p:nvPr>
        </p:nvSpPr>
        <p:spPr>
          <a:xfrm>
            <a:off x="315425" y="1133775"/>
            <a:ext cx="3706500" cy="26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100" dirty="0">
                <a:solidFill>
                  <a:srgbClr val="0000FF"/>
                </a:solidFill>
                <a:highlight>
                  <a:srgbClr val="FFFFFF"/>
                </a:highlight>
                <a:latin typeface="Consolas"/>
                <a:ea typeface="Consolas"/>
                <a:cs typeface="Consolas"/>
                <a:sym typeface="Consolas"/>
              </a:rPr>
              <a:t>package</a:t>
            </a:r>
            <a:r>
              <a:rPr lang="en" sz="1100" dirty="0">
                <a:solidFill>
                  <a:srgbClr val="000000"/>
                </a:solidFill>
                <a:highlight>
                  <a:srgbClr val="FFFFFF"/>
                </a:highlight>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lecture</a:t>
            </a:r>
            <a:r>
              <a:rPr lang="en" sz="1100" dirty="0">
                <a:solidFill>
                  <a:srgbClr val="000000"/>
                </a:solidFill>
                <a:highlight>
                  <a:srgbClr val="FFFFFF"/>
                </a:highlight>
                <a:latin typeface="Consolas"/>
                <a:ea typeface="Consolas"/>
                <a:cs typeface="Consolas"/>
                <a:sym typeface="Consolas"/>
              </a:rPr>
              <a:t>;</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FF"/>
                </a:solidFill>
                <a:highlight>
                  <a:srgbClr val="FFFFFF"/>
                </a:highlight>
                <a:latin typeface="Consolas"/>
                <a:ea typeface="Consolas"/>
                <a:cs typeface="Consolas"/>
                <a:sym typeface="Consolas"/>
              </a:rPr>
              <a:t>public</a:t>
            </a:r>
            <a:r>
              <a:rPr lang="en" sz="1100" dirty="0">
                <a:solidFill>
                  <a:srgbClr val="000000"/>
                </a:solidFill>
                <a:highlight>
                  <a:srgbClr val="FFFFFF"/>
                </a:highlight>
                <a:latin typeface="Consolas"/>
                <a:ea typeface="Consolas"/>
                <a:cs typeface="Consolas"/>
                <a:sym typeface="Consolas"/>
              </a:rPr>
              <a:t> </a:t>
            </a:r>
            <a:r>
              <a:rPr lang="en" sz="1100" dirty="0">
                <a:solidFill>
                  <a:srgbClr val="0000FF"/>
                </a:solidFill>
                <a:highlight>
                  <a:srgbClr val="FFFFFF"/>
                </a:highlight>
                <a:latin typeface="Consolas"/>
                <a:ea typeface="Consolas"/>
                <a:cs typeface="Consolas"/>
                <a:sym typeface="Consolas"/>
              </a:rPr>
              <a:t>class</a:t>
            </a:r>
            <a:r>
              <a:rPr lang="en" sz="1100" dirty="0">
                <a:solidFill>
                  <a:srgbClr val="000000"/>
                </a:solidFill>
                <a:highlight>
                  <a:srgbClr val="FFFFFF"/>
                </a:highlight>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Samples</a:t>
            </a:r>
            <a:r>
              <a:rPr lang="en" sz="1100" dirty="0">
                <a:solidFill>
                  <a:srgbClr val="000000"/>
                </a:solidFill>
                <a:highlight>
                  <a:srgbClr val="FFFFFF"/>
                </a:highlight>
                <a:latin typeface="Consolas"/>
                <a:ea typeface="Consolas"/>
                <a:cs typeface="Consolas"/>
                <a:sym typeface="Consolas"/>
              </a:rPr>
              <a:t> {</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String</a:t>
            </a:r>
            <a:r>
              <a:rPr lang="en" sz="1100" dirty="0">
                <a:solidFill>
                  <a:srgbClr val="000000"/>
                </a:solidFill>
                <a:highlight>
                  <a:srgbClr val="FFFFFF"/>
                </a:highlight>
                <a:latin typeface="Consolas"/>
                <a:ea typeface="Consolas"/>
                <a:cs typeface="Consolas"/>
                <a:sym typeface="Consolas"/>
              </a:rPr>
              <a:t> </a:t>
            </a:r>
            <a:r>
              <a:rPr lang="en" sz="1100" dirty="0">
                <a:solidFill>
                  <a:srgbClr val="001080"/>
                </a:solidFill>
                <a:highlight>
                  <a:srgbClr val="FFFFFF"/>
                </a:highlight>
                <a:latin typeface="Consolas"/>
                <a:ea typeface="Consolas"/>
                <a:cs typeface="Consolas"/>
                <a:sym typeface="Consolas"/>
              </a:rPr>
              <a:t>name</a:t>
            </a:r>
            <a:r>
              <a:rPr lang="en" sz="1100" dirty="0">
                <a:solidFill>
                  <a:srgbClr val="000000"/>
                </a:solidFill>
                <a:highlight>
                  <a:srgbClr val="FFFFFF"/>
                </a:highlight>
                <a:latin typeface="Consolas"/>
                <a:ea typeface="Consolas"/>
                <a:cs typeface="Consolas"/>
                <a:sym typeface="Consolas"/>
              </a:rPr>
              <a:t>;</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r>
              <a:rPr lang="en" sz="1100" dirty="0">
                <a:solidFill>
                  <a:srgbClr val="0000FF"/>
                </a:solidFill>
                <a:highlight>
                  <a:srgbClr val="FFFFFF"/>
                </a:highlight>
                <a:latin typeface="Consolas"/>
                <a:ea typeface="Consolas"/>
                <a:cs typeface="Consolas"/>
                <a:sym typeface="Consolas"/>
              </a:rPr>
              <a:t>public</a:t>
            </a:r>
            <a:r>
              <a:rPr lang="en" sz="1100" dirty="0">
                <a:solidFill>
                  <a:srgbClr val="000000"/>
                </a:solidFill>
                <a:highlight>
                  <a:srgbClr val="FFFFFF"/>
                </a:highlight>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String</a:t>
            </a:r>
            <a:r>
              <a:rPr lang="en" sz="1100" dirty="0">
                <a:solidFill>
                  <a:srgbClr val="000000"/>
                </a:solidFill>
                <a:highlight>
                  <a:srgbClr val="FFFFFF"/>
                </a:highlight>
                <a:latin typeface="Consolas"/>
                <a:ea typeface="Consolas"/>
                <a:cs typeface="Consolas"/>
                <a:sym typeface="Consolas"/>
              </a:rPr>
              <a:t> </a:t>
            </a:r>
            <a:r>
              <a:rPr lang="en" sz="1100" dirty="0">
                <a:solidFill>
                  <a:srgbClr val="795E26"/>
                </a:solidFill>
                <a:highlight>
                  <a:srgbClr val="FFFFFF"/>
                </a:highlight>
                <a:latin typeface="Consolas"/>
                <a:ea typeface="Consolas"/>
                <a:cs typeface="Consolas"/>
                <a:sym typeface="Consolas"/>
              </a:rPr>
              <a:t>getWelcome</a:t>
            </a:r>
            <a:r>
              <a:rPr lang="en" sz="1100" dirty="0">
                <a:solidFill>
                  <a:srgbClr val="000000"/>
                </a:solidFill>
                <a:highlight>
                  <a:srgbClr val="FFFFFF"/>
                </a:highlight>
                <a:latin typeface="Consolas"/>
                <a:ea typeface="Consolas"/>
                <a:cs typeface="Consolas"/>
                <a:sym typeface="Consolas"/>
              </a:rPr>
              <a:t>() {</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r>
              <a:rPr lang="en" sz="1100" dirty="0">
                <a:solidFill>
                  <a:srgbClr val="AF00DB"/>
                </a:solidFill>
                <a:highlight>
                  <a:srgbClr val="FFFFFF"/>
                </a:highlight>
                <a:latin typeface="Consolas"/>
                <a:ea typeface="Consolas"/>
                <a:cs typeface="Consolas"/>
                <a:sym typeface="Consolas"/>
              </a:rPr>
              <a:t>if</a:t>
            </a:r>
            <a:r>
              <a:rPr lang="en" sz="1100" dirty="0">
                <a:solidFill>
                  <a:srgbClr val="000000"/>
                </a:solidFill>
                <a:highlight>
                  <a:srgbClr val="FFFFFF"/>
                </a:highlight>
                <a:latin typeface="Consolas"/>
                <a:ea typeface="Consolas"/>
                <a:cs typeface="Consolas"/>
                <a:sym typeface="Consolas"/>
              </a:rPr>
              <a:t> (</a:t>
            </a:r>
            <a:r>
              <a:rPr lang="en" sz="1100" dirty="0">
                <a:solidFill>
                  <a:srgbClr val="001080"/>
                </a:solidFill>
                <a:highlight>
                  <a:srgbClr val="FFFFFF"/>
                </a:highlight>
                <a:latin typeface="Consolas"/>
                <a:ea typeface="Consolas"/>
                <a:cs typeface="Consolas"/>
                <a:sym typeface="Consolas"/>
              </a:rPr>
              <a:t>name</a:t>
            </a:r>
            <a:r>
              <a:rPr lang="en" sz="1100" dirty="0">
                <a:solidFill>
                  <a:srgbClr val="000000"/>
                </a:solidFill>
                <a:highlight>
                  <a:srgbClr val="FFFFFF"/>
                </a:highlight>
                <a:latin typeface="Consolas"/>
                <a:ea typeface="Consolas"/>
                <a:cs typeface="Consolas"/>
                <a:sym typeface="Consolas"/>
              </a:rPr>
              <a:t> != </a:t>
            </a:r>
            <a:r>
              <a:rPr lang="en" sz="1100" dirty="0">
                <a:solidFill>
                  <a:srgbClr val="A31515"/>
                </a:solidFill>
                <a:highlight>
                  <a:srgbClr val="FFFFFF"/>
                </a:highlight>
                <a:latin typeface="Consolas"/>
                <a:ea typeface="Consolas"/>
                <a:cs typeface="Consolas"/>
                <a:sym typeface="Consolas"/>
              </a:rPr>
              <a:t>""</a:t>
            </a:r>
            <a:r>
              <a:rPr lang="en" sz="1100" dirty="0">
                <a:solidFill>
                  <a:srgbClr val="000000"/>
                </a:solidFill>
                <a:highlight>
                  <a:srgbClr val="FFFFFF"/>
                </a:highlight>
                <a:latin typeface="Consolas"/>
                <a:ea typeface="Consolas"/>
                <a:cs typeface="Consolas"/>
                <a:sym typeface="Consolas"/>
              </a:rPr>
              <a:t>) {</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r>
              <a:rPr lang="en" sz="1100" dirty="0">
                <a:solidFill>
                  <a:srgbClr val="267F99"/>
                </a:solidFill>
                <a:highlight>
                  <a:srgbClr val="FFFFFF"/>
                </a:highlight>
                <a:latin typeface="Consolas"/>
                <a:ea typeface="Consolas"/>
                <a:cs typeface="Consolas"/>
                <a:sym typeface="Consolas"/>
              </a:rPr>
              <a:t>String</a:t>
            </a:r>
            <a:r>
              <a:rPr lang="en" sz="1100" dirty="0">
                <a:solidFill>
                  <a:srgbClr val="000000"/>
                </a:solidFill>
                <a:highlight>
                  <a:srgbClr val="FFFFFF"/>
                </a:highlight>
                <a:latin typeface="Consolas"/>
                <a:ea typeface="Consolas"/>
                <a:cs typeface="Consolas"/>
                <a:sym typeface="Consolas"/>
              </a:rPr>
              <a:t> </a:t>
            </a:r>
            <a:r>
              <a:rPr lang="en" sz="1100" dirty="0">
                <a:solidFill>
                  <a:srgbClr val="001080"/>
                </a:solidFill>
                <a:highlight>
                  <a:srgbClr val="FFFFFF"/>
                </a:highlight>
                <a:latin typeface="Consolas"/>
                <a:ea typeface="Consolas"/>
                <a:cs typeface="Consolas"/>
                <a:sym typeface="Consolas"/>
              </a:rPr>
              <a:t>welcome</a:t>
            </a:r>
            <a:r>
              <a:rPr lang="en" sz="1100" dirty="0">
                <a:solidFill>
                  <a:srgbClr val="000000"/>
                </a:solidFill>
                <a:highlight>
                  <a:srgbClr val="FFFFFF"/>
                </a:highlight>
                <a:latin typeface="Consolas"/>
                <a:ea typeface="Consolas"/>
                <a:cs typeface="Consolas"/>
                <a:sym typeface="Consolas"/>
              </a:rPr>
              <a:t> = </a:t>
            </a:r>
            <a:r>
              <a:rPr lang="en" sz="1100" dirty="0">
                <a:solidFill>
                  <a:srgbClr val="A31515"/>
                </a:solidFill>
                <a:highlight>
                  <a:srgbClr val="FFFFFF"/>
                </a:highlight>
                <a:latin typeface="Consolas"/>
                <a:ea typeface="Consolas"/>
                <a:cs typeface="Consolas"/>
                <a:sym typeface="Consolas"/>
              </a:rPr>
              <a:t>"Hello "</a:t>
            </a:r>
            <a:r>
              <a:rPr lang="en" sz="1100" dirty="0">
                <a:solidFill>
                  <a:srgbClr val="000000"/>
                </a:solidFill>
                <a:highlight>
                  <a:srgbClr val="FFFFFF"/>
                </a:highlight>
                <a:latin typeface="Consolas"/>
                <a:ea typeface="Consolas"/>
                <a:cs typeface="Consolas"/>
                <a:sym typeface="Consolas"/>
              </a:rPr>
              <a:t> + </a:t>
            </a:r>
            <a:r>
              <a:rPr lang="en" sz="1100" dirty="0">
                <a:solidFill>
                  <a:srgbClr val="001080"/>
                </a:solidFill>
                <a:highlight>
                  <a:srgbClr val="FFFFFF"/>
                </a:highlight>
                <a:latin typeface="Consolas"/>
                <a:ea typeface="Consolas"/>
                <a:cs typeface="Consolas"/>
                <a:sym typeface="Consolas"/>
              </a:rPr>
              <a:t>name</a:t>
            </a:r>
            <a:r>
              <a:rPr lang="en" sz="1100" dirty="0">
                <a:solidFill>
                  <a:srgbClr val="000000"/>
                </a:solidFill>
                <a:highlight>
                  <a:srgbClr val="FFFFFF"/>
                </a:highlight>
                <a:latin typeface="Consolas"/>
                <a:ea typeface="Consolas"/>
                <a:cs typeface="Consolas"/>
                <a:sym typeface="Consolas"/>
              </a:rPr>
              <a:t>;</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r>
              <a:rPr lang="en" sz="1100" dirty="0">
                <a:solidFill>
                  <a:srgbClr val="AF00DB"/>
                </a:solidFill>
                <a:highlight>
                  <a:srgbClr val="FFFFFF"/>
                </a:highlight>
                <a:latin typeface="Consolas"/>
                <a:ea typeface="Consolas"/>
                <a:cs typeface="Consolas"/>
                <a:sym typeface="Consolas"/>
              </a:rPr>
              <a:t>return</a:t>
            </a:r>
            <a:r>
              <a:rPr lang="en" sz="1100" dirty="0">
                <a:solidFill>
                  <a:srgbClr val="000000"/>
                </a:solidFill>
                <a:highlight>
                  <a:srgbClr val="FFFFFF"/>
                </a:highlight>
                <a:latin typeface="Consolas"/>
                <a:ea typeface="Consolas"/>
                <a:cs typeface="Consolas"/>
                <a:sym typeface="Consolas"/>
              </a:rPr>
              <a:t> welcome;</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    }</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dirty="0">
                <a:solidFill>
                  <a:srgbClr val="000000"/>
                </a:solidFill>
                <a:highlight>
                  <a:srgbClr val="FFFFFF"/>
                </a:highlight>
                <a:latin typeface="Consolas"/>
                <a:ea typeface="Consolas"/>
                <a:cs typeface="Consolas"/>
                <a:sym typeface="Consolas"/>
              </a:rPr>
              <a:t>}</a:t>
            </a:r>
            <a:endParaRPr sz="1100" dirty="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1100" dirty="0">
              <a:solidFill>
                <a:srgbClr val="0000FF"/>
              </a:solidFill>
              <a:highlight>
                <a:srgbClr val="FFFFFF"/>
              </a:highlight>
              <a:latin typeface="Consolas"/>
              <a:ea typeface="Consolas"/>
              <a:cs typeface="Consolas"/>
              <a:sym typeface="Consolas"/>
            </a:endParaRPr>
          </a:p>
          <a:p>
            <a:pPr marL="0" lvl="0" indent="0" algn="l" rtl="0">
              <a:spcBef>
                <a:spcPts val="0"/>
              </a:spcBef>
              <a:spcAft>
                <a:spcPts val="1600"/>
              </a:spcAft>
              <a:buNone/>
            </a:pPr>
            <a:endParaRPr sz="1100" dirty="0"/>
          </a:p>
        </p:txBody>
      </p:sp>
      <p:sp>
        <p:nvSpPr>
          <p:cNvPr id="352" name="Google Shape;352;p55"/>
          <p:cNvSpPr txBox="1">
            <a:spLocks noGrp="1"/>
          </p:cNvSpPr>
          <p:nvPr>
            <p:ph type="body" idx="3"/>
          </p:nvPr>
        </p:nvSpPr>
        <p:spPr>
          <a:xfrm>
            <a:off x="315425" y="3937250"/>
            <a:ext cx="3706500" cy="785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dirty="0"/>
              <a:t>In addition to the package, class, and function levels</a:t>
            </a:r>
            <a:r>
              <a:rPr lang="en" dirty="0">
                <a:highlight>
                  <a:srgbClr val="FFFF00"/>
                </a:highlight>
              </a:rPr>
              <a:t>, any set of curly braces (</a:t>
            </a:r>
            <a:r>
              <a:rPr lang="en" dirty="0">
                <a:highlight>
                  <a:srgbClr val="FFFF00"/>
                </a:highlight>
                <a:latin typeface="Courier New"/>
                <a:ea typeface="Courier New"/>
                <a:cs typeface="Courier New"/>
                <a:sym typeface="Courier New"/>
              </a:rPr>
              <a:t>{}</a:t>
            </a:r>
            <a:r>
              <a:rPr lang="en" dirty="0">
                <a:highlight>
                  <a:srgbClr val="FFFF00"/>
                </a:highlight>
              </a:rPr>
              <a:t>) </a:t>
            </a:r>
            <a:r>
              <a:rPr lang="en" dirty="0"/>
              <a:t>also creates a </a:t>
            </a:r>
            <a:r>
              <a:rPr lang="en" dirty="0">
                <a:highlight>
                  <a:srgbClr val="FFFF00"/>
                </a:highlight>
              </a:rPr>
              <a:t>new scope </a:t>
            </a:r>
            <a:r>
              <a:rPr lang="en" dirty="0"/>
              <a:t>for any variables declared inside.</a:t>
            </a:r>
            <a:endParaRPr dirty="0"/>
          </a:p>
        </p:txBody>
      </p:sp>
      <p:sp>
        <p:nvSpPr>
          <p:cNvPr id="353" name="Google Shape;353;p55"/>
          <p:cNvSpPr/>
          <p:nvPr/>
        </p:nvSpPr>
        <p:spPr>
          <a:xfrm>
            <a:off x="1374350" y="1475175"/>
            <a:ext cx="620400" cy="15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55"/>
          <p:cNvSpPr/>
          <p:nvPr/>
        </p:nvSpPr>
        <p:spPr>
          <a:xfrm>
            <a:off x="1244275" y="1708500"/>
            <a:ext cx="400500" cy="15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55"/>
          <p:cNvSpPr/>
          <p:nvPr/>
        </p:nvSpPr>
        <p:spPr>
          <a:xfrm>
            <a:off x="1818244" y="2616233"/>
            <a:ext cx="620400" cy="15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55"/>
          <p:cNvSpPr/>
          <p:nvPr/>
        </p:nvSpPr>
        <p:spPr>
          <a:xfrm>
            <a:off x="1530300" y="3070095"/>
            <a:ext cx="620400" cy="153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55"/>
          <p:cNvSpPr txBox="1">
            <a:spLocks noGrp="1"/>
          </p:cNvSpPr>
          <p:nvPr>
            <p:ph type="body" idx="3"/>
          </p:nvPr>
        </p:nvSpPr>
        <p:spPr>
          <a:xfrm>
            <a:off x="2779864" y="1058550"/>
            <a:ext cx="1174200" cy="31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Package level</a:t>
            </a:r>
            <a:endParaRPr sz="1100"/>
          </a:p>
        </p:txBody>
      </p:sp>
      <p:cxnSp>
        <p:nvCxnSpPr>
          <p:cNvPr id="358" name="Google Shape;358;p55"/>
          <p:cNvCxnSpPr>
            <a:stCxn id="357" idx="1"/>
            <a:endCxn id="353" idx="0"/>
          </p:cNvCxnSpPr>
          <p:nvPr/>
        </p:nvCxnSpPr>
        <p:spPr>
          <a:xfrm flipH="1">
            <a:off x="1684564" y="1217400"/>
            <a:ext cx="1095300" cy="257700"/>
          </a:xfrm>
          <a:prstGeom prst="bentConnector2">
            <a:avLst/>
          </a:prstGeom>
          <a:noFill/>
          <a:ln w="19050" cap="flat" cmpd="sng">
            <a:solidFill>
              <a:srgbClr val="FF0000"/>
            </a:solidFill>
            <a:prstDash val="solid"/>
            <a:round/>
            <a:headEnd type="none" w="med" len="med"/>
            <a:tailEnd type="none" w="med" len="med"/>
          </a:ln>
        </p:spPr>
      </p:cxnSp>
      <p:sp>
        <p:nvSpPr>
          <p:cNvPr id="359" name="Google Shape;359;p55"/>
          <p:cNvSpPr txBox="1">
            <a:spLocks noGrp="1"/>
          </p:cNvSpPr>
          <p:nvPr>
            <p:ph type="body" idx="3"/>
          </p:nvPr>
        </p:nvSpPr>
        <p:spPr>
          <a:xfrm>
            <a:off x="2779875" y="1626150"/>
            <a:ext cx="1174200" cy="31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Class level</a:t>
            </a:r>
            <a:endParaRPr sz="1100"/>
          </a:p>
        </p:txBody>
      </p:sp>
      <p:cxnSp>
        <p:nvCxnSpPr>
          <p:cNvPr id="360" name="Google Shape;360;p55"/>
          <p:cNvCxnSpPr>
            <a:stCxn id="359" idx="2"/>
            <a:endCxn id="354" idx="2"/>
          </p:cNvCxnSpPr>
          <p:nvPr/>
        </p:nvCxnSpPr>
        <p:spPr>
          <a:xfrm rot="5400000" flipH="1">
            <a:off x="2364675" y="941550"/>
            <a:ext cx="82200" cy="1922400"/>
          </a:xfrm>
          <a:prstGeom prst="bentConnector3">
            <a:avLst>
              <a:gd name="adj1" fmla="val -173996"/>
            </a:avLst>
          </a:prstGeom>
          <a:noFill/>
          <a:ln w="19050" cap="flat" cmpd="sng">
            <a:solidFill>
              <a:srgbClr val="FF0000"/>
            </a:solidFill>
            <a:prstDash val="solid"/>
            <a:round/>
            <a:headEnd type="none" w="med" len="med"/>
            <a:tailEnd type="none" w="med" len="med"/>
          </a:ln>
        </p:spPr>
      </p:cxnSp>
      <p:sp>
        <p:nvSpPr>
          <p:cNvPr id="361" name="Google Shape;361;p55"/>
          <p:cNvSpPr txBox="1">
            <a:spLocks noGrp="1"/>
          </p:cNvSpPr>
          <p:nvPr>
            <p:ph type="body" idx="3"/>
          </p:nvPr>
        </p:nvSpPr>
        <p:spPr>
          <a:xfrm>
            <a:off x="2779875" y="2857900"/>
            <a:ext cx="1174200" cy="31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Local level</a:t>
            </a:r>
            <a:endParaRPr sz="1100"/>
          </a:p>
        </p:txBody>
      </p:sp>
      <p:cxnSp>
        <p:nvCxnSpPr>
          <p:cNvPr id="362" name="Google Shape;362;p55"/>
          <p:cNvCxnSpPr>
            <a:stCxn id="361" idx="1"/>
            <a:endCxn id="355" idx="2"/>
          </p:cNvCxnSpPr>
          <p:nvPr/>
        </p:nvCxnSpPr>
        <p:spPr>
          <a:xfrm rot="10800000">
            <a:off x="2128575" y="2769250"/>
            <a:ext cx="651300" cy="247500"/>
          </a:xfrm>
          <a:prstGeom prst="bentConnector2">
            <a:avLst/>
          </a:prstGeom>
          <a:noFill/>
          <a:ln w="19050" cap="flat" cmpd="sng">
            <a:solidFill>
              <a:srgbClr val="FF0000"/>
            </a:solidFill>
            <a:prstDash val="solid"/>
            <a:round/>
            <a:headEnd type="none" w="med" len="med"/>
            <a:tailEnd type="none" w="med" len="med"/>
          </a:ln>
        </p:spPr>
      </p:cxnSp>
      <p:sp>
        <p:nvSpPr>
          <p:cNvPr id="363" name="Google Shape;363;p55"/>
          <p:cNvSpPr txBox="1">
            <a:spLocks noGrp="1"/>
          </p:cNvSpPr>
          <p:nvPr>
            <p:ph type="body" idx="3"/>
          </p:nvPr>
        </p:nvSpPr>
        <p:spPr>
          <a:xfrm>
            <a:off x="2779875" y="3318150"/>
            <a:ext cx="1174200" cy="317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Out of scope</a:t>
            </a:r>
            <a:endParaRPr sz="1100"/>
          </a:p>
        </p:txBody>
      </p:sp>
      <p:cxnSp>
        <p:nvCxnSpPr>
          <p:cNvPr id="364" name="Google Shape;364;p55"/>
          <p:cNvCxnSpPr>
            <a:stCxn id="363" idx="1"/>
            <a:endCxn id="356" idx="2"/>
          </p:cNvCxnSpPr>
          <p:nvPr/>
        </p:nvCxnSpPr>
        <p:spPr>
          <a:xfrm rot="10800000">
            <a:off x="1840575" y="3223200"/>
            <a:ext cx="939300" cy="253800"/>
          </a:xfrm>
          <a:prstGeom prst="bentConnector2">
            <a:avLst/>
          </a:prstGeom>
          <a:noFill/>
          <a:ln w="19050" cap="flat" cmpd="sng">
            <a:solidFill>
              <a:srgbClr val="FF0000"/>
            </a:solidFill>
            <a:prstDash val="solid"/>
            <a:round/>
            <a:headEnd type="none" w="med" len="med"/>
            <a:tailEnd type="none" w="med" len="med"/>
          </a:ln>
        </p:spPr>
      </p:cxnSp>
      <p:sp>
        <p:nvSpPr>
          <p:cNvPr id="365" name="Google Shape;365;p55"/>
          <p:cNvSpPr txBox="1">
            <a:spLocks noGrp="1"/>
          </p:cNvSpPr>
          <p:nvPr>
            <p:ph type="body" idx="1"/>
          </p:nvPr>
        </p:nvSpPr>
        <p:spPr>
          <a:xfrm>
            <a:off x="4438400" y="72750"/>
            <a:ext cx="4469700" cy="49386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b="1" i="1" dirty="0">
                <a:solidFill>
                  <a:srgbClr val="FF0000"/>
                </a:solidFill>
                <a:highlight>
                  <a:srgbClr val="FFFF00"/>
                </a:highlight>
              </a:rPr>
              <a:t>Scope</a:t>
            </a:r>
            <a:r>
              <a:rPr lang="en" sz="1200" dirty="0">
                <a:highlight>
                  <a:srgbClr val="FFFF00"/>
                </a:highlight>
              </a:rPr>
              <a:t> refers to the parts of a program in which an identifier is </a:t>
            </a:r>
            <a:r>
              <a:rPr lang="en" sz="1200" b="1" i="1" dirty="0">
                <a:solidFill>
                  <a:srgbClr val="FF0000"/>
                </a:solidFill>
                <a:highlight>
                  <a:srgbClr val="FFFF00"/>
                </a:highlight>
              </a:rPr>
              <a:t>visible</a:t>
            </a:r>
            <a:r>
              <a:rPr lang="en" sz="1200" dirty="0">
                <a:highlight>
                  <a:srgbClr val="FFFF00"/>
                </a:highlight>
              </a:rPr>
              <a:t>.</a:t>
            </a:r>
            <a:endParaRPr sz="1200" dirty="0">
              <a:highlight>
                <a:srgbClr val="FFFF00"/>
              </a:highlight>
            </a:endParaRPr>
          </a:p>
          <a:p>
            <a:pPr marL="914400" lvl="1" indent="-298450" algn="l" rtl="0">
              <a:spcBef>
                <a:spcPts val="0"/>
              </a:spcBef>
              <a:spcAft>
                <a:spcPts val="0"/>
              </a:spcAft>
              <a:buSzPts val="1100"/>
              <a:buChar char="○"/>
            </a:pPr>
            <a:r>
              <a:rPr lang="en" dirty="0"/>
              <a:t>The identifier may refer to the name of a variable, a class, or a method.</a:t>
            </a:r>
            <a:endParaRPr dirty="0"/>
          </a:p>
          <a:p>
            <a:pPr marL="457200" lvl="0" indent="-304800" algn="l" rtl="0">
              <a:spcBef>
                <a:spcPts val="0"/>
              </a:spcBef>
              <a:spcAft>
                <a:spcPts val="0"/>
              </a:spcAft>
              <a:buSzPts val="1200"/>
              <a:buChar char="●"/>
            </a:pPr>
            <a:r>
              <a:rPr lang="en" sz="1200" dirty="0"/>
              <a:t>There are several different types of scope in Java.</a:t>
            </a:r>
            <a:endParaRPr sz="1200" dirty="0"/>
          </a:p>
          <a:p>
            <a:pPr marL="914400" lvl="1" indent="-298450" algn="l" rtl="0">
              <a:spcBef>
                <a:spcPts val="0"/>
              </a:spcBef>
              <a:spcAft>
                <a:spcPts val="0"/>
              </a:spcAft>
              <a:buSzPts val="1100"/>
              <a:buChar char="○"/>
            </a:pPr>
            <a:r>
              <a:rPr lang="en" dirty="0"/>
              <a:t>The scope of a </a:t>
            </a:r>
            <a:r>
              <a:rPr lang="en" b="1" i="1" dirty="0">
                <a:solidFill>
                  <a:srgbClr val="FF0000"/>
                </a:solidFill>
                <a:highlight>
                  <a:srgbClr val="FFFF00"/>
                </a:highlight>
              </a:rPr>
              <a:t>local variable</a:t>
            </a:r>
            <a:r>
              <a:rPr lang="en" dirty="0">
                <a:highlight>
                  <a:srgbClr val="FFFF00"/>
                </a:highlight>
              </a:rPr>
              <a:t> </a:t>
            </a:r>
            <a:r>
              <a:rPr lang="en" dirty="0"/>
              <a:t>is the block of code in which it is defined, e.g. a variable that is declared inside of curly braces (</a:t>
            </a:r>
            <a:r>
              <a:rPr lang="en" dirty="0">
                <a:latin typeface="Courier New"/>
                <a:ea typeface="Courier New"/>
                <a:cs typeface="Courier New"/>
                <a:sym typeface="Courier New"/>
              </a:rPr>
              <a:t>{}</a:t>
            </a:r>
            <a:r>
              <a:rPr lang="en" dirty="0"/>
              <a:t>) is not visible from outside of those braces.</a:t>
            </a:r>
            <a:endParaRPr dirty="0"/>
          </a:p>
          <a:p>
            <a:pPr marL="914400" lvl="1" indent="-298450" algn="l" rtl="0">
              <a:spcBef>
                <a:spcPts val="0"/>
              </a:spcBef>
              <a:spcAft>
                <a:spcPts val="0"/>
              </a:spcAft>
              <a:buSzPts val="1100"/>
              <a:buChar char="○"/>
            </a:pPr>
            <a:r>
              <a:rPr lang="en" dirty="0"/>
              <a:t>The scope of a </a:t>
            </a:r>
            <a:r>
              <a:rPr lang="en" b="1" i="1" dirty="0">
                <a:solidFill>
                  <a:srgbClr val="FF0000"/>
                </a:solidFill>
                <a:highlight>
                  <a:srgbClr val="FFFF00"/>
                </a:highlight>
              </a:rPr>
              <a:t>field</a:t>
            </a:r>
            <a:r>
              <a:rPr lang="en" dirty="0"/>
              <a:t> is the entire class in which it is declared, i.e. it can be used in any method in the class.</a:t>
            </a:r>
            <a:endParaRPr dirty="0"/>
          </a:p>
          <a:p>
            <a:pPr marL="914400" lvl="1" indent="-298450" algn="l" rtl="0">
              <a:spcBef>
                <a:spcPts val="0"/>
              </a:spcBef>
              <a:spcAft>
                <a:spcPts val="0"/>
              </a:spcAft>
              <a:buSzPts val="1100"/>
              <a:buChar char="○"/>
            </a:pPr>
            <a:r>
              <a:rPr lang="en" dirty="0"/>
              <a:t>The scope of a </a:t>
            </a:r>
            <a:r>
              <a:rPr lang="en" b="1" i="1" dirty="0">
                <a:solidFill>
                  <a:srgbClr val="FF0000"/>
                </a:solidFill>
                <a:highlight>
                  <a:srgbClr val="FFFF00"/>
                </a:highlight>
              </a:rPr>
              <a:t>method</a:t>
            </a:r>
            <a:r>
              <a:rPr lang="en" dirty="0">
                <a:solidFill>
                  <a:srgbClr val="FF0000"/>
                </a:solidFill>
              </a:rPr>
              <a:t> </a:t>
            </a:r>
            <a:r>
              <a:rPr lang="en" dirty="0"/>
              <a:t>is also the entire class in which it is declared.</a:t>
            </a:r>
            <a:endParaRPr dirty="0"/>
          </a:p>
          <a:p>
            <a:pPr marL="457200" lvl="0" indent="-304800" algn="l" rtl="0">
              <a:spcBef>
                <a:spcPts val="0"/>
              </a:spcBef>
              <a:spcAft>
                <a:spcPts val="0"/>
              </a:spcAft>
              <a:buSzPts val="1200"/>
              <a:buChar char="●"/>
            </a:pPr>
            <a:r>
              <a:rPr lang="en" sz="1200" dirty="0"/>
              <a:t>Java also includes </a:t>
            </a:r>
            <a:r>
              <a:rPr lang="en" sz="1200" b="1" i="1" dirty="0">
                <a:solidFill>
                  <a:srgbClr val="FF0000"/>
                </a:solidFill>
                <a:highlight>
                  <a:srgbClr val="FFFF00"/>
                </a:highlight>
              </a:rPr>
              <a:t>package scope</a:t>
            </a:r>
            <a:r>
              <a:rPr lang="en" sz="1200" dirty="0">
                <a:highlight>
                  <a:srgbClr val="FFFF00"/>
                </a:highlight>
              </a:rPr>
              <a:t>.</a:t>
            </a:r>
            <a:endParaRPr sz="1200" dirty="0">
              <a:highlight>
                <a:srgbClr val="FFFF00"/>
              </a:highlight>
            </a:endParaRPr>
          </a:p>
          <a:p>
            <a:pPr marL="914400" lvl="1" indent="-298450" algn="l" rtl="0">
              <a:spcBef>
                <a:spcPts val="0"/>
              </a:spcBef>
              <a:spcAft>
                <a:spcPts val="0"/>
              </a:spcAft>
              <a:buSzPts val="1100"/>
              <a:buChar char="○"/>
            </a:pPr>
            <a:r>
              <a:rPr lang="en" dirty="0">
                <a:highlight>
                  <a:srgbClr val="FFFF00"/>
                </a:highlight>
              </a:rPr>
              <a:t>Classes declared within the same package </a:t>
            </a:r>
            <a:r>
              <a:rPr lang="en" dirty="0"/>
              <a:t>are visible to each other without using an </a:t>
            </a:r>
            <a:r>
              <a:rPr lang="en" dirty="0">
                <a:solidFill>
                  <a:srgbClr val="FF0000"/>
                </a:solidFill>
                <a:highlight>
                  <a:srgbClr val="FFFF00"/>
                </a:highlight>
                <a:latin typeface="Courier New"/>
                <a:ea typeface="Courier New"/>
                <a:cs typeface="Courier New"/>
                <a:sym typeface="Courier New"/>
              </a:rPr>
              <a:t>import</a:t>
            </a:r>
            <a:r>
              <a:rPr lang="en" dirty="0">
                <a:solidFill>
                  <a:srgbClr val="FF0000"/>
                </a:solidFill>
              </a:rPr>
              <a:t> </a:t>
            </a:r>
            <a:r>
              <a:rPr lang="en" dirty="0"/>
              <a:t>statement.</a:t>
            </a:r>
            <a:endParaRPr dirty="0"/>
          </a:p>
          <a:p>
            <a:pPr marL="914400" lvl="1" indent="-298450" algn="l" rtl="0">
              <a:spcBef>
                <a:spcPts val="0"/>
              </a:spcBef>
              <a:spcAft>
                <a:spcPts val="0"/>
              </a:spcAft>
              <a:buSzPts val="1100"/>
              <a:buChar char="○"/>
            </a:pPr>
            <a:r>
              <a:rPr lang="en" dirty="0">
                <a:highlight>
                  <a:srgbClr val="FFFF00"/>
                </a:highlight>
              </a:rPr>
              <a:t>Classes outside of the package</a:t>
            </a:r>
            <a:r>
              <a:rPr lang="en" dirty="0"/>
              <a:t> must use an </a:t>
            </a:r>
            <a:r>
              <a:rPr lang="en" dirty="0">
                <a:highlight>
                  <a:srgbClr val="FFFF00"/>
                </a:highlight>
                <a:latin typeface="Courier New"/>
                <a:ea typeface="Courier New"/>
                <a:cs typeface="Courier New"/>
                <a:sym typeface="Courier New"/>
              </a:rPr>
              <a:t>import</a:t>
            </a:r>
            <a:r>
              <a:rPr lang="en" dirty="0">
                <a:highlight>
                  <a:srgbClr val="FFFF00"/>
                </a:highlight>
              </a:rPr>
              <a:t> statement to access the classes inside the package.</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This is why an </a:t>
            </a:r>
            <a:r>
              <a:rPr lang="en" dirty="0">
                <a:highlight>
                  <a:srgbClr val="FFFF00"/>
                </a:highlight>
                <a:latin typeface="Courier New"/>
                <a:ea typeface="Courier New"/>
                <a:cs typeface="Courier New"/>
                <a:sym typeface="Courier New"/>
              </a:rPr>
              <a:t>import</a:t>
            </a:r>
            <a:r>
              <a:rPr lang="en" dirty="0"/>
              <a:t> statement is needed to use the </a:t>
            </a:r>
            <a:r>
              <a:rPr lang="en" dirty="0">
                <a:latin typeface="Courier New"/>
                <a:ea typeface="Courier New"/>
                <a:cs typeface="Courier New"/>
                <a:sym typeface="Courier New"/>
              </a:rPr>
              <a:t>Scanner</a:t>
            </a:r>
            <a:r>
              <a:rPr lang="en" dirty="0"/>
              <a:t> or File I/O classes.</a:t>
            </a:r>
            <a:endParaRPr dirty="0"/>
          </a:p>
          <a:p>
            <a:pPr marL="457200" lvl="0" indent="-304800" algn="l" rtl="0">
              <a:spcBef>
                <a:spcPts val="0"/>
              </a:spcBef>
              <a:spcAft>
                <a:spcPts val="0"/>
              </a:spcAft>
              <a:buSzPts val="1200"/>
              <a:buChar char="●"/>
            </a:pPr>
            <a:r>
              <a:rPr lang="en" sz="1200" dirty="0"/>
              <a:t>Classes in the </a:t>
            </a:r>
            <a:r>
              <a:rPr lang="en" sz="1200" dirty="0">
                <a:solidFill>
                  <a:srgbClr val="FF0000"/>
                </a:solidFill>
                <a:highlight>
                  <a:srgbClr val="FFFF00"/>
                </a:highlight>
                <a:latin typeface="Courier New"/>
                <a:ea typeface="Courier New"/>
                <a:cs typeface="Courier New"/>
                <a:sym typeface="Courier New"/>
              </a:rPr>
              <a:t>java.lang</a:t>
            </a:r>
            <a:r>
              <a:rPr lang="en" sz="1200" dirty="0">
                <a:highlight>
                  <a:srgbClr val="FFFF00"/>
                </a:highlight>
              </a:rPr>
              <a:t> </a:t>
            </a:r>
            <a:r>
              <a:rPr lang="en" sz="1200" dirty="0"/>
              <a:t>package are special and do not need to be imported.</a:t>
            </a:r>
            <a:endParaRPr sz="1200" dirty="0"/>
          </a:p>
          <a:p>
            <a:pPr marL="914400" lvl="1" indent="-298450" algn="l" rtl="0">
              <a:spcBef>
                <a:spcPts val="0"/>
              </a:spcBef>
              <a:spcAft>
                <a:spcPts val="0"/>
              </a:spcAft>
              <a:buSzPts val="1100"/>
              <a:buChar char="○"/>
            </a:pPr>
            <a:r>
              <a:rPr lang="en" dirty="0">
                <a:highlight>
                  <a:srgbClr val="FFFF00"/>
                </a:highlight>
              </a:rPr>
              <a:t>This is why you did not need to import the </a:t>
            </a:r>
            <a:r>
              <a:rPr lang="en" dirty="0">
                <a:highlight>
                  <a:srgbClr val="FFFF00"/>
                </a:highlight>
                <a:latin typeface="Courier New"/>
                <a:ea typeface="Courier New"/>
                <a:cs typeface="Courier New"/>
                <a:sym typeface="Courier New"/>
              </a:rPr>
              <a:t>System</a:t>
            </a:r>
            <a:r>
              <a:rPr lang="en" dirty="0">
                <a:highlight>
                  <a:srgbClr val="FFFF00"/>
                </a:highlight>
              </a:rPr>
              <a:t> or </a:t>
            </a:r>
            <a:r>
              <a:rPr lang="en" dirty="0">
                <a:highlight>
                  <a:srgbClr val="FFFF00"/>
                </a:highlight>
                <a:latin typeface="Courier New"/>
                <a:ea typeface="Courier New"/>
                <a:cs typeface="Courier New"/>
                <a:sym typeface="Courier New"/>
              </a:rPr>
              <a:t>String</a:t>
            </a:r>
            <a:r>
              <a:rPr lang="en" dirty="0">
                <a:highlight>
                  <a:srgbClr val="FFFF00"/>
                </a:highlight>
              </a:rPr>
              <a:t> classes to use them.</a:t>
            </a:r>
            <a:endParaRPr dirty="0">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6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6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65">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57"/>
                                        </p:tgtEl>
                                        <p:attrNameLst>
                                          <p:attrName>style.visibility</p:attrName>
                                        </p:attrNameLst>
                                      </p:cBhvr>
                                      <p:to>
                                        <p:strVal val="visible"/>
                                      </p:to>
                                    </p:set>
                                    <p:animEffect transition="in" filter="fade">
                                      <p:cBhvr>
                                        <p:cTn id="55" dur="1000"/>
                                        <p:tgtEl>
                                          <p:spTgt spid="357"/>
                                        </p:tgtEl>
                                      </p:cBhvr>
                                    </p:animEffect>
                                  </p:childTnLst>
                                </p:cTn>
                              </p:par>
                              <p:par>
                                <p:cTn id="56" presetID="10" presetClass="entr" presetSubtype="0" fill="hold" nodeType="withEffect">
                                  <p:stCondLst>
                                    <p:cond delay="0"/>
                                  </p:stCondLst>
                                  <p:childTnLst>
                                    <p:set>
                                      <p:cBhvr>
                                        <p:cTn id="57" dur="1" fill="hold">
                                          <p:stCondLst>
                                            <p:cond delay="0"/>
                                          </p:stCondLst>
                                        </p:cTn>
                                        <p:tgtEl>
                                          <p:spTgt spid="358"/>
                                        </p:tgtEl>
                                        <p:attrNameLst>
                                          <p:attrName>style.visibility</p:attrName>
                                        </p:attrNameLst>
                                      </p:cBhvr>
                                      <p:to>
                                        <p:strVal val="visible"/>
                                      </p:to>
                                    </p:set>
                                    <p:animEffect transition="in" filter="fade">
                                      <p:cBhvr>
                                        <p:cTn id="58" dur="1000"/>
                                        <p:tgtEl>
                                          <p:spTgt spid="358"/>
                                        </p:tgtEl>
                                      </p:cBhvr>
                                    </p:animEffect>
                                  </p:childTnLst>
                                </p:cTn>
                              </p:par>
                              <p:par>
                                <p:cTn id="59" presetID="10" presetClass="entr" presetSubtype="0" fill="hold" nodeType="withEffect">
                                  <p:stCondLst>
                                    <p:cond delay="0"/>
                                  </p:stCondLst>
                                  <p:childTnLst>
                                    <p:set>
                                      <p:cBhvr>
                                        <p:cTn id="60" dur="1" fill="hold">
                                          <p:stCondLst>
                                            <p:cond delay="0"/>
                                          </p:stCondLst>
                                        </p:cTn>
                                        <p:tgtEl>
                                          <p:spTgt spid="353"/>
                                        </p:tgtEl>
                                        <p:attrNameLst>
                                          <p:attrName>style.visibility</p:attrName>
                                        </p:attrNameLst>
                                      </p:cBhvr>
                                      <p:to>
                                        <p:strVal val="visible"/>
                                      </p:to>
                                    </p:set>
                                    <p:animEffect transition="in" filter="fade">
                                      <p:cBhvr>
                                        <p:cTn id="61" dur="1000"/>
                                        <p:tgtEl>
                                          <p:spTgt spid="35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59"/>
                                        </p:tgtEl>
                                        <p:attrNameLst>
                                          <p:attrName>style.visibility</p:attrName>
                                        </p:attrNameLst>
                                      </p:cBhvr>
                                      <p:to>
                                        <p:strVal val="visible"/>
                                      </p:to>
                                    </p:set>
                                    <p:animEffect transition="in" filter="fade">
                                      <p:cBhvr>
                                        <p:cTn id="66" dur="1000"/>
                                        <p:tgtEl>
                                          <p:spTgt spid="359"/>
                                        </p:tgtEl>
                                      </p:cBhvr>
                                    </p:animEffect>
                                  </p:childTnLst>
                                </p:cTn>
                              </p:par>
                              <p:par>
                                <p:cTn id="67" presetID="10" presetClass="entr" presetSubtype="0" fill="hold" nodeType="withEffect">
                                  <p:stCondLst>
                                    <p:cond delay="0"/>
                                  </p:stCondLst>
                                  <p:childTnLst>
                                    <p:set>
                                      <p:cBhvr>
                                        <p:cTn id="68" dur="1" fill="hold">
                                          <p:stCondLst>
                                            <p:cond delay="0"/>
                                          </p:stCondLst>
                                        </p:cTn>
                                        <p:tgtEl>
                                          <p:spTgt spid="360"/>
                                        </p:tgtEl>
                                        <p:attrNameLst>
                                          <p:attrName>style.visibility</p:attrName>
                                        </p:attrNameLst>
                                      </p:cBhvr>
                                      <p:to>
                                        <p:strVal val="visible"/>
                                      </p:to>
                                    </p:set>
                                    <p:animEffect transition="in" filter="fade">
                                      <p:cBhvr>
                                        <p:cTn id="69" dur="1000"/>
                                        <p:tgtEl>
                                          <p:spTgt spid="360"/>
                                        </p:tgtEl>
                                      </p:cBhvr>
                                    </p:animEffect>
                                  </p:childTnLst>
                                </p:cTn>
                              </p:par>
                              <p:par>
                                <p:cTn id="70" presetID="10" presetClass="entr" presetSubtype="0" fill="hold" nodeType="withEffect">
                                  <p:stCondLst>
                                    <p:cond delay="0"/>
                                  </p:stCondLst>
                                  <p:childTnLst>
                                    <p:set>
                                      <p:cBhvr>
                                        <p:cTn id="71" dur="1" fill="hold">
                                          <p:stCondLst>
                                            <p:cond delay="0"/>
                                          </p:stCondLst>
                                        </p:cTn>
                                        <p:tgtEl>
                                          <p:spTgt spid="354"/>
                                        </p:tgtEl>
                                        <p:attrNameLst>
                                          <p:attrName>style.visibility</p:attrName>
                                        </p:attrNameLst>
                                      </p:cBhvr>
                                      <p:to>
                                        <p:strVal val="visible"/>
                                      </p:to>
                                    </p:set>
                                    <p:animEffect transition="in" filter="fade">
                                      <p:cBhvr>
                                        <p:cTn id="72" dur="1000"/>
                                        <p:tgtEl>
                                          <p:spTgt spid="35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61"/>
                                        </p:tgtEl>
                                        <p:attrNameLst>
                                          <p:attrName>style.visibility</p:attrName>
                                        </p:attrNameLst>
                                      </p:cBhvr>
                                      <p:to>
                                        <p:strVal val="visible"/>
                                      </p:to>
                                    </p:set>
                                    <p:animEffect transition="in" filter="fade">
                                      <p:cBhvr>
                                        <p:cTn id="77" dur="1000"/>
                                        <p:tgtEl>
                                          <p:spTgt spid="361"/>
                                        </p:tgtEl>
                                      </p:cBhvr>
                                    </p:animEffect>
                                  </p:childTnLst>
                                </p:cTn>
                              </p:par>
                              <p:par>
                                <p:cTn id="78" presetID="10" presetClass="entr" presetSubtype="0" fill="hold" nodeType="withEffect">
                                  <p:stCondLst>
                                    <p:cond delay="0"/>
                                  </p:stCondLst>
                                  <p:childTnLst>
                                    <p:set>
                                      <p:cBhvr>
                                        <p:cTn id="79" dur="1" fill="hold">
                                          <p:stCondLst>
                                            <p:cond delay="0"/>
                                          </p:stCondLst>
                                        </p:cTn>
                                        <p:tgtEl>
                                          <p:spTgt spid="362"/>
                                        </p:tgtEl>
                                        <p:attrNameLst>
                                          <p:attrName>style.visibility</p:attrName>
                                        </p:attrNameLst>
                                      </p:cBhvr>
                                      <p:to>
                                        <p:strVal val="visible"/>
                                      </p:to>
                                    </p:set>
                                    <p:animEffect transition="in" filter="fade">
                                      <p:cBhvr>
                                        <p:cTn id="80" dur="1000"/>
                                        <p:tgtEl>
                                          <p:spTgt spid="362"/>
                                        </p:tgtEl>
                                      </p:cBhvr>
                                    </p:animEffect>
                                  </p:childTnLst>
                                </p:cTn>
                              </p:par>
                              <p:par>
                                <p:cTn id="81" presetID="10" presetClass="entr" presetSubtype="0" fill="hold" nodeType="withEffect">
                                  <p:stCondLst>
                                    <p:cond delay="0"/>
                                  </p:stCondLst>
                                  <p:childTnLst>
                                    <p:set>
                                      <p:cBhvr>
                                        <p:cTn id="82" dur="1" fill="hold">
                                          <p:stCondLst>
                                            <p:cond delay="0"/>
                                          </p:stCondLst>
                                        </p:cTn>
                                        <p:tgtEl>
                                          <p:spTgt spid="355"/>
                                        </p:tgtEl>
                                        <p:attrNameLst>
                                          <p:attrName>style.visibility</p:attrName>
                                        </p:attrNameLst>
                                      </p:cBhvr>
                                      <p:to>
                                        <p:strVal val="visible"/>
                                      </p:to>
                                    </p:set>
                                    <p:animEffect transition="in" filter="fade">
                                      <p:cBhvr>
                                        <p:cTn id="83" dur="1000"/>
                                        <p:tgtEl>
                                          <p:spTgt spid="355"/>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63"/>
                                        </p:tgtEl>
                                        <p:attrNameLst>
                                          <p:attrName>style.visibility</p:attrName>
                                        </p:attrNameLst>
                                      </p:cBhvr>
                                      <p:to>
                                        <p:strVal val="visible"/>
                                      </p:to>
                                    </p:set>
                                    <p:animEffect transition="in" filter="fade">
                                      <p:cBhvr>
                                        <p:cTn id="88" dur="1000"/>
                                        <p:tgtEl>
                                          <p:spTgt spid="363"/>
                                        </p:tgtEl>
                                      </p:cBhvr>
                                    </p:animEffect>
                                  </p:childTnLst>
                                </p:cTn>
                              </p:par>
                              <p:par>
                                <p:cTn id="89" presetID="10" presetClass="entr" presetSubtype="0" fill="hold" nodeType="withEffect">
                                  <p:stCondLst>
                                    <p:cond delay="0"/>
                                  </p:stCondLst>
                                  <p:childTnLst>
                                    <p:set>
                                      <p:cBhvr>
                                        <p:cTn id="90" dur="1" fill="hold">
                                          <p:stCondLst>
                                            <p:cond delay="0"/>
                                          </p:stCondLst>
                                        </p:cTn>
                                        <p:tgtEl>
                                          <p:spTgt spid="364"/>
                                        </p:tgtEl>
                                        <p:attrNameLst>
                                          <p:attrName>style.visibility</p:attrName>
                                        </p:attrNameLst>
                                      </p:cBhvr>
                                      <p:to>
                                        <p:strVal val="visible"/>
                                      </p:to>
                                    </p:set>
                                    <p:animEffect transition="in" filter="fade">
                                      <p:cBhvr>
                                        <p:cTn id="91" dur="1000"/>
                                        <p:tgtEl>
                                          <p:spTgt spid="364"/>
                                        </p:tgtEl>
                                      </p:cBhvr>
                                    </p:animEffect>
                                  </p:childTnLst>
                                </p:cTn>
                              </p:par>
                              <p:par>
                                <p:cTn id="92" presetID="10" presetClass="entr" presetSubtype="0" fill="hold" nodeType="withEffect">
                                  <p:stCondLst>
                                    <p:cond delay="0"/>
                                  </p:stCondLst>
                                  <p:childTnLst>
                                    <p:set>
                                      <p:cBhvr>
                                        <p:cTn id="93" dur="1" fill="hold">
                                          <p:stCondLst>
                                            <p:cond delay="0"/>
                                          </p:stCondLst>
                                        </p:cTn>
                                        <p:tgtEl>
                                          <p:spTgt spid="356"/>
                                        </p:tgtEl>
                                        <p:attrNameLst>
                                          <p:attrName>style.visibility</p:attrName>
                                        </p:attrNameLst>
                                      </p:cBhvr>
                                      <p:to>
                                        <p:strVal val="visible"/>
                                      </p:to>
                                    </p:set>
                                    <p:animEffect transition="in" filter="fade">
                                      <p:cBhvr>
                                        <p:cTn id="94" dur="1000"/>
                                        <p:tgtEl>
                                          <p:spTgt spid="35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352"/>
                                        </p:tgtEl>
                                        <p:attrNameLst>
                                          <p:attrName>style.visibility</p:attrName>
                                        </p:attrNameLst>
                                      </p:cBhvr>
                                      <p:to>
                                        <p:strVal val="visible"/>
                                      </p:to>
                                    </p:set>
                                    <p:animEffect transition="in" filter="fade">
                                      <p:cBhvr>
                                        <p:cTn id="99" dur="1000"/>
                                        <p:tgtEl>
                                          <p:spTgt spid="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6"/>
          <p:cNvSpPr txBox="1">
            <a:spLocks noGrp="1"/>
          </p:cNvSpPr>
          <p:nvPr>
            <p:ph type="body" idx="1"/>
          </p:nvPr>
        </p:nvSpPr>
        <p:spPr>
          <a:xfrm>
            <a:off x="65250" y="6554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Large software projects will include dozens (if not hundreds) of small classes. Java packages are used to place related classes into the same namespace. Conversely, unrelated classes are separated into different namespaces to keep everything better organized. Let's move the Star Wars Battle classes that we have written so far into a new package.</a:t>
            </a:r>
            <a:endParaRPr/>
          </a:p>
        </p:txBody>
      </p:sp>
      <p:sp>
        <p:nvSpPr>
          <p:cNvPr id="371" name="Google Shape;371;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72" name="Google Shape;372;p56"/>
          <p:cNvSpPr txBox="1">
            <a:spLocks noGrp="1"/>
          </p:cNvSpPr>
          <p:nvPr>
            <p:ph type="body" idx="2"/>
          </p:nvPr>
        </p:nvSpPr>
        <p:spPr>
          <a:xfrm>
            <a:off x="3496375" y="2013125"/>
            <a:ext cx="5444700" cy="264454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folder named "</a:t>
            </a:r>
            <a:r>
              <a:rPr lang="en" dirty="0">
                <a:highlight>
                  <a:srgbClr val="FFFF00"/>
                </a:highlight>
                <a:latin typeface="Courier New"/>
                <a:ea typeface="Courier New"/>
                <a:cs typeface="Courier New"/>
                <a:sym typeface="Courier New"/>
              </a:rPr>
              <a:t>swb</a:t>
            </a:r>
            <a:r>
              <a:rPr lang="en" dirty="0"/>
              <a:t>" (short for Star Wars Battle) under the </a:t>
            </a:r>
            <a:r>
              <a:rPr lang="en" dirty="0">
                <a:latin typeface="Courier New"/>
                <a:ea typeface="Courier New"/>
                <a:cs typeface="Courier New"/>
                <a:sym typeface="Courier New"/>
              </a:rPr>
              <a:t>src/main/java/unit02</a:t>
            </a:r>
            <a:r>
              <a:rPr lang="en" dirty="0"/>
              <a:t> folder in your project.</a:t>
            </a:r>
            <a:endParaRPr dirty="0"/>
          </a:p>
          <a:p>
            <a:pPr marL="457200" lvl="0" indent="-311150" algn="l" rtl="0">
              <a:spcBef>
                <a:spcPts val="0"/>
              </a:spcBef>
              <a:spcAft>
                <a:spcPts val="0"/>
              </a:spcAft>
              <a:buSzPts val="1300"/>
              <a:buChar char="●"/>
            </a:pPr>
            <a:r>
              <a:rPr lang="en" dirty="0"/>
              <a:t>Click and drag the </a:t>
            </a:r>
            <a:r>
              <a:rPr lang="en" dirty="0">
                <a:latin typeface="Courier New"/>
                <a:ea typeface="Courier New"/>
                <a:cs typeface="Courier New"/>
                <a:sym typeface="Courier New"/>
              </a:rPr>
              <a:t>Weapon.java</a:t>
            </a:r>
            <a:r>
              <a:rPr lang="en" dirty="0"/>
              <a:t> file from the </a:t>
            </a:r>
            <a:r>
              <a:rPr lang="en" dirty="0">
                <a:latin typeface="Courier New"/>
                <a:ea typeface="Courier New"/>
                <a:cs typeface="Courier New"/>
                <a:sym typeface="Courier New"/>
              </a:rPr>
              <a:t>unit02</a:t>
            </a:r>
            <a:r>
              <a:rPr lang="en" dirty="0"/>
              <a:t> folder into the </a:t>
            </a:r>
            <a:r>
              <a:rPr lang="en" dirty="0">
                <a:latin typeface="Courier New"/>
                <a:ea typeface="Courier New"/>
                <a:cs typeface="Courier New"/>
                <a:sym typeface="Courier New"/>
              </a:rPr>
              <a:t>swb</a:t>
            </a:r>
            <a:r>
              <a:rPr lang="en" dirty="0"/>
              <a:t> folder.</a:t>
            </a:r>
            <a:endParaRPr dirty="0"/>
          </a:p>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Weapon</a:t>
            </a:r>
            <a:r>
              <a:rPr lang="en" dirty="0"/>
              <a:t> class and verify that VSCode has added the correct package statement to the top of the class.</a:t>
            </a:r>
            <a:endParaRPr dirty="0"/>
          </a:p>
          <a:p>
            <a:pPr marL="914400" lvl="1" indent="-298450" algn="l" rtl="0">
              <a:spcBef>
                <a:spcPts val="0"/>
              </a:spcBef>
              <a:spcAft>
                <a:spcPts val="0"/>
              </a:spcAft>
              <a:buSzPts val="1100"/>
              <a:buChar char="○"/>
            </a:pPr>
            <a:r>
              <a:rPr lang="en" dirty="0"/>
              <a:t>It should be </a:t>
            </a:r>
            <a:r>
              <a:rPr lang="en" dirty="0">
                <a:latin typeface="Courier New"/>
                <a:ea typeface="Courier New"/>
                <a:cs typeface="Courier New"/>
                <a:sym typeface="Courier New"/>
              </a:rPr>
              <a:t>package unit02.swb;</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If the package statement is missing, add it manually.</a:t>
            </a:r>
            <a:endParaRPr dirty="0"/>
          </a:p>
          <a:p>
            <a:pPr marL="457200" lvl="0" indent="-311150" algn="l" rtl="0">
              <a:spcBef>
                <a:spcPts val="0"/>
              </a:spcBef>
              <a:spcAft>
                <a:spcPts val="0"/>
              </a:spcAft>
              <a:buSzPts val="1300"/>
              <a:buChar char="●"/>
            </a:pPr>
            <a:r>
              <a:rPr lang="en" dirty="0"/>
              <a:t>Repeat the process for the </a:t>
            </a:r>
            <a:r>
              <a:rPr lang="en" dirty="0">
                <a:latin typeface="Courier New"/>
                <a:ea typeface="Courier New"/>
                <a:cs typeface="Courier New"/>
                <a:sym typeface="Courier New"/>
              </a:rPr>
              <a:t>StarWarsBattle</a:t>
            </a:r>
            <a:r>
              <a:rPr lang="en" dirty="0"/>
              <a:t> class.</a:t>
            </a:r>
            <a:endParaRPr dirty="0"/>
          </a:p>
          <a:p>
            <a:pPr marL="457200" lvl="0" indent="-311150" algn="l" rtl="0">
              <a:spcBef>
                <a:spcPts val="0"/>
              </a:spcBef>
              <a:spcAft>
                <a:spcPts val="0"/>
              </a:spcAft>
              <a:buSzPts val="1300"/>
              <a:buChar char="●"/>
            </a:pPr>
            <a:r>
              <a:rPr lang="en" dirty="0"/>
              <a:t>Run the </a:t>
            </a:r>
            <a:r>
              <a:rPr lang="en" dirty="0">
                <a:latin typeface="Courier New"/>
                <a:ea typeface="Courier New"/>
                <a:cs typeface="Courier New"/>
                <a:sym typeface="Courier New"/>
              </a:rPr>
              <a:t>main</a:t>
            </a:r>
            <a:r>
              <a:rPr lang="en" dirty="0"/>
              <a:t> method in </a:t>
            </a:r>
            <a:r>
              <a:rPr lang="en" dirty="0">
                <a:highlight>
                  <a:srgbClr val="FFFF00"/>
                </a:highlight>
                <a:latin typeface="Courier New"/>
                <a:ea typeface="Courier New"/>
                <a:cs typeface="Courier New"/>
                <a:sym typeface="Courier New"/>
              </a:rPr>
              <a:t>StarWarsBattle</a:t>
            </a:r>
            <a:r>
              <a:rPr lang="en" dirty="0"/>
              <a:t> to make sure that it is still working correctly.</a:t>
            </a:r>
            <a:endParaRPr dirty="0"/>
          </a:p>
        </p:txBody>
      </p:sp>
      <p:sp>
        <p:nvSpPr>
          <p:cNvPr id="373" name="Google Shape;373;p5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Java Packages</a:t>
            </a:r>
            <a:endParaRPr/>
          </a:p>
        </p:txBody>
      </p:sp>
      <p:sp>
        <p:nvSpPr>
          <p:cNvPr id="374" name="Google Shape;374;p5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2.3</a:t>
            </a:r>
            <a:endParaRPr/>
          </a:p>
        </p:txBody>
      </p:sp>
      <p:sp>
        <p:nvSpPr>
          <p:cNvPr id="375" name="Google Shape;375;p56"/>
          <p:cNvSpPr txBox="1">
            <a:spLocks noGrp="1"/>
          </p:cNvSpPr>
          <p:nvPr>
            <p:ph type="body" idx="4"/>
          </p:nvPr>
        </p:nvSpPr>
        <p:spPr>
          <a:xfrm>
            <a:off x="141588" y="44574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 package statement must exactly match the folder name(s).</a:t>
            </a:r>
            <a:endParaRPr/>
          </a:p>
        </p:txBody>
      </p:sp>
      <p:pic>
        <p:nvPicPr>
          <p:cNvPr id="376" name="Google Shape;376;p56"/>
          <p:cNvPicPr preferRelativeResize="0"/>
          <p:nvPr/>
        </p:nvPicPr>
        <p:blipFill>
          <a:blip r:embed="rId3">
            <a:alphaModFix/>
          </a:blip>
          <a:stretch>
            <a:fillRect/>
          </a:stretch>
        </p:blipFill>
        <p:spPr>
          <a:xfrm>
            <a:off x="759350" y="2021153"/>
            <a:ext cx="1788175" cy="1117060"/>
          </a:xfrm>
          <a:prstGeom prst="rect">
            <a:avLst/>
          </a:prstGeom>
          <a:noFill/>
          <a:ln w="19050" cap="flat" cmpd="sng">
            <a:solidFill>
              <a:schemeClr val="dk2"/>
            </a:solidFill>
            <a:prstDash val="solid"/>
            <a:round/>
            <a:headEnd type="none" w="sm" len="sm"/>
            <a:tailEnd type="none" w="sm" len="sm"/>
          </a:ln>
        </p:spPr>
      </p:pic>
      <p:sp>
        <p:nvSpPr>
          <p:cNvPr id="377" name="Google Shape;377;p56"/>
          <p:cNvSpPr txBox="1"/>
          <p:nvPr/>
        </p:nvSpPr>
        <p:spPr>
          <a:xfrm>
            <a:off x="384750" y="3295600"/>
            <a:ext cx="2537400" cy="1004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000FF"/>
                </a:solidFill>
                <a:latin typeface="Consolas"/>
                <a:ea typeface="Consolas"/>
                <a:cs typeface="Consolas"/>
                <a:sym typeface="Consolas"/>
              </a:rPr>
              <a:t> package</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unit02</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activities</a:t>
            </a:r>
            <a:r>
              <a:rPr lang="en" sz="1050">
                <a:latin typeface="Consolas"/>
                <a:ea typeface="Consolas"/>
                <a:cs typeface="Consolas"/>
                <a:sym typeface="Consolas"/>
              </a:rPr>
              <a:t>;</a:t>
            </a:r>
            <a:endParaRPr sz="1050">
              <a:latin typeface="Consolas"/>
              <a:ea typeface="Consolas"/>
              <a:cs typeface="Consolas"/>
              <a:sym typeface="Consolas"/>
            </a:endParaRPr>
          </a:p>
          <a:p>
            <a:pPr marL="0" lvl="0" indent="0" algn="l" rtl="0">
              <a:lnSpc>
                <a:spcPct val="135714"/>
              </a:lnSpc>
              <a:spcBef>
                <a:spcPts val="0"/>
              </a:spcBef>
              <a:spcAft>
                <a:spcPts val="0"/>
              </a:spcAft>
              <a:buNone/>
            </a:pP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000FF"/>
                </a:solidFill>
                <a:latin typeface="Consolas"/>
                <a:ea typeface="Consolas"/>
                <a:cs typeface="Consolas"/>
                <a:sym typeface="Consolas"/>
              </a:rPr>
              <a:t> 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Dog</a:t>
            </a:r>
            <a:r>
              <a:rPr lang="en" sz="1050">
                <a:latin typeface="Consolas"/>
                <a:ea typeface="Consolas"/>
                <a:cs typeface="Consolas"/>
                <a:sym typeface="Consolas"/>
              </a:rPr>
              <a:t> {</a:t>
            </a:r>
            <a:endParaRPr sz="1050">
              <a:latin typeface="Consolas"/>
              <a:ea typeface="Consolas"/>
              <a:cs typeface="Consolas"/>
              <a:sym typeface="Consolas"/>
            </a:endParaRPr>
          </a:p>
          <a:p>
            <a:pPr marL="0" lvl="0" indent="0" algn="l" rtl="0">
              <a:lnSpc>
                <a:spcPct val="135714"/>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58"/>
          <p:cNvSpPr txBox="1">
            <a:spLocks noGrp="1"/>
          </p:cNvSpPr>
          <p:nvPr>
            <p:ph type="title"/>
          </p:nvPr>
        </p:nvSpPr>
        <p:spPr>
          <a:xfrm>
            <a:off x="5124075" y="136227"/>
            <a:ext cx="38472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Constructors</a:t>
            </a:r>
            <a:endParaRPr/>
          </a:p>
        </p:txBody>
      </p:sp>
      <p:sp>
        <p:nvSpPr>
          <p:cNvPr id="389" name="Google Shape;389;p58"/>
          <p:cNvSpPr txBox="1">
            <a:spLocks noGrp="1"/>
          </p:cNvSpPr>
          <p:nvPr>
            <p:ph type="body" idx="1"/>
          </p:nvPr>
        </p:nvSpPr>
        <p:spPr>
          <a:xfrm>
            <a:off x="247075" y="113400"/>
            <a:ext cx="4492200" cy="4832400"/>
          </a:xfrm>
          <a:prstGeom prst="rect">
            <a:avLst/>
          </a:prstGeom>
        </p:spPr>
        <p:txBody>
          <a:bodyPr spcFirstLastPara="1" wrap="square" lIns="91425" tIns="91425" rIns="91425" bIns="91425" anchor="t" anchorCtr="0">
            <a:spAutoFit/>
          </a:bodyPr>
          <a:lstStyle/>
          <a:p>
            <a:pPr marL="457200" lvl="0" indent="-319595" algn="l" rtl="0">
              <a:lnSpc>
                <a:spcPct val="100000"/>
              </a:lnSpc>
              <a:spcBef>
                <a:spcPts val="0"/>
              </a:spcBef>
              <a:spcAft>
                <a:spcPts val="0"/>
              </a:spcAft>
              <a:buSzPts val="1433"/>
              <a:buChar char="●"/>
            </a:pPr>
            <a:r>
              <a:rPr lang="en" sz="1433" dirty="0"/>
              <a:t>As we learned with Python, the special function used to create a new instance of a class is called a </a:t>
            </a:r>
            <a:r>
              <a:rPr lang="en" sz="1433" b="1" i="1" dirty="0">
                <a:solidFill>
                  <a:srgbClr val="FF0000"/>
                </a:solidFill>
                <a:highlight>
                  <a:srgbClr val="FFFF00"/>
                </a:highlight>
              </a:rPr>
              <a:t>constructor</a:t>
            </a:r>
            <a:r>
              <a:rPr lang="en" sz="1433" dirty="0">
                <a:highlight>
                  <a:srgbClr val="FFFF00"/>
                </a:highlight>
              </a:rPr>
              <a:t>.</a:t>
            </a:r>
            <a:endParaRPr sz="1433" dirty="0">
              <a:highlight>
                <a:srgbClr val="FFFF00"/>
              </a:highlight>
            </a:endParaRPr>
          </a:p>
          <a:p>
            <a:pPr marL="914400" lvl="1" indent="-306895" algn="l" rtl="0">
              <a:lnSpc>
                <a:spcPct val="100000"/>
              </a:lnSpc>
              <a:spcBef>
                <a:spcPts val="0"/>
              </a:spcBef>
              <a:spcAft>
                <a:spcPts val="0"/>
              </a:spcAft>
              <a:buSzPts val="1233"/>
              <a:buChar char="○"/>
            </a:pPr>
            <a:r>
              <a:rPr lang="en" sz="1233" dirty="0"/>
              <a:t>It is a method that has </a:t>
            </a:r>
            <a:r>
              <a:rPr lang="en" sz="1233" dirty="0">
                <a:highlight>
                  <a:srgbClr val="FFFF00"/>
                </a:highlight>
              </a:rPr>
              <a:t>the same name </a:t>
            </a:r>
            <a:r>
              <a:rPr lang="en" sz="1233" dirty="0"/>
              <a:t>as the class.</a:t>
            </a:r>
            <a:endParaRPr sz="1233" dirty="0"/>
          </a:p>
          <a:p>
            <a:pPr marL="457200" lvl="0" indent="-319595" algn="l" rtl="0">
              <a:lnSpc>
                <a:spcPct val="100000"/>
              </a:lnSpc>
              <a:spcBef>
                <a:spcPts val="0"/>
              </a:spcBef>
              <a:spcAft>
                <a:spcPts val="0"/>
              </a:spcAft>
              <a:buSzPts val="1433"/>
              <a:buChar char="●"/>
            </a:pPr>
            <a:r>
              <a:rPr lang="en" sz="1433" dirty="0"/>
              <a:t>Whenever you </a:t>
            </a:r>
            <a:r>
              <a:rPr lang="en" sz="1433" dirty="0">
                <a:solidFill>
                  <a:srgbClr val="666666"/>
                </a:solidFill>
              </a:rPr>
              <a:t>declare </a:t>
            </a:r>
            <a:r>
              <a:rPr lang="en" sz="1433" dirty="0"/>
              <a:t>a class, a special construction method is automatically added to it.</a:t>
            </a:r>
            <a:endParaRPr sz="1433" baseline="30000" dirty="0"/>
          </a:p>
          <a:p>
            <a:pPr marL="914400" lvl="1" indent="-306895" algn="l" rtl="0">
              <a:lnSpc>
                <a:spcPct val="100000"/>
              </a:lnSpc>
              <a:spcBef>
                <a:spcPts val="0"/>
              </a:spcBef>
              <a:spcAft>
                <a:spcPts val="0"/>
              </a:spcAft>
              <a:buSzPts val="1233"/>
              <a:buChar char="○"/>
            </a:pPr>
            <a:r>
              <a:rPr lang="en" sz="1233" dirty="0">
                <a:highlight>
                  <a:srgbClr val="FFFF00"/>
                </a:highlight>
              </a:rPr>
              <a:t>This method is known as the </a:t>
            </a:r>
            <a:r>
              <a:rPr lang="en" sz="1233" b="1" i="1" dirty="0">
                <a:solidFill>
                  <a:srgbClr val="FF0000"/>
                </a:solidFill>
                <a:highlight>
                  <a:srgbClr val="FFFF00"/>
                </a:highlight>
              </a:rPr>
              <a:t>default constructor</a:t>
            </a:r>
            <a:r>
              <a:rPr lang="en" sz="1233" dirty="0">
                <a:highlight>
                  <a:srgbClr val="FFFF00"/>
                </a:highlight>
              </a:rPr>
              <a:t>.</a:t>
            </a:r>
            <a:endParaRPr sz="1233" b="1" i="1" baseline="30000" dirty="0">
              <a:solidFill>
                <a:srgbClr val="FF0000"/>
              </a:solidFill>
              <a:highlight>
                <a:srgbClr val="FFFF00"/>
              </a:highlight>
            </a:endParaRPr>
          </a:p>
          <a:p>
            <a:pPr marL="914400" lvl="1" indent="-306895" algn="l" rtl="0">
              <a:lnSpc>
                <a:spcPct val="100000"/>
              </a:lnSpc>
              <a:spcBef>
                <a:spcPts val="0"/>
              </a:spcBef>
              <a:spcAft>
                <a:spcPts val="0"/>
              </a:spcAft>
              <a:buSzPts val="1233"/>
              <a:buChar char="○"/>
            </a:pPr>
            <a:r>
              <a:rPr lang="en" sz="1233" dirty="0">
                <a:highlight>
                  <a:srgbClr val="FFFF00"/>
                </a:highlight>
              </a:rPr>
              <a:t>It does not declare any parameters.</a:t>
            </a:r>
            <a:endParaRPr sz="1233" dirty="0">
              <a:highlight>
                <a:srgbClr val="FFFF00"/>
              </a:highlight>
            </a:endParaRPr>
          </a:p>
          <a:p>
            <a:pPr marL="914400" lvl="1" indent="-306895" algn="l" rtl="0">
              <a:lnSpc>
                <a:spcPct val="100000"/>
              </a:lnSpc>
              <a:spcBef>
                <a:spcPts val="0"/>
              </a:spcBef>
              <a:spcAft>
                <a:spcPts val="0"/>
              </a:spcAft>
              <a:buSzPts val="1233"/>
              <a:buChar char="○"/>
            </a:pPr>
            <a:r>
              <a:rPr lang="en" sz="1233" dirty="0">
                <a:highlight>
                  <a:srgbClr val="FFFF00"/>
                </a:highlight>
              </a:rPr>
              <a:t>When called (using the </a:t>
            </a:r>
            <a:r>
              <a:rPr lang="en" sz="1233" dirty="0">
                <a:solidFill>
                  <a:srgbClr val="FF0000"/>
                </a:solidFill>
                <a:highlight>
                  <a:srgbClr val="FFFF00"/>
                </a:highlight>
                <a:latin typeface="Courier New"/>
                <a:ea typeface="Courier New"/>
                <a:cs typeface="Courier New"/>
                <a:sym typeface="Courier New"/>
              </a:rPr>
              <a:t>new</a:t>
            </a:r>
            <a:r>
              <a:rPr lang="en" sz="1233" i="1" dirty="0">
                <a:highlight>
                  <a:srgbClr val="FFFF00"/>
                </a:highlight>
              </a:rPr>
              <a:t> </a:t>
            </a:r>
            <a:r>
              <a:rPr lang="en" sz="1233" dirty="0">
                <a:highlight>
                  <a:srgbClr val="FFFF00"/>
                </a:highlight>
              </a:rPr>
              <a:t>operator) a new instance of the class is created.</a:t>
            </a:r>
            <a:endParaRPr sz="1233" dirty="0">
              <a:highlight>
                <a:srgbClr val="FFFF00"/>
              </a:highlight>
            </a:endParaRPr>
          </a:p>
          <a:p>
            <a:pPr marL="457200" lvl="0" indent="-319595" algn="l" rtl="0">
              <a:lnSpc>
                <a:spcPct val="100000"/>
              </a:lnSpc>
              <a:spcBef>
                <a:spcPts val="0"/>
              </a:spcBef>
              <a:spcAft>
                <a:spcPts val="0"/>
              </a:spcAft>
              <a:buSzPts val="1433"/>
              <a:buChar char="●"/>
            </a:pPr>
            <a:r>
              <a:rPr lang="en" sz="1433" dirty="0"/>
              <a:t>When the default constructor is used, Java </a:t>
            </a:r>
            <a:r>
              <a:rPr lang="en" sz="1433" dirty="0">
                <a:highlight>
                  <a:srgbClr val="FFFF00"/>
                </a:highlight>
              </a:rPr>
              <a:t>assigns default values to </a:t>
            </a:r>
            <a:r>
              <a:rPr lang="en" sz="1433" b="1" i="1" dirty="0">
                <a:solidFill>
                  <a:srgbClr val="FF0000"/>
                </a:solidFill>
                <a:highlight>
                  <a:srgbClr val="FFFF00"/>
                </a:highlight>
              </a:rPr>
              <a:t>all</a:t>
            </a:r>
            <a:r>
              <a:rPr lang="en" sz="1433" dirty="0">
                <a:highlight>
                  <a:srgbClr val="FFFF00"/>
                </a:highlight>
              </a:rPr>
              <a:t> of the attributes defined by the class.</a:t>
            </a:r>
            <a:endParaRPr sz="1433" dirty="0">
              <a:highlight>
                <a:srgbClr val="FFFF00"/>
              </a:highlight>
            </a:endParaRPr>
          </a:p>
          <a:p>
            <a:pPr marL="914400" lvl="1" indent="-319595" algn="l" rtl="0">
              <a:lnSpc>
                <a:spcPct val="100000"/>
              </a:lnSpc>
              <a:spcBef>
                <a:spcPts val="0"/>
              </a:spcBef>
              <a:spcAft>
                <a:spcPts val="0"/>
              </a:spcAft>
              <a:buSzPts val="1433"/>
              <a:buChar char="○"/>
            </a:pPr>
            <a:r>
              <a:rPr lang="en" sz="1200" dirty="0">
                <a:solidFill>
                  <a:srgbClr val="FF0000"/>
                </a:solidFill>
                <a:highlight>
                  <a:srgbClr val="FFFF00"/>
                </a:highlight>
                <a:latin typeface="Courier New"/>
                <a:ea typeface="Courier New"/>
                <a:cs typeface="Courier New"/>
                <a:sym typeface="Courier New"/>
              </a:rPr>
              <a:t>0</a:t>
            </a:r>
            <a:r>
              <a:rPr lang="en" sz="1200" i="1" dirty="0">
                <a:highlight>
                  <a:srgbClr val="FFFF00"/>
                </a:highlight>
              </a:rPr>
              <a:t> </a:t>
            </a:r>
            <a:r>
              <a:rPr lang="en" sz="1200" dirty="0">
                <a:highlight>
                  <a:srgbClr val="FFFF00"/>
                </a:highlight>
              </a:rPr>
              <a:t>for numerics.</a:t>
            </a:r>
            <a:endParaRPr sz="1200" dirty="0">
              <a:highlight>
                <a:srgbClr val="FFFF00"/>
              </a:highlight>
            </a:endParaRPr>
          </a:p>
          <a:p>
            <a:pPr marL="914400" lvl="1" indent="-319595" algn="l" rtl="0">
              <a:lnSpc>
                <a:spcPct val="100000"/>
              </a:lnSpc>
              <a:spcBef>
                <a:spcPts val="0"/>
              </a:spcBef>
              <a:spcAft>
                <a:spcPts val="0"/>
              </a:spcAft>
              <a:buSzPts val="1433"/>
              <a:buChar char="○"/>
            </a:pPr>
            <a:r>
              <a:rPr lang="en" sz="1200" dirty="0">
                <a:solidFill>
                  <a:srgbClr val="FF0000"/>
                </a:solidFill>
                <a:highlight>
                  <a:srgbClr val="FFFF00"/>
                </a:highlight>
                <a:latin typeface="Courier New"/>
                <a:ea typeface="Courier New"/>
                <a:cs typeface="Courier New"/>
                <a:sym typeface="Courier New"/>
              </a:rPr>
              <a:t>false</a:t>
            </a:r>
            <a:r>
              <a:rPr lang="en" sz="1200" i="1" dirty="0">
                <a:highlight>
                  <a:srgbClr val="FFFF00"/>
                </a:highlight>
              </a:rPr>
              <a:t> </a:t>
            </a:r>
            <a:r>
              <a:rPr lang="en" sz="1200" dirty="0">
                <a:highlight>
                  <a:srgbClr val="FFFF00"/>
                </a:highlight>
              </a:rPr>
              <a:t>for Booleans.</a:t>
            </a:r>
            <a:endParaRPr sz="1200" dirty="0">
              <a:highlight>
                <a:srgbClr val="FFFF00"/>
              </a:highlight>
            </a:endParaRPr>
          </a:p>
          <a:p>
            <a:pPr marL="914400" lvl="1" indent="-319595" algn="l" rtl="0">
              <a:lnSpc>
                <a:spcPct val="100000"/>
              </a:lnSpc>
              <a:spcBef>
                <a:spcPts val="0"/>
              </a:spcBef>
              <a:spcAft>
                <a:spcPts val="0"/>
              </a:spcAft>
              <a:buSzPts val="1433"/>
              <a:buChar char="○"/>
            </a:pPr>
            <a:r>
              <a:rPr lang="en" sz="1200" dirty="0">
                <a:solidFill>
                  <a:srgbClr val="FF0000"/>
                </a:solidFill>
                <a:highlight>
                  <a:srgbClr val="FFFF00"/>
                </a:highlight>
                <a:latin typeface="Courier New"/>
                <a:ea typeface="Courier New"/>
                <a:cs typeface="Courier New"/>
                <a:sym typeface="Courier New"/>
              </a:rPr>
              <a:t>null</a:t>
            </a:r>
            <a:r>
              <a:rPr lang="en" sz="1200" i="1" dirty="0">
                <a:highlight>
                  <a:srgbClr val="FFFF00"/>
                </a:highlight>
              </a:rPr>
              <a:t> </a:t>
            </a:r>
            <a:r>
              <a:rPr lang="en" sz="1200" dirty="0">
                <a:highlight>
                  <a:srgbClr val="FFFF00"/>
                </a:highlight>
              </a:rPr>
              <a:t>for objects.</a:t>
            </a:r>
            <a:endParaRPr sz="1200" dirty="0">
              <a:highlight>
                <a:srgbClr val="FFFF00"/>
              </a:highlight>
            </a:endParaRPr>
          </a:p>
          <a:p>
            <a:pPr marL="457200" lvl="0" indent="-317500" algn="l" rtl="0">
              <a:lnSpc>
                <a:spcPct val="100000"/>
              </a:lnSpc>
              <a:spcBef>
                <a:spcPts val="0"/>
              </a:spcBef>
              <a:spcAft>
                <a:spcPts val="0"/>
              </a:spcAft>
              <a:buSzPts val="1400"/>
              <a:buChar char="●"/>
            </a:pPr>
            <a:r>
              <a:rPr lang="en" sz="1400" dirty="0"/>
              <a:t>This is a significant difference between Python and Java: </a:t>
            </a:r>
            <a:r>
              <a:rPr lang="en" sz="1400" b="1" i="1" dirty="0">
                <a:solidFill>
                  <a:srgbClr val="FF0000"/>
                </a:solidFill>
                <a:highlight>
                  <a:srgbClr val="FFFF00"/>
                </a:highlight>
              </a:rPr>
              <a:t>all</a:t>
            </a:r>
            <a:r>
              <a:rPr lang="en" sz="1400" dirty="0">
                <a:solidFill>
                  <a:srgbClr val="FF0000"/>
                </a:solidFill>
                <a:highlight>
                  <a:srgbClr val="FFFF00"/>
                </a:highlight>
              </a:rPr>
              <a:t> </a:t>
            </a:r>
            <a:r>
              <a:rPr lang="en" sz="1400" dirty="0">
                <a:highlight>
                  <a:srgbClr val="FFFF00"/>
                </a:highlight>
              </a:rPr>
              <a:t>Java objects are guaranteed to assign values to any fields defined by the class whether you write a constructor or not.</a:t>
            </a:r>
            <a:endParaRPr sz="1400" dirty="0">
              <a:highlight>
                <a:srgbClr val="FFFF00"/>
              </a:highlight>
            </a:endParaRPr>
          </a:p>
        </p:txBody>
      </p:sp>
      <p:sp>
        <p:nvSpPr>
          <p:cNvPr id="390" name="Google Shape;390;p58"/>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13</a:t>
            </a:fld>
            <a:endParaRPr/>
          </a:p>
        </p:txBody>
      </p:sp>
      <p:sp>
        <p:nvSpPr>
          <p:cNvPr id="391" name="Google Shape;391;p58"/>
          <p:cNvSpPr txBox="1">
            <a:spLocks noGrp="1"/>
          </p:cNvSpPr>
          <p:nvPr>
            <p:ph type="body" idx="2"/>
          </p:nvPr>
        </p:nvSpPr>
        <p:spPr>
          <a:xfrm>
            <a:off x="5124075" y="1286175"/>
            <a:ext cx="3847200" cy="26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class</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House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numBathrooms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numBedrooms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boolean</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hvac</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exteriorColor</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static</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void</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main</a:t>
            </a:r>
            <a:r>
              <a:rPr lang="en" sz="1200">
                <a:solidFill>
                  <a:srgbClr val="000000"/>
                </a:solidFill>
                <a:highlight>
                  <a:srgbClr val="FFFFFF"/>
                </a:highlight>
                <a:latin typeface="Consolas"/>
                <a:ea typeface="Consolas"/>
                <a:cs typeface="Consolas"/>
                <a:sym typeface="Consolas"/>
              </a:rPr>
              <a:t>(</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args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House</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myHouse</a:t>
            </a:r>
            <a:r>
              <a:rPr lang="en" sz="1200">
                <a:solidFill>
                  <a:srgbClr val="000000"/>
                </a:solidFill>
                <a:highlight>
                  <a:srgbClr val="FFFFFF"/>
                </a:highlight>
                <a:latin typeface="Consolas"/>
                <a:ea typeface="Consolas"/>
                <a:cs typeface="Consolas"/>
                <a:sym typeface="Consolas"/>
              </a:rPr>
              <a:t> = </a:t>
            </a:r>
            <a:r>
              <a:rPr lang="en" sz="1200">
                <a:solidFill>
                  <a:srgbClr val="AF00DB"/>
                </a:solidFill>
                <a:highlight>
                  <a:srgbClr val="FFFFFF"/>
                </a:highlight>
                <a:latin typeface="Consolas"/>
                <a:ea typeface="Consolas"/>
                <a:cs typeface="Consolas"/>
                <a:sym typeface="Consolas"/>
              </a:rPr>
              <a:t>new</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House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sz="1200">
              <a:solidFill>
                <a:srgbClr val="0000FF"/>
              </a:solidFill>
              <a:highlight>
                <a:srgbClr val="FFFFFF"/>
              </a:highlight>
              <a:latin typeface="Consolas"/>
              <a:ea typeface="Consolas"/>
              <a:cs typeface="Consolas"/>
              <a:sym typeface="Consolas"/>
            </a:endParaRPr>
          </a:p>
          <a:p>
            <a:pPr marL="0" lvl="0" indent="0" algn="l" rtl="0">
              <a:spcBef>
                <a:spcPts val="0"/>
              </a:spcBef>
              <a:spcAft>
                <a:spcPts val="1600"/>
              </a:spcAft>
              <a:buNone/>
            </a:pPr>
            <a:endParaRPr sz="1200"/>
          </a:p>
        </p:txBody>
      </p:sp>
      <p:sp>
        <p:nvSpPr>
          <p:cNvPr id="392" name="Google Shape;392;p58"/>
          <p:cNvSpPr txBox="1">
            <a:spLocks noGrp="1"/>
          </p:cNvSpPr>
          <p:nvPr>
            <p:ph type="body" idx="3"/>
          </p:nvPr>
        </p:nvSpPr>
        <p:spPr>
          <a:xfrm>
            <a:off x="5124075" y="773000"/>
            <a:ext cx="3847200" cy="384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Java provides a default constructor for all classes.</a:t>
            </a:r>
            <a:endParaRPr/>
          </a:p>
        </p:txBody>
      </p:sp>
      <p:sp>
        <p:nvSpPr>
          <p:cNvPr id="393" name="Google Shape;393;p58"/>
          <p:cNvSpPr txBox="1">
            <a:spLocks noGrp="1"/>
          </p:cNvSpPr>
          <p:nvPr>
            <p:ph type="body" idx="3"/>
          </p:nvPr>
        </p:nvSpPr>
        <p:spPr>
          <a:xfrm>
            <a:off x="7073500" y="3616025"/>
            <a:ext cx="1790700" cy="46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100"/>
              <a:t>The default constructor creates a House instance</a:t>
            </a:r>
            <a:endParaRPr sz="1100"/>
          </a:p>
        </p:txBody>
      </p:sp>
      <p:sp>
        <p:nvSpPr>
          <p:cNvPr id="394" name="Google Shape;394;p58"/>
          <p:cNvSpPr/>
          <p:nvPr/>
        </p:nvSpPr>
        <p:spPr>
          <a:xfrm>
            <a:off x="7381116" y="3111192"/>
            <a:ext cx="683400" cy="201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5" name="Google Shape;395;p58"/>
          <p:cNvCxnSpPr>
            <a:stCxn id="393" idx="0"/>
            <a:endCxn id="394" idx="2"/>
          </p:cNvCxnSpPr>
          <p:nvPr/>
        </p:nvCxnSpPr>
        <p:spPr>
          <a:xfrm rot="5400000" flipH="1">
            <a:off x="7694050" y="3341225"/>
            <a:ext cx="303600" cy="246000"/>
          </a:xfrm>
          <a:prstGeom prst="bentConnector3">
            <a:avLst>
              <a:gd name="adj1" fmla="val 49989"/>
            </a:avLst>
          </a:prstGeom>
          <a:noFill/>
          <a:ln w="19050" cap="flat" cmpd="sng">
            <a:solidFill>
              <a:srgbClr val="FF0000"/>
            </a:solidFill>
            <a:prstDash val="solid"/>
            <a:round/>
            <a:headEnd type="none" w="med" len="med"/>
            <a:tailEnd type="stealth" w="med" len="med"/>
          </a:ln>
        </p:spPr>
      </p:cxnSp>
      <p:sp>
        <p:nvSpPr>
          <p:cNvPr id="396" name="Google Shape;396;p58"/>
          <p:cNvSpPr txBox="1">
            <a:spLocks noGrp="1"/>
          </p:cNvSpPr>
          <p:nvPr>
            <p:ph type="body" idx="3"/>
          </p:nvPr>
        </p:nvSpPr>
        <p:spPr>
          <a:xfrm>
            <a:off x="5124075" y="4234625"/>
            <a:ext cx="3847200" cy="5850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a:t>Any fields defined  by the class will be assigned default values in the newly created object.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8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8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8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8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8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92"/>
                                        </p:tgtEl>
                                        <p:attrNameLst>
                                          <p:attrName>style.visibility</p:attrName>
                                        </p:attrNameLst>
                                      </p:cBhvr>
                                      <p:to>
                                        <p:strVal val="visible"/>
                                      </p:to>
                                    </p:set>
                                    <p:animEffect transition="in" filter="fade">
                                      <p:cBhvr>
                                        <p:cTn id="51" dur="1000"/>
                                        <p:tgtEl>
                                          <p:spTgt spid="39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94"/>
                                        </p:tgtEl>
                                        <p:attrNameLst>
                                          <p:attrName>style.visibility</p:attrName>
                                        </p:attrNameLst>
                                      </p:cBhvr>
                                      <p:to>
                                        <p:strVal val="visible"/>
                                      </p:to>
                                    </p:set>
                                    <p:animEffect transition="in" filter="fade">
                                      <p:cBhvr>
                                        <p:cTn id="56" dur="1000"/>
                                        <p:tgtEl>
                                          <p:spTgt spid="394"/>
                                        </p:tgtEl>
                                      </p:cBhvr>
                                    </p:animEffect>
                                  </p:childTnLst>
                                </p:cTn>
                              </p:par>
                              <p:par>
                                <p:cTn id="57" presetID="10" presetClass="entr" presetSubtype="0" fill="hold" nodeType="withEffect">
                                  <p:stCondLst>
                                    <p:cond delay="0"/>
                                  </p:stCondLst>
                                  <p:childTnLst>
                                    <p:set>
                                      <p:cBhvr>
                                        <p:cTn id="58" dur="1" fill="hold">
                                          <p:stCondLst>
                                            <p:cond delay="0"/>
                                          </p:stCondLst>
                                        </p:cTn>
                                        <p:tgtEl>
                                          <p:spTgt spid="395"/>
                                        </p:tgtEl>
                                        <p:attrNameLst>
                                          <p:attrName>style.visibility</p:attrName>
                                        </p:attrNameLst>
                                      </p:cBhvr>
                                      <p:to>
                                        <p:strVal val="visible"/>
                                      </p:to>
                                    </p:set>
                                    <p:animEffect transition="in" filter="fade">
                                      <p:cBhvr>
                                        <p:cTn id="59" dur="1000"/>
                                        <p:tgtEl>
                                          <p:spTgt spid="395"/>
                                        </p:tgtEl>
                                      </p:cBhvr>
                                    </p:animEffect>
                                  </p:childTnLst>
                                </p:cTn>
                              </p:par>
                              <p:par>
                                <p:cTn id="60" presetID="10" presetClass="entr" presetSubtype="0" fill="hold" nodeType="withEffect">
                                  <p:stCondLst>
                                    <p:cond delay="0"/>
                                  </p:stCondLst>
                                  <p:childTnLst>
                                    <p:set>
                                      <p:cBhvr>
                                        <p:cTn id="61" dur="1" fill="hold">
                                          <p:stCondLst>
                                            <p:cond delay="0"/>
                                          </p:stCondLst>
                                        </p:cTn>
                                        <p:tgtEl>
                                          <p:spTgt spid="393"/>
                                        </p:tgtEl>
                                        <p:attrNameLst>
                                          <p:attrName>style.visibility</p:attrName>
                                        </p:attrNameLst>
                                      </p:cBhvr>
                                      <p:to>
                                        <p:strVal val="visible"/>
                                      </p:to>
                                    </p:set>
                                    <p:animEffect transition="in" filter="fade">
                                      <p:cBhvr>
                                        <p:cTn id="62" dur="1000"/>
                                        <p:tgtEl>
                                          <p:spTgt spid="393"/>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9"/>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14</a:t>
            </a:fld>
            <a:endParaRPr/>
          </a:p>
        </p:txBody>
      </p:sp>
      <p:sp>
        <p:nvSpPr>
          <p:cNvPr id="402" name="Google Shape;402;p59"/>
          <p:cNvSpPr txBox="1">
            <a:spLocks noGrp="1"/>
          </p:cNvSpPr>
          <p:nvPr>
            <p:ph type="body" idx="1"/>
          </p:nvPr>
        </p:nvSpPr>
        <p:spPr>
          <a:xfrm>
            <a:off x="278475" y="100225"/>
            <a:ext cx="4392000" cy="4849500"/>
          </a:xfrm>
          <a:prstGeom prst="rect">
            <a:avLst/>
          </a:prstGeom>
        </p:spPr>
        <p:txBody>
          <a:bodyPr spcFirstLastPara="1" wrap="square" lIns="91425" tIns="91425" rIns="91425" bIns="91425" anchor="t" anchorCtr="0">
            <a:spAutoFit/>
          </a:bodyPr>
          <a:lstStyle/>
          <a:p>
            <a:pPr marL="457200" lvl="0" indent="-313245" algn="l" rtl="0">
              <a:lnSpc>
                <a:spcPct val="115000"/>
              </a:lnSpc>
              <a:spcBef>
                <a:spcPts val="0"/>
              </a:spcBef>
              <a:spcAft>
                <a:spcPts val="0"/>
              </a:spcAft>
              <a:buSzPts val="1333"/>
              <a:buChar char="●"/>
            </a:pPr>
            <a:r>
              <a:rPr lang="en" sz="1333" dirty="0"/>
              <a:t>While the default constructor is useful, </a:t>
            </a:r>
            <a:r>
              <a:rPr lang="en" sz="1333" dirty="0">
                <a:highlight>
                  <a:srgbClr val="FFFF00"/>
                </a:highlight>
              </a:rPr>
              <a:t>it only assigns default values to the fields in an object when it is created.</a:t>
            </a:r>
            <a:endParaRPr sz="1333" dirty="0">
              <a:highlight>
                <a:srgbClr val="FFFF00"/>
              </a:highlight>
            </a:endParaRPr>
          </a:p>
          <a:p>
            <a:pPr marL="914400" lvl="1" indent="-298450" algn="l" rtl="0">
              <a:lnSpc>
                <a:spcPct val="115000"/>
              </a:lnSpc>
              <a:spcBef>
                <a:spcPts val="0"/>
              </a:spcBef>
              <a:spcAft>
                <a:spcPts val="0"/>
              </a:spcAft>
              <a:buSzPts val="1100"/>
              <a:buChar char="○"/>
            </a:pPr>
            <a:r>
              <a:rPr lang="en" dirty="0">
                <a:highlight>
                  <a:srgbClr val="FFFF00"/>
                </a:highlight>
              </a:rPr>
              <a:t>If we want to assign some other value to each field, we will need to do it manually each time an object is created.</a:t>
            </a:r>
            <a:endParaRPr dirty="0">
              <a:highlight>
                <a:srgbClr val="FFFF00"/>
              </a:highlight>
            </a:endParaRPr>
          </a:p>
          <a:p>
            <a:pPr marL="457200" lvl="0" indent="-298450" algn="l" rtl="0">
              <a:lnSpc>
                <a:spcPct val="115000"/>
              </a:lnSpc>
              <a:spcBef>
                <a:spcPts val="0"/>
              </a:spcBef>
              <a:spcAft>
                <a:spcPts val="0"/>
              </a:spcAft>
              <a:buSzPts val="1100"/>
              <a:buFont typeface="Calibri"/>
              <a:buChar char="●"/>
            </a:pPr>
            <a:r>
              <a:rPr lang="en" sz="1333" dirty="0"/>
              <a:t>In Python, we solved this problem by writing our own </a:t>
            </a:r>
            <a:r>
              <a:rPr lang="en" sz="1333" b="1" i="1" dirty="0">
                <a:solidFill>
                  <a:srgbClr val="FF0000"/>
                </a:solidFill>
                <a:highlight>
                  <a:srgbClr val="FFFF00"/>
                </a:highlight>
              </a:rPr>
              <a:t>initializing</a:t>
            </a:r>
            <a:r>
              <a:rPr lang="en" sz="1333" dirty="0">
                <a:highlight>
                  <a:srgbClr val="FFFF00"/>
                </a:highlight>
              </a:rPr>
              <a:t> </a:t>
            </a:r>
            <a:r>
              <a:rPr lang="en" sz="1333" b="1" i="1" dirty="0">
                <a:solidFill>
                  <a:srgbClr val="FF0000"/>
                </a:solidFill>
                <a:highlight>
                  <a:srgbClr val="FFFF00"/>
                </a:highlight>
              </a:rPr>
              <a:t>constructor</a:t>
            </a:r>
            <a:r>
              <a:rPr lang="en" sz="1333" dirty="0">
                <a:highlight>
                  <a:srgbClr val="FFFF00"/>
                </a:highlight>
              </a:rPr>
              <a:t>.</a:t>
            </a:r>
            <a:endParaRPr sz="1333" dirty="0">
              <a:highlight>
                <a:srgbClr val="FFFF00"/>
              </a:highlight>
            </a:endParaRPr>
          </a:p>
          <a:p>
            <a:pPr marL="914400" lvl="1" indent="-300545" algn="l" rtl="0">
              <a:lnSpc>
                <a:spcPct val="115000"/>
              </a:lnSpc>
              <a:spcBef>
                <a:spcPts val="0"/>
              </a:spcBef>
              <a:spcAft>
                <a:spcPts val="0"/>
              </a:spcAft>
              <a:buSzPts val="1133"/>
              <a:buChar char="○"/>
            </a:pPr>
            <a:r>
              <a:rPr lang="en" sz="1133" dirty="0"/>
              <a:t>We used parameters to the constructor to initialize the fields in the new object.</a:t>
            </a:r>
            <a:endParaRPr sz="1133" dirty="0"/>
          </a:p>
          <a:p>
            <a:pPr marL="457200" lvl="0" indent="-298450" algn="l" rtl="0">
              <a:lnSpc>
                <a:spcPct val="115000"/>
              </a:lnSpc>
              <a:spcBef>
                <a:spcPts val="0"/>
              </a:spcBef>
              <a:spcAft>
                <a:spcPts val="0"/>
              </a:spcAft>
              <a:buSzPts val="1100"/>
              <a:buFont typeface="Calibri"/>
              <a:buChar char="●"/>
            </a:pPr>
            <a:r>
              <a:rPr lang="en" sz="1333" dirty="0"/>
              <a:t>In Java, an initializing constructor should have the following properties:</a:t>
            </a:r>
            <a:endParaRPr sz="1333" dirty="0"/>
          </a:p>
          <a:p>
            <a:pPr marL="914400" lvl="1" indent="-298450" algn="l" rtl="0">
              <a:lnSpc>
                <a:spcPct val="115000"/>
              </a:lnSpc>
              <a:spcBef>
                <a:spcPts val="0"/>
              </a:spcBef>
              <a:spcAft>
                <a:spcPts val="0"/>
              </a:spcAft>
              <a:buSzPts val="1100"/>
              <a:buFont typeface="Calibri"/>
              <a:buChar char="○"/>
            </a:pPr>
            <a:r>
              <a:rPr lang="en" dirty="0"/>
              <a:t>It should have </a:t>
            </a:r>
            <a:r>
              <a:rPr lang="en" b="1" i="1" dirty="0">
                <a:solidFill>
                  <a:srgbClr val="FF0000"/>
                </a:solidFill>
                <a:highlight>
                  <a:srgbClr val="FFFF00"/>
                </a:highlight>
              </a:rPr>
              <a:t>public</a:t>
            </a:r>
            <a:r>
              <a:rPr lang="en" b="1" i="1" dirty="0">
                <a:solidFill>
                  <a:srgbClr val="FF0000"/>
                </a:solidFill>
              </a:rPr>
              <a:t> </a:t>
            </a:r>
            <a:r>
              <a:rPr lang="en" dirty="0"/>
              <a:t>visibility.</a:t>
            </a:r>
            <a:endParaRPr dirty="0"/>
          </a:p>
          <a:p>
            <a:pPr marL="914400" lvl="1" indent="-298450" algn="l" rtl="0">
              <a:lnSpc>
                <a:spcPct val="115000"/>
              </a:lnSpc>
              <a:spcBef>
                <a:spcPts val="0"/>
              </a:spcBef>
              <a:spcAft>
                <a:spcPts val="0"/>
              </a:spcAft>
              <a:buSzPts val="1100"/>
              <a:buFont typeface="Calibri"/>
              <a:buChar char="○"/>
            </a:pPr>
            <a:r>
              <a:rPr lang="en" dirty="0"/>
              <a:t>It should declare </a:t>
            </a:r>
            <a:r>
              <a:rPr lang="en" b="1" i="1" dirty="0">
                <a:solidFill>
                  <a:srgbClr val="FF0000"/>
                </a:solidFill>
                <a:highlight>
                  <a:srgbClr val="FFFF00"/>
                </a:highlight>
              </a:rPr>
              <a:t>no </a:t>
            </a:r>
            <a:r>
              <a:rPr lang="en" dirty="0">
                <a:highlight>
                  <a:srgbClr val="FFFF00"/>
                </a:highlight>
              </a:rPr>
              <a:t>return type (not even void).</a:t>
            </a:r>
            <a:endParaRPr dirty="0">
              <a:highlight>
                <a:srgbClr val="FFFF00"/>
              </a:highlight>
            </a:endParaRPr>
          </a:p>
          <a:p>
            <a:pPr marL="914400" lvl="1" indent="-298450" algn="l" rtl="0">
              <a:lnSpc>
                <a:spcPct val="115000"/>
              </a:lnSpc>
              <a:spcBef>
                <a:spcPts val="0"/>
              </a:spcBef>
              <a:spcAft>
                <a:spcPts val="0"/>
              </a:spcAft>
              <a:buSzPts val="1100"/>
              <a:buFont typeface="Calibri"/>
              <a:buChar char="○"/>
            </a:pPr>
            <a:r>
              <a:rPr lang="en" dirty="0"/>
              <a:t>It should declare a </a:t>
            </a:r>
            <a:r>
              <a:rPr lang="en" b="1" i="1" dirty="0">
                <a:solidFill>
                  <a:srgbClr val="FF0000"/>
                </a:solidFill>
                <a:highlight>
                  <a:srgbClr val="FFFF00"/>
                </a:highlight>
              </a:rPr>
              <a:t>parameter </a:t>
            </a:r>
            <a:r>
              <a:rPr lang="en" dirty="0">
                <a:highlight>
                  <a:srgbClr val="FFFF00"/>
                </a:highlight>
              </a:rPr>
              <a:t>for each field in the class.</a:t>
            </a:r>
            <a:endParaRPr dirty="0">
              <a:highlight>
                <a:srgbClr val="FFFF00"/>
              </a:highlight>
            </a:endParaRPr>
          </a:p>
          <a:p>
            <a:pPr marL="457200" lvl="0" indent="-311150" algn="l" rtl="0">
              <a:lnSpc>
                <a:spcPct val="115000"/>
              </a:lnSpc>
              <a:spcBef>
                <a:spcPts val="0"/>
              </a:spcBef>
              <a:spcAft>
                <a:spcPts val="0"/>
              </a:spcAft>
              <a:buSzPts val="1300"/>
              <a:buFont typeface="Calibri"/>
              <a:buChar char="●"/>
            </a:pPr>
            <a:r>
              <a:rPr lang="en" dirty="0"/>
              <a:t>The keyword </a:t>
            </a:r>
            <a:r>
              <a:rPr lang="en" dirty="0">
                <a:solidFill>
                  <a:srgbClr val="FF0000"/>
                </a:solidFill>
                <a:highlight>
                  <a:srgbClr val="FFFF00"/>
                </a:highlight>
                <a:latin typeface="Courier New"/>
                <a:ea typeface="Courier New"/>
                <a:cs typeface="Courier New"/>
                <a:sym typeface="Courier New"/>
              </a:rPr>
              <a:t>this</a:t>
            </a:r>
            <a:r>
              <a:rPr lang="en" b="1" i="1" dirty="0">
                <a:solidFill>
                  <a:srgbClr val="FF0000"/>
                </a:solidFill>
              </a:rPr>
              <a:t> </a:t>
            </a:r>
            <a:r>
              <a:rPr lang="en" dirty="0"/>
              <a:t>is used by an </a:t>
            </a:r>
            <a:r>
              <a:rPr lang="en" b="1" i="1" dirty="0">
                <a:solidFill>
                  <a:srgbClr val="FF0000"/>
                </a:solidFill>
              </a:rPr>
              <a:t>instance</a:t>
            </a:r>
            <a:r>
              <a:rPr lang="en" dirty="0">
                <a:solidFill>
                  <a:srgbClr val="FF0000"/>
                </a:solidFill>
              </a:rPr>
              <a:t> </a:t>
            </a:r>
            <a:r>
              <a:rPr lang="en" dirty="0"/>
              <a:t>of the class to refer to </a:t>
            </a:r>
            <a:r>
              <a:rPr lang="en" b="1" i="1" dirty="0">
                <a:solidFill>
                  <a:srgbClr val="FF0000"/>
                </a:solidFill>
              </a:rPr>
              <a:t>itself</a:t>
            </a:r>
            <a:r>
              <a:rPr lang="en" dirty="0"/>
              <a:t>.</a:t>
            </a:r>
            <a:endParaRPr dirty="0"/>
          </a:p>
          <a:p>
            <a:pPr marL="914400" lvl="1" indent="-298450" algn="l" rtl="0">
              <a:lnSpc>
                <a:spcPct val="115000"/>
              </a:lnSpc>
              <a:spcBef>
                <a:spcPts val="0"/>
              </a:spcBef>
              <a:spcAft>
                <a:spcPts val="0"/>
              </a:spcAft>
              <a:buSzPts val="1100"/>
              <a:buChar char="○"/>
            </a:pPr>
            <a:r>
              <a:rPr lang="en" dirty="0"/>
              <a:t>It is similar to </a:t>
            </a:r>
            <a:r>
              <a:rPr lang="en" b="1" i="1" dirty="0">
                <a:solidFill>
                  <a:srgbClr val="FF0000"/>
                </a:solidFill>
                <a:highlight>
                  <a:srgbClr val="FFFF00"/>
                </a:highlight>
              </a:rPr>
              <a:t>self </a:t>
            </a:r>
            <a:r>
              <a:rPr lang="en" dirty="0">
                <a:highlight>
                  <a:srgbClr val="FFFF00"/>
                </a:highlight>
              </a:rPr>
              <a:t>in python.</a:t>
            </a:r>
            <a:endParaRPr dirty="0">
              <a:highlight>
                <a:srgbClr val="FFFF00"/>
              </a:highlight>
            </a:endParaRPr>
          </a:p>
          <a:p>
            <a:pPr marL="457200" lvl="0" indent="-311150" algn="l" rtl="0">
              <a:lnSpc>
                <a:spcPct val="115000"/>
              </a:lnSpc>
              <a:spcBef>
                <a:spcPts val="0"/>
              </a:spcBef>
              <a:spcAft>
                <a:spcPts val="0"/>
              </a:spcAft>
              <a:buSzPts val="1300"/>
              <a:buFont typeface="Calibri"/>
              <a:buChar char="●"/>
            </a:pPr>
            <a:r>
              <a:rPr lang="en" dirty="0"/>
              <a:t>In most circumstances it is not needed </a:t>
            </a:r>
            <a:r>
              <a:rPr lang="en" b="1" i="1" dirty="0">
                <a:solidFill>
                  <a:srgbClr val="FF0000"/>
                </a:solidFill>
              </a:rPr>
              <a:t>explicitly</a:t>
            </a:r>
            <a:r>
              <a:rPr lang="en" dirty="0"/>
              <a:t>.</a:t>
            </a:r>
            <a:endParaRPr b="1" i="1" dirty="0">
              <a:solidFill>
                <a:srgbClr val="FF0000"/>
              </a:solidFill>
            </a:endParaRPr>
          </a:p>
          <a:p>
            <a:pPr marL="914400" lvl="1" indent="-298450" algn="l" rtl="0">
              <a:lnSpc>
                <a:spcPct val="115000"/>
              </a:lnSpc>
              <a:spcBef>
                <a:spcPts val="0"/>
              </a:spcBef>
              <a:spcAft>
                <a:spcPts val="0"/>
              </a:spcAft>
              <a:buSzPts val="1100"/>
              <a:buFont typeface="Calibri"/>
              <a:buChar char="○"/>
            </a:pPr>
            <a:r>
              <a:rPr lang="en" dirty="0">
                <a:highlight>
                  <a:srgbClr val="FFFF00"/>
                </a:highlight>
              </a:rPr>
              <a:t>You can use </a:t>
            </a:r>
            <a:r>
              <a:rPr lang="en" dirty="0">
                <a:solidFill>
                  <a:srgbClr val="FF0000"/>
                </a:solidFill>
                <a:highlight>
                  <a:srgbClr val="FFFF00"/>
                </a:highlight>
                <a:latin typeface="Courier New"/>
                <a:ea typeface="Courier New"/>
                <a:cs typeface="Courier New"/>
                <a:sym typeface="Courier New"/>
              </a:rPr>
              <a:t>this</a:t>
            </a:r>
            <a:r>
              <a:rPr lang="en" i="1" dirty="0">
                <a:highlight>
                  <a:srgbClr val="FFFF00"/>
                </a:highlight>
              </a:rPr>
              <a:t> </a:t>
            </a:r>
            <a:r>
              <a:rPr lang="en" dirty="0">
                <a:highlight>
                  <a:srgbClr val="FFFF00"/>
                </a:highlight>
              </a:rPr>
              <a:t>for </a:t>
            </a:r>
            <a:r>
              <a:rPr lang="en" b="1" i="1" dirty="0">
                <a:solidFill>
                  <a:srgbClr val="FF0000"/>
                </a:solidFill>
                <a:highlight>
                  <a:srgbClr val="FFFF00"/>
                </a:highlight>
              </a:rPr>
              <a:t>disambiguating</a:t>
            </a:r>
            <a:r>
              <a:rPr lang="en" i="1" dirty="0">
                <a:solidFill>
                  <a:srgbClr val="FF0000"/>
                </a:solidFill>
                <a:highlight>
                  <a:srgbClr val="FFFF00"/>
                </a:highlight>
              </a:rPr>
              <a:t> </a:t>
            </a:r>
            <a:r>
              <a:rPr lang="en" dirty="0">
                <a:highlight>
                  <a:srgbClr val="FFFF00"/>
                </a:highlight>
              </a:rPr>
              <a:t>between fields and variables with the same name.</a:t>
            </a:r>
            <a:endParaRPr dirty="0">
              <a:highlight>
                <a:srgbClr val="FFFF00"/>
              </a:highlight>
            </a:endParaRPr>
          </a:p>
        </p:txBody>
      </p:sp>
      <p:sp>
        <p:nvSpPr>
          <p:cNvPr id="403" name="Google Shape;403;p59"/>
          <p:cNvSpPr txBox="1">
            <a:spLocks noGrp="1"/>
          </p:cNvSpPr>
          <p:nvPr>
            <p:ph type="title"/>
          </p:nvPr>
        </p:nvSpPr>
        <p:spPr>
          <a:xfrm>
            <a:off x="5133300" y="13777"/>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urier New"/>
                <a:ea typeface="Courier New"/>
                <a:cs typeface="Courier New"/>
                <a:sym typeface="Courier New"/>
              </a:rPr>
              <a:t>this</a:t>
            </a:r>
            <a:r>
              <a:rPr lang="en"/>
              <a:t> vs </a:t>
            </a:r>
            <a:r>
              <a:rPr lang="en">
                <a:latin typeface="Courier New"/>
                <a:ea typeface="Courier New"/>
                <a:cs typeface="Courier New"/>
                <a:sym typeface="Courier New"/>
              </a:rPr>
              <a:t>self</a:t>
            </a:r>
            <a:endParaRPr>
              <a:latin typeface="Courier New"/>
              <a:ea typeface="Courier New"/>
              <a:cs typeface="Courier New"/>
              <a:sym typeface="Courier New"/>
            </a:endParaRPr>
          </a:p>
        </p:txBody>
      </p:sp>
      <p:sp>
        <p:nvSpPr>
          <p:cNvPr id="404" name="Google Shape;404;p59"/>
          <p:cNvSpPr txBox="1">
            <a:spLocks noGrp="1"/>
          </p:cNvSpPr>
          <p:nvPr>
            <p:ph type="body" idx="2"/>
          </p:nvPr>
        </p:nvSpPr>
        <p:spPr>
          <a:xfrm>
            <a:off x="5137000" y="1438575"/>
            <a:ext cx="3706500" cy="26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dirty="0">
                <a:solidFill>
                  <a:srgbClr val="0000FF"/>
                </a:solidFill>
                <a:highlight>
                  <a:srgbClr val="FFFFFF"/>
                </a:highlight>
                <a:latin typeface="Consolas"/>
                <a:ea typeface="Consolas"/>
                <a:cs typeface="Consolas"/>
                <a:sym typeface="Consolas"/>
              </a:rPr>
              <a:t>public</a:t>
            </a: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class</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Pet</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String</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name</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int</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age</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String </a:t>
            </a:r>
            <a:r>
              <a:rPr lang="en" sz="1200" dirty="0">
                <a:solidFill>
                  <a:srgbClr val="001080"/>
                </a:solidFill>
                <a:highlight>
                  <a:srgbClr val="FFFFFF"/>
                </a:highlight>
                <a:latin typeface="Consolas"/>
                <a:ea typeface="Consolas"/>
                <a:cs typeface="Consolas"/>
                <a:sym typeface="Consolas"/>
              </a:rPr>
              <a:t>species</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public</a:t>
            </a:r>
            <a:r>
              <a:rPr lang="en" sz="1200" dirty="0">
                <a:solidFill>
                  <a:srgbClr val="000000"/>
                </a:solidFill>
                <a:highlight>
                  <a:srgbClr val="FFFFFF"/>
                </a:highlight>
                <a:latin typeface="Consolas"/>
                <a:ea typeface="Consolas"/>
                <a:cs typeface="Consolas"/>
                <a:sym typeface="Consolas"/>
              </a:rPr>
              <a:t> </a:t>
            </a:r>
            <a:r>
              <a:rPr lang="en" sz="1200" dirty="0">
                <a:solidFill>
                  <a:srgbClr val="795E26"/>
                </a:solidFill>
                <a:highlight>
                  <a:srgbClr val="FFFFFF"/>
                </a:highlight>
                <a:latin typeface="Consolas"/>
                <a:ea typeface="Consolas"/>
                <a:cs typeface="Consolas"/>
                <a:sym typeface="Consolas"/>
              </a:rPr>
              <a:t>Pet</a:t>
            </a:r>
            <a:r>
              <a:rPr lang="en" sz="1200" dirty="0">
                <a:solidFill>
                  <a:srgbClr val="000000"/>
                </a:solidFill>
                <a:highlight>
                  <a:srgbClr val="FFFFFF"/>
                </a:highlight>
                <a:latin typeface="Consolas"/>
                <a:ea typeface="Consolas"/>
                <a:cs typeface="Consolas"/>
                <a:sym typeface="Consolas"/>
              </a:rPr>
              <a:t>(</a:t>
            </a:r>
            <a:r>
              <a:rPr lang="en" sz="1200" dirty="0">
                <a:solidFill>
                  <a:srgbClr val="267F99"/>
                </a:solidFill>
                <a:highlight>
                  <a:srgbClr val="FFFFFF"/>
                </a:highlight>
                <a:latin typeface="Consolas"/>
                <a:ea typeface="Consolas"/>
                <a:cs typeface="Consolas"/>
                <a:sym typeface="Consolas"/>
              </a:rPr>
              <a:t>String</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name</a:t>
            </a:r>
            <a:r>
              <a:rPr lang="en" sz="1200" dirty="0">
                <a:solidFill>
                  <a:srgbClr val="000000"/>
                </a:solidFill>
                <a:highlight>
                  <a:srgbClr val="FFFFFF"/>
                </a:highlight>
                <a:latin typeface="Consolas"/>
                <a:ea typeface="Consolas"/>
                <a:cs typeface="Consolas"/>
                <a:sym typeface="Consolas"/>
              </a:rPr>
              <a:t>, </a:t>
            </a:r>
            <a:r>
              <a:rPr lang="en" sz="1200" dirty="0">
                <a:solidFill>
                  <a:srgbClr val="267F99"/>
                </a:solidFill>
                <a:highlight>
                  <a:srgbClr val="FFFFFF"/>
                </a:highlight>
                <a:latin typeface="Consolas"/>
                <a:ea typeface="Consolas"/>
                <a:cs typeface="Consolas"/>
                <a:sym typeface="Consolas"/>
              </a:rPr>
              <a:t>int</a:t>
            </a:r>
            <a:r>
              <a:rPr lang="en" sz="1200" dirty="0">
                <a:solidFill>
                  <a:srgbClr val="000000"/>
                </a:solidFill>
                <a:highlight>
                  <a:srgbClr val="FFFFFF"/>
                </a:highlight>
                <a:latin typeface="Consolas"/>
                <a:ea typeface="Consolas"/>
                <a:cs typeface="Consolas"/>
                <a:sym typeface="Consolas"/>
              </a:rPr>
              <a:t> </a:t>
            </a:r>
            <a:r>
              <a:rPr lang="en" sz="1200" dirty="0">
                <a:solidFill>
                  <a:srgbClr val="001080"/>
                </a:solidFill>
                <a:highlight>
                  <a:srgbClr val="FFFFFF"/>
                </a:highlight>
                <a:latin typeface="Consolas"/>
                <a:ea typeface="Consolas"/>
                <a:cs typeface="Consolas"/>
                <a:sym typeface="Consolas"/>
              </a:rPr>
              <a:t>age</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267F99"/>
                </a:solidFill>
                <a:highlight>
                  <a:srgbClr val="FFFFFF"/>
                </a:highlight>
                <a:latin typeface="Consolas"/>
                <a:ea typeface="Consolas"/>
                <a:cs typeface="Consolas"/>
                <a:sym typeface="Consolas"/>
              </a:rPr>
              <a:t>                String </a:t>
            </a:r>
            <a:r>
              <a:rPr lang="en" sz="1200" dirty="0">
                <a:solidFill>
                  <a:srgbClr val="001080"/>
                </a:solidFill>
                <a:highlight>
                  <a:srgbClr val="FFFFFF"/>
                </a:highlight>
                <a:latin typeface="Consolas"/>
                <a:ea typeface="Consolas"/>
                <a:cs typeface="Consolas"/>
                <a:sym typeface="Consolas"/>
              </a:rPr>
              <a:t>species</a:t>
            </a: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this</a:t>
            </a:r>
            <a:r>
              <a:rPr lang="en" sz="1200" dirty="0">
                <a:solidFill>
                  <a:srgbClr val="000000"/>
                </a:solidFill>
                <a:highlight>
                  <a:srgbClr val="FFFFFF"/>
                </a:highlight>
                <a:latin typeface="Consolas"/>
                <a:ea typeface="Consolas"/>
                <a:cs typeface="Consolas"/>
                <a:sym typeface="Consolas"/>
              </a:rPr>
              <a:t>.</a:t>
            </a:r>
            <a:r>
              <a:rPr lang="en" sz="1200" dirty="0">
                <a:solidFill>
                  <a:srgbClr val="001080"/>
                </a:solidFill>
                <a:highlight>
                  <a:srgbClr val="FFFFFF"/>
                </a:highlight>
                <a:latin typeface="Consolas"/>
                <a:ea typeface="Consolas"/>
                <a:cs typeface="Consolas"/>
                <a:sym typeface="Consolas"/>
              </a:rPr>
              <a:t>age</a:t>
            </a:r>
            <a:r>
              <a:rPr lang="en" sz="1200" dirty="0">
                <a:solidFill>
                  <a:srgbClr val="000000"/>
                </a:solidFill>
                <a:highlight>
                  <a:srgbClr val="FFFFFF"/>
                </a:highlight>
                <a:latin typeface="Consolas"/>
                <a:ea typeface="Consolas"/>
                <a:cs typeface="Consolas"/>
                <a:sym typeface="Consolas"/>
              </a:rPr>
              <a:t> = </a:t>
            </a:r>
            <a:r>
              <a:rPr lang="en" sz="1200" dirty="0">
                <a:solidFill>
                  <a:srgbClr val="001080"/>
                </a:solidFill>
                <a:highlight>
                  <a:srgbClr val="FFFFFF"/>
                </a:highlight>
                <a:latin typeface="Consolas"/>
                <a:ea typeface="Consolas"/>
                <a:cs typeface="Consolas"/>
                <a:sym typeface="Consolas"/>
              </a:rPr>
              <a:t>age</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this</a:t>
            </a:r>
            <a:r>
              <a:rPr lang="en" sz="1200" dirty="0">
                <a:solidFill>
                  <a:srgbClr val="000000"/>
                </a:solidFill>
                <a:highlight>
                  <a:srgbClr val="FFFFFF"/>
                </a:highlight>
                <a:latin typeface="Consolas"/>
                <a:ea typeface="Consolas"/>
                <a:cs typeface="Consolas"/>
                <a:sym typeface="Consolas"/>
              </a:rPr>
              <a:t>.</a:t>
            </a:r>
            <a:r>
              <a:rPr lang="en" sz="1200" dirty="0">
                <a:solidFill>
                  <a:srgbClr val="001080"/>
                </a:solidFill>
                <a:highlight>
                  <a:srgbClr val="FFFFFF"/>
                </a:highlight>
                <a:latin typeface="Consolas"/>
                <a:ea typeface="Consolas"/>
                <a:cs typeface="Consolas"/>
                <a:sym typeface="Consolas"/>
              </a:rPr>
              <a:t>name</a:t>
            </a:r>
            <a:r>
              <a:rPr lang="en" sz="1200" dirty="0">
                <a:solidFill>
                  <a:srgbClr val="000000"/>
                </a:solidFill>
                <a:highlight>
                  <a:srgbClr val="FFFFFF"/>
                </a:highlight>
                <a:latin typeface="Consolas"/>
                <a:ea typeface="Consolas"/>
                <a:cs typeface="Consolas"/>
                <a:sym typeface="Consolas"/>
              </a:rPr>
              <a:t> = </a:t>
            </a:r>
            <a:r>
              <a:rPr lang="en" sz="1200" dirty="0">
                <a:solidFill>
                  <a:srgbClr val="001080"/>
                </a:solidFill>
                <a:highlight>
                  <a:srgbClr val="FFFFFF"/>
                </a:highlight>
                <a:latin typeface="Consolas"/>
                <a:ea typeface="Consolas"/>
                <a:cs typeface="Consolas"/>
                <a:sym typeface="Consolas"/>
              </a:rPr>
              <a:t>name</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r>
              <a:rPr lang="en" sz="1200" dirty="0">
                <a:solidFill>
                  <a:srgbClr val="0000FF"/>
                </a:solidFill>
                <a:highlight>
                  <a:srgbClr val="FFFFFF"/>
                </a:highlight>
                <a:latin typeface="Consolas"/>
                <a:ea typeface="Consolas"/>
                <a:cs typeface="Consolas"/>
                <a:sym typeface="Consolas"/>
              </a:rPr>
              <a:t>this</a:t>
            </a:r>
            <a:r>
              <a:rPr lang="en" sz="1200" dirty="0">
                <a:solidFill>
                  <a:srgbClr val="000000"/>
                </a:solidFill>
                <a:highlight>
                  <a:srgbClr val="FFFFFF"/>
                </a:highlight>
                <a:latin typeface="Consolas"/>
                <a:ea typeface="Consolas"/>
                <a:cs typeface="Consolas"/>
                <a:sym typeface="Consolas"/>
              </a:rPr>
              <a:t>.</a:t>
            </a:r>
            <a:r>
              <a:rPr lang="en" sz="1200" dirty="0">
                <a:solidFill>
                  <a:srgbClr val="001080"/>
                </a:solidFill>
                <a:highlight>
                  <a:srgbClr val="FFFFFF"/>
                </a:highlight>
                <a:latin typeface="Consolas"/>
                <a:ea typeface="Consolas"/>
                <a:cs typeface="Consolas"/>
                <a:sym typeface="Consolas"/>
              </a:rPr>
              <a:t>species</a:t>
            </a:r>
            <a:r>
              <a:rPr lang="en" sz="1200" dirty="0">
                <a:solidFill>
                  <a:srgbClr val="000000"/>
                </a:solidFill>
                <a:highlight>
                  <a:srgbClr val="FFFFFF"/>
                </a:highlight>
                <a:latin typeface="Consolas"/>
                <a:ea typeface="Consolas"/>
                <a:cs typeface="Consolas"/>
                <a:sym typeface="Consolas"/>
              </a:rPr>
              <a:t> = </a:t>
            </a:r>
            <a:r>
              <a:rPr lang="en" sz="1200" dirty="0">
                <a:solidFill>
                  <a:srgbClr val="001080"/>
                </a:solidFill>
                <a:highlight>
                  <a:srgbClr val="FFFFFF"/>
                </a:highlight>
                <a:latin typeface="Consolas"/>
                <a:ea typeface="Consolas"/>
                <a:cs typeface="Consolas"/>
                <a:sym typeface="Consolas"/>
              </a:rPr>
              <a:t>species</a:t>
            </a:r>
            <a:r>
              <a:rPr lang="en" sz="1200" dirty="0">
                <a:solidFill>
                  <a:srgbClr val="000000"/>
                </a:solidFill>
                <a:highlight>
                  <a:srgbClr val="FFFFFF"/>
                </a:highlight>
                <a:latin typeface="Consolas"/>
                <a:ea typeface="Consolas"/>
                <a:cs typeface="Consolas"/>
                <a:sym typeface="Consolas"/>
              </a:rPr>
              <a:t>;</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    }</a:t>
            </a:r>
            <a:endParaRPr sz="1200" dirty="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dirty="0">
                <a:solidFill>
                  <a:srgbClr val="000000"/>
                </a:solidFill>
                <a:highlight>
                  <a:srgbClr val="FFFFFF"/>
                </a:highlight>
                <a:latin typeface="Consolas"/>
                <a:ea typeface="Consolas"/>
                <a:cs typeface="Consolas"/>
                <a:sym typeface="Consolas"/>
              </a:rPr>
              <a:t>}</a:t>
            </a:r>
            <a:endParaRPr dirty="0"/>
          </a:p>
        </p:txBody>
      </p:sp>
      <p:sp>
        <p:nvSpPr>
          <p:cNvPr id="405" name="Google Shape;405;p59"/>
          <p:cNvSpPr txBox="1">
            <a:spLocks noGrp="1"/>
          </p:cNvSpPr>
          <p:nvPr>
            <p:ph type="body" idx="3"/>
          </p:nvPr>
        </p:nvSpPr>
        <p:spPr>
          <a:xfrm>
            <a:off x="5137000" y="59082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It is considered good programming style to name constructor parameters the same as the fields that they are being used to initialize.</a:t>
            </a:r>
            <a:endParaRPr sz="1200"/>
          </a:p>
        </p:txBody>
      </p:sp>
      <p:grpSp>
        <p:nvGrpSpPr>
          <p:cNvPr id="406" name="Google Shape;406;p59"/>
          <p:cNvGrpSpPr/>
          <p:nvPr/>
        </p:nvGrpSpPr>
        <p:grpSpPr>
          <a:xfrm>
            <a:off x="5532875" y="2987275"/>
            <a:ext cx="1077900" cy="1355100"/>
            <a:chOff x="5532875" y="2987275"/>
            <a:chExt cx="1077900" cy="1355100"/>
          </a:xfrm>
        </p:grpSpPr>
        <p:sp>
          <p:nvSpPr>
            <p:cNvPr id="407" name="Google Shape;407;p59"/>
            <p:cNvSpPr/>
            <p:nvPr/>
          </p:nvSpPr>
          <p:spPr>
            <a:xfrm>
              <a:off x="5839775" y="2987275"/>
              <a:ext cx="771000" cy="21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8" name="Google Shape;408;p59"/>
            <p:cNvCxnSpPr>
              <a:stCxn id="407" idx="1"/>
            </p:cNvCxnSpPr>
            <p:nvPr/>
          </p:nvCxnSpPr>
          <p:spPr>
            <a:xfrm flipH="1">
              <a:off x="5532875" y="3095875"/>
              <a:ext cx="306900" cy="1246500"/>
            </a:xfrm>
            <a:prstGeom prst="bentConnector2">
              <a:avLst/>
            </a:prstGeom>
            <a:noFill/>
            <a:ln w="19050" cap="flat" cmpd="sng">
              <a:solidFill>
                <a:srgbClr val="FF0000"/>
              </a:solidFill>
              <a:prstDash val="solid"/>
              <a:round/>
              <a:headEnd type="none" w="med" len="med"/>
              <a:tailEnd type="none" w="med" len="med"/>
            </a:ln>
          </p:spPr>
        </p:cxnSp>
      </p:grpSp>
      <p:grpSp>
        <p:nvGrpSpPr>
          <p:cNvPr id="409" name="Google Shape;409;p59"/>
          <p:cNvGrpSpPr/>
          <p:nvPr/>
        </p:nvGrpSpPr>
        <p:grpSpPr>
          <a:xfrm>
            <a:off x="6785452" y="2987275"/>
            <a:ext cx="1263649" cy="1295100"/>
            <a:chOff x="6785445" y="2987275"/>
            <a:chExt cx="578700" cy="1295100"/>
          </a:xfrm>
        </p:grpSpPr>
        <p:sp>
          <p:nvSpPr>
            <p:cNvPr id="410" name="Google Shape;410;p59"/>
            <p:cNvSpPr/>
            <p:nvPr/>
          </p:nvSpPr>
          <p:spPr>
            <a:xfrm>
              <a:off x="6785445" y="2987275"/>
              <a:ext cx="189300" cy="21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1" name="Google Shape;411;p59"/>
            <p:cNvCxnSpPr>
              <a:stCxn id="410" idx="3"/>
            </p:cNvCxnSpPr>
            <p:nvPr/>
          </p:nvCxnSpPr>
          <p:spPr>
            <a:xfrm>
              <a:off x="6974745" y="3095875"/>
              <a:ext cx="389400" cy="1186500"/>
            </a:xfrm>
            <a:prstGeom prst="bentConnector2">
              <a:avLst/>
            </a:prstGeom>
            <a:noFill/>
            <a:ln w="19050" cap="flat" cmpd="sng">
              <a:solidFill>
                <a:srgbClr val="FF0000"/>
              </a:solidFill>
              <a:prstDash val="solid"/>
              <a:round/>
              <a:headEnd type="none" w="med" len="med"/>
              <a:tailEnd type="none" w="med" len="med"/>
            </a:ln>
          </p:spPr>
        </p:cxnSp>
      </p:grpSp>
      <p:sp>
        <p:nvSpPr>
          <p:cNvPr id="412" name="Google Shape;412;p59"/>
          <p:cNvSpPr txBox="1">
            <a:spLocks noGrp="1"/>
          </p:cNvSpPr>
          <p:nvPr>
            <p:ph type="body" idx="3"/>
          </p:nvPr>
        </p:nvSpPr>
        <p:spPr>
          <a:xfrm>
            <a:off x="5137000" y="424472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solidFill>
                  <a:srgbClr val="FF0000"/>
                </a:solidFill>
                <a:highlight>
                  <a:srgbClr val="FFFF00"/>
                </a:highlight>
                <a:latin typeface="Courier New"/>
                <a:ea typeface="Courier New"/>
                <a:cs typeface="Courier New"/>
                <a:sym typeface="Courier New"/>
              </a:rPr>
              <a:t>this</a:t>
            </a:r>
            <a:r>
              <a:rPr lang="en" sz="1200" dirty="0">
                <a:solidFill>
                  <a:srgbClr val="FF0000"/>
                </a:solidFill>
                <a:highlight>
                  <a:srgbClr val="FFFF00"/>
                </a:highlight>
              </a:rPr>
              <a:t> </a:t>
            </a:r>
            <a:r>
              <a:rPr lang="en" sz="1200" dirty="0">
                <a:highlight>
                  <a:srgbClr val="FFFF00"/>
                </a:highlight>
              </a:rPr>
              <a:t>is used to differentiate between the fields in the new object and the parameters with the same name.</a:t>
            </a:r>
            <a:endParaRPr sz="1200" dirty="0">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0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0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0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05"/>
                                        </p:tgtEl>
                                        <p:attrNameLst>
                                          <p:attrName>style.visibility</p:attrName>
                                        </p:attrNameLst>
                                      </p:cBhvr>
                                      <p:to>
                                        <p:strVal val="visible"/>
                                      </p:to>
                                    </p:set>
                                    <p:animEffect transition="in" filter="fade">
                                      <p:cBhvr>
                                        <p:cTn id="55" dur="1000"/>
                                        <p:tgtEl>
                                          <p:spTgt spid="405"/>
                                        </p:tgtEl>
                                      </p:cBhvr>
                                    </p:animEffect>
                                  </p:childTnLst>
                                </p:cTn>
                              </p:par>
                              <p:par>
                                <p:cTn id="56" presetID="10" presetClass="entr" presetSubtype="0" fill="hold" nodeType="withEffect">
                                  <p:stCondLst>
                                    <p:cond delay="0"/>
                                  </p:stCondLst>
                                  <p:childTnLst>
                                    <p:set>
                                      <p:cBhvr>
                                        <p:cTn id="57" dur="1" fill="hold">
                                          <p:stCondLst>
                                            <p:cond delay="0"/>
                                          </p:stCondLst>
                                        </p:cTn>
                                        <p:tgtEl>
                                          <p:spTgt spid="404"/>
                                        </p:tgtEl>
                                        <p:attrNameLst>
                                          <p:attrName>style.visibility</p:attrName>
                                        </p:attrNameLst>
                                      </p:cBhvr>
                                      <p:to>
                                        <p:strVal val="visible"/>
                                      </p:to>
                                    </p:set>
                                    <p:animEffect transition="in" filter="fade">
                                      <p:cBhvr>
                                        <p:cTn id="58" dur="1000"/>
                                        <p:tgtEl>
                                          <p:spTgt spid="40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12"/>
                                        </p:tgtEl>
                                        <p:attrNameLst>
                                          <p:attrName>style.visibility</p:attrName>
                                        </p:attrNameLst>
                                      </p:cBhvr>
                                      <p:to>
                                        <p:strVal val="visible"/>
                                      </p:to>
                                    </p:set>
                                    <p:animEffect transition="in" filter="fade">
                                      <p:cBhvr>
                                        <p:cTn id="63" dur="1000"/>
                                        <p:tgtEl>
                                          <p:spTgt spid="412"/>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406"/>
                                        </p:tgtEl>
                                        <p:attrNameLst>
                                          <p:attrName>style.visibility</p:attrName>
                                        </p:attrNameLst>
                                      </p:cBhvr>
                                      <p:to>
                                        <p:strVal val="visible"/>
                                      </p:to>
                                    </p:set>
                                    <p:animEffect transition="in" filter="fade">
                                      <p:cBhvr>
                                        <p:cTn id="67" dur="1000"/>
                                        <p:tgtEl>
                                          <p:spTgt spid="406"/>
                                        </p:tgtEl>
                                      </p:cBhvr>
                                    </p:animEffect>
                                  </p:childTnLst>
                                </p:cTn>
                              </p:par>
                              <p:par>
                                <p:cTn id="68" presetID="10" presetClass="entr" presetSubtype="0" fill="hold" nodeType="withEffect">
                                  <p:stCondLst>
                                    <p:cond delay="0"/>
                                  </p:stCondLst>
                                  <p:childTnLst>
                                    <p:set>
                                      <p:cBhvr>
                                        <p:cTn id="69" dur="1" fill="hold">
                                          <p:stCondLst>
                                            <p:cond delay="0"/>
                                          </p:stCondLst>
                                        </p:cTn>
                                        <p:tgtEl>
                                          <p:spTgt spid="409"/>
                                        </p:tgtEl>
                                        <p:attrNameLst>
                                          <p:attrName>style.visibility</p:attrName>
                                        </p:attrNameLst>
                                      </p:cBhvr>
                                      <p:to>
                                        <p:strVal val="visible"/>
                                      </p:to>
                                    </p:set>
                                    <p:animEffect transition="in" filter="fade">
                                      <p:cBhvr>
                                        <p:cTn id="70" dur="1000"/>
                                        <p:tgtEl>
                                          <p:spTgt spid="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pic>
        <p:nvPicPr>
          <p:cNvPr id="417" name="Google Shape;417;p60"/>
          <p:cNvPicPr preferRelativeResize="0"/>
          <p:nvPr/>
        </p:nvPicPr>
        <p:blipFill>
          <a:blip r:embed="rId3">
            <a:alphaModFix/>
          </a:blip>
          <a:stretch>
            <a:fillRect/>
          </a:stretch>
        </p:blipFill>
        <p:spPr>
          <a:xfrm rot="-765610">
            <a:off x="449225" y="787878"/>
            <a:ext cx="7060149" cy="1793925"/>
          </a:xfrm>
          <a:prstGeom prst="rect">
            <a:avLst/>
          </a:prstGeom>
          <a:noFill/>
          <a:ln>
            <a:noFill/>
          </a:ln>
        </p:spPr>
      </p:pic>
      <p:sp>
        <p:nvSpPr>
          <p:cNvPr id="418" name="Google Shape;41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sp>
        <p:nvSpPr>
          <p:cNvPr id="419" name="Google Shape;419;p60"/>
          <p:cNvSpPr/>
          <p:nvPr/>
        </p:nvSpPr>
        <p:spPr>
          <a:xfrm>
            <a:off x="539700" y="2876850"/>
            <a:ext cx="2559300" cy="1008600"/>
          </a:xfrm>
          <a:prstGeom prst="wedgeRoundRectCallout">
            <a:avLst>
              <a:gd name="adj1" fmla="val 56459"/>
              <a:gd name="adj2" fmla="val 32210"/>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a:t>Whenever you see this image, it's a reminder to check your PROBLEMS tab.</a:t>
            </a:r>
            <a:endParaRPr sz="1500"/>
          </a:p>
        </p:txBody>
      </p:sp>
      <p:sp>
        <p:nvSpPr>
          <p:cNvPr id="420" name="Google Shape;420;p60"/>
          <p:cNvSpPr/>
          <p:nvPr/>
        </p:nvSpPr>
        <p:spPr>
          <a:xfrm>
            <a:off x="5602300" y="1933650"/>
            <a:ext cx="2828100" cy="1008600"/>
          </a:xfrm>
          <a:prstGeom prst="wedgeRoundRectCallout">
            <a:avLst>
              <a:gd name="adj1" fmla="val -45574"/>
              <a:gd name="adj2" fmla="val 75991"/>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If VSCode has identified any problems, try to fix them. If you're not sure how, raise your hand and ask for help!</a:t>
            </a:r>
            <a:endParaRPr/>
          </a:p>
        </p:txBody>
      </p:sp>
      <p:pic>
        <p:nvPicPr>
          <p:cNvPr id="421" name="Google Shape;421;p60"/>
          <p:cNvPicPr preferRelativeResize="0"/>
          <p:nvPr/>
        </p:nvPicPr>
        <p:blipFill>
          <a:blip r:embed="rId4">
            <a:alphaModFix/>
          </a:blip>
          <a:stretch>
            <a:fillRect/>
          </a:stretch>
        </p:blipFill>
        <p:spPr>
          <a:xfrm flipH="1">
            <a:off x="3231514" y="2601712"/>
            <a:ext cx="2437860" cy="2424974"/>
          </a:xfrm>
          <a:prstGeom prst="rect">
            <a:avLst/>
          </a:prstGeom>
          <a:noFill/>
          <a:ln>
            <a:noFill/>
          </a:ln>
        </p:spPr>
      </p:pic>
      <p:sp>
        <p:nvSpPr>
          <p:cNvPr id="422" name="Google Shape;422;p60"/>
          <p:cNvSpPr/>
          <p:nvPr/>
        </p:nvSpPr>
        <p:spPr>
          <a:xfrm>
            <a:off x="5669375" y="3404175"/>
            <a:ext cx="2828100" cy="1008600"/>
          </a:xfrm>
          <a:prstGeom prst="wedgeRoundRectCallout">
            <a:avLst>
              <a:gd name="adj1" fmla="val -69654"/>
              <a:gd name="adj2" fmla="val 21495"/>
              <a:gd name="adj3" fmla="val 0"/>
            </a:avLst>
          </a:prstGeom>
          <a:solidFill>
            <a:srgbClr val="FFFFFF"/>
          </a:solidFill>
          <a:ln w="19050"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And remember: it's not about </a:t>
            </a:r>
            <a:r>
              <a:rPr lang="en" i="1"/>
              <a:t>avoiding</a:t>
            </a:r>
            <a:r>
              <a:rPr lang="en"/>
              <a:t> making mistakes. It's about learning how to fix them as we make them.</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9"/>
                                        </p:tgtEl>
                                        <p:attrNameLst>
                                          <p:attrName>style.visibility</p:attrName>
                                        </p:attrNameLst>
                                      </p:cBhvr>
                                      <p:to>
                                        <p:strVal val="visible"/>
                                      </p:to>
                                    </p:set>
                                    <p:animEffect transition="in" filter="fade">
                                      <p:cBhvr>
                                        <p:cTn id="7" dur="1000"/>
                                        <p:tgtEl>
                                          <p:spTgt spid="4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20"/>
                                        </p:tgtEl>
                                        <p:attrNameLst>
                                          <p:attrName>style.visibility</p:attrName>
                                        </p:attrNameLst>
                                      </p:cBhvr>
                                      <p:to>
                                        <p:strVal val="visible"/>
                                      </p:to>
                                    </p:set>
                                    <p:animEffect transition="in" filter="fade">
                                      <p:cBhvr>
                                        <p:cTn id="12" dur="1000"/>
                                        <p:tgtEl>
                                          <p:spTgt spid="4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22"/>
                                        </p:tgtEl>
                                        <p:attrNameLst>
                                          <p:attrName>style.visibility</p:attrName>
                                        </p:attrNameLst>
                                      </p:cBhvr>
                                      <p:to>
                                        <p:strVal val="visible"/>
                                      </p:to>
                                    </p:set>
                                    <p:animEffect transition="in" filter="fade">
                                      <p:cBhvr>
                                        <p:cTn id="17" dur="1000"/>
                                        <p:tgtEl>
                                          <p:spTgt spid="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61"/>
          <p:cNvSpPr txBox="1">
            <a:spLocks noGrp="1"/>
          </p:cNvSpPr>
          <p:nvPr>
            <p:ph type="body" idx="1"/>
          </p:nvPr>
        </p:nvSpPr>
        <p:spPr>
          <a:xfrm>
            <a:off x="65250" y="731625"/>
            <a:ext cx="8955900" cy="15639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Java's default constructor will assign default values to any fields defined by the class when a new object is created which avoids a lot of the problems that we ran into when working with Python classes and objects. Unfortunately, the default values are not always very useful. Let's add an initializing constructor to the Weapon class that declares parameters for each of the fields in the class.</a:t>
            </a:r>
            <a:endParaRPr/>
          </a:p>
        </p:txBody>
      </p:sp>
      <p:sp>
        <p:nvSpPr>
          <p:cNvPr id="428" name="Google Shape;428;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sp>
        <p:nvSpPr>
          <p:cNvPr id="429" name="Google Shape;429;p61"/>
          <p:cNvSpPr txBox="1">
            <a:spLocks noGrp="1"/>
          </p:cNvSpPr>
          <p:nvPr>
            <p:ph type="body" idx="2"/>
          </p:nvPr>
        </p:nvSpPr>
        <p:spPr>
          <a:xfrm>
            <a:off x="3458950" y="2165525"/>
            <a:ext cx="5482200" cy="2591448"/>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Weapon</a:t>
            </a:r>
            <a:r>
              <a:rPr lang="en" sz="1500" dirty="0"/>
              <a:t> class and define a new constructor.</a:t>
            </a:r>
            <a:endParaRPr sz="1500" dirty="0"/>
          </a:p>
          <a:p>
            <a:pPr marL="914400" lvl="1" indent="-311150" algn="l" rtl="0">
              <a:spcBef>
                <a:spcPts val="0"/>
              </a:spcBef>
              <a:spcAft>
                <a:spcPts val="0"/>
              </a:spcAft>
              <a:buSzPts val="1300"/>
              <a:buChar char="○"/>
            </a:pPr>
            <a:r>
              <a:rPr lang="en" sz="1300" dirty="0"/>
              <a:t>It should have the same name as the class.</a:t>
            </a:r>
            <a:endParaRPr sz="1300" dirty="0"/>
          </a:p>
          <a:p>
            <a:pPr marL="914400" lvl="1" indent="-311150" algn="l" rtl="0">
              <a:spcBef>
                <a:spcPts val="0"/>
              </a:spcBef>
              <a:spcAft>
                <a:spcPts val="0"/>
              </a:spcAft>
              <a:buSzPts val="1300"/>
              <a:buChar char="○"/>
            </a:pPr>
            <a:r>
              <a:rPr lang="en" sz="1300" dirty="0">
                <a:highlight>
                  <a:srgbClr val="FFFF00"/>
                </a:highlight>
              </a:rPr>
              <a:t>It should declare a parameter for each field. The parameters should be named the same as the field that they are initializing!</a:t>
            </a:r>
            <a:endParaRPr sz="1300" dirty="0">
              <a:highlight>
                <a:srgbClr val="FFFF00"/>
              </a:highlight>
            </a:endParaRPr>
          </a:p>
          <a:p>
            <a:pPr marL="914400" lvl="1" indent="-311150" algn="l" rtl="0">
              <a:spcBef>
                <a:spcPts val="0"/>
              </a:spcBef>
              <a:spcAft>
                <a:spcPts val="0"/>
              </a:spcAft>
              <a:buSzPts val="1300"/>
              <a:buChar char="○"/>
            </a:pPr>
            <a:r>
              <a:rPr lang="en" sz="1300" dirty="0">
                <a:highlight>
                  <a:srgbClr val="FFFF00"/>
                </a:highlight>
              </a:rPr>
              <a:t>It should not declare a return type.</a:t>
            </a:r>
            <a:endParaRPr sz="1300" dirty="0">
              <a:highlight>
                <a:srgbClr val="FFFF00"/>
              </a:highlight>
            </a:endParaRPr>
          </a:p>
          <a:p>
            <a:pPr marL="457200" lvl="0" indent="-323850" algn="l" rtl="0">
              <a:spcBef>
                <a:spcPts val="0"/>
              </a:spcBef>
              <a:spcAft>
                <a:spcPts val="0"/>
              </a:spcAft>
              <a:buSzPts val="1500"/>
              <a:buChar char="●"/>
            </a:pPr>
            <a:r>
              <a:rPr lang="en" sz="1500" dirty="0"/>
              <a:t>What happens when you try to run the </a:t>
            </a:r>
            <a:r>
              <a:rPr lang="en" sz="1500" dirty="0">
                <a:latin typeface="Courier New"/>
                <a:ea typeface="Courier New"/>
                <a:cs typeface="Courier New"/>
                <a:sym typeface="Courier New"/>
              </a:rPr>
              <a:t>StarWarsBattle</a:t>
            </a:r>
            <a:r>
              <a:rPr lang="en" sz="1500" dirty="0"/>
              <a:t> class now?</a:t>
            </a:r>
            <a:endParaRPr sz="1500" dirty="0"/>
          </a:p>
          <a:p>
            <a:pPr marL="914400" lvl="1" indent="-311150" algn="l" rtl="0">
              <a:spcBef>
                <a:spcPts val="0"/>
              </a:spcBef>
              <a:spcAft>
                <a:spcPts val="0"/>
              </a:spcAft>
              <a:buSzPts val="1300"/>
              <a:buChar char="○"/>
            </a:pPr>
            <a:r>
              <a:rPr lang="en" sz="1300" dirty="0"/>
              <a:t>If any errors have occurred, do you know </a:t>
            </a:r>
            <a:r>
              <a:rPr lang="en" sz="1300" i="1" dirty="0"/>
              <a:t>why</a:t>
            </a:r>
            <a:r>
              <a:rPr lang="en" sz="1300" dirty="0"/>
              <a:t>?</a:t>
            </a:r>
            <a:endParaRPr sz="1300" dirty="0"/>
          </a:p>
          <a:p>
            <a:pPr marL="914400" lvl="1" indent="-311150" algn="l" rtl="0">
              <a:spcBef>
                <a:spcPts val="0"/>
              </a:spcBef>
              <a:spcAft>
                <a:spcPts val="0"/>
              </a:spcAft>
              <a:buSzPts val="1300"/>
              <a:buChar char="○"/>
            </a:pPr>
            <a:r>
              <a:rPr lang="en" sz="1300" dirty="0"/>
              <a:t>Can you fix them? If not, raise your hand!</a:t>
            </a:r>
            <a:endParaRPr sz="1300" dirty="0"/>
          </a:p>
        </p:txBody>
      </p:sp>
      <p:sp>
        <p:nvSpPr>
          <p:cNvPr id="430" name="Google Shape;430;p6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Initializing Constructors</a:t>
            </a:r>
            <a:endParaRPr/>
          </a:p>
        </p:txBody>
      </p:sp>
      <p:sp>
        <p:nvSpPr>
          <p:cNvPr id="431" name="Google Shape;431;p6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2.4</a:t>
            </a:r>
            <a:endParaRPr/>
          </a:p>
        </p:txBody>
      </p:sp>
      <p:pic>
        <p:nvPicPr>
          <p:cNvPr id="432" name="Google Shape;432;p61"/>
          <p:cNvPicPr preferRelativeResize="0"/>
          <p:nvPr/>
        </p:nvPicPr>
        <p:blipFill>
          <a:blip r:embed="rId3">
            <a:alphaModFix/>
          </a:blip>
          <a:stretch>
            <a:fillRect/>
          </a:stretch>
        </p:blipFill>
        <p:spPr>
          <a:xfrm>
            <a:off x="7135025" y="87075"/>
            <a:ext cx="1886124" cy="483300"/>
          </a:xfrm>
          <a:prstGeom prst="rect">
            <a:avLst/>
          </a:prstGeom>
          <a:noFill/>
          <a:ln>
            <a:noFill/>
          </a:ln>
        </p:spPr>
      </p:pic>
      <p:sp>
        <p:nvSpPr>
          <p:cNvPr id="433" name="Google Shape;433;p61"/>
          <p:cNvSpPr txBox="1">
            <a:spLocks noGrp="1"/>
          </p:cNvSpPr>
          <p:nvPr>
            <p:ph type="body" idx="4"/>
          </p:nvPr>
        </p:nvSpPr>
        <p:spPr>
          <a:xfrm>
            <a:off x="105800" y="2247175"/>
            <a:ext cx="3300600" cy="27060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class</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Pet</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String </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public</a:t>
            </a:r>
            <a:r>
              <a:rPr lang="en" sz="1200">
                <a:solidFill>
                  <a:srgbClr val="000000"/>
                </a:solidFill>
                <a:highlight>
                  <a:srgbClr val="FFFFFF"/>
                </a:highlight>
                <a:latin typeface="Consolas"/>
                <a:ea typeface="Consolas"/>
                <a:cs typeface="Consolas"/>
                <a:sym typeface="Consolas"/>
              </a:rPr>
              <a:t> </a:t>
            </a:r>
            <a:r>
              <a:rPr lang="en" sz="1200">
                <a:solidFill>
                  <a:srgbClr val="795E26"/>
                </a:solidFill>
                <a:highlight>
                  <a:srgbClr val="FFFFFF"/>
                </a:highlight>
                <a:latin typeface="Consolas"/>
                <a:ea typeface="Consolas"/>
                <a:cs typeface="Consolas"/>
                <a:sym typeface="Consolas"/>
              </a:rPr>
              <a:t>Pet</a:t>
            </a:r>
            <a:r>
              <a:rPr lang="en" sz="1200">
                <a:solidFill>
                  <a:srgbClr val="000000"/>
                </a:solidFill>
                <a:highlight>
                  <a:srgbClr val="FFFFFF"/>
                </a:highlight>
                <a:latin typeface="Consolas"/>
                <a:ea typeface="Consolas"/>
                <a:cs typeface="Consolas"/>
                <a:sym typeface="Consolas"/>
              </a:rPr>
              <a:t>(</a:t>
            </a:r>
            <a:r>
              <a:rPr lang="en">
                <a:solidFill>
                  <a:srgbClr val="267F99"/>
                </a:solidFill>
                <a:highlight>
                  <a:srgbClr val="FFFFFF"/>
                </a:highlight>
                <a:latin typeface="Consolas"/>
                <a:ea typeface="Consolas"/>
                <a:cs typeface="Consolas"/>
                <a:sym typeface="Consolas"/>
              </a:rPr>
              <a:t>String</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 </a:t>
            </a:r>
            <a:r>
              <a:rPr lang="en" sz="1200">
                <a:solidFill>
                  <a:srgbClr val="267F99"/>
                </a:solidFill>
                <a:highlight>
                  <a:srgbClr val="FFFFFF"/>
                </a:highlight>
                <a:latin typeface="Consolas"/>
                <a:ea typeface="Consolas"/>
                <a:cs typeface="Consolas"/>
                <a:sym typeface="Consolas"/>
              </a:rPr>
              <a:t>int</a:t>
            </a:r>
            <a:r>
              <a:rPr lang="en" sz="1200">
                <a:solidFill>
                  <a:srgbClr val="000000"/>
                </a:solidFill>
                <a:highlight>
                  <a:srgbClr val="FFFFFF"/>
                </a:highlight>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267F99"/>
                </a:solidFill>
                <a:highlight>
                  <a:srgbClr val="FFFFFF"/>
                </a:highlight>
                <a:latin typeface="Consolas"/>
                <a:ea typeface="Consolas"/>
                <a:cs typeface="Consolas"/>
                <a:sym typeface="Consolas"/>
              </a:rPr>
              <a:t>                </a:t>
            </a:r>
            <a:r>
              <a:rPr lang="en">
                <a:solidFill>
                  <a:srgbClr val="267F99"/>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age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 = </a:t>
            </a:r>
            <a:r>
              <a:rPr lang="en" sz="1200">
                <a:solidFill>
                  <a:srgbClr val="001080"/>
                </a:solidFill>
                <a:highlight>
                  <a:srgbClr val="FFFFFF"/>
                </a:highlight>
                <a:latin typeface="Consolas"/>
                <a:ea typeface="Consolas"/>
                <a:cs typeface="Consolas"/>
                <a:sym typeface="Consolas"/>
              </a:rPr>
              <a:t>name</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r>
              <a:rPr lang="en" sz="1200">
                <a:solidFill>
                  <a:srgbClr val="0000FF"/>
                </a:solidFill>
                <a:highlight>
                  <a:srgbClr val="FFFFFF"/>
                </a:highlight>
                <a:latin typeface="Consolas"/>
                <a:ea typeface="Consolas"/>
                <a:cs typeface="Consolas"/>
                <a:sym typeface="Consolas"/>
              </a:rPr>
              <a:t>this</a:t>
            </a:r>
            <a:r>
              <a:rPr lang="en" sz="1200">
                <a:solidFill>
                  <a:srgbClr val="000000"/>
                </a:solidFill>
                <a:highlight>
                  <a:srgbClr val="FFFFFF"/>
                </a:highlight>
                <a:latin typeface="Consolas"/>
                <a:ea typeface="Consolas"/>
                <a:cs typeface="Consolas"/>
                <a:sym typeface="Consolas"/>
              </a:rPr>
              <a:t>.</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 = </a:t>
            </a:r>
            <a:r>
              <a:rPr lang="en">
                <a:solidFill>
                  <a:srgbClr val="001080"/>
                </a:solidFill>
                <a:highlight>
                  <a:srgbClr val="FFFFFF"/>
                </a:highlight>
                <a:latin typeface="Consolas"/>
                <a:ea typeface="Consolas"/>
                <a:cs typeface="Consolas"/>
                <a:sym typeface="Consolas"/>
              </a:rPr>
              <a:t>species</a:t>
            </a:r>
            <a:r>
              <a:rPr lang="en" sz="1200">
                <a:solidFill>
                  <a:srgbClr val="000000"/>
                </a:solidFill>
                <a:highlight>
                  <a:srgbClr val="FFFFFF"/>
                </a:highlight>
                <a:latin typeface="Consolas"/>
                <a:ea typeface="Consolas"/>
                <a:cs typeface="Consolas"/>
                <a:sym typeface="Consolas"/>
              </a:rPr>
              <a:t>;</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    }</a:t>
            </a:r>
            <a:endParaRPr sz="12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200">
                <a:solidFill>
                  <a:srgbClr val="000000"/>
                </a:solidFill>
                <a:highlight>
                  <a:srgbClr val="FFFFFF"/>
                </a:highlight>
                <a:latin typeface="Consolas"/>
                <a:ea typeface="Consolas"/>
                <a:cs typeface="Consolas"/>
                <a:sym typeface="Consolas"/>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6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Even small Java programs will need more than one class to meet all of the requirements. Let's start on the next class in the Star Wars Battle game. Use your noun/verb analysis to create the </a:t>
            </a:r>
            <a:r>
              <a:rPr lang="en">
                <a:latin typeface="Courier New"/>
                <a:ea typeface="Courier New"/>
                <a:cs typeface="Courier New"/>
                <a:sym typeface="Courier New"/>
              </a:rPr>
              <a:t>Ship</a:t>
            </a:r>
            <a:r>
              <a:rPr lang="en"/>
              <a:t> class along with an initializing constructor.</a:t>
            </a:r>
            <a:endParaRPr/>
          </a:p>
        </p:txBody>
      </p:sp>
      <p:sp>
        <p:nvSpPr>
          <p:cNvPr id="439" name="Google Shape;439;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sp>
        <p:nvSpPr>
          <p:cNvPr id="440" name="Google Shape;440;p62"/>
          <p:cNvSpPr txBox="1">
            <a:spLocks noGrp="1"/>
          </p:cNvSpPr>
          <p:nvPr>
            <p:ph type="body" idx="2"/>
          </p:nvPr>
        </p:nvSpPr>
        <p:spPr>
          <a:xfrm>
            <a:off x="3301725" y="1784525"/>
            <a:ext cx="5639400" cy="2803814"/>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Add a new </a:t>
            </a:r>
            <a:r>
              <a:rPr lang="en" dirty="0">
                <a:solidFill>
                  <a:srgbClr val="FF0000"/>
                </a:solidFill>
                <a:latin typeface="Courier New"/>
                <a:ea typeface="Courier New"/>
                <a:cs typeface="Courier New"/>
                <a:sym typeface="Courier New"/>
              </a:rPr>
              <a:t>Ship.java</a:t>
            </a:r>
            <a:r>
              <a:rPr lang="en" dirty="0"/>
              <a:t> file to the </a:t>
            </a:r>
            <a:r>
              <a:rPr lang="en" dirty="0">
                <a:latin typeface="Courier New"/>
                <a:ea typeface="Courier New"/>
                <a:cs typeface="Courier New"/>
                <a:sym typeface="Courier New"/>
              </a:rPr>
              <a:t>swb</a:t>
            </a:r>
            <a:r>
              <a:rPr lang="en" dirty="0"/>
              <a:t> package</a:t>
            </a:r>
            <a:endParaRPr dirty="0"/>
          </a:p>
          <a:p>
            <a:pPr marL="457200" lvl="0" indent="-311150" algn="l" rtl="0">
              <a:spcBef>
                <a:spcPts val="0"/>
              </a:spcBef>
              <a:spcAft>
                <a:spcPts val="0"/>
              </a:spcAft>
              <a:buSzPts val="1300"/>
              <a:buChar char="●"/>
            </a:pPr>
            <a:r>
              <a:rPr lang="en" dirty="0"/>
              <a:t>Define the class along including all of its state</a:t>
            </a:r>
            <a:endParaRPr dirty="0"/>
          </a:p>
          <a:p>
            <a:pPr marL="914400" lvl="1" indent="-298450" algn="l" rtl="0">
              <a:spcBef>
                <a:spcPts val="0"/>
              </a:spcBef>
              <a:spcAft>
                <a:spcPts val="0"/>
              </a:spcAft>
              <a:buSzPts val="1100"/>
              <a:buChar char="○"/>
            </a:pPr>
            <a:r>
              <a:rPr lang="en" dirty="0">
                <a:highlight>
                  <a:srgbClr val="FFFF00"/>
                </a:highlight>
              </a:rPr>
              <a:t>Refer back to the noun-verb analysis to find the state information</a:t>
            </a:r>
            <a:endParaRPr dirty="0">
              <a:highlight>
                <a:srgbClr val="FFFF00"/>
              </a:highlight>
            </a:endParaRPr>
          </a:p>
          <a:p>
            <a:pPr marL="914400" lvl="1" indent="-298450" algn="l" rtl="0">
              <a:spcBef>
                <a:spcPts val="0"/>
              </a:spcBef>
              <a:spcAft>
                <a:spcPts val="0"/>
              </a:spcAft>
              <a:buSzPts val="1100"/>
              <a:buChar char="○"/>
            </a:pPr>
            <a:r>
              <a:rPr lang="en" dirty="0"/>
              <a:t>Once again, make all the attributes</a:t>
            </a:r>
            <a:r>
              <a:rPr lang="en" dirty="0">
                <a:highlight>
                  <a:srgbClr val="FFFF00"/>
                </a:highlight>
              </a:rPr>
              <a:t> public</a:t>
            </a:r>
            <a:endParaRPr dirty="0">
              <a:highlight>
                <a:srgbClr val="FFFF00"/>
              </a:highlight>
            </a:endParaRPr>
          </a:p>
          <a:p>
            <a:pPr marL="457200" lvl="0" indent="-311150" algn="l" rtl="0">
              <a:spcBef>
                <a:spcPts val="0"/>
              </a:spcBef>
              <a:spcAft>
                <a:spcPts val="0"/>
              </a:spcAft>
              <a:buSzPts val="1300"/>
              <a:buChar char="●"/>
            </a:pPr>
            <a:r>
              <a:rPr lang="en" dirty="0">
                <a:highlight>
                  <a:srgbClr val="FFFF00"/>
                </a:highlight>
              </a:rPr>
              <a:t>Add a constructor to the class that accepts all of the state information as parameters</a:t>
            </a:r>
            <a:endParaRPr dirty="0">
              <a:highlight>
                <a:srgbClr val="FFFF00"/>
              </a:highlight>
            </a:endParaRPr>
          </a:p>
          <a:p>
            <a:pPr marL="457200" lvl="0" indent="-311150" algn="l" rtl="0">
              <a:spcBef>
                <a:spcPts val="0"/>
              </a:spcBef>
              <a:spcAft>
                <a:spcPts val="0"/>
              </a:spcAft>
              <a:buSzPts val="1300"/>
              <a:buChar char="●"/>
            </a:pPr>
            <a:r>
              <a:rPr lang="en" dirty="0"/>
              <a:t>Inside the  </a:t>
            </a:r>
            <a:r>
              <a:rPr lang="en" dirty="0">
                <a:latin typeface="Courier New"/>
                <a:ea typeface="Courier New"/>
                <a:cs typeface="Courier New"/>
                <a:sym typeface="Courier New"/>
              </a:rPr>
              <a:t>main</a:t>
            </a:r>
            <a:r>
              <a:rPr lang="en" dirty="0"/>
              <a:t> method (in </a:t>
            </a:r>
            <a:r>
              <a:rPr lang="en" dirty="0">
                <a:latin typeface="Courier New"/>
                <a:ea typeface="Courier New"/>
                <a:cs typeface="Courier New"/>
                <a:sym typeface="Courier New"/>
              </a:rPr>
              <a:t>StarWarsBattle</a:t>
            </a:r>
            <a:r>
              <a:rPr lang="en" dirty="0"/>
              <a:t>) call the default constructor to create a new </a:t>
            </a:r>
            <a:r>
              <a:rPr lang="en" dirty="0">
                <a:latin typeface="Courier New"/>
                <a:ea typeface="Courier New"/>
                <a:cs typeface="Courier New"/>
                <a:sym typeface="Courier New"/>
              </a:rPr>
              <a:t>Ship</a:t>
            </a:r>
            <a:endParaRPr dirty="0">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I.E. </a:t>
            </a:r>
            <a:r>
              <a:rPr lang="en" dirty="0">
                <a:highlight>
                  <a:srgbClr val="FFFF00"/>
                </a:highlight>
                <a:latin typeface="Courier New"/>
                <a:ea typeface="Courier New"/>
                <a:cs typeface="Courier New"/>
                <a:sym typeface="Courier New"/>
              </a:rPr>
              <a:t>Ship myShip = new Ship()</a:t>
            </a:r>
            <a:endParaRPr dirty="0">
              <a:highlight>
                <a:srgbClr val="FFFF00"/>
              </a:highlight>
              <a:latin typeface="Courier New"/>
              <a:ea typeface="Courier New"/>
              <a:cs typeface="Courier New"/>
              <a:sym typeface="Courier New"/>
            </a:endParaRPr>
          </a:p>
          <a:p>
            <a:pPr marL="914400" lvl="1" indent="-298450" algn="l" rtl="0">
              <a:spcBef>
                <a:spcPts val="0"/>
              </a:spcBef>
              <a:spcAft>
                <a:spcPts val="0"/>
              </a:spcAft>
              <a:buSzPts val="1100"/>
              <a:buChar char="○"/>
            </a:pPr>
            <a:r>
              <a:rPr lang="en" dirty="0"/>
              <a:t>What happens?</a:t>
            </a:r>
            <a:endParaRPr dirty="0"/>
          </a:p>
          <a:p>
            <a:pPr marL="457200" lvl="0" indent="-311150" algn="l" rtl="0">
              <a:spcBef>
                <a:spcPts val="0"/>
              </a:spcBef>
              <a:spcAft>
                <a:spcPts val="0"/>
              </a:spcAft>
              <a:buSzPts val="1300"/>
              <a:buChar char="●"/>
            </a:pPr>
            <a:r>
              <a:rPr lang="en" dirty="0"/>
              <a:t>Modify </a:t>
            </a:r>
            <a:r>
              <a:rPr lang="en" dirty="0">
                <a:latin typeface="Courier New"/>
                <a:ea typeface="Courier New"/>
                <a:cs typeface="Courier New"/>
                <a:sym typeface="Courier New"/>
              </a:rPr>
              <a:t>main</a:t>
            </a:r>
            <a:r>
              <a:rPr lang="en" dirty="0"/>
              <a:t> to call the constructor that was added to the class</a:t>
            </a:r>
            <a:endParaRPr dirty="0"/>
          </a:p>
          <a:p>
            <a:pPr marL="457200" lvl="0" indent="-311150" algn="l" rtl="0">
              <a:spcBef>
                <a:spcPts val="0"/>
              </a:spcBef>
              <a:spcAft>
                <a:spcPts val="0"/>
              </a:spcAft>
              <a:buSzPts val="1300"/>
              <a:buChar char="●"/>
            </a:pPr>
            <a:r>
              <a:rPr lang="en" dirty="0">
                <a:highlight>
                  <a:srgbClr val="FFFF00"/>
                </a:highlight>
              </a:rPr>
              <a:t>Print the ship's </a:t>
            </a:r>
            <a:r>
              <a:rPr lang="en" dirty="0">
                <a:highlight>
                  <a:srgbClr val="FFFF00"/>
                </a:highlight>
                <a:latin typeface="Courier New"/>
                <a:ea typeface="Courier New"/>
                <a:cs typeface="Courier New"/>
                <a:sym typeface="Courier New"/>
              </a:rPr>
              <a:t>name</a:t>
            </a:r>
            <a:r>
              <a:rPr lang="en" dirty="0">
                <a:highlight>
                  <a:srgbClr val="FFFF00"/>
                </a:highlight>
              </a:rPr>
              <a:t> and </a:t>
            </a:r>
            <a:r>
              <a:rPr lang="en" dirty="0">
                <a:highlight>
                  <a:srgbClr val="FFFF00"/>
                </a:highlight>
                <a:latin typeface="Courier New"/>
                <a:ea typeface="Courier New"/>
                <a:cs typeface="Courier New"/>
                <a:sym typeface="Courier New"/>
              </a:rPr>
              <a:t>hullAmount</a:t>
            </a:r>
            <a:endParaRPr dirty="0">
              <a:highlight>
                <a:srgbClr val="FFFF00"/>
              </a:highlight>
            </a:endParaRPr>
          </a:p>
        </p:txBody>
      </p:sp>
      <p:sp>
        <p:nvSpPr>
          <p:cNvPr id="441" name="Google Shape;441;p6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Riding in Ships with Moisture Farmers</a:t>
            </a:r>
            <a:endParaRPr/>
          </a:p>
        </p:txBody>
      </p:sp>
      <p:sp>
        <p:nvSpPr>
          <p:cNvPr id="442" name="Google Shape;442;p6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2.5</a:t>
            </a:r>
            <a:endParaRPr/>
          </a:p>
        </p:txBody>
      </p:sp>
      <p:sp>
        <p:nvSpPr>
          <p:cNvPr id="443" name="Google Shape;443;p62"/>
          <p:cNvSpPr txBox="1">
            <a:spLocks noGrp="1"/>
          </p:cNvSpPr>
          <p:nvPr>
            <p:ph type="body" idx="4"/>
          </p:nvPr>
        </p:nvSpPr>
        <p:spPr>
          <a:xfrm>
            <a:off x="151825" y="1923875"/>
            <a:ext cx="2906400" cy="24957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class</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Pet</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 </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Pet</a:t>
            </a:r>
            <a:r>
              <a:rPr lang="en" sz="1100">
                <a:solidFill>
                  <a:srgbClr val="000000"/>
                </a:solidFill>
                <a:highlight>
                  <a:srgbClr val="FFFFFF"/>
                </a:highlight>
                <a:latin typeface="Consolas"/>
                <a:ea typeface="Consolas"/>
                <a:cs typeface="Consolas"/>
                <a:sym typeface="Consolas"/>
              </a:rPr>
              <a:t>(</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int</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267F99"/>
                </a:solidFill>
                <a:highlight>
                  <a:srgbClr val="FFFFFF"/>
                </a:highlight>
                <a:latin typeface="Consolas"/>
                <a:ea typeface="Consolas"/>
                <a:cs typeface="Consolas"/>
                <a:sym typeface="Consolas"/>
              </a:rPr>
              <a:t>             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solidFill>
                  <a:srgbClr val="000000"/>
                </a:solidFill>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age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solidFill>
                  <a:srgbClr val="000000"/>
                </a:solidFill>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this</a:t>
            </a:r>
            <a:r>
              <a:rPr lang="en" sz="1100">
                <a:solidFill>
                  <a:srgbClr val="000000"/>
                </a:solidFill>
                <a:highlight>
                  <a:srgbClr val="FFFFFF"/>
                </a:highlight>
                <a:latin typeface="Consolas"/>
                <a:ea typeface="Consolas"/>
                <a:cs typeface="Consolas"/>
                <a:sym typeface="Consolas"/>
              </a:rPr>
              <a:t>.</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rgbClr val="FFFFFF"/>
                </a:highlight>
                <a:latin typeface="Consolas"/>
                <a:ea typeface="Consolas"/>
                <a:cs typeface="Consolas"/>
                <a:sym typeface="Consolas"/>
              </a:rPr>
              <a:t>species</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00">
                <a:solidFill>
                  <a:srgbClr val="000000"/>
                </a:solidFill>
                <a:highlight>
                  <a:srgbClr val="FFFFFF"/>
                </a:highlight>
                <a:latin typeface="Consolas"/>
                <a:ea typeface="Consolas"/>
                <a:cs typeface="Consolas"/>
                <a:sym typeface="Consolas"/>
              </a:rPr>
              <a:t>}</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63"/>
          <p:cNvSpPr txBox="1">
            <a:spLocks noGrp="1"/>
          </p:cNvSpPr>
          <p:nvPr>
            <p:ph type="title"/>
          </p:nvPr>
        </p:nvSpPr>
        <p:spPr>
          <a:xfrm>
            <a:off x="5188525" y="94400"/>
            <a:ext cx="3706500" cy="968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Overloading &amp; Constructors</a:t>
            </a:r>
            <a:endParaRPr/>
          </a:p>
        </p:txBody>
      </p:sp>
      <p:sp>
        <p:nvSpPr>
          <p:cNvPr id="449" name="Google Shape;449;p63"/>
          <p:cNvSpPr txBox="1">
            <a:spLocks noGrp="1"/>
          </p:cNvSpPr>
          <p:nvPr>
            <p:ph type="body" idx="1"/>
          </p:nvPr>
        </p:nvSpPr>
        <p:spPr>
          <a:xfrm>
            <a:off x="301275" y="18200"/>
            <a:ext cx="4475400" cy="4991700"/>
          </a:xfrm>
          <a:prstGeom prst="rect">
            <a:avLst/>
          </a:prstGeom>
        </p:spPr>
        <p:txBody>
          <a:bodyPr spcFirstLastPara="1" wrap="square" lIns="91425" tIns="91425" rIns="91425" bIns="91425" anchor="t" anchorCtr="0">
            <a:spAutoFit/>
          </a:bodyPr>
          <a:lstStyle/>
          <a:p>
            <a:pPr marL="457200" lvl="0" indent="-313245" algn="l" rtl="0">
              <a:lnSpc>
                <a:spcPct val="100000"/>
              </a:lnSpc>
              <a:spcBef>
                <a:spcPts val="0"/>
              </a:spcBef>
              <a:spcAft>
                <a:spcPts val="0"/>
              </a:spcAft>
              <a:buSzPts val="1333"/>
              <a:buChar char="●"/>
            </a:pPr>
            <a:r>
              <a:rPr lang="en" sz="1333" dirty="0"/>
              <a:t>Unlike Python, </a:t>
            </a:r>
            <a:r>
              <a:rPr lang="en" sz="1333" dirty="0">
                <a:highlight>
                  <a:srgbClr val="FFFF00"/>
                </a:highlight>
              </a:rPr>
              <a:t>Java </a:t>
            </a:r>
            <a:r>
              <a:rPr lang="en" sz="1333" b="1" i="1" dirty="0">
                <a:solidFill>
                  <a:srgbClr val="FF0000"/>
                </a:solidFill>
                <a:highlight>
                  <a:srgbClr val="FFFF00"/>
                </a:highlight>
              </a:rPr>
              <a:t>does not</a:t>
            </a:r>
            <a:r>
              <a:rPr lang="en" sz="1333" dirty="0">
                <a:highlight>
                  <a:srgbClr val="FFFF00"/>
                </a:highlight>
              </a:rPr>
              <a:t> have default parameter values</a:t>
            </a:r>
            <a:r>
              <a:rPr lang="en" sz="1333" dirty="0"/>
              <a:t>. Instead, Java allows two or more methods to have the same name as long as the </a:t>
            </a:r>
            <a:r>
              <a:rPr lang="en" sz="1333" b="1" i="1" dirty="0">
                <a:solidFill>
                  <a:srgbClr val="FF0000"/>
                </a:solidFill>
                <a:highlight>
                  <a:srgbClr val="FFFF00"/>
                </a:highlight>
              </a:rPr>
              <a:t>parameter lists</a:t>
            </a:r>
            <a:r>
              <a:rPr lang="en" sz="1333" dirty="0">
                <a:highlight>
                  <a:srgbClr val="FFFF00"/>
                </a:highlight>
              </a:rPr>
              <a:t> are different.</a:t>
            </a:r>
            <a:endParaRPr sz="1333" dirty="0">
              <a:highlight>
                <a:srgbClr val="FFFF00"/>
              </a:highlight>
            </a:endParaRPr>
          </a:p>
          <a:p>
            <a:pPr marL="914400" lvl="1" indent="-306895" algn="l" rtl="0">
              <a:lnSpc>
                <a:spcPct val="100000"/>
              </a:lnSpc>
              <a:spcBef>
                <a:spcPts val="0"/>
              </a:spcBef>
              <a:spcAft>
                <a:spcPts val="0"/>
              </a:spcAft>
              <a:buSzPts val="1233"/>
              <a:buChar char="○"/>
            </a:pPr>
            <a:r>
              <a:rPr lang="en" sz="1233" dirty="0"/>
              <a:t>Having two methods with the same name in the same class is referred to as </a:t>
            </a:r>
            <a:r>
              <a:rPr lang="en" sz="1233" b="1" i="1" dirty="0">
                <a:solidFill>
                  <a:srgbClr val="FF0000"/>
                </a:solidFill>
                <a:highlight>
                  <a:srgbClr val="FFFF00"/>
                </a:highlight>
              </a:rPr>
              <a:t>overloading</a:t>
            </a:r>
            <a:r>
              <a:rPr lang="en" sz="1233" dirty="0">
                <a:highlight>
                  <a:srgbClr val="FFFF00"/>
                </a:highlight>
              </a:rPr>
              <a:t>.</a:t>
            </a:r>
            <a:endParaRPr sz="1233" b="1" i="1" dirty="0">
              <a:solidFill>
                <a:srgbClr val="FF0000"/>
              </a:solidFill>
              <a:highlight>
                <a:srgbClr val="FFFF00"/>
              </a:highlight>
            </a:endParaRPr>
          </a:p>
          <a:p>
            <a:pPr marL="457200" lvl="0" indent="-313245" algn="l" rtl="0">
              <a:lnSpc>
                <a:spcPct val="100000"/>
              </a:lnSpc>
              <a:spcBef>
                <a:spcPts val="0"/>
              </a:spcBef>
              <a:spcAft>
                <a:spcPts val="0"/>
              </a:spcAft>
              <a:buSzPts val="1333"/>
              <a:buChar char="●"/>
            </a:pPr>
            <a:r>
              <a:rPr lang="en" sz="1333" dirty="0"/>
              <a:t>Constructors are just a special kind of method with some extra rules.</a:t>
            </a:r>
            <a:endParaRPr sz="1333" dirty="0"/>
          </a:p>
          <a:p>
            <a:pPr marL="914400" lvl="1" indent="-306895" algn="l" rtl="0">
              <a:lnSpc>
                <a:spcPct val="100000"/>
              </a:lnSpc>
              <a:spcBef>
                <a:spcPts val="0"/>
              </a:spcBef>
              <a:spcAft>
                <a:spcPts val="0"/>
              </a:spcAft>
              <a:buSzPts val="1233"/>
              <a:buChar char="○"/>
            </a:pPr>
            <a:r>
              <a:rPr lang="en" dirty="0"/>
              <a:t>They must be named the same as the </a:t>
            </a:r>
            <a:r>
              <a:rPr lang="en" b="1" i="1" dirty="0">
                <a:solidFill>
                  <a:srgbClr val="FF0000"/>
                </a:solidFill>
              </a:rPr>
              <a:t>class</a:t>
            </a:r>
            <a:r>
              <a:rPr lang="en" dirty="0"/>
              <a:t>.</a:t>
            </a:r>
            <a:endParaRPr b="1" i="1" dirty="0">
              <a:solidFill>
                <a:srgbClr val="FF0000"/>
              </a:solidFill>
            </a:endParaRPr>
          </a:p>
          <a:p>
            <a:pPr marL="914400" lvl="1" indent="-306895" algn="l" rtl="0">
              <a:lnSpc>
                <a:spcPct val="100000"/>
              </a:lnSpc>
              <a:spcBef>
                <a:spcPts val="0"/>
              </a:spcBef>
              <a:spcAft>
                <a:spcPts val="0"/>
              </a:spcAft>
              <a:buSzPts val="1233"/>
              <a:buChar char="○"/>
            </a:pPr>
            <a:r>
              <a:rPr lang="en" dirty="0">
                <a:highlight>
                  <a:srgbClr val="FFFF00"/>
                </a:highlight>
              </a:rPr>
              <a:t>They do not have a </a:t>
            </a:r>
            <a:r>
              <a:rPr lang="en" b="1" i="1" dirty="0">
                <a:solidFill>
                  <a:srgbClr val="FF0000"/>
                </a:solidFill>
                <a:highlight>
                  <a:srgbClr val="FFFF00"/>
                </a:highlight>
              </a:rPr>
              <a:t>return </a:t>
            </a:r>
            <a:r>
              <a:rPr lang="en" dirty="0">
                <a:highlight>
                  <a:srgbClr val="FFFF00"/>
                </a:highlight>
              </a:rPr>
              <a:t>type.</a:t>
            </a:r>
            <a:endParaRPr dirty="0">
              <a:highlight>
                <a:srgbClr val="FFFF00"/>
              </a:highlight>
            </a:endParaRPr>
          </a:p>
          <a:p>
            <a:pPr marL="457200" lvl="0" indent="-313245" algn="l" rtl="0">
              <a:lnSpc>
                <a:spcPct val="100000"/>
              </a:lnSpc>
              <a:spcBef>
                <a:spcPts val="0"/>
              </a:spcBef>
              <a:spcAft>
                <a:spcPts val="0"/>
              </a:spcAft>
              <a:buSzPts val="1333"/>
              <a:buChar char="●"/>
            </a:pPr>
            <a:r>
              <a:rPr lang="en" sz="1333" dirty="0"/>
              <a:t>Therefore, constructors can be overloaded just like any other method.</a:t>
            </a:r>
            <a:endParaRPr sz="1333" dirty="0"/>
          </a:p>
          <a:p>
            <a:pPr marL="914400" lvl="1" indent="-306895" algn="l" rtl="0">
              <a:lnSpc>
                <a:spcPct val="100000"/>
              </a:lnSpc>
              <a:spcBef>
                <a:spcPts val="0"/>
              </a:spcBef>
              <a:spcAft>
                <a:spcPts val="0"/>
              </a:spcAft>
              <a:buSzPts val="1233"/>
              <a:buChar char="○"/>
            </a:pPr>
            <a:r>
              <a:rPr lang="en" dirty="0"/>
              <a:t>We can call one constructor from another and use default values as arguments to the other constructor.</a:t>
            </a:r>
            <a:endParaRPr dirty="0"/>
          </a:p>
          <a:p>
            <a:pPr marL="914400" lvl="1" indent="-298450" algn="l" rtl="0">
              <a:lnSpc>
                <a:spcPct val="100000"/>
              </a:lnSpc>
              <a:spcBef>
                <a:spcPts val="0"/>
              </a:spcBef>
              <a:spcAft>
                <a:spcPts val="0"/>
              </a:spcAft>
              <a:buSzPts val="1100"/>
              <a:buChar char="○"/>
            </a:pPr>
            <a:r>
              <a:rPr lang="en" dirty="0"/>
              <a:t>One constructor calls another using </a:t>
            </a:r>
            <a:r>
              <a:rPr lang="en" dirty="0">
                <a:solidFill>
                  <a:srgbClr val="FF0000"/>
                </a:solidFill>
                <a:latin typeface="Courier New"/>
                <a:ea typeface="Courier New"/>
                <a:cs typeface="Courier New"/>
                <a:sym typeface="Courier New"/>
              </a:rPr>
              <a:t>this</a:t>
            </a:r>
            <a:r>
              <a:rPr lang="en" dirty="0"/>
              <a:t>, e.g.          </a:t>
            </a:r>
            <a:r>
              <a:rPr lang="en" dirty="0">
                <a:solidFill>
                  <a:srgbClr val="FF0000"/>
                </a:solidFill>
                <a:highlight>
                  <a:srgbClr val="FFFF00"/>
                </a:highlight>
                <a:latin typeface="Courier New"/>
                <a:ea typeface="Courier New"/>
                <a:cs typeface="Courier New"/>
                <a:sym typeface="Courier New"/>
              </a:rPr>
              <a:t>this("Hermione", 2, "Basset Hound")</a:t>
            </a:r>
            <a:r>
              <a:rPr lang="en" dirty="0">
                <a:highlight>
                  <a:srgbClr val="FFFF00"/>
                </a:highlight>
              </a:rPr>
              <a:t>.</a:t>
            </a:r>
            <a:endParaRPr dirty="0">
              <a:highlight>
                <a:srgbClr val="FFFF00"/>
              </a:highlight>
            </a:endParaRPr>
          </a:p>
          <a:p>
            <a:pPr marL="914400" lvl="1" indent="-298450" algn="l" rtl="0">
              <a:lnSpc>
                <a:spcPct val="100000"/>
              </a:lnSpc>
              <a:spcBef>
                <a:spcPts val="0"/>
              </a:spcBef>
              <a:spcAft>
                <a:spcPts val="0"/>
              </a:spcAft>
              <a:buSzPts val="1100"/>
              <a:buChar char="○"/>
            </a:pPr>
            <a:r>
              <a:rPr lang="en" dirty="0"/>
              <a:t>When </a:t>
            </a:r>
            <a:r>
              <a:rPr lang="en" dirty="0">
                <a:latin typeface="Courier New"/>
                <a:ea typeface="Courier New"/>
                <a:cs typeface="Courier New"/>
                <a:sym typeface="Courier New"/>
              </a:rPr>
              <a:t>this</a:t>
            </a:r>
            <a:r>
              <a:rPr lang="en" dirty="0"/>
              <a:t> is used to call another constructor it must be the </a:t>
            </a:r>
            <a:r>
              <a:rPr lang="en" b="1" dirty="0">
                <a:highlight>
                  <a:srgbClr val="FFFF00"/>
                </a:highlight>
              </a:rPr>
              <a:t>first line of the constructor!</a:t>
            </a:r>
            <a:endParaRPr b="1" dirty="0">
              <a:highlight>
                <a:srgbClr val="FFFF00"/>
              </a:highlight>
            </a:endParaRPr>
          </a:p>
          <a:p>
            <a:pPr marL="365754" lvl="0" indent="-280683" algn="l" rtl="0">
              <a:lnSpc>
                <a:spcPct val="100000"/>
              </a:lnSpc>
              <a:spcBef>
                <a:spcPts val="0"/>
              </a:spcBef>
              <a:spcAft>
                <a:spcPts val="0"/>
              </a:spcAft>
              <a:buClr>
                <a:schemeClr val="dk2"/>
              </a:buClr>
              <a:buSzPts val="1300"/>
              <a:buFont typeface="Calibri"/>
              <a:buChar char="●"/>
            </a:pPr>
            <a:r>
              <a:rPr lang="en" dirty="0"/>
              <a:t>If you write any constructor you </a:t>
            </a:r>
            <a:r>
              <a:rPr lang="en" b="1" i="1" dirty="0">
                <a:solidFill>
                  <a:srgbClr val="FF0000"/>
                </a:solidFill>
                <a:highlight>
                  <a:srgbClr val="FFFF00"/>
                </a:highlight>
              </a:rPr>
              <a:t>lose </a:t>
            </a:r>
            <a:r>
              <a:rPr lang="en" dirty="0">
                <a:highlight>
                  <a:srgbClr val="FFFF00"/>
                </a:highlight>
              </a:rPr>
              <a:t>the default one that Java provides.</a:t>
            </a:r>
            <a:endParaRPr dirty="0">
              <a:highlight>
                <a:srgbClr val="FFFF00"/>
              </a:highlight>
            </a:endParaRPr>
          </a:p>
          <a:p>
            <a:pPr marL="853428" lvl="1" indent="-295885" algn="l" rtl="0">
              <a:lnSpc>
                <a:spcPct val="100000"/>
              </a:lnSpc>
              <a:spcBef>
                <a:spcPts val="0"/>
              </a:spcBef>
              <a:spcAft>
                <a:spcPts val="0"/>
              </a:spcAft>
              <a:buClr>
                <a:schemeClr val="dk2"/>
              </a:buClr>
              <a:buSzPts val="1300"/>
              <a:buFont typeface="Courier New"/>
              <a:buChar char="o"/>
            </a:pPr>
            <a:r>
              <a:rPr lang="en" dirty="0"/>
              <a:t>You can replace the removed default constructor with your own </a:t>
            </a:r>
            <a:r>
              <a:rPr lang="en" b="1" i="1" dirty="0">
                <a:solidFill>
                  <a:srgbClr val="FF0000"/>
                </a:solidFill>
              </a:rPr>
              <a:t>parameterless </a:t>
            </a:r>
            <a:r>
              <a:rPr lang="en" dirty="0"/>
              <a:t>constructor.</a:t>
            </a:r>
            <a:endParaRPr dirty="0"/>
          </a:p>
          <a:p>
            <a:pPr marL="365754" lvl="0" indent="-280683" algn="l" rtl="0">
              <a:lnSpc>
                <a:spcPct val="100000"/>
              </a:lnSpc>
              <a:spcBef>
                <a:spcPts val="0"/>
              </a:spcBef>
              <a:spcAft>
                <a:spcPts val="0"/>
              </a:spcAft>
              <a:buClr>
                <a:schemeClr val="dk2"/>
              </a:buClr>
              <a:buSzPts val="1300"/>
              <a:buFont typeface="Calibri"/>
              <a:buChar char="●"/>
            </a:pPr>
            <a:r>
              <a:rPr lang="en" dirty="0"/>
              <a:t>Simply write a constructor that doesn't declare any </a:t>
            </a:r>
            <a:r>
              <a:rPr lang="en" b="1" i="1" dirty="0">
                <a:solidFill>
                  <a:srgbClr val="FF0000"/>
                </a:solidFill>
              </a:rPr>
              <a:t>parameters</a:t>
            </a:r>
            <a:r>
              <a:rPr lang="en" dirty="0"/>
              <a:t> that </a:t>
            </a:r>
            <a:r>
              <a:rPr lang="en" dirty="0">
                <a:highlight>
                  <a:srgbClr val="FFFF00"/>
                </a:highlight>
              </a:rPr>
              <a:t>calls another constructor with default arguments.</a:t>
            </a:r>
            <a:endParaRPr sz="1200" dirty="0">
              <a:highlight>
                <a:srgbClr val="FFFF00"/>
              </a:highlight>
            </a:endParaRPr>
          </a:p>
        </p:txBody>
      </p:sp>
      <p:sp>
        <p:nvSpPr>
          <p:cNvPr id="450" name="Google Shape;450;p63"/>
          <p:cNvSpPr txBox="1">
            <a:spLocks noGrp="1"/>
          </p:cNvSpPr>
          <p:nvPr>
            <p:ph type="sldNum" idx="12"/>
          </p:nvPr>
        </p:nvSpPr>
        <p:spPr>
          <a:xfrm>
            <a:off x="8" y="4749892"/>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18</a:t>
            </a:fld>
            <a:endParaRPr/>
          </a:p>
        </p:txBody>
      </p:sp>
      <p:sp>
        <p:nvSpPr>
          <p:cNvPr id="451" name="Google Shape;451;p63"/>
          <p:cNvSpPr txBox="1">
            <a:spLocks noGrp="1"/>
          </p:cNvSpPr>
          <p:nvPr>
            <p:ph type="body" idx="2"/>
          </p:nvPr>
        </p:nvSpPr>
        <p:spPr>
          <a:xfrm>
            <a:off x="5192225" y="1133775"/>
            <a:ext cx="3706500" cy="23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public</a:t>
            </a:r>
            <a:r>
              <a:rPr lang="en" sz="1150">
                <a:solidFill>
                  <a:srgbClr val="000000"/>
                </a:solidFill>
                <a:latin typeface="Consolas"/>
                <a:ea typeface="Consolas"/>
                <a:cs typeface="Consolas"/>
                <a:sym typeface="Consolas"/>
              </a:rPr>
              <a:t> </a:t>
            </a:r>
            <a:r>
              <a:rPr lang="en" sz="1150">
                <a:solidFill>
                  <a:srgbClr val="795E26"/>
                </a:solidFill>
                <a:latin typeface="Consolas"/>
                <a:ea typeface="Consolas"/>
                <a:cs typeface="Consolas"/>
                <a:sym typeface="Consolas"/>
              </a:rPr>
              <a:t>House</a:t>
            </a:r>
            <a:r>
              <a:rPr lang="en" sz="1150">
                <a:solidFill>
                  <a:srgbClr val="000000"/>
                </a:solidFill>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solidFill>
                  <a:srgbClr val="000000"/>
                </a:solidFill>
                <a:latin typeface="Consolas"/>
                <a:ea typeface="Consolas"/>
                <a:cs typeface="Consolas"/>
                <a:sym typeface="Consolas"/>
              </a:rPr>
              <a:t> color, </a:t>
            </a:r>
            <a:r>
              <a:rPr lang="en" sz="1150">
                <a:solidFill>
                  <a:srgbClr val="267F99"/>
                </a:solidFill>
                <a:latin typeface="Consolas"/>
                <a:ea typeface="Consolas"/>
                <a:cs typeface="Consolas"/>
                <a:sym typeface="Consolas"/>
              </a:rPr>
              <a:t>int</a:t>
            </a:r>
            <a:r>
              <a:rPr lang="en" sz="1150">
                <a:solidFill>
                  <a:srgbClr val="000000"/>
                </a:solidFill>
                <a:latin typeface="Consolas"/>
                <a:ea typeface="Consolas"/>
                <a:cs typeface="Consolas"/>
                <a:sym typeface="Consolas"/>
              </a:rPr>
              <a:t> baths,</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2</a:t>
            </a:r>
            <a:r>
              <a:rPr lang="en" sz="1150">
                <a:solidFill>
                  <a:srgbClr val="000000"/>
                </a:solidFill>
                <a:latin typeface="Consolas"/>
                <a:ea typeface="Consolas"/>
                <a:cs typeface="Consolas"/>
                <a:sym typeface="Consolas"/>
              </a:rPr>
              <a:t>               </a:t>
            </a:r>
            <a:r>
              <a:rPr lang="en" sz="1150">
                <a:solidFill>
                  <a:srgbClr val="267F99"/>
                </a:solidFill>
                <a:latin typeface="Consolas"/>
                <a:ea typeface="Consolas"/>
                <a:cs typeface="Consolas"/>
                <a:sym typeface="Consolas"/>
              </a:rPr>
              <a:t>int</a:t>
            </a:r>
            <a:r>
              <a:rPr lang="en" sz="1150">
                <a:solidFill>
                  <a:srgbClr val="000000"/>
                </a:solidFill>
                <a:latin typeface="Consolas"/>
                <a:ea typeface="Consolas"/>
                <a:cs typeface="Consolas"/>
                <a:sym typeface="Consolas"/>
              </a:rPr>
              <a:t> beds, </a:t>
            </a:r>
            <a:r>
              <a:rPr lang="en" sz="1150">
                <a:solidFill>
                  <a:srgbClr val="267F99"/>
                </a:solidFill>
                <a:latin typeface="Consolas"/>
                <a:ea typeface="Consolas"/>
                <a:cs typeface="Consolas"/>
                <a:sym typeface="Consolas"/>
              </a:rPr>
              <a:t>boolean</a:t>
            </a:r>
            <a:r>
              <a:rPr lang="en" sz="1150">
                <a:solidFill>
                  <a:srgbClr val="000000"/>
                </a:solidFill>
                <a:latin typeface="Consolas"/>
                <a:ea typeface="Consolas"/>
                <a:cs typeface="Consolas"/>
                <a:sym typeface="Consolas"/>
              </a:rPr>
              <a:t> hvac) {</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3</a:t>
            </a:r>
            <a:r>
              <a:rPr lang="en" sz="1150">
                <a:solidFill>
                  <a:srgbClr val="000000"/>
                </a:solidFill>
                <a:latin typeface="Consolas"/>
                <a:ea typeface="Consolas"/>
                <a:cs typeface="Consolas"/>
                <a:sym typeface="Consolas"/>
              </a:rPr>
              <a:t>      exteriorColor = color;</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4</a:t>
            </a:r>
            <a:r>
              <a:rPr lang="en" sz="1150">
                <a:solidFill>
                  <a:srgbClr val="000000"/>
                </a:solidFill>
                <a:latin typeface="Consolas"/>
                <a:ea typeface="Consolas"/>
                <a:cs typeface="Consolas"/>
                <a:sym typeface="Consolas"/>
              </a:rPr>
              <a:t>      numBathrooms = baths;</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5</a:t>
            </a:r>
            <a:r>
              <a:rPr lang="en" sz="1150">
                <a:solidFill>
                  <a:srgbClr val="000000"/>
                </a:solidFill>
                <a:latin typeface="Consolas"/>
                <a:ea typeface="Consolas"/>
                <a:cs typeface="Consolas"/>
                <a:sym typeface="Consolas"/>
              </a:rPr>
              <a:t>      numBedrooms = beds;</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6</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this</a:t>
            </a:r>
            <a:r>
              <a:rPr lang="en" sz="1150">
                <a:solidFill>
                  <a:srgbClr val="000000"/>
                </a:solidFill>
                <a:latin typeface="Consolas"/>
                <a:ea typeface="Consolas"/>
                <a:cs typeface="Consolas"/>
                <a:sym typeface="Consolas"/>
              </a:rPr>
              <a:t>.</a:t>
            </a:r>
            <a:r>
              <a:rPr lang="en" sz="1150">
                <a:solidFill>
                  <a:srgbClr val="001080"/>
                </a:solidFill>
                <a:latin typeface="Consolas"/>
                <a:ea typeface="Consolas"/>
                <a:cs typeface="Consolas"/>
                <a:sym typeface="Consolas"/>
              </a:rPr>
              <a:t>hvac</a:t>
            </a:r>
            <a:r>
              <a:rPr lang="en" sz="1150">
                <a:solidFill>
                  <a:srgbClr val="000000"/>
                </a:solidFill>
                <a:latin typeface="Consolas"/>
                <a:ea typeface="Consolas"/>
                <a:cs typeface="Consolas"/>
                <a:sym typeface="Consolas"/>
              </a:rPr>
              <a:t> = hvac;</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7</a:t>
            </a:r>
            <a:r>
              <a:rPr lang="en" sz="1150">
                <a:solidFill>
                  <a:srgbClr val="000000"/>
                </a:solidFill>
                <a:latin typeface="Consolas"/>
                <a:ea typeface="Consolas"/>
                <a:cs typeface="Consolas"/>
                <a:sym typeface="Consolas"/>
              </a:rPr>
              <a:t>  }</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8</a:t>
            </a:r>
            <a:endParaRPr sz="1150">
              <a:solidFill>
                <a:srgbClr val="098658"/>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9</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public</a:t>
            </a:r>
            <a:r>
              <a:rPr lang="en" sz="1150">
                <a:solidFill>
                  <a:srgbClr val="000000"/>
                </a:solidFill>
                <a:latin typeface="Consolas"/>
                <a:ea typeface="Consolas"/>
                <a:cs typeface="Consolas"/>
                <a:sym typeface="Consolas"/>
              </a:rPr>
              <a:t> </a:t>
            </a:r>
            <a:r>
              <a:rPr lang="en" sz="1150">
                <a:solidFill>
                  <a:srgbClr val="795E26"/>
                </a:solidFill>
                <a:latin typeface="Consolas"/>
                <a:ea typeface="Consolas"/>
                <a:cs typeface="Consolas"/>
                <a:sym typeface="Consolas"/>
              </a:rPr>
              <a:t>House</a:t>
            </a:r>
            <a:r>
              <a:rPr lang="en" sz="1150">
                <a:solidFill>
                  <a:srgbClr val="000000"/>
                </a:solidFill>
                <a:latin typeface="Consolas"/>
                <a:ea typeface="Consolas"/>
                <a:cs typeface="Consolas"/>
                <a:sym typeface="Consolas"/>
              </a:rPr>
              <a:t>(</a:t>
            </a:r>
            <a:r>
              <a:rPr lang="en" sz="1150">
                <a:solidFill>
                  <a:srgbClr val="267F99"/>
                </a:solidFill>
                <a:latin typeface="Consolas"/>
                <a:ea typeface="Consolas"/>
                <a:cs typeface="Consolas"/>
                <a:sym typeface="Consolas"/>
              </a:rPr>
              <a:t>String</a:t>
            </a:r>
            <a:r>
              <a:rPr lang="en" sz="1150">
                <a:solidFill>
                  <a:srgbClr val="000000"/>
                </a:solidFill>
                <a:latin typeface="Consolas"/>
                <a:ea typeface="Consolas"/>
                <a:cs typeface="Consolas"/>
                <a:sym typeface="Consolas"/>
              </a:rPr>
              <a:t> color) {</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10</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this</a:t>
            </a:r>
            <a:r>
              <a:rPr lang="en" sz="1150">
                <a:solidFill>
                  <a:srgbClr val="000000"/>
                </a:solidFill>
                <a:latin typeface="Consolas"/>
                <a:ea typeface="Consolas"/>
                <a:cs typeface="Consolas"/>
                <a:sym typeface="Consolas"/>
              </a:rPr>
              <a:t>(color, </a:t>
            </a:r>
            <a:r>
              <a:rPr lang="en" sz="1150">
                <a:solidFill>
                  <a:srgbClr val="098658"/>
                </a:solidFill>
                <a:latin typeface="Consolas"/>
                <a:ea typeface="Consolas"/>
                <a:cs typeface="Consolas"/>
                <a:sym typeface="Consolas"/>
              </a:rPr>
              <a:t>2</a:t>
            </a:r>
            <a:r>
              <a:rPr lang="en" sz="1150">
                <a:solidFill>
                  <a:srgbClr val="000000"/>
                </a:solidFill>
                <a:latin typeface="Consolas"/>
                <a:ea typeface="Consolas"/>
                <a:cs typeface="Consolas"/>
                <a:sym typeface="Consolas"/>
              </a:rPr>
              <a:t>, </a:t>
            </a:r>
            <a:r>
              <a:rPr lang="en" sz="1150">
                <a:solidFill>
                  <a:srgbClr val="098658"/>
                </a:solidFill>
                <a:latin typeface="Consolas"/>
                <a:ea typeface="Consolas"/>
                <a:cs typeface="Consolas"/>
                <a:sym typeface="Consolas"/>
              </a:rPr>
              <a:t>3</a:t>
            </a:r>
            <a:r>
              <a:rPr lang="en" sz="1150">
                <a:solidFill>
                  <a:srgbClr val="000000"/>
                </a:solidFill>
                <a:latin typeface="Consolas"/>
                <a:ea typeface="Consolas"/>
                <a:cs typeface="Consolas"/>
                <a:sym typeface="Consolas"/>
              </a:rPr>
              <a:t>, </a:t>
            </a:r>
            <a:r>
              <a:rPr lang="en" sz="1150">
                <a:solidFill>
                  <a:srgbClr val="0000FF"/>
                </a:solidFill>
                <a:latin typeface="Consolas"/>
                <a:ea typeface="Consolas"/>
                <a:cs typeface="Consolas"/>
                <a:sym typeface="Consolas"/>
              </a:rPr>
              <a:t>true</a:t>
            </a:r>
            <a:r>
              <a:rPr lang="en" sz="1150">
                <a:solidFill>
                  <a:srgbClr val="000000"/>
                </a:solidFill>
                <a:latin typeface="Consolas"/>
                <a:ea typeface="Consolas"/>
                <a:cs typeface="Consolas"/>
                <a:sym typeface="Consolas"/>
              </a:rPr>
              <a:t>);</a:t>
            </a:r>
            <a:endParaRPr sz="115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98658"/>
                </a:solidFill>
                <a:latin typeface="Consolas"/>
                <a:ea typeface="Consolas"/>
                <a:cs typeface="Consolas"/>
                <a:sym typeface="Consolas"/>
              </a:rPr>
              <a:t>11</a:t>
            </a:r>
            <a:r>
              <a:rPr lang="en" sz="1150">
                <a:solidFill>
                  <a:srgbClr val="000000"/>
                </a:solidFill>
                <a:latin typeface="Consolas"/>
                <a:ea typeface="Consolas"/>
                <a:cs typeface="Consolas"/>
                <a:sym typeface="Consolas"/>
              </a:rPr>
              <a:t> }</a:t>
            </a:r>
            <a:endParaRPr/>
          </a:p>
        </p:txBody>
      </p:sp>
      <p:grpSp>
        <p:nvGrpSpPr>
          <p:cNvPr id="452" name="Google Shape;452;p63"/>
          <p:cNvGrpSpPr/>
          <p:nvPr/>
        </p:nvGrpSpPr>
        <p:grpSpPr>
          <a:xfrm>
            <a:off x="5809825" y="2989439"/>
            <a:ext cx="2613000" cy="838650"/>
            <a:chOff x="5809825" y="3316700"/>
            <a:chExt cx="2613000" cy="838650"/>
          </a:xfrm>
        </p:grpSpPr>
        <p:sp>
          <p:nvSpPr>
            <p:cNvPr id="453" name="Google Shape;453;p63"/>
            <p:cNvSpPr/>
            <p:nvPr/>
          </p:nvSpPr>
          <p:spPr>
            <a:xfrm>
              <a:off x="5809825" y="3316700"/>
              <a:ext cx="1998900" cy="306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4" name="Google Shape;454;p63"/>
            <p:cNvCxnSpPr>
              <a:stCxn id="453" idx="3"/>
            </p:cNvCxnSpPr>
            <p:nvPr/>
          </p:nvCxnSpPr>
          <p:spPr>
            <a:xfrm>
              <a:off x="7808725" y="3470150"/>
              <a:ext cx="614100" cy="685200"/>
            </a:xfrm>
            <a:prstGeom prst="bentConnector2">
              <a:avLst/>
            </a:prstGeom>
            <a:noFill/>
            <a:ln w="19050" cap="flat" cmpd="sng">
              <a:solidFill>
                <a:srgbClr val="FF0000"/>
              </a:solidFill>
              <a:prstDash val="solid"/>
              <a:round/>
              <a:headEnd type="none" w="med" len="med"/>
              <a:tailEnd type="none" w="med" len="med"/>
            </a:ln>
          </p:spPr>
        </p:cxnSp>
      </p:grpSp>
      <p:sp>
        <p:nvSpPr>
          <p:cNvPr id="455" name="Google Shape;455;p63"/>
          <p:cNvSpPr txBox="1">
            <a:spLocks noGrp="1"/>
          </p:cNvSpPr>
          <p:nvPr>
            <p:ph type="body" idx="3"/>
          </p:nvPr>
        </p:nvSpPr>
        <p:spPr>
          <a:xfrm>
            <a:off x="5192225" y="3609989"/>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Notice the use of </a:t>
            </a:r>
            <a:r>
              <a:rPr lang="en" sz="1200" dirty="0">
                <a:solidFill>
                  <a:srgbClr val="FF0000"/>
                </a:solidFill>
                <a:latin typeface="Courier New"/>
                <a:ea typeface="Courier New"/>
                <a:cs typeface="Courier New"/>
                <a:sym typeface="Courier New"/>
              </a:rPr>
              <a:t>this</a:t>
            </a:r>
            <a:r>
              <a:rPr lang="en" sz="1200" b="1" dirty="0">
                <a:solidFill>
                  <a:srgbClr val="FF0000"/>
                </a:solidFill>
                <a:latin typeface="Roboto"/>
                <a:ea typeface="Roboto"/>
                <a:cs typeface="Roboto"/>
                <a:sym typeface="Roboto"/>
              </a:rPr>
              <a:t> </a:t>
            </a:r>
            <a:r>
              <a:rPr lang="en" sz="1200" dirty="0"/>
              <a:t>instead of </a:t>
            </a:r>
            <a:r>
              <a:rPr lang="en" sz="1200" dirty="0">
                <a:latin typeface="Courier New"/>
                <a:ea typeface="Courier New"/>
                <a:cs typeface="Courier New"/>
                <a:sym typeface="Courier New"/>
              </a:rPr>
              <a:t>House</a:t>
            </a:r>
            <a:r>
              <a:rPr lang="en" sz="1200" dirty="0"/>
              <a:t> when calling a constructor from inside another constructor.</a:t>
            </a:r>
            <a:endParaRPr sz="1200" dirty="0"/>
          </a:p>
        </p:txBody>
      </p:sp>
      <p:sp>
        <p:nvSpPr>
          <p:cNvPr id="456" name="Google Shape;456;p63"/>
          <p:cNvSpPr txBox="1">
            <a:spLocks noGrp="1"/>
          </p:cNvSpPr>
          <p:nvPr>
            <p:ph type="body" idx="3"/>
          </p:nvPr>
        </p:nvSpPr>
        <p:spPr>
          <a:xfrm>
            <a:off x="5188525" y="4424172"/>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This example will make a house of any color, 2 bathrooms, 3 bedrooms, and HVAC installed.</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4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4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4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4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4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4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55"/>
                                        </p:tgtEl>
                                        <p:attrNameLst>
                                          <p:attrName>style.visibility</p:attrName>
                                        </p:attrNameLst>
                                      </p:cBhvr>
                                      <p:to>
                                        <p:strVal val="visible"/>
                                      </p:to>
                                    </p:set>
                                    <p:animEffect transition="in" filter="fade">
                                      <p:cBhvr>
                                        <p:cTn id="55" dur="1000"/>
                                        <p:tgtEl>
                                          <p:spTgt spid="455"/>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452"/>
                                        </p:tgtEl>
                                        <p:attrNameLst>
                                          <p:attrName>style.visibility</p:attrName>
                                        </p:attrNameLst>
                                      </p:cBhvr>
                                      <p:to>
                                        <p:strVal val="visible"/>
                                      </p:to>
                                    </p:set>
                                    <p:animEffect transition="in" filter="fade">
                                      <p:cBhvr>
                                        <p:cTn id="59" dur="1000"/>
                                        <p:tgtEl>
                                          <p:spTgt spid="45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456"/>
                                        </p:tgtEl>
                                        <p:attrNameLst>
                                          <p:attrName>style.visibility</p:attrName>
                                        </p:attrNameLst>
                                      </p:cBhvr>
                                      <p:to>
                                        <p:strVal val="visible"/>
                                      </p:to>
                                    </p:set>
                                    <p:animEffect transition="in" filter="fade">
                                      <p:cBhvr>
                                        <p:cTn id="64" dur="1000"/>
                                        <p:tgtEl>
                                          <p:spTgt spid="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64"/>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Overloading constructors can provide different (and often simpler) ways to construct different instances of the same class. Consider that some ships may not have weapons or shields. Overload the </a:t>
            </a:r>
            <a:r>
              <a:rPr lang="en">
                <a:latin typeface="Courier New"/>
                <a:ea typeface="Courier New"/>
                <a:cs typeface="Courier New"/>
                <a:sym typeface="Courier New"/>
              </a:rPr>
              <a:t>Ship</a:t>
            </a:r>
            <a:r>
              <a:rPr lang="en"/>
              <a:t>'s constructor to make it easier to construct such a ship.</a:t>
            </a:r>
            <a:endParaRPr/>
          </a:p>
        </p:txBody>
      </p:sp>
      <p:sp>
        <p:nvSpPr>
          <p:cNvPr id="462" name="Google Shape;462;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463" name="Google Shape;463;p64"/>
          <p:cNvSpPr txBox="1">
            <a:spLocks noGrp="1"/>
          </p:cNvSpPr>
          <p:nvPr>
            <p:ph type="body" idx="2"/>
          </p:nvPr>
        </p:nvSpPr>
        <p:spPr>
          <a:xfrm>
            <a:off x="3592375" y="1860725"/>
            <a:ext cx="5272500" cy="2485265"/>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Add a second constructor to the the </a:t>
            </a:r>
            <a:r>
              <a:rPr lang="en" sz="1400" dirty="0">
                <a:solidFill>
                  <a:srgbClr val="FF0000"/>
                </a:solidFill>
                <a:latin typeface="Courier New"/>
                <a:ea typeface="Courier New"/>
                <a:cs typeface="Courier New"/>
                <a:sym typeface="Courier New"/>
              </a:rPr>
              <a:t>Ship</a:t>
            </a:r>
            <a:r>
              <a:rPr lang="en" sz="1400" dirty="0"/>
              <a:t> class that only declares parameters </a:t>
            </a:r>
            <a:r>
              <a:rPr lang="en" sz="1400" dirty="0">
                <a:latin typeface="Courier New"/>
                <a:ea typeface="Courier New"/>
                <a:cs typeface="Courier New"/>
                <a:sym typeface="Courier New"/>
              </a:rPr>
              <a:t>name</a:t>
            </a:r>
            <a:r>
              <a:rPr lang="en" sz="1400" dirty="0"/>
              <a:t> and </a:t>
            </a:r>
            <a:r>
              <a:rPr lang="en" sz="1400" dirty="0">
                <a:latin typeface="Courier New"/>
                <a:ea typeface="Courier New"/>
                <a:cs typeface="Courier New"/>
                <a:sym typeface="Courier New"/>
              </a:rPr>
              <a:t>hullAmount</a:t>
            </a:r>
            <a:r>
              <a:rPr lang="en" sz="1400" dirty="0"/>
              <a:t>.</a:t>
            </a:r>
            <a:endParaRPr sz="1400" dirty="0"/>
          </a:p>
          <a:p>
            <a:pPr marL="914400" lvl="1" indent="-304800" algn="l" rtl="0">
              <a:spcBef>
                <a:spcPts val="0"/>
              </a:spcBef>
              <a:spcAft>
                <a:spcPts val="0"/>
              </a:spcAft>
              <a:buSzPts val="1200"/>
              <a:buChar char="○"/>
            </a:pPr>
            <a:r>
              <a:rPr lang="en" sz="1200" dirty="0"/>
              <a:t>Make sure to use </a:t>
            </a:r>
            <a:r>
              <a:rPr lang="en" sz="1200" dirty="0">
                <a:latin typeface="Courier New"/>
                <a:ea typeface="Courier New"/>
                <a:cs typeface="Courier New"/>
                <a:sym typeface="Courier New"/>
              </a:rPr>
              <a:t>this</a:t>
            </a:r>
            <a:r>
              <a:rPr lang="en" sz="1200" dirty="0"/>
              <a:t> to call the other constructor using default values for the other parameters. What values should you use by default?</a:t>
            </a:r>
            <a:endParaRPr sz="1200" dirty="0"/>
          </a:p>
          <a:p>
            <a:pPr marL="457200" lvl="0" indent="-317500" algn="l" rtl="0">
              <a:spcBef>
                <a:spcPts val="0"/>
              </a:spcBef>
              <a:spcAft>
                <a:spcPts val="0"/>
              </a:spcAft>
              <a:buSzPts val="1400"/>
              <a:buChar char="●"/>
            </a:pPr>
            <a:r>
              <a:rPr lang="en" sz="1400" dirty="0"/>
              <a:t>In </a:t>
            </a:r>
            <a:r>
              <a:rPr lang="en" sz="1400" dirty="0">
                <a:latin typeface="Courier New"/>
                <a:ea typeface="Courier New"/>
                <a:cs typeface="Courier New"/>
                <a:sym typeface="Courier New"/>
              </a:rPr>
              <a:t>main</a:t>
            </a:r>
            <a:r>
              <a:rPr lang="en" sz="1400" dirty="0"/>
              <a:t>, create a new </a:t>
            </a:r>
            <a:r>
              <a:rPr lang="en" sz="1400" dirty="0">
                <a:highlight>
                  <a:srgbClr val="FFFF00"/>
                </a:highlight>
                <a:latin typeface="Courier New"/>
                <a:ea typeface="Courier New"/>
                <a:cs typeface="Courier New"/>
                <a:sym typeface="Courier New"/>
              </a:rPr>
              <a:t>Ship</a:t>
            </a:r>
            <a:r>
              <a:rPr lang="en" sz="1400" dirty="0">
                <a:highlight>
                  <a:srgbClr val="FFFF00"/>
                </a:highlight>
              </a:rPr>
              <a:t> using the simplified constructor and print the new ship's </a:t>
            </a:r>
            <a:r>
              <a:rPr lang="en" sz="1400" dirty="0">
                <a:highlight>
                  <a:srgbClr val="FFFF00"/>
                </a:highlight>
                <a:latin typeface="Courier New"/>
                <a:ea typeface="Courier New"/>
                <a:cs typeface="Courier New"/>
                <a:sym typeface="Courier New"/>
              </a:rPr>
              <a:t>name</a:t>
            </a:r>
            <a:r>
              <a:rPr lang="en" sz="1400" dirty="0">
                <a:highlight>
                  <a:srgbClr val="FFFF00"/>
                </a:highlight>
              </a:rPr>
              <a:t> and </a:t>
            </a:r>
            <a:r>
              <a:rPr lang="en" sz="1400" dirty="0">
                <a:highlight>
                  <a:srgbClr val="FFFF00"/>
                </a:highlight>
                <a:latin typeface="Courier New"/>
                <a:ea typeface="Courier New"/>
                <a:cs typeface="Courier New"/>
                <a:sym typeface="Courier New"/>
              </a:rPr>
              <a:t>hullAmount</a:t>
            </a:r>
            <a:r>
              <a:rPr lang="en" sz="1400" dirty="0">
                <a:highlight>
                  <a:srgbClr val="FFFF00"/>
                </a:highlight>
              </a:rPr>
              <a:t>.</a:t>
            </a:r>
            <a:endParaRPr sz="1400" dirty="0">
              <a:highlight>
                <a:srgbClr val="FFFF00"/>
              </a:highlight>
            </a:endParaRPr>
          </a:p>
          <a:p>
            <a:pPr marL="914400" lvl="1" indent="-304800" algn="l" rtl="0">
              <a:spcBef>
                <a:spcPts val="0"/>
              </a:spcBef>
              <a:spcAft>
                <a:spcPts val="0"/>
              </a:spcAft>
              <a:buSzPts val="1200"/>
              <a:buChar char="○"/>
            </a:pPr>
            <a:r>
              <a:rPr lang="en" sz="1200" dirty="0"/>
              <a:t>What happens when you print the other attributes of the new ship?</a:t>
            </a:r>
            <a:endParaRPr sz="1200" dirty="0">
              <a:latin typeface="Courier New"/>
              <a:ea typeface="Courier New"/>
              <a:cs typeface="Courier New"/>
              <a:sym typeface="Courier New"/>
            </a:endParaRPr>
          </a:p>
        </p:txBody>
      </p:sp>
      <p:sp>
        <p:nvSpPr>
          <p:cNvPr id="464" name="Google Shape;464;p6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Overloading Constructors</a:t>
            </a:r>
            <a:endParaRPr/>
          </a:p>
        </p:txBody>
      </p:sp>
      <p:sp>
        <p:nvSpPr>
          <p:cNvPr id="465" name="Google Shape;465;p6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2.6</a:t>
            </a:r>
            <a:endParaRPr/>
          </a:p>
        </p:txBody>
      </p:sp>
      <p:sp>
        <p:nvSpPr>
          <p:cNvPr id="466" name="Google Shape;466;p64"/>
          <p:cNvSpPr txBox="1">
            <a:spLocks noGrp="1"/>
          </p:cNvSpPr>
          <p:nvPr>
            <p:ph type="body" idx="4"/>
          </p:nvPr>
        </p:nvSpPr>
        <p:spPr>
          <a:xfrm>
            <a:off x="180400" y="4326450"/>
            <a:ext cx="3329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When one constructor calls another, this is referred to as </a:t>
            </a:r>
            <a:r>
              <a:rPr lang="en" b="1" i="1">
                <a:solidFill>
                  <a:srgbClr val="FF0000"/>
                </a:solidFill>
              </a:rPr>
              <a:t>constructor chaining</a:t>
            </a:r>
            <a:r>
              <a:rPr lang="en"/>
              <a:t>.</a:t>
            </a:r>
            <a:endParaRPr/>
          </a:p>
        </p:txBody>
      </p:sp>
      <p:sp>
        <p:nvSpPr>
          <p:cNvPr id="467" name="Google Shape;467;p64"/>
          <p:cNvSpPr txBox="1">
            <a:spLocks noGrp="1"/>
          </p:cNvSpPr>
          <p:nvPr>
            <p:ph type="body" idx="4"/>
          </p:nvPr>
        </p:nvSpPr>
        <p:spPr>
          <a:xfrm>
            <a:off x="180400" y="1860725"/>
            <a:ext cx="3329700" cy="23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150">
                <a:solidFill>
                  <a:srgbClr val="0000FF"/>
                </a:solidFill>
                <a:highlight>
                  <a:srgbClr val="FFFFFF"/>
                </a:highlight>
                <a:latin typeface="Consolas"/>
                <a:ea typeface="Consolas"/>
                <a:cs typeface="Consolas"/>
                <a:sym typeface="Consolas"/>
              </a:rPr>
              <a:t>public</a:t>
            </a: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House</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String</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int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baths</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267F99"/>
                </a:solidFill>
                <a:highlight>
                  <a:srgbClr val="FFFFFF"/>
                </a:highlight>
                <a:latin typeface="Consolas"/>
                <a:ea typeface="Consolas"/>
                <a:cs typeface="Consolas"/>
                <a:sym typeface="Consolas"/>
              </a:rPr>
              <a:t>             int</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beds</a:t>
            </a:r>
            <a:r>
              <a:rPr lang="en" sz="1150">
                <a:solidFill>
                  <a:srgbClr val="000000"/>
                </a:solidFill>
                <a:highlight>
                  <a:srgbClr val="FFFFFF"/>
                </a:highlight>
                <a:latin typeface="Consolas"/>
                <a:ea typeface="Consolas"/>
                <a:cs typeface="Consolas"/>
                <a:sym typeface="Consolas"/>
              </a:rPr>
              <a:t>, </a:t>
            </a:r>
            <a:r>
              <a:rPr lang="en" sz="1150">
                <a:solidFill>
                  <a:srgbClr val="267F99"/>
                </a:solidFill>
                <a:highlight>
                  <a:srgbClr val="FFFFFF"/>
                </a:highlight>
                <a:latin typeface="Consolas"/>
                <a:ea typeface="Consolas"/>
                <a:cs typeface="Consolas"/>
                <a:sym typeface="Consolas"/>
              </a:rPr>
              <a:t>boolean</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hvac</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exteriorColor</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numBathrooms</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baths</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numBedrooms</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beds</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this</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hvac</a:t>
            </a:r>
            <a:r>
              <a:rPr lang="en" sz="1150">
                <a:solidFill>
                  <a:srgbClr val="000000"/>
                </a:solidFill>
                <a:highlight>
                  <a:srgbClr val="FFFFFF"/>
                </a:highlight>
                <a:latin typeface="Consolas"/>
                <a:ea typeface="Consolas"/>
                <a:cs typeface="Consolas"/>
                <a:sym typeface="Consolas"/>
              </a:rPr>
              <a:t> = </a:t>
            </a:r>
            <a:r>
              <a:rPr lang="en" sz="1150">
                <a:solidFill>
                  <a:srgbClr val="001080"/>
                </a:solidFill>
                <a:highlight>
                  <a:srgbClr val="FFFFFF"/>
                </a:highlight>
                <a:latin typeface="Consolas"/>
                <a:ea typeface="Consolas"/>
                <a:cs typeface="Consolas"/>
                <a:sym typeface="Consolas"/>
              </a:rPr>
              <a:t>hvac</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FF"/>
                </a:solidFill>
                <a:highlight>
                  <a:srgbClr val="FFFFFF"/>
                </a:highlight>
                <a:latin typeface="Consolas"/>
                <a:ea typeface="Consolas"/>
                <a:cs typeface="Consolas"/>
                <a:sym typeface="Consolas"/>
              </a:rPr>
              <a:t>public</a:t>
            </a:r>
            <a:r>
              <a:rPr lang="en" sz="1150">
                <a:solidFill>
                  <a:srgbClr val="000000"/>
                </a:solidFill>
                <a:highlight>
                  <a:srgbClr val="FFFFFF"/>
                </a:highlight>
                <a:latin typeface="Consolas"/>
                <a:ea typeface="Consolas"/>
                <a:cs typeface="Consolas"/>
                <a:sym typeface="Consolas"/>
              </a:rPr>
              <a:t> </a:t>
            </a:r>
            <a:r>
              <a:rPr lang="en" sz="1150">
                <a:solidFill>
                  <a:srgbClr val="795E26"/>
                </a:solidFill>
                <a:highlight>
                  <a:srgbClr val="FFFFFF"/>
                </a:highlight>
                <a:latin typeface="Consolas"/>
                <a:ea typeface="Consolas"/>
                <a:cs typeface="Consolas"/>
                <a:sym typeface="Consolas"/>
              </a:rPr>
              <a:t>House</a:t>
            </a:r>
            <a:r>
              <a:rPr lang="en" sz="1150">
                <a:solidFill>
                  <a:srgbClr val="000000"/>
                </a:solidFill>
                <a:highlight>
                  <a:srgbClr val="FFFFFF"/>
                </a:highlight>
                <a:latin typeface="Consolas"/>
                <a:ea typeface="Consolas"/>
                <a:cs typeface="Consolas"/>
                <a:sym typeface="Consolas"/>
              </a:rPr>
              <a:t>(</a:t>
            </a:r>
            <a:r>
              <a:rPr lang="en" sz="1150">
                <a:solidFill>
                  <a:srgbClr val="267F99"/>
                </a:solidFill>
                <a:highlight>
                  <a:srgbClr val="FFFFFF"/>
                </a:highlight>
                <a:latin typeface="Consolas"/>
                <a:ea typeface="Consolas"/>
                <a:cs typeface="Consolas"/>
                <a:sym typeface="Consolas"/>
              </a:rPr>
              <a:t>String</a:t>
            </a:r>
            <a:r>
              <a:rPr lang="en" sz="1150">
                <a:solidFill>
                  <a:srgbClr val="000000"/>
                </a:solidFill>
                <a:highlight>
                  <a:srgbClr val="FFFFFF"/>
                </a:highlight>
                <a:latin typeface="Consolas"/>
                <a:ea typeface="Consolas"/>
                <a:cs typeface="Consolas"/>
                <a:sym typeface="Consolas"/>
              </a:rPr>
              <a:t> </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 {</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this</a:t>
            </a:r>
            <a:r>
              <a:rPr lang="en" sz="1150">
                <a:solidFill>
                  <a:srgbClr val="000000"/>
                </a:solidFill>
                <a:highlight>
                  <a:srgbClr val="FFFFFF"/>
                </a:highlight>
                <a:latin typeface="Consolas"/>
                <a:ea typeface="Consolas"/>
                <a:cs typeface="Consolas"/>
                <a:sym typeface="Consolas"/>
              </a:rPr>
              <a:t>(</a:t>
            </a:r>
            <a:r>
              <a:rPr lang="en" sz="1150">
                <a:solidFill>
                  <a:srgbClr val="001080"/>
                </a:solidFill>
                <a:highlight>
                  <a:srgbClr val="FFFFFF"/>
                </a:highlight>
                <a:latin typeface="Consolas"/>
                <a:ea typeface="Consolas"/>
                <a:cs typeface="Consolas"/>
                <a:sym typeface="Consolas"/>
              </a:rPr>
              <a:t>color</a:t>
            </a:r>
            <a:r>
              <a:rPr lang="en" sz="1150">
                <a:solidFill>
                  <a:srgbClr val="000000"/>
                </a:solidFill>
                <a:highlight>
                  <a:srgbClr val="FFFFFF"/>
                </a:highlight>
                <a:latin typeface="Consolas"/>
                <a:ea typeface="Consolas"/>
                <a:cs typeface="Consolas"/>
                <a:sym typeface="Consolas"/>
              </a:rPr>
              <a:t>, </a:t>
            </a:r>
            <a:r>
              <a:rPr lang="en" sz="1150">
                <a:solidFill>
                  <a:srgbClr val="098658"/>
                </a:solidFill>
                <a:highlight>
                  <a:srgbClr val="FFFFFF"/>
                </a:highlight>
                <a:latin typeface="Consolas"/>
                <a:ea typeface="Consolas"/>
                <a:cs typeface="Consolas"/>
                <a:sym typeface="Consolas"/>
              </a:rPr>
              <a:t>2</a:t>
            </a:r>
            <a:r>
              <a:rPr lang="en" sz="1150">
                <a:solidFill>
                  <a:srgbClr val="000000"/>
                </a:solidFill>
                <a:highlight>
                  <a:srgbClr val="FFFFFF"/>
                </a:highlight>
                <a:latin typeface="Consolas"/>
                <a:ea typeface="Consolas"/>
                <a:cs typeface="Consolas"/>
                <a:sym typeface="Consolas"/>
              </a:rPr>
              <a:t>, </a:t>
            </a:r>
            <a:r>
              <a:rPr lang="en" sz="1150">
                <a:solidFill>
                  <a:srgbClr val="098658"/>
                </a:solidFill>
                <a:highlight>
                  <a:srgbClr val="FFFFFF"/>
                </a:highlight>
                <a:latin typeface="Consolas"/>
                <a:ea typeface="Consolas"/>
                <a:cs typeface="Consolas"/>
                <a:sym typeface="Consolas"/>
              </a:rPr>
              <a:t>3</a:t>
            </a:r>
            <a:r>
              <a:rPr lang="en" sz="1150">
                <a:solidFill>
                  <a:srgbClr val="000000"/>
                </a:solidFill>
                <a:highlight>
                  <a:srgbClr val="FFFFFF"/>
                </a:highlight>
                <a:latin typeface="Consolas"/>
                <a:ea typeface="Consolas"/>
                <a:cs typeface="Consolas"/>
                <a:sym typeface="Consolas"/>
              </a:rPr>
              <a:t>, </a:t>
            </a:r>
            <a:r>
              <a:rPr lang="en" sz="1150">
                <a:solidFill>
                  <a:srgbClr val="0000FF"/>
                </a:solidFill>
                <a:highlight>
                  <a:srgbClr val="FFFFFF"/>
                </a:highlight>
                <a:latin typeface="Consolas"/>
                <a:ea typeface="Consolas"/>
                <a:cs typeface="Consolas"/>
                <a:sym typeface="Consolas"/>
              </a:rPr>
              <a:t>true</a:t>
            </a:r>
            <a:r>
              <a:rPr lang="en" sz="1150">
                <a:solidFill>
                  <a:srgbClr val="000000"/>
                </a:solidFill>
                <a:highlight>
                  <a:srgbClr val="FFFFFF"/>
                </a:highlight>
                <a:latin typeface="Consolas"/>
                <a:ea typeface="Consolas"/>
                <a:cs typeface="Consolas"/>
                <a:sym typeface="Consolas"/>
              </a:rPr>
              <a:t>);</a:t>
            </a:r>
            <a:endParaRPr sz="1150">
              <a:solidFill>
                <a:srgbClr val="000000"/>
              </a:solidFill>
              <a:highlight>
                <a:srgbClr val="FFFFFF"/>
              </a:highlight>
              <a:latin typeface="Consolas"/>
              <a:ea typeface="Consolas"/>
              <a:cs typeface="Consolas"/>
              <a:sym typeface="Consolas"/>
            </a:endParaRPr>
          </a:p>
          <a:p>
            <a:pPr marL="0" lvl="0" indent="0" algn="l" rtl="0">
              <a:lnSpc>
                <a:spcPct val="115000"/>
              </a:lnSpc>
              <a:spcBef>
                <a:spcPts val="0"/>
              </a:spcBef>
              <a:spcAft>
                <a:spcPts val="0"/>
              </a:spcAft>
              <a:buNone/>
            </a:pPr>
            <a:r>
              <a:rPr lang="en" sz="1150">
                <a:solidFill>
                  <a:srgbClr val="000000"/>
                </a:solidFill>
                <a:highlight>
                  <a:srgbClr val="FFFFFF"/>
                </a:highlight>
                <a:latin typeface="Consolas"/>
                <a:ea typeface="Consolas"/>
                <a:cs typeface="Consolas"/>
                <a:sym typeface="Consolas"/>
              </a:rPr>
              <a: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5"/>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20</a:t>
            </a:fld>
            <a:endParaRPr/>
          </a:p>
        </p:txBody>
      </p:sp>
      <p:sp>
        <p:nvSpPr>
          <p:cNvPr id="473" name="Google Shape;473;p65"/>
          <p:cNvSpPr txBox="1">
            <a:spLocks noGrp="1"/>
          </p:cNvSpPr>
          <p:nvPr>
            <p:ph type="title"/>
          </p:nvPr>
        </p:nvSpPr>
        <p:spPr>
          <a:xfrm>
            <a:off x="51885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Encapsulation</a:t>
            </a:r>
            <a:endParaRPr/>
          </a:p>
        </p:txBody>
      </p:sp>
      <p:sp>
        <p:nvSpPr>
          <p:cNvPr id="474" name="Google Shape;474;p65"/>
          <p:cNvSpPr txBox="1">
            <a:spLocks noGrp="1"/>
          </p:cNvSpPr>
          <p:nvPr>
            <p:ph type="body" idx="1"/>
          </p:nvPr>
        </p:nvSpPr>
        <p:spPr>
          <a:xfrm>
            <a:off x="359850" y="107625"/>
            <a:ext cx="4280700" cy="4833300"/>
          </a:xfrm>
          <a:prstGeom prst="rect">
            <a:avLst/>
          </a:prstGeom>
        </p:spPr>
        <p:txBody>
          <a:bodyPr spcFirstLastPara="1" wrap="square" lIns="91425" tIns="91425" rIns="91425" bIns="91425" anchor="t" anchorCtr="0">
            <a:spAutoFit/>
          </a:bodyPr>
          <a:lstStyle/>
          <a:p>
            <a:pPr marL="365754" lvl="0" indent="-288919" algn="l" rtl="0">
              <a:lnSpc>
                <a:spcPct val="100000"/>
              </a:lnSpc>
              <a:spcBef>
                <a:spcPts val="0"/>
              </a:spcBef>
              <a:spcAft>
                <a:spcPts val="0"/>
              </a:spcAft>
              <a:buClr>
                <a:schemeClr val="dk2"/>
              </a:buClr>
              <a:buSzPts val="1400"/>
              <a:buFont typeface="Roboto"/>
              <a:buChar char="●"/>
            </a:pPr>
            <a:r>
              <a:rPr lang="en" sz="1400" dirty="0"/>
              <a:t>Now that we know about classes, you might ask "Why are they so popular?"</a:t>
            </a:r>
            <a:endParaRPr sz="1400" dirty="0"/>
          </a:p>
          <a:p>
            <a:pPr marL="365754" lvl="0" indent="-288919" algn="l" rtl="0">
              <a:lnSpc>
                <a:spcPct val="100000"/>
              </a:lnSpc>
              <a:spcBef>
                <a:spcPts val="0"/>
              </a:spcBef>
              <a:spcAft>
                <a:spcPts val="0"/>
              </a:spcAft>
              <a:buClr>
                <a:schemeClr val="dk2"/>
              </a:buClr>
              <a:buSzPts val="1400"/>
              <a:buFont typeface="Calibri"/>
              <a:buChar char="●"/>
            </a:pPr>
            <a:r>
              <a:rPr lang="en" sz="1400" dirty="0">
                <a:highlight>
                  <a:srgbClr val="FFFF00"/>
                </a:highlight>
              </a:rPr>
              <a:t>The main reason they have become the dominant form of programming is </a:t>
            </a:r>
            <a:r>
              <a:rPr lang="en" sz="1400" b="1" i="1" dirty="0">
                <a:solidFill>
                  <a:srgbClr val="FF0000"/>
                </a:solidFill>
                <a:highlight>
                  <a:srgbClr val="FFFF00"/>
                </a:highlight>
              </a:rPr>
              <a:t>encapsulation</a:t>
            </a:r>
            <a:r>
              <a:rPr lang="en" sz="1400" dirty="0">
                <a:highlight>
                  <a:srgbClr val="FFFF00"/>
                </a:highlight>
              </a:rPr>
              <a:t>.</a:t>
            </a:r>
            <a:endParaRPr sz="1400" b="1" i="1" dirty="0">
              <a:solidFill>
                <a:srgbClr val="FF0000"/>
              </a:solidFill>
              <a:highlight>
                <a:srgbClr val="FFFF00"/>
              </a:highlight>
            </a:endParaRPr>
          </a:p>
          <a:p>
            <a:pPr marL="853428" lvl="1" indent="-302235" algn="l" rtl="0">
              <a:lnSpc>
                <a:spcPct val="100000"/>
              </a:lnSpc>
              <a:spcBef>
                <a:spcPts val="0"/>
              </a:spcBef>
              <a:spcAft>
                <a:spcPts val="0"/>
              </a:spcAft>
              <a:buClr>
                <a:schemeClr val="dk2"/>
              </a:buClr>
              <a:buSzPts val="1400"/>
              <a:buFont typeface="Courier New"/>
              <a:buChar char="o"/>
            </a:pPr>
            <a:r>
              <a:rPr lang="en" sz="1200" dirty="0"/>
              <a:t>Encapsulation refers to putting something </a:t>
            </a:r>
            <a:r>
              <a:rPr lang="en" sz="1200" b="1" i="1" dirty="0">
                <a:solidFill>
                  <a:srgbClr val="FF0000"/>
                </a:solidFill>
              </a:rPr>
              <a:t>inside </a:t>
            </a:r>
            <a:r>
              <a:rPr lang="en" sz="1200" dirty="0"/>
              <a:t>something else, e.g. putting related </a:t>
            </a:r>
            <a:r>
              <a:rPr lang="en" sz="1200" b="1" i="1" dirty="0">
                <a:solidFill>
                  <a:srgbClr val="FF0000"/>
                </a:solidFill>
              </a:rPr>
              <a:t>fields</a:t>
            </a:r>
            <a:r>
              <a:rPr lang="en" sz="1200" dirty="0">
                <a:solidFill>
                  <a:srgbClr val="FF0000"/>
                </a:solidFill>
              </a:rPr>
              <a:t> </a:t>
            </a:r>
            <a:r>
              <a:rPr lang="en" sz="1200" dirty="0"/>
              <a:t>and </a:t>
            </a:r>
            <a:r>
              <a:rPr lang="en" sz="1200" b="1" i="1" dirty="0">
                <a:solidFill>
                  <a:srgbClr val="FF0000"/>
                </a:solidFill>
              </a:rPr>
              <a:t>methods</a:t>
            </a:r>
            <a:r>
              <a:rPr lang="en" sz="1200" dirty="0">
                <a:solidFill>
                  <a:srgbClr val="FF0000"/>
                </a:solidFill>
              </a:rPr>
              <a:t> </a:t>
            </a:r>
            <a:r>
              <a:rPr lang="en" sz="1200" dirty="0"/>
              <a:t>together inside of a class.</a:t>
            </a:r>
            <a:endParaRPr sz="1200" dirty="0"/>
          </a:p>
          <a:p>
            <a:pPr marL="853428" lvl="1" indent="-302235" algn="l" rtl="0">
              <a:lnSpc>
                <a:spcPct val="100000"/>
              </a:lnSpc>
              <a:spcBef>
                <a:spcPts val="0"/>
              </a:spcBef>
              <a:spcAft>
                <a:spcPts val="0"/>
              </a:spcAft>
              <a:buClr>
                <a:schemeClr val="dk2"/>
              </a:buClr>
              <a:buSzPts val="1400"/>
              <a:buFont typeface="Courier New"/>
              <a:buChar char="o"/>
            </a:pPr>
            <a:r>
              <a:rPr lang="en" sz="1200" dirty="0">
                <a:highlight>
                  <a:srgbClr val="FFFF00"/>
                </a:highlight>
              </a:rPr>
              <a:t>Each object of the class that is created has its own copy of the fields and methods.</a:t>
            </a:r>
            <a:endParaRPr sz="1200" dirty="0">
              <a:highlight>
                <a:srgbClr val="FFFF00"/>
              </a:highlight>
            </a:endParaRPr>
          </a:p>
          <a:p>
            <a:pPr marL="853428" lvl="1" indent="-302235" algn="l" rtl="0">
              <a:lnSpc>
                <a:spcPct val="100000"/>
              </a:lnSpc>
              <a:spcBef>
                <a:spcPts val="0"/>
              </a:spcBef>
              <a:spcAft>
                <a:spcPts val="0"/>
              </a:spcAft>
              <a:buClr>
                <a:schemeClr val="dk2"/>
              </a:buClr>
              <a:buSzPts val="1400"/>
              <a:buFont typeface="Courier New"/>
              <a:buChar char="o"/>
            </a:pPr>
            <a:r>
              <a:rPr lang="en" sz="1200" dirty="0">
                <a:highlight>
                  <a:srgbClr val="FFFF00"/>
                </a:highlight>
              </a:rPr>
              <a:t>Changes to the state of one object do not have any effect on the state of any other objects.</a:t>
            </a:r>
            <a:endParaRPr sz="1400" dirty="0">
              <a:highlight>
                <a:srgbClr val="FFFF00"/>
              </a:highlight>
            </a:endParaRPr>
          </a:p>
          <a:p>
            <a:pPr marL="365754" lvl="0" indent="-287033" algn="l" rtl="0">
              <a:lnSpc>
                <a:spcPct val="100000"/>
              </a:lnSpc>
              <a:spcBef>
                <a:spcPts val="0"/>
              </a:spcBef>
              <a:spcAft>
                <a:spcPts val="0"/>
              </a:spcAft>
              <a:buClr>
                <a:schemeClr val="dk2"/>
              </a:buClr>
              <a:buSzPts val="1400"/>
              <a:buFont typeface="Calibri"/>
              <a:buChar char="●"/>
            </a:pPr>
            <a:r>
              <a:rPr lang="en" sz="1400" dirty="0">
                <a:highlight>
                  <a:srgbClr val="FFFF00"/>
                </a:highlight>
              </a:rPr>
              <a:t>Encapsulation allows grouping of related </a:t>
            </a:r>
            <a:r>
              <a:rPr lang="en" sz="1400" b="1" i="1" dirty="0">
                <a:solidFill>
                  <a:srgbClr val="FF0000"/>
                </a:solidFill>
                <a:highlight>
                  <a:srgbClr val="FFFF00"/>
                </a:highlight>
              </a:rPr>
              <a:t>state </a:t>
            </a:r>
            <a:r>
              <a:rPr lang="en" sz="1400" dirty="0">
                <a:highlight>
                  <a:srgbClr val="FFFF00"/>
                </a:highlight>
              </a:rPr>
              <a:t>(fields) and </a:t>
            </a:r>
            <a:r>
              <a:rPr lang="en" sz="1400" b="1" i="1" dirty="0">
                <a:solidFill>
                  <a:srgbClr val="FF0000"/>
                </a:solidFill>
                <a:highlight>
                  <a:srgbClr val="FFFF00"/>
                </a:highlight>
              </a:rPr>
              <a:t>behavior </a:t>
            </a:r>
            <a:r>
              <a:rPr lang="en" sz="1400" dirty="0">
                <a:highlight>
                  <a:srgbClr val="FFFF00"/>
                </a:highlight>
              </a:rPr>
              <a:t>(methods) together.</a:t>
            </a:r>
            <a:endParaRPr sz="1200" dirty="0">
              <a:highlight>
                <a:srgbClr val="FFFF00"/>
              </a:highlight>
            </a:endParaRPr>
          </a:p>
          <a:p>
            <a:pPr marL="853428" lvl="1" indent="-289535" algn="l" rtl="0">
              <a:lnSpc>
                <a:spcPct val="100000"/>
              </a:lnSpc>
              <a:spcBef>
                <a:spcPts val="0"/>
              </a:spcBef>
              <a:spcAft>
                <a:spcPts val="0"/>
              </a:spcAft>
              <a:buClr>
                <a:srgbClr val="000000"/>
              </a:buClr>
              <a:buSzPts val="1200"/>
              <a:buFont typeface="Courier New"/>
              <a:buChar char="o"/>
            </a:pPr>
            <a:r>
              <a:rPr lang="en" sz="1200" dirty="0"/>
              <a:t>The fields in the class should be related to each other and collectively represent something.</a:t>
            </a:r>
            <a:endParaRPr sz="1200" dirty="0"/>
          </a:p>
          <a:p>
            <a:pPr marL="853428" lvl="1" indent="-289535" algn="l" rtl="0">
              <a:lnSpc>
                <a:spcPct val="100000"/>
              </a:lnSpc>
              <a:spcBef>
                <a:spcPts val="0"/>
              </a:spcBef>
              <a:spcAft>
                <a:spcPts val="0"/>
              </a:spcAft>
              <a:buClr>
                <a:srgbClr val="000000"/>
              </a:buClr>
              <a:buSzPts val="1200"/>
              <a:buFont typeface="Courier New"/>
              <a:buChar char="o"/>
            </a:pPr>
            <a:r>
              <a:rPr lang="en" sz="1200" dirty="0">
                <a:highlight>
                  <a:srgbClr val="FFFF00"/>
                </a:highlight>
              </a:rPr>
              <a:t>The methods in a class should use one or more of the fields in some way.</a:t>
            </a:r>
            <a:endParaRPr sz="1200" dirty="0">
              <a:highlight>
                <a:srgbClr val="FFFF00"/>
              </a:highlight>
            </a:endParaRPr>
          </a:p>
          <a:p>
            <a:pPr marL="365754" lvl="0" indent="-288919" algn="l" rtl="0">
              <a:lnSpc>
                <a:spcPct val="100000"/>
              </a:lnSpc>
              <a:spcBef>
                <a:spcPts val="0"/>
              </a:spcBef>
              <a:spcAft>
                <a:spcPts val="0"/>
              </a:spcAft>
              <a:buClr>
                <a:schemeClr val="dk2"/>
              </a:buClr>
              <a:buSzPts val="1400"/>
              <a:buFont typeface="Calibri"/>
              <a:buChar char="●"/>
            </a:pPr>
            <a:r>
              <a:rPr lang="en" sz="1400" dirty="0"/>
              <a:t>Encapsulation also allows us to easily </a:t>
            </a:r>
            <a:r>
              <a:rPr lang="en" sz="1400" b="1" i="1" dirty="0">
                <a:solidFill>
                  <a:srgbClr val="FF0000"/>
                </a:solidFill>
              </a:rPr>
              <a:t>reuse </a:t>
            </a:r>
            <a:r>
              <a:rPr lang="en" sz="1400" dirty="0"/>
              <a:t>our classes since the state and behavior is co-located.</a:t>
            </a:r>
            <a:endParaRPr sz="1400" dirty="0"/>
          </a:p>
          <a:p>
            <a:pPr marL="853428" lvl="1" indent="-289535" algn="l" rtl="0">
              <a:lnSpc>
                <a:spcPct val="100000"/>
              </a:lnSpc>
              <a:spcBef>
                <a:spcPts val="0"/>
              </a:spcBef>
              <a:spcAft>
                <a:spcPts val="0"/>
              </a:spcAft>
              <a:buClr>
                <a:srgbClr val="000000"/>
              </a:buClr>
              <a:buSzPts val="1200"/>
              <a:buFont typeface="Courier New"/>
              <a:buChar char="o"/>
            </a:pPr>
            <a:r>
              <a:rPr lang="en" sz="1200" dirty="0">
                <a:highlight>
                  <a:srgbClr val="FFFF00"/>
                </a:highlight>
              </a:rPr>
              <a:t>Classes and objects can be used in lots of different places within the program.</a:t>
            </a:r>
            <a:endParaRPr sz="1200" dirty="0">
              <a:highlight>
                <a:srgbClr val="FFFF00"/>
              </a:highlight>
            </a:endParaRPr>
          </a:p>
        </p:txBody>
      </p:sp>
      <p:sp>
        <p:nvSpPr>
          <p:cNvPr id="475" name="Google Shape;475;p65"/>
          <p:cNvSpPr txBox="1">
            <a:spLocks noGrp="1"/>
          </p:cNvSpPr>
          <p:nvPr>
            <p:ph type="body" idx="3"/>
          </p:nvPr>
        </p:nvSpPr>
        <p:spPr>
          <a:xfrm>
            <a:off x="5188525" y="39372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b="1" i="1" dirty="0">
                <a:solidFill>
                  <a:srgbClr val="FF0000"/>
                </a:solidFill>
              </a:rPr>
              <a:t>Encapsulation </a:t>
            </a:r>
            <a:r>
              <a:rPr lang="en" sz="1200" dirty="0"/>
              <a:t>refers to the fact that an object acts like a container that holds its </a:t>
            </a:r>
            <a:r>
              <a:rPr lang="en" sz="1200" b="1" i="1" dirty="0">
                <a:solidFill>
                  <a:srgbClr val="FF0000"/>
                </a:solidFill>
              </a:rPr>
              <a:t>state</a:t>
            </a:r>
            <a:r>
              <a:rPr lang="en" sz="1200" dirty="0">
                <a:solidFill>
                  <a:srgbClr val="FF0000"/>
                </a:solidFill>
              </a:rPr>
              <a:t> </a:t>
            </a:r>
            <a:r>
              <a:rPr lang="en" sz="1200" dirty="0"/>
              <a:t>and </a:t>
            </a:r>
            <a:r>
              <a:rPr lang="en" sz="1200" b="1" i="1" dirty="0">
                <a:solidFill>
                  <a:srgbClr val="FF0000"/>
                </a:solidFill>
              </a:rPr>
              <a:t>behavior</a:t>
            </a:r>
            <a:r>
              <a:rPr lang="en" sz="1200" dirty="0">
                <a:solidFill>
                  <a:srgbClr val="FF0000"/>
                </a:solidFill>
              </a:rPr>
              <a:t> </a:t>
            </a:r>
            <a:r>
              <a:rPr lang="en" sz="1200" dirty="0"/>
              <a:t>together as one, </a:t>
            </a:r>
            <a:r>
              <a:rPr lang="en" sz="1200" dirty="0">
                <a:highlight>
                  <a:srgbClr val="FFFF00"/>
                </a:highlight>
              </a:rPr>
              <a:t>cohesive unit.</a:t>
            </a:r>
            <a:endParaRPr sz="1200" dirty="0">
              <a:highlight>
                <a:srgbClr val="FFFF00"/>
              </a:highlight>
            </a:endParaRPr>
          </a:p>
        </p:txBody>
      </p:sp>
      <p:sp>
        <p:nvSpPr>
          <p:cNvPr id="476" name="Google Shape;476;p65"/>
          <p:cNvSpPr/>
          <p:nvPr/>
        </p:nvSpPr>
        <p:spPr>
          <a:xfrm rot="-2023650">
            <a:off x="6859576" y="965891"/>
            <a:ext cx="2164995" cy="1347589"/>
          </a:xfrm>
          <a:prstGeom prst="flowChartDelay">
            <a:avLst/>
          </a:prstGeom>
          <a:solidFill>
            <a:srgbClr val="93C47D"/>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rgbClr val="FFFFFF"/>
                </a:solidFill>
              </a:rPr>
              <a:t>BEHAVIOR</a:t>
            </a:r>
            <a:endParaRPr sz="2500" b="1">
              <a:solidFill>
                <a:srgbClr val="FFFFFF"/>
              </a:solidFill>
            </a:endParaRPr>
          </a:p>
        </p:txBody>
      </p:sp>
      <p:sp>
        <p:nvSpPr>
          <p:cNvPr id="477" name="Google Shape;477;p65"/>
          <p:cNvSpPr/>
          <p:nvPr/>
        </p:nvSpPr>
        <p:spPr>
          <a:xfrm rot="-2023650" flipH="1">
            <a:off x="5058970" y="2167983"/>
            <a:ext cx="2164995" cy="1347589"/>
          </a:xfrm>
          <a:prstGeom prst="flowChartDelay">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500" b="1">
                <a:solidFill>
                  <a:srgbClr val="CC4125"/>
                </a:solidFill>
              </a:rPr>
              <a:t>STATE</a:t>
            </a:r>
            <a:endParaRPr sz="2500" b="1">
              <a:solidFill>
                <a:srgbClr val="CC4125"/>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7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7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7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6"/>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Data Privacy</a:t>
            </a:r>
            <a:endParaRPr/>
          </a:p>
        </p:txBody>
      </p:sp>
      <p:sp>
        <p:nvSpPr>
          <p:cNvPr id="483" name="Google Shape;483;p66"/>
          <p:cNvSpPr txBox="1">
            <a:spLocks noGrp="1"/>
          </p:cNvSpPr>
          <p:nvPr>
            <p:ph type="body" idx="1"/>
          </p:nvPr>
        </p:nvSpPr>
        <p:spPr>
          <a:xfrm>
            <a:off x="4345175" y="35400"/>
            <a:ext cx="4489500" cy="5226016"/>
          </a:xfrm>
          <a:prstGeom prst="rect">
            <a:avLst/>
          </a:prstGeom>
        </p:spPr>
        <p:txBody>
          <a:bodyPr spcFirstLastPara="1" wrap="square" lIns="91425" tIns="91425" rIns="91425" bIns="91425" anchor="t" anchorCtr="0">
            <a:spAutoFit/>
          </a:bodyPr>
          <a:lstStyle/>
          <a:p>
            <a:pPr marL="457200" lvl="0" indent="-319595" algn="l" rtl="0">
              <a:lnSpc>
                <a:spcPct val="100000"/>
              </a:lnSpc>
              <a:spcBef>
                <a:spcPts val="0"/>
              </a:spcBef>
              <a:spcAft>
                <a:spcPts val="0"/>
              </a:spcAft>
              <a:buSzPts val="1433"/>
              <a:buFont typeface="Calibri"/>
              <a:buChar char="●"/>
            </a:pPr>
            <a:r>
              <a:rPr lang="en" sz="1433" dirty="0">
                <a:latin typeface="Calibri"/>
                <a:ea typeface="Calibri"/>
                <a:cs typeface="Calibri"/>
                <a:sym typeface="Calibri"/>
              </a:rPr>
              <a:t>The other major reason we encapsulate state and behavior is to</a:t>
            </a:r>
            <a:r>
              <a:rPr lang="en" sz="1433" dirty="0">
                <a:highlight>
                  <a:srgbClr val="FFFF00"/>
                </a:highlight>
                <a:latin typeface="Calibri"/>
                <a:ea typeface="Calibri"/>
                <a:cs typeface="Calibri"/>
                <a:sym typeface="Calibri"/>
              </a:rPr>
              <a:t> protect and control </a:t>
            </a:r>
            <a:r>
              <a:rPr lang="en" sz="1433" b="1" i="1" dirty="0">
                <a:solidFill>
                  <a:srgbClr val="FF0000"/>
                </a:solidFill>
                <a:highlight>
                  <a:srgbClr val="FFFF00"/>
                </a:highlight>
                <a:latin typeface="Calibri"/>
                <a:ea typeface="Calibri"/>
                <a:cs typeface="Calibri"/>
                <a:sym typeface="Calibri"/>
              </a:rPr>
              <a:t>access </a:t>
            </a:r>
            <a:r>
              <a:rPr lang="en" sz="1433" dirty="0">
                <a:highlight>
                  <a:srgbClr val="FFFF00"/>
                </a:highlight>
                <a:latin typeface="Calibri"/>
                <a:ea typeface="Calibri"/>
                <a:cs typeface="Calibri"/>
                <a:sym typeface="Calibri"/>
              </a:rPr>
              <a:t>to it.</a:t>
            </a:r>
            <a:endParaRPr sz="1433" dirty="0">
              <a:highlight>
                <a:srgbClr val="FFFF00"/>
              </a:highlight>
              <a:latin typeface="Calibri"/>
              <a:ea typeface="Calibri"/>
              <a:cs typeface="Calibri"/>
              <a:sym typeface="Calibri"/>
            </a:endParaRPr>
          </a:p>
          <a:p>
            <a:pPr marL="914400" lvl="1" indent="-306895" algn="l" rtl="0">
              <a:lnSpc>
                <a:spcPct val="100000"/>
              </a:lnSpc>
              <a:spcBef>
                <a:spcPts val="0"/>
              </a:spcBef>
              <a:spcAft>
                <a:spcPts val="0"/>
              </a:spcAft>
              <a:buSzPts val="1233"/>
              <a:buFont typeface="Calibri"/>
              <a:buChar char="○"/>
            </a:pPr>
            <a:r>
              <a:rPr lang="en" sz="1233" dirty="0">
                <a:latin typeface="Calibri"/>
                <a:ea typeface="Calibri"/>
                <a:cs typeface="Calibri"/>
                <a:sym typeface="Calibri"/>
              </a:rPr>
              <a:t>We want to be able to enforce the rules regarding the way that state is changed, e.g. </a:t>
            </a:r>
            <a:r>
              <a:rPr lang="en" sz="1233" dirty="0">
                <a:highlight>
                  <a:srgbClr val="FFFF00"/>
                </a:highlight>
                <a:latin typeface="Calibri"/>
                <a:ea typeface="Calibri"/>
                <a:cs typeface="Calibri"/>
                <a:sym typeface="Calibri"/>
              </a:rPr>
              <a:t>we don't want a ship's shields to fall below 0.</a:t>
            </a:r>
            <a:endParaRPr sz="1233" dirty="0">
              <a:highlight>
                <a:srgbClr val="FFFF00"/>
              </a:highlight>
              <a:latin typeface="Calibri"/>
              <a:ea typeface="Calibri"/>
              <a:cs typeface="Calibri"/>
              <a:sym typeface="Calibri"/>
            </a:endParaRPr>
          </a:p>
          <a:p>
            <a:pPr marL="914400" lvl="1" indent="-306895" algn="l" rtl="0">
              <a:lnSpc>
                <a:spcPct val="100000"/>
              </a:lnSpc>
              <a:spcBef>
                <a:spcPts val="0"/>
              </a:spcBef>
              <a:spcAft>
                <a:spcPts val="0"/>
              </a:spcAft>
              <a:buSzPts val="1233"/>
              <a:buFont typeface="Calibri"/>
              <a:buChar char="○"/>
            </a:pPr>
            <a:r>
              <a:rPr lang="en" sz="1233" dirty="0">
                <a:highlight>
                  <a:srgbClr val="FFFF00"/>
                </a:highlight>
                <a:latin typeface="Calibri"/>
                <a:ea typeface="Calibri"/>
                <a:cs typeface="Calibri"/>
                <a:sym typeface="Calibri"/>
              </a:rPr>
              <a:t>We do not want the fields inside an object to be accessed or modified by other parts of the program.</a:t>
            </a:r>
            <a:endParaRPr sz="1233" dirty="0">
              <a:highlight>
                <a:srgbClr val="FFFF00"/>
              </a:highlight>
              <a:latin typeface="Calibri"/>
              <a:ea typeface="Calibri"/>
              <a:cs typeface="Calibri"/>
              <a:sym typeface="Calibri"/>
            </a:endParaRPr>
          </a:p>
          <a:p>
            <a:pPr marL="457200" lvl="0" indent="-319595" algn="l" rtl="0">
              <a:lnSpc>
                <a:spcPct val="100000"/>
              </a:lnSpc>
              <a:spcBef>
                <a:spcPts val="0"/>
              </a:spcBef>
              <a:spcAft>
                <a:spcPts val="0"/>
              </a:spcAft>
              <a:buSzPts val="1433"/>
              <a:buFont typeface="Calibri"/>
              <a:buChar char="●"/>
            </a:pPr>
            <a:r>
              <a:rPr lang="en" sz="1433" dirty="0">
                <a:latin typeface="Calibri"/>
                <a:ea typeface="Calibri"/>
                <a:cs typeface="Calibri"/>
                <a:sym typeface="Calibri"/>
              </a:rPr>
              <a:t>To do this in Java, we use </a:t>
            </a:r>
            <a:r>
              <a:rPr lang="en" sz="1433" b="1" i="1" dirty="0">
                <a:solidFill>
                  <a:srgbClr val="EE0000"/>
                </a:solidFill>
                <a:latin typeface="Calibri"/>
                <a:ea typeface="Calibri"/>
                <a:cs typeface="Calibri"/>
                <a:sym typeface="Calibri"/>
              </a:rPr>
              <a:t>access modifiers</a:t>
            </a:r>
            <a:r>
              <a:rPr lang="en" sz="1433" dirty="0">
                <a:latin typeface="Calibri"/>
                <a:ea typeface="Calibri"/>
                <a:cs typeface="Calibri"/>
                <a:sym typeface="Calibri"/>
              </a:rPr>
              <a:t> to change the </a:t>
            </a:r>
            <a:r>
              <a:rPr lang="en" sz="1433" b="1" i="1" dirty="0">
                <a:solidFill>
                  <a:srgbClr val="FF0000"/>
                </a:solidFill>
                <a:highlight>
                  <a:srgbClr val="FFFF00"/>
                </a:highlight>
                <a:latin typeface="Calibri"/>
                <a:ea typeface="Calibri"/>
                <a:cs typeface="Calibri"/>
                <a:sym typeface="Calibri"/>
              </a:rPr>
              <a:t>visibility</a:t>
            </a:r>
            <a:r>
              <a:rPr lang="en" sz="1433" dirty="0">
                <a:solidFill>
                  <a:srgbClr val="FF0000"/>
                </a:solidFill>
                <a:highlight>
                  <a:srgbClr val="FFFF00"/>
                </a:highlight>
                <a:latin typeface="Calibri"/>
                <a:ea typeface="Calibri"/>
                <a:cs typeface="Calibri"/>
                <a:sym typeface="Calibri"/>
              </a:rPr>
              <a:t> </a:t>
            </a:r>
            <a:r>
              <a:rPr lang="en" sz="1433" dirty="0">
                <a:highlight>
                  <a:srgbClr val="FFFF00"/>
                </a:highlight>
                <a:latin typeface="Calibri"/>
                <a:ea typeface="Calibri"/>
                <a:cs typeface="Calibri"/>
                <a:sym typeface="Calibri"/>
              </a:rPr>
              <a:t>of methods and fields.</a:t>
            </a:r>
            <a:endParaRPr sz="1433" dirty="0">
              <a:highlight>
                <a:srgbClr val="FFFF00"/>
              </a:highlight>
              <a:latin typeface="Calibri"/>
              <a:ea typeface="Calibri"/>
              <a:cs typeface="Calibri"/>
              <a:sym typeface="Calibri"/>
            </a:endParaRPr>
          </a:p>
          <a:p>
            <a:pPr marL="853428" lvl="1" indent="-283820" algn="l" rtl="0">
              <a:lnSpc>
                <a:spcPct val="100000"/>
              </a:lnSpc>
              <a:spcBef>
                <a:spcPts val="0"/>
              </a:spcBef>
              <a:spcAft>
                <a:spcPts val="0"/>
              </a:spcAft>
              <a:buClr>
                <a:schemeClr val="dk2"/>
              </a:buClr>
              <a:buSzPts val="1110"/>
              <a:buFont typeface="Courier New"/>
              <a:buChar char="o"/>
            </a:pPr>
            <a:r>
              <a:rPr lang="en" sz="1200" dirty="0">
                <a:solidFill>
                  <a:srgbClr val="FF0000"/>
                </a:solidFill>
                <a:highlight>
                  <a:srgbClr val="FFFF00"/>
                </a:highlight>
                <a:latin typeface="Courier New"/>
                <a:ea typeface="Courier New"/>
                <a:cs typeface="Courier New"/>
                <a:sym typeface="Courier New"/>
              </a:rPr>
              <a:t>public</a:t>
            </a:r>
            <a:r>
              <a:rPr lang="en" sz="1200" dirty="0">
                <a:solidFill>
                  <a:srgbClr val="FF0000"/>
                </a:solidFill>
                <a:highlight>
                  <a:srgbClr val="FFFF00"/>
                </a:highlight>
                <a:latin typeface="Calibri"/>
                <a:ea typeface="Calibri"/>
                <a:cs typeface="Calibri"/>
                <a:sym typeface="Calibri"/>
              </a:rPr>
              <a:t> </a:t>
            </a:r>
            <a:r>
              <a:rPr lang="en" sz="1200" dirty="0">
                <a:highlight>
                  <a:srgbClr val="FFFF00"/>
                </a:highlight>
                <a:latin typeface="Calibri"/>
                <a:ea typeface="Calibri"/>
                <a:cs typeface="Calibri"/>
                <a:sym typeface="Calibri"/>
              </a:rPr>
              <a:t>– grants access to all parts of the program.</a:t>
            </a:r>
            <a:endParaRPr sz="1200" dirty="0">
              <a:highlight>
                <a:srgbClr val="FFFF00"/>
              </a:highlight>
              <a:latin typeface="Calibri"/>
              <a:ea typeface="Calibri"/>
              <a:cs typeface="Calibri"/>
              <a:sym typeface="Calibri"/>
            </a:endParaRPr>
          </a:p>
          <a:p>
            <a:pPr marL="853428" lvl="1" indent="-283820" algn="l" rtl="0">
              <a:lnSpc>
                <a:spcPct val="100000"/>
              </a:lnSpc>
              <a:spcBef>
                <a:spcPts val="0"/>
              </a:spcBef>
              <a:spcAft>
                <a:spcPts val="0"/>
              </a:spcAft>
              <a:buClr>
                <a:schemeClr val="dk2"/>
              </a:buClr>
              <a:buSzPts val="1110"/>
              <a:buFont typeface="Courier New"/>
              <a:buChar char="o"/>
            </a:pPr>
            <a:r>
              <a:rPr lang="en" sz="1200" dirty="0">
                <a:solidFill>
                  <a:srgbClr val="FF0000"/>
                </a:solidFill>
                <a:highlight>
                  <a:srgbClr val="FFFF00"/>
                </a:highlight>
                <a:latin typeface="Courier New"/>
                <a:ea typeface="Courier New"/>
                <a:cs typeface="Courier New"/>
                <a:sym typeface="Courier New"/>
              </a:rPr>
              <a:t>protected</a:t>
            </a:r>
            <a:r>
              <a:rPr lang="en" sz="1200" dirty="0">
                <a:solidFill>
                  <a:srgbClr val="FF0000"/>
                </a:solidFill>
                <a:latin typeface="Calibri"/>
                <a:ea typeface="Calibri"/>
                <a:cs typeface="Calibri"/>
                <a:sym typeface="Calibri"/>
              </a:rPr>
              <a:t> </a:t>
            </a:r>
            <a:r>
              <a:rPr lang="en" sz="1200" dirty="0">
                <a:latin typeface="Calibri"/>
                <a:ea typeface="Calibri"/>
                <a:cs typeface="Calibri"/>
                <a:sym typeface="Calibri"/>
              </a:rPr>
              <a:t>– grants access to classes in the </a:t>
            </a:r>
            <a:r>
              <a:rPr lang="en" sz="1200" dirty="0">
                <a:highlight>
                  <a:srgbClr val="FFFF00"/>
                </a:highlight>
                <a:latin typeface="Calibri"/>
                <a:ea typeface="Calibri"/>
                <a:cs typeface="Calibri"/>
                <a:sym typeface="Calibri"/>
              </a:rPr>
              <a:t>same package </a:t>
            </a:r>
            <a:r>
              <a:rPr lang="en" sz="1200" dirty="0">
                <a:latin typeface="Calibri"/>
                <a:ea typeface="Calibri"/>
                <a:cs typeface="Calibri"/>
                <a:sym typeface="Calibri"/>
              </a:rPr>
              <a:t>and </a:t>
            </a:r>
            <a:r>
              <a:rPr lang="en" sz="1200" dirty="0">
                <a:highlight>
                  <a:srgbClr val="FFFF00"/>
                </a:highlight>
                <a:latin typeface="Calibri"/>
                <a:ea typeface="Calibri"/>
                <a:cs typeface="Calibri"/>
                <a:sym typeface="Calibri"/>
              </a:rPr>
              <a:t>child classes </a:t>
            </a:r>
            <a:r>
              <a:rPr lang="en" sz="1200" dirty="0">
                <a:latin typeface="Calibri"/>
                <a:ea typeface="Calibri"/>
                <a:cs typeface="Calibri"/>
                <a:sym typeface="Calibri"/>
              </a:rPr>
              <a:t>(we'll talk about this more in the next unit).</a:t>
            </a:r>
            <a:endParaRPr sz="1200" dirty="0">
              <a:latin typeface="Calibri"/>
              <a:ea typeface="Calibri"/>
              <a:cs typeface="Calibri"/>
              <a:sym typeface="Calibri"/>
            </a:endParaRPr>
          </a:p>
          <a:p>
            <a:pPr marL="853428" lvl="1" indent="-283820" algn="l" rtl="0">
              <a:lnSpc>
                <a:spcPct val="100000"/>
              </a:lnSpc>
              <a:spcBef>
                <a:spcPts val="0"/>
              </a:spcBef>
              <a:spcAft>
                <a:spcPts val="0"/>
              </a:spcAft>
              <a:buClr>
                <a:schemeClr val="dk2"/>
              </a:buClr>
              <a:buSzPts val="1110"/>
              <a:buFont typeface="Courier New"/>
              <a:buChar char="o"/>
            </a:pPr>
            <a:r>
              <a:rPr lang="en" sz="1200" dirty="0">
                <a:solidFill>
                  <a:srgbClr val="FF0000"/>
                </a:solidFill>
                <a:highlight>
                  <a:srgbClr val="FFFF00"/>
                </a:highlight>
                <a:latin typeface="Courier New"/>
                <a:ea typeface="Courier New"/>
                <a:cs typeface="Courier New"/>
                <a:sym typeface="Courier New"/>
              </a:rPr>
              <a:t>private</a:t>
            </a:r>
            <a:r>
              <a:rPr lang="en" sz="1200" dirty="0">
                <a:solidFill>
                  <a:srgbClr val="FF0000"/>
                </a:solidFill>
                <a:latin typeface="Calibri"/>
                <a:ea typeface="Calibri"/>
                <a:cs typeface="Calibri"/>
                <a:sym typeface="Calibri"/>
              </a:rPr>
              <a:t> </a:t>
            </a:r>
            <a:r>
              <a:rPr lang="en" sz="1200" dirty="0">
                <a:latin typeface="Calibri"/>
                <a:ea typeface="Calibri"/>
                <a:cs typeface="Calibri"/>
                <a:sym typeface="Calibri"/>
              </a:rPr>
              <a:t>– grants access to objects of the </a:t>
            </a:r>
            <a:r>
              <a:rPr lang="en" sz="1200" dirty="0">
                <a:highlight>
                  <a:srgbClr val="FFFF00"/>
                </a:highlight>
                <a:latin typeface="Calibri"/>
                <a:ea typeface="Calibri"/>
                <a:cs typeface="Calibri"/>
                <a:sym typeface="Calibri"/>
              </a:rPr>
              <a:t>same class.</a:t>
            </a:r>
            <a:endParaRPr sz="1200" dirty="0">
              <a:highlight>
                <a:srgbClr val="FFFF00"/>
              </a:highlight>
              <a:latin typeface="Calibri"/>
              <a:ea typeface="Calibri"/>
              <a:cs typeface="Calibri"/>
              <a:sym typeface="Calibri"/>
            </a:endParaRPr>
          </a:p>
          <a:p>
            <a:pPr marL="853428" lvl="1" indent="-283820" algn="l" rtl="0">
              <a:lnSpc>
                <a:spcPct val="100000"/>
              </a:lnSpc>
              <a:spcBef>
                <a:spcPts val="0"/>
              </a:spcBef>
              <a:spcAft>
                <a:spcPts val="0"/>
              </a:spcAft>
              <a:buClr>
                <a:schemeClr val="dk2"/>
              </a:buClr>
              <a:buSzPts val="1110"/>
              <a:buFont typeface="Courier New"/>
              <a:buChar char="o"/>
            </a:pPr>
            <a:r>
              <a:rPr lang="en" sz="1200" b="1" i="1" dirty="0">
                <a:solidFill>
                  <a:srgbClr val="FF0000"/>
                </a:solidFill>
                <a:highlight>
                  <a:srgbClr val="FFFF00"/>
                </a:highlight>
                <a:latin typeface="Calibri"/>
                <a:ea typeface="Calibri"/>
                <a:cs typeface="Calibri"/>
                <a:sym typeface="Calibri"/>
              </a:rPr>
              <a:t>&lt;none&gt;</a:t>
            </a:r>
            <a:r>
              <a:rPr lang="en" sz="1200" dirty="0">
                <a:highlight>
                  <a:srgbClr val="FFFF00"/>
                </a:highlight>
                <a:latin typeface="Calibri"/>
                <a:ea typeface="Calibri"/>
                <a:cs typeface="Calibri"/>
                <a:sym typeface="Calibri"/>
              </a:rPr>
              <a:t> </a:t>
            </a:r>
            <a:r>
              <a:rPr lang="en" sz="1200" dirty="0">
                <a:latin typeface="Calibri"/>
                <a:ea typeface="Calibri"/>
                <a:cs typeface="Calibri"/>
                <a:sym typeface="Calibri"/>
              </a:rPr>
              <a:t>- grants access to other classes in the same package but</a:t>
            </a:r>
            <a:r>
              <a:rPr lang="en" sz="1200" dirty="0">
                <a:highlight>
                  <a:srgbClr val="FFFF00"/>
                </a:highlight>
                <a:latin typeface="Calibri"/>
                <a:ea typeface="Calibri"/>
                <a:cs typeface="Calibri"/>
                <a:sym typeface="Calibri"/>
              </a:rPr>
              <a:t> </a:t>
            </a:r>
            <a:r>
              <a:rPr lang="en" sz="1200" i="1" dirty="0">
                <a:highlight>
                  <a:srgbClr val="FFFF00"/>
                </a:highlight>
                <a:latin typeface="Calibri"/>
                <a:ea typeface="Calibri"/>
                <a:cs typeface="Calibri"/>
                <a:sym typeface="Calibri"/>
              </a:rPr>
              <a:t>not</a:t>
            </a:r>
            <a:r>
              <a:rPr lang="en" sz="1200" dirty="0">
                <a:highlight>
                  <a:srgbClr val="FFFF00"/>
                </a:highlight>
                <a:latin typeface="Calibri"/>
                <a:ea typeface="Calibri"/>
                <a:cs typeface="Calibri"/>
                <a:sym typeface="Calibri"/>
              </a:rPr>
              <a:t> child classes</a:t>
            </a:r>
            <a:r>
              <a:rPr lang="en" sz="1200" dirty="0">
                <a:latin typeface="Calibri"/>
                <a:ea typeface="Calibri"/>
                <a:cs typeface="Calibri"/>
                <a:sym typeface="Calibri"/>
              </a:rPr>
              <a:t>. Also known as "</a:t>
            </a:r>
            <a:r>
              <a:rPr lang="en" sz="1200" dirty="0">
                <a:highlight>
                  <a:srgbClr val="FFFF00"/>
                </a:highlight>
                <a:latin typeface="Calibri"/>
                <a:ea typeface="Calibri"/>
                <a:cs typeface="Calibri"/>
                <a:sym typeface="Calibri"/>
              </a:rPr>
              <a:t>package private</a:t>
            </a:r>
            <a:r>
              <a:rPr lang="en" sz="1200" dirty="0">
                <a:latin typeface="Calibri"/>
                <a:ea typeface="Calibri"/>
                <a:cs typeface="Calibri"/>
                <a:sym typeface="Calibri"/>
              </a:rPr>
              <a:t>."</a:t>
            </a:r>
            <a:endParaRPr sz="1200" dirty="0">
              <a:latin typeface="Calibri"/>
              <a:ea typeface="Calibri"/>
              <a:cs typeface="Calibri"/>
              <a:sym typeface="Calibri"/>
            </a:endParaRPr>
          </a:p>
          <a:p>
            <a:pPr marL="457200" lvl="0" indent="-319595" algn="l" rtl="0">
              <a:lnSpc>
                <a:spcPct val="100000"/>
              </a:lnSpc>
              <a:spcBef>
                <a:spcPts val="0"/>
              </a:spcBef>
              <a:spcAft>
                <a:spcPts val="0"/>
              </a:spcAft>
              <a:buSzPts val="1433"/>
              <a:buFont typeface="Calibri"/>
              <a:buChar char="●"/>
            </a:pPr>
            <a:r>
              <a:rPr lang="en" sz="1433" dirty="0">
                <a:latin typeface="Calibri"/>
                <a:ea typeface="Calibri"/>
                <a:cs typeface="Calibri"/>
                <a:sym typeface="Calibri"/>
              </a:rPr>
              <a:t>In general, </a:t>
            </a:r>
            <a:r>
              <a:rPr lang="en" sz="1433" dirty="0">
                <a:highlight>
                  <a:srgbClr val="FFFF00"/>
                </a:highlight>
                <a:latin typeface="Calibri"/>
                <a:ea typeface="Calibri"/>
                <a:cs typeface="Calibri"/>
                <a:sym typeface="Calibri"/>
              </a:rPr>
              <a:t>state (fields) should be </a:t>
            </a:r>
            <a:r>
              <a:rPr lang="en" sz="1433" b="1" i="1" dirty="0">
                <a:solidFill>
                  <a:srgbClr val="FF0000"/>
                </a:solidFill>
                <a:highlight>
                  <a:srgbClr val="FFFF00"/>
                </a:highlight>
                <a:latin typeface="Calibri"/>
                <a:ea typeface="Calibri"/>
                <a:cs typeface="Calibri"/>
                <a:sym typeface="Calibri"/>
              </a:rPr>
              <a:t>private </a:t>
            </a:r>
            <a:r>
              <a:rPr lang="en" sz="1433" dirty="0">
                <a:latin typeface="Calibri"/>
                <a:ea typeface="Calibri"/>
                <a:cs typeface="Calibri"/>
                <a:sym typeface="Calibri"/>
              </a:rPr>
              <a:t>and accessed or modified </a:t>
            </a:r>
            <a:r>
              <a:rPr lang="en" sz="1433" i="1" u="sng" dirty="0">
                <a:latin typeface="Calibri"/>
                <a:ea typeface="Calibri"/>
                <a:cs typeface="Calibri"/>
                <a:sym typeface="Calibri"/>
              </a:rPr>
              <a:t>only as needed</a:t>
            </a:r>
            <a:r>
              <a:rPr lang="en" sz="1433" dirty="0">
                <a:latin typeface="Calibri"/>
                <a:ea typeface="Calibri"/>
                <a:cs typeface="Calibri"/>
                <a:sym typeface="Calibri"/>
              </a:rPr>
              <a:t> </a:t>
            </a:r>
            <a:r>
              <a:rPr lang="en" sz="1433" dirty="0">
                <a:highlight>
                  <a:srgbClr val="FFFF00"/>
                </a:highlight>
                <a:latin typeface="Calibri"/>
                <a:ea typeface="Calibri"/>
                <a:cs typeface="Calibri"/>
                <a:sym typeface="Calibri"/>
              </a:rPr>
              <a:t>using  </a:t>
            </a:r>
            <a:r>
              <a:rPr lang="en" sz="1433" b="1" i="1" dirty="0">
                <a:solidFill>
                  <a:srgbClr val="FF0000"/>
                </a:solidFill>
                <a:highlight>
                  <a:srgbClr val="FFFF00"/>
                </a:highlight>
                <a:latin typeface="Calibri"/>
                <a:ea typeface="Calibri"/>
                <a:cs typeface="Calibri"/>
                <a:sym typeface="Calibri"/>
              </a:rPr>
              <a:t>public </a:t>
            </a:r>
            <a:r>
              <a:rPr lang="en" sz="1433" dirty="0">
                <a:highlight>
                  <a:srgbClr val="FFFF00"/>
                </a:highlight>
                <a:latin typeface="Calibri"/>
                <a:ea typeface="Calibri"/>
                <a:cs typeface="Calibri"/>
                <a:sym typeface="Calibri"/>
              </a:rPr>
              <a:t>methods.</a:t>
            </a:r>
            <a:endParaRPr sz="1433" dirty="0">
              <a:highlight>
                <a:srgbClr val="FFFF00"/>
              </a:highlight>
              <a:latin typeface="Calibri"/>
              <a:ea typeface="Calibri"/>
              <a:cs typeface="Calibri"/>
              <a:sym typeface="Calibri"/>
            </a:endParaRPr>
          </a:p>
          <a:p>
            <a:pPr marL="457200" lvl="0" indent="-319595" algn="l" rtl="0">
              <a:lnSpc>
                <a:spcPct val="100000"/>
              </a:lnSpc>
              <a:spcBef>
                <a:spcPts val="0"/>
              </a:spcBef>
              <a:spcAft>
                <a:spcPts val="0"/>
              </a:spcAft>
              <a:buSzPts val="1433"/>
              <a:buFont typeface="Calibri"/>
              <a:buChar char="●"/>
            </a:pPr>
            <a:r>
              <a:rPr lang="en" sz="1433" dirty="0">
                <a:latin typeface="Calibri"/>
                <a:ea typeface="Calibri"/>
                <a:cs typeface="Calibri"/>
                <a:sym typeface="Calibri"/>
              </a:rPr>
              <a:t>Protecting fields from being manipulated by other parts of the program is referred to as </a:t>
            </a:r>
            <a:r>
              <a:rPr lang="en" sz="1433" b="1" i="1" dirty="0">
                <a:solidFill>
                  <a:srgbClr val="FF0000"/>
                </a:solidFill>
                <a:highlight>
                  <a:srgbClr val="FFFF00"/>
                </a:highlight>
                <a:latin typeface="Calibri"/>
                <a:ea typeface="Calibri"/>
                <a:cs typeface="Calibri"/>
                <a:sym typeface="Calibri"/>
              </a:rPr>
              <a:t>data privacy</a:t>
            </a:r>
            <a:r>
              <a:rPr lang="en" sz="1433" dirty="0">
                <a:highlight>
                  <a:srgbClr val="FFFF00"/>
                </a:highlight>
                <a:latin typeface="Calibri"/>
                <a:ea typeface="Calibri"/>
                <a:cs typeface="Calibri"/>
                <a:sym typeface="Calibri"/>
              </a:rPr>
              <a:t>.</a:t>
            </a:r>
            <a:endParaRPr sz="1433" dirty="0">
              <a:highlight>
                <a:srgbClr val="FFFF00"/>
              </a:highlight>
              <a:latin typeface="Calibri"/>
              <a:ea typeface="Calibri"/>
              <a:cs typeface="Calibri"/>
              <a:sym typeface="Calibri"/>
            </a:endParaRPr>
          </a:p>
          <a:p>
            <a:pPr marL="914400" lvl="1" indent="-313245" algn="l" rtl="0">
              <a:lnSpc>
                <a:spcPct val="100000"/>
              </a:lnSpc>
              <a:spcBef>
                <a:spcPts val="0"/>
              </a:spcBef>
              <a:spcAft>
                <a:spcPts val="0"/>
              </a:spcAft>
              <a:buSzPts val="1333"/>
              <a:buFont typeface="Calibri"/>
              <a:buChar char="○"/>
            </a:pPr>
            <a:r>
              <a:rPr lang="en" sz="1333" dirty="0">
                <a:latin typeface="Calibri"/>
                <a:ea typeface="Calibri"/>
                <a:cs typeface="Calibri"/>
                <a:sym typeface="Calibri"/>
              </a:rPr>
              <a:t>This is a core concept in object-oriented programming.</a:t>
            </a:r>
            <a:endParaRPr sz="1333" dirty="0">
              <a:latin typeface="Calibri"/>
              <a:ea typeface="Calibri"/>
              <a:cs typeface="Calibri"/>
              <a:sym typeface="Calibri"/>
            </a:endParaRPr>
          </a:p>
          <a:p>
            <a:pPr marL="0" lvl="0" indent="0" algn="l" rtl="0">
              <a:lnSpc>
                <a:spcPct val="100000"/>
              </a:lnSpc>
              <a:spcBef>
                <a:spcPts val="0"/>
              </a:spcBef>
              <a:spcAft>
                <a:spcPts val="1600"/>
              </a:spcAft>
              <a:buNone/>
            </a:pPr>
            <a:endParaRPr sz="100" dirty="0"/>
          </a:p>
        </p:txBody>
      </p:sp>
      <p:sp>
        <p:nvSpPr>
          <p:cNvPr id="484" name="Google Shape;484;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sp>
        <p:nvSpPr>
          <p:cNvPr id="485" name="Google Shape;485;p66"/>
          <p:cNvSpPr txBox="1">
            <a:spLocks noGrp="1"/>
          </p:cNvSpPr>
          <p:nvPr>
            <p:ph type="body" idx="3"/>
          </p:nvPr>
        </p:nvSpPr>
        <p:spPr>
          <a:xfrm>
            <a:off x="315425" y="34800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In addition to containing related state and behavior, another key aspect of encapsulation is </a:t>
            </a:r>
            <a:r>
              <a:rPr lang="en" sz="1200" b="1" i="1">
                <a:solidFill>
                  <a:srgbClr val="FF0000"/>
                </a:solidFill>
              </a:rPr>
              <a:t>data privacy</a:t>
            </a:r>
            <a:r>
              <a:rPr lang="en" sz="1200"/>
              <a:t>.</a:t>
            </a:r>
            <a:endParaRPr sz="1200"/>
          </a:p>
        </p:txBody>
      </p:sp>
      <p:sp>
        <p:nvSpPr>
          <p:cNvPr id="486" name="Google Shape;486;p66"/>
          <p:cNvSpPr/>
          <p:nvPr/>
        </p:nvSpPr>
        <p:spPr>
          <a:xfrm rot="-2023704">
            <a:off x="2011664" y="906102"/>
            <a:ext cx="1865624" cy="1161376"/>
          </a:xfrm>
          <a:prstGeom prst="flowChartDelay">
            <a:avLst/>
          </a:prstGeom>
          <a:solidFill>
            <a:srgbClr val="93C47D"/>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rgbClr val="FFFFFF"/>
                </a:solidFill>
              </a:rPr>
              <a:t>BEHAVIOR</a:t>
            </a:r>
            <a:endParaRPr sz="2000" b="1">
              <a:solidFill>
                <a:srgbClr val="FFFFFF"/>
              </a:solidFill>
            </a:endParaRPr>
          </a:p>
        </p:txBody>
      </p:sp>
      <p:sp>
        <p:nvSpPr>
          <p:cNvPr id="487" name="Google Shape;487;p66"/>
          <p:cNvSpPr/>
          <p:nvPr/>
        </p:nvSpPr>
        <p:spPr>
          <a:xfrm rot="-2023704" flipH="1">
            <a:off x="460059" y="1941995"/>
            <a:ext cx="1865624" cy="1161376"/>
          </a:xfrm>
          <a:prstGeom prst="flowChartDelay">
            <a:avLst/>
          </a:prstGeom>
          <a:solidFill>
            <a:srgbClr val="4A86E8"/>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rgbClr val="CC4125"/>
                </a:solidFill>
              </a:rPr>
              <a:t>STATE</a:t>
            </a:r>
            <a:endParaRPr sz="2000" b="1">
              <a:solidFill>
                <a:srgbClr val="CC4125"/>
              </a:solidFill>
            </a:endParaRPr>
          </a:p>
        </p:txBody>
      </p:sp>
      <p:pic>
        <p:nvPicPr>
          <p:cNvPr id="488" name="Google Shape;488;p66"/>
          <p:cNvPicPr preferRelativeResize="0"/>
          <p:nvPr/>
        </p:nvPicPr>
        <p:blipFill>
          <a:blip r:embed="rId3">
            <a:alphaModFix/>
          </a:blip>
          <a:stretch>
            <a:fillRect/>
          </a:stretch>
        </p:blipFill>
        <p:spPr>
          <a:xfrm>
            <a:off x="1905945" y="1423522"/>
            <a:ext cx="2196301" cy="1938926"/>
          </a:xfrm>
          <a:prstGeom prst="rect">
            <a:avLst/>
          </a:prstGeom>
          <a:noFill/>
          <a:ln>
            <a:noFill/>
          </a:ln>
        </p:spPr>
      </p:pic>
      <p:sp>
        <p:nvSpPr>
          <p:cNvPr id="489" name="Google Shape;489;p66"/>
          <p:cNvSpPr txBox="1">
            <a:spLocks noGrp="1"/>
          </p:cNvSpPr>
          <p:nvPr>
            <p:ph type="body" idx="3"/>
          </p:nvPr>
        </p:nvSpPr>
        <p:spPr>
          <a:xfrm>
            <a:off x="315425" y="4318250"/>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Objects prevent other parts of the program from accessing or modifying their state.</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8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8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8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8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8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485"/>
                                        </p:tgtEl>
                                        <p:attrNameLst>
                                          <p:attrName>style.visibility</p:attrName>
                                        </p:attrNameLst>
                                      </p:cBhvr>
                                      <p:to>
                                        <p:strVal val="visible"/>
                                      </p:to>
                                    </p:set>
                                    <p:animEffect transition="in" filter="fade">
                                      <p:cBhvr>
                                        <p:cTn id="55" dur="1000"/>
                                        <p:tgtEl>
                                          <p:spTgt spid="48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489"/>
                                        </p:tgtEl>
                                        <p:attrNameLst>
                                          <p:attrName>style.visibility</p:attrName>
                                        </p:attrNameLst>
                                      </p:cBhvr>
                                      <p:to>
                                        <p:strVal val="visible"/>
                                      </p:to>
                                    </p:set>
                                    <p:animEffect transition="in" filter="fade">
                                      <p:cBhvr>
                                        <p:cTn id="60" dur="1000"/>
                                        <p:tgtEl>
                                          <p:spTgt spid="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67"/>
          <p:cNvSpPr txBox="1">
            <a:spLocks noGrp="1"/>
          </p:cNvSpPr>
          <p:nvPr>
            <p:ph type="body" idx="4"/>
          </p:nvPr>
        </p:nvSpPr>
        <p:spPr>
          <a:xfrm>
            <a:off x="198350" y="1919825"/>
            <a:ext cx="2907300" cy="2652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class</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Samples</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private</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00"/>
                </a:solidFill>
                <a:highlight>
                  <a:srgbClr val="FFFFFF"/>
                </a:highlight>
                <a:latin typeface="Consolas"/>
                <a:ea typeface="Consolas"/>
                <a:cs typeface="Consolas"/>
                <a:sym typeface="Consolas"/>
              </a:rPr>
              <a:t>  </a:t>
            </a:r>
            <a:r>
              <a:rPr lang="en" sz="1100">
                <a:solidFill>
                  <a:srgbClr val="0000FF"/>
                </a:solidFill>
                <a:highlight>
                  <a:srgbClr val="FFFFFF"/>
                </a:highlight>
                <a:latin typeface="Consolas"/>
                <a:ea typeface="Consolas"/>
                <a:cs typeface="Consolas"/>
                <a:sym typeface="Consolas"/>
              </a:rPr>
              <a:t>public</a:t>
            </a:r>
            <a:r>
              <a:rPr lang="en" sz="1100">
                <a:solidFill>
                  <a:srgbClr val="000000"/>
                </a:solidFill>
                <a:highlight>
                  <a:srgbClr val="FFFFFF"/>
                </a:highlight>
                <a:latin typeface="Consolas"/>
                <a:ea typeface="Consolas"/>
                <a:cs typeface="Consolas"/>
                <a:sym typeface="Consolas"/>
              </a:rPr>
              <a:t> </a:t>
            </a:r>
            <a:r>
              <a:rPr lang="en" sz="1100">
                <a:solidFill>
                  <a:srgbClr val="267F99"/>
                </a:solidFill>
                <a:highlight>
                  <a:srgbClr val="FFFFFF"/>
                </a:highlight>
                <a:latin typeface="Consolas"/>
                <a:ea typeface="Consolas"/>
                <a:cs typeface="Consolas"/>
                <a:sym typeface="Consolas"/>
              </a:rPr>
              <a:t>String</a:t>
            </a:r>
            <a:r>
              <a:rPr lang="en" sz="1100">
                <a:solidFill>
                  <a:srgbClr val="000000"/>
                </a:solidFill>
                <a:highlight>
                  <a:srgbClr val="FFFFFF"/>
                </a:highlight>
                <a:latin typeface="Consolas"/>
                <a:ea typeface="Consolas"/>
                <a:cs typeface="Consolas"/>
                <a:sym typeface="Consolas"/>
              </a:rPr>
              <a:t> </a:t>
            </a:r>
            <a:r>
              <a:rPr lang="en" sz="1100">
                <a:solidFill>
                  <a:srgbClr val="795E26"/>
                </a:solidFill>
                <a:highlight>
                  <a:srgbClr val="FFFFFF"/>
                </a:highlight>
                <a:latin typeface="Consolas"/>
                <a:ea typeface="Consolas"/>
                <a:cs typeface="Consolas"/>
                <a:sym typeface="Consolas"/>
              </a:rPr>
              <a:t>getWelcome</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267F99"/>
                </a:solidFill>
                <a:highlight>
                  <a:schemeClr val="lt1"/>
                </a:highlight>
                <a:latin typeface="Consolas"/>
                <a:ea typeface="Consolas"/>
                <a:cs typeface="Consolas"/>
                <a:sym typeface="Consolas"/>
              </a:rPr>
              <a:t>String</a:t>
            </a:r>
            <a:r>
              <a:rPr lang="en" sz="1100">
                <a:highlight>
                  <a:schemeClr val="lt1"/>
                </a:highlight>
                <a:latin typeface="Consolas"/>
                <a:ea typeface="Consolas"/>
                <a:cs typeface="Consolas"/>
                <a:sym typeface="Consolas"/>
              </a:rPr>
              <a:t> </a:t>
            </a:r>
            <a:r>
              <a:rPr lang="en" sz="1100">
                <a:solidFill>
                  <a:srgbClr val="001080"/>
                </a:solidFill>
                <a:highlight>
                  <a:schemeClr val="lt1"/>
                </a:highlight>
                <a:latin typeface="Consolas"/>
                <a:ea typeface="Consolas"/>
                <a:cs typeface="Consolas"/>
                <a:sym typeface="Consolas"/>
              </a:rPr>
              <a:t>welcome</a:t>
            </a:r>
            <a:r>
              <a:rPr lang="en" sz="1100">
                <a:highlight>
                  <a:schemeClr val="lt1"/>
                </a:highlight>
                <a:latin typeface="Consolas"/>
                <a:ea typeface="Consolas"/>
                <a:cs typeface="Consolas"/>
                <a:sym typeface="Consolas"/>
              </a:rPr>
              <a:t> = </a:t>
            </a:r>
            <a:r>
              <a:rPr lang="en" sz="1100">
                <a:solidFill>
                  <a:srgbClr val="A31515"/>
                </a:solidFill>
                <a:highlight>
                  <a:schemeClr val="lt1"/>
                </a:highlight>
                <a:latin typeface="Consolas"/>
                <a:ea typeface="Consolas"/>
                <a:cs typeface="Consolas"/>
                <a:sym typeface="Consolas"/>
              </a:rPr>
              <a:t>"Hello "</a:t>
            </a:r>
            <a:r>
              <a:rPr lang="en" sz="1100">
                <a:highlight>
                  <a:schemeClr val="lt1"/>
                </a:highlight>
                <a:latin typeface="Consolas"/>
                <a:ea typeface="Consolas"/>
                <a:cs typeface="Consolas"/>
                <a:sym typeface="Consolas"/>
              </a:rPr>
              <a:t>;</a:t>
            </a:r>
            <a:endParaRPr sz="1100">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if</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 != </a:t>
            </a:r>
            <a:r>
              <a:rPr lang="en" sz="1100">
                <a:solidFill>
                  <a:srgbClr val="A31515"/>
                </a:solidFill>
                <a:highlight>
                  <a:srgbClr val="FFFFFF"/>
                </a:highlight>
                <a:latin typeface="Consolas"/>
                <a:ea typeface="Consolas"/>
                <a:cs typeface="Consolas"/>
                <a:sym typeface="Consolas"/>
              </a:rPr>
              <a:t>""</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welcome</a:t>
            </a:r>
            <a:r>
              <a:rPr lang="en" sz="1100">
                <a:solidFill>
                  <a:srgbClr val="000000"/>
                </a:solidFill>
                <a:highlight>
                  <a:srgbClr val="FFFFFF"/>
                </a:highlight>
                <a:latin typeface="Consolas"/>
                <a:ea typeface="Consolas"/>
                <a:cs typeface="Consolas"/>
                <a:sym typeface="Consolas"/>
              </a:rPr>
              <a:t> = </a:t>
            </a:r>
            <a:r>
              <a:rPr lang="en" sz="1100">
                <a:solidFill>
                  <a:srgbClr val="001080"/>
                </a:solidFill>
                <a:highlight>
                  <a:schemeClr val="lt1"/>
                </a:highlight>
                <a:latin typeface="Consolas"/>
                <a:ea typeface="Consolas"/>
                <a:cs typeface="Consolas"/>
                <a:sym typeface="Consolas"/>
              </a:rPr>
              <a:t>welcome </a:t>
            </a:r>
            <a:r>
              <a:rPr lang="en" sz="1100">
                <a:solidFill>
                  <a:srgbClr val="000000"/>
                </a:solidFill>
                <a:highlight>
                  <a:srgbClr val="FFFFFF"/>
                </a:highlight>
                <a:latin typeface="Consolas"/>
                <a:ea typeface="Consolas"/>
                <a:cs typeface="Consolas"/>
                <a:sym typeface="Consolas"/>
              </a:rPr>
              <a:t>+ </a:t>
            </a:r>
            <a:r>
              <a:rPr lang="en" sz="1100">
                <a:solidFill>
                  <a:srgbClr val="001080"/>
                </a:solidFill>
                <a:highlight>
                  <a:srgbClr val="FFFFFF"/>
                </a:highlight>
                <a:latin typeface="Consolas"/>
                <a:ea typeface="Consolas"/>
                <a:cs typeface="Consolas"/>
                <a:sym typeface="Consolas"/>
              </a:rPr>
              <a:t>name</a:t>
            </a:r>
            <a:r>
              <a:rPr lang="en" sz="1100">
                <a:solidFill>
                  <a:srgbClr val="000000"/>
                </a:solidFill>
                <a:highlight>
                  <a:srgbClr val="FFFFFF"/>
                </a:highlight>
                <a:latin typeface="Consolas"/>
                <a:ea typeface="Consolas"/>
                <a:cs typeface="Consolas"/>
                <a:sym typeface="Consolas"/>
              </a:rPr>
              <a:t>;</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highlight>
                  <a:srgbClr val="FFFFFF"/>
                </a:highlight>
                <a:latin typeface="Consolas"/>
                <a:ea typeface="Consolas"/>
                <a:cs typeface="Consolas"/>
                <a:sym typeface="Consolas"/>
              </a:rPr>
              <a:t>  </a:t>
            </a: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r>
              <a:rPr lang="en" sz="1100">
                <a:solidFill>
                  <a:srgbClr val="AF00DB"/>
                </a:solidFill>
                <a:highlight>
                  <a:srgbClr val="FFFFFF"/>
                </a:highlight>
                <a:latin typeface="Consolas"/>
                <a:ea typeface="Consolas"/>
                <a:cs typeface="Consolas"/>
                <a:sym typeface="Consolas"/>
              </a:rPr>
              <a:t>return</a:t>
            </a:r>
            <a:r>
              <a:rPr lang="en" sz="1100">
                <a:solidFill>
                  <a:srgbClr val="000000"/>
                </a:solidFill>
                <a:highlight>
                  <a:srgbClr val="FFFFFF"/>
                </a:highlight>
                <a:latin typeface="Consolas"/>
                <a:ea typeface="Consolas"/>
                <a:cs typeface="Consolas"/>
                <a:sym typeface="Consolas"/>
              </a:rPr>
              <a:t> welcome;</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   }</a:t>
            </a:r>
            <a:endParaRPr sz="110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00000"/>
                </a:solidFill>
                <a:highlight>
                  <a:srgbClr val="FFFFFF"/>
                </a:highlight>
                <a:latin typeface="Consolas"/>
                <a:ea typeface="Consolas"/>
                <a:cs typeface="Consolas"/>
                <a:sym typeface="Consolas"/>
              </a:rPr>
              <a:t>}</a:t>
            </a:r>
            <a:endParaRPr sz="1100"/>
          </a:p>
        </p:txBody>
      </p:sp>
      <p:sp>
        <p:nvSpPr>
          <p:cNvPr id="495" name="Google Shape;495;p67"/>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We do not want other parts of the program to modify the fields inside of our objects (either accidentally or on purpose). The mechanism for preventing access is to use access modifiers for all fields. Let's modify our classes to make all of the fields </a:t>
            </a:r>
            <a:r>
              <a:rPr lang="en">
                <a:latin typeface="Courier New"/>
                <a:ea typeface="Courier New"/>
                <a:cs typeface="Courier New"/>
                <a:sym typeface="Courier New"/>
              </a:rPr>
              <a:t>private</a:t>
            </a:r>
            <a:r>
              <a:rPr lang="en"/>
              <a:t>.</a:t>
            </a:r>
            <a:endParaRPr/>
          </a:p>
        </p:txBody>
      </p:sp>
      <p:sp>
        <p:nvSpPr>
          <p:cNvPr id="496" name="Google Shape;496;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sp>
        <p:nvSpPr>
          <p:cNvPr id="497" name="Google Shape;497;p67"/>
          <p:cNvSpPr txBox="1">
            <a:spLocks noGrp="1"/>
          </p:cNvSpPr>
          <p:nvPr>
            <p:ph type="body" idx="2"/>
          </p:nvPr>
        </p:nvSpPr>
        <p:spPr>
          <a:xfrm>
            <a:off x="3105650" y="1919825"/>
            <a:ext cx="5781300" cy="1688894"/>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Weapon</a:t>
            </a:r>
            <a:r>
              <a:rPr lang="en" dirty="0"/>
              <a:t> class and change the access modifiers for all of the fields to make them private.</a:t>
            </a:r>
            <a:endParaRPr dirty="0"/>
          </a:p>
          <a:p>
            <a:pPr marL="457200" lvl="0" indent="-311150" algn="l" rtl="0">
              <a:spcBef>
                <a:spcPts val="0"/>
              </a:spcBef>
              <a:spcAft>
                <a:spcPts val="0"/>
              </a:spcAft>
              <a:buSzPts val="1300"/>
              <a:buChar char="●"/>
            </a:pPr>
            <a:r>
              <a:rPr lang="en" dirty="0">
                <a:highlight>
                  <a:srgbClr val="FFFF00"/>
                </a:highlight>
              </a:rPr>
              <a:t>What happens when you try to run the </a:t>
            </a:r>
            <a:r>
              <a:rPr lang="en" dirty="0">
                <a:highlight>
                  <a:srgbClr val="FFFF00"/>
                </a:highlight>
                <a:latin typeface="Courier New"/>
                <a:ea typeface="Courier New"/>
                <a:cs typeface="Courier New"/>
                <a:sym typeface="Courier New"/>
              </a:rPr>
              <a:t>StarWarsBattle</a:t>
            </a:r>
            <a:r>
              <a:rPr lang="en" dirty="0">
                <a:highlight>
                  <a:srgbClr val="FFFF00"/>
                </a:highlight>
              </a:rPr>
              <a:t> class? </a:t>
            </a:r>
            <a:endParaRPr dirty="0">
              <a:highlight>
                <a:srgbClr val="FFFF00"/>
              </a:highlight>
            </a:endParaRPr>
          </a:p>
          <a:p>
            <a:pPr marL="914400" lvl="1" indent="-298450" algn="l" rtl="0">
              <a:spcBef>
                <a:spcPts val="0"/>
              </a:spcBef>
              <a:spcAft>
                <a:spcPts val="0"/>
              </a:spcAft>
              <a:buSzPts val="1100"/>
              <a:buChar char="○"/>
            </a:pPr>
            <a:r>
              <a:rPr lang="en" dirty="0"/>
              <a:t>If there are any errors, do you know why?</a:t>
            </a:r>
            <a:endParaRPr dirty="0"/>
          </a:p>
          <a:p>
            <a:pPr marL="457200" lvl="0" indent="-311150" algn="l" rtl="0">
              <a:spcBef>
                <a:spcPts val="0"/>
              </a:spcBef>
              <a:spcAft>
                <a:spcPts val="0"/>
              </a:spcAft>
              <a:buSzPts val="1300"/>
              <a:buChar char="●"/>
            </a:pPr>
            <a:r>
              <a:rPr lang="en" dirty="0">
                <a:highlight>
                  <a:srgbClr val="FFFF00"/>
                </a:highlight>
              </a:rPr>
              <a:t>Repeat this process with the </a:t>
            </a:r>
            <a:r>
              <a:rPr lang="en" dirty="0">
                <a:highlight>
                  <a:srgbClr val="FFFF00"/>
                </a:highlight>
                <a:latin typeface="Courier New"/>
                <a:ea typeface="Courier New"/>
                <a:cs typeface="Courier New"/>
                <a:sym typeface="Courier New"/>
              </a:rPr>
              <a:t>Ship</a:t>
            </a:r>
            <a:r>
              <a:rPr lang="en" dirty="0">
                <a:highlight>
                  <a:srgbClr val="FFFF00"/>
                </a:highlight>
              </a:rPr>
              <a:t> class.</a:t>
            </a:r>
            <a:endParaRPr dirty="0">
              <a:highlight>
                <a:srgbClr val="FFFF00"/>
              </a:highlight>
            </a:endParaRPr>
          </a:p>
          <a:p>
            <a:pPr marL="914400" lvl="1" indent="-298450" algn="l" rtl="0">
              <a:spcBef>
                <a:spcPts val="0"/>
              </a:spcBef>
              <a:spcAft>
                <a:spcPts val="0"/>
              </a:spcAft>
              <a:buSzPts val="1100"/>
              <a:buChar char="○"/>
            </a:pPr>
            <a:r>
              <a:rPr lang="en" dirty="0"/>
              <a:t>There may be more errors!</a:t>
            </a:r>
            <a:endParaRPr dirty="0"/>
          </a:p>
          <a:p>
            <a:pPr marL="914400" lvl="1" indent="-298450" algn="l" rtl="0">
              <a:spcBef>
                <a:spcPts val="0"/>
              </a:spcBef>
              <a:spcAft>
                <a:spcPts val="0"/>
              </a:spcAft>
              <a:buSzPts val="1100"/>
              <a:buChar char="○"/>
            </a:pPr>
            <a:r>
              <a:rPr lang="en" dirty="0"/>
              <a:t>How should we fix them?</a:t>
            </a:r>
            <a:endParaRPr dirty="0"/>
          </a:p>
        </p:txBody>
      </p:sp>
      <p:sp>
        <p:nvSpPr>
          <p:cNvPr id="498" name="Google Shape;498;p6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Controlling Access to State</a:t>
            </a:r>
            <a:endParaRPr/>
          </a:p>
        </p:txBody>
      </p:sp>
      <p:sp>
        <p:nvSpPr>
          <p:cNvPr id="499" name="Google Shape;499;p6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2.7</a:t>
            </a:r>
            <a:endParaRPr/>
          </a:p>
        </p:txBody>
      </p:sp>
      <p:pic>
        <p:nvPicPr>
          <p:cNvPr id="500" name="Google Shape;500;p67"/>
          <p:cNvPicPr preferRelativeResize="0"/>
          <p:nvPr/>
        </p:nvPicPr>
        <p:blipFill>
          <a:blip r:embed="rId3">
            <a:alphaModFix/>
          </a:blip>
          <a:stretch>
            <a:fillRect/>
          </a:stretch>
        </p:blipFill>
        <p:spPr>
          <a:xfrm>
            <a:off x="6991650" y="3282625"/>
            <a:ext cx="1560075" cy="1560075"/>
          </a:xfrm>
          <a:prstGeom prst="rect">
            <a:avLst/>
          </a:prstGeom>
          <a:noFill/>
          <a:ln>
            <a:noFill/>
          </a:ln>
        </p:spPr>
      </p:pic>
      <p:pic>
        <p:nvPicPr>
          <p:cNvPr id="501" name="Google Shape;501;p67"/>
          <p:cNvPicPr preferRelativeResize="0"/>
          <p:nvPr/>
        </p:nvPicPr>
        <p:blipFill>
          <a:blip r:embed="rId4">
            <a:alphaModFix/>
          </a:blip>
          <a:stretch>
            <a:fillRect/>
          </a:stretch>
        </p:blipFill>
        <p:spPr>
          <a:xfrm>
            <a:off x="6063674" y="3668575"/>
            <a:ext cx="1527475" cy="13484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68"/>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sp>
        <p:nvSpPr>
          <p:cNvPr id="507" name="Google Shape;507;p68"/>
          <p:cNvSpPr txBox="1">
            <a:spLocks noGrp="1"/>
          </p:cNvSpPr>
          <p:nvPr>
            <p:ph type="title"/>
          </p:nvPr>
        </p:nvSpPr>
        <p:spPr>
          <a:xfrm>
            <a:off x="5188525" y="151775"/>
            <a:ext cx="3706500" cy="585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600"/>
              <a:t>Accessors &amp; Mutators</a:t>
            </a:r>
            <a:endParaRPr sz="2600"/>
          </a:p>
        </p:txBody>
      </p:sp>
      <p:sp>
        <p:nvSpPr>
          <p:cNvPr id="508" name="Google Shape;508;p68"/>
          <p:cNvSpPr txBox="1">
            <a:spLocks noGrp="1"/>
          </p:cNvSpPr>
          <p:nvPr>
            <p:ph type="body" idx="1"/>
          </p:nvPr>
        </p:nvSpPr>
        <p:spPr>
          <a:xfrm>
            <a:off x="301275" y="134275"/>
            <a:ext cx="4325700" cy="4581300"/>
          </a:xfrm>
          <a:prstGeom prst="rect">
            <a:avLst/>
          </a:prstGeom>
        </p:spPr>
        <p:txBody>
          <a:bodyPr spcFirstLastPara="1" wrap="square" lIns="91425" tIns="91425" rIns="91425" bIns="91425" anchor="t" anchorCtr="0">
            <a:spAutoFit/>
          </a:bodyPr>
          <a:lstStyle/>
          <a:p>
            <a:pPr marL="457200" lvl="0" indent="-319595" algn="l" rtl="0">
              <a:lnSpc>
                <a:spcPct val="100000"/>
              </a:lnSpc>
              <a:spcBef>
                <a:spcPts val="0"/>
              </a:spcBef>
              <a:spcAft>
                <a:spcPts val="0"/>
              </a:spcAft>
              <a:buSzPts val="1433"/>
              <a:buChar char="●"/>
            </a:pPr>
            <a:r>
              <a:rPr lang="en" sz="1433" dirty="0"/>
              <a:t>Because </a:t>
            </a:r>
            <a:r>
              <a:rPr lang="en" sz="1433" dirty="0">
                <a:highlight>
                  <a:srgbClr val="FFFF00"/>
                </a:highlight>
              </a:rPr>
              <a:t>all the fields are now private </a:t>
            </a:r>
            <a:r>
              <a:rPr lang="en" sz="1433" dirty="0"/>
              <a:t>there is no way to access the state directly from another class.</a:t>
            </a:r>
            <a:endParaRPr sz="1433" dirty="0"/>
          </a:p>
          <a:p>
            <a:pPr marL="914400" lvl="1" indent="-306895" algn="l" rtl="0">
              <a:lnSpc>
                <a:spcPct val="100000"/>
              </a:lnSpc>
              <a:spcBef>
                <a:spcPts val="0"/>
              </a:spcBef>
              <a:spcAft>
                <a:spcPts val="0"/>
              </a:spcAft>
              <a:buSzPts val="1233"/>
              <a:buChar char="○"/>
            </a:pPr>
            <a:r>
              <a:rPr lang="en" sz="1233" dirty="0"/>
              <a:t>This will cause errors in any code that tries to access the fields directly.</a:t>
            </a:r>
            <a:endParaRPr sz="1233" dirty="0"/>
          </a:p>
          <a:p>
            <a:pPr marL="457200" lvl="0" indent="-319595" algn="l" rtl="0">
              <a:lnSpc>
                <a:spcPct val="100000"/>
              </a:lnSpc>
              <a:spcBef>
                <a:spcPts val="0"/>
              </a:spcBef>
              <a:spcAft>
                <a:spcPts val="0"/>
              </a:spcAft>
              <a:buSzPts val="1433"/>
              <a:buChar char="●"/>
            </a:pPr>
            <a:r>
              <a:rPr lang="en" sz="1433" dirty="0"/>
              <a:t>If other parts of the program </a:t>
            </a:r>
            <a:r>
              <a:rPr lang="en" sz="1433" i="1" u="sng" dirty="0"/>
              <a:t>must</a:t>
            </a:r>
            <a:r>
              <a:rPr lang="en" sz="1433" b="1" dirty="0"/>
              <a:t> </a:t>
            </a:r>
            <a:r>
              <a:rPr lang="en" sz="1433" b="1" i="1" dirty="0">
                <a:solidFill>
                  <a:srgbClr val="FF0000"/>
                </a:solidFill>
              </a:rPr>
              <a:t>access</a:t>
            </a:r>
            <a:r>
              <a:rPr lang="en" sz="1433" dirty="0"/>
              <a:t> the private data we use </a:t>
            </a:r>
            <a:r>
              <a:rPr lang="en" sz="1433" b="1" i="1" dirty="0">
                <a:solidFill>
                  <a:srgbClr val="FF0000"/>
                </a:solidFill>
                <a:highlight>
                  <a:srgbClr val="FFFF00"/>
                </a:highlight>
              </a:rPr>
              <a:t>accessors</a:t>
            </a:r>
            <a:r>
              <a:rPr lang="en" sz="1433" dirty="0">
                <a:highlight>
                  <a:srgbClr val="FFFF00"/>
                </a:highlight>
              </a:rPr>
              <a:t>.</a:t>
            </a:r>
            <a:endParaRPr sz="1433" dirty="0">
              <a:highlight>
                <a:srgbClr val="FFFF00"/>
              </a:highlight>
            </a:endParaRPr>
          </a:p>
          <a:p>
            <a:pPr marL="914400" lvl="1" indent="-306895" algn="l" rtl="0">
              <a:lnSpc>
                <a:spcPct val="100000"/>
              </a:lnSpc>
              <a:spcBef>
                <a:spcPts val="0"/>
              </a:spcBef>
              <a:spcAft>
                <a:spcPts val="0"/>
              </a:spcAft>
              <a:buSzPts val="1233"/>
              <a:buChar char="○"/>
            </a:pPr>
            <a:r>
              <a:rPr lang="en" sz="1233" dirty="0"/>
              <a:t>An accessor is named using the "</a:t>
            </a:r>
            <a:r>
              <a:rPr lang="en" sz="1233" dirty="0">
                <a:solidFill>
                  <a:srgbClr val="FF0000"/>
                </a:solidFill>
                <a:highlight>
                  <a:srgbClr val="FFFF00"/>
                </a:highlight>
                <a:latin typeface="Courier New"/>
                <a:ea typeface="Courier New"/>
                <a:cs typeface="Courier New"/>
                <a:sym typeface="Courier New"/>
              </a:rPr>
              <a:t>get</a:t>
            </a:r>
            <a:r>
              <a:rPr lang="en" sz="1233" dirty="0"/>
              <a:t>" prefix and the name of the field, e.g. </a:t>
            </a:r>
            <a:r>
              <a:rPr lang="en" sz="1233" dirty="0">
                <a:solidFill>
                  <a:srgbClr val="FF0000"/>
                </a:solidFill>
                <a:highlight>
                  <a:srgbClr val="FFFF00"/>
                </a:highlight>
                <a:latin typeface="Courier New"/>
                <a:ea typeface="Courier New"/>
                <a:cs typeface="Courier New"/>
                <a:sym typeface="Courier New"/>
              </a:rPr>
              <a:t>getName</a:t>
            </a:r>
            <a:r>
              <a:rPr lang="en" sz="1233" dirty="0"/>
              <a:t>.</a:t>
            </a:r>
            <a:endParaRPr sz="1233" dirty="0"/>
          </a:p>
          <a:p>
            <a:pPr marL="914400" lvl="1" indent="-319595" algn="l" rtl="0">
              <a:lnSpc>
                <a:spcPct val="100000"/>
              </a:lnSpc>
              <a:spcBef>
                <a:spcPts val="0"/>
              </a:spcBef>
              <a:spcAft>
                <a:spcPts val="0"/>
              </a:spcAft>
              <a:buSzPts val="1433"/>
              <a:buChar char="○"/>
            </a:pPr>
            <a:r>
              <a:rPr lang="en" sz="1200" dirty="0"/>
              <a:t>An accessor typically contains only a return statement that returns the value of the field.</a:t>
            </a:r>
            <a:endParaRPr sz="1200" dirty="0"/>
          </a:p>
          <a:p>
            <a:pPr marL="914400" lvl="1" indent="-319595" algn="l" rtl="0">
              <a:lnSpc>
                <a:spcPct val="100000"/>
              </a:lnSpc>
              <a:spcBef>
                <a:spcPts val="0"/>
              </a:spcBef>
              <a:spcAft>
                <a:spcPts val="0"/>
              </a:spcAft>
              <a:buSzPts val="1433"/>
              <a:buChar char="○"/>
            </a:pPr>
            <a:r>
              <a:rPr lang="en" sz="1200" dirty="0"/>
              <a:t>Accessors are also called "</a:t>
            </a:r>
            <a:r>
              <a:rPr lang="en" sz="1200" dirty="0">
                <a:solidFill>
                  <a:srgbClr val="FF0000"/>
                </a:solidFill>
                <a:highlight>
                  <a:srgbClr val="FFFF00"/>
                </a:highlight>
              </a:rPr>
              <a:t>getters</a:t>
            </a:r>
            <a:r>
              <a:rPr lang="en" sz="1200" dirty="0"/>
              <a:t>."</a:t>
            </a:r>
            <a:endParaRPr sz="1200" dirty="0"/>
          </a:p>
          <a:p>
            <a:pPr marL="457200" lvl="0" indent="-317500" algn="l" rtl="0">
              <a:lnSpc>
                <a:spcPct val="100000"/>
              </a:lnSpc>
              <a:spcBef>
                <a:spcPts val="0"/>
              </a:spcBef>
              <a:spcAft>
                <a:spcPts val="0"/>
              </a:spcAft>
              <a:buSzPts val="1400"/>
              <a:buChar char="●"/>
            </a:pPr>
            <a:r>
              <a:rPr lang="en" sz="1400" dirty="0"/>
              <a:t>If other parts of the program </a:t>
            </a:r>
            <a:r>
              <a:rPr lang="en" sz="1400" i="1" u="sng" dirty="0"/>
              <a:t>must</a:t>
            </a:r>
            <a:r>
              <a:rPr lang="en" sz="1400" dirty="0"/>
              <a:t> </a:t>
            </a:r>
            <a:r>
              <a:rPr lang="en" sz="1400" b="1" i="1" dirty="0">
                <a:solidFill>
                  <a:srgbClr val="FF0000"/>
                </a:solidFill>
                <a:highlight>
                  <a:srgbClr val="FFFF00"/>
                </a:highlight>
              </a:rPr>
              <a:t>change</a:t>
            </a:r>
            <a:r>
              <a:rPr lang="en" sz="1400" dirty="0"/>
              <a:t> the private data, we use </a:t>
            </a:r>
            <a:r>
              <a:rPr lang="en" sz="1400" b="1" i="1" dirty="0">
                <a:solidFill>
                  <a:srgbClr val="FF0000"/>
                </a:solidFill>
                <a:highlight>
                  <a:srgbClr val="FFFF00"/>
                </a:highlight>
              </a:rPr>
              <a:t>mutators</a:t>
            </a:r>
            <a:r>
              <a:rPr lang="en" sz="1400" dirty="0"/>
              <a:t>.</a:t>
            </a:r>
            <a:endParaRPr sz="1400" dirty="0"/>
          </a:p>
          <a:p>
            <a:pPr marL="914400" lvl="1" indent="-304800" algn="l" rtl="0">
              <a:lnSpc>
                <a:spcPct val="100000"/>
              </a:lnSpc>
              <a:spcBef>
                <a:spcPts val="0"/>
              </a:spcBef>
              <a:spcAft>
                <a:spcPts val="0"/>
              </a:spcAft>
              <a:buSzPts val="1200"/>
              <a:buChar char="○"/>
            </a:pPr>
            <a:r>
              <a:rPr lang="en" sz="1200" dirty="0"/>
              <a:t>A mutator is named using the "</a:t>
            </a:r>
            <a:r>
              <a:rPr lang="en" sz="1200" dirty="0">
                <a:solidFill>
                  <a:srgbClr val="FF0000"/>
                </a:solidFill>
                <a:highlight>
                  <a:srgbClr val="FFFF00"/>
                </a:highlight>
                <a:latin typeface="Courier New"/>
                <a:ea typeface="Courier New"/>
                <a:cs typeface="Courier New"/>
                <a:sym typeface="Courier New"/>
              </a:rPr>
              <a:t>set</a:t>
            </a:r>
            <a:r>
              <a:rPr lang="en" sz="1200" dirty="0"/>
              <a:t>" prefix and the name of the field, e.g. </a:t>
            </a:r>
            <a:r>
              <a:rPr lang="en" sz="1200" dirty="0">
                <a:solidFill>
                  <a:srgbClr val="FF0000"/>
                </a:solidFill>
                <a:highlight>
                  <a:srgbClr val="FFFF00"/>
                </a:highlight>
                <a:latin typeface="Courier New"/>
                <a:ea typeface="Courier New"/>
                <a:cs typeface="Courier New"/>
                <a:sym typeface="Courier New"/>
              </a:rPr>
              <a:t>setName</a:t>
            </a:r>
            <a:r>
              <a:rPr lang="en" sz="1200" dirty="0"/>
              <a:t>.</a:t>
            </a:r>
            <a:endParaRPr sz="1200" dirty="0"/>
          </a:p>
          <a:p>
            <a:pPr marL="914400" lvl="1" indent="-304800" algn="l" rtl="0">
              <a:lnSpc>
                <a:spcPct val="100000"/>
              </a:lnSpc>
              <a:spcBef>
                <a:spcPts val="0"/>
              </a:spcBef>
              <a:spcAft>
                <a:spcPts val="0"/>
              </a:spcAft>
              <a:buSzPts val="1200"/>
              <a:buChar char="○"/>
            </a:pPr>
            <a:r>
              <a:rPr lang="en" sz="1200" dirty="0"/>
              <a:t>A mutator declares one parameter and uses it to modify the value of the field with the same name.</a:t>
            </a:r>
            <a:endParaRPr sz="1200" dirty="0"/>
          </a:p>
          <a:p>
            <a:pPr marL="914400" lvl="1" indent="-304800" algn="l" rtl="0">
              <a:lnSpc>
                <a:spcPct val="100000"/>
              </a:lnSpc>
              <a:spcBef>
                <a:spcPts val="0"/>
              </a:spcBef>
              <a:spcAft>
                <a:spcPts val="0"/>
              </a:spcAft>
              <a:buSzPts val="1200"/>
              <a:buChar char="○"/>
            </a:pPr>
            <a:r>
              <a:rPr lang="en" sz="1200" dirty="0"/>
              <a:t>Mutators are also called "</a:t>
            </a:r>
            <a:r>
              <a:rPr lang="en" sz="1200" dirty="0">
                <a:solidFill>
                  <a:srgbClr val="FF0000"/>
                </a:solidFill>
                <a:highlight>
                  <a:srgbClr val="FFFF00"/>
                </a:highlight>
              </a:rPr>
              <a:t>setters</a:t>
            </a:r>
            <a:r>
              <a:rPr lang="en" sz="1200" dirty="0"/>
              <a:t>."</a:t>
            </a:r>
            <a:endParaRPr sz="1200" dirty="0"/>
          </a:p>
          <a:p>
            <a:pPr marL="457200" lvl="0" indent="-304800" algn="l" rtl="0">
              <a:lnSpc>
                <a:spcPct val="100000"/>
              </a:lnSpc>
              <a:spcBef>
                <a:spcPts val="0"/>
              </a:spcBef>
              <a:spcAft>
                <a:spcPts val="0"/>
              </a:spcAft>
              <a:buSzPts val="1200"/>
              <a:buChar char="●"/>
            </a:pPr>
            <a:r>
              <a:rPr lang="en" sz="1200" dirty="0">
                <a:highlight>
                  <a:srgbClr val="FFFF00"/>
                </a:highlight>
              </a:rPr>
              <a:t>Accessors and mutators should </a:t>
            </a:r>
            <a:r>
              <a:rPr lang="en" sz="1200" b="1" i="1" dirty="0">
                <a:solidFill>
                  <a:srgbClr val="FF0000"/>
                </a:solidFill>
                <a:highlight>
                  <a:srgbClr val="FFFF00"/>
                </a:highlight>
              </a:rPr>
              <a:t>only</a:t>
            </a:r>
            <a:r>
              <a:rPr lang="en" sz="1200" dirty="0">
                <a:solidFill>
                  <a:srgbClr val="FF0000"/>
                </a:solidFill>
                <a:highlight>
                  <a:srgbClr val="FFFF00"/>
                </a:highlight>
              </a:rPr>
              <a:t> </a:t>
            </a:r>
            <a:r>
              <a:rPr lang="en" sz="1200" dirty="0">
                <a:highlight>
                  <a:srgbClr val="FFFF00"/>
                </a:highlight>
              </a:rPr>
              <a:t>be written if they are </a:t>
            </a:r>
            <a:r>
              <a:rPr lang="en" sz="1200" b="1" i="1" dirty="0">
                <a:solidFill>
                  <a:srgbClr val="FF0000"/>
                </a:solidFill>
                <a:highlight>
                  <a:srgbClr val="FFFF00"/>
                </a:highlight>
              </a:rPr>
              <a:t>needed</a:t>
            </a:r>
            <a:r>
              <a:rPr lang="en" sz="1200" dirty="0">
                <a:solidFill>
                  <a:srgbClr val="FF0000"/>
                </a:solidFill>
                <a:highlight>
                  <a:srgbClr val="FFFF00"/>
                </a:highlight>
              </a:rPr>
              <a:t> </a:t>
            </a:r>
            <a:r>
              <a:rPr lang="en" sz="1200" dirty="0">
                <a:highlight>
                  <a:srgbClr val="FFFF00"/>
                </a:highlight>
              </a:rPr>
              <a:t>by other parts of the program.</a:t>
            </a:r>
            <a:endParaRPr sz="1200" dirty="0">
              <a:highlight>
                <a:srgbClr val="FFFF00"/>
              </a:highlight>
            </a:endParaRPr>
          </a:p>
        </p:txBody>
      </p:sp>
      <p:sp>
        <p:nvSpPr>
          <p:cNvPr id="509" name="Google Shape;509;p68"/>
          <p:cNvSpPr txBox="1">
            <a:spLocks noGrp="1"/>
          </p:cNvSpPr>
          <p:nvPr>
            <p:ph type="body" idx="2"/>
          </p:nvPr>
        </p:nvSpPr>
        <p:spPr>
          <a:xfrm>
            <a:off x="5188525" y="1605950"/>
            <a:ext cx="3706500" cy="23205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Pet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age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getAge</a:t>
            </a:r>
            <a:r>
              <a:rPr lang="en" sz="1050">
                <a:solidFill>
                  <a:srgbClr val="000000"/>
                </a:solidFill>
                <a:latin typeface="Consolas"/>
                <a:ea typeface="Consolas"/>
                <a:cs typeface="Consolas"/>
                <a:sym typeface="Consolas"/>
              </a:rPr>
              <a:t>() {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age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setName</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name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   </a:t>
            </a:r>
            <a:endParaRPr sz="105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 }</a:t>
            </a:r>
            <a:endParaRPr/>
          </a:p>
        </p:txBody>
      </p:sp>
      <p:sp>
        <p:nvSpPr>
          <p:cNvPr id="510" name="Google Shape;510;p68"/>
          <p:cNvSpPr txBox="1">
            <a:spLocks noGrp="1"/>
          </p:cNvSpPr>
          <p:nvPr>
            <p:ph type="body" idx="3"/>
          </p:nvPr>
        </p:nvSpPr>
        <p:spPr>
          <a:xfrm>
            <a:off x="5188525" y="73677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Getters and setters allow other parts of the program to access and/or modify the private data inside of an object.</a:t>
            </a:r>
            <a:endParaRPr sz="1200"/>
          </a:p>
        </p:txBody>
      </p:sp>
      <p:sp>
        <p:nvSpPr>
          <p:cNvPr id="511" name="Google Shape;511;p68"/>
          <p:cNvSpPr txBox="1">
            <a:spLocks noGrp="1"/>
          </p:cNvSpPr>
          <p:nvPr>
            <p:ph type="body" idx="3"/>
          </p:nvPr>
        </p:nvSpPr>
        <p:spPr>
          <a:xfrm>
            <a:off x="5188525" y="4056725"/>
            <a:ext cx="3706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This </a:t>
            </a:r>
            <a:r>
              <a:rPr lang="en" sz="1200" b="1" i="1">
                <a:solidFill>
                  <a:srgbClr val="FF0000"/>
                </a:solidFill>
              </a:rPr>
              <a:t>breaks encapsulation</a:t>
            </a:r>
            <a:r>
              <a:rPr lang="en" sz="1200">
                <a:solidFill>
                  <a:srgbClr val="FF0000"/>
                </a:solidFill>
              </a:rPr>
              <a:t> </a:t>
            </a:r>
            <a:r>
              <a:rPr lang="en" sz="1200"/>
              <a:t>because it exposes private data outside of the class. Getters and especially setters should only be added if </a:t>
            </a:r>
            <a:r>
              <a:rPr lang="en" sz="1200" i="1" u="sng"/>
              <a:t>absolutely necessary</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0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0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10"/>
                                        </p:tgtEl>
                                        <p:attrNameLst>
                                          <p:attrName>style.visibility</p:attrName>
                                        </p:attrNameLst>
                                      </p:cBhvr>
                                      <p:to>
                                        <p:strVal val="visible"/>
                                      </p:to>
                                    </p:set>
                                    <p:animEffect transition="in" filter="fade">
                                      <p:cBhvr>
                                        <p:cTn id="51" dur="1000"/>
                                        <p:tgtEl>
                                          <p:spTgt spid="510"/>
                                        </p:tgtEl>
                                      </p:cBhvr>
                                    </p:animEffect>
                                  </p:childTnLst>
                                </p:cTn>
                              </p:par>
                              <p:par>
                                <p:cTn id="52" presetID="10" presetClass="entr" presetSubtype="0" fill="hold" nodeType="withEffect">
                                  <p:stCondLst>
                                    <p:cond delay="0"/>
                                  </p:stCondLst>
                                  <p:childTnLst>
                                    <p:set>
                                      <p:cBhvr>
                                        <p:cTn id="53" dur="1" fill="hold">
                                          <p:stCondLst>
                                            <p:cond delay="0"/>
                                          </p:stCondLst>
                                        </p:cTn>
                                        <p:tgtEl>
                                          <p:spTgt spid="509"/>
                                        </p:tgtEl>
                                        <p:attrNameLst>
                                          <p:attrName>style.visibility</p:attrName>
                                        </p:attrNameLst>
                                      </p:cBhvr>
                                      <p:to>
                                        <p:strVal val="visible"/>
                                      </p:to>
                                    </p:set>
                                    <p:animEffect transition="in" filter="fade">
                                      <p:cBhvr>
                                        <p:cTn id="54" dur="1000"/>
                                        <p:tgtEl>
                                          <p:spTgt spid="50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511"/>
                                        </p:tgtEl>
                                        <p:attrNameLst>
                                          <p:attrName>style.visibility</p:attrName>
                                        </p:attrNameLst>
                                      </p:cBhvr>
                                      <p:to>
                                        <p:strVal val="visible"/>
                                      </p:to>
                                    </p:set>
                                    <p:animEffect transition="in" filter="fade">
                                      <p:cBhvr>
                                        <p:cTn id="59" dur="1000"/>
                                        <p:tgtEl>
                                          <p:spTgt spid="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69"/>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Using proper encapsulation means that an object protects and controls access to is fields by using access modifiers to make them private. If the values of the fields are needed outside of the class, you will need to add accessors and/or modifiers to enable that access.</a:t>
            </a:r>
            <a:endParaRPr/>
          </a:p>
        </p:txBody>
      </p:sp>
      <p:sp>
        <p:nvSpPr>
          <p:cNvPr id="517" name="Google Shape;517;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sp>
        <p:nvSpPr>
          <p:cNvPr id="518" name="Google Shape;518;p69"/>
          <p:cNvSpPr txBox="1">
            <a:spLocks noGrp="1"/>
          </p:cNvSpPr>
          <p:nvPr>
            <p:ph type="body" idx="2"/>
          </p:nvPr>
        </p:nvSpPr>
        <p:spPr>
          <a:xfrm>
            <a:off x="3848100" y="1806663"/>
            <a:ext cx="4993800" cy="31155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t>Update the </a:t>
            </a:r>
            <a:r>
              <a:rPr lang="en" sz="1200" dirty="0">
                <a:highlight>
                  <a:srgbClr val="FFFF00"/>
                </a:highlight>
                <a:latin typeface="Courier New"/>
                <a:ea typeface="Courier New"/>
                <a:cs typeface="Courier New"/>
                <a:sym typeface="Courier New"/>
              </a:rPr>
              <a:t>Weapon</a:t>
            </a:r>
            <a:r>
              <a:rPr lang="en" sz="1200" dirty="0"/>
              <a:t> class to include accessors only as needed.</a:t>
            </a:r>
            <a:endParaRPr sz="1200" dirty="0"/>
          </a:p>
          <a:p>
            <a:pPr marL="914400" lvl="1" indent="-292100" algn="l" rtl="0">
              <a:spcBef>
                <a:spcPts val="0"/>
              </a:spcBef>
              <a:spcAft>
                <a:spcPts val="0"/>
              </a:spcAft>
              <a:buSzPts val="1000"/>
              <a:buChar char="○"/>
            </a:pPr>
            <a:r>
              <a:rPr lang="en" sz="1000" dirty="0">
                <a:highlight>
                  <a:srgbClr val="FFFF00"/>
                </a:highlight>
              </a:rPr>
              <a:t>Only add accessors where at least one other part of the program needs to be able to see the field.</a:t>
            </a:r>
            <a:endParaRPr sz="1000" dirty="0">
              <a:highlight>
                <a:srgbClr val="FFFF00"/>
              </a:highlight>
            </a:endParaRPr>
          </a:p>
          <a:p>
            <a:pPr marL="914400" lvl="1" indent="-292100" algn="l" rtl="0">
              <a:spcBef>
                <a:spcPts val="0"/>
              </a:spcBef>
              <a:spcAft>
                <a:spcPts val="0"/>
              </a:spcAft>
              <a:buSzPts val="1000"/>
              <a:buChar char="○"/>
            </a:pPr>
            <a:r>
              <a:rPr lang="en" sz="1000" b="1" i="1" dirty="0"/>
              <a:t>Hint</a:t>
            </a:r>
            <a:r>
              <a:rPr lang="en" sz="1000" dirty="0"/>
              <a:t>: add them to fix any errors cause by making the fields private.</a:t>
            </a:r>
            <a:endParaRPr sz="1000" dirty="0"/>
          </a:p>
          <a:p>
            <a:pPr marL="914400" lvl="1" indent="-292100" algn="l" rtl="0">
              <a:spcBef>
                <a:spcPts val="0"/>
              </a:spcBef>
              <a:spcAft>
                <a:spcPts val="0"/>
              </a:spcAft>
              <a:buSzPts val="1000"/>
              <a:buChar char="○"/>
            </a:pPr>
            <a:r>
              <a:rPr lang="en" sz="1000" dirty="0"/>
              <a:t>You can always add more accessors later as needed!</a:t>
            </a:r>
            <a:endParaRPr sz="1000" dirty="0"/>
          </a:p>
          <a:p>
            <a:pPr marL="457200" lvl="0" indent="-304800" algn="l" rtl="0">
              <a:spcBef>
                <a:spcPts val="0"/>
              </a:spcBef>
              <a:spcAft>
                <a:spcPts val="0"/>
              </a:spcAft>
              <a:buSzPts val="1200"/>
              <a:buChar char="●"/>
            </a:pPr>
            <a:r>
              <a:rPr lang="en" sz="1200" dirty="0"/>
              <a:t>Update the </a:t>
            </a:r>
            <a:r>
              <a:rPr lang="en" sz="1200" dirty="0">
                <a:highlight>
                  <a:srgbClr val="FFFF00"/>
                </a:highlight>
                <a:latin typeface="Courier New"/>
                <a:ea typeface="Courier New"/>
                <a:cs typeface="Courier New"/>
                <a:sym typeface="Courier New"/>
              </a:rPr>
              <a:t>Weapon</a:t>
            </a:r>
            <a:r>
              <a:rPr lang="en" sz="1200" dirty="0"/>
              <a:t> class to include mutators only as needed.</a:t>
            </a:r>
            <a:endParaRPr sz="1200" dirty="0"/>
          </a:p>
          <a:p>
            <a:pPr marL="914400" lvl="1" indent="-292100" algn="l" rtl="0">
              <a:spcBef>
                <a:spcPts val="0"/>
              </a:spcBef>
              <a:spcAft>
                <a:spcPts val="0"/>
              </a:spcAft>
              <a:buSzPts val="1000"/>
              <a:buChar char="○"/>
            </a:pPr>
            <a:r>
              <a:rPr lang="en" sz="1000" dirty="0"/>
              <a:t>An object may change the value of one of its own fields. That does not mean that a mutator is needed. Ask yourself "</a:t>
            </a:r>
            <a:r>
              <a:rPr lang="en" sz="1000" dirty="0">
                <a:highlight>
                  <a:srgbClr val="FFFF00"/>
                </a:highlight>
              </a:rPr>
              <a:t>Will some </a:t>
            </a:r>
            <a:r>
              <a:rPr lang="en" sz="1000" i="1" u="sng" dirty="0">
                <a:highlight>
                  <a:srgbClr val="FFFF00"/>
                </a:highlight>
              </a:rPr>
              <a:t>other part</a:t>
            </a:r>
            <a:r>
              <a:rPr lang="en" sz="1000" dirty="0">
                <a:highlight>
                  <a:srgbClr val="FFFF00"/>
                </a:highlight>
              </a:rPr>
              <a:t> of the program need to </a:t>
            </a:r>
            <a:r>
              <a:rPr lang="en" sz="1000" i="1" u="sng" dirty="0">
                <a:highlight>
                  <a:srgbClr val="FFFF00"/>
                </a:highlight>
              </a:rPr>
              <a:t>directly</a:t>
            </a:r>
            <a:r>
              <a:rPr lang="en" sz="1000" dirty="0">
                <a:highlight>
                  <a:srgbClr val="FFFF00"/>
                </a:highlight>
              </a:rPr>
              <a:t> set the value of the field?"</a:t>
            </a:r>
            <a:endParaRPr sz="1000" dirty="0">
              <a:highlight>
                <a:srgbClr val="FFFF00"/>
              </a:highlight>
            </a:endParaRPr>
          </a:p>
          <a:p>
            <a:pPr marL="914400" lvl="1" indent="-292100" algn="l" rtl="0">
              <a:spcBef>
                <a:spcPts val="0"/>
              </a:spcBef>
              <a:spcAft>
                <a:spcPts val="0"/>
              </a:spcAft>
              <a:buSzPts val="1000"/>
              <a:buChar char="○"/>
            </a:pPr>
            <a:r>
              <a:rPr lang="en" sz="1000" dirty="0"/>
              <a:t>If the answer is </a:t>
            </a:r>
            <a:r>
              <a:rPr lang="en" sz="1000" b="1" dirty="0">
                <a:solidFill>
                  <a:srgbClr val="FF0000"/>
                </a:solidFill>
              </a:rPr>
              <a:t>no</a:t>
            </a:r>
            <a:r>
              <a:rPr lang="en" sz="1000" dirty="0"/>
              <a:t>, do not create a mutator for that value.</a:t>
            </a:r>
            <a:endParaRPr sz="1000" dirty="0"/>
          </a:p>
          <a:p>
            <a:pPr marL="914400" lvl="1" indent="-292100" algn="l" rtl="0">
              <a:spcBef>
                <a:spcPts val="0"/>
              </a:spcBef>
              <a:spcAft>
                <a:spcPts val="0"/>
              </a:spcAft>
              <a:buSzPts val="1000"/>
              <a:buChar char="○"/>
            </a:pPr>
            <a:r>
              <a:rPr lang="en" sz="1000" dirty="0"/>
              <a:t>If it is, </a:t>
            </a:r>
            <a:r>
              <a:rPr lang="en" sz="1000" b="1" dirty="0">
                <a:solidFill>
                  <a:srgbClr val="FF0000"/>
                </a:solidFill>
              </a:rPr>
              <a:t>yes</a:t>
            </a:r>
            <a:r>
              <a:rPr lang="en" sz="1000" dirty="0"/>
              <a:t>, then add the mutator.</a:t>
            </a:r>
            <a:endParaRPr sz="1000" dirty="0"/>
          </a:p>
          <a:p>
            <a:pPr marL="914400" lvl="1" indent="-292100" algn="l" rtl="0">
              <a:spcBef>
                <a:spcPts val="0"/>
              </a:spcBef>
              <a:spcAft>
                <a:spcPts val="0"/>
              </a:spcAft>
              <a:buSzPts val="1000"/>
              <a:buChar char="○"/>
            </a:pPr>
            <a:r>
              <a:rPr lang="en" sz="1000" dirty="0"/>
              <a:t>If the answer is </a:t>
            </a:r>
            <a:r>
              <a:rPr lang="en" sz="1000" b="1" dirty="0">
                <a:solidFill>
                  <a:srgbClr val="FF0000"/>
                </a:solidFill>
                <a:highlight>
                  <a:srgbClr val="FFFF00"/>
                </a:highlight>
              </a:rPr>
              <a:t>maybe</a:t>
            </a:r>
            <a:r>
              <a:rPr lang="en" sz="1000" dirty="0"/>
              <a:t>, </a:t>
            </a:r>
            <a:r>
              <a:rPr lang="en" sz="1000" dirty="0">
                <a:highlight>
                  <a:srgbClr val="FFFF00"/>
                </a:highlight>
              </a:rPr>
              <a:t>delay creating a mutator</a:t>
            </a:r>
            <a:r>
              <a:rPr lang="en" sz="1000" dirty="0"/>
              <a:t> until the implementation specifically requires it.</a:t>
            </a:r>
            <a:endParaRPr sz="1000" dirty="0"/>
          </a:p>
          <a:p>
            <a:pPr marL="457200" lvl="0" indent="-298450" algn="l" rtl="0">
              <a:spcBef>
                <a:spcPts val="0"/>
              </a:spcBef>
              <a:spcAft>
                <a:spcPts val="0"/>
              </a:spcAft>
              <a:buSzPts val="1100"/>
              <a:buChar char="●"/>
            </a:pPr>
            <a:r>
              <a:rPr lang="en" sz="1100" dirty="0"/>
              <a:t>Repeat the entire process for the fields in the </a:t>
            </a:r>
            <a:r>
              <a:rPr lang="en" sz="1100" dirty="0">
                <a:highlight>
                  <a:srgbClr val="FFFF00"/>
                </a:highlight>
                <a:latin typeface="Courier New"/>
                <a:ea typeface="Courier New"/>
                <a:cs typeface="Courier New"/>
                <a:sym typeface="Courier New"/>
              </a:rPr>
              <a:t>Ship</a:t>
            </a:r>
            <a:r>
              <a:rPr lang="en" sz="1100" dirty="0"/>
              <a:t> class.</a:t>
            </a:r>
            <a:endParaRPr sz="1100" dirty="0"/>
          </a:p>
          <a:p>
            <a:pPr marL="457200" lvl="0" indent="-298450" algn="l" rtl="0">
              <a:spcBef>
                <a:spcPts val="0"/>
              </a:spcBef>
              <a:spcAft>
                <a:spcPts val="0"/>
              </a:spcAft>
              <a:buSzPts val="1100"/>
              <a:buChar char="●"/>
            </a:pPr>
            <a:r>
              <a:rPr lang="en" sz="1100" dirty="0"/>
              <a:t>Run the </a:t>
            </a:r>
            <a:r>
              <a:rPr lang="en" sz="1100" dirty="0">
                <a:latin typeface="Courier New"/>
                <a:ea typeface="Courier New"/>
                <a:cs typeface="Courier New"/>
                <a:sym typeface="Courier New"/>
              </a:rPr>
              <a:t>StarWarsBattle</a:t>
            </a:r>
            <a:r>
              <a:rPr lang="en" sz="1100" dirty="0"/>
              <a:t> class to make sure that everything is working as expected.</a:t>
            </a:r>
            <a:endParaRPr sz="1100" dirty="0"/>
          </a:p>
        </p:txBody>
      </p:sp>
      <p:sp>
        <p:nvSpPr>
          <p:cNvPr id="519" name="Google Shape;519;p6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Accessing &amp; Mutating</a:t>
            </a:r>
            <a:endParaRPr/>
          </a:p>
        </p:txBody>
      </p:sp>
      <p:sp>
        <p:nvSpPr>
          <p:cNvPr id="520" name="Google Shape;520;p6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2.8</a:t>
            </a:r>
            <a:endParaRPr/>
          </a:p>
        </p:txBody>
      </p:sp>
      <p:sp>
        <p:nvSpPr>
          <p:cNvPr id="521" name="Google Shape;521;p69"/>
          <p:cNvSpPr txBox="1">
            <a:spLocks noGrp="1"/>
          </p:cNvSpPr>
          <p:nvPr>
            <p:ph type="body" idx="4"/>
          </p:nvPr>
        </p:nvSpPr>
        <p:spPr>
          <a:xfrm>
            <a:off x="141600" y="4233100"/>
            <a:ext cx="37065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It is almost never a good idea to make a field public. The coding standards for this class require that all non-static fields be private. </a:t>
            </a:r>
            <a:endParaRPr/>
          </a:p>
        </p:txBody>
      </p:sp>
      <p:sp>
        <p:nvSpPr>
          <p:cNvPr id="522" name="Google Shape;522;p69"/>
          <p:cNvSpPr txBox="1">
            <a:spLocks noGrp="1"/>
          </p:cNvSpPr>
          <p:nvPr>
            <p:ph type="body" idx="4"/>
          </p:nvPr>
        </p:nvSpPr>
        <p:spPr>
          <a:xfrm>
            <a:off x="141600" y="1805325"/>
            <a:ext cx="3706500" cy="23205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class</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Pet</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private</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name</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private</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age</a:t>
            </a:r>
            <a:r>
              <a:rPr lang="en" sz="1050">
                <a:solidFill>
                  <a:srgbClr val="000000"/>
                </a:solidFill>
                <a:highlight>
                  <a:srgbClr val="FFFFFF"/>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getAge</a:t>
            </a:r>
            <a:r>
              <a:rPr lang="en" sz="1050">
                <a:solidFill>
                  <a:srgbClr val="000000"/>
                </a:solidFill>
                <a:highlight>
                  <a:srgbClr val="FFFFFF"/>
                </a:highlight>
                <a:latin typeface="Consolas"/>
                <a:ea typeface="Consolas"/>
                <a:cs typeface="Consolas"/>
                <a:sym typeface="Consolas"/>
              </a:rPr>
              <a:t>() { </a:t>
            </a:r>
            <a:r>
              <a:rPr lang="en" sz="1050">
                <a:solidFill>
                  <a:srgbClr val="AF00DB"/>
                </a:solidFill>
                <a:highlight>
                  <a:srgbClr val="FFFFFF"/>
                </a:highlight>
                <a:latin typeface="Consolas"/>
                <a:ea typeface="Consolas"/>
                <a:cs typeface="Consolas"/>
                <a:sym typeface="Consolas"/>
              </a:rPr>
              <a:t>return</a:t>
            </a:r>
            <a:r>
              <a:rPr lang="en" sz="1050">
                <a:solidFill>
                  <a:srgbClr val="000000"/>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age</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a:t>
            </a:r>
            <a:r>
              <a:rPr lang="en" sz="1050">
                <a:solidFill>
                  <a:srgbClr val="0000FF"/>
                </a:solidFill>
                <a:highlight>
                  <a:srgbClr val="FFFFFF"/>
                </a:highlight>
                <a:latin typeface="Consolas"/>
                <a:ea typeface="Consolas"/>
                <a:cs typeface="Consolas"/>
                <a:sym typeface="Consolas"/>
              </a:rPr>
              <a:t>public</a:t>
            </a:r>
            <a:r>
              <a:rPr lang="en" sz="1050">
                <a:solidFill>
                  <a:srgbClr val="000000"/>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void</a:t>
            </a:r>
            <a:r>
              <a:rPr lang="en" sz="1050">
                <a:solidFill>
                  <a:srgbClr val="000000"/>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setName</a:t>
            </a:r>
            <a:r>
              <a:rPr lang="en" sz="1050">
                <a:solidFill>
                  <a:srgbClr val="000000"/>
                </a:solidFill>
                <a:highlight>
                  <a:srgbClr val="FFFFFF"/>
                </a:highlight>
                <a:latin typeface="Consolas"/>
                <a:ea typeface="Consolas"/>
                <a:cs typeface="Consolas"/>
                <a:sym typeface="Consolas"/>
              </a:rPr>
              <a:t>(</a:t>
            </a:r>
            <a:r>
              <a:rPr lang="en" sz="1050">
                <a:solidFill>
                  <a:srgbClr val="267F99"/>
                </a:solidFill>
                <a:highlight>
                  <a:schemeClr val="lt1"/>
                </a:highlight>
                <a:latin typeface="Consolas"/>
                <a:ea typeface="Consolas"/>
                <a:cs typeface="Consolas"/>
                <a:sym typeface="Consolas"/>
              </a:rPr>
              <a:t>String</a:t>
            </a:r>
            <a:r>
              <a:rPr lang="en" sz="1050">
                <a:solidFill>
                  <a:srgbClr val="000000"/>
                </a:solidFill>
                <a:highlight>
                  <a:schemeClr val="lt1"/>
                </a:highlight>
                <a:latin typeface="Consolas"/>
                <a:ea typeface="Consolas"/>
                <a:cs typeface="Consolas"/>
                <a:sym typeface="Consolas"/>
              </a:rPr>
              <a:t> </a:t>
            </a:r>
            <a:r>
              <a:rPr lang="en" sz="1050">
                <a:solidFill>
                  <a:srgbClr val="001080"/>
                </a:solidFill>
                <a:highlight>
                  <a:schemeClr val="lt1"/>
                </a:highlight>
                <a:latin typeface="Consolas"/>
                <a:ea typeface="Consolas"/>
                <a:cs typeface="Consolas"/>
                <a:sym typeface="Consolas"/>
              </a:rPr>
              <a:t>name</a:t>
            </a:r>
            <a:r>
              <a:rPr lang="en" sz="1050">
                <a:solidFill>
                  <a:srgbClr val="000000"/>
                </a:solidFill>
                <a:highlight>
                  <a:srgbClr val="FFFFFF"/>
                </a:highlight>
                <a:latin typeface="Consolas"/>
                <a:ea typeface="Consolas"/>
                <a:cs typeface="Consolas"/>
                <a:sym typeface="Consolas"/>
              </a:rPr>
              <a:t>)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r>
              <a:rPr lang="en" sz="1050">
                <a:solidFill>
                  <a:srgbClr val="000000"/>
                </a:solidFill>
                <a:highlight>
                  <a:schemeClr val="lt1"/>
                </a:highlight>
                <a:latin typeface="Consolas"/>
                <a:ea typeface="Consolas"/>
                <a:cs typeface="Consolas"/>
                <a:sym typeface="Consolas"/>
              </a:rPr>
              <a:t>        </a:t>
            </a:r>
            <a:r>
              <a:rPr lang="en" sz="1050">
                <a:solidFill>
                  <a:srgbClr val="0000FF"/>
                </a:solidFill>
                <a:highlight>
                  <a:schemeClr val="lt1"/>
                </a:highlight>
                <a:latin typeface="Consolas"/>
                <a:ea typeface="Consolas"/>
                <a:cs typeface="Consolas"/>
                <a:sym typeface="Consolas"/>
              </a:rPr>
              <a:t>this</a:t>
            </a:r>
            <a:r>
              <a:rPr lang="en" sz="1050">
                <a:solidFill>
                  <a:srgbClr val="000000"/>
                </a:solidFill>
                <a:highlight>
                  <a:schemeClr val="lt1"/>
                </a:highlight>
                <a:latin typeface="Consolas"/>
                <a:ea typeface="Consolas"/>
                <a:cs typeface="Consolas"/>
                <a:sym typeface="Consolas"/>
              </a:rPr>
              <a:t>.</a:t>
            </a:r>
            <a:r>
              <a:rPr lang="en" sz="1050">
                <a:solidFill>
                  <a:srgbClr val="001080"/>
                </a:solidFill>
                <a:highlight>
                  <a:schemeClr val="lt1"/>
                </a:highlight>
                <a:latin typeface="Consolas"/>
                <a:ea typeface="Consolas"/>
                <a:cs typeface="Consolas"/>
                <a:sym typeface="Consolas"/>
              </a:rPr>
              <a:t>name</a:t>
            </a:r>
            <a:r>
              <a:rPr lang="en" sz="1050">
                <a:solidFill>
                  <a:srgbClr val="000000"/>
                </a:solidFill>
                <a:highlight>
                  <a:schemeClr val="lt1"/>
                </a:highlight>
                <a:latin typeface="Consolas"/>
                <a:ea typeface="Consolas"/>
                <a:cs typeface="Consolas"/>
                <a:sym typeface="Consolas"/>
              </a:rPr>
              <a:t> = </a:t>
            </a:r>
            <a:r>
              <a:rPr lang="en" sz="1050">
                <a:solidFill>
                  <a:srgbClr val="001080"/>
                </a:solidFill>
                <a:highlight>
                  <a:schemeClr val="lt1"/>
                </a:highlight>
                <a:latin typeface="Consolas"/>
                <a:ea typeface="Consolas"/>
                <a:cs typeface="Consolas"/>
                <a:sym typeface="Consolas"/>
              </a:rPr>
              <a:t>name</a:t>
            </a:r>
            <a:r>
              <a:rPr lang="en" sz="1050">
                <a:solidFill>
                  <a:srgbClr val="000000"/>
                </a:solidFill>
                <a:highlight>
                  <a:schemeClr val="lt1"/>
                </a:highlight>
                <a:latin typeface="Consolas"/>
                <a:ea typeface="Consolas"/>
                <a:cs typeface="Consolas"/>
                <a:sym typeface="Consolas"/>
              </a:rPr>
              <a:t>;</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    }   </a:t>
            </a:r>
            <a:endParaRPr sz="1050">
              <a:solidFill>
                <a:srgbClr val="000000"/>
              </a:solidFill>
              <a:highlight>
                <a:srgbClr val="FFFFFF"/>
              </a:highlight>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sp>
        <p:nvSpPr>
          <p:cNvPr id="527" name="Google Shape;527;p7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sp>
        <p:nvSpPr>
          <p:cNvPr id="528" name="Google Shape;528;p70"/>
          <p:cNvSpPr txBox="1">
            <a:spLocks noGrp="1"/>
          </p:cNvSpPr>
          <p:nvPr>
            <p:ph type="title"/>
          </p:nvPr>
        </p:nvSpPr>
        <p:spPr>
          <a:xfrm>
            <a:off x="311725" y="43725"/>
            <a:ext cx="37065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Enumerated Types</a:t>
            </a:r>
            <a:endParaRPr/>
          </a:p>
          <a:p>
            <a:pPr marL="0" lvl="0" indent="0" algn="l" rtl="0">
              <a:spcBef>
                <a:spcPts val="0"/>
              </a:spcBef>
              <a:spcAft>
                <a:spcPts val="0"/>
              </a:spcAft>
              <a:buNone/>
            </a:pPr>
            <a:r>
              <a:rPr lang="en"/>
              <a:t>(</a:t>
            </a:r>
            <a:r>
              <a:rPr lang="en">
                <a:latin typeface="Courier New"/>
                <a:ea typeface="Courier New"/>
                <a:cs typeface="Courier New"/>
                <a:sym typeface="Courier New"/>
              </a:rPr>
              <a:t>enum</a:t>
            </a:r>
            <a:r>
              <a:rPr lang="en"/>
              <a:t>)</a:t>
            </a:r>
            <a:endParaRPr/>
          </a:p>
        </p:txBody>
      </p:sp>
      <p:sp>
        <p:nvSpPr>
          <p:cNvPr id="529" name="Google Shape;529;p70"/>
          <p:cNvSpPr txBox="1">
            <a:spLocks noGrp="1"/>
          </p:cNvSpPr>
          <p:nvPr>
            <p:ph type="body" idx="1"/>
          </p:nvPr>
        </p:nvSpPr>
        <p:spPr>
          <a:xfrm>
            <a:off x="4538525" y="134050"/>
            <a:ext cx="4287300" cy="4726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highlight>
                  <a:srgbClr val="FFFF00"/>
                </a:highlight>
              </a:rPr>
              <a:t>Sometimes a variable should only be assigned one of a specific set of predefined values, e.g.:</a:t>
            </a:r>
            <a:endParaRPr dirty="0">
              <a:highlight>
                <a:srgbClr val="FFFF00"/>
              </a:highlight>
            </a:endParaRPr>
          </a:p>
          <a:p>
            <a:pPr marL="914400" lvl="1" indent="-298450" algn="l" rtl="0">
              <a:spcBef>
                <a:spcPts val="0"/>
              </a:spcBef>
              <a:spcAft>
                <a:spcPts val="0"/>
              </a:spcAft>
              <a:buSzPts val="1100"/>
              <a:buChar char="○"/>
            </a:pPr>
            <a:r>
              <a:rPr lang="en" dirty="0"/>
              <a:t>Days of the week: Monday, Tuesday, etc.</a:t>
            </a:r>
            <a:endParaRPr dirty="0"/>
          </a:p>
          <a:p>
            <a:pPr marL="914400" lvl="1" indent="-298450" algn="l" rtl="0">
              <a:spcBef>
                <a:spcPts val="0"/>
              </a:spcBef>
              <a:spcAft>
                <a:spcPts val="0"/>
              </a:spcAft>
              <a:buSzPts val="1100"/>
              <a:buChar char="○"/>
            </a:pPr>
            <a:r>
              <a:rPr lang="en" dirty="0"/>
              <a:t>Months of the year: January, February, etc.</a:t>
            </a:r>
            <a:endParaRPr dirty="0"/>
          </a:p>
          <a:p>
            <a:pPr marL="914400" lvl="1" indent="-298450" algn="l" rtl="0">
              <a:spcBef>
                <a:spcPts val="0"/>
              </a:spcBef>
              <a:spcAft>
                <a:spcPts val="0"/>
              </a:spcAft>
              <a:buSzPts val="1100"/>
              <a:buChar char="○"/>
            </a:pPr>
            <a:r>
              <a:rPr lang="en" dirty="0"/>
              <a:t>Species of pet: cat, dog, hamster, etc.</a:t>
            </a:r>
            <a:endParaRPr dirty="0"/>
          </a:p>
          <a:p>
            <a:pPr marL="457200" lvl="0" indent="-311150" algn="l" rtl="0">
              <a:spcBef>
                <a:spcPts val="0"/>
              </a:spcBef>
              <a:spcAft>
                <a:spcPts val="0"/>
              </a:spcAft>
              <a:buSzPts val="1300"/>
              <a:buChar char="●"/>
            </a:pPr>
            <a:r>
              <a:rPr lang="en" dirty="0"/>
              <a:t>What Java type would you use to represent a variable like this?</a:t>
            </a:r>
            <a:endParaRPr dirty="0"/>
          </a:p>
          <a:p>
            <a:pPr marL="914400" lvl="1" indent="-298450" algn="l" rtl="0">
              <a:spcBef>
                <a:spcPts val="0"/>
              </a:spcBef>
              <a:spcAft>
                <a:spcPts val="0"/>
              </a:spcAft>
              <a:buSzPts val="1100"/>
              <a:buChar char="○"/>
            </a:pPr>
            <a:r>
              <a:rPr lang="en" dirty="0">
                <a:highlight>
                  <a:srgbClr val="FFFF00"/>
                </a:highlight>
              </a:rPr>
              <a:t>You could use an </a:t>
            </a:r>
            <a:r>
              <a:rPr lang="en" dirty="0">
                <a:highlight>
                  <a:srgbClr val="FFFF00"/>
                </a:highlight>
                <a:latin typeface="Courier New"/>
                <a:ea typeface="Courier New"/>
                <a:cs typeface="Courier New"/>
                <a:sym typeface="Courier New"/>
              </a:rPr>
              <a:t>int</a:t>
            </a:r>
            <a:r>
              <a:rPr lang="en" dirty="0"/>
              <a:t>, e.g. 0=Monday, 1=Tuesday, and so on. But what would stop you from assigning a value of -1 or 327 to the variable?</a:t>
            </a:r>
            <a:endParaRPr dirty="0"/>
          </a:p>
          <a:p>
            <a:pPr marL="914400" lvl="1" indent="-298450" algn="l" rtl="0">
              <a:spcBef>
                <a:spcPts val="0"/>
              </a:spcBef>
              <a:spcAft>
                <a:spcPts val="0"/>
              </a:spcAft>
              <a:buSzPts val="1100"/>
              <a:buChar char="○"/>
            </a:pPr>
            <a:r>
              <a:rPr lang="en" dirty="0">
                <a:highlight>
                  <a:srgbClr val="FFFF00"/>
                </a:highlight>
              </a:rPr>
              <a:t>You might try a </a:t>
            </a:r>
            <a:r>
              <a:rPr lang="en" dirty="0">
                <a:highlight>
                  <a:srgbClr val="FFFF00"/>
                </a:highlight>
                <a:latin typeface="Courier New"/>
                <a:ea typeface="Courier New"/>
                <a:cs typeface="Courier New"/>
                <a:sym typeface="Courier New"/>
              </a:rPr>
              <a:t>String</a:t>
            </a:r>
            <a:r>
              <a:rPr lang="en" dirty="0">
                <a:highlight>
                  <a:srgbClr val="FFFF00"/>
                </a:highlight>
              </a:rPr>
              <a:t>, </a:t>
            </a:r>
            <a:r>
              <a:rPr lang="en" dirty="0"/>
              <a:t>but you'd have the same problem: you could assign </a:t>
            </a:r>
            <a:r>
              <a:rPr lang="en" i="1" dirty="0"/>
              <a:t>any</a:t>
            </a:r>
            <a:r>
              <a:rPr lang="en" dirty="0"/>
              <a:t> string to the variable.</a:t>
            </a:r>
            <a:endParaRPr dirty="0"/>
          </a:p>
          <a:p>
            <a:pPr marL="457200" lvl="0" indent="-311150" algn="l" rtl="0">
              <a:spcBef>
                <a:spcPts val="0"/>
              </a:spcBef>
              <a:spcAft>
                <a:spcPts val="0"/>
              </a:spcAft>
              <a:buSzPts val="1300"/>
              <a:buChar char="●"/>
            </a:pPr>
            <a:r>
              <a:rPr lang="en" dirty="0"/>
              <a:t>In Java, it is possible to create an </a:t>
            </a:r>
            <a:r>
              <a:rPr lang="en" b="1" i="1" dirty="0">
                <a:solidFill>
                  <a:srgbClr val="FF0000"/>
                </a:solidFill>
                <a:highlight>
                  <a:srgbClr val="FFFF00"/>
                </a:highlight>
              </a:rPr>
              <a:t>enumerated type</a:t>
            </a:r>
            <a:r>
              <a:rPr lang="en" dirty="0">
                <a:highlight>
                  <a:srgbClr val="FFFF00"/>
                </a:highlight>
              </a:rPr>
              <a:t> (or an </a:t>
            </a:r>
            <a:r>
              <a:rPr lang="en" dirty="0">
                <a:solidFill>
                  <a:srgbClr val="FF0000"/>
                </a:solidFill>
                <a:highlight>
                  <a:srgbClr val="FFFF00"/>
                </a:highlight>
                <a:latin typeface="Courier New"/>
                <a:ea typeface="Courier New"/>
                <a:cs typeface="Courier New"/>
                <a:sym typeface="Courier New"/>
              </a:rPr>
              <a:t>enum</a:t>
            </a:r>
            <a:r>
              <a:rPr lang="en" i="1" dirty="0">
                <a:highlight>
                  <a:srgbClr val="FFFF00"/>
                </a:highlight>
              </a:rPr>
              <a:t> </a:t>
            </a:r>
            <a:r>
              <a:rPr lang="en" dirty="0">
                <a:highlight>
                  <a:srgbClr val="FFFF00"/>
                </a:highlight>
              </a:rPr>
              <a:t>for short).</a:t>
            </a:r>
            <a:endParaRPr dirty="0">
              <a:highlight>
                <a:srgbClr val="FFFF00"/>
              </a:highlight>
            </a:endParaRPr>
          </a:p>
          <a:p>
            <a:pPr marL="914400" lvl="1" indent="-298450" algn="l" rtl="0">
              <a:spcBef>
                <a:spcPts val="0"/>
              </a:spcBef>
              <a:spcAft>
                <a:spcPts val="0"/>
              </a:spcAft>
              <a:buSzPts val="1100"/>
              <a:buChar char="○"/>
            </a:pPr>
            <a:r>
              <a:rPr lang="en" dirty="0"/>
              <a:t>The values that may be assigned to the type are explicitly </a:t>
            </a:r>
            <a:r>
              <a:rPr lang="en" dirty="0">
                <a:highlight>
                  <a:srgbClr val="FFFF00"/>
                </a:highlight>
              </a:rPr>
              <a:t>enumerated using a comma-separated list of names.</a:t>
            </a:r>
            <a:endParaRPr dirty="0">
              <a:highlight>
                <a:srgbClr val="FFFF00"/>
              </a:highlight>
            </a:endParaRPr>
          </a:p>
          <a:p>
            <a:pPr marL="457200" lvl="0" indent="-311150" algn="l" rtl="0">
              <a:spcBef>
                <a:spcPts val="0"/>
              </a:spcBef>
              <a:spcAft>
                <a:spcPts val="0"/>
              </a:spcAft>
              <a:buSzPts val="1300"/>
              <a:buChar char="●"/>
            </a:pPr>
            <a:r>
              <a:rPr lang="en" dirty="0"/>
              <a:t>Once created, an enum can be used like any other type as variables, parameters, etc.</a:t>
            </a:r>
            <a:endParaRPr dirty="0"/>
          </a:p>
          <a:p>
            <a:pPr marL="914400" lvl="1" indent="-298450" algn="l" rtl="0">
              <a:spcBef>
                <a:spcPts val="0"/>
              </a:spcBef>
              <a:spcAft>
                <a:spcPts val="0"/>
              </a:spcAft>
              <a:buSzPts val="1100"/>
              <a:buChar char="○"/>
            </a:pPr>
            <a:r>
              <a:rPr lang="en" b="1" i="1" dirty="0">
                <a:solidFill>
                  <a:srgbClr val="FF0000"/>
                </a:solidFill>
                <a:highlight>
                  <a:srgbClr val="FFFF00"/>
                </a:highlight>
              </a:rPr>
              <a:t>Only</a:t>
            </a:r>
            <a:r>
              <a:rPr lang="en" dirty="0"/>
              <a:t> values from the enumerated list may be assigned to a variable of the enum's type.</a:t>
            </a:r>
            <a:endParaRPr dirty="0"/>
          </a:p>
        </p:txBody>
      </p:sp>
      <p:sp>
        <p:nvSpPr>
          <p:cNvPr id="530" name="Google Shape;530;p70"/>
          <p:cNvSpPr txBox="1">
            <a:spLocks noGrp="1"/>
          </p:cNvSpPr>
          <p:nvPr>
            <p:ph type="body" idx="2"/>
          </p:nvPr>
        </p:nvSpPr>
        <p:spPr>
          <a:xfrm>
            <a:off x="311725" y="1747700"/>
            <a:ext cx="3706500" cy="1539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1</a:t>
            </a:r>
            <a:r>
              <a:rPr lang="en" sz="1100" dirty="0">
                <a:solidFill>
                  <a:srgbClr val="000000"/>
                </a:solidFill>
                <a:latin typeface="Consolas"/>
                <a:ea typeface="Consolas"/>
                <a:cs typeface="Consolas"/>
                <a:sym typeface="Consolas"/>
              </a:rPr>
              <a:t>  </a:t>
            </a:r>
            <a:r>
              <a:rPr lang="en" sz="1100" dirty="0">
                <a:solidFill>
                  <a:srgbClr val="0000FF"/>
                </a:solidFill>
                <a:latin typeface="Consolas"/>
                <a:ea typeface="Consolas"/>
                <a:cs typeface="Consolas"/>
                <a:sym typeface="Consolas"/>
              </a:rPr>
              <a:t>public</a:t>
            </a:r>
            <a:r>
              <a:rPr lang="en" sz="1100" dirty="0">
                <a:solidFill>
                  <a:srgbClr val="000000"/>
                </a:solidFill>
                <a:latin typeface="Consolas"/>
                <a:ea typeface="Consolas"/>
                <a:cs typeface="Consolas"/>
                <a:sym typeface="Consolas"/>
              </a:rPr>
              <a:t> </a:t>
            </a:r>
            <a:r>
              <a:rPr lang="en" sz="1100" dirty="0">
                <a:solidFill>
                  <a:srgbClr val="0000FF"/>
                </a:solidFill>
                <a:highlight>
                  <a:srgbClr val="FFFF00"/>
                </a:highlight>
                <a:latin typeface="Consolas"/>
                <a:ea typeface="Consolas"/>
                <a:cs typeface="Consolas"/>
                <a:sym typeface="Consolas"/>
              </a:rPr>
              <a:t>enum</a:t>
            </a:r>
            <a:r>
              <a:rPr lang="en" sz="1100" dirty="0">
                <a:solidFill>
                  <a:srgbClr val="000000"/>
                </a:solidFill>
                <a:latin typeface="Consolas"/>
                <a:ea typeface="Consolas"/>
                <a:cs typeface="Consolas"/>
                <a:sym typeface="Consolas"/>
              </a:rPr>
              <a:t> </a:t>
            </a:r>
            <a:r>
              <a:rPr lang="en" sz="1100" dirty="0">
                <a:solidFill>
                  <a:srgbClr val="267F99"/>
                </a:solidFill>
                <a:latin typeface="Consolas"/>
                <a:ea typeface="Consolas"/>
                <a:cs typeface="Consolas"/>
                <a:sym typeface="Consolas"/>
              </a:rPr>
              <a:t>Species</a:t>
            </a:r>
            <a:r>
              <a:rPr lang="en" sz="1100" dirty="0">
                <a:solidFill>
                  <a:srgbClr val="000000"/>
                </a:solidFill>
                <a:latin typeface="Consolas"/>
                <a:ea typeface="Consolas"/>
                <a:cs typeface="Consolas"/>
                <a:sym typeface="Consolas"/>
              </a:rPr>
              <a:t> {</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2</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CAT</a:t>
            </a:r>
            <a:r>
              <a:rPr lang="en" sz="1100" dirty="0">
                <a:solidFill>
                  <a:srgbClr val="000000"/>
                </a:solidFill>
                <a:latin typeface="Consolas"/>
                <a:ea typeface="Consolas"/>
                <a:cs typeface="Consolas"/>
                <a:sym typeface="Consolas"/>
              </a:rPr>
              <a:t>,</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3</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DOG</a:t>
            </a:r>
            <a:r>
              <a:rPr lang="en" sz="1100" dirty="0">
                <a:solidFill>
                  <a:srgbClr val="000000"/>
                </a:solidFill>
                <a:latin typeface="Consolas"/>
                <a:ea typeface="Consolas"/>
                <a:cs typeface="Consolas"/>
                <a:sym typeface="Consolas"/>
              </a:rPr>
              <a:t>,</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4</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BIRD</a:t>
            </a:r>
            <a:r>
              <a:rPr lang="en" sz="1100" dirty="0">
                <a:solidFill>
                  <a:srgbClr val="000000"/>
                </a:solidFill>
                <a:latin typeface="Consolas"/>
                <a:ea typeface="Consolas"/>
                <a:cs typeface="Consolas"/>
                <a:sym typeface="Consolas"/>
              </a:rPr>
              <a:t>,</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5</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FISH</a:t>
            </a:r>
            <a:r>
              <a:rPr lang="en" sz="1100" dirty="0">
                <a:solidFill>
                  <a:srgbClr val="000000"/>
                </a:solidFill>
                <a:latin typeface="Consolas"/>
                <a:ea typeface="Consolas"/>
                <a:cs typeface="Consolas"/>
                <a:sym typeface="Consolas"/>
              </a:rPr>
              <a:t>,</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6</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LIZARD</a:t>
            </a:r>
            <a:r>
              <a:rPr lang="en" sz="1100" dirty="0">
                <a:solidFill>
                  <a:srgbClr val="000000"/>
                </a:solidFill>
                <a:latin typeface="Consolas"/>
                <a:ea typeface="Consolas"/>
                <a:cs typeface="Consolas"/>
                <a:sym typeface="Consolas"/>
              </a:rPr>
              <a:t>,</a:t>
            </a:r>
            <a:endParaRPr sz="11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7</a:t>
            </a:r>
            <a:r>
              <a:rPr lang="en" sz="1100" dirty="0">
                <a:solidFill>
                  <a:srgbClr val="000000"/>
                </a:solidFill>
                <a:latin typeface="Consolas"/>
                <a:ea typeface="Consolas"/>
                <a:cs typeface="Consolas"/>
                <a:sym typeface="Consolas"/>
              </a:rPr>
              <a:t>      </a:t>
            </a:r>
            <a:r>
              <a:rPr lang="en" sz="1100" dirty="0">
                <a:solidFill>
                  <a:srgbClr val="0070C1"/>
                </a:solidFill>
                <a:latin typeface="Consolas"/>
                <a:ea typeface="Consolas"/>
                <a:cs typeface="Consolas"/>
                <a:sym typeface="Consolas"/>
              </a:rPr>
              <a:t>HAMSTER</a:t>
            </a:r>
            <a:endParaRPr sz="1100" dirty="0">
              <a:solidFill>
                <a:srgbClr val="0070C1"/>
              </a:solidFill>
              <a:latin typeface="Consolas"/>
              <a:ea typeface="Consolas"/>
              <a:cs typeface="Consolas"/>
              <a:sym typeface="Consolas"/>
            </a:endParaRPr>
          </a:p>
          <a:p>
            <a:pPr marL="0" lvl="0" indent="0" algn="l" rtl="0">
              <a:lnSpc>
                <a:spcPct val="100000"/>
              </a:lnSpc>
              <a:spcBef>
                <a:spcPts val="0"/>
              </a:spcBef>
              <a:spcAft>
                <a:spcPts val="0"/>
              </a:spcAft>
              <a:buNone/>
            </a:pPr>
            <a:r>
              <a:rPr lang="en" sz="1100" dirty="0">
                <a:solidFill>
                  <a:srgbClr val="098658"/>
                </a:solidFill>
                <a:latin typeface="Consolas"/>
                <a:ea typeface="Consolas"/>
                <a:cs typeface="Consolas"/>
                <a:sym typeface="Consolas"/>
              </a:rPr>
              <a:t>8</a:t>
            </a:r>
            <a:r>
              <a:rPr lang="en" sz="1100" dirty="0">
                <a:solidFill>
                  <a:srgbClr val="000000"/>
                </a:solidFill>
                <a:latin typeface="Consolas"/>
                <a:ea typeface="Consolas"/>
                <a:cs typeface="Consolas"/>
                <a:sym typeface="Consolas"/>
              </a:rPr>
              <a:t>  }</a:t>
            </a:r>
            <a:endParaRPr sz="1100" dirty="0"/>
          </a:p>
        </p:txBody>
      </p:sp>
      <p:sp>
        <p:nvSpPr>
          <p:cNvPr id="531" name="Google Shape;531;p70"/>
          <p:cNvSpPr/>
          <p:nvPr/>
        </p:nvSpPr>
        <p:spPr>
          <a:xfrm>
            <a:off x="1377600" y="1599525"/>
            <a:ext cx="97950" cy="277025"/>
          </a:xfrm>
          <a:custGeom>
            <a:avLst/>
            <a:gdLst/>
            <a:ahLst/>
            <a:cxnLst/>
            <a:rect l="l" t="t" r="r" b="b"/>
            <a:pathLst>
              <a:path w="3918" h="11081" extrusionOk="0">
                <a:moveTo>
                  <a:pt x="0" y="0"/>
                </a:moveTo>
                <a:cubicBezTo>
                  <a:pt x="649" y="849"/>
                  <a:pt x="3793" y="3244"/>
                  <a:pt x="3893" y="5091"/>
                </a:cubicBezTo>
                <a:cubicBezTo>
                  <a:pt x="3993" y="6938"/>
                  <a:pt x="1148" y="10083"/>
                  <a:pt x="599" y="11081"/>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532" name="Google Shape;532;p70"/>
          <p:cNvSpPr txBox="1">
            <a:spLocks noGrp="1"/>
          </p:cNvSpPr>
          <p:nvPr>
            <p:ph type="body" idx="3"/>
          </p:nvPr>
        </p:nvSpPr>
        <p:spPr>
          <a:xfrm>
            <a:off x="315425" y="1090425"/>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A new enumerated type is declared as an enum rather than a class.</a:t>
            </a:r>
            <a:endParaRPr sz="1200"/>
          </a:p>
        </p:txBody>
      </p:sp>
      <p:sp>
        <p:nvSpPr>
          <p:cNvPr id="533" name="Google Shape;533;p70"/>
          <p:cNvSpPr txBox="1">
            <a:spLocks noGrp="1"/>
          </p:cNvSpPr>
          <p:nvPr>
            <p:ph type="body" idx="3"/>
          </p:nvPr>
        </p:nvSpPr>
        <p:spPr>
          <a:xfrm>
            <a:off x="311725" y="339017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The values that may be assigned to a variable of the enumerated type are explicitly specified as a </a:t>
            </a:r>
            <a:r>
              <a:rPr lang="en" sz="1200" dirty="0">
                <a:highlight>
                  <a:srgbClr val="FFFF00"/>
                </a:highlight>
              </a:rPr>
              <a:t>comma-separated list of names.</a:t>
            </a:r>
            <a:endParaRPr sz="1200" dirty="0">
              <a:highlight>
                <a:srgbClr val="FFFF00"/>
              </a:highlight>
            </a:endParaRPr>
          </a:p>
        </p:txBody>
      </p:sp>
      <p:grpSp>
        <p:nvGrpSpPr>
          <p:cNvPr id="534" name="Google Shape;534;p70"/>
          <p:cNvGrpSpPr/>
          <p:nvPr/>
        </p:nvGrpSpPr>
        <p:grpSpPr>
          <a:xfrm>
            <a:off x="1475550" y="2041251"/>
            <a:ext cx="508476" cy="1347649"/>
            <a:chOff x="1475550" y="2193651"/>
            <a:chExt cx="508476" cy="1347649"/>
          </a:xfrm>
        </p:grpSpPr>
        <p:sp>
          <p:nvSpPr>
            <p:cNvPr id="535" name="Google Shape;535;p70"/>
            <p:cNvSpPr/>
            <p:nvPr/>
          </p:nvSpPr>
          <p:spPr>
            <a:xfrm>
              <a:off x="1475550" y="2193651"/>
              <a:ext cx="141600" cy="965700"/>
            </a:xfrm>
            <a:prstGeom prst="rightBrace">
              <a:avLst>
                <a:gd name="adj1" fmla="val 50000"/>
                <a:gd name="adj2" fmla="val 50393"/>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70"/>
            <p:cNvSpPr/>
            <p:nvPr/>
          </p:nvSpPr>
          <p:spPr>
            <a:xfrm>
              <a:off x="1617176" y="2680300"/>
              <a:ext cx="366850" cy="861000"/>
            </a:xfrm>
            <a:custGeom>
              <a:avLst/>
              <a:gdLst/>
              <a:ahLst/>
              <a:cxnLst/>
              <a:rect l="l" t="t" r="r" b="b"/>
              <a:pathLst>
                <a:path w="14674" h="34440" extrusionOk="0">
                  <a:moveTo>
                    <a:pt x="0" y="0"/>
                  </a:moveTo>
                  <a:lnTo>
                    <a:pt x="14674" y="0"/>
                  </a:lnTo>
                  <a:lnTo>
                    <a:pt x="14674" y="34440"/>
                  </a:lnTo>
                </a:path>
              </a:pathLst>
            </a:custGeom>
            <a:noFill/>
            <a:ln w="19050" cap="flat" cmpd="sng">
              <a:solidFill>
                <a:srgbClr val="FF0000"/>
              </a:solidFill>
              <a:prstDash val="solid"/>
              <a:round/>
              <a:headEnd type="none" w="med" len="med"/>
              <a:tailEnd type="none" w="med" len="med"/>
            </a:ln>
          </p:spPr>
          <p:txBody>
            <a:bodyPr/>
            <a:lstStyle/>
            <a:p>
              <a:endParaRPr lang="en-US"/>
            </a:p>
          </p:txBody>
        </p:sp>
      </p:grpSp>
      <p:sp>
        <p:nvSpPr>
          <p:cNvPr id="537" name="Google Shape;537;p70"/>
          <p:cNvSpPr txBox="1">
            <a:spLocks noGrp="1"/>
          </p:cNvSpPr>
          <p:nvPr>
            <p:ph type="body" idx="3"/>
          </p:nvPr>
        </p:nvSpPr>
        <p:spPr>
          <a:xfrm>
            <a:off x="311725" y="4232250"/>
            <a:ext cx="3706500" cy="3771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35714"/>
              </a:lnSpc>
              <a:spcBef>
                <a:spcPts val="0"/>
              </a:spcBef>
              <a:spcAft>
                <a:spcPts val="0"/>
              </a:spcAft>
              <a:buNone/>
            </a:pPr>
            <a:r>
              <a:rPr lang="en" sz="1250">
                <a:solidFill>
                  <a:srgbClr val="267F99"/>
                </a:solidFill>
                <a:highlight>
                  <a:srgbClr val="FFFFFF"/>
                </a:highlight>
                <a:latin typeface="Consolas"/>
                <a:ea typeface="Consolas"/>
                <a:cs typeface="Consolas"/>
                <a:sym typeface="Consolas"/>
              </a:rPr>
              <a:t>Species</a:t>
            </a:r>
            <a:r>
              <a:rPr lang="en" sz="1250">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species</a:t>
            </a:r>
            <a:r>
              <a:rPr lang="en" sz="1250">
                <a:highlight>
                  <a:srgbClr val="FFFFFF"/>
                </a:highlight>
                <a:latin typeface="Consolas"/>
                <a:ea typeface="Consolas"/>
                <a:cs typeface="Consolas"/>
                <a:sym typeface="Consolas"/>
              </a:rPr>
              <a:t> = </a:t>
            </a:r>
            <a:r>
              <a:rPr lang="en" sz="1250">
                <a:solidFill>
                  <a:srgbClr val="267F99"/>
                </a:solidFill>
                <a:highlight>
                  <a:srgbClr val="FFFFFF"/>
                </a:highlight>
                <a:latin typeface="Consolas"/>
                <a:ea typeface="Consolas"/>
                <a:cs typeface="Consolas"/>
                <a:sym typeface="Consolas"/>
              </a:rPr>
              <a:t>Species</a:t>
            </a:r>
            <a:r>
              <a:rPr lang="en" sz="1250">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DOG</a:t>
            </a:r>
            <a:r>
              <a:rPr lang="en" sz="1250">
                <a:highlight>
                  <a:srgbClr val="FFFFFF"/>
                </a:highlight>
                <a:latin typeface="Consolas"/>
                <a:ea typeface="Consolas"/>
                <a:cs typeface="Consolas"/>
                <a:sym typeface="Consolas"/>
              </a:rPr>
              <a:t>;</a:t>
            </a:r>
            <a:endParaRPr sz="1400"/>
          </a:p>
        </p:txBody>
      </p:sp>
      <p:grpSp>
        <p:nvGrpSpPr>
          <p:cNvPr id="538" name="Google Shape;538;p70"/>
          <p:cNvGrpSpPr/>
          <p:nvPr/>
        </p:nvGrpSpPr>
        <p:grpSpPr>
          <a:xfrm>
            <a:off x="1924125" y="4117800"/>
            <a:ext cx="1407550" cy="449100"/>
            <a:chOff x="1924125" y="4117800"/>
            <a:chExt cx="1407550" cy="449100"/>
          </a:xfrm>
        </p:grpSpPr>
        <p:sp>
          <p:nvSpPr>
            <p:cNvPr id="539" name="Google Shape;539;p70"/>
            <p:cNvSpPr/>
            <p:nvPr/>
          </p:nvSpPr>
          <p:spPr>
            <a:xfrm>
              <a:off x="1924125" y="4290000"/>
              <a:ext cx="1123200" cy="276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70"/>
            <p:cNvSpPr/>
            <p:nvPr/>
          </p:nvSpPr>
          <p:spPr>
            <a:xfrm>
              <a:off x="3054650" y="4117800"/>
              <a:ext cx="277025" cy="314450"/>
            </a:xfrm>
            <a:custGeom>
              <a:avLst/>
              <a:gdLst/>
              <a:ahLst/>
              <a:cxnLst/>
              <a:rect l="l" t="t" r="r" b="b"/>
              <a:pathLst>
                <a:path w="11081" h="12578" extrusionOk="0">
                  <a:moveTo>
                    <a:pt x="0" y="12578"/>
                  </a:moveTo>
                  <a:lnTo>
                    <a:pt x="11081" y="12578"/>
                  </a:lnTo>
                  <a:lnTo>
                    <a:pt x="11081" y="0"/>
                  </a:lnTo>
                </a:path>
              </a:pathLst>
            </a:custGeom>
            <a:noFill/>
            <a:ln w="19050" cap="flat" cmpd="sng">
              <a:solidFill>
                <a:srgbClr val="EE0000"/>
              </a:solidFill>
              <a:prstDash val="solid"/>
              <a:round/>
              <a:headEnd type="none" w="med" len="med"/>
              <a:tailEnd type="non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2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532"/>
                                        </p:tgtEl>
                                        <p:attrNameLst>
                                          <p:attrName>style.visibility</p:attrName>
                                        </p:attrNameLst>
                                      </p:cBhvr>
                                      <p:to>
                                        <p:strVal val="visible"/>
                                      </p:to>
                                    </p:set>
                                    <p:animEffect transition="in" filter="fade">
                                      <p:cBhvr>
                                        <p:cTn id="51" dur="1000"/>
                                        <p:tgtEl>
                                          <p:spTgt spid="532"/>
                                        </p:tgtEl>
                                      </p:cBhvr>
                                    </p:animEffect>
                                  </p:childTnLst>
                                </p:cTn>
                              </p:par>
                              <p:par>
                                <p:cTn id="52" presetID="10" presetClass="entr" presetSubtype="0" fill="hold" nodeType="withEffect">
                                  <p:stCondLst>
                                    <p:cond delay="0"/>
                                  </p:stCondLst>
                                  <p:childTnLst>
                                    <p:set>
                                      <p:cBhvr>
                                        <p:cTn id="53" dur="1" fill="hold">
                                          <p:stCondLst>
                                            <p:cond delay="0"/>
                                          </p:stCondLst>
                                        </p:cTn>
                                        <p:tgtEl>
                                          <p:spTgt spid="530"/>
                                        </p:tgtEl>
                                        <p:attrNameLst>
                                          <p:attrName>style.visibility</p:attrName>
                                        </p:attrNameLst>
                                      </p:cBhvr>
                                      <p:to>
                                        <p:strVal val="visible"/>
                                      </p:to>
                                    </p:set>
                                    <p:animEffect transition="in" filter="fade">
                                      <p:cBhvr>
                                        <p:cTn id="54" dur="1000"/>
                                        <p:tgtEl>
                                          <p:spTgt spid="530"/>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531"/>
                                        </p:tgtEl>
                                        <p:attrNameLst>
                                          <p:attrName>style.visibility</p:attrName>
                                        </p:attrNameLst>
                                      </p:cBhvr>
                                      <p:to>
                                        <p:strVal val="visible"/>
                                      </p:to>
                                    </p:set>
                                    <p:animEffect transition="in" filter="fade">
                                      <p:cBhvr>
                                        <p:cTn id="58" dur="1000"/>
                                        <p:tgtEl>
                                          <p:spTgt spid="53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533"/>
                                        </p:tgtEl>
                                        <p:attrNameLst>
                                          <p:attrName>style.visibility</p:attrName>
                                        </p:attrNameLst>
                                      </p:cBhvr>
                                      <p:to>
                                        <p:strVal val="visible"/>
                                      </p:to>
                                    </p:set>
                                    <p:animEffect transition="in" filter="fade">
                                      <p:cBhvr>
                                        <p:cTn id="63" dur="1000"/>
                                        <p:tgtEl>
                                          <p:spTgt spid="533"/>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534"/>
                                        </p:tgtEl>
                                        <p:attrNameLst>
                                          <p:attrName>style.visibility</p:attrName>
                                        </p:attrNameLst>
                                      </p:cBhvr>
                                      <p:to>
                                        <p:strVal val="visible"/>
                                      </p:to>
                                    </p:set>
                                    <p:animEffect transition="in" filter="fade">
                                      <p:cBhvr>
                                        <p:cTn id="67" dur="1000"/>
                                        <p:tgtEl>
                                          <p:spTgt spid="534"/>
                                        </p:tgtEl>
                                      </p:cBhvr>
                                    </p:animEffect>
                                  </p:childTnLst>
                                </p:cTn>
                              </p:par>
                            </p:childTnLst>
                          </p:cTn>
                        </p:par>
                        <p:par>
                          <p:cTn id="68" fill="hold">
                            <p:stCondLst>
                              <p:cond delay="2000"/>
                            </p:stCondLst>
                            <p:childTnLst>
                              <p:par>
                                <p:cTn id="69" presetID="10" presetClass="entr" presetSubtype="0" fill="hold" nodeType="afterEffect">
                                  <p:stCondLst>
                                    <p:cond delay="0"/>
                                  </p:stCondLst>
                                  <p:childTnLst>
                                    <p:set>
                                      <p:cBhvr>
                                        <p:cTn id="70" dur="1" fill="hold">
                                          <p:stCondLst>
                                            <p:cond delay="0"/>
                                          </p:stCondLst>
                                        </p:cTn>
                                        <p:tgtEl>
                                          <p:spTgt spid="537"/>
                                        </p:tgtEl>
                                        <p:attrNameLst>
                                          <p:attrName>style.visibility</p:attrName>
                                        </p:attrNameLst>
                                      </p:cBhvr>
                                      <p:to>
                                        <p:strVal val="visible"/>
                                      </p:to>
                                    </p:set>
                                    <p:animEffect transition="in" filter="fade">
                                      <p:cBhvr>
                                        <p:cTn id="71" dur="1000"/>
                                        <p:tgtEl>
                                          <p:spTgt spid="537"/>
                                        </p:tgtEl>
                                      </p:cBhvr>
                                    </p:animEffect>
                                  </p:childTnLst>
                                </p:cTn>
                              </p:par>
                            </p:childTnLst>
                          </p:cTn>
                        </p:par>
                        <p:par>
                          <p:cTn id="72" fill="hold">
                            <p:stCondLst>
                              <p:cond delay="3000"/>
                            </p:stCondLst>
                            <p:childTnLst>
                              <p:par>
                                <p:cTn id="73" presetID="10" presetClass="entr" presetSubtype="0" fill="hold" nodeType="afterEffect">
                                  <p:stCondLst>
                                    <p:cond delay="0"/>
                                  </p:stCondLst>
                                  <p:childTnLst>
                                    <p:set>
                                      <p:cBhvr>
                                        <p:cTn id="74" dur="1" fill="hold">
                                          <p:stCondLst>
                                            <p:cond delay="0"/>
                                          </p:stCondLst>
                                        </p:cTn>
                                        <p:tgtEl>
                                          <p:spTgt spid="538"/>
                                        </p:tgtEl>
                                        <p:attrNameLst>
                                          <p:attrName>style.visibility</p:attrName>
                                        </p:attrNameLst>
                                      </p:cBhvr>
                                      <p:to>
                                        <p:strVal val="visible"/>
                                      </p:to>
                                    </p:set>
                                    <p:animEffect transition="in" filter="fade">
                                      <p:cBhvr>
                                        <p:cTn id="75" dur="1000"/>
                                        <p:tgtEl>
                                          <p:spTgt spid="5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71"/>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dirty="0"/>
              <a:t>We know that the weapons in the Star Wars Battle game have one of three different damage types: </a:t>
            </a:r>
            <a:r>
              <a:rPr lang="en" i="1" dirty="0"/>
              <a:t>heavy</a:t>
            </a:r>
            <a:r>
              <a:rPr lang="en" dirty="0"/>
              <a:t>, </a:t>
            </a:r>
            <a:r>
              <a:rPr lang="en" i="1" dirty="0"/>
              <a:t>normal</a:t>
            </a:r>
            <a:r>
              <a:rPr lang="en" dirty="0"/>
              <a:t>, and </a:t>
            </a:r>
            <a:r>
              <a:rPr lang="en" i="1" dirty="0"/>
              <a:t>ion</a:t>
            </a:r>
            <a:r>
              <a:rPr lang="en" dirty="0"/>
              <a:t>. We'd like to restrict the damage type so that if can only be one of that specific set of predefined values. Let's create an enum to represent the damage type!</a:t>
            </a:r>
            <a:endParaRPr dirty="0"/>
          </a:p>
        </p:txBody>
      </p:sp>
      <p:sp>
        <p:nvSpPr>
          <p:cNvPr id="546" name="Google Shape;546;p7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sp>
        <p:nvSpPr>
          <p:cNvPr id="547" name="Google Shape;547;p71"/>
          <p:cNvSpPr txBox="1">
            <a:spLocks noGrp="1"/>
          </p:cNvSpPr>
          <p:nvPr>
            <p:ph type="body" idx="2"/>
          </p:nvPr>
        </p:nvSpPr>
        <p:spPr>
          <a:xfrm>
            <a:off x="3274950" y="1666175"/>
            <a:ext cx="5619600" cy="33231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Create a new file in the </a:t>
            </a:r>
            <a:r>
              <a:rPr lang="en" sz="1500" dirty="0">
                <a:latin typeface="Courier New"/>
                <a:ea typeface="Courier New"/>
                <a:cs typeface="Courier New"/>
                <a:sym typeface="Courier New"/>
              </a:rPr>
              <a:t>swb</a:t>
            </a:r>
            <a:r>
              <a:rPr lang="en" sz="1500" dirty="0"/>
              <a:t> package named "</a:t>
            </a:r>
            <a:r>
              <a:rPr lang="en" sz="1500" dirty="0">
                <a:solidFill>
                  <a:srgbClr val="EE0000"/>
                </a:solidFill>
                <a:latin typeface="Courier New"/>
                <a:ea typeface="Courier New"/>
                <a:cs typeface="Courier New"/>
                <a:sym typeface="Courier New"/>
              </a:rPr>
              <a:t>DamageType.java</a:t>
            </a:r>
            <a:r>
              <a:rPr lang="en" sz="1500" dirty="0"/>
              <a:t>".</a:t>
            </a:r>
            <a:endParaRPr sz="1500" dirty="0"/>
          </a:p>
          <a:p>
            <a:pPr marL="914400" lvl="1" indent="-311150" algn="l" rtl="0">
              <a:spcBef>
                <a:spcPts val="0"/>
              </a:spcBef>
              <a:spcAft>
                <a:spcPts val="0"/>
              </a:spcAft>
              <a:buSzPts val="1300"/>
              <a:buChar char="○"/>
            </a:pPr>
            <a:r>
              <a:rPr lang="en" sz="1300" dirty="0"/>
              <a:t>Use the example to the left to create an enumerated type that lists the specific, pre-defined values that may be assigned to a </a:t>
            </a:r>
            <a:r>
              <a:rPr lang="en" sz="1300" dirty="0">
                <a:latin typeface="Courier New"/>
                <a:ea typeface="Courier New"/>
                <a:cs typeface="Courier New"/>
                <a:sym typeface="Courier New"/>
              </a:rPr>
              <a:t>DamageType</a:t>
            </a:r>
            <a:r>
              <a:rPr lang="en" sz="1300" dirty="0"/>
              <a:t> variable: </a:t>
            </a:r>
            <a:r>
              <a:rPr lang="en" sz="1300" i="1" dirty="0"/>
              <a:t>heavy</a:t>
            </a:r>
            <a:r>
              <a:rPr lang="en" sz="1300" dirty="0"/>
              <a:t>, </a:t>
            </a:r>
            <a:r>
              <a:rPr lang="en" sz="1300" i="1" dirty="0"/>
              <a:t>normal</a:t>
            </a:r>
            <a:r>
              <a:rPr lang="en" sz="1300" dirty="0"/>
              <a:t>, and </a:t>
            </a:r>
            <a:r>
              <a:rPr lang="en" sz="1300" i="1" dirty="0"/>
              <a:t>ion</a:t>
            </a:r>
            <a:r>
              <a:rPr lang="en" sz="1300" dirty="0"/>
              <a:t>.</a:t>
            </a:r>
            <a:endParaRPr sz="1300" dirty="0"/>
          </a:p>
          <a:p>
            <a:pPr marL="914400" lvl="1" indent="-311150" algn="l" rtl="0">
              <a:spcBef>
                <a:spcPts val="0"/>
              </a:spcBef>
              <a:spcAft>
                <a:spcPts val="0"/>
              </a:spcAft>
              <a:buSzPts val="1300"/>
              <a:buChar char="○"/>
            </a:pPr>
            <a:r>
              <a:rPr lang="en" sz="1300" dirty="0"/>
              <a:t>By stylistic convention, the identifiers should be </a:t>
            </a:r>
            <a:r>
              <a:rPr lang="en" sz="1300" dirty="0">
                <a:highlight>
                  <a:srgbClr val="FFFF00"/>
                </a:highlight>
              </a:rPr>
              <a:t>UPPERCASE</a:t>
            </a:r>
            <a:r>
              <a:rPr lang="en" sz="1300" dirty="0"/>
              <a:t>.</a:t>
            </a:r>
            <a:endParaRPr sz="1300" dirty="0"/>
          </a:p>
          <a:p>
            <a:pPr marL="457200" lvl="0" indent="-323850" algn="l" rtl="0">
              <a:spcBef>
                <a:spcPts val="0"/>
              </a:spcBef>
              <a:spcAft>
                <a:spcPts val="0"/>
              </a:spcAft>
              <a:buSzPts val="1500"/>
              <a:buChar char="●"/>
            </a:pPr>
            <a:r>
              <a:rPr lang="en" sz="1500" dirty="0"/>
              <a:t>Update the </a:t>
            </a:r>
            <a:r>
              <a:rPr lang="en" sz="1500" dirty="0">
                <a:highlight>
                  <a:srgbClr val="FFFF00"/>
                </a:highlight>
                <a:latin typeface="Courier New"/>
                <a:ea typeface="Courier New"/>
                <a:cs typeface="Courier New"/>
                <a:sym typeface="Courier New"/>
              </a:rPr>
              <a:t>Weapon</a:t>
            </a:r>
            <a:r>
              <a:rPr lang="en" sz="1500" dirty="0"/>
              <a:t> class to use your new enumerated type for the damage type.</a:t>
            </a:r>
            <a:endParaRPr sz="1500" dirty="0"/>
          </a:p>
          <a:p>
            <a:pPr marL="914400" lvl="1" indent="-311150" algn="l" rtl="0">
              <a:spcBef>
                <a:spcPts val="0"/>
              </a:spcBef>
              <a:spcAft>
                <a:spcPts val="0"/>
              </a:spcAft>
              <a:buSzPts val="1300"/>
              <a:buChar char="○"/>
            </a:pPr>
            <a:r>
              <a:rPr lang="en" sz="1300" dirty="0"/>
              <a:t>Replace all instances of the old type with the new </a:t>
            </a:r>
            <a:r>
              <a:rPr lang="en" sz="1300" dirty="0">
                <a:latin typeface="Courier New"/>
                <a:ea typeface="Courier New"/>
                <a:cs typeface="Courier New"/>
                <a:sym typeface="Courier New"/>
              </a:rPr>
              <a:t>DamageType</a:t>
            </a:r>
            <a:r>
              <a:rPr lang="en" sz="1300" dirty="0"/>
              <a:t> including fields, parameters, return types, etc.</a:t>
            </a:r>
            <a:endParaRPr sz="1300" dirty="0"/>
          </a:p>
          <a:p>
            <a:pPr marL="457200" lvl="0" indent="-323850" algn="l" rtl="0">
              <a:spcBef>
                <a:spcPts val="0"/>
              </a:spcBef>
              <a:spcAft>
                <a:spcPts val="0"/>
              </a:spcAft>
              <a:buSzPts val="1500"/>
              <a:buChar char="●"/>
            </a:pPr>
            <a:r>
              <a:rPr lang="en" sz="1500" dirty="0">
                <a:highlight>
                  <a:srgbClr val="FFFF00"/>
                </a:highlight>
              </a:rPr>
              <a:t>Fix any errors that occur in the </a:t>
            </a:r>
            <a:r>
              <a:rPr lang="en" sz="1500" dirty="0">
                <a:highlight>
                  <a:srgbClr val="FFFF00"/>
                </a:highlight>
                <a:latin typeface="Courier New"/>
                <a:ea typeface="Courier New"/>
                <a:cs typeface="Courier New"/>
                <a:sym typeface="Courier New"/>
              </a:rPr>
              <a:t>StarWarsBattle</a:t>
            </a:r>
            <a:r>
              <a:rPr lang="en" sz="1500" dirty="0">
                <a:highlight>
                  <a:srgbClr val="FFFF00"/>
                </a:highlight>
              </a:rPr>
              <a:t> class.</a:t>
            </a:r>
            <a:endParaRPr sz="1500" dirty="0">
              <a:highlight>
                <a:srgbClr val="FFFF00"/>
              </a:highlight>
            </a:endParaRPr>
          </a:p>
          <a:p>
            <a:pPr marL="914400" lvl="1" indent="-311150" algn="l" rtl="0">
              <a:spcBef>
                <a:spcPts val="0"/>
              </a:spcBef>
              <a:spcAft>
                <a:spcPts val="0"/>
              </a:spcAft>
              <a:buSzPts val="1300"/>
              <a:buChar char="○"/>
            </a:pPr>
            <a:r>
              <a:rPr lang="en" sz="1300" dirty="0">
                <a:highlight>
                  <a:srgbClr val="FFFF00"/>
                </a:highlight>
              </a:rPr>
              <a:t>Run the </a:t>
            </a:r>
            <a:r>
              <a:rPr lang="en" sz="1300" dirty="0">
                <a:highlight>
                  <a:srgbClr val="FFFF00"/>
                </a:highlight>
                <a:latin typeface="Courier New"/>
                <a:ea typeface="Courier New"/>
                <a:cs typeface="Courier New"/>
                <a:sym typeface="Courier New"/>
              </a:rPr>
              <a:t>main</a:t>
            </a:r>
            <a:r>
              <a:rPr lang="en" sz="1300" dirty="0">
                <a:highlight>
                  <a:srgbClr val="FFFF00"/>
                </a:highlight>
              </a:rPr>
              <a:t> method to make sure that everything is working as expected.</a:t>
            </a:r>
            <a:endParaRPr dirty="0">
              <a:highlight>
                <a:srgbClr val="FFFF00"/>
              </a:highlight>
              <a:latin typeface="Courier New"/>
              <a:ea typeface="Courier New"/>
              <a:cs typeface="Courier New"/>
              <a:sym typeface="Courier New"/>
            </a:endParaRPr>
          </a:p>
        </p:txBody>
      </p:sp>
      <p:sp>
        <p:nvSpPr>
          <p:cNvPr id="548" name="Google Shape;548;p7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Damage Type </a:t>
            </a:r>
            <a:r>
              <a:rPr lang="en">
                <a:latin typeface="Courier New"/>
                <a:ea typeface="Courier New"/>
                <a:cs typeface="Courier New"/>
                <a:sym typeface="Courier New"/>
              </a:rPr>
              <a:t>enum</a:t>
            </a:r>
            <a:endParaRPr>
              <a:latin typeface="Courier New"/>
              <a:ea typeface="Courier New"/>
              <a:cs typeface="Courier New"/>
              <a:sym typeface="Courier New"/>
            </a:endParaRPr>
          </a:p>
        </p:txBody>
      </p:sp>
      <p:sp>
        <p:nvSpPr>
          <p:cNvPr id="549" name="Google Shape;549;p7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2.9</a:t>
            </a:r>
            <a:endParaRPr/>
          </a:p>
        </p:txBody>
      </p:sp>
      <p:sp>
        <p:nvSpPr>
          <p:cNvPr id="550" name="Google Shape;550;p71"/>
          <p:cNvSpPr txBox="1">
            <a:spLocks noGrp="1"/>
          </p:cNvSpPr>
          <p:nvPr>
            <p:ph type="body" idx="4"/>
          </p:nvPr>
        </p:nvSpPr>
        <p:spPr>
          <a:xfrm>
            <a:off x="152250" y="1800950"/>
            <a:ext cx="3023700" cy="16623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enum</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Species</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CAT</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DOG</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BIRD</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FISH</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LIZARD</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    </a:t>
            </a:r>
            <a:r>
              <a:rPr lang="en">
                <a:solidFill>
                  <a:srgbClr val="0070C1"/>
                </a:solidFill>
                <a:latin typeface="Consolas"/>
                <a:ea typeface="Consolas"/>
                <a:cs typeface="Consolas"/>
                <a:sym typeface="Consolas"/>
              </a:rPr>
              <a:t>HAMSTER</a:t>
            </a:r>
            <a:endParaRPr>
              <a:solidFill>
                <a:srgbClr val="0070C1"/>
              </a:solidFill>
              <a:latin typeface="Consolas"/>
              <a:ea typeface="Consolas"/>
              <a:cs typeface="Consolas"/>
              <a:sym typeface="Consolas"/>
            </a:endParaRPr>
          </a:p>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a:t>
            </a:r>
            <a:endParaRPr/>
          </a:p>
        </p:txBody>
      </p:sp>
      <p:pic>
        <p:nvPicPr>
          <p:cNvPr id="551" name="Google Shape;551;p71"/>
          <p:cNvPicPr preferRelativeResize="0"/>
          <p:nvPr/>
        </p:nvPicPr>
        <p:blipFill>
          <a:blip r:embed="rId3">
            <a:alphaModFix/>
          </a:blip>
          <a:stretch>
            <a:fillRect/>
          </a:stretch>
        </p:blipFill>
        <p:spPr>
          <a:xfrm>
            <a:off x="152245" y="3574800"/>
            <a:ext cx="2089593" cy="1433951"/>
          </a:xfrm>
          <a:prstGeom prst="rect">
            <a:avLst/>
          </a:prstGeom>
          <a:noFill/>
          <a:ln w="19050" cap="flat" cmpd="sng">
            <a:solidFill>
              <a:schemeClr val="dk2"/>
            </a:solidFill>
            <a:prstDash val="solid"/>
            <a:round/>
            <a:headEnd type="none" w="sm" len="sm"/>
            <a:tailEnd type="none" w="sm" len="sm"/>
          </a:ln>
        </p:spPr>
      </p:pic>
      <p:sp>
        <p:nvSpPr>
          <p:cNvPr id="552" name="Google Shape;552;p71"/>
          <p:cNvSpPr/>
          <p:nvPr/>
        </p:nvSpPr>
        <p:spPr>
          <a:xfrm>
            <a:off x="1834300" y="3698525"/>
            <a:ext cx="1341600" cy="393600"/>
          </a:xfrm>
          <a:prstGeom prst="wedgeRectCallout">
            <a:avLst>
              <a:gd name="adj1" fmla="val -50000"/>
              <a:gd name="adj2" fmla="val 98368"/>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PEW PEW!</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72"/>
          <p:cNvSpPr txBox="1">
            <a:spLocks noGrp="1"/>
          </p:cNvSpPr>
          <p:nvPr>
            <p:ph type="title"/>
          </p:nvPr>
        </p:nvSpPr>
        <p:spPr>
          <a:xfrm>
            <a:off x="311725" y="28751"/>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Complex </a:t>
            </a:r>
            <a:r>
              <a:rPr lang="en">
                <a:latin typeface="Courier New"/>
                <a:ea typeface="Courier New"/>
                <a:cs typeface="Courier New"/>
                <a:sym typeface="Courier New"/>
              </a:rPr>
              <a:t>enum</a:t>
            </a:r>
            <a:r>
              <a:rPr lang="en"/>
              <a:t>s</a:t>
            </a:r>
            <a:endParaRPr/>
          </a:p>
        </p:txBody>
      </p:sp>
      <p:sp>
        <p:nvSpPr>
          <p:cNvPr id="558" name="Google Shape;558;p72"/>
          <p:cNvSpPr txBox="1">
            <a:spLocks noGrp="1"/>
          </p:cNvSpPr>
          <p:nvPr>
            <p:ph type="body" idx="1"/>
          </p:nvPr>
        </p:nvSpPr>
        <p:spPr>
          <a:xfrm>
            <a:off x="4659650" y="113925"/>
            <a:ext cx="4166400" cy="4726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highlight>
                  <a:srgbClr val="FFFF00"/>
                </a:highlight>
              </a:rPr>
              <a:t>Sometimes we would like to associate one or more additional values with each of the predefined values in an enumerated type.</a:t>
            </a:r>
            <a:endParaRPr dirty="0">
              <a:highlight>
                <a:srgbClr val="FFFF00"/>
              </a:highlight>
            </a:endParaRPr>
          </a:p>
          <a:p>
            <a:pPr marL="457200" lvl="0" indent="-311150" algn="l" rtl="0">
              <a:spcBef>
                <a:spcPts val="0"/>
              </a:spcBef>
              <a:spcAft>
                <a:spcPts val="0"/>
              </a:spcAft>
              <a:buSzPts val="1300"/>
              <a:buChar char="●"/>
            </a:pPr>
            <a:r>
              <a:rPr lang="en" dirty="0"/>
              <a:t>It is possible to do this by declaring</a:t>
            </a:r>
            <a:r>
              <a:rPr lang="en" dirty="0">
                <a:highlight>
                  <a:srgbClr val="FFFF00"/>
                </a:highlight>
              </a:rPr>
              <a:t> </a:t>
            </a:r>
            <a:r>
              <a:rPr lang="en" b="1" i="1" dirty="0">
                <a:solidFill>
                  <a:srgbClr val="FF0000"/>
                </a:solidFill>
                <a:highlight>
                  <a:srgbClr val="FFFF00"/>
                </a:highlight>
              </a:rPr>
              <a:t>fields</a:t>
            </a:r>
            <a:r>
              <a:rPr lang="en" dirty="0">
                <a:solidFill>
                  <a:srgbClr val="FF0000"/>
                </a:solidFill>
                <a:highlight>
                  <a:srgbClr val="FFFF00"/>
                </a:highlight>
              </a:rPr>
              <a:t> </a:t>
            </a:r>
            <a:r>
              <a:rPr lang="en" dirty="0">
                <a:highlight>
                  <a:srgbClr val="FFFF00"/>
                </a:highlight>
              </a:rPr>
              <a:t>inside of an </a:t>
            </a:r>
            <a:r>
              <a:rPr lang="en" dirty="0">
                <a:highlight>
                  <a:srgbClr val="FFFF00"/>
                </a:highlight>
                <a:latin typeface="Courier New"/>
                <a:ea typeface="Courier New"/>
                <a:cs typeface="Courier New"/>
                <a:sym typeface="Courier New"/>
              </a:rPr>
              <a:t>enum</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Each of the predefined values in the </a:t>
            </a:r>
            <a:r>
              <a:rPr lang="en" dirty="0">
                <a:highlight>
                  <a:srgbClr val="FFFF00"/>
                </a:highlight>
                <a:latin typeface="Courier New"/>
                <a:ea typeface="Courier New"/>
                <a:cs typeface="Courier New"/>
                <a:sym typeface="Courier New"/>
              </a:rPr>
              <a:t>enum</a:t>
            </a:r>
            <a:r>
              <a:rPr lang="en" dirty="0">
                <a:highlight>
                  <a:srgbClr val="FFFF00"/>
                </a:highlight>
              </a:rPr>
              <a:t> should assign a value to each of the fields.</a:t>
            </a:r>
            <a:endParaRPr dirty="0">
              <a:highlight>
                <a:srgbClr val="FFFF00"/>
              </a:highlight>
            </a:endParaRPr>
          </a:p>
          <a:p>
            <a:pPr marL="914400" lvl="1" indent="-298450" algn="l" rtl="0">
              <a:spcBef>
                <a:spcPts val="0"/>
              </a:spcBef>
              <a:spcAft>
                <a:spcPts val="0"/>
              </a:spcAft>
              <a:buSzPts val="1100"/>
              <a:buChar char="○"/>
            </a:pPr>
            <a:r>
              <a:rPr lang="en" dirty="0">
                <a:highlight>
                  <a:srgbClr val="FFFF00"/>
                </a:highlight>
              </a:rPr>
              <a:t>This is done by defining a </a:t>
            </a:r>
            <a:r>
              <a:rPr lang="en" b="1" i="1" dirty="0">
                <a:solidFill>
                  <a:srgbClr val="EE0000"/>
                </a:solidFill>
                <a:highlight>
                  <a:srgbClr val="FFFF00"/>
                </a:highlight>
              </a:rPr>
              <a:t>constructor</a:t>
            </a:r>
            <a:r>
              <a:rPr lang="en" b="1" i="1" dirty="0">
                <a:highlight>
                  <a:srgbClr val="FFFF00"/>
                </a:highlight>
              </a:rPr>
              <a:t> </a:t>
            </a:r>
            <a:r>
              <a:rPr lang="en" dirty="0">
                <a:highlight>
                  <a:srgbClr val="FFFF00"/>
                </a:highlight>
              </a:rPr>
              <a:t>in the </a:t>
            </a:r>
            <a:r>
              <a:rPr lang="en" dirty="0">
                <a:highlight>
                  <a:srgbClr val="FFFF00"/>
                </a:highlight>
                <a:latin typeface="Courier New"/>
                <a:ea typeface="Courier New"/>
                <a:cs typeface="Courier New"/>
                <a:sym typeface="Courier New"/>
              </a:rPr>
              <a:t>enum</a:t>
            </a:r>
            <a:r>
              <a:rPr lang="en" dirty="0">
                <a:highlight>
                  <a:srgbClr val="FFFF00"/>
                </a:highlight>
              </a:rPr>
              <a:t> and using it to initialize the variables.</a:t>
            </a:r>
            <a:endParaRPr dirty="0">
              <a:highlight>
                <a:srgbClr val="FFFF00"/>
              </a:highlight>
            </a:endParaRPr>
          </a:p>
          <a:p>
            <a:pPr marL="914400" lvl="1" indent="-298450" algn="l" rtl="0">
              <a:spcBef>
                <a:spcPts val="0"/>
              </a:spcBef>
              <a:spcAft>
                <a:spcPts val="0"/>
              </a:spcAft>
              <a:buSzPts val="1100"/>
              <a:buChar char="○"/>
            </a:pPr>
            <a:r>
              <a:rPr lang="en" dirty="0"/>
              <a:t>The constructor may declare </a:t>
            </a:r>
            <a:r>
              <a:rPr lang="en" b="1" i="1" dirty="0">
                <a:solidFill>
                  <a:srgbClr val="EE0000"/>
                </a:solidFill>
                <a:highlight>
                  <a:srgbClr val="FFFF00"/>
                </a:highlight>
              </a:rPr>
              <a:t>parameters</a:t>
            </a:r>
            <a:r>
              <a:rPr lang="en" dirty="0"/>
              <a:t>, in which case arguments must be passed into the constructor when each of the predefined values is declared.</a:t>
            </a:r>
            <a:endParaRPr dirty="0"/>
          </a:p>
          <a:p>
            <a:pPr marL="457200" lvl="0" indent="-311150" algn="l" rtl="0">
              <a:spcBef>
                <a:spcPts val="0"/>
              </a:spcBef>
              <a:spcAft>
                <a:spcPts val="0"/>
              </a:spcAft>
              <a:buSzPts val="1300"/>
              <a:buChar char="●"/>
            </a:pPr>
            <a:r>
              <a:rPr lang="en" dirty="0"/>
              <a:t>An </a:t>
            </a:r>
            <a:r>
              <a:rPr lang="en" dirty="0">
                <a:latin typeface="Courier New"/>
                <a:ea typeface="Courier New"/>
                <a:cs typeface="Courier New"/>
                <a:sym typeface="Courier New"/>
              </a:rPr>
              <a:t>enum</a:t>
            </a:r>
            <a:r>
              <a:rPr lang="en" dirty="0"/>
              <a:t> may also define methods.</a:t>
            </a:r>
            <a:endParaRPr dirty="0"/>
          </a:p>
          <a:p>
            <a:pPr marL="914400" lvl="1" indent="-298450" algn="l" rtl="0">
              <a:spcBef>
                <a:spcPts val="0"/>
              </a:spcBef>
              <a:spcAft>
                <a:spcPts val="0"/>
              </a:spcAft>
              <a:buSzPts val="1100"/>
              <a:buChar char="○"/>
            </a:pPr>
            <a:r>
              <a:rPr lang="en" dirty="0">
                <a:highlight>
                  <a:srgbClr val="FFFF00"/>
                </a:highlight>
              </a:rPr>
              <a:t>It is common to write an accessor for each of the fields.</a:t>
            </a:r>
            <a:endParaRPr dirty="0">
              <a:highlight>
                <a:srgbClr val="FFFF00"/>
              </a:highlight>
            </a:endParaRPr>
          </a:p>
          <a:p>
            <a:pPr marL="914400" lvl="1" indent="-298450" algn="l" rtl="0">
              <a:spcBef>
                <a:spcPts val="0"/>
              </a:spcBef>
              <a:spcAft>
                <a:spcPts val="0"/>
              </a:spcAft>
              <a:buSzPts val="1100"/>
              <a:buChar char="○"/>
            </a:pPr>
            <a:r>
              <a:rPr lang="en" dirty="0"/>
              <a:t>You may add other methods as well.</a:t>
            </a:r>
            <a:endParaRPr dirty="0"/>
          </a:p>
          <a:p>
            <a:pPr marL="457200" lvl="0" indent="-311150" algn="l" rtl="0">
              <a:spcBef>
                <a:spcPts val="0"/>
              </a:spcBef>
              <a:spcAft>
                <a:spcPts val="0"/>
              </a:spcAft>
              <a:buSzPts val="1300"/>
              <a:buChar char="●"/>
            </a:pPr>
            <a:r>
              <a:rPr lang="en" dirty="0">
                <a:highlight>
                  <a:srgbClr val="FFFF00"/>
                </a:highlight>
              </a:rPr>
              <a:t>Adding these features to an </a:t>
            </a:r>
            <a:r>
              <a:rPr lang="en" dirty="0">
                <a:highlight>
                  <a:srgbClr val="FFFF00"/>
                </a:highlight>
                <a:latin typeface="Courier New"/>
                <a:ea typeface="Courier New"/>
                <a:cs typeface="Courier New"/>
                <a:sym typeface="Courier New"/>
              </a:rPr>
              <a:t>enum</a:t>
            </a:r>
            <a:r>
              <a:rPr lang="en" dirty="0">
                <a:highlight>
                  <a:srgbClr val="FFFF00"/>
                </a:highlight>
              </a:rPr>
              <a:t> significantly complicates the syntax.</a:t>
            </a:r>
            <a:endParaRPr dirty="0">
              <a:highlight>
                <a:srgbClr val="FFFF00"/>
              </a:highlight>
            </a:endParaRPr>
          </a:p>
          <a:p>
            <a:pPr marL="914400" lvl="1" indent="-298450" algn="l" rtl="0">
              <a:spcBef>
                <a:spcPts val="0"/>
              </a:spcBef>
              <a:spcAft>
                <a:spcPts val="0"/>
              </a:spcAft>
              <a:buSzPts val="1100"/>
              <a:buChar char="○"/>
            </a:pPr>
            <a:r>
              <a:rPr lang="en" dirty="0"/>
              <a:t>The syntax resembles a full-blown Java class, but </a:t>
            </a:r>
            <a:r>
              <a:rPr lang="en" dirty="0">
                <a:highlight>
                  <a:srgbClr val="FFFF00"/>
                </a:highlight>
              </a:rPr>
              <a:t>the </a:t>
            </a:r>
            <a:r>
              <a:rPr lang="en" dirty="0">
                <a:highlight>
                  <a:srgbClr val="FFFF00"/>
                </a:highlight>
                <a:latin typeface="Courier New"/>
                <a:ea typeface="Courier New"/>
                <a:cs typeface="Courier New"/>
                <a:sym typeface="Courier New"/>
              </a:rPr>
              <a:t>enum</a:t>
            </a:r>
            <a:r>
              <a:rPr lang="en" dirty="0">
                <a:highlight>
                  <a:srgbClr val="FFFF00"/>
                </a:highlight>
              </a:rPr>
              <a:t> still retains the benefit of only being </a:t>
            </a:r>
            <a:r>
              <a:rPr lang="en" dirty="0"/>
              <a:t>assignable to a specific list of predefined values. </a:t>
            </a:r>
            <a:endParaRPr dirty="0"/>
          </a:p>
        </p:txBody>
      </p:sp>
      <p:sp>
        <p:nvSpPr>
          <p:cNvPr id="559" name="Google Shape;559;p72"/>
          <p:cNvSpPr txBox="1">
            <a:spLocks noGrp="1"/>
          </p:cNvSpPr>
          <p:nvPr>
            <p:ph type="body" idx="2"/>
          </p:nvPr>
        </p:nvSpPr>
        <p:spPr>
          <a:xfrm>
            <a:off x="311725" y="637814"/>
            <a:ext cx="3706500" cy="3740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enum</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BoilingPoint</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CELSIUS</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'C'</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100</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FAHRENHEIT</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'F'</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212</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4</a:t>
            </a:r>
            <a:r>
              <a:rPr lang="en" sz="1050">
                <a:solidFill>
                  <a:srgbClr val="000000"/>
                </a:solidFill>
                <a:latin typeface="Consolas"/>
                <a:ea typeface="Consolas"/>
                <a:cs typeface="Consolas"/>
                <a:sym typeface="Consolas"/>
              </a:rPr>
              <a:t>      </a:t>
            </a:r>
            <a:r>
              <a:rPr lang="en" sz="1050">
                <a:solidFill>
                  <a:srgbClr val="0070C1"/>
                </a:solidFill>
                <a:latin typeface="Consolas"/>
                <a:ea typeface="Consolas"/>
                <a:cs typeface="Consolas"/>
                <a:sym typeface="Consolas"/>
              </a:rPr>
              <a:t>KELVIN</a:t>
            </a:r>
            <a:r>
              <a:rPr lang="en" sz="1050">
                <a:solidFill>
                  <a:srgbClr val="000000"/>
                </a:solidFill>
                <a:latin typeface="Consolas"/>
                <a:ea typeface="Consolas"/>
                <a:cs typeface="Consolas"/>
                <a:sym typeface="Consolas"/>
              </a:rPr>
              <a:t>(</a:t>
            </a:r>
            <a:r>
              <a:rPr lang="en" sz="1050">
                <a:solidFill>
                  <a:srgbClr val="A31515"/>
                </a:solidFill>
                <a:latin typeface="Consolas"/>
                <a:ea typeface="Consolas"/>
                <a:cs typeface="Consolas"/>
                <a:sym typeface="Consolas"/>
              </a:rPr>
              <a:t>'K'</a:t>
            </a:r>
            <a:r>
              <a:rPr lang="en" sz="1050">
                <a:solidFill>
                  <a:srgbClr val="000000"/>
                </a:solidFill>
                <a:latin typeface="Consolas"/>
                <a:ea typeface="Consolas"/>
                <a:cs typeface="Consolas"/>
                <a:sym typeface="Consolas"/>
              </a:rPr>
              <a:t>, </a:t>
            </a:r>
            <a:r>
              <a:rPr lang="en" sz="1050">
                <a:solidFill>
                  <a:srgbClr val="098658"/>
                </a:solidFill>
                <a:latin typeface="Consolas"/>
                <a:ea typeface="Consolas"/>
                <a:cs typeface="Consolas"/>
                <a:sym typeface="Consolas"/>
              </a:rPr>
              <a:t>373.5f</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6</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7</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float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8</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9</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BoilingPoint</a:t>
            </a:r>
            <a:r>
              <a:rPr lang="en" sz="1050">
                <a:solidFill>
                  <a:srgbClr val="000000"/>
                </a:solidFill>
                <a:latin typeface="Consolas"/>
                <a:ea typeface="Consolas"/>
                <a:cs typeface="Consolas"/>
                <a:sym typeface="Consolas"/>
              </a:rPr>
              <a:t>(</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10</a:t>
            </a:r>
            <a:r>
              <a:rPr lang="en" sz="1050">
                <a:solidFill>
                  <a:srgbClr val="267F99"/>
                </a:solidFill>
                <a:latin typeface="Consolas"/>
                <a:ea typeface="Consolas"/>
                <a:cs typeface="Consolas"/>
                <a:sym typeface="Consolas"/>
              </a:rPr>
              <a:t>                          float</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11</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12</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solidFill>
                  <a:srgbClr val="000000"/>
                </a:solidFill>
                <a:latin typeface="Consolas"/>
                <a:ea typeface="Consolas"/>
                <a:cs typeface="Consolas"/>
                <a:sym typeface="Consolas"/>
              </a:rPr>
              <a:t>.</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 =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13</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14</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15</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char</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getScale</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16</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scale</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17</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18</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19</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267F99"/>
                </a:solidFill>
                <a:latin typeface="Consolas"/>
                <a:ea typeface="Consolas"/>
                <a:cs typeface="Consolas"/>
                <a:sym typeface="Consolas"/>
              </a:rPr>
              <a:t>float</a:t>
            </a:r>
            <a:r>
              <a:rPr lang="en" sz="1050">
                <a:solidFill>
                  <a:srgbClr val="000000"/>
                </a:solidFill>
                <a:latin typeface="Consolas"/>
                <a:ea typeface="Consolas"/>
                <a:cs typeface="Consolas"/>
                <a:sym typeface="Consolas"/>
              </a:rPr>
              <a:t> </a:t>
            </a:r>
            <a:r>
              <a:rPr lang="en" sz="1050">
                <a:solidFill>
                  <a:srgbClr val="795E26"/>
                </a:solidFill>
                <a:latin typeface="Consolas"/>
                <a:ea typeface="Consolas"/>
                <a:cs typeface="Consolas"/>
                <a:sym typeface="Consolas"/>
              </a:rPr>
              <a:t>getDegrees</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20</a:t>
            </a:r>
            <a:r>
              <a:rPr lang="en" sz="1050">
                <a:solidFill>
                  <a:srgbClr val="000000"/>
                </a:solidFill>
                <a:latin typeface="Consolas"/>
                <a:ea typeface="Consolas"/>
                <a:cs typeface="Consolas"/>
                <a:sym typeface="Consolas"/>
              </a:rPr>
              <a:t>         </a:t>
            </a:r>
            <a:r>
              <a:rPr lang="en" sz="1050">
                <a:solidFill>
                  <a:srgbClr val="AF00DB"/>
                </a:solidFill>
                <a:latin typeface="Consolas"/>
                <a:ea typeface="Consolas"/>
                <a:cs typeface="Consolas"/>
                <a:sym typeface="Consolas"/>
              </a:rPr>
              <a:t>return</a:t>
            </a:r>
            <a:r>
              <a:rPr lang="en" sz="1050">
                <a:solidFill>
                  <a:srgbClr val="000000"/>
                </a:solidFill>
                <a:latin typeface="Consolas"/>
                <a:ea typeface="Consolas"/>
                <a:cs typeface="Consolas"/>
                <a:sym typeface="Consolas"/>
              </a:rPr>
              <a:t> </a:t>
            </a:r>
            <a:r>
              <a:rPr lang="en" sz="1050">
                <a:solidFill>
                  <a:srgbClr val="001080"/>
                </a:solidFill>
                <a:latin typeface="Consolas"/>
                <a:ea typeface="Consolas"/>
                <a:cs typeface="Consolas"/>
                <a:sym typeface="Consolas"/>
              </a:rPr>
              <a:t>degrees</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21</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098658"/>
                </a:solidFill>
                <a:latin typeface="Consolas"/>
                <a:ea typeface="Consolas"/>
                <a:cs typeface="Consolas"/>
                <a:sym typeface="Consolas"/>
              </a:rPr>
              <a:t>22</a:t>
            </a:r>
            <a:r>
              <a:rPr lang="en" sz="1050">
                <a:solidFill>
                  <a:srgbClr val="000000"/>
                </a:solidFill>
                <a:latin typeface="Consolas"/>
                <a:ea typeface="Consolas"/>
                <a:cs typeface="Consolas"/>
                <a:sym typeface="Consolas"/>
              </a:rPr>
              <a:t> }</a:t>
            </a:r>
            <a:endParaRPr sz="1050"/>
          </a:p>
        </p:txBody>
      </p:sp>
      <p:sp>
        <p:nvSpPr>
          <p:cNvPr id="560" name="Google Shape;560;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sp>
        <p:nvSpPr>
          <p:cNvPr id="561" name="Google Shape;561;p72"/>
          <p:cNvSpPr txBox="1">
            <a:spLocks noGrp="1"/>
          </p:cNvSpPr>
          <p:nvPr>
            <p:ph type="body" idx="3"/>
          </p:nvPr>
        </p:nvSpPr>
        <p:spPr>
          <a:xfrm>
            <a:off x="311725" y="4487751"/>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There's a lot going on here! Let's take a closer look…</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5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5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5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5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61"/>
                                        </p:tgtEl>
                                        <p:attrNameLst>
                                          <p:attrName>style.visibility</p:attrName>
                                        </p:attrNameLst>
                                      </p:cBhvr>
                                      <p:to>
                                        <p:strVal val="visible"/>
                                      </p:to>
                                    </p:set>
                                    <p:animEffect transition="in" filter="fade">
                                      <p:cBhvr>
                                        <p:cTn id="47" dur="1000"/>
                                        <p:tgtEl>
                                          <p:spTgt spid="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73"/>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28</a:t>
            </a:fld>
            <a:endParaRPr/>
          </a:p>
        </p:txBody>
      </p:sp>
      <p:sp>
        <p:nvSpPr>
          <p:cNvPr id="567" name="Google Shape;567;p73"/>
          <p:cNvSpPr txBox="1">
            <a:spLocks noGrp="1"/>
          </p:cNvSpPr>
          <p:nvPr>
            <p:ph type="title"/>
          </p:nvPr>
        </p:nvSpPr>
        <p:spPr>
          <a:xfrm>
            <a:off x="311725" y="67171"/>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Complex Enumerated Types</a:t>
            </a:r>
            <a:endParaRPr/>
          </a:p>
        </p:txBody>
      </p:sp>
      <p:sp>
        <p:nvSpPr>
          <p:cNvPr id="568" name="Google Shape;568;p73"/>
          <p:cNvSpPr txBox="1">
            <a:spLocks noGrp="1"/>
          </p:cNvSpPr>
          <p:nvPr>
            <p:ph type="body" idx="4294967295"/>
          </p:nvPr>
        </p:nvSpPr>
        <p:spPr>
          <a:xfrm>
            <a:off x="2839375" y="1004675"/>
            <a:ext cx="3465300" cy="3740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enum</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BoilingPoint</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CELSIUS</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'C'</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100</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3</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FAHRENHEIT</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'F'</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212</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4</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KELVIN</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'K'</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373.5f</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5</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6</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7</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float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8</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9</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BoilingPoint</a:t>
            </a:r>
            <a:r>
              <a:rPr lang="en" sz="1050" dirty="0">
                <a:solidFill>
                  <a:srgbClr val="000000"/>
                </a:solidFill>
                <a:latin typeface="Consolas"/>
                <a:ea typeface="Consolas"/>
                <a:cs typeface="Consolas"/>
                <a:sym typeface="Consolas"/>
              </a:rPr>
              <a:t>(</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10</a:t>
            </a:r>
            <a:r>
              <a:rPr lang="en" sz="1050" dirty="0">
                <a:solidFill>
                  <a:srgbClr val="267F99"/>
                </a:solidFill>
                <a:latin typeface="Consolas"/>
                <a:ea typeface="Consolas"/>
                <a:cs typeface="Consolas"/>
                <a:sym typeface="Consolas"/>
              </a:rPr>
              <a:t>                          float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11</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12</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13</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14</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15</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getScale</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16</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17</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18</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19</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float</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getDegrees</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20</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21</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22</a:t>
            </a:r>
            <a:r>
              <a:rPr lang="en" sz="1050" dirty="0">
                <a:solidFill>
                  <a:srgbClr val="000000"/>
                </a:solidFill>
                <a:latin typeface="Consolas"/>
                <a:ea typeface="Consolas"/>
                <a:cs typeface="Consolas"/>
                <a:sym typeface="Consolas"/>
              </a:rPr>
              <a:t> }</a:t>
            </a:r>
            <a:endParaRPr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74"/>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29</a:t>
            </a:fld>
            <a:endParaRPr/>
          </a:p>
        </p:txBody>
      </p:sp>
      <p:sp>
        <p:nvSpPr>
          <p:cNvPr id="574" name="Google Shape;574;p74"/>
          <p:cNvSpPr txBox="1">
            <a:spLocks noGrp="1"/>
          </p:cNvSpPr>
          <p:nvPr>
            <p:ph type="title"/>
          </p:nvPr>
        </p:nvSpPr>
        <p:spPr>
          <a:xfrm>
            <a:off x="311725" y="67171"/>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Complex Enumerated Types</a:t>
            </a:r>
            <a:endParaRPr/>
          </a:p>
        </p:txBody>
      </p:sp>
      <p:sp>
        <p:nvSpPr>
          <p:cNvPr id="575" name="Google Shape;575;p74"/>
          <p:cNvSpPr txBox="1">
            <a:spLocks noGrp="1"/>
          </p:cNvSpPr>
          <p:nvPr>
            <p:ph type="body" idx="4294967295"/>
          </p:nvPr>
        </p:nvSpPr>
        <p:spPr>
          <a:xfrm>
            <a:off x="2839375" y="1004675"/>
            <a:ext cx="3465300" cy="3740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enum</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BoilingPoint</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CELSIUS</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'C'</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100</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3</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FAHRENHEIT</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'F'</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212</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4</a:t>
            </a:r>
            <a:r>
              <a:rPr lang="en" sz="1050" dirty="0">
                <a:solidFill>
                  <a:srgbClr val="000000"/>
                </a:solidFill>
                <a:latin typeface="Consolas"/>
                <a:ea typeface="Consolas"/>
                <a:cs typeface="Consolas"/>
                <a:sym typeface="Consolas"/>
              </a:rPr>
              <a:t>      </a:t>
            </a:r>
            <a:r>
              <a:rPr lang="en" sz="1050" dirty="0">
                <a:solidFill>
                  <a:srgbClr val="0070C1"/>
                </a:solidFill>
                <a:latin typeface="Consolas"/>
                <a:ea typeface="Consolas"/>
                <a:cs typeface="Consolas"/>
                <a:sym typeface="Consolas"/>
              </a:rPr>
              <a:t>KELVIN</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'K'</a:t>
            </a:r>
            <a:r>
              <a:rPr lang="en" sz="1050" dirty="0">
                <a:solidFill>
                  <a:srgbClr val="000000"/>
                </a:solidFill>
                <a:latin typeface="Consolas"/>
                <a:ea typeface="Consolas"/>
                <a:cs typeface="Consolas"/>
                <a:sym typeface="Consolas"/>
              </a:rPr>
              <a:t>, </a:t>
            </a:r>
            <a:r>
              <a:rPr lang="en" sz="1050" dirty="0">
                <a:solidFill>
                  <a:srgbClr val="098658"/>
                </a:solidFill>
                <a:latin typeface="Consolas"/>
                <a:ea typeface="Consolas"/>
                <a:cs typeface="Consolas"/>
                <a:sym typeface="Consolas"/>
              </a:rPr>
              <a:t>373.5f</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5</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6</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7</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float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8</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9</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private</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BoilingPoint</a:t>
            </a:r>
            <a:r>
              <a:rPr lang="en" sz="1050" dirty="0">
                <a:solidFill>
                  <a:srgbClr val="000000"/>
                </a:solidFill>
                <a:latin typeface="Consolas"/>
                <a:ea typeface="Consolas"/>
                <a:cs typeface="Consolas"/>
                <a:sym typeface="Consolas"/>
              </a:rPr>
              <a:t>(</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10</a:t>
            </a:r>
            <a:r>
              <a:rPr lang="en" sz="1050" dirty="0">
                <a:solidFill>
                  <a:srgbClr val="267F99"/>
                </a:solidFill>
                <a:latin typeface="Consolas"/>
                <a:ea typeface="Consolas"/>
                <a:cs typeface="Consolas"/>
                <a:sym typeface="Consolas"/>
              </a:rPr>
              <a:t>                          float</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11</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12</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this</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13</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14</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15</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char</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getScale</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16</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scale</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17</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18</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19</a:t>
            </a:r>
            <a:r>
              <a:rPr lang="en" sz="1050" dirty="0">
                <a:solidFill>
                  <a:srgbClr val="000000"/>
                </a:solidFill>
                <a:latin typeface="Consolas"/>
                <a:ea typeface="Consolas"/>
                <a:cs typeface="Consolas"/>
                <a:sym typeface="Consolas"/>
              </a:rPr>
              <a:t>     </a:t>
            </a:r>
            <a:r>
              <a:rPr lang="en" sz="1050" dirty="0">
                <a:solidFill>
                  <a:srgbClr val="0000FF"/>
                </a:solidFill>
                <a:latin typeface="Consolas"/>
                <a:ea typeface="Consolas"/>
                <a:cs typeface="Consolas"/>
                <a:sym typeface="Consolas"/>
              </a:rPr>
              <a:t>public</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float</a:t>
            </a:r>
            <a:r>
              <a:rPr lang="en" sz="1050" dirty="0">
                <a:solidFill>
                  <a:srgbClr val="000000"/>
                </a:solidFill>
                <a:latin typeface="Consolas"/>
                <a:ea typeface="Consolas"/>
                <a:cs typeface="Consolas"/>
                <a:sym typeface="Consolas"/>
              </a:rPr>
              <a:t> </a:t>
            </a:r>
            <a:r>
              <a:rPr lang="en" sz="1050" dirty="0">
                <a:solidFill>
                  <a:srgbClr val="795E26"/>
                </a:solidFill>
                <a:latin typeface="Consolas"/>
                <a:ea typeface="Consolas"/>
                <a:cs typeface="Consolas"/>
                <a:sym typeface="Consolas"/>
              </a:rPr>
              <a:t>getDegrees</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20</a:t>
            </a:r>
            <a:r>
              <a:rPr lang="en" sz="1050" dirty="0">
                <a:solidFill>
                  <a:srgbClr val="000000"/>
                </a:solidFill>
                <a:latin typeface="Consolas"/>
                <a:ea typeface="Consolas"/>
                <a:cs typeface="Consolas"/>
                <a:sym typeface="Consolas"/>
              </a:rPr>
              <a:t>         </a:t>
            </a:r>
            <a:r>
              <a:rPr lang="en" sz="1050" dirty="0">
                <a:solidFill>
                  <a:srgbClr val="AF00DB"/>
                </a:solidFill>
                <a:latin typeface="Consolas"/>
                <a:ea typeface="Consolas"/>
                <a:cs typeface="Consolas"/>
                <a:sym typeface="Consolas"/>
              </a:rPr>
              <a:t>return</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degrees</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21</a:t>
            </a:r>
            <a:r>
              <a:rPr lang="en" sz="1050" dirty="0">
                <a:solidFill>
                  <a:srgbClr val="000000"/>
                </a:solidFill>
                <a:latin typeface="Consolas"/>
                <a:ea typeface="Consolas"/>
                <a:cs typeface="Consolas"/>
                <a:sym typeface="Consolas"/>
              </a:rPr>
              <a:t>     }</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22</a:t>
            </a:r>
            <a:r>
              <a:rPr lang="en" sz="1050" dirty="0">
                <a:solidFill>
                  <a:srgbClr val="000000"/>
                </a:solidFill>
                <a:latin typeface="Consolas"/>
                <a:ea typeface="Consolas"/>
                <a:cs typeface="Consolas"/>
                <a:sym typeface="Consolas"/>
              </a:rPr>
              <a:t> }</a:t>
            </a:r>
            <a:endParaRPr sz="1050" dirty="0"/>
          </a:p>
        </p:txBody>
      </p:sp>
      <p:sp>
        <p:nvSpPr>
          <p:cNvPr id="576" name="Google Shape;576;p74"/>
          <p:cNvSpPr txBox="1">
            <a:spLocks noGrp="1"/>
          </p:cNvSpPr>
          <p:nvPr>
            <p:ph type="body" idx="4294967295"/>
          </p:nvPr>
        </p:nvSpPr>
        <p:spPr>
          <a:xfrm>
            <a:off x="134775" y="1610100"/>
            <a:ext cx="2560500" cy="1128484"/>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highlight>
                  <a:srgbClr val="FFFF00"/>
                </a:highlight>
                <a:latin typeface="Arial"/>
                <a:ea typeface="Arial"/>
                <a:cs typeface="Arial"/>
                <a:sym typeface="Arial"/>
              </a:rPr>
              <a:t>The enum may declare one or more </a:t>
            </a:r>
            <a:r>
              <a:rPr lang="en" sz="1200" b="1" i="1" dirty="0">
                <a:solidFill>
                  <a:srgbClr val="EE0000"/>
                </a:solidFill>
                <a:highlight>
                  <a:srgbClr val="FFFF00"/>
                </a:highlight>
                <a:latin typeface="Arial"/>
                <a:ea typeface="Arial"/>
                <a:cs typeface="Arial"/>
                <a:sym typeface="Arial"/>
              </a:rPr>
              <a:t>fields</a:t>
            </a:r>
            <a:r>
              <a:rPr lang="en" sz="1200" dirty="0">
                <a:solidFill>
                  <a:srgbClr val="000000"/>
                </a:solidFill>
                <a:highlight>
                  <a:srgbClr val="FFFF00"/>
                </a:highlight>
                <a:latin typeface="Arial"/>
                <a:ea typeface="Arial"/>
                <a:cs typeface="Arial"/>
                <a:sym typeface="Arial"/>
              </a:rPr>
              <a:t>. </a:t>
            </a:r>
            <a:r>
              <a:rPr lang="en" sz="1200" dirty="0">
                <a:solidFill>
                  <a:srgbClr val="000000"/>
                </a:solidFill>
                <a:latin typeface="Arial"/>
                <a:ea typeface="Arial"/>
                <a:cs typeface="Arial"/>
                <a:sym typeface="Arial"/>
              </a:rPr>
              <a:t>If the fields are not explicitly initialized, Java will assign default values.</a:t>
            </a:r>
            <a:endParaRPr sz="1200" dirty="0">
              <a:solidFill>
                <a:srgbClr val="000000"/>
              </a:solidFill>
              <a:latin typeface="Arial"/>
              <a:ea typeface="Arial"/>
              <a:cs typeface="Arial"/>
              <a:sym typeface="Arial"/>
            </a:endParaRPr>
          </a:p>
        </p:txBody>
      </p:sp>
      <p:grpSp>
        <p:nvGrpSpPr>
          <p:cNvPr id="577" name="Google Shape;577;p74"/>
          <p:cNvGrpSpPr/>
          <p:nvPr/>
        </p:nvGrpSpPr>
        <p:grpSpPr>
          <a:xfrm>
            <a:off x="2695275" y="1879200"/>
            <a:ext cx="2418300" cy="385200"/>
            <a:chOff x="2695275" y="1879200"/>
            <a:chExt cx="2418300" cy="385200"/>
          </a:xfrm>
        </p:grpSpPr>
        <p:sp>
          <p:nvSpPr>
            <p:cNvPr id="578" name="Google Shape;578;p74"/>
            <p:cNvSpPr/>
            <p:nvPr/>
          </p:nvSpPr>
          <p:spPr>
            <a:xfrm>
              <a:off x="3391575" y="1879200"/>
              <a:ext cx="1722000" cy="385200"/>
            </a:xfrm>
            <a:prstGeom prst="rect">
              <a:avLst/>
            </a:prstGeom>
            <a:noFill/>
            <a:ln w="19050" cap="flat" cmpd="sng">
              <a:solidFill>
                <a:srgbClr val="EE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79" name="Google Shape;579;p74"/>
            <p:cNvCxnSpPr>
              <a:stCxn id="576" idx="3"/>
              <a:endCxn id="578" idx="1"/>
            </p:cNvCxnSpPr>
            <p:nvPr/>
          </p:nvCxnSpPr>
          <p:spPr>
            <a:xfrm flipV="1">
              <a:off x="2695275" y="2071800"/>
              <a:ext cx="696300" cy="102542"/>
            </a:xfrm>
            <a:prstGeom prst="straightConnector1">
              <a:avLst/>
            </a:prstGeom>
            <a:noFill/>
            <a:ln w="19050" cap="flat" cmpd="sng">
              <a:solidFill>
                <a:srgbClr val="EE0000"/>
              </a:solidFill>
              <a:prstDash val="solid"/>
              <a:round/>
              <a:headEnd type="none" w="med" len="med"/>
              <a:tailEnd type="none" w="med" len="med"/>
            </a:ln>
          </p:spPr>
        </p:cxnSp>
      </p:grpSp>
      <p:sp>
        <p:nvSpPr>
          <p:cNvPr id="580" name="Google Shape;580;p74"/>
          <p:cNvSpPr txBox="1">
            <a:spLocks noGrp="1"/>
          </p:cNvSpPr>
          <p:nvPr>
            <p:ph type="body" idx="4294967295"/>
          </p:nvPr>
        </p:nvSpPr>
        <p:spPr>
          <a:xfrm>
            <a:off x="6448775" y="2144075"/>
            <a:ext cx="2560500" cy="1497816"/>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highlight>
                  <a:srgbClr val="FFFF00"/>
                </a:highlight>
                <a:latin typeface="Arial"/>
                <a:ea typeface="Arial"/>
                <a:cs typeface="Arial"/>
                <a:sym typeface="Arial"/>
              </a:rPr>
              <a:t>A </a:t>
            </a:r>
            <a:r>
              <a:rPr lang="en" sz="1200" dirty="0">
                <a:solidFill>
                  <a:srgbClr val="FF0000"/>
                </a:solidFill>
                <a:highlight>
                  <a:srgbClr val="FFFF00"/>
                </a:highlight>
                <a:latin typeface="Courier New"/>
                <a:ea typeface="Courier New"/>
                <a:cs typeface="Courier New"/>
                <a:sym typeface="Courier New"/>
              </a:rPr>
              <a:t>private</a:t>
            </a:r>
            <a:r>
              <a:rPr lang="en" sz="1200" dirty="0">
                <a:solidFill>
                  <a:srgbClr val="000000"/>
                </a:solidFill>
                <a:highlight>
                  <a:srgbClr val="FFFF00"/>
                </a:highlight>
                <a:latin typeface="Arial"/>
                <a:ea typeface="Arial"/>
                <a:cs typeface="Arial"/>
                <a:sym typeface="Arial"/>
              </a:rPr>
              <a:t> </a:t>
            </a:r>
            <a:r>
              <a:rPr lang="en" sz="1200" b="1" i="1" dirty="0">
                <a:solidFill>
                  <a:srgbClr val="FF0000"/>
                </a:solidFill>
                <a:highlight>
                  <a:srgbClr val="FFFF00"/>
                </a:highlight>
                <a:latin typeface="Arial"/>
                <a:ea typeface="Arial"/>
                <a:cs typeface="Arial"/>
                <a:sym typeface="Arial"/>
              </a:rPr>
              <a:t>constructor</a:t>
            </a:r>
            <a:r>
              <a:rPr lang="en" sz="1200" dirty="0">
                <a:solidFill>
                  <a:srgbClr val="FF0000"/>
                </a:solidFill>
                <a:highlight>
                  <a:srgbClr val="FFFF00"/>
                </a:highlight>
                <a:latin typeface="Arial"/>
                <a:ea typeface="Arial"/>
                <a:cs typeface="Arial"/>
                <a:sym typeface="Arial"/>
              </a:rPr>
              <a:t> </a:t>
            </a:r>
            <a:r>
              <a:rPr lang="en" sz="1200" dirty="0">
                <a:solidFill>
                  <a:srgbClr val="000000"/>
                </a:solidFill>
                <a:highlight>
                  <a:srgbClr val="FFFF00"/>
                </a:highlight>
                <a:latin typeface="Arial"/>
                <a:ea typeface="Arial"/>
                <a:cs typeface="Arial"/>
                <a:sym typeface="Arial"/>
              </a:rPr>
              <a:t>may be defined to explicitly initialize any fields. </a:t>
            </a:r>
            <a:r>
              <a:rPr lang="en" sz="1200" b="1" i="1" dirty="0">
                <a:solidFill>
                  <a:srgbClr val="FF0000"/>
                </a:solidFill>
                <a:latin typeface="Arial"/>
                <a:ea typeface="Arial"/>
                <a:cs typeface="Arial"/>
                <a:sym typeface="Arial"/>
              </a:rPr>
              <a:t>Arguments </a:t>
            </a:r>
            <a:r>
              <a:rPr lang="en" sz="1200" dirty="0">
                <a:solidFill>
                  <a:srgbClr val="000000"/>
                </a:solidFill>
                <a:latin typeface="Arial"/>
                <a:ea typeface="Arial"/>
                <a:cs typeface="Arial"/>
                <a:sym typeface="Arial"/>
              </a:rPr>
              <a:t>must be provided for each </a:t>
            </a:r>
            <a:r>
              <a:rPr lang="en" sz="1200" b="1" i="1" dirty="0">
                <a:solidFill>
                  <a:srgbClr val="FF0000"/>
                </a:solidFill>
                <a:latin typeface="Arial"/>
                <a:ea typeface="Arial"/>
                <a:cs typeface="Arial"/>
                <a:sym typeface="Arial"/>
              </a:rPr>
              <a:t>parameter</a:t>
            </a:r>
            <a:r>
              <a:rPr lang="en" sz="1200" dirty="0">
                <a:solidFill>
                  <a:srgbClr val="FF0000"/>
                </a:solidFill>
                <a:latin typeface="Arial"/>
                <a:ea typeface="Arial"/>
                <a:cs typeface="Arial"/>
                <a:sym typeface="Arial"/>
              </a:rPr>
              <a:t> </a:t>
            </a:r>
            <a:r>
              <a:rPr lang="en" sz="1200" dirty="0">
                <a:solidFill>
                  <a:srgbClr val="000000"/>
                </a:solidFill>
                <a:latin typeface="Arial"/>
                <a:ea typeface="Arial"/>
                <a:cs typeface="Arial"/>
                <a:sym typeface="Arial"/>
              </a:rPr>
              <a:t>when the predefined values are declared.</a:t>
            </a:r>
            <a:endParaRPr sz="1200" dirty="0">
              <a:solidFill>
                <a:srgbClr val="000000"/>
              </a:solidFill>
              <a:latin typeface="Arial"/>
              <a:ea typeface="Arial"/>
              <a:cs typeface="Arial"/>
              <a:sym typeface="Arial"/>
            </a:endParaRPr>
          </a:p>
        </p:txBody>
      </p:sp>
      <p:grpSp>
        <p:nvGrpSpPr>
          <p:cNvPr id="581" name="Google Shape;581;p74"/>
          <p:cNvGrpSpPr/>
          <p:nvPr/>
        </p:nvGrpSpPr>
        <p:grpSpPr>
          <a:xfrm>
            <a:off x="3391575" y="1254625"/>
            <a:ext cx="4337450" cy="889450"/>
            <a:chOff x="3391575" y="1254625"/>
            <a:chExt cx="4337450" cy="889450"/>
          </a:xfrm>
        </p:grpSpPr>
        <p:sp>
          <p:nvSpPr>
            <p:cNvPr id="582" name="Google Shape;582;p74"/>
            <p:cNvSpPr/>
            <p:nvPr/>
          </p:nvSpPr>
          <p:spPr>
            <a:xfrm>
              <a:off x="3391575" y="1254625"/>
              <a:ext cx="1722000" cy="519900"/>
            </a:xfrm>
            <a:prstGeom prst="rect">
              <a:avLst/>
            </a:prstGeom>
            <a:noFill/>
            <a:ln w="19050" cap="flat" cmpd="sng">
              <a:solidFill>
                <a:srgbClr val="EE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3" name="Google Shape;583;p74"/>
            <p:cNvCxnSpPr>
              <a:stCxn id="580" idx="0"/>
              <a:endCxn id="582" idx="3"/>
            </p:cNvCxnSpPr>
            <p:nvPr/>
          </p:nvCxnSpPr>
          <p:spPr>
            <a:xfrm rot="16200000" flipV="1">
              <a:off x="6106550" y="521600"/>
              <a:ext cx="629500" cy="2615450"/>
            </a:xfrm>
            <a:prstGeom prst="bentConnector2">
              <a:avLst/>
            </a:prstGeom>
            <a:noFill/>
            <a:ln w="19050" cap="flat" cmpd="sng">
              <a:solidFill>
                <a:srgbClr val="FF0000"/>
              </a:solidFill>
              <a:prstDash val="solid"/>
              <a:round/>
              <a:headEnd type="none" w="med" len="med"/>
              <a:tailEnd type="none" w="med" len="med"/>
            </a:ln>
          </p:spPr>
        </p:cxnSp>
      </p:grpSp>
      <p:grpSp>
        <p:nvGrpSpPr>
          <p:cNvPr id="584" name="Google Shape;584;p74"/>
          <p:cNvGrpSpPr/>
          <p:nvPr/>
        </p:nvGrpSpPr>
        <p:grpSpPr>
          <a:xfrm>
            <a:off x="3391575" y="2351375"/>
            <a:ext cx="3057200" cy="878400"/>
            <a:chOff x="3391575" y="2351375"/>
            <a:chExt cx="3057200" cy="878400"/>
          </a:xfrm>
        </p:grpSpPr>
        <p:sp>
          <p:nvSpPr>
            <p:cNvPr id="585" name="Google Shape;585;p74"/>
            <p:cNvSpPr/>
            <p:nvPr/>
          </p:nvSpPr>
          <p:spPr>
            <a:xfrm>
              <a:off x="3391575" y="2351375"/>
              <a:ext cx="2822700" cy="878400"/>
            </a:xfrm>
            <a:prstGeom prst="rect">
              <a:avLst/>
            </a:prstGeom>
            <a:noFill/>
            <a:ln w="19050" cap="flat" cmpd="sng">
              <a:solidFill>
                <a:srgbClr val="EE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86" name="Google Shape;586;p74"/>
            <p:cNvCxnSpPr>
              <a:stCxn id="585" idx="3"/>
              <a:endCxn id="580" idx="1"/>
            </p:cNvCxnSpPr>
            <p:nvPr/>
          </p:nvCxnSpPr>
          <p:spPr>
            <a:xfrm>
              <a:off x="6214275" y="2790575"/>
              <a:ext cx="234500" cy="102408"/>
            </a:xfrm>
            <a:prstGeom prst="straightConnector1">
              <a:avLst/>
            </a:prstGeom>
            <a:noFill/>
            <a:ln w="19050" cap="flat" cmpd="sng">
              <a:solidFill>
                <a:srgbClr val="FF0000"/>
              </a:solidFill>
              <a:prstDash val="solid"/>
              <a:round/>
              <a:headEnd type="none" w="med" len="med"/>
              <a:tailEnd type="none" w="med" len="med"/>
            </a:ln>
          </p:spPr>
        </p:cxnSp>
      </p:grpSp>
      <p:sp>
        <p:nvSpPr>
          <p:cNvPr id="587" name="Google Shape;587;p74"/>
          <p:cNvSpPr txBox="1">
            <a:spLocks noGrp="1"/>
          </p:cNvSpPr>
          <p:nvPr>
            <p:ph type="body" idx="4294967295"/>
          </p:nvPr>
        </p:nvSpPr>
        <p:spPr>
          <a:xfrm>
            <a:off x="134775" y="3451675"/>
            <a:ext cx="2560500" cy="1128484"/>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highlight>
                  <a:srgbClr val="FFFF00"/>
                </a:highlight>
                <a:latin typeface="Arial"/>
                <a:ea typeface="Arial"/>
                <a:cs typeface="Arial"/>
                <a:sym typeface="Arial"/>
              </a:rPr>
              <a:t>It is common to write </a:t>
            </a:r>
            <a:r>
              <a:rPr lang="en" sz="1200" b="1" i="1" dirty="0">
                <a:solidFill>
                  <a:srgbClr val="FF0000"/>
                </a:solidFill>
                <a:highlight>
                  <a:srgbClr val="FFFF00"/>
                </a:highlight>
                <a:latin typeface="Arial"/>
                <a:ea typeface="Arial"/>
                <a:cs typeface="Arial"/>
                <a:sym typeface="Arial"/>
              </a:rPr>
              <a:t>accessors</a:t>
            </a:r>
            <a:r>
              <a:rPr lang="en" sz="1200" dirty="0">
                <a:solidFill>
                  <a:srgbClr val="FF0000"/>
                </a:solidFill>
                <a:highlight>
                  <a:srgbClr val="FFFF00"/>
                </a:highlight>
                <a:latin typeface="Arial"/>
                <a:ea typeface="Arial"/>
                <a:cs typeface="Arial"/>
                <a:sym typeface="Arial"/>
              </a:rPr>
              <a:t> </a:t>
            </a:r>
            <a:r>
              <a:rPr lang="en" sz="1200" dirty="0">
                <a:solidFill>
                  <a:srgbClr val="000000"/>
                </a:solidFill>
                <a:highlight>
                  <a:srgbClr val="FFFF00"/>
                </a:highlight>
                <a:latin typeface="Arial"/>
                <a:ea typeface="Arial"/>
                <a:cs typeface="Arial"/>
                <a:sym typeface="Arial"/>
              </a:rPr>
              <a:t>for each of the fields so that they can be accessed from outside of the enumeration.</a:t>
            </a:r>
            <a:endParaRPr sz="1200" dirty="0">
              <a:solidFill>
                <a:srgbClr val="000000"/>
              </a:solidFill>
              <a:highlight>
                <a:srgbClr val="FFFF00"/>
              </a:highlight>
              <a:latin typeface="Arial"/>
              <a:ea typeface="Arial"/>
              <a:cs typeface="Arial"/>
              <a:sym typeface="Arial"/>
            </a:endParaRPr>
          </a:p>
        </p:txBody>
      </p:sp>
      <p:grpSp>
        <p:nvGrpSpPr>
          <p:cNvPr id="588" name="Google Shape;588;p74"/>
          <p:cNvGrpSpPr/>
          <p:nvPr/>
        </p:nvGrpSpPr>
        <p:grpSpPr>
          <a:xfrm>
            <a:off x="2695275" y="3319513"/>
            <a:ext cx="2830200" cy="1187700"/>
            <a:chOff x="2695275" y="3319513"/>
            <a:chExt cx="2830200" cy="1187700"/>
          </a:xfrm>
        </p:grpSpPr>
        <p:sp>
          <p:nvSpPr>
            <p:cNvPr id="589" name="Google Shape;589;p74"/>
            <p:cNvSpPr/>
            <p:nvPr/>
          </p:nvSpPr>
          <p:spPr>
            <a:xfrm>
              <a:off x="3391575" y="3319513"/>
              <a:ext cx="2133900" cy="1187700"/>
            </a:xfrm>
            <a:prstGeom prst="rect">
              <a:avLst/>
            </a:prstGeom>
            <a:noFill/>
            <a:ln w="19050" cap="flat" cmpd="sng">
              <a:solidFill>
                <a:srgbClr val="EE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0" name="Google Shape;590;p74"/>
            <p:cNvCxnSpPr>
              <a:stCxn id="587" idx="3"/>
              <a:endCxn id="589" idx="1"/>
            </p:cNvCxnSpPr>
            <p:nvPr/>
          </p:nvCxnSpPr>
          <p:spPr>
            <a:xfrm flipV="1">
              <a:off x="2695275" y="3913363"/>
              <a:ext cx="696300" cy="102554"/>
            </a:xfrm>
            <a:prstGeom prst="straightConnector1">
              <a:avLst/>
            </a:prstGeom>
            <a:noFill/>
            <a:ln w="19050" cap="flat" cmpd="sng">
              <a:solidFill>
                <a:srgbClr val="EE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76"/>
                                        </p:tgtEl>
                                        <p:attrNameLst>
                                          <p:attrName>style.visibility</p:attrName>
                                        </p:attrNameLst>
                                      </p:cBhvr>
                                      <p:to>
                                        <p:strVal val="visible"/>
                                      </p:to>
                                    </p:set>
                                    <p:animEffect transition="in" filter="fade">
                                      <p:cBhvr>
                                        <p:cTn id="7" dur="1000"/>
                                        <p:tgtEl>
                                          <p:spTgt spid="576"/>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77"/>
                                        </p:tgtEl>
                                        <p:attrNameLst>
                                          <p:attrName>style.visibility</p:attrName>
                                        </p:attrNameLst>
                                      </p:cBhvr>
                                      <p:to>
                                        <p:strVal val="visible"/>
                                      </p:to>
                                    </p:set>
                                    <p:animEffect transition="in" filter="fade">
                                      <p:cBhvr>
                                        <p:cTn id="11" dur="1000"/>
                                        <p:tgtEl>
                                          <p:spTgt spid="57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80"/>
                                        </p:tgtEl>
                                        <p:attrNameLst>
                                          <p:attrName>style.visibility</p:attrName>
                                        </p:attrNameLst>
                                      </p:cBhvr>
                                      <p:to>
                                        <p:strVal val="visible"/>
                                      </p:to>
                                    </p:set>
                                    <p:animEffect transition="in" filter="fade">
                                      <p:cBhvr>
                                        <p:cTn id="16" dur="1000"/>
                                        <p:tgtEl>
                                          <p:spTgt spid="580"/>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584"/>
                                        </p:tgtEl>
                                        <p:attrNameLst>
                                          <p:attrName>style.visibility</p:attrName>
                                        </p:attrNameLst>
                                      </p:cBhvr>
                                      <p:to>
                                        <p:strVal val="visible"/>
                                      </p:to>
                                    </p:set>
                                    <p:animEffect transition="in" filter="fade">
                                      <p:cBhvr>
                                        <p:cTn id="20" dur="1000"/>
                                        <p:tgtEl>
                                          <p:spTgt spid="584"/>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581"/>
                                        </p:tgtEl>
                                        <p:attrNameLst>
                                          <p:attrName>style.visibility</p:attrName>
                                        </p:attrNameLst>
                                      </p:cBhvr>
                                      <p:to>
                                        <p:strVal val="visible"/>
                                      </p:to>
                                    </p:set>
                                    <p:animEffect transition="in" filter="fade">
                                      <p:cBhvr>
                                        <p:cTn id="24" dur="1000"/>
                                        <p:tgtEl>
                                          <p:spTgt spid="58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87"/>
                                        </p:tgtEl>
                                        <p:attrNameLst>
                                          <p:attrName>style.visibility</p:attrName>
                                        </p:attrNameLst>
                                      </p:cBhvr>
                                      <p:to>
                                        <p:strVal val="visible"/>
                                      </p:to>
                                    </p:set>
                                    <p:animEffect transition="in" filter="fade">
                                      <p:cBhvr>
                                        <p:cTn id="29" dur="1000"/>
                                        <p:tgtEl>
                                          <p:spTgt spid="587"/>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588"/>
                                        </p:tgtEl>
                                        <p:attrNameLst>
                                          <p:attrName>style.visibility</p:attrName>
                                        </p:attrNameLst>
                                      </p:cBhvr>
                                      <p:to>
                                        <p:strVal val="visible"/>
                                      </p:to>
                                    </p:set>
                                    <p:animEffect transition="in" filter="fade">
                                      <p:cBhvr>
                                        <p:cTn id="33" dur="1000"/>
                                        <p:tgtEl>
                                          <p:spTgt spid="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75"/>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Each of the different types of damage in the Star Wars Battle game has an associated color: green (heavy), red (normal), and blue (ion). Let's upgrade the </a:t>
            </a:r>
            <a:r>
              <a:rPr lang="en">
                <a:latin typeface="Courier New"/>
                <a:ea typeface="Courier New"/>
                <a:cs typeface="Courier New"/>
                <a:sym typeface="Courier New"/>
              </a:rPr>
              <a:t>DamageType</a:t>
            </a:r>
            <a:r>
              <a:rPr lang="en"/>
              <a:t> </a:t>
            </a:r>
            <a:r>
              <a:rPr lang="en">
                <a:latin typeface="Courier New"/>
                <a:ea typeface="Courier New"/>
                <a:cs typeface="Courier New"/>
                <a:sym typeface="Courier New"/>
              </a:rPr>
              <a:t>enum</a:t>
            </a:r>
            <a:r>
              <a:rPr lang="en"/>
              <a:t> so that it associates the appropriate color with each of the predefined values.</a:t>
            </a:r>
            <a:endParaRPr/>
          </a:p>
        </p:txBody>
      </p:sp>
      <p:sp>
        <p:nvSpPr>
          <p:cNvPr id="596" name="Google Shape;596;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sp>
        <p:nvSpPr>
          <p:cNvPr id="597" name="Google Shape;597;p75"/>
          <p:cNvSpPr txBox="1">
            <a:spLocks noGrp="1"/>
          </p:cNvSpPr>
          <p:nvPr>
            <p:ph type="body" idx="2"/>
          </p:nvPr>
        </p:nvSpPr>
        <p:spPr>
          <a:xfrm>
            <a:off x="3487575" y="1617151"/>
            <a:ext cx="5377200" cy="3122363"/>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highlight>
                  <a:srgbClr val="FFFF00"/>
                </a:highlight>
              </a:rPr>
              <a:t>Open the </a:t>
            </a:r>
            <a:r>
              <a:rPr lang="en" sz="1500" dirty="0">
                <a:highlight>
                  <a:srgbClr val="FFFF00"/>
                </a:highlight>
                <a:latin typeface="Courier New"/>
                <a:ea typeface="Courier New"/>
                <a:cs typeface="Courier New"/>
                <a:sym typeface="Courier New"/>
              </a:rPr>
              <a:t>DamageType</a:t>
            </a:r>
            <a:r>
              <a:rPr lang="en" sz="1500" dirty="0">
                <a:highlight>
                  <a:srgbClr val="FFFF00"/>
                </a:highlight>
              </a:rPr>
              <a:t> </a:t>
            </a:r>
            <a:r>
              <a:rPr lang="en" sz="1500" dirty="0">
                <a:highlight>
                  <a:srgbClr val="FFFF00"/>
                </a:highlight>
                <a:latin typeface="Courier New"/>
                <a:ea typeface="Courier New"/>
                <a:cs typeface="Courier New"/>
                <a:sym typeface="Courier New"/>
              </a:rPr>
              <a:t>enum</a:t>
            </a:r>
            <a:r>
              <a:rPr lang="en" sz="1500" dirty="0">
                <a:highlight>
                  <a:srgbClr val="FFFF00"/>
                </a:highlight>
              </a:rPr>
              <a:t> and upgrade it so that the appropriate color is associated with each of the predefined damage types</a:t>
            </a:r>
            <a:r>
              <a:rPr lang="en" sz="1500" dirty="0"/>
              <a:t>.</a:t>
            </a:r>
            <a:endParaRPr sz="1500" dirty="0"/>
          </a:p>
          <a:p>
            <a:pPr marL="914400" lvl="1" indent="-311150" algn="l" rtl="0">
              <a:spcBef>
                <a:spcPts val="0"/>
              </a:spcBef>
              <a:spcAft>
                <a:spcPts val="0"/>
              </a:spcAft>
              <a:buSzPts val="1300"/>
              <a:buChar char="○"/>
            </a:pPr>
            <a:r>
              <a:rPr lang="en" sz="1300" dirty="0"/>
              <a:t>Declare a </a:t>
            </a:r>
            <a:r>
              <a:rPr lang="en" sz="1300" dirty="0">
                <a:highlight>
                  <a:srgbClr val="FFFF00"/>
                </a:highlight>
                <a:latin typeface="Courier New"/>
                <a:ea typeface="Courier New"/>
                <a:cs typeface="Courier New"/>
                <a:sym typeface="Courier New"/>
              </a:rPr>
              <a:t>private</a:t>
            </a:r>
            <a:r>
              <a:rPr lang="en" sz="1300" dirty="0"/>
              <a:t> field of an appropriate Java type.</a:t>
            </a:r>
            <a:endParaRPr sz="1300" dirty="0"/>
          </a:p>
          <a:p>
            <a:pPr marL="914400" lvl="1" indent="-311150" algn="l" rtl="0">
              <a:spcBef>
                <a:spcPts val="0"/>
              </a:spcBef>
              <a:spcAft>
                <a:spcPts val="0"/>
              </a:spcAft>
              <a:buSzPts val="1300"/>
              <a:buChar char="○"/>
            </a:pPr>
            <a:r>
              <a:rPr lang="en" sz="1300" dirty="0"/>
              <a:t>Define a </a:t>
            </a:r>
            <a:r>
              <a:rPr lang="en" sz="1300" dirty="0">
                <a:highlight>
                  <a:srgbClr val="FFFF00"/>
                </a:highlight>
                <a:latin typeface="Courier New"/>
                <a:ea typeface="Courier New"/>
                <a:cs typeface="Courier New"/>
                <a:sym typeface="Courier New"/>
              </a:rPr>
              <a:t>private</a:t>
            </a:r>
            <a:r>
              <a:rPr lang="en" sz="1300" dirty="0"/>
              <a:t> constructor that declares a parameter for the </a:t>
            </a:r>
            <a:r>
              <a:rPr lang="en" sz="1300" dirty="0">
                <a:latin typeface="Courier New"/>
                <a:ea typeface="Courier New"/>
                <a:cs typeface="Courier New"/>
                <a:sym typeface="Courier New"/>
              </a:rPr>
              <a:t>color</a:t>
            </a:r>
            <a:r>
              <a:rPr lang="en" sz="1300" dirty="0"/>
              <a:t> and use it to initialize the field.</a:t>
            </a:r>
            <a:endParaRPr sz="1300" dirty="0"/>
          </a:p>
          <a:p>
            <a:pPr marL="914400" lvl="1" indent="-311150" algn="l" rtl="0">
              <a:spcBef>
                <a:spcPts val="0"/>
              </a:spcBef>
              <a:spcAft>
                <a:spcPts val="0"/>
              </a:spcAft>
              <a:buSzPts val="1300"/>
              <a:buChar char="○"/>
            </a:pPr>
            <a:r>
              <a:rPr lang="en" sz="1300" dirty="0">
                <a:highlight>
                  <a:srgbClr val="FFFF00"/>
                </a:highlight>
              </a:rPr>
              <a:t>Modify the declaration of each of the predefined values so that it provides an appropriate argument to the constructor.</a:t>
            </a:r>
            <a:endParaRPr sz="1300" dirty="0">
              <a:highlight>
                <a:srgbClr val="FFFF00"/>
              </a:highlight>
            </a:endParaRPr>
          </a:p>
          <a:p>
            <a:pPr marL="914400" lvl="1" indent="-311150" algn="l" rtl="0">
              <a:spcBef>
                <a:spcPts val="0"/>
              </a:spcBef>
              <a:spcAft>
                <a:spcPts val="0"/>
              </a:spcAft>
              <a:buSzPts val="1300"/>
              <a:buChar char="○"/>
            </a:pPr>
            <a:r>
              <a:rPr lang="en" sz="1300" dirty="0"/>
              <a:t>Add an accessor for the color.</a:t>
            </a:r>
            <a:endParaRPr sz="1300" dirty="0"/>
          </a:p>
          <a:p>
            <a:pPr marL="457200" lvl="0" indent="-323850" algn="l" rtl="0">
              <a:spcBef>
                <a:spcPts val="0"/>
              </a:spcBef>
              <a:spcAft>
                <a:spcPts val="0"/>
              </a:spcAft>
              <a:buSzPts val="1500"/>
              <a:buChar char="●"/>
            </a:pPr>
            <a:r>
              <a:rPr lang="en" sz="1500" dirty="0"/>
              <a:t>Update the </a:t>
            </a:r>
            <a:r>
              <a:rPr lang="en" sz="1500" dirty="0">
                <a:latin typeface="Courier New"/>
                <a:ea typeface="Courier New"/>
                <a:cs typeface="Courier New"/>
                <a:sym typeface="Courier New"/>
              </a:rPr>
              <a:t>main</a:t>
            </a:r>
            <a:r>
              <a:rPr lang="en" sz="1500" dirty="0"/>
              <a:t> method in the </a:t>
            </a:r>
            <a:r>
              <a:rPr lang="en" sz="1500" dirty="0">
                <a:latin typeface="Courier New"/>
                <a:ea typeface="Courier New"/>
                <a:cs typeface="Courier New"/>
                <a:sym typeface="Courier New"/>
              </a:rPr>
              <a:t>StarWarsBattle</a:t>
            </a:r>
            <a:r>
              <a:rPr lang="en" sz="1500" dirty="0"/>
              <a:t> class to print the color of each weapon's damage type.</a:t>
            </a:r>
            <a:endParaRPr sz="1500" dirty="0"/>
          </a:p>
        </p:txBody>
      </p:sp>
      <p:sp>
        <p:nvSpPr>
          <p:cNvPr id="598" name="Google Shape;598;p7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Upgrading </a:t>
            </a:r>
            <a:r>
              <a:rPr lang="en">
                <a:latin typeface="Courier New"/>
                <a:ea typeface="Courier New"/>
                <a:cs typeface="Courier New"/>
                <a:sym typeface="Courier New"/>
              </a:rPr>
              <a:t>DamageType</a:t>
            </a:r>
            <a:endParaRPr>
              <a:latin typeface="Courier New"/>
              <a:ea typeface="Courier New"/>
              <a:cs typeface="Courier New"/>
              <a:sym typeface="Courier New"/>
            </a:endParaRPr>
          </a:p>
        </p:txBody>
      </p:sp>
      <p:sp>
        <p:nvSpPr>
          <p:cNvPr id="599" name="Google Shape;599;p7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2.10</a:t>
            </a:r>
            <a:endParaRPr/>
          </a:p>
        </p:txBody>
      </p:sp>
      <p:sp>
        <p:nvSpPr>
          <p:cNvPr id="600" name="Google Shape;600;p75"/>
          <p:cNvSpPr txBox="1">
            <a:spLocks noGrp="1"/>
          </p:cNvSpPr>
          <p:nvPr>
            <p:ph type="body" idx="4"/>
          </p:nvPr>
        </p:nvSpPr>
        <p:spPr>
          <a:xfrm>
            <a:off x="136600" y="1652925"/>
            <a:ext cx="3240000" cy="3401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950">
                <a:solidFill>
                  <a:srgbClr val="0000FF"/>
                </a:solidFill>
                <a:latin typeface="Consolas"/>
                <a:ea typeface="Consolas"/>
                <a:cs typeface="Consolas"/>
                <a:sym typeface="Consolas"/>
              </a:rPr>
              <a:t>public</a:t>
            </a: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enum</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BoilingPoint</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70C1"/>
                </a:solidFill>
                <a:latin typeface="Consolas"/>
                <a:ea typeface="Consolas"/>
                <a:cs typeface="Consolas"/>
                <a:sym typeface="Consolas"/>
              </a:rPr>
              <a:t>CELSIUS</a:t>
            </a:r>
            <a:r>
              <a:rPr lang="en" sz="950">
                <a:solidFill>
                  <a:srgbClr val="000000"/>
                </a:solidFill>
                <a:latin typeface="Consolas"/>
                <a:ea typeface="Consolas"/>
                <a:cs typeface="Consolas"/>
                <a:sym typeface="Consolas"/>
              </a:rPr>
              <a:t>(</a:t>
            </a:r>
            <a:r>
              <a:rPr lang="en" sz="950">
                <a:solidFill>
                  <a:srgbClr val="A31515"/>
                </a:solidFill>
                <a:latin typeface="Consolas"/>
                <a:ea typeface="Consolas"/>
                <a:cs typeface="Consolas"/>
                <a:sym typeface="Consolas"/>
              </a:rPr>
              <a:t>'C'</a:t>
            </a:r>
            <a:r>
              <a:rPr lang="en" sz="950">
                <a:solidFill>
                  <a:srgbClr val="000000"/>
                </a:solidFill>
                <a:latin typeface="Consolas"/>
                <a:ea typeface="Consolas"/>
                <a:cs typeface="Consolas"/>
                <a:sym typeface="Consolas"/>
              </a:rPr>
              <a:t>, </a:t>
            </a:r>
            <a:r>
              <a:rPr lang="en" sz="950">
                <a:solidFill>
                  <a:srgbClr val="098658"/>
                </a:solidFill>
                <a:latin typeface="Consolas"/>
                <a:ea typeface="Consolas"/>
                <a:cs typeface="Consolas"/>
                <a:sym typeface="Consolas"/>
              </a:rPr>
              <a:t>100</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70C1"/>
                </a:solidFill>
                <a:latin typeface="Consolas"/>
                <a:ea typeface="Consolas"/>
                <a:cs typeface="Consolas"/>
                <a:sym typeface="Consolas"/>
              </a:rPr>
              <a:t>FAHRENHEIT</a:t>
            </a:r>
            <a:r>
              <a:rPr lang="en" sz="950">
                <a:solidFill>
                  <a:srgbClr val="000000"/>
                </a:solidFill>
                <a:latin typeface="Consolas"/>
                <a:ea typeface="Consolas"/>
                <a:cs typeface="Consolas"/>
                <a:sym typeface="Consolas"/>
              </a:rPr>
              <a:t>(</a:t>
            </a:r>
            <a:r>
              <a:rPr lang="en" sz="950">
                <a:solidFill>
                  <a:srgbClr val="A31515"/>
                </a:solidFill>
                <a:latin typeface="Consolas"/>
                <a:ea typeface="Consolas"/>
                <a:cs typeface="Consolas"/>
                <a:sym typeface="Consolas"/>
              </a:rPr>
              <a:t>'F'</a:t>
            </a:r>
            <a:r>
              <a:rPr lang="en" sz="950">
                <a:solidFill>
                  <a:srgbClr val="000000"/>
                </a:solidFill>
                <a:latin typeface="Consolas"/>
                <a:ea typeface="Consolas"/>
                <a:cs typeface="Consolas"/>
                <a:sym typeface="Consolas"/>
              </a:rPr>
              <a:t>, </a:t>
            </a:r>
            <a:r>
              <a:rPr lang="en" sz="950">
                <a:solidFill>
                  <a:srgbClr val="098658"/>
                </a:solidFill>
                <a:latin typeface="Consolas"/>
                <a:ea typeface="Consolas"/>
                <a:cs typeface="Consolas"/>
                <a:sym typeface="Consolas"/>
              </a:rPr>
              <a:t>212</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70C1"/>
                </a:solidFill>
                <a:latin typeface="Consolas"/>
                <a:ea typeface="Consolas"/>
                <a:cs typeface="Consolas"/>
                <a:sym typeface="Consolas"/>
              </a:rPr>
              <a:t>KELVIN</a:t>
            </a:r>
            <a:r>
              <a:rPr lang="en" sz="950">
                <a:solidFill>
                  <a:srgbClr val="000000"/>
                </a:solidFill>
                <a:latin typeface="Consolas"/>
                <a:ea typeface="Consolas"/>
                <a:cs typeface="Consolas"/>
                <a:sym typeface="Consolas"/>
              </a:rPr>
              <a:t>(</a:t>
            </a:r>
            <a:r>
              <a:rPr lang="en" sz="950">
                <a:solidFill>
                  <a:srgbClr val="A31515"/>
                </a:solidFill>
                <a:latin typeface="Consolas"/>
                <a:ea typeface="Consolas"/>
                <a:cs typeface="Consolas"/>
                <a:sym typeface="Consolas"/>
              </a:rPr>
              <a:t>'K'</a:t>
            </a:r>
            <a:r>
              <a:rPr lang="en" sz="950">
                <a:solidFill>
                  <a:srgbClr val="000000"/>
                </a:solidFill>
                <a:latin typeface="Consolas"/>
                <a:ea typeface="Consolas"/>
                <a:cs typeface="Consolas"/>
                <a:sym typeface="Consolas"/>
              </a:rPr>
              <a:t>, </a:t>
            </a:r>
            <a:r>
              <a:rPr lang="en" sz="950">
                <a:solidFill>
                  <a:srgbClr val="098658"/>
                </a:solidFill>
                <a:latin typeface="Consolas"/>
                <a:ea typeface="Consolas"/>
                <a:cs typeface="Consolas"/>
                <a:sym typeface="Consolas"/>
              </a:rPr>
              <a:t>373.5f</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private</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char</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private</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float</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private</a:t>
            </a:r>
            <a:r>
              <a:rPr lang="en" sz="950">
                <a:solidFill>
                  <a:srgbClr val="000000"/>
                </a:solidFill>
                <a:latin typeface="Consolas"/>
                <a:ea typeface="Consolas"/>
                <a:cs typeface="Consolas"/>
                <a:sym typeface="Consolas"/>
              </a:rPr>
              <a:t> </a:t>
            </a:r>
            <a:r>
              <a:rPr lang="en" sz="950">
                <a:solidFill>
                  <a:srgbClr val="795E26"/>
                </a:solidFill>
                <a:latin typeface="Consolas"/>
                <a:ea typeface="Consolas"/>
                <a:cs typeface="Consolas"/>
                <a:sym typeface="Consolas"/>
              </a:rPr>
              <a:t>BoilingPoint</a:t>
            </a:r>
            <a:r>
              <a:rPr lang="en" sz="950">
                <a:solidFill>
                  <a:srgbClr val="000000"/>
                </a:solidFill>
                <a:latin typeface="Consolas"/>
                <a:ea typeface="Consolas"/>
                <a:cs typeface="Consolas"/>
                <a:sym typeface="Consolas"/>
              </a:rPr>
              <a:t>(</a:t>
            </a:r>
            <a:r>
              <a:rPr lang="en" sz="950">
                <a:solidFill>
                  <a:srgbClr val="267F99"/>
                </a:solidFill>
                <a:latin typeface="Consolas"/>
                <a:ea typeface="Consolas"/>
                <a:cs typeface="Consolas"/>
                <a:sym typeface="Consolas"/>
              </a:rPr>
              <a:t>char</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267F99"/>
                </a:solidFill>
                <a:latin typeface="Consolas"/>
                <a:ea typeface="Consolas"/>
                <a:cs typeface="Consolas"/>
                <a:sym typeface="Consolas"/>
              </a:rPr>
              <a:t>                         float</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this</a:t>
            </a:r>
            <a:r>
              <a:rPr lang="en" sz="950">
                <a:solidFill>
                  <a:srgbClr val="000000"/>
                </a:solidFill>
                <a:latin typeface="Consolas"/>
                <a:ea typeface="Consolas"/>
                <a:cs typeface="Consolas"/>
                <a:sym typeface="Consolas"/>
              </a:rPr>
              <a:t>.</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 =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this</a:t>
            </a:r>
            <a:r>
              <a:rPr lang="en" sz="950">
                <a:solidFill>
                  <a:srgbClr val="000000"/>
                </a:solidFill>
                <a:latin typeface="Consolas"/>
                <a:ea typeface="Consolas"/>
                <a:cs typeface="Consolas"/>
                <a:sym typeface="Consolas"/>
              </a:rPr>
              <a:t>.</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 =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public</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char</a:t>
            </a:r>
            <a:r>
              <a:rPr lang="en" sz="950">
                <a:solidFill>
                  <a:srgbClr val="000000"/>
                </a:solidFill>
                <a:latin typeface="Consolas"/>
                <a:ea typeface="Consolas"/>
                <a:cs typeface="Consolas"/>
                <a:sym typeface="Consolas"/>
              </a:rPr>
              <a:t> </a:t>
            </a:r>
            <a:r>
              <a:rPr lang="en" sz="950">
                <a:solidFill>
                  <a:srgbClr val="795E26"/>
                </a:solidFill>
                <a:latin typeface="Consolas"/>
                <a:ea typeface="Consolas"/>
                <a:cs typeface="Consolas"/>
                <a:sym typeface="Consolas"/>
              </a:rPr>
              <a:t>getScale</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AF00DB"/>
                </a:solidFill>
                <a:latin typeface="Consolas"/>
                <a:ea typeface="Consolas"/>
                <a:cs typeface="Consolas"/>
                <a:sym typeface="Consolas"/>
              </a:rPr>
              <a:t>return</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scale</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0000FF"/>
                </a:solidFill>
                <a:latin typeface="Consolas"/>
                <a:ea typeface="Consolas"/>
                <a:cs typeface="Consolas"/>
                <a:sym typeface="Consolas"/>
              </a:rPr>
              <a:t>public</a:t>
            </a:r>
            <a:r>
              <a:rPr lang="en" sz="950">
                <a:solidFill>
                  <a:srgbClr val="000000"/>
                </a:solidFill>
                <a:latin typeface="Consolas"/>
                <a:ea typeface="Consolas"/>
                <a:cs typeface="Consolas"/>
                <a:sym typeface="Consolas"/>
              </a:rPr>
              <a:t> </a:t>
            </a:r>
            <a:r>
              <a:rPr lang="en" sz="950">
                <a:solidFill>
                  <a:srgbClr val="267F99"/>
                </a:solidFill>
                <a:latin typeface="Consolas"/>
                <a:ea typeface="Consolas"/>
                <a:cs typeface="Consolas"/>
                <a:sym typeface="Consolas"/>
              </a:rPr>
              <a:t>float</a:t>
            </a:r>
            <a:r>
              <a:rPr lang="en" sz="950">
                <a:solidFill>
                  <a:srgbClr val="000000"/>
                </a:solidFill>
                <a:latin typeface="Consolas"/>
                <a:ea typeface="Consolas"/>
                <a:cs typeface="Consolas"/>
                <a:sym typeface="Consolas"/>
              </a:rPr>
              <a:t> </a:t>
            </a:r>
            <a:r>
              <a:rPr lang="en" sz="950">
                <a:solidFill>
                  <a:srgbClr val="795E26"/>
                </a:solidFill>
                <a:latin typeface="Consolas"/>
                <a:ea typeface="Consolas"/>
                <a:cs typeface="Consolas"/>
                <a:sym typeface="Consolas"/>
              </a:rPr>
              <a:t>getDegrees</a:t>
            </a: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r>
              <a:rPr lang="en" sz="950">
                <a:solidFill>
                  <a:srgbClr val="AF00DB"/>
                </a:solidFill>
                <a:latin typeface="Consolas"/>
                <a:ea typeface="Consolas"/>
                <a:cs typeface="Consolas"/>
                <a:sym typeface="Consolas"/>
              </a:rPr>
              <a:t>return</a:t>
            </a:r>
            <a:r>
              <a:rPr lang="en" sz="950">
                <a:solidFill>
                  <a:srgbClr val="000000"/>
                </a:solidFill>
                <a:latin typeface="Consolas"/>
                <a:ea typeface="Consolas"/>
                <a:cs typeface="Consolas"/>
                <a:sym typeface="Consolas"/>
              </a:rPr>
              <a:t> </a:t>
            </a:r>
            <a:r>
              <a:rPr lang="en" sz="950">
                <a:solidFill>
                  <a:srgbClr val="001080"/>
                </a:solidFill>
                <a:latin typeface="Consolas"/>
                <a:ea typeface="Consolas"/>
                <a:cs typeface="Consolas"/>
                <a:sym typeface="Consolas"/>
              </a:rPr>
              <a:t>degrees</a:t>
            </a:r>
            <a:r>
              <a:rPr lang="en" sz="950">
                <a:solidFill>
                  <a:srgbClr val="000000"/>
                </a:solidFill>
                <a:latin typeface="Consolas"/>
                <a:ea typeface="Consolas"/>
                <a:cs typeface="Consolas"/>
                <a:sym typeface="Consolas"/>
              </a:rPr>
              <a:t>;</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    }</a:t>
            </a:r>
            <a:endParaRPr sz="95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50">
                <a:solidFill>
                  <a:srgbClr val="000000"/>
                </a:solidFill>
                <a:latin typeface="Consolas"/>
                <a:ea typeface="Consolas"/>
                <a:cs typeface="Consolas"/>
                <a:sym typeface="Consolas"/>
              </a:rPr>
              <a:t>}</a:t>
            </a:r>
            <a:endParaRPr sz="95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76"/>
          <p:cNvSpPr txBox="1">
            <a:spLocks noGrp="1"/>
          </p:cNvSpPr>
          <p:nvPr>
            <p:ph type="title"/>
          </p:nvPr>
        </p:nvSpPr>
        <p:spPr>
          <a:xfrm>
            <a:off x="5264725" y="160200"/>
            <a:ext cx="3706500" cy="9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Special Method: </a:t>
            </a:r>
            <a:r>
              <a:rPr lang="en">
                <a:latin typeface="Courier New"/>
                <a:ea typeface="Courier New"/>
                <a:cs typeface="Courier New"/>
                <a:sym typeface="Courier New"/>
              </a:rPr>
              <a:t>toString()</a:t>
            </a:r>
            <a:endParaRPr>
              <a:latin typeface="Courier New"/>
              <a:ea typeface="Courier New"/>
              <a:cs typeface="Courier New"/>
              <a:sym typeface="Courier New"/>
            </a:endParaRPr>
          </a:p>
        </p:txBody>
      </p:sp>
      <p:sp>
        <p:nvSpPr>
          <p:cNvPr id="606" name="Google Shape;606;p76"/>
          <p:cNvSpPr txBox="1">
            <a:spLocks noGrp="1"/>
          </p:cNvSpPr>
          <p:nvPr>
            <p:ph type="body" idx="1"/>
          </p:nvPr>
        </p:nvSpPr>
        <p:spPr>
          <a:xfrm>
            <a:off x="187625" y="117775"/>
            <a:ext cx="4521600" cy="4558500"/>
          </a:xfrm>
          <a:prstGeom prst="rect">
            <a:avLst/>
          </a:prstGeom>
        </p:spPr>
        <p:txBody>
          <a:bodyPr spcFirstLastPara="1" wrap="square" lIns="91425" tIns="91425" rIns="91425" bIns="91425" anchor="t" anchorCtr="0">
            <a:spAutoFit/>
          </a:bodyPr>
          <a:lstStyle/>
          <a:p>
            <a:pPr marL="457200" lvl="0" indent="-319595" algn="l" rtl="0">
              <a:lnSpc>
                <a:spcPct val="115000"/>
              </a:lnSpc>
              <a:spcBef>
                <a:spcPts val="0"/>
              </a:spcBef>
              <a:spcAft>
                <a:spcPts val="0"/>
              </a:spcAft>
              <a:buSzPts val="1433"/>
              <a:buChar char="●"/>
            </a:pPr>
            <a:r>
              <a:rPr lang="en" sz="1433" dirty="0"/>
              <a:t>All classes contain a </a:t>
            </a:r>
            <a:r>
              <a:rPr lang="en" sz="1433" dirty="0">
                <a:solidFill>
                  <a:srgbClr val="FF0000"/>
                </a:solidFill>
                <a:latin typeface="Courier New"/>
                <a:ea typeface="Courier New"/>
                <a:cs typeface="Courier New"/>
                <a:sym typeface="Courier New"/>
              </a:rPr>
              <a:t>toString()</a:t>
            </a:r>
            <a:r>
              <a:rPr lang="en" sz="1433" dirty="0"/>
              <a:t> method with the following signature:</a:t>
            </a:r>
            <a:endParaRPr sz="1433" dirty="0"/>
          </a:p>
          <a:p>
            <a:pPr marL="457200" lvl="0" indent="457200" algn="l" rtl="0">
              <a:lnSpc>
                <a:spcPct val="115000"/>
              </a:lnSpc>
              <a:spcBef>
                <a:spcPts val="0"/>
              </a:spcBef>
              <a:spcAft>
                <a:spcPts val="0"/>
              </a:spcAft>
              <a:buNone/>
            </a:pPr>
            <a:r>
              <a:rPr lang="en" sz="1200" dirty="0">
                <a:solidFill>
                  <a:srgbClr val="FF0000"/>
                </a:solidFill>
                <a:latin typeface="Courier New"/>
                <a:ea typeface="Courier New"/>
                <a:cs typeface="Courier New"/>
                <a:sym typeface="Courier New"/>
              </a:rPr>
              <a:t>public String toString() {...}</a:t>
            </a:r>
            <a:endParaRPr sz="1733" dirty="0">
              <a:solidFill>
                <a:srgbClr val="FF0000"/>
              </a:solidFill>
              <a:latin typeface="Courier New"/>
              <a:ea typeface="Courier New"/>
              <a:cs typeface="Courier New"/>
              <a:sym typeface="Courier New"/>
            </a:endParaRPr>
          </a:p>
          <a:p>
            <a:pPr marL="457200" lvl="0" indent="-317500" algn="l" rtl="0">
              <a:lnSpc>
                <a:spcPct val="115000"/>
              </a:lnSpc>
              <a:spcBef>
                <a:spcPts val="0"/>
              </a:spcBef>
              <a:spcAft>
                <a:spcPts val="0"/>
              </a:spcAft>
              <a:buSzPts val="1400"/>
              <a:buChar char="●"/>
            </a:pPr>
            <a:r>
              <a:rPr lang="en" sz="1400" dirty="0"/>
              <a:t>If you do not replace the default implementation, it will return the name of the </a:t>
            </a:r>
            <a:r>
              <a:rPr lang="en" sz="1400" b="1" i="1" dirty="0">
                <a:solidFill>
                  <a:srgbClr val="FF0000"/>
                </a:solidFill>
                <a:highlight>
                  <a:srgbClr val="FFFF00"/>
                </a:highlight>
              </a:rPr>
              <a:t>object</a:t>
            </a:r>
            <a:r>
              <a:rPr lang="en" sz="1400" dirty="0"/>
              <a:t> (plus some other </a:t>
            </a:r>
            <a:r>
              <a:rPr lang="en" sz="1400" i="1" dirty="0"/>
              <a:t>stuff</a:t>
            </a:r>
            <a:r>
              <a:rPr lang="en" sz="1400" dirty="0"/>
              <a:t> that we will talk about later), e.g.:</a:t>
            </a:r>
            <a:endParaRPr sz="1400" dirty="0"/>
          </a:p>
          <a:p>
            <a:pPr marL="457200" lvl="0" indent="457200" algn="l" rtl="0">
              <a:lnSpc>
                <a:spcPct val="115000"/>
              </a:lnSpc>
              <a:spcBef>
                <a:spcPts val="0"/>
              </a:spcBef>
              <a:spcAft>
                <a:spcPts val="0"/>
              </a:spcAft>
              <a:buNone/>
            </a:pPr>
            <a:r>
              <a:rPr lang="en" sz="1200" dirty="0">
                <a:solidFill>
                  <a:srgbClr val="FF0000"/>
                </a:solidFill>
                <a:latin typeface="Courier New"/>
                <a:ea typeface="Courier New"/>
                <a:cs typeface="Courier New"/>
                <a:sym typeface="Courier New"/>
              </a:rPr>
              <a:t>unit02.activities.Pet@2328c243</a:t>
            </a:r>
            <a:endParaRPr sz="1200" dirty="0">
              <a:solidFill>
                <a:srgbClr val="FF0000"/>
              </a:solidFill>
              <a:latin typeface="Courier New"/>
              <a:ea typeface="Courier New"/>
              <a:cs typeface="Courier New"/>
              <a:sym typeface="Courier New"/>
            </a:endParaRPr>
          </a:p>
          <a:p>
            <a:pPr marL="457200" lvl="0" indent="-317500" algn="l" rtl="0">
              <a:lnSpc>
                <a:spcPct val="115000"/>
              </a:lnSpc>
              <a:spcBef>
                <a:spcPts val="0"/>
              </a:spcBef>
              <a:spcAft>
                <a:spcPts val="0"/>
              </a:spcAft>
              <a:buSzPts val="1400"/>
              <a:buChar char="●"/>
            </a:pPr>
            <a:r>
              <a:rPr lang="en" sz="1400" dirty="0"/>
              <a:t>The </a:t>
            </a:r>
            <a:r>
              <a:rPr lang="en" sz="1400" dirty="0">
                <a:latin typeface="Courier New"/>
                <a:ea typeface="Courier New"/>
                <a:cs typeface="Courier New"/>
                <a:sym typeface="Courier New"/>
              </a:rPr>
              <a:t>toString()</a:t>
            </a:r>
            <a:r>
              <a:rPr lang="en" sz="1400" dirty="0"/>
              <a:t> method is automatically called on an object whenever you:</a:t>
            </a:r>
            <a:endParaRPr sz="1400" dirty="0"/>
          </a:p>
          <a:p>
            <a:pPr marL="914400" lvl="1" indent="-304800" algn="l" rtl="0">
              <a:lnSpc>
                <a:spcPct val="115000"/>
              </a:lnSpc>
              <a:spcBef>
                <a:spcPts val="0"/>
              </a:spcBef>
              <a:spcAft>
                <a:spcPts val="0"/>
              </a:spcAft>
              <a:buSzPts val="1200"/>
              <a:buChar char="○"/>
            </a:pPr>
            <a:r>
              <a:rPr lang="en" sz="1200" dirty="0"/>
              <a:t>Attempt to </a:t>
            </a:r>
            <a:r>
              <a:rPr lang="en" sz="1200" b="1" i="1" dirty="0">
                <a:solidFill>
                  <a:srgbClr val="FF0000"/>
                </a:solidFill>
              </a:rPr>
              <a:t>print</a:t>
            </a:r>
            <a:r>
              <a:rPr lang="en" sz="1200" i="1" dirty="0">
                <a:solidFill>
                  <a:srgbClr val="FF0000"/>
                </a:solidFill>
              </a:rPr>
              <a:t> </a:t>
            </a:r>
            <a:r>
              <a:rPr lang="en" sz="1200" dirty="0"/>
              <a:t>the object to standard output.</a:t>
            </a:r>
            <a:endParaRPr sz="1200" dirty="0"/>
          </a:p>
          <a:p>
            <a:pPr marL="914400" lvl="1" indent="-304800" algn="l" rtl="0">
              <a:lnSpc>
                <a:spcPct val="115000"/>
              </a:lnSpc>
              <a:spcBef>
                <a:spcPts val="0"/>
              </a:spcBef>
              <a:spcAft>
                <a:spcPts val="0"/>
              </a:spcAft>
              <a:buSzPts val="1200"/>
              <a:buChar char="○"/>
            </a:pPr>
            <a:r>
              <a:rPr lang="en" sz="1200" dirty="0"/>
              <a:t>Attempt to </a:t>
            </a:r>
            <a:r>
              <a:rPr lang="en" sz="1200" b="1" i="1" dirty="0">
                <a:solidFill>
                  <a:srgbClr val="FF0000"/>
                </a:solidFill>
              </a:rPr>
              <a:t>concatenate </a:t>
            </a:r>
            <a:r>
              <a:rPr lang="en" sz="1200" dirty="0"/>
              <a:t>the object onto a string with the </a:t>
            </a:r>
            <a:r>
              <a:rPr lang="en" sz="1200" dirty="0">
                <a:latin typeface="Courier New"/>
                <a:ea typeface="Courier New"/>
                <a:cs typeface="Courier New"/>
                <a:sym typeface="Courier New"/>
              </a:rPr>
              <a:t>+</a:t>
            </a:r>
            <a:r>
              <a:rPr lang="en" sz="1200" dirty="0"/>
              <a:t> operator, e.g. </a:t>
            </a:r>
            <a:r>
              <a:rPr lang="en" sz="1200" dirty="0">
                <a:latin typeface="Courier New"/>
                <a:ea typeface="Courier New"/>
                <a:cs typeface="Courier New"/>
                <a:sym typeface="Courier New"/>
              </a:rPr>
              <a:t>"Pet: " </a:t>
            </a:r>
            <a:r>
              <a:rPr lang="en" sz="1200" dirty="0">
                <a:solidFill>
                  <a:srgbClr val="FF0000"/>
                </a:solidFill>
                <a:latin typeface="Courier New"/>
                <a:ea typeface="Courier New"/>
                <a:cs typeface="Courier New"/>
                <a:sym typeface="Courier New"/>
              </a:rPr>
              <a:t>+</a:t>
            </a:r>
            <a:r>
              <a:rPr lang="en" sz="1200" dirty="0">
                <a:latin typeface="Courier New"/>
                <a:ea typeface="Courier New"/>
                <a:cs typeface="Courier New"/>
                <a:sym typeface="Courier New"/>
              </a:rPr>
              <a:t> myPet</a:t>
            </a:r>
            <a:endParaRPr sz="1733" dirty="0">
              <a:latin typeface="Courier New"/>
              <a:ea typeface="Courier New"/>
              <a:cs typeface="Courier New"/>
              <a:sym typeface="Courier New"/>
            </a:endParaRPr>
          </a:p>
          <a:p>
            <a:pPr marL="457200" lvl="0" indent="-317500" algn="l" rtl="0">
              <a:lnSpc>
                <a:spcPct val="115000"/>
              </a:lnSpc>
              <a:spcBef>
                <a:spcPts val="0"/>
              </a:spcBef>
              <a:spcAft>
                <a:spcPts val="0"/>
              </a:spcAft>
              <a:buSzPts val="1400"/>
              <a:buChar char="●"/>
            </a:pPr>
            <a:r>
              <a:rPr lang="en" sz="1400" dirty="0">
                <a:highlight>
                  <a:srgbClr val="FFFF00"/>
                </a:highlight>
              </a:rPr>
              <a:t>Thus it is often beneficial to write your own version that returns something more useful than the default string.</a:t>
            </a:r>
            <a:endParaRPr sz="1400" dirty="0">
              <a:highlight>
                <a:srgbClr val="FFFF00"/>
              </a:highlight>
            </a:endParaRPr>
          </a:p>
          <a:p>
            <a:pPr marL="914400" lvl="1" indent="-304800" algn="l" rtl="0">
              <a:lnSpc>
                <a:spcPct val="115000"/>
              </a:lnSpc>
              <a:spcBef>
                <a:spcPts val="0"/>
              </a:spcBef>
              <a:spcAft>
                <a:spcPts val="0"/>
              </a:spcAft>
              <a:buSzPts val="1200"/>
              <a:buChar char="○"/>
            </a:pPr>
            <a:r>
              <a:rPr lang="en" sz="1200" dirty="0"/>
              <a:t>Replacing an existing method with your own implementation is called </a:t>
            </a:r>
            <a:r>
              <a:rPr lang="en" sz="1200" b="1" i="1" dirty="0">
                <a:solidFill>
                  <a:srgbClr val="FF0000"/>
                </a:solidFill>
                <a:highlight>
                  <a:srgbClr val="FFFF00"/>
                </a:highlight>
              </a:rPr>
              <a:t>overriding</a:t>
            </a:r>
            <a:r>
              <a:rPr lang="en" sz="1200" dirty="0">
                <a:highlight>
                  <a:srgbClr val="FFFF00"/>
                </a:highlight>
              </a:rPr>
              <a:t>.</a:t>
            </a:r>
            <a:endParaRPr sz="1200" dirty="0">
              <a:highlight>
                <a:srgbClr val="FFFF00"/>
              </a:highlight>
            </a:endParaRPr>
          </a:p>
          <a:p>
            <a:pPr marL="914400" lvl="1" indent="-304800" algn="l" rtl="0">
              <a:lnSpc>
                <a:spcPct val="115000"/>
              </a:lnSpc>
              <a:spcBef>
                <a:spcPts val="0"/>
              </a:spcBef>
              <a:spcAft>
                <a:spcPts val="0"/>
              </a:spcAft>
              <a:buSzPts val="1200"/>
              <a:buChar char="○"/>
            </a:pPr>
            <a:r>
              <a:rPr lang="en" sz="1200" dirty="0"/>
              <a:t>When overriding, you should use the </a:t>
            </a:r>
            <a:r>
              <a:rPr lang="en" sz="1200" dirty="0">
                <a:solidFill>
                  <a:srgbClr val="FF0000"/>
                </a:solidFill>
                <a:latin typeface="Courier New"/>
                <a:ea typeface="Courier New"/>
                <a:cs typeface="Courier New"/>
                <a:sym typeface="Courier New"/>
              </a:rPr>
              <a:t>@</a:t>
            </a:r>
            <a:r>
              <a:rPr lang="en" sz="1200" dirty="0">
                <a:solidFill>
                  <a:srgbClr val="FF0000"/>
                </a:solidFill>
                <a:highlight>
                  <a:srgbClr val="FFFF00"/>
                </a:highlight>
                <a:latin typeface="Courier New"/>
                <a:ea typeface="Courier New"/>
                <a:cs typeface="Courier New"/>
                <a:sym typeface="Courier New"/>
              </a:rPr>
              <a:t>Override</a:t>
            </a:r>
            <a:r>
              <a:rPr lang="en" sz="1200" dirty="0"/>
              <a:t> annotation.</a:t>
            </a:r>
            <a:endParaRPr sz="1200" dirty="0"/>
          </a:p>
        </p:txBody>
      </p:sp>
      <p:sp>
        <p:nvSpPr>
          <p:cNvPr id="607" name="Google Shape;607;p76"/>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31</a:t>
            </a:fld>
            <a:endParaRPr/>
          </a:p>
        </p:txBody>
      </p:sp>
      <p:sp>
        <p:nvSpPr>
          <p:cNvPr id="608" name="Google Shape;608;p76"/>
          <p:cNvSpPr txBox="1">
            <a:spLocks noGrp="1"/>
          </p:cNvSpPr>
          <p:nvPr>
            <p:ph type="body" idx="2"/>
          </p:nvPr>
        </p:nvSpPr>
        <p:spPr>
          <a:xfrm>
            <a:off x="5192225" y="1286175"/>
            <a:ext cx="3706500" cy="2697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1</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public</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class</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Pet</a:t>
            </a:r>
            <a:r>
              <a:rPr lang="en" sz="1400" dirty="0">
                <a:solidFill>
                  <a:srgbClr val="000000"/>
                </a:solidFill>
                <a:latin typeface="Consolas"/>
                <a:ea typeface="Consolas"/>
                <a:cs typeface="Consolas"/>
                <a:sym typeface="Consolas"/>
              </a:rPr>
              <a:t>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2</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private</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String</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name</a:t>
            </a:r>
            <a:r>
              <a:rPr lang="en" sz="1400" dirty="0">
                <a:solidFill>
                  <a:srgbClr val="000000"/>
                </a:solidFill>
                <a:latin typeface="Consolas"/>
                <a:ea typeface="Consolas"/>
                <a:cs typeface="Consolas"/>
                <a:sym typeface="Consolas"/>
              </a:rPr>
              <a:t>;</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3</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private</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int</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age</a:t>
            </a:r>
            <a:r>
              <a:rPr lang="en" sz="1400" dirty="0">
                <a:solidFill>
                  <a:srgbClr val="000000"/>
                </a:solidFill>
                <a:latin typeface="Consolas"/>
                <a:ea typeface="Consolas"/>
                <a:cs typeface="Consolas"/>
                <a:sym typeface="Consolas"/>
              </a:rPr>
              <a:t>;</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4</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private</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Species</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species</a:t>
            </a:r>
            <a:r>
              <a:rPr lang="en" sz="1400" dirty="0">
                <a:solidFill>
                  <a:srgbClr val="000000"/>
                </a:solidFill>
                <a:latin typeface="Consolas"/>
                <a:ea typeface="Consolas"/>
                <a:cs typeface="Consolas"/>
                <a:sym typeface="Consolas"/>
              </a:rPr>
              <a:t>;</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5</a:t>
            </a:r>
            <a:r>
              <a:rPr lang="en" sz="1400" dirty="0">
                <a:solidFill>
                  <a:srgbClr val="000000"/>
                </a:solidFill>
                <a:latin typeface="Consolas"/>
                <a:ea typeface="Consolas"/>
                <a:cs typeface="Consolas"/>
                <a:sym typeface="Consolas"/>
              </a:rPr>
              <a:t>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6</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Override</a:t>
            </a:r>
            <a:endParaRPr sz="1400" dirty="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7</a:t>
            </a:r>
            <a:r>
              <a:rPr lang="en" sz="1400" dirty="0">
                <a:solidFill>
                  <a:srgbClr val="000000"/>
                </a:solidFill>
                <a:latin typeface="Consolas"/>
                <a:ea typeface="Consolas"/>
                <a:cs typeface="Consolas"/>
                <a:sym typeface="Consolas"/>
              </a:rPr>
              <a:t>      </a:t>
            </a:r>
            <a:r>
              <a:rPr lang="en" sz="1400" dirty="0">
                <a:solidFill>
                  <a:srgbClr val="0000FF"/>
                </a:solidFill>
                <a:latin typeface="Consolas"/>
                <a:ea typeface="Consolas"/>
                <a:cs typeface="Consolas"/>
                <a:sym typeface="Consolas"/>
              </a:rPr>
              <a:t>public</a:t>
            </a:r>
            <a:r>
              <a:rPr lang="en" sz="1400" dirty="0">
                <a:solidFill>
                  <a:srgbClr val="000000"/>
                </a:solidFill>
                <a:latin typeface="Consolas"/>
                <a:ea typeface="Consolas"/>
                <a:cs typeface="Consolas"/>
                <a:sym typeface="Consolas"/>
              </a:rPr>
              <a:t> </a:t>
            </a:r>
            <a:r>
              <a:rPr lang="en" sz="1400" dirty="0">
                <a:solidFill>
                  <a:srgbClr val="267F99"/>
                </a:solidFill>
                <a:latin typeface="Consolas"/>
                <a:ea typeface="Consolas"/>
                <a:cs typeface="Consolas"/>
                <a:sym typeface="Consolas"/>
              </a:rPr>
              <a:t>String</a:t>
            </a:r>
            <a:r>
              <a:rPr lang="en" sz="1400" dirty="0">
                <a:solidFill>
                  <a:srgbClr val="000000"/>
                </a:solidFill>
                <a:latin typeface="Consolas"/>
                <a:ea typeface="Consolas"/>
                <a:cs typeface="Consolas"/>
                <a:sym typeface="Consolas"/>
              </a:rPr>
              <a:t> </a:t>
            </a:r>
            <a:r>
              <a:rPr lang="en" sz="1400" dirty="0">
                <a:solidFill>
                  <a:srgbClr val="795E26"/>
                </a:solidFill>
                <a:latin typeface="Consolas"/>
                <a:ea typeface="Consolas"/>
                <a:cs typeface="Consolas"/>
                <a:sym typeface="Consolas"/>
              </a:rPr>
              <a:t>toString</a:t>
            </a:r>
            <a:r>
              <a:rPr lang="en" sz="1400" dirty="0">
                <a:solidFill>
                  <a:srgbClr val="000000"/>
                </a:solidFill>
                <a:latin typeface="Consolas"/>
                <a:ea typeface="Consolas"/>
                <a:cs typeface="Consolas"/>
                <a:sym typeface="Consolas"/>
              </a:rPr>
              <a:t> ()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8</a:t>
            </a:r>
            <a:r>
              <a:rPr lang="en" sz="1400" dirty="0">
                <a:solidFill>
                  <a:srgbClr val="000000"/>
                </a:solidFill>
                <a:latin typeface="Consolas"/>
                <a:ea typeface="Consolas"/>
                <a:cs typeface="Consolas"/>
                <a:sym typeface="Consolas"/>
              </a:rPr>
              <a:t>          </a:t>
            </a:r>
            <a:r>
              <a:rPr lang="en" sz="1400" dirty="0">
                <a:solidFill>
                  <a:srgbClr val="AF00DB"/>
                </a:solidFill>
                <a:latin typeface="Consolas"/>
                <a:ea typeface="Consolas"/>
                <a:cs typeface="Consolas"/>
                <a:sym typeface="Consolas"/>
              </a:rPr>
              <a:t>return</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name</a:t>
            </a:r>
            <a:r>
              <a:rPr lang="en" sz="1400" dirty="0">
                <a:solidFill>
                  <a:srgbClr val="000000"/>
                </a:solidFill>
                <a:latin typeface="Consolas"/>
                <a:ea typeface="Consolas"/>
                <a:cs typeface="Consolas"/>
                <a:sym typeface="Consolas"/>
              </a:rPr>
              <a:t> + </a:t>
            </a:r>
            <a:r>
              <a:rPr lang="en" sz="1400" dirty="0">
                <a:solidFill>
                  <a:srgbClr val="A31515"/>
                </a:solidFill>
                <a:latin typeface="Consolas"/>
                <a:ea typeface="Consolas"/>
                <a:cs typeface="Consolas"/>
                <a:sym typeface="Consolas"/>
              </a:rPr>
              <a:t>" is a "</a:t>
            </a:r>
            <a:r>
              <a:rPr lang="en" sz="1400" dirty="0">
                <a:solidFill>
                  <a:srgbClr val="000000"/>
                </a:solidFill>
                <a:latin typeface="Consolas"/>
                <a:ea typeface="Consolas"/>
                <a:cs typeface="Consolas"/>
                <a:sym typeface="Consolas"/>
              </a:rPr>
              <a:t>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9</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age</a:t>
            </a:r>
            <a:r>
              <a:rPr lang="en" sz="1400" dirty="0">
                <a:solidFill>
                  <a:srgbClr val="000000"/>
                </a:solidFill>
                <a:latin typeface="Consolas"/>
                <a:ea typeface="Consolas"/>
                <a:cs typeface="Consolas"/>
                <a:sym typeface="Consolas"/>
              </a:rPr>
              <a:t> + </a:t>
            </a:r>
            <a:r>
              <a:rPr lang="en" sz="1400" dirty="0">
                <a:solidFill>
                  <a:srgbClr val="A31515"/>
                </a:solidFill>
                <a:latin typeface="Consolas"/>
                <a:ea typeface="Consolas"/>
                <a:cs typeface="Consolas"/>
                <a:sym typeface="Consolas"/>
              </a:rPr>
              <a:t>" year old "</a:t>
            </a:r>
            <a:r>
              <a:rPr lang="en" sz="1400" dirty="0">
                <a:solidFill>
                  <a:srgbClr val="000000"/>
                </a:solidFill>
                <a:latin typeface="Consolas"/>
                <a:ea typeface="Consolas"/>
                <a:cs typeface="Consolas"/>
                <a:sym typeface="Consolas"/>
              </a:rPr>
              <a:t> +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10</a:t>
            </a:r>
            <a:r>
              <a:rPr lang="en" sz="1400" dirty="0">
                <a:solidFill>
                  <a:srgbClr val="000000"/>
                </a:solidFill>
                <a:latin typeface="Consolas"/>
                <a:ea typeface="Consolas"/>
                <a:cs typeface="Consolas"/>
                <a:sym typeface="Consolas"/>
              </a:rPr>
              <a:t>             </a:t>
            </a:r>
            <a:r>
              <a:rPr lang="en" sz="1400" dirty="0">
                <a:solidFill>
                  <a:srgbClr val="001080"/>
                </a:solidFill>
                <a:latin typeface="Consolas"/>
                <a:ea typeface="Consolas"/>
                <a:cs typeface="Consolas"/>
                <a:sym typeface="Consolas"/>
              </a:rPr>
              <a:t>species </a:t>
            </a:r>
            <a:r>
              <a:rPr lang="en" sz="1400" dirty="0">
                <a:solidFill>
                  <a:srgbClr val="000000"/>
                </a:solidFill>
                <a:latin typeface="Consolas"/>
                <a:ea typeface="Consolas"/>
                <a:cs typeface="Consolas"/>
                <a:sym typeface="Consolas"/>
              </a:rPr>
              <a:t>+ </a:t>
            </a:r>
            <a:r>
              <a:rPr lang="en" sz="1400" dirty="0">
                <a:solidFill>
                  <a:srgbClr val="A31515"/>
                </a:solidFill>
                <a:latin typeface="Consolas"/>
                <a:ea typeface="Consolas"/>
                <a:cs typeface="Consolas"/>
                <a:sym typeface="Consolas"/>
              </a:rPr>
              <a:t>"."</a:t>
            </a:r>
            <a:r>
              <a:rPr lang="en" sz="1400" dirty="0">
                <a:solidFill>
                  <a:srgbClr val="000000"/>
                </a:solidFill>
                <a:latin typeface="Consolas"/>
                <a:ea typeface="Consolas"/>
                <a:cs typeface="Consolas"/>
                <a:sym typeface="Consolas"/>
              </a:rPr>
              <a:t>;</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11</a:t>
            </a:r>
            <a:r>
              <a:rPr lang="en" sz="1400" dirty="0">
                <a:solidFill>
                  <a:srgbClr val="000000"/>
                </a:solidFill>
                <a:latin typeface="Consolas"/>
                <a:ea typeface="Consolas"/>
                <a:cs typeface="Consolas"/>
                <a:sym typeface="Consolas"/>
              </a:rPr>
              <a:t>     }</a:t>
            </a:r>
            <a:endParaRPr sz="140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400" dirty="0">
                <a:solidFill>
                  <a:srgbClr val="098658"/>
                </a:solidFill>
                <a:latin typeface="Consolas"/>
                <a:ea typeface="Consolas"/>
                <a:cs typeface="Consolas"/>
                <a:sym typeface="Consolas"/>
              </a:rPr>
              <a:t>12</a:t>
            </a:r>
            <a:r>
              <a:rPr lang="en" sz="1400" dirty="0">
                <a:solidFill>
                  <a:srgbClr val="000000"/>
                </a:solidFill>
                <a:latin typeface="Consolas"/>
                <a:ea typeface="Consolas"/>
                <a:cs typeface="Consolas"/>
                <a:sym typeface="Consolas"/>
              </a:rPr>
              <a:t> }</a:t>
            </a:r>
            <a:endParaRPr sz="1200" dirty="0">
              <a:latin typeface="Consolas"/>
              <a:ea typeface="Consolas"/>
              <a:cs typeface="Consolas"/>
              <a:sym typeface="Consolas"/>
            </a:endParaRPr>
          </a:p>
        </p:txBody>
      </p:sp>
      <p:sp>
        <p:nvSpPr>
          <p:cNvPr id="609" name="Google Shape;609;p76"/>
          <p:cNvSpPr txBox="1">
            <a:spLocks noGrp="1"/>
          </p:cNvSpPr>
          <p:nvPr>
            <p:ph type="body" idx="3"/>
          </p:nvPr>
        </p:nvSpPr>
        <p:spPr>
          <a:xfrm>
            <a:off x="5192225" y="4089650"/>
            <a:ext cx="3706500" cy="5817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a:solidFill>
                  <a:srgbClr val="FF0000"/>
                </a:solidFill>
                <a:latin typeface="Courier New"/>
                <a:ea typeface="Courier New"/>
                <a:cs typeface="Courier New"/>
                <a:sym typeface="Courier New"/>
              </a:rPr>
              <a:t>toString()</a:t>
            </a:r>
            <a:r>
              <a:rPr lang="en" sz="1200"/>
              <a:t> special method is used to control how a class is translated into a string.</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0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0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0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0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0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0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0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09"/>
                                        </p:tgtEl>
                                        <p:attrNameLst>
                                          <p:attrName>style.visibility</p:attrName>
                                        </p:attrNameLst>
                                      </p:cBhvr>
                                      <p:to>
                                        <p:strVal val="visible"/>
                                      </p:to>
                                    </p:set>
                                    <p:animEffect transition="in" filter="fade">
                                      <p:cBhvr>
                                        <p:cTn id="47" dur="1000"/>
                                        <p:tgtEl>
                                          <p:spTgt spid="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77"/>
          <p:cNvSpPr txBox="1">
            <a:spLocks noGrp="1"/>
          </p:cNvSpPr>
          <p:nvPr>
            <p:ph type="body" idx="1"/>
          </p:nvPr>
        </p:nvSpPr>
        <p:spPr>
          <a:xfrm>
            <a:off x="65250" y="579225"/>
            <a:ext cx="8955900" cy="12807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If we try to print one of our </a:t>
            </a:r>
            <a:r>
              <a:rPr lang="en">
                <a:latin typeface="Courier New"/>
                <a:ea typeface="Courier New"/>
                <a:cs typeface="Courier New"/>
                <a:sym typeface="Courier New"/>
              </a:rPr>
              <a:t>Weapon</a:t>
            </a:r>
            <a:r>
              <a:rPr lang="en"/>
              <a:t> objects to standard output, the string that is printed will look something like </a:t>
            </a:r>
            <a:r>
              <a:rPr lang="en">
                <a:latin typeface="Courier New"/>
                <a:ea typeface="Courier New"/>
                <a:cs typeface="Courier New"/>
                <a:sym typeface="Courier New"/>
              </a:rPr>
              <a:t>Weapon@12a3db47</a:t>
            </a:r>
            <a:r>
              <a:rPr lang="en"/>
              <a:t>. That is not particularly useful. However, if we override the </a:t>
            </a:r>
            <a:r>
              <a:rPr lang="en">
                <a:latin typeface="Courier New"/>
                <a:ea typeface="Courier New"/>
                <a:cs typeface="Courier New"/>
                <a:sym typeface="Courier New"/>
              </a:rPr>
              <a:t>toString()</a:t>
            </a:r>
            <a:r>
              <a:rPr lang="en"/>
              <a:t> method we can replace the default string representation of an object with our own version. Let's try it now!</a:t>
            </a:r>
            <a:endParaRPr/>
          </a:p>
        </p:txBody>
      </p:sp>
      <p:sp>
        <p:nvSpPr>
          <p:cNvPr id="615" name="Google Shape;615;p7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sp>
        <p:nvSpPr>
          <p:cNvPr id="616" name="Google Shape;616;p77"/>
          <p:cNvSpPr txBox="1">
            <a:spLocks noGrp="1"/>
          </p:cNvSpPr>
          <p:nvPr>
            <p:ph type="body" idx="2"/>
          </p:nvPr>
        </p:nvSpPr>
        <p:spPr>
          <a:xfrm>
            <a:off x="3780875" y="1936925"/>
            <a:ext cx="5160300" cy="23142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solidFill>
                  <a:srgbClr val="FF0000"/>
                </a:solidFill>
                <a:latin typeface="Courier New"/>
                <a:ea typeface="Courier New"/>
                <a:cs typeface="Courier New"/>
                <a:sym typeface="Courier New"/>
              </a:rPr>
              <a:t>Ship</a:t>
            </a:r>
            <a:r>
              <a:rPr lang="en" dirty="0"/>
              <a:t> class and override the </a:t>
            </a:r>
            <a:r>
              <a:rPr lang="en" dirty="0">
                <a:latin typeface="Courier New"/>
                <a:ea typeface="Courier New"/>
                <a:cs typeface="Courier New"/>
                <a:sym typeface="Courier New"/>
              </a:rPr>
              <a:t>toString</a:t>
            </a:r>
            <a:r>
              <a:rPr lang="en" dirty="0"/>
              <a:t> method for the </a:t>
            </a:r>
            <a:r>
              <a:rPr lang="en" dirty="0">
                <a:latin typeface="Courier New"/>
                <a:ea typeface="Courier New"/>
                <a:cs typeface="Courier New"/>
                <a:sym typeface="Courier New"/>
              </a:rPr>
              <a:t>Ship</a:t>
            </a:r>
            <a:r>
              <a:rPr lang="en" dirty="0"/>
              <a:t> to return a string in the format:</a:t>
            </a:r>
            <a:endParaRPr dirty="0"/>
          </a:p>
          <a:p>
            <a:pPr marL="914400" lvl="1" indent="-298450" algn="l" rtl="0">
              <a:spcBef>
                <a:spcPts val="0"/>
              </a:spcBef>
              <a:spcAft>
                <a:spcPts val="0"/>
              </a:spcAft>
              <a:buSzPts val="1100"/>
              <a:buFont typeface="Courier New"/>
              <a:buChar char="○"/>
            </a:pPr>
            <a:r>
              <a:rPr lang="en" dirty="0">
                <a:latin typeface="Courier New"/>
                <a:ea typeface="Courier New"/>
                <a:cs typeface="Courier New"/>
                <a:sym typeface="Courier New"/>
              </a:rPr>
              <a:t>"&lt;</a:t>
            </a:r>
            <a:r>
              <a:rPr lang="en" dirty="0">
                <a:solidFill>
                  <a:srgbClr val="FF0000"/>
                </a:solidFill>
                <a:latin typeface="Courier New"/>
                <a:ea typeface="Courier New"/>
                <a:cs typeface="Courier New"/>
                <a:sym typeface="Courier New"/>
              </a:rPr>
              <a:t>name</a:t>
            </a:r>
            <a:r>
              <a:rPr lang="en" dirty="0">
                <a:latin typeface="Courier New"/>
                <a:ea typeface="Courier New"/>
                <a:cs typeface="Courier New"/>
                <a:sym typeface="Courier New"/>
              </a:rPr>
              <a:t>&gt;: shields &lt;</a:t>
            </a:r>
            <a:r>
              <a:rPr lang="en" dirty="0">
                <a:solidFill>
                  <a:srgbClr val="FF0000"/>
                </a:solidFill>
                <a:latin typeface="Courier New"/>
                <a:ea typeface="Courier New"/>
                <a:cs typeface="Courier New"/>
                <a:sym typeface="Courier New"/>
              </a:rPr>
              <a:t>shields</a:t>
            </a:r>
            <a:r>
              <a:rPr lang="en" dirty="0">
                <a:latin typeface="Courier New"/>
                <a:ea typeface="Courier New"/>
                <a:cs typeface="Courier New"/>
                <a:sym typeface="Courier New"/>
              </a:rPr>
              <a:t>&gt;, hull &lt;</a:t>
            </a:r>
            <a:r>
              <a:rPr lang="en" dirty="0">
                <a:solidFill>
                  <a:srgbClr val="FF0000"/>
                </a:solidFill>
                <a:latin typeface="Courier New"/>
                <a:ea typeface="Courier New"/>
                <a:cs typeface="Courier New"/>
                <a:sym typeface="Courier New"/>
              </a:rPr>
              <a:t>hullAmount</a:t>
            </a:r>
            <a:r>
              <a:rPr lang="en" dirty="0">
                <a:latin typeface="Courier New"/>
                <a:ea typeface="Courier New"/>
                <a:cs typeface="Courier New"/>
                <a:sym typeface="Courier New"/>
              </a:rPr>
              <a:t>&gt;" </a:t>
            </a:r>
            <a:r>
              <a:rPr lang="en" dirty="0"/>
              <a:t>e.g. </a:t>
            </a:r>
            <a:r>
              <a:rPr lang="en" dirty="0">
                <a:latin typeface="Courier New"/>
                <a:ea typeface="Courier New"/>
                <a:cs typeface="Courier New"/>
                <a:sym typeface="Courier New"/>
              </a:rPr>
              <a:t>"</a:t>
            </a:r>
            <a:r>
              <a:rPr lang="en" dirty="0">
                <a:solidFill>
                  <a:srgbClr val="FF0000"/>
                </a:solidFill>
                <a:latin typeface="Courier New"/>
                <a:ea typeface="Courier New"/>
                <a:cs typeface="Courier New"/>
                <a:sym typeface="Courier New"/>
              </a:rPr>
              <a:t>X-Wing</a:t>
            </a:r>
            <a:r>
              <a:rPr lang="en" dirty="0">
                <a:latin typeface="Courier New"/>
                <a:ea typeface="Courier New"/>
                <a:cs typeface="Courier New"/>
                <a:sym typeface="Courier New"/>
              </a:rPr>
              <a:t>: shields </a:t>
            </a:r>
            <a:r>
              <a:rPr lang="en" dirty="0">
                <a:solidFill>
                  <a:srgbClr val="FF0000"/>
                </a:solidFill>
                <a:latin typeface="Courier New"/>
                <a:ea typeface="Courier New"/>
                <a:cs typeface="Courier New"/>
                <a:sym typeface="Courier New"/>
              </a:rPr>
              <a:t>50</a:t>
            </a:r>
            <a:r>
              <a:rPr lang="en" dirty="0">
                <a:latin typeface="Courier New"/>
                <a:ea typeface="Courier New"/>
                <a:cs typeface="Courier New"/>
                <a:sym typeface="Courier New"/>
              </a:rPr>
              <a:t>, hull </a:t>
            </a:r>
            <a:r>
              <a:rPr lang="en" dirty="0">
                <a:solidFill>
                  <a:srgbClr val="FF0000"/>
                </a:solidFill>
                <a:latin typeface="Courier New"/>
                <a:ea typeface="Courier New"/>
                <a:cs typeface="Courier New"/>
                <a:sym typeface="Courier New"/>
              </a:rPr>
              <a:t>12</a:t>
            </a:r>
            <a:r>
              <a:rPr lang="en" dirty="0">
                <a:latin typeface="Courier New"/>
                <a:ea typeface="Courier New"/>
                <a:cs typeface="Courier New"/>
                <a:sym typeface="Courier New"/>
              </a:rPr>
              <a:t>"</a:t>
            </a:r>
            <a:endParaRPr dirty="0"/>
          </a:p>
          <a:p>
            <a:pPr marL="457200" lvl="0" indent="-311150" algn="l" rtl="0">
              <a:spcBef>
                <a:spcPts val="0"/>
              </a:spcBef>
              <a:spcAft>
                <a:spcPts val="0"/>
              </a:spcAft>
              <a:buSzPts val="1300"/>
              <a:buChar char="●"/>
            </a:pPr>
            <a:r>
              <a:rPr lang="en" dirty="0"/>
              <a:t>Repeat this process for the </a:t>
            </a:r>
            <a:r>
              <a:rPr lang="en" dirty="0">
                <a:solidFill>
                  <a:srgbClr val="FF0000"/>
                </a:solidFill>
                <a:latin typeface="Courier New"/>
                <a:ea typeface="Courier New"/>
                <a:cs typeface="Courier New"/>
                <a:sym typeface="Courier New"/>
              </a:rPr>
              <a:t>Weapon</a:t>
            </a:r>
            <a:r>
              <a:rPr lang="en" dirty="0"/>
              <a:t> class.</a:t>
            </a:r>
            <a:endParaRPr dirty="0"/>
          </a:p>
          <a:p>
            <a:pPr marL="914400" lvl="1" indent="-298450" algn="l" rtl="0">
              <a:spcBef>
                <a:spcPts val="0"/>
              </a:spcBef>
              <a:spcAft>
                <a:spcPts val="0"/>
              </a:spcAft>
              <a:buSzPts val="1100"/>
              <a:buChar char="○"/>
            </a:pPr>
            <a:r>
              <a:rPr lang="en" dirty="0"/>
              <a:t>You may choose  a format for the string that is returned, but you should try to include all of the relevant details.</a:t>
            </a:r>
            <a:endParaRPr dirty="0"/>
          </a:p>
          <a:p>
            <a:pPr marL="457200" lvl="0" indent="-311150" algn="l" rtl="0">
              <a:spcBef>
                <a:spcPts val="0"/>
              </a:spcBef>
              <a:spcAft>
                <a:spcPts val="0"/>
              </a:spcAft>
              <a:buSzPts val="1300"/>
              <a:buChar char="●"/>
            </a:pPr>
            <a:r>
              <a:rPr lang="en" dirty="0"/>
              <a:t>In the </a:t>
            </a:r>
            <a:r>
              <a:rPr lang="en" dirty="0">
                <a:latin typeface="Courier New"/>
                <a:ea typeface="Courier New"/>
                <a:cs typeface="Courier New"/>
                <a:sym typeface="Courier New"/>
              </a:rPr>
              <a:t>StarWarsBattle</a:t>
            </a:r>
            <a:r>
              <a:rPr lang="en" dirty="0"/>
              <a:t> </a:t>
            </a:r>
            <a:r>
              <a:rPr lang="en" dirty="0">
                <a:latin typeface="Courier New"/>
                <a:ea typeface="Courier New"/>
                <a:cs typeface="Courier New"/>
                <a:sym typeface="Courier New"/>
              </a:rPr>
              <a:t>main</a:t>
            </a:r>
            <a:r>
              <a:rPr lang="en" dirty="0"/>
              <a:t>, print one of the ships and one of the weapons that you created previously to standard output.</a:t>
            </a:r>
            <a:endParaRPr dirty="0"/>
          </a:p>
        </p:txBody>
      </p:sp>
      <p:sp>
        <p:nvSpPr>
          <p:cNvPr id="617" name="Google Shape;617;p7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Overriding </a:t>
            </a:r>
            <a:r>
              <a:rPr lang="en">
                <a:latin typeface="Courier New"/>
                <a:ea typeface="Courier New"/>
                <a:cs typeface="Courier New"/>
                <a:sym typeface="Courier New"/>
              </a:rPr>
              <a:t>toString()</a:t>
            </a:r>
            <a:endParaRPr>
              <a:latin typeface="Courier New"/>
              <a:ea typeface="Courier New"/>
              <a:cs typeface="Courier New"/>
              <a:sym typeface="Courier New"/>
            </a:endParaRPr>
          </a:p>
        </p:txBody>
      </p:sp>
      <p:sp>
        <p:nvSpPr>
          <p:cNvPr id="618" name="Google Shape;618;p7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2.11</a:t>
            </a:r>
            <a:endParaRPr/>
          </a:p>
        </p:txBody>
      </p:sp>
      <p:sp>
        <p:nvSpPr>
          <p:cNvPr id="619" name="Google Shape;619;p77"/>
          <p:cNvSpPr txBox="1">
            <a:spLocks noGrp="1"/>
          </p:cNvSpPr>
          <p:nvPr>
            <p:ph type="body" idx="4"/>
          </p:nvPr>
        </p:nvSpPr>
        <p:spPr>
          <a:xfrm>
            <a:off x="147625" y="1938989"/>
            <a:ext cx="3580800" cy="2216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class</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Pet</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private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name</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private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int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age</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private</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Species</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species</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Override</a:t>
            </a:r>
            <a:endParaRPr sz="1100">
              <a:solidFill>
                <a:srgbClr val="267F99"/>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toString</a:t>
            </a:r>
            <a:r>
              <a:rPr lang="en" sz="1100">
                <a:solidFill>
                  <a:srgbClr val="000000"/>
                </a:solidFill>
                <a:latin typeface="Consolas"/>
                <a:ea typeface="Consolas"/>
                <a:cs typeface="Consolas"/>
                <a:sym typeface="Consolas"/>
              </a:rPr>
              <a:t> ()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AF00DB"/>
                </a:solidFill>
                <a:latin typeface="Consolas"/>
                <a:ea typeface="Consolas"/>
                <a:cs typeface="Consolas"/>
                <a:sym typeface="Consolas"/>
              </a:rPr>
              <a:t>return</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name</a:t>
            </a:r>
            <a:r>
              <a:rPr lang="en" sz="1100">
                <a:solidFill>
                  <a:srgbClr val="000000"/>
                </a:solidFill>
                <a:latin typeface="Consolas"/>
                <a:ea typeface="Consolas"/>
                <a:cs typeface="Consolas"/>
                <a:sym typeface="Consolas"/>
              </a:rPr>
              <a:t> + </a:t>
            </a:r>
            <a:r>
              <a:rPr lang="en" sz="1100">
                <a:solidFill>
                  <a:srgbClr val="A31515"/>
                </a:solidFill>
                <a:latin typeface="Consolas"/>
                <a:ea typeface="Consolas"/>
                <a:cs typeface="Consolas"/>
                <a:sym typeface="Consolas"/>
              </a:rPr>
              <a:t>" is a "</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age</a:t>
            </a:r>
            <a:r>
              <a:rPr lang="en" sz="1100">
                <a:solidFill>
                  <a:srgbClr val="000000"/>
                </a:solidFill>
                <a:latin typeface="Consolas"/>
                <a:ea typeface="Consolas"/>
                <a:cs typeface="Consolas"/>
                <a:sym typeface="Consolas"/>
              </a:rPr>
              <a:t> + </a:t>
            </a:r>
            <a:r>
              <a:rPr lang="en" sz="1100">
                <a:solidFill>
                  <a:srgbClr val="A31515"/>
                </a:solidFill>
                <a:latin typeface="Consolas"/>
                <a:ea typeface="Consolas"/>
                <a:cs typeface="Consolas"/>
                <a:sym typeface="Consolas"/>
              </a:rPr>
              <a:t>" year old "</a:t>
            </a:r>
            <a:r>
              <a:rPr lang="en" sz="1100">
                <a:solidFill>
                  <a:srgbClr val="000000"/>
                </a:solidFill>
                <a:latin typeface="Consolas"/>
                <a:ea typeface="Consolas"/>
                <a:cs typeface="Consolas"/>
                <a:sym typeface="Consolas"/>
              </a:rPr>
              <a:t> +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species </a:t>
            </a:r>
            <a:r>
              <a:rPr lang="en" sz="1100">
                <a:solidFill>
                  <a:srgbClr val="000000"/>
                </a:solidFill>
                <a:latin typeface="Consolas"/>
                <a:ea typeface="Consolas"/>
                <a:cs typeface="Consolas"/>
                <a:sym typeface="Consolas"/>
              </a:rPr>
              <a:t>+ </a:t>
            </a:r>
            <a:r>
              <a:rPr lang="en" sz="1100">
                <a:solidFill>
                  <a:srgbClr val="A31515"/>
                </a:solidFill>
                <a:latin typeface="Consolas"/>
                <a:ea typeface="Consolas"/>
                <a:cs typeface="Consolas"/>
                <a:sym typeface="Consolas"/>
              </a:rPr>
              <a:t>"."</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100">
                <a:solidFill>
                  <a:srgbClr val="000000"/>
                </a:solidFill>
                <a:latin typeface="Consolas"/>
                <a:ea typeface="Consolas"/>
                <a:cs typeface="Consolas"/>
                <a:sym typeface="Consolas"/>
              </a:rPr>
              <a:t>}</a:t>
            </a:r>
            <a:endParaRPr sz="900">
              <a:latin typeface="Consolas"/>
              <a:ea typeface="Consolas"/>
              <a:cs typeface="Consolas"/>
              <a:sym typeface="Consolas"/>
            </a:endParaRPr>
          </a:p>
        </p:txBody>
      </p:sp>
      <p:sp>
        <p:nvSpPr>
          <p:cNvPr id="620" name="Google Shape;620;p77"/>
          <p:cNvSpPr txBox="1">
            <a:spLocks noGrp="1"/>
          </p:cNvSpPr>
          <p:nvPr>
            <p:ph type="body" idx="2"/>
          </p:nvPr>
        </p:nvSpPr>
        <p:spPr>
          <a:xfrm>
            <a:off x="147625" y="4260514"/>
            <a:ext cx="3580800" cy="943818"/>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highlight>
                  <a:srgbClr val="FFFF00"/>
                </a:highlight>
                <a:latin typeface="Arial"/>
                <a:ea typeface="Arial"/>
                <a:cs typeface="Arial"/>
                <a:sym typeface="Arial"/>
              </a:rPr>
              <a:t>The </a:t>
            </a:r>
            <a:r>
              <a:rPr lang="en" sz="1200" dirty="0">
                <a:solidFill>
                  <a:srgbClr val="FF0000"/>
                </a:solidFill>
                <a:highlight>
                  <a:srgbClr val="FFFF00"/>
                </a:highlight>
                <a:latin typeface="Courier New"/>
                <a:ea typeface="Courier New"/>
                <a:cs typeface="Courier New"/>
                <a:sym typeface="Courier New"/>
              </a:rPr>
              <a:t>@Override</a:t>
            </a:r>
            <a:r>
              <a:rPr lang="en" sz="1200" dirty="0">
                <a:solidFill>
                  <a:srgbClr val="000000"/>
                </a:solidFill>
                <a:highlight>
                  <a:srgbClr val="FFFF00"/>
                </a:highlight>
                <a:latin typeface="Arial"/>
                <a:ea typeface="Arial"/>
                <a:cs typeface="Arial"/>
                <a:sym typeface="Arial"/>
              </a:rPr>
              <a:t> annotation is not required, but it can be very helpful for a number of reasons and it is considered good practice to use it.</a:t>
            </a:r>
            <a:endParaRPr sz="1200" dirty="0">
              <a:solidFill>
                <a:srgbClr val="000000"/>
              </a:solidFill>
              <a:highlight>
                <a:srgbClr val="FFFF00"/>
              </a:highlight>
              <a:latin typeface="Arial"/>
              <a:ea typeface="Arial"/>
              <a:cs typeface="Arial"/>
              <a:sym typeface="Arial"/>
            </a:endParaRPr>
          </a:p>
        </p:txBody>
      </p:sp>
      <p:sp>
        <p:nvSpPr>
          <p:cNvPr id="621" name="Google Shape;621;p77"/>
          <p:cNvSpPr/>
          <p:nvPr/>
        </p:nvSpPr>
        <p:spPr>
          <a:xfrm>
            <a:off x="486649" y="2867473"/>
            <a:ext cx="816000" cy="1947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77"/>
          <p:cNvSpPr/>
          <p:nvPr/>
        </p:nvSpPr>
        <p:spPr>
          <a:xfrm>
            <a:off x="329424" y="2949850"/>
            <a:ext cx="157232" cy="1302700"/>
          </a:xfrm>
          <a:custGeom>
            <a:avLst/>
            <a:gdLst/>
            <a:ahLst/>
            <a:cxnLst/>
            <a:rect l="l" t="t" r="r" b="b"/>
            <a:pathLst>
              <a:path w="8086" h="52108" extrusionOk="0">
                <a:moveTo>
                  <a:pt x="8086" y="0"/>
                </a:moveTo>
                <a:lnTo>
                  <a:pt x="0" y="0"/>
                </a:lnTo>
                <a:lnTo>
                  <a:pt x="0" y="52108"/>
                </a:lnTo>
              </a:path>
            </a:pathLst>
          </a:custGeom>
          <a:noFill/>
          <a:ln w="19050" cap="flat" cmpd="sng">
            <a:solidFill>
              <a:srgbClr val="EE0000"/>
            </a:solidFill>
            <a:prstDash val="solid"/>
            <a:round/>
            <a:headEnd type="none" w="med" len="med"/>
            <a:tailEnd type="none" w="med" len="med"/>
          </a:ln>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7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sp>
        <p:nvSpPr>
          <p:cNvPr id="628" name="Google Shape;628;p78"/>
          <p:cNvSpPr txBox="1">
            <a:spLocks noGrp="1"/>
          </p:cNvSpPr>
          <p:nvPr>
            <p:ph type="title"/>
          </p:nvPr>
        </p:nvSpPr>
        <p:spPr>
          <a:xfrm>
            <a:off x="311725" y="160200"/>
            <a:ext cx="3706500" cy="9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Special Method: </a:t>
            </a:r>
            <a:r>
              <a:rPr lang="en">
                <a:latin typeface="Courier New"/>
                <a:ea typeface="Courier New"/>
                <a:cs typeface="Courier New"/>
                <a:sym typeface="Courier New"/>
              </a:rPr>
              <a:t>equals(Object)</a:t>
            </a:r>
            <a:endParaRPr>
              <a:latin typeface="Courier New"/>
              <a:ea typeface="Courier New"/>
              <a:cs typeface="Courier New"/>
              <a:sym typeface="Courier New"/>
            </a:endParaRPr>
          </a:p>
        </p:txBody>
      </p:sp>
      <p:sp>
        <p:nvSpPr>
          <p:cNvPr id="629" name="Google Shape;629;p78"/>
          <p:cNvSpPr txBox="1">
            <a:spLocks noGrp="1"/>
          </p:cNvSpPr>
          <p:nvPr>
            <p:ph type="body" idx="1"/>
          </p:nvPr>
        </p:nvSpPr>
        <p:spPr>
          <a:xfrm>
            <a:off x="4416781" y="46473"/>
            <a:ext cx="4462200" cy="5037600"/>
          </a:xfrm>
          <a:prstGeom prst="rect">
            <a:avLst/>
          </a:prstGeom>
        </p:spPr>
        <p:txBody>
          <a:bodyPr spcFirstLastPara="1" wrap="square" lIns="91425" tIns="91425" rIns="91425" bIns="91425" anchor="t" anchorCtr="0">
            <a:spAutoFit/>
          </a:bodyPr>
          <a:lstStyle/>
          <a:p>
            <a:pPr marL="457200" lvl="0" indent="-313245" algn="l" rtl="0">
              <a:lnSpc>
                <a:spcPct val="100000"/>
              </a:lnSpc>
              <a:spcBef>
                <a:spcPts val="0"/>
              </a:spcBef>
              <a:spcAft>
                <a:spcPts val="0"/>
              </a:spcAft>
              <a:buSzPts val="1333"/>
              <a:buChar char="●"/>
            </a:pPr>
            <a:r>
              <a:rPr lang="en" sz="1333" dirty="0"/>
              <a:t>Like Python, Java includes two different methods for comparing values for equality.</a:t>
            </a:r>
            <a:endParaRPr sz="1333" dirty="0"/>
          </a:p>
          <a:p>
            <a:pPr marL="457200" lvl="0" indent="-313245" algn="l" rtl="0">
              <a:lnSpc>
                <a:spcPct val="100000"/>
              </a:lnSpc>
              <a:spcBef>
                <a:spcPts val="1000"/>
              </a:spcBef>
              <a:spcAft>
                <a:spcPts val="0"/>
              </a:spcAft>
              <a:buSzPts val="1333"/>
              <a:buChar char="●"/>
            </a:pPr>
            <a:r>
              <a:rPr lang="en" sz="1333" dirty="0"/>
              <a:t>The </a:t>
            </a:r>
            <a:r>
              <a:rPr lang="en" sz="1333" dirty="0">
                <a:solidFill>
                  <a:srgbClr val="EE0000"/>
                </a:solidFill>
                <a:latin typeface="Courier New"/>
                <a:ea typeface="Courier New"/>
                <a:cs typeface="Courier New"/>
                <a:sym typeface="Courier New"/>
              </a:rPr>
              <a:t>==</a:t>
            </a:r>
            <a:r>
              <a:rPr lang="en" sz="1333" dirty="0"/>
              <a:t> </a:t>
            </a:r>
            <a:r>
              <a:rPr lang="en" sz="1333" dirty="0">
                <a:solidFill>
                  <a:srgbClr val="EE0000"/>
                </a:solidFill>
              </a:rPr>
              <a:t>operator </a:t>
            </a:r>
            <a:r>
              <a:rPr lang="en" sz="1333" dirty="0"/>
              <a:t>is used in a boolean expression to compare two values for </a:t>
            </a:r>
            <a:r>
              <a:rPr lang="en" sz="1333" b="1" i="1" dirty="0">
                <a:solidFill>
                  <a:srgbClr val="EE0000"/>
                </a:solidFill>
                <a:highlight>
                  <a:srgbClr val="FFFF00"/>
                </a:highlight>
              </a:rPr>
              <a:t>shallow equality</a:t>
            </a:r>
            <a:r>
              <a:rPr lang="en" sz="1333" dirty="0">
                <a:highlight>
                  <a:srgbClr val="FFFF00"/>
                </a:highlight>
              </a:rPr>
              <a:t>. </a:t>
            </a:r>
            <a:endParaRPr sz="1333" dirty="0">
              <a:highlight>
                <a:srgbClr val="FFFF00"/>
              </a:highlight>
            </a:endParaRPr>
          </a:p>
          <a:p>
            <a:pPr marL="914400" lvl="1" indent="-313245" algn="l" rtl="0">
              <a:lnSpc>
                <a:spcPct val="100000"/>
              </a:lnSpc>
              <a:spcBef>
                <a:spcPts val="0"/>
              </a:spcBef>
              <a:spcAft>
                <a:spcPts val="0"/>
              </a:spcAft>
              <a:buSzPts val="1333"/>
              <a:buChar char="○"/>
            </a:pPr>
            <a:r>
              <a:rPr lang="en" sz="1333" dirty="0"/>
              <a:t>e.g. </a:t>
            </a:r>
            <a:r>
              <a:rPr lang="en" sz="1333" dirty="0">
                <a:solidFill>
                  <a:srgbClr val="EE0000"/>
                </a:solidFill>
                <a:latin typeface="Courier New"/>
                <a:ea typeface="Courier New"/>
                <a:cs typeface="Courier New"/>
                <a:sym typeface="Courier New"/>
              </a:rPr>
              <a:t>x == y</a:t>
            </a:r>
            <a:endParaRPr sz="1333" dirty="0">
              <a:solidFill>
                <a:srgbClr val="EE0000"/>
              </a:solidFill>
              <a:latin typeface="Courier New"/>
              <a:ea typeface="Courier New"/>
              <a:cs typeface="Courier New"/>
              <a:sym typeface="Courier New"/>
            </a:endParaRPr>
          </a:p>
          <a:p>
            <a:pPr marL="914400" lvl="1" indent="-300545" algn="l" rtl="0">
              <a:lnSpc>
                <a:spcPct val="100000"/>
              </a:lnSpc>
              <a:spcBef>
                <a:spcPts val="0"/>
              </a:spcBef>
              <a:spcAft>
                <a:spcPts val="0"/>
              </a:spcAft>
              <a:buSzPts val="1133"/>
              <a:buChar char="○"/>
            </a:pPr>
            <a:r>
              <a:rPr lang="en" sz="1133" dirty="0"/>
              <a:t>When comparing </a:t>
            </a:r>
            <a:r>
              <a:rPr lang="en" sz="1133" dirty="0">
                <a:highlight>
                  <a:srgbClr val="FFFF00"/>
                </a:highlight>
              </a:rPr>
              <a:t>primitive</a:t>
            </a:r>
            <a:r>
              <a:rPr lang="en" sz="1133" dirty="0"/>
              <a:t> types, the expression will be true if the </a:t>
            </a:r>
            <a:r>
              <a:rPr lang="en" sz="1133" b="1" i="1" dirty="0">
                <a:solidFill>
                  <a:srgbClr val="EE0000"/>
                </a:solidFill>
              </a:rPr>
              <a:t>values</a:t>
            </a:r>
            <a:r>
              <a:rPr lang="en" sz="1133" dirty="0">
                <a:solidFill>
                  <a:srgbClr val="EE0000"/>
                </a:solidFill>
              </a:rPr>
              <a:t> </a:t>
            </a:r>
            <a:r>
              <a:rPr lang="en" sz="1133" dirty="0"/>
              <a:t>are the same.</a:t>
            </a:r>
            <a:endParaRPr sz="1133" dirty="0"/>
          </a:p>
          <a:p>
            <a:pPr marL="914400" lvl="1" indent="-313245" algn="l" rtl="0">
              <a:lnSpc>
                <a:spcPct val="100000"/>
              </a:lnSpc>
              <a:spcBef>
                <a:spcPts val="0"/>
              </a:spcBef>
              <a:spcAft>
                <a:spcPts val="0"/>
              </a:spcAft>
              <a:buSzPts val="1333"/>
              <a:buChar char="○"/>
            </a:pPr>
            <a:r>
              <a:rPr lang="en" dirty="0"/>
              <a:t>When comparing </a:t>
            </a:r>
            <a:r>
              <a:rPr lang="en" b="1" i="1" dirty="0">
                <a:solidFill>
                  <a:srgbClr val="EE0000"/>
                </a:solidFill>
                <a:highlight>
                  <a:srgbClr val="FFFF00"/>
                </a:highlight>
              </a:rPr>
              <a:t>objects</a:t>
            </a:r>
            <a:r>
              <a:rPr lang="en" dirty="0"/>
              <a:t>, the expression will be true if the </a:t>
            </a:r>
            <a:r>
              <a:rPr lang="en" b="1" i="1" dirty="0">
                <a:solidFill>
                  <a:srgbClr val="EE0000"/>
                </a:solidFill>
              </a:rPr>
              <a:t>addresses</a:t>
            </a:r>
            <a:r>
              <a:rPr lang="en" dirty="0">
                <a:solidFill>
                  <a:srgbClr val="EE0000"/>
                </a:solidFill>
              </a:rPr>
              <a:t> </a:t>
            </a:r>
            <a:r>
              <a:rPr lang="en" dirty="0"/>
              <a:t>are the same. This is only true if </a:t>
            </a:r>
            <a:r>
              <a:rPr lang="en" dirty="0">
                <a:latin typeface="Courier New"/>
                <a:ea typeface="Courier New"/>
                <a:cs typeface="Courier New"/>
                <a:sym typeface="Courier New"/>
              </a:rPr>
              <a:t>x</a:t>
            </a:r>
            <a:r>
              <a:rPr lang="en" dirty="0"/>
              <a:t> and </a:t>
            </a:r>
            <a:r>
              <a:rPr lang="en" dirty="0">
                <a:latin typeface="Courier New"/>
                <a:ea typeface="Courier New"/>
                <a:cs typeface="Courier New"/>
                <a:sym typeface="Courier New"/>
              </a:rPr>
              <a:t>y</a:t>
            </a:r>
            <a:r>
              <a:rPr lang="en" dirty="0"/>
              <a:t> are the same object.</a:t>
            </a:r>
            <a:endParaRPr dirty="0"/>
          </a:p>
          <a:p>
            <a:pPr marL="457200" lvl="0" indent="-313245" algn="l" rtl="0">
              <a:lnSpc>
                <a:spcPct val="100000"/>
              </a:lnSpc>
              <a:spcBef>
                <a:spcPts val="1000"/>
              </a:spcBef>
              <a:spcAft>
                <a:spcPts val="0"/>
              </a:spcAft>
              <a:buSzPts val="1333"/>
              <a:buFont typeface="Courier New"/>
              <a:buChar char="●"/>
            </a:pPr>
            <a:r>
              <a:rPr lang="en" sz="1333" dirty="0"/>
              <a:t>The </a:t>
            </a:r>
            <a:r>
              <a:rPr lang="en" sz="1333" dirty="0">
                <a:solidFill>
                  <a:srgbClr val="EE0000"/>
                </a:solidFill>
                <a:highlight>
                  <a:srgbClr val="FFFF00"/>
                </a:highlight>
                <a:latin typeface="Courier New"/>
                <a:ea typeface="Courier New"/>
                <a:cs typeface="Courier New"/>
                <a:sym typeface="Courier New"/>
              </a:rPr>
              <a:t>equals(Object)</a:t>
            </a:r>
            <a:r>
              <a:rPr lang="en" sz="1333" dirty="0">
                <a:highlight>
                  <a:srgbClr val="FFFF00"/>
                </a:highlight>
              </a:rPr>
              <a:t> </a:t>
            </a:r>
            <a:r>
              <a:rPr lang="en" sz="1333" dirty="0"/>
              <a:t>method is used to compare two objects for </a:t>
            </a:r>
            <a:r>
              <a:rPr lang="en" sz="1333" b="1" i="1" dirty="0">
                <a:solidFill>
                  <a:srgbClr val="FF0000"/>
                </a:solidFill>
              </a:rPr>
              <a:t>deep equality</a:t>
            </a:r>
            <a:r>
              <a:rPr lang="en" sz="1333" dirty="0"/>
              <a:t>.</a:t>
            </a:r>
            <a:endParaRPr sz="1333" dirty="0"/>
          </a:p>
          <a:p>
            <a:pPr marL="914400" lvl="1" indent="-313245" algn="l" rtl="0">
              <a:lnSpc>
                <a:spcPct val="100000"/>
              </a:lnSpc>
              <a:spcBef>
                <a:spcPts val="0"/>
              </a:spcBef>
              <a:spcAft>
                <a:spcPts val="0"/>
              </a:spcAft>
              <a:buSzPts val="1333"/>
              <a:buChar char="○"/>
            </a:pPr>
            <a:r>
              <a:rPr lang="en" dirty="0"/>
              <a:t>e.g</a:t>
            </a:r>
            <a:r>
              <a:rPr lang="en" dirty="0">
                <a:highlight>
                  <a:srgbClr val="FFFF00"/>
                </a:highlight>
              </a:rPr>
              <a:t>. </a:t>
            </a:r>
            <a:r>
              <a:rPr lang="en" dirty="0">
                <a:solidFill>
                  <a:srgbClr val="EE0000"/>
                </a:solidFill>
                <a:highlight>
                  <a:srgbClr val="FFFF00"/>
                </a:highlight>
                <a:latin typeface="Courier New"/>
                <a:ea typeface="Courier New"/>
                <a:cs typeface="Courier New"/>
                <a:sym typeface="Courier New"/>
              </a:rPr>
              <a:t>x.equals(y)</a:t>
            </a:r>
            <a:endParaRPr dirty="0">
              <a:solidFill>
                <a:srgbClr val="EE0000"/>
              </a:solidFill>
              <a:highlight>
                <a:srgbClr val="FFFF00"/>
              </a:highlight>
              <a:latin typeface="Courier New"/>
              <a:ea typeface="Courier New"/>
              <a:cs typeface="Courier New"/>
              <a:sym typeface="Courier New"/>
            </a:endParaRPr>
          </a:p>
          <a:p>
            <a:pPr marL="914400" lvl="1" indent="-313245" algn="l" rtl="0">
              <a:lnSpc>
                <a:spcPct val="100000"/>
              </a:lnSpc>
              <a:spcBef>
                <a:spcPts val="0"/>
              </a:spcBef>
              <a:spcAft>
                <a:spcPts val="0"/>
              </a:spcAft>
              <a:buSzPts val="1333"/>
              <a:buChar char="○"/>
            </a:pPr>
            <a:r>
              <a:rPr lang="en" dirty="0"/>
              <a:t>The method returns true if</a:t>
            </a:r>
            <a:r>
              <a:rPr lang="en" dirty="0">
                <a:highlight>
                  <a:srgbClr val="FFFF00"/>
                </a:highlight>
              </a:rPr>
              <a:t> </a:t>
            </a:r>
            <a:r>
              <a:rPr lang="en" dirty="0">
                <a:highlight>
                  <a:srgbClr val="FFFF00"/>
                </a:highlight>
                <a:latin typeface="Courier New"/>
                <a:ea typeface="Courier New"/>
                <a:cs typeface="Courier New"/>
                <a:sym typeface="Courier New"/>
              </a:rPr>
              <a:t>x</a:t>
            </a:r>
            <a:r>
              <a:rPr lang="en" dirty="0">
                <a:highlight>
                  <a:srgbClr val="FFFF00"/>
                </a:highlight>
              </a:rPr>
              <a:t> and </a:t>
            </a:r>
            <a:r>
              <a:rPr lang="en" dirty="0">
                <a:highlight>
                  <a:srgbClr val="FFFF00"/>
                </a:highlight>
                <a:latin typeface="Courier New"/>
                <a:ea typeface="Courier New"/>
                <a:cs typeface="Courier New"/>
                <a:sym typeface="Courier New"/>
              </a:rPr>
              <a:t>y</a:t>
            </a:r>
            <a:r>
              <a:rPr lang="en" dirty="0">
                <a:highlight>
                  <a:srgbClr val="FFFF00"/>
                </a:highlight>
              </a:rPr>
              <a:t> are </a:t>
            </a:r>
            <a:r>
              <a:rPr lang="en" dirty="0">
                <a:solidFill>
                  <a:srgbClr val="EE0000"/>
                </a:solidFill>
                <a:highlight>
                  <a:srgbClr val="FFFF00"/>
                </a:highlight>
              </a:rPr>
              <a:t>equivalent </a:t>
            </a:r>
            <a:r>
              <a:rPr lang="en" dirty="0">
                <a:highlight>
                  <a:srgbClr val="FFFF00"/>
                </a:highlight>
              </a:rPr>
              <a:t>to each other. </a:t>
            </a:r>
            <a:endParaRPr dirty="0">
              <a:highlight>
                <a:srgbClr val="FFFF00"/>
              </a:highlight>
            </a:endParaRPr>
          </a:p>
          <a:p>
            <a:pPr marL="914400" lvl="1" indent="-298450" algn="l" rtl="0">
              <a:lnSpc>
                <a:spcPct val="100000"/>
              </a:lnSpc>
              <a:spcBef>
                <a:spcPts val="0"/>
              </a:spcBef>
              <a:spcAft>
                <a:spcPts val="0"/>
              </a:spcAft>
              <a:buSzPts val="1100"/>
              <a:buChar char="○"/>
            </a:pPr>
            <a:r>
              <a:rPr lang="en" dirty="0"/>
              <a:t>The default implementation provided by Java works just like the </a:t>
            </a:r>
            <a:r>
              <a:rPr lang="en" dirty="0">
                <a:latin typeface="Courier New"/>
                <a:ea typeface="Courier New"/>
                <a:cs typeface="Courier New"/>
                <a:sym typeface="Courier New"/>
              </a:rPr>
              <a:t>==</a:t>
            </a:r>
            <a:r>
              <a:rPr lang="en" dirty="0"/>
              <a:t> operator - it returns </a:t>
            </a:r>
            <a:r>
              <a:rPr lang="en" dirty="0">
                <a:latin typeface="Courier New"/>
                <a:ea typeface="Courier New"/>
                <a:cs typeface="Courier New"/>
                <a:sym typeface="Courier New"/>
              </a:rPr>
              <a:t>true</a:t>
            </a:r>
            <a:r>
              <a:rPr lang="en" dirty="0"/>
              <a:t> if </a:t>
            </a:r>
            <a:r>
              <a:rPr lang="en" dirty="0">
                <a:latin typeface="Courier New"/>
                <a:ea typeface="Courier New"/>
                <a:cs typeface="Courier New"/>
                <a:sym typeface="Courier New"/>
              </a:rPr>
              <a:t>x</a:t>
            </a:r>
            <a:r>
              <a:rPr lang="en" dirty="0"/>
              <a:t> and </a:t>
            </a:r>
            <a:r>
              <a:rPr lang="en" dirty="0">
                <a:latin typeface="Courier New"/>
                <a:ea typeface="Courier New"/>
                <a:cs typeface="Courier New"/>
                <a:sym typeface="Courier New"/>
              </a:rPr>
              <a:t>y</a:t>
            </a:r>
            <a:r>
              <a:rPr lang="en" dirty="0"/>
              <a:t> are the same object.</a:t>
            </a:r>
            <a:endParaRPr dirty="0"/>
          </a:p>
          <a:p>
            <a:pPr marL="914400" lvl="1" indent="-298450" algn="l" rtl="0">
              <a:lnSpc>
                <a:spcPct val="100000"/>
              </a:lnSpc>
              <a:spcBef>
                <a:spcPts val="0"/>
              </a:spcBef>
              <a:spcAft>
                <a:spcPts val="0"/>
              </a:spcAft>
              <a:buSzPts val="1100"/>
              <a:buChar char="○"/>
            </a:pPr>
            <a:r>
              <a:rPr lang="en" dirty="0">
                <a:highlight>
                  <a:srgbClr val="FFFF00"/>
                </a:highlight>
              </a:rPr>
              <a:t>The method must be overridden to change this.</a:t>
            </a:r>
            <a:endParaRPr dirty="0">
              <a:highlight>
                <a:srgbClr val="FFFF00"/>
              </a:highlight>
            </a:endParaRPr>
          </a:p>
          <a:p>
            <a:pPr marL="457200" lvl="0" indent="-313245" algn="l" rtl="0">
              <a:lnSpc>
                <a:spcPct val="100000"/>
              </a:lnSpc>
              <a:spcBef>
                <a:spcPts val="1000"/>
              </a:spcBef>
              <a:spcAft>
                <a:spcPts val="0"/>
              </a:spcAft>
              <a:buSzPts val="1333"/>
              <a:buChar char="●"/>
            </a:pPr>
            <a:r>
              <a:rPr lang="en" sz="1100" dirty="0"/>
              <a:t>In general you will want to use </a:t>
            </a:r>
            <a:r>
              <a:rPr lang="en" sz="1100" dirty="0">
                <a:highlight>
                  <a:srgbClr val="FFFF00"/>
                </a:highlight>
                <a:latin typeface="Courier New"/>
                <a:ea typeface="Courier New"/>
                <a:cs typeface="Courier New"/>
                <a:sym typeface="Courier New"/>
              </a:rPr>
              <a:t>equals</a:t>
            </a:r>
            <a:r>
              <a:rPr lang="en" sz="1100" dirty="0"/>
              <a:t> instead of </a:t>
            </a:r>
            <a:r>
              <a:rPr lang="en" sz="1100" dirty="0">
                <a:latin typeface="Courier New"/>
                <a:ea typeface="Courier New"/>
                <a:cs typeface="Courier New"/>
                <a:sym typeface="Courier New"/>
              </a:rPr>
              <a:t>==</a:t>
            </a:r>
            <a:r>
              <a:rPr lang="en" sz="1100" dirty="0"/>
              <a:t> when working with non-primitive objects. </a:t>
            </a:r>
            <a:endParaRPr sz="1100" b="1" dirty="0">
              <a:solidFill>
                <a:srgbClr val="FF0000"/>
              </a:solidFill>
            </a:endParaRPr>
          </a:p>
          <a:p>
            <a:pPr marL="914400" lvl="1" indent="-298450" algn="l" rtl="0">
              <a:lnSpc>
                <a:spcPct val="100000"/>
              </a:lnSpc>
              <a:spcBef>
                <a:spcPts val="0"/>
              </a:spcBef>
              <a:spcAft>
                <a:spcPts val="0"/>
              </a:spcAft>
              <a:buSzPts val="1100"/>
              <a:buChar char="○"/>
            </a:pPr>
            <a:r>
              <a:rPr lang="en" dirty="0"/>
              <a:t>Even though </a:t>
            </a:r>
            <a:r>
              <a:rPr lang="en" dirty="0">
                <a:latin typeface="Courier New"/>
                <a:ea typeface="Courier New"/>
                <a:cs typeface="Courier New"/>
                <a:sym typeface="Courier New"/>
              </a:rPr>
              <a:t>==</a:t>
            </a:r>
            <a:r>
              <a:rPr lang="en" dirty="0"/>
              <a:t> will appear to work sometimes with strings, </a:t>
            </a:r>
            <a:r>
              <a:rPr lang="en" dirty="0">
                <a:highlight>
                  <a:srgbClr val="FFFF00"/>
                </a:highlight>
              </a:rPr>
              <a:t>you should generally use </a:t>
            </a:r>
            <a:r>
              <a:rPr lang="en" dirty="0">
                <a:highlight>
                  <a:srgbClr val="FFFF00"/>
                </a:highlight>
                <a:latin typeface="Courier New"/>
                <a:ea typeface="Courier New"/>
                <a:cs typeface="Courier New"/>
                <a:sym typeface="Courier New"/>
              </a:rPr>
              <a:t>equals</a:t>
            </a:r>
            <a:r>
              <a:rPr lang="en" dirty="0">
                <a:highlight>
                  <a:srgbClr val="FFFF00"/>
                </a:highlight>
              </a:rPr>
              <a:t> when comparing two </a:t>
            </a:r>
            <a:r>
              <a:rPr lang="en" b="1" i="1" dirty="0">
                <a:solidFill>
                  <a:srgbClr val="FF0000"/>
                </a:solidFill>
                <a:highlight>
                  <a:srgbClr val="FFFF00"/>
                </a:highlight>
              </a:rPr>
              <a:t>strings</a:t>
            </a:r>
            <a:r>
              <a:rPr lang="en" dirty="0">
                <a:highlight>
                  <a:srgbClr val="FFFF00"/>
                </a:highlight>
              </a:rPr>
              <a:t>.</a:t>
            </a:r>
            <a:endParaRPr b="1" i="1" dirty="0">
              <a:solidFill>
                <a:srgbClr val="FF0000"/>
              </a:solidFill>
              <a:highlight>
                <a:srgbClr val="FFFF00"/>
              </a:highlight>
            </a:endParaRPr>
          </a:p>
        </p:txBody>
      </p:sp>
      <p:sp>
        <p:nvSpPr>
          <p:cNvPr id="630" name="Google Shape;630;p78"/>
          <p:cNvSpPr txBox="1">
            <a:spLocks noGrp="1"/>
          </p:cNvSpPr>
          <p:nvPr>
            <p:ph type="body" idx="2"/>
          </p:nvPr>
        </p:nvSpPr>
        <p:spPr>
          <a:xfrm>
            <a:off x="311725" y="1368550"/>
            <a:ext cx="3706500" cy="2425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098658"/>
                </a:solidFill>
                <a:latin typeface="Consolas"/>
                <a:ea typeface="Consolas"/>
                <a:cs typeface="Consolas"/>
                <a:sym typeface="Consolas"/>
              </a:rPr>
              <a:t>1</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Override</a:t>
            </a:r>
            <a:endParaRPr>
              <a:solidFill>
                <a:srgbClr val="0000FF"/>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2</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boolean</a:t>
            </a:r>
            <a:r>
              <a:rPr lang="en">
                <a:solidFill>
                  <a:srgbClr val="000000"/>
                </a:solidFill>
                <a:latin typeface="Consolas"/>
                <a:ea typeface="Consolas"/>
                <a:cs typeface="Consolas"/>
                <a:sym typeface="Consolas"/>
              </a:rPr>
              <a:t> </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Object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3</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if</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instanceof</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4</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      Pet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 =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5</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&amp;&amp;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6</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7</a:t>
            </a:r>
            <a:r>
              <a:rPr lang="en">
                <a:solidFill>
                  <a:srgbClr val="000000"/>
                </a:solidFill>
                <a:latin typeface="Consolas"/>
                <a:ea typeface="Consolas"/>
                <a:cs typeface="Consolas"/>
                <a:sym typeface="Consolas"/>
              </a:rPr>
              <a:t>     } </a:t>
            </a:r>
            <a:r>
              <a:rPr lang="en">
                <a:solidFill>
                  <a:srgbClr val="AF00DB"/>
                </a:solidFill>
                <a:latin typeface="Consolas"/>
                <a:ea typeface="Consolas"/>
                <a:cs typeface="Consolas"/>
                <a:sym typeface="Consolas"/>
              </a:rPr>
              <a:t>else</a:t>
            </a:r>
            <a:r>
              <a:rPr lang="en">
                <a:solidFill>
                  <a:srgbClr val="000000"/>
                </a:solidFill>
                <a:latin typeface="Consolas"/>
                <a:ea typeface="Consolas"/>
                <a:cs typeface="Consolas"/>
                <a:sym typeface="Consolas"/>
              </a:rPr>
              <a:t> {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8</a:t>
            </a: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false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9</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98658"/>
                </a:solidFill>
                <a:latin typeface="Consolas"/>
                <a:ea typeface="Consolas"/>
                <a:cs typeface="Consolas"/>
                <a:sym typeface="Consolas"/>
              </a:rPr>
              <a:t>10</a:t>
            </a:r>
            <a:r>
              <a:rPr lang="en">
                <a:solidFill>
                  <a:srgbClr val="000000"/>
                </a:solidFill>
                <a:latin typeface="Consolas"/>
                <a:ea typeface="Consolas"/>
                <a:cs typeface="Consolas"/>
                <a:sym typeface="Consolas"/>
              </a:rPr>
              <a:t> }</a:t>
            </a:r>
            <a:endParaRPr sz="1400">
              <a:solidFill>
                <a:srgbClr val="000000"/>
              </a:solidFill>
              <a:highlight>
                <a:schemeClr val="lt1"/>
              </a:highlight>
              <a:latin typeface="Consolas"/>
              <a:ea typeface="Consolas"/>
              <a:cs typeface="Consolas"/>
              <a:sym typeface="Consolas"/>
            </a:endParaRPr>
          </a:p>
        </p:txBody>
      </p:sp>
      <p:sp>
        <p:nvSpPr>
          <p:cNvPr id="631" name="Google Shape;631;p78"/>
          <p:cNvSpPr txBox="1">
            <a:spLocks noGrp="1"/>
          </p:cNvSpPr>
          <p:nvPr>
            <p:ph type="body" idx="3"/>
          </p:nvPr>
        </p:nvSpPr>
        <p:spPr>
          <a:xfrm>
            <a:off x="311725" y="389497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Remember that </a:t>
            </a:r>
            <a:r>
              <a:rPr lang="en" sz="1200" dirty="0">
                <a:highlight>
                  <a:srgbClr val="FFFF00"/>
                </a:highlight>
              </a:rPr>
              <a:t>two instances of the same class can directly access each other's private fields without using an accessor.</a:t>
            </a:r>
            <a:endParaRPr sz="1200" dirty="0">
              <a:highlight>
                <a:srgbClr val="FFFF00"/>
              </a:highlight>
            </a:endParaRPr>
          </a:p>
        </p:txBody>
      </p:sp>
      <p:grpSp>
        <p:nvGrpSpPr>
          <p:cNvPr id="632" name="Google Shape;632;p78"/>
          <p:cNvGrpSpPr/>
          <p:nvPr/>
        </p:nvGrpSpPr>
        <p:grpSpPr>
          <a:xfrm>
            <a:off x="1167950" y="2313450"/>
            <a:ext cx="2710200" cy="1572300"/>
            <a:chOff x="1167950" y="2313450"/>
            <a:chExt cx="2710200" cy="1572300"/>
          </a:xfrm>
        </p:grpSpPr>
        <p:sp>
          <p:nvSpPr>
            <p:cNvPr id="633" name="Google Shape;633;p78"/>
            <p:cNvSpPr/>
            <p:nvPr/>
          </p:nvSpPr>
          <p:spPr>
            <a:xfrm>
              <a:off x="1167950" y="2313450"/>
              <a:ext cx="2710200" cy="486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34" name="Google Shape;634;p78"/>
            <p:cNvCxnSpPr>
              <a:stCxn id="633" idx="2"/>
            </p:cNvCxnSpPr>
            <p:nvPr/>
          </p:nvCxnSpPr>
          <p:spPr>
            <a:xfrm>
              <a:off x="2523050" y="2800050"/>
              <a:ext cx="0" cy="1085700"/>
            </a:xfrm>
            <a:prstGeom prst="straightConnector1">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2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2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2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2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2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631"/>
                                        </p:tgtEl>
                                        <p:attrNameLst>
                                          <p:attrName>style.visibility</p:attrName>
                                        </p:attrNameLst>
                                      </p:cBhvr>
                                      <p:to>
                                        <p:strVal val="visible"/>
                                      </p:to>
                                    </p:set>
                                    <p:animEffect transition="in" filter="fade">
                                      <p:cBhvr>
                                        <p:cTn id="55" dur="1000"/>
                                        <p:tgtEl>
                                          <p:spTgt spid="631"/>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632"/>
                                        </p:tgtEl>
                                        <p:attrNameLst>
                                          <p:attrName>style.visibility</p:attrName>
                                        </p:attrNameLst>
                                      </p:cBhvr>
                                      <p:to>
                                        <p:strVal val="visible"/>
                                      </p:to>
                                    </p:set>
                                    <p:animEffect transition="in" filter="fade">
                                      <p:cBhvr>
                                        <p:cTn id="59" dur="1000"/>
                                        <p:tgtEl>
                                          <p:spTgt spid="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79"/>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equals(Object)</a:t>
            </a:r>
            <a:r>
              <a:rPr lang="en"/>
              <a:t> Method</a:t>
            </a:r>
            <a:endParaRPr/>
          </a:p>
        </p:txBody>
      </p:sp>
      <p:sp>
        <p:nvSpPr>
          <p:cNvPr id="640" name="Google Shape;640;p7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sp>
        <p:nvSpPr>
          <p:cNvPr id="641" name="Google Shape;641;p79"/>
          <p:cNvSpPr txBox="1">
            <a:spLocks noGrp="1"/>
          </p:cNvSpPr>
          <p:nvPr>
            <p:ph type="body" idx="4294967295"/>
          </p:nvPr>
        </p:nvSpPr>
        <p:spPr>
          <a:xfrm>
            <a:off x="2718775" y="1584350"/>
            <a:ext cx="3706500" cy="2425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dirty="0">
                <a:solidFill>
                  <a:srgbClr val="098658"/>
                </a:solidFill>
                <a:latin typeface="Consolas"/>
                <a:ea typeface="Consolas"/>
                <a:cs typeface="Consolas"/>
                <a:sym typeface="Consolas"/>
              </a:rPr>
              <a:t>1</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Override</a:t>
            </a:r>
            <a:endParaRPr dirty="0">
              <a:solidFill>
                <a:srgbClr val="0000FF"/>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2</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public</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boolean</a:t>
            </a:r>
            <a:r>
              <a:rPr lang="en" dirty="0">
                <a:solidFill>
                  <a:srgbClr val="000000"/>
                </a:solidFill>
                <a:latin typeface="Consolas"/>
                <a:ea typeface="Consolas"/>
                <a:cs typeface="Consolas"/>
                <a:sym typeface="Consolas"/>
              </a:rPr>
              <a:t> </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267F99"/>
                </a:solidFill>
                <a:latin typeface="Consolas"/>
                <a:ea typeface="Consolas"/>
                <a:cs typeface="Consolas"/>
                <a:sym typeface="Consolas"/>
              </a:rPr>
              <a:t>Object</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3</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if</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instanceof</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Pet</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4</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      Pet</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 = (</a:t>
            </a:r>
            <a:r>
              <a:rPr lang="en" dirty="0">
                <a:solidFill>
                  <a:srgbClr val="267F99"/>
                </a:solidFill>
                <a:latin typeface="Consolas"/>
                <a:ea typeface="Consolas"/>
                <a:cs typeface="Consolas"/>
                <a:sym typeface="Consolas"/>
              </a:rPr>
              <a:t>Pet</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5</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 </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&amp;&amp;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6</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7</a:t>
            </a:r>
            <a:r>
              <a:rPr lang="en" dirty="0">
                <a:solidFill>
                  <a:srgbClr val="000000"/>
                </a:solidFill>
                <a:latin typeface="Consolas"/>
                <a:ea typeface="Consolas"/>
                <a:cs typeface="Consolas"/>
                <a:sym typeface="Consolas"/>
              </a:rPr>
              <a:t>     } </a:t>
            </a:r>
            <a:r>
              <a:rPr lang="en" dirty="0">
                <a:solidFill>
                  <a:srgbClr val="AF00DB"/>
                </a:solidFill>
                <a:latin typeface="Consolas"/>
                <a:ea typeface="Consolas"/>
                <a:cs typeface="Consolas"/>
                <a:sym typeface="Consolas"/>
              </a:rPr>
              <a:t>else</a:t>
            </a:r>
            <a:r>
              <a:rPr lang="en" dirty="0">
                <a:solidFill>
                  <a:srgbClr val="000000"/>
                </a:solidFill>
                <a:latin typeface="Consolas"/>
                <a:ea typeface="Consolas"/>
                <a:cs typeface="Consolas"/>
                <a:sym typeface="Consolas"/>
              </a:rPr>
              <a:t> {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8</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false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9</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10</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80"/>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Closer Look at the </a:t>
            </a:r>
            <a:r>
              <a:rPr lang="en">
                <a:latin typeface="Courier New"/>
                <a:ea typeface="Courier New"/>
                <a:cs typeface="Courier New"/>
                <a:sym typeface="Courier New"/>
              </a:rPr>
              <a:t>equals(Object)</a:t>
            </a:r>
            <a:r>
              <a:rPr lang="en"/>
              <a:t> Method</a:t>
            </a:r>
            <a:endParaRPr/>
          </a:p>
        </p:txBody>
      </p:sp>
      <p:sp>
        <p:nvSpPr>
          <p:cNvPr id="647" name="Google Shape;647;p8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sp>
        <p:nvSpPr>
          <p:cNvPr id="648" name="Google Shape;648;p80"/>
          <p:cNvSpPr txBox="1">
            <a:spLocks noGrp="1"/>
          </p:cNvSpPr>
          <p:nvPr>
            <p:ph type="body" idx="4294967295"/>
          </p:nvPr>
        </p:nvSpPr>
        <p:spPr>
          <a:xfrm>
            <a:off x="2718775" y="1584350"/>
            <a:ext cx="3706500" cy="24258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dirty="0">
                <a:solidFill>
                  <a:srgbClr val="098658"/>
                </a:solidFill>
                <a:latin typeface="Consolas"/>
                <a:ea typeface="Consolas"/>
                <a:cs typeface="Consolas"/>
                <a:sym typeface="Consolas"/>
              </a:rPr>
              <a:t>1</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Override</a:t>
            </a:r>
            <a:endParaRPr dirty="0">
              <a:solidFill>
                <a:srgbClr val="0000FF"/>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2</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public</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boolean</a:t>
            </a:r>
            <a:r>
              <a:rPr lang="en" dirty="0">
                <a:solidFill>
                  <a:srgbClr val="000000"/>
                </a:solidFill>
                <a:latin typeface="Consolas"/>
                <a:ea typeface="Consolas"/>
                <a:cs typeface="Consolas"/>
                <a:sym typeface="Consolas"/>
              </a:rPr>
              <a:t> </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267F99"/>
                </a:solidFill>
                <a:latin typeface="Consolas"/>
                <a:ea typeface="Consolas"/>
                <a:cs typeface="Consolas"/>
                <a:sym typeface="Consolas"/>
              </a:rPr>
              <a:t>Object</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3</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if</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instanceof</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Pet</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4</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      Pet</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 = (</a:t>
            </a:r>
            <a:r>
              <a:rPr lang="en" dirty="0">
                <a:solidFill>
                  <a:srgbClr val="267F99"/>
                </a:solidFill>
                <a:latin typeface="Consolas"/>
                <a:ea typeface="Consolas"/>
                <a:cs typeface="Consolas"/>
                <a:sym typeface="Consolas"/>
              </a:rPr>
              <a:t>Pet</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5</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 </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&amp;&amp;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6</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7</a:t>
            </a:r>
            <a:r>
              <a:rPr lang="en" dirty="0">
                <a:solidFill>
                  <a:srgbClr val="000000"/>
                </a:solidFill>
                <a:latin typeface="Consolas"/>
                <a:ea typeface="Consolas"/>
                <a:cs typeface="Consolas"/>
                <a:sym typeface="Consolas"/>
              </a:rPr>
              <a:t>     } </a:t>
            </a:r>
            <a:r>
              <a:rPr lang="en" dirty="0">
                <a:solidFill>
                  <a:srgbClr val="AF00DB"/>
                </a:solidFill>
                <a:latin typeface="Consolas"/>
                <a:ea typeface="Consolas"/>
                <a:cs typeface="Consolas"/>
                <a:sym typeface="Consolas"/>
              </a:rPr>
              <a:t>else</a:t>
            </a:r>
            <a:r>
              <a:rPr lang="en" dirty="0">
                <a:solidFill>
                  <a:srgbClr val="000000"/>
                </a:solidFill>
                <a:latin typeface="Consolas"/>
                <a:ea typeface="Consolas"/>
                <a:cs typeface="Consolas"/>
                <a:sym typeface="Consolas"/>
              </a:rPr>
              <a:t> {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8</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false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9</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dirty="0">
                <a:solidFill>
                  <a:srgbClr val="098658"/>
                </a:solidFill>
                <a:latin typeface="Consolas"/>
                <a:ea typeface="Consolas"/>
                <a:cs typeface="Consolas"/>
                <a:sym typeface="Consolas"/>
              </a:rPr>
              <a:t>10</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p:txBody>
      </p:sp>
      <p:sp>
        <p:nvSpPr>
          <p:cNvPr id="649" name="Google Shape;649;p80"/>
          <p:cNvSpPr/>
          <p:nvPr/>
        </p:nvSpPr>
        <p:spPr>
          <a:xfrm>
            <a:off x="2418275" y="1481923"/>
            <a:ext cx="950825" cy="232586"/>
          </a:xfrm>
          <a:custGeom>
            <a:avLst/>
            <a:gdLst/>
            <a:ahLst/>
            <a:cxnLst/>
            <a:rect l="l" t="t" r="r" b="b"/>
            <a:pathLst>
              <a:path w="38033" h="12298" extrusionOk="0">
                <a:moveTo>
                  <a:pt x="0" y="3613"/>
                </a:moveTo>
                <a:cubicBezTo>
                  <a:pt x="5141" y="3064"/>
                  <a:pt x="24507" y="-1128"/>
                  <a:pt x="30846" y="319"/>
                </a:cubicBezTo>
                <a:cubicBezTo>
                  <a:pt x="37185" y="1767"/>
                  <a:pt x="36835" y="10302"/>
                  <a:pt x="38033" y="12298"/>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0" name="Google Shape;650;p80"/>
          <p:cNvSpPr txBox="1">
            <a:spLocks noGrp="1"/>
          </p:cNvSpPr>
          <p:nvPr>
            <p:ph type="body" idx="4294967295"/>
          </p:nvPr>
        </p:nvSpPr>
        <p:spPr>
          <a:xfrm>
            <a:off x="98300" y="1506675"/>
            <a:ext cx="24846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a:solidFill>
                  <a:srgbClr val="000000"/>
                </a:solidFill>
                <a:latin typeface="Arial"/>
                <a:ea typeface="Arial"/>
                <a:cs typeface="Arial"/>
                <a:sym typeface="Arial"/>
              </a:rPr>
              <a:t>The </a:t>
            </a:r>
            <a:r>
              <a:rPr lang="en" sz="1200">
                <a:solidFill>
                  <a:srgbClr val="FF0000"/>
                </a:solidFill>
                <a:latin typeface="Courier New"/>
                <a:ea typeface="Courier New"/>
                <a:cs typeface="Courier New"/>
                <a:sym typeface="Courier New"/>
              </a:rPr>
              <a:t>@Override</a:t>
            </a:r>
            <a:r>
              <a:rPr lang="en" sz="1200">
                <a:solidFill>
                  <a:srgbClr val="000000"/>
                </a:solidFill>
                <a:latin typeface="Arial"/>
                <a:ea typeface="Arial"/>
                <a:cs typeface="Arial"/>
                <a:sym typeface="Arial"/>
              </a:rPr>
              <a:t> annotation is not required, but is recommended.</a:t>
            </a:r>
            <a:endParaRPr sz="1200">
              <a:solidFill>
                <a:srgbClr val="000000"/>
              </a:solidFill>
              <a:latin typeface="Arial"/>
              <a:ea typeface="Arial"/>
              <a:cs typeface="Arial"/>
              <a:sym typeface="Arial"/>
            </a:endParaRPr>
          </a:p>
        </p:txBody>
      </p:sp>
      <p:sp>
        <p:nvSpPr>
          <p:cNvPr id="651" name="Google Shape;651;p80"/>
          <p:cNvSpPr/>
          <p:nvPr/>
        </p:nvSpPr>
        <p:spPr>
          <a:xfrm>
            <a:off x="5338150" y="2222275"/>
            <a:ext cx="1355097" cy="183125"/>
          </a:xfrm>
          <a:custGeom>
            <a:avLst/>
            <a:gdLst/>
            <a:ahLst/>
            <a:cxnLst/>
            <a:rect l="l" t="t" r="r" b="b"/>
            <a:pathLst>
              <a:path w="61393" h="7325" extrusionOk="0">
                <a:moveTo>
                  <a:pt x="61393" y="3294"/>
                </a:moveTo>
                <a:cubicBezTo>
                  <a:pt x="57699" y="3943"/>
                  <a:pt x="49463" y="7737"/>
                  <a:pt x="39231" y="7188"/>
                </a:cubicBezTo>
                <a:cubicBezTo>
                  <a:pt x="28999" y="6639"/>
                  <a:pt x="6539" y="1198"/>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2" name="Google Shape;652;p80"/>
          <p:cNvSpPr txBox="1">
            <a:spLocks noGrp="1"/>
          </p:cNvSpPr>
          <p:nvPr>
            <p:ph type="body" idx="4294967295"/>
          </p:nvPr>
        </p:nvSpPr>
        <p:spPr>
          <a:xfrm>
            <a:off x="6536550" y="1506675"/>
            <a:ext cx="24846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b="1" i="1" dirty="0">
                <a:solidFill>
                  <a:srgbClr val="FF0000"/>
                </a:solidFill>
                <a:latin typeface="Arial"/>
                <a:ea typeface="Arial"/>
                <a:cs typeface="Arial"/>
                <a:sym typeface="Arial"/>
              </a:rPr>
              <a:t>Any </a:t>
            </a:r>
            <a:r>
              <a:rPr lang="en" sz="1200" dirty="0">
                <a:solidFill>
                  <a:srgbClr val="000000"/>
                </a:solidFill>
                <a:latin typeface="Arial"/>
                <a:ea typeface="Arial"/>
                <a:cs typeface="Arial"/>
                <a:sym typeface="Arial"/>
              </a:rPr>
              <a:t>kind of Java object may be passed into the method, so it is important that we make sure it is the right type using </a:t>
            </a:r>
            <a:r>
              <a:rPr lang="en" sz="1200" dirty="0">
                <a:solidFill>
                  <a:srgbClr val="FF0000"/>
                </a:solidFill>
                <a:latin typeface="Courier New"/>
                <a:ea typeface="Courier New"/>
                <a:cs typeface="Courier New"/>
                <a:sym typeface="Courier New"/>
              </a:rPr>
              <a:t>instanceof</a:t>
            </a:r>
            <a:r>
              <a:rPr lang="en" sz="1200" dirty="0">
                <a:solidFill>
                  <a:srgbClr val="000000"/>
                </a:solidFill>
                <a:latin typeface="Arial"/>
                <a:ea typeface="Arial"/>
                <a:cs typeface="Arial"/>
                <a:sym typeface="Arial"/>
              </a:rPr>
              <a:t>.</a:t>
            </a:r>
            <a:endParaRPr sz="1200" dirty="0">
              <a:solidFill>
                <a:srgbClr val="000000"/>
              </a:solidFill>
              <a:latin typeface="Arial"/>
              <a:ea typeface="Arial"/>
              <a:cs typeface="Arial"/>
              <a:sym typeface="Arial"/>
            </a:endParaRPr>
          </a:p>
        </p:txBody>
      </p:sp>
      <p:sp>
        <p:nvSpPr>
          <p:cNvPr id="653" name="Google Shape;653;p80"/>
          <p:cNvSpPr/>
          <p:nvPr/>
        </p:nvSpPr>
        <p:spPr>
          <a:xfrm>
            <a:off x="2470675" y="2508100"/>
            <a:ext cx="1123025" cy="381850"/>
          </a:xfrm>
          <a:custGeom>
            <a:avLst/>
            <a:gdLst/>
            <a:ahLst/>
            <a:cxnLst/>
            <a:rect l="l" t="t" r="r" b="b"/>
            <a:pathLst>
              <a:path w="44921" h="15274" extrusionOk="0">
                <a:moveTo>
                  <a:pt x="0" y="15274"/>
                </a:moveTo>
                <a:cubicBezTo>
                  <a:pt x="2695" y="13278"/>
                  <a:pt x="8685" y="5841"/>
                  <a:pt x="16172" y="3295"/>
                </a:cubicBezTo>
                <a:cubicBezTo>
                  <a:pt x="23659" y="749"/>
                  <a:pt x="40130" y="549"/>
                  <a:pt x="44921"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4" name="Google Shape;654;p80"/>
          <p:cNvSpPr txBox="1">
            <a:spLocks noGrp="1"/>
          </p:cNvSpPr>
          <p:nvPr>
            <p:ph type="body" idx="4294967295"/>
          </p:nvPr>
        </p:nvSpPr>
        <p:spPr>
          <a:xfrm>
            <a:off x="98300" y="2266950"/>
            <a:ext cx="24846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latin typeface="Arial"/>
                <a:ea typeface="Arial"/>
                <a:cs typeface="Arial"/>
                <a:sym typeface="Arial"/>
              </a:rPr>
              <a:t>Not all objects have an </a:t>
            </a:r>
            <a:r>
              <a:rPr lang="en" sz="1200" dirty="0">
                <a:solidFill>
                  <a:srgbClr val="000000"/>
                </a:solidFill>
                <a:latin typeface="Courier New"/>
                <a:ea typeface="Courier New"/>
                <a:cs typeface="Courier New"/>
                <a:sym typeface="Courier New"/>
              </a:rPr>
              <a:t>age</a:t>
            </a:r>
            <a:r>
              <a:rPr lang="en" sz="1200" dirty="0">
                <a:solidFill>
                  <a:srgbClr val="000000"/>
                </a:solidFill>
                <a:latin typeface="Arial"/>
                <a:ea typeface="Arial"/>
                <a:cs typeface="Arial"/>
                <a:sym typeface="Arial"/>
              </a:rPr>
              <a:t> or a </a:t>
            </a:r>
            <a:r>
              <a:rPr lang="en" sz="1200" dirty="0">
                <a:solidFill>
                  <a:srgbClr val="000000"/>
                </a:solidFill>
                <a:latin typeface="Courier New"/>
                <a:ea typeface="Courier New"/>
                <a:cs typeface="Courier New"/>
                <a:sym typeface="Courier New"/>
              </a:rPr>
              <a:t>name</a:t>
            </a:r>
            <a:r>
              <a:rPr lang="en" sz="1200" dirty="0">
                <a:solidFill>
                  <a:srgbClr val="000000"/>
                </a:solidFill>
                <a:latin typeface="Arial"/>
                <a:ea typeface="Arial"/>
                <a:cs typeface="Arial"/>
                <a:sym typeface="Arial"/>
              </a:rPr>
              <a:t> like </a:t>
            </a:r>
            <a:r>
              <a:rPr lang="en" sz="1200" dirty="0">
                <a:solidFill>
                  <a:srgbClr val="000000"/>
                </a:solidFill>
                <a:latin typeface="Courier New"/>
                <a:ea typeface="Courier New"/>
                <a:cs typeface="Courier New"/>
                <a:sym typeface="Courier New"/>
              </a:rPr>
              <a:t>Pet</a:t>
            </a:r>
            <a:r>
              <a:rPr lang="en" sz="1200" dirty="0">
                <a:solidFill>
                  <a:srgbClr val="000000"/>
                </a:solidFill>
                <a:latin typeface="Arial"/>
                <a:ea typeface="Arial"/>
                <a:cs typeface="Arial"/>
                <a:sym typeface="Arial"/>
              </a:rPr>
              <a:t>s do. In order to access those fields, we will need to </a:t>
            </a:r>
            <a:r>
              <a:rPr lang="en" sz="1200" b="1" i="1" dirty="0">
                <a:solidFill>
                  <a:srgbClr val="FF0000"/>
                </a:solidFill>
                <a:latin typeface="Arial"/>
                <a:ea typeface="Arial"/>
                <a:cs typeface="Arial"/>
                <a:sym typeface="Arial"/>
              </a:rPr>
              <a:t>cast</a:t>
            </a:r>
            <a:r>
              <a:rPr lang="en" sz="1200" dirty="0">
                <a:solidFill>
                  <a:srgbClr val="FF0000"/>
                </a:solidFill>
                <a:latin typeface="Arial"/>
                <a:ea typeface="Arial"/>
                <a:cs typeface="Arial"/>
                <a:sym typeface="Arial"/>
              </a:rPr>
              <a:t> </a:t>
            </a:r>
            <a:r>
              <a:rPr lang="en" sz="1200" dirty="0">
                <a:solidFill>
                  <a:srgbClr val="000000"/>
                </a:solidFill>
                <a:latin typeface="Courier New"/>
                <a:ea typeface="Courier New"/>
                <a:cs typeface="Courier New"/>
                <a:sym typeface="Courier New"/>
              </a:rPr>
              <a:t>obj</a:t>
            </a:r>
            <a:r>
              <a:rPr lang="en" sz="1200" dirty="0">
                <a:solidFill>
                  <a:srgbClr val="000000"/>
                </a:solidFill>
                <a:latin typeface="Arial"/>
                <a:ea typeface="Arial"/>
                <a:cs typeface="Arial"/>
                <a:sym typeface="Arial"/>
              </a:rPr>
              <a:t> into a </a:t>
            </a:r>
            <a:r>
              <a:rPr lang="en" sz="1200" dirty="0">
                <a:solidFill>
                  <a:srgbClr val="000000"/>
                </a:solidFill>
                <a:latin typeface="Courier New"/>
                <a:ea typeface="Courier New"/>
                <a:cs typeface="Courier New"/>
                <a:sym typeface="Courier New"/>
              </a:rPr>
              <a:t>Pet</a:t>
            </a:r>
            <a:r>
              <a:rPr lang="en" sz="1200" dirty="0">
                <a:solidFill>
                  <a:srgbClr val="000000"/>
                </a:solidFill>
                <a:latin typeface="Arial"/>
                <a:ea typeface="Arial"/>
                <a:cs typeface="Arial"/>
                <a:sym typeface="Arial"/>
              </a:rPr>
              <a:t> variable, e.g. </a:t>
            </a:r>
            <a:r>
              <a:rPr lang="en" sz="1200" dirty="0">
                <a:solidFill>
                  <a:srgbClr val="FF0000"/>
                </a:solidFill>
                <a:latin typeface="Courier New"/>
                <a:ea typeface="Courier New"/>
                <a:cs typeface="Courier New"/>
                <a:sym typeface="Courier New"/>
              </a:rPr>
              <a:t>Pet other = (Pet)obj;</a:t>
            </a:r>
            <a:endParaRPr sz="1200" dirty="0">
              <a:solidFill>
                <a:srgbClr val="FF0000"/>
              </a:solidFill>
              <a:latin typeface="Courier New"/>
              <a:ea typeface="Courier New"/>
              <a:cs typeface="Courier New"/>
              <a:sym typeface="Courier New"/>
            </a:endParaRPr>
          </a:p>
        </p:txBody>
      </p:sp>
      <p:sp>
        <p:nvSpPr>
          <p:cNvPr id="655" name="Google Shape;655;p80"/>
          <p:cNvSpPr/>
          <p:nvPr/>
        </p:nvSpPr>
        <p:spPr>
          <a:xfrm>
            <a:off x="5585701" y="2069875"/>
            <a:ext cx="950824" cy="183125"/>
          </a:xfrm>
          <a:custGeom>
            <a:avLst/>
            <a:gdLst/>
            <a:ahLst/>
            <a:cxnLst/>
            <a:rect l="l" t="t" r="r" b="b"/>
            <a:pathLst>
              <a:path w="61393" h="7325" extrusionOk="0">
                <a:moveTo>
                  <a:pt x="61393" y="3294"/>
                </a:moveTo>
                <a:cubicBezTo>
                  <a:pt x="57699" y="3943"/>
                  <a:pt x="49463" y="7737"/>
                  <a:pt x="39231" y="7188"/>
                </a:cubicBezTo>
                <a:cubicBezTo>
                  <a:pt x="28999" y="6639"/>
                  <a:pt x="6539" y="1198"/>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6" name="Google Shape;656;p80"/>
          <p:cNvSpPr/>
          <p:nvPr/>
        </p:nvSpPr>
        <p:spPr>
          <a:xfrm>
            <a:off x="5532812" y="2963475"/>
            <a:ext cx="1070635" cy="421100"/>
          </a:xfrm>
          <a:custGeom>
            <a:avLst/>
            <a:gdLst/>
            <a:ahLst/>
            <a:cxnLst/>
            <a:rect l="l" t="t" r="r" b="b"/>
            <a:pathLst>
              <a:path w="48815" h="16844" extrusionOk="0">
                <a:moveTo>
                  <a:pt x="48815" y="11380"/>
                </a:moveTo>
                <a:cubicBezTo>
                  <a:pt x="45571" y="12229"/>
                  <a:pt x="37485" y="18368"/>
                  <a:pt x="29349" y="16471"/>
                </a:cubicBezTo>
                <a:cubicBezTo>
                  <a:pt x="21213" y="14574"/>
                  <a:pt x="4892" y="2745"/>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7" name="Google Shape;657;p80"/>
          <p:cNvSpPr txBox="1">
            <a:spLocks noGrp="1"/>
          </p:cNvSpPr>
          <p:nvPr>
            <p:ph type="body" idx="4294967295"/>
          </p:nvPr>
        </p:nvSpPr>
        <p:spPr>
          <a:xfrm>
            <a:off x="6536550" y="2701675"/>
            <a:ext cx="2484600" cy="11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latin typeface="Arial"/>
                <a:ea typeface="Arial"/>
                <a:cs typeface="Arial"/>
                <a:sym typeface="Arial"/>
              </a:rPr>
              <a:t>The </a:t>
            </a:r>
            <a:r>
              <a:rPr lang="en" sz="1200" dirty="0">
                <a:solidFill>
                  <a:srgbClr val="000000"/>
                </a:solidFill>
                <a:latin typeface="Courier New"/>
                <a:ea typeface="Courier New"/>
                <a:cs typeface="Courier New"/>
                <a:sym typeface="Courier New"/>
              </a:rPr>
              <a:t>==</a:t>
            </a:r>
            <a:r>
              <a:rPr lang="en" sz="1200" dirty="0">
                <a:solidFill>
                  <a:srgbClr val="000000"/>
                </a:solidFill>
                <a:latin typeface="Arial"/>
                <a:ea typeface="Arial"/>
                <a:cs typeface="Arial"/>
                <a:sym typeface="Arial"/>
              </a:rPr>
              <a:t> operator should be used when comparing primitive values, and </a:t>
            </a:r>
            <a:r>
              <a:rPr lang="en" sz="1200" dirty="0">
                <a:solidFill>
                  <a:srgbClr val="000000"/>
                </a:solidFill>
                <a:latin typeface="Courier New"/>
                <a:ea typeface="Courier New"/>
                <a:cs typeface="Courier New"/>
                <a:sym typeface="Courier New"/>
              </a:rPr>
              <a:t>equals(Object)</a:t>
            </a:r>
            <a:r>
              <a:rPr lang="en" sz="1200" dirty="0">
                <a:solidFill>
                  <a:srgbClr val="000000"/>
                </a:solidFill>
                <a:latin typeface="Arial"/>
                <a:ea typeface="Arial"/>
                <a:cs typeface="Arial"/>
                <a:sym typeface="Arial"/>
              </a:rPr>
              <a:t> should be used to compare reference types like strings.</a:t>
            </a:r>
            <a:endParaRPr sz="1200" dirty="0">
              <a:solidFill>
                <a:srgbClr val="FF0000"/>
              </a:solidFill>
              <a:latin typeface="Courier New"/>
              <a:ea typeface="Courier New"/>
              <a:cs typeface="Courier New"/>
              <a:sym typeface="Courier New"/>
            </a:endParaRPr>
          </a:p>
        </p:txBody>
      </p:sp>
      <p:sp>
        <p:nvSpPr>
          <p:cNvPr id="658" name="Google Shape;658;p80"/>
          <p:cNvSpPr/>
          <p:nvPr/>
        </p:nvSpPr>
        <p:spPr>
          <a:xfrm>
            <a:off x="2515600" y="3321900"/>
            <a:ext cx="995796" cy="623715"/>
          </a:xfrm>
          <a:custGeom>
            <a:avLst/>
            <a:gdLst/>
            <a:ahLst/>
            <a:cxnLst/>
            <a:rect l="l" t="t" r="r" b="b"/>
            <a:pathLst>
              <a:path w="38333" h="30593" extrusionOk="0">
                <a:moveTo>
                  <a:pt x="0" y="30593"/>
                </a:moveTo>
                <a:cubicBezTo>
                  <a:pt x="3993" y="25951"/>
                  <a:pt x="17569" y="7683"/>
                  <a:pt x="23958" y="2742"/>
                </a:cubicBezTo>
                <a:cubicBezTo>
                  <a:pt x="30347" y="-2199"/>
                  <a:pt x="35937" y="1245"/>
                  <a:pt x="38333" y="94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659" name="Google Shape;659;p80"/>
          <p:cNvSpPr txBox="1">
            <a:spLocks noGrp="1"/>
          </p:cNvSpPr>
          <p:nvPr>
            <p:ph type="body" idx="4294967295"/>
          </p:nvPr>
        </p:nvSpPr>
        <p:spPr>
          <a:xfrm>
            <a:off x="98300" y="3555025"/>
            <a:ext cx="24846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latin typeface="Arial"/>
                <a:ea typeface="Arial"/>
                <a:cs typeface="Arial"/>
                <a:sym typeface="Arial"/>
              </a:rPr>
              <a:t>If the </a:t>
            </a:r>
            <a:r>
              <a:rPr lang="en" sz="1200" dirty="0">
                <a:solidFill>
                  <a:srgbClr val="000000"/>
                </a:solidFill>
                <a:latin typeface="Courier New"/>
                <a:ea typeface="Courier New"/>
                <a:cs typeface="Courier New"/>
                <a:sym typeface="Courier New"/>
              </a:rPr>
              <a:t>Object</a:t>
            </a:r>
            <a:r>
              <a:rPr lang="en" sz="1200" dirty="0">
                <a:solidFill>
                  <a:srgbClr val="000000"/>
                </a:solidFill>
                <a:latin typeface="Arial"/>
                <a:ea typeface="Arial"/>
                <a:cs typeface="Arial"/>
                <a:sym typeface="Arial"/>
              </a:rPr>
              <a:t> parameter is not an instance of the correct class, return </a:t>
            </a:r>
            <a:r>
              <a:rPr lang="en" sz="1200" dirty="0">
                <a:solidFill>
                  <a:srgbClr val="000000"/>
                </a:solidFill>
                <a:latin typeface="Courier New"/>
                <a:ea typeface="Courier New"/>
                <a:cs typeface="Courier New"/>
                <a:sym typeface="Courier New"/>
              </a:rPr>
              <a:t>false</a:t>
            </a:r>
            <a:r>
              <a:rPr lang="en" sz="1200" dirty="0">
                <a:solidFill>
                  <a:srgbClr val="000000"/>
                </a:solidFill>
                <a:latin typeface="Arial"/>
                <a:ea typeface="Arial"/>
                <a:cs typeface="Arial"/>
                <a:sym typeface="Arial"/>
              </a:rPr>
              <a:t>.</a:t>
            </a:r>
            <a:endParaRPr sz="1200" dirty="0">
              <a:solidFill>
                <a:srgbClr val="FF0000"/>
              </a:solidFill>
              <a:latin typeface="Courier New"/>
              <a:ea typeface="Courier New"/>
              <a:cs typeface="Courier New"/>
              <a:sym typeface="Courier New"/>
            </a:endParaRPr>
          </a:p>
        </p:txBody>
      </p:sp>
      <p:sp>
        <p:nvSpPr>
          <p:cNvPr id="660" name="Google Shape;660;p80"/>
          <p:cNvSpPr txBox="1">
            <a:spLocks noGrp="1"/>
          </p:cNvSpPr>
          <p:nvPr>
            <p:ph type="body" idx="4294967295"/>
          </p:nvPr>
        </p:nvSpPr>
        <p:spPr>
          <a:xfrm>
            <a:off x="2718775" y="4085275"/>
            <a:ext cx="37065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dirty="0">
                <a:solidFill>
                  <a:srgbClr val="000000"/>
                </a:solidFill>
                <a:latin typeface="Arial"/>
                <a:ea typeface="Arial"/>
                <a:cs typeface="Arial"/>
                <a:sym typeface="Arial"/>
              </a:rPr>
              <a:t>It is up to the programmer to decide what it means for two instances to be equal to each other. In this case, two </a:t>
            </a:r>
            <a:r>
              <a:rPr lang="en" sz="1200" dirty="0">
                <a:solidFill>
                  <a:srgbClr val="000000"/>
                </a:solidFill>
                <a:latin typeface="Courier New"/>
                <a:ea typeface="Courier New"/>
                <a:cs typeface="Courier New"/>
                <a:sym typeface="Courier New"/>
              </a:rPr>
              <a:t>Pet</a:t>
            </a:r>
            <a:r>
              <a:rPr lang="en" sz="1200" dirty="0">
                <a:solidFill>
                  <a:srgbClr val="000000"/>
                </a:solidFill>
                <a:latin typeface="Arial"/>
                <a:ea typeface="Arial"/>
                <a:cs typeface="Arial"/>
                <a:sym typeface="Arial"/>
              </a:rPr>
              <a:t>s are equal if they have the same values for </a:t>
            </a:r>
            <a:r>
              <a:rPr lang="en" sz="1200" dirty="0">
                <a:solidFill>
                  <a:srgbClr val="000000"/>
                </a:solidFill>
                <a:latin typeface="Courier New"/>
                <a:ea typeface="Courier New"/>
                <a:cs typeface="Courier New"/>
                <a:sym typeface="Courier New"/>
              </a:rPr>
              <a:t>age</a:t>
            </a:r>
            <a:r>
              <a:rPr lang="en" sz="1200" dirty="0">
                <a:solidFill>
                  <a:srgbClr val="000000"/>
                </a:solidFill>
                <a:latin typeface="Arial"/>
                <a:ea typeface="Arial"/>
                <a:cs typeface="Arial"/>
                <a:sym typeface="Arial"/>
              </a:rPr>
              <a:t> and </a:t>
            </a:r>
            <a:r>
              <a:rPr lang="en" sz="1200" dirty="0">
                <a:solidFill>
                  <a:srgbClr val="000000"/>
                </a:solidFill>
                <a:latin typeface="Courier New"/>
                <a:ea typeface="Courier New"/>
                <a:cs typeface="Courier New"/>
                <a:sym typeface="Courier New"/>
              </a:rPr>
              <a:t>name</a:t>
            </a:r>
            <a:r>
              <a:rPr lang="en" sz="1200" dirty="0">
                <a:solidFill>
                  <a:srgbClr val="000000"/>
                </a:solidFill>
                <a:latin typeface="Arial"/>
                <a:ea typeface="Arial"/>
                <a:cs typeface="Arial"/>
                <a:sym typeface="Arial"/>
              </a:rPr>
              <a:t>.</a:t>
            </a:r>
            <a:endParaRPr sz="1200" dirty="0">
              <a:solidFill>
                <a:srgbClr val="FF0000"/>
              </a:solidFill>
              <a:latin typeface="Courier New"/>
              <a:ea typeface="Courier New"/>
              <a:cs typeface="Courier New"/>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50"/>
                                        </p:tgtEl>
                                        <p:attrNameLst>
                                          <p:attrName>style.visibility</p:attrName>
                                        </p:attrNameLst>
                                      </p:cBhvr>
                                      <p:to>
                                        <p:strVal val="visible"/>
                                      </p:to>
                                    </p:set>
                                    <p:animEffect transition="in" filter="fade">
                                      <p:cBhvr>
                                        <p:cTn id="7" dur="1000"/>
                                        <p:tgtEl>
                                          <p:spTgt spid="65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649"/>
                                        </p:tgtEl>
                                        <p:attrNameLst>
                                          <p:attrName>style.visibility</p:attrName>
                                        </p:attrNameLst>
                                      </p:cBhvr>
                                      <p:to>
                                        <p:strVal val="visible"/>
                                      </p:to>
                                    </p:set>
                                    <p:animEffect transition="in" filter="fade">
                                      <p:cBhvr>
                                        <p:cTn id="11" dur="1000"/>
                                        <p:tgtEl>
                                          <p:spTgt spid="64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52"/>
                                        </p:tgtEl>
                                        <p:attrNameLst>
                                          <p:attrName>style.visibility</p:attrName>
                                        </p:attrNameLst>
                                      </p:cBhvr>
                                      <p:to>
                                        <p:strVal val="visible"/>
                                      </p:to>
                                    </p:set>
                                    <p:animEffect transition="in" filter="fade">
                                      <p:cBhvr>
                                        <p:cTn id="16" dur="1000"/>
                                        <p:tgtEl>
                                          <p:spTgt spid="652"/>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655"/>
                                        </p:tgtEl>
                                        <p:attrNameLst>
                                          <p:attrName>style.visibility</p:attrName>
                                        </p:attrNameLst>
                                      </p:cBhvr>
                                      <p:to>
                                        <p:strVal val="visible"/>
                                      </p:to>
                                    </p:set>
                                    <p:animEffect transition="in" filter="fade">
                                      <p:cBhvr>
                                        <p:cTn id="20" dur="1000"/>
                                        <p:tgtEl>
                                          <p:spTgt spid="655"/>
                                        </p:tgtEl>
                                      </p:cBhvr>
                                    </p:animEffect>
                                  </p:childTnLst>
                                </p:cTn>
                              </p:par>
                            </p:childTnLst>
                          </p:cTn>
                        </p:par>
                        <p:par>
                          <p:cTn id="21" fill="hold">
                            <p:stCondLst>
                              <p:cond delay="2000"/>
                            </p:stCondLst>
                            <p:childTnLst>
                              <p:par>
                                <p:cTn id="22" presetID="10" presetClass="entr" presetSubtype="0" fill="hold" nodeType="afterEffect">
                                  <p:stCondLst>
                                    <p:cond delay="0"/>
                                  </p:stCondLst>
                                  <p:childTnLst>
                                    <p:set>
                                      <p:cBhvr>
                                        <p:cTn id="23" dur="1" fill="hold">
                                          <p:stCondLst>
                                            <p:cond delay="0"/>
                                          </p:stCondLst>
                                        </p:cTn>
                                        <p:tgtEl>
                                          <p:spTgt spid="651"/>
                                        </p:tgtEl>
                                        <p:attrNameLst>
                                          <p:attrName>style.visibility</p:attrName>
                                        </p:attrNameLst>
                                      </p:cBhvr>
                                      <p:to>
                                        <p:strVal val="visible"/>
                                      </p:to>
                                    </p:set>
                                    <p:animEffect transition="in" filter="fade">
                                      <p:cBhvr>
                                        <p:cTn id="24" dur="1000"/>
                                        <p:tgtEl>
                                          <p:spTgt spid="65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54"/>
                                        </p:tgtEl>
                                        <p:attrNameLst>
                                          <p:attrName>style.visibility</p:attrName>
                                        </p:attrNameLst>
                                      </p:cBhvr>
                                      <p:to>
                                        <p:strVal val="visible"/>
                                      </p:to>
                                    </p:set>
                                    <p:animEffect transition="in" filter="fade">
                                      <p:cBhvr>
                                        <p:cTn id="29" dur="1000"/>
                                        <p:tgtEl>
                                          <p:spTgt spid="654"/>
                                        </p:tgtEl>
                                      </p:cBhvr>
                                    </p:animEffect>
                                  </p:childTnLst>
                                </p:cTn>
                              </p:par>
                            </p:childTnLst>
                          </p:cTn>
                        </p:par>
                        <p:par>
                          <p:cTn id="30" fill="hold">
                            <p:stCondLst>
                              <p:cond delay="1000"/>
                            </p:stCondLst>
                            <p:childTnLst>
                              <p:par>
                                <p:cTn id="31" presetID="10" presetClass="entr" presetSubtype="0" fill="hold" nodeType="afterEffect">
                                  <p:stCondLst>
                                    <p:cond delay="0"/>
                                  </p:stCondLst>
                                  <p:childTnLst>
                                    <p:set>
                                      <p:cBhvr>
                                        <p:cTn id="32" dur="1" fill="hold">
                                          <p:stCondLst>
                                            <p:cond delay="0"/>
                                          </p:stCondLst>
                                        </p:cTn>
                                        <p:tgtEl>
                                          <p:spTgt spid="653"/>
                                        </p:tgtEl>
                                        <p:attrNameLst>
                                          <p:attrName>style.visibility</p:attrName>
                                        </p:attrNameLst>
                                      </p:cBhvr>
                                      <p:to>
                                        <p:strVal val="visible"/>
                                      </p:to>
                                    </p:set>
                                    <p:animEffect transition="in" filter="fade">
                                      <p:cBhvr>
                                        <p:cTn id="33" dur="1000"/>
                                        <p:tgtEl>
                                          <p:spTgt spid="65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657"/>
                                        </p:tgtEl>
                                        <p:attrNameLst>
                                          <p:attrName>style.visibility</p:attrName>
                                        </p:attrNameLst>
                                      </p:cBhvr>
                                      <p:to>
                                        <p:strVal val="visible"/>
                                      </p:to>
                                    </p:set>
                                    <p:animEffect transition="in" filter="fade">
                                      <p:cBhvr>
                                        <p:cTn id="38" dur="1000"/>
                                        <p:tgtEl>
                                          <p:spTgt spid="657"/>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656"/>
                                        </p:tgtEl>
                                        <p:attrNameLst>
                                          <p:attrName>style.visibility</p:attrName>
                                        </p:attrNameLst>
                                      </p:cBhvr>
                                      <p:to>
                                        <p:strVal val="visible"/>
                                      </p:to>
                                    </p:set>
                                    <p:animEffect transition="in" filter="fade">
                                      <p:cBhvr>
                                        <p:cTn id="42" dur="1000"/>
                                        <p:tgtEl>
                                          <p:spTgt spid="65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59"/>
                                        </p:tgtEl>
                                        <p:attrNameLst>
                                          <p:attrName>style.visibility</p:attrName>
                                        </p:attrNameLst>
                                      </p:cBhvr>
                                      <p:to>
                                        <p:strVal val="visible"/>
                                      </p:to>
                                    </p:set>
                                    <p:animEffect transition="in" filter="fade">
                                      <p:cBhvr>
                                        <p:cTn id="47" dur="1000"/>
                                        <p:tgtEl>
                                          <p:spTgt spid="659"/>
                                        </p:tgtEl>
                                      </p:cBhvr>
                                    </p:animEffect>
                                  </p:childTnLst>
                                </p:cTn>
                              </p:par>
                            </p:childTnLst>
                          </p:cTn>
                        </p:par>
                        <p:par>
                          <p:cTn id="48" fill="hold">
                            <p:stCondLst>
                              <p:cond delay="1000"/>
                            </p:stCondLst>
                            <p:childTnLst>
                              <p:par>
                                <p:cTn id="49" presetID="10" presetClass="entr" presetSubtype="0" fill="hold" nodeType="afterEffect">
                                  <p:stCondLst>
                                    <p:cond delay="0"/>
                                  </p:stCondLst>
                                  <p:childTnLst>
                                    <p:set>
                                      <p:cBhvr>
                                        <p:cTn id="50" dur="1" fill="hold">
                                          <p:stCondLst>
                                            <p:cond delay="0"/>
                                          </p:stCondLst>
                                        </p:cTn>
                                        <p:tgtEl>
                                          <p:spTgt spid="658"/>
                                        </p:tgtEl>
                                        <p:attrNameLst>
                                          <p:attrName>style.visibility</p:attrName>
                                        </p:attrNameLst>
                                      </p:cBhvr>
                                      <p:to>
                                        <p:strVal val="visible"/>
                                      </p:to>
                                    </p:set>
                                    <p:animEffect transition="in" filter="fade">
                                      <p:cBhvr>
                                        <p:cTn id="51" dur="1000"/>
                                        <p:tgtEl>
                                          <p:spTgt spid="65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60"/>
                                        </p:tgtEl>
                                        <p:attrNameLst>
                                          <p:attrName>style.visibility</p:attrName>
                                        </p:attrNameLst>
                                      </p:cBhvr>
                                      <p:to>
                                        <p:strVal val="visible"/>
                                      </p:to>
                                    </p:set>
                                    <p:animEffect transition="in" filter="fade">
                                      <p:cBhvr>
                                        <p:cTn id="56" dur="1000"/>
                                        <p:tgtEl>
                                          <p:spTgt spid="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81"/>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a:t>
            </a:r>
            <a:r>
              <a:rPr lang="en">
                <a:latin typeface="Courier New"/>
                <a:ea typeface="Courier New"/>
                <a:cs typeface="Courier New"/>
                <a:sym typeface="Courier New"/>
              </a:rPr>
              <a:t>==</a:t>
            </a:r>
            <a:r>
              <a:rPr lang="en"/>
              <a:t> operator will only evaluate to </a:t>
            </a:r>
            <a:r>
              <a:rPr lang="en">
                <a:latin typeface="Courier New"/>
                <a:ea typeface="Courier New"/>
                <a:cs typeface="Courier New"/>
                <a:sym typeface="Courier New"/>
              </a:rPr>
              <a:t>true</a:t>
            </a:r>
            <a:r>
              <a:rPr lang="en"/>
              <a:t> if an object is compared to itself, but we'd like two </a:t>
            </a:r>
            <a:r>
              <a:rPr lang="en">
                <a:latin typeface="Courier New"/>
                <a:ea typeface="Courier New"/>
                <a:cs typeface="Courier New"/>
                <a:sym typeface="Courier New"/>
              </a:rPr>
              <a:t>Weapon</a:t>
            </a:r>
            <a:r>
              <a:rPr lang="en"/>
              <a:t>s to be considered equal if they have the same damage amount and damage type. </a:t>
            </a:r>
            <a:endParaRPr/>
          </a:p>
        </p:txBody>
      </p:sp>
      <p:sp>
        <p:nvSpPr>
          <p:cNvPr id="666" name="Google Shape;666;p8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sp>
        <p:nvSpPr>
          <p:cNvPr id="667" name="Google Shape;667;p81"/>
          <p:cNvSpPr txBox="1">
            <a:spLocks noGrp="1"/>
          </p:cNvSpPr>
          <p:nvPr>
            <p:ph type="body" idx="2"/>
          </p:nvPr>
        </p:nvSpPr>
        <p:spPr>
          <a:xfrm>
            <a:off x="3466425" y="1501500"/>
            <a:ext cx="5554800" cy="3221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Weapon</a:t>
            </a:r>
            <a:r>
              <a:rPr lang="en" dirty="0"/>
              <a:t> class and override the special </a:t>
            </a:r>
            <a:r>
              <a:rPr lang="en" dirty="0">
                <a:latin typeface="Courier New"/>
                <a:ea typeface="Courier New"/>
                <a:cs typeface="Courier New"/>
                <a:sym typeface="Courier New"/>
              </a:rPr>
              <a:t>equals(Object)</a:t>
            </a:r>
            <a:r>
              <a:rPr lang="en" dirty="0"/>
              <a:t> method.</a:t>
            </a:r>
            <a:endParaRPr dirty="0"/>
          </a:p>
          <a:p>
            <a:pPr marL="914400" lvl="1" indent="-298450" algn="l" rtl="0">
              <a:spcBef>
                <a:spcPts val="0"/>
              </a:spcBef>
              <a:spcAft>
                <a:spcPts val="0"/>
              </a:spcAft>
              <a:buSzPts val="1100"/>
              <a:buChar char="○"/>
            </a:pPr>
            <a:r>
              <a:rPr lang="en" dirty="0"/>
              <a:t>Use the </a:t>
            </a:r>
            <a:r>
              <a:rPr lang="en" dirty="0">
                <a:latin typeface="Courier New"/>
                <a:ea typeface="Courier New"/>
                <a:cs typeface="Courier New"/>
                <a:sym typeface="Courier New"/>
              </a:rPr>
              <a:t>@Override</a:t>
            </a:r>
            <a:r>
              <a:rPr lang="en" dirty="0"/>
              <a:t> annotation and make sure that the method signature matches the example to the left.</a:t>
            </a:r>
            <a:endParaRPr dirty="0"/>
          </a:p>
          <a:p>
            <a:pPr marL="914400" lvl="1" indent="-298450" algn="l" rtl="0">
              <a:spcBef>
                <a:spcPts val="0"/>
              </a:spcBef>
              <a:spcAft>
                <a:spcPts val="0"/>
              </a:spcAft>
              <a:buSzPts val="1100"/>
              <a:buChar char="○"/>
            </a:pPr>
            <a:r>
              <a:rPr lang="en" dirty="0"/>
              <a:t>Use </a:t>
            </a:r>
            <a:r>
              <a:rPr lang="en" dirty="0">
                <a:latin typeface="Courier New"/>
                <a:ea typeface="Courier New"/>
                <a:cs typeface="Courier New"/>
                <a:sym typeface="Courier New"/>
              </a:rPr>
              <a:t>instanceof</a:t>
            </a:r>
            <a:r>
              <a:rPr lang="en" dirty="0"/>
              <a:t> to make sure that the </a:t>
            </a:r>
            <a:r>
              <a:rPr lang="en" dirty="0">
                <a:latin typeface="Courier New"/>
                <a:ea typeface="Courier New"/>
                <a:cs typeface="Courier New"/>
                <a:sym typeface="Courier New"/>
              </a:rPr>
              <a:t>obj</a:t>
            </a:r>
            <a:r>
              <a:rPr lang="en" dirty="0"/>
              <a:t> parameter is another </a:t>
            </a:r>
            <a:r>
              <a:rPr lang="en" dirty="0">
                <a:latin typeface="Courier New"/>
                <a:ea typeface="Courier New"/>
                <a:cs typeface="Courier New"/>
                <a:sym typeface="Courier New"/>
              </a:rPr>
              <a:t>Weapon</a:t>
            </a:r>
            <a:r>
              <a:rPr lang="en" dirty="0"/>
              <a:t>. Return </a:t>
            </a:r>
            <a:r>
              <a:rPr lang="en" dirty="0">
                <a:latin typeface="Courier New"/>
                <a:ea typeface="Courier New"/>
                <a:cs typeface="Courier New"/>
                <a:sym typeface="Courier New"/>
              </a:rPr>
              <a:t>false</a:t>
            </a:r>
            <a:r>
              <a:rPr lang="en" dirty="0"/>
              <a:t> if it is not.</a:t>
            </a:r>
            <a:endParaRPr dirty="0"/>
          </a:p>
          <a:p>
            <a:pPr marL="914400" lvl="1" indent="-298450" algn="l" rtl="0">
              <a:spcBef>
                <a:spcPts val="0"/>
              </a:spcBef>
              <a:spcAft>
                <a:spcPts val="0"/>
              </a:spcAft>
              <a:buSzPts val="1100"/>
              <a:buChar char="○"/>
            </a:pPr>
            <a:r>
              <a:rPr lang="en" dirty="0"/>
              <a:t>Don't forget to cast the </a:t>
            </a:r>
            <a:r>
              <a:rPr lang="en" dirty="0">
                <a:latin typeface="Courier New"/>
                <a:ea typeface="Courier New"/>
                <a:cs typeface="Courier New"/>
                <a:sym typeface="Courier New"/>
              </a:rPr>
              <a:t>obj</a:t>
            </a:r>
            <a:r>
              <a:rPr lang="en" dirty="0"/>
              <a:t> parameter into a </a:t>
            </a:r>
            <a:r>
              <a:rPr lang="en" dirty="0">
                <a:latin typeface="Courier New"/>
                <a:ea typeface="Courier New"/>
                <a:cs typeface="Courier New"/>
                <a:sym typeface="Courier New"/>
              </a:rPr>
              <a:t>Weapon</a:t>
            </a:r>
            <a:r>
              <a:rPr lang="en" dirty="0"/>
              <a:t>!</a:t>
            </a:r>
            <a:endParaRPr dirty="0"/>
          </a:p>
          <a:p>
            <a:pPr marL="914400" lvl="1" indent="-298450" algn="l" rtl="0">
              <a:spcBef>
                <a:spcPts val="0"/>
              </a:spcBef>
              <a:spcAft>
                <a:spcPts val="0"/>
              </a:spcAft>
              <a:buSzPts val="1100"/>
              <a:buChar char="○"/>
            </a:pPr>
            <a:r>
              <a:rPr lang="en" dirty="0"/>
              <a:t>Return </a:t>
            </a:r>
            <a:r>
              <a:rPr lang="en" dirty="0">
                <a:latin typeface="Courier New"/>
                <a:ea typeface="Courier New"/>
                <a:cs typeface="Courier New"/>
                <a:sym typeface="Courier New"/>
              </a:rPr>
              <a:t>true</a:t>
            </a:r>
            <a:r>
              <a:rPr lang="en" dirty="0"/>
              <a:t> if both </a:t>
            </a:r>
            <a:r>
              <a:rPr lang="en" dirty="0">
                <a:highlight>
                  <a:srgbClr val="FFFF00"/>
                </a:highlight>
              </a:rPr>
              <a:t>weapons have the same damage amount and damage type.</a:t>
            </a:r>
            <a:endParaRPr dirty="0">
              <a:highlight>
                <a:srgbClr val="FFFF00"/>
              </a:highlight>
            </a:endParaRPr>
          </a:p>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main</a:t>
            </a:r>
            <a:r>
              <a:rPr lang="en" dirty="0"/>
              <a:t> method in the </a:t>
            </a:r>
            <a:r>
              <a:rPr lang="en" dirty="0">
                <a:highlight>
                  <a:srgbClr val="FFFF00"/>
                </a:highlight>
                <a:latin typeface="Courier New"/>
                <a:ea typeface="Courier New"/>
                <a:cs typeface="Courier New"/>
                <a:sym typeface="Courier New"/>
              </a:rPr>
              <a:t>StarWarsBattle</a:t>
            </a:r>
            <a:r>
              <a:rPr lang="en" dirty="0"/>
              <a:t> class and create at least three </a:t>
            </a:r>
            <a:r>
              <a:rPr lang="en" dirty="0">
                <a:latin typeface="Courier New"/>
                <a:ea typeface="Courier New"/>
                <a:cs typeface="Courier New"/>
                <a:sym typeface="Courier New"/>
              </a:rPr>
              <a:t>Weapon</a:t>
            </a:r>
            <a:r>
              <a:rPr lang="en" dirty="0"/>
              <a:t> objects.</a:t>
            </a:r>
            <a:endParaRPr dirty="0"/>
          </a:p>
          <a:p>
            <a:pPr marL="914400" lvl="1" indent="-298450" algn="l" rtl="0">
              <a:spcBef>
                <a:spcPts val="0"/>
              </a:spcBef>
              <a:spcAft>
                <a:spcPts val="0"/>
              </a:spcAft>
              <a:buSzPts val="1100"/>
              <a:buChar char="○"/>
            </a:pPr>
            <a:r>
              <a:rPr lang="en" dirty="0"/>
              <a:t>Two of the </a:t>
            </a:r>
            <a:r>
              <a:rPr lang="en" dirty="0">
                <a:latin typeface="Courier New"/>
                <a:ea typeface="Courier New"/>
                <a:cs typeface="Courier New"/>
                <a:sym typeface="Courier New"/>
              </a:rPr>
              <a:t>Weapon</a:t>
            </a:r>
            <a:r>
              <a:rPr lang="en" dirty="0"/>
              <a:t>s should have the same damage type and amount, and the third weapon should be different in some way.</a:t>
            </a:r>
            <a:endParaRPr dirty="0"/>
          </a:p>
          <a:p>
            <a:pPr marL="914400" lvl="1" indent="-298450" algn="l" rtl="0">
              <a:spcBef>
                <a:spcPts val="0"/>
              </a:spcBef>
              <a:spcAft>
                <a:spcPts val="0"/>
              </a:spcAft>
              <a:buSzPts val="1100"/>
              <a:buChar char="○"/>
            </a:pPr>
            <a:r>
              <a:rPr lang="en" dirty="0"/>
              <a:t>Print the results of comparing the weapons to each other using both </a:t>
            </a:r>
            <a:r>
              <a:rPr lang="en" dirty="0">
                <a:latin typeface="Courier New"/>
                <a:ea typeface="Courier New"/>
                <a:cs typeface="Courier New"/>
                <a:sym typeface="Courier New"/>
              </a:rPr>
              <a:t>== </a:t>
            </a:r>
            <a:r>
              <a:rPr lang="en" dirty="0"/>
              <a:t>and </a:t>
            </a:r>
            <a:r>
              <a:rPr lang="en" dirty="0">
                <a:latin typeface="Courier New"/>
                <a:ea typeface="Courier New"/>
                <a:cs typeface="Courier New"/>
                <a:sym typeface="Courier New"/>
              </a:rPr>
              <a:t>equals(Object)</a:t>
            </a:r>
            <a:r>
              <a:rPr lang="en" dirty="0"/>
              <a:t>.</a:t>
            </a:r>
            <a:endParaRPr dirty="0"/>
          </a:p>
        </p:txBody>
      </p:sp>
      <p:sp>
        <p:nvSpPr>
          <p:cNvPr id="668" name="Google Shape;668;p81"/>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Blaster By Any Other Name</a:t>
            </a:r>
            <a:endParaRPr/>
          </a:p>
        </p:txBody>
      </p:sp>
      <p:sp>
        <p:nvSpPr>
          <p:cNvPr id="669" name="Google Shape;669;p81"/>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2.12</a:t>
            </a:r>
            <a:endParaRPr/>
          </a:p>
        </p:txBody>
      </p:sp>
      <p:sp>
        <p:nvSpPr>
          <p:cNvPr id="670" name="Google Shape;670;p81"/>
          <p:cNvSpPr txBox="1">
            <a:spLocks noGrp="1"/>
          </p:cNvSpPr>
          <p:nvPr>
            <p:ph type="body" idx="4"/>
          </p:nvPr>
        </p:nvSpPr>
        <p:spPr>
          <a:xfrm>
            <a:off x="179050" y="1621300"/>
            <a:ext cx="3225900" cy="21150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Override</a:t>
            </a:r>
            <a:endParaRPr>
              <a:solidFill>
                <a:srgbClr val="0000FF"/>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0000FF"/>
                </a:solidFill>
                <a:latin typeface="Consolas"/>
                <a:ea typeface="Consolas"/>
                <a:cs typeface="Consolas"/>
                <a:sym typeface="Consolas"/>
              </a:rPr>
              <a:t>public</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boolean</a:t>
            </a:r>
            <a:r>
              <a:rPr lang="en">
                <a:solidFill>
                  <a:srgbClr val="000000"/>
                </a:solidFill>
                <a:latin typeface="Consolas"/>
                <a:ea typeface="Consolas"/>
                <a:cs typeface="Consolas"/>
                <a:sym typeface="Consolas"/>
              </a:rPr>
              <a:t> </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267F99"/>
                </a:solidFill>
                <a:latin typeface="Consolas"/>
                <a:ea typeface="Consolas"/>
                <a:cs typeface="Consolas"/>
                <a:sym typeface="Consolas"/>
              </a:rPr>
              <a:t>Object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if</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instanceof</a:t>
            </a:r>
            <a:r>
              <a:rPr lang="en">
                <a:solidFill>
                  <a:srgbClr val="000000"/>
                </a:solidFill>
                <a:latin typeface="Consolas"/>
                <a:ea typeface="Consolas"/>
                <a:cs typeface="Consolas"/>
                <a:sym typeface="Consolas"/>
              </a:rPr>
              <a:t>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267F99"/>
                </a:solidFill>
                <a:latin typeface="Consolas"/>
                <a:ea typeface="Consolas"/>
                <a:cs typeface="Consolas"/>
                <a:sym typeface="Consolas"/>
              </a:rPr>
              <a:t>      Pet</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 = (</a:t>
            </a:r>
            <a:r>
              <a:rPr lang="en">
                <a:solidFill>
                  <a:srgbClr val="267F99"/>
                </a:solidFill>
                <a:latin typeface="Consolas"/>
                <a:ea typeface="Consolas"/>
                <a:cs typeface="Consolas"/>
                <a:sym typeface="Consolas"/>
              </a:rPr>
              <a:t>Pet</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obj</a:t>
            </a: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 </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age</a:t>
            </a:r>
            <a:r>
              <a:rPr lang="en">
                <a:solidFill>
                  <a:srgbClr val="000000"/>
                </a:solidFill>
                <a:latin typeface="Consolas"/>
                <a:ea typeface="Consolas"/>
                <a:cs typeface="Consolas"/>
                <a:sym typeface="Consolas"/>
              </a:rPr>
              <a:t>) &amp;&amp;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00000"/>
                </a:solidFill>
                <a:latin typeface="Consolas"/>
                <a:ea typeface="Consolas"/>
                <a:cs typeface="Consolas"/>
                <a:sym typeface="Consolas"/>
              </a:rPr>
              <a:t>         </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r>
              <a:rPr lang="en">
                <a:solidFill>
                  <a:srgbClr val="795E26"/>
                </a:solidFill>
                <a:latin typeface="Consolas"/>
                <a:ea typeface="Consolas"/>
                <a:cs typeface="Consolas"/>
                <a:sym typeface="Consolas"/>
              </a:rPr>
              <a:t>equals</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other</a:t>
            </a:r>
            <a:r>
              <a:rPr lang="en">
                <a:solidFill>
                  <a:srgbClr val="000000"/>
                </a:solidFill>
                <a:latin typeface="Consolas"/>
                <a:ea typeface="Consolas"/>
                <a:cs typeface="Consolas"/>
                <a:sym typeface="Consolas"/>
              </a:rPr>
              <a:t>.</a:t>
            </a:r>
            <a:r>
              <a:rPr lang="en">
                <a:solidFill>
                  <a:srgbClr val="001080"/>
                </a:solidFill>
                <a:latin typeface="Consolas"/>
                <a:ea typeface="Consolas"/>
                <a:cs typeface="Consolas"/>
                <a:sym typeface="Consolas"/>
              </a:rPr>
              <a:t>name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000000"/>
                </a:solidFill>
                <a:latin typeface="Consolas"/>
                <a:ea typeface="Consolas"/>
                <a:cs typeface="Consolas"/>
                <a:sym typeface="Consolas"/>
              </a:rPr>
              <a:t>   } </a:t>
            </a:r>
            <a:r>
              <a:rPr lang="en">
                <a:solidFill>
                  <a:srgbClr val="AF00DB"/>
                </a:solidFill>
                <a:latin typeface="Consolas"/>
                <a:ea typeface="Consolas"/>
                <a:cs typeface="Consolas"/>
                <a:sym typeface="Consolas"/>
              </a:rPr>
              <a:t>else</a:t>
            </a:r>
            <a:r>
              <a:rPr lang="en">
                <a:solidFill>
                  <a:srgbClr val="000000"/>
                </a:solidFill>
                <a:latin typeface="Consolas"/>
                <a:ea typeface="Consolas"/>
                <a:cs typeface="Consolas"/>
                <a:sym typeface="Consolas"/>
              </a:rPr>
              <a:t> {    </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00000"/>
                </a:solidFill>
                <a:latin typeface="Consolas"/>
                <a:ea typeface="Consolas"/>
                <a:cs typeface="Consolas"/>
                <a:sym typeface="Consolas"/>
              </a:rPr>
              <a:t>     </a:t>
            </a:r>
            <a:r>
              <a:rPr lang="en">
                <a:solidFill>
                  <a:srgbClr val="AF00DB"/>
                </a:solidFill>
                <a:latin typeface="Consolas"/>
                <a:ea typeface="Consolas"/>
                <a:cs typeface="Consolas"/>
                <a:sym typeface="Consolas"/>
              </a:rPr>
              <a:t>return</a:t>
            </a:r>
            <a:r>
              <a:rPr lang="en">
                <a:solidFill>
                  <a:srgbClr val="000000"/>
                </a:solidFill>
                <a:latin typeface="Consolas"/>
                <a:ea typeface="Consolas"/>
                <a:cs typeface="Consolas"/>
                <a:sym typeface="Consolas"/>
              </a:rPr>
              <a:t> </a:t>
            </a:r>
            <a:r>
              <a:rPr lang="en">
                <a:solidFill>
                  <a:srgbClr val="0000FF"/>
                </a:solidFill>
                <a:latin typeface="Consolas"/>
                <a:ea typeface="Consolas"/>
                <a:cs typeface="Consolas"/>
                <a:sym typeface="Consolas"/>
              </a:rPr>
              <a:t>false</a:t>
            </a: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a:p>
            <a:pPr marL="0" lvl="0" indent="0" algn="l" rtl="0">
              <a:spcBef>
                <a:spcPts val="0"/>
              </a:spcBef>
              <a:spcAft>
                <a:spcPts val="0"/>
              </a:spcAft>
              <a:buNone/>
            </a:pPr>
            <a:r>
              <a:rPr lang="en">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a:solidFill>
                  <a:srgbClr val="000000"/>
                </a:solidFill>
                <a:latin typeface="Consolas"/>
                <a:ea typeface="Consolas"/>
                <a:cs typeface="Consolas"/>
                <a:sym typeface="Consolas"/>
              </a:rPr>
              <a:t>}</a:t>
            </a:r>
            <a:endParaRPr>
              <a:solidFill>
                <a:srgbClr val="000000"/>
              </a:solidFill>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82"/>
          <p:cNvSpPr txBox="1">
            <a:spLocks noGrp="1"/>
          </p:cNvSpPr>
          <p:nvPr>
            <p:ph type="body" idx="1"/>
          </p:nvPr>
        </p:nvSpPr>
        <p:spPr>
          <a:xfrm>
            <a:off x="405600" y="272850"/>
            <a:ext cx="4166400" cy="45978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 common question when implementing an </a:t>
            </a:r>
            <a:r>
              <a:rPr lang="en" dirty="0">
                <a:latin typeface="Courier New"/>
                <a:ea typeface="Courier New"/>
                <a:cs typeface="Courier New"/>
                <a:sym typeface="Courier New"/>
              </a:rPr>
              <a:t>equals(Object)</a:t>
            </a:r>
            <a:r>
              <a:rPr lang="en" dirty="0"/>
              <a:t> method is: </a:t>
            </a:r>
            <a:r>
              <a:rPr lang="en" i="1" dirty="0">
                <a:highlight>
                  <a:srgbClr val="FFFF00"/>
                </a:highlight>
              </a:rPr>
              <a:t>"If I already used </a:t>
            </a:r>
            <a:r>
              <a:rPr lang="en" i="1" dirty="0">
                <a:highlight>
                  <a:srgbClr val="FFFF00"/>
                </a:highlight>
                <a:latin typeface="Courier New"/>
                <a:ea typeface="Courier New"/>
                <a:cs typeface="Courier New"/>
                <a:sym typeface="Courier New"/>
              </a:rPr>
              <a:t>instanceof</a:t>
            </a:r>
            <a:r>
              <a:rPr lang="en" i="1" dirty="0">
                <a:highlight>
                  <a:srgbClr val="FFFF00"/>
                </a:highlight>
              </a:rPr>
              <a:t> to check the object type, why do I still need to cast? Is Java really that dumb?"</a:t>
            </a:r>
            <a:endParaRPr i="1" dirty="0">
              <a:highlight>
                <a:srgbClr val="FFFF00"/>
              </a:highlight>
            </a:endParaRPr>
          </a:p>
          <a:p>
            <a:pPr marL="914400" lvl="1" indent="-298450" algn="l" rtl="0">
              <a:spcBef>
                <a:spcPts val="0"/>
              </a:spcBef>
              <a:spcAft>
                <a:spcPts val="0"/>
              </a:spcAft>
              <a:buSzPts val="1100"/>
              <a:buChar char="○"/>
            </a:pPr>
            <a:r>
              <a:rPr lang="en" dirty="0">
                <a:highlight>
                  <a:srgbClr val="FFFF00"/>
                </a:highlight>
              </a:rPr>
              <a:t>Excellent question!</a:t>
            </a:r>
            <a:endParaRPr dirty="0">
              <a:highlight>
                <a:srgbClr val="FFFF00"/>
              </a:highlight>
            </a:endParaRPr>
          </a:p>
          <a:p>
            <a:pPr marL="457200" lvl="0" indent="-311150" algn="l" rtl="0">
              <a:spcBef>
                <a:spcPts val="1000"/>
              </a:spcBef>
              <a:spcAft>
                <a:spcPts val="0"/>
              </a:spcAft>
              <a:buSzPts val="1300"/>
              <a:buChar char="●"/>
            </a:pPr>
            <a:r>
              <a:rPr lang="en" dirty="0"/>
              <a:t>The answer used to be: </a:t>
            </a:r>
            <a:r>
              <a:rPr lang="en" i="1" dirty="0">
                <a:highlight>
                  <a:srgbClr val="FFFF00"/>
                </a:highlight>
              </a:rPr>
              <a:t>"Yes!"</a:t>
            </a:r>
            <a:endParaRPr i="1" dirty="0">
              <a:highlight>
                <a:srgbClr val="FFFF00"/>
              </a:highlight>
            </a:endParaRPr>
          </a:p>
          <a:p>
            <a:pPr marL="457200" lvl="0" indent="-311150" algn="l" rtl="0">
              <a:spcBef>
                <a:spcPts val="1000"/>
              </a:spcBef>
              <a:spcAft>
                <a:spcPts val="0"/>
              </a:spcAft>
              <a:buSzPts val="1300"/>
              <a:buChar char="●"/>
            </a:pPr>
            <a:r>
              <a:rPr lang="en" dirty="0"/>
              <a:t>The answer now is: </a:t>
            </a:r>
            <a:r>
              <a:rPr lang="en" i="1" dirty="0">
                <a:highlight>
                  <a:srgbClr val="FFFF00"/>
                </a:highlight>
              </a:rPr>
              <a:t>"As of Java 16, you </a:t>
            </a:r>
            <a:r>
              <a:rPr lang="en" b="1" i="1" dirty="0">
                <a:highlight>
                  <a:srgbClr val="FFFF00"/>
                </a:highlight>
              </a:rPr>
              <a:t>do not</a:t>
            </a:r>
            <a:r>
              <a:rPr lang="en" i="1" dirty="0">
                <a:highlight>
                  <a:srgbClr val="FFFF00"/>
                </a:highlight>
              </a:rPr>
              <a:t> need to explicitly cast from </a:t>
            </a:r>
            <a:r>
              <a:rPr lang="en" i="1" dirty="0">
                <a:highlight>
                  <a:srgbClr val="FFFF00"/>
                </a:highlight>
                <a:latin typeface="Courier New"/>
                <a:ea typeface="Courier New"/>
                <a:cs typeface="Courier New"/>
                <a:sym typeface="Courier New"/>
              </a:rPr>
              <a:t>Object</a:t>
            </a:r>
            <a:r>
              <a:rPr lang="en" i="1" dirty="0">
                <a:highlight>
                  <a:srgbClr val="FFFF00"/>
                </a:highlight>
              </a:rPr>
              <a:t> into a specific type."</a:t>
            </a:r>
            <a:endParaRPr i="1" dirty="0">
              <a:highlight>
                <a:srgbClr val="FFFF00"/>
              </a:highlight>
            </a:endParaRPr>
          </a:p>
          <a:p>
            <a:pPr marL="914400" lvl="1" indent="-298450" algn="l" rtl="0">
              <a:spcBef>
                <a:spcPts val="0"/>
              </a:spcBef>
              <a:spcAft>
                <a:spcPts val="0"/>
              </a:spcAft>
              <a:buSzPts val="1100"/>
              <a:buChar char="○"/>
            </a:pPr>
            <a:r>
              <a:rPr lang="en" dirty="0"/>
              <a:t>You can </a:t>
            </a:r>
            <a:r>
              <a:rPr lang="en" b="1" i="1" dirty="0">
                <a:solidFill>
                  <a:srgbClr val="FF0000"/>
                </a:solidFill>
              </a:rPr>
              <a:t>automatically </a:t>
            </a:r>
            <a:r>
              <a:rPr lang="en" dirty="0"/>
              <a:t>cast into a new variable name if </a:t>
            </a:r>
            <a:r>
              <a:rPr lang="en" dirty="0">
                <a:highlight>
                  <a:srgbClr val="FFFF00"/>
                </a:highlight>
                <a:latin typeface="Courier New"/>
                <a:ea typeface="Courier New"/>
                <a:cs typeface="Courier New"/>
                <a:sym typeface="Courier New"/>
              </a:rPr>
              <a:t>instanceof</a:t>
            </a:r>
            <a:r>
              <a:rPr lang="en" dirty="0">
                <a:highlight>
                  <a:srgbClr val="FFFF00"/>
                </a:highlight>
              </a:rPr>
              <a:t> evaluates to </a:t>
            </a:r>
            <a:r>
              <a:rPr lang="en" dirty="0">
                <a:highlight>
                  <a:srgbClr val="FFFF00"/>
                </a:highlight>
                <a:latin typeface="Courier New"/>
                <a:ea typeface="Courier New"/>
                <a:cs typeface="Courier New"/>
                <a:sym typeface="Courier New"/>
              </a:rPr>
              <a:t>true</a:t>
            </a:r>
            <a:r>
              <a:rPr lang="en" dirty="0">
                <a:highlight>
                  <a:srgbClr val="FFFF00"/>
                </a:highlight>
              </a:rPr>
              <a:t>.</a:t>
            </a:r>
            <a:endParaRPr dirty="0">
              <a:highlight>
                <a:srgbClr val="FFFF00"/>
              </a:highlight>
            </a:endParaRPr>
          </a:p>
          <a:p>
            <a:pPr marL="914400" lvl="1" indent="-298450" algn="l" rtl="0">
              <a:spcBef>
                <a:spcPts val="0"/>
              </a:spcBef>
              <a:spcAft>
                <a:spcPts val="0"/>
              </a:spcAft>
              <a:buSzPts val="1100"/>
              <a:buChar char="○"/>
            </a:pPr>
            <a:r>
              <a:rPr lang="en" dirty="0"/>
              <a:t>e.g. </a:t>
            </a:r>
            <a:r>
              <a:rPr lang="en" dirty="0">
                <a:solidFill>
                  <a:srgbClr val="FF0000"/>
                </a:solidFill>
                <a:latin typeface="Courier New"/>
                <a:ea typeface="Courier New"/>
                <a:cs typeface="Courier New"/>
                <a:sym typeface="Courier New"/>
              </a:rPr>
              <a:t>if(obj instanceof Pet other) {}</a:t>
            </a:r>
            <a:r>
              <a:rPr lang="en" dirty="0"/>
              <a:t> will automatically cast </a:t>
            </a:r>
            <a:r>
              <a:rPr lang="en" dirty="0">
                <a:latin typeface="Courier New"/>
                <a:ea typeface="Courier New"/>
                <a:cs typeface="Courier New"/>
                <a:sym typeface="Courier New"/>
              </a:rPr>
              <a:t>obj</a:t>
            </a:r>
            <a:r>
              <a:rPr lang="en" dirty="0"/>
              <a:t> into a </a:t>
            </a:r>
            <a:r>
              <a:rPr lang="en" dirty="0">
                <a:latin typeface="Courier New"/>
                <a:ea typeface="Courier New"/>
                <a:cs typeface="Courier New"/>
                <a:sym typeface="Courier New"/>
              </a:rPr>
              <a:t>Pet</a:t>
            </a:r>
            <a:r>
              <a:rPr lang="en" dirty="0"/>
              <a:t> variable named "</a:t>
            </a:r>
            <a:r>
              <a:rPr lang="en" dirty="0">
                <a:latin typeface="Courier New"/>
                <a:ea typeface="Courier New"/>
                <a:cs typeface="Courier New"/>
                <a:sym typeface="Courier New"/>
              </a:rPr>
              <a:t>other</a:t>
            </a:r>
            <a:r>
              <a:rPr lang="en" dirty="0"/>
              <a:t>" if </a:t>
            </a:r>
            <a:r>
              <a:rPr lang="en" dirty="0">
                <a:latin typeface="Courier New"/>
                <a:ea typeface="Courier New"/>
                <a:cs typeface="Courier New"/>
                <a:sym typeface="Courier New"/>
              </a:rPr>
              <a:t>instanceof</a:t>
            </a:r>
            <a:r>
              <a:rPr lang="en" dirty="0"/>
              <a:t> is </a:t>
            </a:r>
            <a:r>
              <a:rPr lang="en" dirty="0">
                <a:latin typeface="Courier New"/>
                <a:ea typeface="Courier New"/>
                <a:cs typeface="Courier New"/>
                <a:sym typeface="Courier New"/>
              </a:rPr>
              <a:t>true</a:t>
            </a:r>
            <a:r>
              <a:rPr lang="en" dirty="0"/>
              <a:t>.</a:t>
            </a:r>
            <a:endParaRPr dirty="0"/>
          </a:p>
          <a:p>
            <a:pPr marL="914400" lvl="1" indent="-298450" algn="l" rtl="0">
              <a:spcBef>
                <a:spcPts val="0"/>
              </a:spcBef>
              <a:spcAft>
                <a:spcPts val="0"/>
              </a:spcAft>
              <a:buSzPts val="1100"/>
              <a:buChar char="○"/>
            </a:pPr>
            <a:r>
              <a:rPr lang="en" dirty="0"/>
              <a:t>You can then use </a:t>
            </a:r>
            <a:r>
              <a:rPr lang="en" dirty="0">
                <a:latin typeface="Courier New"/>
                <a:ea typeface="Courier New"/>
                <a:cs typeface="Courier New"/>
                <a:sym typeface="Courier New"/>
              </a:rPr>
              <a:t>other</a:t>
            </a:r>
            <a:r>
              <a:rPr lang="en" dirty="0"/>
              <a:t> inside of the body of the </a:t>
            </a:r>
            <a:r>
              <a:rPr lang="en" dirty="0">
                <a:latin typeface="Courier New"/>
                <a:ea typeface="Courier New"/>
                <a:cs typeface="Courier New"/>
                <a:sym typeface="Courier New"/>
              </a:rPr>
              <a:t>if</a:t>
            </a:r>
            <a:r>
              <a:rPr lang="en" dirty="0"/>
              <a:t> without needing to explicitly cast.</a:t>
            </a:r>
            <a:endParaRPr dirty="0"/>
          </a:p>
          <a:p>
            <a:pPr marL="457200" lvl="0" indent="-311150" algn="l" rtl="0">
              <a:spcBef>
                <a:spcPts val="1000"/>
              </a:spcBef>
              <a:spcAft>
                <a:spcPts val="0"/>
              </a:spcAft>
              <a:buSzPts val="1300"/>
              <a:buChar char="●"/>
            </a:pPr>
            <a:r>
              <a:rPr lang="en" dirty="0">
                <a:highlight>
                  <a:srgbClr val="FFFF00"/>
                </a:highlight>
              </a:rPr>
              <a:t>This relatively recent feature is called "pattern matching for </a:t>
            </a:r>
            <a:r>
              <a:rPr lang="en" dirty="0">
                <a:highlight>
                  <a:srgbClr val="FFFF00"/>
                </a:highlight>
                <a:latin typeface="Courier New"/>
                <a:ea typeface="Courier New"/>
                <a:cs typeface="Courier New"/>
                <a:sym typeface="Courier New"/>
              </a:rPr>
              <a:t>instanceof</a:t>
            </a:r>
            <a:r>
              <a:rPr lang="en" dirty="0">
                <a:highlight>
                  <a:srgbClr val="FFFF00"/>
                </a:highlight>
              </a:rPr>
              <a:t>". </a:t>
            </a:r>
            <a:endParaRPr dirty="0">
              <a:highlight>
                <a:srgbClr val="FFFF00"/>
              </a:highlight>
            </a:endParaRPr>
          </a:p>
          <a:p>
            <a:pPr marL="914400" lvl="1" indent="-298450" algn="l" rtl="0">
              <a:spcBef>
                <a:spcPts val="0"/>
              </a:spcBef>
              <a:spcAft>
                <a:spcPts val="0"/>
              </a:spcAft>
              <a:buSzPts val="1100"/>
              <a:buChar char="○"/>
            </a:pPr>
            <a:r>
              <a:rPr lang="en" dirty="0"/>
              <a:t>It was added to Java in 2021.</a:t>
            </a:r>
            <a:endParaRPr dirty="0"/>
          </a:p>
        </p:txBody>
      </p:sp>
      <p:sp>
        <p:nvSpPr>
          <p:cNvPr id="676" name="Google Shape;676;p82"/>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37</a:t>
            </a:fld>
            <a:endParaRPr/>
          </a:p>
        </p:txBody>
      </p:sp>
      <p:sp>
        <p:nvSpPr>
          <p:cNvPr id="677" name="Google Shape;677;p82"/>
          <p:cNvSpPr txBox="1">
            <a:spLocks noGrp="1"/>
          </p:cNvSpPr>
          <p:nvPr>
            <p:ph type="body" idx="3"/>
          </p:nvPr>
        </p:nvSpPr>
        <p:spPr>
          <a:xfrm>
            <a:off x="5039825" y="3642425"/>
            <a:ext cx="38472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Pattern matching with </a:t>
            </a:r>
            <a:r>
              <a:rPr lang="en" sz="1200">
                <a:latin typeface="Courier New"/>
                <a:ea typeface="Courier New"/>
                <a:cs typeface="Courier New"/>
                <a:sym typeface="Courier New"/>
              </a:rPr>
              <a:t>instanceof</a:t>
            </a:r>
            <a:r>
              <a:rPr lang="en" sz="1200"/>
              <a:t> can automatically cast a variable into another type. This makes writing </a:t>
            </a:r>
            <a:r>
              <a:rPr lang="en" sz="1200">
                <a:latin typeface="Courier New"/>
                <a:ea typeface="Courier New"/>
                <a:cs typeface="Courier New"/>
                <a:sym typeface="Courier New"/>
              </a:rPr>
              <a:t>equals(Object)</a:t>
            </a:r>
            <a:r>
              <a:rPr lang="en" sz="1200"/>
              <a:t> methods a little easier.</a:t>
            </a:r>
            <a:endParaRPr sz="1200"/>
          </a:p>
        </p:txBody>
      </p:sp>
      <p:sp>
        <p:nvSpPr>
          <p:cNvPr id="678" name="Google Shape;678;p82"/>
          <p:cNvSpPr txBox="1">
            <a:spLocks noGrp="1"/>
          </p:cNvSpPr>
          <p:nvPr>
            <p:ph type="title"/>
          </p:nvPr>
        </p:nvSpPr>
        <p:spPr>
          <a:xfrm>
            <a:off x="5039825" y="119925"/>
            <a:ext cx="37065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Pattern Matching with </a:t>
            </a:r>
            <a:r>
              <a:rPr lang="en">
                <a:latin typeface="Courier New"/>
                <a:ea typeface="Courier New"/>
                <a:cs typeface="Courier New"/>
                <a:sym typeface="Courier New"/>
              </a:rPr>
              <a:t>instanceof</a:t>
            </a:r>
            <a:endParaRPr>
              <a:latin typeface="Courier New"/>
              <a:ea typeface="Courier New"/>
              <a:cs typeface="Courier New"/>
              <a:sym typeface="Courier New"/>
            </a:endParaRPr>
          </a:p>
        </p:txBody>
      </p:sp>
      <p:sp>
        <p:nvSpPr>
          <p:cNvPr id="679" name="Google Shape;679;p82"/>
          <p:cNvSpPr txBox="1">
            <a:spLocks noGrp="1"/>
          </p:cNvSpPr>
          <p:nvPr>
            <p:ph type="body" idx="2"/>
          </p:nvPr>
        </p:nvSpPr>
        <p:spPr>
          <a:xfrm>
            <a:off x="5039825" y="1306675"/>
            <a:ext cx="3847200" cy="2195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dirty="0">
                <a:solidFill>
                  <a:srgbClr val="098658"/>
                </a:solidFill>
                <a:latin typeface="Consolas"/>
                <a:ea typeface="Consolas"/>
                <a:cs typeface="Consolas"/>
                <a:sym typeface="Consolas"/>
              </a:rPr>
              <a:t>1</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Override</a:t>
            </a:r>
            <a:endParaRPr dirty="0">
              <a:solidFill>
                <a:srgbClr val="0000FF"/>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2</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public</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boolean</a:t>
            </a:r>
            <a:r>
              <a:rPr lang="en" dirty="0">
                <a:solidFill>
                  <a:srgbClr val="000000"/>
                </a:solidFill>
                <a:latin typeface="Consolas"/>
                <a:ea typeface="Consolas"/>
                <a:cs typeface="Consolas"/>
                <a:sym typeface="Consolas"/>
              </a:rPr>
              <a:t> </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267F99"/>
                </a:solidFill>
                <a:latin typeface="Consolas"/>
                <a:ea typeface="Consolas"/>
                <a:cs typeface="Consolas"/>
                <a:sym typeface="Consolas"/>
              </a:rPr>
              <a:t>Object</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3</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if</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obj</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instanceof</a:t>
            </a:r>
            <a:r>
              <a:rPr lang="en" dirty="0">
                <a:solidFill>
                  <a:srgbClr val="000000"/>
                </a:solidFill>
                <a:latin typeface="Consolas"/>
                <a:ea typeface="Consolas"/>
                <a:cs typeface="Consolas"/>
                <a:sym typeface="Consolas"/>
              </a:rPr>
              <a:t> </a:t>
            </a:r>
            <a:r>
              <a:rPr lang="en" dirty="0">
                <a:solidFill>
                  <a:srgbClr val="267F99"/>
                </a:solidFill>
                <a:latin typeface="Consolas"/>
                <a:ea typeface="Consolas"/>
                <a:cs typeface="Consolas"/>
                <a:sym typeface="Consolas"/>
              </a:rPr>
              <a:t>Pet </a:t>
            </a:r>
            <a:r>
              <a:rPr lang="en" dirty="0">
                <a:solidFill>
                  <a:srgbClr val="001080"/>
                </a:solidFill>
                <a:highlight>
                  <a:srgbClr val="FFFF00"/>
                </a:highlight>
                <a:latin typeface="Consolas"/>
                <a:ea typeface="Consolas"/>
                <a:cs typeface="Consolas"/>
                <a:sym typeface="Consolas"/>
              </a:rPr>
              <a:t>other</a:t>
            </a:r>
            <a:r>
              <a:rPr lang="en" dirty="0">
                <a:solidFill>
                  <a:srgbClr val="000000"/>
                </a:solidFill>
                <a:latin typeface="Consolas"/>
                <a:ea typeface="Consolas"/>
                <a:cs typeface="Consolas"/>
                <a:sym typeface="Consolas"/>
              </a:rPr>
              <a:t>) {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4</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 </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age</a:t>
            </a:r>
            <a:r>
              <a:rPr lang="en" dirty="0">
                <a:solidFill>
                  <a:srgbClr val="000000"/>
                </a:solidFill>
                <a:latin typeface="Consolas"/>
                <a:ea typeface="Consolas"/>
                <a:cs typeface="Consolas"/>
                <a:sym typeface="Consolas"/>
              </a:rPr>
              <a:t>) &amp;&amp;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5</a:t>
            </a:r>
            <a:r>
              <a:rPr lang="en" dirty="0">
                <a:solidFill>
                  <a:srgbClr val="000000"/>
                </a:solidFill>
                <a:latin typeface="Consolas"/>
                <a:ea typeface="Consolas"/>
                <a:cs typeface="Consolas"/>
                <a:sym typeface="Consolas"/>
              </a:rPr>
              <a:t>           </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r>
              <a:rPr lang="en" dirty="0">
                <a:solidFill>
                  <a:srgbClr val="795E26"/>
                </a:solidFill>
                <a:latin typeface="Consolas"/>
                <a:ea typeface="Consolas"/>
                <a:cs typeface="Consolas"/>
                <a:sym typeface="Consolas"/>
              </a:rPr>
              <a:t>equals</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other</a:t>
            </a:r>
            <a:r>
              <a:rPr lang="en" dirty="0">
                <a:solidFill>
                  <a:srgbClr val="000000"/>
                </a:solidFill>
                <a:latin typeface="Consolas"/>
                <a:ea typeface="Consolas"/>
                <a:cs typeface="Consolas"/>
                <a:sym typeface="Consolas"/>
              </a:rPr>
              <a:t>.</a:t>
            </a:r>
            <a:r>
              <a:rPr lang="en" dirty="0">
                <a:solidFill>
                  <a:srgbClr val="001080"/>
                </a:solidFill>
                <a:latin typeface="Consolas"/>
                <a:ea typeface="Consolas"/>
                <a:cs typeface="Consolas"/>
                <a:sym typeface="Consolas"/>
              </a:rPr>
              <a:t>name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6</a:t>
            </a:r>
            <a:r>
              <a:rPr lang="en" dirty="0">
                <a:solidFill>
                  <a:srgbClr val="000000"/>
                </a:solidFill>
                <a:latin typeface="Consolas"/>
                <a:ea typeface="Consolas"/>
                <a:cs typeface="Consolas"/>
                <a:sym typeface="Consolas"/>
              </a:rPr>
              <a:t>     } </a:t>
            </a:r>
            <a:r>
              <a:rPr lang="en" dirty="0">
                <a:solidFill>
                  <a:srgbClr val="AF00DB"/>
                </a:solidFill>
                <a:latin typeface="Consolas"/>
                <a:ea typeface="Consolas"/>
                <a:cs typeface="Consolas"/>
                <a:sym typeface="Consolas"/>
              </a:rPr>
              <a:t>else</a:t>
            </a:r>
            <a:r>
              <a:rPr lang="en" dirty="0">
                <a:solidFill>
                  <a:srgbClr val="000000"/>
                </a:solidFill>
                <a:latin typeface="Consolas"/>
                <a:ea typeface="Consolas"/>
                <a:cs typeface="Consolas"/>
                <a:sym typeface="Consolas"/>
              </a:rPr>
              <a:t> {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7</a:t>
            </a:r>
            <a:r>
              <a:rPr lang="en" dirty="0">
                <a:solidFill>
                  <a:srgbClr val="000000"/>
                </a:solidFill>
                <a:latin typeface="Consolas"/>
                <a:ea typeface="Consolas"/>
                <a:cs typeface="Consolas"/>
                <a:sym typeface="Consolas"/>
              </a:rPr>
              <a:t>       </a:t>
            </a:r>
            <a:r>
              <a:rPr lang="en" dirty="0">
                <a:solidFill>
                  <a:srgbClr val="AF00DB"/>
                </a:solidFill>
                <a:latin typeface="Consolas"/>
                <a:ea typeface="Consolas"/>
                <a:cs typeface="Consolas"/>
                <a:sym typeface="Consolas"/>
              </a:rPr>
              <a:t>return</a:t>
            </a:r>
            <a:r>
              <a:rPr lang="en" dirty="0">
                <a:solidFill>
                  <a:srgbClr val="000000"/>
                </a:solidFill>
                <a:latin typeface="Consolas"/>
                <a:ea typeface="Consolas"/>
                <a:cs typeface="Consolas"/>
                <a:sym typeface="Consolas"/>
              </a:rPr>
              <a:t> </a:t>
            </a:r>
            <a:r>
              <a:rPr lang="en" dirty="0">
                <a:solidFill>
                  <a:srgbClr val="0000FF"/>
                </a:solidFill>
                <a:latin typeface="Consolas"/>
                <a:ea typeface="Consolas"/>
                <a:cs typeface="Consolas"/>
                <a:sym typeface="Consolas"/>
              </a:rPr>
              <a:t>false</a:t>
            </a:r>
            <a:r>
              <a:rPr lang="en" dirty="0">
                <a:solidFill>
                  <a:srgbClr val="000000"/>
                </a:solidFill>
                <a:latin typeface="Consolas"/>
                <a:ea typeface="Consolas"/>
                <a:cs typeface="Consolas"/>
                <a:sym typeface="Consolas"/>
              </a:rPr>
              <a:t>;</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8</a:t>
            </a:r>
            <a:r>
              <a:rPr lang="en" dirty="0">
                <a:solidFill>
                  <a:srgbClr val="000000"/>
                </a:solidFill>
                <a:latin typeface="Consolas"/>
                <a:ea typeface="Consolas"/>
                <a:cs typeface="Consolas"/>
                <a:sym typeface="Consolas"/>
              </a:rPr>
              <a:t>     }</a:t>
            </a:r>
            <a:endParaRPr dirty="0">
              <a:solidFill>
                <a:srgbClr val="000000"/>
              </a:solidFill>
              <a:latin typeface="Consolas"/>
              <a:ea typeface="Consolas"/>
              <a:cs typeface="Consolas"/>
              <a:sym typeface="Consolas"/>
            </a:endParaRPr>
          </a:p>
          <a:p>
            <a:pPr marL="0" lvl="0" indent="0" algn="l" rtl="0">
              <a:spcBef>
                <a:spcPts val="0"/>
              </a:spcBef>
              <a:spcAft>
                <a:spcPts val="0"/>
              </a:spcAft>
              <a:buNone/>
            </a:pPr>
            <a:r>
              <a:rPr lang="en" dirty="0">
                <a:solidFill>
                  <a:srgbClr val="098658"/>
                </a:solidFill>
                <a:latin typeface="Consolas"/>
                <a:ea typeface="Consolas"/>
                <a:cs typeface="Consolas"/>
                <a:sym typeface="Consolas"/>
              </a:rPr>
              <a:t>9 </a:t>
            </a:r>
            <a:r>
              <a:rPr lang="en" dirty="0">
                <a:solidFill>
                  <a:srgbClr val="000000"/>
                </a:solidFill>
                <a:latin typeface="Consolas"/>
                <a:ea typeface="Consolas"/>
                <a:cs typeface="Consolas"/>
                <a:sym typeface="Consolas"/>
              </a:rPr>
              <a:t> }</a:t>
            </a:r>
            <a:endParaRPr sz="1400" dirty="0">
              <a:solidFill>
                <a:srgbClr val="000000"/>
              </a:solidFill>
              <a:highlight>
                <a:schemeClr val="lt1"/>
              </a:highlight>
              <a:latin typeface="Consolas"/>
              <a:ea typeface="Consolas"/>
              <a:cs typeface="Consolas"/>
              <a:sym typeface="Consolas"/>
            </a:endParaRPr>
          </a:p>
        </p:txBody>
      </p:sp>
      <p:grpSp>
        <p:nvGrpSpPr>
          <p:cNvPr id="680" name="Google Shape;680;p82"/>
          <p:cNvGrpSpPr/>
          <p:nvPr/>
        </p:nvGrpSpPr>
        <p:grpSpPr>
          <a:xfrm>
            <a:off x="5633075" y="1802150"/>
            <a:ext cx="3253950" cy="2209725"/>
            <a:chOff x="5633075" y="1802150"/>
            <a:chExt cx="3253950" cy="2209725"/>
          </a:xfrm>
        </p:grpSpPr>
        <p:sp>
          <p:nvSpPr>
            <p:cNvPr id="681" name="Google Shape;681;p82"/>
            <p:cNvSpPr/>
            <p:nvPr/>
          </p:nvSpPr>
          <p:spPr>
            <a:xfrm>
              <a:off x="5633075" y="1802150"/>
              <a:ext cx="2900400" cy="688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682" name="Google Shape;682;p82"/>
            <p:cNvCxnSpPr>
              <a:stCxn id="677" idx="3"/>
              <a:endCxn id="681" idx="3"/>
            </p:cNvCxnSpPr>
            <p:nvPr/>
          </p:nvCxnSpPr>
          <p:spPr>
            <a:xfrm rot="10800000">
              <a:off x="8533625" y="2146475"/>
              <a:ext cx="353400" cy="1865400"/>
            </a:xfrm>
            <a:prstGeom prst="bentConnector3">
              <a:avLst>
                <a:gd name="adj1" fmla="val -37210"/>
              </a:avLst>
            </a:prstGeom>
            <a:noFill/>
            <a:ln w="19050"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7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7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7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7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77"/>
                                        </p:tgtEl>
                                        <p:attrNameLst>
                                          <p:attrName>style.visibility</p:attrName>
                                        </p:attrNameLst>
                                      </p:cBhvr>
                                      <p:to>
                                        <p:strVal val="visible"/>
                                      </p:to>
                                    </p:set>
                                    <p:animEffect transition="in" filter="fade">
                                      <p:cBhvr>
                                        <p:cTn id="43" dur="1000"/>
                                        <p:tgtEl>
                                          <p:spTgt spid="67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680"/>
                                        </p:tgtEl>
                                        <p:attrNameLst>
                                          <p:attrName>style.visibility</p:attrName>
                                        </p:attrNameLst>
                                      </p:cBhvr>
                                      <p:to>
                                        <p:strVal val="visible"/>
                                      </p:to>
                                    </p:set>
                                    <p:animEffect transition="in" filter="fade">
                                      <p:cBhvr>
                                        <p:cTn id="48" dur="1000"/>
                                        <p:tgtEl>
                                          <p:spTgt spid="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8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sp>
        <p:nvSpPr>
          <p:cNvPr id="688" name="Google Shape;688;p83"/>
          <p:cNvSpPr txBox="1">
            <a:spLocks noGrp="1"/>
          </p:cNvSpPr>
          <p:nvPr>
            <p:ph type="title"/>
          </p:nvPr>
        </p:nvSpPr>
        <p:spPr>
          <a:xfrm>
            <a:off x="311725" y="118050"/>
            <a:ext cx="3706500" cy="1020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t>What About the Other Special Methods?</a:t>
            </a:r>
            <a:endParaRPr sz="2500"/>
          </a:p>
        </p:txBody>
      </p:sp>
      <p:sp>
        <p:nvSpPr>
          <p:cNvPr id="689" name="Google Shape;689;p83"/>
          <p:cNvSpPr txBox="1">
            <a:spLocks noGrp="1"/>
          </p:cNvSpPr>
          <p:nvPr>
            <p:ph type="body" idx="1"/>
          </p:nvPr>
        </p:nvSpPr>
        <p:spPr>
          <a:xfrm>
            <a:off x="4572000" y="118050"/>
            <a:ext cx="4330500" cy="5002365"/>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b="1" i="1" dirty="0">
                <a:solidFill>
                  <a:srgbClr val="FF0000"/>
                </a:solidFill>
                <a:highlight>
                  <a:srgbClr val="FFFF00"/>
                </a:highlight>
              </a:rPr>
              <a:t>Operator overloading</a:t>
            </a:r>
            <a:r>
              <a:rPr lang="en" sz="1200" dirty="0">
                <a:highlight>
                  <a:srgbClr val="FFFF00"/>
                </a:highlight>
              </a:rPr>
              <a:t> refers to replacing the default functionality of an operator.</a:t>
            </a:r>
            <a:endParaRPr sz="1200" dirty="0">
              <a:highlight>
                <a:srgbClr val="FFFF00"/>
              </a:highlight>
            </a:endParaRPr>
          </a:p>
          <a:p>
            <a:pPr marL="457200" lvl="0" indent="-304800" algn="l" rtl="0">
              <a:spcBef>
                <a:spcPts val="1000"/>
              </a:spcBef>
              <a:spcAft>
                <a:spcPts val="0"/>
              </a:spcAft>
              <a:buSzPts val="1200"/>
              <a:buChar char="●"/>
            </a:pPr>
            <a:r>
              <a:rPr lang="en" sz="1200" dirty="0"/>
              <a:t>In Python, there are several other special methods that may be implemented to overload comparison operators:</a:t>
            </a:r>
            <a:endParaRPr sz="1200" dirty="0"/>
          </a:p>
          <a:p>
            <a:pPr marL="914400" lvl="1" indent="-292100" algn="l" rtl="0">
              <a:spcBef>
                <a:spcPts val="0"/>
              </a:spcBef>
              <a:spcAft>
                <a:spcPts val="0"/>
              </a:spcAft>
              <a:buSzPts val="1000"/>
              <a:buChar char="○"/>
            </a:pPr>
            <a:r>
              <a:rPr lang="en" sz="1000" dirty="0">
                <a:highlight>
                  <a:srgbClr val="FFFF00"/>
                </a:highlight>
                <a:latin typeface="Courier New"/>
                <a:ea typeface="Courier New"/>
                <a:cs typeface="Courier New"/>
                <a:sym typeface="Courier New"/>
              </a:rPr>
              <a:t>__lt__</a:t>
            </a:r>
            <a:r>
              <a:rPr lang="en" sz="1000" dirty="0">
                <a:highlight>
                  <a:srgbClr val="FFFF00"/>
                </a:highlight>
              </a:rPr>
              <a:t> overloads less than (</a:t>
            </a:r>
            <a:r>
              <a:rPr lang="en" sz="1000" dirty="0">
                <a:highlight>
                  <a:srgbClr val="FFFF00"/>
                </a:highlight>
                <a:latin typeface="Courier New"/>
                <a:ea typeface="Courier New"/>
                <a:cs typeface="Courier New"/>
                <a:sym typeface="Courier New"/>
              </a:rPr>
              <a:t>&lt;</a:t>
            </a:r>
            <a:r>
              <a:rPr lang="en" sz="1000" dirty="0">
                <a:highlight>
                  <a:srgbClr val="FFFF00"/>
                </a:highlight>
              </a:rPr>
              <a:t>)</a:t>
            </a:r>
            <a:endParaRPr sz="1000" dirty="0">
              <a:highlight>
                <a:srgbClr val="FFFF00"/>
              </a:highlight>
            </a:endParaRPr>
          </a:p>
          <a:p>
            <a:pPr marL="914400" lvl="1" indent="-292100" algn="l" rtl="0">
              <a:spcBef>
                <a:spcPts val="0"/>
              </a:spcBef>
              <a:spcAft>
                <a:spcPts val="0"/>
              </a:spcAft>
              <a:buSzPts val="1000"/>
              <a:buChar char="○"/>
            </a:pPr>
            <a:r>
              <a:rPr lang="en" sz="1000" dirty="0">
                <a:highlight>
                  <a:srgbClr val="FFFF00"/>
                </a:highlight>
                <a:latin typeface="Courier New"/>
                <a:ea typeface="Courier New"/>
                <a:cs typeface="Courier New"/>
                <a:sym typeface="Courier New"/>
              </a:rPr>
              <a:t>__le__</a:t>
            </a:r>
            <a:r>
              <a:rPr lang="en" sz="1000" dirty="0">
                <a:highlight>
                  <a:srgbClr val="FFFF00"/>
                </a:highlight>
              </a:rPr>
              <a:t> overloads less than or equal to (</a:t>
            </a:r>
            <a:r>
              <a:rPr lang="en" sz="1000" dirty="0">
                <a:highlight>
                  <a:srgbClr val="FFFF00"/>
                </a:highlight>
                <a:latin typeface="Courier New"/>
                <a:ea typeface="Courier New"/>
                <a:cs typeface="Courier New"/>
                <a:sym typeface="Courier New"/>
              </a:rPr>
              <a:t>&lt;=</a:t>
            </a:r>
            <a:r>
              <a:rPr lang="en" sz="1000" dirty="0">
                <a:highlight>
                  <a:srgbClr val="FFFF00"/>
                </a:highlight>
              </a:rPr>
              <a:t>)</a:t>
            </a:r>
            <a:endParaRPr sz="1000" dirty="0">
              <a:highlight>
                <a:srgbClr val="FFFF00"/>
              </a:highlight>
            </a:endParaRPr>
          </a:p>
          <a:p>
            <a:pPr marL="914400" lvl="1" indent="-292100" algn="l" rtl="0">
              <a:spcBef>
                <a:spcPts val="0"/>
              </a:spcBef>
              <a:spcAft>
                <a:spcPts val="0"/>
              </a:spcAft>
              <a:buSzPts val="1000"/>
              <a:buChar char="○"/>
            </a:pPr>
            <a:r>
              <a:rPr lang="en" sz="1000" dirty="0">
                <a:highlight>
                  <a:srgbClr val="FFFF00"/>
                </a:highlight>
                <a:latin typeface="Courier New"/>
                <a:ea typeface="Courier New"/>
                <a:cs typeface="Courier New"/>
                <a:sym typeface="Courier New"/>
              </a:rPr>
              <a:t>__gt__</a:t>
            </a:r>
            <a:r>
              <a:rPr lang="en" sz="1000" dirty="0">
                <a:highlight>
                  <a:srgbClr val="FFFF00"/>
                </a:highlight>
              </a:rPr>
              <a:t> overloads greater than (</a:t>
            </a:r>
            <a:r>
              <a:rPr lang="en" sz="1000" dirty="0">
                <a:highlight>
                  <a:srgbClr val="FFFF00"/>
                </a:highlight>
                <a:latin typeface="Courier New"/>
                <a:ea typeface="Courier New"/>
                <a:cs typeface="Courier New"/>
                <a:sym typeface="Courier New"/>
              </a:rPr>
              <a:t>&gt;</a:t>
            </a:r>
            <a:r>
              <a:rPr lang="en" sz="1000" dirty="0">
                <a:highlight>
                  <a:srgbClr val="FFFF00"/>
                </a:highlight>
              </a:rPr>
              <a:t>)</a:t>
            </a:r>
            <a:endParaRPr sz="1000" dirty="0">
              <a:highlight>
                <a:srgbClr val="FFFF00"/>
              </a:highlight>
            </a:endParaRPr>
          </a:p>
          <a:p>
            <a:pPr marL="914400" lvl="1" indent="-292100" algn="l" rtl="0">
              <a:spcBef>
                <a:spcPts val="0"/>
              </a:spcBef>
              <a:spcAft>
                <a:spcPts val="0"/>
              </a:spcAft>
              <a:buSzPts val="1000"/>
              <a:buChar char="○"/>
            </a:pPr>
            <a:r>
              <a:rPr lang="en" sz="1000" dirty="0">
                <a:highlight>
                  <a:srgbClr val="FFFF00"/>
                </a:highlight>
                <a:latin typeface="Courier New"/>
                <a:ea typeface="Courier New"/>
                <a:cs typeface="Courier New"/>
                <a:sym typeface="Courier New"/>
              </a:rPr>
              <a:t>__ge__</a:t>
            </a:r>
            <a:r>
              <a:rPr lang="en" sz="1000" dirty="0">
                <a:highlight>
                  <a:srgbClr val="FFFF00"/>
                </a:highlight>
              </a:rPr>
              <a:t> overloads greater than or equal to (</a:t>
            </a:r>
            <a:r>
              <a:rPr lang="en" sz="1000" dirty="0">
                <a:highlight>
                  <a:srgbClr val="FFFF00"/>
                </a:highlight>
                <a:latin typeface="Courier New"/>
                <a:ea typeface="Courier New"/>
                <a:cs typeface="Courier New"/>
                <a:sym typeface="Courier New"/>
              </a:rPr>
              <a:t>&gt;=</a:t>
            </a:r>
            <a:r>
              <a:rPr lang="en" sz="1000" dirty="0">
                <a:highlight>
                  <a:srgbClr val="FFFF00"/>
                </a:highlight>
              </a:rPr>
              <a:t>)</a:t>
            </a:r>
            <a:endParaRPr sz="1000" dirty="0">
              <a:highlight>
                <a:srgbClr val="FFFF00"/>
              </a:highlight>
            </a:endParaRPr>
          </a:p>
          <a:p>
            <a:pPr marL="457200" lvl="0" indent="-304800" algn="l" rtl="0">
              <a:spcBef>
                <a:spcPts val="1000"/>
              </a:spcBef>
              <a:spcAft>
                <a:spcPts val="0"/>
              </a:spcAft>
              <a:buSzPts val="1200"/>
              <a:buChar char="●"/>
            </a:pPr>
            <a:r>
              <a:rPr lang="en" sz="1200" dirty="0">
                <a:highlight>
                  <a:srgbClr val="FFFF00"/>
                </a:highlight>
              </a:rPr>
              <a:t>Java does not support operator overloading, </a:t>
            </a:r>
            <a:r>
              <a:rPr lang="en" sz="1200" dirty="0"/>
              <a:t>and so there is no way to replace the default behavior of any of the operators in Java.</a:t>
            </a:r>
            <a:endParaRPr sz="1200" dirty="0"/>
          </a:p>
          <a:p>
            <a:pPr marL="457200" lvl="0" indent="-304800" algn="l" rtl="0">
              <a:spcBef>
                <a:spcPts val="1000"/>
              </a:spcBef>
              <a:spcAft>
                <a:spcPts val="0"/>
              </a:spcAft>
              <a:buSzPts val="1200"/>
              <a:buChar char="●"/>
            </a:pPr>
            <a:r>
              <a:rPr lang="en" sz="1200" dirty="0"/>
              <a:t>For the purposes of sorting, Java manages object comparisons in a different way.</a:t>
            </a:r>
            <a:endParaRPr sz="1200" dirty="0"/>
          </a:p>
          <a:p>
            <a:pPr marL="914400" lvl="1" indent="-292100" algn="l" rtl="0">
              <a:spcBef>
                <a:spcPts val="0"/>
              </a:spcBef>
              <a:spcAft>
                <a:spcPts val="0"/>
              </a:spcAft>
              <a:buSzPts val="1000"/>
              <a:buChar char="○"/>
            </a:pPr>
            <a:r>
              <a:rPr lang="en" sz="1000" dirty="0">
                <a:highlight>
                  <a:srgbClr val="FFFF00"/>
                </a:highlight>
              </a:rPr>
              <a:t>We'll talk about how this works in the </a:t>
            </a:r>
            <a:r>
              <a:rPr lang="en" sz="1000" b="1" i="1" dirty="0">
                <a:highlight>
                  <a:srgbClr val="FFFF00"/>
                </a:highlight>
              </a:rPr>
              <a:t>data structures</a:t>
            </a:r>
            <a:r>
              <a:rPr lang="en" sz="1000" dirty="0">
                <a:highlight>
                  <a:srgbClr val="FFFF00"/>
                </a:highlight>
              </a:rPr>
              <a:t> units later in this course.</a:t>
            </a:r>
            <a:endParaRPr sz="1000" dirty="0">
              <a:highlight>
                <a:srgbClr val="FFFF00"/>
              </a:highlight>
            </a:endParaRPr>
          </a:p>
          <a:p>
            <a:pPr marL="457200" lvl="0" indent="-304800" algn="l" rtl="0">
              <a:spcBef>
                <a:spcPts val="1000"/>
              </a:spcBef>
              <a:spcAft>
                <a:spcPts val="0"/>
              </a:spcAft>
              <a:buSzPts val="1200"/>
              <a:buChar char="●"/>
            </a:pPr>
            <a:r>
              <a:rPr lang="en" sz="1200" dirty="0"/>
              <a:t>Python's special </a:t>
            </a:r>
            <a:r>
              <a:rPr lang="en" sz="1200" dirty="0">
                <a:highlight>
                  <a:srgbClr val="FFFF00"/>
                </a:highlight>
                <a:latin typeface="Courier New"/>
                <a:ea typeface="Courier New"/>
                <a:cs typeface="Courier New"/>
                <a:sym typeface="Courier New"/>
              </a:rPr>
              <a:t>__hash__</a:t>
            </a:r>
            <a:r>
              <a:rPr lang="en" sz="1200" dirty="0">
                <a:highlight>
                  <a:srgbClr val="FFFF00"/>
                </a:highlight>
              </a:rPr>
              <a:t> </a:t>
            </a:r>
            <a:r>
              <a:rPr lang="en" sz="1200" dirty="0"/>
              <a:t>method is implemented so that objects will work with hashing data structures like sets and dictionaries.</a:t>
            </a:r>
            <a:endParaRPr sz="1200" dirty="0"/>
          </a:p>
          <a:p>
            <a:pPr marL="914400" lvl="1" indent="-292100" algn="l" rtl="0">
              <a:spcBef>
                <a:spcPts val="0"/>
              </a:spcBef>
              <a:spcAft>
                <a:spcPts val="1000"/>
              </a:spcAft>
              <a:buSzPts val="1000"/>
              <a:buChar char="○"/>
            </a:pPr>
            <a:r>
              <a:rPr lang="en" sz="1000" dirty="0">
                <a:highlight>
                  <a:srgbClr val="FFFF00"/>
                </a:highlight>
              </a:rPr>
              <a:t>Java features an equivalent method that we will discuss in more detail in the data structures units. </a:t>
            </a:r>
            <a:endParaRPr sz="1000" dirty="0">
              <a:highlight>
                <a:srgbClr val="FFFF00"/>
              </a:highlight>
            </a:endParaRPr>
          </a:p>
        </p:txBody>
      </p:sp>
      <p:sp>
        <p:nvSpPr>
          <p:cNvPr id="690" name="Google Shape;690;p83"/>
          <p:cNvSpPr txBox="1">
            <a:spLocks noGrp="1"/>
          </p:cNvSpPr>
          <p:nvPr>
            <p:ph type="body" idx="2"/>
          </p:nvPr>
        </p:nvSpPr>
        <p:spPr>
          <a:xfrm>
            <a:off x="284075" y="1747350"/>
            <a:ext cx="3769200" cy="1648800"/>
          </a:xfrm>
          <a:prstGeom prst="rect">
            <a:avLst/>
          </a:prstGeom>
          <a:solidFill>
            <a:srgbClr val="000000"/>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999999"/>
                </a:solidFill>
                <a:latin typeface="Consolas"/>
                <a:ea typeface="Consolas"/>
                <a:cs typeface="Consolas"/>
                <a:sym typeface="Consolas"/>
              </a:rPr>
              <a:t>1  </a:t>
            </a:r>
            <a:r>
              <a:rPr lang="en" sz="1150">
                <a:solidFill>
                  <a:srgbClr val="569CD6"/>
                </a:solidFill>
                <a:latin typeface="Consolas"/>
                <a:ea typeface="Consolas"/>
                <a:cs typeface="Consolas"/>
                <a:sym typeface="Consolas"/>
              </a:rPr>
              <a:t>class </a:t>
            </a:r>
            <a:r>
              <a:rPr lang="en" sz="1150">
                <a:solidFill>
                  <a:srgbClr val="D4D4D4"/>
                </a:solidFill>
                <a:latin typeface="Consolas"/>
                <a:ea typeface="Consolas"/>
                <a:cs typeface="Consolas"/>
                <a:sym typeface="Consolas"/>
              </a:rPr>
              <a:t>Bike:</a:t>
            </a:r>
            <a:endParaRPr sz="1150">
              <a:solidFill>
                <a:srgbClr val="D4D4D4"/>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2 </a:t>
            </a:r>
            <a:endParaRPr sz="1150">
              <a:solidFill>
                <a:srgbClr val="999999"/>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3  </a:t>
            </a:r>
            <a:r>
              <a:rPr lang="en" sz="1150">
                <a:solidFill>
                  <a:srgbClr val="569CD6"/>
                </a:solidFill>
                <a:latin typeface="Consolas"/>
                <a:ea typeface="Consolas"/>
                <a:cs typeface="Consolas"/>
                <a:sym typeface="Consolas"/>
              </a:rPr>
              <a:t>  def</a:t>
            </a:r>
            <a:r>
              <a:rPr lang="en" sz="1150">
                <a:solidFill>
                  <a:srgbClr val="D4D4D4"/>
                </a:solidFill>
                <a:latin typeface="Consolas"/>
                <a:ea typeface="Consolas"/>
                <a:cs typeface="Consolas"/>
                <a:sym typeface="Consolas"/>
              </a:rPr>
              <a:t> </a:t>
            </a:r>
            <a:r>
              <a:rPr lang="en" sz="1150">
                <a:solidFill>
                  <a:srgbClr val="DCDCAA"/>
                </a:solidFill>
                <a:latin typeface="Consolas"/>
                <a:ea typeface="Consolas"/>
                <a:cs typeface="Consolas"/>
                <a:sym typeface="Consolas"/>
              </a:rPr>
              <a:t>__lt__</a:t>
            </a:r>
            <a:r>
              <a:rPr lang="en" sz="1150">
                <a:solidFill>
                  <a:srgbClr val="D4D4D4"/>
                </a:solidFill>
                <a:latin typeface="Consolas"/>
                <a:ea typeface="Consolas"/>
                <a:cs typeface="Consolas"/>
                <a:sym typeface="Consolas"/>
              </a:rPr>
              <a:t>(</a:t>
            </a:r>
            <a:r>
              <a:rPr lang="en" sz="1150">
                <a:solidFill>
                  <a:srgbClr val="9CDCFE"/>
                </a:solidFill>
                <a:latin typeface="Consolas"/>
                <a:ea typeface="Consolas"/>
                <a:cs typeface="Consolas"/>
                <a:sym typeface="Consolas"/>
              </a:rPr>
              <a:t>self</a:t>
            </a:r>
            <a:r>
              <a:rPr lang="en" sz="1150">
                <a:solidFill>
                  <a:srgbClr val="D4D4D4"/>
                </a:solidFill>
                <a:latin typeface="Consolas"/>
                <a:ea typeface="Consolas"/>
                <a:cs typeface="Consolas"/>
                <a:sym typeface="Consolas"/>
              </a:rPr>
              <a:t>, </a:t>
            </a:r>
            <a:r>
              <a:rPr lang="en" sz="1150">
                <a:solidFill>
                  <a:srgbClr val="9CDCFE"/>
                </a:solidFill>
                <a:latin typeface="Consolas"/>
                <a:ea typeface="Consolas"/>
                <a:cs typeface="Consolas"/>
                <a:sym typeface="Consolas"/>
              </a:rPr>
              <a:t>other</a:t>
            </a:r>
            <a:r>
              <a:rPr lang="en" sz="1150">
                <a:solidFill>
                  <a:srgbClr val="D4D4D4"/>
                </a:solidFill>
                <a:latin typeface="Consolas"/>
                <a:ea typeface="Consolas"/>
                <a:cs typeface="Consolas"/>
                <a:sym typeface="Consolas"/>
              </a:rPr>
              <a:t>):</a:t>
            </a:r>
            <a:endParaRPr sz="1150">
              <a:solidFill>
                <a:srgbClr val="D4D4D4"/>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4  </a:t>
            </a:r>
            <a:r>
              <a:rPr lang="en" sz="1150">
                <a:solidFill>
                  <a:srgbClr val="D4D4D4"/>
                </a:solidFill>
                <a:latin typeface="Consolas"/>
                <a:ea typeface="Consolas"/>
                <a:cs typeface="Consolas"/>
                <a:sym typeface="Consolas"/>
              </a:rPr>
              <a:t>    </a:t>
            </a:r>
            <a:r>
              <a:rPr lang="en" sz="1150">
                <a:solidFill>
                  <a:srgbClr val="C586C0"/>
                </a:solidFill>
                <a:latin typeface="Consolas"/>
                <a:ea typeface="Consolas"/>
                <a:cs typeface="Consolas"/>
                <a:sym typeface="Consolas"/>
              </a:rPr>
              <a:t>if</a:t>
            </a:r>
            <a:r>
              <a:rPr lang="en" sz="1150">
                <a:solidFill>
                  <a:srgbClr val="D4D4D4"/>
                </a:solidFill>
                <a:latin typeface="Consolas"/>
                <a:ea typeface="Consolas"/>
                <a:cs typeface="Consolas"/>
                <a:sym typeface="Consolas"/>
              </a:rPr>
              <a:t> </a:t>
            </a:r>
            <a:r>
              <a:rPr lang="en" sz="1150">
                <a:solidFill>
                  <a:srgbClr val="4EC9B0"/>
                </a:solidFill>
                <a:latin typeface="Consolas"/>
                <a:ea typeface="Consolas"/>
                <a:cs typeface="Consolas"/>
                <a:sym typeface="Consolas"/>
              </a:rPr>
              <a:t>type</a:t>
            </a:r>
            <a:r>
              <a:rPr lang="en" sz="1150">
                <a:solidFill>
                  <a:srgbClr val="D4D4D4"/>
                </a:solidFill>
                <a:latin typeface="Consolas"/>
                <a:ea typeface="Consolas"/>
                <a:cs typeface="Consolas"/>
                <a:sym typeface="Consolas"/>
              </a:rPr>
              <a:t>(</a:t>
            </a:r>
            <a:r>
              <a:rPr lang="en" sz="1150">
                <a:solidFill>
                  <a:srgbClr val="569CD6"/>
                </a:solidFill>
                <a:latin typeface="Consolas"/>
                <a:ea typeface="Consolas"/>
                <a:cs typeface="Consolas"/>
                <a:sym typeface="Consolas"/>
              </a:rPr>
              <a:t>self</a:t>
            </a:r>
            <a:r>
              <a:rPr lang="en" sz="1150">
                <a:solidFill>
                  <a:srgbClr val="D4D4D4"/>
                </a:solidFill>
                <a:latin typeface="Consolas"/>
                <a:ea typeface="Consolas"/>
                <a:cs typeface="Consolas"/>
                <a:sym typeface="Consolas"/>
              </a:rPr>
              <a:t>) == </a:t>
            </a:r>
            <a:r>
              <a:rPr lang="en" sz="1150">
                <a:solidFill>
                  <a:srgbClr val="4EC9B0"/>
                </a:solidFill>
                <a:latin typeface="Consolas"/>
                <a:ea typeface="Consolas"/>
                <a:cs typeface="Consolas"/>
                <a:sym typeface="Consolas"/>
              </a:rPr>
              <a:t>type</a:t>
            </a:r>
            <a:r>
              <a:rPr lang="en" sz="1150">
                <a:solidFill>
                  <a:srgbClr val="D4D4D4"/>
                </a:solidFill>
                <a:latin typeface="Consolas"/>
                <a:ea typeface="Consolas"/>
                <a:cs typeface="Consolas"/>
                <a:sym typeface="Consolas"/>
              </a:rPr>
              <a:t>(other):</a:t>
            </a:r>
            <a:endParaRPr sz="1150">
              <a:solidFill>
                <a:srgbClr val="D4D4D4"/>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5  </a:t>
            </a:r>
            <a:r>
              <a:rPr lang="en" sz="1150">
                <a:solidFill>
                  <a:srgbClr val="D4D4D4"/>
                </a:solidFill>
                <a:latin typeface="Consolas"/>
                <a:ea typeface="Consolas"/>
                <a:cs typeface="Consolas"/>
                <a:sym typeface="Consolas"/>
              </a:rPr>
              <a:t>      </a:t>
            </a:r>
            <a:r>
              <a:rPr lang="en" sz="1150">
                <a:solidFill>
                  <a:srgbClr val="C586C0"/>
                </a:solidFill>
                <a:latin typeface="Consolas"/>
                <a:ea typeface="Consolas"/>
                <a:cs typeface="Consolas"/>
                <a:sym typeface="Consolas"/>
              </a:rPr>
              <a:t>return</a:t>
            </a:r>
            <a:r>
              <a:rPr lang="en" sz="1150">
                <a:solidFill>
                  <a:srgbClr val="D4D4D4"/>
                </a:solidFill>
                <a:latin typeface="Consolas"/>
                <a:ea typeface="Consolas"/>
                <a:cs typeface="Consolas"/>
                <a:sym typeface="Consolas"/>
              </a:rPr>
              <a:t> </a:t>
            </a:r>
            <a:r>
              <a:rPr lang="en" sz="1150">
                <a:solidFill>
                  <a:srgbClr val="569CD6"/>
                </a:solidFill>
                <a:latin typeface="Consolas"/>
                <a:ea typeface="Consolas"/>
                <a:cs typeface="Consolas"/>
                <a:sym typeface="Consolas"/>
              </a:rPr>
              <a:t>self</a:t>
            </a:r>
            <a:r>
              <a:rPr lang="en" sz="1150">
                <a:solidFill>
                  <a:srgbClr val="D4D4D4"/>
                </a:solidFill>
                <a:latin typeface="Consolas"/>
                <a:ea typeface="Consolas"/>
                <a:cs typeface="Consolas"/>
                <a:sym typeface="Consolas"/>
              </a:rPr>
              <a:t>.__gears &lt; other.__gears</a:t>
            </a:r>
            <a:endParaRPr sz="1150">
              <a:solidFill>
                <a:srgbClr val="D4D4D4"/>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6  	</a:t>
            </a:r>
            <a:r>
              <a:rPr lang="en" sz="1150">
                <a:solidFill>
                  <a:srgbClr val="C586C0"/>
                </a:solidFill>
                <a:latin typeface="Consolas"/>
                <a:ea typeface="Consolas"/>
                <a:cs typeface="Consolas"/>
                <a:sym typeface="Consolas"/>
              </a:rPr>
              <a:t>else</a:t>
            </a:r>
            <a:r>
              <a:rPr lang="en" sz="1150">
                <a:solidFill>
                  <a:srgbClr val="D4D4D4"/>
                </a:solidFill>
                <a:latin typeface="Consolas"/>
                <a:ea typeface="Consolas"/>
                <a:cs typeface="Consolas"/>
                <a:sym typeface="Consolas"/>
              </a:rPr>
              <a:t>:</a:t>
            </a:r>
            <a:endParaRPr sz="1150">
              <a:solidFill>
                <a:srgbClr val="D4D4D4"/>
              </a:solidFill>
              <a:latin typeface="Consolas"/>
              <a:ea typeface="Consolas"/>
              <a:cs typeface="Consolas"/>
              <a:sym typeface="Consolas"/>
            </a:endParaRPr>
          </a:p>
          <a:p>
            <a:pPr marL="0" lvl="0" indent="0" algn="l" rtl="0">
              <a:spcBef>
                <a:spcPts val="0"/>
              </a:spcBef>
              <a:spcAft>
                <a:spcPts val="0"/>
              </a:spcAft>
              <a:buNone/>
            </a:pPr>
            <a:r>
              <a:rPr lang="en" sz="1150">
                <a:solidFill>
                  <a:srgbClr val="999999"/>
                </a:solidFill>
                <a:latin typeface="Consolas"/>
                <a:ea typeface="Consolas"/>
                <a:cs typeface="Consolas"/>
                <a:sym typeface="Consolas"/>
              </a:rPr>
              <a:t>7  </a:t>
            </a:r>
            <a:r>
              <a:rPr lang="en" sz="1150">
                <a:solidFill>
                  <a:srgbClr val="D4D4D4"/>
                </a:solidFill>
                <a:latin typeface="Consolas"/>
                <a:ea typeface="Consolas"/>
                <a:cs typeface="Consolas"/>
                <a:sym typeface="Consolas"/>
              </a:rPr>
              <a:t>      </a:t>
            </a:r>
            <a:r>
              <a:rPr lang="en" sz="1150">
                <a:solidFill>
                  <a:srgbClr val="C586C0"/>
                </a:solidFill>
                <a:latin typeface="Consolas"/>
                <a:ea typeface="Consolas"/>
                <a:cs typeface="Consolas"/>
                <a:sym typeface="Consolas"/>
              </a:rPr>
              <a:t>return</a:t>
            </a:r>
            <a:r>
              <a:rPr lang="en" sz="1150">
                <a:solidFill>
                  <a:srgbClr val="D4D4D4"/>
                </a:solidFill>
                <a:latin typeface="Consolas"/>
                <a:ea typeface="Consolas"/>
                <a:cs typeface="Consolas"/>
                <a:sym typeface="Consolas"/>
              </a:rPr>
              <a:t> </a:t>
            </a:r>
            <a:r>
              <a:rPr lang="en" sz="1150">
                <a:solidFill>
                  <a:srgbClr val="569CD6"/>
                </a:solidFill>
                <a:latin typeface="Consolas"/>
                <a:ea typeface="Consolas"/>
                <a:cs typeface="Consolas"/>
                <a:sym typeface="Consolas"/>
              </a:rPr>
              <a:t>False</a:t>
            </a:r>
            <a:endParaRPr sz="1150">
              <a:latin typeface="Consolas"/>
              <a:ea typeface="Consolas"/>
              <a:cs typeface="Consolas"/>
              <a:sym typeface="Consolas"/>
            </a:endParaRPr>
          </a:p>
        </p:txBody>
      </p:sp>
      <p:sp>
        <p:nvSpPr>
          <p:cNvPr id="691" name="Google Shape;691;p83"/>
          <p:cNvSpPr txBox="1">
            <a:spLocks noGrp="1"/>
          </p:cNvSpPr>
          <p:nvPr>
            <p:ph type="body" idx="3"/>
          </p:nvPr>
        </p:nvSpPr>
        <p:spPr>
          <a:xfrm>
            <a:off x="280375" y="3540575"/>
            <a:ext cx="37692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For the purposes of sorting, Java manages object comparisons using a different strategy than Python. </a:t>
            </a:r>
            <a:r>
              <a:rPr lang="en" sz="1200" dirty="0"/>
              <a:t>This will be discussed in detail in a later unit.</a:t>
            </a:r>
            <a:endParaRPr sz="1200" dirty="0"/>
          </a:p>
        </p:txBody>
      </p:sp>
      <p:sp>
        <p:nvSpPr>
          <p:cNvPr id="692" name="Google Shape;692;p83"/>
          <p:cNvSpPr/>
          <p:nvPr/>
        </p:nvSpPr>
        <p:spPr>
          <a:xfrm>
            <a:off x="1004875" y="1690437"/>
            <a:ext cx="1901700" cy="1758900"/>
          </a:xfrm>
          <a:prstGeom prst="noSmoking">
            <a:avLst>
              <a:gd name="adj" fmla="val 5161"/>
            </a:avLst>
          </a:prstGeom>
          <a:solidFill>
            <a:srgbClr val="FF0000"/>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8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8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8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8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8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8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92"/>
                                        </p:tgtEl>
                                        <p:attrNameLst>
                                          <p:attrName>style.visibility</p:attrName>
                                        </p:attrNameLst>
                                      </p:cBhvr>
                                      <p:to>
                                        <p:strVal val="visible"/>
                                      </p:to>
                                    </p:set>
                                    <p:animEffect transition="in" filter="fade">
                                      <p:cBhvr>
                                        <p:cTn id="51" dur="1000"/>
                                        <p:tgtEl>
                                          <p:spTgt spid="69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91"/>
                                        </p:tgtEl>
                                        <p:attrNameLst>
                                          <p:attrName>style.visibility</p:attrName>
                                        </p:attrNameLst>
                                      </p:cBhvr>
                                      <p:to>
                                        <p:strVal val="visible"/>
                                      </p:to>
                                    </p:set>
                                    <p:animEffect transition="in" filter="fade">
                                      <p:cBhvr>
                                        <p:cTn id="56" dur="1000"/>
                                        <p:tgtEl>
                                          <p:spTgt spid="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84"/>
          <p:cNvSpPr txBox="1">
            <a:spLocks noGrp="1"/>
          </p:cNvSpPr>
          <p:nvPr>
            <p:ph type="title"/>
          </p:nvPr>
        </p:nvSpPr>
        <p:spPr>
          <a:xfrm>
            <a:off x="50361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More About </a:t>
            </a:r>
            <a:r>
              <a:rPr lang="en">
                <a:latin typeface="Courier New"/>
                <a:ea typeface="Courier New"/>
                <a:cs typeface="Courier New"/>
                <a:sym typeface="Courier New"/>
              </a:rPr>
              <a:t>enum</a:t>
            </a:r>
            <a:r>
              <a:rPr lang="en"/>
              <a:t>s</a:t>
            </a:r>
            <a:endParaRPr/>
          </a:p>
        </p:txBody>
      </p:sp>
      <p:sp>
        <p:nvSpPr>
          <p:cNvPr id="698" name="Google Shape;698;p84"/>
          <p:cNvSpPr txBox="1">
            <a:spLocks noGrp="1"/>
          </p:cNvSpPr>
          <p:nvPr>
            <p:ph type="body" idx="1"/>
          </p:nvPr>
        </p:nvSpPr>
        <p:spPr>
          <a:xfrm>
            <a:off x="153550" y="45050"/>
            <a:ext cx="4579500" cy="5012700"/>
          </a:xfrm>
          <a:prstGeom prst="rect">
            <a:avLst/>
          </a:prstGeom>
        </p:spPr>
        <p:txBody>
          <a:bodyPr spcFirstLastPara="1" wrap="square" lIns="91425" tIns="91425" rIns="91425" bIns="91425" anchor="t" anchorCtr="0">
            <a:spAutoFit/>
          </a:bodyPr>
          <a:lstStyle/>
          <a:p>
            <a:pPr marL="457200" lvl="0" indent="-304800" algn="l" rtl="0">
              <a:lnSpc>
                <a:spcPct val="100000"/>
              </a:lnSpc>
              <a:spcBef>
                <a:spcPts val="0"/>
              </a:spcBef>
              <a:spcAft>
                <a:spcPts val="0"/>
              </a:spcAft>
              <a:buSzPts val="1200"/>
              <a:buChar char="●"/>
            </a:pPr>
            <a:r>
              <a:rPr lang="en" sz="1200" dirty="0">
                <a:highlight>
                  <a:srgbClr val="FFFF00"/>
                </a:highlight>
              </a:rPr>
              <a:t>A Java </a:t>
            </a:r>
            <a:r>
              <a:rPr lang="en" sz="1200" dirty="0">
                <a:highlight>
                  <a:srgbClr val="FFFF00"/>
                </a:highlight>
                <a:latin typeface="Courier New"/>
                <a:ea typeface="Courier New"/>
                <a:cs typeface="Courier New"/>
                <a:sym typeface="Courier New"/>
              </a:rPr>
              <a:t>enum</a:t>
            </a:r>
            <a:r>
              <a:rPr lang="en" sz="1200" dirty="0">
                <a:highlight>
                  <a:srgbClr val="FFFF00"/>
                </a:highlight>
              </a:rPr>
              <a:t> is really a full-blown class with some extra requirements and features.</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We already know that we can add fields, constructors, methods, and so on.</a:t>
            </a:r>
            <a:endParaRPr sz="1000" dirty="0"/>
          </a:p>
          <a:p>
            <a:pPr marL="914400" lvl="1" indent="-292100" algn="l" rtl="0">
              <a:lnSpc>
                <a:spcPct val="100000"/>
              </a:lnSpc>
              <a:spcBef>
                <a:spcPts val="0"/>
              </a:spcBef>
              <a:spcAft>
                <a:spcPts val="0"/>
              </a:spcAft>
              <a:buSzPts val="1000"/>
              <a:buChar char="○"/>
            </a:pPr>
            <a:r>
              <a:rPr lang="en" sz="1000" dirty="0"/>
              <a:t>Only the values enumerated inside of the enum can be assigned to a variable of the </a:t>
            </a:r>
            <a:r>
              <a:rPr lang="en" sz="1000" dirty="0">
                <a:latin typeface="Courier New"/>
                <a:ea typeface="Courier New"/>
                <a:cs typeface="Courier New"/>
                <a:sym typeface="Courier New"/>
              </a:rPr>
              <a:t>enum</a:t>
            </a:r>
            <a:r>
              <a:rPr lang="en" sz="1000" dirty="0"/>
              <a:t>'s type.</a:t>
            </a:r>
            <a:endParaRPr sz="1000" dirty="0"/>
          </a:p>
          <a:p>
            <a:pPr marL="457200" lvl="0" indent="-304800" algn="l" rtl="0">
              <a:lnSpc>
                <a:spcPct val="100000"/>
              </a:lnSpc>
              <a:spcBef>
                <a:spcPts val="1000"/>
              </a:spcBef>
              <a:spcAft>
                <a:spcPts val="0"/>
              </a:spcAft>
              <a:buSzPts val="1200"/>
              <a:buChar char="●"/>
            </a:pPr>
            <a:r>
              <a:rPr lang="en" sz="1200" dirty="0"/>
              <a:t>Java </a:t>
            </a:r>
            <a:r>
              <a:rPr lang="en" sz="1200" dirty="0">
                <a:latin typeface="Courier New"/>
                <a:ea typeface="Courier New"/>
                <a:cs typeface="Courier New"/>
                <a:sym typeface="Courier New"/>
              </a:rPr>
              <a:t>enum</a:t>
            </a:r>
            <a:r>
              <a:rPr lang="en" sz="1200" dirty="0"/>
              <a:t>s also have quite a few other features.</a:t>
            </a:r>
            <a:endParaRPr sz="1200" dirty="0"/>
          </a:p>
          <a:p>
            <a:pPr marL="457200" lvl="0" indent="-304800" algn="l" rtl="0">
              <a:lnSpc>
                <a:spcPct val="100000"/>
              </a:lnSpc>
              <a:spcBef>
                <a:spcPts val="1000"/>
              </a:spcBef>
              <a:spcAft>
                <a:spcPts val="0"/>
              </a:spcAft>
              <a:buSzPts val="1200"/>
              <a:buChar char="●"/>
            </a:pPr>
            <a:r>
              <a:rPr lang="en" sz="1200" dirty="0"/>
              <a:t>The default </a:t>
            </a:r>
            <a:r>
              <a:rPr lang="en" sz="1200" dirty="0">
                <a:solidFill>
                  <a:srgbClr val="EE0000"/>
                </a:solidFill>
                <a:highlight>
                  <a:srgbClr val="FFFF00"/>
                </a:highlight>
                <a:latin typeface="Courier New"/>
                <a:ea typeface="Courier New"/>
                <a:cs typeface="Courier New"/>
                <a:sym typeface="Courier New"/>
              </a:rPr>
              <a:t>toString()</a:t>
            </a:r>
            <a:r>
              <a:rPr lang="en" sz="1200" dirty="0">
                <a:highlight>
                  <a:srgbClr val="FFFF00"/>
                </a:highlight>
              </a:rPr>
              <a:t> method returns the name of the value.</a:t>
            </a:r>
            <a:endParaRPr sz="1200" dirty="0">
              <a:highlight>
                <a:srgbClr val="FFFF00"/>
              </a:highlight>
            </a:endParaRPr>
          </a:p>
          <a:p>
            <a:pPr marL="914400" lvl="1" indent="-292100" algn="l" rtl="0">
              <a:lnSpc>
                <a:spcPct val="100000"/>
              </a:lnSpc>
              <a:spcBef>
                <a:spcPts val="0"/>
              </a:spcBef>
              <a:spcAft>
                <a:spcPts val="0"/>
              </a:spcAft>
              <a:buSzPts val="1000"/>
              <a:buChar char="○"/>
            </a:pPr>
            <a:r>
              <a:rPr lang="en" sz="1000" dirty="0"/>
              <a:t>e.g. </a:t>
            </a:r>
            <a:r>
              <a:rPr lang="en" sz="1000" dirty="0">
                <a:latin typeface="Courier New"/>
                <a:ea typeface="Courier New"/>
                <a:cs typeface="Courier New"/>
                <a:sym typeface="Courier New"/>
              </a:rPr>
              <a:t>BoilingPoint.KELVIN</a:t>
            </a:r>
            <a:r>
              <a:rPr lang="en" sz="1000" dirty="0"/>
              <a:t> will return </a:t>
            </a:r>
            <a:r>
              <a:rPr lang="en" sz="1000" dirty="0">
                <a:latin typeface="Courier New"/>
                <a:ea typeface="Courier New"/>
                <a:cs typeface="Courier New"/>
                <a:sym typeface="Courier New"/>
              </a:rPr>
              <a:t>"KELVIN"</a:t>
            </a:r>
            <a:r>
              <a:rPr lang="en" sz="1000" dirty="0"/>
              <a:t>.</a:t>
            </a:r>
            <a:endParaRPr sz="1000" dirty="0"/>
          </a:p>
          <a:p>
            <a:pPr marL="457200" lvl="0" indent="-304800" algn="l" rtl="0">
              <a:lnSpc>
                <a:spcPct val="100000"/>
              </a:lnSpc>
              <a:spcBef>
                <a:spcPts val="1000"/>
              </a:spcBef>
              <a:spcAft>
                <a:spcPts val="0"/>
              </a:spcAft>
              <a:buSzPts val="1200"/>
              <a:buChar char="●"/>
            </a:pPr>
            <a:r>
              <a:rPr lang="en" sz="1200" dirty="0"/>
              <a:t>The </a:t>
            </a:r>
            <a:r>
              <a:rPr lang="en" sz="1200" dirty="0">
                <a:solidFill>
                  <a:srgbClr val="EE0000"/>
                </a:solidFill>
                <a:highlight>
                  <a:srgbClr val="FFFF00"/>
                </a:highlight>
                <a:latin typeface="Courier New"/>
                <a:ea typeface="Courier New"/>
                <a:cs typeface="Courier New"/>
                <a:sym typeface="Courier New"/>
              </a:rPr>
              <a:t>name()</a:t>
            </a:r>
            <a:r>
              <a:rPr lang="en" sz="1200" dirty="0">
                <a:highlight>
                  <a:srgbClr val="FFFF00"/>
                </a:highlight>
              </a:rPr>
              <a:t> </a:t>
            </a:r>
            <a:r>
              <a:rPr lang="en" sz="1200" dirty="0"/>
              <a:t>method will also return the name of a value, similar to </a:t>
            </a:r>
            <a:r>
              <a:rPr lang="en" sz="1200" dirty="0">
                <a:latin typeface="Courier New"/>
                <a:ea typeface="Courier New"/>
                <a:cs typeface="Courier New"/>
                <a:sym typeface="Courier New"/>
              </a:rPr>
              <a:t>toString()</a:t>
            </a:r>
            <a:r>
              <a:rPr lang="en" sz="1200" dirty="0"/>
              <a:t>.</a:t>
            </a:r>
            <a:endParaRPr sz="1200" dirty="0"/>
          </a:p>
          <a:p>
            <a:pPr marL="914400" lvl="1" indent="-292100" algn="l" rtl="0">
              <a:lnSpc>
                <a:spcPct val="100000"/>
              </a:lnSpc>
              <a:spcBef>
                <a:spcPts val="0"/>
              </a:spcBef>
              <a:spcAft>
                <a:spcPts val="0"/>
              </a:spcAft>
              <a:buSzPts val="1000"/>
              <a:buChar char="○"/>
            </a:pPr>
            <a:r>
              <a:rPr lang="en" sz="1000" dirty="0"/>
              <a:t>e.g. </a:t>
            </a:r>
            <a:r>
              <a:rPr lang="en" sz="1000" dirty="0">
                <a:solidFill>
                  <a:srgbClr val="EE0000"/>
                </a:solidFill>
                <a:latin typeface="Courier New"/>
                <a:ea typeface="Courier New"/>
                <a:cs typeface="Courier New"/>
                <a:sym typeface="Courier New"/>
              </a:rPr>
              <a:t>BoilingPoint.CELSIUS.name()</a:t>
            </a:r>
            <a:r>
              <a:rPr lang="en" sz="1000" dirty="0"/>
              <a:t> will return </a:t>
            </a:r>
            <a:r>
              <a:rPr lang="en" sz="1000" dirty="0">
                <a:latin typeface="Courier New"/>
                <a:ea typeface="Courier New"/>
                <a:cs typeface="Courier New"/>
                <a:sym typeface="Courier New"/>
              </a:rPr>
              <a:t>"CELSIUS"</a:t>
            </a:r>
            <a:r>
              <a:rPr lang="en" sz="1000" dirty="0"/>
              <a:t>.</a:t>
            </a:r>
            <a:endParaRPr sz="1000" dirty="0"/>
          </a:p>
          <a:p>
            <a:pPr marL="914400" lvl="1" indent="-292100" algn="l" rtl="0">
              <a:lnSpc>
                <a:spcPct val="100000"/>
              </a:lnSpc>
              <a:spcBef>
                <a:spcPts val="0"/>
              </a:spcBef>
              <a:spcAft>
                <a:spcPts val="0"/>
              </a:spcAft>
              <a:buSzPts val="1000"/>
              <a:buChar char="○"/>
            </a:pPr>
            <a:r>
              <a:rPr lang="en" sz="1000" dirty="0"/>
              <a:t>It can be used inside the methods of the enum.</a:t>
            </a:r>
            <a:endParaRPr sz="1000" dirty="0"/>
          </a:p>
          <a:p>
            <a:pPr marL="457200" lvl="0" indent="-304800" algn="l" rtl="0">
              <a:lnSpc>
                <a:spcPct val="100000"/>
              </a:lnSpc>
              <a:spcBef>
                <a:spcPts val="1000"/>
              </a:spcBef>
              <a:spcAft>
                <a:spcPts val="0"/>
              </a:spcAft>
              <a:buSzPts val="1200"/>
              <a:buChar char="●"/>
            </a:pPr>
            <a:r>
              <a:rPr lang="en" sz="1200" dirty="0"/>
              <a:t>The </a:t>
            </a:r>
            <a:r>
              <a:rPr lang="en" sz="1200" dirty="0">
                <a:solidFill>
                  <a:srgbClr val="FF0000"/>
                </a:solidFill>
                <a:highlight>
                  <a:srgbClr val="FFFF00"/>
                </a:highlight>
                <a:latin typeface="Courier New"/>
                <a:ea typeface="Courier New"/>
                <a:cs typeface="Courier New"/>
                <a:sym typeface="Courier New"/>
              </a:rPr>
              <a:t>valueOf(String)</a:t>
            </a:r>
            <a:r>
              <a:rPr lang="en" sz="1200" dirty="0">
                <a:highlight>
                  <a:srgbClr val="FFFF00"/>
                </a:highlight>
              </a:rPr>
              <a:t> </a:t>
            </a:r>
            <a:r>
              <a:rPr lang="en" sz="1200" dirty="0"/>
              <a:t>method returns the value with the name that matches the string.</a:t>
            </a:r>
            <a:endParaRPr sz="1200" dirty="0"/>
          </a:p>
          <a:p>
            <a:pPr marL="914400" lvl="1" indent="-292100" algn="l" rtl="0">
              <a:lnSpc>
                <a:spcPct val="100000"/>
              </a:lnSpc>
              <a:spcBef>
                <a:spcPts val="0"/>
              </a:spcBef>
              <a:spcAft>
                <a:spcPts val="0"/>
              </a:spcAft>
              <a:buSzPts val="1000"/>
              <a:buChar char="○"/>
            </a:pPr>
            <a:r>
              <a:rPr lang="en" sz="1000" dirty="0"/>
              <a:t>e.g. </a:t>
            </a:r>
            <a:r>
              <a:rPr lang="en" sz="1000" dirty="0">
                <a:solidFill>
                  <a:srgbClr val="EE0000"/>
                </a:solidFill>
                <a:latin typeface="Courier New"/>
                <a:ea typeface="Courier New"/>
                <a:cs typeface="Courier New"/>
                <a:sym typeface="Courier New"/>
              </a:rPr>
              <a:t>BoilingPoint.valueOf("CELSIUS")</a:t>
            </a:r>
            <a:r>
              <a:rPr lang="en" sz="1000" dirty="0"/>
              <a:t> will return </a:t>
            </a:r>
            <a:r>
              <a:rPr lang="en" sz="1000" dirty="0">
                <a:latin typeface="Courier New"/>
                <a:ea typeface="Courier New"/>
                <a:cs typeface="Courier New"/>
                <a:sym typeface="Courier New"/>
              </a:rPr>
              <a:t>BoilingPoint.CELSIUS</a:t>
            </a:r>
            <a:r>
              <a:rPr lang="en" sz="1000" dirty="0"/>
              <a:t>. </a:t>
            </a:r>
            <a:endParaRPr sz="1000" dirty="0"/>
          </a:p>
          <a:p>
            <a:pPr marL="914400" lvl="1" indent="-292100" algn="l" rtl="0">
              <a:lnSpc>
                <a:spcPct val="100000"/>
              </a:lnSpc>
              <a:spcBef>
                <a:spcPts val="0"/>
              </a:spcBef>
              <a:spcAft>
                <a:spcPts val="0"/>
              </a:spcAft>
              <a:buSzPts val="1000"/>
              <a:buChar char="○"/>
            </a:pPr>
            <a:r>
              <a:rPr lang="en" sz="1000" dirty="0"/>
              <a:t>Specifying the name of a value that does not exist will throw an </a:t>
            </a:r>
            <a:r>
              <a:rPr lang="en" sz="1000" dirty="0">
                <a:latin typeface="Courier New"/>
                <a:ea typeface="Courier New"/>
                <a:cs typeface="Courier New"/>
                <a:sym typeface="Courier New"/>
              </a:rPr>
              <a:t>IllegalArgumentException</a:t>
            </a:r>
            <a:r>
              <a:rPr lang="en" sz="1000" dirty="0"/>
              <a:t>.</a:t>
            </a:r>
            <a:endParaRPr sz="1000" dirty="0"/>
          </a:p>
          <a:p>
            <a:pPr marL="457200" lvl="0" indent="-304800" algn="l" rtl="0">
              <a:lnSpc>
                <a:spcPct val="100000"/>
              </a:lnSpc>
              <a:spcBef>
                <a:spcPts val="1000"/>
              </a:spcBef>
              <a:spcAft>
                <a:spcPts val="0"/>
              </a:spcAft>
              <a:buSzPts val="1200"/>
              <a:buChar char="●"/>
            </a:pPr>
            <a:r>
              <a:rPr lang="en" sz="1200" dirty="0"/>
              <a:t>The </a:t>
            </a:r>
            <a:r>
              <a:rPr lang="en" sz="1200" dirty="0">
                <a:solidFill>
                  <a:srgbClr val="FF0000"/>
                </a:solidFill>
                <a:highlight>
                  <a:srgbClr val="FFFF00"/>
                </a:highlight>
                <a:latin typeface="Courier New"/>
                <a:ea typeface="Courier New"/>
                <a:cs typeface="Courier New"/>
                <a:sym typeface="Courier New"/>
              </a:rPr>
              <a:t>values()</a:t>
            </a:r>
            <a:r>
              <a:rPr lang="en" sz="1200" dirty="0">
                <a:highlight>
                  <a:srgbClr val="FFFF00"/>
                </a:highlight>
              </a:rPr>
              <a:t> </a:t>
            </a:r>
            <a:r>
              <a:rPr lang="en" sz="1200" dirty="0"/>
              <a:t>method will return an array of the enumerated values.</a:t>
            </a:r>
            <a:endParaRPr sz="1200" dirty="0"/>
          </a:p>
          <a:p>
            <a:pPr marL="914400" lvl="1" indent="-292100" algn="l" rtl="0">
              <a:lnSpc>
                <a:spcPct val="100000"/>
              </a:lnSpc>
              <a:spcBef>
                <a:spcPts val="0"/>
              </a:spcBef>
              <a:spcAft>
                <a:spcPts val="0"/>
              </a:spcAft>
              <a:buSzPts val="1000"/>
              <a:buChar char="○"/>
            </a:pPr>
            <a:r>
              <a:rPr lang="en" sz="1000" dirty="0"/>
              <a:t>e.g. </a:t>
            </a:r>
            <a:r>
              <a:rPr lang="en" sz="1000" dirty="0">
                <a:solidFill>
                  <a:srgbClr val="EE0000"/>
                </a:solidFill>
                <a:latin typeface="Courier New"/>
                <a:ea typeface="Courier New"/>
                <a:cs typeface="Courier New"/>
                <a:sym typeface="Courier New"/>
              </a:rPr>
              <a:t>BoilingPoint.values()</a:t>
            </a:r>
            <a:r>
              <a:rPr lang="en" sz="1000" dirty="0"/>
              <a:t> will return an array containing the </a:t>
            </a:r>
            <a:r>
              <a:rPr lang="en" sz="1000" dirty="0">
                <a:latin typeface="Courier New"/>
                <a:ea typeface="Courier New"/>
                <a:cs typeface="Courier New"/>
                <a:sym typeface="Courier New"/>
              </a:rPr>
              <a:t>FAHRENHEIT</a:t>
            </a:r>
            <a:r>
              <a:rPr lang="en" sz="1000" dirty="0"/>
              <a:t>, </a:t>
            </a:r>
            <a:r>
              <a:rPr lang="en" sz="1000" dirty="0">
                <a:latin typeface="Courier New"/>
                <a:ea typeface="Courier New"/>
                <a:cs typeface="Courier New"/>
                <a:sym typeface="Courier New"/>
              </a:rPr>
              <a:t>CELSIUS</a:t>
            </a:r>
            <a:r>
              <a:rPr lang="en" sz="1000" dirty="0"/>
              <a:t>, and </a:t>
            </a:r>
            <a:r>
              <a:rPr lang="en" sz="1000" dirty="0">
                <a:latin typeface="Courier New"/>
                <a:ea typeface="Courier New"/>
                <a:cs typeface="Courier New"/>
                <a:sym typeface="Courier New"/>
              </a:rPr>
              <a:t>KELVIN</a:t>
            </a:r>
            <a:r>
              <a:rPr lang="en" sz="1000" dirty="0"/>
              <a:t> values.</a:t>
            </a:r>
            <a:endParaRPr sz="1000" dirty="0"/>
          </a:p>
        </p:txBody>
      </p:sp>
      <p:sp>
        <p:nvSpPr>
          <p:cNvPr id="699" name="Google Shape;699;p84"/>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39</a:t>
            </a:fld>
            <a:endParaRPr/>
          </a:p>
        </p:txBody>
      </p:sp>
      <p:sp>
        <p:nvSpPr>
          <p:cNvPr id="700" name="Google Shape;700;p84"/>
          <p:cNvSpPr txBox="1">
            <a:spLocks noGrp="1"/>
          </p:cNvSpPr>
          <p:nvPr>
            <p:ph type="body" idx="2"/>
          </p:nvPr>
        </p:nvSpPr>
        <p:spPr>
          <a:xfrm>
            <a:off x="5000701" y="1790475"/>
            <a:ext cx="3907200" cy="2108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name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 = </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267F99"/>
                </a:solidFill>
                <a:latin typeface="Consolas"/>
                <a:ea typeface="Consolas"/>
                <a:cs typeface="Consolas"/>
                <a:sym typeface="Consolas"/>
              </a:rPr>
              <a:t>       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6 </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7 </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error</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"no"</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98658"/>
                </a:solidFill>
                <a:latin typeface="Consolas"/>
                <a:ea typeface="Consolas"/>
                <a:cs typeface="Consolas"/>
                <a:sym typeface="Consolas"/>
              </a:rPr>
              <a:t>8</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098658"/>
                </a:solidFill>
                <a:latin typeface="Consolas"/>
                <a:ea typeface="Consolas"/>
                <a:cs typeface="Consolas"/>
                <a:sym typeface="Consolas"/>
              </a:rPr>
              <a:t>11</a:t>
            </a:r>
            <a:r>
              <a:rPr lang="en" sz="1000">
                <a:solidFill>
                  <a:srgbClr val="267F99"/>
                </a:solidFill>
                <a:latin typeface="Consolas"/>
                <a:ea typeface="Consolas"/>
                <a:cs typeface="Consolas"/>
                <a:sym typeface="Consolas"/>
              </a:rPr>
              <a:t>      Arrays</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p>
        </p:txBody>
      </p:sp>
      <p:sp>
        <p:nvSpPr>
          <p:cNvPr id="701" name="Google Shape;701;p84"/>
          <p:cNvSpPr txBox="1">
            <a:spLocks noGrp="1"/>
          </p:cNvSpPr>
          <p:nvPr>
            <p:ph type="body" idx="3"/>
          </p:nvPr>
        </p:nvSpPr>
        <p:spPr>
          <a:xfrm>
            <a:off x="4997001" y="910425"/>
            <a:ext cx="39072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The </a:t>
            </a:r>
            <a:r>
              <a:rPr lang="en" sz="1200" dirty="0">
                <a:solidFill>
                  <a:srgbClr val="EE0000"/>
                </a:solidFill>
                <a:highlight>
                  <a:srgbClr val="FFFF00"/>
                </a:highlight>
                <a:latin typeface="Courier New"/>
                <a:ea typeface="Courier New"/>
                <a:cs typeface="Courier New"/>
                <a:sym typeface="Courier New"/>
              </a:rPr>
              <a:t>name()</a:t>
            </a:r>
            <a:r>
              <a:rPr lang="en" sz="1200" dirty="0">
                <a:highlight>
                  <a:srgbClr val="FFFF00"/>
                </a:highlight>
              </a:rPr>
              <a:t> and </a:t>
            </a:r>
            <a:r>
              <a:rPr lang="en" sz="1200" dirty="0">
                <a:solidFill>
                  <a:srgbClr val="EE0000"/>
                </a:solidFill>
                <a:highlight>
                  <a:srgbClr val="FFFF00"/>
                </a:highlight>
                <a:latin typeface="Courier New"/>
                <a:ea typeface="Courier New"/>
                <a:cs typeface="Courier New"/>
                <a:sym typeface="Courier New"/>
              </a:rPr>
              <a:t>valueOf(String)</a:t>
            </a:r>
            <a:r>
              <a:rPr lang="en" sz="1200" dirty="0">
                <a:highlight>
                  <a:srgbClr val="FFFF00"/>
                </a:highlight>
              </a:rPr>
              <a:t> </a:t>
            </a:r>
            <a:r>
              <a:rPr lang="en" sz="1200" dirty="0"/>
              <a:t>methods can be used to easily convert values of an </a:t>
            </a:r>
            <a:r>
              <a:rPr lang="en" sz="1200" dirty="0">
                <a:latin typeface="Courier New"/>
                <a:ea typeface="Courier New"/>
                <a:cs typeface="Courier New"/>
                <a:sym typeface="Courier New"/>
              </a:rPr>
              <a:t>enum</a:t>
            </a:r>
            <a:r>
              <a:rPr lang="en" sz="1200" dirty="0"/>
              <a:t> to-and-from strings.</a:t>
            </a:r>
            <a:endParaRPr sz="1200" dirty="0"/>
          </a:p>
        </p:txBody>
      </p:sp>
      <p:sp>
        <p:nvSpPr>
          <p:cNvPr id="702" name="Google Shape;702;p84"/>
          <p:cNvSpPr txBox="1">
            <a:spLocks noGrp="1"/>
          </p:cNvSpPr>
          <p:nvPr>
            <p:ph type="body" idx="3"/>
          </p:nvPr>
        </p:nvSpPr>
        <p:spPr>
          <a:xfrm>
            <a:off x="5000701" y="4040325"/>
            <a:ext cx="39072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The </a:t>
            </a:r>
            <a:r>
              <a:rPr lang="en" sz="1200" dirty="0">
                <a:solidFill>
                  <a:srgbClr val="EE0000"/>
                </a:solidFill>
                <a:highlight>
                  <a:srgbClr val="FFFF00"/>
                </a:highlight>
                <a:latin typeface="Courier New"/>
                <a:ea typeface="Courier New"/>
                <a:cs typeface="Courier New"/>
                <a:sym typeface="Courier New"/>
              </a:rPr>
              <a:t>values()</a:t>
            </a:r>
            <a:r>
              <a:rPr lang="en" sz="1200" dirty="0">
                <a:highlight>
                  <a:srgbClr val="FFFF00"/>
                </a:highlight>
              </a:rPr>
              <a:t> method will return an array that contains </a:t>
            </a:r>
            <a:r>
              <a:rPr lang="en" sz="1200" b="1" i="1" dirty="0">
                <a:solidFill>
                  <a:srgbClr val="EE0000"/>
                </a:solidFill>
                <a:highlight>
                  <a:srgbClr val="FFFF00"/>
                </a:highlight>
              </a:rPr>
              <a:t>all</a:t>
            </a:r>
            <a:r>
              <a:rPr lang="en" sz="1200" dirty="0">
                <a:solidFill>
                  <a:srgbClr val="EE0000"/>
                </a:solidFill>
                <a:highlight>
                  <a:srgbClr val="FFFF00"/>
                </a:highlight>
              </a:rPr>
              <a:t> </a:t>
            </a:r>
            <a:r>
              <a:rPr lang="en" sz="1200" dirty="0">
                <a:highlight>
                  <a:srgbClr val="FFFF00"/>
                </a:highlight>
              </a:rPr>
              <a:t>of the values enumerated in the </a:t>
            </a:r>
            <a:r>
              <a:rPr lang="en" sz="1200" dirty="0">
                <a:highlight>
                  <a:srgbClr val="FFFF00"/>
                </a:highlight>
                <a:latin typeface="Courier New"/>
                <a:ea typeface="Courier New"/>
                <a:cs typeface="Courier New"/>
                <a:sym typeface="Courier New"/>
              </a:rPr>
              <a:t>enum</a:t>
            </a:r>
            <a:r>
              <a:rPr lang="en" sz="1200" dirty="0">
                <a:highlight>
                  <a:srgbClr val="FFFF00"/>
                </a:highlight>
              </a:rPr>
              <a:t>.</a:t>
            </a:r>
            <a:endParaRPr sz="1200" dirty="0">
              <a:highlight>
                <a:srgbClr val="FFFF00"/>
              </a:highlight>
            </a:endParaRPr>
          </a:p>
        </p:txBody>
      </p:sp>
      <p:grpSp>
        <p:nvGrpSpPr>
          <p:cNvPr id="703" name="Google Shape;703;p84"/>
          <p:cNvGrpSpPr/>
          <p:nvPr/>
        </p:nvGrpSpPr>
        <p:grpSpPr>
          <a:xfrm>
            <a:off x="5589348" y="1279950"/>
            <a:ext cx="3314792" cy="1509300"/>
            <a:chOff x="788761" y="1203752"/>
            <a:chExt cx="3672900" cy="1509300"/>
          </a:xfrm>
        </p:grpSpPr>
        <p:sp>
          <p:nvSpPr>
            <p:cNvPr id="704" name="Google Shape;704;p84"/>
            <p:cNvSpPr/>
            <p:nvPr/>
          </p:nvSpPr>
          <p:spPr>
            <a:xfrm>
              <a:off x="788761" y="2465852"/>
              <a:ext cx="2583600" cy="24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5" name="Google Shape;705;p84"/>
            <p:cNvCxnSpPr>
              <a:stCxn id="704" idx="3"/>
              <a:endCxn id="701" idx="3"/>
            </p:cNvCxnSpPr>
            <p:nvPr/>
          </p:nvCxnSpPr>
          <p:spPr>
            <a:xfrm rot="10800000" flipH="1">
              <a:off x="3372361" y="1203752"/>
              <a:ext cx="1089300" cy="1385700"/>
            </a:xfrm>
            <a:prstGeom prst="bentConnector3">
              <a:avLst>
                <a:gd name="adj1" fmla="val 114244"/>
              </a:avLst>
            </a:prstGeom>
            <a:noFill/>
            <a:ln w="19050" cap="flat" cmpd="sng">
              <a:solidFill>
                <a:srgbClr val="EE0000"/>
              </a:solidFill>
              <a:prstDash val="solid"/>
              <a:round/>
              <a:headEnd type="none" w="med" len="med"/>
              <a:tailEnd type="none" w="med" len="med"/>
            </a:ln>
          </p:spPr>
        </p:cxnSp>
      </p:grpSp>
      <p:grpSp>
        <p:nvGrpSpPr>
          <p:cNvPr id="706" name="Google Shape;706;p84"/>
          <p:cNvGrpSpPr/>
          <p:nvPr/>
        </p:nvGrpSpPr>
        <p:grpSpPr>
          <a:xfrm>
            <a:off x="6455200" y="1655925"/>
            <a:ext cx="2388325" cy="426900"/>
            <a:chOff x="1654600" y="1579725"/>
            <a:chExt cx="2388325" cy="426900"/>
          </a:xfrm>
        </p:grpSpPr>
        <p:sp>
          <p:nvSpPr>
            <p:cNvPr id="707" name="Google Shape;707;p84"/>
            <p:cNvSpPr/>
            <p:nvPr/>
          </p:nvSpPr>
          <p:spPr>
            <a:xfrm>
              <a:off x="1654600" y="1759425"/>
              <a:ext cx="1952400" cy="24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84"/>
            <p:cNvSpPr/>
            <p:nvPr/>
          </p:nvSpPr>
          <p:spPr>
            <a:xfrm>
              <a:off x="3607000" y="1579725"/>
              <a:ext cx="435925" cy="299475"/>
            </a:xfrm>
            <a:custGeom>
              <a:avLst/>
              <a:gdLst/>
              <a:ahLst/>
              <a:cxnLst/>
              <a:rect l="l" t="t" r="r" b="b"/>
              <a:pathLst>
                <a:path w="5690" h="11979" extrusionOk="0">
                  <a:moveTo>
                    <a:pt x="0" y="11979"/>
                  </a:moveTo>
                  <a:lnTo>
                    <a:pt x="5690" y="11979"/>
                  </a:lnTo>
                  <a:lnTo>
                    <a:pt x="5690" y="0"/>
                  </a:lnTo>
                </a:path>
              </a:pathLst>
            </a:custGeom>
            <a:noFill/>
            <a:ln w="19050" cap="flat" cmpd="sng">
              <a:solidFill>
                <a:srgbClr val="FF0000"/>
              </a:solidFill>
              <a:prstDash val="solid"/>
              <a:round/>
              <a:headEnd type="none" w="med" len="med"/>
              <a:tailEnd type="none" w="med" len="med"/>
            </a:ln>
          </p:spPr>
          <p:txBody>
            <a:bodyPr/>
            <a:lstStyle/>
            <a:p>
              <a:endParaRPr lang="en-US"/>
            </a:p>
          </p:txBody>
        </p:sp>
      </p:grpSp>
      <p:grpSp>
        <p:nvGrpSpPr>
          <p:cNvPr id="709" name="Google Shape;709;p84"/>
          <p:cNvGrpSpPr/>
          <p:nvPr/>
        </p:nvGrpSpPr>
        <p:grpSpPr>
          <a:xfrm>
            <a:off x="6997000" y="3234975"/>
            <a:ext cx="1911000" cy="1082400"/>
            <a:chOff x="2196400" y="3234975"/>
            <a:chExt cx="1911000" cy="1082400"/>
          </a:xfrm>
        </p:grpSpPr>
        <p:sp>
          <p:nvSpPr>
            <p:cNvPr id="710" name="Google Shape;710;p84"/>
            <p:cNvSpPr/>
            <p:nvPr/>
          </p:nvSpPr>
          <p:spPr>
            <a:xfrm>
              <a:off x="2196400" y="3234975"/>
              <a:ext cx="1614300" cy="247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1" name="Google Shape;711;p84"/>
            <p:cNvCxnSpPr>
              <a:stCxn id="710" idx="3"/>
              <a:endCxn id="702" idx="3"/>
            </p:cNvCxnSpPr>
            <p:nvPr/>
          </p:nvCxnSpPr>
          <p:spPr>
            <a:xfrm>
              <a:off x="3810700" y="3358575"/>
              <a:ext cx="296700" cy="958800"/>
            </a:xfrm>
            <a:prstGeom prst="bentConnector3">
              <a:avLst>
                <a:gd name="adj1" fmla="val 148871"/>
              </a:avLst>
            </a:prstGeom>
            <a:noFill/>
            <a:ln w="19050" cap="flat" cmpd="sng">
              <a:solidFill>
                <a:srgbClr val="EE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9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9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9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9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98">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98">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98">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701"/>
                                        </p:tgtEl>
                                        <p:attrNameLst>
                                          <p:attrName>style.visibility</p:attrName>
                                        </p:attrNameLst>
                                      </p:cBhvr>
                                      <p:to>
                                        <p:strVal val="visible"/>
                                      </p:to>
                                    </p:set>
                                    <p:animEffect transition="in" filter="fade">
                                      <p:cBhvr>
                                        <p:cTn id="63" dur="1000"/>
                                        <p:tgtEl>
                                          <p:spTgt spid="701"/>
                                        </p:tgtEl>
                                      </p:cBhvr>
                                    </p:animEffect>
                                  </p:childTnLst>
                                </p:cTn>
                              </p:par>
                              <p:par>
                                <p:cTn id="64" presetID="10" presetClass="entr" presetSubtype="0" fill="hold" nodeType="withEffect">
                                  <p:stCondLst>
                                    <p:cond delay="0"/>
                                  </p:stCondLst>
                                  <p:childTnLst>
                                    <p:set>
                                      <p:cBhvr>
                                        <p:cTn id="65" dur="1" fill="hold">
                                          <p:stCondLst>
                                            <p:cond delay="0"/>
                                          </p:stCondLst>
                                        </p:cTn>
                                        <p:tgtEl>
                                          <p:spTgt spid="700"/>
                                        </p:tgtEl>
                                        <p:attrNameLst>
                                          <p:attrName>style.visibility</p:attrName>
                                        </p:attrNameLst>
                                      </p:cBhvr>
                                      <p:to>
                                        <p:strVal val="visible"/>
                                      </p:to>
                                    </p:set>
                                    <p:animEffect transition="in" filter="fade">
                                      <p:cBhvr>
                                        <p:cTn id="66" dur="1000"/>
                                        <p:tgtEl>
                                          <p:spTgt spid="700"/>
                                        </p:tgtEl>
                                      </p:cBhvr>
                                    </p:animEffect>
                                  </p:childTnLst>
                                </p:cTn>
                              </p:par>
                            </p:childTnLst>
                          </p:cTn>
                        </p:par>
                        <p:par>
                          <p:cTn id="67" fill="hold">
                            <p:stCondLst>
                              <p:cond delay="1000"/>
                            </p:stCondLst>
                            <p:childTnLst>
                              <p:par>
                                <p:cTn id="68" presetID="10" presetClass="entr" presetSubtype="0" fill="hold" nodeType="afterEffect">
                                  <p:stCondLst>
                                    <p:cond delay="0"/>
                                  </p:stCondLst>
                                  <p:childTnLst>
                                    <p:set>
                                      <p:cBhvr>
                                        <p:cTn id="69" dur="1" fill="hold">
                                          <p:stCondLst>
                                            <p:cond delay="0"/>
                                          </p:stCondLst>
                                        </p:cTn>
                                        <p:tgtEl>
                                          <p:spTgt spid="706"/>
                                        </p:tgtEl>
                                        <p:attrNameLst>
                                          <p:attrName>style.visibility</p:attrName>
                                        </p:attrNameLst>
                                      </p:cBhvr>
                                      <p:to>
                                        <p:strVal val="visible"/>
                                      </p:to>
                                    </p:set>
                                    <p:animEffect transition="in" filter="fade">
                                      <p:cBhvr>
                                        <p:cTn id="70" dur="1000"/>
                                        <p:tgtEl>
                                          <p:spTgt spid="706"/>
                                        </p:tgtEl>
                                      </p:cBhvr>
                                    </p:animEffect>
                                  </p:childTnLst>
                                </p:cTn>
                              </p:par>
                            </p:childTnLst>
                          </p:cTn>
                        </p:par>
                        <p:par>
                          <p:cTn id="71" fill="hold">
                            <p:stCondLst>
                              <p:cond delay="2000"/>
                            </p:stCondLst>
                            <p:childTnLst>
                              <p:par>
                                <p:cTn id="72" presetID="10" presetClass="entr" presetSubtype="0" fill="hold" nodeType="afterEffect">
                                  <p:stCondLst>
                                    <p:cond delay="0"/>
                                  </p:stCondLst>
                                  <p:childTnLst>
                                    <p:set>
                                      <p:cBhvr>
                                        <p:cTn id="73" dur="1" fill="hold">
                                          <p:stCondLst>
                                            <p:cond delay="0"/>
                                          </p:stCondLst>
                                        </p:cTn>
                                        <p:tgtEl>
                                          <p:spTgt spid="703"/>
                                        </p:tgtEl>
                                        <p:attrNameLst>
                                          <p:attrName>style.visibility</p:attrName>
                                        </p:attrNameLst>
                                      </p:cBhvr>
                                      <p:to>
                                        <p:strVal val="visible"/>
                                      </p:to>
                                    </p:set>
                                    <p:animEffect transition="in" filter="fade">
                                      <p:cBhvr>
                                        <p:cTn id="74" dur="1000"/>
                                        <p:tgtEl>
                                          <p:spTgt spid="703"/>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702"/>
                                        </p:tgtEl>
                                        <p:attrNameLst>
                                          <p:attrName>style.visibility</p:attrName>
                                        </p:attrNameLst>
                                      </p:cBhvr>
                                      <p:to>
                                        <p:strVal val="visible"/>
                                      </p:to>
                                    </p:set>
                                    <p:animEffect transition="in" filter="fade">
                                      <p:cBhvr>
                                        <p:cTn id="79" dur="1000"/>
                                        <p:tgtEl>
                                          <p:spTgt spid="702"/>
                                        </p:tgtEl>
                                      </p:cBhvr>
                                    </p:animEffect>
                                  </p:childTnLst>
                                </p:cTn>
                              </p:par>
                            </p:childTnLst>
                          </p:cTn>
                        </p:par>
                        <p:par>
                          <p:cTn id="80" fill="hold">
                            <p:stCondLst>
                              <p:cond delay="1000"/>
                            </p:stCondLst>
                            <p:childTnLst>
                              <p:par>
                                <p:cTn id="81" presetID="10" presetClass="entr" presetSubtype="0" fill="hold" nodeType="afterEffect">
                                  <p:stCondLst>
                                    <p:cond delay="0"/>
                                  </p:stCondLst>
                                  <p:childTnLst>
                                    <p:set>
                                      <p:cBhvr>
                                        <p:cTn id="82" dur="1" fill="hold">
                                          <p:stCondLst>
                                            <p:cond delay="0"/>
                                          </p:stCondLst>
                                        </p:cTn>
                                        <p:tgtEl>
                                          <p:spTgt spid="709"/>
                                        </p:tgtEl>
                                        <p:attrNameLst>
                                          <p:attrName>style.visibility</p:attrName>
                                        </p:attrNameLst>
                                      </p:cBhvr>
                                      <p:to>
                                        <p:strVal val="visible"/>
                                      </p:to>
                                    </p:set>
                                    <p:animEffect transition="in" filter="fade">
                                      <p:cBhvr>
                                        <p:cTn id="83" dur="1000"/>
                                        <p:tgtEl>
                                          <p:spTgt spid="7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p85"/>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Java enums are really full-blown classes with lots of special features. Practice using some of the methods that convert values of an enumerated type to-and-from strings. In addition, print an array of all of the values in an enumerated type.</a:t>
            </a:r>
            <a:endParaRPr/>
          </a:p>
        </p:txBody>
      </p:sp>
      <p:sp>
        <p:nvSpPr>
          <p:cNvPr id="717" name="Google Shape;717;p8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40</a:t>
            </a:fld>
            <a:endParaRPr/>
          </a:p>
        </p:txBody>
      </p:sp>
      <p:sp>
        <p:nvSpPr>
          <p:cNvPr id="718" name="Google Shape;718;p85"/>
          <p:cNvSpPr txBox="1">
            <a:spLocks noGrp="1"/>
          </p:cNvSpPr>
          <p:nvPr>
            <p:ph type="body" idx="2"/>
          </p:nvPr>
        </p:nvSpPr>
        <p:spPr>
          <a:xfrm>
            <a:off x="3870725" y="1860725"/>
            <a:ext cx="5070300" cy="2761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StarWarsBattle</a:t>
            </a:r>
            <a:r>
              <a:rPr lang="en" dirty="0"/>
              <a:t> class and navigate to the </a:t>
            </a:r>
            <a:r>
              <a:rPr lang="en" dirty="0">
                <a:latin typeface="Courier New"/>
                <a:ea typeface="Courier New"/>
                <a:cs typeface="Courier New"/>
                <a:sym typeface="Courier New"/>
              </a:rPr>
              <a:t>main</a:t>
            </a:r>
            <a:r>
              <a:rPr lang="en" dirty="0"/>
              <a:t> method.</a:t>
            </a:r>
            <a:endParaRPr dirty="0"/>
          </a:p>
          <a:p>
            <a:pPr marL="914400" lvl="1" indent="-298450" algn="l" rtl="0">
              <a:spcBef>
                <a:spcPts val="0"/>
              </a:spcBef>
              <a:spcAft>
                <a:spcPts val="0"/>
              </a:spcAft>
              <a:buSzPts val="1100"/>
              <a:buChar char="○"/>
            </a:pPr>
            <a:r>
              <a:rPr lang="en" dirty="0"/>
              <a:t>Convert each value of the </a:t>
            </a:r>
            <a:r>
              <a:rPr lang="en" dirty="0">
                <a:highlight>
                  <a:srgbClr val="FFFF00"/>
                </a:highlight>
                <a:latin typeface="Courier New"/>
                <a:ea typeface="Courier New"/>
                <a:cs typeface="Courier New"/>
                <a:sym typeface="Courier New"/>
              </a:rPr>
              <a:t>DamageType</a:t>
            </a:r>
            <a:r>
              <a:rPr lang="en" dirty="0">
                <a:highlight>
                  <a:srgbClr val="FFFF00"/>
                </a:highlight>
              </a:rPr>
              <a:t> </a:t>
            </a:r>
            <a:r>
              <a:rPr lang="en" dirty="0">
                <a:highlight>
                  <a:srgbClr val="FFFF00"/>
                </a:highlight>
                <a:latin typeface="Courier New"/>
                <a:ea typeface="Courier New"/>
                <a:cs typeface="Courier New"/>
                <a:sym typeface="Courier New"/>
              </a:rPr>
              <a:t>enum</a:t>
            </a:r>
            <a:r>
              <a:rPr lang="en" dirty="0">
                <a:highlight>
                  <a:srgbClr val="FFFF00"/>
                </a:highlight>
              </a:rPr>
              <a:t> </a:t>
            </a:r>
            <a:r>
              <a:rPr lang="en" dirty="0"/>
              <a:t>to a string and print each to standard output.</a:t>
            </a:r>
            <a:endParaRPr dirty="0"/>
          </a:p>
          <a:p>
            <a:pPr marL="914400" lvl="1" indent="-298450" algn="l" rtl="0">
              <a:spcBef>
                <a:spcPts val="0"/>
              </a:spcBef>
              <a:spcAft>
                <a:spcPts val="0"/>
              </a:spcAft>
              <a:buSzPts val="1100"/>
              <a:buChar char="○"/>
            </a:pPr>
            <a:r>
              <a:rPr lang="en" dirty="0"/>
              <a:t>Use the </a:t>
            </a:r>
            <a:r>
              <a:rPr lang="en" dirty="0">
                <a:solidFill>
                  <a:srgbClr val="FF0000"/>
                </a:solidFill>
                <a:highlight>
                  <a:srgbClr val="FFFF00"/>
                </a:highlight>
                <a:latin typeface="Courier New"/>
                <a:ea typeface="Courier New"/>
                <a:cs typeface="Courier New"/>
                <a:sym typeface="Courier New"/>
              </a:rPr>
              <a:t>valueOf(String)</a:t>
            </a:r>
            <a:r>
              <a:rPr lang="en" dirty="0">
                <a:highlight>
                  <a:srgbClr val="FFFF00"/>
                </a:highlight>
              </a:rPr>
              <a:t> </a:t>
            </a:r>
            <a:r>
              <a:rPr lang="en" dirty="0"/>
              <a:t>method to convert a string into a value of each of the enumerated values and print each to standard output.</a:t>
            </a:r>
            <a:endParaRPr dirty="0"/>
          </a:p>
          <a:p>
            <a:pPr marL="914400" lvl="1" indent="-298450" algn="l" rtl="0">
              <a:spcBef>
                <a:spcPts val="0"/>
              </a:spcBef>
              <a:spcAft>
                <a:spcPts val="0"/>
              </a:spcAft>
              <a:buSzPts val="1100"/>
              <a:buChar char="○"/>
            </a:pPr>
            <a:r>
              <a:rPr lang="en" dirty="0"/>
              <a:t>Finally, use the</a:t>
            </a:r>
            <a:r>
              <a:rPr lang="en" dirty="0">
                <a:highlight>
                  <a:srgbClr val="FFFF00"/>
                </a:highlight>
              </a:rPr>
              <a:t> </a:t>
            </a:r>
            <a:r>
              <a:rPr lang="en" dirty="0">
                <a:highlight>
                  <a:srgbClr val="FFFF00"/>
                </a:highlight>
                <a:latin typeface="Courier New"/>
                <a:ea typeface="Courier New"/>
                <a:cs typeface="Courier New"/>
                <a:sym typeface="Courier New"/>
              </a:rPr>
              <a:t>values()</a:t>
            </a:r>
            <a:r>
              <a:rPr lang="en" dirty="0">
                <a:highlight>
                  <a:srgbClr val="FFFF00"/>
                </a:highlight>
              </a:rPr>
              <a:t> </a:t>
            </a:r>
            <a:r>
              <a:rPr lang="en" dirty="0"/>
              <a:t>method to get an array of </a:t>
            </a:r>
            <a:r>
              <a:rPr lang="en" dirty="0">
                <a:latin typeface="Courier New"/>
                <a:ea typeface="Courier New"/>
                <a:cs typeface="Courier New"/>
                <a:sym typeface="Courier New"/>
              </a:rPr>
              <a:t>DamageType</a:t>
            </a:r>
            <a:r>
              <a:rPr lang="en" dirty="0"/>
              <a:t> values and print it to standard output. </a:t>
            </a:r>
            <a:r>
              <a:rPr lang="en" b="1" i="1" dirty="0"/>
              <a:t>Hint:</a:t>
            </a:r>
            <a:r>
              <a:rPr lang="en" dirty="0"/>
              <a:t> use the </a:t>
            </a:r>
            <a:r>
              <a:rPr lang="en" dirty="0">
                <a:highlight>
                  <a:srgbClr val="FFFF00"/>
                </a:highlight>
                <a:latin typeface="Courier New"/>
                <a:ea typeface="Courier New"/>
                <a:cs typeface="Courier New"/>
                <a:sym typeface="Courier New"/>
              </a:rPr>
              <a:t>Arrays.toString(array)</a:t>
            </a:r>
            <a:r>
              <a:rPr lang="en" dirty="0">
                <a:highlight>
                  <a:srgbClr val="FFFF00"/>
                </a:highlight>
              </a:rPr>
              <a:t> </a:t>
            </a:r>
            <a:r>
              <a:rPr lang="en" dirty="0"/>
              <a:t>method to convert the array into a nicely formatted string.</a:t>
            </a:r>
            <a:endParaRPr dirty="0"/>
          </a:p>
          <a:p>
            <a:pPr marL="914400" lvl="1" indent="-298450" algn="l" rtl="0">
              <a:spcBef>
                <a:spcPts val="0"/>
              </a:spcBef>
              <a:spcAft>
                <a:spcPts val="0"/>
              </a:spcAft>
              <a:buSzPts val="1100"/>
              <a:buChar char="○"/>
            </a:pPr>
            <a:r>
              <a:rPr lang="en" b="1" i="1" dirty="0">
                <a:solidFill>
                  <a:srgbClr val="EE0000"/>
                </a:solidFill>
              </a:rPr>
              <a:t>Challenge</a:t>
            </a:r>
            <a:r>
              <a:rPr lang="en" dirty="0"/>
              <a:t>: override the </a:t>
            </a:r>
            <a:r>
              <a:rPr lang="en" dirty="0">
                <a:latin typeface="Courier New"/>
                <a:ea typeface="Courier New"/>
                <a:cs typeface="Courier New"/>
                <a:sym typeface="Courier New"/>
              </a:rPr>
              <a:t>toString()</a:t>
            </a:r>
            <a:r>
              <a:rPr lang="en" dirty="0"/>
              <a:t> method to return a string in the format </a:t>
            </a:r>
            <a:r>
              <a:rPr lang="en" dirty="0">
                <a:latin typeface="Courier New"/>
                <a:ea typeface="Courier New"/>
                <a:cs typeface="Courier New"/>
                <a:sym typeface="Courier New"/>
              </a:rPr>
              <a:t>"&lt;type&gt; (&lt;color&gt;)"</a:t>
            </a:r>
            <a:r>
              <a:rPr lang="en" dirty="0"/>
              <a:t> e.g. </a:t>
            </a:r>
            <a:r>
              <a:rPr lang="en" dirty="0">
                <a:latin typeface="Courier New"/>
                <a:ea typeface="Courier New"/>
                <a:cs typeface="Courier New"/>
                <a:sym typeface="Courier New"/>
              </a:rPr>
              <a:t>"HEAVY (Green)"</a:t>
            </a:r>
            <a:r>
              <a:rPr lang="en" dirty="0"/>
              <a:t>.</a:t>
            </a:r>
            <a:endParaRPr dirty="0"/>
          </a:p>
        </p:txBody>
      </p:sp>
      <p:sp>
        <p:nvSpPr>
          <p:cNvPr id="719" name="Google Shape;719;p85"/>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More </a:t>
            </a:r>
            <a:r>
              <a:rPr lang="en">
                <a:latin typeface="Courier New"/>
                <a:ea typeface="Courier New"/>
                <a:cs typeface="Courier New"/>
                <a:sym typeface="Courier New"/>
              </a:rPr>
              <a:t>enum</a:t>
            </a:r>
            <a:r>
              <a:rPr lang="en"/>
              <a:t> Features</a:t>
            </a:r>
            <a:endParaRPr/>
          </a:p>
        </p:txBody>
      </p:sp>
      <p:sp>
        <p:nvSpPr>
          <p:cNvPr id="720" name="Google Shape;720;p85"/>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2.13</a:t>
            </a:r>
            <a:endParaRPr/>
          </a:p>
        </p:txBody>
      </p:sp>
      <p:sp>
        <p:nvSpPr>
          <p:cNvPr id="721" name="Google Shape;721;p85"/>
          <p:cNvSpPr txBox="1">
            <a:spLocks noGrp="1"/>
          </p:cNvSpPr>
          <p:nvPr>
            <p:ph type="body" idx="4"/>
          </p:nvPr>
        </p:nvSpPr>
        <p:spPr>
          <a:xfrm>
            <a:off x="141600" y="1940225"/>
            <a:ext cx="3588300" cy="19701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kelvin</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     </a:t>
            </a:r>
            <a:endParaRPr sz="1000">
              <a:solidFill>
                <a:srgbClr val="267F99"/>
              </a:solidFill>
              <a:latin typeface="Consolas"/>
              <a:ea typeface="Consolas"/>
              <a:cs typeface="Consolas"/>
              <a:sym typeface="Consolas"/>
            </a:endParaRPr>
          </a:p>
          <a:p>
            <a:pPr marL="0" lvl="0" indent="0" algn="l" rtl="0">
              <a:spcBef>
                <a:spcPts val="0"/>
              </a:spcBef>
              <a:spcAft>
                <a:spcPts val="0"/>
              </a:spcAft>
              <a:buNone/>
            </a:pPr>
            <a:r>
              <a:rPr lang="en" sz="1000">
                <a:solidFill>
                  <a:srgbClr val="267F99"/>
                </a:solidFill>
                <a:latin typeface="Consolas"/>
                <a:ea typeface="Consolas"/>
                <a:cs typeface="Consolas"/>
                <a:sym typeface="Consolas"/>
              </a:rPr>
              <a:t>                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celsius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spcBef>
                <a:spcPts val="0"/>
              </a:spcBef>
              <a:spcAft>
                <a:spcPts val="0"/>
              </a:spcAft>
              <a:buNone/>
            </a:pPr>
            <a:endParaRPr sz="1000">
              <a:latin typeface="Consolas"/>
              <a:ea typeface="Consolas"/>
              <a:cs typeface="Consolas"/>
              <a:sym typeface="Consolas"/>
            </a:endParaRPr>
          </a:p>
          <a:p>
            <a:pPr marL="0" lvl="0" indent="0" algn="l" rtl="0">
              <a:spcBef>
                <a:spcPts val="0"/>
              </a:spcBef>
              <a:spcAft>
                <a:spcPts val="0"/>
              </a:spcAft>
              <a:buNone/>
            </a:pP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error</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valueOf</a:t>
            </a:r>
            <a:r>
              <a:rPr lang="en" sz="1000">
                <a:solidFill>
                  <a:srgbClr val="000000"/>
                </a:solidFill>
                <a:latin typeface="Consolas"/>
                <a:ea typeface="Consolas"/>
                <a:cs typeface="Consolas"/>
                <a:sym typeface="Consolas"/>
              </a:rPr>
              <a:t>(</a:t>
            </a:r>
            <a:r>
              <a:rPr lang="en" sz="1000">
                <a:solidFill>
                  <a:srgbClr val="A31515"/>
                </a:solidFill>
                <a:latin typeface="Consolas"/>
                <a:ea typeface="Consolas"/>
                <a:cs typeface="Consolas"/>
                <a:sym typeface="Consolas"/>
              </a:rPr>
              <a:t>"no"</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endParaRPr sz="1000">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 = </a:t>
            </a:r>
            <a:r>
              <a:rPr lang="en" sz="1000">
                <a:solidFill>
                  <a:srgbClr val="267F99"/>
                </a:solidFill>
                <a:latin typeface="Consolas"/>
                <a:ea typeface="Consolas"/>
                <a:cs typeface="Consolas"/>
                <a:sym typeface="Consolas"/>
              </a:rPr>
              <a:t>BoilingPoint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15000"/>
              </a:lnSpc>
              <a:spcBef>
                <a:spcPts val="0"/>
              </a:spcBef>
              <a:spcAft>
                <a:spcPts val="0"/>
              </a:spcAft>
              <a:buNone/>
            </a:pPr>
            <a:r>
              <a:rPr lang="en" sz="1000">
                <a:solidFill>
                  <a:srgbClr val="267F99"/>
                </a:solidFill>
                <a:latin typeface="Consolas"/>
                <a:ea typeface="Consolas"/>
                <a:cs typeface="Consolas"/>
                <a:sym typeface="Consolas"/>
              </a:rPr>
              <a:t>System</a:t>
            </a:r>
            <a:r>
              <a:rPr lang="en" sz="1000">
                <a:solidFill>
                  <a:srgbClr val="000000"/>
                </a:solidFill>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Arrays</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toString</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values</a:t>
            </a:r>
            <a:r>
              <a:rPr lang="en" sz="1000">
                <a:solidFill>
                  <a:srgbClr val="000000"/>
                </a:solidFill>
                <a:latin typeface="Consolas"/>
                <a:ea typeface="Consolas"/>
                <a:cs typeface="Consolas"/>
                <a:sym typeface="Consolas"/>
              </a:rPr>
              <a:t>));</a:t>
            </a:r>
            <a:endParaRPr sz="1000"/>
          </a:p>
        </p:txBody>
      </p:sp>
      <p:sp>
        <p:nvSpPr>
          <p:cNvPr id="722" name="Google Shape;722;p85"/>
          <p:cNvSpPr txBox="1">
            <a:spLocks noGrp="1"/>
          </p:cNvSpPr>
          <p:nvPr>
            <p:ph type="body" idx="2"/>
          </p:nvPr>
        </p:nvSpPr>
        <p:spPr>
          <a:xfrm>
            <a:off x="141600" y="4010012"/>
            <a:ext cx="3588300" cy="738900"/>
          </a:xfrm>
          <a:prstGeom prst="rect">
            <a:avLst/>
          </a:prstGeom>
          <a:solidFill>
            <a:srgbClr val="FFF2CC"/>
          </a:solidFill>
          <a:ln w="19050" cap="flat" cmpd="sng">
            <a:solidFill>
              <a:srgbClr val="EE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1600"/>
              </a:spcAft>
              <a:buNone/>
            </a:pPr>
            <a:r>
              <a:rPr lang="en" sz="1200">
                <a:solidFill>
                  <a:srgbClr val="000000"/>
                </a:solidFill>
                <a:latin typeface="Arial"/>
                <a:ea typeface="Arial"/>
                <a:cs typeface="Arial"/>
                <a:sym typeface="Arial"/>
              </a:rPr>
              <a:t>Java enums have lots of features that other Java classes don't, including the ability to fetch an array of the enumerated values.</a:t>
            </a:r>
            <a:endParaRPr sz="1200">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p86"/>
          <p:cNvSpPr txBox="1">
            <a:spLocks noGrp="1"/>
          </p:cNvSpPr>
          <p:nvPr>
            <p:ph type="title"/>
          </p:nvPr>
        </p:nvSpPr>
        <p:spPr>
          <a:xfrm>
            <a:off x="5008750" y="92625"/>
            <a:ext cx="39699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a:t>
            </a:r>
            <a:r>
              <a:rPr lang="en">
                <a:latin typeface="Courier New"/>
                <a:ea typeface="Courier New"/>
                <a:cs typeface="Courier New"/>
                <a:sym typeface="Courier New"/>
              </a:rPr>
              <a:t>static</a:t>
            </a:r>
            <a:r>
              <a:rPr lang="en"/>
              <a:t> Modifier</a:t>
            </a:r>
            <a:endParaRPr/>
          </a:p>
        </p:txBody>
      </p:sp>
      <p:sp>
        <p:nvSpPr>
          <p:cNvPr id="728" name="Google Shape;728;p86"/>
          <p:cNvSpPr txBox="1">
            <a:spLocks noGrp="1"/>
          </p:cNvSpPr>
          <p:nvPr>
            <p:ph type="body" idx="1"/>
          </p:nvPr>
        </p:nvSpPr>
        <p:spPr>
          <a:xfrm>
            <a:off x="301275" y="10386"/>
            <a:ext cx="4452900" cy="4803079"/>
          </a:xfrm>
          <a:prstGeom prst="rect">
            <a:avLst/>
          </a:prstGeom>
        </p:spPr>
        <p:txBody>
          <a:bodyPr spcFirstLastPara="1" wrap="square" lIns="91425" tIns="91425" rIns="91425" bIns="91425" anchor="ctr" anchorCtr="0">
            <a:spAutoFit/>
          </a:bodyPr>
          <a:lstStyle/>
          <a:p>
            <a:pPr marL="457200" lvl="0" indent="-313245" algn="l" rtl="0">
              <a:lnSpc>
                <a:spcPct val="115000"/>
              </a:lnSpc>
              <a:spcBef>
                <a:spcPts val="0"/>
              </a:spcBef>
              <a:spcAft>
                <a:spcPts val="0"/>
              </a:spcAft>
              <a:buSzPts val="1333"/>
              <a:buChar char="●"/>
            </a:pPr>
            <a:r>
              <a:rPr lang="en" sz="1333" dirty="0"/>
              <a:t>In the last unit, </a:t>
            </a:r>
            <a:r>
              <a:rPr lang="en" sz="1333" dirty="0">
                <a:highlight>
                  <a:srgbClr val="FFFF00"/>
                </a:highlight>
              </a:rPr>
              <a:t>we used the </a:t>
            </a:r>
            <a:r>
              <a:rPr lang="en" sz="1333" dirty="0">
                <a:solidFill>
                  <a:srgbClr val="FF0000"/>
                </a:solidFill>
                <a:highlight>
                  <a:srgbClr val="FFFF00"/>
                </a:highlight>
                <a:latin typeface="Courier New"/>
                <a:ea typeface="Courier New"/>
                <a:cs typeface="Courier New"/>
                <a:sym typeface="Courier New"/>
              </a:rPr>
              <a:t>static</a:t>
            </a:r>
            <a:r>
              <a:rPr lang="en" sz="1333" dirty="0">
                <a:highlight>
                  <a:srgbClr val="FFFF00"/>
                </a:highlight>
              </a:rPr>
              <a:t> modifier before all of the methods that we wrote, but what does </a:t>
            </a:r>
            <a:r>
              <a:rPr lang="en" sz="1333" dirty="0">
                <a:solidFill>
                  <a:srgbClr val="FF0000"/>
                </a:solidFill>
                <a:highlight>
                  <a:srgbClr val="FFFF00"/>
                </a:highlight>
                <a:latin typeface="Courier New"/>
                <a:ea typeface="Courier New"/>
                <a:cs typeface="Courier New"/>
                <a:sym typeface="Courier New"/>
              </a:rPr>
              <a:t>static</a:t>
            </a:r>
            <a:r>
              <a:rPr lang="en" sz="1333" dirty="0">
                <a:highlight>
                  <a:srgbClr val="FFFF00"/>
                </a:highlight>
              </a:rPr>
              <a:t> mean?</a:t>
            </a:r>
            <a:endParaRPr sz="1333" dirty="0">
              <a:highlight>
                <a:srgbClr val="FFFF00"/>
              </a:highlight>
            </a:endParaRPr>
          </a:p>
          <a:p>
            <a:pPr marL="457200" lvl="0" indent="-313245" algn="l" rtl="0">
              <a:lnSpc>
                <a:spcPct val="115000"/>
              </a:lnSpc>
              <a:spcBef>
                <a:spcPts val="1000"/>
              </a:spcBef>
              <a:spcAft>
                <a:spcPts val="0"/>
              </a:spcAft>
              <a:buSzPts val="1333"/>
              <a:buChar char="●"/>
            </a:pPr>
            <a:r>
              <a:rPr lang="en" sz="1333" dirty="0"/>
              <a:t>The </a:t>
            </a:r>
            <a:r>
              <a:rPr lang="en" sz="1333" dirty="0">
                <a:solidFill>
                  <a:srgbClr val="FF0000"/>
                </a:solidFill>
                <a:highlight>
                  <a:srgbClr val="FFFF00"/>
                </a:highlight>
                <a:latin typeface="Courier New"/>
                <a:ea typeface="Courier New"/>
                <a:cs typeface="Courier New"/>
                <a:sym typeface="Courier New"/>
              </a:rPr>
              <a:t>static</a:t>
            </a:r>
            <a:r>
              <a:rPr lang="en" sz="1333" dirty="0">
                <a:highlight>
                  <a:srgbClr val="FFFF00"/>
                </a:highlight>
              </a:rPr>
              <a:t> modifier indicates that only </a:t>
            </a:r>
            <a:r>
              <a:rPr lang="en" sz="1333" b="1" i="1" dirty="0">
                <a:solidFill>
                  <a:srgbClr val="FF0000"/>
                </a:solidFill>
                <a:highlight>
                  <a:srgbClr val="FFFF00"/>
                </a:highlight>
              </a:rPr>
              <a:t>one</a:t>
            </a:r>
            <a:r>
              <a:rPr lang="en" sz="1333" i="1" dirty="0">
                <a:highlight>
                  <a:srgbClr val="FFFF00"/>
                </a:highlight>
              </a:rPr>
              <a:t> </a:t>
            </a:r>
            <a:r>
              <a:rPr lang="en" sz="1333" b="1" i="1" dirty="0">
                <a:solidFill>
                  <a:srgbClr val="FF0000"/>
                </a:solidFill>
                <a:highlight>
                  <a:srgbClr val="FFFF00"/>
                </a:highlight>
              </a:rPr>
              <a:t>global </a:t>
            </a:r>
            <a:r>
              <a:rPr lang="en" sz="1333" dirty="0">
                <a:highlight>
                  <a:srgbClr val="FFFF00"/>
                </a:highlight>
              </a:rPr>
              <a:t>instance </a:t>
            </a:r>
            <a:r>
              <a:rPr lang="en" sz="1333" dirty="0"/>
              <a:t>of the corresponding item will exist in the program.</a:t>
            </a:r>
            <a:endParaRPr sz="1333" dirty="0"/>
          </a:p>
          <a:p>
            <a:pPr marL="914400" lvl="1" indent="-300545" algn="l" rtl="0">
              <a:lnSpc>
                <a:spcPct val="115000"/>
              </a:lnSpc>
              <a:spcBef>
                <a:spcPts val="0"/>
              </a:spcBef>
              <a:spcAft>
                <a:spcPts val="0"/>
              </a:spcAft>
              <a:buSzPts val="1133"/>
              <a:buChar char="○"/>
            </a:pPr>
            <a:r>
              <a:rPr lang="en" sz="1133" dirty="0"/>
              <a:t>It may be used to modify </a:t>
            </a:r>
            <a:r>
              <a:rPr lang="en" sz="1133" b="1" i="1" dirty="0">
                <a:solidFill>
                  <a:srgbClr val="FF0000"/>
                </a:solidFill>
              </a:rPr>
              <a:t>methods</a:t>
            </a:r>
            <a:r>
              <a:rPr lang="en" sz="1133" dirty="0">
                <a:solidFill>
                  <a:srgbClr val="FF0000"/>
                </a:solidFill>
              </a:rPr>
              <a:t> </a:t>
            </a:r>
            <a:r>
              <a:rPr lang="en" sz="1133" dirty="0"/>
              <a:t>or </a:t>
            </a:r>
            <a:r>
              <a:rPr lang="en" sz="1133" b="1" i="1" dirty="0">
                <a:solidFill>
                  <a:srgbClr val="FF0000"/>
                </a:solidFill>
              </a:rPr>
              <a:t>fields</a:t>
            </a:r>
            <a:r>
              <a:rPr lang="en" sz="1133" dirty="0"/>
              <a:t>.</a:t>
            </a:r>
            <a:endParaRPr sz="1133" dirty="0"/>
          </a:p>
          <a:p>
            <a:pPr marL="457200" lvl="0" indent="-313245" algn="l" rtl="0">
              <a:lnSpc>
                <a:spcPct val="115000"/>
              </a:lnSpc>
              <a:spcBef>
                <a:spcPts val="1000"/>
              </a:spcBef>
              <a:spcAft>
                <a:spcPts val="0"/>
              </a:spcAft>
              <a:buSzPts val="1333"/>
              <a:buChar char="●"/>
            </a:pPr>
            <a:r>
              <a:rPr lang="en" sz="1333" dirty="0"/>
              <a:t>The side effects of this are:</a:t>
            </a:r>
            <a:endParaRPr sz="1333" dirty="0"/>
          </a:p>
          <a:p>
            <a:pPr marL="914400" lvl="1" indent="-313245" algn="l" rtl="0">
              <a:lnSpc>
                <a:spcPct val="115000"/>
              </a:lnSpc>
              <a:spcBef>
                <a:spcPts val="0"/>
              </a:spcBef>
              <a:spcAft>
                <a:spcPts val="0"/>
              </a:spcAft>
              <a:buSzPts val="1333"/>
              <a:buChar char="○"/>
            </a:pPr>
            <a:r>
              <a:rPr lang="en" dirty="0"/>
              <a:t>The static item is part of the</a:t>
            </a:r>
            <a:r>
              <a:rPr lang="en" dirty="0">
                <a:highlight>
                  <a:srgbClr val="FFFF00"/>
                </a:highlight>
              </a:rPr>
              <a:t> </a:t>
            </a:r>
            <a:r>
              <a:rPr lang="en" b="1" i="1" dirty="0">
                <a:solidFill>
                  <a:srgbClr val="FF0000"/>
                </a:solidFill>
                <a:highlight>
                  <a:srgbClr val="FFFF00"/>
                </a:highlight>
              </a:rPr>
              <a:t>class</a:t>
            </a:r>
            <a:r>
              <a:rPr lang="en" i="1" dirty="0">
                <a:highlight>
                  <a:srgbClr val="FFFF00"/>
                </a:highlight>
              </a:rPr>
              <a:t> </a:t>
            </a:r>
            <a:r>
              <a:rPr lang="en" dirty="0">
                <a:highlight>
                  <a:srgbClr val="FFFF00"/>
                </a:highlight>
              </a:rPr>
              <a:t>and not an instance.</a:t>
            </a:r>
            <a:endParaRPr dirty="0">
              <a:highlight>
                <a:srgbClr val="FFFF00"/>
              </a:highlight>
            </a:endParaRPr>
          </a:p>
          <a:p>
            <a:pPr marL="914400" lvl="1" indent="-313245" algn="l" rtl="0">
              <a:lnSpc>
                <a:spcPct val="115000"/>
              </a:lnSpc>
              <a:spcBef>
                <a:spcPts val="0"/>
              </a:spcBef>
              <a:spcAft>
                <a:spcPts val="0"/>
              </a:spcAft>
              <a:buSzPts val="1333"/>
              <a:buChar char="○"/>
            </a:pPr>
            <a:r>
              <a:rPr lang="en" dirty="0"/>
              <a:t>You can </a:t>
            </a:r>
            <a:r>
              <a:rPr lang="en" b="1" i="1" dirty="0">
                <a:solidFill>
                  <a:srgbClr val="FF0000"/>
                </a:solidFill>
              </a:rPr>
              <a:t>access</a:t>
            </a:r>
            <a:r>
              <a:rPr lang="en" i="1" dirty="0"/>
              <a:t> </a:t>
            </a:r>
            <a:r>
              <a:rPr lang="en" dirty="0"/>
              <a:t>it using </a:t>
            </a:r>
            <a:r>
              <a:rPr lang="en" dirty="0">
                <a:highlight>
                  <a:srgbClr val="FFFF00"/>
                </a:highlight>
                <a:latin typeface="Courier New"/>
                <a:ea typeface="Courier New"/>
                <a:cs typeface="Courier New"/>
                <a:sym typeface="Courier New"/>
              </a:rPr>
              <a:t>className.staticMember</a:t>
            </a:r>
            <a:r>
              <a:rPr lang="en" dirty="0">
                <a:highlight>
                  <a:srgbClr val="FFFF00"/>
                </a:highlight>
              </a:rPr>
              <a:t> </a:t>
            </a:r>
            <a:r>
              <a:rPr lang="en" dirty="0"/>
              <a:t>instead of </a:t>
            </a:r>
            <a:r>
              <a:rPr lang="en" dirty="0">
                <a:highlight>
                  <a:srgbClr val="FFFF00"/>
                </a:highlight>
                <a:latin typeface="Courier New"/>
                <a:ea typeface="Courier New"/>
                <a:cs typeface="Courier New"/>
                <a:sym typeface="Courier New"/>
              </a:rPr>
              <a:t>objectName.member</a:t>
            </a:r>
            <a:endParaRPr dirty="0">
              <a:highlight>
                <a:srgbClr val="FFFF00"/>
              </a:highlight>
              <a:latin typeface="Courier New"/>
              <a:ea typeface="Courier New"/>
              <a:cs typeface="Courier New"/>
              <a:sym typeface="Courier New"/>
            </a:endParaRPr>
          </a:p>
          <a:p>
            <a:pPr marL="1371600" lvl="2" indent="-313245" algn="l" rtl="0">
              <a:lnSpc>
                <a:spcPct val="115000"/>
              </a:lnSpc>
              <a:spcBef>
                <a:spcPts val="0"/>
              </a:spcBef>
              <a:spcAft>
                <a:spcPts val="0"/>
              </a:spcAft>
              <a:buSzPts val="1333"/>
              <a:buChar char="■"/>
            </a:pPr>
            <a:r>
              <a:rPr lang="en" dirty="0"/>
              <a:t>It is </a:t>
            </a:r>
            <a:r>
              <a:rPr lang="en" dirty="0">
                <a:highlight>
                  <a:srgbClr val="FFFF00"/>
                </a:highlight>
              </a:rPr>
              <a:t>considered bad practice </a:t>
            </a:r>
            <a:r>
              <a:rPr lang="en" dirty="0"/>
              <a:t>to access a static member using an object.</a:t>
            </a:r>
            <a:endParaRPr dirty="0"/>
          </a:p>
          <a:p>
            <a:pPr marL="914400" lvl="1" indent="-298450" algn="l" rtl="0">
              <a:lnSpc>
                <a:spcPct val="115000"/>
              </a:lnSpc>
              <a:spcBef>
                <a:spcPts val="0"/>
              </a:spcBef>
              <a:spcAft>
                <a:spcPts val="0"/>
              </a:spcAft>
              <a:buSzPts val="1100"/>
              <a:buChar char="○"/>
            </a:pPr>
            <a:r>
              <a:rPr lang="en" dirty="0"/>
              <a:t>If a static member is changed, it is changed </a:t>
            </a:r>
            <a:r>
              <a:rPr lang="en" b="1" i="1" dirty="0">
                <a:solidFill>
                  <a:srgbClr val="FF0000"/>
                </a:solidFill>
                <a:highlight>
                  <a:srgbClr val="FFFF00"/>
                </a:highlight>
              </a:rPr>
              <a:t>globally</a:t>
            </a:r>
            <a:r>
              <a:rPr lang="en" dirty="0"/>
              <a:t>.</a:t>
            </a:r>
            <a:endParaRPr dirty="0">
              <a:solidFill>
                <a:srgbClr val="FF0000"/>
              </a:solidFill>
            </a:endParaRPr>
          </a:p>
          <a:p>
            <a:pPr marL="914400" lvl="1" indent="-313245" algn="l" rtl="0">
              <a:lnSpc>
                <a:spcPct val="115000"/>
              </a:lnSpc>
              <a:spcBef>
                <a:spcPts val="0"/>
              </a:spcBef>
              <a:spcAft>
                <a:spcPts val="0"/>
              </a:spcAft>
              <a:buSzPts val="1333"/>
              <a:buChar char="○"/>
            </a:pPr>
            <a:r>
              <a:rPr lang="en" dirty="0">
                <a:highlight>
                  <a:srgbClr val="FFFF00"/>
                </a:highlight>
              </a:rPr>
              <a:t>Static methods can only access other </a:t>
            </a:r>
            <a:r>
              <a:rPr lang="en" b="1" i="1" dirty="0">
                <a:solidFill>
                  <a:srgbClr val="FF0000"/>
                </a:solidFill>
                <a:highlight>
                  <a:srgbClr val="FFFF00"/>
                </a:highlight>
              </a:rPr>
              <a:t>static</a:t>
            </a:r>
            <a:r>
              <a:rPr lang="en" i="1" dirty="0">
                <a:highlight>
                  <a:srgbClr val="FFFF00"/>
                </a:highlight>
              </a:rPr>
              <a:t> </a:t>
            </a:r>
            <a:r>
              <a:rPr lang="en" dirty="0">
                <a:highlight>
                  <a:srgbClr val="FFFF00"/>
                </a:highlight>
              </a:rPr>
              <a:t>methods and fields.</a:t>
            </a:r>
            <a:endParaRPr dirty="0">
              <a:highlight>
                <a:srgbClr val="FFFF00"/>
              </a:highlight>
            </a:endParaRPr>
          </a:p>
          <a:p>
            <a:pPr marL="457200" lvl="0" indent="-304800" algn="l" rtl="0">
              <a:spcBef>
                <a:spcPts val="1000"/>
              </a:spcBef>
              <a:spcAft>
                <a:spcPts val="1600"/>
              </a:spcAft>
              <a:buSzPts val="1200"/>
              <a:buChar char="●"/>
            </a:pPr>
            <a:r>
              <a:rPr lang="en" sz="1200" dirty="0"/>
              <a:t>In general, you should avoid using </a:t>
            </a:r>
            <a:r>
              <a:rPr lang="en" sz="1200" b="1" dirty="0">
                <a:latin typeface="Courier New"/>
                <a:ea typeface="Courier New"/>
                <a:cs typeface="Courier New"/>
                <a:sym typeface="Courier New"/>
              </a:rPr>
              <a:t>static</a:t>
            </a:r>
            <a:r>
              <a:rPr lang="en" sz="1200" dirty="0"/>
              <a:t> outside of </a:t>
            </a:r>
            <a:r>
              <a:rPr lang="en" sz="1200" dirty="0">
                <a:latin typeface="Courier New"/>
                <a:ea typeface="Courier New"/>
                <a:cs typeface="Courier New"/>
                <a:sym typeface="Courier New"/>
              </a:rPr>
              <a:t>main</a:t>
            </a:r>
            <a:r>
              <a:rPr lang="en" sz="1200" dirty="0"/>
              <a:t> and when creating constants.</a:t>
            </a:r>
            <a:endParaRPr sz="100" b="1" i="1" strike="sngStrike" dirty="0">
              <a:solidFill>
                <a:srgbClr val="FF0000"/>
              </a:solidFill>
            </a:endParaRPr>
          </a:p>
        </p:txBody>
      </p:sp>
      <p:sp>
        <p:nvSpPr>
          <p:cNvPr id="729" name="Google Shape;729;p86"/>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41</a:t>
            </a:fld>
            <a:endParaRPr/>
          </a:p>
        </p:txBody>
      </p:sp>
      <p:sp>
        <p:nvSpPr>
          <p:cNvPr id="730" name="Google Shape;730;p86"/>
          <p:cNvSpPr txBox="1">
            <a:spLocks noGrp="1"/>
          </p:cNvSpPr>
          <p:nvPr>
            <p:ph type="body" idx="2"/>
          </p:nvPr>
        </p:nvSpPr>
        <p:spPr>
          <a:xfrm>
            <a:off x="5192225" y="789375"/>
            <a:ext cx="3706500" cy="19626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1</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public</a:t>
            </a:r>
            <a:r>
              <a:rPr lang="en" sz="1100">
                <a:solidFill>
                  <a:srgbClr val="000000"/>
                </a:solidFill>
                <a:latin typeface="Consolas"/>
                <a:ea typeface="Consolas"/>
                <a:cs typeface="Consolas"/>
                <a:sym typeface="Consolas"/>
              </a:rPr>
              <a:t> </a:t>
            </a:r>
            <a:r>
              <a:rPr lang="en" sz="1100">
                <a:solidFill>
                  <a:srgbClr val="0000FF"/>
                </a:solidFill>
                <a:latin typeface="Consolas"/>
                <a:ea typeface="Consolas"/>
                <a:cs typeface="Consolas"/>
                <a:sym typeface="Consolas"/>
              </a:rPr>
              <a:t>static</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void</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main</a:t>
            </a:r>
            <a:r>
              <a:rPr lang="en" sz="1100">
                <a:solidFill>
                  <a:srgbClr val="000000"/>
                </a:solidFill>
                <a:latin typeface="Consolas"/>
                <a:ea typeface="Consolas"/>
                <a:cs typeface="Consolas"/>
                <a:sym typeface="Consolas"/>
              </a:rPr>
              <a:t>(</a:t>
            </a:r>
            <a:r>
              <a:rPr lang="en" sz="1100">
                <a:solidFill>
                  <a:srgbClr val="267F99"/>
                </a:solidFill>
                <a:latin typeface="Consolas"/>
                <a:ea typeface="Consolas"/>
                <a:cs typeface="Consolas"/>
                <a:sym typeface="Consolas"/>
              </a:rPr>
              <a:t>String</a:t>
            </a:r>
            <a:r>
              <a:rPr lang="en" sz="1100">
                <a:solidFill>
                  <a:srgbClr val="000000"/>
                </a:solidFill>
                <a:latin typeface="Consolas"/>
                <a:ea typeface="Consolas"/>
                <a:cs typeface="Consolas"/>
                <a:sym typeface="Consolas"/>
              </a:rPr>
              <a:t> [] </a:t>
            </a:r>
            <a:r>
              <a:rPr lang="en" sz="1100">
                <a:solidFill>
                  <a:srgbClr val="001080"/>
                </a:solidFill>
                <a:latin typeface="Consolas"/>
                <a:ea typeface="Consolas"/>
                <a:cs typeface="Consolas"/>
                <a:sym typeface="Consolas"/>
              </a:rPr>
              <a:t>args</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2</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Pet</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 = </a:t>
            </a:r>
            <a:r>
              <a:rPr lang="en" sz="1100">
                <a:solidFill>
                  <a:srgbClr val="AF00DB"/>
                </a:solidFill>
                <a:latin typeface="Consolas"/>
                <a:ea typeface="Consolas"/>
                <a:cs typeface="Consolas"/>
                <a:sym typeface="Consolas"/>
              </a:rPr>
              <a:t>new</a:t>
            </a:r>
            <a:r>
              <a:rPr lang="en" sz="1100">
                <a:solidFill>
                  <a:srgbClr val="000000"/>
                </a:solidFill>
                <a:latin typeface="Consolas"/>
                <a:ea typeface="Consolas"/>
                <a:cs typeface="Consolas"/>
                <a:sym typeface="Consolas"/>
              </a:rPr>
              <a:t> </a:t>
            </a:r>
            <a:r>
              <a:rPr lang="en" sz="1100">
                <a:solidFill>
                  <a:srgbClr val="795E26"/>
                </a:solidFill>
                <a:latin typeface="Consolas"/>
                <a:ea typeface="Consolas"/>
                <a:cs typeface="Consolas"/>
                <a:sym typeface="Consolas"/>
              </a:rPr>
              <a:t>Pet</a:t>
            </a:r>
            <a:r>
              <a:rPr lang="en" sz="1100">
                <a:solidFill>
                  <a:srgbClr val="000000"/>
                </a:solidFill>
                <a:latin typeface="Consolas"/>
                <a:ea typeface="Consolas"/>
                <a:cs typeface="Consolas"/>
                <a:sym typeface="Consolas"/>
              </a:rPr>
              <a:t>(</a:t>
            </a:r>
            <a:r>
              <a:rPr lang="en" sz="1100">
                <a:solidFill>
                  <a:srgbClr val="A31515"/>
                </a:solidFill>
                <a:latin typeface="Consolas"/>
                <a:ea typeface="Consolas"/>
                <a:cs typeface="Consolas"/>
                <a:sym typeface="Consolas"/>
              </a:rPr>
              <a:t>"Cosmo"</a:t>
            </a:r>
            <a:r>
              <a:rPr lang="en" sz="1100">
                <a:solidFill>
                  <a:srgbClr val="000000"/>
                </a:solidFill>
                <a:latin typeface="Consolas"/>
                <a:ea typeface="Consolas"/>
                <a:cs typeface="Consolas"/>
                <a:sym typeface="Consolas"/>
              </a:rPr>
              <a:t>, </a:t>
            </a:r>
            <a:r>
              <a:rPr lang="en" sz="1100">
                <a:solidFill>
                  <a:srgbClr val="098658"/>
                </a:solidFill>
                <a:latin typeface="Consolas"/>
                <a:ea typeface="Consolas"/>
                <a:cs typeface="Consolas"/>
                <a:sym typeface="Consolas"/>
              </a:rPr>
              <a:t>2</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3</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Species</a:t>
            </a:r>
            <a:r>
              <a:rPr lang="en" sz="1100">
                <a:solidFill>
                  <a:srgbClr val="000000"/>
                </a:solidFill>
                <a:latin typeface="Consolas"/>
                <a:ea typeface="Consolas"/>
                <a:cs typeface="Consolas"/>
                <a:sym typeface="Consolas"/>
              </a:rPr>
              <a:t>.</a:t>
            </a:r>
            <a:r>
              <a:rPr lang="en" sz="1100">
                <a:solidFill>
                  <a:srgbClr val="0070C1"/>
                </a:solidFill>
                <a:latin typeface="Consolas"/>
                <a:ea typeface="Consolas"/>
                <a:cs typeface="Consolas"/>
                <a:sym typeface="Consolas"/>
              </a:rPr>
              <a:t>DOG</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4</a:t>
            </a:r>
            <a:r>
              <a:rPr lang="en" sz="1100">
                <a:solidFill>
                  <a:srgbClr val="000000"/>
                </a:solidFill>
                <a:latin typeface="Consolas"/>
                <a:ea typeface="Consolas"/>
                <a:cs typeface="Consolas"/>
                <a:sym typeface="Consolas"/>
              </a:rPr>
              <a:t>  </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5</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adopt</a:t>
            </a:r>
            <a:r>
              <a:rPr lang="en" sz="1100">
                <a:solidFill>
                  <a:srgbClr val="000000"/>
                </a:solidFill>
                <a:latin typeface="Consolas"/>
                <a:ea typeface="Consolas"/>
                <a:cs typeface="Consolas"/>
                <a:sym typeface="Consolas"/>
              </a:rPr>
              <a:t>(</a:t>
            </a:r>
            <a:r>
              <a:rPr lang="en" sz="1100">
                <a:solidFill>
                  <a:srgbClr val="A31515"/>
                </a:solidFill>
                <a:latin typeface="Consolas"/>
                <a:ea typeface="Consolas"/>
                <a:cs typeface="Consolas"/>
                <a:sym typeface="Consolas"/>
              </a:rPr>
              <a:t>"Bandit"</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6</a:t>
            </a:r>
            <a:r>
              <a:rPr lang="en" sz="1100">
                <a:solidFill>
                  <a:srgbClr val="000000"/>
                </a:solidFill>
                <a:latin typeface="Consolas"/>
                <a:ea typeface="Consolas"/>
                <a:cs typeface="Consolas"/>
                <a:sym typeface="Consolas"/>
              </a:rPr>
              <a:t>      </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birthday</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7</a:t>
            </a:r>
            <a:r>
              <a:rPr lang="en" sz="1100">
                <a:solidFill>
                  <a:srgbClr val="000000"/>
                </a:solidFill>
                <a:latin typeface="Consolas"/>
                <a:ea typeface="Consolas"/>
                <a:cs typeface="Consolas"/>
                <a:sym typeface="Consolas"/>
              </a:rPr>
              <a:t>      </a:t>
            </a:r>
            <a:r>
              <a:rPr lang="en" sz="1100">
                <a:solidFill>
                  <a:srgbClr val="267F99"/>
                </a:solidFill>
                <a:latin typeface="Consolas"/>
                <a:ea typeface="Consolas"/>
                <a:cs typeface="Consolas"/>
                <a:sym typeface="Consolas"/>
              </a:rPr>
              <a:t>System</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out</a:t>
            </a:r>
            <a:r>
              <a:rPr lang="en" sz="1100">
                <a:solidFill>
                  <a:srgbClr val="000000"/>
                </a:solidFill>
                <a:latin typeface="Consolas"/>
                <a:ea typeface="Consolas"/>
                <a:cs typeface="Consolas"/>
                <a:sym typeface="Consolas"/>
              </a:rPr>
              <a:t>.</a:t>
            </a:r>
            <a:r>
              <a:rPr lang="en" sz="1100">
                <a:solidFill>
                  <a:srgbClr val="795E26"/>
                </a:solidFill>
                <a:latin typeface="Consolas"/>
                <a:ea typeface="Consolas"/>
                <a:cs typeface="Consolas"/>
                <a:sym typeface="Consolas"/>
              </a:rPr>
              <a:t>println</a:t>
            </a:r>
            <a:r>
              <a:rPr lang="en" sz="1100">
                <a:solidFill>
                  <a:srgbClr val="000000"/>
                </a:solidFill>
                <a:latin typeface="Consolas"/>
                <a:ea typeface="Consolas"/>
                <a:cs typeface="Consolas"/>
                <a:sym typeface="Consolas"/>
              </a:rPr>
              <a:t>(</a:t>
            </a:r>
            <a:r>
              <a:rPr lang="en" sz="1100">
                <a:solidFill>
                  <a:srgbClr val="001080"/>
                </a:solidFill>
                <a:latin typeface="Consolas"/>
                <a:ea typeface="Consolas"/>
                <a:cs typeface="Consolas"/>
                <a:sym typeface="Consolas"/>
              </a:rPr>
              <a:t>myPet</a:t>
            </a:r>
            <a:r>
              <a:rPr lang="en" sz="1100">
                <a:solidFill>
                  <a:srgbClr val="000000"/>
                </a:solidFill>
                <a:latin typeface="Consolas"/>
                <a:ea typeface="Consolas"/>
                <a:cs typeface="Consolas"/>
                <a:sym typeface="Consolas"/>
              </a:rPr>
              <a:t>);</a:t>
            </a:r>
            <a:endParaRPr sz="1100">
              <a:solidFill>
                <a:srgbClr val="000000"/>
              </a:solidFill>
              <a:latin typeface="Consolas"/>
              <a:ea typeface="Consolas"/>
              <a:cs typeface="Consolas"/>
              <a:sym typeface="Consolas"/>
            </a:endParaRPr>
          </a:p>
          <a:p>
            <a:pPr marL="0" lvl="0" indent="0" algn="l" rtl="0">
              <a:lnSpc>
                <a:spcPct val="135714"/>
              </a:lnSpc>
              <a:spcBef>
                <a:spcPts val="0"/>
              </a:spcBef>
              <a:spcAft>
                <a:spcPts val="0"/>
              </a:spcAft>
              <a:buNone/>
            </a:pPr>
            <a:r>
              <a:rPr lang="en" sz="1100">
                <a:solidFill>
                  <a:srgbClr val="098658"/>
                </a:solidFill>
                <a:latin typeface="Consolas"/>
                <a:ea typeface="Consolas"/>
                <a:cs typeface="Consolas"/>
                <a:sym typeface="Consolas"/>
              </a:rPr>
              <a:t>8</a:t>
            </a:r>
            <a:r>
              <a:rPr lang="en" sz="1100">
                <a:solidFill>
                  <a:srgbClr val="000000"/>
                </a:solidFill>
                <a:latin typeface="Consolas"/>
                <a:ea typeface="Consolas"/>
                <a:cs typeface="Consolas"/>
                <a:sym typeface="Consolas"/>
              </a:rPr>
              <a:t>  }</a:t>
            </a:r>
            <a:endParaRPr sz="1100">
              <a:latin typeface="Consolas"/>
              <a:ea typeface="Consolas"/>
              <a:cs typeface="Consolas"/>
              <a:sym typeface="Consolas"/>
            </a:endParaRPr>
          </a:p>
        </p:txBody>
      </p:sp>
      <p:grpSp>
        <p:nvGrpSpPr>
          <p:cNvPr id="731" name="Google Shape;731;p86"/>
          <p:cNvGrpSpPr/>
          <p:nvPr/>
        </p:nvGrpSpPr>
        <p:grpSpPr>
          <a:xfrm>
            <a:off x="5061091" y="727556"/>
            <a:ext cx="1483580" cy="2499327"/>
            <a:chOff x="5031200" y="681300"/>
            <a:chExt cx="1513548" cy="3062150"/>
          </a:xfrm>
        </p:grpSpPr>
        <p:sp>
          <p:nvSpPr>
            <p:cNvPr id="732" name="Google Shape;732;p86"/>
            <p:cNvSpPr/>
            <p:nvPr/>
          </p:nvSpPr>
          <p:spPr>
            <a:xfrm>
              <a:off x="5996048" y="875975"/>
              <a:ext cx="548700" cy="202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86"/>
            <p:cNvSpPr/>
            <p:nvPr/>
          </p:nvSpPr>
          <p:spPr>
            <a:xfrm>
              <a:off x="5031200" y="681300"/>
              <a:ext cx="1250259" cy="3062150"/>
            </a:xfrm>
            <a:custGeom>
              <a:avLst/>
              <a:gdLst/>
              <a:ahLst/>
              <a:cxnLst/>
              <a:rect l="l" t="t" r="r" b="b"/>
              <a:pathLst>
                <a:path w="43723" h="122486" extrusionOk="0">
                  <a:moveTo>
                    <a:pt x="43723" y="7787"/>
                  </a:moveTo>
                  <a:lnTo>
                    <a:pt x="43723" y="0"/>
                  </a:lnTo>
                  <a:lnTo>
                    <a:pt x="0" y="0"/>
                  </a:lnTo>
                  <a:lnTo>
                    <a:pt x="0" y="122486"/>
                  </a:lnTo>
                  <a:lnTo>
                    <a:pt x="6888" y="122486"/>
                  </a:lnTo>
                </a:path>
              </a:pathLst>
            </a:custGeom>
            <a:noFill/>
            <a:ln w="19050" cap="flat" cmpd="sng">
              <a:solidFill>
                <a:srgbClr val="EE0000"/>
              </a:solidFill>
              <a:prstDash val="solid"/>
              <a:round/>
              <a:headEnd type="none" w="med" len="med"/>
              <a:tailEnd type="none" w="med" len="med"/>
            </a:ln>
          </p:spPr>
          <p:txBody>
            <a:bodyPr/>
            <a:lstStyle/>
            <a:p>
              <a:endParaRPr lang="en-US"/>
            </a:p>
          </p:txBody>
        </p:sp>
      </p:grpSp>
      <p:sp>
        <p:nvSpPr>
          <p:cNvPr id="734" name="Google Shape;734;p86"/>
          <p:cNvSpPr txBox="1">
            <a:spLocks noGrp="1"/>
          </p:cNvSpPr>
          <p:nvPr>
            <p:ph type="body" idx="3"/>
          </p:nvPr>
        </p:nvSpPr>
        <p:spPr>
          <a:xfrm>
            <a:off x="5192225" y="28674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A method that uses the </a:t>
            </a:r>
            <a:r>
              <a:rPr lang="en" sz="1200" dirty="0">
                <a:highlight>
                  <a:srgbClr val="FFFF00"/>
                </a:highlight>
                <a:latin typeface="Courier New"/>
                <a:ea typeface="Courier New"/>
                <a:cs typeface="Courier New"/>
                <a:sym typeface="Courier New"/>
              </a:rPr>
              <a:t>static</a:t>
            </a:r>
            <a:r>
              <a:rPr lang="en" sz="1200" dirty="0">
                <a:highlight>
                  <a:srgbClr val="FFFF00"/>
                </a:highlight>
              </a:rPr>
              <a:t> modifier is in a </a:t>
            </a:r>
            <a:r>
              <a:rPr lang="en" sz="1200" b="1" i="1" dirty="0">
                <a:solidFill>
                  <a:srgbClr val="FF0000"/>
                </a:solidFill>
                <a:highlight>
                  <a:srgbClr val="FFFF00"/>
                </a:highlight>
              </a:rPr>
              <a:t>static context</a:t>
            </a:r>
            <a:r>
              <a:rPr lang="en" sz="1200" dirty="0">
                <a:highlight>
                  <a:srgbClr val="FFFF00"/>
                </a:highlight>
              </a:rPr>
              <a:t> and can only directly access other methods or fields that are also static.</a:t>
            </a:r>
            <a:endParaRPr sz="1200" dirty="0">
              <a:highlight>
                <a:srgbClr val="FFFF00"/>
              </a:highlight>
            </a:endParaRPr>
          </a:p>
        </p:txBody>
      </p:sp>
      <p:sp>
        <p:nvSpPr>
          <p:cNvPr id="735" name="Google Shape;735;p86"/>
          <p:cNvSpPr txBox="1">
            <a:spLocks noGrp="1"/>
          </p:cNvSpPr>
          <p:nvPr>
            <p:ph type="body" idx="3"/>
          </p:nvPr>
        </p:nvSpPr>
        <p:spPr>
          <a:xfrm>
            <a:off x="5192225" y="3751225"/>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Non-static fields and methods will need to be accessed through an instance of the class.</a:t>
            </a:r>
            <a:endParaRPr sz="1200" dirty="0">
              <a:highlight>
                <a:srgbClr val="FFFF00"/>
              </a:highlight>
            </a:endParaRPr>
          </a:p>
        </p:txBody>
      </p:sp>
      <p:grpSp>
        <p:nvGrpSpPr>
          <p:cNvPr id="736" name="Google Shape;736;p86"/>
          <p:cNvGrpSpPr/>
          <p:nvPr/>
        </p:nvGrpSpPr>
        <p:grpSpPr>
          <a:xfrm>
            <a:off x="5767575" y="1750600"/>
            <a:ext cx="3254162" cy="2284949"/>
            <a:chOff x="5767575" y="1750600"/>
            <a:chExt cx="3254162" cy="2284949"/>
          </a:xfrm>
        </p:grpSpPr>
        <p:sp>
          <p:nvSpPr>
            <p:cNvPr id="737" name="Google Shape;737;p86"/>
            <p:cNvSpPr/>
            <p:nvPr/>
          </p:nvSpPr>
          <p:spPr>
            <a:xfrm>
              <a:off x="5767575" y="1750600"/>
              <a:ext cx="1764300" cy="497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86"/>
            <p:cNvSpPr/>
            <p:nvPr/>
          </p:nvSpPr>
          <p:spPr>
            <a:xfrm>
              <a:off x="7531875" y="1984025"/>
              <a:ext cx="1489862" cy="2051524"/>
            </a:xfrm>
            <a:custGeom>
              <a:avLst/>
              <a:gdLst/>
              <a:ahLst/>
              <a:cxnLst/>
              <a:rect l="l" t="t" r="r" b="b"/>
              <a:pathLst>
                <a:path w="61692" h="94934" extrusionOk="0">
                  <a:moveTo>
                    <a:pt x="0" y="0"/>
                  </a:moveTo>
                  <a:lnTo>
                    <a:pt x="61692" y="0"/>
                  </a:lnTo>
                  <a:lnTo>
                    <a:pt x="61692" y="94934"/>
                  </a:lnTo>
                  <a:lnTo>
                    <a:pt x="56900" y="94934"/>
                  </a:lnTo>
                </a:path>
              </a:pathLst>
            </a:custGeom>
            <a:noFill/>
            <a:ln w="19050" cap="flat" cmpd="sng">
              <a:solidFill>
                <a:srgbClr val="EE0000"/>
              </a:solidFill>
              <a:prstDash val="solid"/>
              <a:round/>
              <a:headEnd type="none" w="med" len="med"/>
              <a:tailEnd type="none" w="med" len="med"/>
            </a:ln>
          </p:spPr>
          <p:txBody>
            <a:bodyPr/>
            <a:lstStyle/>
            <a:p>
              <a:endParaRPr lang="en-US"/>
            </a:p>
          </p:txBody>
        </p:sp>
      </p:grpSp>
      <p:sp>
        <p:nvSpPr>
          <p:cNvPr id="739" name="Google Shape;739;p86"/>
          <p:cNvSpPr txBox="1">
            <a:spLocks noGrp="1"/>
          </p:cNvSpPr>
          <p:nvPr>
            <p:ph type="body" idx="3"/>
          </p:nvPr>
        </p:nvSpPr>
        <p:spPr>
          <a:xfrm>
            <a:off x="5192225" y="4450200"/>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You should </a:t>
            </a:r>
            <a:r>
              <a:rPr lang="en" sz="1200" b="1" i="1" dirty="0">
                <a:solidFill>
                  <a:srgbClr val="FF0000"/>
                </a:solidFill>
                <a:highlight>
                  <a:srgbClr val="FFFF00"/>
                </a:highlight>
              </a:rPr>
              <a:t>not</a:t>
            </a:r>
            <a:r>
              <a:rPr lang="en" sz="1200" dirty="0">
                <a:solidFill>
                  <a:srgbClr val="FF0000"/>
                </a:solidFill>
                <a:highlight>
                  <a:srgbClr val="FFFF00"/>
                </a:highlight>
              </a:rPr>
              <a:t> </a:t>
            </a:r>
            <a:r>
              <a:rPr lang="en" sz="1200" dirty="0">
                <a:highlight>
                  <a:srgbClr val="FFFF00"/>
                </a:highlight>
              </a:rPr>
              <a:t>make a non-static method </a:t>
            </a:r>
            <a:r>
              <a:rPr lang="en" sz="1200" dirty="0">
                <a:highlight>
                  <a:srgbClr val="FFFF00"/>
                </a:highlight>
                <a:latin typeface="Courier New"/>
                <a:ea typeface="Courier New"/>
                <a:cs typeface="Courier New"/>
                <a:sym typeface="Courier New"/>
              </a:rPr>
              <a:t>static</a:t>
            </a:r>
            <a:r>
              <a:rPr lang="en" sz="1200" dirty="0">
                <a:highlight>
                  <a:srgbClr val="FFFF00"/>
                </a:highlight>
              </a:rPr>
              <a:t> just so that it can be called from a static method.</a:t>
            </a:r>
            <a:endParaRPr sz="1200" dirty="0">
              <a:highlight>
                <a:srgbClr val="FFFF00"/>
              </a:high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8">
                                            <p:txEl>
                                              <p:pRg st="0" end="0"/>
                                            </p:txEl>
                                          </p:spTgt>
                                        </p:tgtEl>
                                        <p:attrNameLst>
                                          <p:attrName>style.visibility</p:attrName>
                                        </p:attrNameLst>
                                      </p:cBhvr>
                                      <p:to>
                                        <p:strVal val="visible"/>
                                      </p:to>
                                    </p:set>
                                    <p:animEffect transition="in" filter="fade">
                                      <p:cBhvr>
                                        <p:cTn id="7" dur="1000"/>
                                        <p:tgtEl>
                                          <p:spTgt spid="7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8">
                                            <p:txEl>
                                              <p:pRg st="1" end="1"/>
                                            </p:txEl>
                                          </p:spTgt>
                                        </p:tgtEl>
                                        <p:attrNameLst>
                                          <p:attrName>style.visibility</p:attrName>
                                        </p:attrNameLst>
                                      </p:cBhvr>
                                      <p:to>
                                        <p:strVal val="visible"/>
                                      </p:to>
                                    </p:set>
                                    <p:animEffect transition="in" filter="fade">
                                      <p:cBhvr>
                                        <p:cTn id="12" dur="1000"/>
                                        <p:tgtEl>
                                          <p:spTgt spid="7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8">
                                            <p:txEl>
                                              <p:pRg st="2" end="2"/>
                                            </p:txEl>
                                          </p:spTgt>
                                        </p:tgtEl>
                                        <p:attrNameLst>
                                          <p:attrName>style.visibility</p:attrName>
                                        </p:attrNameLst>
                                      </p:cBhvr>
                                      <p:to>
                                        <p:strVal val="visible"/>
                                      </p:to>
                                    </p:set>
                                    <p:animEffect transition="in" filter="fade">
                                      <p:cBhvr>
                                        <p:cTn id="17" dur="1000"/>
                                        <p:tgtEl>
                                          <p:spTgt spid="72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8">
                                            <p:txEl>
                                              <p:pRg st="3" end="3"/>
                                            </p:txEl>
                                          </p:spTgt>
                                        </p:tgtEl>
                                        <p:attrNameLst>
                                          <p:attrName>style.visibility</p:attrName>
                                        </p:attrNameLst>
                                      </p:cBhvr>
                                      <p:to>
                                        <p:strVal val="visible"/>
                                      </p:to>
                                    </p:set>
                                    <p:animEffect transition="in" filter="fade">
                                      <p:cBhvr>
                                        <p:cTn id="22" dur="1000"/>
                                        <p:tgtEl>
                                          <p:spTgt spid="72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28">
                                            <p:txEl>
                                              <p:pRg st="4" end="4"/>
                                            </p:txEl>
                                          </p:spTgt>
                                        </p:tgtEl>
                                        <p:attrNameLst>
                                          <p:attrName>style.visibility</p:attrName>
                                        </p:attrNameLst>
                                      </p:cBhvr>
                                      <p:to>
                                        <p:strVal val="visible"/>
                                      </p:to>
                                    </p:set>
                                    <p:animEffect transition="in" filter="fade">
                                      <p:cBhvr>
                                        <p:cTn id="27" dur="1000"/>
                                        <p:tgtEl>
                                          <p:spTgt spid="72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28">
                                            <p:txEl>
                                              <p:pRg st="5" end="5"/>
                                            </p:txEl>
                                          </p:spTgt>
                                        </p:tgtEl>
                                        <p:attrNameLst>
                                          <p:attrName>style.visibility</p:attrName>
                                        </p:attrNameLst>
                                      </p:cBhvr>
                                      <p:to>
                                        <p:strVal val="visible"/>
                                      </p:to>
                                    </p:set>
                                    <p:animEffect transition="in" filter="fade">
                                      <p:cBhvr>
                                        <p:cTn id="32" dur="1000"/>
                                        <p:tgtEl>
                                          <p:spTgt spid="72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28">
                                            <p:txEl>
                                              <p:pRg st="6" end="6"/>
                                            </p:txEl>
                                          </p:spTgt>
                                        </p:tgtEl>
                                        <p:attrNameLst>
                                          <p:attrName>style.visibility</p:attrName>
                                        </p:attrNameLst>
                                      </p:cBhvr>
                                      <p:to>
                                        <p:strVal val="visible"/>
                                      </p:to>
                                    </p:set>
                                    <p:animEffect transition="in" filter="fade">
                                      <p:cBhvr>
                                        <p:cTn id="37" dur="1000"/>
                                        <p:tgtEl>
                                          <p:spTgt spid="72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28">
                                            <p:txEl>
                                              <p:pRg st="7" end="7"/>
                                            </p:txEl>
                                          </p:spTgt>
                                        </p:tgtEl>
                                        <p:attrNameLst>
                                          <p:attrName>style.visibility</p:attrName>
                                        </p:attrNameLst>
                                      </p:cBhvr>
                                      <p:to>
                                        <p:strVal val="visible"/>
                                      </p:to>
                                    </p:set>
                                    <p:animEffect transition="in" filter="fade">
                                      <p:cBhvr>
                                        <p:cTn id="42" dur="1000"/>
                                        <p:tgtEl>
                                          <p:spTgt spid="72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28">
                                            <p:txEl>
                                              <p:pRg st="8" end="8"/>
                                            </p:txEl>
                                          </p:spTgt>
                                        </p:tgtEl>
                                        <p:attrNameLst>
                                          <p:attrName>style.visibility</p:attrName>
                                        </p:attrNameLst>
                                      </p:cBhvr>
                                      <p:to>
                                        <p:strVal val="visible"/>
                                      </p:to>
                                    </p:set>
                                    <p:animEffect transition="in" filter="fade">
                                      <p:cBhvr>
                                        <p:cTn id="47" dur="1000"/>
                                        <p:tgtEl>
                                          <p:spTgt spid="72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28">
                                            <p:txEl>
                                              <p:pRg st="9" end="9"/>
                                            </p:txEl>
                                          </p:spTgt>
                                        </p:tgtEl>
                                        <p:attrNameLst>
                                          <p:attrName>style.visibility</p:attrName>
                                        </p:attrNameLst>
                                      </p:cBhvr>
                                      <p:to>
                                        <p:strVal val="visible"/>
                                      </p:to>
                                    </p:set>
                                    <p:animEffect transition="in" filter="fade">
                                      <p:cBhvr>
                                        <p:cTn id="52" dur="1000"/>
                                        <p:tgtEl>
                                          <p:spTgt spid="72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34"/>
                                        </p:tgtEl>
                                        <p:attrNameLst>
                                          <p:attrName>style.visibility</p:attrName>
                                        </p:attrNameLst>
                                      </p:cBhvr>
                                      <p:to>
                                        <p:strVal val="visible"/>
                                      </p:to>
                                    </p:set>
                                    <p:animEffect transition="in" filter="fade">
                                      <p:cBhvr>
                                        <p:cTn id="57" dur="1000"/>
                                        <p:tgtEl>
                                          <p:spTgt spid="734"/>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731"/>
                                        </p:tgtEl>
                                        <p:attrNameLst>
                                          <p:attrName>style.visibility</p:attrName>
                                        </p:attrNameLst>
                                      </p:cBhvr>
                                      <p:to>
                                        <p:strVal val="visible"/>
                                      </p:to>
                                    </p:set>
                                    <p:animEffect transition="in" filter="fade">
                                      <p:cBhvr>
                                        <p:cTn id="61" dur="1000"/>
                                        <p:tgtEl>
                                          <p:spTgt spid="731"/>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735"/>
                                        </p:tgtEl>
                                        <p:attrNameLst>
                                          <p:attrName>style.visibility</p:attrName>
                                        </p:attrNameLst>
                                      </p:cBhvr>
                                      <p:to>
                                        <p:strVal val="visible"/>
                                      </p:to>
                                    </p:set>
                                    <p:animEffect transition="in" filter="fade">
                                      <p:cBhvr>
                                        <p:cTn id="66" dur="1000"/>
                                        <p:tgtEl>
                                          <p:spTgt spid="735"/>
                                        </p:tgtEl>
                                      </p:cBhvr>
                                    </p:animEffect>
                                  </p:childTnLst>
                                </p:cTn>
                              </p:par>
                            </p:childTnLst>
                          </p:cTn>
                        </p:par>
                        <p:par>
                          <p:cTn id="67" fill="hold">
                            <p:stCondLst>
                              <p:cond delay="1000"/>
                            </p:stCondLst>
                            <p:childTnLst>
                              <p:par>
                                <p:cTn id="68" presetID="10" presetClass="entr" presetSubtype="0" fill="hold" nodeType="afterEffect">
                                  <p:stCondLst>
                                    <p:cond delay="0"/>
                                  </p:stCondLst>
                                  <p:childTnLst>
                                    <p:set>
                                      <p:cBhvr>
                                        <p:cTn id="69" dur="1" fill="hold">
                                          <p:stCondLst>
                                            <p:cond delay="0"/>
                                          </p:stCondLst>
                                        </p:cTn>
                                        <p:tgtEl>
                                          <p:spTgt spid="736"/>
                                        </p:tgtEl>
                                        <p:attrNameLst>
                                          <p:attrName>style.visibility</p:attrName>
                                        </p:attrNameLst>
                                      </p:cBhvr>
                                      <p:to>
                                        <p:strVal val="visible"/>
                                      </p:to>
                                    </p:set>
                                    <p:animEffect transition="in" filter="fade">
                                      <p:cBhvr>
                                        <p:cTn id="70" dur="1000"/>
                                        <p:tgtEl>
                                          <p:spTgt spid="736"/>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739"/>
                                        </p:tgtEl>
                                        <p:attrNameLst>
                                          <p:attrName>style.visibility</p:attrName>
                                        </p:attrNameLst>
                                      </p:cBhvr>
                                      <p:to>
                                        <p:strVal val="visible"/>
                                      </p:to>
                                    </p:set>
                                    <p:animEffect transition="in" filter="fade">
                                      <p:cBhvr>
                                        <p:cTn id="75" dur="1000"/>
                                        <p:tgtEl>
                                          <p:spTgt spid="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8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42</a:t>
            </a:fld>
            <a:endParaRPr/>
          </a:p>
        </p:txBody>
      </p:sp>
      <p:sp>
        <p:nvSpPr>
          <p:cNvPr id="745" name="Google Shape;745;p87"/>
          <p:cNvSpPr txBox="1">
            <a:spLocks noGrp="1"/>
          </p:cNvSpPr>
          <p:nvPr>
            <p:ph type="title"/>
          </p:nvPr>
        </p:nvSpPr>
        <p:spPr>
          <a:xfrm>
            <a:off x="311725" y="437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urier New"/>
                <a:ea typeface="Courier New"/>
                <a:cs typeface="Courier New"/>
                <a:sym typeface="Courier New"/>
              </a:rPr>
              <a:t>final</a:t>
            </a:r>
            <a:r>
              <a:rPr lang="en"/>
              <a:t> &amp; Constants</a:t>
            </a:r>
            <a:endParaRPr/>
          </a:p>
        </p:txBody>
      </p:sp>
      <p:sp>
        <p:nvSpPr>
          <p:cNvPr id="746" name="Google Shape;746;p87"/>
          <p:cNvSpPr txBox="1">
            <a:spLocks noGrp="1"/>
          </p:cNvSpPr>
          <p:nvPr>
            <p:ph type="body" idx="1"/>
          </p:nvPr>
        </p:nvSpPr>
        <p:spPr>
          <a:xfrm>
            <a:off x="4426225" y="35025"/>
            <a:ext cx="4474500" cy="5016600"/>
          </a:xfrm>
          <a:prstGeom prst="rect">
            <a:avLst/>
          </a:prstGeom>
        </p:spPr>
        <p:txBody>
          <a:bodyPr spcFirstLastPara="1" wrap="square" lIns="91425" tIns="91425" rIns="91425" bIns="91425" anchor="t" anchorCtr="0">
            <a:spAutoFit/>
          </a:bodyPr>
          <a:lstStyle/>
          <a:p>
            <a:pPr marL="457200" lvl="0" indent="-313245" algn="l" rtl="0">
              <a:lnSpc>
                <a:spcPct val="100000"/>
              </a:lnSpc>
              <a:spcBef>
                <a:spcPts val="0"/>
              </a:spcBef>
              <a:spcAft>
                <a:spcPts val="0"/>
              </a:spcAft>
              <a:buSzPts val="1333"/>
              <a:buChar char="●"/>
            </a:pPr>
            <a:r>
              <a:rPr lang="en" sz="1333" dirty="0">
                <a:highlight>
                  <a:srgbClr val="FFFF00"/>
                </a:highlight>
              </a:rPr>
              <a:t>The </a:t>
            </a:r>
            <a:r>
              <a:rPr lang="en" sz="1333" dirty="0">
                <a:solidFill>
                  <a:srgbClr val="FF0000"/>
                </a:solidFill>
                <a:highlight>
                  <a:srgbClr val="FFFF00"/>
                </a:highlight>
                <a:latin typeface="Courier New"/>
                <a:ea typeface="Courier New"/>
                <a:cs typeface="Courier New"/>
                <a:sym typeface="Courier New"/>
              </a:rPr>
              <a:t>final</a:t>
            </a:r>
            <a:r>
              <a:rPr lang="en" sz="1333" dirty="0">
                <a:highlight>
                  <a:srgbClr val="FFFF00"/>
                </a:highlight>
              </a:rPr>
              <a:t> modifier indicates that, once a value has been assigned to a variable, the value may never be changed.</a:t>
            </a:r>
            <a:endParaRPr sz="1333" dirty="0">
              <a:highlight>
                <a:srgbClr val="FFFF00"/>
              </a:highlight>
            </a:endParaRPr>
          </a:p>
          <a:p>
            <a:pPr marL="914400" lvl="1" indent="-300545" algn="l" rtl="0">
              <a:lnSpc>
                <a:spcPct val="100000"/>
              </a:lnSpc>
              <a:spcBef>
                <a:spcPts val="0"/>
              </a:spcBef>
              <a:spcAft>
                <a:spcPts val="0"/>
              </a:spcAft>
              <a:buSzPts val="1133"/>
              <a:buChar char="○"/>
            </a:pPr>
            <a:r>
              <a:rPr lang="en" sz="1133" dirty="0">
                <a:highlight>
                  <a:srgbClr val="FFFF00"/>
                </a:highlight>
              </a:rPr>
              <a:t>A field that is final </a:t>
            </a:r>
            <a:r>
              <a:rPr lang="en" sz="1133" b="1" i="1" dirty="0">
                <a:solidFill>
                  <a:srgbClr val="FF0000"/>
                </a:solidFill>
                <a:highlight>
                  <a:srgbClr val="FFFF00"/>
                </a:highlight>
              </a:rPr>
              <a:t>must</a:t>
            </a:r>
            <a:r>
              <a:rPr lang="en" sz="1133" dirty="0">
                <a:solidFill>
                  <a:srgbClr val="FF0000"/>
                </a:solidFill>
                <a:highlight>
                  <a:srgbClr val="FFFF00"/>
                </a:highlight>
              </a:rPr>
              <a:t> </a:t>
            </a:r>
            <a:r>
              <a:rPr lang="en" sz="1133" dirty="0">
                <a:highlight>
                  <a:srgbClr val="FFFF00"/>
                </a:highlight>
              </a:rPr>
              <a:t>be assigned a value when the object is constructed.</a:t>
            </a:r>
            <a:endParaRPr sz="1133" dirty="0">
              <a:highlight>
                <a:srgbClr val="FFFF00"/>
              </a:highlight>
            </a:endParaRPr>
          </a:p>
          <a:p>
            <a:pPr marL="914400" lvl="1" indent="-300545" algn="l" rtl="0">
              <a:lnSpc>
                <a:spcPct val="100000"/>
              </a:lnSpc>
              <a:spcBef>
                <a:spcPts val="0"/>
              </a:spcBef>
              <a:spcAft>
                <a:spcPts val="0"/>
              </a:spcAft>
              <a:buSzPts val="1133"/>
              <a:buChar char="○"/>
            </a:pPr>
            <a:r>
              <a:rPr lang="en" sz="1133" dirty="0">
                <a:highlight>
                  <a:srgbClr val="FFFF00"/>
                </a:highlight>
              </a:rPr>
              <a:t>If a value is not assigned in the constructor or when the field is declared, the class will not compile.</a:t>
            </a:r>
            <a:endParaRPr sz="1133" dirty="0">
              <a:highlight>
                <a:srgbClr val="FFFF00"/>
              </a:highlight>
            </a:endParaRPr>
          </a:p>
          <a:p>
            <a:pPr marL="457200" lvl="0" indent="-313245" algn="l" rtl="0">
              <a:lnSpc>
                <a:spcPct val="100000"/>
              </a:lnSpc>
              <a:spcBef>
                <a:spcPts val="1000"/>
              </a:spcBef>
              <a:spcAft>
                <a:spcPts val="0"/>
              </a:spcAft>
              <a:buSzPts val="1333"/>
              <a:buChar char="●"/>
            </a:pPr>
            <a:r>
              <a:rPr lang="en" sz="1333" dirty="0">
                <a:highlight>
                  <a:srgbClr val="FFFF00"/>
                </a:highlight>
              </a:rPr>
              <a:t>A </a:t>
            </a:r>
            <a:r>
              <a:rPr lang="en" sz="1333" b="1" i="1" dirty="0">
                <a:solidFill>
                  <a:srgbClr val="FF0000"/>
                </a:solidFill>
                <a:highlight>
                  <a:srgbClr val="FFFF00"/>
                </a:highlight>
              </a:rPr>
              <a:t>constant</a:t>
            </a:r>
            <a:r>
              <a:rPr lang="en" sz="1333" dirty="0">
                <a:solidFill>
                  <a:srgbClr val="FF0000"/>
                </a:solidFill>
                <a:highlight>
                  <a:srgbClr val="FFFF00"/>
                </a:highlight>
              </a:rPr>
              <a:t> </a:t>
            </a:r>
            <a:r>
              <a:rPr lang="en" sz="1333" dirty="0">
                <a:highlight>
                  <a:srgbClr val="FFFF00"/>
                </a:highlight>
              </a:rPr>
              <a:t>is a variable that has a predefined value that never changes.</a:t>
            </a:r>
            <a:endParaRPr sz="1333" dirty="0">
              <a:highlight>
                <a:srgbClr val="FFFF00"/>
              </a:highlight>
            </a:endParaRPr>
          </a:p>
          <a:p>
            <a:pPr marL="914400" lvl="1" indent="-300545" algn="l" rtl="0">
              <a:lnSpc>
                <a:spcPct val="100000"/>
              </a:lnSpc>
              <a:spcBef>
                <a:spcPts val="0"/>
              </a:spcBef>
              <a:spcAft>
                <a:spcPts val="0"/>
              </a:spcAft>
              <a:buSzPts val="1133"/>
              <a:buChar char="○"/>
            </a:pPr>
            <a:r>
              <a:rPr lang="en" sz="1133" dirty="0"/>
              <a:t>e.g. Pi (3.14159), the number of feet in a mile (5,280), etc.</a:t>
            </a:r>
            <a:endParaRPr sz="1133" dirty="0"/>
          </a:p>
          <a:p>
            <a:pPr marL="457200" lvl="0" indent="-313245" algn="l" rtl="0">
              <a:lnSpc>
                <a:spcPct val="100000"/>
              </a:lnSpc>
              <a:spcBef>
                <a:spcPts val="1000"/>
              </a:spcBef>
              <a:spcAft>
                <a:spcPts val="0"/>
              </a:spcAft>
              <a:buSzPts val="1333"/>
              <a:buChar char="●"/>
            </a:pPr>
            <a:r>
              <a:rPr lang="en" sz="1333" dirty="0"/>
              <a:t>A constant is </a:t>
            </a:r>
            <a:r>
              <a:rPr lang="en" sz="1333" b="1" i="1" dirty="0">
                <a:solidFill>
                  <a:srgbClr val="FF0000"/>
                </a:solidFill>
                <a:highlight>
                  <a:srgbClr val="FFFF00"/>
                </a:highlight>
              </a:rPr>
              <a:t>both</a:t>
            </a:r>
            <a:r>
              <a:rPr lang="en" sz="1333" dirty="0">
                <a:solidFill>
                  <a:srgbClr val="FF0000"/>
                </a:solidFill>
                <a:highlight>
                  <a:srgbClr val="FFFF00"/>
                </a:highlight>
              </a:rPr>
              <a:t> </a:t>
            </a:r>
            <a:r>
              <a:rPr lang="en" sz="1333" dirty="0">
                <a:highlight>
                  <a:srgbClr val="FFFF00"/>
                </a:highlight>
                <a:latin typeface="Courier New"/>
                <a:ea typeface="Courier New"/>
                <a:cs typeface="Courier New"/>
                <a:sym typeface="Courier New"/>
              </a:rPr>
              <a:t>static</a:t>
            </a:r>
            <a:r>
              <a:rPr lang="en" sz="1333" dirty="0">
                <a:highlight>
                  <a:srgbClr val="FFFF00"/>
                </a:highlight>
              </a:rPr>
              <a:t> and </a:t>
            </a:r>
            <a:r>
              <a:rPr lang="en" sz="1333" dirty="0">
                <a:highlight>
                  <a:srgbClr val="FFFF00"/>
                </a:highlight>
                <a:latin typeface="Courier New"/>
                <a:ea typeface="Courier New"/>
                <a:cs typeface="Courier New"/>
                <a:sym typeface="Courier New"/>
              </a:rPr>
              <a:t>final</a:t>
            </a:r>
            <a:r>
              <a:rPr lang="en" sz="1333" dirty="0">
                <a:highlight>
                  <a:srgbClr val="FFFF00"/>
                </a:highlight>
              </a:rPr>
              <a:t>.</a:t>
            </a:r>
            <a:endParaRPr sz="1333" dirty="0">
              <a:highlight>
                <a:srgbClr val="FFFF00"/>
              </a:highlight>
            </a:endParaRPr>
          </a:p>
          <a:p>
            <a:pPr marL="457200" lvl="0" indent="-313245" algn="l" rtl="0">
              <a:lnSpc>
                <a:spcPct val="100000"/>
              </a:lnSpc>
              <a:spcBef>
                <a:spcPts val="1000"/>
              </a:spcBef>
              <a:spcAft>
                <a:spcPts val="0"/>
              </a:spcAft>
              <a:buSzPts val="1333"/>
              <a:buChar char="●"/>
            </a:pPr>
            <a:r>
              <a:rPr lang="en" sz="1333" dirty="0"/>
              <a:t>In general, constants should be used instead of "magic values."</a:t>
            </a:r>
            <a:endParaRPr sz="1333" dirty="0"/>
          </a:p>
          <a:p>
            <a:pPr marL="914400" lvl="1" indent="-300545" algn="l" rtl="0">
              <a:lnSpc>
                <a:spcPct val="100000"/>
              </a:lnSpc>
              <a:spcBef>
                <a:spcPts val="0"/>
              </a:spcBef>
              <a:spcAft>
                <a:spcPts val="0"/>
              </a:spcAft>
              <a:buSzPts val="1133"/>
              <a:buChar char="○"/>
            </a:pPr>
            <a:r>
              <a:rPr lang="en" sz="1133" dirty="0">
                <a:highlight>
                  <a:srgbClr val="FFFF00"/>
                </a:highlight>
              </a:rPr>
              <a:t>A "</a:t>
            </a:r>
            <a:r>
              <a:rPr lang="en" sz="1133" b="1" i="1" dirty="0">
                <a:solidFill>
                  <a:srgbClr val="FF0000"/>
                </a:solidFill>
                <a:highlight>
                  <a:srgbClr val="FFFF00"/>
                </a:highlight>
              </a:rPr>
              <a:t>magic</a:t>
            </a:r>
            <a:r>
              <a:rPr lang="en" sz="1133" dirty="0">
                <a:highlight>
                  <a:srgbClr val="FFFF00"/>
                </a:highlight>
              </a:rPr>
              <a:t>" value </a:t>
            </a:r>
            <a:r>
              <a:rPr lang="en" sz="1133" dirty="0"/>
              <a:t>is one that just appears hardcoded without any context.</a:t>
            </a:r>
            <a:endParaRPr sz="1133" dirty="0"/>
          </a:p>
          <a:p>
            <a:pPr marL="914400" lvl="1" indent="-300545" algn="l" rtl="0">
              <a:lnSpc>
                <a:spcPct val="100000"/>
              </a:lnSpc>
              <a:spcBef>
                <a:spcPts val="0"/>
              </a:spcBef>
              <a:spcAft>
                <a:spcPts val="0"/>
              </a:spcAft>
              <a:buSzPts val="1133"/>
              <a:buChar char="○"/>
            </a:pPr>
            <a:r>
              <a:rPr lang="en" sz="1133" dirty="0"/>
              <a:t>This is especially true if the value is used in </a:t>
            </a:r>
            <a:r>
              <a:rPr lang="en" sz="1133" dirty="0">
                <a:highlight>
                  <a:srgbClr val="FFFF00"/>
                </a:highlight>
              </a:rPr>
              <a:t>more than one place.</a:t>
            </a:r>
            <a:endParaRPr sz="1133" dirty="0">
              <a:highlight>
                <a:srgbClr val="FFFF00"/>
              </a:highlight>
            </a:endParaRPr>
          </a:p>
          <a:p>
            <a:pPr marL="457200" lvl="0" indent="-313245" algn="l" rtl="0">
              <a:lnSpc>
                <a:spcPct val="100000"/>
              </a:lnSpc>
              <a:spcBef>
                <a:spcPts val="1000"/>
              </a:spcBef>
              <a:spcAft>
                <a:spcPts val="0"/>
              </a:spcAft>
              <a:buSzPts val="1333"/>
              <a:buChar char="●"/>
            </a:pPr>
            <a:r>
              <a:rPr lang="en" sz="1333" dirty="0">
                <a:highlight>
                  <a:srgbClr val="FFFF00"/>
                </a:highlight>
              </a:rPr>
              <a:t>Using constants makes it </a:t>
            </a:r>
            <a:r>
              <a:rPr lang="en" sz="1333" b="1" i="1" dirty="0">
                <a:solidFill>
                  <a:srgbClr val="FF0000"/>
                </a:solidFill>
                <a:highlight>
                  <a:srgbClr val="FFFF00"/>
                </a:highlight>
              </a:rPr>
              <a:t>much</a:t>
            </a:r>
            <a:r>
              <a:rPr lang="en" sz="1333" dirty="0">
                <a:solidFill>
                  <a:srgbClr val="FF0000"/>
                </a:solidFill>
                <a:highlight>
                  <a:srgbClr val="FFFF00"/>
                </a:highlight>
              </a:rPr>
              <a:t> </a:t>
            </a:r>
            <a:r>
              <a:rPr lang="en" sz="1333" dirty="0">
                <a:highlight>
                  <a:srgbClr val="FFFF00"/>
                </a:highlight>
              </a:rPr>
              <a:t>easier to change the value.</a:t>
            </a:r>
            <a:endParaRPr sz="1333" dirty="0">
              <a:highlight>
                <a:srgbClr val="FFFF00"/>
              </a:highlight>
            </a:endParaRPr>
          </a:p>
          <a:p>
            <a:pPr marL="914400" lvl="1" indent="-300545" algn="l" rtl="0">
              <a:lnSpc>
                <a:spcPct val="100000"/>
              </a:lnSpc>
              <a:spcBef>
                <a:spcPts val="0"/>
              </a:spcBef>
              <a:spcAft>
                <a:spcPts val="0"/>
              </a:spcAft>
              <a:buSzPts val="1133"/>
              <a:buChar char="○"/>
            </a:pPr>
            <a:r>
              <a:rPr lang="en" sz="1133" dirty="0"/>
              <a:t>For example, if we need to add 3 more digits of precision to Pi, we only need to change it in one place.</a:t>
            </a:r>
            <a:endParaRPr sz="1133" dirty="0"/>
          </a:p>
        </p:txBody>
      </p:sp>
      <p:sp>
        <p:nvSpPr>
          <p:cNvPr id="747" name="Google Shape;747;p87"/>
          <p:cNvSpPr txBox="1">
            <a:spLocks noGrp="1"/>
          </p:cNvSpPr>
          <p:nvPr>
            <p:ph type="body" idx="2"/>
          </p:nvPr>
        </p:nvSpPr>
        <p:spPr>
          <a:xfrm>
            <a:off x="311725" y="1284027"/>
            <a:ext cx="3706500" cy="28014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Circle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98658"/>
                </a:solidFill>
                <a:latin typeface="Consolas"/>
                <a:ea typeface="Consolas"/>
                <a:cs typeface="Consolas"/>
                <a:sym typeface="Consolas"/>
              </a:rPr>
              <a:t>3.14</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 final</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Circle</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8</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circumference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11</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12</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13</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area</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15</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16</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17</a:t>
            </a:r>
            <a:r>
              <a:rPr lang="en" sz="1000">
                <a:solidFill>
                  <a:srgbClr val="000000"/>
                </a:solidFill>
                <a:latin typeface="Consolas"/>
                <a:ea typeface="Consolas"/>
                <a:cs typeface="Consolas"/>
                <a:sym typeface="Consolas"/>
              </a:rPr>
              <a:t> }</a:t>
            </a:r>
            <a:endParaRPr sz="1000">
              <a:solidFill>
                <a:srgbClr val="0000FF"/>
              </a:solidFill>
              <a:latin typeface="Consolas"/>
              <a:ea typeface="Consolas"/>
              <a:cs typeface="Consolas"/>
              <a:sym typeface="Consolas"/>
            </a:endParaRPr>
          </a:p>
        </p:txBody>
      </p:sp>
      <p:grpSp>
        <p:nvGrpSpPr>
          <p:cNvPr id="748" name="Google Shape;748;p87"/>
          <p:cNvGrpSpPr/>
          <p:nvPr/>
        </p:nvGrpSpPr>
        <p:grpSpPr>
          <a:xfrm>
            <a:off x="1362613" y="1160412"/>
            <a:ext cx="891000" cy="546600"/>
            <a:chOff x="1362613" y="1160412"/>
            <a:chExt cx="891000" cy="546600"/>
          </a:xfrm>
        </p:grpSpPr>
        <p:sp>
          <p:nvSpPr>
            <p:cNvPr id="749" name="Google Shape;749;p87"/>
            <p:cNvSpPr/>
            <p:nvPr/>
          </p:nvSpPr>
          <p:spPr>
            <a:xfrm>
              <a:off x="1362613" y="1534812"/>
              <a:ext cx="891000" cy="172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0" name="Google Shape;750;p87"/>
            <p:cNvCxnSpPr/>
            <p:nvPr/>
          </p:nvCxnSpPr>
          <p:spPr>
            <a:xfrm rot="10800000">
              <a:off x="2151679" y="1160412"/>
              <a:ext cx="0" cy="374400"/>
            </a:xfrm>
            <a:prstGeom prst="straightConnector1">
              <a:avLst/>
            </a:prstGeom>
            <a:noFill/>
            <a:ln w="19050" cap="flat" cmpd="sng">
              <a:solidFill>
                <a:srgbClr val="FF0000"/>
              </a:solidFill>
              <a:prstDash val="solid"/>
              <a:round/>
              <a:headEnd type="none" w="med" len="med"/>
              <a:tailEnd type="none" w="med" len="med"/>
            </a:ln>
          </p:spPr>
        </p:cxnSp>
      </p:grpSp>
      <p:sp>
        <p:nvSpPr>
          <p:cNvPr id="751" name="Google Shape;751;p87"/>
          <p:cNvSpPr txBox="1">
            <a:spLocks noGrp="1"/>
          </p:cNvSpPr>
          <p:nvPr>
            <p:ph type="body" idx="3"/>
          </p:nvPr>
        </p:nvSpPr>
        <p:spPr>
          <a:xfrm>
            <a:off x="311725" y="622275"/>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Constants are both static and final and may also be public if they are needed outside of the class.</a:t>
            </a:r>
            <a:endParaRPr sz="1200"/>
          </a:p>
        </p:txBody>
      </p:sp>
      <p:sp>
        <p:nvSpPr>
          <p:cNvPr id="752" name="Google Shape;752;p87"/>
          <p:cNvSpPr txBox="1">
            <a:spLocks noGrp="1"/>
          </p:cNvSpPr>
          <p:nvPr>
            <p:ph type="body" idx="3"/>
          </p:nvPr>
        </p:nvSpPr>
        <p:spPr>
          <a:xfrm>
            <a:off x="311725" y="419307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Constants </a:t>
            </a:r>
            <a:r>
              <a:rPr lang="en" sz="1200" b="1" dirty="0"/>
              <a:t>make better </a:t>
            </a:r>
            <a:r>
              <a:rPr lang="en" sz="1200" b="1" i="1" dirty="0">
                <a:solidFill>
                  <a:srgbClr val="FF0000"/>
                </a:solidFill>
              </a:rPr>
              <a:t>self documenting code</a:t>
            </a:r>
            <a:r>
              <a:rPr lang="en" sz="1200" b="1" dirty="0"/>
              <a:t> and it is much easier to modify if the value of the </a:t>
            </a:r>
            <a:r>
              <a:rPr lang="en" sz="1200" dirty="0"/>
              <a:t>constant has to change for any reason.</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4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4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4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4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4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4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4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751"/>
                                        </p:tgtEl>
                                        <p:attrNameLst>
                                          <p:attrName>style.visibility</p:attrName>
                                        </p:attrNameLst>
                                      </p:cBhvr>
                                      <p:to>
                                        <p:strVal val="visible"/>
                                      </p:to>
                                    </p:set>
                                    <p:animEffect transition="in" filter="fade">
                                      <p:cBhvr>
                                        <p:cTn id="51" dur="1000"/>
                                        <p:tgtEl>
                                          <p:spTgt spid="751"/>
                                        </p:tgtEl>
                                      </p:cBhvr>
                                    </p:animEffect>
                                  </p:childTnLst>
                                </p:cTn>
                              </p:par>
                              <p:par>
                                <p:cTn id="52" presetID="10" presetClass="entr" presetSubtype="0" fill="hold" nodeType="withEffect">
                                  <p:stCondLst>
                                    <p:cond delay="0"/>
                                  </p:stCondLst>
                                  <p:childTnLst>
                                    <p:set>
                                      <p:cBhvr>
                                        <p:cTn id="53" dur="1" fill="hold">
                                          <p:stCondLst>
                                            <p:cond delay="0"/>
                                          </p:stCondLst>
                                        </p:cTn>
                                        <p:tgtEl>
                                          <p:spTgt spid="747"/>
                                        </p:tgtEl>
                                        <p:attrNameLst>
                                          <p:attrName>style.visibility</p:attrName>
                                        </p:attrNameLst>
                                      </p:cBhvr>
                                      <p:to>
                                        <p:strVal val="visible"/>
                                      </p:to>
                                    </p:set>
                                    <p:animEffect transition="in" filter="fade">
                                      <p:cBhvr>
                                        <p:cTn id="54" dur="1000"/>
                                        <p:tgtEl>
                                          <p:spTgt spid="747"/>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748"/>
                                        </p:tgtEl>
                                        <p:attrNameLst>
                                          <p:attrName>style.visibility</p:attrName>
                                        </p:attrNameLst>
                                      </p:cBhvr>
                                      <p:to>
                                        <p:strVal val="visible"/>
                                      </p:to>
                                    </p:set>
                                    <p:animEffect transition="in" filter="fade">
                                      <p:cBhvr>
                                        <p:cTn id="58" dur="1000"/>
                                        <p:tgtEl>
                                          <p:spTgt spid="748"/>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752"/>
                                        </p:tgtEl>
                                        <p:attrNameLst>
                                          <p:attrName>style.visibility</p:attrName>
                                        </p:attrNameLst>
                                      </p:cBhvr>
                                      <p:to>
                                        <p:strVal val="visible"/>
                                      </p:to>
                                    </p:set>
                                    <p:animEffect transition="in" filter="fade">
                                      <p:cBhvr>
                                        <p:cTn id="63" dur="1000"/>
                                        <p:tgtEl>
                                          <p:spTgt spid="7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88"/>
          <p:cNvSpPr txBox="1">
            <a:spLocks noGrp="1"/>
          </p:cNvSpPr>
          <p:nvPr>
            <p:ph type="body" idx="1"/>
          </p:nvPr>
        </p:nvSpPr>
        <p:spPr>
          <a:xfrm>
            <a:off x="65250" y="5792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current version of the </a:t>
            </a:r>
            <a:r>
              <a:rPr lang="en">
                <a:latin typeface="Courier New"/>
                <a:ea typeface="Courier New"/>
                <a:cs typeface="Courier New"/>
                <a:sym typeface="Courier New"/>
              </a:rPr>
              <a:t>StarWarsBattle</a:t>
            </a:r>
            <a:r>
              <a:rPr lang="en"/>
              <a:t> uses hardcoded string literals for the names of the ships and weapons. Let's practice using constants by declaring a constant for each ship and weapon name and reusing it when the corresponding ship is created.</a:t>
            </a:r>
            <a:endParaRPr/>
          </a:p>
        </p:txBody>
      </p:sp>
      <p:sp>
        <p:nvSpPr>
          <p:cNvPr id="758" name="Google Shape;758;p8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43</a:t>
            </a:fld>
            <a:endParaRPr/>
          </a:p>
        </p:txBody>
      </p:sp>
      <p:sp>
        <p:nvSpPr>
          <p:cNvPr id="759" name="Google Shape;759;p88"/>
          <p:cNvSpPr txBox="1">
            <a:spLocks noGrp="1"/>
          </p:cNvSpPr>
          <p:nvPr>
            <p:ph type="body" idx="2"/>
          </p:nvPr>
        </p:nvSpPr>
        <p:spPr>
          <a:xfrm>
            <a:off x="3396375" y="1576725"/>
            <a:ext cx="5544600" cy="2538357"/>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In </a:t>
            </a:r>
            <a:r>
              <a:rPr lang="en" sz="1500" dirty="0">
                <a:latin typeface="Courier New"/>
                <a:ea typeface="Courier New"/>
                <a:cs typeface="Courier New"/>
                <a:sym typeface="Courier New"/>
              </a:rPr>
              <a:t>StarWarsBattle</a:t>
            </a:r>
            <a:r>
              <a:rPr lang="en" sz="1500" dirty="0"/>
              <a:t>, add constants for each of the ship and weapon names.</a:t>
            </a:r>
            <a:endParaRPr sz="1500" dirty="0"/>
          </a:p>
          <a:p>
            <a:pPr marL="914400" lvl="1" indent="-317500" algn="l" rtl="0">
              <a:spcBef>
                <a:spcPts val="0"/>
              </a:spcBef>
              <a:spcAft>
                <a:spcPts val="0"/>
              </a:spcAft>
              <a:buSzPts val="1400"/>
              <a:buChar char="○"/>
            </a:pPr>
            <a:r>
              <a:rPr lang="en" sz="1400" dirty="0"/>
              <a:t>It is recommended the constant names be based off the value, e.g. </a:t>
            </a:r>
            <a:r>
              <a:rPr lang="en" sz="1400" dirty="0">
                <a:highlight>
                  <a:srgbClr val="FFFF00"/>
                </a:highlight>
                <a:latin typeface="Courier New"/>
                <a:ea typeface="Courier New"/>
                <a:cs typeface="Courier New"/>
                <a:sym typeface="Courier New"/>
              </a:rPr>
              <a:t>X_WING</a:t>
            </a:r>
            <a:r>
              <a:rPr lang="en" sz="1400" dirty="0">
                <a:highlight>
                  <a:srgbClr val="FFFF00"/>
                </a:highlight>
              </a:rPr>
              <a:t> and not </a:t>
            </a:r>
            <a:r>
              <a:rPr lang="en" sz="1400" dirty="0">
                <a:highlight>
                  <a:srgbClr val="FFFF00"/>
                </a:highlight>
                <a:latin typeface="Courier New"/>
                <a:ea typeface="Courier New"/>
                <a:cs typeface="Courier New"/>
                <a:sym typeface="Courier New"/>
              </a:rPr>
              <a:t>SHIP_1</a:t>
            </a:r>
            <a:r>
              <a:rPr lang="en" sz="1400" dirty="0">
                <a:highlight>
                  <a:srgbClr val="FFFF00"/>
                </a:highlight>
              </a:rPr>
              <a:t>.</a:t>
            </a:r>
            <a:endParaRPr sz="1400" dirty="0">
              <a:highlight>
                <a:srgbClr val="FFFF00"/>
              </a:highlight>
            </a:endParaRPr>
          </a:p>
          <a:p>
            <a:pPr marL="457200" lvl="0" indent="-323850" algn="l" rtl="0">
              <a:spcBef>
                <a:spcPts val="0"/>
              </a:spcBef>
              <a:spcAft>
                <a:spcPts val="0"/>
              </a:spcAft>
              <a:buSzPts val="1500"/>
              <a:buChar char="●"/>
            </a:pPr>
            <a:r>
              <a:rPr lang="en" sz="1500" dirty="0"/>
              <a:t>Change any code that was using the string literals to use the new constants.</a:t>
            </a:r>
            <a:endParaRPr sz="1500" dirty="0"/>
          </a:p>
          <a:p>
            <a:pPr marL="457200" lvl="0" indent="-323850" algn="l" rtl="0">
              <a:spcBef>
                <a:spcPts val="0"/>
              </a:spcBef>
              <a:spcAft>
                <a:spcPts val="0"/>
              </a:spcAft>
              <a:buSzPts val="1500"/>
              <a:buChar char="●"/>
            </a:pPr>
            <a:r>
              <a:rPr lang="en" sz="1500" dirty="0"/>
              <a:t>In the main method inside </a:t>
            </a:r>
            <a:r>
              <a:rPr lang="en" sz="1500" dirty="0">
                <a:latin typeface="Courier New"/>
                <a:ea typeface="Courier New"/>
                <a:cs typeface="Courier New"/>
                <a:sym typeface="Courier New"/>
              </a:rPr>
              <a:t>StarWarsBattle</a:t>
            </a:r>
            <a:r>
              <a:rPr lang="en" sz="1500" dirty="0"/>
              <a:t>, create your ships and print the details about the ship and weapon names to make sure that everything looks correct.</a:t>
            </a:r>
            <a:endParaRPr sz="1500" dirty="0"/>
          </a:p>
        </p:txBody>
      </p:sp>
      <p:sp>
        <p:nvSpPr>
          <p:cNvPr id="760" name="Google Shape;760;p8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Look at all the Colors</a:t>
            </a:r>
            <a:endParaRPr/>
          </a:p>
        </p:txBody>
      </p:sp>
      <p:sp>
        <p:nvSpPr>
          <p:cNvPr id="761" name="Google Shape;761;p8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2.14</a:t>
            </a:r>
            <a:endParaRPr/>
          </a:p>
        </p:txBody>
      </p:sp>
      <p:sp>
        <p:nvSpPr>
          <p:cNvPr id="762" name="Google Shape;762;p88"/>
          <p:cNvSpPr txBox="1">
            <a:spLocks noGrp="1"/>
          </p:cNvSpPr>
          <p:nvPr>
            <p:ph type="body" idx="4"/>
          </p:nvPr>
        </p:nvSpPr>
        <p:spPr>
          <a:xfrm>
            <a:off x="174250" y="3164476"/>
            <a:ext cx="3124800" cy="1877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Circle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highlight>
                  <a:srgbClr val="CFE2F3"/>
                </a:highlight>
                <a:latin typeface="Consolas"/>
                <a:ea typeface="Consolas"/>
                <a:cs typeface="Consolas"/>
                <a:sym typeface="Consolas"/>
              </a:rPr>
              <a:t>public</a:t>
            </a:r>
            <a:r>
              <a:rPr lang="en" sz="1000">
                <a:solidFill>
                  <a:srgbClr val="000000"/>
                </a:solidFill>
                <a:highlight>
                  <a:srgbClr val="CFE2F3"/>
                </a:highlight>
                <a:latin typeface="Consolas"/>
                <a:ea typeface="Consolas"/>
                <a:cs typeface="Consolas"/>
                <a:sym typeface="Consolas"/>
              </a:rPr>
              <a:t> </a:t>
            </a:r>
            <a:r>
              <a:rPr lang="en" sz="1000">
                <a:solidFill>
                  <a:srgbClr val="0000FF"/>
                </a:solidFill>
                <a:highlight>
                  <a:srgbClr val="CFE2F3"/>
                </a:highlight>
                <a:latin typeface="Consolas"/>
                <a:ea typeface="Consolas"/>
                <a:cs typeface="Consolas"/>
                <a:sym typeface="Consolas"/>
              </a:rPr>
              <a:t>static</a:t>
            </a:r>
            <a:r>
              <a:rPr lang="en" sz="1000">
                <a:solidFill>
                  <a:srgbClr val="000000"/>
                </a:solidFill>
                <a:highlight>
                  <a:srgbClr val="CFE2F3"/>
                </a:highlight>
                <a:latin typeface="Consolas"/>
                <a:ea typeface="Consolas"/>
                <a:cs typeface="Consolas"/>
                <a:sym typeface="Consolas"/>
              </a:rPr>
              <a:t> </a:t>
            </a:r>
            <a:r>
              <a:rPr lang="en" sz="1000">
                <a:solidFill>
                  <a:srgbClr val="0000FF"/>
                </a:solidFill>
                <a:highlight>
                  <a:srgbClr val="CFE2F3"/>
                </a:highlight>
                <a:latin typeface="Consolas"/>
                <a:ea typeface="Consolas"/>
                <a:cs typeface="Consolas"/>
                <a:sym typeface="Consolas"/>
              </a:rPr>
              <a:t>final</a:t>
            </a:r>
            <a:r>
              <a:rPr lang="en" sz="1000">
                <a:solidFill>
                  <a:srgbClr val="000000"/>
                </a:solidFill>
                <a:highlight>
                  <a:srgbClr val="CFE2F3"/>
                </a:highlight>
                <a:latin typeface="Consolas"/>
                <a:ea typeface="Consolas"/>
                <a:cs typeface="Consolas"/>
                <a:sym typeface="Consolas"/>
              </a:rPr>
              <a:t> </a:t>
            </a:r>
            <a:r>
              <a:rPr lang="en" sz="1000">
                <a:solidFill>
                  <a:srgbClr val="267F99"/>
                </a:solidFill>
                <a:highlight>
                  <a:srgbClr val="CFE2F3"/>
                </a:highlight>
                <a:latin typeface="Consolas"/>
                <a:ea typeface="Consolas"/>
                <a:cs typeface="Consolas"/>
                <a:sym typeface="Consolas"/>
              </a:rPr>
              <a:t>double</a:t>
            </a:r>
            <a:r>
              <a:rPr lang="en" sz="1000">
                <a:solidFill>
                  <a:srgbClr val="000000"/>
                </a:solidFill>
                <a:highlight>
                  <a:srgbClr val="CFE2F3"/>
                </a:highlight>
                <a:latin typeface="Consolas"/>
                <a:ea typeface="Consolas"/>
                <a:cs typeface="Consolas"/>
                <a:sym typeface="Consolas"/>
              </a:rPr>
              <a:t> </a:t>
            </a:r>
            <a:r>
              <a:rPr lang="en" sz="1000">
                <a:solidFill>
                  <a:srgbClr val="0070C1"/>
                </a:solidFill>
                <a:highlight>
                  <a:srgbClr val="CFE2F3"/>
                </a:highlight>
                <a:latin typeface="Consolas"/>
                <a:ea typeface="Consolas"/>
                <a:cs typeface="Consolas"/>
                <a:sym typeface="Consolas"/>
              </a:rPr>
              <a:t>PI</a:t>
            </a:r>
            <a:r>
              <a:rPr lang="en" sz="1000">
                <a:solidFill>
                  <a:srgbClr val="000000"/>
                </a:solidFill>
                <a:highlight>
                  <a:srgbClr val="CFE2F3"/>
                </a:highlight>
                <a:latin typeface="Consolas"/>
                <a:ea typeface="Consolas"/>
                <a:cs typeface="Consolas"/>
                <a:sym typeface="Consolas"/>
              </a:rPr>
              <a:t> = </a:t>
            </a:r>
            <a:r>
              <a:rPr lang="en" sz="1000">
                <a:solidFill>
                  <a:srgbClr val="098658"/>
                </a:solidFill>
                <a:highlight>
                  <a:srgbClr val="CFE2F3"/>
                </a:highlight>
                <a:latin typeface="Consolas"/>
                <a:ea typeface="Consolas"/>
                <a:cs typeface="Consolas"/>
                <a:sym typeface="Consolas"/>
              </a:rPr>
              <a:t>3.14</a:t>
            </a:r>
            <a:r>
              <a:rPr lang="en" sz="1000">
                <a:solidFill>
                  <a:srgbClr val="000000"/>
                </a:solidFill>
                <a:highlight>
                  <a:srgbClr val="CFE2F3"/>
                </a:highlight>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circumference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double</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area</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PI</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 * </a:t>
            </a:r>
            <a:r>
              <a:rPr lang="en" sz="1000">
                <a:solidFill>
                  <a:srgbClr val="001080"/>
                </a:solidFill>
                <a:latin typeface="Consolas"/>
                <a:ea typeface="Consolas"/>
                <a:cs typeface="Consolas"/>
                <a:sym typeface="Consolas"/>
              </a:rPr>
              <a:t>radius</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latin typeface="Consolas"/>
                <a:ea typeface="Consolas"/>
                <a:cs typeface="Consolas"/>
                <a:sym typeface="Consolas"/>
              </a:rPr>
              <a:t>}</a:t>
            </a:r>
            <a:endParaRPr sz="1000">
              <a:solidFill>
                <a:srgbClr val="0000FF"/>
              </a:solidFill>
              <a:latin typeface="Consolas"/>
              <a:ea typeface="Consolas"/>
              <a:cs typeface="Consolas"/>
              <a:sym typeface="Consolas"/>
            </a:endParaRPr>
          </a:p>
        </p:txBody>
      </p:sp>
      <p:pic>
        <p:nvPicPr>
          <p:cNvPr id="763" name="Google Shape;763;p88"/>
          <p:cNvPicPr preferRelativeResize="0"/>
          <p:nvPr/>
        </p:nvPicPr>
        <p:blipFill rotWithShape="1">
          <a:blip r:embed="rId3">
            <a:alphaModFix/>
          </a:blip>
          <a:srcRect t="24116" b="14533"/>
          <a:stretch/>
        </p:blipFill>
        <p:spPr>
          <a:xfrm>
            <a:off x="174250" y="1604850"/>
            <a:ext cx="3124800" cy="1444975"/>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89"/>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UML Class Diagrams</a:t>
            </a:r>
            <a:endParaRPr/>
          </a:p>
        </p:txBody>
      </p:sp>
      <p:sp>
        <p:nvSpPr>
          <p:cNvPr id="769" name="Google Shape;769;p89"/>
          <p:cNvSpPr txBox="1">
            <a:spLocks noGrp="1"/>
          </p:cNvSpPr>
          <p:nvPr>
            <p:ph type="sldNum" idx="12"/>
          </p:nvPr>
        </p:nvSpPr>
        <p:spPr>
          <a:xfrm>
            <a:off x="8563632" y="4776851"/>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44</a:t>
            </a:fld>
            <a:endParaRPr/>
          </a:p>
        </p:txBody>
      </p:sp>
      <p:sp>
        <p:nvSpPr>
          <p:cNvPr id="770" name="Google Shape;770;p89"/>
          <p:cNvSpPr txBox="1"/>
          <p:nvPr/>
        </p:nvSpPr>
        <p:spPr>
          <a:xfrm>
            <a:off x="6326425" y="871700"/>
            <a:ext cx="2658300" cy="304500"/>
          </a:xfrm>
          <a:prstGeom prst="rect">
            <a:avLst/>
          </a:prstGeom>
          <a:noFill/>
          <a:ln w="2857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600">
                <a:latin typeface="Calibri"/>
                <a:ea typeface="Calibri"/>
                <a:cs typeface="Calibri"/>
                <a:sym typeface="Calibri"/>
              </a:rPr>
              <a:t>Pet</a:t>
            </a:r>
            <a:endParaRPr sz="1200"/>
          </a:p>
        </p:txBody>
      </p:sp>
      <p:sp>
        <p:nvSpPr>
          <p:cNvPr id="771" name="Google Shape;771;p89"/>
          <p:cNvSpPr/>
          <p:nvPr/>
        </p:nvSpPr>
        <p:spPr>
          <a:xfrm>
            <a:off x="6326425" y="1176276"/>
            <a:ext cx="2658300" cy="12588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dirty="0">
                <a:solidFill>
                  <a:srgbClr val="000000"/>
                </a:solidFill>
                <a:latin typeface="Calibri"/>
                <a:ea typeface="Calibri"/>
                <a:cs typeface="Calibri"/>
                <a:sym typeface="Calibri"/>
              </a:rPr>
              <a:t>+ </a:t>
            </a:r>
            <a:r>
              <a:rPr lang="en" sz="1500" u="sng" dirty="0">
                <a:solidFill>
                  <a:srgbClr val="000000"/>
                </a:solidFill>
                <a:latin typeface="Calibri"/>
                <a:ea typeface="Calibri"/>
                <a:cs typeface="Calibri"/>
                <a:sym typeface="Calibri"/>
              </a:rPr>
              <a:t>MIN_AGE</a:t>
            </a:r>
            <a:r>
              <a:rPr lang="en" sz="1500" dirty="0">
                <a:solidFill>
                  <a:srgbClr val="000000"/>
                </a:solidFill>
                <a:latin typeface="Calibri"/>
                <a:ea typeface="Calibri"/>
                <a:cs typeface="Calibri"/>
                <a:sym typeface="Calibri"/>
              </a:rPr>
              <a:t>: int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name: String</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age: int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t>
            </a:r>
            <a:r>
              <a:rPr lang="en" sz="1500" dirty="0">
                <a:latin typeface="Calibri"/>
                <a:ea typeface="Calibri"/>
                <a:cs typeface="Calibri"/>
                <a:sym typeface="Calibri"/>
              </a:rPr>
              <a:t>species</a:t>
            </a:r>
            <a:r>
              <a:rPr lang="en" sz="1500" dirty="0">
                <a:solidFill>
                  <a:srgbClr val="000000"/>
                </a:solidFill>
                <a:latin typeface="Calibri"/>
                <a:ea typeface="Calibri"/>
                <a:cs typeface="Calibri"/>
                <a:sym typeface="Calibri"/>
              </a:rPr>
              <a:t>: </a:t>
            </a:r>
            <a:r>
              <a:rPr lang="en" sz="1500" dirty="0">
                <a:latin typeface="Calibri"/>
                <a:ea typeface="Calibri"/>
                <a:cs typeface="Calibri"/>
                <a:sym typeface="Calibri"/>
              </a:rPr>
              <a:t>Species</a:t>
            </a:r>
            <a:endParaRPr sz="1100" dirty="0"/>
          </a:p>
        </p:txBody>
      </p:sp>
      <p:sp>
        <p:nvSpPr>
          <p:cNvPr id="772" name="Google Shape;772;p89"/>
          <p:cNvSpPr/>
          <p:nvPr/>
        </p:nvSpPr>
        <p:spPr>
          <a:xfrm>
            <a:off x="6326425" y="2435218"/>
            <a:ext cx="2658300" cy="23415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dirty="0">
                <a:solidFill>
                  <a:srgbClr val="000000"/>
                </a:solidFill>
                <a:latin typeface="Calibri"/>
                <a:ea typeface="Calibri"/>
                <a:cs typeface="Calibri"/>
                <a:sym typeface="Calibri"/>
              </a:rPr>
              <a:t>&lt;&lt;create&gt;&gt; </a:t>
            </a:r>
            <a:r>
              <a:rPr lang="en" sz="1500" dirty="0">
                <a:latin typeface="Calibri"/>
                <a:ea typeface="Calibri"/>
                <a:cs typeface="Calibri"/>
                <a:sym typeface="Calibri"/>
              </a:rPr>
              <a:t>Pet</a:t>
            </a:r>
            <a:r>
              <a:rPr lang="en" sz="1500" dirty="0">
                <a:solidFill>
                  <a:srgbClr val="000000"/>
                </a:solidFill>
                <a:latin typeface="Calibri"/>
                <a:ea typeface="Calibri"/>
                <a:cs typeface="Calibri"/>
                <a:sym typeface="Calibri"/>
              </a:rPr>
              <a: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&lt;&lt;create&gt;&gt; </a:t>
            </a:r>
            <a:r>
              <a:rPr lang="en" sz="1500" dirty="0">
                <a:latin typeface="Calibri"/>
                <a:ea typeface="Calibri"/>
                <a:cs typeface="Calibri"/>
                <a:sym typeface="Calibri"/>
              </a:rPr>
              <a:t>Pet</a:t>
            </a:r>
            <a:r>
              <a:rPr lang="en" sz="1500" dirty="0">
                <a:solidFill>
                  <a:srgbClr val="000000"/>
                </a:solidFill>
                <a:latin typeface="Calibri"/>
                <a:ea typeface="Calibri"/>
                <a:cs typeface="Calibri"/>
                <a:sym typeface="Calibri"/>
              </a:rPr>
              <a:t>(name: String,</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age: int, </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t>
            </a:r>
            <a:r>
              <a:rPr lang="en" sz="1500" dirty="0">
                <a:latin typeface="Calibri"/>
                <a:ea typeface="Calibri"/>
                <a:cs typeface="Calibri"/>
                <a:sym typeface="Calibri"/>
              </a:rPr>
              <a:t>species</a:t>
            </a:r>
            <a:r>
              <a:rPr lang="en" sz="1500" dirty="0">
                <a:solidFill>
                  <a:srgbClr val="000000"/>
                </a:solidFill>
                <a:latin typeface="Calibri"/>
                <a:ea typeface="Calibri"/>
                <a:cs typeface="Calibri"/>
                <a:sym typeface="Calibri"/>
              </a:rPr>
              <a:t>:</a:t>
            </a:r>
            <a:r>
              <a:rPr lang="en" sz="1500" dirty="0">
                <a:latin typeface="Calibri"/>
                <a:ea typeface="Calibri"/>
                <a:cs typeface="Calibri"/>
                <a:sym typeface="Calibri"/>
              </a:rPr>
              <a:t>Species</a:t>
            </a:r>
            <a:r>
              <a:rPr lang="en" sz="1500" dirty="0">
                <a:solidFill>
                  <a:srgbClr val="000000"/>
                </a:solidFill>
                <a:latin typeface="Calibri"/>
                <a:ea typeface="Calibri"/>
                <a:cs typeface="Calibri"/>
                <a:sym typeface="Calibri"/>
              </a:rPr>
              <a: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birthday(): void</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getAge</a:t>
            </a:r>
            <a:r>
              <a:rPr lang="en" sz="1500" dirty="0">
                <a:latin typeface="Calibri"/>
                <a:ea typeface="Calibri"/>
                <a:cs typeface="Calibri"/>
                <a:sym typeface="Calibri"/>
              </a:rPr>
              <a:t>(</a:t>
            </a:r>
            <a:r>
              <a:rPr lang="en" sz="1500" dirty="0">
                <a:solidFill>
                  <a:srgbClr val="000000"/>
                </a:solidFill>
                <a:latin typeface="Calibri"/>
                <a:ea typeface="Calibri"/>
                <a:cs typeface="Calibri"/>
                <a:sym typeface="Calibri"/>
              </a:rPr>
              <a:t>): int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adopt(name: String): void</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get</a:t>
            </a:r>
            <a:r>
              <a:rPr lang="en" sz="1500" dirty="0">
                <a:latin typeface="Calibri"/>
                <a:ea typeface="Calibri"/>
                <a:cs typeface="Calibri"/>
                <a:sym typeface="Calibri"/>
              </a:rPr>
              <a:t>Species</a:t>
            </a:r>
            <a:r>
              <a:rPr lang="en" sz="1500" dirty="0">
                <a:solidFill>
                  <a:srgbClr val="000000"/>
                </a:solidFill>
                <a:latin typeface="Calibri"/>
                <a:ea typeface="Calibri"/>
                <a:cs typeface="Calibri"/>
                <a:sym typeface="Calibri"/>
              </a:rPr>
              <a:t>(): </a:t>
            </a:r>
            <a:r>
              <a:rPr lang="en" sz="1500" dirty="0">
                <a:latin typeface="Calibri"/>
                <a:ea typeface="Calibri"/>
                <a:cs typeface="Calibri"/>
                <a:sym typeface="Calibri"/>
              </a:rPr>
              <a:t>Species</a:t>
            </a:r>
            <a:endParaRPr sz="1100" dirty="0"/>
          </a:p>
        </p:txBody>
      </p:sp>
      <p:sp>
        <p:nvSpPr>
          <p:cNvPr id="773" name="Google Shape;773;p89"/>
          <p:cNvSpPr txBox="1"/>
          <p:nvPr/>
        </p:nvSpPr>
        <p:spPr>
          <a:xfrm>
            <a:off x="4426100" y="871700"/>
            <a:ext cx="1707600" cy="304500"/>
          </a:xfrm>
          <a:prstGeom prst="rect">
            <a:avLst/>
          </a:prstGeom>
          <a:solidFill>
            <a:schemeClr val="accent6"/>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600" b="1">
                <a:solidFill>
                  <a:schemeClr val="accent1"/>
                </a:solidFill>
                <a:latin typeface="Calibri"/>
                <a:ea typeface="Calibri"/>
                <a:cs typeface="Calibri"/>
                <a:sym typeface="Calibri"/>
              </a:rPr>
              <a:t>Name</a:t>
            </a:r>
            <a:endParaRPr sz="1200" b="1">
              <a:solidFill>
                <a:schemeClr val="accent1"/>
              </a:solidFill>
            </a:endParaRPr>
          </a:p>
        </p:txBody>
      </p:sp>
      <p:sp>
        <p:nvSpPr>
          <p:cNvPr id="774" name="Google Shape;774;p89"/>
          <p:cNvSpPr/>
          <p:nvPr/>
        </p:nvSpPr>
        <p:spPr>
          <a:xfrm>
            <a:off x="4426100" y="1176278"/>
            <a:ext cx="1707600" cy="1258800"/>
          </a:xfrm>
          <a:prstGeom prst="rect">
            <a:avLst/>
          </a:prstGeom>
          <a:solidFill>
            <a:schemeClr val="accent6"/>
          </a:solidFill>
          <a:ln w="2857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b="1">
                <a:solidFill>
                  <a:schemeClr val="accent1"/>
                </a:solidFill>
                <a:latin typeface="Calibri"/>
                <a:ea typeface="Calibri"/>
                <a:cs typeface="Calibri"/>
                <a:sym typeface="Calibri"/>
              </a:rPr>
              <a:t>Attributes/State</a:t>
            </a:r>
            <a:endParaRPr b="1">
              <a:solidFill>
                <a:schemeClr val="accent1"/>
              </a:solidFill>
              <a:latin typeface="Calibri"/>
              <a:ea typeface="Calibri"/>
              <a:cs typeface="Calibri"/>
              <a:sym typeface="Calibri"/>
            </a:endParaRPr>
          </a:p>
        </p:txBody>
      </p:sp>
      <p:sp>
        <p:nvSpPr>
          <p:cNvPr id="775" name="Google Shape;775;p89"/>
          <p:cNvSpPr/>
          <p:nvPr/>
        </p:nvSpPr>
        <p:spPr>
          <a:xfrm>
            <a:off x="4426100" y="2435231"/>
            <a:ext cx="1707600" cy="2341500"/>
          </a:xfrm>
          <a:prstGeom prst="rect">
            <a:avLst/>
          </a:prstGeom>
          <a:solidFill>
            <a:schemeClr val="accent6"/>
          </a:solidFill>
          <a:ln w="2857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b="1">
                <a:solidFill>
                  <a:schemeClr val="accent1"/>
                </a:solidFill>
                <a:latin typeface="Calibri"/>
                <a:ea typeface="Calibri"/>
                <a:cs typeface="Calibri"/>
                <a:sym typeface="Calibri"/>
              </a:rPr>
              <a:t>Operations/ Behavior</a:t>
            </a:r>
            <a:endParaRPr b="1">
              <a:solidFill>
                <a:schemeClr val="accent1"/>
              </a:solidFill>
              <a:latin typeface="Calibri"/>
              <a:ea typeface="Calibri"/>
              <a:cs typeface="Calibri"/>
              <a:sym typeface="Calibri"/>
            </a:endParaRPr>
          </a:p>
        </p:txBody>
      </p:sp>
      <p:sp>
        <p:nvSpPr>
          <p:cNvPr id="776" name="Google Shape;776;p89"/>
          <p:cNvSpPr txBox="1">
            <a:spLocks noGrp="1"/>
          </p:cNvSpPr>
          <p:nvPr>
            <p:ph type="body" idx="4294967295"/>
          </p:nvPr>
        </p:nvSpPr>
        <p:spPr>
          <a:xfrm>
            <a:off x="126375" y="810850"/>
            <a:ext cx="4183200" cy="4120200"/>
          </a:xfrm>
          <a:prstGeom prst="rect">
            <a:avLst/>
          </a:prstGeom>
        </p:spPr>
        <p:txBody>
          <a:bodyPr spcFirstLastPara="1" wrap="square" lIns="91425" tIns="91425" rIns="91425" bIns="91425" anchor="t" anchorCtr="0">
            <a:spAutoFit/>
          </a:bodyPr>
          <a:lstStyle/>
          <a:p>
            <a:pPr marL="457200" lvl="0" indent="-313245" algn="l" rtl="0">
              <a:lnSpc>
                <a:spcPct val="115000"/>
              </a:lnSpc>
              <a:spcBef>
                <a:spcPts val="0"/>
              </a:spcBef>
              <a:spcAft>
                <a:spcPts val="0"/>
              </a:spcAft>
              <a:buSzPts val="1333"/>
              <a:buChar char="●"/>
            </a:pPr>
            <a:r>
              <a:rPr lang="en" sz="1333" dirty="0"/>
              <a:t>The </a:t>
            </a:r>
            <a:r>
              <a:rPr lang="en" sz="1333" b="1" i="1" dirty="0">
                <a:solidFill>
                  <a:srgbClr val="EE0000"/>
                </a:solidFill>
              </a:rPr>
              <a:t>Unified Modeling Language</a:t>
            </a:r>
            <a:r>
              <a:rPr lang="en" sz="1333" dirty="0"/>
              <a:t> (</a:t>
            </a:r>
            <a:r>
              <a:rPr lang="en" sz="1333" b="1" i="1" dirty="0">
                <a:solidFill>
                  <a:srgbClr val="EE0000"/>
                </a:solidFill>
              </a:rPr>
              <a:t>UML</a:t>
            </a:r>
            <a:r>
              <a:rPr lang="en" sz="1333" dirty="0"/>
              <a:t>) is the standard used to </a:t>
            </a:r>
            <a:r>
              <a:rPr lang="en" sz="1333" b="1" i="1" dirty="0">
                <a:solidFill>
                  <a:srgbClr val="EE0000"/>
                </a:solidFill>
              </a:rPr>
              <a:t>diagram</a:t>
            </a:r>
            <a:r>
              <a:rPr lang="en" sz="1333" dirty="0">
                <a:solidFill>
                  <a:srgbClr val="EE0000"/>
                </a:solidFill>
              </a:rPr>
              <a:t> </a:t>
            </a:r>
            <a:r>
              <a:rPr lang="en" sz="1333" dirty="0"/>
              <a:t>object-oriented software systems.</a:t>
            </a:r>
            <a:endParaRPr sz="1333" dirty="0"/>
          </a:p>
          <a:p>
            <a:pPr marL="457200" lvl="0" indent="-313245" algn="l" rtl="0">
              <a:lnSpc>
                <a:spcPct val="115000"/>
              </a:lnSpc>
              <a:spcBef>
                <a:spcPts val="1000"/>
              </a:spcBef>
              <a:spcAft>
                <a:spcPts val="0"/>
              </a:spcAft>
              <a:buSzPts val="1333"/>
              <a:buChar char="●"/>
            </a:pPr>
            <a:r>
              <a:rPr lang="en" sz="1333" dirty="0">
                <a:highlight>
                  <a:srgbClr val="FFFF00"/>
                </a:highlight>
              </a:rPr>
              <a:t>While UML can be used to diagram many different aspects of a software system, the most common diagram is a </a:t>
            </a:r>
            <a:r>
              <a:rPr lang="en" sz="1333" b="1" i="1" dirty="0">
                <a:solidFill>
                  <a:srgbClr val="FF0000"/>
                </a:solidFill>
                <a:highlight>
                  <a:srgbClr val="FFFF00"/>
                </a:highlight>
              </a:rPr>
              <a:t>class diagram</a:t>
            </a:r>
            <a:r>
              <a:rPr lang="en" sz="1333" dirty="0">
                <a:highlight>
                  <a:srgbClr val="FFFF00"/>
                </a:highlight>
              </a:rPr>
              <a:t>.</a:t>
            </a:r>
            <a:endParaRPr sz="1333" dirty="0">
              <a:highlight>
                <a:srgbClr val="FFFF00"/>
              </a:highlight>
            </a:endParaRPr>
          </a:p>
          <a:p>
            <a:pPr marL="457200" lvl="0" indent="-313245" algn="l" rtl="0">
              <a:lnSpc>
                <a:spcPct val="115000"/>
              </a:lnSpc>
              <a:spcBef>
                <a:spcPts val="1000"/>
              </a:spcBef>
              <a:spcAft>
                <a:spcPts val="0"/>
              </a:spcAft>
              <a:buSzPts val="1333"/>
              <a:buChar char="●"/>
            </a:pPr>
            <a:r>
              <a:rPr lang="en" sz="1333" dirty="0"/>
              <a:t>Boxes that represent a class are divided into three partitions:</a:t>
            </a:r>
            <a:endParaRPr sz="1333" dirty="0"/>
          </a:p>
          <a:p>
            <a:pPr marL="914400" lvl="1" indent="-313245" algn="l" rtl="0">
              <a:lnSpc>
                <a:spcPct val="100000"/>
              </a:lnSpc>
              <a:spcBef>
                <a:spcPts val="0"/>
              </a:spcBef>
              <a:spcAft>
                <a:spcPts val="0"/>
              </a:spcAft>
              <a:buSzPts val="1333"/>
              <a:buChar char="○"/>
            </a:pPr>
            <a:r>
              <a:rPr lang="en" dirty="0"/>
              <a:t>The class </a:t>
            </a:r>
            <a:r>
              <a:rPr lang="en" b="1" i="1" dirty="0">
                <a:solidFill>
                  <a:srgbClr val="FF0000"/>
                </a:solidFill>
              </a:rPr>
              <a:t>name</a:t>
            </a:r>
            <a:r>
              <a:rPr lang="en" dirty="0"/>
              <a:t> </a:t>
            </a:r>
            <a:endParaRPr dirty="0"/>
          </a:p>
          <a:p>
            <a:pPr marL="914400" lvl="1" indent="-313245" algn="l" rtl="0">
              <a:lnSpc>
                <a:spcPct val="100000"/>
              </a:lnSpc>
              <a:spcBef>
                <a:spcPts val="0"/>
              </a:spcBef>
              <a:spcAft>
                <a:spcPts val="0"/>
              </a:spcAft>
              <a:buSzPts val="1333"/>
              <a:buChar char="○"/>
            </a:pPr>
            <a:r>
              <a:rPr lang="en" dirty="0"/>
              <a:t>Its </a:t>
            </a:r>
            <a:r>
              <a:rPr lang="en" b="1" i="1" dirty="0">
                <a:solidFill>
                  <a:srgbClr val="FF0000"/>
                </a:solidFill>
              </a:rPr>
              <a:t>attributes</a:t>
            </a:r>
            <a:r>
              <a:rPr lang="en" i="1" dirty="0">
                <a:solidFill>
                  <a:srgbClr val="FF0000"/>
                </a:solidFill>
              </a:rPr>
              <a:t> </a:t>
            </a:r>
            <a:r>
              <a:rPr lang="en" dirty="0"/>
              <a:t>(fields)</a:t>
            </a:r>
            <a:endParaRPr dirty="0"/>
          </a:p>
          <a:p>
            <a:pPr marL="914400" lvl="1" indent="-313245" algn="l" rtl="0">
              <a:lnSpc>
                <a:spcPct val="100000"/>
              </a:lnSpc>
              <a:spcBef>
                <a:spcPts val="0"/>
              </a:spcBef>
              <a:spcAft>
                <a:spcPts val="0"/>
              </a:spcAft>
              <a:buSzPts val="1333"/>
              <a:buChar char="○"/>
            </a:pPr>
            <a:r>
              <a:rPr lang="en" dirty="0"/>
              <a:t>Its </a:t>
            </a:r>
            <a:r>
              <a:rPr lang="en" b="1" i="1" dirty="0">
                <a:solidFill>
                  <a:srgbClr val="FF0000"/>
                </a:solidFill>
              </a:rPr>
              <a:t>operations</a:t>
            </a:r>
            <a:r>
              <a:rPr lang="en" i="1" dirty="0">
                <a:solidFill>
                  <a:srgbClr val="FF0000"/>
                </a:solidFill>
              </a:rPr>
              <a:t> </a:t>
            </a:r>
            <a:r>
              <a:rPr lang="en" dirty="0"/>
              <a:t>(methods)</a:t>
            </a:r>
            <a:endParaRPr dirty="0"/>
          </a:p>
          <a:p>
            <a:pPr marL="457200" lvl="0" indent="-313245" algn="l" rtl="0">
              <a:lnSpc>
                <a:spcPct val="115000"/>
              </a:lnSpc>
              <a:spcBef>
                <a:spcPts val="1000"/>
              </a:spcBef>
              <a:spcAft>
                <a:spcPts val="0"/>
              </a:spcAft>
              <a:buSzPts val="1333"/>
              <a:buChar char="●"/>
            </a:pPr>
            <a:r>
              <a:rPr lang="en" sz="1333" dirty="0"/>
              <a:t>Visibility is specified for each attribute and operation:</a:t>
            </a:r>
            <a:endParaRPr sz="1333" dirty="0"/>
          </a:p>
          <a:p>
            <a:pPr marL="914400" lvl="1" indent="-300545" algn="l" rtl="0">
              <a:lnSpc>
                <a:spcPct val="115000"/>
              </a:lnSpc>
              <a:spcBef>
                <a:spcPts val="0"/>
              </a:spcBef>
              <a:spcAft>
                <a:spcPts val="0"/>
              </a:spcAft>
              <a:buSzPts val="1133"/>
              <a:buChar char="○"/>
            </a:pPr>
            <a:r>
              <a:rPr lang="en" sz="1133" b="1" dirty="0">
                <a:solidFill>
                  <a:srgbClr val="FF0000"/>
                </a:solidFill>
              </a:rPr>
              <a:t>+</a:t>
            </a:r>
            <a:r>
              <a:rPr lang="en" sz="1133" dirty="0"/>
              <a:t> public</a:t>
            </a:r>
            <a:endParaRPr sz="1133" dirty="0"/>
          </a:p>
          <a:p>
            <a:pPr marL="914400" lvl="1" indent="-300545" algn="l" rtl="0">
              <a:lnSpc>
                <a:spcPct val="115000"/>
              </a:lnSpc>
              <a:spcBef>
                <a:spcPts val="0"/>
              </a:spcBef>
              <a:spcAft>
                <a:spcPts val="0"/>
              </a:spcAft>
              <a:buSzPts val="1133"/>
              <a:buChar char="○"/>
            </a:pPr>
            <a:r>
              <a:rPr lang="en" sz="1133" b="1" dirty="0">
                <a:solidFill>
                  <a:srgbClr val="FF0000"/>
                </a:solidFill>
              </a:rPr>
              <a:t>-</a:t>
            </a:r>
            <a:r>
              <a:rPr lang="en" sz="1133" dirty="0"/>
              <a:t>  private</a:t>
            </a:r>
            <a:endParaRPr sz="1133" dirty="0"/>
          </a:p>
          <a:p>
            <a:pPr marL="914400" lvl="1" indent="-300545" algn="l" rtl="0">
              <a:lnSpc>
                <a:spcPct val="115000"/>
              </a:lnSpc>
              <a:spcBef>
                <a:spcPts val="0"/>
              </a:spcBef>
              <a:spcAft>
                <a:spcPts val="0"/>
              </a:spcAft>
              <a:buSzPts val="1133"/>
              <a:buChar char="○"/>
            </a:pPr>
            <a:r>
              <a:rPr lang="en" sz="1133" b="1" dirty="0">
                <a:solidFill>
                  <a:srgbClr val="FF0000"/>
                </a:solidFill>
              </a:rPr>
              <a:t>#</a:t>
            </a:r>
            <a:r>
              <a:rPr lang="en" sz="1133" dirty="0"/>
              <a:t> protected</a:t>
            </a:r>
            <a:endParaRPr sz="1133"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7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7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7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7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90"/>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UML Class Diagrams</a:t>
            </a:r>
            <a:endParaRPr/>
          </a:p>
        </p:txBody>
      </p:sp>
      <p:sp>
        <p:nvSpPr>
          <p:cNvPr id="782" name="Google Shape;782;p90"/>
          <p:cNvSpPr txBox="1">
            <a:spLocks noGrp="1"/>
          </p:cNvSpPr>
          <p:nvPr>
            <p:ph type="sldNum" idx="12"/>
          </p:nvPr>
        </p:nvSpPr>
        <p:spPr>
          <a:xfrm>
            <a:off x="8548658" y="47394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45</a:t>
            </a:fld>
            <a:endParaRPr/>
          </a:p>
        </p:txBody>
      </p:sp>
      <p:sp>
        <p:nvSpPr>
          <p:cNvPr id="783" name="Google Shape;783;p90"/>
          <p:cNvSpPr txBox="1"/>
          <p:nvPr/>
        </p:nvSpPr>
        <p:spPr>
          <a:xfrm>
            <a:off x="3242850" y="969025"/>
            <a:ext cx="2658300" cy="304500"/>
          </a:xfrm>
          <a:prstGeom prst="rect">
            <a:avLst/>
          </a:prstGeom>
          <a:noFill/>
          <a:ln w="2857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600">
                <a:latin typeface="Calibri"/>
                <a:ea typeface="Calibri"/>
                <a:cs typeface="Calibri"/>
                <a:sym typeface="Calibri"/>
              </a:rPr>
              <a:t>Pet</a:t>
            </a:r>
            <a:endParaRPr sz="1200"/>
          </a:p>
        </p:txBody>
      </p:sp>
      <p:sp>
        <p:nvSpPr>
          <p:cNvPr id="784" name="Google Shape;784;p90"/>
          <p:cNvSpPr/>
          <p:nvPr/>
        </p:nvSpPr>
        <p:spPr>
          <a:xfrm>
            <a:off x="3242850" y="1273601"/>
            <a:ext cx="2658300" cy="12588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u="sng">
                <a:solidFill>
                  <a:srgbClr val="000000"/>
                </a:solidFill>
                <a:latin typeface="Calibri"/>
                <a:ea typeface="Calibri"/>
                <a:cs typeface="Calibri"/>
                <a:sym typeface="Calibri"/>
              </a:rPr>
              <a:t>MIN_AGE</a:t>
            </a:r>
            <a:r>
              <a:rPr lang="en" sz="1500">
                <a:solidFill>
                  <a:srgbClr val="000000"/>
                </a:solidFill>
                <a:latin typeface="Calibri"/>
                <a:ea typeface="Calibri"/>
                <a:cs typeface="Calibri"/>
                <a:sym typeface="Calibri"/>
              </a:rPr>
              <a:t>: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name: String</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age: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85" name="Google Shape;785;p90"/>
          <p:cNvSpPr/>
          <p:nvPr/>
        </p:nvSpPr>
        <p:spPr>
          <a:xfrm>
            <a:off x="3242850" y="2532543"/>
            <a:ext cx="2658300" cy="23415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dirty="0">
                <a:solidFill>
                  <a:srgbClr val="000000"/>
                </a:solidFill>
                <a:latin typeface="Calibri"/>
                <a:ea typeface="Calibri"/>
                <a:cs typeface="Calibri"/>
                <a:sym typeface="Calibri"/>
              </a:rPr>
              <a:t>&lt;&lt;create&gt;&gt; </a:t>
            </a:r>
            <a:r>
              <a:rPr lang="en" sz="1500" dirty="0">
                <a:latin typeface="Calibri"/>
                <a:ea typeface="Calibri"/>
                <a:cs typeface="Calibri"/>
                <a:sym typeface="Calibri"/>
              </a:rPr>
              <a:t>Pet</a:t>
            </a:r>
            <a:r>
              <a:rPr lang="en" sz="1500" dirty="0">
                <a:solidFill>
                  <a:srgbClr val="000000"/>
                </a:solidFill>
                <a:latin typeface="Calibri"/>
                <a:ea typeface="Calibri"/>
                <a:cs typeface="Calibri"/>
                <a:sym typeface="Calibri"/>
              </a:rPr>
              <a: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&lt;&lt;create&gt;&gt; </a:t>
            </a:r>
            <a:r>
              <a:rPr lang="en" sz="1500" dirty="0">
                <a:latin typeface="Calibri"/>
                <a:ea typeface="Calibri"/>
                <a:cs typeface="Calibri"/>
                <a:sym typeface="Calibri"/>
              </a:rPr>
              <a:t>Pet</a:t>
            </a:r>
            <a:r>
              <a:rPr lang="en" sz="1500" dirty="0">
                <a:solidFill>
                  <a:srgbClr val="000000"/>
                </a:solidFill>
                <a:latin typeface="Calibri"/>
                <a:ea typeface="Calibri"/>
                <a:cs typeface="Calibri"/>
                <a:sym typeface="Calibri"/>
              </a:rPr>
              <a:t>(name: String,</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age: int, </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t>
            </a:r>
            <a:r>
              <a:rPr lang="en" sz="1500" dirty="0">
                <a:latin typeface="Calibri"/>
                <a:ea typeface="Calibri"/>
                <a:cs typeface="Calibri"/>
                <a:sym typeface="Calibri"/>
              </a:rPr>
              <a:t>species</a:t>
            </a:r>
            <a:r>
              <a:rPr lang="en" sz="1500" dirty="0">
                <a:solidFill>
                  <a:srgbClr val="000000"/>
                </a:solidFill>
                <a:latin typeface="Calibri"/>
                <a:ea typeface="Calibri"/>
                <a:cs typeface="Calibri"/>
                <a:sym typeface="Calibri"/>
              </a:rPr>
              <a:t>:</a:t>
            </a:r>
            <a:r>
              <a:rPr lang="en" sz="1500" dirty="0">
                <a:latin typeface="Calibri"/>
                <a:ea typeface="Calibri"/>
                <a:cs typeface="Calibri"/>
                <a:sym typeface="Calibri"/>
              </a:rPr>
              <a:t>Species</a:t>
            </a:r>
            <a:r>
              <a:rPr lang="en" sz="1500" dirty="0">
                <a:solidFill>
                  <a:srgbClr val="000000"/>
                </a:solidFill>
                <a:latin typeface="Calibri"/>
                <a:ea typeface="Calibri"/>
                <a:cs typeface="Calibri"/>
                <a:sym typeface="Calibri"/>
              </a:rPr>
              <a: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birthday(): void</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getAge</a:t>
            </a:r>
            <a:r>
              <a:rPr lang="en" sz="1500" dirty="0">
                <a:latin typeface="Calibri"/>
                <a:ea typeface="Calibri"/>
                <a:cs typeface="Calibri"/>
                <a:sym typeface="Calibri"/>
              </a:rPr>
              <a:t>(</a:t>
            </a:r>
            <a:r>
              <a:rPr lang="en" sz="1500" dirty="0">
                <a:solidFill>
                  <a:srgbClr val="000000"/>
                </a:solidFill>
                <a:latin typeface="Calibri"/>
                <a:ea typeface="Calibri"/>
                <a:cs typeface="Calibri"/>
                <a:sym typeface="Calibri"/>
              </a:rPr>
              <a:t>): int</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adopt(name: String): void</a:t>
            </a:r>
            <a:endParaRPr sz="1100" dirty="0"/>
          </a:p>
          <a:p>
            <a:pPr marL="0" marR="0" lvl="0" indent="0" algn="l" rtl="0">
              <a:spcBef>
                <a:spcPts val="0"/>
              </a:spcBef>
              <a:spcAft>
                <a:spcPts val="0"/>
              </a:spcAft>
              <a:buNone/>
            </a:pPr>
            <a:r>
              <a:rPr lang="en" sz="1500" dirty="0">
                <a:solidFill>
                  <a:srgbClr val="000000"/>
                </a:solidFill>
                <a:latin typeface="Calibri"/>
                <a:ea typeface="Calibri"/>
                <a:cs typeface="Calibri"/>
                <a:sym typeface="Calibri"/>
              </a:rPr>
              <a:t>+ get</a:t>
            </a:r>
            <a:r>
              <a:rPr lang="en" sz="1500" dirty="0">
                <a:latin typeface="Calibri"/>
                <a:ea typeface="Calibri"/>
                <a:cs typeface="Calibri"/>
                <a:sym typeface="Calibri"/>
              </a:rPr>
              <a:t>Species</a:t>
            </a:r>
            <a:r>
              <a:rPr lang="en" sz="1500" dirty="0">
                <a:solidFill>
                  <a:srgbClr val="000000"/>
                </a:solidFill>
                <a:latin typeface="Calibri"/>
                <a:ea typeface="Calibri"/>
                <a:cs typeface="Calibri"/>
                <a:sym typeface="Calibri"/>
              </a:rPr>
              <a:t>(): </a:t>
            </a:r>
            <a:r>
              <a:rPr lang="en" sz="1500" dirty="0">
                <a:latin typeface="Calibri"/>
                <a:ea typeface="Calibri"/>
                <a:cs typeface="Calibri"/>
                <a:sym typeface="Calibri"/>
              </a:rPr>
              <a:t>Species</a:t>
            </a:r>
            <a:endParaRPr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91"/>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 Closer Look at UML Class Diagrams</a:t>
            </a:r>
            <a:endParaRPr/>
          </a:p>
        </p:txBody>
      </p:sp>
      <p:sp>
        <p:nvSpPr>
          <p:cNvPr id="791" name="Google Shape;791;p91"/>
          <p:cNvSpPr txBox="1">
            <a:spLocks noGrp="1"/>
          </p:cNvSpPr>
          <p:nvPr>
            <p:ph type="sldNum" idx="12"/>
          </p:nvPr>
        </p:nvSpPr>
        <p:spPr>
          <a:xfrm>
            <a:off x="8548658" y="47394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46</a:t>
            </a:fld>
            <a:endParaRPr/>
          </a:p>
        </p:txBody>
      </p:sp>
      <p:sp>
        <p:nvSpPr>
          <p:cNvPr id="792" name="Google Shape;792;p91"/>
          <p:cNvSpPr txBox="1"/>
          <p:nvPr/>
        </p:nvSpPr>
        <p:spPr>
          <a:xfrm>
            <a:off x="3242850" y="969025"/>
            <a:ext cx="2658300" cy="304500"/>
          </a:xfrm>
          <a:prstGeom prst="rect">
            <a:avLst/>
          </a:prstGeom>
          <a:noFill/>
          <a:ln w="2857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 sz="1600">
                <a:latin typeface="Calibri"/>
                <a:ea typeface="Calibri"/>
                <a:cs typeface="Calibri"/>
                <a:sym typeface="Calibri"/>
              </a:rPr>
              <a:t>Pet</a:t>
            </a:r>
            <a:endParaRPr sz="1200"/>
          </a:p>
        </p:txBody>
      </p:sp>
      <p:sp>
        <p:nvSpPr>
          <p:cNvPr id="793" name="Google Shape;793;p91"/>
          <p:cNvSpPr/>
          <p:nvPr/>
        </p:nvSpPr>
        <p:spPr>
          <a:xfrm>
            <a:off x="3242850" y="1273601"/>
            <a:ext cx="2658300" cy="12588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u="sng">
                <a:solidFill>
                  <a:srgbClr val="000000"/>
                </a:solidFill>
                <a:latin typeface="Calibri"/>
                <a:ea typeface="Calibri"/>
                <a:cs typeface="Calibri"/>
                <a:sym typeface="Calibri"/>
              </a:rPr>
              <a:t>MIN_AGE</a:t>
            </a:r>
            <a:r>
              <a:rPr lang="en" sz="1500">
                <a:solidFill>
                  <a:srgbClr val="000000"/>
                </a:solidFill>
                <a:latin typeface="Calibri"/>
                <a:ea typeface="Calibri"/>
                <a:cs typeface="Calibri"/>
                <a:sym typeface="Calibri"/>
              </a:rPr>
              <a:t>: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name: String</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age: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94" name="Google Shape;794;p91"/>
          <p:cNvSpPr/>
          <p:nvPr/>
        </p:nvSpPr>
        <p:spPr>
          <a:xfrm>
            <a:off x="3242850" y="2532543"/>
            <a:ext cx="2658300" cy="2341500"/>
          </a:xfrm>
          <a:prstGeom prst="rect">
            <a:avLst/>
          </a:prstGeom>
          <a:no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&lt;&lt;create&gt;&gt; </a:t>
            </a:r>
            <a:r>
              <a:rPr lang="en" sz="1500">
                <a:latin typeface="Calibri"/>
                <a:ea typeface="Calibri"/>
                <a:cs typeface="Calibri"/>
                <a:sym typeface="Calibri"/>
              </a:rPr>
              <a:t>Pet</a:t>
            </a:r>
            <a:r>
              <a:rPr lang="en" sz="1500">
                <a:solidFill>
                  <a:srgbClr val="000000"/>
                </a:solidFill>
                <a:latin typeface="Calibri"/>
                <a:ea typeface="Calibri"/>
                <a:cs typeface="Calibri"/>
                <a:sym typeface="Calibri"/>
              </a:rPr>
              <a:t>(name: String,</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age: int, </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birthday(): void</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getAge</a:t>
            </a:r>
            <a:r>
              <a:rPr lang="en" sz="1500">
                <a:latin typeface="Calibri"/>
                <a:ea typeface="Calibri"/>
                <a:cs typeface="Calibri"/>
                <a:sym typeface="Calibri"/>
              </a:rPr>
              <a:t>(</a:t>
            </a:r>
            <a:r>
              <a:rPr lang="en" sz="1500">
                <a:solidFill>
                  <a:srgbClr val="000000"/>
                </a:solidFill>
                <a:latin typeface="Calibri"/>
                <a:ea typeface="Calibri"/>
                <a:cs typeface="Calibri"/>
                <a:sym typeface="Calibri"/>
              </a:rPr>
              <a:t>): int</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adopt(name: String): void</a:t>
            </a:r>
            <a:endParaRPr sz="1100"/>
          </a:p>
          <a:p>
            <a:pPr marL="0" marR="0" lvl="0" indent="0" algn="l" rtl="0">
              <a:spcBef>
                <a:spcPts val="0"/>
              </a:spcBef>
              <a:spcAft>
                <a:spcPts val="0"/>
              </a:spcAft>
              <a:buNone/>
            </a:pPr>
            <a:r>
              <a:rPr lang="en" sz="1500">
                <a:solidFill>
                  <a:srgbClr val="000000"/>
                </a:solidFill>
                <a:latin typeface="Calibri"/>
                <a:ea typeface="Calibri"/>
                <a:cs typeface="Calibri"/>
                <a:sym typeface="Calibri"/>
              </a:rPr>
              <a:t>+ get</a:t>
            </a:r>
            <a:r>
              <a:rPr lang="en" sz="1500">
                <a:latin typeface="Calibri"/>
                <a:ea typeface="Calibri"/>
                <a:cs typeface="Calibri"/>
                <a:sym typeface="Calibri"/>
              </a:rPr>
              <a:t>Species</a:t>
            </a:r>
            <a:r>
              <a:rPr lang="en" sz="1500">
                <a:solidFill>
                  <a:srgbClr val="000000"/>
                </a:solidFill>
                <a:latin typeface="Calibri"/>
                <a:ea typeface="Calibri"/>
                <a:cs typeface="Calibri"/>
                <a:sym typeface="Calibri"/>
              </a:rPr>
              <a:t>(): </a:t>
            </a:r>
            <a:r>
              <a:rPr lang="en" sz="1500">
                <a:latin typeface="Calibri"/>
                <a:ea typeface="Calibri"/>
                <a:cs typeface="Calibri"/>
                <a:sym typeface="Calibri"/>
              </a:rPr>
              <a:t>Species</a:t>
            </a:r>
            <a:endParaRPr sz="1100"/>
          </a:p>
        </p:txBody>
      </p:sp>
      <p:sp>
        <p:nvSpPr>
          <p:cNvPr id="795" name="Google Shape;795;p91"/>
          <p:cNvSpPr txBox="1"/>
          <p:nvPr/>
        </p:nvSpPr>
        <p:spPr>
          <a:xfrm>
            <a:off x="189550" y="957000"/>
            <a:ext cx="2760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Classes in a UML class diagram are represented by boxes divided into three parts.</a:t>
            </a:r>
            <a:endParaRPr sz="1200">
              <a:latin typeface="Roboto"/>
              <a:ea typeface="Roboto"/>
              <a:cs typeface="Roboto"/>
              <a:sym typeface="Roboto"/>
            </a:endParaRPr>
          </a:p>
        </p:txBody>
      </p:sp>
      <p:sp>
        <p:nvSpPr>
          <p:cNvPr id="796" name="Google Shape;796;p91"/>
          <p:cNvSpPr txBox="1"/>
          <p:nvPr/>
        </p:nvSpPr>
        <p:spPr>
          <a:xfrm>
            <a:off x="189550" y="1795200"/>
            <a:ext cx="2760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class </a:t>
            </a:r>
            <a:r>
              <a:rPr lang="en" sz="1200" b="1" i="1">
                <a:solidFill>
                  <a:srgbClr val="FF0000"/>
                </a:solidFill>
                <a:latin typeface="Roboto"/>
                <a:ea typeface="Roboto"/>
                <a:cs typeface="Roboto"/>
                <a:sym typeface="Roboto"/>
              </a:rPr>
              <a:t>name</a:t>
            </a:r>
            <a:r>
              <a:rPr lang="en" sz="1200">
                <a:solidFill>
                  <a:srgbClr val="FF0000"/>
                </a:solidFill>
                <a:latin typeface="Roboto"/>
                <a:ea typeface="Roboto"/>
                <a:cs typeface="Roboto"/>
                <a:sym typeface="Roboto"/>
              </a:rPr>
              <a:t> </a:t>
            </a:r>
            <a:r>
              <a:rPr lang="en" sz="1200">
                <a:latin typeface="Roboto"/>
                <a:ea typeface="Roboto"/>
                <a:cs typeface="Roboto"/>
                <a:sym typeface="Roboto"/>
              </a:rPr>
              <a:t>is written in the topmost partition.</a:t>
            </a:r>
            <a:endParaRPr sz="1200">
              <a:latin typeface="Roboto"/>
              <a:ea typeface="Roboto"/>
              <a:cs typeface="Roboto"/>
              <a:sym typeface="Roboto"/>
            </a:endParaRPr>
          </a:p>
        </p:txBody>
      </p:sp>
      <p:grpSp>
        <p:nvGrpSpPr>
          <p:cNvPr id="797" name="Google Shape;797;p91"/>
          <p:cNvGrpSpPr/>
          <p:nvPr/>
        </p:nvGrpSpPr>
        <p:grpSpPr>
          <a:xfrm>
            <a:off x="2949850" y="969025"/>
            <a:ext cx="2951300" cy="1103225"/>
            <a:chOff x="2949850" y="969025"/>
            <a:chExt cx="2951300" cy="1103225"/>
          </a:xfrm>
        </p:grpSpPr>
        <p:sp>
          <p:nvSpPr>
            <p:cNvPr id="798" name="Google Shape;798;p91"/>
            <p:cNvSpPr txBox="1"/>
            <p:nvPr/>
          </p:nvSpPr>
          <p:spPr>
            <a:xfrm>
              <a:off x="3242850" y="969025"/>
              <a:ext cx="2658300" cy="304500"/>
            </a:xfrm>
            <a:prstGeom prst="rect">
              <a:avLst/>
            </a:prstGeom>
            <a:noFill/>
            <a:ln w="28575" cap="flat" cmpd="sng">
              <a:solidFill>
                <a:srgbClr val="EE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200"/>
            </a:p>
          </p:txBody>
        </p:sp>
        <p:cxnSp>
          <p:nvCxnSpPr>
            <p:cNvPr id="799" name="Google Shape;799;p91"/>
            <p:cNvCxnSpPr>
              <a:stCxn id="796" idx="3"/>
              <a:endCxn id="798" idx="1"/>
            </p:cNvCxnSpPr>
            <p:nvPr/>
          </p:nvCxnSpPr>
          <p:spPr>
            <a:xfrm rot="10800000" flipH="1">
              <a:off x="2949850" y="1121250"/>
              <a:ext cx="293100" cy="951000"/>
            </a:xfrm>
            <a:prstGeom prst="bentConnector3">
              <a:avLst>
                <a:gd name="adj1" fmla="val 32207"/>
              </a:avLst>
            </a:prstGeom>
            <a:noFill/>
            <a:ln w="28575" cap="flat" cmpd="sng">
              <a:solidFill>
                <a:srgbClr val="FF0000"/>
              </a:solidFill>
              <a:prstDash val="solid"/>
              <a:round/>
              <a:headEnd type="none" w="med" len="med"/>
              <a:tailEnd type="none" w="med" len="med"/>
            </a:ln>
          </p:spPr>
        </p:cxnSp>
      </p:grpSp>
      <p:sp>
        <p:nvSpPr>
          <p:cNvPr id="800" name="Google Shape;800;p91"/>
          <p:cNvSpPr txBox="1"/>
          <p:nvPr/>
        </p:nvSpPr>
        <p:spPr>
          <a:xfrm>
            <a:off x="189550" y="2448600"/>
            <a:ext cx="2760300" cy="554100"/>
          </a:xfrm>
          <a:prstGeom prst="rect">
            <a:avLst/>
          </a:prstGeom>
          <a:solidFill>
            <a:srgbClr val="FFF2CC"/>
          </a:solidFill>
          <a:ln w="1905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a:t>
            </a:r>
            <a:r>
              <a:rPr lang="en" sz="1200" b="1" i="1">
                <a:solidFill>
                  <a:srgbClr val="4A86E8"/>
                </a:solidFill>
                <a:latin typeface="Roboto"/>
                <a:ea typeface="Roboto"/>
                <a:cs typeface="Roboto"/>
                <a:sym typeface="Roboto"/>
              </a:rPr>
              <a:t>attributes</a:t>
            </a:r>
            <a:r>
              <a:rPr lang="en" sz="1200">
                <a:solidFill>
                  <a:srgbClr val="4A86E8"/>
                </a:solidFill>
                <a:latin typeface="Roboto"/>
                <a:ea typeface="Roboto"/>
                <a:cs typeface="Roboto"/>
                <a:sym typeface="Roboto"/>
              </a:rPr>
              <a:t> </a:t>
            </a:r>
            <a:r>
              <a:rPr lang="en" sz="1200">
                <a:latin typeface="Roboto"/>
                <a:ea typeface="Roboto"/>
                <a:cs typeface="Roboto"/>
                <a:sym typeface="Roboto"/>
              </a:rPr>
              <a:t>(fields) are listed in the middle partition.</a:t>
            </a:r>
            <a:endParaRPr sz="1200">
              <a:latin typeface="Roboto"/>
              <a:ea typeface="Roboto"/>
              <a:cs typeface="Roboto"/>
              <a:sym typeface="Roboto"/>
            </a:endParaRPr>
          </a:p>
        </p:txBody>
      </p:sp>
      <p:grpSp>
        <p:nvGrpSpPr>
          <p:cNvPr id="801" name="Google Shape;801;p91"/>
          <p:cNvGrpSpPr/>
          <p:nvPr/>
        </p:nvGrpSpPr>
        <p:grpSpPr>
          <a:xfrm>
            <a:off x="2949850" y="1302721"/>
            <a:ext cx="2951300" cy="1422929"/>
            <a:chOff x="2949850" y="1273601"/>
            <a:chExt cx="2951300" cy="1459714"/>
          </a:xfrm>
        </p:grpSpPr>
        <p:sp>
          <p:nvSpPr>
            <p:cNvPr id="802" name="Google Shape;802;p91"/>
            <p:cNvSpPr/>
            <p:nvPr/>
          </p:nvSpPr>
          <p:spPr>
            <a:xfrm>
              <a:off x="3242850" y="1273601"/>
              <a:ext cx="2658300" cy="1258800"/>
            </a:xfrm>
            <a:prstGeom prst="rect">
              <a:avLst/>
            </a:prstGeom>
            <a:noFill/>
            <a:ln w="28575" cap="flat" cmpd="sng">
              <a:solidFill>
                <a:srgbClr val="4A86E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p>
          </p:txBody>
        </p:sp>
        <p:cxnSp>
          <p:nvCxnSpPr>
            <p:cNvPr id="803" name="Google Shape;803;p91"/>
            <p:cNvCxnSpPr>
              <a:stCxn id="800" idx="3"/>
              <a:endCxn id="802" idx="1"/>
            </p:cNvCxnSpPr>
            <p:nvPr/>
          </p:nvCxnSpPr>
          <p:spPr>
            <a:xfrm rot="10800000" flipH="1">
              <a:off x="2949850" y="1902915"/>
              <a:ext cx="293100" cy="830400"/>
            </a:xfrm>
            <a:prstGeom prst="bentConnector3">
              <a:avLst>
                <a:gd name="adj1" fmla="val 69132"/>
              </a:avLst>
            </a:prstGeom>
            <a:noFill/>
            <a:ln w="28575" cap="flat" cmpd="sng">
              <a:solidFill>
                <a:srgbClr val="4A86E8"/>
              </a:solidFill>
              <a:prstDash val="solid"/>
              <a:round/>
              <a:headEnd type="none" w="med" len="med"/>
              <a:tailEnd type="none" w="med" len="med"/>
            </a:ln>
          </p:spPr>
        </p:cxnSp>
      </p:grpSp>
      <p:sp>
        <p:nvSpPr>
          <p:cNvPr id="804" name="Google Shape;804;p91"/>
          <p:cNvSpPr txBox="1"/>
          <p:nvPr/>
        </p:nvSpPr>
        <p:spPr>
          <a:xfrm>
            <a:off x="189550" y="3102000"/>
            <a:ext cx="2760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Attributes are shown in with the name first followed by the type, e.g.       </a:t>
            </a:r>
            <a:r>
              <a:rPr lang="en" sz="1200">
                <a:solidFill>
                  <a:srgbClr val="FF0000"/>
                </a:solidFill>
                <a:latin typeface="Courier New"/>
                <a:ea typeface="Courier New"/>
                <a:cs typeface="Courier New"/>
                <a:sym typeface="Courier New"/>
              </a:rPr>
              <a:t>age:</a:t>
            </a:r>
            <a:r>
              <a:rPr lang="en" sz="1200">
                <a:solidFill>
                  <a:srgbClr val="FF0000"/>
                </a:solidFill>
              </a:rPr>
              <a:t> </a:t>
            </a:r>
            <a:r>
              <a:rPr lang="en" sz="1200">
                <a:solidFill>
                  <a:srgbClr val="FF0000"/>
                </a:solidFill>
                <a:latin typeface="Courier New"/>
                <a:ea typeface="Courier New"/>
                <a:cs typeface="Courier New"/>
                <a:sym typeface="Courier New"/>
              </a:rPr>
              <a:t>int</a:t>
            </a:r>
            <a:endParaRPr sz="1200">
              <a:latin typeface="Roboto"/>
              <a:ea typeface="Roboto"/>
              <a:cs typeface="Roboto"/>
              <a:sym typeface="Roboto"/>
            </a:endParaRPr>
          </a:p>
        </p:txBody>
      </p:sp>
      <p:sp>
        <p:nvSpPr>
          <p:cNvPr id="805" name="Google Shape;805;p91"/>
          <p:cNvSpPr txBox="1"/>
          <p:nvPr/>
        </p:nvSpPr>
        <p:spPr>
          <a:xfrm>
            <a:off x="189550" y="3940200"/>
            <a:ext cx="2760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Static attributes are </a:t>
            </a:r>
            <a:r>
              <a:rPr lang="en" sz="1200" i="1" u="sng">
                <a:solidFill>
                  <a:srgbClr val="EE0000"/>
                </a:solidFill>
                <a:latin typeface="Roboto"/>
                <a:ea typeface="Roboto"/>
                <a:cs typeface="Roboto"/>
                <a:sym typeface="Roboto"/>
              </a:rPr>
              <a:t>underlined</a:t>
            </a:r>
            <a:r>
              <a:rPr lang="en" sz="1200">
                <a:latin typeface="Roboto"/>
                <a:ea typeface="Roboto"/>
                <a:cs typeface="Roboto"/>
                <a:sym typeface="Roboto"/>
              </a:rPr>
              <a:t> and by convention are named in UPPERCASE.</a:t>
            </a:r>
            <a:endParaRPr sz="1200">
              <a:latin typeface="Roboto"/>
              <a:ea typeface="Roboto"/>
              <a:cs typeface="Roboto"/>
              <a:sym typeface="Roboto"/>
            </a:endParaRPr>
          </a:p>
        </p:txBody>
      </p:sp>
      <p:sp>
        <p:nvSpPr>
          <p:cNvPr id="806" name="Google Shape;806;p91"/>
          <p:cNvSpPr txBox="1"/>
          <p:nvPr/>
        </p:nvSpPr>
        <p:spPr>
          <a:xfrm>
            <a:off x="6194150" y="957000"/>
            <a:ext cx="2760300" cy="554100"/>
          </a:xfrm>
          <a:prstGeom prst="rect">
            <a:avLst/>
          </a:prstGeom>
          <a:solidFill>
            <a:srgbClr val="FFF2CC"/>
          </a:solidFill>
          <a:ln w="19050" cap="flat" cmpd="sng">
            <a:solidFill>
              <a:srgbClr val="FF99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The </a:t>
            </a:r>
            <a:r>
              <a:rPr lang="en" sz="1200" b="1" i="1">
                <a:solidFill>
                  <a:srgbClr val="FF9900"/>
                </a:solidFill>
                <a:latin typeface="Roboto"/>
                <a:ea typeface="Roboto"/>
                <a:cs typeface="Roboto"/>
                <a:sym typeface="Roboto"/>
              </a:rPr>
              <a:t>operations</a:t>
            </a:r>
            <a:r>
              <a:rPr lang="en" sz="1200">
                <a:solidFill>
                  <a:srgbClr val="FF9900"/>
                </a:solidFill>
                <a:latin typeface="Roboto"/>
                <a:ea typeface="Roboto"/>
                <a:cs typeface="Roboto"/>
                <a:sym typeface="Roboto"/>
              </a:rPr>
              <a:t> </a:t>
            </a:r>
            <a:r>
              <a:rPr lang="en" sz="1200">
                <a:latin typeface="Roboto"/>
                <a:ea typeface="Roboto"/>
                <a:cs typeface="Roboto"/>
                <a:sym typeface="Roboto"/>
              </a:rPr>
              <a:t>(methods) are listed in the bottom partition.</a:t>
            </a:r>
            <a:endParaRPr sz="1200">
              <a:latin typeface="Roboto"/>
              <a:ea typeface="Roboto"/>
              <a:cs typeface="Roboto"/>
              <a:sym typeface="Roboto"/>
            </a:endParaRPr>
          </a:p>
        </p:txBody>
      </p:sp>
      <p:sp>
        <p:nvSpPr>
          <p:cNvPr id="807" name="Google Shape;807;p91"/>
          <p:cNvSpPr txBox="1"/>
          <p:nvPr/>
        </p:nvSpPr>
        <p:spPr>
          <a:xfrm>
            <a:off x="6194150" y="1626599"/>
            <a:ext cx="2760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Roboto"/>
                <a:ea typeface="Roboto"/>
                <a:cs typeface="Roboto"/>
                <a:sym typeface="Roboto"/>
              </a:rPr>
              <a:t>Any parameters are shown with the name first followed by the type, e.g. </a:t>
            </a:r>
            <a:r>
              <a:rPr lang="en" sz="1200">
                <a:latin typeface="Courier New"/>
                <a:ea typeface="Courier New"/>
                <a:cs typeface="Courier New"/>
                <a:sym typeface="Courier New"/>
              </a:rPr>
              <a:t>name:</a:t>
            </a:r>
            <a:r>
              <a:rPr lang="en" sz="1200">
                <a:latin typeface="Roboto"/>
                <a:ea typeface="Roboto"/>
                <a:cs typeface="Roboto"/>
                <a:sym typeface="Roboto"/>
              </a:rPr>
              <a:t> </a:t>
            </a:r>
            <a:r>
              <a:rPr lang="en" sz="1200">
                <a:latin typeface="Courier New"/>
                <a:ea typeface="Courier New"/>
                <a:cs typeface="Courier New"/>
                <a:sym typeface="Courier New"/>
              </a:rPr>
              <a:t>String</a:t>
            </a:r>
            <a:endParaRPr sz="1200">
              <a:latin typeface="Roboto"/>
              <a:ea typeface="Roboto"/>
              <a:cs typeface="Roboto"/>
              <a:sym typeface="Roboto"/>
            </a:endParaRPr>
          </a:p>
        </p:txBody>
      </p:sp>
      <p:grpSp>
        <p:nvGrpSpPr>
          <p:cNvPr id="808" name="Google Shape;808;p91"/>
          <p:cNvGrpSpPr/>
          <p:nvPr/>
        </p:nvGrpSpPr>
        <p:grpSpPr>
          <a:xfrm>
            <a:off x="3242850" y="1234050"/>
            <a:ext cx="2951300" cy="3632413"/>
            <a:chOff x="3242850" y="1241537"/>
            <a:chExt cx="2951300" cy="3632413"/>
          </a:xfrm>
        </p:grpSpPr>
        <p:sp>
          <p:nvSpPr>
            <p:cNvPr id="809" name="Google Shape;809;p91"/>
            <p:cNvSpPr/>
            <p:nvPr/>
          </p:nvSpPr>
          <p:spPr>
            <a:xfrm>
              <a:off x="3242850" y="2571750"/>
              <a:ext cx="2658300" cy="2302200"/>
            </a:xfrm>
            <a:prstGeom prst="rect">
              <a:avLst/>
            </a:prstGeom>
            <a:noFill/>
            <a:ln w="28575" cap="flat" cmpd="sng">
              <a:solidFill>
                <a:srgbClr val="FF99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100"/>
            </a:p>
          </p:txBody>
        </p:sp>
        <p:cxnSp>
          <p:nvCxnSpPr>
            <p:cNvPr id="810" name="Google Shape;810;p91"/>
            <p:cNvCxnSpPr>
              <a:stCxn id="806" idx="1"/>
              <a:endCxn id="809" idx="3"/>
            </p:cNvCxnSpPr>
            <p:nvPr/>
          </p:nvCxnSpPr>
          <p:spPr>
            <a:xfrm flipH="1">
              <a:off x="5901050" y="1241537"/>
              <a:ext cx="293100" cy="2481300"/>
            </a:xfrm>
            <a:prstGeom prst="bentConnector3">
              <a:avLst>
                <a:gd name="adj1" fmla="val 49983"/>
              </a:avLst>
            </a:prstGeom>
            <a:noFill/>
            <a:ln w="28575" cap="flat" cmpd="sng">
              <a:solidFill>
                <a:srgbClr val="FF9900"/>
              </a:solidFill>
              <a:prstDash val="solid"/>
              <a:round/>
              <a:headEnd type="none" w="med" len="med"/>
              <a:tailEnd type="none" w="med" len="med"/>
            </a:ln>
          </p:spPr>
        </p:cxnSp>
      </p:grpSp>
      <p:sp>
        <p:nvSpPr>
          <p:cNvPr id="811" name="Google Shape;811;p91"/>
          <p:cNvSpPr txBox="1"/>
          <p:nvPr/>
        </p:nvSpPr>
        <p:spPr>
          <a:xfrm>
            <a:off x="6194150" y="2480997"/>
            <a:ext cx="27603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The return value is listed after the method declaration, e.g.    </a:t>
            </a:r>
            <a:r>
              <a:rPr lang="en" sz="1200" dirty="0">
                <a:latin typeface="Courier New"/>
                <a:ea typeface="Courier New"/>
                <a:cs typeface="Courier New"/>
                <a:sym typeface="Courier New"/>
              </a:rPr>
              <a:t>getAge():</a:t>
            </a:r>
            <a:r>
              <a:rPr lang="en" sz="1200" dirty="0"/>
              <a:t> </a:t>
            </a:r>
            <a:r>
              <a:rPr lang="en" sz="1200" dirty="0">
                <a:solidFill>
                  <a:srgbClr val="FF0000"/>
                </a:solidFill>
                <a:latin typeface="Courier New"/>
                <a:ea typeface="Courier New"/>
                <a:cs typeface="Courier New"/>
                <a:sym typeface="Courier New"/>
              </a:rPr>
              <a:t>int</a:t>
            </a:r>
            <a:endParaRPr sz="1200" dirty="0">
              <a:solidFill>
                <a:srgbClr val="FF0000"/>
              </a:solidFill>
              <a:latin typeface="Courier New"/>
              <a:ea typeface="Courier New"/>
              <a:cs typeface="Courier New"/>
              <a:sym typeface="Courier New"/>
            </a:endParaRPr>
          </a:p>
        </p:txBody>
      </p:sp>
      <p:sp>
        <p:nvSpPr>
          <p:cNvPr id="812" name="Google Shape;812;p91"/>
          <p:cNvSpPr txBox="1"/>
          <p:nvPr/>
        </p:nvSpPr>
        <p:spPr>
          <a:xfrm>
            <a:off x="6194150" y="3319195"/>
            <a:ext cx="2760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Constructors are marked with the </a:t>
            </a:r>
            <a:r>
              <a:rPr lang="en" sz="1200" dirty="0">
                <a:solidFill>
                  <a:srgbClr val="FF0000"/>
                </a:solidFill>
                <a:highlight>
                  <a:srgbClr val="FFFF00"/>
                </a:highlight>
                <a:latin typeface="Courier New"/>
                <a:ea typeface="Courier New"/>
                <a:cs typeface="Courier New"/>
                <a:sym typeface="Courier New"/>
              </a:rPr>
              <a:t>&lt;&lt;create&gt;&gt;</a:t>
            </a:r>
            <a:r>
              <a:rPr lang="en" sz="1200" dirty="0">
                <a:highlight>
                  <a:srgbClr val="FFFF00"/>
                </a:highlight>
                <a:latin typeface="Roboto"/>
                <a:ea typeface="Roboto"/>
                <a:cs typeface="Roboto"/>
                <a:sym typeface="Roboto"/>
              </a:rPr>
              <a:t> annotation.</a:t>
            </a:r>
            <a:endParaRPr sz="1200" dirty="0">
              <a:solidFill>
                <a:srgbClr val="FF0000"/>
              </a:solidFill>
              <a:highlight>
                <a:srgbClr val="FFFF00"/>
              </a:highlight>
              <a:latin typeface="Courier New"/>
              <a:ea typeface="Courier New"/>
              <a:cs typeface="Courier New"/>
              <a:sym typeface="Courier New"/>
            </a:endParaRPr>
          </a:p>
        </p:txBody>
      </p:sp>
      <p:sp>
        <p:nvSpPr>
          <p:cNvPr id="813" name="Google Shape;813;p91"/>
          <p:cNvSpPr txBox="1"/>
          <p:nvPr/>
        </p:nvSpPr>
        <p:spPr>
          <a:xfrm>
            <a:off x="6194150" y="3981202"/>
            <a:ext cx="2760300" cy="5541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Roboto"/>
                <a:ea typeface="Roboto"/>
                <a:cs typeface="Roboto"/>
                <a:sym typeface="Roboto"/>
              </a:rPr>
              <a:t>Visibility is indicated using </a:t>
            </a:r>
            <a:r>
              <a:rPr lang="en" sz="1200" b="1" dirty="0">
                <a:solidFill>
                  <a:srgbClr val="FF0000"/>
                </a:solidFill>
                <a:latin typeface="Courier New"/>
                <a:ea typeface="Courier New"/>
                <a:cs typeface="Courier New"/>
                <a:sym typeface="Courier New"/>
              </a:rPr>
              <a:t>+</a:t>
            </a:r>
            <a:r>
              <a:rPr lang="en" sz="1200" dirty="0">
                <a:latin typeface="Roboto"/>
                <a:ea typeface="Roboto"/>
                <a:cs typeface="Roboto"/>
                <a:sym typeface="Roboto"/>
              </a:rPr>
              <a:t> (public), </a:t>
            </a:r>
            <a:r>
              <a:rPr lang="en" sz="1200" b="1" dirty="0">
                <a:solidFill>
                  <a:srgbClr val="FF0000"/>
                </a:solidFill>
                <a:latin typeface="Courier New"/>
                <a:ea typeface="Courier New"/>
                <a:cs typeface="Courier New"/>
                <a:sym typeface="Courier New"/>
              </a:rPr>
              <a:t>-</a:t>
            </a:r>
            <a:r>
              <a:rPr lang="en" sz="1200" dirty="0">
                <a:latin typeface="Roboto"/>
                <a:ea typeface="Roboto"/>
                <a:cs typeface="Roboto"/>
                <a:sym typeface="Roboto"/>
              </a:rPr>
              <a:t> (private), or </a:t>
            </a:r>
            <a:r>
              <a:rPr lang="en" sz="1200" b="1" dirty="0">
                <a:solidFill>
                  <a:srgbClr val="FF0000"/>
                </a:solidFill>
                <a:latin typeface="Courier New"/>
                <a:ea typeface="Courier New"/>
                <a:cs typeface="Courier New"/>
                <a:sym typeface="Courier New"/>
              </a:rPr>
              <a:t>#</a:t>
            </a:r>
            <a:r>
              <a:rPr lang="en" sz="1200" dirty="0">
                <a:latin typeface="Roboto"/>
                <a:ea typeface="Roboto"/>
                <a:cs typeface="Roboto"/>
                <a:sym typeface="Roboto"/>
              </a:rPr>
              <a:t> (protected).</a:t>
            </a:r>
            <a:endParaRPr sz="1200" dirty="0">
              <a:solidFill>
                <a:srgbClr val="FF0000"/>
              </a:solidFill>
              <a:latin typeface="Courier New"/>
              <a:ea typeface="Courier New"/>
              <a:cs typeface="Courier New"/>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95"/>
                                        </p:tgtEl>
                                        <p:attrNameLst>
                                          <p:attrName>style.visibility</p:attrName>
                                        </p:attrNameLst>
                                      </p:cBhvr>
                                      <p:to>
                                        <p:strVal val="visible"/>
                                      </p:to>
                                    </p:set>
                                    <p:animEffect transition="in" filter="fade">
                                      <p:cBhvr>
                                        <p:cTn id="7" dur="1000"/>
                                        <p:tgtEl>
                                          <p:spTgt spid="7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96"/>
                                        </p:tgtEl>
                                        <p:attrNameLst>
                                          <p:attrName>style.visibility</p:attrName>
                                        </p:attrNameLst>
                                      </p:cBhvr>
                                      <p:to>
                                        <p:strVal val="visible"/>
                                      </p:to>
                                    </p:set>
                                    <p:animEffect transition="in" filter="fade">
                                      <p:cBhvr>
                                        <p:cTn id="12" dur="1000"/>
                                        <p:tgtEl>
                                          <p:spTgt spid="796"/>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797"/>
                                        </p:tgtEl>
                                        <p:attrNameLst>
                                          <p:attrName>style.visibility</p:attrName>
                                        </p:attrNameLst>
                                      </p:cBhvr>
                                      <p:to>
                                        <p:strVal val="visible"/>
                                      </p:to>
                                    </p:set>
                                    <p:animEffect transition="in" filter="fade">
                                      <p:cBhvr>
                                        <p:cTn id="16" dur="1000"/>
                                        <p:tgtEl>
                                          <p:spTgt spid="79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00"/>
                                        </p:tgtEl>
                                        <p:attrNameLst>
                                          <p:attrName>style.visibility</p:attrName>
                                        </p:attrNameLst>
                                      </p:cBhvr>
                                      <p:to>
                                        <p:strVal val="visible"/>
                                      </p:to>
                                    </p:set>
                                    <p:animEffect transition="in" filter="fade">
                                      <p:cBhvr>
                                        <p:cTn id="21" dur="1000"/>
                                        <p:tgtEl>
                                          <p:spTgt spid="800"/>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801"/>
                                        </p:tgtEl>
                                        <p:attrNameLst>
                                          <p:attrName>style.visibility</p:attrName>
                                        </p:attrNameLst>
                                      </p:cBhvr>
                                      <p:to>
                                        <p:strVal val="visible"/>
                                      </p:to>
                                    </p:set>
                                    <p:animEffect transition="in" filter="fade">
                                      <p:cBhvr>
                                        <p:cTn id="25" dur="1000"/>
                                        <p:tgtEl>
                                          <p:spTgt spid="80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04"/>
                                        </p:tgtEl>
                                        <p:attrNameLst>
                                          <p:attrName>style.visibility</p:attrName>
                                        </p:attrNameLst>
                                      </p:cBhvr>
                                      <p:to>
                                        <p:strVal val="visible"/>
                                      </p:to>
                                    </p:set>
                                    <p:animEffect transition="in" filter="fade">
                                      <p:cBhvr>
                                        <p:cTn id="30" dur="1000"/>
                                        <p:tgtEl>
                                          <p:spTgt spid="80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805"/>
                                        </p:tgtEl>
                                        <p:attrNameLst>
                                          <p:attrName>style.visibility</p:attrName>
                                        </p:attrNameLst>
                                      </p:cBhvr>
                                      <p:to>
                                        <p:strVal val="visible"/>
                                      </p:to>
                                    </p:set>
                                    <p:animEffect transition="in" filter="fade">
                                      <p:cBhvr>
                                        <p:cTn id="35" dur="1000"/>
                                        <p:tgtEl>
                                          <p:spTgt spid="80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806"/>
                                        </p:tgtEl>
                                        <p:attrNameLst>
                                          <p:attrName>style.visibility</p:attrName>
                                        </p:attrNameLst>
                                      </p:cBhvr>
                                      <p:to>
                                        <p:strVal val="visible"/>
                                      </p:to>
                                    </p:set>
                                    <p:animEffect transition="in" filter="fade">
                                      <p:cBhvr>
                                        <p:cTn id="40" dur="1000"/>
                                        <p:tgtEl>
                                          <p:spTgt spid="806"/>
                                        </p:tgtEl>
                                      </p:cBhvr>
                                    </p:animEffect>
                                  </p:childTnLst>
                                </p:cTn>
                              </p:par>
                            </p:childTnLst>
                          </p:cTn>
                        </p:par>
                        <p:par>
                          <p:cTn id="41" fill="hold">
                            <p:stCondLst>
                              <p:cond delay="1000"/>
                            </p:stCondLst>
                            <p:childTnLst>
                              <p:par>
                                <p:cTn id="42" presetID="10" presetClass="entr" presetSubtype="0" fill="hold" nodeType="afterEffect">
                                  <p:stCondLst>
                                    <p:cond delay="0"/>
                                  </p:stCondLst>
                                  <p:childTnLst>
                                    <p:set>
                                      <p:cBhvr>
                                        <p:cTn id="43" dur="1" fill="hold">
                                          <p:stCondLst>
                                            <p:cond delay="0"/>
                                          </p:stCondLst>
                                        </p:cTn>
                                        <p:tgtEl>
                                          <p:spTgt spid="808"/>
                                        </p:tgtEl>
                                        <p:attrNameLst>
                                          <p:attrName>style.visibility</p:attrName>
                                        </p:attrNameLst>
                                      </p:cBhvr>
                                      <p:to>
                                        <p:strVal val="visible"/>
                                      </p:to>
                                    </p:set>
                                    <p:animEffect transition="in" filter="fade">
                                      <p:cBhvr>
                                        <p:cTn id="44" dur="1000"/>
                                        <p:tgtEl>
                                          <p:spTgt spid="80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807"/>
                                        </p:tgtEl>
                                        <p:attrNameLst>
                                          <p:attrName>style.visibility</p:attrName>
                                        </p:attrNameLst>
                                      </p:cBhvr>
                                      <p:to>
                                        <p:strVal val="visible"/>
                                      </p:to>
                                    </p:set>
                                    <p:animEffect transition="in" filter="fade">
                                      <p:cBhvr>
                                        <p:cTn id="49" dur="1000"/>
                                        <p:tgtEl>
                                          <p:spTgt spid="807"/>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811"/>
                                        </p:tgtEl>
                                        <p:attrNameLst>
                                          <p:attrName>style.visibility</p:attrName>
                                        </p:attrNameLst>
                                      </p:cBhvr>
                                      <p:to>
                                        <p:strVal val="visible"/>
                                      </p:to>
                                    </p:set>
                                    <p:animEffect transition="in" filter="fade">
                                      <p:cBhvr>
                                        <p:cTn id="54" dur="1000"/>
                                        <p:tgtEl>
                                          <p:spTgt spid="811"/>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812"/>
                                        </p:tgtEl>
                                        <p:attrNameLst>
                                          <p:attrName>style.visibility</p:attrName>
                                        </p:attrNameLst>
                                      </p:cBhvr>
                                      <p:to>
                                        <p:strVal val="visible"/>
                                      </p:to>
                                    </p:set>
                                    <p:animEffect transition="in" filter="fade">
                                      <p:cBhvr>
                                        <p:cTn id="59" dur="1000"/>
                                        <p:tgtEl>
                                          <p:spTgt spid="81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813"/>
                                        </p:tgtEl>
                                        <p:attrNameLst>
                                          <p:attrName>style.visibility</p:attrName>
                                        </p:attrNameLst>
                                      </p:cBhvr>
                                      <p:to>
                                        <p:strVal val="visible"/>
                                      </p:to>
                                    </p:set>
                                    <p:animEffect transition="in" filter="fade">
                                      <p:cBhvr>
                                        <p:cTn id="64" dur="1000"/>
                                        <p:tgtEl>
                                          <p:spTgt spid="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92"/>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While many UML class diagrams are drawn by hand (e.g. on paper or a whiteboard), professional software engineers document their designs using software tools. There are many tools available, but today we will be using a free, online tool that connects to Google Drive.</a:t>
            </a:r>
            <a:endParaRPr/>
          </a:p>
        </p:txBody>
      </p:sp>
      <p:sp>
        <p:nvSpPr>
          <p:cNvPr id="819" name="Google Shape;819;p9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47</a:t>
            </a:fld>
            <a:endParaRPr/>
          </a:p>
        </p:txBody>
      </p:sp>
      <p:sp>
        <p:nvSpPr>
          <p:cNvPr id="820" name="Google Shape;820;p92"/>
          <p:cNvSpPr txBox="1">
            <a:spLocks noGrp="1"/>
          </p:cNvSpPr>
          <p:nvPr>
            <p:ph type="body" idx="2"/>
          </p:nvPr>
        </p:nvSpPr>
        <p:spPr>
          <a:xfrm>
            <a:off x="3204400" y="1881525"/>
            <a:ext cx="5751600" cy="2792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a browser and navigate to </a:t>
            </a:r>
            <a:r>
              <a:rPr lang="en" u="sng" dirty="0">
                <a:solidFill>
                  <a:schemeClr val="hlink"/>
                </a:solidFill>
                <a:hlinkClick r:id="rId3"/>
              </a:rPr>
              <a:t>https://draw.io</a:t>
            </a:r>
            <a:endParaRPr dirty="0"/>
          </a:p>
          <a:p>
            <a:pPr marL="914400" lvl="1" indent="-298450" algn="l" rtl="0">
              <a:spcBef>
                <a:spcPts val="0"/>
              </a:spcBef>
              <a:spcAft>
                <a:spcPts val="0"/>
              </a:spcAft>
              <a:buSzPts val="1100"/>
              <a:buChar char="○"/>
            </a:pPr>
            <a:r>
              <a:rPr lang="en" dirty="0"/>
              <a:t>You will be asked where your diagrams should be saved. Click the </a:t>
            </a:r>
            <a:r>
              <a:rPr lang="en" b="1" i="1" dirty="0">
                <a:solidFill>
                  <a:srgbClr val="FF0000"/>
                </a:solidFill>
              </a:rPr>
              <a:t>Google Drive</a:t>
            </a:r>
            <a:r>
              <a:rPr lang="en" i="1" dirty="0"/>
              <a:t> </a:t>
            </a:r>
            <a:r>
              <a:rPr lang="en" dirty="0"/>
              <a:t>option.</a:t>
            </a:r>
            <a:endParaRPr dirty="0"/>
          </a:p>
          <a:p>
            <a:pPr marL="914400" lvl="1" indent="-298450" algn="l" rtl="0">
              <a:spcBef>
                <a:spcPts val="0"/>
              </a:spcBef>
              <a:spcAft>
                <a:spcPts val="0"/>
              </a:spcAft>
              <a:buSzPts val="1100"/>
              <a:buChar char="○"/>
            </a:pPr>
            <a:r>
              <a:rPr lang="en" dirty="0"/>
              <a:t>You will be asked to </a:t>
            </a:r>
            <a:r>
              <a:rPr lang="en" b="1" i="1" dirty="0">
                <a:solidFill>
                  <a:srgbClr val="FF0000"/>
                </a:solidFill>
              </a:rPr>
              <a:t>authorize</a:t>
            </a:r>
            <a:r>
              <a:rPr lang="en" dirty="0">
                <a:solidFill>
                  <a:srgbClr val="FF0000"/>
                </a:solidFill>
              </a:rPr>
              <a:t> </a:t>
            </a:r>
            <a:r>
              <a:rPr lang="en" dirty="0"/>
              <a:t>draw.io so that it can save files to your Google Drive. </a:t>
            </a:r>
            <a:endParaRPr dirty="0"/>
          </a:p>
          <a:p>
            <a:pPr marL="914400" lvl="1" indent="-298450" algn="l" rtl="0">
              <a:spcBef>
                <a:spcPts val="0"/>
              </a:spcBef>
              <a:spcAft>
                <a:spcPts val="0"/>
              </a:spcAft>
              <a:buSzPts val="1100"/>
              <a:buChar char="○"/>
            </a:pPr>
            <a:r>
              <a:rPr lang="en" dirty="0"/>
              <a:t>Log in with your RIT Gmail and password. Don't forget the "</a:t>
            </a:r>
            <a:r>
              <a:rPr lang="en" b="1" i="1" dirty="0">
                <a:solidFill>
                  <a:srgbClr val="FF0000"/>
                </a:solidFill>
                <a:latin typeface="Courier New"/>
                <a:ea typeface="Courier New"/>
                <a:cs typeface="Courier New"/>
                <a:sym typeface="Courier New"/>
              </a:rPr>
              <a:t>@g</a:t>
            </a:r>
            <a:r>
              <a:rPr lang="en" dirty="0"/>
              <a:t>" in your email, e.g. "</a:t>
            </a:r>
            <a:r>
              <a:rPr lang="en" u="sng" dirty="0">
                <a:solidFill>
                  <a:schemeClr val="hlink"/>
                </a:solidFill>
                <a:latin typeface="Courier New"/>
                <a:ea typeface="Courier New"/>
                <a:cs typeface="Courier New"/>
                <a:sym typeface="Courier New"/>
                <a:hlinkClick r:id="rId4"/>
              </a:rPr>
              <a:t>abc1234</a:t>
            </a:r>
            <a:r>
              <a:rPr lang="en" b="1" i="1" u="sng" dirty="0">
                <a:solidFill>
                  <a:schemeClr val="hlink"/>
                </a:solidFill>
                <a:latin typeface="Courier New"/>
                <a:ea typeface="Courier New"/>
                <a:cs typeface="Courier New"/>
                <a:sym typeface="Courier New"/>
                <a:hlinkClick r:id="rId4"/>
              </a:rPr>
              <a:t>@g</a:t>
            </a:r>
            <a:r>
              <a:rPr lang="en" u="sng" dirty="0">
                <a:solidFill>
                  <a:schemeClr val="hlink"/>
                </a:solidFill>
                <a:latin typeface="Courier New"/>
                <a:ea typeface="Courier New"/>
                <a:cs typeface="Courier New"/>
                <a:sym typeface="Courier New"/>
                <a:hlinkClick r:id="rId4"/>
              </a:rPr>
              <a:t>.rit.edu</a:t>
            </a:r>
            <a:r>
              <a:rPr lang="en" dirty="0"/>
              <a:t>"!</a:t>
            </a:r>
            <a:endParaRPr dirty="0"/>
          </a:p>
          <a:p>
            <a:pPr marL="457200" lvl="0" indent="-311150" algn="l" rtl="0">
              <a:spcBef>
                <a:spcPts val="0"/>
              </a:spcBef>
              <a:spcAft>
                <a:spcPts val="0"/>
              </a:spcAft>
              <a:buSzPts val="1300"/>
              <a:buChar char="●"/>
            </a:pPr>
            <a:r>
              <a:rPr lang="en" dirty="0"/>
              <a:t>Now you are ready to create your first diagram!</a:t>
            </a:r>
            <a:endParaRPr dirty="0"/>
          </a:p>
          <a:p>
            <a:pPr marL="914400" lvl="1" indent="-298450" algn="l" rtl="0">
              <a:spcBef>
                <a:spcPts val="0"/>
              </a:spcBef>
              <a:spcAft>
                <a:spcPts val="0"/>
              </a:spcAft>
              <a:buSzPts val="1100"/>
              <a:buChar char="○"/>
            </a:pPr>
            <a:r>
              <a:rPr lang="en" dirty="0"/>
              <a:t>Choose the </a:t>
            </a:r>
            <a:r>
              <a:rPr lang="en" b="1" i="1" dirty="0">
                <a:solidFill>
                  <a:srgbClr val="FF0000"/>
                </a:solidFill>
              </a:rPr>
              <a:t>Create New Diagram</a:t>
            </a:r>
            <a:r>
              <a:rPr lang="en" dirty="0"/>
              <a:t> option.</a:t>
            </a:r>
            <a:endParaRPr dirty="0"/>
          </a:p>
          <a:p>
            <a:pPr marL="914400" lvl="1" indent="-298450" algn="l" rtl="0">
              <a:spcBef>
                <a:spcPts val="0"/>
              </a:spcBef>
              <a:spcAft>
                <a:spcPts val="0"/>
              </a:spcAft>
              <a:buSzPts val="1100"/>
              <a:buChar char="○"/>
            </a:pPr>
            <a:r>
              <a:rPr lang="en" dirty="0"/>
              <a:t>In the next dialog, type "</a:t>
            </a:r>
            <a:r>
              <a:rPr lang="en" dirty="0">
                <a:solidFill>
                  <a:srgbClr val="FF0000"/>
                </a:solidFill>
              </a:rPr>
              <a:t>Star Wars Battle</a:t>
            </a:r>
            <a:r>
              <a:rPr lang="en" dirty="0"/>
              <a:t>" into the </a:t>
            </a:r>
            <a:r>
              <a:rPr lang="en" b="1" i="1" dirty="0">
                <a:solidFill>
                  <a:srgbClr val="FF0000"/>
                </a:solidFill>
              </a:rPr>
              <a:t>Diagram Name</a:t>
            </a:r>
            <a:r>
              <a:rPr lang="en" dirty="0"/>
              <a:t> field at the top and then choose the </a:t>
            </a:r>
            <a:r>
              <a:rPr lang="en" b="1" i="1" dirty="0">
                <a:solidFill>
                  <a:srgbClr val="FF0000"/>
                </a:solidFill>
              </a:rPr>
              <a:t>Class Diagram</a:t>
            </a:r>
            <a:r>
              <a:rPr lang="en" dirty="0"/>
              <a:t> option.</a:t>
            </a:r>
            <a:endParaRPr dirty="0"/>
          </a:p>
          <a:p>
            <a:pPr marL="914400" lvl="1" indent="-298450" algn="l" rtl="0">
              <a:spcBef>
                <a:spcPts val="0"/>
              </a:spcBef>
              <a:spcAft>
                <a:spcPts val="0"/>
              </a:spcAft>
              <a:buSzPts val="1100"/>
              <a:buChar char="○"/>
            </a:pPr>
            <a:r>
              <a:rPr lang="en" dirty="0"/>
              <a:t>Next, click the </a:t>
            </a:r>
            <a:r>
              <a:rPr lang="en" b="1" i="1" dirty="0">
                <a:solidFill>
                  <a:srgbClr val="FF0000"/>
                </a:solidFill>
              </a:rPr>
              <a:t>Create</a:t>
            </a:r>
            <a:r>
              <a:rPr lang="en" dirty="0"/>
              <a:t> button and choose your root folder.</a:t>
            </a:r>
            <a:endParaRPr b="1" dirty="0"/>
          </a:p>
          <a:p>
            <a:pPr marL="457200" lvl="0" indent="-311150" algn="l" rtl="0">
              <a:spcBef>
                <a:spcPts val="0"/>
              </a:spcBef>
              <a:spcAft>
                <a:spcPts val="0"/>
              </a:spcAft>
              <a:buSzPts val="1300"/>
              <a:buChar char="●"/>
            </a:pPr>
            <a:r>
              <a:rPr lang="en" dirty="0"/>
              <a:t>You are now ready to create your first UML class diagram!</a:t>
            </a:r>
            <a:endParaRPr dirty="0"/>
          </a:p>
        </p:txBody>
      </p:sp>
      <p:sp>
        <p:nvSpPr>
          <p:cNvPr id="821" name="Google Shape;821;p9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UML Drawing Tool</a:t>
            </a:r>
            <a:endParaRPr/>
          </a:p>
        </p:txBody>
      </p:sp>
      <p:sp>
        <p:nvSpPr>
          <p:cNvPr id="822" name="Google Shape;822;p9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2.15</a:t>
            </a:r>
            <a:endParaRPr/>
          </a:p>
        </p:txBody>
      </p:sp>
      <p:pic>
        <p:nvPicPr>
          <p:cNvPr id="823" name="Google Shape;823;p92"/>
          <p:cNvPicPr preferRelativeResize="0"/>
          <p:nvPr/>
        </p:nvPicPr>
        <p:blipFill>
          <a:blip r:embed="rId5">
            <a:alphaModFix/>
          </a:blip>
          <a:stretch>
            <a:fillRect/>
          </a:stretch>
        </p:blipFill>
        <p:spPr>
          <a:xfrm>
            <a:off x="76200" y="1957725"/>
            <a:ext cx="3256974" cy="2529600"/>
          </a:xfrm>
          <a:prstGeom prst="rect">
            <a:avLst/>
          </a:prstGeom>
          <a:noFill/>
          <a:ln>
            <a:noFill/>
          </a:ln>
        </p:spPr>
      </p:pic>
      <p:sp>
        <p:nvSpPr>
          <p:cNvPr id="824" name="Google Shape;824;p92"/>
          <p:cNvSpPr/>
          <p:nvPr/>
        </p:nvSpPr>
        <p:spPr>
          <a:xfrm>
            <a:off x="958326" y="2171200"/>
            <a:ext cx="1220400" cy="172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92"/>
          <p:cNvSpPr/>
          <p:nvPr/>
        </p:nvSpPr>
        <p:spPr>
          <a:xfrm>
            <a:off x="1574925" y="2399550"/>
            <a:ext cx="753600" cy="752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92"/>
          <p:cNvSpPr/>
          <p:nvPr/>
        </p:nvSpPr>
        <p:spPr>
          <a:xfrm>
            <a:off x="2710250" y="4140250"/>
            <a:ext cx="437100" cy="212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p93"/>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Being able to read and draw UML is an essential skill for any software developer. Professionals must document their software design and keep it up to date so that they can share it with their teams, customers, and other stakeholders. Let's practice now!</a:t>
            </a:r>
            <a:endParaRPr/>
          </a:p>
        </p:txBody>
      </p:sp>
      <p:sp>
        <p:nvSpPr>
          <p:cNvPr id="832" name="Google Shape;832;p9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48</a:t>
            </a:fld>
            <a:endParaRPr/>
          </a:p>
        </p:txBody>
      </p:sp>
      <p:sp>
        <p:nvSpPr>
          <p:cNvPr id="833" name="Google Shape;833;p93"/>
          <p:cNvSpPr txBox="1">
            <a:spLocks noGrp="1"/>
          </p:cNvSpPr>
          <p:nvPr>
            <p:ph type="body" idx="2"/>
          </p:nvPr>
        </p:nvSpPr>
        <p:spPr>
          <a:xfrm>
            <a:off x="3211875" y="1814150"/>
            <a:ext cx="5467200" cy="3122363"/>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Start by deleting any classes that were created for you in the new diagram.</a:t>
            </a:r>
            <a:endParaRPr dirty="0"/>
          </a:p>
          <a:p>
            <a:pPr marL="457200" lvl="0" indent="-311150" algn="l" rtl="0">
              <a:spcBef>
                <a:spcPts val="0"/>
              </a:spcBef>
              <a:spcAft>
                <a:spcPts val="0"/>
              </a:spcAft>
              <a:buSzPts val="1300"/>
              <a:buChar char="●"/>
            </a:pPr>
            <a:r>
              <a:rPr lang="en" dirty="0"/>
              <a:t>Draw a UML class diagram representing the </a:t>
            </a:r>
            <a:r>
              <a:rPr lang="en" dirty="0">
                <a:highlight>
                  <a:srgbClr val="FFFF00"/>
                </a:highlight>
                <a:latin typeface="Courier New"/>
                <a:ea typeface="Courier New"/>
                <a:cs typeface="Courier New"/>
                <a:sym typeface="Courier New"/>
              </a:rPr>
              <a:t>Weapon</a:t>
            </a:r>
            <a:r>
              <a:rPr lang="en" dirty="0"/>
              <a:t> class.</a:t>
            </a:r>
            <a:endParaRPr dirty="0"/>
          </a:p>
          <a:p>
            <a:pPr marL="914400" lvl="1" indent="-298450" algn="l" rtl="0">
              <a:spcBef>
                <a:spcPts val="0"/>
              </a:spcBef>
              <a:spcAft>
                <a:spcPts val="0"/>
              </a:spcAft>
              <a:buSzPts val="1100"/>
              <a:buChar char="○"/>
            </a:pPr>
            <a:r>
              <a:rPr lang="en" dirty="0"/>
              <a:t>Expand the </a:t>
            </a:r>
            <a:r>
              <a:rPr lang="en" b="1" i="1" dirty="0">
                <a:solidFill>
                  <a:srgbClr val="FF0000"/>
                </a:solidFill>
              </a:rPr>
              <a:t>UML</a:t>
            </a:r>
            <a:r>
              <a:rPr lang="en" dirty="0">
                <a:solidFill>
                  <a:srgbClr val="FF0000"/>
                </a:solidFill>
              </a:rPr>
              <a:t> </a:t>
            </a:r>
            <a:r>
              <a:rPr lang="en" dirty="0"/>
              <a:t>palette on the left. It may be all the way at the bottom.</a:t>
            </a:r>
            <a:endParaRPr dirty="0"/>
          </a:p>
          <a:p>
            <a:pPr marL="914400" lvl="1" indent="-298450" algn="l" rtl="0">
              <a:spcBef>
                <a:spcPts val="0"/>
              </a:spcBef>
              <a:spcAft>
                <a:spcPts val="0"/>
              </a:spcAft>
              <a:buSzPts val="1100"/>
              <a:buChar char="○"/>
            </a:pPr>
            <a:r>
              <a:rPr lang="en" dirty="0"/>
              <a:t>Click and drag the "</a:t>
            </a:r>
            <a:r>
              <a:rPr lang="en" b="1" i="1" dirty="0">
                <a:solidFill>
                  <a:srgbClr val="FF0000"/>
                </a:solidFill>
              </a:rPr>
              <a:t>Class</a:t>
            </a:r>
            <a:r>
              <a:rPr lang="en" dirty="0"/>
              <a:t>" shape into the drawing area. The shapes may be very hard to read, but when you mouse over each shape you will see a larger pop-up.</a:t>
            </a:r>
            <a:endParaRPr dirty="0"/>
          </a:p>
          <a:p>
            <a:pPr marL="914400" lvl="1" indent="-298450" algn="l" rtl="0">
              <a:spcBef>
                <a:spcPts val="0"/>
              </a:spcBef>
              <a:spcAft>
                <a:spcPts val="0"/>
              </a:spcAft>
              <a:buSzPts val="1100"/>
              <a:buChar char="○"/>
            </a:pPr>
            <a:r>
              <a:rPr lang="en" dirty="0"/>
              <a:t>Edit the new shape to change the name, list the fields, and list the operations. Don't forget to indicate visibility where appropriate!</a:t>
            </a:r>
            <a:endParaRPr dirty="0"/>
          </a:p>
          <a:p>
            <a:pPr marL="914400" lvl="1" indent="-298450" algn="l" rtl="0">
              <a:spcBef>
                <a:spcPts val="0"/>
              </a:spcBef>
              <a:spcAft>
                <a:spcPts val="0"/>
              </a:spcAft>
              <a:buSzPts val="1100"/>
              <a:buChar char="○"/>
            </a:pPr>
            <a:r>
              <a:rPr lang="en" dirty="0"/>
              <a:t>Refer to the "</a:t>
            </a:r>
            <a:r>
              <a:rPr lang="en" u="sng" dirty="0">
                <a:solidFill>
                  <a:schemeClr val="hlink"/>
                </a:solidFill>
                <a:hlinkClick r:id="rId3" action="ppaction://hlinksldjump"/>
              </a:rPr>
              <a:t>Closer Look</a:t>
            </a:r>
            <a:r>
              <a:rPr lang="en" dirty="0"/>
              <a:t>" slide while drawing!</a:t>
            </a:r>
            <a:endParaRPr dirty="0"/>
          </a:p>
          <a:p>
            <a:pPr marL="457200" lvl="0" indent="-311150" algn="l" rtl="0">
              <a:spcBef>
                <a:spcPts val="0"/>
              </a:spcBef>
              <a:spcAft>
                <a:spcPts val="0"/>
              </a:spcAft>
              <a:buSzPts val="1300"/>
              <a:buChar char="●"/>
            </a:pPr>
            <a:r>
              <a:rPr lang="en" dirty="0">
                <a:highlight>
                  <a:srgbClr val="FFFF00"/>
                </a:highlight>
              </a:rPr>
              <a:t>Once you are satisfied with your diagram, ask your instructor or a Course Assistant to check it over.</a:t>
            </a:r>
            <a:endParaRPr dirty="0">
              <a:highlight>
                <a:srgbClr val="FFFF00"/>
              </a:highlight>
            </a:endParaRPr>
          </a:p>
          <a:p>
            <a:pPr marL="457200" lvl="0" indent="-311150" algn="l" rtl="0">
              <a:spcBef>
                <a:spcPts val="0"/>
              </a:spcBef>
              <a:spcAft>
                <a:spcPts val="0"/>
              </a:spcAft>
              <a:buSzPts val="1300"/>
              <a:buChar char="●"/>
            </a:pPr>
            <a:r>
              <a:rPr lang="en" dirty="0"/>
              <a:t>Next, Draw a UML class diagram representing the </a:t>
            </a:r>
            <a:r>
              <a:rPr lang="en" dirty="0">
                <a:highlight>
                  <a:srgbClr val="FFFF00"/>
                </a:highlight>
                <a:latin typeface="Courier New"/>
                <a:ea typeface="Courier New"/>
                <a:cs typeface="Courier New"/>
                <a:sym typeface="Courier New"/>
              </a:rPr>
              <a:t>Ship</a:t>
            </a:r>
            <a:r>
              <a:rPr lang="en" dirty="0"/>
              <a:t> class.</a:t>
            </a:r>
            <a:endParaRPr dirty="0"/>
          </a:p>
        </p:txBody>
      </p:sp>
      <p:sp>
        <p:nvSpPr>
          <p:cNvPr id="834" name="Google Shape;834;p93"/>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First UML Class Diagram</a:t>
            </a:r>
            <a:endParaRPr/>
          </a:p>
        </p:txBody>
      </p:sp>
      <p:sp>
        <p:nvSpPr>
          <p:cNvPr id="835" name="Google Shape;835;p93"/>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2.16</a:t>
            </a:r>
            <a:endParaRPr/>
          </a:p>
        </p:txBody>
      </p:sp>
      <p:pic>
        <p:nvPicPr>
          <p:cNvPr id="836" name="Google Shape;836;p93"/>
          <p:cNvPicPr preferRelativeResize="0"/>
          <p:nvPr/>
        </p:nvPicPr>
        <p:blipFill>
          <a:blip r:embed="rId4">
            <a:alphaModFix/>
          </a:blip>
          <a:stretch>
            <a:fillRect/>
          </a:stretch>
        </p:blipFill>
        <p:spPr>
          <a:xfrm>
            <a:off x="189825" y="1918950"/>
            <a:ext cx="2981325" cy="23431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pic>
        <p:nvPicPr>
          <p:cNvPr id="841" name="Google Shape;841;p94"/>
          <p:cNvPicPr preferRelativeResize="0"/>
          <p:nvPr/>
        </p:nvPicPr>
        <p:blipFill>
          <a:blip r:embed="rId3">
            <a:alphaModFix/>
          </a:blip>
          <a:stretch>
            <a:fillRect/>
          </a:stretch>
        </p:blipFill>
        <p:spPr>
          <a:xfrm>
            <a:off x="315425" y="942924"/>
            <a:ext cx="3706500" cy="2015176"/>
          </a:xfrm>
          <a:prstGeom prst="rect">
            <a:avLst/>
          </a:prstGeom>
          <a:noFill/>
          <a:ln>
            <a:noFill/>
          </a:ln>
        </p:spPr>
      </p:pic>
      <p:sp>
        <p:nvSpPr>
          <p:cNvPr id="842" name="Google Shape;842;p9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49</a:t>
            </a:fld>
            <a:endParaRPr/>
          </a:p>
        </p:txBody>
      </p:sp>
      <p:sp>
        <p:nvSpPr>
          <p:cNvPr id="843" name="Google Shape;843;p94"/>
          <p:cNvSpPr txBox="1">
            <a:spLocks noGrp="1"/>
          </p:cNvSpPr>
          <p:nvPr>
            <p:ph type="title"/>
          </p:nvPr>
        </p:nvSpPr>
        <p:spPr>
          <a:xfrm>
            <a:off x="311725" y="1199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UML - Relationships</a:t>
            </a:r>
            <a:endParaRPr sz="2700"/>
          </a:p>
        </p:txBody>
      </p:sp>
      <p:sp>
        <p:nvSpPr>
          <p:cNvPr id="844" name="Google Shape;844;p94"/>
          <p:cNvSpPr txBox="1">
            <a:spLocks noGrp="1"/>
          </p:cNvSpPr>
          <p:nvPr>
            <p:ph type="body" idx="1"/>
          </p:nvPr>
        </p:nvSpPr>
        <p:spPr>
          <a:xfrm>
            <a:off x="4519575" y="100850"/>
            <a:ext cx="4314900" cy="4794600"/>
          </a:xfrm>
          <a:prstGeom prst="rect">
            <a:avLst/>
          </a:prstGeom>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 sz="1200" dirty="0">
                <a:highlight>
                  <a:srgbClr val="FFFF00"/>
                </a:highlight>
              </a:rPr>
              <a:t>In addition to describing individual classes, UML is used to describe the relationships that exist between classes.</a:t>
            </a:r>
            <a:endParaRPr sz="1200" dirty="0">
              <a:highlight>
                <a:srgbClr val="FFFF00"/>
              </a:highlight>
            </a:endParaRPr>
          </a:p>
          <a:p>
            <a:pPr marL="914400" lvl="1" indent="-292100" algn="l" rtl="0">
              <a:spcBef>
                <a:spcPts val="0"/>
              </a:spcBef>
              <a:spcAft>
                <a:spcPts val="0"/>
              </a:spcAft>
              <a:buSzPts val="1000"/>
              <a:buChar char="○"/>
            </a:pPr>
            <a:r>
              <a:rPr lang="en" sz="1000" dirty="0"/>
              <a:t>A relationship between two classes indicates that the classes use each other in some way.</a:t>
            </a:r>
            <a:endParaRPr sz="1000" dirty="0"/>
          </a:p>
          <a:p>
            <a:pPr marL="457200" lvl="0" indent="-304800" algn="l" rtl="0">
              <a:spcBef>
                <a:spcPts val="1000"/>
              </a:spcBef>
              <a:spcAft>
                <a:spcPts val="0"/>
              </a:spcAft>
              <a:buSzPts val="1200"/>
              <a:buChar char="●"/>
            </a:pPr>
            <a:r>
              <a:rPr lang="en" sz="1200" dirty="0"/>
              <a:t>Relationships are represented using a line that connects the two classes.</a:t>
            </a:r>
            <a:endParaRPr sz="1200" dirty="0"/>
          </a:p>
          <a:p>
            <a:pPr marL="914400" lvl="1" indent="-292100" algn="l" rtl="0">
              <a:spcBef>
                <a:spcPts val="0"/>
              </a:spcBef>
              <a:spcAft>
                <a:spcPts val="0"/>
              </a:spcAft>
              <a:buSzPts val="1000"/>
              <a:buChar char="○"/>
            </a:pPr>
            <a:r>
              <a:rPr lang="en" sz="1000" dirty="0">
                <a:highlight>
                  <a:srgbClr val="FFFF00"/>
                </a:highlight>
              </a:rPr>
              <a:t>The lines may be solid or dashed.</a:t>
            </a:r>
            <a:endParaRPr sz="1000" dirty="0">
              <a:highlight>
                <a:srgbClr val="FFFF00"/>
              </a:highlight>
            </a:endParaRPr>
          </a:p>
          <a:p>
            <a:pPr marL="914400" lvl="1" indent="-292100" algn="l" rtl="0">
              <a:spcBef>
                <a:spcPts val="0"/>
              </a:spcBef>
              <a:spcAft>
                <a:spcPts val="0"/>
              </a:spcAft>
              <a:buSzPts val="1000"/>
              <a:buChar char="○"/>
            </a:pPr>
            <a:r>
              <a:rPr lang="en" sz="1000" dirty="0">
                <a:highlight>
                  <a:srgbClr val="FFFF00"/>
                </a:highlight>
              </a:rPr>
              <a:t>A solid line indicates a stronger relationship.</a:t>
            </a:r>
            <a:endParaRPr sz="1000" dirty="0">
              <a:highlight>
                <a:srgbClr val="FFFF00"/>
              </a:highlight>
            </a:endParaRPr>
          </a:p>
          <a:p>
            <a:pPr marL="457200" lvl="0" indent="-304800" algn="l" rtl="0">
              <a:spcBef>
                <a:spcPts val="1000"/>
              </a:spcBef>
              <a:spcAft>
                <a:spcPts val="0"/>
              </a:spcAft>
              <a:buSzPts val="1200"/>
              <a:buChar char="●"/>
            </a:pPr>
            <a:r>
              <a:rPr lang="en" sz="1200" dirty="0"/>
              <a:t>Relationships may also include an arrow that indicates </a:t>
            </a:r>
            <a:r>
              <a:rPr lang="en" sz="1200" b="1" i="1" dirty="0">
                <a:solidFill>
                  <a:srgbClr val="FF0000"/>
                </a:solidFill>
                <a:highlight>
                  <a:srgbClr val="FFFF00"/>
                </a:highlight>
              </a:rPr>
              <a:t>directionality</a:t>
            </a:r>
            <a:r>
              <a:rPr lang="en" sz="1200" dirty="0"/>
              <a:t>.</a:t>
            </a:r>
            <a:endParaRPr sz="1200" dirty="0"/>
          </a:p>
          <a:p>
            <a:pPr marL="914400" lvl="1" indent="-292100" algn="l" rtl="0">
              <a:spcBef>
                <a:spcPts val="0"/>
              </a:spcBef>
              <a:spcAft>
                <a:spcPts val="0"/>
              </a:spcAft>
              <a:buSzPts val="1000"/>
              <a:buChar char="○"/>
            </a:pPr>
            <a:r>
              <a:rPr lang="en" sz="1000" dirty="0"/>
              <a:t>The arrow points </a:t>
            </a:r>
            <a:r>
              <a:rPr lang="en" sz="1000" b="1" i="1" dirty="0">
                <a:solidFill>
                  <a:srgbClr val="FF0000"/>
                </a:solidFill>
                <a:highlight>
                  <a:srgbClr val="FFFF00"/>
                </a:highlight>
              </a:rPr>
              <a:t>from</a:t>
            </a:r>
            <a:r>
              <a:rPr lang="en" sz="1000" dirty="0">
                <a:solidFill>
                  <a:srgbClr val="FF0000"/>
                </a:solidFill>
                <a:highlight>
                  <a:srgbClr val="FFFF00"/>
                </a:highlight>
              </a:rPr>
              <a:t> </a:t>
            </a:r>
            <a:r>
              <a:rPr lang="en" sz="1000" dirty="0">
                <a:highlight>
                  <a:srgbClr val="FFFF00"/>
                </a:highlight>
              </a:rPr>
              <a:t>a class </a:t>
            </a:r>
            <a:r>
              <a:rPr lang="en" sz="1000" b="1" i="1" dirty="0">
                <a:solidFill>
                  <a:srgbClr val="FF0000"/>
                </a:solidFill>
                <a:highlight>
                  <a:srgbClr val="FFFF00"/>
                </a:highlight>
              </a:rPr>
              <a:t>to</a:t>
            </a:r>
            <a:r>
              <a:rPr lang="en" sz="1000" dirty="0">
                <a:highlight>
                  <a:srgbClr val="FFFF00"/>
                </a:highlight>
              </a:rPr>
              <a:t> </a:t>
            </a:r>
            <a:r>
              <a:rPr lang="en" sz="1000" dirty="0"/>
              <a:t>the class that</a:t>
            </a:r>
            <a:r>
              <a:rPr lang="en" sz="1000" dirty="0">
                <a:highlight>
                  <a:srgbClr val="FFFF00"/>
                </a:highlight>
              </a:rPr>
              <a:t> it uses.</a:t>
            </a:r>
            <a:endParaRPr sz="1000" dirty="0">
              <a:highlight>
                <a:srgbClr val="FFFF00"/>
              </a:highlight>
            </a:endParaRPr>
          </a:p>
          <a:p>
            <a:pPr marL="914400" lvl="1" indent="-292100" algn="l" rtl="0">
              <a:spcBef>
                <a:spcPts val="0"/>
              </a:spcBef>
              <a:spcAft>
                <a:spcPts val="0"/>
              </a:spcAft>
              <a:buSzPts val="1000"/>
              <a:buChar char="○"/>
            </a:pPr>
            <a:r>
              <a:rPr lang="en" sz="1000" dirty="0"/>
              <a:t>If there is no arrow, the relationship is </a:t>
            </a:r>
            <a:r>
              <a:rPr lang="en" sz="1000" b="1" i="1" dirty="0">
                <a:solidFill>
                  <a:srgbClr val="FF0000"/>
                </a:solidFill>
              </a:rPr>
              <a:t>undirected</a:t>
            </a:r>
            <a:r>
              <a:rPr lang="en" sz="1000" dirty="0">
                <a:solidFill>
                  <a:srgbClr val="FF0000"/>
                </a:solidFill>
              </a:rPr>
              <a:t> </a:t>
            </a:r>
            <a:r>
              <a:rPr lang="en" sz="1000" dirty="0"/>
              <a:t>meaning that the classes </a:t>
            </a:r>
            <a:r>
              <a:rPr lang="en" sz="1000" b="1" i="1" dirty="0">
                <a:solidFill>
                  <a:srgbClr val="FF0000"/>
                </a:solidFill>
              </a:rPr>
              <a:t>use</a:t>
            </a:r>
            <a:r>
              <a:rPr lang="en" sz="1000" dirty="0">
                <a:solidFill>
                  <a:srgbClr val="FF0000"/>
                </a:solidFill>
              </a:rPr>
              <a:t> </a:t>
            </a:r>
            <a:r>
              <a:rPr lang="en" sz="1000" b="1" i="1" dirty="0">
                <a:solidFill>
                  <a:srgbClr val="FF0000"/>
                </a:solidFill>
              </a:rPr>
              <a:t>each other</a:t>
            </a:r>
            <a:r>
              <a:rPr lang="en" sz="1000" dirty="0"/>
              <a:t>.</a:t>
            </a:r>
            <a:endParaRPr sz="1000" dirty="0"/>
          </a:p>
          <a:p>
            <a:pPr marL="457200" lvl="0" indent="-304800" algn="l" rtl="0">
              <a:spcBef>
                <a:spcPts val="1000"/>
              </a:spcBef>
              <a:spcAft>
                <a:spcPts val="0"/>
              </a:spcAft>
              <a:buSzPts val="1200"/>
              <a:buChar char="●"/>
            </a:pPr>
            <a:r>
              <a:rPr lang="en" sz="1200" dirty="0"/>
              <a:t>Class diagrams and relationships form a more complete picture of how all the components relate to each other.</a:t>
            </a:r>
            <a:endParaRPr sz="1200" dirty="0"/>
          </a:p>
          <a:p>
            <a:pPr marL="914400" lvl="1" indent="-292100" algn="l" rtl="0">
              <a:spcBef>
                <a:spcPts val="0"/>
              </a:spcBef>
              <a:spcAft>
                <a:spcPts val="0"/>
              </a:spcAft>
              <a:buSzPts val="1000"/>
              <a:buChar char="○"/>
            </a:pPr>
            <a:r>
              <a:rPr lang="en" sz="1000" dirty="0">
                <a:highlight>
                  <a:srgbClr val="FFFF00"/>
                </a:highlight>
              </a:rPr>
              <a:t>The association syntax is very important, using the wrong ones is like using the wrong grammar or punctuation in a sentence; </a:t>
            </a:r>
            <a:r>
              <a:rPr lang="en" sz="1000" dirty="0"/>
              <a:t>it totally changes the meaning, e.g. "</a:t>
            </a:r>
            <a:r>
              <a:rPr lang="en" sz="1000" dirty="0">
                <a:highlight>
                  <a:srgbClr val="FFFF00"/>
                </a:highlight>
              </a:rPr>
              <a:t>Let's eat Grandma!" vs "Let's eat, Grandma."</a:t>
            </a:r>
            <a:endParaRPr sz="1000" dirty="0">
              <a:highlight>
                <a:srgbClr val="FFFF00"/>
              </a:highlight>
            </a:endParaRPr>
          </a:p>
        </p:txBody>
      </p:sp>
      <p:sp>
        <p:nvSpPr>
          <p:cNvPr id="845" name="Google Shape;845;p94"/>
          <p:cNvSpPr txBox="1">
            <a:spLocks noGrp="1"/>
          </p:cNvSpPr>
          <p:nvPr>
            <p:ph type="body" idx="3"/>
          </p:nvPr>
        </p:nvSpPr>
        <p:spPr>
          <a:xfrm>
            <a:off x="315425" y="30990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UML includes several different kinds of associations, each of which has a different meaning.</a:t>
            </a:r>
            <a:endParaRPr sz="1200" dirty="0"/>
          </a:p>
        </p:txBody>
      </p:sp>
      <p:sp>
        <p:nvSpPr>
          <p:cNvPr id="846" name="Google Shape;846;p94"/>
          <p:cNvSpPr txBox="1">
            <a:spLocks noGrp="1"/>
          </p:cNvSpPr>
          <p:nvPr>
            <p:ph type="body" idx="3"/>
          </p:nvPr>
        </p:nvSpPr>
        <p:spPr>
          <a:xfrm>
            <a:off x="2420950" y="2382875"/>
            <a:ext cx="1262700" cy="384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 relationship.</a:t>
            </a:r>
            <a:endParaRPr/>
          </a:p>
        </p:txBody>
      </p:sp>
      <p:cxnSp>
        <p:nvCxnSpPr>
          <p:cNvPr id="847" name="Google Shape;847;p94"/>
          <p:cNvCxnSpPr>
            <a:stCxn id="846" idx="1"/>
          </p:cNvCxnSpPr>
          <p:nvPr/>
        </p:nvCxnSpPr>
        <p:spPr>
          <a:xfrm rot="10800000">
            <a:off x="2148850" y="1515725"/>
            <a:ext cx="272100" cy="1059600"/>
          </a:xfrm>
          <a:prstGeom prst="straightConnector1">
            <a:avLst/>
          </a:prstGeom>
          <a:noFill/>
          <a:ln w="19050" cap="flat" cmpd="sng">
            <a:solidFill>
              <a:srgbClr val="FF0000"/>
            </a:solidFill>
            <a:prstDash val="solid"/>
            <a:round/>
            <a:headEnd type="none" w="med" len="med"/>
            <a:tailEnd type="triangle" w="med" len="med"/>
          </a:ln>
        </p:spPr>
      </p:cxnSp>
      <p:sp>
        <p:nvSpPr>
          <p:cNvPr id="848" name="Google Shape;848;p94"/>
          <p:cNvSpPr txBox="1">
            <a:spLocks noGrp="1"/>
          </p:cNvSpPr>
          <p:nvPr>
            <p:ph type="body" idx="3"/>
          </p:nvPr>
        </p:nvSpPr>
        <p:spPr>
          <a:xfrm>
            <a:off x="315425" y="39372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Professional software developers are expected to be able to implement code based on UML class diagrams.</a:t>
            </a:r>
            <a:endParaRPr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4">
                                            <p:txEl>
                                              <p:pRg st="0" end="0"/>
                                            </p:txEl>
                                          </p:spTgt>
                                        </p:tgtEl>
                                        <p:attrNameLst>
                                          <p:attrName>style.visibility</p:attrName>
                                        </p:attrNameLst>
                                      </p:cBhvr>
                                      <p:to>
                                        <p:strVal val="visible"/>
                                      </p:to>
                                    </p:set>
                                    <p:animEffect transition="in" filter="fade">
                                      <p:cBhvr>
                                        <p:cTn id="7" dur="1000"/>
                                        <p:tgtEl>
                                          <p:spTgt spid="8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4">
                                            <p:txEl>
                                              <p:pRg st="1" end="1"/>
                                            </p:txEl>
                                          </p:spTgt>
                                        </p:tgtEl>
                                        <p:attrNameLst>
                                          <p:attrName>style.visibility</p:attrName>
                                        </p:attrNameLst>
                                      </p:cBhvr>
                                      <p:to>
                                        <p:strVal val="visible"/>
                                      </p:to>
                                    </p:set>
                                    <p:animEffect transition="in" filter="fade">
                                      <p:cBhvr>
                                        <p:cTn id="12" dur="1000"/>
                                        <p:tgtEl>
                                          <p:spTgt spid="8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44">
                                            <p:txEl>
                                              <p:pRg st="2" end="2"/>
                                            </p:txEl>
                                          </p:spTgt>
                                        </p:tgtEl>
                                        <p:attrNameLst>
                                          <p:attrName>style.visibility</p:attrName>
                                        </p:attrNameLst>
                                      </p:cBhvr>
                                      <p:to>
                                        <p:strVal val="visible"/>
                                      </p:to>
                                    </p:set>
                                    <p:animEffect transition="in" filter="fade">
                                      <p:cBhvr>
                                        <p:cTn id="17" dur="1000"/>
                                        <p:tgtEl>
                                          <p:spTgt spid="8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44">
                                            <p:txEl>
                                              <p:pRg st="3" end="3"/>
                                            </p:txEl>
                                          </p:spTgt>
                                        </p:tgtEl>
                                        <p:attrNameLst>
                                          <p:attrName>style.visibility</p:attrName>
                                        </p:attrNameLst>
                                      </p:cBhvr>
                                      <p:to>
                                        <p:strVal val="visible"/>
                                      </p:to>
                                    </p:set>
                                    <p:animEffect transition="in" filter="fade">
                                      <p:cBhvr>
                                        <p:cTn id="22" dur="1000"/>
                                        <p:tgtEl>
                                          <p:spTgt spid="8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44">
                                            <p:txEl>
                                              <p:pRg st="4" end="4"/>
                                            </p:txEl>
                                          </p:spTgt>
                                        </p:tgtEl>
                                        <p:attrNameLst>
                                          <p:attrName>style.visibility</p:attrName>
                                        </p:attrNameLst>
                                      </p:cBhvr>
                                      <p:to>
                                        <p:strVal val="visible"/>
                                      </p:to>
                                    </p:set>
                                    <p:animEffect transition="in" filter="fade">
                                      <p:cBhvr>
                                        <p:cTn id="27" dur="1000"/>
                                        <p:tgtEl>
                                          <p:spTgt spid="84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44">
                                            <p:txEl>
                                              <p:pRg st="5" end="5"/>
                                            </p:txEl>
                                          </p:spTgt>
                                        </p:tgtEl>
                                        <p:attrNameLst>
                                          <p:attrName>style.visibility</p:attrName>
                                        </p:attrNameLst>
                                      </p:cBhvr>
                                      <p:to>
                                        <p:strVal val="visible"/>
                                      </p:to>
                                    </p:set>
                                    <p:animEffect transition="in" filter="fade">
                                      <p:cBhvr>
                                        <p:cTn id="32" dur="1000"/>
                                        <p:tgtEl>
                                          <p:spTgt spid="84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44">
                                            <p:txEl>
                                              <p:pRg st="6" end="6"/>
                                            </p:txEl>
                                          </p:spTgt>
                                        </p:tgtEl>
                                        <p:attrNameLst>
                                          <p:attrName>style.visibility</p:attrName>
                                        </p:attrNameLst>
                                      </p:cBhvr>
                                      <p:to>
                                        <p:strVal val="visible"/>
                                      </p:to>
                                    </p:set>
                                    <p:animEffect transition="in" filter="fade">
                                      <p:cBhvr>
                                        <p:cTn id="37" dur="1000"/>
                                        <p:tgtEl>
                                          <p:spTgt spid="84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844">
                                            <p:txEl>
                                              <p:pRg st="7" end="7"/>
                                            </p:txEl>
                                          </p:spTgt>
                                        </p:tgtEl>
                                        <p:attrNameLst>
                                          <p:attrName>style.visibility</p:attrName>
                                        </p:attrNameLst>
                                      </p:cBhvr>
                                      <p:to>
                                        <p:strVal val="visible"/>
                                      </p:to>
                                    </p:set>
                                    <p:animEffect transition="in" filter="fade">
                                      <p:cBhvr>
                                        <p:cTn id="42" dur="1000"/>
                                        <p:tgtEl>
                                          <p:spTgt spid="84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844">
                                            <p:txEl>
                                              <p:pRg st="8" end="8"/>
                                            </p:txEl>
                                          </p:spTgt>
                                        </p:tgtEl>
                                        <p:attrNameLst>
                                          <p:attrName>style.visibility</p:attrName>
                                        </p:attrNameLst>
                                      </p:cBhvr>
                                      <p:to>
                                        <p:strVal val="visible"/>
                                      </p:to>
                                    </p:set>
                                    <p:animEffect transition="in" filter="fade">
                                      <p:cBhvr>
                                        <p:cTn id="47" dur="1000"/>
                                        <p:tgtEl>
                                          <p:spTgt spid="84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44">
                                            <p:txEl>
                                              <p:pRg st="9" end="9"/>
                                            </p:txEl>
                                          </p:spTgt>
                                        </p:tgtEl>
                                        <p:attrNameLst>
                                          <p:attrName>style.visibility</p:attrName>
                                        </p:attrNameLst>
                                      </p:cBhvr>
                                      <p:to>
                                        <p:strVal val="visible"/>
                                      </p:to>
                                    </p:set>
                                    <p:animEffect transition="in" filter="fade">
                                      <p:cBhvr>
                                        <p:cTn id="52" dur="1000"/>
                                        <p:tgtEl>
                                          <p:spTgt spid="84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846"/>
                                        </p:tgtEl>
                                        <p:attrNameLst>
                                          <p:attrName>style.visibility</p:attrName>
                                        </p:attrNameLst>
                                      </p:cBhvr>
                                      <p:to>
                                        <p:strVal val="visible"/>
                                      </p:to>
                                    </p:set>
                                    <p:animEffect transition="in" filter="fade">
                                      <p:cBhvr>
                                        <p:cTn id="57" dur="1000"/>
                                        <p:tgtEl>
                                          <p:spTgt spid="846"/>
                                        </p:tgtEl>
                                      </p:cBhvr>
                                    </p:animEffect>
                                  </p:childTnLst>
                                </p:cTn>
                              </p:par>
                            </p:childTnLst>
                          </p:cTn>
                        </p:par>
                        <p:par>
                          <p:cTn id="58" fill="hold">
                            <p:stCondLst>
                              <p:cond delay="1000"/>
                            </p:stCondLst>
                            <p:childTnLst>
                              <p:par>
                                <p:cTn id="59" presetID="10" presetClass="entr" presetSubtype="0" fill="hold" nodeType="afterEffect">
                                  <p:stCondLst>
                                    <p:cond delay="0"/>
                                  </p:stCondLst>
                                  <p:childTnLst>
                                    <p:set>
                                      <p:cBhvr>
                                        <p:cTn id="60" dur="1" fill="hold">
                                          <p:stCondLst>
                                            <p:cond delay="0"/>
                                          </p:stCondLst>
                                        </p:cTn>
                                        <p:tgtEl>
                                          <p:spTgt spid="847"/>
                                        </p:tgtEl>
                                        <p:attrNameLst>
                                          <p:attrName>style.visibility</p:attrName>
                                        </p:attrNameLst>
                                      </p:cBhvr>
                                      <p:to>
                                        <p:strVal val="visible"/>
                                      </p:to>
                                    </p:set>
                                    <p:animEffect transition="in" filter="fade">
                                      <p:cBhvr>
                                        <p:cTn id="61" dur="1000"/>
                                        <p:tgtEl>
                                          <p:spTgt spid="84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845"/>
                                        </p:tgtEl>
                                        <p:attrNameLst>
                                          <p:attrName>style.visibility</p:attrName>
                                        </p:attrNameLst>
                                      </p:cBhvr>
                                      <p:to>
                                        <p:strVal val="visible"/>
                                      </p:to>
                                    </p:set>
                                    <p:animEffect transition="in" filter="fade">
                                      <p:cBhvr>
                                        <p:cTn id="66" dur="1000"/>
                                        <p:tgtEl>
                                          <p:spTgt spid="845"/>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8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pic>
        <p:nvPicPr>
          <p:cNvPr id="853" name="Google Shape;853;p95"/>
          <p:cNvPicPr preferRelativeResize="0"/>
          <p:nvPr/>
        </p:nvPicPr>
        <p:blipFill>
          <a:blip r:embed="rId3">
            <a:alphaModFix/>
          </a:blip>
          <a:stretch>
            <a:fillRect/>
          </a:stretch>
        </p:blipFill>
        <p:spPr>
          <a:xfrm>
            <a:off x="74826" y="3299399"/>
            <a:ext cx="2904127" cy="1075600"/>
          </a:xfrm>
          <a:prstGeom prst="rect">
            <a:avLst/>
          </a:prstGeom>
          <a:noFill/>
          <a:ln>
            <a:noFill/>
          </a:ln>
        </p:spPr>
      </p:pic>
      <p:sp>
        <p:nvSpPr>
          <p:cNvPr id="854" name="Google Shape;854;p95"/>
          <p:cNvSpPr txBox="1">
            <a:spLocks noGrp="1"/>
          </p:cNvSpPr>
          <p:nvPr>
            <p:ph type="title"/>
          </p:nvPr>
        </p:nvSpPr>
        <p:spPr>
          <a:xfrm>
            <a:off x="311700" y="105275"/>
            <a:ext cx="85206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Basic UML Relationships</a:t>
            </a:r>
            <a:endParaRPr/>
          </a:p>
        </p:txBody>
      </p:sp>
      <p:sp>
        <p:nvSpPr>
          <p:cNvPr id="855" name="Google Shape;855;p95"/>
          <p:cNvSpPr txBox="1">
            <a:spLocks noGrp="1"/>
          </p:cNvSpPr>
          <p:nvPr>
            <p:ph type="sldNum" idx="12"/>
          </p:nvPr>
        </p:nvSpPr>
        <p:spPr>
          <a:xfrm>
            <a:off x="8472458" y="4663217"/>
            <a:ext cx="548700" cy="3387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
              <a:t>50</a:t>
            </a:fld>
            <a:endParaRPr/>
          </a:p>
        </p:txBody>
      </p:sp>
      <p:pic>
        <p:nvPicPr>
          <p:cNvPr id="856" name="Google Shape;856;p95"/>
          <p:cNvPicPr preferRelativeResize="0"/>
          <p:nvPr/>
        </p:nvPicPr>
        <p:blipFill>
          <a:blip r:embed="rId4">
            <a:alphaModFix/>
          </a:blip>
          <a:stretch>
            <a:fillRect/>
          </a:stretch>
        </p:blipFill>
        <p:spPr>
          <a:xfrm>
            <a:off x="89811" y="748473"/>
            <a:ext cx="2939699" cy="1126750"/>
          </a:xfrm>
          <a:prstGeom prst="rect">
            <a:avLst/>
          </a:prstGeom>
          <a:noFill/>
          <a:ln>
            <a:noFill/>
          </a:ln>
        </p:spPr>
      </p:pic>
      <p:sp>
        <p:nvSpPr>
          <p:cNvPr id="857" name="Google Shape;857;p95"/>
          <p:cNvSpPr txBox="1"/>
          <p:nvPr/>
        </p:nvSpPr>
        <p:spPr>
          <a:xfrm>
            <a:off x="200811" y="1875223"/>
            <a:ext cx="27177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An </a:t>
            </a:r>
            <a:r>
              <a:rPr lang="en" sz="1100" b="1" i="1">
                <a:solidFill>
                  <a:srgbClr val="FF0000"/>
                </a:solidFill>
                <a:latin typeface="Roboto"/>
                <a:ea typeface="Roboto"/>
                <a:cs typeface="Roboto"/>
                <a:sym typeface="Roboto"/>
              </a:rPr>
              <a:t>association</a:t>
            </a:r>
            <a:r>
              <a:rPr lang="en" sz="1100">
                <a:solidFill>
                  <a:srgbClr val="FF0000"/>
                </a:solidFill>
                <a:latin typeface="Roboto"/>
                <a:ea typeface="Roboto"/>
                <a:cs typeface="Roboto"/>
                <a:sym typeface="Roboto"/>
              </a:rPr>
              <a:t> </a:t>
            </a:r>
            <a:r>
              <a:rPr lang="en" sz="1100">
                <a:latin typeface="Roboto"/>
                <a:ea typeface="Roboto"/>
                <a:cs typeface="Roboto"/>
                <a:sym typeface="Roboto"/>
              </a:rPr>
              <a:t>usually indicates that class </a:t>
            </a:r>
            <a:r>
              <a:rPr lang="en" sz="1100" b="1" i="1">
                <a:solidFill>
                  <a:srgbClr val="FF0000"/>
                </a:solidFill>
                <a:latin typeface="Roboto"/>
                <a:ea typeface="Roboto"/>
                <a:cs typeface="Roboto"/>
                <a:sym typeface="Roboto"/>
              </a:rPr>
              <a:t>A</a:t>
            </a:r>
            <a:r>
              <a:rPr lang="en" sz="1100">
                <a:latin typeface="Roboto"/>
                <a:ea typeface="Roboto"/>
                <a:cs typeface="Roboto"/>
                <a:sym typeface="Roboto"/>
              </a:rPr>
              <a:t> has a </a:t>
            </a:r>
            <a:r>
              <a:rPr lang="en" sz="1100" b="1" i="1">
                <a:solidFill>
                  <a:srgbClr val="FF0000"/>
                </a:solidFill>
                <a:latin typeface="Roboto"/>
                <a:ea typeface="Roboto"/>
                <a:cs typeface="Roboto"/>
                <a:sym typeface="Roboto"/>
              </a:rPr>
              <a:t>field </a:t>
            </a:r>
            <a:r>
              <a:rPr lang="en" sz="1100">
                <a:latin typeface="Roboto"/>
                <a:ea typeface="Roboto"/>
                <a:cs typeface="Roboto"/>
                <a:sym typeface="Roboto"/>
              </a:rPr>
              <a:t>of type </a:t>
            </a:r>
            <a:r>
              <a:rPr lang="en" sz="1100" b="1" i="1">
                <a:solidFill>
                  <a:srgbClr val="FF0000"/>
                </a:solidFill>
                <a:latin typeface="Roboto"/>
                <a:ea typeface="Roboto"/>
                <a:cs typeface="Roboto"/>
                <a:sym typeface="Roboto"/>
              </a:rPr>
              <a:t>B</a:t>
            </a:r>
            <a:r>
              <a:rPr lang="en" sz="1100">
                <a:latin typeface="Roboto"/>
                <a:ea typeface="Roboto"/>
                <a:cs typeface="Roboto"/>
                <a:sym typeface="Roboto"/>
              </a:rPr>
              <a:t>. </a:t>
            </a:r>
            <a:endParaRPr sz="1100">
              <a:latin typeface="Roboto"/>
              <a:ea typeface="Roboto"/>
              <a:cs typeface="Roboto"/>
              <a:sym typeface="Roboto"/>
            </a:endParaRPr>
          </a:p>
        </p:txBody>
      </p:sp>
      <p:sp>
        <p:nvSpPr>
          <p:cNvPr id="858" name="Google Shape;858;p95"/>
          <p:cNvSpPr txBox="1"/>
          <p:nvPr/>
        </p:nvSpPr>
        <p:spPr>
          <a:xfrm>
            <a:off x="200811" y="2490473"/>
            <a:ext cx="2717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t>Note the </a:t>
            </a:r>
            <a:r>
              <a:rPr lang="en" sz="1100" b="1" i="1">
                <a:solidFill>
                  <a:srgbClr val="FF0000"/>
                </a:solidFill>
              </a:rPr>
              <a:t>solid line</a:t>
            </a:r>
            <a:r>
              <a:rPr lang="en" sz="1100"/>
              <a:t> and that the arrow points </a:t>
            </a:r>
            <a:r>
              <a:rPr lang="en" sz="1100" b="1" i="1">
                <a:solidFill>
                  <a:srgbClr val="FF0000"/>
                </a:solidFill>
              </a:rPr>
              <a:t>from </a:t>
            </a:r>
            <a:r>
              <a:rPr lang="en" sz="1100"/>
              <a:t>A </a:t>
            </a:r>
            <a:r>
              <a:rPr lang="en" sz="1100" b="1" i="1">
                <a:solidFill>
                  <a:srgbClr val="FF0000"/>
                </a:solidFill>
              </a:rPr>
              <a:t>to</a:t>
            </a:r>
            <a:r>
              <a:rPr lang="en" sz="1100"/>
              <a:t> B because A needs B (not the other way around).</a:t>
            </a:r>
            <a:endParaRPr sz="1100"/>
          </a:p>
        </p:txBody>
      </p:sp>
      <p:sp>
        <p:nvSpPr>
          <p:cNvPr id="859" name="Google Shape;859;p95"/>
          <p:cNvSpPr txBox="1"/>
          <p:nvPr/>
        </p:nvSpPr>
        <p:spPr>
          <a:xfrm>
            <a:off x="3278975" y="1845275"/>
            <a:ext cx="2770500" cy="861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A </a:t>
            </a:r>
            <a:r>
              <a:rPr lang="en" sz="1100" b="1" i="1" dirty="0">
                <a:solidFill>
                  <a:srgbClr val="FF0000"/>
                </a:solidFill>
                <a:latin typeface="Roboto"/>
                <a:ea typeface="Roboto"/>
                <a:cs typeface="Roboto"/>
                <a:sym typeface="Roboto"/>
              </a:rPr>
              <a:t>dependency</a:t>
            </a:r>
            <a:r>
              <a:rPr lang="en" sz="1100" dirty="0">
                <a:solidFill>
                  <a:srgbClr val="FF0000"/>
                </a:solidFill>
                <a:latin typeface="Roboto"/>
                <a:ea typeface="Roboto"/>
                <a:cs typeface="Roboto"/>
                <a:sym typeface="Roboto"/>
              </a:rPr>
              <a:t> </a:t>
            </a:r>
            <a:r>
              <a:rPr lang="en" sz="1100" dirty="0">
                <a:latin typeface="Roboto"/>
                <a:ea typeface="Roboto"/>
                <a:cs typeface="Roboto"/>
                <a:sym typeface="Roboto"/>
              </a:rPr>
              <a:t>is weaker than an association and indicates that </a:t>
            </a:r>
            <a:r>
              <a:rPr lang="en" sz="1100" b="1" i="1" dirty="0">
                <a:solidFill>
                  <a:srgbClr val="FF0000"/>
                </a:solidFill>
                <a:latin typeface="Roboto"/>
                <a:ea typeface="Roboto"/>
                <a:cs typeface="Roboto"/>
                <a:sym typeface="Roboto"/>
              </a:rPr>
              <a:t>A</a:t>
            </a:r>
            <a:r>
              <a:rPr lang="en" sz="1100" dirty="0">
                <a:solidFill>
                  <a:srgbClr val="FF0000"/>
                </a:solidFill>
                <a:latin typeface="Roboto"/>
                <a:ea typeface="Roboto"/>
                <a:cs typeface="Roboto"/>
                <a:sym typeface="Roboto"/>
              </a:rPr>
              <a:t> </a:t>
            </a:r>
            <a:r>
              <a:rPr lang="en" sz="1100" b="1" i="1" dirty="0">
                <a:solidFill>
                  <a:srgbClr val="FF0000"/>
                </a:solidFill>
                <a:latin typeface="Roboto"/>
                <a:ea typeface="Roboto"/>
                <a:cs typeface="Roboto"/>
                <a:sym typeface="Roboto"/>
              </a:rPr>
              <a:t>uses</a:t>
            </a:r>
            <a:r>
              <a:rPr lang="en" sz="1100" dirty="0">
                <a:solidFill>
                  <a:srgbClr val="FF0000"/>
                </a:solidFill>
                <a:latin typeface="Roboto"/>
                <a:ea typeface="Roboto"/>
                <a:cs typeface="Roboto"/>
                <a:sym typeface="Roboto"/>
              </a:rPr>
              <a:t> </a:t>
            </a:r>
            <a:r>
              <a:rPr lang="en" sz="1100" b="1" i="1" dirty="0">
                <a:solidFill>
                  <a:srgbClr val="FF0000"/>
                </a:solidFill>
                <a:latin typeface="Roboto"/>
                <a:ea typeface="Roboto"/>
                <a:cs typeface="Roboto"/>
                <a:sym typeface="Roboto"/>
              </a:rPr>
              <a:t>B</a:t>
            </a:r>
            <a:r>
              <a:rPr lang="en" sz="1100" dirty="0">
                <a:latin typeface="Roboto"/>
                <a:ea typeface="Roboto"/>
                <a:cs typeface="Roboto"/>
                <a:sym typeface="Roboto"/>
              </a:rPr>
              <a:t> in some way, e.g. as a </a:t>
            </a:r>
            <a:r>
              <a:rPr lang="en" sz="1100" b="1" i="1" dirty="0">
                <a:solidFill>
                  <a:srgbClr val="FF0000"/>
                </a:solidFill>
                <a:highlight>
                  <a:srgbClr val="FFFF00"/>
                </a:highlight>
                <a:latin typeface="Roboto"/>
                <a:ea typeface="Roboto"/>
                <a:cs typeface="Roboto"/>
                <a:sym typeface="Roboto"/>
              </a:rPr>
              <a:t>parameter</a:t>
            </a:r>
            <a:r>
              <a:rPr lang="en" sz="1100" dirty="0">
                <a:solidFill>
                  <a:srgbClr val="FF0000"/>
                </a:solidFill>
                <a:highlight>
                  <a:srgbClr val="FFFF00"/>
                </a:highlight>
                <a:latin typeface="Roboto"/>
                <a:ea typeface="Roboto"/>
                <a:cs typeface="Roboto"/>
                <a:sym typeface="Roboto"/>
              </a:rPr>
              <a:t> </a:t>
            </a:r>
            <a:r>
              <a:rPr lang="en" sz="1100" dirty="0">
                <a:highlight>
                  <a:srgbClr val="FFFF00"/>
                </a:highlight>
                <a:latin typeface="Roboto"/>
                <a:ea typeface="Roboto"/>
                <a:cs typeface="Roboto"/>
                <a:sym typeface="Roboto"/>
              </a:rPr>
              <a:t>or a </a:t>
            </a:r>
            <a:r>
              <a:rPr lang="en" sz="1100" b="1" i="1" dirty="0">
                <a:solidFill>
                  <a:srgbClr val="FF0000"/>
                </a:solidFill>
                <a:highlight>
                  <a:srgbClr val="FFFF00"/>
                </a:highlight>
                <a:latin typeface="Roboto"/>
                <a:ea typeface="Roboto"/>
                <a:cs typeface="Roboto"/>
                <a:sym typeface="Roboto"/>
              </a:rPr>
              <a:t>return value</a:t>
            </a:r>
            <a:r>
              <a:rPr lang="en" sz="1100" dirty="0">
                <a:highlight>
                  <a:srgbClr val="FFFF00"/>
                </a:highlight>
                <a:latin typeface="Roboto"/>
                <a:ea typeface="Roboto"/>
                <a:cs typeface="Roboto"/>
                <a:sym typeface="Roboto"/>
              </a:rPr>
              <a:t> but B is </a:t>
            </a:r>
            <a:r>
              <a:rPr lang="en" sz="1100" b="1" i="1" dirty="0">
                <a:solidFill>
                  <a:srgbClr val="FF0000"/>
                </a:solidFill>
                <a:highlight>
                  <a:srgbClr val="FFFF00"/>
                </a:highlight>
                <a:latin typeface="Roboto"/>
                <a:ea typeface="Roboto"/>
                <a:cs typeface="Roboto"/>
                <a:sym typeface="Roboto"/>
              </a:rPr>
              <a:t>not</a:t>
            </a:r>
            <a:r>
              <a:rPr lang="en" sz="1100" dirty="0">
                <a:solidFill>
                  <a:srgbClr val="FF0000"/>
                </a:solidFill>
                <a:highlight>
                  <a:srgbClr val="FFFF00"/>
                </a:highlight>
                <a:latin typeface="Roboto"/>
                <a:ea typeface="Roboto"/>
                <a:cs typeface="Roboto"/>
                <a:sym typeface="Roboto"/>
              </a:rPr>
              <a:t> </a:t>
            </a:r>
            <a:r>
              <a:rPr lang="en" sz="1100" dirty="0">
                <a:highlight>
                  <a:srgbClr val="FFFF00"/>
                </a:highlight>
                <a:latin typeface="Roboto"/>
                <a:ea typeface="Roboto"/>
                <a:cs typeface="Roboto"/>
                <a:sym typeface="Roboto"/>
              </a:rPr>
              <a:t>part of the state of A.</a:t>
            </a:r>
            <a:endParaRPr sz="1100" dirty="0">
              <a:highlight>
                <a:srgbClr val="FFFF00"/>
              </a:highlight>
              <a:latin typeface="Roboto"/>
              <a:ea typeface="Roboto"/>
              <a:cs typeface="Roboto"/>
              <a:sym typeface="Roboto"/>
            </a:endParaRPr>
          </a:p>
        </p:txBody>
      </p:sp>
      <p:sp>
        <p:nvSpPr>
          <p:cNvPr id="860" name="Google Shape;860;p95"/>
          <p:cNvSpPr txBox="1"/>
          <p:nvPr/>
        </p:nvSpPr>
        <p:spPr>
          <a:xfrm>
            <a:off x="3278975" y="2837001"/>
            <a:ext cx="27705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Note the </a:t>
            </a:r>
            <a:r>
              <a:rPr lang="en" sz="1100" b="1" i="1">
                <a:solidFill>
                  <a:srgbClr val="FF0000"/>
                </a:solidFill>
                <a:latin typeface="Roboto"/>
                <a:ea typeface="Roboto"/>
                <a:cs typeface="Roboto"/>
                <a:sym typeface="Roboto"/>
              </a:rPr>
              <a:t>dashed line</a:t>
            </a:r>
            <a:r>
              <a:rPr lang="en" sz="1100">
                <a:latin typeface="Roboto"/>
                <a:ea typeface="Roboto"/>
                <a:cs typeface="Roboto"/>
                <a:sym typeface="Roboto"/>
              </a:rPr>
              <a:t> and that the arrow points in the direction of dependency: A depends on B (not the other way around).</a:t>
            </a:r>
            <a:endParaRPr sz="1100">
              <a:latin typeface="Roboto"/>
              <a:ea typeface="Roboto"/>
              <a:cs typeface="Roboto"/>
              <a:sym typeface="Roboto"/>
            </a:endParaRPr>
          </a:p>
        </p:txBody>
      </p:sp>
      <p:pic>
        <p:nvPicPr>
          <p:cNvPr id="861" name="Google Shape;861;p95"/>
          <p:cNvPicPr preferRelativeResize="0"/>
          <p:nvPr/>
        </p:nvPicPr>
        <p:blipFill>
          <a:blip r:embed="rId5">
            <a:alphaModFix/>
          </a:blip>
          <a:stretch>
            <a:fillRect/>
          </a:stretch>
        </p:blipFill>
        <p:spPr>
          <a:xfrm>
            <a:off x="3187800" y="815950"/>
            <a:ext cx="2939701" cy="931879"/>
          </a:xfrm>
          <a:prstGeom prst="rect">
            <a:avLst/>
          </a:prstGeom>
          <a:noFill/>
          <a:ln>
            <a:noFill/>
          </a:ln>
        </p:spPr>
      </p:pic>
      <p:grpSp>
        <p:nvGrpSpPr>
          <p:cNvPr id="862" name="Google Shape;862;p95"/>
          <p:cNvGrpSpPr/>
          <p:nvPr/>
        </p:nvGrpSpPr>
        <p:grpSpPr>
          <a:xfrm>
            <a:off x="6705748" y="1385000"/>
            <a:ext cx="1909200" cy="1909200"/>
            <a:chOff x="6923100" y="916475"/>
            <a:chExt cx="1909200" cy="1909200"/>
          </a:xfrm>
        </p:grpSpPr>
        <p:sp>
          <p:nvSpPr>
            <p:cNvPr id="863" name="Google Shape;863;p95"/>
            <p:cNvSpPr/>
            <p:nvPr/>
          </p:nvSpPr>
          <p:spPr>
            <a:xfrm>
              <a:off x="6923100" y="916475"/>
              <a:ext cx="1909200" cy="1909200"/>
            </a:xfrm>
            <a:prstGeom prst="noSmoking">
              <a:avLst>
                <a:gd name="adj" fmla="val 5002"/>
              </a:avLst>
            </a:prstGeom>
            <a:solidFill>
              <a:srgbClr val="FF0000"/>
            </a:solidFill>
            <a:ln w="9525" cap="flat" cmpd="sng">
              <a:solidFill>
                <a:srgbClr val="98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4" name="Google Shape;864;p95"/>
            <p:cNvCxnSpPr/>
            <p:nvPr/>
          </p:nvCxnSpPr>
          <p:spPr>
            <a:xfrm>
              <a:off x="7913625" y="1489900"/>
              <a:ext cx="606600" cy="0"/>
            </a:xfrm>
            <a:prstGeom prst="straightConnector1">
              <a:avLst/>
            </a:prstGeom>
            <a:noFill/>
            <a:ln w="76200" cap="flat" cmpd="sng">
              <a:solidFill>
                <a:srgbClr val="000000"/>
              </a:solidFill>
              <a:prstDash val="solid"/>
              <a:round/>
              <a:headEnd type="none" w="med" len="med"/>
              <a:tailEnd type="triangle" w="med" len="med"/>
            </a:ln>
          </p:spPr>
        </p:cxnSp>
        <p:cxnSp>
          <p:nvCxnSpPr>
            <p:cNvPr id="865" name="Google Shape;865;p95"/>
            <p:cNvCxnSpPr/>
            <p:nvPr/>
          </p:nvCxnSpPr>
          <p:spPr>
            <a:xfrm>
              <a:off x="7419650" y="2302475"/>
              <a:ext cx="606600" cy="0"/>
            </a:xfrm>
            <a:prstGeom prst="straightConnector1">
              <a:avLst/>
            </a:prstGeom>
            <a:noFill/>
            <a:ln w="76200" cap="flat" cmpd="sng">
              <a:solidFill>
                <a:srgbClr val="000000"/>
              </a:solidFill>
              <a:prstDash val="solid"/>
              <a:round/>
              <a:headEnd type="none" w="med" len="med"/>
              <a:tailEnd type="stealth" w="med" len="med"/>
            </a:ln>
          </p:spPr>
        </p:cxnSp>
      </p:grpSp>
      <p:sp>
        <p:nvSpPr>
          <p:cNvPr id="866" name="Google Shape;866;p95"/>
          <p:cNvSpPr txBox="1"/>
          <p:nvPr/>
        </p:nvSpPr>
        <p:spPr>
          <a:xfrm>
            <a:off x="6409950" y="3436150"/>
            <a:ext cx="2500800" cy="523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latin typeface="Roboto"/>
                <a:ea typeface="Roboto"/>
                <a:cs typeface="Roboto"/>
                <a:sym typeface="Roboto"/>
              </a:rPr>
              <a:t>These kinds of arrows are </a:t>
            </a:r>
            <a:r>
              <a:rPr lang="en" sz="1100" b="1" i="1">
                <a:solidFill>
                  <a:srgbClr val="FF0000"/>
                </a:solidFill>
                <a:latin typeface="Roboto"/>
                <a:ea typeface="Roboto"/>
                <a:cs typeface="Roboto"/>
                <a:sym typeface="Roboto"/>
              </a:rPr>
              <a:t>never</a:t>
            </a:r>
            <a:r>
              <a:rPr lang="en" sz="1100">
                <a:solidFill>
                  <a:srgbClr val="FF0000"/>
                </a:solidFill>
                <a:latin typeface="Roboto"/>
                <a:ea typeface="Roboto"/>
                <a:cs typeface="Roboto"/>
                <a:sym typeface="Roboto"/>
              </a:rPr>
              <a:t> </a:t>
            </a:r>
            <a:r>
              <a:rPr lang="en" sz="1100">
                <a:latin typeface="Roboto"/>
                <a:ea typeface="Roboto"/>
                <a:cs typeface="Roboto"/>
                <a:sym typeface="Roboto"/>
              </a:rPr>
              <a:t>used in UML class diagrams.</a:t>
            </a:r>
            <a:endParaRPr sz="1100">
              <a:latin typeface="Roboto"/>
              <a:ea typeface="Roboto"/>
              <a:cs typeface="Roboto"/>
              <a:sym typeface="Roboto"/>
            </a:endParaRPr>
          </a:p>
        </p:txBody>
      </p:sp>
      <p:sp>
        <p:nvSpPr>
          <p:cNvPr id="867" name="Google Shape;867;p95"/>
          <p:cNvSpPr txBox="1"/>
          <p:nvPr/>
        </p:nvSpPr>
        <p:spPr>
          <a:xfrm>
            <a:off x="154586" y="4360025"/>
            <a:ext cx="27177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t>The absence of an arrow indicates that the association is </a:t>
            </a:r>
            <a:r>
              <a:rPr lang="en" sz="1100" b="1" i="1" dirty="0">
                <a:solidFill>
                  <a:srgbClr val="FF0000"/>
                </a:solidFill>
              </a:rPr>
              <a:t>undirected</a:t>
            </a:r>
            <a:r>
              <a:rPr lang="en" sz="1100" dirty="0">
                <a:solidFill>
                  <a:srgbClr val="FF0000"/>
                </a:solidFill>
              </a:rPr>
              <a:t> </a:t>
            </a:r>
            <a:r>
              <a:rPr lang="en" sz="1100" dirty="0"/>
              <a:t>- both classes use </a:t>
            </a:r>
            <a:r>
              <a:rPr lang="en" sz="1100" b="1" i="1" dirty="0">
                <a:solidFill>
                  <a:srgbClr val="FF0000"/>
                </a:solidFill>
              </a:rPr>
              <a:t>each other</a:t>
            </a:r>
            <a:r>
              <a:rPr lang="en" sz="1100" dirty="0"/>
              <a:t>.</a:t>
            </a:r>
            <a:endParaRPr sz="1100" dirty="0"/>
          </a:p>
        </p:txBody>
      </p:sp>
      <p:sp>
        <p:nvSpPr>
          <p:cNvPr id="868" name="Google Shape;868;p95"/>
          <p:cNvSpPr txBox="1"/>
          <p:nvPr/>
        </p:nvSpPr>
        <p:spPr>
          <a:xfrm>
            <a:off x="3272400" y="3659526"/>
            <a:ext cx="27705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dirty="0">
                <a:latin typeface="Roboto"/>
                <a:ea typeface="Roboto"/>
                <a:cs typeface="Roboto"/>
                <a:sym typeface="Roboto"/>
              </a:rPr>
              <a:t>A dependency may also be undirected if both classes use each other. In that case there is no arrow on the dashed line.</a:t>
            </a:r>
            <a:endParaRPr sz="1100" dirty="0">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7"/>
                                        </p:tgtEl>
                                        <p:attrNameLst>
                                          <p:attrName>style.visibility</p:attrName>
                                        </p:attrNameLst>
                                      </p:cBhvr>
                                      <p:to>
                                        <p:strVal val="visible"/>
                                      </p:to>
                                    </p:set>
                                    <p:animEffect transition="in" filter="fade">
                                      <p:cBhvr>
                                        <p:cTn id="7" dur="1000"/>
                                        <p:tgtEl>
                                          <p:spTgt spid="857"/>
                                        </p:tgtEl>
                                      </p:cBhvr>
                                    </p:animEffect>
                                  </p:childTnLst>
                                </p:cTn>
                              </p:par>
                              <p:par>
                                <p:cTn id="8" presetID="10" presetClass="entr" presetSubtype="0" fill="hold" nodeType="withEffect">
                                  <p:stCondLst>
                                    <p:cond delay="0"/>
                                  </p:stCondLst>
                                  <p:childTnLst>
                                    <p:set>
                                      <p:cBhvr>
                                        <p:cTn id="9" dur="1" fill="hold">
                                          <p:stCondLst>
                                            <p:cond delay="0"/>
                                          </p:stCondLst>
                                        </p:cTn>
                                        <p:tgtEl>
                                          <p:spTgt spid="856"/>
                                        </p:tgtEl>
                                        <p:attrNameLst>
                                          <p:attrName>style.visibility</p:attrName>
                                        </p:attrNameLst>
                                      </p:cBhvr>
                                      <p:to>
                                        <p:strVal val="visible"/>
                                      </p:to>
                                    </p:set>
                                    <p:animEffect transition="in" filter="fade">
                                      <p:cBhvr>
                                        <p:cTn id="10" dur="1000"/>
                                        <p:tgtEl>
                                          <p:spTgt spid="85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58"/>
                                        </p:tgtEl>
                                        <p:attrNameLst>
                                          <p:attrName>style.visibility</p:attrName>
                                        </p:attrNameLst>
                                      </p:cBhvr>
                                      <p:to>
                                        <p:strVal val="visible"/>
                                      </p:to>
                                    </p:set>
                                    <p:animEffect transition="in" filter="fade">
                                      <p:cBhvr>
                                        <p:cTn id="15" dur="1000"/>
                                        <p:tgtEl>
                                          <p:spTgt spid="85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67"/>
                                        </p:tgtEl>
                                        <p:attrNameLst>
                                          <p:attrName>style.visibility</p:attrName>
                                        </p:attrNameLst>
                                      </p:cBhvr>
                                      <p:to>
                                        <p:strVal val="visible"/>
                                      </p:to>
                                    </p:set>
                                    <p:animEffect transition="in" filter="fade">
                                      <p:cBhvr>
                                        <p:cTn id="20" dur="1000"/>
                                        <p:tgtEl>
                                          <p:spTgt spid="867"/>
                                        </p:tgtEl>
                                      </p:cBhvr>
                                    </p:animEffect>
                                  </p:childTnLst>
                                </p:cTn>
                              </p:par>
                              <p:par>
                                <p:cTn id="21" presetID="10" presetClass="entr" presetSubtype="0" fill="hold" nodeType="withEffect">
                                  <p:stCondLst>
                                    <p:cond delay="0"/>
                                  </p:stCondLst>
                                  <p:childTnLst>
                                    <p:set>
                                      <p:cBhvr>
                                        <p:cTn id="22" dur="1" fill="hold">
                                          <p:stCondLst>
                                            <p:cond delay="0"/>
                                          </p:stCondLst>
                                        </p:cTn>
                                        <p:tgtEl>
                                          <p:spTgt spid="853"/>
                                        </p:tgtEl>
                                        <p:attrNameLst>
                                          <p:attrName>style.visibility</p:attrName>
                                        </p:attrNameLst>
                                      </p:cBhvr>
                                      <p:to>
                                        <p:strVal val="visible"/>
                                      </p:to>
                                    </p:set>
                                    <p:animEffect transition="in" filter="fade">
                                      <p:cBhvr>
                                        <p:cTn id="23" dur="1000"/>
                                        <p:tgtEl>
                                          <p:spTgt spid="85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859"/>
                                        </p:tgtEl>
                                        <p:attrNameLst>
                                          <p:attrName>style.visibility</p:attrName>
                                        </p:attrNameLst>
                                      </p:cBhvr>
                                      <p:to>
                                        <p:strVal val="visible"/>
                                      </p:to>
                                    </p:set>
                                    <p:animEffect transition="in" filter="fade">
                                      <p:cBhvr>
                                        <p:cTn id="28" dur="1000"/>
                                        <p:tgtEl>
                                          <p:spTgt spid="859"/>
                                        </p:tgtEl>
                                      </p:cBhvr>
                                    </p:animEffect>
                                  </p:childTnLst>
                                </p:cTn>
                              </p:par>
                              <p:par>
                                <p:cTn id="29" presetID="10" presetClass="entr" presetSubtype="0" fill="hold" nodeType="withEffect">
                                  <p:stCondLst>
                                    <p:cond delay="0"/>
                                  </p:stCondLst>
                                  <p:childTnLst>
                                    <p:set>
                                      <p:cBhvr>
                                        <p:cTn id="30" dur="1" fill="hold">
                                          <p:stCondLst>
                                            <p:cond delay="0"/>
                                          </p:stCondLst>
                                        </p:cTn>
                                        <p:tgtEl>
                                          <p:spTgt spid="861"/>
                                        </p:tgtEl>
                                        <p:attrNameLst>
                                          <p:attrName>style.visibility</p:attrName>
                                        </p:attrNameLst>
                                      </p:cBhvr>
                                      <p:to>
                                        <p:strVal val="visible"/>
                                      </p:to>
                                    </p:set>
                                    <p:animEffect transition="in" filter="fade">
                                      <p:cBhvr>
                                        <p:cTn id="31" dur="1000"/>
                                        <p:tgtEl>
                                          <p:spTgt spid="86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860"/>
                                        </p:tgtEl>
                                        <p:attrNameLst>
                                          <p:attrName>style.visibility</p:attrName>
                                        </p:attrNameLst>
                                      </p:cBhvr>
                                      <p:to>
                                        <p:strVal val="visible"/>
                                      </p:to>
                                    </p:set>
                                    <p:animEffect transition="in" filter="fade">
                                      <p:cBhvr>
                                        <p:cTn id="36" dur="1000"/>
                                        <p:tgtEl>
                                          <p:spTgt spid="86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868"/>
                                        </p:tgtEl>
                                        <p:attrNameLst>
                                          <p:attrName>style.visibility</p:attrName>
                                        </p:attrNameLst>
                                      </p:cBhvr>
                                      <p:to>
                                        <p:strVal val="visible"/>
                                      </p:to>
                                    </p:set>
                                    <p:animEffect transition="in" filter="fade">
                                      <p:cBhvr>
                                        <p:cTn id="41" dur="1100"/>
                                        <p:tgtEl>
                                          <p:spTgt spid="868"/>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866"/>
                                        </p:tgtEl>
                                        <p:attrNameLst>
                                          <p:attrName>style.visibility</p:attrName>
                                        </p:attrNameLst>
                                      </p:cBhvr>
                                      <p:to>
                                        <p:strVal val="visible"/>
                                      </p:to>
                                    </p:set>
                                    <p:animEffect transition="in" filter="fade">
                                      <p:cBhvr>
                                        <p:cTn id="46" dur="1000"/>
                                        <p:tgtEl>
                                          <p:spTgt spid="866"/>
                                        </p:tgtEl>
                                      </p:cBhvr>
                                    </p:animEffect>
                                  </p:childTnLst>
                                </p:cTn>
                              </p:par>
                              <p:par>
                                <p:cTn id="47" presetID="10" presetClass="entr" presetSubtype="0" fill="hold" nodeType="withEffect">
                                  <p:stCondLst>
                                    <p:cond delay="0"/>
                                  </p:stCondLst>
                                  <p:childTnLst>
                                    <p:set>
                                      <p:cBhvr>
                                        <p:cTn id="48" dur="1" fill="hold">
                                          <p:stCondLst>
                                            <p:cond delay="0"/>
                                          </p:stCondLst>
                                        </p:cTn>
                                        <p:tgtEl>
                                          <p:spTgt spid="862"/>
                                        </p:tgtEl>
                                        <p:attrNameLst>
                                          <p:attrName>style.visibility</p:attrName>
                                        </p:attrNameLst>
                                      </p:cBhvr>
                                      <p:to>
                                        <p:strVal val="visible"/>
                                      </p:to>
                                    </p:set>
                                    <p:animEffect transition="in" filter="fade">
                                      <p:cBhvr>
                                        <p:cTn id="49" dur="1000"/>
                                        <p:tgtEl>
                                          <p:spTgt spid="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96"/>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It is usually not enough to represent individual classes in a UML class diagram. The relationships (associations, dependencies, etc.) between classes must also be represented. Let's practice by updating your UML class diagram to include the correct relationships between classes.</a:t>
            </a:r>
            <a:endParaRPr/>
          </a:p>
        </p:txBody>
      </p:sp>
      <p:sp>
        <p:nvSpPr>
          <p:cNvPr id="874" name="Google Shape;874;p9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51</a:t>
            </a:fld>
            <a:endParaRPr/>
          </a:p>
        </p:txBody>
      </p:sp>
      <p:sp>
        <p:nvSpPr>
          <p:cNvPr id="875" name="Google Shape;875;p96"/>
          <p:cNvSpPr txBox="1">
            <a:spLocks noGrp="1"/>
          </p:cNvSpPr>
          <p:nvPr>
            <p:ph type="body" idx="2"/>
          </p:nvPr>
        </p:nvSpPr>
        <p:spPr>
          <a:xfrm>
            <a:off x="3466425" y="1814150"/>
            <a:ext cx="5414700" cy="28323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Connect the </a:t>
            </a:r>
            <a:r>
              <a:rPr lang="en" dirty="0">
                <a:highlight>
                  <a:srgbClr val="FFFF00"/>
                </a:highlight>
                <a:latin typeface="Courier New"/>
                <a:ea typeface="Courier New"/>
                <a:cs typeface="Courier New"/>
                <a:sym typeface="Courier New"/>
              </a:rPr>
              <a:t>Ship</a:t>
            </a:r>
            <a:r>
              <a:rPr lang="en" dirty="0"/>
              <a:t> and </a:t>
            </a:r>
            <a:r>
              <a:rPr lang="en" dirty="0">
                <a:highlight>
                  <a:srgbClr val="FFFF00"/>
                </a:highlight>
                <a:latin typeface="Courier New"/>
                <a:ea typeface="Courier New"/>
                <a:cs typeface="Courier New"/>
                <a:sym typeface="Courier New"/>
              </a:rPr>
              <a:t>Weapon</a:t>
            </a:r>
            <a:r>
              <a:rPr lang="en" dirty="0"/>
              <a:t> classes using the correct kind of UML relationship.</a:t>
            </a:r>
            <a:endParaRPr dirty="0"/>
          </a:p>
          <a:p>
            <a:pPr marL="914400" lvl="1" indent="-298450" algn="l" rtl="0">
              <a:spcBef>
                <a:spcPts val="0"/>
              </a:spcBef>
              <a:spcAft>
                <a:spcPts val="0"/>
              </a:spcAft>
              <a:buSzPts val="1100"/>
              <a:buChar char="○"/>
            </a:pPr>
            <a:r>
              <a:rPr lang="en" dirty="0"/>
              <a:t>Refer to the </a:t>
            </a:r>
            <a:r>
              <a:rPr lang="en" u="sng" dirty="0">
                <a:solidFill>
                  <a:schemeClr val="hlink"/>
                </a:solidFill>
                <a:hlinkClick r:id="rId3" action="ppaction://hlinksldjump"/>
              </a:rPr>
              <a:t>Basic UML Relationships</a:t>
            </a:r>
            <a:r>
              <a:rPr lang="en" dirty="0"/>
              <a:t> and decide which you think is most appropriate.</a:t>
            </a:r>
            <a:endParaRPr dirty="0"/>
          </a:p>
          <a:p>
            <a:pPr marL="914400" lvl="1" indent="-298450" algn="l" rtl="0">
              <a:spcBef>
                <a:spcPts val="0"/>
              </a:spcBef>
              <a:spcAft>
                <a:spcPts val="0"/>
              </a:spcAft>
              <a:buSzPts val="1100"/>
              <a:buChar char="○"/>
            </a:pPr>
            <a:r>
              <a:rPr lang="en" dirty="0">
                <a:highlight>
                  <a:srgbClr val="FFFF00"/>
                </a:highlight>
              </a:rPr>
              <a:t>Should it be directed or undirected?</a:t>
            </a:r>
            <a:endParaRPr dirty="0">
              <a:highlight>
                <a:srgbClr val="FFFF00"/>
              </a:highlight>
            </a:endParaRPr>
          </a:p>
          <a:p>
            <a:pPr marL="914400" lvl="1" indent="-298450" algn="l" rtl="0">
              <a:spcBef>
                <a:spcPts val="0"/>
              </a:spcBef>
              <a:spcAft>
                <a:spcPts val="0"/>
              </a:spcAft>
              <a:buSzPts val="1100"/>
              <a:buChar char="○"/>
            </a:pPr>
            <a:r>
              <a:rPr lang="en" dirty="0"/>
              <a:t>Once you have decided, use the UML palette to drag the correct kind of arrow into your diagram.</a:t>
            </a:r>
            <a:endParaRPr dirty="0"/>
          </a:p>
          <a:p>
            <a:pPr marL="914400" lvl="1" indent="-298450" algn="l" rtl="0">
              <a:spcBef>
                <a:spcPts val="0"/>
              </a:spcBef>
              <a:spcAft>
                <a:spcPts val="0"/>
              </a:spcAft>
              <a:buSzPts val="1100"/>
              <a:buChar char="○"/>
            </a:pPr>
            <a:r>
              <a:rPr lang="en" dirty="0">
                <a:highlight>
                  <a:srgbClr val="FFFF00"/>
                </a:highlight>
              </a:rPr>
              <a:t> Click the arrow to select it and drag the anchors to connect your two classes together.</a:t>
            </a:r>
            <a:endParaRPr dirty="0">
              <a:highlight>
                <a:srgbClr val="FFFF00"/>
              </a:highlight>
            </a:endParaRPr>
          </a:p>
          <a:p>
            <a:pPr marL="457200" lvl="0" indent="-311150" algn="l" rtl="0">
              <a:spcBef>
                <a:spcPts val="0"/>
              </a:spcBef>
              <a:spcAft>
                <a:spcPts val="0"/>
              </a:spcAft>
              <a:buSzPts val="1300"/>
              <a:buChar char="●"/>
            </a:pPr>
            <a:r>
              <a:rPr lang="en" dirty="0"/>
              <a:t>Next, add classes to represent the </a:t>
            </a:r>
            <a:r>
              <a:rPr lang="en" dirty="0">
                <a:highlight>
                  <a:srgbClr val="FFFF00"/>
                </a:highlight>
                <a:latin typeface="Courier New"/>
                <a:ea typeface="Courier New"/>
                <a:cs typeface="Courier New"/>
                <a:sym typeface="Courier New"/>
              </a:rPr>
              <a:t>DamageType</a:t>
            </a:r>
            <a:r>
              <a:rPr lang="en" dirty="0">
                <a:highlight>
                  <a:srgbClr val="FFFF00"/>
                </a:highlight>
              </a:rPr>
              <a:t> </a:t>
            </a:r>
            <a:r>
              <a:rPr lang="en" dirty="0">
                <a:highlight>
                  <a:srgbClr val="FFFF00"/>
                </a:highlight>
                <a:latin typeface="Courier New"/>
                <a:ea typeface="Courier New"/>
                <a:cs typeface="Courier New"/>
                <a:sym typeface="Courier New"/>
              </a:rPr>
              <a:t>enum</a:t>
            </a:r>
            <a:r>
              <a:rPr lang="en" dirty="0">
                <a:highlight>
                  <a:srgbClr val="FFFF00"/>
                </a:highlight>
              </a:rPr>
              <a:t> </a:t>
            </a:r>
            <a:r>
              <a:rPr lang="en" dirty="0"/>
              <a:t>and  </a:t>
            </a:r>
            <a:r>
              <a:rPr lang="en" dirty="0">
                <a:highlight>
                  <a:srgbClr val="FFFF00"/>
                </a:highlight>
                <a:latin typeface="Courier New"/>
                <a:ea typeface="Courier New"/>
                <a:cs typeface="Courier New"/>
                <a:sym typeface="Courier New"/>
              </a:rPr>
              <a:t>StarWarsBattle</a:t>
            </a:r>
            <a:r>
              <a:rPr lang="en" dirty="0"/>
              <a:t>.</a:t>
            </a:r>
            <a:endParaRPr dirty="0"/>
          </a:p>
          <a:p>
            <a:pPr marL="914400" lvl="1" indent="-298450" algn="l" rtl="0">
              <a:spcBef>
                <a:spcPts val="0"/>
              </a:spcBef>
              <a:spcAft>
                <a:spcPts val="0"/>
              </a:spcAft>
              <a:buSzPts val="1100"/>
              <a:buChar char="○"/>
            </a:pPr>
            <a:r>
              <a:rPr lang="en" dirty="0"/>
              <a:t>Connect them to the other classes in your diagram using the correct UML relationships.</a:t>
            </a:r>
            <a:endParaRPr dirty="0"/>
          </a:p>
        </p:txBody>
      </p:sp>
      <p:sp>
        <p:nvSpPr>
          <p:cNvPr id="876" name="Google Shape;876;p9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Adding Relationships</a:t>
            </a:r>
            <a:endParaRPr/>
          </a:p>
        </p:txBody>
      </p:sp>
      <p:sp>
        <p:nvSpPr>
          <p:cNvPr id="877" name="Google Shape;877;p9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2.17</a:t>
            </a:r>
            <a:endParaRPr/>
          </a:p>
        </p:txBody>
      </p:sp>
      <p:sp>
        <p:nvSpPr>
          <p:cNvPr id="878" name="Google Shape;878;p96"/>
          <p:cNvSpPr txBox="1">
            <a:spLocks noGrp="1"/>
          </p:cNvSpPr>
          <p:nvPr>
            <p:ph type="body" idx="4"/>
          </p:nvPr>
        </p:nvSpPr>
        <p:spPr>
          <a:xfrm>
            <a:off x="141600" y="3969725"/>
            <a:ext cx="3023700" cy="7389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There are many different kinds of relationships in UML. We will explore more later this semester.</a:t>
            </a:r>
            <a:endParaRPr/>
          </a:p>
        </p:txBody>
      </p:sp>
      <p:pic>
        <p:nvPicPr>
          <p:cNvPr id="879" name="Google Shape;879;p96"/>
          <p:cNvPicPr preferRelativeResize="0"/>
          <p:nvPr/>
        </p:nvPicPr>
        <p:blipFill>
          <a:blip r:embed="rId4">
            <a:alphaModFix/>
          </a:blip>
          <a:stretch>
            <a:fillRect/>
          </a:stretch>
        </p:blipFill>
        <p:spPr>
          <a:xfrm>
            <a:off x="183611" y="1820110"/>
            <a:ext cx="2939699" cy="1126750"/>
          </a:xfrm>
          <a:prstGeom prst="rect">
            <a:avLst/>
          </a:prstGeom>
          <a:noFill/>
          <a:ln>
            <a:noFill/>
          </a:ln>
        </p:spPr>
      </p:pic>
      <p:pic>
        <p:nvPicPr>
          <p:cNvPr id="880" name="Google Shape;880;p96"/>
          <p:cNvPicPr preferRelativeResize="0"/>
          <p:nvPr/>
        </p:nvPicPr>
        <p:blipFill>
          <a:blip r:embed="rId5">
            <a:alphaModFix/>
          </a:blip>
          <a:stretch>
            <a:fillRect/>
          </a:stretch>
        </p:blipFill>
        <p:spPr>
          <a:xfrm>
            <a:off x="183600" y="2946863"/>
            <a:ext cx="2939701" cy="931879"/>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97"/>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Let's practice some of the basics! The number of days in a year is usually 365, but a leap year has one extra day. Write class that provides a method that, given a year number, returns the number of days in that year.</a:t>
            </a:r>
            <a:endParaRPr/>
          </a:p>
        </p:txBody>
      </p:sp>
      <p:sp>
        <p:nvSpPr>
          <p:cNvPr id="886" name="Google Shape;886;p9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52</a:t>
            </a:fld>
            <a:endParaRPr/>
          </a:p>
        </p:txBody>
      </p:sp>
      <p:sp>
        <p:nvSpPr>
          <p:cNvPr id="887" name="Google Shape;887;p97"/>
          <p:cNvSpPr txBox="1">
            <a:spLocks noGrp="1"/>
          </p:cNvSpPr>
          <p:nvPr>
            <p:ph type="body" idx="2"/>
          </p:nvPr>
        </p:nvSpPr>
        <p:spPr>
          <a:xfrm>
            <a:off x="3414050" y="1605625"/>
            <a:ext cx="5534400" cy="3057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Java class in a file named "</a:t>
            </a:r>
            <a:r>
              <a:rPr lang="en" dirty="0">
                <a:solidFill>
                  <a:srgbClr val="FF0000"/>
                </a:solidFill>
                <a:latin typeface="Courier New"/>
                <a:ea typeface="Courier New"/>
                <a:cs typeface="Courier New"/>
                <a:sym typeface="Courier New"/>
              </a:rPr>
              <a:t>Year.java</a:t>
            </a:r>
            <a:r>
              <a:rPr lang="en" dirty="0"/>
              <a:t>".</a:t>
            </a:r>
            <a:endParaRPr dirty="0"/>
          </a:p>
          <a:p>
            <a:pPr marL="914400" lvl="1" indent="-298450" algn="l" rtl="0">
              <a:spcBef>
                <a:spcPts val="0"/>
              </a:spcBef>
              <a:spcAft>
                <a:spcPts val="0"/>
              </a:spcAft>
              <a:buSzPts val="1100"/>
              <a:buChar char="○"/>
            </a:pPr>
            <a:r>
              <a:rPr lang="en" b="1" i="1" dirty="0">
                <a:solidFill>
                  <a:srgbClr val="FF0000"/>
                </a:solidFill>
              </a:rPr>
              <a:t>Add</a:t>
            </a:r>
            <a:r>
              <a:rPr lang="en" dirty="0">
                <a:solidFill>
                  <a:srgbClr val="FF0000"/>
                </a:solidFill>
              </a:rPr>
              <a:t> </a:t>
            </a:r>
            <a:r>
              <a:rPr lang="en" dirty="0"/>
              <a:t>a </a:t>
            </a:r>
            <a:r>
              <a:rPr lang="en" dirty="0">
                <a:solidFill>
                  <a:srgbClr val="FF0000"/>
                </a:solidFill>
                <a:latin typeface="Courier New"/>
                <a:ea typeface="Courier New"/>
                <a:cs typeface="Courier New"/>
                <a:sym typeface="Courier New"/>
              </a:rPr>
              <a:t>static</a:t>
            </a:r>
            <a:r>
              <a:rPr lang="en" dirty="0">
                <a:solidFill>
                  <a:srgbClr val="FF0000"/>
                </a:solidFill>
              </a:rPr>
              <a:t> </a:t>
            </a:r>
            <a:r>
              <a:rPr lang="en" b="1" i="1" dirty="0">
                <a:solidFill>
                  <a:srgbClr val="FF0000"/>
                </a:solidFill>
              </a:rPr>
              <a:t>field </a:t>
            </a:r>
            <a:r>
              <a:rPr lang="en" dirty="0"/>
              <a:t>named </a:t>
            </a:r>
            <a:r>
              <a:rPr lang="en" dirty="0">
                <a:solidFill>
                  <a:srgbClr val="FF0000"/>
                </a:solidFill>
                <a:latin typeface="Courier New"/>
                <a:ea typeface="Courier New"/>
                <a:cs typeface="Courier New"/>
                <a:sym typeface="Courier New"/>
              </a:rPr>
              <a:t>DAYS_IN_YEAR</a:t>
            </a:r>
            <a:r>
              <a:rPr lang="en" dirty="0">
                <a:solidFill>
                  <a:srgbClr val="FF0000"/>
                </a:solidFill>
              </a:rPr>
              <a:t> </a:t>
            </a:r>
            <a:r>
              <a:rPr lang="en" dirty="0"/>
              <a:t>to hold the number of days in a typical year, i.e. </a:t>
            </a:r>
            <a:r>
              <a:rPr lang="en" dirty="0">
                <a:solidFill>
                  <a:srgbClr val="FF0000"/>
                </a:solidFill>
                <a:latin typeface="Courier New"/>
                <a:ea typeface="Courier New"/>
                <a:cs typeface="Courier New"/>
                <a:sym typeface="Courier New"/>
              </a:rPr>
              <a:t>365</a:t>
            </a:r>
            <a:r>
              <a:rPr lang="en" dirty="0"/>
              <a:t>.</a:t>
            </a:r>
            <a:endParaRPr dirty="0"/>
          </a:p>
          <a:p>
            <a:pPr marL="914400" lvl="1" indent="-298450" algn="l" rtl="0">
              <a:spcBef>
                <a:spcPts val="0"/>
              </a:spcBef>
              <a:spcAft>
                <a:spcPts val="0"/>
              </a:spcAft>
              <a:buSzPts val="1100"/>
              <a:buChar char="○"/>
            </a:pPr>
            <a:r>
              <a:rPr lang="en" b="1" i="1" dirty="0">
                <a:solidFill>
                  <a:srgbClr val="FF0000"/>
                </a:solidFill>
              </a:rPr>
              <a:t>Define </a:t>
            </a:r>
            <a:r>
              <a:rPr lang="en" dirty="0"/>
              <a:t>a </a:t>
            </a:r>
            <a:r>
              <a:rPr lang="en" dirty="0">
                <a:solidFill>
                  <a:srgbClr val="FF0000"/>
                </a:solidFill>
                <a:latin typeface="Courier New"/>
                <a:ea typeface="Courier New"/>
                <a:cs typeface="Courier New"/>
                <a:sym typeface="Courier New"/>
              </a:rPr>
              <a:t>static</a:t>
            </a:r>
            <a:r>
              <a:rPr lang="en" dirty="0">
                <a:solidFill>
                  <a:srgbClr val="FF0000"/>
                </a:solidFill>
              </a:rPr>
              <a:t> </a:t>
            </a:r>
            <a:r>
              <a:rPr lang="en" dirty="0"/>
              <a:t>method called "</a:t>
            </a:r>
            <a:r>
              <a:rPr lang="en" dirty="0">
                <a:solidFill>
                  <a:srgbClr val="FF0000"/>
                </a:solidFill>
                <a:latin typeface="Courier New"/>
                <a:ea typeface="Courier New"/>
                <a:cs typeface="Courier New"/>
                <a:sym typeface="Courier New"/>
              </a:rPr>
              <a:t>daysInYear</a:t>
            </a:r>
            <a:r>
              <a:rPr lang="en" dirty="0"/>
              <a:t>" that, given an </a:t>
            </a:r>
            <a:r>
              <a:rPr lang="en" dirty="0">
                <a:latin typeface="Courier New"/>
                <a:ea typeface="Courier New"/>
                <a:cs typeface="Courier New"/>
                <a:sym typeface="Courier New"/>
              </a:rPr>
              <a:t>int</a:t>
            </a:r>
            <a:r>
              <a:rPr lang="en" dirty="0"/>
              <a:t> year, will return the correct number of days in that year. A </a:t>
            </a:r>
            <a:r>
              <a:rPr lang="en" b="1" i="1" dirty="0">
                <a:solidFill>
                  <a:srgbClr val="FF0000"/>
                </a:solidFill>
              </a:rPr>
              <a:t>leap year</a:t>
            </a:r>
            <a:r>
              <a:rPr lang="en" dirty="0"/>
              <a:t> is any year that:</a:t>
            </a:r>
            <a:endParaRPr dirty="0"/>
          </a:p>
          <a:p>
            <a:pPr marL="1371600" lvl="2" indent="-298450" algn="l" rtl="0">
              <a:spcBef>
                <a:spcPts val="0"/>
              </a:spcBef>
              <a:spcAft>
                <a:spcPts val="0"/>
              </a:spcAft>
              <a:buSzPts val="1100"/>
              <a:buChar char="■"/>
            </a:pPr>
            <a:r>
              <a:rPr lang="en" b="1" i="1" dirty="0">
                <a:solidFill>
                  <a:srgbClr val="FF0000"/>
                </a:solidFill>
              </a:rPr>
              <a:t>Is </a:t>
            </a:r>
            <a:r>
              <a:rPr lang="en" dirty="0"/>
              <a:t>divisible by </a:t>
            </a:r>
            <a:r>
              <a:rPr lang="en" dirty="0">
                <a:solidFill>
                  <a:srgbClr val="FF0000"/>
                </a:solidFill>
              </a:rPr>
              <a:t>400</a:t>
            </a:r>
            <a:r>
              <a:rPr lang="en" dirty="0"/>
              <a:t>.</a:t>
            </a:r>
            <a:endParaRPr dirty="0"/>
          </a:p>
          <a:p>
            <a:pPr marL="1371600" lvl="2" indent="-298450" algn="l" rtl="0">
              <a:spcBef>
                <a:spcPts val="0"/>
              </a:spcBef>
              <a:spcAft>
                <a:spcPts val="0"/>
              </a:spcAft>
              <a:buSzPts val="1100"/>
              <a:buChar char="■"/>
            </a:pPr>
            <a:r>
              <a:rPr lang="en" b="1" i="1" dirty="0">
                <a:solidFill>
                  <a:srgbClr val="FF0000"/>
                </a:solidFill>
              </a:rPr>
              <a:t>Is</a:t>
            </a:r>
            <a:r>
              <a:rPr lang="en" dirty="0">
                <a:solidFill>
                  <a:srgbClr val="FF0000"/>
                </a:solidFill>
              </a:rPr>
              <a:t> </a:t>
            </a:r>
            <a:r>
              <a:rPr lang="en" dirty="0"/>
              <a:t>divisible by</a:t>
            </a:r>
            <a:r>
              <a:rPr lang="en" dirty="0">
                <a:solidFill>
                  <a:srgbClr val="FF0000"/>
                </a:solidFill>
              </a:rPr>
              <a:t> 4</a:t>
            </a:r>
            <a:r>
              <a:rPr lang="en" dirty="0"/>
              <a:t> but </a:t>
            </a:r>
            <a:r>
              <a:rPr lang="en" b="1" i="1" dirty="0">
                <a:solidFill>
                  <a:srgbClr val="FF0000"/>
                </a:solidFill>
              </a:rPr>
              <a:t>not</a:t>
            </a:r>
            <a:r>
              <a:rPr lang="en" dirty="0">
                <a:solidFill>
                  <a:srgbClr val="FF0000"/>
                </a:solidFill>
              </a:rPr>
              <a:t> </a:t>
            </a:r>
            <a:r>
              <a:rPr lang="en" dirty="0"/>
              <a:t>divisible by </a:t>
            </a:r>
            <a:r>
              <a:rPr lang="en" dirty="0">
                <a:solidFill>
                  <a:srgbClr val="FF0000"/>
                </a:solidFill>
              </a:rPr>
              <a:t>100</a:t>
            </a:r>
            <a:r>
              <a:rPr lang="en" dirty="0"/>
              <a:t>. </a:t>
            </a:r>
            <a:endParaRPr dirty="0"/>
          </a:p>
          <a:p>
            <a:pPr marL="457200" lvl="0" indent="-311150" algn="l" rtl="0">
              <a:spcBef>
                <a:spcPts val="0"/>
              </a:spcBef>
              <a:spcAft>
                <a:spcPts val="0"/>
              </a:spcAft>
              <a:buSzPts val="1300"/>
              <a:buChar char="●"/>
            </a:pPr>
            <a:r>
              <a:rPr lang="en" dirty="0"/>
              <a:t>Define a  </a:t>
            </a:r>
            <a:r>
              <a:rPr lang="en" dirty="0">
                <a:solidFill>
                  <a:srgbClr val="FF0000"/>
                </a:solidFill>
                <a:latin typeface="Courier New"/>
                <a:ea typeface="Courier New"/>
                <a:cs typeface="Courier New"/>
                <a:sym typeface="Courier New"/>
              </a:rPr>
              <a:t>main</a:t>
            </a:r>
            <a:r>
              <a:rPr lang="en" dirty="0">
                <a:solidFill>
                  <a:srgbClr val="FF0000"/>
                </a:solidFill>
              </a:rPr>
              <a:t> </a:t>
            </a:r>
            <a:r>
              <a:rPr lang="en" dirty="0"/>
              <a:t>method with the appropriate signature.</a:t>
            </a:r>
            <a:endParaRPr dirty="0"/>
          </a:p>
          <a:p>
            <a:pPr marL="914400" lvl="1" indent="-298450" algn="l" rtl="0">
              <a:spcBef>
                <a:spcPts val="0"/>
              </a:spcBef>
              <a:spcAft>
                <a:spcPts val="0"/>
              </a:spcAft>
              <a:buSzPts val="1100"/>
              <a:buChar char="○"/>
            </a:pPr>
            <a:r>
              <a:rPr lang="en" b="1" i="1" dirty="0">
                <a:solidFill>
                  <a:srgbClr val="FF0000"/>
                </a:solidFill>
              </a:rPr>
              <a:t>Call </a:t>
            </a:r>
            <a:r>
              <a:rPr lang="en" dirty="0"/>
              <a:t>your </a:t>
            </a:r>
            <a:r>
              <a:rPr lang="en" dirty="0">
                <a:latin typeface="Courier New"/>
                <a:ea typeface="Courier New"/>
                <a:cs typeface="Courier New"/>
                <a:sym typeface="Courier New"/>
              </a:rPr>
              <a:t>daysInYear</a:t>
            </a:r>
            <a:r>
              <a:rPr lang="en" dirty="0"/>
              <a:t> method with several different years and print the results, e.g. </a:t>
            </a:r>
            <a:r>
              <a:rPr lang="en" dirty="0">
                <a:latin typeface="Courier New"/>
                <a:ea typeface="Courier New"/>
                <a:cs typeface="Courier New"/>
                <a:sym typeface="Courier New"/>
              </a:rPr>
              <a:t>"Days in 2021: 365"</a:t>
            </a:r>
            <a:r>
              <a:rPr lang="en" dirty="0"/>
              <a:t>.</a:t>
            </a:r>
            <a:endParaRPr dirty="0"/>
          </a:p>
          <a:p>
            <a:pPr marL="457200" lvl="0" indent="-311150" algn="l" rtl="0">
              <a:spcBef>
                <a:spcPts val="0"/>
              </a:spcBef>
              <a:spcAft>
                <a:spcPts val="0"/>
              </a:spcAft>
              <a:buSzPts val="1300"/>
              <a:buChar char="●"/>
            </a:pPr>
            <a:r>
              <a:rPr lang="en" b="1" i="1" dirty="0">
                <a:solidFill>
                  <a:srgbClr val="FF0000"/>
                </a:solidFill>
              </a:rPr>
              <a:t>Run</a:t>
            </a:r>
            <a:r>
              <a:rPr lang="en" dirty="0">
                <a:solidFill>
                  <a:srgbClr val="FF0000"/>
                </a:solidFill>
              </a:rPr>
              <a:t> </a:t>
            </a:r>
            <a:r>
              <a:rPr lang="en" dirty="0"/>
              <a:t>your class to make sure that it works correctly.</a:t>
            </a:r>
            <a:endParaRPr dirty="0"/>
          </a:p>
          <a:p>
            <a:pPr marL="457200" lvl="0" indent="-311150" algn="l" rtl="0">
              <a:spcBef>
                <a:spcPts val="0"/>
              </a:spcBef>
              <a:spcAft>
                <a:spcPts val="0"/>
              </a:spcAft>
              <a:buSzPts val="1300"/>
              <a:buChar char="●"/>
            </a:pPr>
            <a:r>
              <a:rPr lang="en" dirty="0"/>
              <a:t>What happens if you </a:t>
            </a:r>
            <a:r>
              <a:rPr lang="en" b="1" i="1" dirty="0">
                <a:solidFill>
                  <a:srgbClr val="FF0000"/>
                </a:solidFill>
              </a:rPr>
              <a:t>change</a:t>
            </a:r>
            <a:r>
              <a:rPr lang="en" dirty="0">
                <a:solidFill>
                  <a:srgbClr val="FF0000"/>
                </a:solidFill>
              </a:rPr>
              <a:t> </a:t>
            </a:r>
            <a:r>
              <a:rPr lang="en" dirty="0">
                <a:latin typeface="Courier New"/>
                <a:ea typeface="Courier New"/>
                <a:cs typeface="Courier New"/>
                <a:sym typeface="Courier New"/>
              </a:rPr>
              <a:t>DAYS_IN_YEAR</a:t>
            </a:r>
            <a:r>
              <a:rPr lang="en" dirty="0"/>
              <a:t> from your </a:t>
            </a:r>
            <a:r>
              <a:rPr lang="en" dirty="0">
                <a:latin typeface="Courier New"/>
                <a:ea typeface="Courier New"/>
                <a:cs typeface="Courier New"/>
                <a:sym typeface="Courier New"/>
              </a:rPr>
              <a:t>main</a:t>
            </a:r>
            <a:r>
              <a:rPr lang="en" dirty="0"/>
              <a:t> method </a:t>
            </a:r>
            <a:r>
              <a:rPr lang="en" b="1" i="1" dirty="0">
                <a:solidFill>
                  <a:srgbClr val="FF0000"/>
                </a:solidFill>
              </a:rPr>
              <a:t>before </a:t>
            </a:r>
            <a:r>
              <a:rPr lang="en" dirty="0"/>
              <a:t>calling the </a:t>
            </a:r>
            <a:r>
              <a:rPr lang="en" dirty="0">
                <a:latin typeface="Courier New"/>
                <a:ea typeface="Courier New"/>
                <a:cs typeface="Courier New"/>
                <a:sym typeface="Courier New"/>
              </a:rPr>
              <a:t>daysInYear</a:t>
            </a:r>
            <a:r>
              <a:rPr lang="en" dirty="0"/>
              <a:t> method?</a:t>
            </a:r>
            <a:endParaRPr dirty="0"/>
          </a:p>
        </p:txBody>
      </p:sp>
      <p:sp>
        <p:nvSpPr>
          <p:cNvPr id="888" name="Google Shape;888;p97"/>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Days in a Year</a:t>
            </a:r>
            <a:endParaRPr/>
          </a:p>
        </p:txBody>
      </p:sp>
      <p:sp>
        <p:nvSpPr>
          <p:cNvPr id="889" name="Google Shape;889;p97"/>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2.18</a:t>
            </a:r>
            <a:endParaRPr/>
          </a:p>
        </p:txBody>
      </p:sp>
      <p:sp>
        <p:nvSpPr>
          <p:cNvPr id="890" name="Google Shape;890;p97"/>
          <p:cNvSpPr txBox="1">
            <a:spLocks noGrp="1"/>
          </p:cNvSpPr>
          <p:nvPr>
            <p:ph type="body" idx="4"/>
          </p:nvPr>
        </p:nvSpPr>
        <p:spPr>
          <a:xfrm>
            <a:off x="141600" y="44617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If needed, you may refer to the code that you wrote for earlier activities in this unit.</a:t>
            </a:r>
            <a:endParaRPr/>
          </a:p>
        </p:txBody>
      </p:sp>
      <p:pic>
        <p:nvPicPr>
          <p:cNvPr id="891" name="Google Shape;891;p97"/>
          <p:cNvPicPr preferRelativeResize="0"/>
          <p:nvPr/>
        </p:nvPicPr>
        <p:blipFill>
          <a:blip r:embed="rId3">
            <a:alphaModFix/>
          </a:blip>
          <a:stretch>
            <a:fillRect/>
          </a:stretch>
        </p:blipFill>
        <p:spPr>
          <a:xfrm>
            <a:off x="614712" y="1709750"/>
            <a:ext cx="2077471" cy="268937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98"/>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The Year class currently has a single static method. Let's improve it so that instances of the class can be created to represent an individual year.</a:t>
            </a:r>
            <a:endParaRPr/>
          </a:p>
        </p:txBody>
      </p:sp>
      <p:sp>
        <p:nvSpPr>
          <p:cNvPr id="897" name="Google Shape;897;p9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53</a:t>
            </a:fld>
            <a:endParaRPr/>
          </a:p>
        </p:txBody>
      </p:sp>
      <p:sp>
        <p:nvSpPr>
          <p:cNvPr id="898" name="Google Shape;898;p98"/>
          <p:cNvSpPr txBox="1">
            <a:spLocks noGrp="1"/>
          </p:cNvSpPr>
          <p:nvPr>
            <p:ph type="body" idx="2"/>
          </p:nvPr>
        </p:nvSpPr>
        <p:spPr>
          <a:xfrm>
            <a:off x="3264300" y="1503725"/>
            <a:ext cx="5756700" cy="3482400"/>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Year</a:t>
            </a:r>
            <a:r>
              <a:rPr lang="en" sz="1500" dirty="0"/>
              <a:t> class and make the following changes:</a:t>
            </a:r>
            <a:endParaRPr sz="1500" dirty="0"/>
          </a:p>
          <a:p>
            <a:pPr marL="914400" lvl="1" indent="-311150" algn="l" rtl="0">
              <a:spcBef>
                <a:spcPts val="0"/>
              </a:spcBef>
              <a:spcAft>
                <a:spcPts val="0"/>
              </a:spcAft>
              <a:buSzPts val="1300"/>
              <a:buChar char="○"/>
            </a:pPr>
            <a:r>
              <a:rPr lang="en" sz="1300" b="1" i="1" dirty="0">
                <a:solidFill>
                  <a:srgbClr val="FF0000"/>
                </a:solidFill>
              </a:rPr>
              <a:t>Add </a:t>
            </a:r>
            <a:r>
              <a:rPr lang="en" sz="1300" dirty="0"/>
              <a:t>a field to hold the value for the </a:t>
            </a:r>
            <a:r>
              <a:rPr lang="en" sz="1300" dirty="0">
                <a:solidFill>
                  <a:srgbClr val="FF0000"/>
                </a:solidFill>
                <a:latin typeface="Courier New"/>
                <a:ea typeface="Courier New"/>
                <a:cs typeface="Courier New"/>
                <a:sym typeface="Courier New"/>
              </a:rPr>
              <a:t>yearNumber</a:t>
            </a:r>
            <a:r>
              <a:rPr lang="en" sz="1300" dirty="0"/>
              <a:t>.</a:t>
            </a:r>
            <a:endParaRPr sz="1300" dirty="0"/>
          </a:p>
          <a:p>
            <a:pPr marL="914400" lvl="1" indent="-311150" algn="l" rtl="0">
              <a:spcBef>
                <a:spcPts val="0"/>
              </a:spcBef>
              <a:spcAft>
                <a:spcPts val="0"/>
              </a:spcAft>
              <a:buSzPts val="1300"/>
              <a:buChar char="○"/>
            </a:pPr>
            <a:r>
              <a:rPr lang="en" sz="1300" b="1" i="1" dirty="0">
                <a:solidFill>
                  <a:srgbClr val="FF0000"/>
                </a:solidFill>
              </a:rPr>
              <a:t>Add </a:t>
            </a:r>
            <a:r>
              <a:rPr lang="en" sz="1300" dirty="0"/>
              <a:t>a </a:t>
            </a:r>
            <a:r>
              <a:rPr lang="en" sz="1300" b="1" i="1" dirty="0">
                <a:solidFill>
                  <a:srgbClr val="FF0000"/>
                </a:solidFill>
              </a:rPr>
              <a:t>constructor</a:t>
            </a:r>
            <a:r>
              <a:rPr lang="en" sz="1300" dirty="0">
                <a:solidFill>
                  <a:srgbClr val="FF0000"/>
                </a:solidFill>
              </a:rPr>
              <a:t> </a:t>
            </a:r>
            <a:r>
              <a:rPr lang="en" sz="1300" dirty="0"/>
              <a:t>that creates a new </a:t>
            </a:r>
            <a:r>
              <a:rPr lang="en" sz="1300" dirty="0">
                <a:latin typeface="Courier New"/>
                <a:ea typeface="Courier New"/>
                <a:cs typeface="Courier New"/>
                <a:sym typeface="Courier New"/>
              </a:rPr>
              <a:t>Year</a:t>
            </a:r>
            <a:r>
              <a:rPr lang="en" sz="1300" dirty="0"/>
              <a:t> with a specified value.</a:t>
            </a:r>
            <a:endParaRPr sz="1300" dirty="0"/>
          </a:p>
          <a:p>
            <a:pPr marL="914400" lvl="1" indent="-311150" algn="l" rtl="0">
              <a:spcBef>
                <a:spcPts val="0"/>
              </a:spcBef>
              <a:spcAft>
                <a:spcPts val="0"/>
              </a:spcAft>
              <a:buSzPts val="1300"/>
              <a:buChar char="○"/>
            </a:pPr>
            <a:r>
              <a:rPr lang="en" sz="1300" b="1" i="1" dirty="0">
                <a:solidFill>
                  <a:srgbClr val="FF0000"/>
                </a:solidFill>
              </a:rPr>
              <a:t>Add </a:t>
            </a:r>
            <a:r>
              <a:rPr lang="en" sz="1300" dirty="0"/>
              <a:t>an </a:t>
            </a:r>
            <a:r>
              <a:rPr lang="en" sz="1300" b="1" i="1" dirty="0">
                <a:solidFill>
                  <a:srgbClr val="FF0000"/>
                </a:solidFill>
              </a:rPr>
              <a:t>accessor </a:t>
            </a:r>
            <a:r>
              <a:rPr lang="en" sz="1300" dirty="0"/>
              <a:t>for the </a:t>
            </a:r>
            <a:r>
              <a:rPr lang="en" sz="1300" dirty="0">
                <a:solidFill>
                  <a:srgbClr val="FF0000"/>
                </a:solidFill>
                <a:latin typeface="Courier New"/>
                <a:ea typeface="Courier New"/>
                <a:cs typeface="Courier New"/>
                <a:sym typeface="Courier New"/>
              </a:rPr>
              <a:t>yearNumber</a:t>
            </a:r>
            <a:r>
              <a:rPr lang="en" sz="1300" dirty="0"/>
              <a:t>.</a:t>
            </a:r>
            <a:endParaRPr sz="1300" dirty="0"/>
          </a:p>
          <a:p>
            <a:pPr marL="914400" lvl="1" indent="-311150" algn="l" rtl="0">
              <a:spcBef>
                <a:spcPts val="0"/>
              </a:spcBef>
              <a:spcAft>
                <a:spcPts val="0"/>
              </a:spcAft>
              <a:buSzPts val="1300"/>
              <a:buChar char="○"/>
            </a:pPr>
            <a:r>
              <a:rPr lang="en" sz="1300" dirty="0"/>
              <a:t>Does it make sense to add a mutator as well?</a:t>
            </a:r>
            <a:endParaRPr sz="1300" dirty="0"/>
          </a:p>
          <a:p>
            <a:pPr marL="914400" lvl="1" indent="-311150" algn="l" rtl="0">
              <a:spcBef>
                <a:spcPts val="0"/>
              </a:spcBef>
              <a:spcAft>
                <a:spcPts val="0"/>
              </a:spcAft>
              <a:buSzPts val="1300"/>
              <a:buChar char="○"/>
            </a:pPr>
            <a:r>
              <a:rPr lang="en" sz="1300" b="1" i="1" dirty="0">
                <a:solidFill>
                  <a:srgbClr val="FF0000"/>
                </a:solidFill>
              </a:rPr>
              <a:t>Define </a:t>
            </a:r>
            <a:r>
              <a:rPr lang="en" sz="1300" dirty="0"/>
              <a:t>a method named "</a:t>
            </a:r>
            <a:r>
              <a:rPr lang="en" sz="1300" dirty="0">
                <a:solidFill>
                  <a:srgbClr val="FF0000"/>
                </a:solidFill>
                <a:latin typeface="Courier New"/>
                <a:ea typeface="Courier New"/>
                <a:cs typeface="Courier New"/>
                <a:sym typeface="Courier New"/>
              </a:rPr>
              <a:t>numberOfDays</a:t>
            </a:r>
            <a:r>
              <a:rPr lang="en" sz="1300" dirty="0"/>
              <a:t>" that returns the number of days for this year.</a:t>
            </a:r>
            <a:endParaRPr sz="1300" dirty="0"/>
          </a:p>
          <a:p>
            <a:pPr marL="1371600" lvl="2" indent="-311150" algn="l" rtl="0">
              <a:spcBef>
                <a:spcPts val="0"/>
              </a:spcBef>
              <a:spcAft>
                <a:spcPts val="0"/>
              </a:spcAft>
              <a:buSzPts val="1300"/>
              <a:buChar char="■"/>
            </a:pPr>
            <a:r>
              <a:rPr lang="en" sz="1300" b="1" i="1" dirty="0">
                <a:solidFill>
                  <a:srgbClr val="FF0000"/>
                </a:solidFill>
              </a:rPr>
              <a:t>Hint</a:t>
            </a:r>
            <a:r>
              <a:rPr lang="en" sz="1300" b="1" i="1" dirty="0"/>
              <a:t>: </a:t>
            </a:r>
            <a:r>
              <a:rPr lang="en" sz="1300" dirty="0"/>
              <a:t>use the </a:t>
            </a:r>
            <a:r>
              <a:rPr lang="en" sz="1300" dirty="0">
                <a:latin typeface="Courier New"/>
                <a:ea typeface="Courier New"/>
                <a:cs typeface="Courier New"/>
                <a:sym typeface="Courier New"/>
              </a:rPr>
              <a:t>static</a:t>
            </a:r>
            <a:r>
              <a:rPr lang="en" sz="1300" dirty="0"/>
              <a:t> </a:t>
            </a:r>
            <a:r>
              <a:rPr lang="en" sz="1300" dirty="0">
                <a:solidFill>
                  <a:srgbClr val="FF0000"/>
                </a:solidFill>
                <a:latin typeface="Courier New"/>
                <a:ea typeface="Courier New"/>
                <a:cs typeface="Courier New"/>
                <a:sym typeface="Courier New"/>
              </a:rPr>
              <a:t>daysInYear</a:t>
            </a:r>
            <a:r>
              <a:rPr lang="en" sz="1300" dirty="0">
                <a:solidFill>
                  <a:srgbClr val="FF0000"/>
                </a:solidFill>
              </a:rPr>
              <a:t> </a:t>
            </a:r>
            <a:r>
              <a:rPr lang="en" sz="1300" dirty="0"/>
              <a:t>method to compute the value.</a:t>
            </a:r>
            <a:endParaRPr sz="1300" dirty="0"/>
          </a:p>
          <a:p>
            <a:pPr marL="914400" lvl="1" indent="-311150" algn="l" rtl="0">
              <a:spcBef>
                <a:spcPts val="0"/>
              </a:spcBef>
              <a:spcAft>
                <a:spcPts val="0"/>
              </a:spcAft>
              <a:buSzPts val="1300"/>
              <a:buChar char="○"/>
            </a:pPr>
            <a:r>
              <a:rPr lang="en" sz="1300" dirty="0"/>
              <a:t>Make sure to use </a:t>
            </a:r>
            <a:r>
              <a:rPr lang="en" sz="1300" b="1" i="1" dirty="0">
                <a:solidFill>
                  <a:srgbClr val="FF0000"/>
                </a:solidFill>
              </a:rPr>
              <a:t>proper encapsulation</a:t>
            </a:r>
            <a:r>
              <a:rPr lang="en" sz="1300" dirty="0"/>
              <a:t>!</a:t>
            </a:r>
            <a:endParaRPr sz="1300" dirty="0"/>
          </a:p>
          <a:p>
            <a:pPr marL="457200" lvl="0" indent="-323850" algn="l" rtl="0">
              <a:spcBef>
                <a:spcPts val="0"/>
              </a:spcBef>
              <a:spcAft>
                <a:spcPts val="0"/>
              </a:spcAft>
              <a:buSzPts val="1500"/>
              <a:buChar char="●"/>
            </a:pPr>
            <a:r>
              <a:rPr lang="en" sz="1500" dirty="0"/>
              <a:t>In </a:t>
            </a:r>
            <a:r>
              <a:rPr lang="en" sz="1500" dirty="0">
                <a:latin typeface="Courier New"/>
                <a:ea typeface="Courier New"/>
                <a:cs typeface="Courier New"/>
                <a:sym typeface="Courier New"/>
              </a:rPr>
              <a:t>main</a:t>
            </a:r>
            <a:r>
              <a:rPr lang="en" sz="1500" dirty="0"/>
              <a:t>, create several instances of your class to represent different years.</a:t>
            </a:r>
            <a:endParaRPr sz="1500" dirty="0"/>
          </a:p>
          <a:p>
            <a:pPr marL="914400" lvl="1" indent="-311150" algn="l" rtl="0">
              <a:spcBef>
                <a:spcPts val="0"/>
              </a:spcBef>
              <a:spcAft>
                <a:spcPts val="0"/>
              </a:spcAft>
              <a:buSzPts val="1300"/>
              <a:buChar char="○"/>
            </a:pPr>
            <a:r>
              <a:rPr lang="en" sz="1300" dirty="0"/>
              <a:t>Print each to standard output.</a:t>
            </a:r>
            <a:endParaRPr sz="1300" dirty="0"/>
          </a:p>
        </p:txBody>
      </p:sp>
      <p:sp>
        <p:nvSpPr>
          <p:cNvPr id="899" name="Google Shape;899;p9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Representing a Single Year</a:t>
            </a:r>
            <a:endParaRPr/>
          </a:p>
        </p:txBody>
      </p:sp>
      <p:sp>
        <p:nvSpPr>
          <p:cNvPr id="900" name="Google Shape;900;p9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2.19</a:t>
            </a:r>
            <a:endParaRPr/>
          </a:p>
        </p:txBody>
      </p:sp>
      <p:sp>
        <p:nvSpPr>
          <p:cNvPr id="901" name="Google Shape;901;p98"/>
          <p:cNvSpPr txBox="1">
            <a:spLocks noGrp="1"/>
          </p:cNvSpPr>
          <p:nvPr>
            <p:ph type="body" idx="4"/>
          </p:nvPr>
        </p:nvSpPr>
        <p:spPr>
          <a:xfrm>
            <a:off x="141600" y="43093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If needed, you may refer to the code that you wrote for earlier activities in this unit.</a:t>
            </a:r>
            <a:endParaRPr/>
          </a:p>
        </p:txBody>
      </p:sp>
      <p:pic>
        <p:nvPicPr>
          <p:cNvPr id="902" name="Google Shape;902;p98"/>
          <p:cNvPicPr preferRelativeResize="0"/>
          <p:nvPr/>
        </p:nvPicPr>
        <p:blipFill>
          <a:blip r:embed="rId3">
            <a:alphaModFix/>
          </a:blip>
          <a:stretch>
            <a:fillRect/>
          </a:stretch>
        </p:blipFill>
        <p:spPr>
          <a:xfrm>
            <a:off x="614712" y="1557350"/>
            <a:ext cx="2077471" cy="2689373"/>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99"/>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Once a value is assigned to a variable that uses the </a:t>
            </a:r>
            <a:r>
              <a:rPr lang="en">
                <a:latin typeface="Courier New"/>
                <a:ea typeface="Courier New"/>
                <a:cs typeface="Courier New"/>
                <a:sym typeface="Courier New"/>
              </a:rPr>
              <a:t>final</a:t>
            </a:r>
            <a:r>
              <a:rPr lang="en"/>
              <a:t> modifier, that value can never change. At least one of the fields inside the </a:t>
            </a:r>
            <a:r>
              <a:rPr lang="en">
                <a:latin typeface="Courier New"/>
                <a:ea typeface="Courier New"/>
                <a:cs typeface="Courier New"/>
                <a:sym typeface="Courier New"/>
              </a:rPr>
              <a:t>Year</a:t>
            </a:r>
            <a:r>
              <a:rPr lang="en"/>
              <a:t> class should be </a:t>
            </a:r>
            <a:r>
              <a:rPr lang="en">
                <a:latin typeface="Courier New"/>
                <a:ea typeface="Courier New"/>
                <a:cs typeface="Courier New"/>
                <a:sym typeface="Courier New"/>
              </a:rPr>
              <a:t>final</a:t>
            </a:r>
            <a:r>
              <a:rPr lang="en"/>
              <a:t>. Update the class to make it so.</a:t>
            </a:r>
            <a:endParaRPr/>
          </a:p>
        </p:txBody>
      </p:sp>
      <p:sp>
        <p:nvSpPr>
          <p:cNvPr id="908" name="Google Shape;908;p9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54</a:t>
            </a:fld>
            <a:endParaRPr/>
          </a:p>
        </p:txBody>
      </p:sp>
      <p:sp>
        <p:nvSpPr>
          <p:cNvPr id="909" name="Google Shape;909;p99"/>
          <p:cNvSpPr txBox="1">
            <a:spLocks noGrp="1"/>
          </p:cNvSpPr>
          <p:nvPr>
            <p:ph type="body" idx="2"/>
          </p:nvPr>
        </p:nvSpPr>
        <p:spPr>
          <a:xfrm>
            <a:off x="3346625" y="1710213"/>
            <a:ext cx="5586900" cy="2733026"/>
          </a:xfrm>
          <a:prstGeom prst="rect">
            <a:avLst/>
          </a:prstGeom>
        </p:spPr>
        <p:txBody>
          <a:bodyPr spcFirstLastPara="1" wrap="square" lIns="91425" tIns="91425" rIns="91425" bIns="91425" anchor="t" anchorCtr="0">
            <a:spAutoFit/>
          </a:bodyPr>
          <a:lstStyle/>
          <a:p>
            <a:pPr marL="457200" lvl="0" indent="-323850" algn="l" rtl="0">
              <a:spcBef>
                <a:spcPts val="0"/>
              </a:spcBef>
              <a:spcAft>
                <a:spcPts val="0"/>
              </a:spcAft>
              <a:buSzPts val="1500"/>
              <a:buChar char="●"/>
            </a:pPr>
            <a:r>
              <a:rPr lang="en" sz="1500" dirty="0"/>
              <a:t>Open the </a:t>
            </a:r>
            <a:r>
              <a:rPr lang="en" sz="1500" dirty="0">
                <a:latin typeface="Courier New"/>
                <a:ea typeface="Courier New"/>
                <a:cs typeface="Courier New"/>
                <a:sym typeface="Courier New"/>
              </a:rPr>
              <a:t>Year</a:t>
            </a:r>
            <a:r>
              <a:rPr lang="en" sz="1500" dirty="0"/>
              <a:t> class and navigate to the </a:t>
            </a:r>
            <a:r>
              <a:rPr lang="en" sz="1500" dirty="0">
                <a:solidFill>
                  <a:srgbClr val="FF0000"/>
                </a:solidFill>
                <a:latin typeface="Courier New"/>
                <a:ea typeface="Courier New"/>
                <a:cs typeface="Courier New"/>
                <a:sym typeface="Courier New"/>
              </a:rPr>
              <a:t>DAYS_IN_YEAR</a:t>
            </a:r>
            <a:r>
              <a:rPr lang="en" sz="1500" dirty="0">
                <a:solidFill>
                  <a:srgbClr val="FF0000"/>
                </a:solidFill>
              </a:rPr>
              <a:t> </a:t>
            </a:r>
            <a:r>
              <a:rPr lang="en" sz="1500" dirty="0"/>
              <a:t>variable.</a:t>
            </a:r>
            <a:endParaRPr sz="1500" dirty="0"/>
          </a:p>
          <a:p>
            <a:pPr marL="914400" lvl="1" indent="-311150" algn="l" rtl="0">
              <a:spcBef>
                <a:spcPts val="0"/>
              </a:spcBef>
              <a:spcAft>
                <a:spcPts val="0"/>
              </a:spcAft>
              <a:buSzPts val="1300"/>
              <a:buChar char="○"/>
            </a:pPr>
            <a:r>
              <a:rPr lang="en" sz="1300" dirty="0">
                <a:highlight>
                  <a:srgbClr val="FFFF00"/>
                </a:highlight>
              </a:rPr>
              <a:t>Use the </a:t>
            </a:r>
            <a:r>
              <a:rPr lang="en" sz="1300" dirty="0">
                <a:solidFill>
                  <a:srgbClr val="FF0000"/>
                </a:solidFill>
                <a:highlight>
                  <a:srgbClr val="FFFF00"/>
                </a:highlight>
                <a:latin typeface="Courier New"/>
                <a:ea typeface="Courier New"/>
                <a:cs typeface="Courier New"/>
                <a:sym typeface="Courier New"/>
              </a:rPr>
              <a:t>final</a:t>
            </a:r>
            <a:r>
              <a:rPr lang="en" sz="1300" dirty="0">
                <a:solidFill>
                  <a:srgbClr val="FF0000"/>
                </a:solidFill>
                <a:highlight>
                  <a:srgbClr val="FFFF00"/>
                </a:highlight>
              </a:rPr>
              <a:t> </a:t>
            </a:r>
            <a:r>
              <a:rPr lang="en" sz="1300" b="1" i="1" dirty="0">
                <a:solidFill>
                  <a:srgbClr val="FF0000"/>
                </a:solidFill>
                <a:highlight>
                  <a:srgbClr val="FFFF00"/>
                </a:highlight>
              </a:rPr>
              <a:t>modifier </a:t>
            </a:r>
            <a:r>
              <a:rPr lang="en" sz="1300" dirty="0">
                <a:highlight>
                  <a:srgbClr val="FFFF00"/>
                </a:highlight>
              </a:rPr>
              <a:t>to make it a constant (immutable).</a:t>
            </a:r>
            <a:endParaRPr sz="1300" dirty="0">
              <a:highlight>
                <a:srgbClr val="FFFF00"/>
              </a:highlight>
            </a:endParaRPr>
          </a:p>
          <a:p>
            <a:pPr marL="914400" lvl="1" indent="-311150" algn="l" rtl="0">
              <a:spcBef>
                <a:spcPts val="0"/>
              </a:spcBef>
              <a:spcAft>
                <a:spcPts val="0"/>
              </a:spcAft>
              <a:buSzPts val="1300"/>
              <a:buChar char="○"/>
            </a:pPr>
            <a:r>
              <a:rPr lang="en" sz="1300" dirty="0"/>
              <a:t>This may cause compilation problems elsewhere in your code. Comment out any broken code.</a:t>
            </a:r>
            <a:endParaRPr sz="1300" dirty="0"/>
          </a:p>
          <a:p>
            <a:pPr marL="457200" lvl="0" indent="-323850" algn="l" rtl="0">
              <a:spcBef>
                <a:spcPts val="0"/>
              </a:spcBef>
              <a:spcAft>
                <a:spcPts val="0"/>
              </a:spcAft>
              <a:buSzPts val="1500"/>
              <a:buChar char="●"/>
            </a:pPr>
            <a:r>
              <a:rPr lang="en" sz="1500" dirty="0"/>
              <a:t>Remember, </a:t>
            </a:r>
            <a:r>
              <a:rPr lang="en" sz="1500" dirty="0">
                <a:latin typeface="Courier New"/>
                <a:ea typeface="Courier New"/>
                <a:cs typeface="Courier New"/>
                <a:sym typeface="Courier New"/>
              </a:rPr>
              <a:t>final</a:t>
            </a:r>
            <a:r>
              <a:rPr lang="en" sz="1500" dirty="0"/>
              <a:t> is meant for values that, once they are set, should never change. Are there any other values in Year that should be modified with </a:t>
            </a:r>
            <a:r>
              <a:rPr lang="en" sz="1500" dirty="0">
                <a:latin typeface="Courier New"/>
                <a:ea typeface="Courier New"/>
                <a:cs typeface="Courier New"/>
                <a:sym typeface="Courier New"/>
              </a:rPr>
              <a:t>final</a:t>
            </a:r>
            <a:r>
              <a:rPr lang="en" sz="1500" dirty="0"/>
              <a:t>?</a:t>
            </a:r>
            <a:endParaRPr sz="1500" dirty="0"/>
          </a:p>
          <a:p>
            <a:pPr marL="457200" lvl="0" indent="-323850" algn="l" rtl="0">
              <a:spcBef>
                <a:spcPts val="0"/>
              </a:spcBef>
              <a:spcAft>
                <a:spcPts val="0"/>
              </a:spcAft>
              <a:buSzPts val="1500"/>
              <a:buChar char="●"/>
            </a:pPr>
            <a:r>
              <a:rPr lang="en" sz="1500" b="1" i="1" dirty="0">
                <a:solidFill>
                  <a:srgbClr val="FF0000"/>
                </a:solidFill>
              </a:rPr>
              <a:t>Run </a:t>
            </a:r>
            <a:r>
              <a:rPr lang="en" sz="1500" dirty="0"/>
              <a:t>your class to make sure that everything is still working.</a:t>
            </a:r>
            <a:endParaRPr sz="1500" dirty="0"/>
          </a:p>
        </p:txBody>
      </p:sp>
      <p:sp>
        <p:nvSpPr>
          <p:cNvPr id="910" name="Google Shape;910;p99"/>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Immutable Fields</a:t>
            </a:r>
            <a:endParaRPr/>
          </a:p>
        </p:txBody>
      </p:sp>
      <p:sp>
        <p:nvSpPr>
          <p:cNvPr id="911" name="Google Shape;911;p9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2.20</a:t>
            </a:r>
            <a:endParaRPr/>
          </a:p>
        </p:txBody>
      </p:sp>
      <p:sp>
        <p:nvSpPr>
          <p:cNvPr id="912" name="Google Shape;912;p99"/>
          <p:cNvSpPr txBox="1">
            <a:spLocks noGrp="1"/>
          </p:cNvSpPr>
          <p:nvPr>
            <p:ph type="body" idx="4"/>
          </p:nvPr>
        </p:nvSpPr>
        <p:spPr>
          <a:xfrm>
            <a:off x="141600" y="43855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If needed, you may refer to the code that you wrote for earlier activities in this unit.</a:t>
            </a:r>
            <a:endParaRPr/>
          </a:p>
        </p:txBody>
      </p:sp>
      <p:pic>
        <p:nvPicPr>
          <p:cNvPr id="913" name="Google Shape;913;p99"/>
          <p:cNvPicPr preferRelativeResize="0"/>
          <p:nvPr/>
        </p:nvPicPr>
        <p:blipFill>
          <a:blip r:embed="rId3">
            <a:alphaModFix/>
          </a:blip>
          <a:stretch>
            <a:fillRect/>
          </a:stretch>
        </p:blipFill>
        <p:spPr>
          <a:xfrm>
            <a:off x="614712" y="1633550"/>
            <a:ext cx="2077471" cy="268937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100"/>
          <p:cNvSpPr txBox="1">
            <a:spLocks noGrp="1"/>
          </p:cNvSpPr>
          <p:nvPr>
            <p:ph type="body" idx="1"/>
          </p:nvPr>
        </p:nvSpPr>
        <p:spPr>
          <a:xfrm>
            <a:off x="65250" y="7316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Java includes a number of special methods, but the default implementations are not very useful. Let's continue to enhance the Year class by adding more useful implementations of some of those special methods.</a:t>
            </a:r>
            <a:endParaRPr/>
          </a:p>
        </p:txBody>
      </p:sp>
      <p:sp>
        <p:nvSpPr>
          <p:cNvPr id="919" name="Google Shape;919;p10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55</a:t>
            </a:fld>
            <a:endParaRPr/>
          </a:p>
        </p:txBody>
      </p:sp>
      <p:sp>
        <p:nvSpPr>
          <p:cNvPr id="920" name="Google Shape;920;p100"/>
          <p:cNvSpPr txBox="1">
            <a:spLocks noGrp="1"/>
          </p:cNvSpPr>
          <p:nvPr>
            <p:ph type="body" idx="2"/>
          </p:nvPr>
        </p:nvSpPr>
        <p:spPr>
          <a:xfrm>
            <a:off x="3271775" y="1714975"/>
            <a:ext cx="5661900" cy="22479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Add a special method that returns a string representation of the year in the format:</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"Year{yearNumber=&lt;yearNumber&gt;, days=&lt;number of days&gt;}"</a:t>
            </a:r>
            <a:endParaRPr dirty="0"/>
          </a:p>
          <a:p>
            <a:pPr marL="914400" lvl="1" indent="-298450" algn="l" rtl="0">
              <a:spcBef>
                <a:spcPts val="0"/>
              </a:spcBef>
              <a:spcAft>
                <a:spcPts val="0"/>
              </a:spcAft>
              <a:buSzPts val="1100"/>
              <a:buChar char="○"/>
            </a:pPr>
            <a:r>
              <a:rPr lang="en" dirty="0"/>
              <a:t>Test your new method in </a:t>
            </a:r>
            <a:r>
              <a:rPr lang="en" dirty="0">
                <a:latin typeface="Courier New"/>
                <a:ea typeface="Courier New"/>
                <a:cs typeface="Courier New"/>
                <a:sym typeface="Courier New"/>
              </a:rPr>
              <a:t>main</a:t>
            </a:r>
            <a:r>
              <a:rPr lang="en" dirty="0"/>
              <a:t> by creating at least 3 different years and printing them to standard output.</a:t>
            </a:r>
            <a:endParaRPr dirty="0"/>
          </a:p>
          <a:p>
            <a:pPr marL="457200" lvl="0" indent="-311150" algn="l" rtl="0">
              <a:spcBef>
                <a:spcPts val="0"/>
              </a:spcBef>
              <a:spcAft>
                <a:spcPts val="0"/>
              </a:spcAft>
              <a:buSzPts val="1300"/>
              <a:buChar char="●"/>
            </a:pPr>
            <a:r>
              <a:rPr lang="en" dirty="0"/>
              <a:t>Add a special method to the Year class so that two individual years are considered equal if they have the same </a:t>
            </a:r>
            <a:r>
              <a:rPr lang="en" dirty="0">
                <a:latin typeface="Courier New"/>
                <a:ea typeface="Courier New"/>
                <a:cs typeface="Courier New"/>
                <a:sym typeface="Courier New"/>
              </a:rPr>
              <a:t>yearNumber</a:t>
            </a:r>
            <a:r>
              <a:rPr lang="en" dirty="0"/>
              <a:t>.  </a:t>
            </a:r>
            <a:endParaRPr dirty="0"/>
          </a:p>
          <a:p>
            <a:pPr marL="914400" lvl="1" indent="-298450" algn="l" rtl="0">
              <a:spcBef>
                <a:spcPts val="0"/>
              </a:spcBef>
              <a:spcAft>
                <a:spcPts val="0"/>
              </a:spcAft>
              <a:buSzPts val="1100"/>
              <a:buChar char="○"/>
            </a:pPr>
            <a:r>
              <a:rPr lang="en" dirty="0"/>
              <a:t>Test the new method from </a:t>
            </a:r>
            <a:r>
              <a:rPr lang="en" dirty="0">
                <a:latin typeface="Courier New"/>
                <a:ea typeface="Courier New"/>
                <a:cs typeface="Courier New"/>
                <a:sym typeface="Courier New"/>
              </a:rPr>
              <a:t>main</a:t>
            </a:r>
            <a:r>
              <a:rPr lang="en" dirty="0"/>
              <a:t> by creating at least one more year that is equal to one of the years that you previously created.</a:t>
            </a:r>
            <a:endParaRPr dirty="0"/>
          </a:p>
          <a:p>
            <a:pPr marL="914400" lvl="1" indent="-298450" algn="l" rtl="0">
              <a:spcBef>
                <a:spcPts val="0"/>
              </a:spcBef>
              <a:spcAft>
                <a:spcPts val="0"/>
              </a:spcAft>
              <a:buSzPts val="1100"/>
              <a:buChar char="○"/>
            </a:pPr>
            <a:r>
              <a:rPr lang="en" dirty="0"/>
              <a:t>Print the results of comparing the new year to at least two other years.</a:t>
            </a:r>
            <a:endParaRPr dirty="0"/>
          </a:p>
        </p:txBody>
      </p:sp>
      <p:sp>
        <p:nvSpPr>
          <p:cNvPr id="921" name="Google Shape;921;p100"/>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Adding Special Methods</a:t>
            </a:r>
            <a:endParaRPr/>
          </a:p>
        </p:txBody>
      </p:sp>
      <p:sp>
        <p:nvSpPr>
          <p:cNvPr id="922" name="Google Shape;922;p100"/>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2.21</a:t>
            </a:r>
            <a:endParaRPr/>
          </a:p>
        </p:txBody>
      </p:sp>
      <p:sp>
        <p:nvSpPr>
          <p:cNvPr id="923" name="Google Shape;923;p100"/>
          <p:cNvSpPr txBox="1">
            <a:spLocks noGrp="1"/>
          </p:cNvSpPr>
          <p:nvPr>
            <p:ph type="body" idx="4"/>
          </p:nvPr>
        </p:nvSpPr>
        <p:spPr>
          <a:xfrm>
            <a:off x="141600" y="4461700"/>
            <a:ext cx="30237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If needed, you may refer to the code that you wrote for earlier activities in this unit.</a:t>
            </a:r>
            <a:endParaRPr/>
          </a:p>
        </p:txBody>
      </p:sp>
      <p:pic>
        <p:nvPicPr>
          <p:cNvPr id="924" name="Google Shape;924;p100"/>
          <p:cNvPicPr preferRelativeResize="0"/>
          <p:nvPr/>
        </p:nvPicPr>
        <p:blipFill>
          <a:blip r:embed="rId3">
            <a:alphaModFix/>
          </a:blip>
          <a:stretch>
            <a:fillRect/>
          </a:stretch>
        </p:blipFill>
        <p:spPr>
          <a:xfrm>
            <a:off x="614712" y="1709750"/>
            <a:ext cx="2077471" cy="268937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p101"/>
          <p:cNvSpPr txBox="1">
            <a:spLocks noGrp="1"/>
          </p:cNvSpPr>
          <p:nvPr>
            <p:ph type="title"/>
          </p:nvPr>
        </p:nvSpPr>
        <p:spPr>
          <a:xfrm>
            <a:off x="311725" y="54774"/>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JavaDoc</a:t>
            </a:r>
            <a:endParaRPr/>
          </a:p>
        </p:txBody>
      </p:sp>
      <p:sp>
        <p:nvSpPr>
          <p:cNvPr id="930" name="Google Shape;930;p101"/>
          <p:cNvSpPr txBox="1">
            <a:spLocks noGrp="1"/>
          </p:cNvSpPr>
          <p:nvPr>
            <p:ph type="body" idx="1"/>
          </p:nvPr>
        </p:nvSpPr>
        <p:spPr>
          <a:xfrm>
            <a:off x="4419800" y="119925"/>
            <a:ext cx="4569000" cy="4741200"/>
          </a:xfrm>
          <a:prstGeom prst="rect">
            <a:avLst/>
          </a:prstGeom>
        </p:spPr>
        <p:txBody>
          <a:bodyPr spcFirstLastPara="1" wrap="square" lIns="91425" tIns="91425" rIns="91425" bIns="91425" anchor="ctr" anchorCtr="0">
            <a:spAutoFit/>
          </a:bodyPr>
          <a:lstStyle/>
          <a:p>
            <a:pPr marL="457200" lvl="0" indent="-304800" algn="l" rtl="0">
              <a:spcBef>
                <a:spcPts val="0"/>
              </a:spcBef>
              <a:spcAft>
                <a:spcPts val="0"/>
              </a:spcAft>
              <a:buSzPts val="1200"/>
              <a:buChar char="●"/>
            </a:pPr>
            <a:r>
              <a:rPr lang="en" sz="1200" b="1" i="1" dirty="0">
                <a:solidFill>
                  <a:srgbClr val="FF0000"/>
                </a:solidFill>
              </a:rPr>
              <a:t>JavaDoc</a:t>
            </a:r>
            <a:r>
              <a:rPr lang="en" sz="1200" dirty="0">
                <a:solidFill>
                  <a:srgbClr val="FF0000"/>
                </a:solidFill>
              </a:rPr>
              <a:t> </a:t>
            </a:r>
            <a:r>
              <a:rPr lang="en" sz="1200" dirty="0"/>
              <a:t>is a special kind of comment that can be used to document </a:t>
            </a:r>
            <a:r>
              <a:rPr lang="en" sz="1200" b="1" i="1" dirty="0">
                <a:solidFill>
                  <a:srgbClr val="FF0000"/>
                </a:solidFill>
              </a:rPr>
              <a:t>classes</a:t>
            </a:r>
            <a:r>
              <a:rPr lang="en" sz="1200" dirty="0"/>
              <a:t>, </a:t>
            </a:r>
            <a:r>
              <a:rPr lang="en" sz="1200" b="1" i="1" dirty="0">
                <a:solidFill>
                  <a:srgbClr val="FF0000"/>
                </a:solidFill>
              </a:rPr>
              <a:t>methods</a:t>
            </a:r>
            <a:r>
              <a:rPr lang="en" sz="1200" dirty="0"/>
              <a:t>, and </a:t>
            </a:r>
            <a:r>
              <a:rPr lang="en" sz="1200" b="1" i="1" dirty="0">
                <a:solidFill>
                  <a:srgbClr val="FF0000"/>
                </a:solidFill>
              </a:rPr>
              <a:t>fields</a:t>
            </a:r>
            <a:r>
              <a:rPr lang="en" sz="1200" dirty="0"/>
              <a:t>.</a:t>
            </a:r>
            <a:endParaRPr sz="1200" dirty="0"/>
          </a:p>
          <a:p>
            <a:pPr marL="914400" lvl="1" indent="-292100" algn="l" rtl="0">
              <a:spcBef>
                <a:spcPts val="0"/>
              </a:spcBef>
              <a:spcAft>
                <a:spcPts val="0"/>
              </a:spcAft>
              <a:buSzPts val="1000"/>
              <a:buChar char="○"/>
            </a:pPr>
            <a:r>
              <a:rPr lang="en" sz="1000" dirty="0"/>
              <a:t>A JavaDoc is a </a:t>
            </a:r>
            <a:r>
              <a:rPr lang="en" sz="1000" b="1" i="1" dirty="0">
                <a:solidFill>
                  <a:srgbClr val="FF0000"/>
                </a:solidFill>
              </a:rPr>
              <a:t>multi-line comment</a:t>
            </a:r>
            <a:r>
              <a:rPr lang="en" sz="1000" dirty="0"/>
              <a:t> that begins with </a:t>
            </a:r>
            <a:r>
              <a:rPr lang="en" sz="1000" dirty="0">
                <a:solidFill>
                  <a:srgbClr val="FF0000"/>
                </a:solidFill>
                <a:latin typeface="Courier New"/>
                <a:ea typeface="Courier New"/>
                <a:cs typeface="Courier New"/>
                <a:sym typeface="Courier New"/>
              </a:rPr>
              <a:t>/**</a:t>
            </a:r>
            <a:r>
              <a:rPr lang="en" sz="1000" dirty="0"/>
              <a:t> and ends with </a:t>
            </a:r>
            <a:r>
              <a:rPr lang="en" sz="1000" dirty="0">
                <a:solidFill>
                  <a:srgbClr val="FF0000"/>
                </a:solidFill>
                <a:latin typeface="Courier New"/>
                <a:ea typeface="Courier New"/>
                <a:cs typeface="Courier New"/>
                <a:sym typeface="Courier New"/>
              </a:rPr>
              <a:t>*/</a:t>
            </a:r>
            <a:r>
              <a:rPr lang="en" sz="1000" dirty="0"/>
              <a:t>.</a:t>
            </a:r>
            <a:endParaRPr sz="1000" dirty="0"/>
          </a:p>
          <a:p>
            <a:pPr marL="914400" lvl="1" indent="-292100" algn="l" rtl="0">
              <a:spcBef>
                <a:spcPts val="0"/>
              </a:spcBef>
              <a:spcAft>
                <a:spcPts val="0"/>
              </a:spcAft>
              <a:buSzPts val="1000"/>
              <a:buChar char="○"/>
            </a:pPr>
            <a:r>
              <a:rPr lang="en" sz="1000" dirty="0"/>
              <a:t>When you hit enter after typing </a:t>
            </a:r>
            <a:r>
              <a:rPr lang="en" sz="1000" dirty="0">
                <a:solidFill>
                  <a:srgbClr val="FF0000"/>
                </a:solidFill>
                <a:latin typeface="Courier New"/>
                <a:ea typeface="Courier New"/>
                <a:cs typeface="Courier New"/>
                <a:sym typeface="Courier New"/>
              </a:rPr>
              <a:t>/**</a:t>
            </a:r>
            <a:r>
              <a:rPr lang="en" sz="1000" dirty="0"/>
              <a:t>, VS Code will helpfully </a:t>
            </a:r>
            <a:r>
              <a:rPr lang="en" sz="1000" b="1" i="1" dirty="0">
                <a:solidFill>
                  <a:srgbClr val="FF0000"/>
                </a:solidFill>
              </a:rPr>
              <a:t>stub out</a:t>
            </a:r>
            <a:r>
              <a:rPr lang="en" sz="1000" dirty="0"/>
              <a:t> the rest of the JavaDoc comment.</a:t>
            </a:r>
            <a:endParaRPr sz="1000" dirty="0"/>
          </a:p>
          <a:p>
            <a:pPr marL="457200" lvl="0" indent="-304800" algn="l" rtl="0">
              <a:spcBef>
                <a:spcPts val="1000"/>
              </a:spcBef>
              <a:spcAft>
                <a:spcPts val="0"/>
              </a:spcAft>
              <a:buSzPts val="1200"/>
              <a:buChar char="●"/>
            </a:pPr>
            <a:r>
              <a:rPr lang="en" sz="1200" dirty="0"/>
              <a:t>A JavaDoc comment should </a:t>
            </a:r>
            <a:r>
              <a:rPr lang="en" sz="1200" b="1" i="1" dirty="0">
                <a:solidFill>
                  <a:srgbClr val="FF0000"/>
                </a:solidFill>
              </a:rPr>
              <a:t>immediately precede</a:t>
            </a:r>
            <a:r>
              <a:rPr lang="en" sz="1200" dirty="0">
                <a:solidFill>
                  <a:srgbClr val="FF0000"/>
                </a:solidFill>
              </a:rPr>
              <a:t> </a:t>
            </a:r>
            <a:r>
              <a:rPr lang="en" sz="1200" dirty="0"/>
              <a:t>whatever it is being used to document.</a:t>
            </a:r>
            <a:endParaRPr sz="1200" dirty="0"/>
          </a:p>
          <a:p>
            <a:pPr marL="457200" lvl="0" indent="-304800" algn="l" rtl="0">
              <a:spcBef>
                <a:spcPts val="1000"/>
              </a:spcBef>
              <a:spcAft>
                <a:spcPts val="0"/>
              </a:spcAft>
              <a:buSzPts val="1200"/>
              <a:buChar char="●"/>
            </a:pPr>
            <a:r>
              <a:rPr lang="en" sz="1200" dirty="0"/>
              <a:t>JavaDoc also supports many special </a:t>
            </a:r>
            <a:r>
              <a:rPr lang="en" sz="1200" b="1" i="1" dirty="0">
                <a:solidFill>
                  <a:srgbClr val="FF0000"/>
                </a:solidFill>
              </a:rPr>
              <a:t>tags</a:t>
            </a:r>
            <a:r>
              <a:rPr lang="en" sz="1200" dirty="0">
                <a:solidFill>
                  <a:srgbClr val="FF0000"/>
                </a:solidFill>
              </a:rPr>
              <a:t> </a:t>
            </a:r>
            <a:r>
              <a:rPr lang="en" sz="1200" dirty="0"/>
              <a:t>- special reserved words starting with an </a:t>
            </a:r>
            <a:r>
              <a:rPr lang="en" sz="1200" dirty="0">
                <a:solidFill>
                  <a:srgbClr val="FF0000"/>
                </a:solidFill>
                <a:latin typeface="Courier New"/>
                <a:ea typeface="Courier New"/>
                <a:cs typeface="Courier New"/>
                <a:sym typeface="Courier New"/>
              </a:rPr>
              <a:t>@</a:t>
            </a:r>
            <a:r>
              <a:rPr lang="en" sz="1200" dirty="0"/>
              <a:t>.</a:t>
            </a:r>
            <a:endParaRPr sz="1200" dirty="0"/>
          </a:p>
          <a:p>
            <a:pPr marL="914400" lvl="1" indent="-292100" algn="l" rtl="0">
              <a:spcBef>
                <a:spcPts val="0"/>
              </a:spcBef>
              <a:spcAft>
                <a:spcPts val="0"/>
              </a:spcAft>
              <a:buSzPts val="1000"/>
              <a:buChar char="○"/>
            </a:pPr>
            <a:r>
              <a:rPr lang="en" sz="1000" dirty="0"/>
              <a:t>For example, an </a:t>
            </a:r>
            <a:r>
              <a:rPr lang="en" sz="1000" dirty="0">
                <a:solidFill>
                  <a:srgbClr val="FF0000"/>
                </a:solidFill>
                <a:latin typeface="Courier New"/>
                <a:ea typeface="Courier New"/>
                <a:cs typeface="Courier New"/>
                <a:sym typeface="Courier New"/>
              </a:rPr>
              <a:t>@author</a:t>
            </a:r>
            <a:r>
              <a:rPr lang="en" sz="1000" dirty="0"/>
              <a:t> tag can be included with the JavaDoc for a class to identify the author of the class.</a:t>
            </a:r>
            <a:endParaRPr sz="1000" dirty="0"/>
          </a:p>
          <a:p>
            <a:pPr marL="457200" lvl="0" indent="-304800" algn="l" rtl="0">
              <a:spcBef>
                <a:spcPts val="1000"/>
              </a:spcBef>
              <a:spcAft>
                <a:spcPts val="0"/>
              </a:spcAft>
              <a:buSzPts val="1200"/>
              <a:buChar char="●"/>
            </a:pPr>
            <a:r>
              <a:rPr lang="en" sz="1200" dirty="0"/>
              <a:t>There are some special tags that can be used with JavaDoc documenting a method.</a:t>
            </a:r>
            <a:endParaRPr sz="1200" dirty="0"/>
          </a:p>
          <a:p>
            <a:pPr marL="914400" lvl="1" indent="-292100" algn="l" rtl="0">
              <a:spcBef>
                <a:spcPts val="0"/>
              </a:spcBef>
              <a:spcAft>
                <a:spcPts val="0"/>
              </a:spcAft>
              <a:buSzPts val="1000"/>
              <a:buChar char="○"/>
            </a:pPr>
            <a:r>
              <a:rPr lang="en" sz="1000" dirty="0">
                <a:solidFill>
                  <a:srgbClr val="FF0000"/>
                </a:solidFill>
                <a:highlight>
                  <a:srgbClr val="FFFF00"/>
                </a:highlight>
                <a:latin typeface="Courier New"/>
                <a:ea typeface="Courier New"/>
                <a:cs typeface="Courier New"/>
                <a:sym typeface="Courier New"/>
              </a:rPr>
              <a:t>@param &lt;name&gt;</a:t>
            </a:r>
            <a:r>
              <a:rPr lang="en" sz="1000" dirty="0">
                <a:highlight>
                  <a:srgbClr val="FFFF00"/>
                </a:highlight>
              </a:rPr>
              <a:t> documents the purpose of the parameter with the specified name.</a:t>
            </a:r>
            <a:endParaRPr sz="1000" dirty="0">
              <a:highlight>
                <a:srgbClr val="FFFF00"/>
              </a:highlight>
            </a:endParaRPr>
          </a:p>
          <a:p>
            <a:pPr marL="914400" lvl="1" indent="-292100" algn="l" rtl="0">
              <a:spcBef>
                <a:spcPts val="0"/>
              </a:spcBef>
              <a:spcAft>
                <a:spcPts val="0"/>
              </a:spcAft>
              <a:buSzPts val="1000"/>
              <a:buChar char="○"/>
            </a:pPr>
            <a:r>
              <a:rPr lang="en" sz="1000" dirty="0">
                <a:solidFill>
                  <a:srgbClr val="FF0000"/>
                </a:solidFill>
                <a:highlight>
                  <a:srgbClr val="FFFF00"/>
                </a:highlight>
                <a:latin typeface="Courier New"/>
                <a:ea typeface="Courier New"/>
                <a:cs typeface="Courier New"/>
                <a:sym typeface="Courier New"/>
              </a:rPr>
              <a:t>@return</a:t>
            </a:r>
            <a:r>
              <a:rPr lang="en" sz="1000" dirty="0">
                <a:highlight>
                  <a:srgbClr val="FFFF00"/>
                </a:highlight>
              </a:rPr>
              <a:t> documents the return value (if there is one).</a:t>
            </a:r>
            <a:endParaRPr sz="1000" dirty="0">
              <a:highlight>
                <a:srgbClr val="FFFF00"/>
              </a:highlight>
            </a:endParaRPr>
          </a:p>
          <a:p>
            <a:pPr marL="914400" lvl="1" indent="-292100" algn="l" rtl="0">
              <a:spcBef>
                <a:spcPts val="0"/>
              </a:spcBef>
              <a:spcAft>
                <a:spcPts val="0"/>
              </a:spcAft>
              <a:buSzPts val="1000"/>
              <a:buChar char="○"/>
            </a:pPr>
            <a:r>
              <a:rPr lang="en" sz="1000" dirty="0">
                <a:solidFill>
                  <a:srgbClr val="FF0000"/>
                </a:solidFill>
                <a:highlight>
                  <a:srgbClr val="FFFF00"/>
                </a:highlight>
                <a:latin typeface="Courier New"/>
                <a:ea typeface="Courier New"/>
                <a:cs typeface="Courier New"/>
                <a:sym typeface="Courier New"/>
              </a:rPr>
              <a:t>@exception</a:t>
            </a:r>
            <a:r>
              <a:rPr lang="en" sz="1000" dirty="0">
                <a:highlight>
                  <a:srgbClr val="FFFF00"/>
                </a:highlight>
              </a:rPr>
              <a:t> documents an exception that may be thrown by the method.</a:t>
            </a:r>
            <a:endParaRPr sz="1000" dirty="0">
              <a:highlight>
                <a:srgbClr val="FFFF00"/>
              </a:highlight>
            </a:endParaRPr>
          </a:p>
          <a:p>
            <a:pPr marL="457200" lvl="0" indent="-304800" algn="l" rtl="0">
              <a:spcBef>
                <a:spcPts val="1000"/>
              </a:spcBef>
              <a:spcAft>
                <a:spcPts val="0"/>
              </a:spcAft>
              <a:buSzPts val="1200"/>
              <a:buChar char="●"/>
            </a:pPr>
            <a:r>
              <a:rPr lang="en" sz="1200" dirty="0"/>
              <a:t>You should </a:t>
            </a:r>
            <a:r>
              <a:rPr lang="en" sz="1200" b="1" i="1" dirty="0">
                <a:solidFill>
                  <a:srgbClr val="FF0000"/>
                </a:solidFill>
              </a:rPr>
              <a:t>always</a:t>
            </a:r>
            <a:r>
              <a:rPr lang="en" sz="1200" dirty="0">
                <a:solidFill>
                  <a:srgbClr val="FF0000"/>
                </a:solidFill>
              </a:rPr>
              <a:t> </a:t>
            </a:r>
            <a:r>
              <a:rPr lang="en" sz="1200" dirty="0"/>
              <a:t>use JavaDoc to document your classes and any </a:t>
            </a:r>
            <a:r>
              <a:rPr lang="en" sz="1200" b="1" i="1" dirty="0">
                <a:solidFill>
                  <a:srgbClr val="FF0000"/>
                </a:solidFill>
              </a:rPr>
              <a:t>public </a:t>
            </a:r>
            <a:r>
              <a:rPr lang="en" sz="1200" dirty="0"/>
              <a:t>fields, methods, and constructors. </a:t>
            </a:r>
            <a:endParaRPr sz="1200" dirty="0"/>
          </a:p>
        </p:txBody>
      </p:sp>
      <p:sp>
        <p:nvSpPr>
          <p:cNvPr id="931" name="Google Shape;931;p10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56</a:t>
            </a:fld>
            <a:endParaRPr/>
          </a:p>
        </p:txBody>
      </p:sp>
      <p:sp>
        <p:nvSpPr>
          <p:cNvPr id="932" name="Google Shape;932;p101"/>
          <p:cNvSpPr txBox="1">
            <a:spLocks noGrp="1"/>
          </p:cNvSpPr>
          <p:nvPr>
            <p:ph type="body" idx="2"/>
          </p:nvPr>
        </p:nvSpPr>
        <p:spPr>
          <a:xfrm>
            <a:off x="315425" y="1533288"/>
            <a:ext cx="3706500" cy="28167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  </a:t>
            </a:r>
            <a:r>
              <a:rPr lang="en" sz="900">
                <a:solidFill>
                  <a:srgbClr val="008000"/>
                </a:solidFill>
                <a:latin typeface="Consolas"/>
                <a:ea typeface="Consolas"/>
                <a:cs typeface="Consolas"/>
                <a:sym typeface="Consolas"/>
              </a:rPr>
              <a:t>/**</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2   * Computes and returns the factorial of n.</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3   *</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4   * @param n The integer input.</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5   *</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6   * @return The factorial of n.</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7   *</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8   * @exception IllegalArgumentException If n &lt; 0.</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latin typeface="Consolas"/>
                <a:ea typeface="Consolas"/>
                <a:cs typeface="Consolas"/>
                <a:sym typeface="Consolas"/>
              </a:rPr>
              <a:t>9   */</a:t>
            </a:r>
            <a:endParaRPr sz="9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10</a:t>
            </a:r>
            <a:r>
              <a:rPr lang="en" sz="900">
                <a:solidFill>
                  <a:srgbClr val="000000"/>
                </a:solidFill>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solidFill>
                  <a:srgbClr val="000000"/>
                </a:solidFill>
                <a:latin typeface="Consolas"/>
                <a:ea typeface="Consolas"/>
                <a:cs typeface="Consolas"/>
                <a:sym typeface="Consolas"/>
              </a:rPr>
              <a:t> </a:t>
            </a:r>
            <a:r>
              <a:rPr lang="en" sz="900">
                <a:solidFill>
                  <a:srgbClr val="0000FF"/>
                </a:solidFill>
                <a:latin typeface="Consolas"/>
                <a:ea typeface="Consolas"/>
                <a:cs typeface="Consolas"/>
                <a:sym typeface="Consolas"/>
              </a:rPr>
              <a:t>static</a:t>
            </a:r>
            <a:r>
              <a:rPr lang="en" sz="900">
                <a:solidFill>
                  <a:srgbClr val="000000"/>
                </a:solidFill>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solidFill>
                  <a:srgbClr val="000000"/>
                </a:solidFill>
                <a:latin typeface="Consolas"/>
                <a:ea typeface="Consolas"/>
                <a:cs typeface="Consolas"/>
                <a:sym typeface="Consolas"/>
              </a:rPr>
              <a:t> </a:t>
            </a:r>
            <a:r>
              <a:rPr lang="en" sz="900">
                <a:solidFill>
                  <a:srgbClr val="795E26"/>
                </a:solidFill>
                <a:latin typeface="Consolas"/>
                <a:ea typeface="Consolas"/>
                <a:cs typeface="Consolas"/>
                <a:sym typeface="Consolas"/>
              </a:rPr>
              <a:t>factorial</a:t>
            </a:r>
            <a:r>
              <a:rPr lang="en" sz="900">
                <a:solidFill>
                  <a:srgbClr val="000000"/>
                </a:solidFill>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solidFill>
                  <a:srgbClr val="000000"/>
                </a:solidFill>
                <a:latin typeface="Consolas"/>
                <a:ea typeface="Consolas"/>
                <a:cs typeface="Consolas"/>
                <a:sym typeface="Consolas"/>
              </a:rPr>
              <a:t> </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11</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if</a:t>
            </a:r>
            <a:r>
              <a:rPr lang="en" sz="900">
                <a:solidFill>
                  <a:srgbClr val="000000"/>
                </a:solidFill>
                <a:latin typeface="Consolas"/>
                <a:ea typeface="Consolas"/>
                <a:cs typeface="Consolas"/>
                <a:sym typeface="Consolas"/>
              </a:rPr>
              <a:t>(</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&lt; </a:t>
            </a:r>
            <a:r>
              <a:rPr lang="en" sz="900">
                <a:solidFill>
                  <a:srgbClr val="098658"/>
                </a:solidFill>
                <a:latin typeface="Consolas"/>
                <a:ea typeface="Consolas"/>
                <a:cs typeface="Consolas"/>
                <a:sym typeface="Consolas"/>
              </a:rPr>
              <a:t>0</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12</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throw</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new</a:t>
            </a:r>
            <a:r>
              <a:rPr lang="en" sz="900">
                <a:solidFill>
                  <a:srgbClr val="000000"/>
                </a:solidFill>
                <a:latin typeface="Consolas"/>
                <a:ea typeface="Consolas"/>
                <a:cs typeface="Consolas"/>
                <a:sym typeface="Consolas"/>
              </a:rPr>
              <a:t> </a:t>
            </a:r>
            <a:r>
              <a:rPr lang="en" sz="900">
                <a:solidFill>
                  <a:srgbClr val="795E26"/>
                </a:solidFill>
                <a:latin typeface="Consolas"/>
                <a:ea typeface="Consolas"/>
                <a:cs typeface="Consolas"/>
                <a:sym typeface="Consolas"/>
              </a:rPr>
              <a:t>IllegalArgumentException</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13</a:t>
            </a:r>
            <a:r>
              <a:rPr lang="en" sz="900">
                <a:solidFill>
                  <a:srgbClr val="000000"/>
                </a:solidFill>
                <a:latin typeface="Consolas"/>
                <a:ea typeface="Consolas"/>
                <a:cs typeface="Consolas"/>
                <a:sym typeface="Consolas"/>
              </a:rPr>
              <a:t>             </a:t>
            </a:r>
            <a:r>
              <a:rPr lang="en" sz="900">
                <a:solidFill>
                  <a:srgbClr val="A31515"/>
                </a:solidFill>
                <a:latin typeface="Consolas"/>
                <a:ea typeface="Consolas"/>
                <a:cs typeface="Consolas"/>
                <a:sym typeface="Consolas"/>
              </a:rPr>
              <a:t>"n cannot be negative!"</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14</a:t>
            </a:r>
            <a:r>
              <a:rPr lang="en" sz="900">
                <a:solidFill>
                  <a:srgbClr val="000000"/>
                </a:solidFill>
                <a:latin typeface="Consolas"/>
                <a:ea typeface="Consolas"/>
                <a:cs typeface="Consolas"/>
                <a:sym typeface="Consolas"/>
              </a:rPr>
              <a:t>     } </a:t>
            </a:r>
            <a:r>
              <a:rPr lang="en" sz="900">
                <a:solidFill>
                  <a:srgbClr val="AF00DB"/>
                </a:solidFill>
                <a:latin typeface="Consolas"/>
                <a:ea typeface="Consolas"/>
                <a:cs typeface="Consolas"/>
                <a:sym typeface="Consolas"/>
              </a:rPr>
              <a:t>else</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if</a:t>
            </a:r>
            <a:r>
              <a:rPr lang="en" sz="900">
                <a:solidFill>
                  <a:srgbClr val="000000"/>
                </a:solidFill>
                <a:latin typeface="Consolas"/>
                <a:ea typeface="Consolas"/>
                <a:cs typeface="Consolas"/>
                <a:sym typeface="Consolas"/>
              </a:rPr>
              <a:t>(</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 </a:t>
            </a: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 || </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 </a:t>
            </a:r>
            <a:r>
              <a:rPr lang="en" sz="900">
                <a:solidFill>
                  <a:srgbClr val="098658"/>
                </a:solidFill>
                <a:latin typeface="Consolas"/>
                <a:ea typeface="Consolas"/>
                <a:cs typeface="Consolas"/>
                <a:sym typeface="Consolas"/>
              </a:rPr>
              <a:t>0</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15</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solidFill>
                  <a:srgbClr val="000000"/>
                </a:solidFill>
                <a:latin typeface="Consolas"/>
                <a:ea typeface="Consolas"/>
                <a:cs typeface="Consolas"/>
                <a:sym typeface="Consolas"/>
              </a:rPr>
              <a:t> </a:t>
            </a: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16</a:t>
            </a:r>
            <a:r>
              <a:rPr lang="en" sz="900">
                <a:solidFill>
                  <a:srgbClr val="000000"/>
                </a:solidFill>
                <a:latin typeface="Consolas"/>
                <a:ea typeface="Consolas"/>
                <a:cs typeface="Consolas"/>
                <a:sym typeface="Consolas"/>
              </a:rPr>
              <a:t>     } </a:t>
            </a:r>
            <a:r>
              <a:rPr lang="en" sz="900">
                <a:solidFill>
                  <a:srgbClr val="AF00DB"/>
                </a:solidFill>
                <a:latin typeface="Consolas"/>
                <a:ea typeface="Consolas"/>
                <a:cs typeface="Consolas"/>
                <a:sym typeface="Consolas"/>
              </a:rPr>
              <a:t>else</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17</a:t>
            </a:r>
            <a:r>
              <a:rPr lang="en" sz="900">
                <a:solidFill>
                  <a:srgbClr val="000000"/>
                </a:solidFill>
                <a:latin typeface="Consolas"/>
                <a:ea typeface="Consolas"/>
                <a:cs typeface="Consolas"/>
                <a:sym typeface="Consolas"/>
              </a:rPr>
              <a:t>         </a:t>
            </a:r>
            <a:r>
              <a:rPr lang="en" sz="900">
                <a:solidFill>
                  <a:srgbClr val="AF00DB"/>
                </a:solidFill>
                <a:latin typeface="Consolas"/>
                <a:ea typeface="Consolas"/>
                <a:cs typeface="Consolas"/>
                <a:sym typeface="Consolas"/>
              </a:rPr>
              <a:t>return</a:t>
            </a:r>
            <a:r>
              <a:rPr lang="en" sz="900">
                <a:solidFill>
                  <a:srgbClr val="000000"/>
                </a:solidFill>
                <a:latin typeface="Consolas"/>
                <a:ea typeface="Consolas"/>
                <a:cs typeface="Consolas"/>
                <a:sym typeface="Consolas"/>
              </a:rPr>
              <a:t> </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 * </a:t>
            </a:r>
            <a:r>
              <a:rPr lang="en" sz="900">
                <a:solidFill>
                  <a:srgbClr val="795E26"/>
                </a:solidFill>
                <a:latin typeface="Consolas"/>
                <a:ea typeface="Consolas"/>
                <a:cs typeface="Consolas"/>
                <a:sym typeface="Consolas"/>
              </a:rPr>
              <a:t>factorial</a:t>
            </a:r>
            <a:r>
              <a:rPr lang="en" sz="900">
                <a:solidFill>
                  <a:srgbClr val="000000"/>
                </a:solidFill>
                <a:latin typeface="Consolas"/>
                <a:ea typeface="Consolas"/>
                <a:cs typeface="Consolas"/>
                <a:sym typeface="Consolas"/>
              </a:rPr>
              <a:t>(</a:t>
            </a:r>
            <a:r>
              <a:rPr lang="en" sz="900">
                <a:solidFill>
                  <a:srgbClr val="001080"/>
                </a:solidFill>
                <a:latin typeface="Consolas"/>
                <a:ea typeface="Consolas"/>
                <a:cs typeface="Consolas"/>
                <a:sym typeface="Consolas"/>
              </a:rPr>
              <a:t>n</a:t>
            </a:r>
            <a:r>
              <a:rPr lang="en" sz="900">
                <a:solidFill>
                  <a:srgbClr val="000000"/>
                </a:solidFill>
                <a:latin typeface="Consolas"/>
                <a:ea typeface="Consolas"/>
                <a:cs typeface="Consolas"/>
                <a:sym typeface="Consolas"/>
              </a:rPr>
              <a:t>-</a:t>
            </a:r>
            <a:r>
              <a:rPr lang="en" sz="900">
                <a:solidFill>
                  <a:srgbClr val="098658"/>
                </a:solidFill>
                <a:latin typeface="Consolas"/>
                <a:ea typeface="Consolas"/>
                <a:cs typeface="Consolas"/>
                <a:sym typeface="Consolas"/>
              </a:rPr>
              <a:t>1</a:t>
            </a:r>
            <a:r>
              <a:rPr lang="en" sz="900">
                <a:solidFill>
                  <a:srgbClr val="000000"/>
                </a:solidFill>
                <a:latin typeface="Consolas"/>
                <a:ea typeface="Consolas"/>
                <a:cs typeface="Consolas"/>
                <a:sym typeface="Consolas"/>
              </a:rPr>
              <a:t>);</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18</a:t>
            </a:r>
            <a:r>
              <a:rPr lang="en" sz="900">
                <a:solidFill>
                  <a:srgbClr val="000000"/>
                </a:solidFill>
                <a:latin typeface="Consolas"/>
                <a:ea typeface="Consolas"/>
                <a:cs typeface="Consolas"/>
                <a:sym typeface="Consolas"/>
              </a:rPr>
              <a:t>     }</a:t>
            </a:r>
            <a:endParaRPr sz="9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98658"/>
                </a:solidFill>
                <a:latin typeface="Consolas"/>
                <a:ea typeface="Consolas"/>
                <a:cs typeface="Consolas"/>
                <a:sym typeface="Consolas"/>
              </a:rPr>
              <a:t>19</a:t>
            </a:r>
            <a:r>
              <a:rPr lang="en" sz="900">
                <a:solidFill>
                  <a:srgbClr val="000000"/>
                </a:solidFill>
                <a:latin typeface="Consolas"/>
                <a:ea typeface="Consolas"/>
                <a:cs typeface="Consolas"/>
                <a:sym typeface="Consolas"/>
              </a:rPr>
              <a:t> }</a:t>
            </a:r>
            <a:endParaRPr sz="900">
              <a:solidFill>
                <a:srgbClr val="999999"/>
              </a:solidFill>
              <a:latin typeface="Consolas"/>
              <a:ea typeface="Consolas"/>
              <a:cs typeface="Consolas"/>
              <a:sym typeface="Consolas"/>
            </a:endParaRPr>
          </a:p>
        </p:txBody>
      </p:sp>
      <p:sp>
        <p:nvSpPr>
          <p:cNvPr id="933" name="Google Shape;933;p101"/>
          <p:cNvSpPr txBox="1">
            <a:spLocks noGrp="1"/>
          </p:cNvSpPr>
          <p:nvPr>
            <p:ph type="body" idx="3"/>
          </p:nvPr>
        </p:nvSpPr>
        <p:spPr>
          <a:xfrm>
            <a:off x="315425" y="4457951"/>
            <a:ext cx="37065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Refer to the </a:t>
            </a:r>
            <a:r>
              <a:rPr lang="en" sz="1200" u="sng">
                <a:solidFill>
                  <a:schemeClr val="hlink"/>
                </a:solidFill>
                <a:hlinkClick r:id="rId3"/>
              </a:rPr>
              <a:t>style example</a:t>
            </a:r>
            <a:r>
              <a:rPr lang="en" sz="1200"/>
              <a:t> for more JavaDoc examples.</a:t>
            </a:r>
            <a:endParaRPr sz="1200"/>
          </a:p>
        </p:txBody>
      </p:sp>
      <p:sp>
        <p:nvSpPr>
          <p:cNvPr id="934" name="Google Shape;934;p101"/>
          <p:cNvSpPr/>
          <p:nvPr/>
        </p:nvSpPr>
        <p:spPr>
          <a:xfrm>
            <a:off x="434518" y="1386975"/>
            <a:ext cx="388700" cy="723725"/>
          </a:xfrm>
          <a:custGeom>
            <a:avLst/>
            <a:gdLst/>
            <a:ahLst/>
            <a:cxnLst/>
            <a:rect l="l" t="t" r="r" b="b"/>
            <a:pathLst>
              <a:path w="15548" h="28949" extrusionOk="0">
                <a:moveTo>
                  <a:pt x="15548" y="0"/>
                </a:moveTo>
                <a:cubicBezTo>
                  <a:pt x="12970" y="3094"/>
                  <a:pt x="704" y="13738"/>
                  <a:pt x="78" y="18563"/>
                </a:cubicBezTo>
                <a:cubicBezTo>
                  <a:pt x="-548" y="23388"/>
                  <a:pt x="9839" y="27218"/>
                  <a:pt x="11791" y="2894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35" name="Google Shape;935;p101"/>
          <p:cNvSpPr/>
          <p:nvPr/>
        </p:nvSpPr>
        <p:spPr>
          <a:xfrm>
            <a:off x="269549" y="1348300"/>
            <a:ext cx="454203" cy="1016550"/>
          </a:xfrm>
          <a:custGeom>
            <a:avLst/>
            <a:gdLst/>
            <a:ahLst/>
            <a:cxnLst/>
            <a:rect l="l" t="t" r="r" b="b"/>
            <a:pathLst>
              <a:path w="21217" h="40662" extrusionOk="0">
                <a:moveTo>
                  <a:pt x="20996" y="0"/>
                </a:moveTo>
                <a:cubicBezTo>
                  <a:pt x="17497" y="3020"/>
                  <a:pt x="-35" y="11344"/>
                  <a:pt x="2" y="18121"/>
                </a:cubicBezTo>
                <a:cubicBezTo>
                  <a:pt x="39" y="24898"/>
                  <a:pt x="17681" y="36905"/>
                  <a:pt x="21217" y="40662"/>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36" name="Google Shape;936;p101"/>
          <p:cNvSpPr/>
          <p:nvPr/>
        </p:nvSpPr>
        <p:spPr>
          <a:xfrm>
            <a:off x="96203" y="1358202"/>
            <a:ext cx="665100" cy="1281725"/>
          </a:xfrm>
          <a:custGeom>
            <a:avLst/>
            <a:gdLst/>
            <a:ahLst/>
            <a:cxnLst/>
            <a:rect l="l" t="t" r="r" b="b"/>
            <a:pathLst>
              <a:path w="26604" h="51269" extrusionOk="0">
                <a:moveTo>
                  <a:pt x="19090" y="0"/>
                </a:moveTo>
                <a:cubicBezTo>
                  <a:pt x="15923" y="2762"/>
                  <a:pt x="-1167" y="8029"/>
                  <a:pt x="85" y="16574"/>
                </a:cubicBezTo>
                <a:cubicBezTo>
                  <a:pt x="1337" y="25119"/>
                  <a:pt x="22184" y="45487"/>
                  <a:pt x="26604" y="51269"/>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37" name="Google Shape;937;p101"/>
          <p:cNvSpPr txBox="1">
            <a:spLocks noGrp="1"/>
          </p:cNvSpPr>
          <p:nvPr>
            <p:ph type="body" idx="3"/>
          </p:nvPr>
        </p:nvSpPr>
        <p:spPr>
          <a:xfrm>
            <a:off x="311725" y="686425"/>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An example of a </a:t>
            </a:r>
            <a:r>
              <a:rPr lang="en" sz="1200" b="1" i="1">
                <a:solidFill>
                  <a:srgbClr val="FF0000"/>
                </a:solidFill>
              </a:rPr>
              <a:t>JavaDoc comment</a:t>
            </a:r>
            <a:r>
              <a:rPr lang="en" sz="1200">
                <a:solidFill>
                  <a:srgbClr val="FF0000"/>
                </a:solidFill>
              </a:rPr>
              <a:t> </a:t>
            </a:r>
            <a:r>
              <a:rPr lang="en" sz="1200"/>
              <a:t>used to document a method including </a:t>
            </a:r>
            <a:r>
              <a:rPr lang="en" sz="1200">
                <a:solidFill>
                  <a:srgbClr val="FF0000"/>
                </a:solidFill>
                <a:latin typeface="Courier New"/>
                <a:ea typeface="Courier New"/>
                <a:cs typeface="Courier New"/>
                <a:sym typeface="Courier New"/>
              </a:rPr>
              <a:t>@param</a:t>
            </a:r>
            <a:r>
              <a:rPr lang="en" sz="1200"/>
              <a:t>, </a:t>
            </a:r>
            <a:r>
              <a:rPr lang="en" sz="1200">
                <a:solidFill>
                  <a:srgbClr val="FF0000"/>
                </a:solidFill>
                <a:latin typeface="Courier New"/>
                <a:ea typeface="Courier New"/>
                <a:cs typeface="Courier New"/>
                <a:sym typeface="Courier New"/>
              </a:rPr>
              <a:t>@return</a:t>
            </a:r>
            <a:r>
              <a:rPr lang="en" sz="1200"/>
              <a:t>, and </a:t>
            </a:r>
            <a:r>
              <a:rPr lang="en" sz="1200">
                <a:solidFill>
                  <a:srgbClr val="FF0000"/>
                </a:solidFill>
                <a:latin typeface="Courier New"/>
                <a:ea typeface="Courier New"/>
                <a:cs typeface="Courier New"/>
                <a:sym typeface="Courier New"/>
              </a:rPr>
              <a:t>@exception</a:t>
            </a:r>
            <a:r>
              <a:rPr lang="en" sz="1200"/>
              <a:t> tags.</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3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3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30">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0">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30">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30">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937"/>
                                        </p:tgtEl>
                                        <p:attrNameLst>
                                          <p:attrName>style.visibility</p:attrName>
                                        </p:attrNameLst>
                                      </p:cBhvr>
                                      <p:to>
                                        <p:strVal val="visible"/>
                                      </p:to>
                                    </p:set>
                                    <p:animEffect transition="in" filter="fade">
                                      <p:cBhvr>
                                        <p:cTn id="51" dur="1000"/>
                                        <p:tgtEl>
                                          <p:spTgt spid="937"/>
                                        </p:tgtEl>
                                      </p:cBhvr>
                                    </p:animEffect>
                                  </p:childTnLst>
                                </p:cTn>
                              </p:par>
                              <p:par>
                                <p:cTn id="52" presetID="10" presetClass="entr" presetSubtype="0" fill="hold" nodeType="withEffect">
                                  <p:stCondLst>
                                    <p:cond delay="0"/>
                                  </p:stCondLst>
                                  <p:childTnLst>
                                    <p:set>
                                      <p:cBhvr>
                                        <p:cTn id="53" dur="1" fill="hold">
                                          <p:stCondLst>
                                            <p:cond delay="0"/>
                                          </p:stCondLst>
                                        </p:cTn>
                                        <p:tgtEl>
                                          <p:spTgt spid="932"/>
                                        </p:tgtEl>
                                        <p:attrNameLst>
                                          <p:attrName>style.visibility</p:attrName>
                                        </p:attrNameLst>
                                      </p:cBhvr>
                                      <p:to>
                                        <p:strVal val="visible"/>
                                      </p:to>
                                    </p:set>
                                    <p:animEffect transition="in" filter="fade">
                                      <p:cBhvr>
                                        <p:cTn id="54" dur="1000"/>
                                        <p:tgtEl>
                                          <p:spTgt spid="932"/>
                                        </p:tgtEl>
                                      </p:cBhvr>
                                    </p:animEffect>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934"/>
                                        </p:tgtEl>
                                        <p:attrNameLst>
                                          <p:attrName>style.visibility</p:attrName>
                                        </p:attrNameLst>
                                      </p:cBhvr>
                                      <p:to>
                                        <p:strVal val="visible"/>
                                      </p:to>
                                    </p:set>
                                    <p:animEffect transition="in" filter="fade">
                                      <p:cBhvr>
                                        <p:cTn id="58" dur="1000"/>
                                        <p:tgtEl>
                                          <p:spTgt spid="934"/>
                                        </p:tgtEl>
                                      </p:cBhvr>
                                    </p:animEffect>
                                  </p:childTnLst>
                                </p:cTn>
                              </p:par>
                            </p:childTnLst>
                          </p:cTn>
                        </p:par>
                        <p:par>
                          <p:cTn id="59" fill="hold">
                            <p:stCondLst>
                              <p:cond delay="2000"/>
                            </p:stCondLst>
                            <p:childTnLst>
                              <p:par>
                                <p:cTn id="60" presetID="10" presetClass="entr" presetSubtype="0" fill="hold" nodeType="afterEffect">
                                  <p:stCondLst>
                                    <p:cond delay="0"/>
                                  </p:stCondLst>
                                  <p:childTnLst>
                                    <p:set>
                                      <p:cBhvr>
                                        <p:cTn id="61" dur="1" fill="hold">
                                          <p:stCondLst>
                                            <p:cond delay="0"/>
                                          </p:stCondLst>
                                        </p:cTn>
                                        <p:tgtEl>
                                          <p:spTgt spid="935"/>
                                        </p:tgtEl>
                                        <p:attrNameLst>
                                          <p:attrName>style.visibility</p:attrName>
                                        </p:attrNameLst>
                                      </p:cBhvr>
                                      <p:to>
                                        <p:strVal val="visible"/>
                                      </p:to>
                                    </p:set>
                                    <p:animEffect transition="in" filter="fade">
                                      <p:cBhvr>
                                        <p:cTn id="62" dur="1000"/>
                                        <p:tgtEl>
                                          <p:spTgt spid="935"/>
                                        </p:tgtEl>
                                      </p:cBhvr>
                                    </p:animEffect>
                                  </p:childTnLst>
                                </p:cTn>
                              </p:par>
                            </p:childTnLst>
                          </p:cTn>
                        </p:par>
                        <p:par>
                          <p:cTn id="63" fill="hold">
                            <p:stCondLst>
                              <p:cond delay="3000"/>
                            </p:stCondLst>
                            <p:childTnLst>
                              <p:par>
                                <p:cTn id="64" presetID="10" presetClass="entr" presetSubtype="0" fill="hold" nodeType="afterEffect">
                                  <p:stCondLst>
                                    <p:cond delay="0"/>
                                  </p:stCondLst>
                                  <p:childTnLst>
                                    <p:set>
                                      <p:cBhvr>
                                        <p:cTn id="65" dur="1" fill="hold">
                                          <p:stCondLst>
                                            <p:cond delay="0"/>
                                          </p:stCondLst>
                                        </p:cTn>
                                        <p:tgtEl>
                                          <p:spTgt spid="936"/>
                                        </p:tgtEl>
                                        <p:attrNameLst>
                                          <p:attrName>style.visibility</p:attrName>
                                        </p:attrNameLst>
                                      </p:cBhvr>
                                      <p:to>
                                        <p:strVal val="visible"/>
                                      </p:to>
                                    </p:set>
                                    <p:animEffect transition="in" filter="fade">
                                      <p:cBhvr>
                                        <p:cTn id="66" dur="1000"/>
                                        <p:tgtEl>
                                          <p:spTgt spid="93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933"/>
                                        </p:tgtEl>
                                        <p:attrNameLst>
                                          <p:attrName>style.visibility</p:attrName>
                                        </p:attrNameLst>
                                      </p:cBhvr>
                                      <p:to>
                                        <p:strVal val="visible"/>
                                      </p:to>
                                    </p:set>
                                    <p:animEffect transition="in" filter="fade">
                                      <p:cBhvr>
                                        <p:cTn id="71" dur="1000"/>
                                        <p:tgtEl>
                                          <p:spTgt spid="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pic>
        <p:nvPicPr>
          <p:cNvPr id="942" name="Google Shape;942;p102"/>
          <p:cNvPicPr preferRelativeResize="0"/>
          <p:nvPr/>
        </p:nvPicPr>
        <p:blipFill>
          <a:blip r:embed="rId3">
            <a:alphaModFix/>
          </a:blip>
          <a:stretch>
            <a:fillRect/>
          </a:stretch>
        </p:blipFill>
        <p:spPr>
          <a:xfrm>
            <a:off x="7076138" y="103775"/>
            <a:ext cx="1940889" cy="2708398"/>
          </a:xfrm>
          <a:prstGeom prst="rect">
            <a:avLst/>
          </a:prstGeom>
          <a:noFill/>
          <a:ln>
            <a:noFill/>
          </a:ln>
        </p:spPr>
      </p:pic>
      <p:sp>
        <p:nvSpPr>
          <p:cNvPr id="943" name="Google Shape;943;p102"/>
          <p:cNvSpPr txBox="1">
            <a:spLocks noGrp="1"/>
          </p:cNvSpPr>
          <p:nvPr>
            <p:ph type="body" idx="1"/>
          </p:nvPr>
        </p:nvSpPr>
        <p:spPr>
          <a:xfrm>
            <a:off x="65250" y="731625"/>
            <a:ext cx="68151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Documentation is an important part of software development. You will be expected to write JavaDoc for all classes, and any public methods or fields. Start practicing now by adding JavaDoc to the </a:t>
            </a:r>
            <a:r>
              <a:rPr lang="en">
                <a:latin typeface="Courier New"/>
                <a:ea typeface="Courier New"/>
                <a:cs typeface="Courier New"/>
                <a:sym typeface="Courier New"/>
              </a:rPr>
              <a:t>Year</a:t>
            </a:r>
            <a:r>
              <a:rPr lang="en"/>
              <a:t> class.</a:t>
            </a:r>
            <a:endParaRPr/>
          </a:p>
        </p:txBody>
      </p:sp>
      <p:sp>
        <p:nvSpPr>
          <p:cNvPr id="944" name="Google Shape;944;p10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57</a:t>
            </a:fld>
            <a:endParaRPr/>
          </a:p>
        </p:txBody>
      </p:sp>
      <p:sp>
        <p:nvSpPr>
          <p:cNvPr id="945" name="Google Shape;945;p102"/>
          <p:cNvSpPr txBox="1">
            <a:spLocks noGrp="1"/>
          </p:cNvSpPr>
          <p:nvPr>
            <p:ph type="body" idx="2"/>
          </p:nvPr>
        </p:nvSpPr>
        <p:spPr>
          <a:xfrm>
            <a:off x="3444450" y="1994900"/>
            <a:ext cx="5125500" cy="21195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Open the </a:t>
            </a:r>
            <a:r>
              <a:rPr lang="en" dirty="0">
                <a:latin typeface="Courier New"/>
                <a:ea typeface="Courier New"/>
                <a:cs typeface="Courier New"/>
                <a:sym typeface="Courier New"/>
              </a:rPr>
              <a:t>Year</a:t>
            </a:r>
            <a:r>
              <a:rPr lang="en" dirty="0"/>
              <a:t> class and add </a:t>
            </a:r>
            <a:r>
              <a:rPr lang="en" b="1" i="1" dirty="0">
                <a:solidFill>
                  <a:srgbClr val="FF0000"/>
                </a:solidFill>
              </a:rPr>
              <a:t>JavaDoc </a:t>
            </a:r>
            <a:r>
              <a:rPr lang="en" dirty="0"/>
              <a:t>for:</a:t>
            </a:r>
            <a:endParaRPr dirty="0"/>
          </a:p>
          <a:p>
            <a:pPr marL="914400" lvl="1" indent="-298450" algn="l" rtl="0">
              <a:spcBef>
                <a:spcPts val="0"/>
              </a:spcBef>
              <a:spcAft>
                <a:spcPts val="0"/>
              </a:spcAft>
              <a:buSzPts val="1100"/>
              <a:buChar char="○"/>
            </a:pPr>
            <a:r>
              <a:rPr lang="en" dirty="0"/>
              <a:t>The </a:t>
            </a:r>
            <a:r>
              <a:rPr lang="en" b="1" i="1" dirty="0">
                <a:solidFill>
                  <a:srgbClr val="FF0000"/>
                </a:solidFill>
              </a:rPr>
              <a:t>class</a:t>
            </a:r>
            <a:r>
              <a:rPr lang="en" dirty="0"/>
              <a:t>.</a:t>
            </a:r>
            <a:endParaRPr dirty="0">
              <a:solidFill>
                <a:srgbClr val="FF0000"/>
              </a:solidFill>
            </a:endParaRPr>
          </a:p>
          <a:p>
            <a:pPr marL="914400" lvl="1" indent="-298450" algn="l" rtl="0">
              <a:spcBef>
                <a:spcPts val="0"/>
              </a:spcBef>
              <a:spcAft>
                <a:spcPts val="0"/>
              </a:spcAft>
              <a:buSzPts val="1100"/>
              <a:buChar char="○"/>
            </a:pPr>
            <a:r>
              <a:rPr lang="en" dirty="0"/>
              <a:t>All </a:t>
            </a:r>
            <a:r>
              <a:rPr lang="en" b="1" i="1" dirty="0">
                <a:solidFill>
                  <a:srgbClr val="FF0000"/>
                </a:solidFill>
              </a:rPr>
              <a:t>fields</a:t>
            </a:r>
            <a:r>
              <a:rPr lang="en" dirty="0"/>
              <a:t>.</a:t>
            </a:r>
            <a:endParaRPr dirty="0">
              <a:solidFill>
                <a:srgbClr val="FF0000"/>
              </a:solidFill>
            </a:endParaRPr>
          </a:p>
          <a:p>
            <a:pPr marL="914400" lvl="1" indent="-298450" algn="l" rtl="0">
              <a:spcBef>
                <a:spcPts val="0"/>
              </a:spcBef>
              <a:spcAft>
                <a:spcPts val="0"/>
              </a:spcAft>
              <a:buSzPts val="1100"/>
              <a:buChar char="○"/>
            </a:pPr>
            <a:r>
              <a:rPr lang="en" dirty="0"/>
              <a:t>All </a:t>
            </a:r>
            <a:r>
              <a:rPr lang="en" b="1" i="1" dirty="0">
                <a:solidFill>
                  <a:srgbClr val="FF0000"/>
                </a:solidFill>
              </a:rPr>
              <a:t>methods</a:t>
            </a:r>
            <a:r>
              <a:rPr lang="en" dirty="0"/>
              <a:t>.</a:t>
            </a:r>
            <a:endParaRPr dirty="0">
              <a:solidFill>
                <a:srgbClr val="FF0000"/>
              </a:solidFill>
            </a:endParaRPr>
          </a:p>
          <a:p>
            <a:pPr marL="457200" lvl="0" indent="-311150" algn="l" rtl="0">
              <a:spcBef>
                <a:spcPts val="0"/>
              </a:spcBef>
              <a:spcAft>
                <a:spcPts val="0"/>
              </a:spcAft>
              <a:buSzPts val="1300"/>
              <a:buChar char="●"/>
            </a:pPr>
            <a:r>
              <a:rPr lang="en" dirty="0"/>
              <a:t>This is practice! You should write JavaDoc even for private members.</a:t>
            </a:r>
            <a:endParaRPr b="1" i="1" dirty="0">
              <a:solidFill>
                <a:srgbClr val="FF0000"/>
              </a:solidFill>
            </a:endParaRPr>
          </a:p>
          <a:p>
            <a:pPr marL="457200" lvl="0" indent="-311150" algn="l" rtl="0">
              <a:spcBef>
                <a:spcPts val="0"/>
              </a:spcBef>
              <a:spcAft>
                <a:spcPts val="0"/>
              </a:spcAft>
              <a:buSzPts val="1300"/>
              <a:buChar char="●"/>
            </a:pPr>
            <a:r>
              <a:rPr lang="en" b="1" i="1" dirty="0">
                <a:solidFill>
                  <a:srgbClr val="FF0000"/>
                </a:solidFill>
              </a:rPr>
              <a:t>Hint</a:t>
            </a:r>
            <a:r>
              <a:rPr lang="en" dirty="0"/>
              <a:t>: if you type </a:t>
            </a:r>
            <a:r>
              <a:rPr lang="en" dirty="0">
                <a:solidFill>
                  <a:srgbClr val="FF0000"/>
                </a:solidFill>
                <a:latin typeface="Courier New"/>
                <a:ea typeface="Courier New"/>
                <a:cs typeface="Courier New"/>
                <a:sym typeface="Courier New"/>
              </a:rPr>
              <a:t>/**</a:t>
            </a:r>
            <a:r>
              <a:rPr lang="en" dirty="0"/>
              <a:t> and hit </a:t>
            </a:r>
            <a:r>
              <a:rPr lang="en" b="1" i="1" dirty="0">
                <a:solidFill>
                  <a:srgbClr val="FF0000"/>
                </a:solidFill>
              </a:rPr>
              <a:t>enter</a:t>
            </a:r>
            <a:r>
              <a:rPr lang="en" dirty="0"/>
              <a:t>, VS Code will helpfully stub out the JavaDoc for you, including </a:t>
            </a:r>
            <a:r>
              <a:rPr lang="en" dirty="0">
                <a:latin typeface="Courier New"/>
                <a:ea typeface="Courier New"/>
                <a:cs typeface="Courier New"/>
                <a:sym typeface="Courier New"/>
              </a:rPr>
              <a:t>@param</a:t>
            </a:r>
            <a:r>
              <a:rPr lang="en" dirty="0"/>
              <a:t> and </a:t>
            </a:r>
            <a:r>
              <a:rPr lang="en" dirty="0">
                <a:latin typeface="Courier New"/>
                <a:ea typeface="Courier New"/>
                <a:cs typeface="Courier New"/>
                <a:sym typeface="Courier New"/>
              </a:rPr>
              <a:t>@return</a:t>
            </a:r>
            <a:r>
              <a:rPr lang="en" dirty="0"/>
              <a:t> tags for you to fill in.</a:t>
            </a:r>
            <a:endParaRPr dirty="0"/>
          </a:p>
        </p:txBody>
      </p:sp>
      <p:sp>
        <p:nvSpPr>
          <p:cNvPr id="946" name="Google Shape;946;p102"/>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JavaDoc of the Year</a:t>
            </a:r>
            <a:endParaRPr/>
          </a:p>
        </p:txBody>
      </p:sp>
      <p:sp>
        <p:nvSpPr>
          <p:cNvPr id="947" name="Google Shape;947;p102"/>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2.22</a:t>
            </a:r>
            <a:endParaRPr/>
          </a:p>
        </p:txBody>
      </p:sp>
      <p:sp>
        <p:nvSpPr>
          <p:cNvPr id="948" name="Google Shape;948;p102"/>
          <p:cNvSpPr txBox="1">
            <a:spLocks noGrp="1"/>
          </p:cNvSpPr>
          <p:nvPr>
            <p:ph type="body" idx="4"/>
          </p:nvPr>
        </p:nvSpPr>
        <p:spPr>
          <a:xfrm>
            <a:off x="128250" y="1842500"/>
            <a:ext cx="3234000" cy="28167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Computes and returns the factorial of n.</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a:t>
            </a:r>
            <a:r>
              <a:rPr lang="en" sz="900">
                <a:solidFill>
                  <a:srgbClr val="0000FF"/>
                </a:solidFill>
                <a:highlight>
                  <a:srgbClr val="FFFFFF"/>
                </a:highlight>
                <a:latin typeface="Consolas"/>
                <a:ea typeface="Consolas"/>
                <a:cs typeface="Consolas"/>
                <a:sym typeface="Consolas"/>
              </a:rPr>
              <a:t>@param</a:t>
            </a:r>
            <a:r>
              <a:rPr lang="en" sz="900">
                <a:solidFill>
                  <a:srgbClr val="008000"/>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n</a:t>
            </a:r>
            <a:r>
              <a:rPr lang="en" sz="900">
                <a:solidFill>
                  <a:srgbClr val="008000"/>
                </a:solidFill>
                <a:highlight>
                  <a:srgbClr val="FFFFFF"/>
                </a:highlight>
                <a:latin typeface="Consolas"/>
                <a:ea typeface="Consolas"/>
                <a:cs typeface="Consolas"/>
                <a:sym typeface="Consolas"/>
              </a:rPr>
              <a:t> The integer input.</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a:t>
            </a:r>
            <a:r>
              <a:rPr lang="en" sz="900">
                <a:solidFill>
                  <a:srgbClr val="0000FF"/>
                </a:solidFill>
                <a:highlight>
                  <a:srgbClr val="FFFFFF"/>
                </a:highlight>
                <a:latin typeface="Consolas"/>
                <a:ea typeface="Consolas"/>
                <a:cs typeface="Consolas"/>
                <a:sym typeface="Consolas"/>
              </a:rPr>
              <a:t>@return</a:t>
            </a:r>
            <a:r>
              <a:rPr lang="en" sz="900">
                <a:solidFill>
                  <a:srgbClr val="008000"/>
                </a:solidFill>
                <a:highlight>
                  <a:srgbClr val="FFFFFF"/>
                </a:highlight>
                <a:latin typeface="Consolas"/>
                <a:ea typeface="Consolas"/>
                <a:cs typeface="Consolas"/>
                <a:sym typeface="Consolas"/>
              </a:rPr>
              <a:t> The factorial of n.</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 </a:t>
            </a:r>
            <a:r>
              <a:rPr lang="en" sz="900">
                <a:solidFill>
                  <a:srgbClr val="0000FF"/>
                </a:solidFill>
                <a:highlight>
                  <a:srgbClr val="FFFFFF"/>
                </a:highlight>
                <a:latin typeface="Consolas"/>
                <a:ea typeface="Consolas"/>
                <a:cs typeface="Consolas"/>
                <a:sym typeface="Consolas"/>
              </a:rPr>
              <a:t>@exception</a:t>
            </a:r>
            <a:r>
              <a:rPr lang="en" sz="900">
                <a:solidFill>
                  <a:srgbClr val="008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IllegalArgumentException</a:t>
            </a:r>
            <a:r>
              <a:rPr lang="en" sz="900">
                <a:solidFill>
                  <a:srgbClr val="008000"/>
                </a:solidFill>
                <a:highlight>
                  <a:srgbClr val="FFFFFF"/>
                </a:highlight>
                <a:latin typeface="Consolas"/>
                <a:ea typeface="Consolas"/>
                <a:cs typeface="Consolas"/>
                <a:sym typeface="Consolas"/>
              </a:rPr>
              <a:t> If n &lt; 0.</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8000"/>
                </a:solidFill>
                <a:highlight>
                  <a:srgbClr val="FFFFFF"/>
                </a:highlight>
                <a:latin typeface="Consolas"/>
                <a:ea typeface="Consolas"/>
                <a:cs typeface="Consolas"/>
                <a:sym typeface="Consolas"/>
              </a:rPr>
              <a:t> */</a:t>
            </a:r>
            <a:endParaRPr sz="900">
              <a:solidFill>
                <a:srgbClr val="008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FF"/>
                </a:solidFill>
                <a:highlight>
                  <a:srgbClr val="FFFFFF"/>
                </a:highlight>
                <a:latin typeface="Consolas"/>
                <a:ea typeface="Consolas"/>
                <a:cs typeface="Consolas"/>
                <a:sym typeface="Consolas"/>
              </a:rPr>
              <a:t>public</a:t>
            </a:r>
            <a:r>
              <a:rPr lang="en" sz="900">
                <a:solidFill>
                  <a:srgbClr val="000000"/>
                </a:solidFill>
                <a:highlight>
                  <a:srgbClr val="FFFFFF"/>
                </a:highlight>
                <a:latin typeface="Consolas"/>
                <a:ea typeface="Consolas"/>
                <a:cs typeface="Consolas"/>
                <a:sym typeface="Consolas"/>
              </a:rPr>
              <a:t> </a:t>
            </a:r>
            <a:r>
              <a:rPr lang="en" sz="900">
                <a:solidFill>
                  <a:srgbClr val="0000FF"/>
                </a:solidFill>
                <a:highlight>
                  <a:srgbClr val="FFFFFF"/>
                </a:highlight>
                <a:latin typeface="Consolas"/>
                <a:ea typeface="Consolas"/>
                <a:cs typeface="Consolas"/>
                <a:sym typeface="Consolas"/>
              </a:rPr>
              <a:t>static</a:t>
            </a:r>
            <a:r>
              <a:rPr lang="en" sz="900">
                <a:solidFill>
                  <a:srgbClr val="000000"/>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factorial</a:t>
            </a:r>
            <a:r>
              <a:rPr lang="en" sz="900">
                <a:solidFill>
                  <a:srgbClr val="000000"/>
                </a:solidFill>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int</a:t>
            </a:r>
            <a:r>
              <a:rPr lang="en" sz="900">
                <a:solidFill>
                  <a:srgbClr val="000000"/>
                </a:solidFill>
                <a:highlight>
                  <a:srgbClr val="FFFFFF"/>
                </a:highlight>
                <a:latin typeface="Consolas"/>
                <a:ea typeface="Consolas"/>
                <a:cs typeface="Consolas"/>
                <a:sym typeface="Consolas"/>
              </a:rPr>
              <a:t> n) {</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000000"/>
                </a:solidFill>
                <a:highlight>
                  <a:srgbClr val="FFFFFF"/>
                </a:highlight>
                <a:latin typeface="Consolas"/>
                <a:ea typeface="Consolas"/>
                <a:cs typeface="Consolas"/>
                <a:sym typeface="Consolas"/>
              </a:rPr>
              <a:t>(n &lt; </a:t>
            </a:r>
            <a:r>
              <a:rPr lang="en" sz="900">
                <a:solidFill>
                  <a:srgbClr val="098658"/>
                </a:solidFill>
                <a:highlight>
                  <a:srgbClr val="FFFFFF"/>
                </a:highlight>
                <a:latin typeface="Consolas"/>
                <a:ea typeface="Consolas"/>
                <a:cs typeface="Consolas"/>
                <a:sym typeface="Consolas"/>
              </a:rPr>
              <a:t>0</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throw</a:t>
            </a: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000000"/>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IllegalArgumentException</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31515"/>
                </a:solidFill>
                <a:highlight>
                  <a:srgbClr val="FFFFFF"/>
                </a:highlight>
                <a:latin typeface="Consolas"/>
                <a:ea typeface="Consolas"/>
                <a:cs typeface="Consolas"/>
                <a:sym typeface="Consolas"/>
              </a:rPr>
              <a:t>"n cannot be negative!"</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else</a:t>
            </a: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if</a:t>
            </a:r>
            <a:r>
              <a:rPr lang="en" sz="900">
                <a:solidFill>
                  <a:srgbClr val="000000"/>
                </a:solidFill>
                <a:highlight>
                  <a:srgbClr val="FFFFFF"/>
                </a:highlight>
                <a:latin typeface="Consolas"/>
                <a:ea typeface="Consolas"/>
                <a:cs typeface="Consolas"/>
                <a:sym typeface="Consolas"/>
              </a:rPr>
              <a:t>(n == </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 || n == </a:t>
            </a:r>
            <a:r>
              <a:rPr lang="en" sz="900">
                <a:solidFill>
                  <a:srgbClr val="098658"/>
                </a:solidFill>
                <a:highlight>
                  <a:srgbClr val="FFFFFF"/>
                </a:highlight>
                <a:latin typeface="Consolas"/>
                <a:ea typeface="Consolas"/>
                <a:cs typeface="Consolas"/>
                <a:sym typeface="Consolas"/>
              </a:rPr>
              <a:t>0</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000000"/>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 </a:t>
            </a:r>
            <a:r>
              <a:rPr lang="en" sz="900">
                <a:solidFill>
                  <a:srgbClr val="AF00DB"/>
                </a:solidFill>
                <a:highlight>
                  <a:srgbClr val="FFFFFF"/>
                </a:highlight>
                <a:latin typeface="Consolas"/>
                <a:ea typeface="Consolas"/>
                <a:cs typeface="Consolas"/>
                <a:sym typeface="Consolas"/>
              </a:rPr>
              <a:t>else</a:t>
            </a: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return</a:t>
            </a:r>
            <a:r>
              <a:rPr lang="en" sz="900">
                <a:solidFill>
                  <a:srgbClr val="000000"/>
                </a:solidFill>
                <a:highlight>
                  <a:srgbClr val="FFFFFF"/>
                </a:highlight>
                <a:latin typeface="Consolas"/>
                <a:ea typeface="Consolas"/>
                <a:cs typeface="Consolas"/>
                <a:sym typeface="Consolas"/>
              </a:rPr>
              <a:t> n * </a:t>
            </a:r>
            <a:r>
              <a:rPr lang="en" sz="900">
                <a:solidFill>
                  <a:srgbClr val="795E26"/>
                </a:solidFill>
                <a:highlight>
                  <a:srgbClr val="FFFFFF"/>
                </a:highlight>
                <a:latin typeface="Consolas"/>
                <a:ea typeface="Consolas"/>
                <a:cs typeface="Consolas"/>
                <a:sym typeface="Consolas"/>
              </a:rPr>
              <a:t>factorial</a:t>
            </a:r>
            <a:r>
              <a:rPr lang="en" sz="900">
                <a:solidFill>
                  <a:srgbClr val="000000"/>
                </a:solidFill>
                <a:highlight>
                  <a:srgbClr val="FFFFFF"/>
                </a:highlight>
                <a:latin typeface="Consolas"/>
                <a:ea typeface="Consolas"/>
                <a:cs typeface="Consolas"/>
                <a:sym typeface="Consolas"/>
              </a:rPr>
              <a:t>(n-</a:t>
            </a:r>
            <a:r>
              <a:rPr lang="en" sz="900">
                <a:solidFill>
                  <a:srgbClr val="098658"/>
                </a:solidFill>
                <a:highlight>
                  <a:srgbClr val="FFFFFF"/>
                </a:highlight>
                <a:latin typeface="Consolas"/>
                <a:ea typeface="Consolas"/>
                <a:cs typeface="Consolas"/>
                <a:sym typeface="Consolas"/>
              </a:rPr>
              <a:t>1</a:t>
            </a:r>
            <a:r>
              <a:rPr lang="en" sz="900">
                <a:solidFill>
                  <a:srgbClr val="000000"/>
                </a:solidFill>
                <a:highlight>
                  <a:srgbClr val="FFFFFF"/>
                </a:highlight>
                <a:latin typeface="Consolas"/>
                <a:ea typeface="Consolas"/>
                <a:cs typeface="Consolas"/>
                <a:sym typeface="Consolas"/>
              </a:rPr>
              <a:t>);</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    }</a:t>
            </a:r>
            <a:endParaRPr sz="9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900">
                <a:solidFill>
                  <a:srgbClr val="000000"/>
                </a:solidFill>
                <a:highlight>
                  <a:srgbClr val="FFFFFF"/>
                </a:highlight>
                <a:latin typeface="Consolas"/>
                <a:ea typeface="Consolas"/>
                <a:cs typeface="Consolas"/>
                <a:sym typeface="Consolas"/>
              </a:rPr>
              <a:t>}</a:t>
            </a:r>
            <a:endParaRPr sz="900">
              <a:solidFill>
                <a:srgbClr val="6A9955"/>
              </a:solidFill>
              <a:latin typeface="Consolas"/>
              <a:ea typeface="Consolas"/>
              <a:cs typeface="Consolas"/>
              <a:sym typeface="Consola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10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String Parsing</a:t>
            </a:r>
            <a:endParaRPr/>
          </a:p>
        </p:txBody>
      </p:sp>
      <p:sp>
        <p:nvSpPr>
          <p:cNvPr id="954" name="Google Shape;954;p103"/>
          <p:cNvSpPr txBox="1">
            <a:spLocks noGrp="1"/>
          </p:cNvSpPr>
          <p:nvPr>
            <p:ph type="body" idx="1"/>
          </p:nvPr>
        </p:nvSpPr>
        <p:spPr>
          <a:xfrm>
            <a:off x="311725" y="1512925"/>
            <a:ext cx="3999900" cy="34206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You should recall that Python's string type provides some methods that can be used for basic </a:t>
            </a:r>
            <a:r>
              <a:rPr lang="en" b="1" i="1" dirty="0">
                <a:solidFill>
                  <a:srgbClr val="FF0000"/>
                </a:solidFill>
              </a:rPr>
              <a:t>string parsing</a:t>
            </a:r>
            <a:r>
              <a:rPr lang="en" dirty="0"/>
              <a:t>.</a:t>
            </a:r>
            <a:endParaRPr dirty="0"/>
          </a:p>
          <a:p>
            <a:pPr marL="457200" lvl="0" indent="-311150" algn="l" rtl="0">
              <a:spcBef>
                <a:spcPts val="1000"/>
              </a:spcBef>
              <a:spcAft>
                <a:spcPts val="0"/>
              </a:spcAft>
              <a:buSzPts val="1300"/>
              <a:buChar char="●"/>
            </a:pPr>
            <a:r>
              <a:rPr lang="en" dirty="0"/>
              <a:t>At this point it should probably come as no surprise that Java's String class also provides similar methods.</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String t = s.trim()</a:t>
            </a:r>
            <a:r>
              <a:rPr lang="en" dirty="0"/>
              <a:t> returns a </a:t>
            </a:r>
            <a:r>
              <a:rPr lang="en" b="1" i="1" dirty="0">
                <a:solidFill>
                  <a:srgbClr val="FF0000"/>
                </a:solidFill>
              </a:rPr>
              <a:t>copy</a:t>
            </a:r>
            <a:r>
              <a:rPr lang="en" dirty="0"/>
              <a:t> of the string with any leading and trailing </a:t>
            </a:r>
            <a:r>
              <a:rPr lang="en" b="1" i="1" dirty="0">
                <a:solidFill>
                  <a:srgbClr val="FF0000"/>
                </a:solidFill>
              </a:rPr>
              <a:t>whitespace removed</a:t>
            </a:r>
            <a:r>
              <a:rPr lang="en" dirty="0"/>
              <a:t> (including newlines). Whitespace is </a:t>
            </a:r>
            <a:r>
              <a:rPr lang="en" b="1" i="1" dirty="0">
                <a:solidFill>
                  <a:srgbClr val="FF0000"/>
                </a:solidFill>
              </a:rPr>
              <a:t>not</a:t>
            </a:r>
            <a:r>
              <a:rPr lang="en" dirty="0"/>
              <a:t> removed from the middle of the string. It is similar to Python's </a:t>
            </a:r>
            <a:r>
              <a:rPr lang="en" dirty="0">
                <a:latin typeface="Courier New"/>
                <a:ea typeface="Courier New"/>
                <a:cs typeface="Courier New"/>
                <a:sym typeface="Courier New"/>
              </a:rPr>
              <a:t>strip()</a:t>
            </a:r>
            <a:r>
              <a:rPr lang="en" dirty="0"/>
              <a:t> method.</a:t>
            </a:r>
            <a:endParaRPr dirty="0"/>
          </a:p>
          <a:p>
            <a:pPr marL="914400" lvl="1" indent="-298450" algn="l" rtl="0">
              <a:spcBef>
                <a:spcPts val="0"/>
              </a:spcBef>
              <a:spcAft>
                <a:spcPts val="0"/>
              </a:spcAft>
              <a:buSzPts val="1100"/>
              <a:buChar char="○"/>
            </a:pPr>
            <a:r>
              <a:rPr lang="en" dirty="0">
                <a:solidFill>
                  <a:srgbClr val="FF0000"/>
                </a:solidFill>
                <a:latin typeface="Courier New"/>
                <a:ea typeface="Courier New"/>
                <a:cs typeface="Courier New"/>
                <a:sym typeface="Courier New"/>
              </a:rPr>
              <a:t>String[] tokens = s.split(regex)</a:t>
            </a:r>
            <a:r>
              <a:rPr lang="en" dirty="0"/>
              <a:t> will use the specified </a:t>
            </a:r>
            <a:r>
              <a:rPr lang="en" b="1" i="1" dirty="0">
                <a:solidFill>
                  <a:srgbClr val="FF0000"/>
                </a:solidFill>
              </a:rPr>
              <a:t>regular expression</a:t>
            </a:r>
            <a:r>
              <a:rPr lang="en" dirty="0"/>
              <a:t> to split a string into an array of tokens. It is similar to Python's </a:t>
            </a:r>
            <a:r>
              <a:rPr lang="en" dirty="0">
                <a:latin typeface="Courier New"/>
                <a:ea typeface="Courier New"/>
                <a:cs typeface="Courier New"/>
                <a:sym typeface="Courier New"/>
              </a:rPr>
              <a:t>split()</a:t>
            </a:r>
            <a:r>
              <a:rPr lang="en" dirty="0"/>
              <a:t> method.</a:t>
            </a:r>
            <a:endParaRPr dirty="0"/>
          </a:p>
        </p:txBody>
      </p:sp>
      <p:sp>
        <p:nvSpPr>
          <p:cNvPr id="955" name="Google Shape;955;p103"/>
          <p:cNvSpPr txBox="1">
            <a:spLocks noGrp="1"/>
          </p:cNvSpPr>
          <p:nvPr>
            <p:ph type="body" idx="2"/>
          </p:nvPr>
        </p:nvSpPr>
        <p:spPr>
          <a:xfrm>
            <a:off x="4603825" y="2448350"/>
            <a:ext cx="3999900" cy="831300"/>
          </a:xfrm>
          <a:prstGeom prst="rect">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1</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parseMe</a:t>
            </a:r>
            <a:r>
              <a:rPr lang="en" sz="1050" dirty="0">
                <a:solidFill>
                  <a:srgbClr val="000000"/>
                </a:solidFill>
                <a:latin typeface="Consolas"/>
                <a:ea typeface="Consolas"/>
                <a:cs typeface="Consolas"/>
                <a:sym typeface="Consolas"/>
              </a:rPr>
              <a:t> = </a:t>
            </a:r>
            <a:r>
              <a:rPr lang="en" sz="1050" dirty="0">
                <a:solidFill>
                  <a:srgbClr val="A31515"/>
                </a:solidFill>
                <a:latin typeface="Consolas"/>
                <a:ea typeface="Consolas"/>
                <a:cs typeface="Consolas"/>
                <a:sym typeface="Consolas"/>
              </a:rPr>
              <a:t>"</a:t>
            </a:r>
            <a:r>
              <a:rPr lang="en" sz="1050" dirty="0">
                <a:solidFill>
                  <a:srgbClr val="EE0000"/>
                </a:solidFill>
                <a:latin typeface="Consolas"/>
                <a:ea typeface="Consolas"/>
                <a:cs typeface="Consolas"/>
                <a:sym typeface="Consolas"/>
              </a:rPr>
              <a:t>\t</a:t>
            </a:r>
            <a:r>
              <a:rPr lang="en" sz="1050" dirty="0">
                <a:solidFill>
                  <a:srgbClr val="A31515"/>
                </a:solidFill>
                <a:latin typeface="Consolas"/>
                <a:ea typeface="Consolas"/>
                <a:cs typeface="Consolas"/>
                <a:sym typeface="Consolas"/>
              </a:rPr>
              <a:t>  The.Quick.Brown.Fox</a:t>
            </a:r>
            <a:r>
              <a:rPr lang="en" sz="1050" dirty="0">
                <a:solidFill>
                  <a:srgbClr val="EE0000"/>
                </a:solidFill>
                <a:latin typeface="Consolas"/>
                <a:ea typeface="Consolas"/>
                <a:cs typeface="Consolas"/>
                <a:sym typeface="Consolas"/>
              </a:rPr>
              <a:t>\n</a:t>
            </a:r>
            <a:r>
              <a:rPr lang="en" sz="1050" dirty="0">
                <a:solidFill>
                  <a:srgbClr val="A31515"/>
                </a:solidFill>
                <a:latin typeface="Consolas"/>
                <a:ea typeface="Consolas"/>
                <a:cs typeface="Consolas"/>
                <a:sym typeface="Consolas"/>
              </a:rPr>
              <a:t>"</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2</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trimmed</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parseMe</a:t>
            </a:r>
            <a:r>
              <a:rPr lang="en" sz="1050" dirty="0">
                <a:solidFill>
                  <a:srgbClr val="000000"/>
                </a:solidFill>
                <a:latin typeface="Consolas"/>
                <a:ea typeface="Consolas"/>
                <a:cs typeface="Consolas"/>
                <a:sym typeface="Consolas"/>
              </a:rPr>
              <a:t>.</a:t>
            </a:r>
            <a:r>
              <a:rPr lang="en" sz="1050" dirty="0">
                <a:solidFill>
                  <a:srgbClr val="795E26"/>
                </a:solidFill>
                <a:latin typeface="Consolas"/>
                <a:ea typeface="Consolas"/>
                <a:cs typeface="Consolas"/>
                <a:sym typeface="Consolas"/>
              </a:rPr>
              <a:t>trim</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3</a:t>
            </a:r>
            <a:r>
              <a:rPr lang="en" sz="1050" dirty="0">
                <a:solidFill>
                  <a:srgbClr val="000000"/>
                </a:solidFill>
                <a:latin typeface="Consolas"/>
                <a:ea typeface="Consolas"/>
                <a:cs typeface="Consolas"/>
                <a:sym typeface="Consolas"/>
              </a:rPr>
              <a:t>  </a:t>
            </a:r>
            <a:r>
              <a:rPr lang="en" sz="1050" dirty="0">
                <a:solidFill>
                  <a:srgbClr val="267F99"/>
                </a:solidFill>
                <a:latin typeface="Consolas"/>
                <a:ea typeface="Consolas"/>
                <a:cs typeface="Consolas"/>
                <a:sym typeface="Consolas"/>
              </a:rPr>
              <a:t>String</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tokens</a:t>
            </a:r>
            <a:r>
              <a:rPr lang="en" sz="1050" dirty="0">
                <a:solidFill>
                  <a:srgbClr val="000000"/>
                </a:solidFill>
                <a:latin typeface="Consolas"/>
                <a:ea typeface="Consolas"/>
                <a:cs typeface="Consolas"/>
                <a:sym typeface="Consolas"/>
              </a:rPr>
              <a:t> = </a:t>
            </a:r>
            <a:r>
              <a:rPr lang="en" sz="1050" dirty="0">
                <a:solidFill>
                  <a:srgbClr val="001080"/>
                </a:solidFill>
                <a:latin typeface="Consolas"/>
                <a:ea typeface="Consolas"/>
                <a:cs typeface="Consolas"/>
                <a:sym typeface="Consolas"/>
              </a:rPr>
              <a:t>trimmed</a:t>
            </a:r>
            <a:r>
              <a:rPr lang="en" sz="1050" dirty="0">
                <a:solidFill>
                  <a:srgbClr val="000000"/>
                </a:solidFill>
                <a:latin typeface="Consolas"/>
                <a:ea typeface="Consolas"/>
                <a:cs typeface="Consolas"/>
                <a:sym typeface="Consolas"/>
              </a:rPr>
              <a:t>.</a:t>
            </a:r>
            <a:r>
              <a:rPr lang="en" sz="1050" dirty="0">
                <a:solidFill>
                  <a:srgbClr val="795E26"/>
                </a:solidFill>
                <a:latin typeface="Consolas"/>
                <a:ea typeface="Consolas"/>
                <a:cs typeface="Consolas"/>
                <a:sym typeface="Consolas"/>
              </a:rPr>
              <a:t>split</a:t>
            </a:r>
            <a:r>
              <a:rPr lang="en" sz="1050" dirty="0">
                <a:solidFill>
                  <a:srgbClr val="000000"/>
                </a:solidFill>
                <a:latin typeface="Consolas"/>
                <a:ea typeface="Consolas"/>
                <a:cs typeface="Consolas"/>
                <a:sym typeface="Consolas"/>
              </a:rPr>
              <a:t>(</a:t>
            </a:r>
            <a:r>
              <a:rPr lang="en" sz="1050" dirty="0">
                <a:solidFill>
                  <a:srgbClr val="A31515"/>
                </a:solidFill>
                <a:latin typeface="Consolas"/>
                <a:ea typeface="Consolas"/>
                <a:cs typeface="Consolas"/>
                <a:sym typeface="Consolas"/>
              </a:rPr>
              <a:t>"</a:t>
            </a:r>
            <a:r>
              <a:rPr lang="en" sz="1050" dirty="0">
                <a:solidFill>
                  <a:srgbClr val="A31515"/>
                </a:solidFill>
                <a:highlight>
                  <a:srgbClr val="FFFF00"/>
                </a:highlight>
                <a:latin typeface="Consolas"/>
                <a:ea typeface="Consolas"/>
                <a:cs typeface="Consolas"/>
                <a:sym typeface="Consolas"/>
              </a:rPr>
              <a:t>[.]</a:t>
            </a:r>
            <a:r>
              <a:rPr lang="en" sz="1050" dirty="0">
                <a:solidFill>
                  <a:srgbClr val="A31515"/>
                </a:solidFill>
                <a:latin typeface="Consolas"/>
                <a:ea typeface="Consolas"/>
                <a:cs typeface="Consolas"/>
                <a:sym typeface="Consolas"/>
              </a:rPr>
              <a:t>"</a:t>
            </a:r>
            <a:r>
              <a:rPr lang="en" sz="1050" dirty="0">
                <a:solidFill>
                  <a:srgbClr val="000000"/>
                </a:solidFill>
                <a:latin typeface="Consolas"/>
                <a:ea typeface="Consolas"/>
                <a:cs typeface="Consolas"/>
                <a:sym typeface="Consolas"/>
              </a:rPr>
              <a:t>);</a:t>
            </a:r>
            <a:endParaRPr sz="1050" dirty="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098658"/>
                </a:solidFill>
                <a:latin typeface="Consolas"/>
                <a:ea typeface="Consolas"/>
                <a:cs typeface="Consolas"/>
                <a:sym typeface="Consolas"/>
              </a:rPr>
              <a:t>4</a:t>
            </a:r>
            <a:r>
              <a:rPr lang="en" sz="1050" dirty="0">
                <a:solidFill>
                  <a:srgbClr val="000000"/>
                </a:solidFill>
                <a:latin typeface="Consolas"/>
                <a:ea typeface="Consolas"/>
                <a:cs typeface="Consolas"/>
                <a:sym typeface="Consolas"/>
              </a:rPr>
              <a:t>  </a:t>
            </a:r>
            <a:r>
              <a:rPr lang="en" sz="1050" dirty="0">
                <a:solidFill>
                  <a:srgbClr val="001080"/>
                </a:solidFill>
                <a:latin typeface="Consolas"/>
                <a:ea typeface="Consolas"/>
                <a:cs typeface="Consolas"/>
                <a:sym typeface="Consolas"/>
              </a:rPr>
              <a:t>System</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out</a:t>
            </a:r>
            <a:r>
              <a:rPr lang="en" sz="1050" dirty="0">
                <a:solidFill>
                  <a:srgbClr val="000000"/>
                </a:solidFill>
                <a:latin typeface="Consolas"/>
                <a:ea typeface="Consolas"/>
                <a:cs typeface="Consolas"/>
                <a:sym typeface="Consolas"/>
              </a:rPr>
              <a:t>.</a:t>
            </a:r>
            <a:r>
              <a:rPr lang="en" sz="1050" dirty="0">
                <a:solidFill>
                  <a:srgbClr val="795E26"/>
                </a:solidFill>
                <a:latin typeface="Consolas"/>
                <a:ea typeface="Consolas"/>
                <a:cs typeface="Consolas"/>
                <a:sym typeface="Consolas"/>
              </a:rPr>
              <a:t>println</a:t>
            </a:r>
            <a:r>
              <a:rPr lang="en" sz="1050" dirty="0">
                <a:solidFill>
                  <a:srgbClr val="000000"/>
                </a:solidFill>
                <a:latin typeface="Consolas"/>
                <a:ea typeface="Consolas"/>
                <a:cs typeface="Consolas"/>
                <a:sym typeface="Consolas"/>
              </a:rPr>
              <a:t>(</a:t>
            </a:r>
            <a:r>
              <a:rPr lang="en" sz="1050" dirty="0">
                <a:solidFill>
                  <a:srgbClr val="001080"/>
                </a:solidFill>
                <a:latin typeface="Consolas"/>
                <a:ea typeface="Consolas"/>
                <a:cs typeface="Consolas"/>
                <a:sym typeface="Consolas"/>
              </a:rPr>
              <a:t>Arrays</a:t>
            </a:r>
            <a:r>
              <a:rPr lang="en" sz="1050" dirty="0">
                <a:solidFill>
                  <a:srgbClr val="000000"/>
                </a:solidFill>
                <a:latin typeface="Consolas"/>
                <a:ea typeface="Consolas"/>
                <a:cs typeface="Consolas"/>
                <a:sym typeface="Consolas"/>
              </a:rPr>
              <a:t>.</a:t>
            </a:r>
            <a:r>
              <a:rPr lang="en" sz="1050" dirty="0">
                <a:solidFill>
                  <a:srgbClr val="795E26"/>
                </a:solidFill>
                <a:latin typeface="Consolas"/>
                <a:ea typeface="Consolas"/>
                <a:cs typeface="Consolas"/>
                <a:sym typeface="Consolas"/>
              </a:rPr>
              <a:t>toString</a:t>
            </a:r>
            <a:r>
              <a:rPr lang="en" sz="1050" dirty="0">
                <a:solidFill>
                  <a:srgbClr val="000000"/>
                </a:solidFill>
                <a:latin typeface="Consolas"/>
                <a:ea typeface="Consolas"/>
                <a:cs typeface="Consolas"/>
                <a:sym typeface="Consolas"/>
              </a:rPr>
              <a:t>(tokens));</a:t>
            </a:r>
            <a:endParaRPr sz="1050" dirty="0">
              <a:solidFill>
                <a:srgbClr val="999999"/>
              </a:solidFill>
              <a:latin typeface="Consolas"/>
              <a:ea typeface="Consolas"/>
              <a:cs typeface="Consolas"/>
              <a:sym typeface="Consolas"/>
            </a:endParaRPr>
          </a:p>
        </p:txBody>
      </p:sp>
      <p:sp>
        <p:nvSpPr>
          <p:cNvPr id="956" name="Google Shape;956;p10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58</a:t>
            </a:fld>
            <a:endParaRPr/>
          </a:p>
        </p:txBody>
      </p:sp>
      <p:sp>
        <p:nvSpPr>
          <p:cNvPr id="957" name="Google Shape;957;p103"/>
          <p:cNvSpPr/>
          <p:nvPr/>
        </p:nvSpPr>
        <p:spPr>
          <a:xfrm>
            <a:off x="7516650" y="2345750"/>
            <a:ext cx="1127675" cy="470936"/>
          </a:xfrm>
          <a:custGeom>
            <a:avLst/>
            <a:gdLst/>
            <a:ahLst/>
            <a:cxnLst/>
            <a:rect l="l" t="t" r="r" b="b"/>
            <a:pathLst>
              <a:path w="45107" h="21266" extrusionOk="0">
                <a:moveTo>
                  <a:pt x="27373" y="0"/>
                </a:moveTo>
                <a:cubicBezTo>
                  <a:pt x="30206" y="3127"/>
                  <a:pt x="48933" y="15232"/>
                  <a:pt x="44371" y="18764"/>
                </a:cubicBezTo>
                <a:cubicBezTo>
                  <a:pt x="39809" y="22296"/>
                  <a:pt x="7395" y="20787"/>
                  <a:pt x="0" y="21192"/>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58" name="Google Shape;958;p103"/>
          <p:cNvSpPr txBox="1"/>
          <p:nvPr/>
        </p:nvSpPr>
        <p:spPr>
          <a:xfrm>
            <a:off x="4603925" y="1454619"/>
            <a:ext cx="3999900" cy="9234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The </a:t>
            </a:r>
            <a:r>
              <a:rPr lang="en" sz="1200">
                <a:latin typeface="Courier New"/>
                <a:ea typeface="Courier New"/>
                <a:cs typeface="Courier New"/>
                <a:sym typeface="Courier New"/>
              </a:rPr>
              <a:t>String</a:t>
            </a:r>
            <a:r>
              <a:rPr lang="en" sz="1200"/>
              <a:t> class provides </a:t>
            </a:r>
            <a:r>
              <a:rPr lang="en" sz="1200" b="1" i="1">
                <a:solidFill>
                  <a:srgbClr val="FF0000"/>
                </a:solidFill>
              </a:rPr>
              <a:t>many</a:t>
            </a:r>
            <a:r>
              <a:rPr lang="en" sz="1200">
                <a:solidFill>
                  <a:srgbClr val="FF0000"/>
                </a:solidFill>
              </a:rPr>
              <a:t> </a:t>
            </a:r>
            <a:r>
              <a:rPr lang="en" sz="1200"/>
              <a:t>methods that can be used for </a:t>
            </a:r>
            <a:r>
              <a:rPr lang="en" sz="1200" b="1" i="1">
                <a:solidFill>
                  <a:srgbClr val="FF0000"/>
                </a:solidFill>
              </a:rPr>
              <a:t>string parsing</a:t>
            </a:r>
            <a:r>
              <a:rPr lang="en" sz="1200"/>
              <a:t>. One such method is </a:t>
            </a:r>
            <a:r>
              <a:rPr lang="en" sz="1200">
                <a:solidFill>
                  <a:srgbClr val="FF0000"/>
                </a:solidFill>
                <a:latin typeface="Courier New"/>
                <a:ea typeface="Courier New"/>
                <a:cs typeface="Courier New"/>
                <a:sym typeface="Courier New"/>
              </a:rPr>
              <a:t>trim()</a:t>
            </a:r>
            <a:r>
              <a:rPr lang="en" sz="1200"/>
              <a:t>, which will return a copy of the string with </a:t>
            </a:r>
            <a:r>
              <a:rPr lang="en" sz="1200" b="1" i="1">
                <a:solidFill>
                  <a:srgbClr val="FF0000"/>
                </a:solidFill>
              </a:rPr>
              <a:t>whitespace removed</a:t>
            </a:r>
            <a:r>
              <a:rPr lang="en" sz="1200">
                <a:solidFill>
                  <a:srgbClr val="FF0000"/>
                </a:solidFill>
              </a:rPr>
              <a:t> </a:t>
            </a:r>
            <a:r>
              <a:rPr lang="en" sz="1200"/>
              <a:t>from both ends (but </a:t>
            </a:r>
            <a:r>
              <a:rPr lang="en" sz="1200" b="1" i="1">
                <a:solidFill>
                  <a:srgbClr val="FF0000"/>
                </a:solidFill>
              </a:rPr>
              <a:t>not</a:t>
            </a:r>
            <a:r>
              <a:rPr lang="en" sz="1200"/>
              <a:t> the middle).</a:t>
            </a:r>
            <a:endParaRPr sz="1200"/>
          </a:p>
        </p:txBody>
      </p:sp>
      <p:sp>
        <p:nvSpPr>
          <p:cNvPr id="959" name="Google Shape;959;p103"/>
          <p:cNvSpPr/>
          <p:nvPr/>
        </p:nvSpPr>
        <p:spPr>
          <a:xfrm>
            <a:off x="7660125" y="2987774"/>
            <a:ext cx="801825" cy="470898"/>
          </a:xfrm>
          <a:custGeom>
            <a:avLst/>
            <a:gdLst/>
            <a:ahLst/>
            <a:cxnLst/>
            <a:rect l="l" t="t" r="r" b="b"/>
            <a:pathLst>
              <a:path w="32073" h="21339" extrusionOk="0">
                <a:moveTo>
                  <a:pt x="19205" y="21339"/>
                </a:moveTo>
                <a:cubicBezTo>
                  <a:pt x="21265" y="18175"/>
                  <a:pt x="34768" y="5886"/>
                  <a:pt x="31567" y="2354"/>
                </a:cubicBezTo>
                <a:cubicBezTo>
                  <a:pt x="28366" y="-1178"/>
                  <a:pt x="5261" y="515"/>
                  <a:pt x="0" y="147"/>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60" name="Google Shape;960;p103"/>
          <p:cNvSpPr txBox="1"/>
          <p:nvPr/>
        </p:nvSpPr>
        <p:spPr>
          <a:xfrm>
            <a:off x="4603925" y="3402706"/>
            <a:ext cx="3999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dirty="0"/>
              <a:t>Another example is the </a:t>
            </a:r>
            <a:r>
              <a:rPr lang="en" sz="1200" dirty="0">
                <a:solidFill>
                  <a:srgbClr val="FF0000"/>
                </a:solidFill>
                <a:latin typeface="Courier New"/>
                <a:ea typeface="Courier New"/>
                <a:cs typeface="Courier New"/>
                <a:sym typeface="Courier New"/>
              </a:rPr>
              <a:t>split(String regex)</a:t>
            </a:r>
            <a:r>
              <a:rPr lang="en" sz="1200" dirty="0"/>
              <a:t> method, which uses a </a:t>
            </a:r>
            <a:r>
              <a:rPr lang="en" sz="1200" b="1" i="1" dirty="0">
                <a:solidFill>
                  <a:srgbClr val="FF0000"/>
                </a:solidFill>
              </a:rPr>
              <a:t>regular expression</a:t>
            </a:r>
            <a:r>
              <a:rPr lang="en" sz="1200" dirty="0"/>
              <a:t> to split the string into an </a:t>
            </a:r>
            <a:r>
              <a:rPr lang="en" sz="1200" b="1" i="1" dirty="0">
                <a:solidFill>
                  <a:srgbClr val="FF0000"/>
                </a:solidFill>
              </a:rPr>
              <a:t>array of tokens</a:t>
            </a:r>
            <a:r>
              <a:rPr lang="en" sz="1200" dirty="0"/>
              <a:t>.</a:t>
            </a:r>
            <a:endParaRPr sz="1200" dirty="0"/>
          </a:p>
        </p:txBody>
      </p:sp>
      <p:sp>
        <p:nvSpPr>
          <p:cNvPr id="961" name="Google Shape;961;p103"/>
          <p:cNvSpPr txBox="1"/>
          <p:nvPr/>
        </p:nvSpPr>
        <p:spPr>
          <a:xfrm>
            <a:off x="4603925" y="4218831"/>
            <a:ext cx="3999900" cy="7389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spcBef>
                <a:spcPts val="0"/>
              </a:spcBef>
              <a:spcAft>
                <a:spcPts val="0"/>
              </a:spcAft>
              <a:buNone/>
            </a:pPr>
            <a:r>
              <a:rPr lang="en" sz="1200"/>
              <a:t>Some common regular expressions include </a:t>
            </a:r>
            <a:r>
              <a:rPr lang="en" sz="1200">
                <a:solidFill>
                  <a:srgbClr val="FF0000"/>
                </a:solidFill>
                <a:latin typeface="Courier New"/>
                <a:ea typeface="Courier New"/>
                <a:cs typeface="Courier New"/>
                <a:sym typeface="Courier New"/>
              </a:rPr>
              <a:t>""</a:t>
            </a:r>
            <a:r>
              <a:rPr lang="en" sz="1200"/>
              <a:t> (the empty string) which will split into </a:t>
            </a:r>
            <a:r>
              <a:rPr lang="en" sz="1200" b="1" i="1">
                <a:solidFill>
                  <a:srgbClr val="FF0000"/>
                </a:solidFill>
              </a:rPr>
              <a:t>individual characters</a:t>
            </a:r>
            <a:r>
              <a:rPr lang="en" sz="1200"/>
              <a:t>, and </a:t>
            </a:r>
            <a:r>
              <a:rPr lang="en" sz="1200">
                <a:solidFill>
                  <a:srgbClr val="FF0000"/>
                </a:solidFill>
                <a:latin typeface="Courier New"/>
                <a:ea typeface="Courier New"/>
                <a:cs typeface="Courier New"/>
                <a:sym typeface="Courier New"/>
              </a:rPr>
              <a:t>" "</a:t>
            </a:r>
            <a:r>
              <a:rPr lang="en" sz="1200"/>
              <a:t> (a space) which will split on </a:t>
            </a:r>
            <a:r>
              <a:rPr lang="en" sz="1200" b="1" i="1">
                <a:solidFill>
                  <a:srgbClr val="FF0000"/>
                </a:solidFill>
              </a:rPr>
              <a:t>spaces</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5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58"/>
                                        </p:tgtEl>
                                        <p:attrNameLst>
                                          <p:attrName>style.visibility</p:attrName>
                                        </p:attrNameLst>
                                      </p:cBhvr>
                                      <p:to>
                                        <p:strVal val="visible"/>
                                      </p:to>
                                    </p:set>
                                    <p:animEffect transition="in" filter="fade">
                                      <p:cBhvr>
                                        <p:cTn id="23" dur="1000"/>
                                        <p:tgtEl>
                                          <p:spTgt spid="958"/>
                                        </p:tgtEl>
                                      </p:cBhvr>
                                    </p:animEffect>
                                  </p:childTnLst>
                                </p:cTn>
                              </p:par>
                              <p:par>
                                <p:cTn id="24" presetID="10" presetClass="entr" presetSubtype="0" fill="hold" nodeType="withEffect">
                                  <p:stCondLst>
                                    <p:cond delay="0"/>
                                  </p:stCondLst>
                                  <p:childTnLst>
                                    <p:set>
                                      <p:cBhvr>
                                        <p:cTn id="25" dur="1" fill="hold">
                                          <p:stCondLst>
                                            <p:cond delay="0"/>
                                          </p:stCondLst>
                                        </p:cTn>
                                        <p:tgtEl>
                                          <p:spTgt spid="955"/>
                                        </p:tgtEl>
                                        <p:attrNameLst>
                                          <p:attrName>style.visibility</p:attrName>
                                        </p:attrNameLst>
                                      </p:cBhvr>
                                      <p:to>
                                        <p:strVal val="visible"/>
                                      </p:to>
                                    </p:set>
                                    <p:animEffect transition="in" filter="fade">
                                      <p:cBhvr>
                                        <p:cTn id="26" dur="1000"/>
                                        <p:tgtEl>
                                          <p:spTgt spid="955"/>
                                        </p:tgtEl>
                                      </p:cBhvr>
                                    </p:animEffect>
                                  </p:childTnLst>
                                </p:cTn>
                              </p:par>
                            </p:childTnLst>
                          </p:cTn>
                        </p:par>
                        <p:par>
                          <p:cTn id="27" fill="hold">
                            <p:stCondLst>
                              <p:cond delay="1000"/>
                            </p:stCondLst>
                            <p:childTnLst>
                              <p:par>
                                <p:cTn id="28" presetID="10" presetClass="entr" presetSubtype="0" fill="hold" nodeType="afterEffect">
                                  <p:stCondLst>
                                    <p:cond delay="0"/>
                                  </p:stCondLst>
                                  <p:childTnLst>
                                    <p:set>
                                      <p:cBhvr>
                                        <p:cTn id="29" dur="1" fill="hold">
                                          <p:stCondLst>
                                            <p:cond delay="0"/>
                                          </p:stCondLst>
                                        </p:cTn>
                                        <p:tgtEl>
                                          <p:spTgt spid="957"/>
                                        </p:tgtEl>
                                        <p:attrNameLst>
                                          <p:attrName>style.visibility</p:attrName>
                                        </p:attrNameLst>
                                      </p:cBhvr>
                                      <p:to>
                                        <p:strVal val="visible"/>
                                      </p:to>
                                    </p:set>
                                    <p:animEffect transition="in" filter="fade">
                                      <p:cBhvr>
                                        <p:cTn id="30" dur="1000"/>
                                        <p:tgtEl>
                                          <p:spTgt spid="95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60"/>
                                        </p:tgtEl>
                                        <p:attrNameLst>
                                          <p:attrName>style.visibility</p:attrName>
                                        </p:attrNameLst>
                                      </p:cBhvr>
                                      <p:to>
                                        <p:strVal val="visible"/>
                                      </p:to>
                                    </p:set>
                                    <p:animEffect transition="in" filter="fade">
                                      <p:cBhvr>
                                        <p:cTn id="35" dur="1000"/>
                                        <p:tgtEl>
                                          <p:spTgt spid="960"/>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959"/>
                                        </p:tgtEl>
                                        <p:attrNameLst>
                                          <p:attrName>style.visibility</p:attrName>
                                        </p:attrNameLst>
                                      </p:cBhvr>
                                      <p:to>
                                        <p:strVal val="visible"/>
                                      </p:to>
                                    </p:set>
                                    <p:animEffect transition="in" filter="fade">
                                      <p:cBhvr>
                                        <p:cTn id="39" dur="1000"/>
                                        <p:tgtEl>
                                          <p:spTgt spid="95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61"/>
                                        </p:tgtEl>
                                        <p:attrNameLst>
                                          <p:attrName>style.visibility</p:attrName>
                                        </p:attrNameLst>
                                      </p:cBhvr>
                                      <p:to>
                                        <p:strVal val="visible"/>
                                      </p:to>
                                    </p:set>
                                    <p:animEffect transition="in" filter="fade">
                                      <p:cBhvr>
                                        <p:cTn id="44" dur="1000"/>
                                        <p:tgtEl>
                                          <p:spTgt spid="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104"/>
          <p:cNvSpPr txBox="1">
            <a:spLocks noGrp="1"/>
          </p:cNvSpPr>
          <p:nvPr>
            <p:ph type="body" idx="1"/>
          </p:nvPr>
        </p:nvSpPr>
        <p:spPr>
          <a:xfrm>
            <a:off x="65250" y="7316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String parsing refers to extracting data from a string. Often this means converting the string data into some other form. Let's practice string parsing in Java by parsing strings into </a:t>
            </a:r>
            <a:r>
              <a:rPr lang="en">
                <a:latin typeface="Courier New"/>
                <a:ea typeface="Courier New"/>
                <a:cs typeface="Courier New"/>
                <a:sym typeface="Courier New"/>
              </a:rPr>
              <a:t>Year</a:t>
            </a:r>
            <a:r>
              <a:rPr lang="en"/>
              <a:t> objects.</a:t>
            </a:r>
            <a:endParaRPr/>
          </a:p>
        </p:txBody>
      </p:sp>
      <p:sp>
        <p:nvSpPr>
          <p:cNvPr id="967" name="Google Shape;967;p10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59</a:t>
            </a:fld>
            <a:endParaRPr/>
          </a:p>
        </p:txBody>
      </p:sp>
      <p:sp>
        <p:nvSpPr>
          <p:cNvPr id="968" name="Google Shape;968;p104"/>
          <p:cNvSpPr txBox="1">
            <a:spLocks noGrp="1"/>
          </p:cNvSpPr>
          <p:nvPr>
            <p:ph type="body" idx="2"/>
          </p:nvPr>
        </p:nvSpPr>
        <p:spPr>
          <a:xfrm>
            <a:off x="3623650" y="1530950"/>
            <a:ext cx="5190300" cy="33078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Open the </a:t>
            </a:r>
            <a:r>
              <a:rPr lang="en" sz="1400" dirty="0">
                <a:latin typeface="Courier New"/>
                <a:ea typeface="Courier New"/>
                <a:cs typeface="Courier New"/>
                <a:sym typeface="Courier New"/>
              </a:rPr>
              <a:t>Year</a:t>
            </a:r>
            <a:r>
              <a:rPr lang="en" sz="1400" dirty="0"/>
              <a:t> class and add a static method named "</a:t>
            </a:r>
            <a:r>
              <a:rPr lang="en" sz="1400" dirty="0">
                <a:solidFill>
                  <a:srgbClr val="FF0000"/>
                </a:solidFill>
                <a:latin typeface="Courier New"/>
                <a:ea typeface="Courier New"/>
                <a:cs typeface="Courier New"/>
                <a:sym typeface="Courier New"/>
              </a:rPr>
              <a:t>parseYears</a:t>
            </a:r>
            <a:r>
              <a:rPr lang="en" sz="1400" dirty="0"/>
              <a:t>" that declares a parameter for a string of </a:t>
            </a:r>
            <a:r>
              <a:rPr lang="en" sz="1400" dirty="0">
                <a:solidFill>
                  <a:srgbClr val="FF0000"/>
                </a:solidFill>
                <a:latin typeface="Courier New"/>
                <a:ea typeface="Courier New"/>
                <a:cs typeface="Courier New"/>
                <a:sym typeface="Courier New"/>
              </a:rPr>
              <a:t>years</a:t>
            </a:r>
            <a:r>
              <a:rPr lang="en" sz="1400" dirty="0">
                <a:solidFill>
                  <a:srgbClr val="FF0000"/>
                </a:solidFill>
              </a:rPr>
              <a:t> </a:t>
            </a:r>
            <a:r>
              <a:rPr lang="en" sz="1400" dirty="0"/>
              <a:t>and </a:t>
            </a:r>
            <a:r>
              <a:rPr lang="en" sz="1400" b="1" i="1" dirty="0">
                <a:solidFill>
                  <a:srgbClr val="FF0000"/>
                </a:solidFill>
              </a:rPr>
              <a:t>returns an array</a:t>
            </a:r>
            <a:r>
              <a:rPr lang="en" sz="1400" dirty="0"/>
              <a:t> of </a:t>
            </a:r>
            <a:r>
              <a:rPr lang="en" sz="1400" dirty="0">
                <a:latin typeface="Courier New"/>
                <a:ea typeface="Courier New"/>
                <a:cs typeface="Courier New"/>
                <a:sym typeface="Courier New"/>
              </a:rPr>
              <a:t>Year</a:t>
            </a:r>
            <a:r>
              <a:rPr lang="en" sz="1400" dirty="0"/>
              <a:t> objects.</a:t>
            </a:r>
            <a:endParaRPr sz="1400" dirty="0"/>
          </a:p>
          <a:p>
            <a:pPr marL="914400" lvl="1" indent="-304800" algn="l" rtl="0">
              <a:spcBef>
                <a:spcPts val="0"/>
              </a:spcBef>
              <a:spcAft>
                <a:spcPts val="0"/>
              </a:spcAft>
              <a:buSzPts val="1200"/>
              <a:buChar char="○"/>
            </a:pPr>
            <a:r>
              <a:rPr lang="en" sz="1200" dirty="0"/>
              <a:t>Assume the string is in the format </a:t>
            </a:r>
            <a:r>
              <a:rPr lang="en" sz="1200" dirty="0">
                <a:solidFill>
                  <a:srgbClr val="FF0000"/>
                </a:solidFill>
                <a:latin typeface="Courier New"/>
                <a:ea typeface="Courier New"/>
                <a:cs typeface="Courier New"/>
                <a:sym typeface="Courier New"/>
              </a:rPr>
              <a:t>"&lt;year 1&gt; &lt;year 2&gt; … &lt;year n&gt;"</a:t>
            </a:r>
            <a:r>
              <a:rPr lang="en" sz="1200" dirty="0"/>
              <a:t> where </a:t>
            </a:r>
            <a:r>
              <a:rPr lang="en" sz="1200" dirty="0">
                <a:solidFill>
                  <a:srgbClr val="FF0000"/>
                </a:solidFill>
                <a:latin typeface="Courier New"/>
                <a:ea typeface="Courier New"/>
                <a:cs typeface="Courier New"/>
                <a:sym typeface="Courier New"/>
              </a:rPr>
              <a:t>n</a:t>
            </a:r>
            <a:r>
              <a:rPr lang="en" sz="1200" dirty="0"/>
              <a:t> is the number of years in the string, e.g. </a:t>
            </a:r>
            <a:r>
              <a:rPr lang="en" sz="1200" dirty="0">
                <a:solidFill>
                  <a:srgbClr val="FF0000"/>
                </a:solidFill>
                <a:latin typeface="Courier New"/>
                <a:ea typeface="Courier New"/>
                <a:cs typeface="Courier New"/>
                <a:sym typeface="Courier New"/>
              </a:rPr>
              <a:t>"1975 2000 1952 2023"</a:t>
            </a:r>
            <a:endParaRPr sz="1200" dirty="0">
              <a:solidFill>
                <a:srgbClr val="FF0000"/>
              </a:solidFill>
              <a:latin typeface="Courier New"/>
              <a:ea typeface="Courier New"/>
              <a:cs typeface="Courier New"/>
              <a:sym typeface="Courier New"/>
            </a:endParaRPr>
          </a:p>
          <a:p>
            <a:pPr marL="914400" lvl="1" indent="-304800" algn="l" rtl="0">
              <a:spcBef>
                <a:spcPts val="0"/>
              </a:spcBef>
              <a:spcAft>
                <a:spcPts val="0"/>
              </a:spcAft>
              <a:buSzPts val="1200"/>
              <a:buChar char="○"/>
            </a:pPr>
            <a:r>
              <a:rPr lang="en" sz="1200" dirty="0"/>
              <a:t>Use </a:t>
            </a:r>
            <a:r>
              <a:rPr lang="en" sz="1200" dirty="0">
                <a:solidFill>
                  <a:srgbClr val="FF0000"/>
                </a:solidFill>
                <a:latin typeface="Courier New"/>
                <a:ea typeface="Courier New"/>
                <a:cs typeface="Courier New"/>
                <a:sym typeface="Courier New"/>
              </a:rPr>
              <a:t>Integer.parseInt(String)</a:t>
            </a:r>
            <a:r>
              <a:rPr lang="en" sz="1200" dirty="0"/>
              <a:t> to convert the tokens into integers.</a:t>
            </a:r>
            <a:endParaRPr sz="1200" dirty="0"/>
          </a:p>
          <a:p>
            <a:pPr marL="914400" lvl="1" indent="-304800" algn="l" rtl="0">
              <a:spcBef>
                <a:spcPts val="0"/>
              </a:spcBef>
              <a:spcAft>
                <a:spcPts val="0"/>
              </a:spcAft>
              <a:buSzPts val="1200"/>
              <a:buChar char="○"/>
            </a:pPr>
            <a:r>
              <a:rPr lang="en" sz="1200" b="1" i="1" dirty="0">
                <a:solidFill>
                  <a:srgbClr val="FF0000"/>
                </a:solidFill>
              </a:rPr>
              <a:t>Do not</a:t>
            </a:r>
            <a:r>
              <a:rPr lang="en" sz="1200" dirty="0"/>
              <a:t> worry about </a:t>
            </a:r>
            <a:r>
              <a:rPr lang="en" sz="1200" b="1" i="1" dirty="0">
                <a:solidFill>
                  <a:srgbClr val="FF0000"/>
                </a:solidFill>
              </a:rPr>
              <a:t>error handling</a:t>
            </a:r>
            <a:r>
              <a:rPr lang="en" sz="1200" dirty="0"/>
              <a:t>; assume the string is correctly formatted.</a:t>
            </a:r>
            <a:endParaRPr sz="1200" dirty="0"/>
          </a:p>
          <a:p>
            <a:pPr marL="457200" lvl="0" indent="-317500" algn="l" rtl="0">
              <a:spcBef>
                <a:spcPts val="0"/>
              </a:spcBef>
              <a:spcAft>
                <a:spcPts val="0"/>
              </a:spcAft>
              <a:buSzPts val="1400"/>
              <a:buChar char="●"/>
            </a:pPr>
            <a:r>
              <a:rPr lang="en" sz="1400" dirty="0"/>
              <a:t>Test your new method by calling it from </a:t>
            </a:r>
            <a:r>
              <a:rPr lang="en" sz="1400" dirty="0">
                <a:solidFill>
                  <a:srgbClr val="FF0000"/>
                </a:solidFill>
                <a:latin typeface="Courier New"/>
                <a:ea typeface="Courier New"/>
                <a:cs typeface="Courier New"/>
                <a:sym typeface="Courier New"/>
              </a:rPr>
              <a:t>main</a:t>
            </a:r>
            <a:r>
              <a:rPr lang="en" sz="1400" dirty="0"/>
              <a:t> with the properly formatted string of your choice.</a:t>
            </a:r>
            <a:endParaRPr sz="1400" dirty="0"/>
          </a:p>
          <a:p>
            <a:pPr marL="914400" lvl="1" indent="-304800" algn="l" rtl="0">
              <a:spcBef>
                <a:spcPts val="0"/>
              </a:spcBef>
              <a:spcAft>
                <a:spcPts val="0"/>
              </a:spcAft>
              <a:buSzPts val="1200"/>
              <a:buChar char="○"/>
            </a:pPr>
            <a:r>
              <a:rPr lang="en" sz="1200" dirty="0"/>
              <a:t>Use </a:t>
            </a:r>
            <a:r>
              <a:rPr lang="en" sz="1200" dirty="0">
                <a:solidFill>
                  <a:srgbClr val="FF0000"/>
                </a:solidFill>
                <a:latin typeface="Courier New"/>
                <a:ea typeface="Courier New"/>
                <a:cs typeface="Courier New"/>
                <a:sym typeface="Courier New"/>
              </a:rPr>
              <a:t>Arrays.toString()</a:t>
            </a:r>
            <a:r>
              <a:rPr lang="en" sz="1200" dirty="0"/>
              <a:t> to print the array that is returned.</a:t>
            </a:r>
            <a:endParaRPr sz="1200" b="1" dirty="0"/>
          </a:p>
        </p:txBody>
      </p:sp>
      <p:sp>
        <p:nvSpPr>
          <p:cNvPr id="969" name="Google Shape;969;p104"/>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Parsing Years</a:t>
            </a:r>
            <a:endParaRPr/>
          </a:p>
        </p:txBody>
      </p:sp>
      <p:sp>
        <p:nvSpPr>
          <p:cNvPr id="970" name="Google Shape;970;p104"/>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2.23</a:t>
            </a:r>
            <a:endParaRPr/>
          </a:p>
        </p:txBody>
      </p:sp>
      <p:pic>
        <p:nvPicPr>
          <p:cNvPr id="971" name="Google Shape;971;p104"/>
          <p:cNvPicPr preferRelativeResize="0"/>
          <p:nvPr/>
        </p:nvPicPr>
        <p:blipFill>
          <a:blip r:embed="rId3">
            <a:alphaModFix/>
          </a:blip>
          <a:stretch>
            <a:fillRect/>
          </a:stretch>
        </p:blipFill>
        <p:spPr>
          <a:xfrm>
            <a:off x="1335675" y="1598325"/>
            <a:ext cx="1151442" cy="1932900"/>
          </a:xfrm>
          <a:prstGeom prst="rect">
            <a:avLst/>
          </a:prstGeom>
          <a:noFill/>
          <a:ln>
            <a:noFill/>
          </a:ln>
        </p:spPr>
      </p:pic>
      <p:sp>
        <p:nvSpPr>
          <p:cNvPr id="972" name="Google Shape;972;p104"/>
          <p:cNvSpPr txBox="1">
            <a:spLocks noGrp="1"/>
          </p:cNvSpPr>
          <p:nvPr>
            <p:ph type="body" idx="4"/>
          </p:nvPr>
        </p:nvSpPr>
        <p:spPr>
          <a:xfrm>
            <a:off x="199150" y="3668675"/>
            <a:ext cx="3424500" cy="9543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parseMe</a:t>
            </a:r>
            <a:r>
              <a:rPr lang="en" sz="1000">
                <a:solidFill>
                  <a:srgbClr val="000000"/>
                </a:solidFill>
                <a:highlight>
                  <a:srgbClr val="FFFFFF"/>
                </a:highlight>
                <a:latin typeface="Consolas"/>
                <a:ea typeface="Consolas"/>
                <a:cs typeface="Consolas"/>
                <a:sym typeface="Consolas"/>
              </a:rPr>
              <a:t> = </a:t>
            </a:r>
            <a:r>
              <a:rPr lang="en" sz="1000">
                <a:solidFill>
                  <a:srgbClr val="A31515"/>
                </a:solidFill>
                <a:highlight>
                  <a:srgbClr val="FFFFFF"/>
                </a:highlight>
                <a:latin typeface="Consolas"/>
                <a:ea typeface="Consolas"/>
                <a:cs typeface="Consolas"/>
                <a:sym typeface="Consolas"/>
              </a:rPr>
              <a:t>"</a:t>
            </a:r>
            <a:r>
              <a:rPr lang="en" sz="1000">
                <a:solidFill>
                  <a:srgbClr val="EE0000"/>
                </a:solidFill>
                <a:highlight>
                  <a:srgbClr val="FFFFFF"/>
                </a:highlight>
                <a:latin typeface="Consolas"/>
                <a:ea typeface="Consolas"/>
                <a:cs typeface="Consolas"/>
                <a:sym typeface="Consolas"/>
              </a:rPr>
              <a:t>\t</a:t>
            </a:r>
            <a:r>
              <a:rPr lang="en" sz="1000">
                <a:solidFill>
                  <a:srgbClr val="A31515"/>
                </a:solidFill>
                <a:highlight>
                  <a:srgbClr val="FFFFFF"/>
                </a:highlight>
                <a:latin typeface="Consolas"/>
                <a:ea typeface="Consolas"/>
                <a:cs typeface="Consolas"/>
                <a:sym typeface="Consolas"/>
              </a:rPr>
              <a:t>  The.Quick.Brown.Fox</a:t>
            </a:r>
            <a:r>
              <a:rPr lang="en" sz="1000">
                <a:solidFill>
                  <a:srgbClr val="EE0000"/>
                </a:solidFill>
                <a:highlight>
                  <a:srgbClr val="FFFFFF"/>
                </a:highlight>
                <a:latin typeface="Consolas"/>
                <a:ea typeface="Consolas"/>
                <a:cs typeface="Consolas"/>
                <a:sym typeface="Consolas"/>
              </a:rPr>
              <a:t>\n</a:t>
            </a:r>
            <a:r>
              <a:rPr lang="en" sz="1000">
                <a:solidFill>
                  <a:srgbClr val="A31515"/>
                </a:solidFill>
                <a:highlight>
                  <a:srgbClr val="FFFFFF"/>
                </a:highlight>
                <a:latin typeface="Consolas"/>
                <a:ea typeface="Consolas"/>
                <a:cs typeface="Consolas"/>
                <a:sym typeface="Consolas"/>
              </a:rPr>
              <a: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trimmed</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parseMe</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trim</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267F99"/>
                </a:solidFill>
                <a:highlight>
                  <a:srgbClr val="FFFFFF"/>
                </a:highlight>
                <a:latin typeface="Consolas"/>
                <a:ea typeface="Consolas"/>
                <a:cs typeface="Consolas"/>
                <a:sym typeface="Consolas"/>
              </a:rPr>
              <a:t>String</a:t>
            </a: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tokens</a:t>
            </a:r>
            <a:r>
              <a:rPr lang="en" sz="1000">
                <a:solidFill>
                  <a:srgbClr val="000000"/>
                </a:solidFill>
                <a:highlight>
                  <a:srgbClr val="FFFFFF"/>
                </a:highlight>
                <a:latin typeface="Consolas"/>
                <a:ea typeface="Consolas"/>
                <a:cs typeface="Consolas"/>
                <a:sym typeface="Consolas"/>
              </a:rPr>
              <a:t> = </a:t>
            </a:r>
            <a:r>
              <a:rPr lang="en" sz="1000">
                <a:solidFill>
                  <a:srgbClr val="001080"/>
                </a:solidFill>
                <a:highlight>
                  <a:srgbClr val="FFFFFF"/>
                </a:highlight>
                <a:latin typeface="Consolas"/>
                <a:ea typeface="Consolas"/>
                <a:cs typeface="Consolas"/>
                <a:sym typeface="Consolas"/>
              </a:rPr>
              <a:t>trimmed</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split</a:t>
            </a:r>
            <a:r>
              <a:rPr lang="en" sz="1000">
                <a:solidFill>
                  <a:srgbClr val="000000"/>
                </a:solidFill>
                <a:highlight>
                  <a:srgbClr val="FFFFFF"/>
                </a:highlight>
                <a:latin typeface="Consolas"/>
                <a:ea typeface="Consolas"/>
                <a:cs typeface="Consolas"/>
                <a:sym typeface="Consolas"/>
              </a:rPr>
              <a:t>(</a:t>
            </a:r>
            <a:r>
              <a:rPr lang="en" sz="1000">
                <a:solidFill>
                  <a:srgbClr val="A31515"/>
                </a:solidFill>
                <a:highlight>
                  <a:srgbClr val="FFFFFF"/>
                </a:highlight>
                <a:latin typeface="Consolas"/>
                <a:ea typeface="Consolas"/>
                <a:cs typeface="Consolas"/>
                <a:sym typeface="Consolas"/>
              </a:rPr>
              <a:t>"[.]"</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1080"/>
                </a:solidFill>
                <a:highlight>
                  <a:srgbClr val="FFFFFF"/>
                </a:highlight>
                <a:latin typeface="Consolas"/>
                <a:ea typeface="Consolas"/>
                <a:cs typeface="Consolas"/>
                <a:sym typeface="Consolas"/>
              </a:rPr>
              <a:t>System</a:t>
            </a:r>
            <a:r>
              <a:rPr lang="en" sz="1000">
                <a:solidFill>
                  <a:srgbClr val="000000"/>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out</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000000"/>
                </a:solidFill>
                <a:highlight>
                  <a:srgbClr val="FFFFFF"/>
                </a:highlight>
                <a:latin typeface="Consolas"/>
                <a:ea typeface="Consolas"/>
                <a:cs typeface="Consolas"/>
                <a:sym typeface="Consolas"/>
              </a:rPr>
              <a:t>(</a:t>
            </a:r>
            <a:endParaRPr sz="1000">
              <a:solidFill>
                <a:srgbClr val="000000"/>
              </a:solidFill>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00000"/>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Arrays</a:t>
            </a:r>
            <a:r>
              <a:rPr lang="en" sz="1000">
                <a:solidFill>
                  <a:srgbClr val="000000"/>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toString</a:t>
            </a:r>
            <a:r>
              <a:rPr lang="en" sz="1000">
                <a:solidFill>
                  <a:srgbClr val="000000"/>
                </a:solidFill>
                <a:highlight>
                  <a:srgbClr val="FFFFFF"/>
                </a:highlight>
                <a:latin typeface="Consolas"/>
                <a:ea typeface="Consolas"/>
                <a:cs typeface="Consolas"/>
                <a:sym typeface="Consolas"/>
              </a:rPr>
              <a:t>(tokens));</a:t>
            </a:r>
            <a:endParaRPr sz="1000">
              <a:solidFill>
                <a:srgbClr val="4EC9B0"/>
              </a:solidFill>
              <a:latin typeface="Consolas"/>
              <a:ea typeface="Consolas"/>
              <a:cs typeface="Consolas"/>
              <a:sym typeface="Consola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76"/>
        <p:cNvGrpSpPr/>
        <p:nvPr/>
      </p:nvGrpSpPr>
      <p:grpSpPr>
        <a:xfrm>
          <a:off x="0" y="0"/>
          <a:ext cx="0" cy="0"/>
          <a:chOff x="0" y="0"/>
          <a:chExt cx="0" cy="0"/>
        </a:xfrm>
      </p:grpSpPr>
      <p:sp>
        <p:nvSpPr>
          <p:cNvPr id="977" name="Google Shape;977;p105"/>
          <p:cNvSpPr txBox="1">
            <a:spLocks noGrp="1"/>
          </p:cNvSpPr>
          <p:nvPr>
            <p:ph type="sldNum" idx="12"/>
          </p:nvPr>
        </p:nvSpPr>
        <p:spPr>
          <a:xfrm>
            <a:off x="14258" y="4739417"/>
            <a:ext cx="5487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60</a:t>
            </a:fld>
            <a:endParaRPr/>
          </a:p>
        </p:txBody>
      </p:sp>
      <p:sp>
        <p:nvSpPr>
          <p:cNvPr id="978" name="Google Shape;978;p105"/>
          <p:cNvSpPr txBox="1">
            <a:spLocks noGrp="1"/>
          </p:cNvSpPr>
          <p:nvPr>
            <p:ph type="title"/>
          </p:nvPr>
        </p:nvSpPr>
        <p:spPr>
          <a:xfrm>
            <a:off x="5188525" y="97464"/>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java.util.Random</a:t>
            </a:r>
            <a:endParaRPr>
              <a:latin typeface="Consolas"/>
              <a:ea typeface="Consolas"/>
              <a:cs typeface="Consolas"/>
              <a:sym typeface="Consolas"/>
            </a:endParaRPr>
          </a:p>
        </p:txBody>
      </p:sp>
      <p:sp>
        <p:nvSpPr>
          <p:cNvPr id="979" name="Google Shape;979;p105"/>
          <p:cNvSpPr txBox="1">
            <a:spLocks noGrp="1"/>
          </p:cNvSpPr>
          <p:nvPr>
            <p:ph type="body" idx="1"/>
          </p:nvPr>
        </p:nvSpPr>
        <p:spPr>
          <a:xfrm>
            <a:off x="207550" y="307350"/>
            <a:ext cx="4488000" cy="4528800"/>
          </a:xfrm>
          <a:prstGeom prst="rect">
            <a:avLst/>
          </a:prstGeom>
        </p:spPr>
        <p:txBody>
          <a:bodyPr spcFirstLastPara="1" wrap="square" lIns="91425" tIns="91425" rIns="91425" bIns="91425" anchor="ctr" anchorCtr="0">
            <a:spAutoFit/>
          </a:bodyPr>
          <a:lstStyle/>
          <a:p>
            <a:pPr marL="457200" lvl="0" indent="-304800" algn="l" rtl="0">
              <a:spcBef>
                <a:spcPts val="0"/>
              </a:spcBef>
              <a:spcAft>
                <a:spcPts val="0"/>
              </a:spcAft>
              <a:buSzPts val="1200"/>
              <a:buChar char="●"/>
            </a:pPr>
            <a:r>
              <a:rPr lang="en" sz="1200" dirty="0"/>
              <a:t>It is often the case that the programs that we write will need some elements of </a:t>
            </a:r>
            <a:r>
              <a:rPr lang="en" sz="1200" b="1" i="1" dirty="0">
                <a:solidFill>
                  <a:srgbClr val="FF0000"/>
                </a:solidFill>
              </a:rPr>
              <a:t>randomness</a:t>
            </a:r>
            <a:r>
              <a:rPr lang="en" sz="1200" dirty="0"/>
              <a:t>.</a:t>
            </a:r>
            <a:endParaRPr sz="1200" dirty="0"/>
          </a:p>
          <a:p>
            <a:pPr marL="914400" lvl="1" indent="-292100" algn="l" rtl="0">
              <a:spcBef>
                <a:spcPts val="0"/>
              </a:spcBef>
              <a:spcAft>
                <a:spcPts val="0"/>
              </a:spcAft>
              <a:buSzPts val="1000"/>
              <a:buChar char="○"/>
            </a:pPr>
            <a:r>
              <a:rPr lang="en" sz="1000" dirty="0"/>
              <a:t>We accomplished this in Python by importing the </a:t>
            </a:r>
            <a:r>
              <a:rPr lang="en" sz="1000" dirty="0">
                <a:latin typeface="Courier New"/>
                <a:ea typeface="Courier New"/>
                <a:cs typeface="Courier New"/>
                <a:sym typeface="Courier New"/>
              </a:rPr>
              <a:t>random</a:t>
            </a:r>
            <a:r>
              <a:rPr lang="en" sz="1000" dirty="0"/>
              <a:t> module and calling the </a:t>
            </a:r>
            <a:r>
              <a:rPr lang="en" sz="1000" dirty="0">
                <a:highlight>
                  <a:srgbClr val="FFFF00"/>
                </a:highlight>
                <a:latin typeface="Courier New"/>
                <a:ea typeface="Courier New"/>
                <a:cs typeface="Courier New"/>
                <a:sym typeface="Courier New"/>
              </a:rPr>
              <a:t>randint(a, b)</a:t>
            </a:r>
            <a:r>
              <a:rPr lang="en" sz="1000" dirty="0">
                <a:highlight>
                  <a:srgbClr val="FFFF00"/>
                </a:highlight>
              </a:rPr>
              <a:t> </a:t>
            </a:r>
            <a:r>
              <a:rPr lang="en" sz="1000" dirty="0"/>
              <a:t>and </a:t>
            </a:r>
            <a:r>
              <a:rPr lang="en" sz="1000" dirty="0">
                <a:highlight>
                  <a:srgbClr val="FFFF00"/>
                </a:highlight>
                <a:latin typeface="Courier New"/>
                <a:ea typeface="Courier New"/>
                <a:cs typeface="Courier New"/>
                <a:sym typeface="Courier New"/>
              </a:rPr>
              <a:t>randrange(a, b)</a:t>
            </a:r>
            <a:r>
              <a:rPr lang="en" sz="1000" dirty="0">
                <a:highlight>
                  <a:srgbClr val="FFFF00"/>
                </a:highlight>
              </a:rPr>
              <a:t> </a:t>
            </a:r>
            <a:r>
              <a:rPr lang="en" sz="1000" dirty="0"/>
              <a:t>functions.</a:t>
            </a:r>
            <a:endParaRPr sz="1000" dirty="0"/>
          </a:p>
          <a:p>
            <a:pPr marL="457200" lvl="0" indent="-304800" algn="l" rtl="0">
              <a:spcBef>
                <a:spcPts val="1000"/>
              </a:spcBef>
              <a:spcAft>
                <a:spcPts val="0"/>
              </a:spcAft>
              <a:buSzPts val="1200"/>
              <a:buChar char="●"/>
            </a:pPr>
            <a:r>
              <a:rPr lang="en" sz="1200" dirty="0"/>
              <a:t>Thankfully, Java also provides a class that can be used to generate </a:t>
            </a:r>
            <a:r>
              <a:rPr lang="en" sz="1200" b="1" i="1" dirty="0">
                <a:solidFill>
                  <a:srgbClr val="FF0000"/>
                </a:solidFill>
                <a:highlight>
                  <a:srgbClr val="FFFF00"/>
                </a:highlight>
              </a:rPr>
              <a:t>pseudorandom</a:t>
            </a:r>
            <a:r>
              <a:rPr lang="en" sz="1200" dirty="0">
                <a:solidFill>
                  <a:srgbClr val="FF0000"/>
                </a:solidFill>
              </a:rPr>
              <a:t> </a:t>
            </a:r>
            <a:r>
              <a:rPr lang="en" sz="1200" dirty="0"/>
              <a:t>numbers: </a:t>
            </a:r>
            <a:r>
              <a:rPr lang="en" sz="1200" dirty="0">
                <a:solidFill>
                  <a:srgbClr val="FF0000"/>
                </a:solidFill>
                <a:highlight>
                  <a:srgbClr val="FFFF00"/>
                </a:highlight>
                <a:latin typeface="Courier New"/>
                <a:ea typeface="Courier New"/>
                <a:cs typeface="Courier New"/>
                <a:sym typeface="Courier New"/>
              </a:rPr>
              <a:t>java.util.Random</a:t>
            </a:r>
            <a:r>
              <a:rPr lang="en" sz="1200" dirty="0">
                <a:highlight>
                  <a:srgbClr val="FFFF00"/>
                </a:highlight>
              </a:rPr>
              <a:t>.</a:t>
            </a:r>
            <a:endParaRPr sz="1200" dirty="0">
              <a:highlight>
                <a:srgbClr val="FFFF00"/>
              </a:highlight>
            </a:endParaRPr>
          </a:p>
          <a:p>
            <a:pPr marL="457200" lvl="0" indent="-304800" algn="l" rtl="0">
              <a:spcBef>
                <a:spcPts val="1000"/>
              </a:spcBef>
              <a:spcAft>
                <a:spcPts val="0"/>
              </a:spcAft>
              <a:buSzPts val="1200"/>
              <a:buChar char="●"/>
            </a:pPr>
            <a:r>
              <a:rPr lang="en" sz="1200" dirty="0"/>
              <a:t>An instance of the </a:t>
            </a:r>
            <a:r>
              <a:rPr lang="en" sz="1200" dirty="0">
                <a:latin typeface="Courier New"/>
                <a:ea typeface="Courier New"/>
                <a:cs typeface="Courier New"/>
                <a:sym typeface="Courier New"/>
              </a:rPr>
              <a:t>Random</a:t>
            </a:r>
            <a:r>
              <a:rPr lang="en" sz="1200" dirty="0"/>
              <a:t> class can be created with or without a </a:t>
            </a:r>
            <a:r>
              <a:rPr lang="en" sz="1200" b="1" i="1" dirty="0">
                <a:solidFill>
                  <a:srgbClr val="FF0000"/>
                </a:solidFill>
                <a:highlight>
                  <a:srgbClr val="FFFF00"/>
                </a:highlight>
              </a:rPr>
              <a:t>seed</a:t>
            </a:r>
            <a:r>
              <a:rPr lang="en" sz="1200" dirty="0"/>
              <a:t>, i.e.</a:t>
            </a:r>
            <a:endParaRPr sz="1200" dirty="0"/>
          </a:p>
          <a:p>
            <a:pPr marL="914400" lvl="1" indent="-292100" algn="l" rtl="0">
              <a:spcBef>
                <a:spcPts val="0"/>
              </a:spcBef>
              <a:spcAft>
                <a:spcPts val="0"/>
              </a:spcAft>
              <a:buSzPts val="1000"/>
              <a:buChar char="○"/>
            </a:pPr>
            <a:r>
              <a:rPr lang="en" sz="1000" dirty="0">
                <a:solidFill>
                  <a:srgbClr val="FF0000"/>
                </a:solidFill>
                <a:highlight>
                  <a:srgbClr val="FFFF00"/>
                </a:highlight>
                <a:latin typeface="Courier New"/>
                <a:ea typeface="Courier New"/>
                <a:cs typeface="Courier New"/>
                <a:sym typeface="Courier New"/>
              </a:rPr>
              <a:t>Random RNG = new Random();</a:t>
            </a:r>
            <a:endParaRPr sz="1000" dirty="0">
              <a:solidFill>
                <a:srgbClr val="FF0000"/>
              </a:solidFill>
              <a:highlight>
                <a:srgbClr val="FFFF00"/>
              </a:highlight>
              <a:latin typeface="Courier New"/>
              <a:ea typeface="Courier New"/>
              <a:cs typeface="Courier New"/>
              <a:sym typeface="Courier New"/>
            </a:endParaRPr>
          </a:p>
          <a:p>
            <a:pPr marL="914400" lvl="1" indent="-292100" algn="l" rtl="0">
              <a:spcBef>
                <a:spcPts val="0"/>
              </a:spcBef>
              <a:spcAft>
                <a:spcPts val="0"/>
              </a:spcAft>
              <a:buSzPts val="1000"/>
              <a:buChar char="○"/>
            </a:pPr>
            <a:r>
              <a:rPr lang="en" sz="1000" dirty="0">
                <a:solidFill>
                  <a:srgbClr val="FF0000"/>
                </a:solidFill>
                <a:highlight>
                  <a:srgbClr val="FFFF00"/>
                </a:highlight>
                <a:latin typeface="Courier New"/>
                <a:ea typeface="Courier New"/>
                <a:cs typeface="Courier New"/>
                <a:sym typeface="Courier New"/>
              </a:rPr>
              <a:t>Random RNG = new Random(1);</a:t>
            </a:r>
            <a:endParaRPr sz="1000" dirty="0">
              <a:solidFill>
                <a:srgbClr val="FF0000"/>
              </a:solidFill>
              <a:highlight>
                <a:srgbClr val="FFFF00"/>
              </a:highlight>
              <a:latin typeface="Courier New"/>
              <a:ea typeface="Courier New"/>
              <a:cs typeface="Courier New"/>
              <a:sym typeface="Courier New"/>
            </a:endParaRPr>
          </a:p>
          <a:p>
            <a:pPr marL="457200" lvl="0" indent="-304800" algn="l" rtl="0">
              <a:spcBef>
                <a:spcPts val="1000"/>
              </a:spcBef>
              <a:spcAft>
                <a:spcPts val="0"/>
              </a:spcAft>
              <a:buSzPts val="1200"/>
              <a:buChar char="●"/>
            </a:pPr>
            <a:r>
              <a:rPr lang="en" sz="1200" dirty="0"/>
              <a:t>Once created, an instance of the </a:t>
            </a:r>
            <a:r>
              <a:rPr lang="en" sz="1200" dirty="0">
                <a:latin typeface="Courier New"/>
                <a:ea typeface="Courier New"/>
                <a:cs typeface="Courier New"/>
                <a:sym typeface="Courier New"/>
              </a:rPr>
              <a:t>Random</a:t>
            </a:r>
            <a:r>
              <a:rPr lang="en" sz="1200" dirty="0"/>
              <a:t> class can be used to generate pseudorandom integers between an </a:t>
            </a:r>
            <a:r>
              <a:rPr lang="en" sz="1200" b="1" i="1" dirty="0">
                <a:solidFill>
                  <a:srgbClr val="EE0000"/>
                </a:solidFill>
              </a:rPr>
              <a:t>origin</a:t>
            </a:r>
            <a:r>
              <a:rPr lang="en" sz="1200" dirty="0">
                <a:solidFill>
                  <a:srgbClr val="EE0000"/>
                </a:solidFill>
              </a:rPr>
              <a:t> </a:t>
            </a:r>
            <a:r>
              <a:rPr lang="en" sz="1200" dirty="0"/>
              <a:t>and </a:t>
            </a:r>
            <a:r>
              <a:rPr lang="en" sz="1200" b="1" i="1" dirty="0">
                <a:solidFill>
                  <a:srgbClr val="FF0000"/>
                </a:solidFill>
              </a:rPr>
              <a:t>some upper bound - 1</a:t>
            </a:r>
            <a:r>
              <a:rPr lang="en" sz="1200" dirty="0"/>
              <a:t>, e.g. </a:t>
            </a:r>
            <a:r>
              <a:rPr lang="en" sz="1200" dirty="0">
                <a:solidFill>
                  <a:srgbClr val="FF0000"/>
                </a:solidFill>
                <a:highlight>
                  <a:srgbClr val="FFFF00"/>
                </a:highlight>
                <a:latin typeface="Courier New"/>
                <a:ea typeface="Courier New"/>
                <a:cs typeface="Courier New"/>
                <a:sym typeface="Courier New"/>
              </a:rPr>
              <a:t>RNG.nextInt(50, 100)</a:t>
            </a:r>
            <a:r>
              <a:rPr lang="en" sz="1200" dirty="0">
                <a:highlight>
                  <a:srgbClr val="FFFF00"/>
                </a:highlight>
              </a:rPr>
              <a:t> </a:t>
            </a:r>
            <a:r>
              <a:rPr lang="en" sz="1200" dirty="0"/>
              <a:t>will generate a number between </a:t>
            </a:r>
            <a:r>
              <a:rPr lang="en" sz="1200" b="1" i="1" dirty="0">
                <a:solidFill>
                  <a:srgbClr val="FF0000"/>
                </a:solidFill>
              </a:rPr>
              <a:t>50</a:t>
            </a:r>
            <a:r>
              <a:rPr lang="en" sz="1200" dirty="0"/>
              <a:t> and </a:t>
            </a:r>
            <a:r>
              <a:rPr lang="en" sz="1200" b="1" i="1" dirty="0">
                <a:solidFill>
                  <a:srgbClr val="FF0000"/>
                </a:solidFill>
              </a:rPr>
              <a:t>99</a:t>
            </a:r>
            <a:r>
              <a:rPr lang="en" sz="1200" dirty="0"/>
              <a:t>.</a:t>
            </a:r>
            <a:endParaRPr sz="1200" dirty="0"/>
          </a:p>
          <a:p>
            <a:pPr marL="457200" lvl="0" indent="-304800" algn="l" rtl="0">
              <a:spcBef>
                <a:spcPts val="1000"/>
              </a:spcBef>
              <a:spcAft>
                <a:spcPts val="0"/>
              </a:spcAft>
              <a:buSzPts val="1200"/>
              <a:buChar char="●"/>
            </a:pPr>
            <a:r>
              <a:rPr lang="en" sz="1200" dirty="0"/>
              <a:t>Random also includes a method </a:t>
            </a:r>
            <a:r>
              <a:rPr lang="en" sz="1200" dirty="0">
                <a:solidFill>
                  <a:srgbClr val="FF0000"/>
                </a:solidFill>
                <a:highlight>
                  <a:srgbClr val="FFFF00"/>
                </a:highlight>
                <a:latin typeface="Courier New"/>
                <a:ea typeface="Courier New"/>
                <a:cs typeface="Courier New"/>
                <a:sym typeface="Courier New"/>
              </a:rPr>
              <a:t>nextInt(bound)</a:t>
            </a:r>
            <a:r>
              <a:rPr lang="en" sz="1200" dirty="0">
                <a:highlight>
                  <a:srgbClr val="FFFF00"/>
                </a:highlight>
              </a:rPr>
              <a:t> that returns an integer between </a:t>
            </a:r>
            <a:r>
              <a:rPr lang="en" sz="1200" b="1" i="1" dirty="0">
                <a:solidFill>
                  <a:srgbClr val="FF0000"/>
                </a:solidFill>
                <a:highlight>
                  <a:srgbClr val="FFFF00"/>
                </a:highlight>
              </a:rPr>
              <a:t>0</a:t>
            </a:r>
            <a:r>
              <a:rPr lang="en" sz="1200" dirty="0">
                <a:highlight>
                  <a:srgbClr val="FFFF00"/>
                </a:highlight>
              </a:rPr>
              <a:t> and </a:t>
            </a:r>
            <a:r>
              <a:rPr lang="en" sz="1200" b="1" i="1" dirty="0">
                <a:solidFill>
                  <a:srgbClr val="FF0000"/>
                </a:solidFill>
                <a:highlight>
                  <a:srgbClr val="FFFF00"/>
                </a:highlight>
              </a:rPr>
              <a:t>bound - 1</a:t>
            </a:r>
            <a:r>
              <a:rPr lang="en" sz="1200" dirty="0">
                <a:highlight>
                  <a:srgbClr val="FFFF00"/>
                </a:highlight>
              </a:rPr>
              <a:t>.</a:t>
            </a:r>
            <a:endParaRPr sz="1200" dirty="0">
              <a:highlight>
                <a:srgbClr val="FFFF00"/>
              </a:highlight>
            </a:endParaRPr>
          </a:p>
        </p:txBody>
      </p:sp>
      <p:sp>
        <p:nvSpPr>
          <p:cNvPr id="980" name="Google Shape;980;p105"/>
          <p:cNvSpPr txBox="1">
            <a:spLocks noGrp="1"/>
          </p:cNvSpPr>
          <p:nvPr>
            <p:ph type="body" idx="2"/>
          </p:nvPr>
        </p:nvSpPr>
        <p:spPr>
          <a:xfrm>
            <a:off x="5192225" y="1544786"/>
            <a:ext cx="3706500" cy="26475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import</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java</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util</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Random</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endParaRPr sz="1000">
              <a:solidFill>
                <a:srgbClr val="0000FF"/>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RandomExample</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Random</a:t>
            </a:r>
            <a:r>
              <a:rPr lang="en" sz="1000">
                <a:solidFill>
                  <a:srgbClr val="000000"/>
                </a:solidFill>
                <a:latin typeface="Consolas"/>
                <a:ea typeface="Consolas"/>
                <a:cs typeface="Consolas"/>
                <a:sym typeface="Consolas"/>
              </a:rPr>
              <a:t> </a:t>
            </a:r>
            <a:r>
              <a:rPr lang="en" sz="1000">
                <a:solidFill>
                  <a:srgbClr val="0070C1"/>
                </a:solidFill>
                <a:latin typeface="Consolas"/>
                <a:ea typeface="Consolas"/>
                <a:cs typeface="Consolas"/>
                <a:sym typeface="Consolas"/>
              </a:rPr>
              <a:t>RNG</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Random</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solidFill>
                  <a:srgbClr val="000000"/>
                </a:solidFill>
                <a:latin typeface="Consolas"/>
                <a:ea typeface="Consolas"/>
                <a:cs typeface="Consolas"/>
                <a:sym typeface="Consolas"/>
              </a:rPr>
              <a:t> </a:t>
            </a:r>
            <a:r>
              <a:rPr lang="en" sz="1000">
                <a:solidFill>
                  <a:srgbClr val="795E26"/>
                </a:solidFill>
                <a:latin typeface="Consolas"/>
                <a:ea typeface="Consolas"/>
                <a:cs typeface="Consolas"/>
                <a:sym typeface="Consolas"/>
              </a:rPr>
              <a:t>main</a:t>
            </a:r>
            <a:r>
              <a:rPr lang="en" sz="1000">
                <a:solidFill>
                  <a:srgbClr val="000000"/>
                </a:solidFill>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args</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8</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between 50 and 99</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10</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rand1</a:t>
            </a:r>
            <a:r>
              <a:rPr lang="en" sz="1000">
                <a:solidFill>
                  <a:srgbClr val="000000"/>
                </a:solidFill>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50</a:t>
            </a:r>
            <a:r>
              <a:rPr lang="en" sz="1000">
                <a:solidFill>
                  <a:srgbClr val="000000"/>
                </a:solidFill>
                <a:latin typeface="Consolas"/>
                <a:ea typeface="Consolas"/>
                <a:cs typeface="Consolas"/>
                <a:sym typeface="Consolas"/>
              </a:rPr>
              <a:t>, </a:t>
            </a:r>
            <a:r>
              <a:rPr lang="en" sz="1000">
                <a:solidFill>
                  <a:srgbClr val="098658"/>
                </a:solidFill>
                <a:latin typeface="Consolas"/>
                <a:ea typeface="Consolas"/>
                <a:cs typeface="Consolas"/>
                <a:sym typeface="Consolas"/>
              </a:rPr>
              <a:t>100</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11</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12</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13</a:t>
            </a:r>
            <a:r>
              <a:rPr lang="en" sz="1000">
                <a:solidFill>
                  <a:srgbClr val="000000"/>
                </a:solidFill>
                <a:latin typeface="Consolas"/>
                <a:ea typeface="Consolas"/>
                <a:cs typeface="Consolas"/>
                <a:sym typeface="Consolas"/>
              </a:rPr>
              <a:t>         </a:t>
            </a:r>
            <a:r>
              <a:rPr lang="en" sz="1000">
                <a:solidFill>
                  <a:srgbClr val="008000"/>
                </a:solidFill>
                <a:latin typeface="Consolas"/>
                <a:ea typeface="Consolas"/>
                <a:cs typeface="Consolas"/>
                <a:sym typeface="Consolas"/>
              </a:rPr>
              <a:t>// between 0 and 99</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14</a:t>
            </a:r>
            <a:r>
              <a:rPr lang="en" sz="1000">
                <a:solidFill>
                  <a:srgbClr val="000000"/>
                </a:solidFill>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solidFill>
                  <a:srgbClr val="000000"/>
                </a:solidFill>
                <a:latin typeface="Consolas"/>
                <a:ea typeface="Consolas"/>
                <a:cs typeface="Consolas"/>
                <a:sym typeface="Consolas"/>
              </a:rPr>
              <a:t> </a:t>
            </a:r>
            <a:r>
              <a:rPr lang="en" sz="1000">
                <a:solidFill>
                  <a:srgbClr val="001080"/>
                </a:solidFill>
                <a:latin typeface="Consolas"/>
                <a:ea typeface="Consolas"/>
                <a:cs typeface="Consolas"/>
                <a:sym typeface="Consolas"/>
              </a:rPr>
              <a:t>rand2</a:t>
            </a:r>
            <a:r>
              <a:rPr lang="en" sz="1000">
                <a:solidFill>
                  <a:srgbClr val="000000"/>
                </a:solidFill>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solidFill>
                  <a:srgbClr val="000000"/>
                </a:solidFill>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solidFill>
                  <a:srgbClr val="000000"/>
                </a:solidFill>
                <a:latin typeface="Consolas"/>
                <a:ea typeface="Consolas"/>
                <a:cs typeface="Consolas"/>
                <a:sym typeface="Consolas"/>
              </a:rPr>
              <a:t>(</a:t>
            </a:r>
            <a:r>
              <a:rPr lang="en" sz="1000">
                <a:solidFill>
                  <a:srgbClr val="098658"/>
                </a:solidFill>
                <a:latin typeface="Consolas"/>
                <a:ea typeface="Consolas"/>
                <a:cs typeface="Consolas"/>
                <a:sym typeface="Consolas"/>
              </a:rPr>
              <a:t>100</a:t>
            </a:r>
            <a:r>
              <a:rPr lang="en" sz="1000">
                <a:solidFill>
                  <a:srgbClr val="000000"/>
                </a:solidFill>
                <a:latin typeface="Consolas"/>
                <a:ea typeface="Consolas"/>
                <a:cs typeface="Consolas"/>
                <a:sym typeface="Consolas"/>
              </a:rPr>
              <a:t>);</a:t>
            </a:r>
            <a:endParaRPr sz="1000">
              <a:solidFill>
                <a:srgbClr val="008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15</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16</a:t>
            </a:r>
            <a:r>
              <a:rPr lang="en" sz="1000">
                <a:solidFill>
                  <a:srgbClr val="000000"/>
                </a:solidFill>
                <a:latin typeface="Consolas"/>
                <a:ea typeface="Consolas"/>
                <a:cs typeface="Consolas"/>
                <a:sym typeface="Consolas"/>
              </a:rPr>
              <a:t> }</a:t>
            </a:r>
            <a:endParaRPr sz="1000">
              <a:solidFill>
                <a:srgbClr val="0000FF"/>
              </a:solidFill>
              <a:latin typeface="Consolas"/>
              <a:ea typeface="Consolas"/>
              <a:cs typeface="Consolas"/>
              <a:sym typeface="Consolas"/>
            </a:endParaRPr>
          </a:p>
        </p:txBody>
      </p:sp>
      <p:sp>
        <p:nvSpPr>
          <p:cNvPr id="981" name="Google Shape;981;p105"/>
          <p:cNvSpPr/>
          <p:nvPr/>
        </p:nvSpPr>
        <p:spPr>
          <a:xfrm>
            <a:off x="5108939" y="1207864"/>
            <a:ext cx="336175" cy="508000"/>
          </a:xfrm>
          <a:custGeom>
            <a:avLst/>
            <a:gdLst/>
            <a:ahLst/>
            <a:cxnLst/>
            <a:rect l="l" t="t" r="r" b="b"/>
            <a:pathLst>
              <a:path w="13447" h="20320" extrusionOk="0">
                <a:moveTo>
                  <a:pt x="8050" y="0"/>
                </a:moveTo>
                <a:cubicBezTo>
                  <a:pt x="6727" y="2275"/>
                  <a:pt x="-787" y="10265"/>
                  <a:pt x="112" y="13652"/>
                </a:cubicBezTo>
                <a:cubicBezTo>
                  <a:pt x="1012" y="17039"/>
                  <a:pt x="11225" y="19209"/>
                  <a:pt x="13447" y="2032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82" name="Google Shape;982;p105"/>
          <p:cNvSpPr/>
          <p:nvPr/>
        </p:nvSpPr>
        <p:spPr>
          <a:xfrm>
            <a:off x="6905625" y="1358664"/>
            <a:ext cx="1837650" cy="971488"/>
          </a:xfrm>
          <a:custGeom>
            <a:avLst/>
            <a:gdLst/>
            <a:ahLst/>
            <a:cxnLst/>
            <a:rect l="l" t="t" r="r" b="b"/>
            <a:pathLst>
              <a:path w="73506" h="43815" extrusionOk="0">
                <a:moveTo>
                  <a:pt x="56515" y="0"/>
                </a:moveTo>
                <a:cubicBezTo>
                  <a:pt x="58949" y="6403"/>
                  <a:pt x="80539" y="31116"/>
                  <a:pt x="71120" y="38418"/>
                </a:cubicBezTo>
                <a:cubicBezTo>
                  <a:pt x="61701" y="45721"/>
                  <a:pt x="11853" y="42916"/>
                  <a:pt x="0" y="43815"/>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83" name="Google Shape;983;p105"/>
          <p:cNvSpPr txBox="1">
            <a:spLocks noGrp="1"/>
          </p:cNvSpPr>
          <p:nvPr>
            <p:ph type="body" idx="3"/>
          </p:nvPr>
        </p:nvSpPr>
        <p:spPr>
          <a:xfrm>
            <a:off x="5192225" y="735564"/>
            <a:ext cx="3706500" cy="7047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200"/>
              <a:t>The </a:t>
            </a:r>
            <a:r>
              <a:rPr lang="en" sz="1200">
                <a:solidFill>
                  <a:srgbClr val="FF0000"/>
                </a:solidFill>
                <a:latin typeface="Courier New"/>
                <a:ea typeface="Courier New"/>
                <a:cs typeface="Courier New"/>
                <a:sym typeface="Courier New"/>
              </a:rPr>
              <a:t>Random</a:t>
            </a:r>
            <a:r>
              <a:rPr lang="en" sz="1200">
                <a:solidFill>
                  <a:srgbClr val="FF0000"/>
                </a:solidFill>
              </a:rPr>
              <a:t> </a:t>
            </a:r>
            <a:r>
              <a:rPr lang="en" sz="1200"/>
              <a:t>class is in the </a:t>
            </a:r>
            <a:r>
              <a:rPr lang="en" sz="1200">
                <a:solidFill>
                  <a:srgbClr val="FF0000"/>
                </a:solidFill>
                <a:latin typeface="Courier New"/>
                <a:ea typeface="Courier New"/>
                <a:cs typeface="Courier New"/>
                <a:sym typeface="Courier New"/>
              </a:rPr>
              <a:t>java.util</a:t>
            </a:r>
            <a:r>
              <a:rPr lang="en" sz="1200"/>
              <a:t> package, and so should be </a:t>
            </a:r>
            <a:r>
              <a:rPr lang="en" sz="1200" b="1" i="1">
                <a:solidFill>
                  <a:srgbClr val="FF0000"/>
                </a:solidFill>
              </a:rPr>
              <a:t>imported</a:t>
            </a:r>
            <a:r>
              <a:rPr lang="en" sz="1200"/>
              <a:t>. An instance of the class can be created with or without a </a:t>
            </a:r>
            <a:r>
              <a:rPr lang="en" sz="1200" b="1" i="1">
                <a:solidFill>
                  <a:srgbClr val="FF0000"/>
                </a:solidFill>
              </a:rPr>
              <a:t>seed</a:t>
            </a:r>
            <a:r>
              <a:rPr lang="en" sz="1200"/>
              <a:t>.</a:t>
            </a:r>
            <a:endParaRPr sz="1200"/>
          </a:p>
        </p:txBody>
      </p:sp>
      <p:sp>
        <p:nvSpPr>
          <p:cNvPr id="984" name="Google Shape;984;p105"/>
          <p:cNvSpPr/>
          <p:nvPr/>
        </p:nvSpPr>
        <p:spPr>
          <a:xfrm>
            <a:off x="8362876" y="3092089"/>
            <a:ext cx="458460" cy="1243197"/>
          </a:xfrm>
          <a:custGeom>
            <a:avLst/>
            <a:gdLst/>
            <a:ahLst/>
            <a:cxnLst/>
            <a:rect l="l" t="t" r="r" b="b"/>
            <a:pathLst>
              <a:path w="27735" h="54610" extrusionOk="0">
                <a:moveTo>
                  <a:pt x="15875" y="54610"/>
                </a:moveTo>
                <a:cubicBezTo>
                  <a:pt x="17780" y="47043"/>
                  <a:pt x="29951" y="18309"/>
                  <a:pt x="27305" y="9207"/>
                </a:cubicBezTo>
                <a:cubicBezTo>
                  <a:pt x="24659" y="105"/>
                  <a:pt x="4551" y="1535"/>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85" name="Google Shape;985;p105"/>
          <p:cNvSpPr/>
          <p:nvPr/>
        </p:nvSpPr>
        <p:spPr>
          <a:xfrm>
            <a:off x="8134275" y="3691051"/>
            <a:ext cx="458460" cy="704742"/>
          </a:xfrm>
          <a:custGeom>
            <a:avLst/>
            <a:gdLst/>
            <a:ahLst/>
            <a:cxnLst/>
            <a:rect l="l" t="t" r="r" b="b"/>
            <a:pathLst>
              <a:path w="27735" h="54610" extrusionOk="0">
                <a:moveTo>
                  <a:pt x="15875" y="54610"/>
                </a:moveTo>
                <a:cubicBezTo>
                  <a:pt x="17780" y="47043"/>
                  <a:pt x="29951" y="18309"/>
                  <a:pt x="27305" y="9207"/>
                </a:cubicBezTo>
                <a:cubicBezTo>
                  <a:pt x="24659" y="105"/>
                  <a:pt x="4551" y="1535"/>
                  <a:pt x="0" y="0"/>
                </a:cubicBezTo>
              </a:path>
            </a:pathLst>
          </a:custGeom>
          <a:noFill/>
          <a:ln w="19050" cap="flat" cmpd="sng">
            <a:solidFill>
              <a:srgbClr val="FF0000"/>
            </a:solidFill>
            <a:prstDash val="solid"/>
            <a:round/>
            <a:headEnd type="none" w="med" len="med"/>
            <a:tailEnd type="triangle" w="med" len="med"/>
          </a:ln>
        </p:spPr>
        <p:txBody>
          <a:bodyPr/>
          <a:lstStyle/>
          <a:p>
            <a:endParaRPr lang="en-US"/>
          </a:p>
        </p:txBody>
      </p:sp>
      <p:sp>
        <p:nvSpPr>
          <p:cNvPr id="986" name="Google Shape;986;p105"/>
          <p:cNvSpPr txBox="1">
            <a:spLocks noGrp="1"/>
          </p:cNvSpPr>
          <p:nvPr>
            <p:ph type="body" idx="3"/>
          </p:nvPr>
        </p:nvSpPr>
        <p:spPr>
          <a:xfrm>
            <a:off x="5192225" y="4296789"/>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There are two different methods to use when generating pseudorandom numbers. In both cases the upper bound is </a:t>
            </a:r>
            <a:r>
              <a:rPr lang="en" sz="1200" b="1" i="1">
                <a:solidFill>
                  <a:srgbClr val="FF0000"/>
                </a:solidFill>
              </a:rPr>
              <a:t>exclusive</a:t>
            </a:r>
            <a:r>
              <a:rPr lang="en" sz="1200"/>
              <a:t>.</a:t>
            </a:r>
            <a:endParaRPr sz="1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7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7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7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7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83"/>
                                        </p:tgtEl>
                                        <p:attrNameLst>
                                          <p:attrName>style.visibility</p:attrName>
                                        </p:attrNameLst>
                                      </p:cBhvr>
                                      <p:to>
                                        <p:strVal val="visible"/>
                                      </p:to>
                                    </p:set>
                                    <p:animEffect transition="in" filter="fade">
                                      <p:cBhvr>
                                        <p:cTn id="39" dur="1000"/>
                                        <p:tgtEl>
                                          <p:spTgt spid="983"/>
                                        </p:tgtEl>
                                      </p:cBhvr>
                                    </p:animEffect>
                                  </p:childTnLst>
                                </p:cTn>
                              </p:par>
                              <p:par>
                                <p:cTn id="40" presetID="10" presetClass="entr" presetSubtype="0" fill="hold" nodeType="withEffect">
                                  <p:stCondLst>
                                    <p:cond delay="0"/>
                                  </p:stCondLst>
                                  <p:childTnLst>
                                    <p:set>
                                      <p:cBhvr>
                                        <p:cTn id="41" dur="1" fill="hold">
                                          <p:stCondLst>
                                            <p:cond delay="0"/>
                                          </p:stCondLst>
                                        </p:cTn>
                                        <p:tgtEl>
                                          <p:spTgt spid="980"/>
                                        </p:tgtEl>
                                        <p:attrNameLst>
                                          <p:attrName>style.visibility</p:attrName>
                                        </p:attrNameLst>
                                      </p:cBhvr>
                                      <p:to>
                                        <p:strVal val="visible"/>
                                      </p:to>
                                    </p:set>
                                    <p:animEffect transition="in" filter="fade">
                                      <p:cBhvr>
                                        <p:cTn id="42" dur="1000"/>
                                        <p:tgtEl>
                                          <p:spTgt spid="980"/>
                                        </p:tgtEl>
                                      </p:cBhvr>
                                    </p:animEffec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981"/>
                                        </p:tgtEl>
                                        <p:attrNameLst>
                                          <p:attrName>style.visibility</p:attrName>
                                        </p:attrNameLst>
                                      </p:cBhvr>
                                      <p:to>
                                        <p:strVal val="visible"/>
                                      </p:to>
                                    </p:set>
                                    <p:animEffect transition="in" filter="fade">
                                      <p:cBhvr>
                                        <p:cTn id="46" dur="1000"/>
                                        <p:tgtEl>
                                          <p:spTgt spid="981"/>
                                        </p:tgtEl>
                                      </p:cBhvr>
                                    </p:animEffect>
                                  </p:childTnLst>
                                </p:cTn>
                              </p:par>
                            </p:childTnLst>
                          </p:cTn>
                        </p:par>
                        <p:par>
                          <p:cTn id="47" fill="hold">
                            <p:stCondLst>
                              <p:cond delay="2000"/>
                            </p:stCondLst>
                            <p:childTnLst>
                              <p:par>
                                <p:cTn id="48" presetID="10" presetClass="entr" presetSubtype="0" fill="hold" nodeType="afterEffect">
                                  <p:stCondLst>
                                    <p:cond delay="0"/>
                                  </p:stCondLst>
                                  <p:childTnLst>
                                    <p:set>
                                      <p:cBhvr>
                                        <p:cTn id="49" dur="1" fill="hold">
                                          <p:stCondLst>
                                            <p:cond delay="0"/>
                                          </p:stCondLst>
                                        </p:cTn>
                                        <p:tgtEl>
                                          <p:spTgt spid="982"/>
                                        </p:tgtEl>
                                        <p:attrNameLst>
                                          <p:attrName>style.visibility</p:attrName>
                                        </p:attrNameLst>
                                      </p:cBhvr>
                                      <p:to>
                                        <p:strVal val="visible"/>
                                      </p:to>
                                    </p:set>
                                    <p:animEffect transition="in" filter="fade">
                                      <p:cBhvr>
                                        <p:cTn id="50" dur="1000"/>
                                        <p:tgtEl>
                                          <p:spTgt spid="982"/>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86"/>
                                        </p:tgtEl>
                                        <p:attrNameLst>
                                          <p:attrName>style.visibility</p:attrName>
                                        </p:attrNameLst>
                                      </p:cBhvr>
                                      <p:to>
                                        <p:strVal val="visible"/>
                                      </p:to>
                                    </p:set>
                                    <p:animEffect transition="in" filter="fade">
                                      <p:cBhvr>
                                        <p:cTn id="55" dur="1000"/>
                                        <p:tgtEl>
                                          <p:spTgt spid="986"/>
                                        </p:tgtEl>
                                      </p:cBhvr>
                                    </p:animEffect>
                                  </p:childTnLst>
                                </p:cTn>
                              </p:par>
                            </p:childTnLst>
                          </p:cTn>
                        </p:par>
                        <p:par>
                          <p:cTn id="56" fill="hold">
                            <p:stCondLst>
                              <p:cond delay="1000"/>
                            </p:stCondLst>
                            <p:childTnLst>
                              <p:par>
                                <p:cTn id="57" presetID="10" presetClass="entr" presetSubtype="0" fill="hold" nodeType="afterEffect">
                                  <p:stCondLst>
                                    <p:cond delay="0"/>
                                  </p:stCondLst>
                                  <p:childTnLst>
                                    <p:set>
                                      <p:cBhvr>
                                        <p:cTn id="58" dur="1" fill="hold">
                                          <p:stCondLst>
                                            <p:cond delay="0"/>
                                          </p:stCondLst>
                                        </p:cTn>
                                        <p:tgtEl>
                                          <p:spTgt spid="984"/>
                                        </p:tgtEl>
                                        <p:attrNameLst>
                                          <p:attrName>style.visibility</p:attrName>
                                        </p:attrNameLst>
                                      </p:cBhvr>
                                      <p:to>
                                        <p:strVal val="visible"/>
                                      </p:to>
                                    </p:set>
                                    <p:animEffect transition="in" filter="fade">
                                      <p:cBhvr>
                                        <p:cTn id="59" dur="1000"/>
                                        <p:tgtEl>
                                          <p:spTgt spid="984"/>
                                        </p:tgtEl>
                                      </p:cBhvr>
                                    </p:animEffect>
                                  </p:childTnLst>
                                </p:cTn>
                              </p:par>
                            </p:childTnLst>
                          </p:cTn>
                        </p:par>
                        <p:par>
                          <p:cTn id="60" fill="hold">
                            <p:stCondLst>
                              <p:cond delay="2000"/>
                            </p:stCondLst>
                            <p:childTnLst>
                              <p:par>
                                <p:cTn id="61" presetID="10" presetClass="entr" presetSubtype="0" fill="hold" nodeType="afterEffect">
                                  <p:stCondLst>
                                    <p:cond delay="0"/>
                                  </p:stCondLst>
                                  <p:childTnLst>
                                    <p:set>
                                      <p:cBhvr>
                                        <p:cTn id="62" dur="1" fill="hold">
                                          <p:stCondLst>
                                            <p:cond delay="0"/>
                                          </p:stCondLst>
                                        </p:cTn>
                                        <p:tgtEl>
                                          <p:spTgt spid="985"/>
                                        </p:tgtEl>
                                        <p:attrNameLst>
                                          <p:attrName>style.visibility</p:attrName>
                                        </p:attrNameLst>
                                      </p:cBhvr>
                                      <p:to>
                                        <p:strVal val="visible"/>
                                      </p:to>
                                    </p:set>
                                    <p:animEffect transition="in" filter="fade">
                                      <p:cBhvr>
                                        <p:cTn id="63" dur="1000"/>
                                        <p:tgtEl>
                                          <p:spTgt spid="9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p106"/>
          <p:cNvSpPr txBox="1">
            <a:spLocks noGrp="1"/>
          </p:cNvSpPr>
          <p:nvPr>
            <p:ph type="body" idx="4"/>
          </p:nvPr>
        </p:nvSpPr>
        <p:spPr>
          <a:xfrm>
            <a:off x="149750" y="1848225"/>
            <a:ext cx="3489000" cy="26475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0000FF"/>
                </a:solidFill>
                <a:latin typeface="Consolas"/>
                <a:ea typeface="Consolas"/>
                <a:cs typeface="Consolas"/>
                <a:sym typeface="Consolas"/>
              </a:rPr>
              <a:t>import</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java</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util</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Random</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endParaRPr sz="1000">
              <a:solidFill>
                <a:srgbClr val="0000FF"/>
              </a:solidFill>
              <a:latin typeface="Consolas"/>
              <a:ea typeface="Consolas"/>
              <a:cs typeface="Consolas"/>
              <a:sym typeface="Consolas"/>
            </a:endParaRPr>
          </a:p>
          <a:p>
            <a:pPr marL="0" lvl="0" indent="0" algn="l" rtl="0">
              <a:spcBef>
                <a:spcPts val="0"/>
              </a:spcBef>
              <a:spcAft>
                <a:spcPts val="0"/>
              </a:spcAft>
              <a:buNone/>
            </a:pP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RandomExample</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Random</a:t>
            </a:r>
            <a:r>
              <a:rPr lang="en" sz="1000">
                <a:latin typeface="Consolas"/>
                <a:ea typeface="Consolas"/>
                <a:cs typeface="Consolas"/>
                <a:sym typeface="Consolas"/>
              </a:rPr>
              <a:t> </a:t>
            </a:r>
            <a:r>
              <a:rPr lang="en" sz="1000">
                <a:solidFill>
                  <a:srgbClr val="0070C1"/>
                </a:solidFill>
                <a:latin typeface="Consolas"/>
                <a:ea typeface="Consolas"/>
                <a:cs typeface="Consolas"/>
                <a:sym typeface="Consolas"/>
              </a:rPr>
              <a:t>RNG</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Random</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main</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args</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between 50 and 99</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rand1</a:t>
            </a:r>
            <a:r>
              <a:rPr lang="en" sz="1000">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50</a:t>
            </a:r>
            <a:r>
              <a:rPr lang="en" sz="1000">
                <a:latin typeface="Consolas"/>
                <a:ea typeface="Consolas"/>
                <a:cs typeface="Consolas"/>
                <a:sym typeface="Consolas"/>
              </a:rPr>
              <a:t>, </a:t>
            </a:r>
            <a:r>
              <a:rPr lang="en" sz="1000">
                <a:solidFill>
                  <a:srgbClr val="098658"/>
                </a:solidFill>
                <a:latin typeface="Consolas"/>
                <a:ea typeface="Consolas"/>
                <a:cs typeface="Consolas"/>
                <a:sym typeface="Consolas"/>
              </a:rPr>
              <a:t>100</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generate a number with a value</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008000"/>
                </a:solidFill>
                <a:latin typeface="Consolas"/>
                <a:ea typeface="Consolas"/>
                <a:cs typeface="Consolas"/>
                <a:sym typeface="Consolas"/>
              </a:rPr>
              <a:t>// between 0 and 99</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rand2</a:t>
            </a:r>
            <a:r>
              <a:rPr lang="en" sz="1000">
                <a:latin typeface="Consolas"/>
                <a:ea typeface="Consolas"/>
                <a:cs typeface="Consolas"/>
                <a:sym typeface="Consolas"/>
              </a:rPr>
              <a:t> = </a:t>
            </a:r>
            <a:r>
              <a:rPr lang="en" sz="1000">
                <a:solidFill>
                  <a:srgbClr val="0070C1"/>
                </a:solidFill>
                <a:latin typeface="Consolas"/>
                <a:ea typeface="Consolas"/>
                <a:cs typeface="Consolas"/>
                <a:sym typeface="Consolas"/>
              </a:rPr>
              <a:t>RNG</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nextInt</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100</a:t>
            </a:r>
            <a:r>
              <a:rPr lang="en" sz="1000">
                <a:latin typeface="Consolas"/>
                <a:ea typeface="Consolas"/>
                <a:cs typeface="Consolas"/>
                <a:sym typeface="Consolas"/>
              </a:rPr>
              <a:t>);</a:t>
            </a:r>
            <a:endParaRPr sz="1000">
              <a:solidFill>
                <a:srgbClr val="008000"/>
              </a:solidFill>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spcBef>
                <a:spcPts val="0"/>
              </a:spcBef>
              <a:spcAft>
                <a:spcPts val="0"/>
              </a:spcAft>
              <a:buNone/>
            </a:pPr>
            <a:r>
              <a:rPr lang="en" sz="1000">
                <a:latin typeface="Consolas"/>
                <a:ea typeface="Consolas"/>
                <a:cs typeface="Consolas"/>
                <a:sym typeface="Consolas"/>
              </a:rPr>
              <a:t>}</a:t>
            </a:r>
            <a:endParaRPr sz="1000">
              <a:solidFill>
                <a:srgbClr val="0000FF"/>
              </a:solidFill>
              <a:highlight>
                <a:srgbClr val="FFFFFF"/>
              </a:highlight>
              <a:latin typeface="Consolas"/>
              <a:ea typeface="Consolas"/>
              <a:cs typeface="Consolas"/>
              <a:sym typeface="Consolas"/>
            </a:endParaRPr>
          </a:p>
        </p:txBody>
      </p:sp>
      <p:sp>
        <p:nvSpPr>
          <p:cNvPr id="992" name="Google Shape;992;p106"/>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Randomness is an essential part of many software programs. The </a:t>
            </a:r>
            <a:r>
              <a:rPr lang="en">
                <a:latin typeface="Courier New"/>
                <a:ea typeface="Courier New"/>
                <a:cs typeface="Courier New"/>
                <a:sym typeface="Courier New"/>
              </a:rPr>
              <a:t>Random</a:t>
            </a:r>
            <a:r>
              <a:rPr lang="en"/>
              <a:t> class in Java can be used to generate pseudorandom numbers to simulate things like shuffling cards or rolling dice. Let's practice using it to generate random years. </a:t>
            </a:r>
            <a:endParaRPr/>
          </a:p>
        </p:txBody>
      </p:sp>
      <p:sp>
        <p:nvSpPr>
          <p:cNvPr id="993" name="Google Shape;993;p10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61</a:t>
            </a:fld>
            <a:endParaRPr/>
          </a:p>
        </p:txBody>
      </p:sp>
      <p:sp>
        <p:nvSpPr>
          <p:cNvPr id="994" name="Google Shape;994;p106"/>
          <p:cNvSpPr txBox="1">
            <a:spLocks noGrp="1"/>
          </p:cNvSpPr>
          <p:nvPr>
            <p:ph type="body" idx="2"/>
          </p:nvPr>
        </p:nvSpPr>
        <p:spPr>
          <a:xfrm>
            <a:off x="3644800" y="1708325"/>
            <a:ext cx="5220000" cy="2878200"/>
          </a:xfrm>
          <a:prstGeom prst="rect">
            <a:avLst/>
          </a:prstGeom>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sz="1400" dirty="0"/>
              <a:t>Open the </a:t>
            </a:r>
            <a:r>
              <a:rPr lang="en" sz="1400" dirty="0">
                <a:latin typeface="Courier New"/>
                <a:ea typeface="Courier New"/>
                <a:cs typeface="Courier New"/>
                <a:sym typeface="Courier New"/>
              </a:rPr>
              <a:t>Year</a:t>
            </a:r>
            <a:r>
              <a:rPr lang="en" sz="1400" dirty="0"/>
              <a:t> class and define a new static method named "</a:t>
            </a:r>
            <a:r>
              <a:rPr lang="en" sz="1400" dirty="0">
                <a:solidFill>
                  <a:srgbClr val="FF0000"/>
                </a:solidFill>
                <a:latin typeface="Courier New"/>
                <a:ea typeface="Courier New"/>
                <a:cs typeface="Courier New"/>
                <a:sym typeface="Courier New"/>
              </a:rPr>
              <a:t>getRandomYear</a:t>
            </a:r>
            <a:r>
              <a:rPr lang="en" sz="1400" dirty="0"/>
              <a:t>" that returns a new </a:t>
            </a:r>
            <a:r>
              <a:rPr lang="en" sz="1400" dirty="0">
                <a:latin typeface="Courier New"/>
                <a:ea typeface="Courier New"/>
                <a:cs typeface="Courier New"/>
                <a:sym typeface="Courier New"/>
              </a:rPr>
              <a:t>Year</a:t>
            </a:r>
            <a:r>
              <a:rPr lang="en" sz="1400" dirty="0"/>
              <a:t> object representing a random year between </a:t>
            </a:r>
            <a:r>
              <a:rPr lang="en" sz="1400" dirty="0">
                <a:latin typeface="Courier New"/>
                <a:ea typeface="Courier New"/>
                <a:cs typeface="Courier New"/>
                <a:sym typeface="Courier New"/>
              </a:rPr>
              <a:t>1900</a:t>
            </a:r>
            <a:r>
              <a:rPr lang="en" sz="1400" dirty="0"/>
              <a:t> and </a:t>
            </a:r>
            <a:r>
              <a:rPr lang="en" sz="1400" dirty="0">
                <a:latin typeface="Courier New"/>
                <a:ea typeface="Courier New"/>
                <a:cs typeface="Courier New"/>
                <a:sym typeface="Courier New"/>
              </a:rPr>
              <a:t>2023</a:t>
            </a:r>
            <a:r>
              <a:rPr lang="en" sz="1400" dirty="0"/>
              <a:t>.</a:t>
            </a:r>
            <a:endParaRPr sz="1400" dirty="0"/>
          </a:p>
          <a:p>
            <a:pPr marL="914400" lvl="1" indent="-304800" algn="l" rtl="0">
              <a:spcBef>
                <a:spcPts val="0"/>
              </a:spcBef>
              <a:spcAft>
                <a:spcPts val="0"/>
              </a:spcAft>
              <a:buSzPts val="1200"/>
              <a:buChar char="○"/>
            </a:pPr>
            <a:r>
              <a:rPr lang="en" sz="1200" dirty="0"/>
              <a:t>You will need to </a:t>
            </a:r>
            <a:r>
              <a:rPr lang="en" sz="1200" b="1" i="1" dirty="0">
                <a:solidFill>
                  <a:srgbClr val="FF0000"/>
                </a:solidFill>
              </a:rPr>
              <a:t>import </a:t>
            </a:r>
            <a:r>
              <a:rPr lang="en" sz="1200" dirty="0"/>
              <a:t>the </a:t>
            </a:r>
            <a:r>
              <a:rPr lang="en" sz="1200" dirty="0">
                <a:solidFill>
                  <a:srgbClr val="FF0000"/>
                </a:solidFill>
                <a:latin typeface="Courier New"/>
                <a:ea typeface="Courier New"/>
                <a:cs typeface="Courier New"/>
                <a:sym typeface="Courier New"/>
              </a:rPr>
              <a:t>java.util.Random</a:t>
            </a:r>
            <a:r>
              <a:rPr lang="en" sz="1200" dirty="0"/>
              <a:t> class.</a:t>
            </a:r>
            <a:endParaRPr sz="1200" dirty="0"/>
          </a:p>
          <a:p>
            <a:pPr marL="914400" lvl="1" indent="-304800" algn="l" rtl="0">
              <a:spcBef>
                <a:spcPts val="0"/>
              </a:spcBef>
              <a:spcAft>
                <a:spcPts val="0"/>
              </a:spcAft>
              <a:buSzPts val="1200"/>
              <a:buChar char="○"/>
            </a:pPr>
            <a:r>
              <a:rPr lang="en" sz="1200" dirty="0"/>
              <a:t>Remember, the </a:t>
            </a:r>
            <a:r>
              <a:rPr lang="en" sz="1200" dirty="0">
                <a:solidFill>
                  <a:srgbClr val="FF0000"/>
                </a:solidFill>
                <a:latin typeface="Courier New"/>
                <a:ea typeface="Courier New"/>
                <a:cs typeface="Courier New"/>
                <a:sym typeface="Courier New"/>
              </a:rPr>
              <a:t>nextInt(int origin, int bound)</a:t>
            </a:r>
            <a:r>
              <a:rPr lang="en" sz="1200" dirty="0"/>
              <a:t> method returns an integer </a:t>
            </a:r>
            <a:r>
              <a:rPr lang="en" sz="1200" b="1" i="1" dirty="0">
                <a:solidFill>
                  <a:srgbClr val="FF0000"/>
                </a:solidFill>
              </a:rPr>
              <a:t>between </a:t>
            </a:r>
            <a:r>
              <a:rPr lang="en" sz="1200" dirty="0">
                <a:solidFill>
                  <a:srgbClr val="FF0000"/>
                </a:solidFill>
                <a:latin typeface="Courier New"/>
                <a:ea typeface="Courier New"/>
                <a:cs typeface="Courier New"/>
                <a:sym typeface="Courier New"/>
              </a:rPr>
              <a:t>origin</a:t>
            </a:r>
            <a:r>
              <a:rPr lang="en" sz="1200" dirty="0">
                <a:solidFill>
                  <a:srgbClr val="FF0000"/>
                </a:solidFill>
              </a:rPr>
              <a:t> </a:t>
            </a:r>
            <a:r>
              <a:rPr lang="en" sz="1200" b="1" i="1" dirty="0">
                <a:solidFill>
                  <a:srgbClr val="FF0000"/>
                </a:solidFill>
              </a:rPr>
              <a:t>and </a:t>
            </a:r>
            <a:r>
              <a:rPr lang="en" sz="1200" dirty="0">
                <a:solidFill>
                  <a:srgbClr val="FF0000"/>
                </a:solidFill>
                <a:latin typeface="Courier New"/>
                <a:ea typeface="Courier New"/>
                <a:cs typeface="Courier New"/>
                <a:sym typeface="Courier New"/>
              </a:rPr>
              <a:t>bound-1</a:t>
            </a:r>
            <a:r>
              <a:rPr lang="en" sz="1200" dirty="0"/>
              <a:t>. You will need to compensate for this to generate a number between </a:t>
            </a:r>
            <a:r>
              <a:rPr lang="en" sz="1200" dirty="0">
                <a:latin typeface="Courier New"/>
                <a:ea typeface="Courier New"/>
                <a:cs typeface="Courier New"/>
                <a:sym typeface="Courier New"/>
              </a:rPr>
              <a:t>1900</a:t>
            </a:r>
            <a:r>
              <a:rPr lang="en" sz="1200" dirty="0"/>
              <a:t> and </a:t>
            </a:r>
            <a:r>
              <a:rPr lang="en" sz="1200" dirty="0">
                <a:latin typeface="Courier New"/>
                <a:ea typeface="Courier New"/>
                <a:cs typeface="Courier New"/>
                <a:sym typeface="Courier New"/>
              </a:rPr>
              <a:t>2024</a:t>
            </a:r>
            <a:r>
              <a:rPr lang="en" sz="1200" dirty="0"/>
              <a:t>.</a:t>
            </a:r>
            <a:endParaRPr sz="1200" dirty="0"/>
          </a:p>
          <a:p>
            <a:pPr marL="914400" lvl="1" indent="-304800" algn="l" rtl="0">
              <a:spcBef>
                <a:spcPts val="0"/>
              </a:spcBef>
              <a:spcAft>
                <a:spcPts val="0"/>
              </a:spcAft>
              <a:buSzPts val="1200"/>
              <a:buChar char="○"/>
            </a:pPr>
            <a:r>
              <a:rPr lang="en" sz="1200" b="1" i="1" dirty="0">
                <a:solidFill>
                  <a:srgbClr val="FF0000"/>
                </a:solidFill>
              </a:rPr>
              <a:t>Challenge</a:t>
            </a:r>
            <a:r>
              <a:rPr lang="en" sz="1200" dirty="0"/>
              <a:t>: use constants for the minimum and maximum years.</a:t>
            </a:r>
            <a:endParaRPr sz="1200" dirty="0"/>
          </a:p>
          <a:p>
            <a:pPr marL="457200" lvl="0" indent="-317500" algn="l" rtl="0">
              <a:spcBef>
                <a:spcPts val="0"/>
              </a:spcBef>
              <a:spcAft>
                <a:spcPts val="0"/>
              </a:spcAft>
              <a:buSzPts val="1400"/>
              <a:buChar char="●"/>
            </a:pPr>
            <a:r>
              <a:rPr lang="en" sz="1400" b="1" i="1" dirty="0">
                <a:solidFill>
                  <a:srgbClr val="FF0000"/>
                </a:solidFill>
              </a:rPr>
              <a:t>Update </a:t>
            </a:r>
            <a:r>
              <a:rPr lang="en" sz="1400" dirty="0"/>
              <a:t>your </a:t>
            </a:r>
            <a:r>
              <a:rPr lang="en" sz="1400" dirty="0">
                <a:latin typeface="Courier New"/>
                <a:ea typeface="Courier New"/>
                <a:cs typeface="Courier New"/>
                <a:sym typeface="Courier New"/>
              </a:rPr>
              <a:t>main</a:t>
            </a:r>
            <a:r>
              <a:rPr lang="en" sz="1400" dirty="0"/>
              <a:t> method to generate a few random years and print them to standard output.</a:t>
            </a:r>
            <a:endParaRPr sz="1400" dirty="0"/>
          </a:p>
        </p:txBody>
      </p:sp>
      <p:sp>
        <p:nvSpPr>
          <p:cNvPr id="995" name="Google Shape;995;p106"/>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Random Years</a:t>
            </a:r>
            <a:endParaRPr/>
          </a:p>
        </p:txBody>
      </p:sp>
      <p:sp>
        <p:nvSpPr>
          <p:cNvPr id="996" name="Google Shape;996;p106"/>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2.24</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10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62</a:t>
            </a:fld>
            <a:endParaRPr/>
          </a:p>
        </p:txBody>
      </p:sp>
      <p:sp>
        <p:nvSpPr>
          <p:cNvPr id="1002" name="Google Shape;1002;p107"/>
          <p:cNvSpPr txBox="1">
            <a:spLocks noGrp="1"/>
          </p:cNvSpPr>
          <p:nvPr>
            <p:ph type="title"/>
          </p:nvPr>
        </p:nvSpPr>
        <p:spPr>
          <a:xfrm>
            <a:off x="311725" y="2723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Consolas"/>
                <a:ea typeface="Consolas"/>
                <a:cs typeface="Consolas"/>
                <a:sym typeface="Consolas"/>
              </a:rPr>
              <a:t>java.lang.Object</a:t>
            </a:r>
            <a:endParaRPr>
              <a:latin typeface="Consolas"/>
              <a:ea typeface="Consolas"/>
              <a:cs typeface="Consolas"/>
              <a:sym typeface="Consolas"/>
            </a:endParaRPr>
          </a:p>
        </p:txBody>
      </p:sp>
      <p:sp>
        <p:nvSpPr>
          <p:cNvPr id="1003" name="Google Shape;1003;p107"/>
          <p:cNvSpPr txBox="1">
            <a:spLocks noGrp="1"/>
          </p:cNvSpPr>
          <p:nvPr>
            <p:ph type="body" idx="1"/>
          </p:nvPr>
        </p:nvSpPr>
        <p:spPr>
          <a:xfrm>
            <a:off x="4358175" y="135950"/>
            <a:ext cx="4549200" cy="4863900"/>
          </a:xfrm>
          <a:prstGeom prst="rect">
            <a:avLst/>
          </a:prstGeom>
        </p:spPr>
        <p:txBody>
          <a:bodyPr spcFirstLastPara="1" wrap="square" lIns="91425" tIns="91425" rIns="91425" bIns="91425" anchor="ctr" anchorCtr="0">
            <a:spAutoFit/>
          </a:bodyPr>
          <a:lstStyle/>
          <a:p>
            <a:pPr marL="457200" lvl="0" indent="-307975" algn="l" rtl="0">
              <a:lnSpc>
                <a:spcPct val="100000"/>
              </a:lnSpc>
              <a:spcBef>
                <a:spcPts val="0"/>
              </a:spcBef>
              <a:spcAft>
                <a:spcPts val="0"/>
              </a:spcAft>
              <a:buSzPts val="1250"/>
              <a:buChar char="●"/>
            </a:pPr>
            <a:r>
              <a:rPr lang="en" sz="1250" dirty="0"/>
              <a:t>As we have discussed, there are </a:t>
            </a:r>
            <a:r>
              <a:rPr lang="en" sz="1250" b="1" i="1" dirty="0">
                <a:solidFill>
                  <a:srgbClr val="FF0000"/>
                </a:solidFill>
              </a:rPr>
              <a:t>two</a:t>
            </a:r>
            <a:r>
              <a:rPr lang="en" sz="1250" dirty="0">
                <a:solidFill>
                  <a:srgbClr val="FF0000"/>
                </a:solidFill>
              </a:rPr>
              <a:t> </a:t>
            </a:r>
            <a:r>
              <a:rPr lang="en" sz="1250" dirty="0"/>
              <a:t>basic kinds of types in Java.</a:t>
            </a:r>
            <a:endParaRPr sz="1250" dirty="0"/>
          </a:p>
          <a:p>
            <a:pPr marL="914400" lvl="1" indent="-298450" algn="l" rtl="0">
              <a:lnSpc>
                <a:spcPct val="100000"/>
              </a:lnSpc>
              <a:spcBef>
                <a:spcPts val="0"/>
              </a:spcBef>
              <a:spcAft>
                <a:spcPts val="0"/>
              </a:spcAft>
              <a:buSzPts val="1100"/>
              <a:buChar char="○"/>
            </a:pPr>
            <a:r>
              <a:rPr lang="en" b="1" i="1" dirty="0">
                <a:solidFill>
                  <a:srgbClr val="FF0000"/>
                </a:solidFill>
              </a:rPr>
              <a:t>Primitive types</a:t>
            </a:r>
            <a:r>
              <a:rPr lang="en" dirty="0"/>
              <a:t> like </a:t>
            </a:r>
            <a:r>
              <a:rPr lang="en" dirty="0">
                <a:latin typeface="Courier New"/>
                <a:ea typeface="Courier New"/>
                <a:cs typeface="Courier New"/>
                <a:sym typeface="Courier New"/>
              </a:rPr>
              <a:t>byte</a:t>
            </a:r>
            <a:r>
              <a:rPr lang="en" dirty="0"/>
              <a:t>, </a:t>
            </a:r>
            <a:r>
              <a:rPr lang="en" dirty="0">
                <a:latin typeface="Courier New"/>
                <a:ea typeface="Courier New"/>
                <a:cs typeface="Courier New"/>
                <a:sym typeface="Courier New"/>
              </a:rPr>
              <a:t>int</a:t>
            </a:r>
            <a:r>
              <a:rPr lang="en" dirty="0"/>
              <a:t>, </a:t>
            </a:r>
            <a:r>
              <a:rPr lang="en" dirty="0">
                <a:latin typeface="Courier New"/>
                <a:ea typeface="Courier New"/>
                <a:cs typeface="Courier New"/>
                <a:sym typeface="Courier New"/>
              </a:rPr>
              <a:t>boolean</a:t>
            </a:r>
            <a:r>
              <a:rPr lang="en" dirty="0"/>
              <a:t>, and </a:t>
            </a:r>
            <a:r>
              <a:rPr lang="en" dirty="0">
                <a:latin typeface="Courier New"/>
                <a:ea typeface="Courier New"/>
                <a:cs typeface="Courier New"/>
                <a:sym typeface="Courier New"/>
              </a:rPr>
              <a:t>float</a:t>
            </a:r>
            <a:r>
              <a:rPr lang="en" dirty="0"/>
              <a:t>.</a:t>
            </a:r>
            <a:endParaRPr dirty="0"/>
          </a:p>
          <a:p>
            <a:pPr marL="914400" lvl="1" indent="-298450" algn="l" rtl="0">
              <a:lnSpc>
                <a:spcPct val="100000"/>
              </a:lnSpc>
              <a:spcBef>
                <a:spcPts val="0"/>
              </a:spcBef>
              <a:spcAft>
                <a:spcPts val="0"/>
              </a:spcAft>
              <a:buSzPts val="1100"/>
              <a:buChar char="○"/>
            </a:pPr>
            <a:r>
              <a:rPr lang="en" b="1" i="1" dirty="0">
                <a:solidFill>
                  <a:srgbClr val="FF0000"/>
                </a:solidFill>
              </a:rPr>
              <a:t>Reference types</a:t>
            </a:r>
            <a:r>
              <a:rPr lang="en" dirty="0"/>
              <a:t>, which comprise </a:t>
            </a:r>
            <a:r>
              <a:rPr lang="en" b="1" i="1" dirty="0">
                <a:solidFill>
                  <a:srgbClr val="FF0000"/>
                </a:solidFill>
              </a:rPr>
              <a:t>every</a:t>
            </a:r>
            <a:r>
              <a:rPr lang="en" dirty="0">
                <a:solidFill>
                  <a:srgbClr val="FF0000"/>
                </a:solidFill>
              </a:rPr>
              <a:t> </a:t>
            </a:r>
            <a:r>
              <a:rPr lang="en" dirty="0"/>
              <a:t>type that is </a:t>
            </a:r>
            <a:r>
              <a:rPr lang="en" b="1" i="1" dirty="0">
                <a:solidFill>
                  <a:srgbClr val="FF0000"/>
                </a:solidFill>
              </a:rPr>
              <a:t>not</a:t>
            </a:r>
            <a:r>
              <a:rPr lang="en" dirty="0">
                <a:solidFill>
                  <a:srgbClr val="FF0000"/>
                </a:solidFill>
              </a:rPr>
              <a:t> </a:t>
            </a:r>
            <a:r>
              <a:rPr lang="en" dirty="0"/>
              <a:t>a primitive type.</a:t>
            </a:r>
            <a:endParaRPr dirty="0"/>
          </a:p>
          <a:p>
            <a:pPr marL="457200" lvl="0" indent="-307975" algn="l" rtl="0">
              <a:lnSpc>
                <a:spcPct val="100000"/>
              </a:lnSpc>
              <a:spcBef>
                <a:spcPts val="1000"/>
              </a:spcBef>
              <a:spcAft>
                <a:spcPts val="0"/>
              </a:spcAft>
              <a:buSzPts val="1250"/>
              <a:buChar char="●"/>
            </a:pPr>
            <a:r>
              <a:rPr lang="en" sz="1250" dirty="0">
                <a:highlight>
                  <a:srgbClr val="FFFF00"/>
                </a:highlight>
              </a:rPr>
              <a:t>The </a:t>
            </a:r>
            <a:r>
              <a:rPr lang="en" sz="1250" u="sng" dirty="0">
                <a:solidFill>
                  <a:srgbClr val="4A86E8"/>
                </a:solidFill>
                <a:highlight>
                  <a:srgbClr val="FFFF00"/>
                </a:highlight>
                <a:latin typeface="Courier New"/>
                <a:ea typeface="Courier New"/>
                <a:cs typeface="Courier New"/>
                <a:sym typeface="Courier New"/>
                <a:hlinkClick r:id="rId3">
                  <a:extLst>
                    <a:ext uri="{A12FA001-AC4F-418D-AE19-62706E023703}">
                      <ahyp:hlinkClr xmlns:ahyp="http://schemas.microsoft.com/office/drawing/2018/hyperlinkcolor" val="tx"/>
                    </a:ext>
                  </a:extLst>
                </a:hlinkClick>
              </a:rPr>
              <a:t>java.lang.Object</a:t>
            </a:r>
            <a:r>
              <a:rPr lang="en" sz="1250" dirty="0">
                <a:highlight>
                  <a:srgbClr val="FFFF00"/>
                </a:highlight>
              </a:rPr>
              <a:t> class is a very special kind of reference type: </a:t>
            </a:r>
            <a:r>
              <a:rPr lang="en" sz="1250" b="1" i="1" dirty="0">
                <a:solidFill>
                  <a:srgbClr val="FF0000"/>
                </a:solidFill>
                <a:highlight>
                  <a:srgbClr val="FFFF00"/>
                </a:highlight>
              </a:rPr>
              <a:t>every</a:t>
            </a:r>
            <a:r>
              <a:rPr lang="en" sz="1250" dirty="0">
                <a:solidFill>
                  <a:srgbClr val="FF0000"/>
                </a:solidFill>
                <a:highlight>
                  <a:srgbClr val="FFFF00"/>
                </a:highlight>
              </a:rPr>
              <a:t> </a:t>
            </a:r>
            <a:r>
              <a:rPr lang="en" sz="1250" dirty="0">
                <a:highlight>
                  <a:srgbClr val="FFFF00"/>
                </a:highlight>
              </a:rPr>
              <a:t>reference type in Java is </a:t>
            </a:r>
            <a:r>
              <a:rPr lang="en" sz="1250" b="1" i="1" dirty="0">
                <a:solidFill>
                  <a:srgbClr val="FF0000"/>
                </a:solidFill>
                <a:highlight>
                  <a:srgbClr val="FFFF00"/>
                </a:highlight>
              </a:rPr>
              <a:t>related </a:t>
            </a:r>
            <a:r>
              <a:rPr lang="en" sz="1250" dirty="0">
                <a:highlight>
                  <a:srgbClr val="FFFF00"/>
                </a:highlight>
              </a:rPr>
              <a:t>to </a:t>
            </a:r>
            <a:r>
              <a:rPr lang="en" sz="1250" dirty="0">
                <a:highlight>
                  <a:srgbClr val="FFFF00"/>
                </a:highlight>
                <a:latin typeface="Courier New"/>
                <a:ea typeface="Courier New"/>
                <a:cs typeface="Courier New"/>
                <a:sym typeface="Courier New"/>
              </a:rPr>
              <a:t>Object</a:t>
            </a:r>
            <a:r>
              <a:rPr lang="en" sz="1250" dirty="0">
                <a:highlight>
                  <a:srgbClr val="FFFF00"/>
                </a:highlight>
              </a:rPr>
              <a:t>.</a:t>
            </a:r>
            <a:endParaRPr sz="1250" dirty="0">
              <a:highlight>
                <a:srgbClr val="FFFF00"/>
              </a:highlight>
            </a:endParaRPr>
          </a:p>
          <a:p>
            <a:pPr marL="914400" lvl="1" indent="-298450" algn="l" rtl="0">
              <a:lnSpc>
                <a:spcPct val="100000"/>
              </a:lnSpc>
              <a:spcBef>
                <a:spcPts val="0"/>
              </a:spcBef>
              <a:spcAft>
                <a:spcPts val="0"/>
              </a:spcAft>
              <a:buSzPts val="1100"/>
              <a:buChar char="○"/>
            </a:pPr>
            <a:r>
              <a:rPr lang="en" dirty="0"/>
              <a:t>It also means that an instance of </a:t>
            </a:r>
            <a:r>
              <a:rPr lang="en" b="1" i="1" dirty="0">
                <a:solidFill>
                  <a:srgbClr val="FF0000"/>
                </a:solidFill>
              </a:rPr>
              <a:t>any</a:t>
            </a:r>
            <a:r>
              <a:rPr lang="en" dirty="0">
                <a:solidFill>
                  <a:srgbClr val="FF0000"/>
                </a:solidFill>
              </a:rPr>
              <a:t> </a:t>
            </a:r>
            <a:r>
              <a:rPr lang="en" dirty="0"/>
              <a:t>type can be used </a:t>
            </a:r>
            <a:r>
              <a:rPr lang="en" dirty="0">
                <a:highlight>
                  <a:srgbClr val="FFFF00"/>
                </a:highlight>
              </a:rPr>
              <a:t>in place of the </a:t>
            </a:r>
            <a:r>
              <a:rPr lang="en" dirty="0">
                <a:latin typeface="Courier New"/>
                <a:ea typeface="Courier New"/>
                <a:cs typeface="Courier New"/>
                <a:sym typeface="Courier New"/>
              </a:rPr>
              <a:t>Object</a:t>
            </a:r>
            <a:r>
              <a:rPr lang="en" dirty="0"/>
              <a:t> class in code.</a:t>
            </a:r>
            <a:endParaRPr dirty="0"/>
          </a:p>
          <a:p>
            <a:pPr marL="914400" lvl="1" indent="-298450" algn="l" rtl="0">
              <a:lnSpc>
                <a:spcPct val="100000"/>
              </a:lnSpc>
              <a:spcBef>
                <a:spcPts val="0"/>
              </a:spcBef>
              <a:spcAft>
                <a:spcPts val="0"/>
              </a:spcAft>
              <a:buSzPts val="1100"/>
              <a:buChar char="○"/>
            </a:pPr>
            <a:r>
              <a:rPr lang="en" dirty="0"/>
              <a:t>This is why, for example, that an instance of </a:t>
            </a:r>
            <a:r>
              <a:rPr lang="en" b="1" i="1" dirty="0">
                <a:solidFill>
                  <a:srgbClr val="FF0000"/>
                </a:solidFill>
              </a:rPr>
              <a:t>any class</a:t>
            </a:r>
            <a:r>
              <a:rPr lang="en" dirty="0">
                <a:solidFill>
                  <a:srgbClr val="FF0000"/>
                </a:solidFill>
              </a:rPr>
              <a:t> </a:t>
            </a:r>
            <a:r>
              <a:rPr lang="en" dirty="0"/>
              <a:t>can be used as the argument to the </a:t>
            </a:r>
            <a:r>
              <a:rPr lang="en" dirty="0">
                <a:latin typeface="Courier New"/>
                <a:ea typeface="Courier New"/>
                <a:cs typeface="Courier New"/>
                <a:sym typeface="Courier New"/>
              </a:rPr>
              <a:t>equals(Object)</a:t>
            </a:r>
            <a:r>
              <a:rPr lang="en" dirty="0"/>
              <a:t> method.</a:t>
            </a:r>
            <a:endParaRPr dirty="0"/>
          </a:p>
          <a:p>
            <a:pPr marL="914400" lvl="1" indent="-298450" algn="l" rtl="0">
              <a:lnSpc>
                <a:spcPct val="100000"/>
              </a:lnSpc>
              <a:spcBef>
                <a:spcPts val="0"/>
              </a:spcBef>
              <a:spcAft>
                <a:spcPts val="0"/>
              </a:spcAft>
              <a:buSzPts val="1100"/>
              <a:buChar char="○"/>
            </a:pPr>
            <a:r>
              <a:rPr lang="en" dirty="0"/>
              <a:t>We'll explain exactly why this is the case in the </a:t>
            </a:r>
            <a:r>
              <a:rPr lang="en" b="1" i="1" dirty="0">
                <a:solidFill>
                  <a:srgbClr val="FF0000"/>
                </a:solidFill>
              </a:rPr>
              <a:t>inheritance unit</a:t>
            </a:r>
            <a:r>
              <a:rPr lang="en" dirty="0"/>
              <a:t>.</a:t>
            </a:r>
            <a:endParaRPr dirty="0"/>
          </a:p>
          <a:p>
            <a:pPr marL="457200" lvl="0" indent="-307975" algn="l" rtl="0">
              <a:lnSpc>
                <a:spcPct val="100000"/>
              </a:lnSpc>
              <a:spcBef>
                <a:spcPts val="1000"/>
              </a:spcBef>
              <a:spcAft>
                <a:spcPts val="0"/>
              </a:spcAft>
              <a:buSzPts val="1250"/>
              <a:buChar char="●"/>
            </a:pPr>
            <a:r>
              <a:rPr lang="en" sz="1250" dirty="0"/>
              <a:t>The </a:t>
            </a:r>
            <a:r>
              <a:rPr lang="en" sz="1250" dirty="0">
                <a:latin typeface="Courier New"/>
                <a:ea typeface="Courier New"/>
                <a:cs typeface="Courier New"/>
                <a:sym typeface="Courier New"/>
              </a:rPr>
              <a:t>Object</a:t>
            </a:r>
            <a:r>
              <a:rPr lang="en" sz="1250" dirty="0"/>
              <a:t> class also provides the </a:t>
            </a:r>
            <a:r>
              <a:rPr lang="en" sz="1250" b="1" i="1" dirty="0">
                <a:solidFill>
                  <a:srgbClr val="FF0000"/>
                </a:solidFill>
              </a:rPr>
              <a:t>default implementations</a:t>
            </a:r>
            <a:r>
              <a:rPr lang="en" sz="1250" dirty="0"/>
              <a:t> of the </a:t>
            </a:r>
            <a:r>
              <a:rPr lang="en" sz="1250" dirty="0">
                <a:highlight>
                  <a:srgbClr val="FFFF00"/>
                </a:highlight>
                <a:latin typeface="Courier New"/>
                <a:ea typeface="Courier New"/>
                <a:cs typeface="Courier New"/>
                <a:sym typeface="Courier New"/>
              </a:rPr>
              <a:t>toString()</a:t>
            </a:r>
            <a:r>
              <a:rPr lang="en" sz="1250" dirty="0">
                <a:highlight>
                  <a:srgbClr val="FFFF00"/>
                </a:highlight>
              </a:rPr>
              <a:t> </a:t>
            </a:r>
            <a:r>
              <a:rPr lang="en" sz="1250" dirty="0"/>
              <a:t>and </a:t>
            </a:r>
            <a:r>
              <a:rPr lang="en" sz="1250" dirty="0">
                <a:highlight>
                  <a:srgbClr val="FFFF00"/>
                </a:highlight>
                <a:latin typeface="Courier New"/>
                <a:ea typeface="Courier New"/>
                <a:cs typeface="Courier New"/>
                <a:sym typeface="Courier New"/>
              </a:rPr>
              <a:t>equals(Object)</a:t>
            </a:r>
            <a:r>
              <a:rPr lang="en" sz="1250" dirty="0">
                <a:highlight>
                  <a:srgbClr val="FFFF00"/>
                </a:highlight>
              </a:rPr>
              <a:t> </a:t>
            </a:r>
            <a:r>
              <a:rPr lang="en" sz="1250" dirty="0"/>
              <a:t>methods.</a:t>
            </a:r>
            <a:endParaRPr sz="1250" dirty="0"/>
          </a:p>
          <a:p>
            <a:pPr marL="914400" lvl="1" indent="-298450" algn="l" rtl="0">
              <a:lnSpc>
                <a:spcPct val="100000"/>
              </a:lnSpc>
              <a:spcBef>
                <a:spcPts val="0"/>
              </a:spcBef>
              <a:spcAft>
                <a:spcPts val="0"/>
              </a:spcAft>
              <a:buSzPts val="1100"/>
              <a:buChar char="○"/>
            </a:pPr>
            <a:r>
              <a:rPr lang="en" dirty="0"/>
              <a:t>If a class does not explicitly </a:t>
            </a:r>
            <a:r>
              <a:rPr lang="en" b="1" i="1" dirty="0">
                <a:solidFill>
                  <a:srgbClr val="FF0000"/>
                </a:solidFill>
                <a:highlight>
                  <a:srgbClr val="FFFF00"/>
                </a:highlight>
              </a:rPr>
              <a:t>override</a:t>
            </a:r>
            <a:r>
              <a:rPr lang="en" dirty="0">
                <a:solidFill>
                  <a:srgbClr val="FF0000"/>
                </a:solidFill>
              </a:rPr>
              <a:t> </a:t>
            </a:r>
            <a:r>
              <a:rPr lang="en" dirty="0"/>
              <a:t>these methods, then the default implementations are used.</a:t>
            </a:r>
            <a:endParaRPr dirty="0"/>
          </a:p>
          <a:p>
            <a:pPr marL="457200" lvl="0" indent="-307975" algn="l" rtl="0">
              <a:lnSpc>
                <a:spcPct val="100000"/>
              </a:lnSpc>
              <a:spcBef>
                <a:spcPts val="1000"/>
              </a:spcBef>
              <a:spcAft>
                <a:spcPts val="0"/>
              </a:spcAft>
              <a:buSzPts val="1250"/>
              <a:buChar char="●"/>
            </a:pPr>
            <a:r>
              <a:rPr lang="en" sz="1250" dirty="0"/>
              <a:t>It also provides many other useful methods that we will discuss later in the semester.</a:t>
            </a:r>
            <a:endParaRPr sz="1250" dirty="0"/>
          </a:p>
          <a:p>
            <a:pPr marL="914400" lvl="1" indent="-298450" algn="l" rtl="0">
              <a:lnSpc>
                <a:spcPct val="100000"/>
              </a:lnSpc>
              <a:spcBef>
                <a:spcPts val="0"/>
              </a:spcBef>
              <a:spcAft>
                <a:spcPts val="0"/>
              </a:spcAft>
              <a:buSzPts val="1100"/>
              <a:buChar char="○"/>
            </a:pPr>
            <a:r>
              <a:rPr lang="en" dirty="0"/>
              <a:t>Some of these methods are </a:t>
            </a:r>
            <a:r>
              <a:rPr lang="en" dirty="0">
                <a:solidFill>
                  <a:srgbClr val="FF0000"/>
                </a:solidFill>
                <a:highlight>
                  <a:srgbClr val="FFFF00"/>
                </a:highlight>
                <a:latin typeface="Courier New"/>
                <a:ea typeface="Courier New"/>
                <a:cs typeface="Courier New"/>
                <a:sym typeface="Courier New"/>
              </a:rPr>
              <a:t>final</a:t>
            </a:r>
            <a:r>
              <a:rPr lang="en" dirty="0"/>
              <a:t>, which means that they </a:t>
            </a:r>
            <a:r>
              <a:rPr lang="en" b="1" i="1" dirty="0">
                <a:solidFill>
                  <a:srgbClr val="FF0000"/>
                </a:solidFill>
                <a:highlight>
                  <a:srgbClr val="FFFF00"/>
                </a:highlight>
              </a:rPr>
              <a:t>cannot</a:t>
            </a:r>
            <a:r>
              <a:rPr lang="en" dirty="0">
                <a:solidFill>
                  <a:srgbClr val="FF0000"/>
                </a:solidFill>
              </a:rPr>
              <a:t> </a:t>
            </a:r>
            <a:r>
              <a:rPr lang="en" dirty="0"/>
              <a:t>be overridden by other classes.</a:t>
            </a:r>
            <a:endParaRPr dirty="0"/>
          </a:p>
        </p:txBody>
      </p:sp>
      <p:sp>
        <p:nvSpPr>
          <p:cNvPr id="1004" name="Google Shape;1004;p107"/>
          <p:cNvSpPr txBox="1">
            <a:spLocks noGrp="1"/>
          </p:cNvSpPr>
          <p:nvPr>
            <p:ph type="body" idx="3"/>
          </p:nvPr>
        </p:nvSpPr>
        <p:spPr>
          <a:xfrm>
            <a:off x="311725" y="974925"/>
            <a:ext cx="3706500" cy="9234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Remember, when declaring a variable you must specify a </a:t>
            </a:r>
            <a:r>
              <a:rPr lang="en" sz="1200" b="1" i="1" dirty="0">
                <a:solidFill>
                  <a:srgbClr val="FF0000"/>
                </a:solidFill>
                <a:highlight>
                  <a:srgbClr val="FFFF00"/>
                </a:highlight>
              </a:rPr>
              <a:t>type</a:t>
            </a:r>
            <a:r>
              <a:rPr lang="en" sz="1200" dirty="0"/>
              <a:t>. From that point forward, you can only assign values that are </a:t>
            </a:r>
            <a:r>
              <a:rPr lang="en" sz="1200" b="1" i="1" dirty="0">
                <a:solidFill>
                  <a:srgbClr val="FF0000"/>
                </a:solidFill>
                <a:highlight>
                  <a:srgbClr val="FFFF00"/>
                </a:highlight>
              </a:rPr>
              <a:t>compatible</a:t>
            </a:r>
            <a:r>
              <a:rPr lang="en" sz="1200" dirty="0">
                <a:solidFill>
                  <a:srgbClr val="FF0000"/>
                </a:solidFill>
              </a:rPr>
              <a:t> </a:t>
            </a:r>
            <a:r>
              <a:rPr lang="en" sz="1200" dirty="0"/>
              <a:t>with that type to the variable.</a:t>
            </a:r>
            <a:endParaRPr sz="1200" dirty="0"/>
          </a:p>
        </p:txBody>
      </p:sp>
      <p:sp>
        <p:nvSpPr>
          <p:cNvPr id="1005" name="Google Shape;1005;p107"/>
          <p:cNvSpPr txBox="1">
            <a:spLocks noGrp="1"/>
          </p:cNvSpPr>
          <p:nvPr>
            <p:ph type="body" idx="3"/>
          </p:nvPr>
        </p:nvSpPr>
        <p:spPr>
          <a:xfrm>
            <a:off x="311725" y="198760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t>Because </a:t>
            </a:r>
            <a:r>
              <a:rPr lang="en" sz="1200" b="1" i="1" dirty="0">
                <a:solidFill>
                  <a:srgbClr val="FF0000"/>
                </a:solidFill>
              </a:rPr>
              <a:t>every</a:t>
            </a:r>
            <a:r>
              <a:rPr lang="en" sz="1200" dirty="0">
                <a:solidFill>
                  <a:srgbClr val="FF0000"/>
                </a:solidFill>
              </a:rPr>
              <a:t> </a:t>
            </a:r>
            <a:r>
              <a:rPr lang="en" sz="1200" dirty="0"/>
              <a:t>reference type is related to the </a:t>
            </a:r>
            <a:r>
              <a:rPr lang="en" sz="1200" dirty="0">
                <a:highlight>
                  <a:srgbClr val="FFFF00"/>
                </a:highlight>
                <a:latin typeface="Courier New"/>
                <a:ea typeface="Courier New"/>
                <a:cs typeface="Courier New"/>
                <a:sym typeface="Courier New"/>
              </a:rPr>
              <a:t>java.lang.Object</a:t>
            </a:r>
            <a:r>
              <a:rPr lang="en" sz="1200" dirty="0">
                <a:highlight>
                  <a:srgbClr val="FFFF00"/>
                </a:highlight>
              </a:rPr>
              <a:t> </a:t>
            </a:r>
            <a:r>
              <a:rPr lang="en" sz="1200" dirty="0"/>
              <a:t>class, instances of </a:t>
            </a:r>
            <a:r>
              <a:rPr lang="en" sz="1200" b="1" i="1" dirty="0">
                <a:solidFill>
                  <a:srgbClr val="FF0000"/>
                </a:solidFill>
              </a:rPr>
              <a:t>every</a:t>
            </a:r>
            <a:r>
              <a:rPr lang="en" sz="1200" dirty="0">
                <a:solidFill>
                  <a:srgbClr val="FF0000"/>
                </a:solidFill>
              </a:rPr>
              <a:t> </a:t>
            </a:r>
            <a:r>
              <a:rPr lang="en" sz="1200" dirty="0"/>
              <a:t>reference type are compatible with </a:t>
            </a:r>
            <a:r>
              <a:rPr lang="en" sz="1200" dirty="0">
                <a:latin typeface="Courier New"/>
                <a:ea typeface="Courier New"/>
                <a:cs typeface="Courier New"/>
                <a:sym typeface="Courier New"/>
              </a:rPr>
              <a:t>Object</a:t>
            </a:r>
            <a:r>
              <a:rPr lang="en" sz="1200" dirty="0"/>
              <a:t>!</a:t>
            </a:r>
            <a:endParaRPr sz="1200" dirty="0"/>
          </a:p>
        </p:txBody>
      </p:sp>
      <p:sp>
        <p:nvSpPr>
          <p:cNvPr id="1006" name="Google Shape;1006;p107"/>
          <p:cNvSpPr txBox="1">
            <a:spLocks noGrp="1"/>
          </p:cNvSpPr>
          <p:nvPr>
            <p:ph type="body" idx="3"/>
          </p:nvPr>
        </p:nvSpPr>
        <p:spPr>
          <a:xfrm>
            <a:off x="311725" y="282580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dirty="0">
                <a:highlight>
                  <a:srgbClr val="FFFF00"/>
                </a:highlight>
              </a:rPr>
              <a:t>This means that instances of </a:t>
            </a:r>
            <a:r>
              <a:rPr lang="en" sz="1200" b="1" i="1" dirty="0">
                <a:solidFill>
                  <a:srgbClr val="FF0000"/>
                </a:solidFill>
                <a:highlight>
                  <a:srgbClr val="FFFF00"/>
                </a:highlight>
              </a:rPr>
              <a:t>any</a:t>
            </a:r>
            <a:r>
              <a:rPr lang="en" sz="1200" dirty="0">
                <a:solidFill>
                  <a:srgbClr val="FF0000"/>
                </a:solidFill>
                <a:highlight>
                  <a:srgbClr val="FFFF00"/>
                </a:highlight>
              </a:rPr>
              <a:t> </a:t>
            </a:r>
            <a:r>
              <a:rPr lang="en" sz="1200" dirty="0">
                <a:highlight>
                  <a:srgbClr val="FFFF00"/>
                </a:highlight>
              </a:rPr>
              <a:t>class can be </a:t>
            </a:r>
            <a:r>
              <a:rPr lang="en" sz="1200" b="1" i="1" dirty="0">
                <a:solidFill>
                  <a:srgbClr val="FF0000"/>
                </a:solidFill>
                <a:highlight>
                  <a:srgbClr val="FFFF00"/>
                </a:highlight>
              </a:rPr>
              <a:t>assigned to</a:t>
            </a:r>
            <a:r>
              <a:rPr lang="en" sz="1200" dirty="0">
                <a:solidFill>
                  <a:srgbClr val="FF0000"/>
                </a:solidFill>
                <a:highlight>
                  <a:srgbClr val="FFFF00"/>
                </a:highlight>
              </a:rPr>
              <a:t> </a:t>
            </a:r>
            <a:r>
              <a:rPr lang="en" sz="1200" dirty="0">
                <a:highlight>
                  <a:srgbClr val="FFFF00"/>
                </a:highlight>
              </a:rPr>
              <a:t>or used as </a:t>
            </a:r>
            <a:r>
              <a:rPr lang="en" sz="1200" b="1" i="1" dirty="0">
                <a:solidFill>
                  <a:srgbClr val="FF0000"/>
                </a:solidFill>
                <a:highlight>
                  <a:srgbClr val="FFFF00"/>
                </a:highlight>
              </a:rPr>
              <a:t>arguments</a:t>
            </a:r>
            <a:r>
              <a:rPr lang="en" sz="1200" dirty="0">
                <a:solidFill>
                  <a:srgbClr val="FF0000"/>
                </a:solidFill>
                <a:highlight>
                  <a:srgbClr val="FFFF00"/>
                </a:highlight>
              </a:rPr>
              <a:t> </a:t>
            </a:r>
            <a:r>
              <a:rPr lang="en" sz="1200" dirty="0">
                <a:highlight>
                  <a:srgbClr val="FFFF00"/>
                </a:highlight>
              </a:rPr>
              <a:t>and </a:t>
            </a:r>
            <a:r>
              <a:rPr lang="en" sz="1200" b="1" i="1" dirty="0">
                <a:solidFill>
                  <a:srgbClr val="FF0000"/>
                </a:solidFill>
                <a:highlight>
                  <a:srgbClr val="FFFF00"/>
                </a:highlight>
              </a:rPr>
              <a:t>return values</a:t>
            </a:r>
            <a:r>
              <a:rPr lang="en" sz="1200" dirty="0">
                <a:solidFill>
                  <a:srgbClr val="FF0000"/>
                </a:solidFill>
                <a:highlight>
                  <a:srgbClr val="FFFF00"/>
                </a:highlight>
              </a:rPr>
              <a:t> </a:t>
            </a:r>
            <a:r>
              <a:rPr lang="en" sz="1200" dirty="0">
                <a:highlight>
                  <a:srgbClr val="FFFF00"/>
                </a:highlight>
              </a:rPr>
              <a:t>where </a:t>
            </a:r>
            <a:r>
              <a:rPr lang="en" sz="1200" dirty="0">
                <a:highlight>
                  <a:srgbClr val="FFFF00"/>
                </a:highlight>
                <a:latin typeface="Courier New"/>
                <a:ea typeface="Courier New"/>
                <a:cs typeface="Courier New"/>
                <a:sym typeface="Courier New"/>
              </a:rPr>
              <a:t>Object</a:t>
            </a:r>
            <a:r>
              <a:rPr lang="en" sz="1200" dirty="0">
                <a:highlight>
                  <a:srgbClr val="FFFF00"/>
                </a:highlight>
              </a:rPr>
              <a:t> is declared as the type.</a:t>
            </a:r>
            <a:endParaRPr sz="1200" dirty="0">
              <a:highlight>
                <a:srgbClr val="FFFF00"/>
              </a:highlight>
            </a:endParaRPr>
          </a:p>
        </p:txBody>
      </p:sp>
      <p:sp>
        <p:nvSpPr>
          <p:cNvPr id="1007" name="Google Shape;1007;p107"/>
          <p:cNvSpPr txBox="1"/>
          <p:nvPr/>
        </p:nvSpPr>
        <p:spPr>
          <a:xfrm>
            <a:off x="311725" y="3664000"/>
            <a:ext cx="3706500" cy="1108200"/>
          </a:xfrm>
          <a:prstGeom prst="rect">
            <a:avLst/>
          </a:prstGeom>
          <a:solidFill>
            <a:srgbClr val="FFFFFF"/>
          </a:solidFill>
          <a:ln w="19050" cap="flat" cmpd="sng">
            <a:solidFill>
              <a:srgbClr val="B7B7B7"/>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Object</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objectCode</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Object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obj</a:t>
            </a:r>
            <a:r>
              <a:rPr lang="en" sz="1000">
                <a:latin typeface="Consolas"/>
                <a:ea typeface="Consolas"/>
                <a:cs typeface="Consolas"/>
                <a:sym typeface="Consolas"/>
              </a:rPr>
              <a:t>) {</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2</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s</a:t>
            </a:r>
            <a:r>
              <a:rPr lang="en" sz="1000">
                <a:latin typeface="Consolas"/>
                <a:ea typeface="Consolas"/>
                <a:cs typeface="Consolas"/>
                <a:sym typeface="Consolas"/>
              </a:rPr>
              <a:t> = </a:t>
            </a:r>
            <a:r>
              <a:rPr lang="en" sz="1000">
                <a:solidFill>
                  <a:srgbClr val="A31515"/>
                </a:solidFill>
                <a:latin typeface="Consolas"/>
                <a:ea typeface="Consolas"/>
                <a:cs typeface="Consolas"/>
                <a:sym typeface="Consolas"/>
              </a:rPr>
              <a:t>"</a:t>
            </a:r>
            <a:r>
              <a:rPr lang="en" sz="1000">
                <a:solidFill>
                  <a:srgbClr val="EE0000"/>
                </a:solidFill>
                <a:latin typeface="Consolas"/>
                <a:ea typeface="Consolas"/>
                <a:cs typeface="Consolas"/>
                <a:sym typeface="Consolas"/>
              </a:rPr>
              <a:t>\t\t</a:t>
            </a:r>
            <a:r>
              <a:rPr lang="en" sz="1000">
                <a:solidFill>
                  <a:srgbClr val="A31515"/>
                </a:solidFill>
                <a:latin typeface="Consolas"/>
                <a:ea typeface="Consolas"/>
                <a:cs typeface="Consolas"/>
                <a:sym typeface="Consolas"/>
              </a:rPr>
              <a:t>abcdefg"</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obj</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3</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Object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o</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s</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s</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4</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 = (</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o</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5</a:t>
            </a: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return</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x</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trim</a:t>
            </a:r>
            <a:r>
              <a:rPr lang="en" sz="1000">
                <a:latin typeface="Consolas"/>
                <a:ea typeface="Consolas"/>
                <a:cs typeface="Consolas"/>
                <a:sym typeface="Consolas"/>
              </a:rPr>
              <a:t>();</a:t>
            </a:r>
            <a:endParaRPr sz="1000">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098658"/>
                </a:solidFill>
                <a:latin typeface="Consolas"/>
                <a:ea typeface="Consolas"/>
                <a:cs typeface="Consolas"/>
                <a:sym typeface="Consolas"/>
              </a:rPr>
              <a:t>6</a:t>
            </a:r>
            <a:r>
              <a:rPr lang="en" sz="1000">
                <a:latin typeface="Consolas"/>
                <a:ea typeface="Consolas"/>
                <a:cs typeface="Consolas"/>
                <a:sym typeface="Consolas"/>
              </a:rPr>
              <a:t>  }</a:t>
            </a:r>
            <a:endParaRPr sz="1000">
              <a:solidFill>
                <a:srgbClr val="999999"/>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0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0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0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0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0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0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004"/>
                                        </p:tgtEl>
                                        <p:attrNameLst>
                                          <p:attrName>style.visibility</p:attrName>
                                        </p:attrNameLst>
                                      </p:cBhvr>
                                      <p:to>
                                        <p:strVal val="visible"/>
                                      </p:to>
                                    </p:set>
                                    <p:animEffect transition="in" filter="fade">
                                      <p:cBhvr>
                                        <p:cTn id="51" dur="1000"/>
                                        <p:tgtEl>
                                          <p:spTgt spid="100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005"/>
                                        </p:tgtEl>
                                        <p:attrNameLst>
                                          <p:attrName>style.visibility</p:attrName>
                                        </p:attrNameLst>
                                      </p:cBhvr>
                                      <p:to>
                                        <p:strVal val="visible"/>
                                      </p:to>
                                    </p:set>
                                    <p:animEffect transition="in" filter="fade">
                                      <p:cBhvr>
                                        <p:cTn id="56" dur="1000"/>
                                        <p:tgtEl>
                                          <p:spTgt spid="1005"/>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006"/>
                                        </p:tgtEl>
                                        <p:attrNameLst>
                                          <p:attrName>style.visibility</p:attrName>
                                        </p:attrNameLst>
                                      </p:cBhvr>
                                      <p:to>
                                        <p:strVal val="visible"/>
                                      </p:to>
                                    </p:set>
                                    <p:animEffect transition="in" filter="fade">
                                      <p:cBhvr>
                                        <p:cTn id="61" dur="1000"/>
                                        <p:tgtEl>
                                          <p:spTgt spid="1006"/>
                                        </p:tgtEl>
                                      </p:cBhvr>
                                    </p:animEffect>
                                  </p:childTnLst>
                                </p:cTn>
                              </p:par>
                              <p:par>
                                <p:cTn id="62" presetID="10" presetClass="entr" presetSubtype="0" fill="hold" nodeType="withEffect">
                                  <p:stCondLst>
                                    <p:cond delay="0"/>
                                  </p:stCondLst>
                                  <p:childTnLst>
                                    <p:set>
                                      <p:cBhvr>
                                        <p:cTn id="63" dur="1" fill="hold">
                                          <p:stCondLst>
                                            <p:cond delay="0"/>
                                          </p:stCondLst>
                                        </p:cTn>
                                        <p:tgtEl>
                                          <p:spTgt spid="1007"/>
                                        </p:tgtEl>
                                        <p:attrNameLst>
                                          <p:attrName>style.visibility</p:attrName>
                                        </p:attrNameLst>
                                      </p:cBhvr>
                                      <p:to>
                                        <p:strVal val="visible"/>
                                      </p:to>
                                    </p:set>
                                    <p:animEffect transition="in" filter="fade">
                                      <p:cBhvr>
                                        <p:cTn id="64" dur="1000"/>
                                        <p:tgtEl>
                                          <p:spTgt spid="1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108"/>
          <p:cNvSpPr txBox="1">
            <a:spLocks noGrp="1"/>
          </p:cNvSpPr>
          <p:nvPr>
            <p:ph type="body" idx="1"/>
          </p:nvPr>
        </p:nvSpPr>
        <p:spPr>
          <a:xfrm>
            <a:off x="65250" y="655425"/>
            <a:ext cx="8955900" cy="997500"/>
          </a:xfrm>
          <a:prstGeom prst="rect">
            <a:avLst/>
          </a:prstGeom>
        </p:spPr>
        <p:txBody>
          <a:bodyPr spcFirstLastPara="1" wrap="square" lIns="91425" tIns="91425" rIns="91425" bIns="91425" anchor="t" anchorCtr="0">
            <a:spAutoFit/>
          </a:bodyPr>
          <a:lstStyle/>
          <a:p>
            <a:pPr marL="0" lvl="0" indent="0" algn="l" rtl="0">
              <a:spcBef>
                <a:spcPts val="0"/>
              </a:spcBef>
              <a:spcAft>
                <a:spcPts val="1600"/>
              </a:spcAft>
              <a:buNone/>
            </a:pPr>
            <a:r>
              <a:rPr lang="en"/>
              <a:t>In Java, every non-primitive type is an Object. Values of any type may be assigned to an Object variable, passed as arguments to an Object parameter, or store in an array of Objects. Experiment with the Object class to see how this works in practice. </a:t>
            </a:r>
            <a:endParaRPr b="1"/>
          </a:p>
        </p:txBody>
      </p:sp>
      <p:sp>
        <p:nvSpPr>
          <p:cNvPr id="1013" name="Google Shape;1013;p10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63</a:t>
            </a:fld>
            <a:endParaRPr/>
          </a:p>
        </p:txBody>
      </p:sp>
      <p:sp>
        <p:nvSpPr>
          <p:cNvPr id="1014" name="Google Shape;1014;p108"/>
          <p:cNvSpPr txBox="1">
            <a:spLocks noGrp="1"/>
          </p:cNvSpPr>
          <p:nvPr>
            <p:ph type="body" idx="2"/>
          </p:nvPr>
        </p:nvSpPr>
        <p:spPr>
          <a:xfrm>
            <a:off x="3406550" y="1733425"/>
            <a:ext cx="5362500" cy="32217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Create a new class named </a:t>
            </a:r>
            <a:r>
              <a:rPr lang="en" dirty="0">
                <a:solidFill>
                  <a:srgbClr val="FF0000"/>
                </a:solidFill>
                <a:latin typeface="Courier New"/>
                <a:ea typeface="Courier New"/>
                <a:cs typeface="Courier New"/>
                <a:sym typeface="Courier New"/>
              </a:rPr>
              <a:t>Objects</a:t>
            </a:r>
            <a:r>
              <a:rPr lang="en" dirty="0"/>
              <a:t> and define a static method named "</a:t>
            </a:r>
            <a:r>
              <a:rPr lang="en" dirty="0">
                <a:solidFill>
                  <a:srgbClr val="FF0000"/>
                </a:solidFill>
                <a:latin typeface="Courier New"/>
                <a:ea typeface="Courier New"/>
                <a:cs typeface="Courier New"/>
                <a:sym typeface="Courier New"/>
              </a:rPr>
              <a:t>funWithObjects</a:t>
            </a:r>
            <a:r>
              <a:rPr lang="en" dirty="0"/>
              <a:t>" that declares an </a:t>
            </a:r>
            <a:r>
              <a:rPr lang="en" dirty="0">
                <a:latin typeface="Courier New"/>
                <a:ea typeface="Courier New"/>
                <a:cs typeface="Courier New"/>
                <a:sym typeface="Courier New"/>
              </a:rPr>
              <a:t>Object</a:t>
            </a:r>
            <a:r>
              <a:rPr lang="en" dirty="0"/>
              <a:t> parameter and returns an </a:t>
            </a:r>
            <a:r>
              <a:rPr lang="en" dirty="0">
                <a:latin typeface="Courier New"/>
                <a:ea typeface="Courier New"/>
                <a:cs typeface="Courier New"/>
                <a:sym typeface="Courier New"/>
              </a:rPr>
              <a:t>Object</a:t>
            </a:r>
            <a:r>
              <a:rPr lang="en" dirty="0"/>
              <a:t> array.</a:t>
            </a:r>
            <a:endParaRPr dirty="0"/>
          </a:p>
          <a:p>
            <a:pPr marL="914400" lvl="1" indent="-298450" algn="l" rtl="0">
              <a:spcBef>
                <a:spcPts val="0"/>
              </a:spcBef>
              <a:spcAft>
                <a:spcPts val="0"/>
              </a:spcAft>
              <a:buSzPts val="1100"/>
              <a:buChar char="○"/>
            </a:pPr>
            <a:r>
              <a:rPr lang="en" dirty="0"/>
              <a:t>Create an Object array large enough to hold at least 5 values.</a:t>
            </a:r>
            <a:endParaRPr dirty="0"/>
          </a:p>
          <a:p>
            <a:pPr marL="914400" lvl="1" indent="-298450" algn="l" rtl="0">
              <a:spcBef>
                <a:spcPts val="0"/>
              </a:spcBef>
              <a:spcAft>
                <a:spcPts val="0"/>
              </a:spcAft>
              <a:buSzPts val="1100"/>
              <a:buChar char="○"/>
            </a:pPr>
            <a:r>
              <a:rPr lang="en" dirty="0"/>
              <a:t>Convert the Object parameter into a </a:t>
            </a:r>
            <a:r>
              <a:rPr lang="en" dirty="0">
                <a:latin typeface="Courier New"/>
                <a:ea typeface="Courier New"/>
                <a:cs typeface="Courier New"/>
                <a:sym typeface="Courier New"/>
              </a:rPr>
              <a:t>String</a:t>
            </a:r>
            <a:r>
              <a:rPr lang="en" dirty="0"/>
              <a:t> and store it in the first index in the array. </a:t>
            </a:r>
            <a:r>
              <a:rPr lang="en" b="1" i="1" dirty="0"/>
              <a:t>Hint</a:t>
            </a:r>
            <a:r>
              <a:rPr lang="en" dirty="0"/>
              <a:t>: call its </a:t>
            </a:r>
            <a:r>
              <a:rPr lang="en" dirty="0">
                <a:latin typeface="Courier New"/>
                <a:ea typeface="Courier New"/>
                <a:cs typeface="Courier New"/>
                <a:sym typeface="Courier New"/>
              </a:rPr>
              <a:t>toString()</a:t>
            </a:r>
            <a:r>
              <a:rPr lang="en" dirty="0"/>
              <a:t> method!</a:t>
            </a:r>
            <a:endParaRPr dirty="0"/>
          </a:p>
          <a:p>
            <a:pPr marL="914400" lvl="1" indent="-298450" algn="l" rtl="0">
              <a:spcBef>
                <a:spcPts val="0"/>
              </a:spcBef>
              <a:spcAft>
                <a:spcPts val="0"/>
              </a:spcAft>
              <a:buSzPts val="1100"/>
              <a:buChar char="○"/>
            </a:pPr>
            <a:r>
              <a:rPr lang="en" dirty="0"/>
              <a:t>Fill the remaining indexes in the array with values of different types.</a:t>
            </a:r>
            <a:endParaRPr dirty="0"/>
          </a:p>
          <a:p>
            <a:pPr marL="914400" lvl="1" indent="-298450" algn="l" rtl="0">
              <a:spcBef>
                <a:spcPts val="0"/>
              </a:spcBef>
              <a:spcAft>
                <a:spcPts val="0"/>
              </a:spcAft>
              <a:buSzPts val="1100"/>
              <a:buChar char="○"/>
            </a:pPr>
            <a:r>
              <a:rPr lang="en" dirty="0"/>
              <a:t>What happens when you try to store a primitive value in the array?</a:t>
            </a:r>
            <a:endParaRPr dirty="0"/>
          </a:p>
          <a:p>
            <a:pPr marL="914400" lvl="1" indent="-298450" algn="l" rtl="0">
              <a:spcBef>
                <a:spcPts val="0"/>
              </a:spcBef>
              <a:spcAft>
                <a:spcPts val="0"/>
              </a:spcAft>
              <a:buSzPts val="1100"/>
              <a:buChar char="○"/>
            </a:pPr>
            <a:r>
              <a:rPr lang="en" dirty="0"/>
              <a:t>What about an instance of one of your own classes, e.g. </a:t>
            </a:r>
            <a:r>
              <a:rPr lang="en" dirty="0">
                <a:latin typeface="Courier New"/>
                <a:ea typeface="Courier New"/>
                <a:cs typeface="Courier New"/>
                <a:sym typeface="Courier New"/>
              </a:rPr>
              <a:t>Year</a:t>
            </a:r>
            <a:r>
              <a:rPr lang="en" dirty="0"/>
              <a:t>?</a:t>
            </a:r>
            <a:endParaRPr dirty="0"/>
          </a:p>
          <a:p>
            <a:pPr marL="914400" lvl="1" indent="-298450" algn="l" rtl="0">
              <a:spcBef>
                <a:spcPts val="0"/>
              </a:spcBef>
              <a:spcAft>
                <a:spcPts val="0"/>
              </a:spcAft>
              <a:buSzPts val="1100"/>
              <a:buChar char="○"/>
            </a:pPr>
            <a:r>
              <a:rPr lang="en" dirty="0"/>
              <a:t>What about another array?</a:t>
            </a:r>
            <a:endParaRPr dirty="0"/>
          </a:p>
          <a:p>
            <a:pPr marL="457200" lvl="0" indent="-311150" algn="l" rtl="0">
              <a:spcBef>
                <a:spcPts val="0"/>
              </a:spcBef>
              <a:spcAft>
                <a:spcPts val="0"/>
              </a:spcAft>
              <a:buSzPts val="1300"/>
              <a:buChar char="●"/>
            </a:pPr>
            <a:r>
              <a:rPr lang="en" dirty="0"/>
              <a:t> Define a </a:t>
            </a:r>
            <a:r>
              <a:rPr lang="en" dirty="0">
                <a:latin typeface="Courier New"/>
                <a:ea typeface="Courier New"/>
                <a:cs typeface="Courier New"/>
                <a:sym typeface="Courier New"/>
              </a:rPr>
              <a:t>main</a:t>
            </a:r>
            <a:r>
              <a:rPr lang="en" dirty="0"/>
              <a:t> method with the appropriate signature.</a:t>
            </a:r>
            <a:endParaRPr dirty="0"/>
          </a:p>
          <a:p>
            <a:pPr marL="914400" lvl="1" indent="-298450" algn="l" rtl="0">
              <a:spcBef>
                <a:spcPts val="0"/>
              </a:spcBef>
              <a:spcAft>
                <a:spcPts val="0"/>
              </a:spcAft>
              <a:buSzPts val="1100"/>
              <a:buChar char="○"/>
            </a:pPr>
            <a:r>
              <a:rPr lang="en" dirty="0"/>
              <a:t>Call the </a:t>
            </a:r>
            <a:r>
              <a:rPr lang="en" dirty="0">
                <a:latin typeface="Courier New"/>
                <a:ea typeface="Courier New"/>
                <a:cs typeface="Courier New"/>
                <a:sym typeface="Courier New"/>
              </a:rPr>
              <a:t>funWithObjects</a:t>
            </a:r>
            <a:r>
              <a:rPr lang="en" dirty="0"/>
              <a:t> method at least 3 times with arguments of different types.</a:t>
            </a:r>
            <a:endParaRPr dirty="0"/>
          </a:p>
          <a:p>
            <a:pPr marL="914400" lvl="1" indent="-298450" algn="l" rtl="0">
              <a:spcBef>
                <a:spcPts val="0"/>
              </a:spcBef>
              <a:spcAft>
                <a:spcPts val="0"/>
              </a:spcAft>
              <a:buSzPts val="1100"/>
              <a:buChar char="○"/>
            </a:pPr>
            <a:r>
              <a:rPr lang="en" dirty="0"/>
              <a:t>Use the </a:t>
            </a:r>
            <a:r>
              <a:rPr lang="en" dirty="0">
                <a:latin typeface="Courier New"/>
                <a:ea typeface="Courier New"/>
                <a:cs typeface="Courier New"/>
                <a:sym typeface="Courier New"/>
              </a:rPr>
              <a:t>Arrays.toString(array)</a:t>
            </a:r>
            <a:r>
              <a:rPr lang="en" dirty="0"/>
              <a:t> method to print the return values to standard output.</a:t>
            </a:r>
            <a:endParaRPr dirty="0"/>
          </a:p>
        </p:txBody>
      </p:sp>
      <p:sp>
        <p:nvSpPr>
          <p:cNvPr id="1015" name="Google Shape;1015;p108"/>
          <p:cNvSpPr txBox="1">
            <a:spLocks noGrp="1"/>
          </p:cNvSpPr>
          <p:nvPr>
            <p:ph type="title"/>
          </p:nvPr>
        </p:nvSpPr>
        <p:spPr>
          <a:xfrm>
            <a:off x="1436850" y="100"/>
            <a:ext cx="7642500" cy="6465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Objects in Space</a:t>
            </a:r>
            <a:endParaRPr/>
          </a:p>
        </p:txBody>
      </p:sp>
      <p:sp>
        <p:nvSpPr>
          <p:cNvPr id="1016" name="Google Shape;1016;p108"/>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2.25</a:t>
            </a:r>
            <a:endParaRPr/>
          </a:p>
        </p:txBody>
      </p:sp>
      <p:sp>
        <p:nvSpPr>
          <p:cNvPr id="1017" name="Google Shape;1017;p108"/>
          <p:cNvSpPr txBox="1"/>
          <p:nvPr/>
        </p:nvSpPr>
        <p:spPr>
          <a:xfrm>
            <a:off x="189275" y="3774500"/>
            <a:ext cx="3009900" cy="1154400"/>
          </a:xfrm>
          <a:prstGeom prst="rect">
            <a:avLst/>
          </a:prstGeom>
          <a:solidFill>
            <a:schemeClr val="lt1"/>
          </a:solid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a:solidFill>
                  <a:srgbClr val="0000FF"/>
                </a:solidFill>
                <a:highlight>
                  <a:srgbClr val="FFFFFF"/>
                </a:highlight>
                <a:latin typeface="Consolas"/>
                <a:ea typeface="Consolas"/>
                <a:cs typeface="Consolas"/>
                <a:sym typeface="Consolas"/>
              </a:rPr>
              <a:t>public</a:t>
            </a: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Object</a:t>
            </a:r>
            <a:r>
              <a:rPr lang="en" sz="1050">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objectCode</a:t>
            </a:r>
            <a:r>
              <a:rPr lang="en" sz="1050">
                <a:highlight>
                  <a:srgbClr val="FFFFFF"/>
                </a:highlight>
                <a:latin typeface="Consolas"/>
                <a:ea typeface="Consolas"/>
                <a:cs typeface="Consolas"/>
                <a:sym typeface="Consolas"/>
              </a:rPr>
              <a:t>(</a:t>
            </a:r>
            <a:r>
              <a:rPr lang="en" sz="1050">
                <a:solidFill>
                  <a:srgbClr val="267F99"/>
                </a:solidFill>
                <a:highlight>
                  <a:srgbClr val="FFFFFF"/>
                </a:highlight>
                <a:latin typeface="Consolas"/>
                <a:ea typeface="Consolas"/>
                <a:cs typeface="Consolas"/>
                <a:sym typeface="Consolas"/>
              </a:rPr>
              <a:t>Object</a:t>
            </a:r>
            <a:r>
              <a:rPr lang="en" sz="1050">
                <a:highlight>
                  <a:srgbClr val="FFFFFF"/>
                </a:highlight>
                <a:latin typeface="Consolas"/>
                <a:ea typeface="Consolas"/>
                <a:cs typeface="Consolas"/>
                <a:sym typeface="Consolas"/>
              </a:rPr>
              <a:t> obj) {</a:t>
            </a:r>
            <a:endParaRPr sz="105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s</a:t>
            </a:r>
            <a:r>
              <a:rPr lang="en" sz="1050">
                <a:highlight>
                  <a:srgbClr val="FFFFFF"/>
                </a:highlight>
                <a:latin typeface="Consolas"/>
                <a:ea typeface="Consolas"/>
                <a:cs typeface="Consolas"/>
                <a:sym typeface="Consolas"/>
              </a:rPr>
              <a:t> = </a:t>
            </a:r>
            <a:r>
              <a:rPr lang="en" sz="1050">
                <a:solidFill>
                  <a:srgbClr val="A31515"/>
                </a:solidFill>
                <a:highlight>
                  <a:srgbClr val="FFFFFF"/>
                </a:highlight>
                <a:latin typeface="Consolas"/>
                <a:ea typeface="Consolas"/>
                <a:cs typeface="Consolas"/>
                <a:sym typeface="Consolas"/>
              </a:rPr>
              <a:t>"</a:t>
            </a:r>
            <a:r>
              <a:rPr lang="en" sz="1050">
                <a:solidFill>
                  <a:srgbClr val="EE0000"/>
                </a:solidFill>
                <a:highlight>
                  <a:srgbClr val="FFFFFF"/>
                </a:highlight>
                <a:latin typeface="Consolas"/>
                <a:ea typeface="Consolas"/>
                <a:cs typeface="Consolas"/>
                <a:sym typeface="Consolas"/>
              </a:rPr>
              <a:t>\t\t</a:t>
            </a:r>
            <a:r>
              <a:rPr lang="en" sz="1050">
                <a:solidFill>
                  <a:srgbClr val="A31515"/>
                </a:solidFill>
                <a:highlight>
                  <a:srgbClr val="FFFFFF"/>
                </a:highlight>
                <a:latin typeface="Consolas"/>
                <a:ea typeface="Consolas"/>
                <a:cs typeface="Consolas"/>
                <a:sym typeface="Consolas"/>
              </a:rPr>
              <a:t>abcdefg"</a:t>
            </a:r>
            <a:r>
              <a:rPr lang="en" sz="1050">
                <a:highlight>
                  <a:srgbClr val="FFFFFF"/>
                </a:highlight>
                <a:latin typeface="Consolas"/>
                <a:ea typeface="Consolas"/>
                <a:cs typeface="Consolas"/>
                <a:sym typeface="Consolas"/>
              </a:rPr>
              <a:t> + obj;</a:t>
            </a:r>
            <a:endParaRPr sz="105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Object</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o</a:t>
            </a:r>
            <a:r>
              <a:rPr lang="en" sz="1050">
                <a:highlight>
                  <a:srgbClr val="FFFFFF"/>
                </a:highlight>
                <a:latin typeface="Consolas"/>
                <a:ea typeface="Consolas"/>
                <a:cs typeface="Consolas"/>
                <a:sym typeface="Consolas"/>
              </a:rPr>
              <a:t> = s + s;</a:t>
            </a:r>
            <a:endParaRPr sz="105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String</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x</a:t>
            </a:r>
            <a:r>
              <a:rPr lang="en" sz="1050">
                <a:highlight>
                  <a:srgbClr val="FFFFFF"/>
                </a:highlight>
                <a:latin typeface="Consolas"/>
                <a:ea typeface="Consolas"/>
                <a:cs typeface="Consolas"/>
                <a:sym typeface="Consolas"/>
              </a:rPr>
              <a:t> = (String)o;</a:t>
            </a:r>
            <a:endParaRPr sz="105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return</a:t>
            </a:r>
            <a:r>
              <a:rPr lang="en" sz="1050">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x</a:t>
            </a:r>
            <a:r>
              <a:rPr lang="en" sz="1050">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trim</a:t>
            </a:r>
            <a:r>
              <a:rPr lang="en" sz="1050">
                <a:highlight>
                  <a:srgbClr val="FFFFFF"/>
                </a:highlight>
                <a:latin typeface="Consolas"/>
                <a:ea typeface="Consolas"/>
                <a:cs typeface="Consolas"/>
                <a:sym typeface="Consolas"/>
              </a:rPr>
              <a:t>();</a:t>
            </a:r>
            <a:endParaRPr sz="1050">
              <a:highlight>
                <a:srgbClr val="FFFFFF"/>
              </a:highlight>
              <a:latin typeface="Consolas"/>
              <a:ea typeface="Consolas"/>
              <a:cs typeface="Consolas"/>
              <a:sym typeface="Consolas"/>
            </a:endParaRPr>
          </a:p>
          <a:p>
            <a:pPr marL="0" lvl="0" indent="0" algn="l" rtl="0">
              <a:lnSpc>
                <a:spcPct val="100000"/>
              </a:lnSpc>
              <a:spcBef>
                <a:spcPts val="0"/>
              </a:spcBef>
              <a:spcAft>
                <a:spcPts val="0"/>
              </a:spcAft>
              <a:buNone/>
            </a:pPr>
            <a:r>
              <a:rPr lang="en" sz="1050">
                <a:highlight>
                  <a:srgbClr val="FFFFFF"/>
                </a:highlight>
                <a:latin typeface="Consolas"/>
                <a:ea typeface="Consolas"/>
                <a:cs typeface="Consolas"/>
                <a:sym typeface="Consolas"/>
              </a:rPr>
              <a:t>}</a:t>
            </a:r>
            <a:endParaRPr sz="1050">
              <a:solidFill>
                <a:srgbClr val="569CD6"/>
              </a:solidFill>
              <a:latin typeface="Consolas"/>
              <a:ea typeface="Consolas"/>
              <a:cs typeface="Consolas"/>
              <a:sym typeface="Consolas"/>
            </a:endParaRPr>
          </a:p>
        </p:txBody>
      </p:sp>
      <p:pic>
        <p:nvPicPr>
          <p:cNvPr id="1018" name="Google Shape;1018;p108"/>
          <p:cNvPicPr preferRelativeResize="0"/>
          <p:nvPr/>
        </p:nvPicPr>
        <p:blipFill>
          <a:blip r:embed="rId3">
            <a:alphaModFix/>
          </a:blip>
          <a:stretch>
            <a:fillRect/>
          </a:stretch>
        </p:blipFill>
        <p:spPr>
          <a:xfrm>
            <a:off x="189275" y="1733425"/>
            <a:ext cx="3009875" cy="1851375"/>
          </a:xfrm>
          <a:prstGeom prst="rect">
            <a:avLst/>
          </a:prstGeom>
          <a:noFill/>
          <a:ln w="19050" cap="flat" cmpd="sng">
            <a:solidFill>
              <a:srgbClr val="000000"/>
            </a:solidFill>
            <a:prstDash val="solid"/>
            <a:round/>
            <a:headEnd type="none" w="sm" len="sm"/>
            <a:tailEnd type="none" w="sm" len="sm"/>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graphicFrame>
        <p:nvGraphicFramePr>
          <p:cNvPr id="1023" name="Google Shape;1023;p109"/>
          <p:cNvGraphicFramePr/>
          <p:nvPr/>
        </p:nvGraphicFramePr>
        <p:xfrm>
          <a:off x="-10" y="-9"/>
          <a:ext cx="9143975" cy="4602300"/>
        </p:xfrm>
        <a:graphic>
          <a:graphicData uri="http://schemas.openxmlformats.org/drawingml/2006/table">
            <a:tbl>
              <a:tblPr>
                <a:noFill/>
                <a:tableStyleId>{DCB0A160-8D32-47A0-BB77-B2D693EC1B64}</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0">
                <a:tc rowSpan="8">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rowSpan="2">
                  <a:txBody>
                    <a:bodyPr/>
                    <a:lstStyle/>
                    <a:p>
                      <a:pPr marL="0" lvl="0" indent="0" algn="l" rtl="0">
                        <a:spcBef>
                          <a:spcPts val="0"/>
                        </a:spcBef>
                        <a:spcAft>
                          <a:spcPts val="0"/>
                        </a:spcAft>
                        <a:buNone/>
                      </a:pPr>
                      <a:r>
                        <a:rPr lang="en" sz="1000" u="sng">
                          <a:solidFill>
                            <a:schemeClr val="hlink"/>
                          </a:solidFill>
                          <a:hlinkClick r:id="rId3"/>
                        </a:rPr>
                        <a:t>Java Classes &amp; Fields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class House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 numBathrooms;</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int numBedrooms;</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u="sng">
                          <a:solidFill>
                            <a:schemeClr val="hlink"/>
                          </a:solidFill>
                          <a:hlinkClick r:id="rId4"/>
                        </a:rPr>
                        <a:t>Java Packages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package unit02.activities;</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308175">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5"/>
                        </a:rPr>
                        <a:t>Default Constructors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House house = new House();</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6"/>
                        </a:rPr>
                        <a:t>Initializing Constructors &amp; </a:t>
                      </a:r>
                      <a:r>
                        <a:rPr lang="en" sz="1000" u="sng">
                          <a:solidFill>
                            <a:schemeClr val="hlink"/>
                          </a:solidFill>
                          <a:latin typeface="Courier New"/>
                          <a:ea typeface="Courier New"/>
                          <a:cs typeface="Courier New"/>
                          <a:sym typeface="Courier New"/>
                          <a:hlinkClick r:id="rId6"/>
                        </a:rPr>
                        <a:t>this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this.numberOfBathrooms = numberOfBathrooms;</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rowSpan="2">
                  <a:txBody>
                    <a:bodyPr/>
                    <a:lstStyle/>
                    <a:p>
                      <a:pPr marL="0" lvl="0" indent="0" algn="l" rtl="0">
                        <a:spcBef>
                          <a:spcPts val="0"/>
                        </a:spcBef>
                        <a:spcAft>
                          <a:spcPts val="0"/>
                        </a:spcAft>
                        <a:buNone/>
                      </a:pPr>
                      <a:r>
                        <a:rPr lang="en" sz="1000" u="sng">
                          <a:solidFill>
                            <a:schemeClr val="hlink"/>
                          </a:solidFill>
                          <a:hlinkClick r:id="rId7"/>
                        </a:rPr>
                        <a:t>Overloading &amp; Constructors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House(String color)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this(color, 2, 3, true);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133550">
                <a:tc vMerge="1">
                  <a:txBody>
                    <a:bodyPr/>
                    <a:lstStyle/>
                    <a:p>
                      <a:endParaRPr lang="en-US"/>
                    </a:p>
                  </a:txBody>
                  <a:tcPr/>
                </a:tc>
                <a:tc rowSpan="2">
                  <a:txBody>
                    <a:bodyPr/>
                    <a:lstStyle/>
                    <a:p>
                      <a:pPr marL="0" lvl="0" indent="0" algn="l" rtl="0">
                        <a:spcBef>
                          <a:spcPts val="0"/>
                        </a:spcBef>
                        <a:spcAft>
                          <a:spcPts val="0"/>
                        </a:spcAft>
                        <a:buNone/>
                      </a:pPr>
                      <a:r>
                        <a:rPr lang="en" sz="1000" u="sng">
                          <a:solidFill>
                            <a:schemeClr val="hlink"/>
                          </a:solidFill>
                          <a:hlinkClick r:id="rId8"/>
                        </a:rPr>
                        <a:t>Data Privacy</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int numOfBathrooms;</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protected int numBedrooms;</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private boolean hvac;</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String color;</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vMerge="1">
                  <a:txBody>
                    <a:bodyPr/>
                    <a:lstStyle/>
                    <a:p>
                      <a:endParaRPr lang="en-US"/>
                    </a:p>
                  </a:txBody>
                  <a:tcPr/>
                </a:tc>
                <a:extLst>
                  <a:ext uri="{0D108BD9-81ED-4DB2-BD59-A6C34878D82A}">
                    <a16:rowId xmlns:a16="http://schemas.microsoft.com/office/drawing/2014/main" val="10003"/>
                  </a:ext>
                </a:extLst>
              </a:tr>
              <a:tr h="165325">
                <a:tc vMerge="1">
                  <a:txBody>
                    <a:bodyPr/>
                    <a:lstStyle/>
                    <a:p>
                      <a:endParaRPr lang="en-US"/>
                    </a:p>
                  </a:txBody>
                  <a:tcPr/>
                </a:tc>
                <a:tc vMerge="1">
                  <a:txBody>
                    <a:bodyPr/>
                    <a:lstStyle/>
                    <a:p>
                      <a:endParaRPr lang="en-US"/>
                    </a:p>
                  </a:txBody>
                  <a:tcPr/>
                </a:tc>
                <a:tc rowSpan="2">
                  <a:txBody>
                    <a:bodyPr/>
                    <a:lstStyle/>
                    <a:p>
                      <a:pPr marL="0" lvl="0" indent="0" algn="l" rtl="0">
                        <a:spcBef>
                          <a:spcPts val="0"/>
                        </a:spcBef>
                        <a:spcAft>
                          <a:spcPts val="0"/>
                        </a:spcAft>
                        <a:buNone/>
                      </a:pPr>
                      <a:r>
                        <a:rPr lang="en" sz="1000" u="sng">
                          <a:solidFill>
                            <a:schemeClr val="hlink"/>
                          </a:solidFill>
                          <a:hlinkClick r:id="rId9"/>
                        </a:rPr>
                        <a:t>Accessors &amp; Mutators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int getNumBathrooms()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numBathrooms;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void setColor(String color)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this.color = color;</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r h="165325">
                <a:tc vMerge="1">
                  <a:txBody>
                    <a:bodyPr/>
                    <a:lstStyle/>
                    <a:p>
                      <a:endParaRPr lang="en-US"/>
                    </a:p>
                  </a:txBody>
                  <a:tcPr/>
                </a:tc>
                <a:tc rowSpan="2">
                  <a:txBody>
                    <a:bodyPr/>
                    <a:lstStyle/>
                    <a:p>
                      <a:pPr marL="0" lvl="0" indent="0" algn="l" rtl="0">
                        <a:spcBef>
                          <a:spcPts val="0"/>
                        </a:spcBef>
                        <a:spcAft>
                          <a:spcPts val="0"/>
                        </a:spcAft>
                        <a:buNone/>
                      </a:pPr>
                      <a:r>
                        <a:rPr lang="en" sz="1000" u="sng">
                          <a:solidFill>
                            <a:schemeClr val="hlink"/>
                          </a:solidFill>
                          <a:hlinkClick r:id="rId10"/>
                        </a:rPr>
                        <a:t>Enumerated Types</a:t>
                      </a:r>
                      <a:r>
                        <a:rPr lang="en" sz="1000"/>
                        <a:t>, </a:t>
                      </a:r>
                      <a:r>
                        <a:rPr lang="en" sz="1000" u="sng">
                          <a:solidFill>
                            <a:schemeClr val="hlink"/>
                          </a:solidFill>
                          <a:hlinkClick r:id="rId11"/>
                        </a:rPr>
                        <a:t>Complex enums</a:t>
                      </a:r>
                      <a:r>
                        <a:rPr lang="en" sz="1000"/>
                        <a:t>, &amp; </a:t>
                      </a:r>
                      <a:r>
                        <a:rPr lang="en" sz="1000" u="sng">
                          <a:solidFill>
                            <a:schemeClr val="hlink"/>
                          </a:solidFill>
                          <a:hlinkClick r:id="rId12"/>
                        </a:rPr>
                        <a:t>More enums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enum BoilingPoint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FAHRENHEIT('F'),</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CELSIUS('C');</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char scale;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private BoilingPoint(char scale)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this.scale = scale;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public char getScale() { return this.scale;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vMerge="1">
                  <a:txBody>
                    <a:bodyPr/>
                    <a:lstStyle/>
                    <a:p>
                      <a:endParaRPr lang="en-US"/>
                    </a:p>
                  </a:txBody>
                  <a:tcPr/>
                </a:tc>
                <a:extLst>
                  <a:ext uri="{0D108BD9-81ED-4DB2-BD59-A6C34878D82A}">
                    <a16:rowId xmlns:a16="http://schemas.microsoft.com/office/drawing/2014/main" val="10005"/>
                  </a:ext>
                </a:extLst>
              </a:tr>
              <a:tr h="0">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13"/>
                        </a:rPr>
                        <a:t>Special Method: </a:t>
                      </a:r>
                      <a:r>
                        <a:rPr lang="en" sz="1000" u="sng">
                          <a:solidFill>
                            <a:schemeClr val="hlink"/>
                          </a:solidFill>
                          <a:latin typeface="Courier New"/>
                          <a:ea typeface="Courier New"/>
                          <a:cs typeface="Courier New"/>
                          <a:sym typeface="Courier New"/>
                          <a:hlinkClick r:id="rId13"/>
                        </a:rPr>
                        <a:t>toString()</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String toString()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"A pet named " + this.name +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0">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hlinkClick r:id="rId14"/>
                        </a:rPr>
                        <a:t>The </a:t>
                      </a:r>
                      <a:r>
                        <a:rPr lang="en" sz="1000" u="sng">
                          <a:solidFill>
                            <a:schemeClr val="hlink"/>
                          </a:solidFill>
                          <a:latin typeface="Courier New"/>
                          <a:ea typeface="Courier New"/>
                          <a:cs typeface="Courier New"/>
                          <a:sym typeface="Courier New"/>
                          <a:hlinkClick r:id="rId14"/>
                        </a:rPr>
                        <a:t>static</a:t>
                      </a:r>
                      <a:r>
                        <a:rPr lang="en" sz="1000" u="sng">
                          <a:solidFill>
                            <a:schemeClr val="hlink"/>
                          </a:solidFill>
                          <a:hlinkClick r:id="rId14"/>
                        </a:rPr>
                        <a:t> modifier</a:t>
                      </a:r>
                      <a:r>
                        <a:rPr lang="en" sz="1000"/>
                        <a:t>, </a:t>
                      </a:r>
                      <a:r>
                        <a:rPr lang="en" sz="1000" u="sng">
                          <a:solidFill>
                            <a:schemeClr val="hlink"/>
                          </a:solidFill>
                          <a:latin typeface="Courier New"/>
                          <a:ea typeface="Courier New"/>
                          <a:cs typeface="Courier New"/>
                          <a:sym typeface="Courier New"/>
                          <a:hlinkClick r:id="rId15"/>
                        </a:rPr>
                        <a:t>final</a:t>
                      </a:r>
                      <a:r>
                        <a:rPr lang="en" sz="1000" u="sng">
                          <a:solidFill>
                            <a:schemeClr val="hlink"/>
                          </a:solidFill>
                          <a:hlinkClick r:id="rId15"/>
                        </a:rPr>
                        <a:t>, &amp; Constants</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public static final double PI = 3.14159;</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u="sng">
                          <a:solidFill>
                            <a:schemeClr val="hlink"/>
                          </a:solidFill>
                          <a:latin typeface="Courier New"/>
                          <a:ea typeface="Courier New"/>
                          <a:cs typeface="Courier New"/>
                          <a:sym typeface="Courier New"/>
                          <a:hlinkClick r:id="rId16"/>
                        </a:rPr>
                        <a:t>java.lang.Object</a:t>
                      </a:r>
                      <a:r>
                        <a:rPr lang="en" sz="1000"/>
                        <a:t>.</a:t>
                      </a:r>
                      <a:endParaRPr sz="10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bl>
          </a:graphicData>
        </a:graphic>
      </p:graphicFrame>
      <p:sp>
        <p:nvSpPr>
          <p:cNvPr id="1024" name="Google Shape;1024;p109"/>
          <p:cNvSpPr txBox="1"/>
          <p:nvPr/>
        </p:nvSpPr>
        <p:spPr>
          <a:xfrm rot="-5400000">
            <a:off x="-2284450" y="2283675"/>
            <a:ext cx="49635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2: Java Classes</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graphicFrame>
        <p:nvGraphicFramePr>
          <p:cNvPr id="1029" name="Google Shape;1029;p110"/>
          <p:cNvGraphicFramePr/>
          <p:nvPr/>
        </p:nvGraphicFramePr>
        <p:xfrm>
          <a:off x="-10" y="-9"/>
          <a:ext cx="9143975" cy="3291750"/>
        </p:xfrm>
        <a:graphic>
          <a:graphicData uri="http://schemas.openxmlformats.org/drawingml/2006/table">
            <a:tbl>
              <a:tblPr>
                <a:noFill/>
                <a:tableStyleId>{DCB0A160-8D32-47A0-BB77-B2D693EC1B64}</a:tableStyleId>
              </a:tblPr>
              <a:tblGrid>
                <a:gridCol w="388675">
                  <a:extLst>
                    <a:ext uri="{9D8B030D-6E8A-4147-A177-3AD203B41FA5}">
                      <a16:colId xmlns:a16="http://schemas.microsoft.com/office/drawing/2014/main" val="20000"/>
                    </a:ext>
                  </a:extLst>
                </a:gridCol>
                <a:gridCol w="4377650">
                  <a:extLst>
                    <a:ext uri="{9D8B030D-6E8A-4147-A177-3AD203B41FA5}">
                      <a16:colId xmlns:a16="http://schemas.microsoft.com/office/drawing/2014/main" val="20001"/>
                    </a:ext>
                  </a:extLst>
                </a:gridCol>
                <a:gridCol w="4377650">
                  <a:extLst>
                    <a:ext uri="{9D8B030D-6E8A-4147-A177-3AD203B41FA5}">
                      <a16:colId xmlns:a16="http://schemas.microsoft.com/office/drawing/2014/main" val="20002"/>
                    </a:ext>
                  </a:extLst>
                </a:gridCol>
              </a:tblGrid>
              <a:tr h="252250">
                <a:tc rowSpan="3">
                  <a:txBody>
                    <a:bodyPr/>
                    <a:lstStyle/>
                    <a:p>
                      <a:pPr marL="0" lvl="0" indent="0" algn="l" rtl="0">
                        <a:spcBef>
                          <a:spcPts val="0"/>
                        </a:spcBef>
                        <a:spcAft>
                          <a:spcPts val="0"/>
                        </a:spcAft>
                        <a:buNone/>
                      </a:pP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073763"/>
                    </a:solidFill>
                  </a:tcPr>
                </a:tc>
                <a:tc rowSpan="2">
                  <a:txBody>
                    <a:bodyPr/>
                    <a:lstStyle/>
                    <a:p>
                      <a:pPr marL="0" lvl="0" indent="0" algn="l" rtl="0">
                        <a:spcBef>
                          <a:spcPts val="0"/>
                        </a:spcBef>
                        <a:spcAft>
                          <a:spcPts val="0"/>
                        </a:spcAft>
                        <a:buNone/>
                      </a:pPr>
                      <a:r>
                        <a:rPr lang="en" sz="1000" u="sng">
                          <a:solidFill>
                            <a:schemeClr val="hlink"/>
                          </a:solidFill>
                          <a:hlinkClick r:id="rId3"/>
                        </a:rPr>
                        <a:t>JavaDoc</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 This method does something cool.</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 @param x The x parameter.</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 @return Returns something neat.</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double aSpiffyMethod(int x) { … }</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a:txBody>
                    <a:bodyPr/>
                    <a:lstStyle/>
                    <a:p>
                      <a:pPr marL="0" lvl="0" indent="0" algn="l" rtl="0">
                        <a:spcBef>
                          <a:spcPts val="0"/>
                        </a:spcBef>
                        <a:spcAft>
                          <a:spcPts val="0"/>
                        </a:spcAft>
                        <a:buNone/>
                      </a:pPr>
                      <a:r>
                        <a:rPr lang="en" sz="1000" u="sng">
                          <a:solidFill>
                            <a:schemeClr val="hlink"/>
                          </a:solidFill>
                          <a:hlinkClick r:id="rId4"/>
                        </a:rPr>
                        <a:t>String Parsing</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String[] tokens = aString.split("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String first = tokens[0];</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0"/>
                  </a:ext>
                </a:extLst>
              </a:tr>
              <a:tr h="520850">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None/>
                      </a:pPr>
                      <a:r>
                        <a:rPr lang="en" sz="1000" u="sng">
                          <a:solidFill>
                            <a:schemeClr val="hlink"/>
                          </a:solidFill>
                          <a:latin typeface="Courier New"/>
                          <a:ea typeface="Courier New"/>
                          <a:cs typeface="Courier New"/>
                          <a:sym typeface="Courier New"/>
                          <a:hlinkClick r:id="rId5"/>
                        </a:rPr>
                        <a:t>java.util.Random</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Random RNG = new Random();</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int roll = RNG.nextInt(1, 7); // 1-6</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int pick = RNG.nextInt(10); // 0-9</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683600">
                <a:tc vMerge="1">
                  <a:txBody>
                    <a:bodyPr/>
                    <a:lstStyle/>
                    <a:p>
                      <a:endParaRPr lang="en-US"/>
                    </a:p>
                  </a:txBody>
                  <a:tcPr/>
                </a:tc>
                <a:tc gridSpan="2">
                  <a:txBody>
                    <a:bodyPr/>
                    <a:lstStyle/>
                    <a:p>
                      <a:pPr marL="0" lvl="0" indent="0" algn="l" rtl="0">
                        <a:spcBef>
                          <a:spcPts val="0"/>
                        </a:spcBef>
                        <a:spcAft>
                          <a:spcPts val="0"/>
                        </a:spcAft>
                        <a:buNone/>
                      </a:pPr>
                      <a:r>
                        <a:rPr lang="en" sz="1000" u="sng">
                          <a:solidFill>
                            <a:schemeClr val="hlink"/>
                          </a:solidFill>
                          <a:hlinkClick r:id="rId6"/>
                        </a:rPr>
                        <a:t>Special Method: </a:t>
                      </a:r>
                      <a:r>
                        <a:rPr lang="en" sz="1000" u="sng">
                          <a:solidFill>
                            <a:schemeClr val="hlink"/>
                          </a:solidFill>
                          <a:latin typeface="Courier New"/>
                          <a:ea typeface="Courier New"/>
                          <a:cs typeface="Courier New"/>
                          <a:sym typeface="Courier New"/>
                          <a:hlinkClick r:id="rId6"/>
                        </a:rPr>
                        <a:t>equals(Object)</a:t>
                      </a:r>
                      <a:r>
                        <a:rPr lang="en" sz="1000"/>
                        <a:t>.</a:t>
                      </a:r>
                      <a:endParaRPr sz="1000"/>
                    </a:p>
                    <a:p>
                      <a:pPr marL="0" lvl="0" indent="0" algn="l" rtl="0">
                        <a:spcBef>
                          <a:spcPts val="0"/>
                        </a:spcBef>
                        <a:spcAft>
                          <a:spcPts val="0"/>
                        </a:spcAft>
                        <a:buNone/>
                      </a:pPr>
                      <a:r>
                        <a:rPr lang="en" sz="1000">
                          <a:latin typeface="Courier New"/>
                          <a:ea typeface="Courier New"/>
                          <a:cs typeface="Courier New"/>
                          <a:sym typeface="Courier New"/>
                        </a:rPr>
                        <a:t>@Override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public boolean equals(Object o)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if(o instanceof Pet other)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this.name.equals(other.name) &amp;&amp;</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this.breed == other.breed &amp;&amp;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this.age == other.age;</a:t>
                      </a:r>
                      <a:br>
                        <a:rPr lang="en" sz="1000">
                          <a:latin typeface="Courier New"/>
                          <a:ea typeface="Courier New"/>
                          <a:cs typeface="Courier New"/>
                          <a:sym typeface="Courier New"/>
                        </a:rPr>
                      </a:br>
                      <a:r>
                        <a:rPr lang="en" sz="1000">
                          <a:latin typeface="Courier New"/>
                          <a:ea typeface="Courier New"/>
                          <a:cs typeface="Courier New"/>
                          <a:sym typeface="Courier New"/>
                        </a:rPr>
                        <a:t>  } else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return false;</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marL="0" lvl="0" indent="0" algn="l" rtl="0">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1030" name="Google Shape;1030;p110"/>
          <p:cNvSpPr txBox="1"/>
          <p:nvPr/>
        </p:nvSpPr>
        <p:spPr>
          <a:xfrm rot="-5400000">
            <a:off x="-1557400" y="1556621"/>
            <a:ext cx="3509400" cy="384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chemeClr val="lt1"/>
                </a:solidFill>
                <a:latin typeface="Merriweather"/>
                <a:ea typeface="Merriweather"/>
                <a:cs typeface="Merriweather"/>
                <a:sym typeface="Merriweather"/>
              </a:rPr>
              <a:t>Unit 2: Java Classes</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p111"/>
          <p:cNvSpPr txBox="1">
            <a:spLocks noGrp="1"/>
          </p:cNvSpPr>
          <p:nvPr>
            <p:ph type="title"/>
          </p:nvPr>
        </p:nvSpPr>
        <p:spPr>
          <a:xfrm>
            <a:off x="311725" y="196125"/>
            <a:ext cx="8520600" cy="62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900"/>
              <a:t>Summary &amp; Reflection</a:t>
            </a:r>
            <a:endParaRPr sz="3900"/>
          </a:p>
        </p:txBody>
      </p:sp>
      <p:sp>
        <p:nvSpPr>
          <p:cNvPr id="1036" name="Google Shape;1036;p111"/>
          <p:cNvSpPr/>
          <p:nvPr/>
        </p:nvSpPr>
        <p:spPr>
          <a:xfrm>
            <a:off x="3934950" y="1656500"/>
            <a:ext cx="1905000" cy="1233000"/>
          </a:xfrm>
          <a:prstGeom prst="cloudCallout">
            <a:avLst>
              <a:gd name="adj1" fmla="val 60382"/>
              <a:gd name="adj2" fmla="val 60947"/>
            </a:avLst>
          </a:prstGeom>
          <a:solidFill>
            <a:srgbClr val="C9DAF8"/>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is one new thing that you learned today?</a:t>
            </a:r>
            <a:endParaRPr sz="1200"/>
          </a:p>
        </p:txBody>
      </p:sp>
      <p:pic>
        <p:nvPicPr>
          <p:cNvPr id="1037" name="Google Shape;1037;p111"/>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1038" name="Google Shape;1038;p111"/>
          <p:cNvSpPr/>
          <p:nvPr/>
        </p:nvSpPr>
        <p:spPr>
          <a:xfrm>
            <a:off x="5992350" y="1351700"/>
            <a:ext cx="1905000" cy="1233000"/>
          </a:xfrm>
          <a:prstGeom prst="cloudCallout">
            <a:avLst>
              <a:gd name="adj1" fmla="val -15427"/>
              <a:gd name="adj2" fmla="val 82691"/>
            </a:avLst>
          </a:prstGeom>
          <a:solidFill>
            <a:srgbClr val="D9EAD3"/>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t>What is one thing that you wish you knew more about as we move forward?</a:t>
            </a:r>
            <a:endParaRPr sz="1000"/>
          </a:p>
        </p:txBody>
      </p:sp>
      <p:sp>
        <p:nvSpPr>
          <p:cNvPr id="1039" name="Google Shape;1039;p111"/>
          <p:cNvSpPr/>
          <p:nvPr/>
        </p:nvSpPr>
        <p:spPr>
          <a:xfrm>
            <a:off x="7003525" y="2549050"/>
            <a:ext cx="1905000" cy="1233000"/>
          </a:xfrm>
          <a:prstGeom prst="cloudCallout">
            <a:avLst>
              <a:gd name="adj1" fmla="val -66241"/>
              <a:gd name="adj2" fmla="val 20639"/>
            </a:avLst>
          </a:prstGeom>
          <a:solidFill>
            <a:srgbClr val="FCE5CD"/>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What one question do you have about today’s class?</a:t>
            </a:r>
            <a:endParaRPr sz="1200"/>
          </a:p>
        </p:txBody>
      </p:sp>
      <p:sp>
        <p:nvSpPr>
          <p:cNvPr id="1040" name="Google Shape;1040;p111"/>
          <p:cNvSpPr txBox="1"/>
          <p:nvPr/>
        </p:nvSpPr>
        <p:spPr>
          <a:xfrm>
            <a:off x="4107225" y="4689650"/>
            <a:ext cx="4667100" cy="234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1041" name="Google Shape;1041;p111"/>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1042" name="Google Shape;1042;p111"/>
          <p:cNvSpPr txBox="1">
            <a:spLocks noGrp="1"/>
          </p:cNvSpPr>
          <p:nvPr>
            <p:ph type="body" idx="1"/>
          </p:nvPr>
        </p:nvSpPr>
        <p:spPr>
          <a:xfrm rot="-1168295">
            <a:off x="1011648" y="1531349"/>
            <a:ext cx="2569455" cy="2929916"/>
          </a:xfrm>
          <a:prstGeom prst="rect">
            <a:avLst/>
          </a:prstGeom>
        </p:spPr>
        <p:txBody>
          <a:bodyPr spcFirstLastPara="1" wrap="square" lIns="91425" tIns="91425" rIns="91425" bIns="91425" anchor="ctr" anchorCtr="0">
            <a:noAutofit/>
          </a:bodyPr>
          <a:lstStyle/>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Java Classes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Fields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Methods</a:t>
            </a:r>
            <a:endParaRPr sz="1600">
              <a:solidFill>
                <a:srgbClr val="FF0000"/>
              </a:solidFill>
              <a:latin typeface="Shadows Into Light"/>
              <a:ea typeface="Shadows Into Light"/>
              <a:cs typeface="Shadows Into Light"/>
              <a:sym typeface="Shadows Into Light"/>
            </a:endParaRPr>
          </a:p>
          <a:p>
            <a:pPr marL="914400" lvl="1"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Special Methods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static</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final</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UML Class Diagrams</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JavaDoc</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Random</a:t>
            </a:r>
            <a:endParaRPr sz="1600">
              <a:solidFill>
                <a:srgbClr val="FF0000"/>
              </a:solidFill>
              <a:latin typeface="Shadows Into Light"/>
              <a:ea typeface="Shadows Into Light"/>
              <a:cs typeface="Shadows Into Light"/>
              <a:sym typeface="Shadows Into Light"/>
            </a:endParaRPr>
          </a:p>
          <a:p>
            <a:pPr marL="457200" lvl="0" indent="-330200" algn="l" rtl="0">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java.lang.Object</a:t>
            </a:r>
            <a:endParaRPr sz="1600">
              <a:solidFill>
                <a:srgbClr val="FF0000"/>
              </a:solidFill>
              <a:latin typeface="Shadows Into Light"/>
              <a:ea typeface="Shadows Into Light"/>
              <a:cs typeface="Shadows Into Light"/>
              <a:sym typeface="Shadows Into Light"/>
            </a:endParaRPr>
          </a:p>
        </p:txBody>
      </p:sp>
      <p:sp>
        <p:nvSpPr>
          <p:cNvPr id="1043" name="Google Shape;1043;p1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66</a:t>
            </a:fld>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1292</TotalTime>
  <Words>15208</Words>
  <Application>Microsoft Office PowerPoint</Application>
  <PresentationFormat>On-screen Show (16:9)</PresentationFormat>
  <Paragraphs>1505</Paragraphs>
  <Slides>66</Slides>
  <Notes>66</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66</vt:i4>
      </vt:variant>
    </vt:vector>
  </HeadingPairs>
  <TitlesOfParts>
    <vt:vector size="77" baseType="lpstr">
      <vt:lpstr>Roboto</vt:lpstr>
      <vt:lpstr>Arial</vt:lpstr>
      <vt:lpstr>Wingdings</vt:lpstr>
      <vt:lpstr>Merriweather</vt:lpstr>
      <vt:lpstr>Consolas</vt:lpstr>
      <vt:lpstr>Shadows Into Light</vt:lpstr>
      <vt:lpstr>Courier New</vt:lpstr>
      <vt:lpstr>Calibri</vt:lpstr>
      <vt:lpstr>Paradigm</vt:lpstr>
      <vt:lpstr>Paradigm</vt:lpstr>
      <vt:lpstr>Paradigm</vt:lpstr>
      <vt:lpstr>GCIS-124 Software Development &amp; Problem Solving</vt:lpstr>
      <vt:lpstr>Asking for Help</vt:lpstr>
      <vt:lpstr>Java Classes</vt:lpstr>
      <vt:lpstr>Noun/Verb Analysis</vt:lpstr>
      <vt:lpstr>Getting Started With Design</vt:lpstr>
      <vt:lpstr>Fields</vt:lpstr>
      <vt:lpstr>A Closer Look at Fields</vt:lpstr>
      <vt:lpstr>Object Creation (Default Constructors)</vt:lpstr>
      <vt:lpstr>Blasters Ready</vt:lpstr>
      <vt:lpstr>Java Packages</vt:lpstr>
      <vt:lpstr>Packages &amp; Scope</vt:lpstr>
      <vt:lpstr>Java Packages</vt:lpstr>
      <vt:lpstr>Constructors</vt:lpstr>
      <vt:lpstr>this vs self</vt:lpstr>
      <vt:lpstr>PowerPoint Presentation</vt:lpstr>
      <vt:lpstr>Initializing Constructors</vt:lpstr>
      <vt:lpstr>Riding in Ships with Moisture Farmers</vt:lpstr>
      <vt:lpstr>Overloading &amp; Constructors</vt:lpstr>
      <vt:lpstr>Overloading Constructors</vt:lpstr>
      <vt:lpstr>Encapsulation</vt:lpstr>
      <vt:lpstr>Data Privacy</vt:lpstr>
      <vt:lpstr>Controlling Access to State</vt:lpstr>
      <vt:lpstr>Accessors &amp; Mutators</vt:lpstr>
      <vt:lpstr>Accessing &amp; Mutating</vt:lpstr>
      <vt:lpstr>Enumerated Types (enum)</vt:lpstr>
      <vt:lpstr>A Damage Type enum</vt:lpstr>
      <vt:lpstr>Complex enums</vt:lpstr>
      <vt:lpstr>A Closer Look at Complex Enumerated Types</vt:lpstr>
      <vt:lpstr>A Closer Look at Complex Enumerated Types</vt:lpstr>
      <vt:lpstr>Upgrading DamageType</vt:lpstr>
      <vt:lpstr>Special Method: toString()</vt:lpstr>
      <vt:lpstr>Overriding toString()</vt:lpstr>
      <vt:lpstr>Special Method: equals(Object)</vt:lpstr>
      <vt:lpstr>A Closer Look at the equals(Object) Method</vt:lpstr>
      <vt:lpstr>A Closer Look at the equals(Object) Method</vt:lpstr>
      <vt:lpstr>A Blaster By Any Other Name</vt:lpstr>
      <vt:lpstr>Pattern Matching with instanceof</vt:lpstr>
      <vt:lpstr>What About the Other Special Methods?</vt:lpstr>
      <vt:lpstr>More About enums</vt:lpstr>
      <vt:lpstr>More enum Features</vt:lpstr>
      <vt:lpstr>The static Modifier</vt:lpstr>
      <vt:lpstr>final &amp; Constants</vt:lpstr>
      <vt:lpstr>Look at all the Colors</vt:lpstr>
      <vt:lpstr>UML Class Diagrams</vt:lpstr>
      <vt:lpstr>A Closer Look at UML Class Diagrams</vt:lpstr>
      <vt:lpstr>A Closer Look at UML Class Diagrams</vt:lpstr>
      <vt:lpstr>A UML Drawing Tool</vt:lpstr>
      <vt:lpstr>A First UML Class Diagram</vt:lpstr>
      <vt:lpstr>UML - Relationships</vt:lpstr>
      <vt:lpstr>Basic UML Relationships</vt:lpstr>
      <vt:lpstr>Adding Relationships</vt:lpstr>
      <vt:lpstr>Days in a Year</vt:lpstr>
      <vt:lpstr>Representing a Single Year</vt:lpstr>
      <vt:lpstr>Immutable Fields</vt:lpstr>
      <vt:lpstr>Adding Special Methods</vt:lpstr>
      <vt:lpstr>JavaDoc</vt:lpstr>
      <vt:lpstr>JavaDoc of the Year</vt:lpstr>
      <vt:lpstr>String Parsing</vt:lpstr>
      <vt:lpstr>Parsing Years</vt:lpstr>
      <vt:lpstr>java.util.Random</vt:lpstr>
      <vt:lpstr>Random Years</vt:lpstr>
      <vt:lpstr>java.lang.Object</vt:lpstr>
      <vt:lpstr>Objects in Space</vt:lpstr>
      <vt:lpstr>PowerPoint Presentation</vt:lpstr>
      <vt:lpstr>PowerPoint Presentation</vt:lpstr>
      <vt:lpstr>Summary &amp;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109</cp:revision>
  <dcterms:modified xsi:type="dcterms:W3CDTF">2026-01-22T19:10:49Z</dcterms:modified>
</cp:coreProperties>
</file>