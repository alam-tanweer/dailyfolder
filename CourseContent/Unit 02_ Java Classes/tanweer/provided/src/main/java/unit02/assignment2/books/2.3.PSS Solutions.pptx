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5" r:id="rId10"/>
    <p:sldId id="262" r:id="rId11"/>
    <p:sldId id="266" r:id="rId12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Merriweather" panose="020B0604020202020204" charset="0"/>
      <p:regular r:id="rId22"/>
      <p:bold r:id="rId23"/>
      <p:italic r:id="rId24"/>
      <p:boldItalic r:id="rId25"/>
    </p:embeddedFont>
    <p:embeddedFont>
      <p:font typeface="Robot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A17A3-467F-436E-8AEF-1A72CB334E5C}" v="22" dt="2021-02-05T03:04:57.181"/>
  </p1510:revLst>
</p1510:revInfo>
</file>

<file path=ppt/tableStyles.xml><?xml version="1.0" encoding="utf-8"?>
<a:tblStyleLst xmlns:a="http://schemas.openxmlformats.org/drawingml/2006/main" def="{236F6A49-EFB2-4250-887D-481D5DE7B877}">
  <a:tblStyle styleId="{236F6A49-EFB2-4250-887D-481D5DE7B8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10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ce Herring" userId="da3c994283af7ec4" providerId="LiveId" clId="{1EFA17A3-467F-436E-8AEF-1A72CB334E5C}"/>
    <pc:docChg chg="undo custSel addSld modSld sldOrd">
      <pc:chgData name="Bruce Herring" userId="da3c994283af7ec4" providerId="LiveId" clId="{1EFA17A3-467F-436E-8AEF-1A72CB334E5C}" dt="2021-02-05T03:23:22.889" v="1342" actId="20577"/>
      <pc:docMkLst>
        <pc:docMk/>
      </pc:docMkLst>
      <pc:sldChg chg="addSp modSp ord modNotes">
        <pc:chgData name="Bruce Herring" userId="da3c994283af7ec4" providerId="LiveId" clId="{1EFA17A3-467F-436E-8AEF-1A72CB334E5C}" dt="2021-02-05T03:05:02.622" v="23"/>
        <pc:sldMkLst>
          <pc:docMk/>
          <pc:sldMk cId="0" sldId="259"/>
        </pc:sldMkLst>
        <pc:picChg chg="add mod">
          <ac:chgData name="Bruce Herring" userId="da3c994283af7ec4" providerId="LiveId" clId="{1EFA17A3-467F-436E-8AEF-1A72CB334E5C}" dt="2021-02-05T03:04:57.180" v="21" actId="1036"/>
          <ac:picMkLst>
            <pc:docMk/>
            <pc:sldMk cId="0" sldId="259"/>
            <ac:picMk id="1026" creationId="{7430135C-CF92-4F01-9E1A-73B5BC6C735B}"/>
          </ac:picMkLst>
        </pc:picChg>
      </pc:sldChg>
      <pc:sldChg chg="modNotes">
        <pc:chgData name="Bruce Herring" userId="da3c994283af7ec4" providerId="LiveId" clId="{1EFA17A3-467F-436E-8AEF-1A72CB334E5C}" dt="2021-02-05T02:54:14.684" v="0"/>
        <pc:sldMkLst>
          <pc:docMk/>
          <pc:sldMk cId="0" sldId="260"/>
        </pc:sldMkLst>
      </pc:sldChg>
      <pc:sldChg chg="modNotes">
        <pc:chgData name="Bruce Herring" userId="da3c994283af7ec4" providerId="LiveId" clId="{1EFA17A3-467F-436E-8AEF-1A72CB334E5C}" dt="2021-02-05T02:54:14.684" v="0"/>
        <pc:sldMkLst>
          <pc:docMk/>
          <pc:sldMk cId="0" sldId="261"/>
        </pc:sldMkLst>
      </pc:sldChg>
      <pc:sldChg chg="modNotes">
        <pc:chgData name="Bruce Herring" userId="da3c994283af7ec4" providerId="LiveId" clId="{1EFA17A3-467F-436E-8AEF-1A72CB334E5C}" dt="2021-02-05T02:54:14.684" v="0"/>
        <pc:sldMkLst>
          <pc:docMk/>
          <pc:sldMk cId="0" sldId="262"/>
        </pc:sldMkLst>
      </pc:sldChg>
      <pc:sldChg chg="add modNotes">
        <pc:chgData name="Bruce Herring" userId="da3c994283af7ec4" providerId="LiveId" clId="{1EFA17A3-467F-436E-8AEF-1A72CB334E5C}" dt="2021-02-05T03:05:02.622" v="23"/>
        <pc:sldMkLst>
          <pc:docMk/>
          <pc:sldMk cId="2704368534" sldId="263"/>
        </pc:sldMkLst>
      </pc:sldChg>
      <pc:sldChg chg="modSp add mod">
        <pc:chgData name="Bruce Herring" userId="da3c994283af7ec4" providerId="LiveId" clId="{1EFA17A3-467F-436E-8AEF-1A72CB334E5C}" dt="2021-02-05T03:09:36.366" v="510" actId="6549"/>
        <pc:sldMkLst>
          <pc:docMk/>
          <pc:sldMk cId="4254364716" sldId="264"/>
        </pc:sldMkLst>
        <pc:spChg chg="mod">
          <ac:chgData name="Bruce Herring" userId="da3c994283af7ec4" providerId="LiveId" clId="{1EFA17A3-467F-436E-8AEF-1A72CB334E5C}" dt="2021-02-05T03:09:36.366" v="510" actId="6549"/>
          <ac:spMkLst>
            <pc:docMk/>
            <pc:sldMk cId="4254364716" sldId="264"/>
            <ac:spMk id="108" creationId="{00000000-0000-0000-0000-000000000000}"/>
          </ac:spMkLst>
        </pc:spChg>
      </pc:sldChg>
      <pc:sldChg chg="modSp add mod">
        <pc:chgData name="Bruce Herring" userId="da3c994283af7ec4" providerId="LiveId" clId="{1EFA17A3-467F-436E-8AEF-1A72CB334E5C}" dt="2021-02-05T03:17:02.813" v="726" actId="20577"/>
        <pc:sldMkLst>
          <pc:docMk/>
          <pc:sldMk cId="2880259574" sldId="265"/>
        </pc:sldMkLst>
        <pc:spChg chg="mod">
          <ac:chgData name="Bruce Herring" userId="da3c994283af7ec4" providerId="LiveId" clId="{1EFA17A3-467F-436E-8AEF-1A72CB334E5C}" dt="2021-02-05T03:17:02.813" v="726" actId="20577"/>
          <ac:spMkLst>
            <pc:docMk/>
            <pc:sldMk cId="2880259574" sldId="265"/>
            <ac:spMk id="116" creationId="{00000000-0000-0000-0000-000000000000}"/>
          </ac:spMkLst>
        </pc:spChg>
      </pc:sldChg>
      <pc:sldChg chg="modSp add mod">
        <pc:chgData name="Bruce Herring" userId="da3c994283af7ec4" providerId="LiveId" clId="{1EFA17A3-467F-436E-8AEF-1A72CB334E5C}" dt="2021-02-05T03:23:22.889" v="1342" actId="20577"/>
        <pc:sldMkLst>
          <pc:docMk/>
          <pc:sldMk cId="4278880502" sldId="266"/>
        </pc:sldMkLst>
        <pc:spChg chg="mod">
          <ac:chgData name="Bruce Herring" userId="da3c994283af7ec4" providerId="LiveId" clId="{1EFA17A3-467F-436E-8AEF-1A72CB334E5C}" dt="2021-02-05T03:23:22.889" v="1342" actId="20577"/>
          <ac:spMkLst>
            <pc:docMk/>
            <pc:sldMk cId="4278880502" sldId="266"/>
            <ac:spMk id="1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b6744271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b6744271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9e78deb3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9e78deb3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a9231101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a9231101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66bb4ee3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66bb4ee3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332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66bb4ee3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66bb4ee3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6a52bd4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6a52bd4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6a52bd4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6a52bd4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541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b6744271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b6744271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b6744271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b6744271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174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b0956d2b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b0956d2b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b0956d2b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b0956d2b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026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-125" y="0"/>
            <a:ext cx="4316900" cy="4887028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4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315425" y="1286175"/>
            <a:ext cx="3706500" cy="26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>
                <a:solidFill>
                  <a:srgbClr val="FFFFFF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>
                <a:solidFill>
                  <a:srgbClr val="FFFFFF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3"/>
          </p:nvPr>
        </p:nvSpPr>
        <p:spPr>
          <a:xfrm>
            <a:off x="315425" y="4089650"/>
            <a:ext cx="3706500" cy="808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4840017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4839900" y="0"/>
            <a:ext cx="4316900" cy="4887028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90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264725" y="5009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1275" y="500925"/>
            <a:ext cx="4166400" cy="44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5192225" y="1286175"/>
            <a:ext cx="3706500" cy="26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>
                <a:solidFill>
                  <a:srgbClr val="FFFFFF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>
                <a:solidFill>
                  <a:srgbClr val="FFFFFF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>
                <a:solidFill>
                  <a:srgbClr val="FFFFFF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1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5192225" y="4089650"/>
            <a:ext cx="3706500" cy="808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Session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4294967295"/>
          </p:nvPr>
        </p:nvSpPr>
        <p:spPr>
          <a:xfrm>
            <a:off x="4759575" y="3528444"/>
            <a:ext cx="3706500" cy="6807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participation is a significant part of your grade (20%). This includes in class activities and the problem solving session.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4294967295"/>
          </p:nvPr>
        </p:nvSpPr>
        <p:spPr>
          <a:xfrm>
            <a:off x="4759575" y="4315619"/>
            <a:ext cx="3706500" cy="6807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Course Assistants will grade your participation by verifying that you pushed your solutions before the end of the class period each day.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574" y="1386736"/>
            <a:ext cx="3706500" cy="2035232"/>
          </a:xfrm>
          <a:prstGeom prst="rect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3" name="Google Shape;73;p13"/>
          <p:cNvSpPr txBox="1"/>
          <p:nvPr/>
        </p:nvSpPr>
        <p:spPr>
          <a:xfrm>
            <a:off x="311700" y="1505700"/>
            <a:ext cx="4128000" cy="3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The remainder of today’s class will comprise the </a:t>
            </a:r>
            <a:r>
              <a:rPr lang="en" sz="1300" b="1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problem solving session</a:t>
            </a: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" sz="1300" b="1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PSS</a:t>
            </a: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Your instructor will divide you into </a:t>
            </a:r>
            <a:r>
              <a:rPr lang="en" sz="1300" b="1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teams of 3 or 4 students</a:t>
            </a: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Each team will </a:t>
            </a:r>
            <a:r>
              <a:rPr lang="en" sz="1300" b="1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work together</a:t>
            </a: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to solve the following problems over the course of </a:t>
            </a:r>
            <a:r>
              <a:rPr lang="en" sz="1300" b="1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20-30 minutes</a:t>
            </a: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may work on paper, a white board, or digitally as determined by your instructor.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 will submit your solution by pushing it to GitHub before the end of class.</a:t>
            </a:r>
            <a:endParaRPr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Your instructor will go over the solution before the end of class.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If there is any time remaining, you will begin work on your homework assignment.</a:t>
            </a:r>
            <a:endParaRPr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Team Members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311700" y="3182100"/>
            <a:ext cx="39999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 the name of each of your problem solving team members here.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Do not forget to </a:t>
            </a:r>
            <a:r>
              <a:rPr lang="en" b="1" i="1">
                <a:solidFill>
                  <a:srgbClr val="FF0000"/>
                </a:solidFill>
              </a:rPr>
              <a:t>add every team member’s name</a:t>
            </a:r>
            <a:r>
              <a:rPr lang="en"/>
              <a:t>! Your instructor (or course assistant) may or may not use this to determine whether or not you participated in the problem solving session.</a:t>
            </a: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aphicFrame>
        <p:nvGraphicFramePr>
          <p:cNvPr id="81" name="Google Shape;81;p14"/>
          <p:cNvGraphicFramePr/>
          <p:nvPr/>
        </p:nvGraphicFramePr>
        <p:xfrm>
          <a:off x="4665300" y="1445175"/>
          <a:ext cx="3999900" cy="3467050"/>
        </p:xfrm>
        <a:graphic>
          <a:graphicData uri="http://schemas.openxmlformats.org/drawingml/2006/table">
            <a:tbl>
              <a:tblPr>
                <a:noFill/>
                <a:tableStyleId>{236F6A49-EFB2-4250-887D-481D5DE7B877}</a:tableStyleId>
              </a:tblPr>
              <a:tblGrid>
                <a:gridCol w="399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0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2" name="Google Shape;82;p14"/>
          <p:cNvPicPr preferRelativeResize="0"/>
          <p:nvPr/>
        </p:nvPicPr>
        <p:blipFill rotWithShape="1">
          <a:blip r:embed="rId3">
            <a:alphaModFix/>
          </a:blip>
          <a:srcRect t="24189" b="11851"/>
          <a:stretch/>
        </p:blipFill>
        <p:spPr>
          <a:xfrm>
            <a:off x="331482" y="1445225"/>
            <a:ext cx="3827715" cy="1730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166175" y="1505700"/>
            <a:ext cx="4145400" cy="31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Create a book management system for a small local library. The library allows patrons to check out books from the library. Patrons can check out up to 3 books at any given time. When a book is returned, it is added back to the library's shelves.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 books are cataloged by title and author. There are multiple copies of some books and the library's entire catalog of books is stored in a text file. Patrons are tracked by their name and are not allowed to check out two or more copies of the same book.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library should provide the ability to checkout and return books using a patron's name and a book's title.</a:t>
            </a:r>
            <a:endParaRPr sz="1400"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4294967295"/>
          </p:nvPr>
        </p:nvSpPr>
        <p:spPr>
          <a:xfrm>
            <a:off x="4916175" y="3939350"/>
            <a:ext cx="3706500" cy="808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assignment uses the same problem statement as the last class's. We will be finishing the implementation this time.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175" y="1373816"/>
            <a:ext cx="3706500" cy="246853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1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2"/>
          </p:nvPr>
        </p:nvSpPr>
        <p:spPr>
          <a:xfrm>
            <a:off x="315425" y="1286175"/>
            <a:ext cx="3706500" cy="26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Draw a class diagram for the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">
                <a:solidFill>
                  <a:schemeClr val="lt1"/>
                </a:solidFill>
              </a:rPr>
              <a:t> class. Add associations to each of the classes you have already created diagrams for. Include a picture of the completed UML to the left.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Associations for the classes will be lines between the classes that know about each other. </a:t>
            </a:r>
            <a:endParaRPr sz="1200"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If the knowledge is one-directional, add an arrow pointing from the knowing class to the other.</a:t>
            </a:r>
            <a:endParaRPr sz="120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419600" y="0"/>
            <a:ext cx="454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4644675" y="308950"/>
            <a:ext cx="4166400" cy="4624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0436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1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2"/>
          </p:nvPr>
        </p:nvSpPr>
        <p:spPr>
          <a:xfrm>
            <a:off x="315425" y="1286175"/>
            <a:ext cx="3706500" cy="26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Draw a class diagram for the </a:t>
            </a: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">
                <a:solidFill>
                  <a:schemeClr val="lt1"/>
                </a:solidFill>
              </a:rPr>
              <a:t> class. Add associations to each of the classes you have already created diagrams for. Include a picture of the completed UML to the left.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Associations for the classes will be lines between the classes that know about each other. </a:t>
            </a:r>
            <a:endParaRPr sz="1200"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If the knowledge is one-directional, add an arrow pointing from the knowing class to the other.</a:t>
            </a:r>
            <a:endParaRPr sz="120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419600" y="0"/>
            <a:ext cx="454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4644675" y="308950"/>
            <a:ext cx="4166400" cy="4624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30135C-CF92-4F01-9E1A-73B5BC6C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107" y="329969"/>
            <a:ext cx="4122796" cy="318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5188525" y="1961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2</a:t>
            </a:r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90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5188500" y="905175"/>
            <a:ext cx="3706500" cy="28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iteration of the assignment, patrons can check out up to 3 books. What data structure will you use to store the patrons books? Add a variable of that type to the code on the left.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the code to add a new book to the patrons selection of checked out books.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patron already has 3 books checked out, throw an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IllegalArgumentException</a:t>
            </a:r>
            <a:r>
              <a:rPr lang="en"/>
              <a:t>.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12450" y="281575"/>
            <a:ext cx="4317000" cy="4381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public class Patron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// Data structure to hold books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public void addBook (Book book)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5188525" y="1961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2</a:t>
            </a:r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90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5188500" y="905175"/>
            <a:ext cx="3706500" cy="28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iteration of the assignment, patrons can check out up to 3 books. What data structure will you use to store the patrons books? Add a variable of that type to the code on the left.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the code to add a new book to the patrons selection of checked out books.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patron already has 3 books checked out, throw an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IllegalArgumentException</a:t>
            </a:r>
            <a:r>
              <a:rPr lang="en"/>
              <a:t>.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12450" y="281575"/>
            <a:ext cx="4317000" cy="4381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public class Patron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// Data structure to hold books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private Book[] books;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private int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bookCount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public void addBook (Book book)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bookCount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books.length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throw new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IllegalArgumentException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    ("Already have max books checked out");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for (int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books.length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++)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if (books[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] == null)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  books[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] = book;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200" dirty="0" err="1">
                <a:latin typeface="Consolas"/>
                <a:ea typeface="Consolas"/>
                <a:cs typeface="Consolas"/>
                <a:sym typeface="Consolas"/>
              </a:rPr>
              <a:t>bookCount</a:t>
            </a: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++;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  return;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5436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311725" y="1961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3</a:t>
            </a:r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72458" y="471973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217050" y="1068775"/>
            <a:ext cx="3902700" cy="3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 order to check out a book from the library, you first must be able to find an available book. Write a method that finds an available copy of a specified book.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If the expected book is unavailable return null.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4451050" y="196125"/>
            <a:ext cx="4317000" cy="479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public class Library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private Book[] libraryBooks;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public Book findBook (String bookTitle)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// Add code here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311725" y="1961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3</a:t>
            </a:r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72458" y="471973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217050" y="1068775"/>
            <a:ext cx="3902700" cy="3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 order to check out a book from the library, you first must be able to find an available book. Write a method that finds an available copy of a specified book.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If the expected book is unavailable return null.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4451050" y="196125"/>
            <a:ext cx="4317000" cy="479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public class Library {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  private Book[] libraryBooks;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  public Book findBook (String bookTitle) {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    for (Book book: shelves)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      if (book.getTitle ().equals (bookTitle) &amp;&amp;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          book.getStatus () == BookStatus.AVAILABLE) {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/>
                <a:ea typeface="Consolas"/>
                <a:cs typeface="Consolas"/>
                <a:sym typeface="Consolas"/>
              </a:rPr>
              <a:t>        return book;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8025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90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5192225" y="1199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4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2"/>
          </p:nvPr>
        </p:nvSpPr>
        <p:spPr>
          <a:xfrm>
            <a:off x="5014350" y="903075"/>
            <a:ext cx="3940800" cy="3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of the book management system will be able to checkout a book by specifying the book's title and a patron's name. Given the class declaration snippet below, list the steps necessary to successfully checkout a book.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not write code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public class Library {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private Book[] libraryBooks;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private Patron[] patrons;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public void checkoutBook (String patronName,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                         String BookTitle){ 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   // List steps for this method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453675" y="272325"/>
            <a:ext cx="4166400" cy="4432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</a:rPr>
              <a:t>No Code!!</a:t>
            </a:r>
            <a:endParaRPr sz="12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000000"/>
                </a:solidFill>
              </a:rPr>
              <a:t>Checkout Steps:</a:t>
            </a:r>
            <a:endParaRPr sz="1200" i="1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90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5192225" y="119925"/>
            <a:ext cx="3706500" cy="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 4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2"/>
          </p:nvPr>
        </p:nvSpPr>
        <p:spPr>
          <a:xfrm>
            <a:off x="5014350" y="903075"/>
            <a:ext cx="3940800" cy="3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of the book management system will be able to checkout a book by specifying the book's title and a patron's name. Given the class declaration snippet below, list the steps necessary to successfully checkout a book.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not write code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public class Library {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private Book[] libraryBooks;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private Patron[] patrons;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public void checkoutBook (String patronName,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                         String BookTitle){ 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    // List steps for this method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453675" y="272325"/>
            <a:ext cx="4166400" cy="44322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</a:rPr>
              <a:t>No Code!!</a:t>
            </a:r>
            <a:endParaRPr sz="1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solidFill>
                  <a:srgbClr val="000000"/>
                </a:solidFill>
              </a:rPr>
              <a:t>Checkout Steps:</a:t>
            </a:r>
            <a:endParaRPr sz="1200" i="1" dirty="0">
              <a:solidFill>
                <a:srgbClr val="00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Find the patron in the libraries list of patrons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If patron is not in the list of patrons, add them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Find the book in the libraries list of books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If the book isn't part of the library, throw an exception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Verify the patron doesn't already have the book checked out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Throw and exception if the book is already checked out by the patron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lang="en-US" sz="1200" dirty="0">
                <a:solidFill>
                  <a:srgbClr val="000000"/>
                </a:solidFill>
              </a:rPr>
              <a:t>Add the book to the patrons list of checked out books (which marks the book as checked out)</a:t>
            </a:r>
          </a:p>
        </p:txBody>
      </p:sp>
    </p:spTree>
    <p:extLst>
      <p:ext uri="{BB962C8B-B14F-4D97-AF65-F5344CB8AC3E}">
        <p14:creationId xmlns:p14="http://schemas.microsoft.com/office/powerpoint/2010/main" val="4278880502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Microsoft Office PowerPoint</Application>
  <PresentationFormat>On-screen Show (16:9)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Consolas</vt:lpstr>
      <vt:lpstr>Cambria</vt:lpstr>
      <vt:lpstr>Arial</vt:lpstr>
      <vt:lpstr>Courier New</vt:lpstr>
      <vt:lpstr>Merriweather</vt:lpstr>
      <vt:lpstr>Roboto</vt:lpstr>
      <vt:lpstr>Paradigm</vt:lpstr>
      <vt:lpstr>Problem Solving Session</vt:lpstr>
      <vt:lpstr>Problem Solving Team Members</vt:lpstr>
      <vt:lpstr>Problem Statement </vt:lpstr>
      <vt:lpstr>Problem Solving 1</vt:lpstr>
      <vt:lpstr>Problem Solving 1</vt:lpstr>
      <vt:lpstr>Problem Solving 2</vt:lpstr>
      <vt:lpstr>Problem Solving 2</vt:lpstr>
      <vt:lpstr>Problem Solving 3</vt:lpstr>
      <vt:lpstr>Problem Solving 3</vt:lpstr>
      <vt:lpstr>Problem Solving 4</vt:lpstr>
      <vt:lpstr>Problem Solving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Session</dc:title>
  <cp:lastModifiedBy>Bruce Herring</cp:lastModifiedBy>
  <cp:revision>1</cp:revision>
  <dcterms:modified xsi:type="dcterms:W3CDTF">2021-02-05T03:23:45Z</dcterms:modified>
</cp:coreProperties>
</file>