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9" r:id="rId5"/>
    <p:sldMasterId id="2147483690" r:id="rId6"/>
    <p:sldMasterId id="214748369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Lst>
  <p:sldSz cy="5143500" cx="9144000"/>
  <p:notesSz cx="6858000" cy="9144000"/>
  <p:embeddedFontLst>
    <p:embeddedFont>
      <p:font typeface="Roboto"/>
      <p:regular r:id="rId76"/>
      <p:bold r:id="rId77"/>
      <p:italic r:id="rId78"/>
      <p:boldItalic r:id="rId79"/>
    </p:embeddedFont>
    <p:embeddedFont>
      <p:font typeface="Shadows Into Light"/>
      <p:regular r:id="rId80"/>
    </p:embeddedFont>
    <p:embeddedFont>
      <p:font typeface="Merriweather"/>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B0A160-8D32-47A0-BB77-B2D693EC1B64}">
  <a:tblStyle styleId="{DCB0A160-8D32-47A0-BB77-B2D693EC1B6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font" Target="fonts/Merriweather-boldItalic.fntdata"/><Relationship Id="rId83" Type="http://schemas.openxmlformats.org/officeDocument/2006/relationships/font" Target="fonts/Merriweather-italic.fntdata"/><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ShadowsIntoLight-regular.fntdata"/><Relationship Id="rId82" Type="http://schemas.openxmlformats.org/officeDocument/2006/relationships/font" Target="fonts/Merriweather-bold.fntdata"/><Relationship Id="rId81" Type="http://schemas.openxmlformats.org/officeDocument/2006/relationships/font" Target="fonts/Merriweather-regular.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slide" Target="slides/slide67.xml"/><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77" Type="http://schemas.openxmlformats.org/officeDocument/2006/relationships/font" Target="fonts/Roboto-bold.fntdata"/><Relationship Id="rId32" Type="http://schemas.openxmlformats.org/officeDocument/2006/relationships/slide" Target="slides/slide24.xml"/><Relationship Id="rId76" Type="http://schemas.openxmlformats.org/officeDocument/2006/relationships/font" Target="fonts/Roboto-regular.fntdata"/><Relationship Id="rId35" Type="http://schemas.openxmlformats.org/officeDocument/2006/relationships/slide" Target="slides/slide27.xml"/><Relationship Id="rId79" Type="http://schemas.openxmlformats.org/officeDocument/2006/relationships/font" Target="fonts/Roboto-boldItalic.fntdata"/><Relationship Id="rId34" Type="http://schemas.openxmlformats.org/officeDocument/2006/relationships/slide" Target="slides/slide26.xml"/><Relationship Id="rId78" Type="http://schemas.openxmlformats.org/officeDocument/2006/relationships/font" Target="fonts/Roboto-italic.fntdata"/><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eb0c1e07d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eb0c1e07d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7873e0b6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7873e0b6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c31bc1ac9f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c31bc1ac9f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c31bc1ac9f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c31bc1ac9f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2257798793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225779879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2257798793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2257798793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a9338e30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a9338e30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c31bc1ac9f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c31bc1ac9f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c31bc1ac9f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c31bc1ac9f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a9338e306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a9338e306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c31bc1ac9f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c31bc1ac9f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283e7cf784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283e7cf784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a9338e306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a9338e306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c31bc1ac9f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c31bc1ac9f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eb0c1e07d5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eb0c1e07d5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c4ce59d66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c4ce59d6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c31bc1ac9f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c31bc1ac9f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a9338e306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a9338e306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c4ce59d6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c4ce59d6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a9338e306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a9338e306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a9338e306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a9338e306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c4ce59d66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c4ce59d66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a9338e306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a9338e306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c4ce59d66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c4ce59d66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c4ce59d66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c4ce59d66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c4ce59d66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c4ce59d66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c4ce59d66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c4ce59d66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c4ce59d667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1c4ce59d66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c4ce59d667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c4ce59d667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c4ce59d667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c4ce59d667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c31bc1ac9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1c31bc1ac9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c4ce59d66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1c4ce59d66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c31bc1ac9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c31bc1ac9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c4ce59d66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c4ce59d66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1c4ce59d66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1c4ce59d66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c4ce59d66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c4ce59d66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2d75d6e606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2d75d6e606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c31bc1ac9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1c31bc1ac9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e9bfb79fd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e9bfb79fd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1e9bfb79fd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1e9bfb79fd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c31bc1ac9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1c31bc1ac9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1c31bc1ac9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1c31bc1ac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c757c7c69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c757c7c69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1c757c7c69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1c757c7c69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c757c7c69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1c757c7c69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22b8e1c7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22b8e1c7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1c757c7c69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1c757c7c69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students ask why we are not using GitHub - draw.io does not see their assignment repositories.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c757c7c69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c757c7c69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1c31bc1ac9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1c31bc1ac9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1c757c7c694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1c757c7c694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1c757c7c694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1c757c7c694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1c757c7c69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1c757c7c69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1c757c7c69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1c757c7c69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1c757c7c69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1c757c7c69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1c757c7c69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1c757c7c69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1c31bc1ac9f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1c31bc1ac9f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1c757c7c694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1c757c7c694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1c31bc1ac9f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1c31bc1ac9f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1c757c7c694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1c757c7c694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1c31bc1ac9f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1c31bc1ac9f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1c757c7c694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1c757c7c694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1c31bc1ac9f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1c31bc1ac9f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1c757c7c694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1c757c7c694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2d7c88f170c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2d7c88f170c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d7c88f170c_1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d7c88f170c_1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1c31bc1ac9f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1c31bc1ac9f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4"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8" name="Google Shape;6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9" name="Shape 69"/>
        <p:cNvGrpSpPr/>
        <p:nvPr/>
      </p:nvGrpSpPr>
      <p:grpSpPr>
        <a:xfrm>
          <a:off x="0" y="0"/>
          <a:ext cx="0" cy="0"/>
          <a:chOff x="0" y="0"/>
          <a:chExt cx="0" cy="0"/>
        </a:xfrm>
      </p:grpSpPr>
      <p:sp>
        <p:nvSpPr>
          <p:cNvPr id="70" name="Google Shape;7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2" name="Google Shape;7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73" name="Shape 73"/>
        <p:cNvGrpSpPr/>
        <p:nvPr/>
      </p:nvGrpSpPr>
      <p:grpSpPr>
        <a:xfrm>
          <a:off x="0" y="0"/>
          <a:ext cx="0" cy="0"/>
          <a:chOff x="0" y="0"/>
          <a:chExt cx="0" cy="0"/>
        </a:xfrm>
      </p:grpSpPr>
      <p:sp>
        <p:nvSpPr>
          <p:cNvPr id="74" name="Google Shape;74;p15"/>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76" name="Google Shape;76;p15"/>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5"/>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8" name="Google Shape;78;p15"/>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80" name="Google Shape;80;p15"/>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82" name="Google Shape;82;p15"/>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7" name="Shape 87"/>
        <p:cNvGrpSpPr/>
        <p:nvPr/>
      </p:nvGrpSpPr>
      <p:grpSpPr>
        <a:xfrm>
          <a:off x="0" y="0"/>
          <a:ext cx="0" cy="0"/>
          <a:chOff x="0" y="0"/>
          <a:chExt cx="0" cy="0"/>
        </a:xfrm>
      </p:grpSpPr>
      <p:sp>
        <p:nvSpPr>
          <p:cNvPr id="88" name="Google Shape;88;p17"/>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89" name="Google Shape;89;p17"/>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0" name="Google Shape;90;p17"/>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2" name="Shape 92"/>
        <p:cNvGrpSpPr/>
        <p:nvPr/>
      </p:nvGrpSpPr>
      <p:grpSpPr>
        <a:xfrm>
          <a:off x="0" y="0"/>
          <a:ext cx="0" cy="0"/>
          <a:chOff x="0" y="0"/>
          <a:chExt cx="0" cy="0"/>
        </a:xfrm>
      </p:grpSpPr>
      <p:sp>
        <p:nvSpPr>
          <p:cNvPr id="93" name="Google Shape;93;p18"/>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95" name="Google Shape;95;p18"/>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7" name="Shape 97"/>
        <p:cNvGrpSpPr/>
        <p:nvPr/>
      </p:nvGrpSpPr>
      <p:grpSpPr>
        <a:xfrm>
          <a:off x="0" y="0"/>
          <a:ext cx="0" cy="0"/>
          <a:chOff x="0" y="0"/>
          <a:chExt cx="0" cy="0"/>
        </a:xfrm>
      </p:grpSpPr>
      <p:sp>
        <p:nvSpPr>
          <p:cNvPr id="98" name="Google Shape;98;p19"/>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99" name="Google Shape;99;p19"/>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9"/>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1" name="Google Shape;101;p19"/>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9"/>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04" name="Google Shape;104;p19"/>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5"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8" name="Google Shape;108;p20"/>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9" name="Google Shape;109;p20"/>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0" name="Google Shape;11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4" name="Google Shape;11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5"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18" name="Google Shape;118;p2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2"/>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0" name="Google Shape;120;p22"/>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1" name="Google Shape;121;p22"/>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22" name="Google Shape;122;p22"/>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23" name="Shape 123"/>
        <p:cNvGrpSpPr/>
        <p:nvPr/>
      </p:nvGrpSpPr>
      <p:grpSpPr>
        <a:xfrm>
          <a:off x="0" y="0"/>
          <a:ext cx="0" cy="0"/>
          <a:chOff x="0" y="0"/>
          <a:chExt cx="0" cy="0"/>
        </a:xfrm>
      </p:grpSpPr>
      <p:sp>
        <p:nvSpPr>
          <p:cNvPr id="124" name="Google Shape;124;p23"/>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4"/>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9" name="Google Shape;129;p24"/>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30" name="Google Shape;130;p24"/>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35" name="Google Shape;135;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6" name="Shape 136"/>
        <p:cNvGrpSpPr/>
        <p:nvPr/>
      </p:nvGrpSpPr>
      <p:grpSpPr>
        <a:xfrm>
          <a:off x="0" y="0"/>
          <a:ext cx="0" cy="0"/>
          <a:chOff x="0" y="0"/>
          <a:chExt cx="0" cy="0"/>
        </a:xfrm>
      </p:grpSpPr>
      <p:sp>
        <p:nvSpPr>
          <p:cNvPr id="137" name="Google Shape;137;p26"/>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139" name="Google Shape;13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42" name="Shape 142"/>
        <p:cNvGrpSpPr/>
        <p:nvPr/>
      </p:nvGrpSpPr>
      <p:grpSpPr>
        <a:xfrm>
          <a:off x="0" y="0"/>
          <a:ext cx="0" cy="0"/>
          <a:chOff x="0" y="0"/>
          <a:chExt cx="0" cy="0"/>
        </a:xfrm>
      </p:grpSpPr>
      <p:cxnSp>
        <p:nvCxnSpPr>
          <p:cNvPr id="143" name="Google Shape;143;p28"/>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144" name="Google Shape;144;p28"/>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145" name="Google Shape;145;p28"/>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46" name="Google Shape;146;p28"/>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7" name="Google Shape;147;p28"/>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8" name="Google Shape;148;p2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1_One column text">
    <p:spTree>
      <p:nvGrpSpPr>
        <p:cNvPr id="149" name="Shape 149"/>
        <p:cNvGrpSpPr/>
        <p:nvPr/>
      </p:nvGrpSpPr>
      <p:grpSpPr>
        <a:xfrm>
          <a:off x="0" y="0"/>
          <a:ext cx="0" cy="0"/>
          <a:chOff x="0" y="0"/>
          <a:chExt cx="0" cy="0"/>
        </a:xfrm>
      </p:grpSpPr>
      <p:sp>
        <p:nvSpPr>
          <p:cNvPr id="150" name="Google Shape;150;p29"/>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9"/>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52" name="Google Shape;152;p29"/>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9"/>
          <p:cNvSpPr txBox="1"/>
          <p:nvPr>
            <p:ph type="title"/>
          </p:nvPr>
        </p:nvSpPr>
        <p:spPr>
          <a:xfrm>
            <a:off x="51922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54" name="Google Shape;154;p29"/>
          <p:cNvSpPr txBox="1"/>
          <p:nvPr>
            <p:ph idx="1"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228600" lvl="0" marL="457200" rtl="0" algn="l">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indent="-298450" lvl="1" marL="914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
        <p:nvSpPr>
          <p:cNvPr id="155" name="Google Shape;155;p29"/>
          <p:cNvSpPr txBox="1"/>
          <p:nvPr>
            <p:ph idx="2" type="body"/>
          </p:nvPr>
        </p:nvSpPr>
        <p:spPr>
          <a:xfrm>
            <a:off x="301625" y="501650"/>
            <a:ext cx="4165500" cy="4430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56" name="Google Shape;156;p29"/>
          <p:cNvSpPr txBox="1"/>
          <p:nvPr>
            <p:ph idx="3" type="body"/>
          </p:nvPr>
        </p:nvSpPr>
        <p:spPr>
          <a:xfrm>
            <a:off x="5192226" y="1278143"/>
            <a:ext cx="3706500" cy="26769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chemeClr val="lt1"/>
              </a:buClr>
              <a:buSzPts val="1300"/>
              <a:buChar char="●"/>
              <a:defRPr>
                <a:solidFill>
                  <a:schemeClr val="lt1"/>
                </a:solidFill>
              </a:defRPr>
            </a:lvl1pPr>
            <a:lvl2pPr indent="-298450" lvl="1" marL="914400" rtl="0" algn="l">
              <a:lnSpc>
                <a:spcPct val="115000"/>
              </a:lnSpc>
              <a:spcBef>
                <a:spcPts val="0"/>
              </a:spcBef>
              <a:spcAft>
                <a:spcPts val="0"/>
              </a:spcAft>
              <a:buClr>
                <a:schemeClr val="lt1"/>
              </a:buClr>
              <a:buSzPts val="1100"/>
              <a:buChar char="○"/>
              <a:defRPr>
                <a:solidFill>
                  <a:schemeClr val="lt1"/>
                </a:solidFill>
              </a:defRPr>
            </a:lvl2pPr>
            <a:lvl3pPr indent="-298450" lvl="2" marL="1371600" rtl="0" algn="l">
              <a:lnSpc>
                <a:spcPct val="115000"/>
              </a:lnSpc>
              <a:spcBef>
                <a:spcPts val="0"/>
              </a:spcBef>
              <a:spcAft>
                <a:spcPts val="0"/>
              </a:spcAft>
              <a:buClr>
                <a:schemeClr val="lt1"/>
              </a:buClr>
              <a:buSzPts val="1100"/>
              <a:buChar char="■"/>
              <a:defRPr>
                <a:solidFill>
                  <a:schemeClr val="lt1"/>
                </a:solidFill>
              </a:defRPr>
            </a:lvl3pPr>
            <a:lvl4pPr indent="-298450" lvl="3" marL="1828800" rtl="0" algn="l">
              <a:lnSpc>
                <a:spcPct val="115000"/>
              </a:lnSpc>
              <a:spcBef>
                <a:spcPts val="0"/>
              </a:spcBef>
              <a:spcAft>
                <a:spcPts val="0"/>
              </a:spcAft>
              <a:buClr>
                <a:schemeClr val="lt1"/>
              </a:buClr>
              <a:buSzPts val="1100"/>
              <a:buChar char="●"/>
              <a:defRPr>
                <a:solidFill>
                  <a:schemeClr val="lt1"/>
                </a:solidFill>
              </a:defRPr>
            </a:lvl4pPr>
            <a:lvl5pPr indent="-298450" lvl="4" marL="2286000" rtl="0" algn="l">
              <a:lnSpc>
                <a:spcPct val="115000"/>
              </a:lnSpc>
              <a:spcBef>
                <a:spcPts val="0"/>
              </a:spcBef>
              <a:spcAft>
                <a:spcPts val="0"/>
              </a:spcAft>
              <a:buClr>
                <a:schemeClr val="lt1"/>
              </a:buClr>
              <a:buSzPts val="1100"/>
              <a:buChar char="○"/>
              <a:defRPr>
                <a:solidFill>
                  <a:schemeClr val="lt1"/>
                </a:solidFill>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_2">
    <p:bg>
      <p:bgPr>
        <a:solidFill>
          <a:srgbClr val="FFFFFF"/>
        </a:solidFill>
      </p:bgPr>
    </p:bg>
    <p:spTree>
      <p:nvGrpSpPr>
        <p:cNvPr id="157" name="Shape 157"/>
        <p:cNvGrpSpPr/>
        <p:nvPr/>
      </p:nvGrpSpPr>
      <p:grpSpPr>
        <a:xfrm>
          <a:off x="0" y="0"/>
          <a:ext cx="0" cy="0"/>
          <a:chOff x="0" y="0"/>
          <a:chExt cx="0" cy="0"/>
        </a:xfrm>
      </p:grpSpPr>
      <p:sp>
        <p:nvSpPr>
          <p:cNvPr id="158" name="Google Shape;158;p30"/>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0"/>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0"/>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0"/>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0"/>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3600"/>
              <a:buNone/>
              <a:defRPr b="1" sz="3600">
                <a:solidFill>
                  <a:schemeClr val="dk1"/>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63" name="Google Shape;163;p30"/>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64" name="Google Shape;16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65" name="Google Shape;165;p30"/>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66" name="Google Shape;166;p30"/>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67" name="Google Shape;167;p30"/>
          <p:cNvSpPr txBox="1"/>
          <p:nvPr>
            <p:ph idx="4" type="title"/>
          </p:nvPr>
        </p:nvSpPr>
        <p:spPr>
          <a:xfrm>
            <a:off x="365422" y="170425"/>
            <a:ext cx="1063500" cy="539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i="1">
                <a:solidFill>
                  <a:srgbClr val="FFFFFF"/>
                </a:solidFill>
                <a:latin typeface="Arial"/>
                <a:ea typeface="Arial"/>
                <a:cs typeface="Arial"/>
                <a:sym typeface="Arial"/>
              </a:defRPr>
            </a:lvl1pPr>
            <a:lvl2pPr lvl="1" rtl="0" algn="l">
              <a:lnSpc>
                <a:spcPct val="100000"/>
              </a:lnSpc>
              <a:spcBef>
                <a:spcPts val="0"/>
              </a:spcBef>
              <a:spcAft>
                <a:spcPts val="0"/>
              </a:spcAft>
              <a:buSzPts val="2800"/>
              <a:buNone/>
              <a:defRPr>
                <a:latin typeface="Roboto"/>
                <a:ea typeface="Roboto"/>
                <a:cs typeface="Roboto"/>
                <a:sym typeface="Roboto"/>
              </a:defRPr>
            </a:lvl2pPr>
            <a:lvl3pPr lvl="2" rtl="0" algn="l">
              <a:lnSpc>
                <a:spcPct val="100000"/>
              </a:lnSpc>
              <a:spcBef>
                <a:spcPts val="0"/>
              </a:spcBef>
              <a:spcAft>
                <a:spcPts val="0"/>
              </a:spcAft>
              <a:buSzPts val="2800"/>
              <a:buNone/>
              <a:defRPr>
                <a:latin typeface="Roboto"/>
                <a:ea typeface="Roboto"/>
                <a:cs typeface="Roboto"/>
                <a:sym typeface="Roboto"/>
              </a:defRPr>
            </a:lvl3pPr>
            <a:lvl4pPr lvl="3" rtl="0" algn="l">
              <a:lnSpc>
                <a:spcPct val="100000"/>
              </a:lnSpc>
              <a:spcBef>
                <a:spcPts val="0"/>
              </a:spcBef>
              <a:spcAft>
                <a:spcPts val="0"/>
              </a:spcAft>
              <a:buSzPts val="2800"/>
              <a:buNone/>
              <a:defRPr>
                <a:latin typeface="Roboto"/>
                <a:ea typeface="Roboto"/>
                <a:cs typeface="Roboto"/>
                <a:sym typeface="Roboto"/>
              </a:defRPr>
            </a:lvl4pPr>
            <a:lvl5pPr lvl="4" rtl="0" algn="l">
              <a:lnSpc>
                <a:spcPct val="100000"/>
              </a:lnSpc>
              <a:spcBef>
                <a:spcPts val="0"/>
              </a:spcBef>
              <a:spcAft>
                <a:spcPts val="0"/>
              </a:spcAft>
              <a:buSzPts val="2800"/>
              <a:buNone/>
              <a:defRPr>
                <a:latin typeface="Roboto"/>
                <a:ea typeface="Roboto"/>
                <a:cs typeface="Roboto"/>
                <a:sym typeface="Roboto"/>
              </a:defRPr>
            </a:lvl5pPr>
            <a:lvl6pPr lvl="5" rtl="0" algn="l">
              <a:lnSpc>
                <a:spcPct val="100000"/>
              </a:lnSpc>
              <a:spcBef>
                <a:spcPts val="0"/>
              </a:spcBef>
              <a:spcAft>
                <a:spcPts val="0"/>
              </a:spcAft>
              <a:buSzPts val="2800"/>
              <a:buNone/>
              <a:defRPr>
                <a:latin typeface="Roboto"/>
                <a:ea typeface="Roboto"/>
                <a:cs typeface="Roboto"/>
                <a:sym typeface="Roboto"/>
              </a:defRPr>
            </a:lvl6pPr>
            <a:lvl7pPr lvl="6" rtl="0" algn="l">
              <a:lnSpc>
                <a:spcPct val="100000"/>
              </a:lnSpc>
              <a:spcBef>
                <a:spcPts val="0"/>
              </a:spcBef>
              <a:spcAft>
                <a:spcPts val="0"/>
              </a:spcAft>
              <a:buSzPts val="2800"/>
              <a:buNone/>
              <a:defRPr>
                <a:latin typeface="Roboto"/>
                <a:ea typeface="Roboto"/>
                <a:cs typeface="Roboto"/>
                <a:sym typeface="Roboto"/>
              </a:defRPr>
            </a:lvl7pPr>
            <a:lvl8pPr lvl="7" rtl="0" algn="l">
              <a:lnSpc>
                <a:spcPct val="100000"/>
              </a:lnSpc>
              <a:spcBef>
                <a:spcPts val="0"/>
              </a:spcBef>
              <a:spcAft>
                <a:spcPts val="0"/>
              </a:spcAft>
              <a:buSzPts val="2800"/>
              <a:buNone/>
              <a:defRPr>
                <a:latin typeface="Roboto"/>
                <a:ea typeface="Roboto"/>
                <a:cs typeface="Roboto"/>
                <a:sym typeface="Roboto"/>
              </a:defRPr>
            </a:lvl8pPr>
            <a:lvl9pPr lvl="8" rtl="0"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72" name="Shape 172"/>
        <p:cNvGrpSpPr/>
        <p:nvPr/>
      </p:nvGrpSpPr>
      <p:grpSpPr>
        <a:xfrm>
          <a:off x="0" y="0"/>
          <a:ext cx="0" cy="0"/>
          <a:chOff x="0" y="0"/>
          <a:chExt cx="0" cy="0"/>
        </a:xfrm>
      </p:grpSpPr>
      <p:sp>
        <p:nvSpPr>
          <p:cNvPr id="173" name="Google Shape;173;p3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74" name="Google Shape;174;p32"/>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5" name="Google Shape;175;p32"/>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76" name="Google Shape;176;p3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77" name="Shape 177"/>
        <p:cNvGrpSpPr/>
        <p:nvPr/>
      </p:nvGrpSpPr>
      <p:grpSpPr>
        <a:xfrm>
          <a:off x="0" y="0"/>
          <a:ext cx="0" cy="0"/>
          <a:chOff x="0" y="0"/>
          <a:chExt cx="0" cy="0"/>
        </a:xfrm>
      </p:grpSpPr>
      <p:sp>
        <p:nvSpPr>
          <p:cNvPr id="178" name="Google Shape;178;p3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79" name="Google Shape;179;p3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80" name="Google Shape;180;p33"/>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1" name="Google Shape;181;p3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2" name="Shape 182"/>
        <p:cNvGrpSpPr/>
        <p:nvPr/>
      </p:nvGrpSpPr>
      <p:grpSpPr>
        <a:xfrm>
          <a:off x="0" y="0"/>
          <a:ext cx="0" cy="0"/>
          <a:chOff x="0" y="0"/>
          <a:chExt cx="0" cy="0"/>
        </a:xfrm>
      </p:grpSpPr>
      <p:sp>
        <p:nvSpPr>
          <p:cNvPr id="183" name="Google Shape;183;p3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84" name="Google Shape;184;p3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4"/>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6" name="Google Shape;186;p34"/>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7" name="Google Shape;187;p3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4"/>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89" name="Google Shape;189;p3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0" name="Shape 190"/>
        <p:cNvGrpSpPr/>
        <p:nvPr/>
      </p:nvGrpSpPr>
      <p:grpSpPr>
        <a:xfrm>
          <a:off x="0" y="0"/>
          <a:ext cx="0" cy="0"/>
          <a:chOff x="0" y="0"/>
          <a:chExt cx="0" cy="0"/>
        </a:xfrm>
      </p:grpSpPr>
      <p:sp>
        <p:nvSpPr>
          <p:cNvPr id="191" name="Google Shape;191;p3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5"/>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3" name="Google Shape;193;p35"/>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4" name="Google Shape;194;p35"/>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5" name="Google Shape;195;p3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6" name="Shape 196"/>
        <p:cNvGrpSpPr/>
        <p:nvPr/>
      </p:nvGrpSpPr>
      <p:grpSpPr>
        <a:xfrm>
          <a:off x="0" y="0"/>
          <a:ext cx="0" cy="0"/>
          <a:chOff x="0" y="0"/>
          <a:chExt cx="0" cy="0"/>
        </a:xfrm>
      </p:grpSpPr>
      <p:sp>
        <p:nvSpPr>
          <p:cNvPr id="197" name="Google Shape;197;p36"/>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9" name="Google Shape;199;p3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0" name="Shape 200"/>
        <p:cNvGrpSpPr/>
        <p:nvPr/>
      </p:nvGrpSpPr>
      <p:grpSpPr>
        <a:xfrm>
          <a:off x="0" y="0"/>
          <a:ext cx="0" cy="0"/>
          <a:chOff x="0" y="0"/>
          <a:chExt cx="0" cy="0"/>
        </a:xfrm>
      </p:grpSpPr>
      <p:sp>
        <p:nvSpPr>
          <p:cNvPr id="201" name="Google Shape;201;p3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03" name="Google Shape;203;p37"/>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37"/>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5" name="Google Shape;205;p37"/>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6" name="Google Shape;206;p37"/>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07" name="Google Shape;207;p3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08" name="Shape 208"/>
        <p:cNvGrpSpPr/>
        <p:nvPr/>
      </p:nvGrpSpPr>
      <p:grpSpPr>
        <a:xfrm>
          <a:off x="0" y="0"/>
          <a:ext cx="0" cy="0"/>
          <a:chOff x="0" y="0"/>
          <a:chExt cx="0" cy="0"/>
        </a:xfrm>
      </p:grpSpPr>
      <p:sp>
        <p:nvSpPr>
          <p:cNvPr id="209" name="Google Shape;209;p38"/>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0" name="Google Shape;210;p3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1" name="Shape 211"/>
        <p:cNvGrpSpPr/>
        <p:nvPr/>
      </p:nvGrpSpPr>
      <p:grpSpPr>
        <a:xfrm>
          <a:off x="0" y="0"/>
          <a:ext cx="0" cy="0"/>
          <a:chOff x="0" y="0"/>
          <a:chExt cx="0" cy="0"/>
        </a:xfrm>
      </p:grpSpPr>
      <p:sp>
        <p:nvSpPr>
          <p:cNvPr id="212" name="Google Shape;212;p3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9"/>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14" name="Google Shape;214;p39"/>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215" name="Google Shape;215;p39"/>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16" name="Google Shape;216;p3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7" name="Shape 217"/>
        <p:cNvGrpSpPr/>
        <p:nvPr/>
      </p:nvGrpSpPr>
      <p:grpSpPr>
        <a:xfrm>
          <a:off x="0" y="0"/>
          <a:ext cx="0" cy="0"/>
          <a:chOff x="0" y="0"/>
          <a:chExt cx="0" cy="0"/>
        </a:xfrm>
      </p:grpSpPr>
      <p:sp>
        <p:nvSpPr>
          <p:cNvPr id="218" name="Google Shape;218;p4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0"/>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20" name="Google Shape;220;p4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21" name="Shape 221"/>
        <p:cNvGrpSpPr/>
        <p:nvPr/>
      </p:nvGrpSpPr>
      <p:grpSpPr>
        <a:xfrm>
          <a:off x="0" y="0"/>
          <a:ext cx="0" cy="0"/>
          <a:chOff x="0" y="0"/>
          <a:chExt cx="0" cy="0"/>
        </a:xfrm>
      </p:grpSpPr>
      <p:sp>
        <p:nvSpPr>
          <p:cNvPr id="222" name="Google Shape;222;p4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23" name="Google Shape;223;p41"/>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224" name="Google Shape;224;p4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5" name="Shape 225"/>
        <p:cNvGrpSpPr/>
        <p:nvPr/>
      </p:nvGrpSpPr>
      <p:grpSpPr>
        <a:xfrm>
          <a:off x="0" y="0"/>
          <a:ext cx="0" cy="0"/>
          <a:chOff x="0" y="0"/>
          <a:chExt cx="0" cy="0"/>
        </a:xfrm>
      </p:grpSpPr>
      <p:sp>
        <p:nvSpPr>
          <p:cNvPr id="226" name="Google Shape;226;p4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27" name="Shape 227"/>
        <p:cNvGrpSpPr/>
        <p:nvPr/>
      </p:nvGrpSpPr>
      <p:grpSpPr>
        <a:xfrm>
          <a:off x="0" y="0"/>
          <a:ext cx="0" cy="0"/>
          <a:chOff x="0" y="0"/>
          <a:chExt cx="0" cy="0"/>
        </a:xfrm>
      </p:grpSpPr>
      <p:sp>
        <p:nvSpPr>
          <p:cNvPr id="228" name="Google Shape;228;p4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3"/>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0" name="Google Shape;230;p43"/>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31" name="Google Shape;231;p4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32" name="Shape 232"/>
        <p:cNvGrpSpPr/>
        <p:nvPr/>
      </p:nvGrpSpPr>
      <p:grpSpPr>
        <a:xfrm>
          <a:off x="0" y="0"/>
          <a:ext cx="0" cy="0"/>
          <a:chOff x="0" y="0"/>
          <a:chExt cx="0" cy="0"/>
        </a:xfrm>
      </p:grpSpPr>
      <p:sp>
        <p:nvSpPr>
          <p:cNvPr id="233" name="Google Shape;233;p4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4" name="Google Shape;234;p4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35" name="Google Shape;235;p4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4.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1.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85" name="Google Shape;85;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6" name="Google Shape;8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70" name="Google Shape;170;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71" name="Google Shape;171;p31"/>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4.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hyperlink" Target="https://draw.io" TargetMode="External"/><Relationship Id="rId4" Type="http://schemas.openxmlformats.org/officeDocument/2006/relationships/hyperlink" Target="mailto:abc1234@g.rit.edu" TargetMode="External"/><Relationship Id="rId5" Type="http://schemas.openxmlformats.org/officeDocument/2006/relationships/hyperlink" Target="mailto:abc1234@g.rit.edu" TargetMode="External"/><Relationship Id="rId6" Type="http://schemas.openxmlformats.org/officeDocument/2006/relationships/hyperlink" Target="mailto:abc1234@g.rit.edu" TargetMode="External"/><Relationship Id="rId7"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slide" Target="/ppt/slides/slide46.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1.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slide" Target="/ppt/slides/slide51.xml"/><Relationship Id="rId4" Type="http://schemas.openxmlformats.org/officeDocument/2006/relationships/image" Target="../media/image14.png"/><Relationship Id="rId5"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1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www.se.rit.edu/~gcis-124/StyleExample.java"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docs.oracle.com/en/java/javase/15/docs/api/java.base/java/lang/Object.html"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21.png"/></Relationships>
</file>

<file path=ppt/slides/_rels/slide65.xml.rels><?xml version="1.0" encoding="UTF-8" standalone="yes"?><Relationships xmlns="http://schemas.openxmlformats.org/package/2006/relationships"><Relationship Id="rId20" Type="http://schemas.openxmlformats.org/officeDocument/2006/relationships/hyperlink" Target="https://docs.google.com/presentation/d/1Y07fEXuvM0K4GxD_6WAAoQOw-0B9k3CqIQfP99-5WLk/edit#slide=id.g1c31bc1ac9f_0_61" TargetMode="External"/><Relationship Id="rId11" Type="http://schemas.openxmlformats.org/officeDocument/2006/relationships/hyperlink" Target="https://docs.google.com/presentation/d/1Y07fEXuvM0K4GxD_6WAAoQOw-0B9k3CqIQfP99-5WLk/edit#slide=id.g1c4ce59d667_0_125" TargetMode="External"/><Relationship Id="rId10" Type="http://schemas.openxmlformats.org/officeDocument/2006/relationships/hyperlink" Target="https://docs.google.com/presentation/d/1Y07fEXuvM0K4GxD_6WAAoQOw-0B9k3CqIQfP99-5WLk/edit#slide=id.ga9338e306d_0_64" TargetMode="External"/><Relationship Id="rId21" Type="http://schemas.openxmlformats.org/officeDocument/2006/relationships/hyperlink" Target="https://docs.google.com/presentation/d/1Y07fEXuvM0K4GxD_6WAAoQOw-0B9k3CqIQfP99-5WLk/edit#slide=id.g1c31bc1ac9f_0_506" TargetMode="External"/><Relationship Id="rId13" Type="http://schemas.openxmlformats.org/officeDocument/2006/relationships/hyperlink" Target="https://docs.google.com/presentation/d/1Y07fEXuvM0K4GxD_6WAAoQOw-0B9k3CqIQfP99-5WLk/edit#slide=id.g1e9bfb79fd1_0_31" TargetMode="External"/><Relationship Id="rId12" Type="http://schemas.openxmlformats.org/officeDocument/2006/relationships/hyperlink" Target="https://docs.google.com/presentation/d/1Y07fEXuvM0K4GxD_6WAAoQOw-0B9k3CqIQfP99-5WLk/edit#slide=id.g1c4ce59d667_0_160" TargetMode="External"/><Relationship Id="rId1" Type="http://schemas.openxmlformats.org/officeDocument/2006/relationships/slideLayout" Target="../slideLayouts/slideLayout39.xml"/><Relationship Id="rId2" Type="http://schemas.openxmlformats.org/officeDocument/2006/relationships/notesSlide" Target="../notesSlides/notesSlide65.xml"/><Relationship Id="rId3" Type="http://schemas.openxmlformats.org/officeDocument/2006/relationships/hyperlink" Target="https://docs.google.com/presentation/d/1Y07fEXuvM0K4GxD_6WAAoQOw-0B9k3CqIQfP99-5WLk/edit#slide=id.ga9338e306d_0_0" TargetMode="External"/><Relationship Id="rId4" Type="http://schemas.openxmlformats.org/officeDocument/2006/relationships/hyperlink" Target="https://docs.google.com/presentation/d/1Y07fEXuvM0K4GxD_6WAAoQOw-0B9k3CqIQfP99-5WLk/edit#slide=id.g1c31bc1ac9f_0_895" TargetMode="External"/><Relationship Id="rId9" Type="http://schemas.openxmlformats.org/officeDocument/2006/relationships/hyperlink" Target="https://docs.google.com/presentation/d/1Y07fEXuvM0K4GxD_6WAAoQOw-0B9k3CqIQfP99-5WLk/edit#slide=id.ga9338e306d_0_56" TargetMode="External"/><Relationship Id="rId15" Type="http://schemas.openxmlformats.org/officeDocument/2006/relationships/hyperlink" Target="https://docs.google.com/presentation/d/1Y07fEXuvM0K4GxD_6WAAoQOw-0B9k3CqIQfP99-5WLk/edit#slide=id.g1c31bc1ac9f_0_8" TargetMode="External"/><Relationship Id="rId14" Type="http://schemas.openxmlformats.org/officeDocument/2006/relationships/hyperlink" Target="https://docs.google.com/presentation/d/1Y07fEXuvM0K4GxD_6WAAoQOw-0B9k3CqIQfP99-5WLk/edit#slide=id.g1c31bc1ac9f_0_8" TargetMode="External"/><Relationship Id="rId17" Type="http://schemas.openxmlformats.org/officeDocument/2006/relationships/hyperlink" Target="https://docs.google.com/presentation/d/1Y07fEXuvM0K4GxD_6WAAoQOw-0B9k3CqIQfP99-5WLk/edit#slide=id.g1c31bc1ac9f_0_53" TargetMode="External"/><Relationship Id="rId16" Type="http://schemas.openxmlformats.org/officeDocument/2006/relationships/hyperlink" Target="https://docs.google.com/presentation/d/1Y07fEXuvM0K4GxD_6WAAoQOw-0B9k3CqIQfP99-5WLk/edit#slide=id.g1c31bc1ac9f_0_53" TargetMode="External"/><Relationship Id="rId5" Type="http://schemas.openxmlformats.org/officeDocument/2006/relationships/hyperlink" Target="https://docs.google.com/presentation/d/1Y07fEXuvM0K4GxD_6WAAoQOw-0B9k3CqIQfP99-5WLk/edit#slide=id.ga9338e306d_0_8" TargetMode="External"/><Relationship Id="rId19" Type="http://schemas.openxmlformats.org/officeDocument/2006/relationships/hyperlink" Target="https://docs.google.com/presentation/d/1Y07fEXuvM0K4GxD_6WAAoQOw-0B9k3CqIQfP99-5WLk/edit#slide=id.g1c31bc1ac9f_0_61" TargetMode="External"/><Relationship Id="rId6" Type="http://schemas.openxmlformats.org/officeDocument/2006/relationships/hyperlink" Target="https://docs.google.com/presentation/d/1Y07fEXuvM0K4GxD_6WAAoQOw-0B9k3CqIQfP99-5WLk/edit#slide=id.g1c31bc1ac9f_0_872" TargetMode="External"/><Relationship Id="rId18" Type="http://schemas.openxmlformats.org/officeDocument/2006/relationships/hyperlink" Target="https://docs.google.com/presentation/d/1Y07fEXuvM0K4GxD_6WAAoQOw-0B9k3CqIQfP99-5WLk/edit#slide=id.g1c31bc1ac9f_0_53" TargetMode="External"/><Relationship Id="rId7" Type="http://schemas.openxmlformats.org/officeDocument/2006/relationships/hyperlink" Target="https://docs.google.com/presentation/d/1Y07fEXuvM0K4GxD_6WAAoQOw-0B9k3CqIQfP99-5WLk/edit#slide=id.g1c31bc1ac9f_0_872" TargetMode="External"/><Relationship Id="rId8" Type="http://schemas.openxmlformats.org/officeDocument/2006/relationships/hyperlink" Target="https://docs.google.com/presentation/d/1Y07fEXuvM0K4GxD_6WAAoQOw-0B9k3CqIQfP99-5WLk/edit#slide=id.ga9338e306d_0_24"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6.xml"/><Relationship Id="rId3" Type="http://schemas.openxmlformats.org/officeDocument/2006/relationships/hyperlink" Target="https://docs.google.com/presentation/d/1Y07fEXuvM0K4GxD_6WAAoQOw-0B9k3CqIQfP99-5WLk/edit#slide=id.g1c31bc1ac9f_0_440" TargetMode="External"/><Relationship Id="rId4" Type="http://schemas.openxmlformats.org/officeDocument/2006/relationships/hyperlink" Target="https://docs.google.com/presentation/d/1Y07fEXuvM0K4GxD_6WAAoQOw-0B9k3CqIQfP99-5WLk/edit#slide=id.g1c31bc1ac9f_0_462" TargetMode="External"/><Relationship Id="rId5" Type="http://schemas.openxmlformats.org/officeDocument/2006/relationships/hyperlink" Target="https://docs.google.com/presentation/d/1Y07fEXuvM0K4GxD_6WAAoQOw-0B9k3CqIQfP99-5WLk/edit#slide=id.g1c31bc1ac9f_0_484" TargetMode="External"/><Relationship Id="rId6" Type="http://schemas.openxmlformats.org/officeDocument/2006/relationships/hyperlink" Target="https://docs.google.com/presentation/d/1Y07fEXuvM0K4GxD_6WAAoQOw-0B9k3CqIQfP99-5WLk/edit#slide=id.g1c31bc1ac9f_0_26" TargetMode="External"/><Relationship Id="rId7" Type="http://schemas.openxmlformats.org/officeDocument/2006/relationships/hyperlink" Target="https://docs.google.com/presentation/d/1Y07fEXuvM0K4GxD_6WAAoQOw-0B9k3CqIQfP99-5WLk/edit#slide=id.g1c31bc1ac9f_0_26"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25.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5"/>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241" name="Google Shape;241;p45"/>
          <p:cNvSpPr txBox="1"/>
          <p:nvPr>
            <p:ph idx="1" type="subTitle"/>
          </p:nvPr>
        </p:nvSpPr>
        <p:spPr>
          <a:xfrm>
            <a:off x="311700" y="1878550"/>
            <a:ext cx="4491300" cy="7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2: Java Classes</a:t>
            </a:r>
            <a:endParaRPr i="1" sz="2600">
              <a:solidFill>
                <a:srgbClr val="FF0000"/>
              </a:solidFill>
            </a:endParaRPr>
          </a:p>
        </p:txBody>
      </p:sp>
      <p:grpSp>
        <p:nvGrpSpPr>
          <p:cNvPr id="242" name="Google Shape;242;p45"/>
          <p:cNvGrpSpPr/>
          <p:nvPr/>
        </p:nvGrpSpPr>
        <p:grpSpPr>
          <a:xfrm>
            <a:off x="5001999" y="4264475"/>
            <a:ext cx="3908400" cy="738300"/>
            <a:chOff x="5001999" y="4264475"/>
            <a:chExt cx="3908400" cy="738300"/>
          </a:xfrm>
        </p:grpSpPr>
        <p:sp>
          <p:nvSpPr>
            <p:cNvPr id="243" name="Google Shape;243;p45"/>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45"/>
            <p:cNvPicPr preferRelativeResize="0"/>
            <p:nvPr/>
          </p:nvPicPr>
          <p:blipFill>
            <a:blip r:embed="rId3">
              <a:alphaModFix/>
            </a:blip>
            <a:stretch>
              <a:fill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46"/>
          <p:cNvPicPr preferRelativeResize="0"/>
          <p:nvPr/>
        </p:nvPicPr>
        <p:blipFill>
          <a:blip r:embed="rId3">
            <a:alphaModFix/>
          </a:blip>
          <a:stretch>
            <a:fillRect/>
          </a:stretch>
        </p:blipFill>
        <p:spPr>
          <a:xfrm>
            <a:off x="3547097" y="1068325"/>
            <a:ext cx="1326913" cy="3727775"/>
          </a:xfrm>
          <a:prstGeom prst="rect">
            <a:avLst/>
          </a:prstGeom>
          <a:noFill/>
          <a:ln>
            <a:noFill/>
          </a:ln>
        </p:spPr>
      </p:pic>
      <p:sp>
        <p:nvSpPr>
          <p:cNvPr id="250" name="Google Shape;250;p4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pic>
        <p:nvPicPr>
          <p:cNvPr id="251" name="Google Shape;251;p46"/>
          <p:cNvPicPr preferRelativeResize="0"/>
          <p:nvPr/>
        </p:nvPicPr>
        <p:blipFill>
          <a:blip r:embed="rId4">
            <a:alphaModFix/>
          </a:blip>
          <a:stretch>
            <a:fillRect/>
          </a:stretch>
        </p:blipFill>
        <p:spPr>
          <a:xfrm>
            <a:off x="4941475" y="1121750"/>
            <a:ext cx="1283245" cy="3727775"/>
          </a:xfrm>
          <a:prstGeom prst="rect">
            <a:avLst/>
          </a:prstGeom>
          <a:noFill/>
          <a:ln>
            <a:noFill/>
          </a:ln>
        </p:spPr>
      </p:pic>
      <p:sp>
        <p:nvSpPr>
          <p:cNvPr id="252" name="Google Shape;252;p46"/>
          <p:cNvSpPr/>
          <p:nvPr/>
        </p:nvSpPr>
        <p:spPr>
          <a:xfrm>
            <a:off x="2148675" y="1271744"/>
            <a:ext cx="1369200" cy="615600"/>
          </a:xfrm>
          <a:prstGeom prst="wedgeRoundRectCallout">
            <a:avLst>
              <a:gd fmla="val 83507" name="adj1"/>
              <a:gd fmla="val 4459" name="adj2"/>
              <a:gd fmla="val 0" name="adj3"/>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 don't understand part 4.c. on the homework.</a:t>
            </a:r>
            <a:endParaRPr sz="1000"/>
          </a:p>
        </p:txBody>
      </p:sp>
      <p:sp>
        <p:nvSpPr>
          <p:cNvPr id="253" name="Google Shape;253;p46"/>
          <p:cNvSpPr/>
          <p:nvPr/>
        </p:nvSpPr>
        <p:spPr>
          <a:xfrm>
            <a:off x="6153675" y="1271750"/>
            <a:ext cx="2877000" cy="1961700"/>
          </a:xfrm>
          <a:prstGeom prst="wedgeRoundRectCallout">
            <a:avLst>
              <a:gd fmla="val -64417" name="adj1"/>
              <a:gd fmla="val -25380" name="adj2"/>
              <a:gd fmla="val 0" name="adj3"/>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Part 4.c. on homework 2.2 asks us to write a function that prompts the user to enter two floating point values and to print the product.</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I reviewed slides 17-18 in the lecture, and I finished the practice activity. That all works fine.</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But when I try to use the values entered by the user, I am getting an "input mismatch" error. Does anyone have a suggestion?</a:t>
            </a:r>
            <a:endParaRPr sz="1000"/>
          </a:p>
        </p:txBody>
      </p:sp>
      <p:sp>
        <p:nvSpPr>
          <p:cNvPr id="254" name="Google Shape;254;p46"/>
          <p:cNvSpPr txBox="1"/>
          <p:nvPr>
            <p:ph type="title"/>
          </p:nvPr>
        </p:nvSpPr>
        <p:spPr>
          <a:xfrm>
            <a:off x="311725" y="67171"/>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Asking for Help</a:t>
            </a:r>
            <a:endParaRPr/>
          </a:p>
        </p:txBody>
      </p:sp>
      <p:sp>
        <p:nvSpPr>
          <p:cNvPr id="255" name="Google Shape;255;p46"/>
          <p:cNvSpPr txBox="1"/>
          <p:nvPr/>
        </p:nvSpPr>
        <p:spPr>
          <a:xfrm>
            <a:off x="127425" y="1984400"/>
            <a:ext cx="3363600" cy="2724300"/>
          </a:xfrm>
          <a:prstGeom prst="rect">
            <a:avLst/>
          </a:prstGeom>
          <a:solidFill>
            <a:srgbClr val="CFE2F3"/>
          </a:solidFill>
          <a:ln cap="flat" cmpd="sng" w="1905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You have all the resources that you need to solve the problems that have been given to you, but sometimes you may not be able to find the answers to the problems that you encounter.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Asking for help in this course is both </a:t>
            </a:r>
            <a:r>
              <a:rPr b="1" i="1" lang="en" sz="1100">
                <a:solidFill>
                  <a:srgbClr val="FF0000"/>
                </a:solidFill>
              </a:rPr>
              <a:t>expected</a:t>
            </a:r>
            <a:r>
              <a:rPr lang="en" sz="1100">
                <a:solidFill>
                  <a:srgbClr val="FF0000"/>
                </a:solidFill>
              </a:rPr>
              <a:t> </a:t>
            </a:r>
            <a:r>
              <a:rPr lang="en" sz="1100"/>
              <a:t>and </a:t>
            </a:r>
            <a:r>
              <a:rPr b="1" i="1" lang="en" sz="1100">
                <a:solidFill>
                  <a:srgbClr val="FF0000"/>
                </a:solidFill>
              </a:rPr>
              <a:t>encouraged</a:t>
            </a:r>
            <a:r>
              <a:rPr lang="en"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Spending time trying to solve the problem yourself will be a more valuable learning experience in the long run.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If you </a:t>
            </a:r>
            <a:r>
              <a:rPr b="1" i="1" lang="en" sz="1100">
                <a:solidFill>
                  <a:srgbClr val="FF0000"/>
                </a:solidFill>
              </a:rPr>
              <a:t>do</a:t>
            </a:r>
            <a:r>
              <a:rPr lang="en" sz="1100">
                <a:solidFill>
                  <a:srgbClr val="FF0000"/>
                </a:solidFill>
              </a:rPr>
              <a:t> </a:t>
            </a:r>
            <a:r>
              <a:rPr lang="en" sz="1100"/>
              <a:t>ask for help, try to be as detailed as possible to make it easier for others to help you by providing as much detail as you can.</a:t>
            </a:r>
            <a:endParaRPr sz="1100"/>
          </a:p>
        </p:txBody>
      </p:sp>
      <p:sp>
        <p:nvSpPr>
          <p:cNvPr id="256" name="Google Shape;256;p46"/>
          <p:cNvSpPr txBox="1"/>
          <p:nvPr/>
        </p:nvSpPr>
        <p:spPr>
          <a:xfrm>
            <a:off x="6153675" y="3355825"/>
            <a:ext cx="2877000" cy="1262100"/>
          </a:xfrm>
          <a:prstGeom prst="rect">
            <a:avLst/>
          </a:prstGeom>
          <a:solidFill>
            <a:srgbClr val="CFE2F3"/>
          </a:solidFill>
          <a:ln cap="flat" cmpd="sng" w="1905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177800" lvl="0" marL="228600" rtl="0" algn="l">
              <a:spcBef>
                <a:spcPts val="0"/>
              </a:spcBef>
              <a:spcAft>
                <a:spcPts val="0"/>
              </a:spcAft>
              <a:buSzPts val="1000"/>
              <a:buFont typeface="Roboto"/>
              <a:buAutoNum type="arabicPeriod"/>
            </a:pPr>
            <a:r>
              <a:rPr lang="en" sz="1000">
                <a:latin typeface="Roboto"/>
                <a:ea typeface="Roboto"/>
                <a:cs typeface="Roboto"/>
                <a:sym typeface="Roboto"/>
              </a:rPr>
              <a:t>Begin by reviewing the lecture slides related to the problem that you are trying to solve</a:t>
            </a:r>
            <a:endParaRPr sz="1000">
              <a:latin typeface="Roboto"/>
              <a:ea typeface="Roboto"/>
              <a:cs typeface="Roboto"/>
              <a:sym typeface="Roboto"/>
            </a:endParaRPr>
          </a:p>
          <a:p>
            <a:pPr indent="-177800" lvl="0" marL="228600" rtl="0" algn="l">
              <a:spcBef>
                <a:spcPts val="0"/>
              </a:spcBef>
              <a:spcAft>
                <a:spcPts val="0"/>
              </a:spcAft>
              <a:buSzPts val="1000"/>
              <a:buFont typeface="Roboto"/>
              <a:buAutoNum type="arabicPeriod"/>
            </a:pPr>
            <a:r>
              <a:rPr lang="en" sz="1000">
                <a:latin typeface="Roboto"/>
                <a:ea typeface="Roboto"/>
                <a:cs typeface="Roboto"/>
                <a:sym typeface="Roboto"/>
              </a:rPr>
              <a:t>Try to solve the related class activities without looking at the answer</a:t>
            </a:r>
            <a:endParaRPr sz="1000">
              <a:latin typeface="Roboto"/>
              <a:ea typeface="Roboto"/>
              <a:cs typeface="Roboto"/>
              <a:sym typeface="Roboto"/>
            </a:endParaRPr>
          </a:p>
          <a:p>
            <a:pPr indent="-177800" lvl="0" marL="228600" rtl="0" algn="l">
              <a:spcBef>
                <a:spcPts val="0"/>
              </a:spcBef>
              <a:spcAft>
                <a:spcPts val="0"/>
              </a:spcAft>
              <a:buSzPts val="1000"/>
              <a:buFont typeface="Roboto"/>
              <a:buAutoNum type="arabicPeriod"/>
            </a:pPr>
            <a:r>
              <a:rPr lang="en" sz="1000">
                <a:latin typeface="Roboto"/>
                <a:ea typeface="Roboto"/>
                <a:cs typeface="Roboto"/>
                <a:sym typeface="Roboto"/>
              </a:rPr>
              <a:t>When asking for help, try to be as specific as possible about the problem you are having</a:t>
            </a:r>
            <a:endParaRPr sz="1000">
              <a:latin typeface="Roboto"/>
              <a:ea typeface="Roboto"/>
              <a:cs typeface="Roboto"/>
              <a:sym typeface="Roboto"/>
            </a:endParaRPr>
          </a:p>
        </p:txBody>
      </p:sp>
      <p:sp>
        <p:nvSpPr>
          <p:cNvPr id="257" name="Google Shape;257;p46"/>
          <p:cNvSpPr txBox="1"/>
          <p:nvPr/>
        </p:nvSpPr>
        <p:spPr>
          <a:xfrm>
            <a:off x="2148625" y="982750"/>
            <a:ext cx="13695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0000"/>
                </a:solidFill>
                <a:latin typeface="Roboto"/>
                <a:ea typeface="Roboto"/>
                <a:cs typeface="Roboto"/>
                <a:sym typeface="Roboto"/>
              </a:rPr>
              <a:t>Could be Improved</a:t>
            </a:r>
            <a:endParaRPr sz="1100">
              <a:solidFill>
                <a:srgbClr val="FF0000"/>
              </a:solidFill>
              <a:latin typeface="Roboto"/>
              <a:ea typeface="Roboto"/>
              <a:cs typeface="Roboto"/>
              <a:sym typeface="Roboto"/>
            </a:endParaRPr>
          </a:p>
        </p:txBody>
      </p:sp>
      <p:sp>
        <p:nvSpPr>
          <p:cNvPr id="258" name="Google Shape;258;p46"/>
          <p:cNvSpPr txBox="1"/>
          <p:nvPr/>
        </p:nvSpPr>
        <p:spPr>
          <a:xfrm>
            <a:off x="7107475" y="982751"/>
            <a:ext cx="1046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0000"/>
                </a:solidFill>
                <a:latin typeface="Roboto"/>
                <a:ea typeface="Roboto"/>
                <a:cs typeface="Roboto"/>
                <a:sym typeface="Roboto"/>
              </a:rPr>
              <a:t>MUCH Better</a:t>
            </a:r>
            <a:endParaRPr sz="1100">
              <a:solidFill>
                <a:srgbClr val="FF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7"/>
          <p:cNvSpPr txBox="1"/>
          <p:nvPr>
            <p:ph type="title"/>
          </p:nvPr>
        </p:nvSpPr>
        <p:spPr>
          <a:xfrm>
            <a:off x="311725" y="3485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 Classes</a:t>
            </a:r>
            <a:endParaRPr/>
          </a:p>
        </p:txBody>
      </p:sp>
      <p:sp>
        <p:nvSpPr>
          <p:cNvPr id="264" name="Google Shape;264;p47"/>
          <p:cNvSpPr txBox="1"/>
          <p:nvPr>
            <p:ph idx="1" type="body"/>
          </p:nvPr>
        </p:nvSpPr>
        <p:spPr>
          <a:xfrm>
            <a:off x="4644675" y="239000"/>
            <a:ext cx="4166400" cy="45021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In the last course, </a:t>
            </a:r>
            <a:r>
              <a:rPr lang="en" sz="1400"/>
              <a:t>we looked at how to create classes and encapsulate state and </a:t>
            </a:r>
            <a:r>
              <a:rPr lang="en" sz="1400"/>
              <a:t>behavior </a:t>
            </a:r>
            <a:r>
              <a:rPr lang="en" sz="1400"/>
              <a:t>inside of them using the Python programming language. </a:t>
            </a:r>
            <a:endParaRPr sz="1400"/>
          </a:p>
          <a:p>
            <a:pPr indent="-317500" lvl="0" marL="457200" rtl="0" algn="l">
              <a:spcBef>
                <a:spcPts val="1000"/>
              </a:spcBef>
              <a:spcAft>
                <a:spcPts val="0"/>
              </a:spcAft>
              <a:buSzPts val="1400"/>
              <a:buChar char="●"/>
            </a:pPr>
            <a:r>
              <a:rPr lang="en" sz="1400"/>
              <a:t>In this unit, we’ll explore how to do similar tasks using Java and ways to discuss our design with others</a:t>
            </a:r>
            <a:r>
              <a:rPr lang="en" sz="1400"/>
              <a:t>.</a:t>
            </a:r>
            <a:endParaRPr sz="1400"/>
          </a:p>
          <a:p>
            <a:pPr indent="-317500" lvl="0" marL="457200" rtl="0" algn="l">
              <a:spcBef>
                <a:spcPts val="1000"/>
              </a:spcBef>
              <a:spcAft>
                <a:spcPts val="0"/>
              </a:spcAft>
              <a:buSzPts val="1400"/>
              <a:buChar char="●"/>
            </a:pPr>
            <a:r>
              <a:rPr lang="en" sz="1400"/>
              <a:t>We will discuss:</a:t>
            </a:r>
            <a:endParaRPr sz="1400"/>
          </a:p>
          <a:p>
            <a:pPr indent="-304800" lvl="1" marL="914400" rtl="0" algn="l">
              <a:spcBef>
                <a:spcPts val="0"/>
              </a:spcBef>
              <a:spcAft>
                <a:spcPts val="0"/>
              </a:spcAft>
              <a:buSzPts val="1200"/>
              <a:buChar char="○"/>
            </a:pPr>
            <a:r>
              <a:rPr lang="en" sz="1200"/>
              <a:t>Classes </a:t>
            </a:r>
            <a:endParaRPr sz="1200"/>
          </a:p>
          <a:p>
            <a:pPr indent="-304800" lvl="1" marL="914400" rtl="0" algn="l">
              <a:spcBef>
                <a:spcPts val="0"/>
              </a:spcBef>
              <a:spcAft>
                <a:spcPts val="0"/>
              </a:spcAft>
              <a:buSzPts val="1200"/>
              <a:buChar char="○"/>
            </a:pPr>
            <a:r>
              <a:rPr lang="en" sz="1200"/>
              <a:t>Encapsulation &amp; Data Privacy</a:t>
            </a:r>
            <a:endParaRPr sz="1200"/>
          </a:p>
          <a:p>
            <a:pPr indent="-304800" lvl="1" marL="914400" rtl="0" algn="l">
              <a:spcBef>
                <a:spcPts val="0"/>
              </a:spcBef>
              <a:spcAft>
                <a:spcPts val="0"/>
              </a:spcAft>
              <a:buSzPts val="1200"/>
              <a:buChar char="○"/>
            </a:pPr>
            <a:r>
              <a:rPr lang="en" sz="1200"/>
              <a:t>Constructors </a:t>
            </a:r>
            <a:endParaRPr sz="1200"/>
          </a:p>
          <a:p>
            <a:pPr indent="-304800" lvl="1" marL="914400" rtl="0" algn="l">
              <a:spcBef>
                <a:spcPts val="0"/>
              </a:spcBef>
              <a:spcAft>
                <a:spcPts val="0"/>
              </a:spcAft>
              <a:buSzPts val="1200"/>
              <a:buChar char="○"/>
            </a:pPr>
            <a:r>
              <a:rPr lang="en" sz="1200"/>
              <a:t>Special Methods</a:t>
            </a:r>
            <a:endParaRPr sz="1200"/>
          </a:p>
          <a:p>
            <a:pPr indent="-304800" lvl="1" marL="914400" rtl="0" algn="l">
              <a:spcBef>
                <a:spcPts val="0"/>
              </a:spcBef>
              <a:spcAft>
                <a:spcPts val="0"/>
              </a:spcAft>
              <a:buSzPts val="1200"/>
              <a:buChar char="○"/>
            </a:pPr>
            <a:r>
              <a:rPr lang="en" sz="1200"/>
              <a:t>Static &amp; Final</a:t>
            </a:r>
            <a:endParaRPr sz="1200"/>
          </a:p>
          <a:p>
            <a:pPr indent="-304800" lvl="1" marL="914400" rtl="0" algn="l">
              <a:spcBef>
                <a:spcPts val="0"/>
              </a:spcBef>
              <a:spcAft>
                <a:spcPts val="0"/>
              </a:spcAft>
              <a:buSzPts val="1200"/>
              <a:buChar char="○"/>
            </a:pPr>
            <a:r>
              <a:rPr lang="en" sz="1200"/>
              <a:t>Class Visualization with UML</a:t>
            </a:r>
            <a:endParaRPr sz="1200"/>
          </a:p>
          <a:p>
            <a:pPr indent="-304800" lvl="1" marL="914400" rtl="0" algn="l">
              <a:spcBef>
                <a:spcPts val="0"/>
              </a:spcBef>
              <a:spcAft>
                <a:spcPts val="0"/>
              </a:spcAft>
              <a:buSzPts val="1200"/>
              <a:buChar char="○"/>
            </a:pPr>
            <a:r>
              <a:rPr lang="en" sz="1200"/>
              <a:t>Potpourri - a mix of useful topics</a:t>
            </a:r>
            <a:endParaRPr sz="1200"/>
          </a:p>
          <a:p>
            <a:pPr indent="-317500" lvl="0" marL="457200" rtl="0" algn="l">
              <a:spcBef>
                <a:spcPts val="1000"/>
              </a:spcBef>
              <a:spcAft>
                <a:spcPts val="0"/>
              </a:spcAft>
              <a:buSzPts val="1400"/>
              <a:buChar char="●"/>
            </a:pPr>
            <a:r>
              <a:rPr lang="en" sz="1400"/>
              <a:t>To begin, we will focus on defining and creating instances of classes.</a:t>
            </a:r>
            <a:endParaRPr sz="1400"/>
          </a:p>
        </p:txBody>
      </p:sp>
      <p:sp>
        <p:nvSpPr>
          <p:cNvPr id="265" name="Google Shape;265;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7"/>
          <p:cNvSpPr txBox="1"/>
          <p:nvPr>
            <p:ph idx="3" type="body"/>
          </p:nvPr>
        </p:nvSpPr>
        <p:spPr>
          <a:xfrm>
            <a:off x="315550" y="4375875"/>
            <a:ext cx="3706500" cy="575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t>In this unit,</a:t>
            </a:r>
            <a:r>
              <a:rPr lang="en"/>
              <a:t> we'll delve more deeply into Java classes and how they compare to Python's</a:t>
            </a:r>
            <a:endParaRPr/>
          </a:p>
        </p:txBody>
      </p:sp>
      <p:sp>
        <p:nvSpPr>
          <p:cNvPr id="267" name="Google Shape;267;p47"/>
          <p:cNvSpPr txBox="1"/>
          <p:nvPr/>
        </p:nvSpPr>
        <p:spPr>
          <a:xfrm>
            <a:off x="315550" y="1015675"/>
            <a:ext cx="3706500" cy="3235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package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lecture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Pet</a:t>
            </a: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Pet</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getAge</a:t>
            </a: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void</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birthday</a:t>
            </a: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1000"/>
                                        <p:tgtEl>
                                          <p:spTgt spid="2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Effect filter="fade" transition="in">
                                      <p:cBhvr>
                                        <p:cTn dur="1000"/>
                                        <p:tgtEl>
                                          <p:spTgt spid="2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Effect filter="fade" transition="in">
                                      <p:cBhvr>
                                        <p:cTn dur="1000"/>
                                        <p:tgtEl>
                                          <p:spTgt spid="2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animEffect filter="fade" transition="in">
                                      <p:cBhvr>
                                        <p:cTn dur="1000"/>
                                        <p:tgtEl>
                                          <p:spTgt spid="2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animEffect filter="fade" transition="in">
                                      <p:cBhvr>
                                        <p:cTn dur="1000"/>
                                        <p:tgtEl>
                                          <p:spTgt spid="2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animEffect filter="fade" transition="in">
                                      <p:cBhvr>
                                        <p:cTn dur="1000"/>
                                        <p:tgtEl>
                                          <p:spTgt spid="2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7" st="7"/>
                                            </p:txEl>
                                          </p:spTgt>
                                        </p:tgtEl>
                                        <p:attrNameLst>
                                          <p:attrName>style.visibility</p:attrName>
                                        </p:attrNameLst>
                                      </p:cBhvr>
                                      <p:to>
                                        <p:strVal val="visible"/>
                                      </p:to>
                                    </p:set>
                                    <p:animEffect filter="fade" transition="in">
                                      <p:cBhvr>
                                        <p:cTn dur="1000"/>
                                        <p:tgtEl>
                                          <p:spTgt spid="2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8" st="8"/>
                                            </p:txEl>
                                          </p:spTgt>
                                        </p:tgtEl>
                                        <p:attrNameLst>
                                          <p:attrName>style.visibility</p:attrName>
                                        </p:attrNameLst>
                                      </p:cBhvr>
                                      <p:to>
                                        <p:strVal val="visible"/>
                                      </p:to>
                                    </p:set>
                                    <p:animEffect filter="fade" transition="in">
                                      <p:cBhvr>
                                        <p:cTn dur="1000"/>
                                        <p:tgtEl>
                                          <p:spTgt spid="2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9" st="9"/>
                                            </p:txEl>
                                          </p:spTgt>
                                        </p:tgtEl>
                                        <p:attrNameLst>
                                          <p:attrName>style.visibility</p:attrName>
                                        </p:attrNameLst>
                                      </p:cBhvr>
                                      <p:to>
                                        <p:strVal val="visible"/>
                                      </p:to>
                                    </p:set>
                                    <p:animEffect filter="fade" transition="in">
                                      <p:cBhvr>
                                        <p:cTn dur="1000"/>
                                        <p:tgtEl>
                                          <p:spTgt spid="26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0" st="10"/>
                                            </p:txEl>
                                          </p:spTgt>
                                        </p:tgtEl>
                                        <p:attrNameLst>
                                          <p:attrName>style.visibility</p:attrName>
                                        </p:attrNameLst>
                                      </p:cBhvr>
                                      <p:to>
                                        <p:strVal val="visible"/>
                                      </p:to>
                                    </p:set>
                                    <p:animEffect filter="fade" transition="in">
                                      <p:cBhvr>
                                        <p:cTn dur="1000"/>
                                        <p:tgtEl>
                                          <p:spTgt spid="26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8"/>
          <p:cNvSpPr txBox="1"/>
          <p:nvPr>
            <p:ph idx="1" type="body"/>
          </p:nvPr>
        </p:nvSpPr>
        <p:spPr>
          <a:xfrm>
            <a:off x="173975" y="156525"/>
            <a:ext cx="4512900" cy="4910100"/>
          </a:xfrm>
          <a:prstGeom prst="rect">
            <a:avLst/>
          </a:prstGeom>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 typical object-oriented program will contain many small classes that work together to solve a larger problem.</a:t>
            </a:r>
            <a:endParaRPr/>
          </a:p>
          <a:p>
            <a:pPr indent="-298450" lvl="1" marL="914400" rtl="0" algn="l">
              <a:lnSpc>
                <a:spcPct val="100000"/>
              </a:lnSpc>
              <a:spcBef>
                <a:spcPts val="0"/>
              </a:spcBef>
              <a:spcAft>
                <a:spcPts val="0"/>
              </a:spcAft>
              <a:buSzPts val="1100"/>
              <a:buChar char="○"/>
            </a:pPr>
            <a:r>
              <a:rPr lang="en"/>
              <a:t>But how does the programmer know which classes to create?</a:t>
            </a:r>
            <a:endParaRPr/>
          </a:p>
          <a:p>
            <a:pPr indent="-298450" lvl="1" marL="914400" rtl="0" algn="l">
              <a:lnSpc>
                <a:spcPct val="100000"/>
              </a:lnSpc>
              <a:spcBef>
                <a:spcPts val="0"/>
              </a:spcBef>
              <a:spcAft>
                <a:spcPts val="0"/>
              </a:spcAft>
              <a:buSzPts val="1100"/>
              <a:buChar char="○"/>
            </a:pPr>
            <a:r>
              <a:rPr lang="en"/>
              <a:t>How do they know what the attributes and methods in each class will be?</a:t>
            </a:r>
            <a:endParaRPr/>
          </a:p>
          <a:p>
            <a:pPr indent="-311150" lvl="0" marL="457200" rtl="0" algn="l">
              <a:lnSpc>
                <a:spcPct val="100000"/>
              </a:lnSpc>
              <a:spcBef>
                <a:spcPts val="0"/>
              </a:spcBef>
              <a:spcAft>
                <a:spcPts val="0"/>
              </a:spcAft>
              <a:buSzPts val="1300"/>
              <a:buChar char="●"/>
            </a:pPr>
            <a:r>
              <a:rPr lang="en"/>
              <a:t>Trying to write a large, complex program without first taking the time to plan will lead to lots of trial and error (wasted time).</a:t>
            </a:r>
            <a:endParaRPr/>
          </a:p>
          <a:p>
            <a:pPr indent="-298450" lvl="1" marL="914400" rtl="0" algn="l">
              <a:lnSpc>
                <a:spcPct val="100000"/>
              </a:lnSpc>
              <a:spcBef>
                <a:spcPts val="0"/>
              </a:spcBef>
              <a:spcAft>
                <a:spcPts val="0"/>
              </a:spcAft>
              <a:buSzPts val="1100"/>
              <a:buChar char="○"/>
            </a:pPr>
            <a:r>
              <a:rPr lang="en"/>
              <a:t>As well as lots and </a:t>
            </a:r>
            <a:r>
              <a:rPr i="1" lang="en"/>
              <a:t>lots</a:t>
            </a:r>
            <a:r>
              <a:rPr lang="en"/>
              <a:t> of bugs!</a:t>
            </a:r>
            <a:endParaRPr/>
          </a:p>
          <a:p>
            <a:pPr indent="-311150" lvl="0" marL="457200" rtl="0" algn="l">
              <a:lnSpc>
                <a:spcPct val="100000"/>
              </a:lnSpc>
              <a:spcBef>
                <a:spcPts val="0"/>
              </a:spcBef>
              <a:spcAft>
                <a:spcPts val="0"/>
              </a:spcAft>
              <a:buSzPts val="1300"/>
              <a:buChar char="●"/>
            </a:pPr>
            <a:r>
              <a:rPr lang="en"/>
              <a:t>The process of planning which classes, attributes and methods you need </a:t>
            </a:r>
            <a:r>
              <a:rPr i="1" lang="en"/>
              <a:t>before</a:t>
            </a:r>
            <a:r>
              <a:rPr lang="en"/>
              <a:t> you begin writing code is called </a:t>
            </a:r>
            <a:r>
              <a:rPr b="1" i="1" lang="en">
                <a:solidFill>
                  <a:srgbClr val="FF0000"/>
                </a:solidFill>
              </a:rPr>
              <a:t>software design</a:t>
            </a:r>
            <a:r>
              <a:rPr lang="en"/>
              <a:t>.</a:t>
            </a:r>
            <a:endParaRPr/>
          </a:p>
          <a:p>
            <a:pPr indent="-311150" lvl="0" marL="457200" rtl="0" algn="l">
              <a:lnSpc>
                <a:spcPct val="100000"/>
              </a:lnSpc>
              <a:spcBef>
                <a:spcPts val="0"/>
              </a:spcBef>
              <a:spcAft>
                <a:spcPts val="0"/>
              </a:spcAft>
              <a:buSzPts val="1300"/>
              <a:buChar char="●"/>
            </a:pPr>
            <a:r>
              <a:rPr lang="en"/>
              <a:t>A common technique for starting your design is to perform a </a:t>
            </a:r>
            <a:r>
              <a:rPr b="1" i="1" lang="en">
                <a:solidFill>
                  <a:srgbClr val="FF0000"/>
                </a:solidFill>
              </a:rPr>
              <a:t>noun/verb analysis</a:t>
            </a:r>
            <a:r>
              <a:rPr lang="en"/>
              <a:t>.</a:t>
            </a:r>
            <a:endParaRPr/>
          </a:p>
          <a:p>
            <a:pPr indent="-311150" lvl="0" marL="457200" rtl="0" algn="l">
              <a:lnSpc>
                <a:spcPct val="100000"/>
              </a:lnSpc>
              <a:spcBef>
                <a:spcPts val="0"/>
              </a:spcBef>
              <a:spcAft>
                <a:spcPts val="0"/>
              </a:spcAft>
              <a:buSzPts val="1300"/>
              <a:buChar char="●"/>
            </a:pPr>
            <a:r>
              <a:rPr lang="en"/>
              <a:t>We start by identifying all of the nouns in the problem statement. Many nouns will become classes or attributes.</a:t>
            </a:r>
            <a:endParaRPr/>
          </a:p>
          <a:p>
            <a:pPr indent="-298450" lvl="1" marL="914400" rtl="0" algn="l">
              <a:lnSpc>
                <a:spcPct val="100000"/>
              </a:lnSpc>
              <a:spcBef>
                <a:spcPts val="0"/>
              </a:spcBef>
              <a:spcAft>
                <a:spcPts val="0"/>
              </a:spcAft>
              <a:buSzPts val="1100"/>
              <a:buChar char="○"/>
            </a:pPr>
            <a:r>
              <a:rPr lang="en"/>
              <a:t>There is often a system level noun which describes the entire application. Most of the time this noun does not become a class or attribute.</a:t>
            </a:r>
            <a:endParaRPr/>
          </a:p>
          <a:p>
            <a:pPr indent="-298450" lvl="1" marL="914400" rtl="0" algn="l">
              <a:lnSpc>
                <a:spcPct val="100000"/>
              </a:lnSpc>
              <a:spcBef>
                <a:spcPts val="0"/>
              </a:spcBef>
              <a:spcAft>
                <a:spcPts val="0"/>
              </a:spcAft>
              <a:buSzPts val="1100"/>
              <a:buChar char="○"/>
            </a:pPr>
            <a:r>
              <a:rPr lang="en"/>
              <a:t>Examples: the game, the application, the system</a:t>
            </a:r>
            <a:endParaRPr/>
          </a:p>
          <a:p>
            <a:pPr indent="-311150" lvl="0" marL="457200" rtl="0" algn="l">
              <a:lnSpc>
                <a:spcPct val="100000"/>
              </a:lnSpc>
              <a:spcBef>
                <a:spcPts val="0"/>
              </a:spcBef>
              <a:spcAft>
                <a:spcPts val="0"/>
              </a:spcAft>
              <a:buSzPts val="1300"/>
              <a:buChar char="●"/>
            </a:pPr>
            <a:r>
              <a:rPr lang="en"/>
              <a:t>Many verbs will become methods in one of the classes.</a:t>
            </a:r>
            <a:endParaRPr sz="1200"/>
          </a:p>
        </p:txBody>
      </p:sp>
      <p:sp>
        <p:nvSpPr>
          <p:cNvPr id="273" name="Google Shape;273;p4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74" name="Google Shape;274;p48"/>
          <p:cNvSpPr txBox="1"/>
          <p:nvPr>
            <p:ph type="title"/>
          </p:nvPr>
        </p:nvSpPr>
        <p:spPr>
          <a:xfrm>
            <a:off x="5188525" y="3485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Noun/Verb Analysis</a:t>
            </a:r>
            <a:endParaRPr/>
          </a:p>
        </p:txBody>
      </p:sp>
      <p:sp>
        <p:nvSpPr>
          <p:cNvPr id="275" name="Google Shape;275;p48"/>
          <p:cNvSpPr txBox="1"/>
          <p:nvPr>
            <p:ph idx="2" type="body"/>
          </p:nvPr>
        </p:nvSpPr>
        <p:spPr>
          <a:xfrm>
            <a:off x="5192225" y="1133775"/>
            <a:ext cx="3706500" cy="2697300"/>
          </a:xfrm>
          <a:prstGeom prst="rect">
            <a:avLst/>
          </a:prstGeom>
          <a:solidFill>
            <a:srgbClr val="C9DAF8"/>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152400" rtl="0" algn="l">
              <a:lnSpc>
                <a:spcPct val="115000"/>
              </a:lnSpc>
              <a:spcBef>
                <a:spcPts val="0"/>
              </a:spcBef>
              <a:spcAft>
                <a:spcPts val="0"/>
              </a:spcAft>
              <a:buNone/>
            </a:pPr>
            <a:r>
              <a:rPr lang="en">
                <a:solidFill>
                  <a:srgbClr val="000000"/>
                </a:solidFill>
              </a:rPr>
              <a:t>Problem Statement Fragment:</a:t>
            </a:r>
            <a:endParaRPr>
              <a:solidFill>
                <a:srgbClr val="000000"/>
              </a:solidFill>
            </a:endParaRPr>
          </a:p>
          <a:p>
            <a:pPr indent="0" lvl="0" marL="152400" rtl="0" algn="l">
              <a:lnSpc>
                <a:spcPct val="115000"/>
              </a:lnSpc>
              <a:spcBef>
                <a:spcPts val="0"/>
              </a:spcBef>
              <a:spcAft>
                <a:spcPts val="0"/>
              </a:spcAft>
              <a:buNone/>
            </a:pPr>
            <a:r>
              <a:t/>
            </a:r>
            <a:endParaRPr>
              <a:solidFill>
                <a:srgbClr val="000000"/>
              </a:solidFill>
            </a:endParaRPr>
          </a:p>
          <a:p>
            <a:pPr indent="0" lvl="0" marL="152400" rtl="0" algn="l">
              <a:lnSpc>
                <a:spcPct val="115000"/>
              </a:lnSpc>
              <a:spcBef>
                <a:spcPts val="0"/>
              </a:spcBef>
              <a:spcAft>
                <a:spcPts val="0"/>
              </a:spcAft>
              <a:buNone/>
            </a:pPr>
            <a:r>
              <a:rPr lang="en">
                <a:solidFill>
                  <a:srgbClr val="000000"/>
                </a:solidFill>
              </a:rPr>
              <a:t>Every item in the </a:t>
            </a:r>
            <a:r>
              <a:rPr lang="en">
                <a:solidFill>
                  <a:srgbClr val="000000"/>
                </a:solidFill>
              </a:rPr>
              <a:t>Star Wars Battle game </a:t>
            </a:r>
            <a:r>
              <a:rPr lang="en">
                <a:solidFill>
                  <a:srgbClr val="000000"/>
                </a:solidFill>
              </a:rPr>
              <a:t>has a name. Ships also have a hull rating that determines how much damage it can sustain before destruction. In addition, some ships have shields which recharge over time and must be depleted before the hull takes damage. Each ship also includes some level of armament. When fired, the weapons deal various types of damage to enemy ships.</a:t>
            </a:r>
            <a:endParaRPr>
              <a:solidFill>
                <a:srgbClr val="000000"/>
              </a:solidFill>
            </a:endParaRPr>
          </a:p>
          <a:p>
            <a:pPr indent="0" lvl="0" marL="0" rtl="0" algn="l">
              <a:spcBef>
                <a:spcPts val="0"/>
              </a:spcBef>
              <a:spcAft>
                <a:spcPts val="1600"/>
              </a:spcAft>
              <a:buNone/>
            </a:pPr>
            <a:r>
              <a:t/>
            </a:r>
            <a:endParaRPr>
              <a:solidFill>
                <a:srgbClr val="000000"/>
              </a:solidFill>
            </a:endParaRPr>
          </a:p>
        </p:txBody>
      </p:sp>
      <p:sp>
        <p:nvSpPr>
          <p:cNvPr id="276" name="Google Shape;276;p48"/>
          <p:cNvSpPr txBox="1"/>
          <p:nvPr>
            <p:ph idx="3" type="body"/>
          </p:nvPr>
        </p:nvSpPr>
        <p:spPr>
          <a:xfrm>
            <a:off x="5192225" y="3937250"/>
            <a:ext cx="3706500" cy="7851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Most problem statements will contain a very detailed description of the requirements that the software program must satisfy.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ph idx="1" type="body"/>
          </p:nvPr>
        </p:nvSpPr>
        <p:spPr>
          <a:xfrm>
            <a:off x="65250" y="731625"/>
            <a:ext cx="8955900" cy="15639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You will soon see that even simple Java programs will often contain many small classes that work together to solve a larger problem. The first step in writing such a program is planning which classes you will need and what the attributes and methods in each class will be. This process is referred to as </a:t>
            </a:r>
            <a:r>
              <a:rPr i="1" lang="en"/>
              <a:t>software design</a:t>
            </a:r>
            <a:r>
              <a:rPr lang="en"/>
              <a:t>. Let's practice designing a software program based on the simple description below.</a:t>
            </a:r>
            <a:endParaRPr/>
          </a:p>
        </p:txBody>
      </p:sp>
      <p:sp>
        <p:nvSpPr>
          <p:cNvPr id="282" name="Google Shape;282;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9"/>
          <p:cNvSpPr txBox="1"/>
          <p:nvPr>
            <p:ph idx="2" type="body"/>
          </p:nvPr>
        </p:nvSpPr>
        <p:spPr>
          <a:xfrm>
            <a:off x="5204775" y="2330175"/>
            <a:ext cx="3736200" cy="2247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Start by creating a new </a:t>
            </a:r>
            <a:r>
              <a:rPr lang="en">
                <a:solidFill>
                  <a:srgbClr val="FF0000"/>
                </a:solidFill>
                <a:latin typeface="Courier New"/>
                <a:ea typeface="Courier New"/>
                <a:cs typeface="Courier New"/>
                <a:sym typeface="Courier New"/>
              </a:rPr>
              <a:t>design.txt</a:t>
            </a:r>
            <a:r>
              <a:rPr lang="en"/>
              <a:t> file in the root folder of your repository.</a:t>
            </a:r>
            <a:endParaRPr/>
          </a:p>
          <a:p>
            <a:pPr indent="-311150" lvl="0" marL="457200" rtl="0" algn="l">
              <a:spcBef>
                <a:spcPts val="0"/>
              </a:spcBef>
              <a:spcAft>
                <a:spcPts val="0"/>
              </a:spcAft>
              <a:buSzPts val="1300"/>
              <a:buChar char="●"/>
            </a:pPr>
            <a:r>
              <a:rPr lang="en"/>
              <a:t>List all the nouns</a:t>
            </a:r>
            <a:endParaRPr/>
          </a:p>
          <a:p>
            <a:pPr indent="-298450" lvl="1" marL="914400" rtl="0" algn="l">
              <a:spcBef>
                <a:spcPts val="0"/>
              </a:spcBef>
              <a:spcAft>
                <a:spcPts val="0"/>
              </a:spcAft>
              <a:buSzPts val="1100"/>
              <a:buChar char="○"/>
            </a:pPr>
            <a:r>
              <a:rPr lang="en"/>
              <a:t>Indent attributes below their respective class names</a:t>
            </a:r>
            <a:endParaRPr/>
          </a:p>
          <a:p>
            <a:pPr indent="-311150" lvl="0" marL="457200" rtl="0" algn="l">
              <a:spcBef>
                <a:spcPts val="0"/>
              </a:spcBef>
              <a:spcAft>
                <a:spcPts val="0"/>
              </a:spcAft>
              <a:buSzPts val="1300"/>
              <a:buChar char="●"/>
            </a:pPr>
            <a:r>
              <a:rPr lang="en"/>
              <a:t>Add the verbs to the listing</a:t>
            </a:r>
            <a:endParaRPr/>
          </a:p>
          <a:p>
            <a:pPr indent="-298450" lvl="1" marL="914400" rtl="0" algn="l">
              <a:spcBef>
                <a:spcPts val="0"/>
              </a:spcBef>
              <a:spcAft>
                <a:spcPts val="0"/>
              </a:spcAft>
              <a:buSzPts val="1100"/>
              <a:buChar char="○"/>
            </a:pPr>
            <a:r>
              <a:rPr lang="en"/>
              <a:t>Indent verbs below their encapsulating class name</a:t>
            </a:r>
            <a:endParaRPr/>
          </a:p>
          <a:p>
            <a:pPr indent="-298450" lvl="1" marL="914400" rtl="0" algn="l">
              <a:spcBef>
                <a:spcPts val="0"/>
              </a:spcBef>
              <a:spcAft>
                <a:spcPts val="0"/>
              </a:spcAft>
              <a:buSzPts val="1100"/>
              <a:buChar char="○"/>
            </a:pPr>
            <a:r>
              <a:rPr lang="en"/>
              <a:t>Include any known parameters inside the methods parentheses	</a:t>
            </a:r>
            <a:endParaRPr/>
          </a:p>
        </p:txBody>
      </p:sp>
      <p:sp>
        <p:nvSpPr>
          <p:cNvPr id="284" name="Google Shape;284;p4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Getting Started With Design</a:t>
            </a:r>
            <a:endParaRPr/>
          </a:p>
        </p:txBody>
      </p:sp>
      <p:sp>
        <p:nvSpPr>
          <p:cNvPr id="285" name="Google Shape;285;p4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a:t>
            </a:r>
            <a:endParaRPr/>
          </a:p>
        </p:txBody>
      </p:sp>
      <p:sp>
        <p:nvSpPr>
          <p:cNvPr id="286" name="Google Shape;286;p49"/>
          <p:cNvSpPr txBox="1"/>
          <p:nvPr>
            <p:ph idx="4" type="body"/>
          </p:nvPr>
        </p:nvSpPr>
        <p:spPr>
          <a:xfrm>
            <a:off x="186675" y="2406375"/>
            <a:ext cx="5094300" cy="24012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Problem Statement</a:t>
            </a:r>
            <a:endParaRPr b="1"/>
          </a:p>
          <a:p>
            <a:pPr indent="0" lvl="0" marL="0" rtl="0" algn="l">
              <a:spcBef>
                <a:spcPts val="0"/>
              </a:spcBef>
              <a:spcAft>
                <a:spcPts val="0"/>
              </a:spcAft>
              <a:buNone/>
            </a:pPr>
            <a:r>
              <a:rPr lang="en"/>
              <a:t>The Star Wars Battle game simulates space battles between various ships in the Star Wars Cinematic Universe. Every ship has a name and a hull rating that determines how much damage it can sustain before destruction. In addition, some ships have shields which recharge over time and must be depleted before the hull takes damage.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ship also includes some level of armament. Larger ships generally have more armament. When fired, the weapons deal various types of damage to enemy ships. Each weapon has a name and there are three types of color coded weapon damage: Heavy (Green), Normal (Red), Ion (Blue).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50"/>
          <p:cNvPicPr preferRelativeResize="0"/>
          <p:nvPr/>
        </p:nvPicPr>
        <p:blipFill>
          <a:blip r:embed="rId3">
            <a:alphaModFix/>
          </a:blip>
          <a:stretch>
            <a:fillRect/>
          </a:stretch>
        </p:blipFill>
        <p:spPr>
          <a:xfrm>
            <a:off x="5210725" y="456050"/>
            <a:ext cx="3814500" cy="3814500"/>
          </a:xfrm>
          <a:prstGeom prst="rect">
            <a:avLst/>
          </a:prstGeom>
          <a:noFill/>
          <a:ln>
            <a:noFill/>
          </a:ln>
        </p:spPr>
      </p:pic>
      <p:sp>
        <p:nvSpPr>
          <p:cNvPr id="292" name="Google Shape;292;p50"/>
          <p:cNvSpPr txBox="1"/>
          <p:nvPr>
            <p:ph type="title"/>
          </p:nvPr>
        </p:nvSpPr>
        <p:spPr>
          <a:xfrm>
            <a:off x="5264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Fields</a:t>
            </a:r>
            <a:endParaRPr/>
          </a:p>
        </p:txBody>
      </p:sp>
      <p:sp>
        <p:nvSpPr>
          <p:cNvPr id="293" name="Google Shape;293;p50"/>
          <p:cNvSpPr txBox="1"/>
          <p:nvPr>
            <p:ph idx="1" type="body"/>
          </p:nvPr>
        </p:nvSpPr>
        <p:spPr>
          <a:xfrm>
            <a:off x="329400" y="119925"/>
            <a:ext cx="4166400" cy="4944000"/>
          </a:xfrm>
          <a:prstGeom prst="rect">
            <a:avLst/>
          </a:prstGeom>
        </p:spPr>
        <p:txBody>
          <a:bodyPr anchorCtr="0" anchor="t" bIns="91425" lIns="91425" spcFirstLastPara="1" rIns="91425" wrap="square" tIns="91425">
            <a:spAutoFit/>
          </a:bodyPr>
          <a:lstStyle/>
          <a:p>
            <a:pPr indent="-313245" lvl="0" marL="457200" rtl="0" algn="l">
              <a:lnSpc>
                <a:spcPct val="115000"/>
              </a:lnSpc>
              <a:spcBef>
                <a:spcPts val="0"/>
              </a:spcBef>
              <a:spcAft>
                <a:spcPts val="0"/>
              </a:spcAft>
              <a:buSzPts val="1333"/>
              <a:buFont typeface="Calibri"/>
              <a:buChar char="●"/>
            </a:pPr>
            <a:r>
              <a:rPr lang="en" sz="1333"/>
              <a:t>So far, we have exclusively used Java to write </a:t>
            </a:r>
            <a:r>
              <a:rPr b="1" i="1" lang="en" sz="1333">
                <a:solidFill>
                  <a:srgbClr val="FF0000"/>
                </a:solidFill>
              </a:rPr>
              <a:t>procedural programs</a:t>
            </a:r>
            <a:r>
              <a:rPr lang="en" sz="1333"/>
              <a:t>.</a:t>
            </a:r>
            <a:endParaRPr sz="1333"/>
          </a:p>
          <a:p>
            <a:pPr indent="-300545" lvl="1" marL="914400" rtl="0" algn="l">
              <a:lnSpc>
                <a:spcPct val="115000"/>
              </a:lnSpc>
              <a:spcBef>
                <a:spcPts val="0"/>
              </a:spcBef>
              <a:spcAft>
                <a:spcPts val="0"/>
              </a:spcAft>
              <a:buSzPts val="1133"/>
              <a:buChar char="○"/>
            </a:pPr>
            <a:r>
              <a:rPr lang="en" sz="1133"/>
              <a:t>That is a program that encapsulates code into functions and then calls the functions when the program is executed.</a:t>
            </a:r>
            <a:endParaRPr sz="1133"/>
          </a:p>
          <a:p>
            <a:pPr indent="-306895" lvl="0" marL="457200" rtl="0" algn="l">
              <a:lnSpc>
                <a:spcPct val="115000"/>
              </a:lnSpc>
              <a:spcBef>
                <a:spcPts val="1000"/>
              </a:spcBef>
              <a:spcAft>
                <a:spcPts val="0"/>
              </a:spcAft>
              <a:buSzPts val="1233"/>
              <a:buChar char="●"/>
            </a:pPr>
            <a:r>
              <a:rPr lang="en" sz="1233"/>
              <a:t>By now you understand that, </a:t>
            </a:r>
            <a:r>
              <a:rPr lang="en" sz="1333"/>
              <a:t>i</a:t>
            </a:r>
            <a:r>
              <a:rPr lang="en" sz="1333"/>
              <a:t>n Java, almost everything you create will be part of a </a:t>
            </a:r>
            <a:r>
              <a:rPr b="1" i="1" lang="en" sz="1333">
                <a:solidFill>
                  <a:srgbClr val="FF0000"/>
                </a:solidFill>
              </a:rPr>
              <a:t>class</a:t>
            </a:r>
            <a:r>
              <a:rPr lang="en" sz="1333"/>
              <a:t>.</a:t>
            </a:r>
            <a:endParaRPr sz="1333"/>
          </a:p>
          <a:p>
            <a:pPr indent="-313245" lvl="0" marL="457200" rtl="0" algn="l">
              <a:lnSpc>
                <a:spcPct val="115000"/>
              </a:lnSpc>
              <a:spcBef>
                <a:spcPts val="1000"/>
              </a:spcBef>
              <a:spcAft>
                <a:spcPts val="0"/>
              </a:spcAft>
              <a:buSzPts val="1333"/>
              <a:buChar char="●"/>
            </a:pPr>
            <a:r>
              <a:rPr lang="en" sz="1333"/>
              <a:t>Even though we haven't done it in Java yet, classes </a:t>
            </a:r>
            <a:r>
              <a:rPr i="1" lang="en" sz="1333"/>
              <a:t>can</a:t>
            </a:r>
            <a:r>
              <a:rPr lang="en" sz="1333"/>
              <a:t> be used like a </a:t>
            </a:r>
            <a:r>
              <a:rPr b="1" i="1" lang="en" sz="1333">
                <a:solidFill>
                  <a:srgbClr val="FF0000"/>
                </a:solidFill>
              </a:rPr>
              <a:t>blueprint</a:t>
            </a:r>
            <a:r>
              <a:rPr lang="en" sz="1333"/>
              <a:t> to define the </a:t>
            </a:r>
            <a:r>
              <a:rPr b="1" i="1" lang="en" sz="1333">
                <a:solidFill>
                  <a:srgbClr val="FF0000"/>
                </a:solidFill>
              </a:rPr>
              <a:t>state</a:t>
            </a:r>
            <a:r>
              <a:rPr lang="en" sz="1333">
                <a:solidFill>
                  <a:srgbClr val="FF0000"/>
                </a:solidFill>
              </a:rPr>
              <a:t> </a:t>
            </a:r>
            <a:r>
              <a:rPr lang="en" sz="1333"/>
              <a:t>and </a:t>
            </a:r>
            <a:r>
              <a:rPr b="1" i="1" lang="en" sz="1333">
                <a:solidFill>
                  <a:srgbClr val="FF0000"/>
                </a:solidFill>
              </a:rPr>
              <a:t>behavior</a:t>
            </a:r>
            <a:r>
              <a:rPr lang="en" sz="1333">
                <a:solidFill>
                  <a:srgbClr val="FF0000"/>
                </a:solidFill>
              </a:rPr>
              <a:t> </a:t>
            </a:r>
            <a:r>
              <a:rPr lang="en" sz="1333"/>
              <a:t>of some category of thing, e.g. pets or houses.</a:t>
            </a:r>
            <a:endParaRPr sz="1333"/>
          </a:p>
          <a:p>
            <a:pPr indent="-300545" lvl="1" marL="914400" rtl="0" algn="l">
              <a:lnSpc>
                <a:spcPct val="115000"/>
              </a:lnSpc>
              <a:spcBef>
                <a:spcPts val="0"/>
              </a:spcBef>
              <a:spcAft>
                <a:spcPts val="0"/>
              </a:spcAft>
              <a:buSzPts val="1133"/>
              <a:buChar char="○"/>
            </a:pPr>
            <a:r>
              <a:rPr lang="en" sz="1133"/>
              <a:t>Collectively, we refer to the state and behavior of a class as its </a:t>
            </a:r>
            <a:r>
              <a:rPr b="1" i="1" lang="en" sz="1133">
                <a:solidFill>
                  <a:srgbClr val="FF0000"/>
                </a:solidFill>
              </a:rPr>
              <a:t>members</a:t>
            </a:r>
            <a:r>
              <a:rPr lang="en" sz="1133"/>
              <a:t>.</a:t>
            </a:r>
            <a:endParaRPr sz="1133"/>
          </a:p>
          <a:p>
            <a:pPr indent="-313245" lvl="0" marL="457200" rtl="0" algn="l">
              <a:lnSpc>
                <a:spcPct val="115000"/>
              </a:lnSpc>
              <a:spcBef>
                <a:spcPts val="1000"/>
              </a:spcBef>
              <a:spcAft>
                <a:spcPts val="0"/>
              </a:spcAft>
              <a:buSzPts val="1333"/>
              <a:buChar char="●"/>
            </a:pPr>
            <a:r>
              <a:rPr lang="en" sz="1333"/>
              <a:t>The state of a Java class comprises </a:t>
            </a:r>
            <a:r>
              <a:rPr b="1" i="1" lang="en" sz="1333">
                <a:solidFill>
                  <a:srgbClr val="FF0000"/>
                </a:solidFill>
              </a:rPr>
              <a:t>variables</a:t>
            </a:r>
            <a:r>
              <a:rPr lang="en" sz="1333">
                <a:solidFill>
                  <a:srgbClr val="FF0000"/>
                </a:solidFill>
              </a:rPr>
              <a:t> </a:t>
            </a:r>
            <a:r>
              <a:rPr lang="en" sz="1333"/>
              <a:t>that are declared inside the body of the class, but outside of any of its methods.</a:t>
            </a:r>
            <a:endParaRPr sz="1333"/>
          </a:p>
          <a:p>
            <a:pPr indent="-300545" lvl="1" marL="914400" rtl="0" algn="l">
              <a:lnSpc>
                <a:spcPct val="115000"/>
              </a:lnSpc>
              <a:spcBef>
                <a:spcPts val="0"/>
              </a:spcBef>
              <a:spcAft>
                <a:spcPts val="0"/>
              </a:spcAft>
              <a:buSzPts val="1133"/>
              <a:buChar char="○"/>
            </a:pPr>
            <a:r>
              <a:rPr lang="en" sz="1133"/>
              <a:t>We refer to these variables as </a:t>
            </a:r>
            <a:r>
              <a:rPr b="1" i="1" lang="en" sz="1133">
                <a:solidFill>
                  <a:srgbClr val="FF0000"/>
                </a:solidFill>
              </a:rPr>
              <a:t>fields</a:t>
            </a:r>
            <a:r>
              <a:rPr lang="en" sz="1133"/>
              <a:t>.</a:t>
            </a:r>
            <a:endParaRPr sz="1133"/>
          </a:p>
          <a:p>
            <a:pPr indent="-300545" lvl="1" marL="914400" rtl="0" algn="l">
              <a:lnSpc>
                <a:spcPct val="115000"/>
              </a:lnSpc>
              <a:spcBef>
                <a:spcPts val="0"/>
              </a:spcBef>
              <a:spcAft>
                <a:spcPts val="0"/>
              </a:spcAft>
              <a:buSzPts val="1133"/>
              <a:buChar char="○"/>
            </a:pPr>
            <a:r>
              <a:rPr lang="en" sz="1133"/>
              <a:t>Fields are also sometimes called </a:t>
            </a:r>
            <a:r>
              <a:rPr b="1" i="1" lang="en" sz="1133">
                <a:solidFill>
                  <a:srgbClr val="FF0000"/>
                </a:solidFill>
              </a:rPr>
              <a:t>attributes</a:t>
            </a:r>
            <a:r>
              <a:rPr lang="en" sz="1133"/>
              <a:t>.</a:t>
            </a:r>
            <a:endParaRPr sz="1133"/>
          </a:p>
          <a:p>
            <a:pPr indent="-300545" lvl="1" marL="914400" rtl="0" algn="l">
              <a:lnSpc>
                <a:spcPct val="115000"/>
              </a:lnSpc>
              <a:spcBef>
                <a:spcPts val="0"/>
              </a:spcBef>
              <a:spcAft>
                <a:spcPts val="0"/>
              </a:spcAft>
              <a:buSzPts val="1133"/>
              <a:buChar char="○"/>
            </a:pPr>
            <a:r>
              <a:rPr lang="en" sz="1133"/>
              <a:t>At a minimum, each field must be declared with a </a:t>
            </a:r>
            <a:r>
              <a:rPr b="1" i="1" lang="en" sz="1133">
                <a:solidFill>
                  <a:srgbClr val="FF0000"/>
                </a:solidFill>
              </a:rPr>
              <a:t>type</a:t>
            </a:r>
            <a:r>
              <a:rPr lang="en" sz="1133">
                <a:solidFill>
                  <a:srgbClr val="FF0000"/>
                </a:solidFill>
              </a:rPr>
              <a:t> </a:t>
            </a:r>
            <a:r>
              <a:rPr lang="en" sz="1133"/>
              <a:t>and a </a:t>
            </a:r>
            <a:r>
              <a:rPr b="1" i="1" lang="en" sz="1133">
                <a:solidFill>
                  <a:srgbClr val="FF0000"/>
                </a:solidFill>
              </a:rPr>
              <a:t>unique name</a:t>
            </a:r>
            <a:r>
              <a:rPr lang="en" sz="1133"/>
              <a:t>.</a:t>
            </a:r>
            <a:endParaRPr sz="1133"/>
          </a:p>
        </p:txBody>
      </p:sp>
      <p:sp>
        <p:nvSpPr>
          <p:cNvPr id="294" name="Google Shape;294;p50"/>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95" name="Google Shape;295;p50"/>
          <p:cNvSpPr txBox="1"/>
          <p:nvPr>
            <p:ph idx="3" type="body"/>
          </p:nvPr>
        </p:nvSpPr>
        <p:spPr>
          <a:xfrm>
            <a:off x="5210725" y="4156900"/>
            <a:ext cx="3814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There are a lot of terms associated with Object-Oriented Programming. Understanding the vernacular can be just as </a:t>
            </a:r>
            <a:r>
              <a:rPr lang="en" sz="1200"/>
              <a:t>important </a:t>
            </a:r>
            <a:r>
              <a:rPr lang="en" sz="1200"/>
              <a:t>as programming.</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1"/>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Fields</a:t>
            </a:r>
            <a:endParaRPr/>
          </a:p>
        </p:txBody>
      </p:sp>
      <p:sp>
        <p:nvSpPr>
          <p:cNvPr id="301" name="Google Shape;301;p5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51"/>
          <p:cNvSpPr txBox="1"/>
          <p:nvPr>
            <p:ph idx="4294967295" type="body"/>
          </p:nvPr>
        </p:nvSpPr>
        <p:spPr>
          <a:xfrm>
            <a:off x="4572000" y="1580552"/>
            <a:ext cx="3762000" cy="1982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00">
                <a:solidFill>
                  <a:srgbClr val="6AA84F"/>
                </a:solidFill>
                <a:latin typeface="Consolas"/>
                <a:ea typeface="Consolas"/>
                <a:cs typeface="Consolas"/>
                <a:sym typeface="Consolas"/>
              </a:rPr>
              <a:t>1  </a:t>
            </a:r>
            <a:r>
              <a:rPr lang="en" sz="1500">
                <a:solidFill>
                  <a:srgbClr val="0000FF"/>
                </a:solidFill>
                <a:latin typeface="Consolas"/>
                <a:ea typeface="Consolas"/>
                <a:cs typeface="Consolas"/>
                <a:sym typeface="Consolas"/>
              </a:rPr>
              <a:t>public</a:t>
            </a:r>
            <a:r>
              <a:rPr lang="en" sz="1500">
                <a:solidFill>
                  <a:srgbClr val="000000"/>
                </a:solidFill>
                <a:latin typeface="Consolas"/>
                <a:ea typeface="Consolas"/>
                <a:cs typeface="Consolas"/>
                <a:sym typeface="Consolas"/>
              </a:rPr>
              <a:t> </a:t>
            </a:r>
            <a:r>
              <a:rPr lang="en" sz="1500">
                <a:solidFill>
                  <a:srgbClr val="0000FF"/>
                </a:solidFill>
                <a:latin typeface="Consolas"/>
                <a:ea typeface="Consolas"/>
                <a:cs typeface="Consolas"/>
                <a:sym typeface="Consolas"/>
              </a:rPr>
              <a:t>class</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House</a:t>
            </a:r>
            <a:r>
              <a:rPr lang="en" sz="1500">
                <a:solidFill>
                  <a:srgbClr val="000000"/>
                </a:solidFill>
                <a:latin typeface="Consolas"/>
                <a:ea typeface="Consolas"/>
                <a:cs typeface="Consolas"/>
                <a:sym typeface="Consolas"/>
              </a:rPr>
              <a:t> {</a:t>
            </a:r>
            <a:endParaRPr sz="15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500">
                <a:solidFill>
                  <a:srgbClr val="6AA84F"/>
                </a:solidFill>
                <a:latin typeface="Consolas"/>
                <a:ea typeface="Consolas"/>
                <a:cs typeface="Consolas"/>
                <a:sym typeface="Consolas"/>
              </a:rPr>
              <a:t>2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int</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numBathrooms</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500">
                <a:solidFill>
                  <a:srgbClr val="6AA84F"/>
                </a:solidFill>
                <a:latin typeface="Consolas"/>
                <a:ea typeface="Consolas"/>
                <a:cs typeface="Consolas"/>
                <a:sym typeface="Consolas"/>
              </a:rPr>
              <a:t>3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int</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numBedrooms</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500">
                <a:solidFill>
                  <a:srgbClr val="6AA84F"/>
                </a:solidFill>
                <a:latin typeface="Consolas"/>
                <a:ea typeface="Consolas"/>
                <a:cs typeface="Consolas"/>
                <a:sym typeface="Consolas"/>
              </a:rPr>
              <a:t>4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boolean</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hvac</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500">
                <a:solidFill>
                  <a:srgbClr val="6AA84F"/>
                </a:solidFill>
                <a:latin typeface="Consolas"/>
                <a:ea typeface="Consolas"/>
                <a:cs typeface="Consolas"/>
                <a:sym typeface="Consolas"/>
              </a:rPr>
              <a:t>5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String</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exteriorColor</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500">
                <a:solidFill>
                  <a:srgbClr val="6AA84F"/>
                </a:solidFill>
                <a:latin typeface="Consolas"/>
                <a:ea typeface="Consolas"/>
                <a:cs typeface="Consolas"/>
                <a:sym typeface="Consolas"/>
              </a:rPr>
              <a:t>6 </a:t>
            </a:r>
            <a:r>
              <a:rPr lang="en" sz="1500">
                <a:solidFill>
                  <a:srgbClr val="000000"/>
                </a:solidFill>
                <a:latin typeface="Consolas"/>
                <a:ea typeface="Consolas"/>
                <a:cs typeface="Consolas"/>
                <a:sym typeface="Consolas"/>
              </a:rPr>
              <a:t>}</a:t>
            </a:r>
            <a:endParaRPr sz="1700"/>
          </a:p>
        </p:txBody>
      </p:sp>
      <p:sp>
        <p:nvSpPr>
          <p:cNvPr id="303" name="Google Shape;303;p51"/>
          <p:cNvSpPr txBox="1"/>
          <p:nvPr/>
        </p:nvSpPr>
        <p:spPr>
          <a:xfrm>
            <a:off x="311700" y="908400"/>
            <a:ext cx="38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You will recall that a </a:t>
            </a:r>
            <a:r>
              <a:rPr b="1" i="1" lang="en" sz="1200">
                <a:solidFill>
                  <a:srgbClr val="FF0000"/>
                </a:solidFill>
              </a:rPr>
              <a:t>class</a:t>
            </a:r>
            <a:r>
              <a:rPr lang="en" sz="1200">
                <a:solidFill>
                  <a:srgbClr val="FF0000"/>
                </a:solidFill>
              </a:rPr>
              <a:t> </a:t>
            </a:r>
            <a:r>
              <a:rPr lang="en" sz="1200"/>
              <a:t>is like a blueprint that defines the </a:t>
            </a:r>
            <a:r>
              <a:rPr b="1" i="1" lang="en" sz="1200">
                <a:solidFill>
                  <a:srgbClr val="FF0000"/>
                </a:solidFill>
              </a:rPr>
              <a:t>state </a:t>
            </a:r>
            <a:r>
              <a:rPr lang="en" sz="1200"/>
              <a:t>and </a:t>
            </a:r>
            <a:r>
              <a:rPr b="1" i="1" lang="en" sz="1200">
                <a:solidFill>
                  <a:srgbClr val="FF0000"/>
                </a:solidFill>
              </a:rPr>
              <a:t>behavior </a:t>
            </a:r>
            <a:r>
              <a:rPr lang="en" sz="1200"/>
              <a:t>of some category of things e.g. pets, cars, or houses.</a:t>
            </a:r>
            <a:endParaRPr sz="1200"/>
          </a:p>
        </p:txBody>
      </p:sp>
      <p:sp>
        <p:nvSpPr>
          <p:cNvPr id="304" name="Google Shape;304;p51"/>
          <p:cNvSpPr txBox="1"/>
          <p:nvPr/>
        </p:nvSpPr>
        <p:spPr>
          <a:xfrm>
            <a:off x="311700" y="1787850"/>
            <a:ext cx="38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attributes that make up the state of the class are called </a:t>
            </a:r>
            <a:r>
              <a:rPr b="1" i="1" lang="en" sz="1200">
                <a:solidFill>
                  <a:srgbClr val="FF0000"/>
                </a:solidFill>
              </a:rPr>
              <a:t>fields</a:t>
            </a:r>
            <a:r>
              <a:rPr lang="en" sz="1200"/>
              <a:t>; this is the object-oriented term for variables that are part of an object.</a:t>
            </a:r>
            <a:endParaRPr sz="1200"/>
          </a:p>
        </p:txBody>
      </p:sp>
      <p:sp>
        <p:nvSpPr>
          <p:cNvPr id="305" name="Google Shape;305;p51"/>
          <p:cNvSpPr txBox="1"/>
          <p:nvPr/>
        </p:nvSpPr>
        <p:spPr>
          <a:xfrm>
            <a:off x="311700" y="2667300"/>
            <a:ext cx="38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In Java, fields are variables that are declared inside the body of the class, but outside of any of its methods.</a:t>
            </a:r>
            <a:endParaRPr sz="1200"/>
          </a:p>
        </p:txBody>
      </p:sp>
      <p:sp>
        <p:nvSpPr>
          <p:cNvPr id="306" name="Google Shape;306;p51"/>
          <p:cNvSpPr txBox="1"/>
          <p:nvPr/>
        </p:nvSpPr>
        <p:spPr>
          <a:xfrm>
            <a:off x="311700" y="3546750"/>
            <a:ext cx="38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Java fields are similar to slots in Python except that Java will guarantee that every object has an instance of each of the fields defined by its class. </a:t>
            </a:r>
            <a:endParaRPr sz="1200"/>
          </a:p>
        </p:txBody>
      </p:sp>
      <p:grpSp>
        <p:nvGrpSpPr>
          <p:cNvPr id="307" name="Google Shape;307;p51"/>
          <p:cNvGrpSpPr/>
          <p:nvPr/>
        </p:nvGrpSpPr>
        <p:grpSpPr>
          <a:xfrm>
            <a:off x="4126200" y="1980050"/>
            <a:ext cx="3307900" cy="1245300"/>
            <a:chOff x="4126200" y="1980050"/>
            <a:chExt cx="3307900" cy="1245300"/>
          </a:xfrm>
        </p:grpSpPr>
        <p:sp>
          <p:nvSpPr>
            <p:cNvPr id="308" name="Google Shape;308;p51"/>
            <p:cNvSpPr/>
            <p:nvPr/>
          </p:nvSpPr>
          <p:spPr>
            <a:xfrm>
              <a:off x="5090500" y="1980050"/>
              <a:ext cx="2343600" cy="1245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09" name="Google Shape;309;p51"/>
            <p:cNvCxnSpPr>
              <a:stCxn id="305" idx="3"/>
              <a:endCxn id="308" idx="1"/>
            </p:cNvCxnSpPr>
            <p:nvPr/>
          </p:nvCxnSpPr>
          <p:spPr>
            <a:xfrm flipH="1" rot="10800000">
              <a:off x="4126200" y="2602650"/>
              <a:ext cx="964200" cy="434100"/>
            </a:xfrm>
            <a:prstGeom prst="bentConnector3">
              <a:avLst>
                <a:gd fmla="val 34923" name="adj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52"/>
          <p:cNvSpPr txBox="1"/>
          <p:nvPr>
            <p:ph type="title"/>
          </p:nvPr>
        </p:nvSpPr>
        <p:spPr>
          <a:xfrm>
            <a:off x="465350" y="119925"/>
            <a:ext cx="3406800" cy="908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Object Creation</a:t>
            </a:r>
            <a:endParaRPr/>
          </a:p>
          <a:p>
            <a:pPr indent="0" lvl="0" marL="0" rtl="0" algn="l">
              <a:spcBef>
                <a:spcPts val="0"/>
              </a:spcBef>
              <a:spcAft>
                <a:spcPts val="0"/>
              </a:spcAft>
              <a:buNone/>
            </a:pPr>
            <a:r>
              <a:rPr lang="en" sz="1900"/>
              <a:t>(Default Constructors)</a:t>
            </a:r>
            <a:endParaRPr sz="1900"/>
          </a:p>
        </p:txBody>
      </p:sp>
      <p:sp>
        <p:nvSpPr>
          <p:cNvPr id="316" name="Google Shape;316;p52"/>
          <p:cNvSpPr txBox="1"/>
          <p:nvPr>
            <p:ph idx="1" type="body"/>
          </p:nvPr>
        </p:nvSpPr>
        <p:spPr>
          <a:xfrm>
            <a:off x="4381800" y="39250"/>
            <a:ext cx="4445400" cy="5077800"/>
          </a:xfrm>
          <a:prstGeom prst="rect">
            <a:avLst/>
          </a:prstGeom>
        </p:spPr>
        <p:txBody>
          <a:bodyPr anchorCtr="0" anchor="t" bIns="91425" lIns="91425" spcFirstLastPara="1" rIns="91425" wrap="square" tIns="91425">
            <a:spAutoFit/>
          </a:bodyPr>
          <a:lstStyle/>
          <a:p>
            <a:pPr indent="-319595" lvl="0" marL="457200" rtl="0" algn="l">
              <a:lnSpc>
                <a:spcPct val="115000"/>
              </a:lnSpc>
              <a:spcBef>
                <a:spcPts val="0"/>
              </a:spcBef>
              <a:spcAft>
                <a:spcPts val="0"/>
              </a:spcAft>
              <a:buSzPts val="1433"/>
              <a:buFont typeface="Calibri"/>
              <a:buChar char="●"/>
            </a:pPr>
            <a:r>
              <a:rPr lang="en" sz="1433"/>
              <a:t>A class is like a </a:t>
            </a:r>
            <a:r>
              <a:rPr b="1" i="1" lang="en" sz="1433">
                <a:solidFill>
                  <a:srgbClr val="FF0000"/>
                </a:solidFill>
              </a:rPr>
              <a:t>blueprint</a:t>
            </a:r>
            <a:r>
              <a:rPr lang="en" sz="1433"/>
              <a:t> that tells us how to build something but a class cannot be used directly.</a:t>
            </a:r>
            <a:endParaRPr sz="1433"/>
          </a:p>
          <a:p>
            <a:pPr indent="-319595" lvl="1" marL="914400" rtl="0" algn="l">
              <a:lnSpc>
                <a:spcPct val="115000"/>
              </a:lnSpc>
              <a:spcBef>
                <a:spcPts val="0"/>
              </a:spcBef>
              <a:spcAft>
                <a:spcPts val="0"/>
              </a:spcAft>
              <a:buSzPts val="1433"/>
              <a:buChar char="○"/>
            </a:pPr>
            <a:r>
              <a:rPr lang="en" sz="1200"/>
              <a:t>Think of the blueprint to a house, you cannot live in the blueprint, you must build the house first.</a:t>
            </a:r>
            <a:endParaRPr sz="1200"/>
          </a:p>
          <a:p>
            <a:pPr indent="-319595" lvl="0" marL="457200" rtl="0" algn="l">
              <a:lnSpc>
                <a:spcPct val="115000"/>
              </a:lnSpc>
              <a:spcBef>
                <a:spcPts val="1000"/>
              </a:spcBef>
              <a:spcAft>
                <a:spcPts val="0"/>
              </a:spcAft>
              <a:buSzPts val="1433"/>
              <a:buFont typeface="Calibri"/>
              <a:buChar char="●"/>
            </a:pPr>
            <a:r>
              <a:rPr lang="en" sz="1433"/>
              <a:t>The process of construction is called </a:t>
            </a:r>
            <a:r>
              <a:rPr b="1" i="1" lang="en" sz="1433">
                <a:solidFill>
                  <a:srgbClr val="FF0000"/>
                </a:solidFill>
              </a:rPr>
              <a:t>instantiation</a:t>
            </a:r>
            <a:r>
              <a:rPr lang="en" sz="1433"/>
              <a:t>.</a:t>
            </a:r>
            <a:endParaRPr b="1" i="1" sz="1433">
              <a:solidFill>
                <a:srgbClr val="FF0000"/>
              </a:solidFill>
            </a:endParaRPr>
          </a:p>
          <a:p>
            <a:pPr indent="-319595" lvl="1" marL="914400" rtl="0" algn="l">
              <a:lnSpc>
                <a:spcPct val="115000"/>
              </a:lnSpc>
              <a:spcBef>
                <a:spcPts val="0"/>
              </a:spcBef>
              <a:spcAft>
                <a:spcPts val="0"/>
              </a:spcAft>
              <a:buSzPts val="1433"/>
              <a:buFont typeface="Calibri"/>
              <a:buChar char="○"/>
            </a:pPr>
            <a:r>
              <a:rPr lang="en" sz="1200"/>
              <a:t>This is the process through which you create an </a:t>
            </a:r>
            <a:r>
              <a:rPr b="1" i="1" lang="en" sz="1200">
                <a:solidFill>
                  <a:srgbClr val="FF0000"/>
                </a:solidFill>
              </a:rPr>
              <a:t>instance </a:t>
            </a:r>
            <a:r>
              <a:rPr lang="en" sz="1200"/>
              <a:t>(</a:t>
            </a:r>
            <a:r>
              <a:rPr b="1" i="1" lang="en" sz="1200">
                <a:solidFill>
                  <a:srgbClr val="FF0000"/>
                </a:solidFill>
              </a:rPr>
              <a:t>object</a:t>
            </a:r>
            <a:r>
              <a:rPr lang="en" sz="1200"/>
              <a:t>) of a class.</a:t>
            </a:r>
            <a:endParaRPr sz="1200"/>
          </a:p>
          <a:p>
            <a:pPr indent="-317500" lvl="0" marL="457200" rtl="0" algn="l">
              <a:spcBef>
                <a:spcPts val="1000"/>
              </a:spcBef>
              <a:spcAft>
                <a:spcPts val="0"/>
              </a:spcAft>
              <a:buSzPts val="1400"/>
              <a:buChar char="●"/>
            </a:pPr>
            <a:r>
              <a:rPr lang="en" sz="1400"/>
              <a:t>An </a:t>
            </a:r>
            <a:r>
              <a:rPr b="1" i="1" lang="en" sz="1400">
                <a:solidFill>
                  <a:srgbClr val="FF0000"/>
                </a:solidFill>
              </a:rPr>
              <a:t>object </a:t>
            </a:r>
            <a:r>
              <a:rPr lang="en" sz="1400"/>
              <a:t>acts like a </a:t>
            </a:r>
            <a:r>
              <a:rPr b="1" i="1" lang="en" sz="1400">
                <a:solidFill>
                  <a:srgbClr val="FF0000"/>
                </a:solidFill>
              </a:rPr>
              <a:t>container </a:t>
            </a:r>
            <a:r>
              <a:rPr lang="en" sz="1400"/>
              <a:t>that holds its </a:t>
            </a:r>
            <a:r>
              <a:rPr b="1" i="1" lang="en" sz="1400">
                <a:solidFill>
                  <a:srgbClr val="FF0000"/>
                </a:solidFill>
              </a:rPr>
              <a:t>state</a:t>
            </a:r>
            <a:r>
              <a:rPr i="1" lang="en" sz="1400">
                <a:solidFill>
                  <a:srgbClr val="FF0000"/>
                </a:solidFill>
              </a:rPr>
              <a:t> </a:t>
            </a:r>
            <a:r>
              <a:rPr lang="en" sz="1400"/>
              <a:t>and </a:t>
            </a:r>
            <a:r>
              <a:rPr b="1" i="1" lang="en" sz="1400">
                <a:solidFill>
                  <a:srgbClr val="FF0000"/>
                </a:solidFill>
              </a:rPr>
              <a:t>behavior</a:t>
            </a:r>
            <a:r>
              <a:rPr i="1" lang="en" sz="1400">
                <a:solidFill>
                  <a:srgbClr val="FF0000"/>
                </a:solidFill>
              </a:rPr>
              <a:t> </a:t>
            </a:r>
            <a:r>
              <a:rPr lang="en" sz="1400"/>
              <a:t>together in one place.</a:t>
            </a:r>
            <a:endParaRPr/>
          </a:p>
          <a:p>
            <a:pPr indent="-319595" lvl="0" marL="457200" rtl="0" algn="l">
              <a:lnSpc>
                <a:spcPct val="115000"/>
              </a:lnSpc>
              <a:spcBef>
                <a:spcPts val="1000"/>
              </a:spcBef>
              <a:spcAft>
                <a:spcPts val="0"/>
              </a:spcAft>
              <a:buSzPts val="1433"/>
              <a:buFont typeface="Calibri"/>
              <a:buChar char="●"/>
            </a:pPr>
            <a:r>
              <a:rPr lang="en" sz="1433"/>
              <a:t>Like Python, Java provides a </a:t>
            </a:r>
            <a:r>
              <a:rPr b="1" i="1" lang="en" sz="1433">
                <a:solidFill>
                  <a:srgbClr val="FF0000"/>
                </a:solidFill>
              </a:rPr>
              <a:t>default constructor</a:t>
            </a:r>
            <a:r>
              <a:rPr lang="en" sz="1433"/>
              <a:t> that can be used to create instances of a class.</a:t>
            </a:r>
            <a:endParaRPr sz="1433"/>
          </a:p>
          <a:p>
            <a:pPr indent="-304800" lvl="1" marL="914400" rtl="0" algn="l">
              <a:lnSpc>
                <a:spcPct val="115000"/>
              </a:lnSpc>
              <a:spcBef>
                <a:spcPts val="0"/>
              </a:spcBef>
              <a:spcAft>
                <a:spcPts val="0"/>
              </a:spcAft>
              <a:buSzPts val="1200"/>
              <a:buChar char="○"/>
            </a:pPr>
            <a:r>
              <a:rPr lang="en" sz="1200"/>
              <a:t>You must use it with the </a:t>
            </a:r>
            <a:r>
              <a:rPr lang="en" sz="1200">
                <a:solidFill>
                  <a:srgbClr val="FF0000"/>
                </a:solidFill>
                <a:latin typeface="Courier New"/>
                <a:ea typeface="Courier New"/>
                <a:cs typeface="Courier New"/>
                <a:sym typeface="Courier New"/>
              </a:rPr>
              <a:t>new</a:t>
            </a:r>
            <a:r>
              <a:rPr lang="en" sz="1200"/>
              <a:t> keyword, e.g.  </a:t>
            </a:r>
            <a:r>
              <a:rPr lang="en" sz="1200">
                <a:solidFill>
                  <a:srgbClr val="FF0000"/>
                </a:solidFill>
                <a:latin typeface="Courier New"/>
                <a:ea typeface="Courier New"/>
                <a:cs typeface="Courier New"/>
                <a:sym typeface="Courier New"/>
              </a:rPr>
              <a:t>House house = </a:t>
            </a:r>
            <a:r>
              <a:rPr lang="en" sz="1200" u="sng">
                <a:solidFill>
                  <a:srgbClr val="FF0000"/>
                </a:solidFill>
                <a:latin typeface="Courier New"/>
                <a:ea typeface="Courier New"/>
                <a:cs typeface="Courier New"/>
                <a:sym typeface="Courier New"/>
              </a:rPr>
              <a:t>new</a:t>
            </a:r>
            <a:r>
              <a:rPr lang="en" sz="1200">
                <a:solidFill>
                  <a:srgbClr val="FF0000"/>
                </a:solidFill>
                <a:latin typeface="Courier New"/>
                <a:ea typeface="Courier New"/>
                <a:cs typeface="Courier New"/>
                <a:sym typeface="Courier New"/>
              </a:rPr>
              <a:t> House();</a:t>
            </a:r>
            <a:endParaRPr sz="1200">
              <a:solidFill>
                <a:srgbClr val="FF0000"/>
              </a:solidFill>
              <a:latin typeface="Courier New"/>
              <a:ea typeface="Courier New"/>
              <a:cs typeface="Courier New"/>
              <a:sym typeface="Courier New"/>
            </a:endParaRPr>
          </a:p>
          <a:p>
            <a:pPr indent="-306895" lvl="1" marL="914400" rtl="0" algn="l">
              <a:lnSpc>
                <a:spcPct val="115000"/>
              </a:lnSpc>
              <a:spcBef>
                <a:spcPts val="0"/>
              </a:spcBef>
              <a:spcAft>
                <a:spcPts val="0"/>
              </a:spcAft>
              <a:buSzPts val="1233"/>
              <a:buChar char="○"/>
            </a:pPr>
            <a:r>
              <a:rPr lang="en" sz="1233"/>
              <a:t>Unlike Python, when a Java object is created all of its attributes are </a:t>
            </a:r>
            <a:r>
              <a:rPr b="1" i="1" lang="en" sz="1233">
                <a:solidFill>
                  <a:srgbClr val="FF0000"/>
                </a:solidFill>
              </a:rPr>
              <a:t>allocated </a:t>
            </a:r>
            <a:r>
              <a:rPr lang="en" sz="1233"/>
              <a:t>in memory and assigned default values.</a:t>
            </a:r>
            <a:endParaRPr sz="1433"/>
          </a:p>
        </p:txBody>
      </p:sp>
      <p:sp>
        <p:nvSpPr>
          <p:cNvPr id="317" name="Google Shape;317;p52"/>
          <p:cNvSpPr txBox="1"/>
          <p:nvPr>
            <p:ph idx="3" type="body"/>
          </p:nvPr>
        </p:nvSpPr>
        <p:spPr>
          <a:xfrm>
            <a:off x="465350" y="3937250"/>
            <a:ext cx="3406800" cy="785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A new instance of a class must be constructed before the state and behavior in an object can be used.</a:t>
            </a:r>
            <a:endParaRPr/>
          </a:p>
        </p:txBody>
      </p:sp>
      <p:pic>
        <p:nvPicPr>
          <p:cNvPr id="318" name="Google Shape;318;p52"/>
          <p:cNvPicPr preferRelativeResize="0"/>
          <p:nvPr/>
        </p:nvPicPr>
        <p:blipFill>
          <a:blip r:embed="rId3">
            <a:alphaModFix/>
          </a:blip>
          <a:stretch>
            <a:fillRect/>
          </a:stretch>
        </p:blipFill>
        <p:spPr>
          <a:xfrm>
            <a:off x="465238" y="1096438"/>
            <a:ext cx="3406878" cy="2645826"/>
          </a:xfrm>
          <a:prstGeom prst="rect">
            <a:avLst/>
          </a:prstGeom>
          <a:noFill/>
          <a:ln cap="flat" cmpd="sng" w="9525">
            <a:solidFill>
              <a:srgbClr val="FFFFFF"/>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3"/>
          <p:cNvSpPr txBox="1"/>
          <p:nvPr>
            <p:ph idx="2" type="body"/>
          </p:nvPr>
        </p:nvSpPr>
        <p:spPr>
          <a:xfrm>
            <a:off x="3938100" y="1784525"/>
            <a:ext cx="5003100" cy="22458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Inside the </a:t>
            </a:r>
            <a:r>
              <a:rPr lang="en" sz="1200">
                <a:solidFill>
                  <a:srgbClr val="FF0000"/>
                </a:solidFill>
                <a:latin typeface="Courier New"/>
                <a:ea typeface="Courier New"/>
                <a:cs typeface="Courier New"/>
                <a:sym typeface="Courier New"/>
              </a:rPr>
              <a:t>src/main/java/unit02</a:t>
            </a:r>
            <a:r>
              <a:rPr lang="en" sz="1200"/>
              <a:t> folder, add a new file named "</a:t>
            </a:r>
            <a:r>
              <a:rPr lang="en" sz="1200">
                <a:solidFill>
                  <a:srgbClr val="FF0000"/>
                </a:solidFill>
                <a:latin typeface="Courier New"/>
                <a:ea typeface="Courier New"/>
                <a:cs typeface="Courier New"/>
                <a:sym typeface="Courier New"/>
              </a:rPr>
              <a:t>Weapon.java</a:t>
            </a:r>
            <a:r>
              <a:rPr lang="en" sz="1200"/>
              <a:t>".</a:t>
            </a:r>
            <a:endParaRPr sz="1200"/>
          </a:p>
          <a:p>
            <a:pPr indent="-304800" lvl="0" marL="457200" rtl="0" algn="l">
              <a:spcBef>
                <a:spcPts val="0"/>
              </a:spcBef>
              <a:spcAft>
                <a:spcPts val="0"/>
              </a:spcAft>
              <a:buSzPts val="1200"/>
              <a:buChar char="●"/>
            </a:pPr>
            <a:r>
              <a:rPr lang="en" sz="1200"/>
              <a:t>Edit the file to include the </a:t>
            </a:r>
            <a:r>
              <a:rPr lang="en" sz="1200">
                <a:latin typeface="Courier New"/>
                <a:ea typeface="Courier New"/>
                <a:cs typeface="Courier New"/>
                <a:sym typeface="Courier New"/>
              </a:rPr>
              <a:t>Weapon</a:t>
            </a:r>
            <a:r>
              <a:rPr lang="en" sz="1200"/>
              <a:t> class and all of its fields.</a:t>
            </a:r>
            <a:endParaRPr sz="1200"/>
          </a:p>
          <a:p>
            <a:pPr indent="-298450" lvl="1" marL="914400" rtl="0" algn="l">
              <a:spcBef>
                <a:spcPts val="0"/>
              </a:spcBef>
              <a:spcAft>
                <a:spcPts val="0"/>
              </a:spcAft>
              <a:buSzPts val="1100"/>
              <a:buChar char="○"/>
            </a:pPr>
            <a:r>
              <a:rPr lang="en"/>
              <a:t>Don't forget to declare the types as well as the names.</a:t>
            </a:r>
            <a:endParaRPr/>
          </a:p>
          <a:p>
            <a:pPr indent="-298450" lvl="1" marL="914400" rtl="0" algn="l">
              <a:spcBef>
                <a:spcPts val="0"/>
              </a:spcBef>
              <a:spcAft>
                <a:spcPts val="0"/>
              </a:spcAft>
              <a:buSzPts val="1100"/>
              <a:buChar char="○"/>
            </a:pPr>
            <a:r>
              <a:rPr lang="en"/>
              <a:t>You can make everything </a:t>
            </a:r>
            <a:r>
              <a:rPr lang="en">
                <a:latin typeface="Courier New"/>
                <a:ea typeface="Courier New"/>
                <a:cs typeface="Courier New"/>
                <a:sym typeface="Courier New"/>
              </a:rPr>
              <a:t>public</a:t>
            </a:r>
            <a:r>
              <a:rPr lang="en"/>
              <a:t> for now, we'll fix it later.</a:t>
            </a:r>
            <a:endParaRPr/>
          </a:p>
          <a:p>
            <a:pPr indent="-304800" lvl="0" marL="457200" rtl="0" algn="l">
              <a:spcBef>
                <a:spcPts val="0"/>
              </a:spcBef>
              <a:spcAft>
                <a:spcPts val="0"/>
              </a:spcAft>
              <a:buSzPts val="1200"/>
              <a:buChar char="●"/>
            </a:pPr>
            <a:r>
              <a:rPr lang="en" sz="1200"/>
              <a:t>Create a new </a:t>
            </a:r>
            <a:r>
              <a:rPr lang="en" sz="1200">
                <a:solidFill>
                  <a:srgbClr val="FF0000"/>
                </a:solidFill>
                <a:latin typeface="Courier New"/>
                <a:ea typeface="Courier New"/>
                <a:cs typeface="Courier New"/>
                <a:sym typeface="Courier New"/>
              </a:rPr>
              <a:t>StarWarsBattle</a:t>
            </a:r>
            <a:r>
              <a:rPr lang="en" sz="1200"/>
              <a:t> class in the same directory. Add a </a:t>
            </a:r>
            <a:r>
              <a:rPr lang="en" sz="1200">
                <a:latin typeface="Courier New"/>
                <a:ea typeface="Courier New"/>
                <a:cs typeface="Courier New"/>
                <a:sym typeface="Courier New"/>
              </a:rPr>
              <a:t>main</a:t>
            </a:r>
            <a:r>
              <a:rPr lang="en" sz="1200"/>
              <a:t> method which creates an instance of the </a:t>
            </a:r>
            <a:r>
              <a:rPr lang="en" sz="1200">
                <a:latin typeface="Courier New"/>
                <a:ea typeface="Courier New"/>
                <a:cs typeface="Courier New"/>
                <a:sym typeface="Courier New"/>
              </a:rPr>
              <a:t>Weapon</a:t>
            </a:r>
            <a:r>
              <a:rPr lang="en" sz="1200"/>
              <a:t> class.</a:t>
            </a:r>
            <a:endParaRPr/>
          </a:p>
          <a:p>
            <a:pPr indent="-304800" lvl="1" marL="914400" rtl="0" algn="l">
              <a:spcBef>
                <a:spcPts val="0"/>
              </a:spcBef>
              <a:spcAft>
                <a:spcPts val="0"/>
              </a:spcAft>
              <a:buSzPts val="1200"/>
              <a:buChar char="○"/>
            </a:pPr>
            <a:r>
              <a:rPr lang="en" sz="1200"/>
              <a:t>Print out the weapon's </a:t>
            </a:r>
            <a:r>
              <a:rPr lang="en" sz="1200">
                <a:latin typeface="Courier New"/>
                <a:ea typeface="Courier New"/>
                <a:cs typeface="Courier New"/>
                <a:sym typeface="Courier New"/>
              </a:rPr>
              <a:t>name</a:t>
            </a:r>
            <a:r>
              <a:rPr lang="en" sz="1200"/>
              <a:t> and </a:t>
            </a:r>
            <a:r>
              <a:rPr lang="en" sz="1200">
                <a:latin typeface="Courier New"/>
                <a:ea typeface="Courier New"/>
                <a:cs typeface="Courier New"/>
                <a:sym typeface="Courier New"/>
              </a:rPr>
              <a:t>damage</a:t>
            </a:r>
            <a:r>
              <a:rPr lang="en" sz="1200"/>
              <a:t> value.</a:t>
            </a:r>
            <a:endParaRPr sz="1200"/>
          </a:p>
          <a:p>
            <a:pPr indent="-304800" lvl="1" marL="914400" rtl="0" algn="l">
              <a:spcBef>
                <a:spcPts val="0"/>
              </a:spcBef>
              <a:spcAft>
                <a:spcPts val="0"/>
              </a:spcAft>
              <a:buSzPts val="1200"/>
              <a:buChar char="○"/>
            </a:pPr>
            <a:r>
              <a:rPr lang="en" sz="1200"/>
              <a:t>Use </a:t>
            </a:r>
            <a:r>
              <a:rPr lang="en" sz="1200"/>
              <a:t>the VSCode run button to run the class.</a:t>
            </a:r>
            <a:endParaRPr>
              <a:solidFill>
                <a:srgbClr val="FF0000"/>
              </a:solidFill>
              <a:latin typeface="Courier New"/>
              <a:ea typeface="Courier New"/>
              <a:cs typeface="Courier New"/>
              <a:sym typeface="Courier New"/>
            </a:endParaRPr>
          </a:p>
        </p:txBody>
      </p:sp>
      <p:sp>
        <p:nvSpPr>
          <p:cNvPr id="324" name="Google Shape;324;p53"/>
          <p:cNvSpPr txBox="1"/>
          <p:nvPr>
            <p:ph idx="1" type="body"/>
          </p:nvPr>
        </p:nvSpPr>
        <p:spPr>
          <a:xfrm>
            <a:off x="65250" y="6554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When implementing a design, we </a:t>
            </a:r>
            <a:r>
              <a:rPr lang="en"/>
              <a:t>should</a:t>
            </a:r>
            <a:r>
              <a:rPr lang="en"/>
              <a:t> start with any classes that do not </a:t>
            </a:r>
            <a:r>
              <a:rPr b="1" i="1" lang="en">
                <a:solidFill>
                  <a:srgbClr val="EE0000"/>
                </a:solidFill>
              </a:rPr>
              <a:t>depend</a:t>
            </a:r>
            <a:r>
              <a:rPr lang="en"/>
              <a:t> on any other </a:t>
            </a:r>
            <a:r>
              <a:rPr lang="en"/>
              <a:t>classes</a:t>
            </a:r>
            <a:r>
              <a:rPr lang="en"/>
              <a:t>; that means that they do not need any other classes to work. In the Star Wars Battle simulator, the </a:t>
            </a:r>
            <a:r>
              <a:rPr lang="en">
                <a:latin typeface="Courier New"/>
                <a:ea typeface="Courier New"/>
                <a:cs typeface="Courier New"/>
                <a:sym typeface="Courier New"/>
              </a:rPr>
              <a:t>Weapon</a:t>
            </a:r>
            <a:r>
              <a:rPr lang="en"/>
              <a:t> class doesn't depend on any other classes. Start implementing the </a:t>
            </a:r>
            <a:r>
              <a:rPr lang="en">
                <a:latin typeface="Courier New"/>
                <a:ea typeface="Courier New"/>
                <a:cs typeface="Courier New"/>
                <a:sym typeface="Courier New"/>
              </a:rPr>
              <a:t>Weapon</a:t>
            </a:r>
            <a:r>
              <a:rPr lang="en"/>
              <a:t> class based on the analysis that you did earlier.</a:t>
            </a:r>
            <a:endParaRPr/>
          </a:p>
        </p:txBody>
      </p:sp>
      <p:sp>
        <p:nvSpPr>
          <p:cNvPr id="325" name="Google Shape;325;p53"/>
          <p:cNvSpPr txBox="1"/>
          <p:nvPr>
            <p:ph idx="12" type="sldNum"/>
          </p:nvPr>
        </p:nvSpPr>
        <p:spPr>
          <a:xfrm>
            <a:off x="8586092"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5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Blasters Ready</a:t>
            </a:r>
            <a:endParaRPr/>
          </a:p>
        </p:txBody>
      </p:sp>
      <p:sp>
        <p:nvSpPr>
          <p:cNvPr id="327" name="Google Shape;327;p5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a:t>
            </a:r>
            <a:endParaRPr/>
          </a:p>
        </p:txBody>
      </p:sp>
      <p:sp>
        <p:nvSpPr>
          <p:cNvPr id="328" name="Google Shape;328;p53"/>
          <p:cNvSpPr txBox="1"/>
          <p:nvPr>
            <p:ph idx="2" type="body"/>
          </p:nvPr>
        </p:nvSpPr>
        <p:spPr>
          <a:xfrm>
            <a:off x="116175" y="4031177"/>
            <a:ext cx="37620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In Java, placing files in a directory adds them to a package (more later). For now, if </a:t>
            </a:r>
            <a:r>
              <a:rPr lang="en" sz="1200">
                <a:solidFill>
                  <a:srgbClr val="000000"/>
                </a:solidFill>
                <a:highlight>
                  <a:srgbClr val="D9D9D9"/>
                </a:highlight>
                <a:latin typeface="Courier New"/>
                <a:ea typeface="Courier New"/>
                <a:cs typeface="Courier New"/>
                <a:sym typeface="Courier New"/>
              </a:rPr>
              <a:t>package unit02;</a:t>
            </a:r>
            <a:r>
              <a:rPr lang="en" sz="1200">
                <a:solidFill>
                  <a:srgbClr val="000000"/>
                </a:solidFill>
                <a:latin typeface="Arial"/>
                <a:ea typeface="Arial"/>
                <a:cs typeface="Arial"/>
                <a:sym typeface="Arial"/>
              </a:rPr>
              <a:t> was not added automatically to the file, you'll need to manually add it.</a:t>
            </a:r>
            <a:endParaRPr b="1" i="1" sz="1200">
              <a:solidFill>
                <a:srgbClr val="000000"/>
              </a:solidFill>
              <a:latin typeface="Arial"/>
              <a:ea typeface="Arial"/>
              <a:cs typeface="Arial"/>
              <a:sym typeface="Arial"/>
            </a:endParaRPr>
          </a:p>
        </p:txBody>
      </p:sp>
      <p:sp>
        <p:nvSpPr>
          <p:cNvPr id="329" name="Google Shape;329;p53"/>
          <p:cNvSpPr txBox="1"/>
          <p:nvPr>
            <p:ph idx="4" type="body"/>
          </p:nvPr>
        </p:nvSpPr>
        <p:spPr>
          <a:xfrm>
            <a:off x="116175" y="1905677"/>
            <a:ext cx="3762000" cy="20154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numBathrooms</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numBedrooms</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hvac</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String</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exteriorColor</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main</a:t>
            </a:r>
            <a:r>
              <a:rPr lang="en" sz="900">
                <a:solidFill>
                  <a:srgbClr val="000000"/>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String</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args</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myHouse</a:t>
            </a: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1100"/>
          </a:p>
        </p:txBody>
      </p:sp>
      <p:pic>
        <p:nvPicPr>
          <p:cNvPr id="330" name="Google Shape;330;p53"/>
          <p:cNvPicPr preferRelativeResize="0"/>
          <p:nvPr/>
        </p:nvPicPr>
        <p:blipFill rotWithShape="1">
          <a:blip r:embed="rId3">
            <a:alphaModFix/>
          </a:blip>
          <a:srcRect b="3456" l="0" r="0" t="0"/>
          <a:stretch/>
        </p:blipFill>
        <p:spPr>
          <a:xfrm>
            <a:off x="2560310" y="2026676"/>
            <a:ext cx="1206314" cy="943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54"/>
          <p:cNvPicPr preferRelativeResize="0"/>
          <p:nvPr/>
        </p:nvPicPr>
        <p:blipFill>
          <a:blip r:embed="rId3">
            <a:alphaModFix/>
          </a:blip>
          <a:stretch>
            <a:fillRect/>
          </a:stretch>
        </p:blipFill>
        <p:spPr>
          <a:xfrm>
            <a:off x="5993213" y="1285528"/>
            <a:ext cx="1788175" cy="1117060"/>
          </a:xfrm>
          <a:prstGeom prst="rect">
            <a:avLst/>
          </a:prstGeom>
          <a:noFill/>
          <a:ln cap="flat" cmpd="sng" w="19050">
            <a:solidFill>
              <a:schemeClr val="dk2"/>
            </a:solidFill>
            <a:prstDash val="solid"/>
            <a:round/>
            <a:headEnd len="sm" w="sm" type="none"/>
            <a:tailEnd len="sm" w="sm" type="none"/>
          </a:ln>
        </p:spPr>
      </p:pic>
      <p:sp>
        <p:nvSpPr>
          <p:cNvPr id="336" name="Google Shape;336;p54"/>
          <p:cNvSpPr txBox="1"/>
          <p:nvPr>
            <p:ph type="title"/>
          </p:nvPr>
        </p:nvSpPr>
        <p:spPr>
          <a:xfrm>
            <a:off x="5062505" y="43725"/>
            <a:ext cx="38769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 Packages</a:t>
            </a:r>
            <a:endParaRPr/>
          </a:p>
        </p:txBody>
      </p:sp>
      <p:sp>
        <p:nvSpPr>
          <p:cNvPr id="337" name="Google Shape;337;p54"/>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38" name="Google Shape;338;p54"/>
          <p:cNvSpPr txBox="1"/>
          <p:nvPr>
            <p:ph idx="1" type="body"/>
          </p:nvPr>
        </p:nvSpPr>
        <p:spPr>
          <a:xfrm>
            <a:off x="226400" y="141650"/>
            <a:ext cx="4467900" cy="4898700"/>
          </a:xfrm>
          <a:prstGeom prst="rect">
            <a:avLst/>
          </a:prstGeom>
        </p:spPr>
        <p:txBody>
          <a:bodyPr anchorCtr="0" anchor="t" bIns="91425" lIns="91425" spcFirstLastPara="1" rIns="91425" wrap="square" tIns="91425">
            <a:spAutoFit/>
          </a:bodyPr>
          <a:lstStyle/>
          <a:p>
            <a:pPr indent="-307975" lvl="0" marL="457200" rtl="0" algn="l">
              <a:spcBef>
                <a:spcPts val="0"/>
              </a:spcBef>
              <a:spcAft>
                <a:spcPts val="0"/>
              </a:spcAft>
              <a:buSzPts val="1250"/>
              <a:buChar char="●"/>
            </a:pPr>
            <a:r>
              <a:rPr lang="en" sz="1250"/>
              <a:t>A </a:t>
            </a:r>
            <a:r>
              <a:rPr b="1" i="1" lang="en" sz="1250">
                <a:solidFill>
                  <a:srgbClr val="FF0000"/>
                </a:solidFill>
              </a:rPr>
              <a:t>Java Package</a:t>
            </a:r>
            <a:r>
              <a:rPr lang="en" sz="1250"/>
              <a:t> is a namespace that is used to group related classes together.</a:t>
            </a:r>
            <a:endParaRPr sz="1250"/>
          </a:p>
          <a:p>
            <a:pPr indent="-307975" lvl="0" marL="457200" rtl="0" algn="l">
              <a:spcBef>
                <a:spcPts val="1000"/>
              </a:spcBef>
              <a:spcAft>
                <a:spcPts val="0"/>
              </a:spcAft>
              <a:buSzPts val="1250"/>
              <a:buChar char="●"/>
            </a:pPr>
            <a:r>
              <a:rPr lang="en" sz="1250"/>
              <a:t>Packages are used to better organize your code so that you do not end up with dozens (or hundreds) of classes in the same folder in a large software project.</a:t>
            </a:r>
            <a:endParaRPr sz="1250"/>
          </a:p>
          <a:p>
            <a:pPr indent="-307975" lvl="0" marL="457200" rtl="0" algn="l">
              <a:spcBef>
                <a:spcPts val="1000"/>
              </a:spcBef>
              <a:spcAft>
                <a:spcPts val="0"/>
              </a:spcAft>
              <a:buSzPts val="1250"/>
              <a:buChar char="●"/>
            </a:pPr>
            <a:r>
              <a:rPr lang="en" sz="1250"/>
              <a:t>The </a:t>
            </a:r>
            <a:r>
              <a:rPr b="1" i="1" lang="en" sz="1250">
                <a:solidFill>
                  <a:srgbClr val="FF0000"/>
                </a:solidFill>
              </a:rPr>
              <a:t>default package</a:t>
            </a:r>
            <a:r>
              <a:rPr i="1" lang="en" sz="1250"/>
              <a:t> </a:t>
            </a:r>
            <a:r>
              <a:rPr lang="en" sz="1250"/>
              <a:t>is in the </a:t>
            </a:r>
            <a:r>
              <a:rPr lang="en" sz="1250">
                <a:solidFill>
                  <a:srgbClr val="FF0000"/>
                </a:solidFill>
                <a:latin typeface="Courier New"/>
                <a:ea typeface="Courier New"/>
                <a:cs typeface="Courier New"/>
                <a:sym typeface="Courier New"/>
              </a:rPr>
              <a:t>src/main/java</a:t>
            </a:r>
            <a:r>
              <a:rPr lang="en" sz="1250"/>
              <a:t> folder in a Maven project and it </a:t>
            </a:r>
            <a:r>
              <a:rPr i="1" lang="en" sz="1250"/>
              <a:t>does not have a name</a:t>
            </a:r>
            <a:r>
              <a:rPr lang="en" sz="1250"/>
              <a:t>.</a:t>
            </a:r>
            <a:endParaRPr sz="1250"/>
          </a:p>
          <a:p>
            <a:pPr indent="-298450" lvl="1" marL="914400" rtl="0" algn="l">
              <a:spcBef>
                <a:spcPts val="0"/>
              </a:spcBef>
              <a:spcAft>
                <a:spcPts val="0"/>
              </a:spcAft>
              <a:buSzPts val="1100"/>
              <a:buChar char="○"/>
            </a:pPr>
            <a:r>
              <a:rPr lang="en"/>
              <a:t>Classes in the default package do not include a package statement at the top.</a:t>
            </a:r>
            <a:endParaRPr/>
          </a:p>
          <a:p>
            <a:pPr indent="-298450" lvl="1" marL="914400" rtl="0" algn="l">
              <a:spcBef>
                <a:spcPts val="0"/>
              </a:spcBef>
              <a:spcAft>
                <a:spcPts val="0"/>
              </a:spcAft>
              <a:buSzPts val="1100"/>
              <a:buChar char="○"/>
            </a:pPr>
            <a:r>
              <a:rPr lang="en"/>
              <a:t>Use of the default package is strongly discouraged. In fact, Maven will generate an error if you try to put a class in the default package!</a:t>
            </a:r>
            <a:endParaRPr/>
          </a:p>
          <a:p>
            <a:pPr indent="-307975" lvl="0" marL="457200" rtl="0" algn="l">
              <a:spcBef>
                <a:spcPts val="1000"/>
              </a:spcBef>
              <a:spcAft>
                <a:spcPts val="0"/>
              </a:spcAft>
              <a:buSzPts val="1250"/>
              <a:buChar char="●"/>
            </a:pPr>
            <a:r>
              <a:rPr lang="en" sz="1250"/>
              <a:t>For other packages, there is a very strong correlation between the name of a package and its location in the file system.</a:t>
            </a:r>
            <a:endParaRPr sz="1250"/>
          </a:p>
          <a:p>
            <a:pPr indent="-298450" lvl="1" marL="914400" rtl="0" algn="l">
              <a:spcBef>
                <a:spcPts val="0"/>
              </a:spcBef>
              <a:spcAft>
                <a:spcPts val="0"/>
              </a:spcAft>
              <a:buSzPts val="1100"/>
              <a:buChar char="○"/>
            </a:pPr>
            <a:r>
              <a:rPr lang="en"/>
              <a:t>These packages are in subfolders, e.g. </a:t>
            </a:r>
            <a:r>
              <a:rPr lang="en">
                <a:solidFill>
                  <a:srgbClr val="666666"/>
                </a:solidFill>
                <a:latin typeface="Courier New"/>
                <a:ea typeface="Courier New"/>
                <a:cs typeface="Courier New"/>
                <a:sym typeface="Courier New"/>
              </a:rPr>
              <a:t>src/main/java/</a:t>
            </a:r>
            <a:r>
              <a:rPr lang="en">
                <a:solidFill>
                  <a:srgbClr val="FF0000"/>
                </a:solidFill>
                <a:latin typeface="Courier New"/>
                <a:ea typeface="Courier New"/>
                <a:cs typeface="Courier New"/>
                <a:sym typeface="Courier New"/>
              </a:rPr>
              <a:t>my/pkg/name</a:t>
            </a:r>
            <a:endParaRPr>
              <a:solidFill>
                <a:srgbClr val="FF0000"/>
              </a:solidFill>
              <a:latin typeface="Courier New"/>
              <a:ea typeface="Courier New"/>
              <a:cs typeface="Courier New"/>
              <a:sym typeface="Courier New"/>
            </a:endParaRPr>
          </a:p>
          <a:p>
            <a:pPr indent="-298450" lvl="1" marL="914400" rtl="0" algn="l">
              <a:spcBef>
                <a:spcPts val="0"/>
              </a:spcBef>
              <a:spcAft>
                <a:spcPts val="0"/>
              </a:spcAft>
              <a:buSzPts val="1100"/>
              <a:buChar char="○"/>
            </a:pPr>
            <a:r>
              <a:rPr lang="en"/>
              <a:t>The name of the package must match the folder(s) exactly, including case.</a:t>
            </a:r>
            <a:endParaRPr/>
          </a:p>
          <a:p>
            <a:pPr indent="-298450" lvl="1" marL="914400" rtl="0" algn="l">
              <a:spcBef>
                <a:spcPts val="0"/>
              </a:spcBef>
              <a:spcAft>
                <a:spcPts val="0"/>
              </a:spcAft>
              <a:buSzPts val="1100"/>
              <a:buChar char="○"/>
            </a:pPr>
            <a:r>
              <a:rPr lang="en"/>
              <a:t>If the folders are nested, dots (</a:t>
            </a:r>
            <a:r>
              <a:rPr b="1" lang="en">
                <a:solidFill>
                  <a:srgbClr val="FF0000"/>
                </a:solidFill>
                <a:latin typeface="Courier New"/>
                <a:ea typeface="Courier New"/>
                <a:cs typeface="Courier New"/>
                <a:sym typeface="Courier New"/>
              </a:rPr>
              <a:t>.</a:t>
            </a:r>
            <a:r>
              <a:rPr lang="en"/>
              <a:t>) are used to separate the names, e.g. </a:t>
            </a:r>
            <a:r>
              <a:rPr lang="en">
                <a:solidFill>
                  <a:srgbClr val="FF0000"/>
                </a:solidFill>
                <a:latin typeface="Courier New"/>
                <a:ea typeface="Courier New"/>
                <a:cs typeface="Courier New"/>
                <a:sym typeface="Courier New"/>
              </a:rPr>
              <a:t>package my.pkg.name;</a:t>
            </a:r>
            <a:endParaRPr/>
          </a:p>
        </p:txBody>
      </p:sp>
      <p:sp>
        <p:nvSpPr>
          <p:cNvPr id="339" name="Google Shape;339;p54"/>
          <p:cNvSpPr txBox="1"/>
          <p:nvPr>
            <p:ph idx="3" type="body"/>
          </p:nvPr>
        </p:nvSpPr>
        <p:spPr>
          <a:xfrm>
            <a:off x="4986300" y="650500"/>
            <a:ext cx="40191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Classes in a package are located in a folder with the same name as the package.</a:t>
            </a:r>
            <a:endParaRPr sz="1200"/>
          </a:p>
        </p:txBody>
      </p:sp>
      <p:sp>
        <p:nvSpPr>
          <p:cNvPr id="340" name="Google Shape;340;p54"/>
          <p:cNvSpPr/>
          <p:nvPr/>
        </p:nvSpPr>
        <p:spPr>
          <a:xfrm>
            <a:off x="7088775" y="1878725"/>
            <a:ext cx="1624732" cy="923471"/>
          </a:xfrm>
          <a:custGeom>
            <a:rect b="b" l="l" r="r" t="t"/>
            <a:pathLst>
              <a:path extrusionOk="0" h="64387" w="80512">
                <a:moveTo>
                  <a:pt x="57200" y="64387"/>
                </a:moveTo>
                <a:cubicBezTo>
                  <a:pt x="60744" y="55503"/>
                  <a:pt x="87996" y="21811"/>
                  <a:pt x="78463" y="11080"/>
                </a:cubicBezTo>
                <a:cubicBezTo>
                  <a:pt x="68930" y="349"/>
                  <a:pt x="13077" y="1847"/>
                  <a:pt x="0" y="0"/>
                </a:cubicBezTo>
              </a:path>
            </a:pathLst>
          </a:custGeom>
          <a:noFill/>
          <a:ln cap="flat" cmpd="sng" w="19050">
            <a:solidFill>
              <a:srgbClr val="FF0000"/>
            </a:solidFill>
            <a:prstDash val="solid"/>
            <a:round/>
            <a:headEnd len="med" w="med" type="none"/>
            <a:tailEnd len="med" w="med" type="triangle"/>
          </a:ln>
        </p:spPr>
      </p:sp>
      <p:sp>
        <p:nvSpPr>
          <p:cNvPr id="341" name="Google Shape;341;p54"/>
          <p:cNvSpPr txBox="1"/>
          <p:nvPr>
            <p:ph idx="3" type="body"/>
          </p:nvPr>
        </p:nvSpPr>
        <p:spPr>
          <a:xfrm>
            <a:off x="4949575" y="2483500"/>
            <a:ext cx="40557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 </a:t>
            </a:r>
            <a:r>
              <a:rPr lang="en" sz="1200">
                <a:latin typeface="Courier New"/>
                <a:ea typeface="Courier New"/>
                <a:cs typeface="Courier New"/>
                <a:sym typeface="Courier New"/>
              </a:rPr>
              <a:t>Dog</a:t>
            </a:r>
            <a:r>
              <a:rPr lang="en" sz="1200"/>
              <a:t> class is in the </a:t>
            </a:r>
            <a:r>
              <a:rPr lang="en" sz="1200">
                <a:solidFill>
                  <a:srgbClr val="FF0000"/>
                </a:solidFill>
                <a:latin typeface="Courier New"/>
                <a:ea typeface="Courier New"/>
                <a:cs typeface="Courier New"/>
                <a:sym typeface="Courier New"/>
              </a:rPr>
              <a:t>unit02.activities</a:t>
            </a:r>
            <a:r>
              <a:rPr lang="en" sz="1200"/>
              <a:t> package in the </a:t>
            </a:r>
            <a:r>
              <a:rPr lang="en" sz="1200">
                <a:latin typeface="Courier New"/>
                <a:ea typeface="Courier New"/>
                <a:cs typeface="Courier New"/>
                <a:sym typeface="Courier New"/>
              </a:rPr>
              <a:t>src/main/java/</a:t>
            </a:r>
            <a:r>
              <a:rPr lang="en" sz="1200">
                <a:solidFill>
                  <a:srgbClr val="FF0000"/>
                </a:solidFill>
                <a:latin typeface="Courier New"/>
                <a:ea typeface="Courier New"/>
                <a:cs typeface="Courier New"/>
                <a:sym typeface="Courier New"/>
              </a:rPr>
              <a:t>unit02/activities</a:t>
            </a:r>
            <a:r>
              <a:rPr lang="en" sz="1200"/>
              <a:t> folder in the project.</a:t>
            </a:r>
            <a:endParaRPr sz="1200"/>
          </a:p>
        </p:txBody>
      </p:sp>
      <p:sp>
        <p:nvSpPr>
          <p:cNvPr id="342" name="Google Shape;342;p54"/>
          <p:cNvSpPr txBox="1"/>
          <p:nvPr/>
        </p:nvSpPr>
        <p:spPr>
          <a:xfrm>
            <a:off x="5708725" y="3953100"/>
            <a:ext cx="2537400" cy="1004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 </a:t>
            </a:r>
            <a:r>
              <a:rPr lang="en" sz="1050">
                <a:solidFill>
                  <a:srgbClr val="0000FF"/>
                </a:solidFill>
                <a:latin typeface="Consolas"/>
                <a:ea typeface="Consolas"/>
                <a:cs typeface="Consolas"/>
                <a:sym typeface="Consolas"/>
              </a:rPr>
              <a:t>package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unit02</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activities</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Dog</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p:txBody>
      </p:sp>
      <p:sp>
        <p:nvSpPr>
          <p:cNvPr id="343" name="Google Shape;343;p54"/>
          <p:cNvSpPr/>
          <p:nvPr/>
        </p:nvSpPr>
        <p:spPr>
          <a:xfrm>
            <a:off x="5063324" y="3803350"/>
            <a:ext cx="768992" cy="445575"/>
          </a:xfrm>
          <a:custGeom>
            <a:rect b="b" l="l" r="r" t="t"/>
            <a:pathLst>
              <a:path extrusionOk="0" h="17823" w="28363">
                <a:moveTo>
                  <a:pt x="10694" y="0"/>
                </a:moveTo>
                <a:cubicBezTo>
                  <a:pt x="8997" y="2845"/>
                  <a:pt x="-2433" y="14624"/>
                  <a:pt x="512" y="17070"/>
                </a:cubicBezTo>
                <a:cubicBezTo>
                  <a:pt x="3457" y="19516"/>
                  <a:pt x="23721" y="15073"/>
                  <a:pt x="28363" y="14674"/>
                </a:cubicBezTo>
              </a:path>
            </a:pathLst>
          </a:custGeom>
          <a:noFill/>
          <a:ln cap="flat" cmpd="sng" w="19050">
            <a:solidFill>
              <a:srgbClr val="FF0000"/>
            </a:solidFill>
            <a:prstDash val="solid"/>
            <a:round/>
            <a:headEnd len="med" w="med" type="none"/>
            <a:tailEnd len="med" w="med" type="triangle"/>
          </a:ln>
        </p:spPr>
      </p:sp>
      <p:sp>
        <p:nvSpPr>
          <p:cNvPr id="344" name="Google Shape;344;p54"/>
          <p:cNvSpPr txBox="1"/>
          <p:nvPr>
            <p:ph idx="3" type="body"/>
          </p:nvPr>
        </p:nvSpPr>
        <p:spPr>
          <a:xfrm>
            <a:off x="4949587" y="3310700"/>
            <a:ext cx="40557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 class must also include a corresponding</a:t>
            </a:r>
            <a:r>
              <a:rPr b="1" i="1" lang="en" sz="1200">
                <a:solidFill>
                  <a:srgbClr val="FF0000"/>
                </a:solidFill>
              </a:rPr>
              <a:t> package statement</a:t>
            </a:r>
            <a:r>
              <a:rPr lang="en" sz="1200"/>
              <a:t> at the top of the class.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5"/>
          <p:cNvSpPr txBox="1"/>
          <p:nvPr>
            <p:ph type="title"/>
          </p:nvPr>
        </p:nvSpPr>
        <p:spPr>
          <a:xfrm>
            <a:off x="311725" y="3485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Packages &amp; Scope</a:t>
            </a:r>
            <a:endParaRPr/>
          </a:p>
        </p:txBody>
      </p:sp>
      <p:sp>
        <p:nvSpPr>
          <p:cNvPr id="350" name="Google Shape;350;p5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5"/>
          <p:cNvSpPr txBox="1"/>
          <p:nvPr>
            <p:ph idx="2" type="body"/>
          </p:nvPr>
        </p:nvSpPr>
        <p:spPr>
          <a:xfrm>
            <a:off x="315425" y="1133775"/>
            <a:ext cx="3706500" cy="2697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100">
                <a:solidFill>
                  <a:srgbClr val="0000FF"/>
                </a:solidFill>
                <a:highlight>
                  <a:srgbClr val="FFFFFF"/>
                </a:highlight>
                <a:latin typeface="Consolas"/>
                <a:ea typeface="Consolas"/>
                <a:cs typeface="Consolas"/>
                <a:sym typeface="Consolas"/>
              </a:rPr>
              <a:t>package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lecture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Samples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getWelcome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if</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welcome</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"Hello "</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solidFill>
                  <a:srgbClr val="000000"/>
                </a:solidFill>
                <a:highlight>
                  <a:srgbClr val="FFFFFF"/>
                </a:highlight>
                <a:latin typeface="Consolas"/>
                <a:ea typeface="Consolas"/>
                <a:cs typeface="Consolas"/>
                <a:sym typeface="Consolas"/>
              </a:rPr>
              <a:t> welcome;</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100">
              <a:solidFill>
                <a:srgbClr val="0000FF"/>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100"/>
          </a:p>
        </p:txBody>
      </p:sp>
      <p:sp>
        <p:nvSpPr>
          <p:cNvPr id="352" name="Google Shape;352;p55"/>
          <p:cNvSpPr txBox="1"/>
          <p:nvPr>
            <p:ph idx="3" type="body"/>
          </p:nvPr>
        </p:nvSpPr>
        <p:spPr>
          <a:xfrm>
            <a:off x="315425" y="3937250"/>
            <a:ext cx="3706500" cy="785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In addition to the package, class, and function levels, any set of curly braces (</a:t>
            </a:r>
            <a:r>
              <a:rPr lang="en">
                <a:latin typeface="Courier New"/>
                <a:ea typeface="Courier New"/>
                <a:cs typeface="Courier New"/>
                <a:sym typeface="Courier New"/>
              </a:rPr>
              <a:t>{}</a:t>
            </a:r>
            <a:r>
              <a:rPr lang="en"/>
              <a:t>) also creates a new scope for any variables declared inside.</a:t>
            </a:r>
            <a:endParaRPr/>
          </a:p>
        </p:txBody>
      </p:sp>
      <p:sp>
        <p:nvSpPr>
          <p:cNvPr id="353" name="Google Shape;353;p55"/>
          <p:cNvSpPr/>
          <p:nvPr/>
        </p:nvSpPr>
        <p:spPr>
          <a:xfrm>
            <a:off x="1374350" y="1475175"/>
            <a:ext cx="620400" cy="15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5"/>
          <p:cNvSpPr/>
          <p:nvPr/>
        </p:nvSpPr>
        <p:spPr>
          <a:xfrm>
            <a:off x="1244275" y="1708500"/>
            <a:ext cx="400500" cy="15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5"/>
          <p:cNvSpPr/>
          <p:nvPr/>
        </p:nvSpPr>
        <p:spPr>
          <a:xfrm>
            <a:off x="1818244" y="2616233"/>
            <a:ext cx="620400" cy="15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5"/>
          <p:cNvSpPr/>
          <p:nvPr/>
        </p:nvSpPr>
        <p:spPr>
          <a:xfrm>
            <a:off x="1530300" y="3070095"/>
            <a:ext cx="620400" cy="15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5"/>
          <p:cNvSpPr txBox="1"/>
          <p:nvPr>
            <p:ph idx="3" type="body"/>
          </p:nvPr>
        </p:nvSpPr>
        <p:spPr>
          <a:xfrm>
            <a:off x="2779864" y="1058550"/>
            <a:ext cx="1174200" cy="31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Package level</a:t>
            </a:r>
            <a:endParaRPr sz="1100"/>
          </a:p>
        </p:txBody>
      </p:sp>
      <p:cxnSp>
        <p:nvCxnSpPr>
          <p:cNvPr id="358" name="Google Shape;358;p55"/>
          <p:cNvCxnSpPr>
            <a:stCxn id="357" idx="1"/>
            <a:endCxn id="353" idx="0"/>
          </p:cNvCxnSpPr>
          <p:nvPr/>
        </p:nvCxnSpPr>
        <p:spPr>
          <a:xfrm flipH="1">
            <a:off x="1684564" y="1217400"/>
            <a:ext cx="1095300" cy="257700"/>
          </a:xfrm>
          <a:prstGeom prst="bentConnector2">
            <a:avLst/>
          </a:prstGeom>
          <a:noFill/>
          <a:ln cap="flat" cmpd="sng" w="19050">
            <a:solidFill>
              <a:srgbClr val="FF0000"/>
            </a:solidFill>
            <a:prstDash val="solid"/>
            <a:round/>
            <a:headEnd len="med" w="med" type="none"/>
            <a:tailEnd len="med" w="med" type="none"/>
          </a:ln>
        </p:spPr>
      </p:cxnSp>
      <p:sp>
        <p:nvSpPr>
          <p:cNvPr id="359" name="Google Shape;359;p55"/>
          <p:cNvSpPr txBox="1"/>
          <p:nvPr>
            <p:ph idx="3" type="body"/>
          </p:nvPr>
        </p:nvSpPr>
        <p:spPr>
          <a:xfrm>
            <a:off x="2779875" y="1626150"/>
            <a:ext cx="1174200" cy="31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Class </a:t>
            </a:r>
            <a:r>
              <a:rPr lang="en" sz="1100"/>
              <a:t>level</a:t>
            </a:r>
            <a:endParaRPr sz="1100"/>
          </a:p>
        </p:txBody>
      </p:sp>
      <p:cxnSp>
        <p:nvCxnSpPr>
          <p:cNvPr id="360" name="Google Shape;360;p55"/>
          <p:cNvCxnSpPr>
            <a:stCxn id="359" idx="2"/>
            <a:endCxn id="354" idx="2"/>
          </p:cNvCxnSpPr>
          <p:nvPr/>
        </p:nvCxnSpPr>
        <p:spPr>
          <a:xfrm flipH="1" rot="5400000">
            <a:off x="2364675" y="941550"/>
            <a:ext cx="82200" cy="1922400"/>
          </a:xfrm>
          <a:prstGeom prst="bentConnector3">
            <a:avLst>
              <a:gd fmla="val -173996" name="adj1"/>
            </a:avLst>
          </a:prstGeom>
          <a:noFill/>
          <a:ln cap="flat" cmpd="sng" w="19050">
            <a:solidFill>
              <a:srgbClr val="FF0000"/>
            </a:solidFill>
            <a:prstDash val="solid"/>
            <a:round/>
            <a:headEnd len="med" w="med" type="none"/>
            <a:tailEnd len="med" w="med" type="none"/>
          </a:ln>
        </p:spPr>
      </p:cxnSp>
      <p:sp>
        <p:nvSpPr>
          <p:cNvPr id="361" name="Google Shape;361;p55"/>
          <p:cNvSpPr txBox="1"/>
          <p:nvPr>
            <p:ph idx="3" type="body"/>
          </p:nvPr>
        </p:nvSpPr>
        <p:spPr>
          <a:xfrm>
            <a:off x="2779875" y="2857900"/>
            <a:ext cx="1174200" cy="31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Local </a:t>
            </a:r>
            <a:r>
              <a:rPr lang="en" sz="1100"/>
              <a:t>level</a:t>
            </a:r>
            <a:endParaRPr sz="1100"/>
          </a:p>
        </p:txBody>
      </p:sp>
      <p:cxnSp>
        <p:nvCxnSpPr>
          <p:cNvPr id="362" name="Google Shape;362;p55"/>
          <p:cNvCxnSpPr>
            <a:stCxn id="361" idx="1"/>
            <a:endCxn id="355" idx="2"/>
          </p:cNvCxnSpPr>
          <p:nvPr/>
        </p:nvCxnSpPr>
        <p:spPr>
          <a:xfrm rot="10800000">
            <a:off x="2128575" y="2769250"/>
            <a:ext cx="651300" cy="247500"/>
          </a:xfrm>
          <a:prstGeom prst="bentConnector2">
            <a:avLst/>
          </a:prstGeom>
          <a:noFill/>
          <a:ln cap="flat" cmpd="sng" w="19050">
            <a:solidFill>
              <a:srgbClr val="FF0000"/>
            </a:solidFill>
            <a:prstDash val="solid"/>
            <a:round/>
            <a:headEnd len="med" w="med" type="none"/>
            <a:tailEnd len="med" w="med" type="none"/>
          </a:ln>
        </p:spPr>
      </p:cxnSp>
      <p:sp>
        <p:nvSpPr>
          <p:cNvPr id="363" name="Google Shape;363;p55"/>
          <p:cNvSpPr txBox="1"/>
          <p:nvPr>
            <p:ph idx="3" type="body"/>
          </p:nvPr>
        </p:nvSpPr>
        <p:spPr>
          <a:xfrm>
            <a:off x="2779875" y="3318150"/>
            <a:ext cx="1174200" cy="31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Out of scope</a:t>
            </a:r>
            <a:endParaRPr sz="1100"/>
          </a:p>
        </p:txBody>
      </p:sp>
      <p:cxnSp>
        <p:nvCxnSpPr>
          <p:cNvPr id="364" name="Google Shape;364;p55"/>
          <p:cNvCxnSpPr>
            <a:stCxn id="363" idx="1"/>
            <a:endCxn id="356" idx="2"/>
          </p:cNvCxnSpPr>
          <p:nvPr/>
        </p:nvCxnSpPr>
        <p:spPr>
          <a:xfrm rot="10800000">
            <a:off x="1840575" y="3223200"/>
            <a:ext cx="939300" cy="253800"/>
          </a:xfrm>
          <a:prstGeom prst="bentConnector2">
            <a:avLst/>
          </a:prstGeom>
          <a:noFill/>
          <a:ln cap="flat" cmpd="sng" w="19050">
            <a:solidFill>
              <a:srgbClr val="FF0000"/>
            </a:solidFill>
            <a:prstDash val="solid"/>
            <a:round/>
            <a:headEnd len="med" w="med" type="none"/>
            <a:tailEnd len="med" w="med" type="none"/>
          </a:ln>
        </p:spPr>
      </p:cxnSp>
      <p:sp>
        <p:nvSpPr>
          <p:cNvPr id="365" name="Google Shape;365;p55"/>
          <p:cNvSpPr txBox="1"/>
          <p:nvPr>
            <p:ph idx="1" type="body"/>
          </p:nvPr>
        </p:nvSpPr>
        <p:spPr>
          <a:xfrm>
            <a:off x="4438400" y="72750"/>
            <a:ext cx="4469700" cy="49386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b="1" i="1" lang="en" sz="1200">
                <a:solidFill>
                  <a:srgbClr val="FF0000"/>
                </a:solidFill>
              </a:rPr>
              <a:t>Scope</a:t>
            </a:r>
            <a:r>
              <a:rPr lang="en" sz="1200"/>
              <a:t> refers to the parts of a program in which an identifier is </a:t>
            </a:r>
            <a:r>
              <a:rPr b="1" i="1" lang="en" sz="1200">
                <a:solidFill>
                  <a:srgbClr val="FF0000"/>
                </a:solidFill>
              </a:rPr>
              <a:t>visible</a:t>
            </a:r>
            <a:r>
              <a:rPr lang="en" sz="1200"/>
              <a:t>.</a:t>
            </a:r>
            <a:endParaRPr sz="1200"/>
          </a:p>
          <a:p>
            <a:pPr indent="-298450" lvl="1" marL="914400" rtl="0" algn="l">
              <a:spcBef>
                <a:spcPts val="0"/>
              </a:spcBef>
              <a:spcAft>
                <a:spcPts val="0"/>
              </a:spcAft>
              <a:buSzPts val="1100"/>
              <a:buChar char="○"/>
            </a:pPr>
            <a:r>
              <a:rPr lang="en"/>
              <a:t>The identifier may refer to the name of a variable, a class, or a method.</a:t>
            </a:r>
            <a:endParaRPr/>
          </a:p>
          <a:p>
            <a:pPr indent="-304800" lvl="0" marL="457200" rtl="0" algn="l">
              <a:spcBef>
                <a:spcPts val="0"/>
              </a:spcBef>
              <a:spcAft>
                <a:spcPts val="0"/>
              </a:spcAft>
              <a:buSzPts val="1200"/>
              <a:buChar char="●"/>
            </a:pPr>
            <a:r>
              <a:rPr lang="en" sz="1200"/>
              <a:t>There are several different types of scope in Java.</a:t>
            </a:r>
            <a:endParaRPr sz="1200"/>
          </a:p>
          <a:p>
            <a:pPr indent="-298450" lvl="1" marL="914400" rtl="0" algn="l">
              <a:spcBef>
                <a:spcPts val="0"/>
              </a:spcBef>
              <a:spcAft>
                <a:spcPts val="0"/>
              </a:spcAft>
              <a:buSzPts val="1100"/>
              <a:buChar char="○"/>
            </a:pPr>
            <a:r>
              <a:rPr lang="en"/>
              <a:t>The scope of a </a:t>
            </a:r>
            <a:r>
              <a:rPr b="1" i="1" lang="en">
                <a:solidFill>
                  <a:srgbClr val="FF0000"/>
                </a:solidFill>
              </a:rPr>
              <a:t>local variable</a:t>
            </a:r>
            <a:r>
              <a:rPr lang="en"/>
              <a:t> is the block of code in which it is defined, e.g. a variable that is declared inside of curly braces (</a:t>
            </a:r>
            <a:r>
              <a:rPr lang="en">
                <a:latin typeface="Courier New"/>
                <a:ea typeface="Courier New"/>
                <a:cs typeface="Courier New"/>
                <a:sym typeface="Courier New"/>
              </a:rPr>
              <a:t>{}</a:t>
            </a:r>
            <a:r>
              <a:rPr lang="en"/>
              <a:t>) is not visible from outside of those braces.</a:t>
            </a:r>
            <a:endParaRPr/>
          </a:p>
          <a:p>
            <a:pPr indent="-298450" lvl="1" marL="914400" rtl="0" algn="l">
              <a:spcBef>
                <a:spcPts val="0"/>
              </a:spcBef>
              <a:spcAft>
                <a:spcPts val="0"/>
              </a:spcAft>
              <a:buSzPts val="1100"/>
              <a:buChar char="○"/>
            </a:pPr>
            <a:r>
              <a:rPr lang="en"/>
              <a:t>The scope of a </a:t>
            </a:r>
            <a:r>
              <a:rPr b="1" i="1" lang="en">
                <a:solidFill>
                  <a:srgbClr val="FF0000"/>
                </a:solidFill>
              </a:rPr>
              <a:t>field</a:t>
            </a:r>
            <a:r>
              <a:rPr lang="en"/>
              <a:t> is the entire class in which it is declared, i.e. it can be used in any method in the class.</a:t>
            </a:r>
            <a:endParaRPr/>
          </a:p>
          <a:p>
            <a:pPr indent="-298450" lvl="1" marL="914400" rtl="0" algn="l">
              <a:spcBef>
                <a:spcPts val="0"/>
              </a:spcBef>
              <a:spcAft>
                <a:spcPts val="0"/>
              </a:spcAft>
              <a:buSzPts val="1100"/>
              <a:buChar char="○"/>
            </a:pPr>
            <a:r>
              <a:rPr lang="en"/>
              <a:t>The scope of a </a:t>
            </a:r>
            <a:r>
              <a:rPr b="1" i="1" lang="en">
                <a:solidFill>
                  <a:srgbClr val="FF0000"/>
                </a:solidFill>
              </a:rPr>
              <a:t>method</a:t>
            </a:r>
            <a:r>
              <a:rPr lang="en">
                <a:solidFill>
                  <a:srgbClr val="FF0000"/>
                </a:solidFill>
              </a:rPr>
              <a:t> </a:t>
            </a:r>
            <a:r>
              <a:rPr lang="en"/>
              <a:t>is also the entire class in which it is declared.</a:t>
            </a:r>
            <a:endParaRPr/>
          </a:p>
          <a:p>
            <a:pPr indent="-304800" lvl="0" marL="457200" rtl="0" algn="l">
              <a:spcBef>
                <a:spcPts val="0"/>
              </a:spcBef>
              <a:spcAft>
                <a:spcPts val="0"/>
              </a:spcAft>
              <a:buSzPts val="1200"/>
              <a:buChar char="●"/>
            </a:pPr>
            <a:r>
              <a:rPr lang="en" sz="1200"/>
              <a:t>Java also includes </a:t>
            </a:r>
            <a:r>
              <a:rPr b="1" i="1" lang="en" sz="1200">
                <a:solidFill>
                  <a:srgbClr val="FF0000"/>
                </a:solidFill>
              </a:rPr>
              <a:t>package scope</a:t>
            </a:r>
            <a:r>
              <a:rPr lang="en" sz="1200"/>
              <a:t>.</a:t>
            </a:r>
            <a:endParaRPr sz="1200"/>
          </a:p>
          <a:p>
            <a:pPr indent="-298450" lvl="1" marL="914400" rtl="0" algn="l">
              <a:spcBef>
                <a:spcPts val="0"/>
              </a:spcBef>
              <a:spcAft>
                <a:spcPts val="0"/>
              </a:spcAft>
              <a:buSzPts val="1100"/>
              <a:buChar char="○"/>
            </a:pPr>
            <a:r>
              <a:rPr lang="en"/>
              <a:t>Classes declared within the same package are visible to each other without using an </a:t>
            </a:r>
            <a:r>
              <a:rPr lang="en">
                <a:solidFill>
                  <a:srgbClr val="FF0000"/>
                </a:solidFill>
                <a:latin typeface="Courier New"/>
                <a:ea typeface="Courier New"/>
                <a:cs typeface="Courier New"/>
                <a:sym typeface="Courier New"/>
              </a:rPr>
              <a:t>import</a:t>
            </a:r>
            <a:r>
              <a:rPr lang="en">
                <a:solidFill>
                  <a:srgbClr val="FF0000"/>
                </a:solidFill>
              </a:rPr>
              <a:t> </a:t>
            </a:r>
            <a:r>
              <a:rPr lang="en"/>
              <a:t>statement.</a:t>
            </a:r>
            <a:endParaRPr/>
          </a:p>
          <a:p>
            <a:pPr indent="-298450" lvl="1" marL="914400" rtl="0" algn="l">
              <a:spcBef>
                <a:spcPts val="0"/>
              </a:spcBef>
              <a:spcAft>
                <a:spcPts val="0"/>
              </a:spcAft>
              <a:buSzPts val="1100"/>
              <a:buChar char="○"/>
            </a:pPr>
            <a:r>
              <a:rPr lang="en"/>
              <a:t>Classes outside of the package must use an </a:t>
            </a:r>
            <a:r>
              <a:rPr lang="en">
                <a:latin typeface="Courier New"/>
                <a:ea typeface="Courier New"/>
                <a:cs typeface="Courier New"/>
                <a:sym typeface="Courier New"/>
              </a:rPr>
              <a:t>import</a:t>
            </a:r>
            <a:r>
              <a:rPr lang="en"/>
              <a:t> statement to access the classes inside the package.</a:t>
            </a:r>
            <a:endParaRPr/>
          </a:p>
          <a:p>
            <a:pPr indent="-298450" lvl="1" marL="914400" rtl="0" algn="l">
              <a:spcBef>
                <a:spcPts val="0"/>
              </a:spcBef>
              <a:spcAft>
                <a:spcPts val="0"/>
              </a:spcAft>
              <a:buSzPts val="1100"/>
              <a:buChar char="○"/>
            </a:pPr>
            <a:r>
              <a:rPr lang="en"/>
              <a:t>This is why an </a:t>
            </a:r>
            <a:r>
              <a:rPr lang="en">
                <a:latin typeface="Courier New"/>
                <a:ea typeface="Courier New"/>
                <a:cs typeface="Courier New"/>
                <a:sym typeface="Courier New"/>
              </a:rPr>
              <a:t>import</a:t>
            </a:r>
            <a:r>
              <a:rPr lang="en"/>
              <a:t> statement is needed to use the </a:t>
            </a:r>
            <a:r>
              <a:rPr lang="en">
                <a:latin typeface="Courier New"/>
                <a:ea typeface="Courier New"/>
                <a:cs typeface="Courier New"/>
                <a:sym typeface="Courier New"/>
              </a:rPr>
              <a:t>Scanner</a:t>
            </a:r>
            <a:r>
              <a:rPr lang="en"/>
              <a:t> or File I/O classes.</a:t>
            </a:r>
            <a:endParaRPr/>
          </a:p>
          <a:p>
            <a:pPr indent="-304800" lvl="0" marL="457200" rtl="0" algn="l">
              <a:spcBef>
                <a:spcPts val="0"/>
              </a:spcBef>
              <a:spcAft>
                <a:spcPts val="0"/>
              </a:spcAft>
              <a:buSzPts val="1200"/>
              <a:buChar char="●"/>
            </a:pPr>
            <a:r>
              <a:rPr lang="en" sz="1200"/>
              <a:t>Classes in the </a:t>
            </a:r>
            <a:r>
              <a:rPr lang="en" sz="1200">
                <a:solidFill>
                  <a:srgbClr val="FF0000"/>
                </a:solidFill>
                <a:latin typeface="Courier New"/>
                <a:ea typeface="Courier New"/>
                <a:cs typeface="Courier New"/>
                <a:sym typeface="Courier New"/>
              </a:rPr>
              <a:t>java.lang</a:t>
            </a:r>
            <a:r>
              <a:rPr lang="en" sz="1200"/>
              <a:t> package are special and do not need to be imported.</a:t>
            </a:r>
            <a:endParaRPr sz="1200"/>
          </a:p>
          <a:p>
            <a:pPr indent="-298450" lvl="1" marL="914400" rtl="0" algn="l">
              <a:spcBef>
                <a:spcPts val="0"/>
              </a:spcBef>
              <a:spcAft>
                <a:spcPts val="0"/>
              </a:spcAft>
              <a:buSzPts val="1100"/>
              <a:buChar char="○"/>
            </a:pPr>
            <a:r>
              <a:rPr lang="en"/>
              <a:t>This is why you did not need to import the </a:t>
            </a:r>
            <a:r>
              <a:rPr lang="en">
                <a:latin typeface="Courier New"/>
                <a:ea typeface="Courier New"/>
                <a:cs typeface="Courier New"/>
                <a:sym typeface="Courier New"/>
              </a:rPr>
              <a:t>System</a:t>
            </a:r>
            <a:r>
              <a:rPr lang="en"/>
              <a:t> or </a:t>
            </a:r>
            <a:r>
              <a:rPr lang="en">
                <a:latin typeface="Courier New"/>
                <a:ea typeface="Courier New"/>
                <a:cs typeface="Courier New"/>
                <a:sym typeface="Courier New"/>
              </a:rPr>
              <a:t>String</a:t>
            </a:r>
            <a:r>
              <a:rPr lang="en"/>
              <a:t> classes to use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idx="1" type="body"/>
          </p:nvPr>
        </p:nvSpPr>
        <p:spPr>
          <a:xfrm>
            <a:off x="65250" y="6554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Large software projects will include dozens (if not hundreds) of small classes. Java packages are used to place related classes into the same namespace. Conversely, unrelated classes are separated into different namespaces to keep everything better organized. Let's move the Star Wars Battle classes that we have written so far into a new package.</a:t>
            </a:r>
            <a:endParaRPr/>
          </a:p>
        </p:txBody>
      </p:sp>
      <p:sp>
        <p:nvSpPr>
          <p:cNvPr id="371" name="Google Shape;371;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6"/>
          <p:cNvSpPr txBox="1"/>
          <p:nvPr>
            <p:ph idx="2" type="body"/>
          </p:nvPr>
        </p:nvSpPr>
        <p:spPr>
          <a:xfrm>
            <a:off x="3496375" y="2013125"/>
            <a:ext cx="5444700" cy="2615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folder named "</a:t>
            </a:r>
            <a:r>
              <a:rPr lang="en">
                <a:latin typeface="Courier New"/>
                <a:ea typeface="Courier New"/>
                <a:cs typeface="Courier New"/>
                <a:sym typeface="Courier New"/>
              </a:rPr>
              <a:t>swb</a:t>
            </a:r>
            <a:r>
              <a:rPr lang="en"/>
              <a:t>" (short for Star Wars Battle) under the </a:t>
            </a:r>
            <a:r>
              <a:rPr lang="en">
                <a:latin typeface="Courier New"/>
                <a:ea typeface="Courier New"/>
                <a:cs typeface="Courier New"/>
                <a:sym typeface="Courier New"/>
              </a:rPr>
              <a:t>src/main/java/unit02</a:t>
            </a:r>
            <a:r>
              <a:rPr lang="en"/>
              <a:t> folder in your project.</a:t>
            </a:r>
            <a:endParaRPr/>
          </a:p>
          <a:p>
            <a:pPr indent="-311150" lvl="0" marL="457200" rtl="0" algn="l">
              <a:spcBef>
                <a:spcPts val="0"/>
              </a:spcBef>
              <a:spcAft>
                <a:spcPts val="0"/>
              </a:spcAft>
              <a:buSzPts val="1300"/>
              <a:buChar char="●"/>
            </a:pPr>
            <a:r>
              <a:rPr lang="en"/>
              <a:t>Click and drag the </a:t>
            </a:r>
            <a:r>
              <a:rPr lang="en">
                <a:latin typeface="Courier New"/>
                <a:ea typeface="Courier New"/>
                <a:cs typeface="Courier New"/>
                <a:sym typeface="Courier New"/>
              </a:rPr>
              <a:t>Weapon.java</a:t>
            </a:r>
            <a:r>
              <a:rPr lang="en"/>
              <a:t> file from the </a:t>
            </a:r>
            <a:r>
              <a:rPr lang="en">
                <a:latin typeface="Courier New"/>
                <a:ea typeface="Courier New"/>
                <a:cs typeface="Courier New"/>
                <a:sym typeface="Courier New"/>
              </a:rPr>
              <a:t>unit02</a:t>
            </a:r>
            <a:r>
              <a:rPr lang="en"/>
              <a:t> folder into the </a:t>
            </a:r>
            <a:r>
              <a:rPr lang="en">
                <a:latin typeface="Courier New"/>
                <a:ea typeface="Courier New"/>
                <a:cs typeface="Courier New"/>
                <a:sym typeface="Courier New"/>
              </a:rPr>
              <a:t>swb</a:t>
            </a:r>
            <a:r>
              <a:rPr lang="en"/>
              <a:t> folder.</a:t>
            </a:r>
            <a:endParaRPr/>
          </a:p>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Weapon</a:t>
            </a:r>
            <a:r>
              <a:rPr lang="en"/>
              <a:t> class and verify that VSCode has added the correct package statement to the top of the class.</a:t>
            </a:r>
            <a:endParaRPr/>
          </a:p>
          <a:p>
            <a:pPr indent="-298450" lvl="1" marL="914400" rtl="0" algn="l">
              <a:spcBef>
                <a:spcPts val="0"/>
              </a:spcBef>
              <a:spcAft>
                <a:spcPts val="0"/>
              </a:spcAft>
              <a:buSzPts val="1100"/>
              <a:buChar char="○"/>
            </a:pPr>
            <a:r>
              <a:rPr lang="en"/>
              <a:t>It should be </a:t>
            </a:r>
            <a:r>
              <a:rPr lang="en">
                <a:latin typeface="Courier New"/>
                <a:ea typeface="Courier New"/>
                <a:cs typeface="Courier New"/>
                <a:sym typeface="Courier New"/>
              </a:rPr>
              <a:t>package unit02.swb;</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If the package statement is missing, add it manually.</a:t>
            </a:r>
            <a:endParaRPr/>
          </a:p>
          <a:p>
            <a:pPr indent="-311150" lvl="0" marL="457200" rtl="0" algn="l">
              <a:spcBef>
                <a:spcPts val="0"/>
              </a:spcBef>
              <a:spcAft>
                <a:spcPts val="0"/>
              </a:spcAft>
              <a:buSzPts val="1300"/>
              <a:buChar char="●"/>
            </a:pPr>
            <a:r>
              <a:rPr lang="en"/>
              <a:t>Repeat</a:t>
            </a:r>
            <a:r>
              <a:rPr lang="en"/>
              <a:t> the process for the </a:t>
            </a:r>
            <a:r>
              <a:rPr lang="en">
                <a:latin typeface="Courier New"/>
                <a:ea typeface="Courier New"/>
                <a:cs typeface="Courier New"/>
                <a:sym typeface="Courier New"/>
              </a:rPr>
              <a:t>StarWarsBattle</a:t>
            </a:r>
            <a:r>
              <a:rPr lang="en"/>
              <a:t> class.</a:t>
            </a:r>
            <a:endParaRPr/>
          </a:p>
          <a:p>
            <a:pPr indent="-311150" lvl="0" marL="457200" rtl="0" algn="l">
              <a:spcBef>
                <a:spcPts val="0"/>
              </a:spcBef>
              <a:spcAft>
                <a:spcPts val="0"/>
              </a:spcAft>
              <a:buSzPts val="1300"/>
              <a:buChar char="●"/>
            </a:pPr>
            <a:r>
              <a:rPr lang="en"/>
              <a:t>Run the </a:t>
            </a:r>
            <a:r>
              <a:rPr lang="en">
                <a:latin typeface="Courier New"/>
                <a:ea typeface="Courier New"/>
                <a:cs typeface="Courier New"/>
                <a:sym typeface="Courier New"/>
              </a:rPr>
              <a:t>main</a:t>
            </a:r>
            <a:r>
              <a:rPr lang="en"/>
              <a:t> method in </a:t>
            </a:r>
            <a:r>
              <a:rPr lang="en">
                <a:latin typeface="Courier New"/>
                <a:ea typeface="Courier New"/>
                <a:cs typeface="Courier New"/>
                <a:sym typeface="Courier New"/>
              </a:rPr>
              <a:t>StarWarsBattle</a:t>
            </a:r>
            <a:r>
              <a:rPr lang="en"/>
              <a:t> to make sure that it is still working correctly.</a:t>
            </a:r>
            <a:endParaRPr/>
          </a:p>
        </p:txBody>
      </p:sp>
      <p:sp>
        <p:nvSpPr>
          <p:cNvPr id="373" name="Google Shape;373;p5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Java Packages</a:t>
            </a:r>
            <a:endParaRPr/>
          </a:p>
        </p:txBody>
      </p:sp>
      <p:sp>
        <p:nvSpPr>
          <p:cNvPr id="374" name="Google Shape;374;p5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2.3</a:t>
            </a:r>
            <a:endParaRPr/>
          </a:p>
        </p:txBody>
      </p:sp>
      <p:sp>
        <p:nvSpPr>
          <p:cNvPr id="375" name="Google Shape;375;p56"/>
          <p:cNvSpPr txBox="1"/>
          <p:nvPr>
            <p:ph idx="4" type="body"/>
          </p:nvPr>
        </p:nvSpPr>
        <p:spPr>
          <a:xfrm>
            <a:off x="141588" y="4457400"/>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package statement must exactly match the folder name(s).</a:t>
            </a:r>
            <a:endParaRPr/>
          </a:p>
        </p:txBody>
      </p:sp>
      <p:pic>
        <p:nvPicPr>
          <p:cNvPr id="376" name="Google Shape;376;p56"/>
          <p:cNvPicPr preferRelativeResize="0"/>
          <p:nvPr/>
        </p:nvPicPr>
        <p:blipFill>
          <a:blip r:embed="rId3">
            <a:alphaModFix/>
          </a:blip>
          <a:stretch>
            <a:fillRect/>
          </a:stretch>
        </p:blipFill>
        <p:spPr>
          <a:xfrm>
            <a:off x="759350" y="2021153"/>
            <a:ext cx="1788175" cy="1117060"/>
          </a:xfrm>
          <a:prstGeom prst="rect">
            <a:avLst/>
          </a:prstGeom>
          <a:noFill/>
          <a:ln cap="flat" cmpd="sng" w="19050">
            <a:solidFill>
              <a:schemeClr val="dk2"/>
            </a:solidFill>
            <a:prstDash val="solid"/>
            <a:round/>
            <a:headEnd len="sm" w="sm" type="none"/>
            <a:tailEnd len="sm" w="sm" type="none"/>
          </a:ln>
        </p:spPr>
      </p:pic>
      <p:sp>
        <p:nvSpPr>
          <p:cNvPr id="377" name="Google Shape;377;p56"/>
          <p:cNvSpPr txBox="1"/>
          <p:nvPr/>
        </p:nvSpPr>
        <p:spPr>
          <a:xfrm>
            <a:off x="384750" y="3295600"/>
            <a:ext cx="2537400" cy="1004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 package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unit02</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activities</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 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Dog</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5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Packages &amp; Scope</a:t>
            </a:r>
            <a:endParaRPr/>
          </a:p>
        </p:txBody>
      </p:sp>
      <p:sp>
        <p:nvSpPr>
          <p:cNvPr id="383" name="Google Shape;383;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8"/>
          <p:cNvSpPr txBox="1"/>
          <p:nvPr>
            <p:ph type="title"/>
          </p:nvPr>
        </p:nvSpPr>
        <p:spPr>
          <a:xfrm>
            <a:off x="5124075" y="136227"/>
            <a:ext cx="38472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Constructors</a:t>
            </a:r>
            <a:endParaRPr/>
          </a:p>
        </p:txBody>
      </p:sp>
      <p:sp>
        <p:nvSpPr>
          <p:cNvPr id="389" name="Google Shape;389;p58"/>
          <p:cNvSpPr txBox="1"/>
          <p:nvPr>
            <p:ph idx="1" type="body"/>
          </p:nvPr>
        </p:nvSpPr>
        <p:spPr>
          <a:xfrm>
            <a:off x="247075" y="113400"/>
            <a:ext cx="4492200" cy="4832400"/>
          </a:xfrm>
          <a:prstGeom prst="rect">
            <a:avLst/>
          </a:prstGeom>
        </p:spPr>
        <p:txBody>
          <a:bodyPr anchorCtr="0" anchor="t" bIns="91425" lIns="91425" spcFirstLastPara="1" rIns="91425" wrap="square" tIns="91425">
            <a:spAutoFit/>
          </a:bodyPr>
          <a:lstStyle/>
          <a:p>
            <a:pPr indent="-319595" lvl="0" marL="457200" rtl="0" algn="l">
              <a:lnSpc>
                <a:spcPct val="100000"/>
              </a:lnSpc>
              <a:spcBef>
                <a:spcPts val="0"/>
              </a:spcBef>
              <a:spcAft>
                <a:spcPts val="0"/>
              </a:spcAft>
              <a:buSzPts val="1433"/>
              <a:buChar char="●"/>
            </a:pPr>
            <a:r>
              <a:rPr lang="en" sz="1433"/>
              <a:t>As we learned with Python, the special function used to create a new instance of a class is called a </a:t>
            </a:r>
            <a:r>
              <a:rPr b="1" i="1" lang="en" sz="1433">
                <a:solidFill>
                  <a:srgbClr val="FF0000"/>
                </a:solidFill>
              </a:rPr>
              <a:t>constructor</a:t>
            </a:r>
            <a:r>
              <a:rPr lang="en" sz="1433"/>
              <a:t>.</a:t>
            </a:r>
            <a:endParaRPr sz="1433"/>
          </a:p>
          <a:p>
            <a:pPr indent="-306895" lvl="1" marL="914400" rtl="0" algn="l">
              <a:lnSpc>
                <a:spcPct val="100000"/>
              </a:lnSpc>
              <a:spcBef>
                <a:spcPts val="0"/>
              </a:spcBef>
              <a:spcAft>
                <a:spcPts val="0"/>
              </a:spcAft>
              <a:buSzPts val="1233"/>
              <a:buChar char="○"/>
            </a:pPr>
            <a:r>
              <a:rPr lang="en" sz="1233"/>
              <a:t>It is a method that has the same name as the class.</a:t>
            </a:r>
            <a:endParaRPr sz="1233"/>
          </a:p>
          <a:p>
            <a:pPr indent="-319595" lvl="0" marL="457200" rtl="0" algn="l">
              <a:lnSpc>
                <a:spcPct val="100000"/>
              </a:lnSpc>
              <a:spcBef>
                <a:spcPts val="0"/>
              </a:spcBef>
              <a:spcAft>
                <a:spcPts val="0"/>
              </a:spcAft>
              <a:buSzPts val="1433"/>
              <a:buChar char="●"/>
            </a:pPr>
            <a:r>
              <a:rPr lang="en" sz="1433"/>
              <a:t>Whenever you </a:t>
            </a:r>
            <a:r>
              <a:rPr lang="en" sz="1433">
                <a:solidFill>
                  <a:srgbClr val="666666"/>
                </a:solidFill>
              </a:rPr>
              <a:t>declare </a:t>
            </a:r>
            <a:r>
              <a:rPr lang="en" sz="1433"/>
              <a:t>a class, a special construction method is automatically added to it.</a:t>
            </a:r>
            <a:endParaRPr baseline="30000" sz="1433"/>
          </a:p>
          <a:p>
            <a:pPr indent="-306895" lvl="1" marL="914400" rtl="0" algn="l">
              <a:lnSpc>
                <a:spcPct val="100000"/>
              </a:lnSpc>
              <a:spcBef>
                <a:spcPts val="0"/>
              </a:spcBef>
              <a:spcAft>
                <a:spcPts val="0"/>
              </a:spcAft>
              <a:buSzPts val="1233"/>
              <a:buChar char="○"/>
            </a:pPr>
            <a:r>
              <a:rPr lang="en" sz="1233"/>
              <a:t>This method is known as the </a:t>
            </a:r>
            <a:r>
              <a:rPr b="1" i="1" lang="en" sz="1233">
                <a:solidFill>
                  <a:srgbClr val="FF0000"/>
                </a:solidFill>
              </a:rPr>
              <a:t>default constructor</a:t>
            </a:r>
            <a:r>
              <a:rPr lang="en" sz="1233"/>
              <a:t>.</a:t>
            </a:r>
            <a:endParaRPr b="1" baseline="30000" i="1" sz="1233">
              <a:solidFill>
                <a:srgbClr val="FF0000"/>
              </a:solidFill>
            </a:endParaRPr>
          </a:p>
          <a:p>
            <a:pPr indent="-306895" lvl="1" marL="914400" rtl="0" algn="l">
              <a:lnSpc>
                <a:spcPct val="100000"/>
              </a:lnSpc>
              <a:spcBef>
                <a:spcPts val="0"/>
              </a:spcBef>
              <a:spcAft>
                <a:spcPts val="0"/>
              </a:spcAft>
              <a:buSzPts val="1233"/>
              <a:buChar char="○"/>
            </a:pPr>
            <a:r>
              <a:rPr lang="en" sz="1233"/>
              <a:t>It does not declare any parameters.</a:t>
            </a:r>
            <a:endParaRPr sz="1233"/>
          </a:p>
          <a:p>
            <a:pPr indent="-306895" lvl="1" marL="914400" rtl="0" algn="l">
              <a:lnSpc>
                <a:spcPct val="100000"/>
              </a:lnSpc>
              <a:spcBef>
                <a:spcPts val="0"/>
              </a:spcBef>
              <a:spcAft>
                <a:spcPts val="0"/>
              </a:spcAft>
              <a:buSzPts val="1233"/>
              <a:buChar char="○"/>
            </a:pPr>
            <a:r>
              <a:rPr lang="en" sz="1233"/>
              <a:t>When called (using the </a:t>
            </a:r>
            <a:r>
              <a:rPr lang="en" sz="1233">
                <a:solidFill>
                  <a:srgbClr val="FF0000"/>
                </a:solidFill>
                <a:latin typeface="Courier New"/>
                <a:ea typeface="Courier New"/>
                <a:cs typeface="Courier New"/>
                <a:sym typeface="Courier New"/>
              </a:rPr>
              <a:t>new</a:t>
            </a:r>
            <a:r>
              <a:rPr i="1" lang="en" sz="1233"/>
              <a:t> </a:t>
            </a:r>
            <a:r>
              <a:rPr lang="en" sz="1233"/>
              <a:t>operator) a new instance of the class is created.</a:t>
            </a:r>
            <a:endParaRPr sz="1233"/>
          </a:p>
          <a:p>
            <a:pPr indent="-319595" lvl="0" marL="457200" rtl="0" algn="l">
              <a:lnSpc>
                <a:spcPct val="100000"/>
              </a:lnSpc>
              <a:spcBef>
                <a:spcPts val="0"/>
              </a:spcBef>
              <a:spcAft>
                <a:spcPts val="0"/>
              </a:spcAft>
              <a:buSzPts val="1433"/>
              <a:buChar char="●"/>
            </a:pPr>
            <a:r>
              <a:rPr lang="en" sz="1433"/>
              <a:t>When the default constructor is used, Java assigns default values to </a:t>
            </a:r>
            <a:r>
              <a:rPr b="1" i="1" lang="en" sz="1433">
                <a:solidFill>
                  <a:srgbClr val="FF0000"/>
                </a:solidFill>
              </a:rPr>
              <a:t>all</a:t>
            </a:r>
            <a:r>
              <a:rPr lang="en" sz="1433"/>
              <a:t> of the attributes defined by the class.</a:t>
            </a:r>
            <a:endParaRPr sz="1433"/>
          </a:p>
          <a:p>
            <a:pPr indent="-319595" lvl="1" marL="914400" rtl="0" algn="l">
              <a:lnSpc>
                <a:spcPct val="100000"/>
              </a:lnSpc>
              <a:spcBef>
                <a:spcPts val="0"/>
              </a:spcBef>
              <a:spcAft>
                <a:spcPts val="0"/>
              </a:spcAft>
              <a:buSzPts val="1433"/>
              <a:buChar char="○"/>
            </a:pPr>
            <a:r>
              <a:rPr lang="en" sz="1200">
                <a:solidFill>
                  <a:srgbClr val="FF0000"/>
                </a:solidFill>
                <a:latin typeface="Courier New"/>
                <a:ea typeface="Courier New"/>
                <a:cs typeface="Courier New"/>
                <a:sym typeface="Courier New"/>
              </a:rPr>
              <a:t>0</a:t>
            </a:r>
            <a:r>
              <a:rPr i="1" lang="en" sz="1200"/>
              <a:t> </a:t>
            </a:r>
            <a:r>
              <a:rPr lang="en" sz="1200"/>
              <a:t>for numerics.</a:t>
            </a:r>
            <a:endParaRPr sz="1200"/>
          </a:p>
          <a:p>
            <a:pPr indent="-319595" lvl="1" marL="914400" rtl="0" algn="l">
              <a:lnSpc>
                <a:spcPct val="100000"/>
              </a:lnSpc>
              <a:spcBef>
                <a:spcPts val="0"/>
              </a:spcBef>
              <a:spcAft>
                <a:spcPts val="0"/>
              </a:spcAft>
              <a:buSzPts val="1433"/>
              <a:buChar char="○"/>
            </a:pPr>
            <a:r>
              <a:rPr lang="en" sz="1200">
                <a:solidFill>
                  <a:srgbClr val="FF0000"/>
                </a:solidFill>
                <a:latin typeface="Courier New"/>
                <a:ea typeface="Courier New"/>
                <a:cs typeface="Courier New"/>
                <a:sym typeface="Courier New"/>
              </a:rPr>
              <a:t>f</a:t>
            </a:r>
            <a:r>
              <a:rPr lang="en" sz="1200">
                <a:solidFill>
                  <a:srgbClr val="FF0000"/>
                </a:solidFill>
                <a:latin typeface="Courier New"/>
                <a:ea typeface="Courier New"/>
                <a:cs typeface="Courier New"/>
                <a:sym typeface="Courier New"/>
              </a:rPr>
              <a:t>alse</a:t>
            </a:r>
            <a:r>
              <a:rPr i="1" lang="en" sz="1200"/>
              <a:t> </a:t>
            </a:r>
            <a:r>
              <a:rPr lang="en" sz="1200"/>
              <a:t>for Booleans.</a:t>
            </a:r>
            <a:endParaRPr sz="1200"/>
          </a:p>
          <a:p>
            <a:pPr indent="-319595" lvl="1" marL="914400" rtl="0" algn="l">
              <a:lnSpc>
                <a:spcPct val="100000"/>
              </a:lnSpc>
              <a:spcBef>
                <a:spcPts val="0"/>
              </a:spcBef>
              <a:spcAft>
                <a:spcPts val="0"/>
              </a:spcAft>
              <a:buSzPts val="1433"/>
              <a:buChar char="○"/>
            </a:pPr>
            <a:r>
              <a:rPr lang="en" sz="1200">
                <a:solidFill>
                  <a:srgbClr val="FF0000"/>
                </a:solidFill>
                <a:latin typeface="Courier New"/>
                <a:ea typeface="Courier New"/>
                <a:cs typeface="Courier New"/>
                <a:sym typeface="Courier New"/>
              </a:rPr>
              <a:t>n</a:t>
            </a:r>
            <a:r>
              <a:rPr lang="en" sz="1200">
                <a:solidFill>
                  <a:srgbClr val="FF0000"/>
                </a:solidFill>
                <a:latin typeface="Courier New"/>
                <a:ea typeface="Courier New"/>
                <a:cs typeface="Courier New"/>
                <a:sym typeface="Courier New"/>
              </a:rPr>
              <a:t>ull</a:t>
            </a:r>
            <a:r>
              <a:rPr i="1" lang="en" sz="1200"/>
              <a:t> </a:t>
            </a:r>
            <a:r>
              <a:rPr lang="en" sz="1200"/>
              <a:t>for objects.</a:t>
            </a:r>
            <a:endParaRPr sz="1200"/>
          </a:p>
          <a:p>
            <a:pPr indent="-317500" lvl="0" marL="457200" rtl="0" algn="l">
              <a:lnSpc>
                <a:spcPct val="100000"/>
              </a:lnSpc>
              <a:spcBef>
                <a:spcPts val="0"/>
              </a:spcBef>
              <a:spcAft>
                <a:spcPts val="0"/>
              </a:spcAft>
              <a:buSzPts val="1400"/>
              <a:buChar char="●"/>
            </a:pPr>
            <a:r>
              <a:rPr lang="en" sz="1400"/>
              <a:t>This is a significant difference between Python and Java: </a:t>
            </a:r>
            <a:r>
              <a:rPr b="1" i="1" lang="en" sz="1400">
                <a:solidFill>
                  <a:srgbClr val="FF0000"/>
                </a:solidFill>
              </a:rPr>
              <a:t>all</a:t>
            </a:r>
            <a:r>
              <a:rPr lang="en" sz="1400">
                <a:solidFill>
                  <a:srgbClr val="FF0000"/>
                </a:solidFill>
              </a:rPr>
              <a:t> </a:t>
            </a:r>
            <a:r>
              <a:rPr lang="en" sz="1400"/>
              <a:t>Java objects are guaranteed to assign values to any fields defined by the class whether you write a constructor or not.</a:t>
            </a:r>
            <a:endParaRPr sz="1400"/>
          </a:p>
        </p:txBody>
      </p:sp>
      <p:sp>
        <p:nvSpPr>
          <p:cNvPr id="390" name="Google Shape;390;p58"/>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91" name="Google Shape;391;p58"/>
          <p:cNvSpPr txBox="1"/>
          <p:nvPr>
            <p:ph idx="2" type="body"/>
          </p:nvPr>
        </p:nvSpPr>
        <p:spPr>
          <a:xfrm>
            <a:off x="5124075" y="1286175"/>
            <a:ext cx="3847200" cy="2697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numBathrooms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numBedrooms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boolean</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hvac</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exteriorColor</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myHouse</a:t>
            </a:r>
            <a:r>
              <a:rPr lang="en" sz="1200">
                <a:solidFill>
                  <a:srgbClr val="000000"/>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new</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FF"/>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200"/>
          </a:p>
        </p:txBody>
      </p:sp>
      <p:sp>
        <p:nvSpPr>
          <p:cNvPr id="392" name="Google Shape;392;p58"/>
          <p:cNvSpPr txBox="1"/>
          <p:nvPr>
            <p:ph idx="3" type="body"/>
          </p:nvPr>
        </p:nvSpPr>
        <p:spPr>
          <a:xfrm>
            <a:off x="5124075" y="773000"/>
            <a:ext cx="3847200" cy="384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Java provides a default constructor for all classes.</a:t>
            </a:r>
            <a:endParaRPr/>
          </a:p>
        </p:txBody>
      </p:sp>
      <p:sp>
        <p:nvSpPr>
          <p:cNvPr id="393" name="Google Shape;393;p58"/>
          <p:cNvSpPr txBox="1"/>
          <p:nvPr>
            <p:ph idx="3" type="body"/>
          </p:nvPr>
        </p:nvSpPr>
        <p:spPr>
          <a:xfrm>
            <a:off x="7073500" y="3616025"/>
            <a:ext cx="1790700" cy="46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100"/>
              <a:t>The d</a:t>
            </a:r>
            <a:r>
              <a:rPr lang="en" sz="1100"/>
              <a:t>efault </a:t>
            </a:r>
            <a:r>
              <a:rPr lang="en" sz="1100"/>
              <a:t>constructor</a:t>
            </a:r>
            <a:r>
              <a:rPr lang="en" sz="1100"/>
              <a:t> creates a House instance</a:t>
            </a:r>
            <a:endParaRPr sz="1100"/>
          </a:p>
        </p:txBody>
      </p:sp>
      <p:sp>
        <p:nvSpPr>
          <p:cNvPr id="394" name="Google Shape;394;p58"/>
          <p:cNvSpPr/>
          <p:nvPr/>
        </p:nvSpPr>
        <p:spPr>
          <a:xfrm>
            <a:off x="7381116" y="3111192"/>
            <a:ext cx="683400" cy="201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5" name="Google Shape;395;p58"/>
          <p:cNvCxnSpPr>
            <a:stCxn id="393" idx="0"/>
            <a:endCxn id="394" idx="2"/>
          </p:cNvCxnSpPr>
          <p:nvPr/>
        </p:nvCxnSpPr>
        <p:spPr>
          <a:xfrm flipH="1" rot="5400000">
            <a:off x="7694050" y="3341225"/>
            <a:ext cx="303600" cy="246000"/>
          </a:xfrm>
          <a:prstGeom prst="bentConnector3">
            <a:avLst>
              <a:gd fmla="val 49989" name="adj1"/>
            </a:avLst>
          </a:prstGeom>
          <a:noFill/>
          <a:ln cap="flat" cmpd="sng" w="19050">
            <a:solidFill>
              <a:srgbClr val="FF0000"/>
            </a:solidFill>
            <a:prstDash val="solid"/>
            <a:round/>
            <a:headEnd len="med" w="med" type="none"/>
            <a:tailEnd len="med" w="med" type="stealth"/>
          </a:ln>
        </p:spPr>
      </p:cxnSp>
      <p:sp>
        <p:nvSpPr>
          <p:cNvPr id="396" name="Google Shape;396;p58"/>
          <p:cNvSpPr txBox="1"/>
          <p:nvPr>
            <p:ph idx="3" type="body"/>
          </p:nvPr>
        </p:nvSpPr>
        <p:spPr>
          <a:xfrm>
            <a:off x="5124075" y="4234625"/>
            <a:ext cx="3847200" cy="5850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a:t>Any fields defined  by the class will be assigned default values in the newly created object.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9"/>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02" name="Google Shape;402;p59"/>
          <p:cNvSpPr txBox="1"/>
          <p:nvPr>
            <p:ph idx="1" type="body"/>
          </p:nvPr>
        </p:nvSpPr>
        <p:spPr>
          <a:xfrm>
            <a:off x="278475" y="100225"/>
            <a:ext cx="4392000" cy="4849500"/>
          </a:xfrm>
          <a:prstGeom prst="rect">
            <a:avLst/>
          </a:prstGeom>
        </p:spPr>
        <p:txBody>
          <a:bodyPr anchorCtr="0" anchor="t" bIns="91425" lIns="91425" spcFirstLastPara="1" rIns="91425" wrap="square" tIns="91425">
            <a:spAutoFit/>
          </a:bodyPr>
          <a:lstStyle/>
          <a:p>
            <a:pPr indent="-313245" lvl="0" marL="457200" rtl="0" algn="l">
              <a:lnSpc>
                <a:spcPct val="115000"/>
              </a:lnSpc>
              <a:spcBef>
                <a:spcPts val="0"/>
              </a:spcBef>
              <a:spcAft>
                <a:spcPts val="0"/>
              </a:spcAft>
              <a:buSzPts val="1333"/>
              <a:buChar char="●"/>
            </a:pPr>
            <a:r>
              <a:rPr lang="en" sz="1333"/>
              <a:t>While the default con</a:t>
            </a:r>
            <a:r>
              <a:rPr lang="en" sz="1333"/>
              <a:t>structor is useful, it </a:t>
            </a:r>
            <a:r>
              <a:rPr lang="en" sz="1333"/>
              <a:t>only assigns default values to the fields in an object when it is created.</a:t>
            </a:r>
            <a:endParaRPr sz="1333"/>
          </a:p>
          <a:p>
            <a:pPr indent="-298450" lvl="1" marL="914400" rtl="0" algn="l">
              <a:lnSpc>
                <a:spcPct val="115000"/>
              </a:lnSpc>
              <a:spcBef>
                <a:spcPts val="0"/>
              </a:spcBef>
              <a:spcAft>
                <a:spcPts val="0"/>
              </a:spcAft>
              <a:buSzPts val="1100"/>
              <a:buChar char="○"/>
            </a:pPr>
            <a:r>
              <a:rPr lang="en"/>
              <a:t>If we want to assign some other value to each field, we will need to do it manually each time an object is created.</a:t>
            </a:r>
            <a:endParaRPr/>
          </a:p>
          <a:p>
            <a:pPr indent="-298450" lvl="0" marL="457200" rtl="0" algn="l">
              <a:lnSpc>
                <a:spcPct val="115000"/>
              </a:lnSpc>
              <a:spcBef>
                <a:spcPts val="0"/>
              </a:spcBef>
              <a:spcAft>
                <a:spcPts val="0"/>
              </a:spcAft>
              <a:buSzPts val="1100"/>
              <a:buFont typeface="Calibri"/>
              <a:buChar char="●"/>
            </a:pPr>
            <a:r>
              <a:rPr lang="en" sz="1333"/>
              <a:t>In Python, we solved this problem by writing our own </a:t>
            </a:r>
            <a:r>
              <a:rPr b="1" i="1" lang="en" sz="1333">
                <a:solidFill>
                  <a:srgbClr val="FF0000"/>
                </a:solidFill>
              </a:rPr>
              <a:t>initializing</a:t>
            </a:r>
            <a:r>
              <a:rPr lang="en" sz="1333"/>
              <a:t> </a:t>
            </a:r>
            <a:r>
              <a:rPr b="1" i="1" lang="en" sz="1333">
                <a:solidFill>
                  <a:srgbClr val="FF0000"/>
                </a:solidFill>
              </a:rPr>
              <a:t>constructor</a:t>
            </a:r>
            <a:r>
              <a:rPr lang="en" sz="1333"/>
              <a:t>.</a:t>
            </a:r>
            <a:endParaRPr sz="1333"/>
          </a:p>
          <a:p>
            <a:pPr indent="-300545" lvl="1" marL="914400" rtl="0" algn="l">
              <a:lnSpc>
                <a:spcPct val="115000"/>
              </a:lnSpc>
              <a:spcBef>
                <a:spcPts val="0"/>
              </a:spcBef>
              <a:spcAft>
                <a:spcPts val="0"/>
              </a:spcAft>
              <a:buSzPts val="1133"/>
              <a:buChar char="○"/>
            </a:pPr>
            <a:r>
              <a:rPr lang="en" sz="1133"/>
              <a:t>We used parameters to the constructor to initialize the fields in the new object.</a:t>
            </a:r>
            <a:endParaRPr sz="1133"/>
          </a:p>
          <a:p>
            <a:pPr indent="-298450" lvl="0" marL="457200" rtl="0" algn="l">
              <a:lnSpc>
                <a:spcPct val="115000"/>
              </a:lnSpc>
              <a:spcBef>
                <a:spcPts val="0"/>
              </a:spcBef>
              <a:spcAft>
                <a:spcPts val="0"/>
              </a:spcAft>
              <a:buSzPts val="1100"/>
              <a:buFont typeface="Calibri"/>
              <a:buChar char="●"/>
            </a:pPr>
            <a:r>
              <a:rPr lang="en" sz="1333"/>
              <a:t>In Java, an initializing constructor should have the following properties:</a:t>
            </a:r>
            <a:endParaRPr sz="1333"/>
          </a:p>
          <a:p>
            <a:pPr indent="-298450" lvl="1" marL="914400" rtl="0" algn="l">
              <a:lnSpc>
                <a:spcPct val="115000"/>
              </a:lnSpc>
              <a:spcBef>
                <a:spcPts val="0"/>
              </a:spcBef>
              <a:spcAft>
                <a:spcPts val="0"/>
              </a:spcAft>
              <a:buSzPts val="1100"/>
              <a:buFont typeface="Calibri"/>
              <a:buChar char="○"/>
            </a:pPr>
            <a:r>
              <a:rPr lang="en"/>
              <a:t>It should have </a:t>
            </a:r>
            <a:r>
              <a:rPr b="1" i="1" lang="en">
                <a:solidFill>
                  <a:srgbClr val="FF0000"/>
                </a:solidFill>
              </a:rPr>
              <a:t>public </a:t>
            </a:r>
            <a:r>
              <a:rPr lang="en"/>
              <a:t>visibility.</a:t>
            </a:r>
            <a:endParaRPr/>
          </a:p>
          <a:p>
            <a:pPr indent="-298450" lvl="1" marL="914400" rtl="0" algn="l">
              <a:lnSpc>
                <a:spcPct val="115000"/>
              </a:lnSpc>
              <a:spcBef>
                <a:spcPts val="0"/>
              </a:spcBef>
              <a:spcAft>
                <a:spcPts val="0"/>
              </a:spcAft>
              <a:buSzPts val="1100"/>
              <a:buFont typeface="Calibri"/>
              <a:buChar char="○"/>
            </a:pPr>
            <a:r>
              <a:rPr lang="en"/>
              <a:t>It should declare </a:t>
            </a:r>
            <a:r>
              <a:rPr b="1" i="1" lang="en">
                <a:solidFill>
                  <a:srgbClr val="FF0000"/>
                </a:solidFill>
              </a:rPr>
              <a:t>no </a:t>
            </a:r>
            <a:r>
              <a:rPr lang="en"/>
              <a:t>return type (not even void).</a:t>
            </a:r>
            <a:endParaRPr/>
          </a:p>
          <a:p>
            <a:pPr indent="-298450" lvl="1" marL="914400" rtl="0" algn="l">
              <a:lnSpc>
                <a:spcPct val="115000"/>
              </a:lnSpc>
              <a:spcBef>
                <a:spcPts val="0"/>
              </a:spcBef>
              <a:spcAft>
                <a:spcPts val="0"/>
              </a:spcAft>
              <a:buSzPts val="1100"/>
              <a:buFont typeface="Calibri"/>
              <a:buChar char="○"/>
            </a:pPr>
            <a:r>
              <a:rPr lang="en"/>
              <a:t>It should declare a </a:t>
            </a:r>
            <a:r>
              <a:rPr b="1" i="1" lang="en">
                <a:solidFill>
                  <a:srgbClr val="FF0000"/>
                </a:solidFill>
              </a:rPr>
              <a:t>parameter </a:t>
            </a:r>
            <a:r>
              <a:rPr lang="en"/>
              <a:t>for each field in the class.</a:t>
            </a:r>
            <a:endParaRPr/>
          </a:p>
          <a:p>
            <a:pPr indent="-311150" lvl="0" marL="457200" rtl="0" algn="l">
              <a:lnSpc>
                <a:spcPct val="115000"/>
              </a:lnSpc>
              <a:spcBef>
                <a:spcPts val="0"/>
              </a:spcBef>
              <a:spcAft>
                <a:spcPts val="0"/>
              </a:spcAft>
              <a:buSzPts val="1300"/>
              <a:buFont typeface="Calibri"/>
              <a:buChar char="●"/>
            </a:pPr>
            <a:r>
              <a:rPr lang="en"/>
              <a:t>The keyword </a:t>
            </a:r>
            <a:r>
              <a:rPr lang="en">
                <a:solidFill>
                  <a:srgbClr val="FF0000"/>
                </a:solidFill>
                <a:latin typeface="Courier New"/>
                <a:ea typeface="Courier New"/>
                <a:cs typeface="Courier New"/>
                <a:sym typeface="Courier New"/>
              </a:rPr>
              <a:t>this</a:t>
            </a:r>
            <a:r>
              <a:rPr b="1" i="1" lang="en">
                <a:solidFill>
                  <a:srgbClr val="FF0000"/>
                </a:solidFill>
              </a:rPr>
              <a:t> </a:t>
            </a:r>
            <a:r>
              <a:rPr lang="en"/>
              <a:t>is used by an </a:t>
            </a:r>
            <a:r>
              <a:rPr b="1" i="1" lang="en">
                <a:solidFill>
                  <a:srgbClr val="FF0000"/>
                </a:solidFill>
              </a:rPr>
              <a:t>instance</a:t>
            </a:r>
            <a:r>
              <a:rPr lang="en">
                <a:solidFill>
                  <a:srgbClr val="FF0000"/>
                </a:solidFill>
              </a:rPr>
              <a:t> </a:t>
            </a:r>
            <a:r>
              <a:rPr lang="en"/>
              <a:t>of the class to refer to </a:t>
            </a:r>
            <a:r>
              <a:rPr b="1" i="1" lang="en">
                <a:solidFill>
                  <a:srgbClr val="FF0000"/>
                </a:solidFill>
              </a:rPr>
              <a:t>itself</a:t>
            </a:r>
            <a:r>
              <a:rPr lang="en"/>
              <a:t>.</a:t>
            </a:r>
            <a:endParaRPr/>
          </a:p>
          <a:p>
            <a:pPr indent="-298450" lvl="1" marL="914400" rtl="0" algn="l">
              <a:lnSpc>
                <a:spcPct val="115000"/>
              </a:lnSpc>
              <a:spcBef>
                <a:spcPts val="0"/>
              </a:spcBef>
              <a:spcAft>
                <a:spcPts val="0"/>
              </a:spcAft>
              <a:buSzPts val="1100"/>
              <a:buChar char="○"/>
            </a:pPr>
            <a:r>
              <a:rPr lang="en"/>
              <a:t>It is similar to </a:t>
            </a:r>
            <a:r>
              <a:rPr b="1" i="1" lang="en">
                <a:solidFill>
                  <a:srgbClr val="FF0000"/>
                </a:solidFill>
              </a:rPr>
              <a:t>self </a:t>
            </a:r>
            <a:r>
              <a:rPr lang="en"/>
              <a:t>in python.</a:t>
            </a:r>
            <a:endParaRPr/>
          </a:p>
          <a:p>
            <a:pPr indent="-311150" lvl="0" marL="457200" rtl="0" algn="l">
              <a:lnSpc>
                <a:spcPct val="115000"/>
              </a:lnSpc>
              <a:spcBef>
                <a:spcPts val="0"/>
              </a:spcBef>
              <a:spcAft>
                <a:spcPts val="0"/>
              </a:spcAft>
              <a:buSzPts val="1300"/>
              <a:buFont typeface="Calibri"/>
              <a:buChar char="●"/>
            </a:pPr>
            <a:r>
              <a:rPr lang="en"/>
              <a:t>In most circumstances it is not needed </a:t>
            </a:r>
            <a:r>
              <a:rPr b="1" i="1" lang="en">
                <a:solidFill>
                  <a:srgbClr val="FF0000"/>
                </a:solidFill>
              </a:rPr>
              <a:t>explicitly</a:t>
            </a:r>
            <a:r>
              <a:rPr lang="en"/>
              <a:t>.</a:t>
            </a:r>
            <a:endParaRPr b="1" i="1">
              <a:solidFill>
                <a:srgbClr val="FF0000"/>
              </a:solidFill>
            </a:endParaRPr>
          </a:p>
          <a:p>
            <a:pPr indent="-298450" lvl="1" marL="914400" rtl="0" algn="l">
              <a:lnSpc>
                <a:spcPct val="115000"/>
              </a:lnSpc>
              <a:spcBef>
                <a:spcPts val="0"/>
              </a:spcBef>
              <a:spcAft>
                <a:spcPts val="0"/>
              </a:spcAft>
              <a:buSzPts val="1100"/>
              <a:buFont typeface="Calibri"/>
              <a:buChar char="○"/>
            </a:pPr>
            <a:r>
              <a:rPr lang="en"/>
              <a:t>You c</a:t>
            </a:r>
            <a:r>
              <a:rPr lang="en"/>
              <a:t>an </a:t>
            </a:r>
            <a:r>
              <a:rPr lang="en"/>
              <a:t>use </a:t>
            </a:r>
            <a:r>
              <a:rPr lang="en">
                <a:solidFill>
                  <a:srgbClr val="FF0000"/>
                </a:solidFill>
                <a:latin typeface="Courier New"/>
                <a:ea typeface="Courier New"/>
                <a:cs typeface="Courier New"/>
                <a:sym typeface="Courier New"/>
              </a:rPr>
              <a:t>this</a:t>
            </a:r>
            <a:r>
              <a:rPr i="1" lang="en"/>
              <a:t> </a:t>
            </a:r>
            <a:r>
              <a:rPr lang="en"/>
              <a:t>for </a:t>
            </a:r>
            <a:r>
              <a:rPr b="1" i="1" lang="en">
                <a:solidFill>
                  <a:srgbClr val="FF0000"/>
                </a:solidFill>
              </a:rPr>
              <a:t>disambiguating</a:t>
            </a:r>
            <a:r>
              <a:rPr i="1" lang="en">
                <a:solidFill>
                  <a:srgbClr val="FF0000"/>
                </a:solidFill>
              </a:rPr>
              <a:t> </a:t>
            </a:r>
            <a:r>
              <a:rPr lang="en"/>
              <a:t>between fields and variables with the same name.</a:t>
            </a:r>
            <a:endParaRPr/>
          </a:p>
        </p:txBody>
      </p:sp>
      <p:sp>
        <p:nvSpPr>
          <p:cNvPr id="403" name="Google Shape;403;p59"/>
          <p:cNvSpPr txBox="1"/>
          <p:nvPr>
            <p:ph type="title"/>
          </p:nvPr>
        </p:nvSpPr>
        <p:spPr>
          <a:xfrm>
            <a:off x="5133300" y="13777"/>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this</a:t>
            </a:r>
            <a:r>
              <a:rPr lang="en"/>
              <a:t> vs </a:t>
            </a:r>
            <a:r>
              <a:rPr lang="en">
                <a:latin typeface="Courier New"/>
                <a:ea typeface="Courier New"/>
                <a:cs typeface="Courier New"/>
                <a:sym typeface="Courier New"/>
              </a:rPr>
              <a:t>self</a:t>
            </a:r>
            <a:endParaRPr>
              <a:latin typeface="Courier New"/>
              <a:ea typeface="Courier New"/>
              <a:cs typeface="Courier New"/>
              <a:sym typeface="Courier New"/>
            </a:endParaRPr>
          </a:p>
        </p:txBody>
      </p:sp>
      <p:sp>
        <p:nvSpPr>
          <p:cNvPr id="404" name="Google Shape;404;p59"/>
          <p:cNvSpPr txBox="1"/>
          <p:nvPr>
            <p:ph idx="2" type="body"/>
          </p:nvPr>
        </p:nvSpPr>
        <p:spPr>
          <a:xfrm>
            <a:off x="5137000" y="1438575"/>
            <a:ext cx="3706500" cy="2697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 </a:t>
            </a:r>
            <a:r>
              <a:rPr lang="en" sz="1200">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267F99"/>
                </a:solidFill>
                <a:highlight>
                  <a:srgbClr val="FFFFFF"/>
                </a:highlight>
                <a:latin typeface="Consolas"/>
                <a:ea typeface="Consolas"/>
                <a:cs typeface="Consolas"/>
                <a:sym typeface="Consolas"/>
              </a:rPr>
              <a:t>                String </a:t>
            </a:r>
            <a:r>
              <a:rPr lang="en" sz="1200">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a:p>
        </p:txBody>
      </p:sp>
      <p:sp>
        <p:nvSpPr>
          <p:cNvPr id="405" name="Google Shape;405;p59"/>
          <p:cNvSpPr txBox="1"/>
          <p:nvPr>
            <p:ph idx="3" type="body"/>
          </p:nvPr>
        </p:nvSpPr>
        <p:spPr>
          <a:xfrm>
            <a:off x="5137000" y="59082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It is considered good programming style to name constructor parameters the same as the fields that they are being used to initialize.</a:t>
            </a:r>
            <a:endParaRPr sz="1200"/>
          </a:p>
        </p:txBody>
      </p:sp>
      <p:grpSp>
        <p:nvGrpSpPr>
          <p:cNvPr id="406" name="Google Shape;406;p59"/>
          <p:cNvGrpSpPr/>
          <p:nvPr/>
        </p:nvGrpSpPr>
        <p:grpSpPr>
          <a:xfrm>
            <a:off x="5532875" y="2987275"/>
            <a:ext cx="1077900" cy="1355100"/>
            <a:chOff x="5532875" y="2987275"/>
            <a:chExt cx="1077900" cy="1355100"/>
          </a:xfrm>
        </p:grpSpPr>
        <p:sp>
          <p:nvSpPr>
            <p:cNvPr id="407" name="Google Shape;407;p59"/>
            <p:cNvSpPr/>
            <p:nvPr/>
          </p:nvSpPr>
          <p:spPr>
            <a:xfrm>
              <a:off x="5839775" y="2987275"/>
              <a:ext cx="771000" cy="21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8" name="Google Shape;408;p59"/>
            <p:cNvCxnSpPr>
              <a:stCxn id="407" idx="1"/>
            </p:cNvCxnSpPr>
            <p:nvPr/>
          </p:nvCxnSpPr>
          <p:spPr>
            <a:xfrm flipH="1">
              <a:off x="5532875" y="3095875"/>
              <a:ext cx="306900" cy="1246500"/>
            </a:xfrm>
            <a:prstGeom prst="bentConnector2">
              <a:avLst/>
            </a:prstGeom>
            <a:noFill/>
            <a:ln cap="flat" cmpd="sng" w="19050">
              <a:solidFill>
                <a:srgbClr val="FF0000"/>
              </a:solidFill>
              <a:prstDash val="solid"/>
              <a:round/>
              <a:headEnd len="med" w="med" type="none"/>
              <a:tailEnd len="med" w="med" type="none"/>
            </a:ln>
          </p:spPr>
        </p:cxnSp>
      </p:grpSp>
      <p:grpSp>
        <p:nvGrpSpPr>
          <p:cNvPr id="409" name="Google Shape;409;p59"/>
          <p:cNvGrpSpPr/>
          <p:nvPr/>
        </p:nvGrpSpPr>
        <p:grpSpPr>
          <a:xfrm>
            <a:off x="6785452" y="2987275"/>
            <a:ext cx="1263649" cy="1295100"/>
            <a:chOff x="6785445" y="2987275"/>
            <a:chExt cx="578700" cy="1295100"/>
          </a:xfrm>
        </p:grpSpPr>
        <p:sp>
          <p:nvSpPr>
            <p:cNvPr id="410" name="Google Shape;410;p59"/>
            <p:cNvSpPr/>
            <p:nvPr/>
          </p:nvSpPr>
          <p:spPr>
            <a:xfrm>
              <a:off x="6785445" y="2987275"/>
              <a:ext cx="189300" cy="21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1" name="Google Shape;411;p59"/>
            <p:cNvCxnSpPr>
              <a:stCxn id="410" idx="3"/>
            </p:cNvCxnSpPr>
            <p:nvPr/>
          </p:nvCxnSpPr>
          <p:spPr>
            <a:xfrm>
              <a:off x="6974745" y="3095875"/>
              <a:ext cx="389400" cy="1186500"/>
            </a:xfrm>
            <a:prstGeom prst="bentConnector2">
              <a:avLst/>
            </a:prstGeom>
            <a:noFill/>
            <a:ln cap="flat" cmpd="sng" w="19050">
              <a:solidFill>
                <a:srgbClr val="FF0000"/>
              </a:solidFill>
              <a:prstDash val="solid"/>
              <a:round/>
              <a:headEnd len="med" w="med" type="none"/>
              <a:tailEnd len="med" w="med" type="none"/>
            </a:ln>
          </p:spPr>
        </p:cxnSp>
      </p:grpSp>
      <p:sp>
        <p:nvSpPr>
          <p:cNvPr id="412" name="Google Shape;412;p59"/>
          <p:cNvSpPr txBox="1"/>
          <p:nvPr>
            <p:ph idx="3" type="body"/>
          </p:nvPr>
        </p:nvSpPr>
        <p:spPr>
          <a:xfrm>
            <a:off x="5137000" y="424472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FF0000"/>
                </a:solidFill>
                <a:latin typeface="Courier New"/>
                <a:ea typeface="Courier New"/>
                <a:cs typeface="Courier New"/>
                <a:sym typeface="Courier New"/>
              </a:rPr>
              <a:t>this</a:t>
            </a:r>
            <a:r>
              <a:rPr lang="en" sz="1200">
                <a:solidFill>
                  <a:srgbClr val="FF0000"/>
                </a:solidFill>
              </a:rPr>
              <a:t> </a:t>
            </a:r>
            <a:r>
              <a:rPr lang="en" sz="1200"/>
              <a:t>is used to differentiate between the fields in the new object and the parameters with the same name.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60"/>
          <p:cNvPicPr preferRelativeResize="0"/>
          <p:nvPr/>
        </p:nvPicPr>
        <p:blipFill>
          <a:blip r:embed="rId3">
            <a:alphaModFix/>
          </a:blip>
          <a:stretch>
            <a:fillRect/>
          </a:stretch>
        </p:blipFill>
        <p:spPr>
          <a:xfrm rot="-765610">
            <a:off x="449225" y="787878"/>
            <a:ext cx="7060149" cy="1793925"/>
          </a:xfrm>
          <a:prstGeom prst="rect">
            <a:avLst/>
          </a:prstGeom>
          <a:noFill/>
          <a:ln>
            <a:noFill/>
          </a:ln>
        </p:spPr>
      </p:pic>
      <p:sp>
        <p:nvSpPr>
          <p:cNvPr id="418" name="Google Shape;418;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60"/>
          <p:cNvSpPr/>
          <p:nvPr/>
        </p:nvSpPr>
        <p:spPr>
          <a:xfrm>
            <a:off x="539700" y="2876850"/>
            <a:ext cx="2559300" cy="1008600"/>
          </a:xfrm>
          <a:prstGeom prst="wedgeRoundRectCallout">
            <a:avLst>
              <a:gd fmla="val 56459" name="adj1"/>
              <a:gd fmla="val 32210" name="adj2"/>
              <a:gd fmla="val 0" name="adj3"/>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t>Whenever you see this image, it's a reminder to check your PROBLEMS tab.</a:t>
            </a:r>
            <a:endParaRPr sz="1500"/>
          </a:p>
        </p:txBody>
      </p:sp>
      <p:sp>
        <p:nvSpPr>
          <p:cNvPr id="420" name="Google Shape;420;p60"/>
          <p:cNvSpPr/>
          <p:nvPr/>
        </p:nvSpPr>
        <p:spPr>
          <a:xfrm>
            <a:off x="5602300" y="1933650"/>
            <a:ext cx="2828100" cy="1008600"/>
          </a:xfrm>
          <a:prstGeom prst="wedgeRoundRectCallout">
            <a:avLst>
              <a:gd fmla="val -45574" name="adj1"/>
              <a:gd fmla="val 75991" name="adj2"/>
              <a:gd fmla="val 0" name="adj3"/>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VSCode has identified any problems, try to fix them. If you're not sure how, raise your hand and ask for help!</a:t>
            </a:r>
            <a:endParaRPr/>
          </a:p>
        </p:txBody>
      </p:sp>
      <p:pic>
        <p:nvPicPr>
          <p:cNvPr id="421" name="Google Shape;421;p60"/>
          <p:cNvPicPr preferRelativeResize="0"/>
          <p:nvPr/>
        </p:nvPicPr>
        <p:blipFill>
          <a:blip r:embed="rId4">
            <a:alphaModFix/>
          </a:blip>
          <a:stretch>
            <a:fillRect/>
          </a:stretch>
        </p:blipFill>
        <p:spPr>
          <a:xfrm flipH="1">
            <a:off x="3231514" y="2601712"/>
            <a:ext cx="2437860" cy="2424974"/>
          </a:xfrm>
          <a:prstGeom prst="rect">
            <a:avLst/>
          </a:prstGeom>
          <a:noFill/>
          <a:ln>
            <a:noFill/>
          </a:ln>
        </p:spPr>
      </p:pic>
      <p:sp>
        <p:nvSpPr>
          <p:cNvPr id="422" name="Google Shape;422;p60"/>
          <p:cNvSpPr/>
          <p:nvPr/>
        </p:nvSpPr>
        <p:spPr>
          <a:xfrm>
            <a:off x="5669375" y="3404175"/>
            <a:ext cx="2828100" cy="1008600"/>
          </a:xfrm>
          <a:prstGeom prst="wedgeRoundRectCallout">
            <a:avLst>
              <a:gd fmla="val -69654" name="adj1"/>
              <a:gd fmla="val 21495" name="adj2"/>
              <a:gd fmla="val 0" name="adj3"/>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And remember: it's not about </a:t>
            </a:r>
            <a:r>
              <a:rPr i="1" lang="en"/>
              <a:t>avoiding</a:t>
            </a:r>
            <a:r>
              <a:rPr lang="en"/>
              <a:t> making mistakes. It's about learning how to fix them as we make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1"/>
          <p:cNvSpPr txBox="1"/>
          <p:nvPr>
            <p:ph idx="1" type="body"/>
          </p:nvPr>
        </p:nvSpPr>
        <p:spPr>
          <a:xfrm>
            <a:off x="65250" y="731625"/>
            <a:ext cx="8955900" cy="15639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Java's default constructor will assign default values to any fields defined by the class when a new object is created which avoids a lot of the problems that we ran into when working with Python classes and objects. Unfortunately, the default values are not always very useful. Let's add an initializing constructor to the Weapon class that declares parameters for each of the fields in the class.</a:t>
            </a:r>
            <a:endParaRPr/>
          </a:p>
        </p:txBody>
      </p:sp>
      <p:sp>
        <p:nvSpPr>
          <p:cNvPr id="428" name="Google Shape;428;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9" name="Google Shape;429;p61"/>
          <p:cNvSpPr txBox="1"/>
          <p:nvPr>
            <p:ph idx="2" type="body"/>
          </p:nvPr>
        </p:nvSpPr>
        <p:spPr>
          <a:xfrm>
            <a:off x="3458950" y="2165525"/>
            <a:ext cx="5482200" cy="2562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Weapon</a:t>
            </a:r>
            <a:r>
              <a:rPr lang="en" sz="1500"/>
              <a:t> class and define a new constructor.</a:t>
            </a:r>
            <a:endParaRPr sz="1500"/>
          </a:p>
          <a:p>
            <a:pPr indent="-311150" lvl="1" marL="914400" rtl="0" algn="l">
              <a:spcBef>
                <a:spcPts val="0"/>
              </a:spcBef>
              <a:spcAft>
                <a:spcPts val="0"/>
              </a:spcAft>
              <a:buSzPts val="1300"/>
              <a:buChar char="○"/>
            </a:pPr>
            <a:r>
              <a:rPr lang="en" sz="1300"/>
              <a:t>It should have the same name as the class.</a:t>
            </a:r>
            <a:endParaRPr sz="1300"/>
          </a:p>
          <a:p>
            <a:pPr indent="-311150" lvl="1" marL="914400" rtl="0" algn="l">
              <a:spcBef>
                <a:spcPts val="0"/>
              </a:spcBef>
              <a:spcAft>
                <a:spcPts val="0"/>
              </a:spcAft>
              <a:buSzPts val="1300"/>
              <a:buChar char="○"/>
            </a:pPr>
            <a:r>
              <a:rPr lang="en" sz="1300"/>
              <a:t>It should declare a parameter for each field. The parameters should be named the same as the field that they are initializing!</a:t>
            </a:r>
            <a:endParaRPr sz="1300"/>
          </a:p>
          <a:p>
            <a:pPr indent="-311150" lvl="1" marL="914400" rtl="0" algn="l">
              <a:spcBef>
                <a:spcPts val="0"/>
              </a:spcBef>
              <a:spcAft>
                <a:spcPts val="0"/>
              </a:spcAft>
              <a:buSzPts val="1300"/>
              <a:buChar char="○"/>
            </a:pPr>
            <a:r>
              <a:rPr lang="en" sz="1300"/>
              <a:t>It should not declare a return type.</a:t>
            </a:r>
            <a:endParaRPr sz="1300"/>
          </a:p>
          <a:p>
            <a:pPr indent="-323850" lvl="0" marL="457200" rtl="0" algn="l">
              <a:spcBef>
                <a:spcPts val="0"/>
              </a:spcBef>
              <a:spcAft>
                <a:spcPts val="0"/>
              </a:spcAft>
              <a:buSzPts val="1500"/>
              <a:buChar char="●"/>
            </a:pPr>
            <a:r>
              <a:rPr lang="en" sz="1500"/>
              <a:t>What happens when you try to run the </a:t>
            </a:r>
            <a:r>
              <a:rPr lang="en" sz="1500">
                <a:latin typeface="Courier New"/>
                <a:ea typeface="Courier New"/>
                <a:cs typeface="Courier New"/>
                <a:sym typeface="Courier New"/>
              </a:rPr>
              <a:t>StarWarsBattle</a:t>
            </a:r>
            <a:r>
              <a:rPr lang="en" sz="1500"/>
              <a:t> class now?</a:t>
            </a:r>
            <a:endParaRPr sz="1500"/>
          </a:p>
          <a:p>
            <a:pPr indent="-311150" lvl="1" marL="914400" rtl="0" algn="l">
              <a:spcBef>
                <a:spcPts val="0"/>
              </a:spcBef>
              <a:spcAft>
                <a:spcPts val="0"/>
              </a:spcAft>
              <a:buSzPts val="1300"/>
              <a:buChar char="○"/>
            </a:pPr>
            <a:r>
              <a:rPr lang="en" sz="1300"/>
              <a:t>If any errors have occurred, do you know </a:t>
            </a:r>
            <a:r>
              <a:rPr i="1" lang="en" sz="1300"/>
              <a:t>why</a:t>
            </a:r>
            <a:r>
              <a:rPr lang="en" sz="1300"/>
              <a:t>?</a:t>
            </a:r>
            <a:endParaRPr sz="1300"/>
          </a:p>
          <a:p>
            <a:pPr indent="-311150" lvl="1" marL="914400" rtl="0" algn="l">
              <a:spcBef>
                <a:spcPts val="0"/>
              </a:spcBef>
              <a:spcAft>
                <a:spcPts val="0"/>
              </a:spcAft>
              <a:buSzPts val="1300"/>
              <a:buChar char="○"/>
            </a:pPr>
            <a:r>
              <a:rPr lang="en" sz="1300"/>
              <a:t>Can you fix them? If not, raise your hand!</a:t>
            </a:r>
            <a:endParaRPr sz="1300"/>
          </a:p>
        </p:txBody>
      </p:sp>
      <p:sp>
        <p:nvSpPr>
          <p:cNvPr id="430" name="Google Shape;430;p6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Initializing Constructors</a:t>
            </a:r>
            <a:endParaRPr/>
          </a:p>
        </p:txBody>
      </p:sp>
      <p:sp>
        <p:nvSpPr>
          <p:cNvPr id="431" name="Google Shape;431;p6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2.4</a:t>
            </a:r>
            <a:endParaRPr/>
          </a:p>
        </p:txBody>
      </p:sp>
      <p:pic>
        <p:nvPicPr>
          <p:cNvPr id="432" name="Google Shape;432;p61"/>
          <p:cNvPicPr preferRelativeResize="0"/>
          <p:nvPr/>
        </p:nvPicPr>
        <p:blipFill>
          <a:blip r:embed="rId3">
            <a:alphaModFix/>
          </a:blip>
          <a:stretch>
            <a:fillRect/>
          </a:stretch>
        </p:blipFill>
        <p:spPr>
          <a:xfrm>
            <a:off x="7135025" y="87075"/>
            <a:ext cx="1886124" cy="483300"/>
          </a:xfrm>
          <a:prstGeom prst="rect">
            <a:avLst/>
          </a:prstGeom>
          <a:noFill/>
          <a:ln>
            <a:noFill/>
          </a:ln>
        </p:spPr>
      </p:pic>
      <p:sp>
        <p:nvSpPr>
          <p:cNvPr id="433" name="Google Shape;433;p61"/>
          <p:cNvSpPr txBox="1"/>
          <p:nvPr>
            <p:ph idx="4" type="body"/>
          </p:nvPr>
        </p:nvSpPr>
        <p:spPr>
          <a:xfrm>
            <a:off x="105800" y="2247175"/>
            <a:ext cx="3300600" cy="2706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String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a:t>
            </a:r>
            <a:r>
              <a:rPr lang="en">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267F99"/>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Even small Java programs will need more than one class to meet all of the requirements. Let's start on the next class in the Star Wars Battle game. Use your noun/verb analysis to c</a:t>
            </a:r>
            <a:r>
              <a:rPr lang="en"/>
              <a:t>reate the </a:t>
            </a:r>
            <a:r>
              <a:rPr lang="en">
                <a:latin typeface="Courier New"/>
                <a:ea typeface="Courier New"/>
                <a:cs typeface="Courier New"/>
                <a:sym typeface="Courier New"/>
              </a:rPr>
              <a:t>Ship</a:t>
            </a:r>
            <a:r>
              <a:rPr lang="en"/>
              <a:t> class along with an initializing constructor.</a:t>
            </a:r>
            <a:endParaRPr/>
          </a:p>
        </p:txBody>
      </p:sp>
      <p:sp>
        <p:nvSpPr>
          <p:cNvPr id="439" name="Google Shape;439;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2"/>
          <p:cNvSpPr txBox="1"/>
          <p:nvPr>
            <p:ph idx="2" type="body"/>
          </p:nvPr>
        </p:nvSpPr>
        <p:spPr>
          <a:xfrm>
            <a:off x="3301725" y="1784525"/>
            <a:ext cx="5639400" cy="2774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Add a new </a:t>
            </a:r>
            <a:r>
              <a:rPr lang="en">
                <a:solidFill>
                  <a:srgbClr val="FF0000"/>
                </a:solidFill>
                <a:latin typeface="Courier New"/>
                <a:ea typeface="Courier New"/>
                <a:cs typeface="Courier New"/>
                <a:sym typeface="Courier New"/>
              </a:rPr>
              <a:t>Ship.java</a:t>
            </a:r>
            <a:r>
              <a:rPr lang="en"/>
              <a:t> file to the </a:t>
            </a:r>
            <a:r>
              <a:rPr lang="en">
                <a:latin typeface="Courier New"/>
                <a:ea typeface="Courier New"/>
                <a:cs typeface="Courier New"/>
                <a:sym typeface="Courier New"/>
              </a:rPr>
              <a:t>swb</a:t>
            </a:r>
            <a:r>
              <a:rPr lang="en"/>
              <a:t> package</a:t>
            </a:r>
            <a:endParaRPr/>
          </a:p>
          <a:p>
            <a:pPr indent="-311150" lvl="0" marL="457200" rtl="0" algn="l">
              <a:spcBef>
                <a:spcPts val="0"/>
              </a:spcBef>
              <a:spcAft>
                <a:spcPts val="0"/>
              </a:spcAft>
              <a:buSzPts val="1300"/>
              <a:buChar char="●"/>
            </a:pPr>
            <a:r>
              <a:rPr lang="en"/>
              <a:t>Define the class along including all of its state</a:t>
            </a:r>
            <a:endParaRPr/>
          </a:p>
          <a:p>
            <a:pPr indent="-298450" lvl="1" marL="914400" rtl="0" algn="l">
              <a:spcBef>
                <a:spcPts val="0"/>
              </a:spcBef>
              <a:spcAft>
                <a:spcPts val="0"/>
              </a:spcAft>
              <a:buSzPts val="1100"/>
              <a:buChar char="○"/>
            </a:pPr>
            <a:r>
              <a:rPr lang="en"/>
              <a:t>Refer back to the noun-verb analysis to find the state information</a:t>
            </a:r>
            <a:endParaRPr/>
          </a:p>
          <a:p>
            <a:pPr indent="-298450" lvl="1" marL="914400" rtl="0" algn="l">
              <a:spcBef>
                <a:spcPts val="0"/>
              </a:spcBef>
              <a:spcAft>
                <a:spcPts val="0"/>
              </a:spcAft>
              <a:buSzPts val="1100"/>
              <a:buChar char="○"/>
            </a:pPr>
            <a:r>
              <a:rPr lang="en"/>
              <a:t>Once again, make all the attributes public</a:t>
            </a:r>
            <a:endParaRPr/>
          </a:p>
          <a:p>
            <a:pPr indent="-311150" lvl="0" marL="457200" rtl="0" algn="l">
              <a:spcBef>
                <a:spcPts val="0"/>
              </a:spcBef>
              <a:spcAft>
                <a:spcPts val="0"/>
              </a:spcAft>
              <a:buSzPts val="1300"/>
              <a:buChar char="●"/>
            </a:pPr>
            <a:r>
              <a:rPr lang="en"/>
              <a:t>Add a constructor to the class that accepts all of the state information as parameters</a:t>
            </a:r>
            <a:endParaRPr/>
          </a:p>
          <a:p>
            <a:pPr indent="-311150" lvl="0" marL="457200" rtl="0" algn="l">
              <a:spcBef>
                <a:spcPts val="0"/>
              </a:spcBef>
              <a:spcAft>
                <a:spcPts val="0"/>
              </a:spcAft>
              <a:buSzPts val="1300"/>
              <a:buChar char="●"/>
            </a:pPr>
            <a:r>
              <a:rPr lang="en"/>
              <a:t>Inside the  </a:t>
            </a:r>
            <a:r>
              <a:rPr lang="en">
                <a:latin typeface="Courier New"/>
                <a:ea typeface="Courier New"/>
                <a:cs typeface="Courier New"/>
                <a:sym typeface="Courier New"/>
              </a:rPr>
              <a:t>main</a:t>
            </a:r>
            <a:r>
              <a:rPr lang="en"/>
              <a:t> method (in </a:t>
            </a:r>
            <a:r>
              <a:rPr lang="en">
                <a:latin typeface="Courier New"/>
                <a:ea typeface="Courier New"/>
                <a:cs typeface="Courier New"/>
                <a:sym typeface="Courier New"/>
              </a:rPr>
              <a:t>StarWarsBattle</a:t>
            </a:r>
            <a:r>
              <a:rPr lang="en"/>
              <a:t>) call the default constructor to create a new </a:t>
            </a:r>
            <a:r>
              <a:rPr lang="en">
                <a:latin typeface="Courier New"/>
                <a:ea typeface="Courier New"/>
                <a:cs typeface="Courier New"/>
                <a:sym typeface="Courier New"/>
              </a:rPr>
              <a:t>Ship</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I.E. </a:t>
            </a:r>
            <a:r>
              <a:rPr lang="en">
                <a:latin typeface="Courier New"/>
                <a:ea typeface="Courier New"/>
                <a:cs typeface="Courier New"/>
                <a:sym typeface="Courier New"/>
              </a:rPr>
              <a:t>Ship myShip = new Ship()</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What happens?</a:t>
            </a:r>
            <a:endParaRPr/>
          </a:p>
          <a:p>
            <a:pPr indent="-311150" lvl="0" marL="457200" rtl="0" algn="l">
              <a:spcBef>
                <a:spcPts val="0"/>
              </a:spcBef>
              <a:spcAft>
                <a:spcPts val="0"/>
              </a:spcAft>
              <a:buSzPts val="1300"/>
              <a:buChar char="●"/>
            </a:pPr>
            <a:r>
              <a:rPr lang="en"/>
              <a:t>Modify </a:t>
            </a:r>
            <a:r>
              <a:rPr lang="en">
                <a:latin typeface="Courier New"/>
                <a:ea typeface="Courier New"/>
                <a:cs typeface="Courier New"/>
                <a:sym typeface="Courier New"/>
              </a:rPr>
              <a:t>main</a:t>
            </a:r>
            <a:r>
              <a:rPr lang="en"/>
              <a:t> to call the constructor that was added to the class</a:t>
            </a:r>
            <a:endParaRPr/>
          </a:p>
          <a:p>
            <a:pPr indent="-311150" lvl="0" marL="457200" rtl="0" algn="l">
              <a:spcBef>
                <a:spcPts val="0"/>
              </a:spcBef>
              <a:spcAft>
                <a:spcPts val="0"/>
              </a:spcAft>
              <a:buSzPts val="1300"/>
              <a:buChar char="●"/>
            </a:pPr>
            <a:r>
              <a:rPr lang="en"/>
              <a:t>Print the ship's </a:t>
            </a:r>
            <a:r>
              <a:rPr lang="en">
                <a:latin typeface="Courier New"/>
                <a:ea typeface="Courier New"/>
                <a:cs typeface="Courier New"/>
                <a:sym typeface="Courier New"/>
              </a:rPr>
              <a:t>name</a:t>
            </a:r>
            <a:r>
              <a:rPr lang="en"/>
              <a:t> and </a:t>
            </a:r>
            <a:r>
              <a:rPr lang="en">
                <a:latin typeface="Courier New"/>
                <a:ea typeface="Courier New"/>
                <a:cs typeface="Courier New"/>
                <a:sym typeface="Courier New"/>
              </a:rPr>
              <a:t>hullAmount</a:t>
            </a:r>
            <a:endParaRPr/>
          </a:p>
        </p:txBody>
      </p:sp>
      <p:sp>
        <p:nvSpPr>
          <p:cNvPr id="441" name="Google Shape;441;p6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Riding in Ships with Moisture Farmers</a:t>
            </a:r>
            <a:endParaRPr/>
          </a:p>
        </p:txBody>
      </p:sp>
      <p:sp>
        <p:nvSpPr>
          <p:cNvPr id="442" name="Google Shape;442;p6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2.5</a:t>
            </a:r>
            <a:endParaRPr/>
          </a:p>
        </p:txBody>
      </p:sp>
      <p:sp>
        <p:nvSpPr>
          <p:cNvPr id="443" name="Google Shape;443;p62"/>
          <p:cNvSpPr txBox="1"/>
          <p:nvPr>
            <p:ph idx="4" type="body"/>
          </p:nvPr>
        </p:nvSpPr>
        <p:spPr>
          <a:xfrm>
            <a:off x="151825" y="1923875"/>
            <a:ext cx="2906400" cy="24957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Pet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Pet</a:t>
            </a:r>
            <a:r>
              <a:rPr lang="en" sz="1100">
                <a:solidFill>
                  <a:srgbClr val="000000"/>
                </a:solidFill>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267F99"/>
                </a:solidFill>
                <a:highlight>
                  <a:srgbClr val="FFFFFF"/>
                </a:highlight>
                <a:latin typeface="Consolas"/>
                <a:ea typeface="Consolas"/>
                <a:cs typeface="Consolas"/>
                <a:sym typeface="Consolas"/>
              </a:rPr>
              <a:t>             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3"/>
          <p:cNvSpPr txBox="1"/>
          <p:nvPr>
            <p:ph type="title"/>
          </p:nvPr>
        </p:nvSpPr>
        <p:spPr>
          <a:xfrm>
            <a:off x="5188525" y="94400"/>
            <a:ext cx="3706500" cy="96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Overloading &amp; Constructors</a:t>
            </a:r>
            <a:endParaRPr/>
          </a:p>
        </p:txBody>
      </p:sp>
      <p:sp>
        <p:nvSpPr>
          <p:cNvPr id="449" name="Google Shape;449;p63"/>
          <p:cNvSpPr txBox="1"/>
          <p:nvPr>
            <p:ph idx="1" type="body"/>
          </p:nvPr>
        </p:nvSpPr>
        <p:spPr>
          <a:xfrm>
            <a:off x="301275" y="18200"/>
            <a:ext cx="4475400" cy="4991700"/>
          </a:xfrm>
          <a:prstGeom prst="rect">
            <a:avLst/>
          </a:prstGeom>
        </p:spPr>
        <p:txBody>
          <a:bodyPr anchorCtr="0" anchor="t" bIns="91425" lIns="91425" spcFirstLastPara="1" rIns="91425" wrap="square" tIns="91425">
            <a:spAutoFit/>
          </a:bodyPr>
          <a:lstStyle/>
          <a:p>
            <a:pPr indent="-313245" lvl="0" marL="457200" rtl="0" algn="l">
              <a:lnSpc>
                <a:spcPct val="100000"/>
              </a:lnSpc>
              <a:spcBef>
                <a:spcPts val="0"/>
              </a:spcBef>
              <a:spcAft>
                <a:spcPts val="0"/>
              </a:spcAft>
              <a:buSzPts val="1333"/>
              <a:buChar char="●"/>
            </a:pPr>
            <a:r>
              <a:rPr lang="en" sz="1333"/>
              <a:t>Unlike Python, Java </a:t>
            </a:r>
            <a:r>
              <a:rPr b="1" i="1" lang="en" sz="1333">
                <a:solidFill>
                  <a:srgbClr val="FF0000"/>
                </a:solidFill>
              </a:rPr>
              <a:t>does not</a:t>
            </a:r>
            <a:r>
              <a:rPr lang="en" sz="1333"/>
              <a:t> have default parameter values. Instead, Java allows two or more methods to have the same name as long as the </a:t>
            </a:r>
            <a:r>
              <a:rPr b="1" i="1" lang="en" sz="1333">
                <a:solidFill>
                  <a:srgbClr val="FF0000"/>
                </a:solidFill>
              </a:rPr>
              <a:t>parameter lists</a:t>
            </a:r>
            <a:r>
              <a:rPr lang="en" sz="1333"/>
              <a:t> are different.</a:t>
            </a:r>
            <a:endParaRPr sz="1333"/>
          </a:p>
          <a:p>
            <a:pPr indent="-306895" lvl="1" marL="914400" rtl="0" algn="l">
              <a:lnSpc>
                <a:spcPct val="100000"/>
              </a:lnSpc>
              <a:spcBef>
                <a:spcPts val="0"/>
              </a:spcBef>
              <a:spcAft>
                <a:spcPts val="0"/>
              </a:spcAft>
              <a:buSzPts val="1233"/>
              <a:buChar char="○"/>
            </a:pPr>
            <a:r>
              <a:rPr lang="en" sz="1233"/>
              <a:t>Having two methods with the same name in the same class is referred to as </a:t>
            </a:r>
            <a:r>
              <a:rPr b="1" i="1" lang="en" sz="1233">
                <a:solidFill>
                  <a:srgbClr val="FF0000"/>
                </a:solidFill>
              </a:rPr>
              <a:t>overloading</a:t>
            </a:r>
            <a:r>
              <a:rPr lang="en" sz="1233"/>
              <a:t>.</a:t>
            </a:r>
            <a:endParaRPr b="1" i="1" sz="1233">
              <a:solidFill>
                <a:srgbClr val="FF0000"/>
              </a:solidFill>
            </a:endParaRPr>
          </a:p>
          <a:p>
            <a:pPr indent="-313245" lvl="0" marL="457200" rtl="0" algn="l">
              <a:lnSpc>
                <a:spcPct val="100000"/>
              </a:lnSpc>
              <a:spcBef>
                <a:spcPts val="0"/>
              </a:spcBef>
              <a:spcAft>
                <a:spcPts val="0"/>
              </a:spcAft>
              <a:buSzPts val="1333"/>
              <a:buChar char="●"/>
            </a:pPr>
            <a:r>
              <a:rPr lang="en" sz="1333"/>
              <a:t>Constructors are just a special kind of method with some extra rules.</a:t>
            </a:r>
            <a:endParaRPr sz="1333"/>
          </a:p>
          <a:p>
            <a:pPr indent="-306895" lvl="1" marL="914400" rtl="0" algn="l">
              <a:lnSpc>
                <a:spcPct val="100000"/>
              </a:lnSpc>
              <a:spcBef>
                <a:spcPts val="0"/>
              </a:spcBef>
              <a:spcAft>
                <a:spcPts val="0"/>
              </a:spcAft>
              <a:buSzPts val="1233"/>
              <a:buChar char="○"/>
            </a:pPr>
            <a:r>
              <a:rPr lang="en"/>
              <a:t>They must be named the same as the </a:t>
            </a:r>
            <a:r>
              <a:rPr b="1" i="1" lang="en">
                <a:solidFill>
                  <a:srgbClr val="FF0000"/>
                </a:solidFill>
              </a:rPr>
              <a:t>class</a:t>
            </a:r>
            <a:r>
              <a:rPr lang="en"/>
              <a:t>.</a:t>
            </a:r>
            <a:endParaRPr b="1" i="1">
              <a:solidFill>
                <a:srgbClr val="FF0000"/>
              </a:solidFill>
            </a:endParaRPr>
          </a:p>
          <a:p>
            <a:pPr indent="-306895" lvl="1" marL="914400" rtl="0" algn="l">
              <a:lnSpc>
                <a:spcPct val="100000"/>
              </a:lnSpc>
              <a:spcBef>
                <a:spcPts val="0"/>
              </a:spcBef>
              <a:spcAft>
                <a:spcPts val="0"/>
              </a:spcAft>
              <a:buSzPts val="1233"/>
              <a:buChar char="○"/>
            </a:pPr>
            <a:r>
              <a:rPr lang="en"/>
              <a:t>They do not have a </a:t>
            </a:r>
            <a:r>
              <a:rPr b="1" i="1" lang="en">
                <a:solidFill>
                  <a:srgbClr val="FF0000"/>
                </a:solidFill>
              </a:rPr>
              <a:t>return </a:t>
            </a:r>
            <a:r>
              <a:rPr lang="en"/>
              <a:t>type.</a:t>
            </a:r>
            <a:endParaRPr/>
          </a:p>
          <a:p>
            <a:pPr indent="-313245" lvl="0" marL="457200" rtl="0" algn="l">
              <a:lnSpc>
                <a:spcPct val="100000"/>
              </a:lnSpc>
              <a:spcBef>
                <a:spcPts val="0"/>
              </a:spcBef>
              <a:spcAft>
                <a:spcPts val="0"/>
              </a:spcAft>
              <a:buSzPts val="1333"/>
              <a:buChar char="●"/>
            </a:pPr>
            <a:r>
              <a:rPr lang="en" sz="1333"/>
              <a:t>Therefore, constructors can be overloaded just like any other method.</a:t>
            </a:r>
            <a:endParaRPr sz="1333"/>
          </a:p>
          <a:p>
            <a:pPr indent="-306895" lvl="1" marL="914400" rtl="0" algn="l">
              <a:lnSpc>
                <a:spcPct val="100000"/>
              </a:lnSpc>
              <a:spcBef>
                <a:spcPts val="0"/>
              </a:spcBef>
              <a:spcAft>
                <a:spcPts val="0"/>
              </a:spcAft>
              <a:buSzPts val="1233"/>
              <a:buChar char="○"/>
            </a:pPr>
            <a:r>
              <a:rPr lang="en"/>
              <a:t>We can call one constructor from another and use default values as arguments to the other constructor.</a:t>
            </a:r>
            <a:endParaRPr/>
          </a:p>
          <a:p>
            <a:pPr indent="-298450" lvl="1" marL="914400" rtl="0" algn="l">
              <a:lnSpc>
                <a:spcPct val="100000"/>
              </a:lnSpc>
              <a:spcBef>
                <a:spcPts val="0"/>
              </a:spcBef>
              <a:spcAft>
                <a:spcPts val="0"/>
              </a:spcAft>
              <a:buSzPts val="1100"/>
              <a:buChar char="○"/>
            </a:pPr>
            <a:r>
              <a:rPr lang="en"/>
              <a:t>One constructor calls another using </a:t>
            </a:r>
            <a:r>
              <a:rPr lang="en">
                <a:solidFill>
                  <a:srgbClr val="FF0000"/>
                </a:solidFill>
                <a:latin typeface="Courier New"/>
                <a:ea typeface="Courier New"/>
                <a:cs typeface="Courier New"/>
                <a:sym typeface="Courier New"/>
              </a:rPr>
              <a:t>this</a:t>
            </a:r>
            <a:r>
              <a:rPr lang="en"/>
              <a:t>, e.g.          </a:t>
            </a:r>
            <a:r>
              <a:rPr lang="en">
                <a:solidFill>
                  <a:srgbClr val="FF0000"/>
                </a:solidFill>
                <a:latin typeface="Courier New"/>
                <a:ea typeface="Courier New"/>
                <a:cs typeface="Courier New"/>
                <a:sym typeface="Courier New"/>
              </a:rPr>
              <a:t>this("Hermione", 2, "Basset Hound")</a:t>
            </a:r>
            <a:r>
              <a:rPr lang="en"/>
              <a:t>.</a:t>
            </a:r>
            <a:endParaRPr/>
          </a:p>
          <a:p>
            <a:pPr indent="-298450" lvl="1" marL="914400" rtl="0" algn="l">
              <a:lnSpc>
                <a:spcPct val="100000"/>
              </a:lnSpc>
              <a:spcBef>
                <a:spcPts val="0"/>
              </a:spcBef>
              <a:spcAft>
                <a:spcPts val="0"/>
              </a:spcAft>
              <a:buSzPts val="1100"/>
              <a:buChar char="○"/>
            </a:pPr>
            <a:r>
              <a:rPr lang="en"/>
              <a:t>When </a:t>
            </a:r>
            <a:r>
              <a:rPr lang="en">
                <a:latin typeface="Courier New"/>
                <a:ea typeface="Courier New"/>
                <a:cs typeface="Courier New"/>
                <a:sym typeface="Courier New"/>
              </a:rPr>
              <a:t>this</a:t>
            </a:r>
            <a:r>
              <a:rPr lang="en"/>
              <a:t> is used to call another constructor it must be the first line of the constructor!</a:t>
            </a:r>
            <a:endParaRPr/>
          </a:p>
          <a:p>
            <a:pPr indent="-280683" lvl="0" marL="365754" rtl="0" algn="l">
              <a:lnSpc>
                <a:spcPct val="100000"/>
              </a:lnSpc>
              <a:spcBef>
                <a:spcPts val="0"/>
              </a:spcBef>
              <a:spcAft>
                <a:spcPts val="0"/>
              </a:spcAft>
              <a:buClr>
                <a:schemeClr val="dk2"/>
              </a:buClr>
              <a:buSzPts val="1300"/>
              <a:buFont typeface="Calibri"/>
              <a:buChar char="●"/>
            </a:pPr>
            <a:r>
              <a:rPr lang="en"/>
              <a:t>If you write any constructor you </a:t>
            </a:r>
            <a:r>
              <a:rPr b="1" i="1" lang="en">
                <a:solidFill>
                  <a:srgbClr val="FF0000"/>
                </a:solidFill>
              </a:rPr>
              <a:t>lose </a:t>
            </a:r>
            <a:r>
              <a:rPr lang="en"/>
              <a:t>the default one that Java provides.</a:t>
            </a:r>
            <a:endParaRPr/>
          </a:p>
          <a:p>
            <a:pPr indent="-295885" lvl="1" marL="853428" rtl="0" algn="l">
              <a:lnSpc>
                <a:spcPct val="100000"/>
              </a:lnSpc>
              <a:spcBef>
                <a:spcPts val="0"/>
              </a:spcBef>
              <a:spcAft>
                <a:spcPts val="0"/>
              </a:spcAft>
              <a:buClr>
                <a:schemeClr val="dk2"/>
              </a:buClr>
              <a:buSzPts val="1300"/>
              <a:buFont typeface="Courier New"/>
              <a:buChar char="o"/>
            </a:pPr>
            <a:r>
              <a:rPr lang="en"/>
              <a:t>You can replace the removed default constructor with your own </a:t>
            </a:r>
            <a:r>
              <a:rPr b="1" i="1" lang="en">
                <a:solidFill>
                  <a:srgbClr val="FF0000"/>
                </a:solidFill>
              </a:rPr>
              <a:t>parameterless </a:t>
            </a:r>
            <a:r>
              <a:rPr lang="en"/>
              <a:t>constructor.</a:t>
            </a:r>
            <a:endParaRPr/>
          </a:p>
          <a:p>
            <a:pPr indent="-280683" lvl="0" marL="365754" rtl="0" algn="l">
              <a:lnSpc>
                <a:spcPct val="100000"/>
              </a:lnSpc>
              <a:spcBef>
                <a:spcPts val="0"/>
              </a:spcBef>
              <a:spcAft>
                <a:spcPts val="0"/>
              </a:spcAft>
              <a:buClr>
                <a:schemeClr val="dk2"/>
              </a:buClr>
              <a:buSzPts val="1300"/>
              <a:buFont typeface="Calibri"/>
              <a:buChar char="●"/>
            </a:pPr>
            <a:r>
              <a:rPr lang="en"/>
              <a:t>Simply write a constructor that doesn't declare any </a:t>
            </a:r>
            <a:r>
              <a:rPr b="1" i="1" lang="en">
                <a:solidFill>
                  <a:srgbClr val="FF0000"/>
                </a:solidFill>
              </a:rPr>
              <a:t>parameters</a:t>
            </a:r>
            <a:r>
              <a:rPr lang="en"/>
              <a:t> that calls another constructor with default arguments.</a:t>
            </a:r>
            <a:endParaRPr sz="1200"/>
          </a:p>
        </p:txBody>
      </p:sp>
      <p:sp>
        <p:nvSpPr>
          <p:cNvPr id="450" name="Google Shape;450;p63"/>
          <p:cNvSpPr txBox="1"/>
          <p:nvPr>
            <p:ph idx="12" type="sldNum"/>
          </p:nvPr>
        </p:nvSpPr>
        <p:spPr>
          <a:xfrm>
            <a:off x="8" y="4749892"/>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51" name="Google Shape;451;p63"/>
          <p:cNvSpPr txBox="1"/>
          <p:nvPr>
            <p:ph idx="2" type="body"/>
          </p:nvPr>
        </p:nvSpPr>
        <p:spPr>
          <a:xfrm>
            <a:off x="5192225" y="1133775"/>
            <a:ext cx="3706500" cy="2397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1</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public</a:t>
            </a:r>
            <a:r>
              <a:rPr lang="en" sz="1150">
                <a:solidFill>
                  <a:srgbClr val="000000"/>
                </a:solidFill>
                <a:latin typeface="Consolas"/>
                <a:ea typeface="Consolas"/>
                <a:cs typeface="Consolas"/>
                <a:sym typeface="Consolas"/>
              </a:rPr>
              <a:t> </a:t>
            </a:r>
            <a:r>
              <a:rPr lang="en" sz="1150">
                <a:solidFill>
                  <a:srgbClr val="795E26"/>
                </a:solidFill>
                <a:latin typeface="Consolas"/>
                <a:ea typeface="Consolas"/>
                <a:cs typeface="Consolas"/>
                <a:sym typeface="Consolas"/>
              </a:rPr>
              <a:t>House</a:t>
            </a:r>
            <a:r>
              <a:rPr lang="en" sz="1150">
                <a:solidFill>
                  <a:srgbClr val="000000"/>
                </a:solidFill>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solidFill>
                  <a:srgbClr val="000000"/>
                </a:solidFill>
                <a:latin typeface="Consolas"/>
                <a:ea typeface="Consolas"/>
                <a:cs typeface="Consolas"/>
                <a:sym typeface="Consolas"/>
              </a:rPr>
              <a:t> color, </a:t>
            </a:r>
            <a:r>
              <a:rPr lang="en" sz="1150">
                <a:solidFill>
                  <a:srgbClr val="267F99"/>
                </a:solidFill>
                <a:latin typeface="Consolas"/>
                <a:ea typeface="Consolas"/>
                <a:cs typeface="Consolas"/>
                <a:sym typeface="Consolas"/>
              </a:rPr>
              <a:t>int</a:t>
            </a:r>
            <a:r>
              <a:rPr lang="en" sz="1150">
                <a:solidFill>
                  <a:srgbClr val="000000"/>
                </a:solidFill>
                <a:latin typeface="Consolas"/>
                <a:ea typeface="Consolas"/>
                <a:cs typeface="Consolas"/>
                <a:sym typeface="Consolas"/>
              </a:rPr>
              <a:t> baths,</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2</a:t>
            </a:r>
            <a:r>
              <a:rPr lang="en" sz="1150">
                <a:solidFill>
                  <a:srgbClr val="000000"/>
                </a:solidFill>
                <a:latin typeface="Consolas"/>
                <a:ea typeface="Consolas"/>
                <a:cs typeface="Consolas"/>
                <a:sym typeface="Consolas"/>
              </a:rPr>
              <a:t>               </a:t>
            </a:r>
            <a:r>
              <a:rPr lang="en" sz="1150">
                <a:solidFill>
                  <a:srgbClr val="267F99"/>
                </a:solidFill>
                <a:latin typeface="Consolas"/>
                <a:ea typeface="Consolas"/>
                <a:cs typeface="Consolas"/>
                <a:sym typeface="Consolas"/>
              </a:rPr>
              <a:t>int</a:t>
            </a:r>
            <a:r>
              <a:rPr lang="en" sz="1150">
                <a:solidFill>
                  <a:srgbClr val="000000"/>
                </a:solidFill>
                <a:latin typeface="Consolas"/>
                <a:ea typeface="Consolas"/>
                <a:cs typeface="Consolas"/>
                <a:sym typeface="Consolas"/>
              </a:rPr>
              <a:t> beds, </a:t>
            </a:r>
            <a:r>
              <a:rPr lang="en" sz="1150">
                <a:solidFill>
                  <a:srgbClr val="267F99"/>
                </a:solidFill>
                <a:latin typeface="Consolas"/>
                <a:ea typeface="Consolas"/>
                <a:cs typeface="Consolas"/>
                <a:sym typeface="Consolas"/>
              </a:rPr>
              <a:t>boolean</a:t>
            </a:r>
            <a:r>
              <a:rPr lang="en" sz="1150">
                <a:solidFill>
                  <a:srgbClr val="000000"/>
                </a:solidFill>
                <a:latin typeface="Consolas"/>
                <a:ea typeface="Consolas"/>
                <a:cs typeface="Consolas"/>
                <a:sym typeface="Consolas"/>
              </a:rPr>
              <a:t> hvac) {</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3</a:t>
            </a:r>
            <a:r>
              <a:rPr lang="en" sz="1150">
                <a:solidFill>
                  <a:srgbClr val="000000"/>
                </a:solidFill>
                <a:latin typeface="Consolas"/>
                <a:ea typeface="Consolas"/>
                <a:cs typeface="Consolas"/>
                <a:sym typeface="Consolas"/>
              </a:rPr>
              <a:t>      exteriorColor = color;</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4</a:t>
            </a:r>
            <a:r>
              <a:rPr lang="en" sz="1150">
                <a:solidFill>
                  <a:srgbClr val="000000"/>
                </a:solidFill>
                <a:latin typeface="Consolas"/>
                <a:ea typeface="Consolas"/>
                <a:cs typeface="Consolas"/>
                <a:sym typeface="Consolas"/>
              </a:rPr>
              <a:t>      numBathrooms = baths;</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5</a:t>
            </a:r>
            <a:r>
              <a:rPr lang="en" sz="1150">
                <a:solidFill>
                  <a:srgbClr val="000000"/>
                </a:solidFill>
                <a:latin typeface="Consolas"/>
                <a:ea typeface="Consolas"/>
                <a:cs typeface="Consolas"/>
                <a:sym typeface="Consolas"/>
              </a:rPr>
              <a:t>      numBedrooms = beds;</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6</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this</a:t>
            </a:r>
            <a:r>
              <a:rPr lang="en" sz="1150">
                <a:solidFill>
                  <a:srgbClr val="000000"/>
                </a:solidFill>
                <a:latin typeface="Consolas"/>
                <a:ea typeface="Consolas"/>
                <a:cs typeface="Consolas"/>
                <a:sym typeface="Consolas"/>
              </a:rPr>
              <a:t>.</a:t>
            </a:r>
            <a:r>
              <a:rPr lang="en" sz="1150">
                <a:solidFill>
                  <a:srgbClr val="001080"/>
                </a:solidFill>
                <a:latin typeface="Consolas"/>
                <a:ea typeface="Consolas"/>
                <a:cs typeface="Consolas"/>
                <a:sym typeface="Consolas"/>
              </a:rPr>
              <a:t>hvac</a:t>
            </a:r>
            <a:r>
              <a:rPr lang="en" sz="1150">
                <a:solidFill>
                  <a:srgbClr val="000000"/>
                </a:solidFill>
                <a:latin typeface="Consolas"/>
                <a:ea typeface="Consolas"/>
                <a:cs typeface="Consolas"/>
                <a:sym typeface="Consolas"/>
              </a:rPr>
              <a:t> = hvac;</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7</a:t>
            </a:r>
            <a:r>
              <a:rPr lang="en" sz="1150">
                <a:solidFill>
                  <a:srgbClr val="000000"/>
                </a:solidFill>
                <a:latin typeface="Consolas"/>
                <a:ea typeface="Consolas"/>
                <a:cs typeface="Consolas"/>
                <a:sym typeface="Consolas"/>
              </a:rPr>
              <a:t>  }</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8</a:t>
            </a:r>
            <a:endParaRPr sz="1150">
              <a:solidFill>
                <a:srgbClr val="098658"/>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9</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public</a:t>
            </a:r>
            <a:r>
              <a:rPr lang="en" sz="1150">
                <a:solidFill>
                  <a:srgbClr val="000000"/>
                </a:solidFill>
                <a:latin typeface="Consolas"/>
                <a:ea typeface="Consolas"/>
                <a:cs typeface="Consolas"/>
                <a:sym typeface="Consolas"/>
              </a:rPr>
              <a:t> </a:t>
            </a:r>
            <a:r>
              <a:rPr lang="en" sz="1150">
                <a:solidFill>
                  <a:srgbClr val="795E26"/>
                </a:solidFill>
                <a:latin typeface="Consolas"/>
                <a:ea typeface="Consolas"/>
                <a:cs typeface="Consolas"/>
                <a:sym typeface="Consolas"/>
              </a:rPr>
              <a:t>House</a:t>
            </a:r>
            <a:r>
              <a:rPr lang="en" sz="1150">
                <a:solidFill>
                  <a:srgbClr val="000000"/>
                </a:solidFill>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solidFill>
                  <a:srgbClr val="000000"/>
                </a:solidFill>
                <a:latin typeface="Consolas"/>
                <a:ea typeface="Consolas"/>
                <a:cs typeface="Consolas"/>
                <a:sym typeface="Consolas"/>
              </a:rPr>
              <a:t> color) {</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10</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this</a:t>
            </a:r>
            <a:r>
              <a:rPr lang="en" sz="1150">
                <a:solidFill>
                  <a:srgbClr val="000000"/>
                </a:solidFill>
                <a:latin typeface="Consolas"/>
                <a:ea typeface="Consolas"/>
                <a:cs typeface="Consolas"/>
                <a:sym typeface="Consolas"/>
              </a:rPr>
              <a:t>(color, </a:t>
            </a:r>
            <a:r>
              <a:rPr lang="en" sz="1150">
                <a:solidFill>
                  <a:srgbClr val="098658"/>
                </a:solidFill>
                <a:latin typeface="Consolas"/>
                <a:ea typeface="Consolas"/>
                <a:cs typeface="Consolas"/>
                <a:sym typeface="Consolas"/>
              </a:rPr>
              <a:t>2</a:t>
            </a:r>
            <a:r>
              <a:rPr lang="en" sz="1150">
                <a:solidFill>
                  <a:srgbClr val="000000"/>
                </a:solidFill>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true</a:t>
            </a:r>
            <a:r>
              <a:rPr lang="en" sz="1150">
                <a:solidFill>
                  <a:srgbClr val="000000"/>
                </a:solidFill>
                <a:latin typeface="Consolas"/>
                <a:ea typeface="Consolas"/>
                <a:cs typeface="Consolas"/>
                <a:sym typeface="Consolas"/>
              </a:rPr>
              <a:t>);</a:t>
            </a:r>
            <a:endParaRPr sz="115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98658"/>
                </a:solidFill>
                <a:latin typeface="Consolas"/>
                <a:ea typeface="Consolas"/>
                <a:cs typeface="Consolas"/>
                <a:sym typeface="Consolas"/>
              </a:rPr>
              <a:t>11</a:t>
            </a:r>
            <a:r>
              <a:rPr lang="en" sz="1150">
                <a:solidFill>
                  <a:srgbClr val="000000"/>
                </a:solidFill>
                <a:latin typeface="Consolas"/>
                <a:ea typeface="Consolas"/>
                <a:cs typeface="Consolas"/>
                <a:sym typeface="Consolas"/>
              </a:rPr>
              <a:t> }</a:t>
            </a:r>
            <a:endParaRPr/>
          </a:p>
        </p:txBody>
      </p:sp>
      <p:grpSp>
        <p:nvGrpSpPr>
          <p:cNvPr id="452" name="Google Shape;452;p63"/>
          <p:cNvGrpSpPr/>
          <p:nvPr/>
        </p:nvGrpSpPr>
        <p:grpSpPr>
          <a:xfrm>
            <a:off x="5809825" y="2989439"/>
            <a:ext cx="2613000" cy="838650"/>
            <a:chOff x="5809825" y="3316700"/>
            <a:chExt cx="2613000" cy="838650"/>
          </a:xfrm>
        </p:grpSpPr>
        <p:sp>
          <p:nvSpPr>
            <p:cNvPr id="453" name="Google Shape;453;p63"/>
            <p:cNvSpPr/>
            <p:nvPr/>
          </p:nvSpPr>
          <p:spPr>
            <a:xfrm>
              <a:off x="5809825" y="3316700"/>
              <a:ext cx="1998900" cy="306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4" name="Google Shape;454;p63"/>
            <p:cNvCxnSpPr>
              <a:stCxn id="453" idx="3"/>
            </p:cNvCxnSpPr>
            <p:nvPr/>
          </p:nvCxnSpPr>
          <p:spPr>
            <a:xfrm>
              <a:off x="7808725" y="3470150"/>
              <a:ext cx="614100" cy="685200"/>
            </a:xfrm>
            <a:prstGeom prst="bentConnector2">
              <a:avLst/>
            </a:prstGeom>
            <a:noFill/>
            <a:ln cap="flat" cmpd="sng" w="19050">
              <a:solidFill>
                <a:srgbClr val="FF0000"/>
              </a:solidFill>
              <a:prstDash val="solid"/>
              <a:round/>
              <a:headEnd len="med" w="med" type="none"/>
              <a:tailEnd len="med" w="med" type="none"/>
            </a:ln>
          </p:spPr>
        </p:cxnSp>
      </p:grpSp>
      <p:sp>
        <p:nvSpPr>
          <p:cNvPr id="455" name="Google Shape;455;p63"/>
          <p:cNvSpPr txBox="1"/>
          <p:nvPr>
            <p:ph idx="3" type="body"/>
          </p:nvPr>
        </p:nvSpPr>
        <p:spPr>
          <a:xfrm>
            <a:off x="5192225" y="3609989"/>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Notice the use of </a:t>
            </a:r>
            <a:r>
              <a:rPr lang="en" sz="1200">
                <a:solidFill>
                  <a:srgbClr val="FF0000"/>
                </a:solidFill>
                <a:latin typeface="Courier New"/>
                <a:ea typeface="Courier New"/>
                <a:cs typeface="Courier New"/>
                <a:sym typeface="Courier New"/>
              </a:rPr>
              <a:t>this</a:t>
            </a:r>
            <a:r>
              <a:rPr b="1" lang="en" sz="1200">
                <a:solidFill>
                  <a:srgbClr val="FF0000"/>
                </a:solidFill>
                <a:latin typeface="Roboto"/>
                <a:ea typeface="Roboto"/>
                <a:cs typeface="Roboto"/>
                <a:sym typeface="Roboto"/>
              </a:rPr>
              <a:t> </a:t>
            </a:r>
            <a:r>
              <a:rPr lang="en" sz="1200"/>
              <a:t>instead of </a:t>
            </a:r>
            <a:r>
              <a:rPr lang="en" sz="1200">
                <a:latin typeface="Courier New"/>
                <a:ea typeface="Courier New"/>
                <a:cs typeface="Courier New"/>
                <a:sym typeface="Courier New"/>
              </a:rPr>
              <a:t>House</a:t>
            </a:r>
            <a:r>
              <a:rPr lang="en" sz="1200"/>
              <a:t> when calling a constructor from inside another constructor.</a:t>
            </a:r>
            <a:endParaRPr sz="1200"/>
          </a:p>
        </p:txBody>
      </p:sp>
      <p:sp>
        <p:nvSpPr>
          <p:cNvPr id="456" name="Google Shape;456;p63"/>
          <p:cNvSpPr txBox="1"/>
          <p:nvPr>
            <p:ph idx="3" type="body"/>
          </p:nvPr>
        </p:nvSpPr>
        <p:spPr>
          <a:xfrm>
            <a:off x="5188525" y="4424172"/>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This example will make a house of any color, 2 bathrooms, 3 bedrooms, and HVAC installed.</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Overloading constructors can provide different (and often simpler) ways to construct different instances of the same class. Consider that some ships may not have weapons or shields. </a:t>
            </a:r>
            <a:r>
              <a:rPr lang="en"/>
              <a:t>Overload the </a:t>
            </a:r>
            <a:r>
              <a:rPr lang="en">
                <a:latin typeface="Courier New"/>
                <a:ea typeface="Courier New"/>
                <a:cs typeface="Courier New"/>
                <a:sym typeface="Courier New"/>
              </a:rPr>
              <a:t>Ship</a:t>
            </a:r>
            <a:r>
              <a:rPr lang="en"/>
              <a:t>'s constructor to make it easier to construct such a ship.</a:t>
            </a:r>
            <a:endParaRPr/>
          </a:p>
        </p:txBody>
      </p:sp>
      <p:sp>
        <p:nvSpPr>
          <p:cNvPr id="462" name="Google Shape;462;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3" name="Google Shape;463;p64"/>
          <p:cNvSpPr txBox="1"/>
          <p:nvPr>
            <p:ph idx="2" type="body"/>
          </p:nvPr>
        </p:nvSpPr>
        <p:spPr>
          <a:xfrm>
            <a:off x="3592375" y="1860725"/>
            <a:ext cx="5272500" cy="24582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Add a second constructor to the </a:t>
            </a:r>
            <a:r>
              <a:rPr lang="en" sz="1400"/>
              <a:t>the </a:t>
            </a:r>
            <a:r>
              <a:rPr lang="en" sz="1400">
                <a:solidFill>
                  <a:srgbClr val="FF0000"/>
                </a:solidFill>
                <a:latin typeface="Courier New"/>
                <a:ea typeface="Courier New"/>
                <a:cs typeface="Courier New"/>
                <a:sym typeface="Courier New"/>
              </a:rPr>
              <a:t>Ship</a:t>
            </a:r>
            <a:r>
              <a:rPr lang="en" sz="1400"/>
              <a:t> class that only declares parameters </a:t>
            </a:r>
            <a:r>
              <a:rPr lang="en" sz="1400">
                <a:latin typeface="Courier New"/>
                <a:ea typeface="Courier New"/>
                <a:cs typeface="Courier New"/>
                <a:sym typeface="Courier New"/>
              </a:rPr>
              <a:t>name</a:t>
            </a:r>
            <a:r>
              <a:rPr lang="en" sz="1400"/>
              <a:t> and </a:t>
            </a:r>
            <a:r>
              <a:rPr lang="en" sz="1400">
                <a:latin typeface="Courier New"/>
                <a:ea typeface="Courier New"/>
                <a:cs typeface="Courier New"/>
                <a:sym typeface="Courier New"/>
              </a:rPr>
              <a:t>hullAmount</a:t>
            </a:r>
            <a:r>
              <a:rPr lang="en" sz="1400"/>
              <a:t>.</a:t>
            </a:r>
            <a:endParaRPr sz="1400"/>
          </a:p>
          <a:p>
            <a:pPr indent="-304800" lvl="1" marL="914400" rtl="0" algn="l">
              <a:spcBef>
                <a:spcPts val="0"/>
              </a:spcBef>
              <a:spcAft>
                <a:spcPts val="0"/>
              </a:spcAft>
              <a:buSzPts val="1200"/>
              <a:buChar char="○"/>
            </a:pPr>
            <a:r>
              <a:rPr lang="en" sz="1200"/>
              <a:t>Make sure to use </a:t>
            </a:r>
            <a:r>
              <a:rPr lang="en" sz="1200">
                <a:latin typeface="Courier New"/>
                <a:ea typeface="Courier New"/>
                <a:cs typeface="Courier New"/>
                <a:sym typeface="Courier New"/>
              </a:rPr>
              <a:t>this</a:t>
            </a:r>
            <a:r>
              <a:rPr lang="en" sz="1200"/>
              <a:t> to call the other constructor using default values for the other parameters. What values should you use by default?</a:t>
            </a:r>
            <a:endParaRPr sz="1200"/>
          </a:p>
          <a:p>
            <a:pPr indent="-317500" lvl="0" marL="457200" rtl="0" algn="l">
              <a:spcBef>
                <a:spcPts val="0"/>
              </a:spcBef>
              <a:spcAft>
                <a:spcPts val="0"/>
              </a:spcAft>
              <a:buSzPts val="1400"/>
              <a:buChar char="●"/>
            </a:pPr>
            <a:r>
              <a:rPr lang="en" sz="1400"/>
              <a:t>In </a:t>
            </a:r>
            <a:r>
              <a:rPr lang="en" sz="1400">
                <a:latin typeface="Courier New"/>
                <a:ea typeface="Courier New"/>
                <a:cs typeface="Courier New"/>
                <a:sym typeface="Courier New"/>
              </a:rPr>
              <a:t>main</a:t>
            </a:r>
            <a:r>
              <a:rPr lang="en" sz="1400"/>
              <a:t>, create a new </a:t>
            </a:r>
            <a:r>
              <a:rPr lang="en" sz="1400">
                <a:latin typeface="Courier New"/>
                <a:ea typeface="Courier New"/>
                <a:cs typeface="Courier New"/>
                <a:sym typeface="Courier New"/>
              </a:rPr>
              <a:t>Ship</a:t>
            </a:r>
            <a:r>
              <a:rPr lang="en" sz="1400"/>
              <a:t> using the simplified constructor and print the new ship's </a:t>
            </a:r>
            <a:r>
              <a:rPr lang="en" sz="1400">
                <a:latin typeface="Courier New"/>
                <a:ea typeface="Courier New"/>
                <a:cs typeface="Courier New"/>
                <a:sym typeface="Courier New"/>
              </a:rPr>
              <a:t>name</a:t>
            </a:r>
            <a:r>
              <a:rPr lang="en" sz="1400"/>
              <a:t> and </a:t>
            </a:r>
            <a:r>
              <a:rPr lang="en" sz="1400">
                <a:latin typeface="Courier New"/>
                <a:ea typeface="Courier New"/>
                <a:cs typeface="Courier New"/>
                <a:sym typeface="Courier New"/>
              </a:rPr>
              <a:t>hullAmount</a:t>
            </a:r>
            <a:r>
              <a:rPr lang="en" sz="1400"/>
              <a:t>.</a:t>
            </a:r>
            <a:endParaRPr sz="1400"/>
          </a:p>
          <a:p>
            <a:pPr indent="-304800" lvl="1" marL="914400" rtl="0" algn="l">
              <a:spcBef>
                <a:spcPts val="0"/>
              </a:spcBef>
              <a:spcAft>
                <a:spcPts val="0"/>
              </a:spcAft>
              <a:buSzPts val="1200"/>
              <a:buChar char="○"/>
            </a:pPr>
            <a:r>
              <a:rPr lang="en" sz="1200"/>
              <a:t>What happens when you print the other attributes of the new ship?</a:t>
            </a:r>
            <a:endParaRPr sz="1200">
              <a:latin typeface="Courier New"/>
              <a:ea typeface="Courier New"/>
              <a:cs typeface="Courier New"/>
              <a:sym typeface="Courier New"/>
            </a:endParaRPr>
          </a:p>
        </p:txBody>
      </p:sp>
      <p:sp>
        <p:nvSpPr>
          <p:cNvPr id="464" name="Google Shape;464;p6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Overloading Constructors</a:t>
            </a:r>
            <a:endParaRPr/>
          </a:p>
        </p:txBody>
      </p:sp>
      <p:sp>
        <p:nvSpPr>
          <p:cNvPr id="465" name="Google Shape;465;p6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2.6</a:t>
            </a:r>
            <a:endParaRPr/>
          </a:p>
        </p:txBody>
      </p:sp>
      <p:sp>
        <p:nvSpPr>
          <p:cNvPr id="466" name="Google Shape;466;p64"/>
          <p:cNvSpPr txBox="1"/>
          <p:nvPr>
            <p:ph idx="4" type="body"/>
          </p:nvPr>
        </p:nvSpPr>
        <p:spPr>
          <a:xfrm>
            <a:off x="180400" y="4326450"/>
            <a:ext cx="3329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When one constructor calls another, this is referred to as </a:t>
            </a:r>
            <a:r>
              <a:rPr b="1" i="1" lang="en">
                <a:solidFill>
                  <a:srgbClr val="FF0000"/>
                </a:solidFill>
              </a:rPr>
              <a:t>constructor chaining</a:t>
            </a:r>
            <a:r>
              <a:rPr lang="en"/>
              <a:t>.</a:t>
            </a:r>
            <a:endParaRPr/>
          </a:p>
        </p:txBody>
      </p:sp>
      <p:sp>
        <p:nvSpPr>
          <p:cNvPr id="467" name="Google Shape;467;p64"/>
          <p:cNvSpPr txBox="1"/>
          <p:nvPr>
            <p:ph idx="4" type="body"/>
          </p:nvPr>
        </p:nvSpPr>
        <p:spPr>
          <a:xfrm>
            <a:off x="180400" y="1860725"/>
            <a:ext cx="3329700" cy="2397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House</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baths</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beds</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b</a:t>
            </a:r>
            <a:r>
              <a:rPr lang="en" sz="1150">
                <a:solidFill>
                  <a:srgbClr val="267F99"/>
                </a:solidFill>
                <a:highlight>
                  <a:srgbClr val="FFFFFF"/>
                </a:highlight>
                <a:latin typeface="Consolas"/>
                <a:ea typeface="Consolas"/>
                <a:cs typeface="Consolas"/>
                <a:sym typeface="Consolas"/>
              </a:rPr>
              <a:t>oolean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exteriorColor</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numBathrooms</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baths</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numBedrooms</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beds</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this</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House</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this</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r>
              <a:rPr lang="en" sz="1150">
                <a:solidFill>
                  <a:srgbClr val="098658"/>
                </a:solidFill>
                <a:highlight>
                  <a:srgbClr val="FFFFFF"/>
                </a:highlight>
                <a:latin typeface="Consolas"/>
                <a:ea typeface="Consolas"/>
                <a:cs typeface="Consolas"/>
                <a:sym typeface="Consolas"/>
              </a:rPr>
              <a:t>2</a:t>
            </a:r>
            <a:r>
              <a:rPr lang="en" sz="1150">
                <a:solidFill>
                  <a:srgbClr val="000000"/>
                </a:solidFill>
                <a:highlight>
                  <a:srgbClr val="FFFFFF"/>
                </a:highlight>
                <a:latin typeface="Consolas"/>
                <a:ea typeface="Consolas"/>
                <a:cs typeface="Consolas"/>
                <a:sym typeface="Consolas"/>
              </a:rPr>
              <a:t>, </a:t>
            </a:r>
            <a:r>
              <a:rPr lang="en" sz="1150">
                <a:solidFill>
                  <a:srgbClr val="098658"/>
                </a:solidFill>
                <a:highlight>
                  <a:srgbClr val="FFFFFF"/>
                </a:highlight>
                <a:latin typeface="Consolas"/>
                <a:ea typeface="Consolas"/>
                <a:cs typeface="Consolas"/>
                <a:sym typeface="Consolas"/>
              </a:rPr>
              <a:t>3</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true</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5"/>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73" name="Google Shape;473;p65"/>
          <p:cNvSpPr txBox="1"/>
          <p:nvPr>
            <p:ph type="title"/>
          </p:nvPr>
        </p:nvSpPr>
        <p:spPr>
          <a:xfrm>
            <a:off x="51885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Encapsulation</a:t>
            </a:r>
            <a:endParaRPr/>
          </a:p>
        </p:txBody>
      </p:sp>
      <p:sp>
        <p:nvSpPr>
          <p:cNvPr id="474" name="Google Shape;474;p65"/>
          <p:cNvSpPr txBox="1"/>
          <p:nvPr>
            <p:ph idx="1" type="body"/>
          </p:nvPr>
        </p:nvSpPr>
        <p:spPr>
          <a:xfrm>
            <a:off x="359850" y="107625"/>
            <a:ext cx="4280700" cy="4833300"/>
          </a:xfrm>
          <a:prstGeom prst="rect">
            <a:avLst/>
          </a:prstGeom>
        </p:spPr>
        <p:txBody>
          <a:bodyPr anchorCtr="0" anchor="t" bIns="91425" lIns="91425" spcFirstLastPara="1" rIns="91425" wrap="square" tIns="91425">
            <a:spAutoFit/>
          </a:bodyPr>
          <a:lstStyle/>
          <a:p>
            <a:pPr indent="-288919" lvl="0" marL="365754" rtl="0" algn="l">
              <a:lnSpc>
                <a:spcPct val="100000"/>
              </a:lnSpc>
              <a:spcBef>
                <a:spcPts val="0"/>
              </a:spcBef>
              <a:spcAft>
                <a:spcPts val="0"/>
              </a:spcAft>
              <a:buClr>
                <a:schemeClr val="dk2"/>
              </a:buClr>
              <a:buSzPts val="1400"/>
              <a:buFont typeface="Roboto"/>
              <a:buChar char="●"/>
            </a:pPr>
            <a:r>
              <a:rPr lang="en" sz="1400"/>
              <a:t>Now that we know about classes, you might ask "Why are they so popular?"</a:t>
            </a:r>
            <a:endParaRPr sz="1400"/>
          </a:p>
          <a:p>
            <a:pPr indent="-288919" lvl="0" marL="365754" rtl="0" algn="l">
              <a:lnSpc>
                <a:spcPct val="100000"/>
              </a:lnSpc>
              <a:spcBef>
                <a:spcPts val="0"/>
              </a:spcBef>
              <a:spcAft>
                <a:spcPts val="0"/>
              </a:spcAft>
              <a:buClr>
                <a:schemeClr val="dk2"/>
              </a:buClr>
              <a:buSzPts val="1400"/>
              <a:buFont typeface="Calibri"/>
              <a:buChar char="●"/>
            </a:pPr>
            <a:r>
              <a:rPr lang="en" sz="1400"/>
              <a:t>The main reason they have become the dominant form of programming is </a:t>
            </a:r>
            <a:r>
              <a:rPr b="1" i="1" lang="en" sz="1400">
                <a:solidFill>
                  <a:srgbClr val="FF0000"/>
                </a:solidFill>
              </a:rPr>
              <a:t>encapsulation</a:t>
            </a:r>
            <a:r>
              <a:rPr lang="en" sz="1400"/>
              <a:t>.</a:t>
            </a:r>
            <a:endParaRPr b="1" i="1" sz="1400">
              <a:solidFill>
                <a:srgbClr val="FF0000"/>
              </a:solidFill>
            </a:endParaRPr>
          </a:p>
          <a:p>
            <a:pPr indent="-302235" lvl="1" marL="853428" rtl="0" algn="l">
              <a:lnSpc>
                <a:spcPct val="100000"/>
              </a:lnSpc>
              <a:spcBef>
                <a:spcPts val="0"/>
              </a:spcBef>
              <a:spcAft>
                <a:spcPts val="0"/>
              </a:spcAft>
              <a:buClr>
                <a:schemeClr val="dk2"/>
              </a:buClr>
              <a:buSzPts val="1400"/>
              <a:buFont typeface="Courier New"/>
              <a:buChar char="o"/>
            </a:pPr>
            <a:r>
              <a:rPr lang="en" sz="1200"/>
              <a:t>Encapsulation refers to putting something </a:t>
            </a:r>
            <a:r>
              <a:rPr b="1" i="1" lang="en" sz="1200">
                <a:solidFill>
                  <a:srgbClr val="FF0000"/>
                </a:solidFill>
              </a:rPr>
              <a:t>inside </a:t>
            </a:r>
            <a:r>
              <a:rPr lang="en" sz="1200"/>
              <a:t>something else, e.g. putting related </a:t>
            </a:r>
            <a:r>
              <a:rPr b="1" i="1" lang="en" sz="1200">
                <a:solidFill>
                  <a:srgbClr val="FF0000"/>
                </a:solidFill>
              </a:rPr>
              <a:t>fields</a:t>
            </a:r>
            <a:r>
              <a:rPr lang="en" sz="1200">
                <a:solidFill>
                  <a:srgbClr val="FF0000"/>
                </a:solidFill>
              </a:rPr>
              <a:t> </a:t>
            </a:r>
            <a:r>
              <a:rPr lang="en" sz="1200"/>
              <a:t>and </a:t>
            </a:r>
            <a:r>
              <a:rPr b="1" i="1" lang="en" sz="1200">
                <a:solidFill>
                  <a:srgbClr val="FF0000"/>
                </a:solidFill>
              </a:rPr>
              <a:t>methods</a:t>
            </a:r>
            <a:r>
              <a:rPr lang="en" sz="1200">
                <a:solidFill>
                  <a:srgbClr val="FF0000"/>
                </a:solidFill>
              </a:rPr>
              <a:t> </a:t>
            </a:r>
            <a:r>
              <a:rPr lang="en" sz="1200"/>
              <a:t>together inside of a class.</a:t>
            </a:r>
            <a:endParaRPr sz="1200"/>
          </a:p>
          <a:p>
            <a:pPr indent="-302235" lvl="1" marL="853428" rtl="0" algn="l">
              <a:lnSpc>
                <a:spcPct val="100000"/>
              </a:lnSpc>
              <a:spcBef>
                <a:spcPts val="0"/>
              </a:spcBef>
              <a:spcAft>
                <a:spcPts val="0"/>
              </a:spcAft>
              <a:buClr>
                <a:schemeClr val="dk2"/>
              </a:buClr>
              <a:buSzPts val="1400"/>
              <a:buFont typeface="Courier New"/>
              <a:buChar char="o"/>
            </a:pPr>
            <a:r>
              <a:rPr lang="en" sz="1200"/>
              <a:t>Each object of the class that is created has its own copy of the fields and methods.</a:t>
            </a:r>
            <a:endParaRPr sz="1200"/>
          </a:p>
          <a:p>
            <a:pPr indent="-302235" lvl="1" marL="853428" rtl="0" algn="l">
              <a:lnSpc>
                <a:spcPct val="100000"/>
              </a:lnSpc>
              <a:spcBef>
                <a:spcPts val="0"/>
              </a:spcBef>
              <a:spcAft>
                <a:spcPts val="0"/>
              </a:spcAft>
              <a:buClr>
                <a:schemeClr val="dk2"/>
              </a:buClr>
              <a:buSzPts val="1400"/>
              <a:buFont typeface="Courier New"/>
              <a:buChar char="o"/>
            </a:pPr>
            <a:r>
              <a:rPr lang="en" sz="1200"/>
              <a:t>Changes to the state of one object do not have any effect on the state of any other objects.</a:t>
            </a:r>
            <a:endParaRPr sz="1400"/>
          </a:p>
          <a:p>
            <a:pPr indent="-287033" lvl="0" marL="365754" rtl="0" algn="l">
              <a:lnSpc>
                <a:spcPct val="100000"/>
              </a:lnSpc>
              <a:spcBef>
                <a:spcPts val="0"/>
              </a:spcBef>
              <a:spcAft>
                <a:spcPts val="0"/>
              </a:spcAft>
              <a:buClr>
                <a:schemeClr val="dk2"/>
              </a:buClr>
              <a:buSzPts val="1400"/>
              <a:buFont typeface="Calibri"/>
              <a:buChar char="●"/>
            </a:pPr>
            <a:r>
              <a:rPr lang="en" sz="1400"/>
              <a:t>Encapsulation </a:t>
            </a:r>
            <a:r>
              <a:rPr lang="en" sz="1400"/>
              <a:t>a</a:t>
            </a:r>
            <a:r>
              <a:rPr lang="en" sz="1400"/>
              <a:t>llows gro</a:t>
            </a:r>
            <a:r>
              <a:rPr lang="en" sz="1400"/>
              <a:t>uping of related </a:t>
            </a:r>
            <a:r>
              <a:rPr b="1" i="1" lang="en" sz="1400">
                <a:solidFill>
                  <a:srgbClr val="FF0000"/>
                </a:solidFill>
              </a:rPr>
              <a:t>state </a:t>
            </a:r>
            <a:r>
              <a:rPr lang="en" sz="1400"/>
              <a:t>(fields) and </a:t>
            </a:r>
            <a:r>
              <a:rPr b="1" i="1" lang="en" sz="1400">
                <a:solidFill>
                  <a:srgbClr val="FF0000"/>
                </a:solidFill>
              </a:rPr>
              <a:t>behavior </a:t>
            </a:r>
            <a:r>
              <a:rPr lang="en" sz="1400"/>
              <a:t>(methods) together.</a:t>
            </a:r>
            <a:endParaRPr sz="1200"/>
          </a:p>
          <a:p>
            <a:pPr indent="-289535" lvl="1" marL="853428" rtl="0" algn="l">
              <a:lnSpc>
                <a:spcPct val="100000"/>
              </a:lnSpc>
              <a:spcBef>
                <a:spcPts val="0"/>
              </a:spcBef>
              <a:spcAft>
                <a:spcPts val="0"/>
              </a:spcAft>
              <a:buClr>
                <a:srgbClr val="000000"/>
              </a:buClr>
              <a:buSzPts val="1200"/>
              <a:buFont typeface="Courier New"/>
              <a:buChar char="o"/>
            </a:pPr>
            <a:r>
              <a:rPr lang="en" sz="1200"/>
              <a:t>The fields in the class should be related to each other and collectively represent something.</a:t>
            </a:r>
            <a:endParaRPr sz="1200"/>
          </a:p>
          <a:p>
            <a:pPr indent="-289535" lvl="1" marL="853428" rtl="0" algn="l">
              <a:lnSpc>
                <a:spcPct val="100000"/>
              </a:lnSpc>
              <a:spcBef>
                <a:spcPts val="0"/>
              </a:spcBef>
              <a:spcAft>
                <a:spcPts val="0"/>
              </a:spcAft>
              <a:buClr>
                <a:srgbClr val="000000"/>
              </a:buClr>
              <a:buSzPts val="1200"/>
              <a:buFont typeface="Courier New"/>
              <a:buChar char="o"/>
            </a:pPr>
            <a:r>
              <a:rPr lang="en" sz="1200"/>
              <a:t>The methods in a class should use one or more of the fields in some way.</a:t>
            </a:r>
            <a:endParaRPr sz="1200"/>
          </a:p>
          <a:p>
            <a:pPr indent="-288919" lvl="0" marL="365754" rtl="0" algn="l">
              <a:lnSpc>
                <a:spcPct val="100000"/>
              </a:lnSpc>
              <a:spcBef>
                <a:spcPts val="0"/>
              </a:spcBef>
              <a:spcAft>
                <a:spcPts val="0"/>
              </a:spcAft>
              <a:buClr>
                <a:schemeClr val="dk2"/>
              </a:buClr>
              <a:buSzPts val="1400"/>
              <a:buFont typeface="Calibri"/>
              <a:buChar char="●"/>
            </a:pPr>
            <a:r>
              <a:rPr lang="en" sz="1400"/>
              <a:t>Encapsulation also allows us to easily </a:t>
            </a:r>
            <a:r>
              <a:rPr b="1" i="1" lang="en" sz="1400">
                <a:solidFill>
                  <a:srgbClr val="FF0000"/>
                </a:solidFill>
              </a:rPr>
              <a:t>reuse </a:t>
            </a:r>
            <a:r>
              <a:rPr lang="en" sz="1400"/>
              <a:t>our classes since the state and behavior is co-located.</a:t>
            </a:r>
            <a:endParaRPr sz="1400"/>
          </a:p>
          <a:p>
            <a:pPr indent="-289535" lvl="1" marL="853428" rtl="0" algn="l">
              <a:lnSpc>
                <a:spcPct val="100000"/>
              </a:lnSpc>
              <a:spcBef>
                <a:spcPts val="0"/>
              </a:spcBef>
              <a:spcAft>
                <a:spcPts val="0"/>
              </a:spcAft>
              <a:buClr>
                <a:srgbClr val="000000"/>
              </a:buClr>
              <a:buSzPts val="1200"/>
              <a:buFont typeface="Courier New"/>
              <a:buChar char="o"/>
            </a:pPr>
            <a:r>
              <a:rPr lang="en" sz="1200"/>
              <a:t>Classes and objects can be used in lots of different places within the program.</a:t>
            </a:r>
            <a:endParaRPr sz="1200"/>
          </a:p>
        </p:txBody>
      </p:sp>
      <p:sp>
        <p:nvSpPr>
          <p:cNvPr id="475" name="Google Shape;475;p65"/>
          <p:cNvSpPr txBox="1"/>
          <p:nvPr>
            <p:ph idx="3" type="body"/>
          </p:nvPr>
        </p:nvSpPr>
        <p:spPr>
          <a:xfrm>
            <a:off x="5188525" y="393725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i="1" lang="en" sz="1200">
                <a:solidFill>
                  <a:srgbClr val="FF0000"/>
                </a:solidFill>
              </a:rPr>
              <a:t>Encapsulation </a:t>
            </a:r>
            <a:r>
              <a:rPr lang="en" sz="1200"/>
              <a:t>refers to the fact that an object acts like a container that holds its </a:t>
            </a:r>
            <a:r>
              <a:rPr b="1" i="1" lang="en" sz="1200">
                <a:solidFill>
                  <a:srgbClr val="FF0000"/>
                </a:solidFill>
              </a:rPr>
              <a:t>state</a:t>
            </a:r>
            <a:r>
              <a:rPr lang="en" sz="1200">
                <a:solidFill>
                  <a:srgbClr val="FF0000"/>
                </a:solidFill>
              </a:rPr>
              <a:t> </a:t>
            </a:r>
            <a:r>
              <a:rPr lang="en" sz="1200"/>
              <a:t>and </a:t>
            </a:r>
            <a:r>
              <a:rPr b="1" i="1" lang="en" sz="1200">
                <a:solidFill>
                  <a:srgbClr val="FF0000"/>
                </a:solidFill>
              </a:rPr>
              <a:t>behavior</a:t>
            </a:r>
            <a:r>
              <a:rPr lang="en" sz="1200">
                <a:solidFill>
                  <a:srgbClr val="FF0000"/>
                </a:solidFill>
              </a:rPr>
              <a:t> </a:t>
            </a:r>
            <a:r>
              <a:rPr lang="en" sz="1200"/>
              <a:t>together as one, cohesive unit</a:t>
            </a:r>
            <a:r>
              <a:rPr lang="en" sz="1200"/>
              <a:t>.</a:t>
            </a:r>
            <a:endParaRPr sz="1200"/>
          </a:p>
        </p:txBody>
      </p:sp>
      <p:sp>
        <p:nvSpPr>
          <p:cNvPr id="476" name="Google Shape;476;p65"/>
          <p:cNvSpPr/>
          <p:nvPr/>
        </p:nvSpPr>
        <p:spPr>
          <a:xfrm rot="-2023650">
            <a:off x="6859576" y="965891"/>
            <a:ext cx="2164995" cy="1347589"/>
          </a:xfrm>
          <a:prstGeom prst="flowChartDelay">
            <a:avLst/>
          </a:prstGeom>
          <a:solidFill>
            <a:srgbClr val="93C47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FFFFFF"/>
                </a:solidFill>
              </a:rPr>
              <a:t>BEHAVIOR</a:t>
            </a:r>
            <a:endParaRPr b="1" sz="2500">
              <a:solidFill>
                <a:srgbClr val="FFFFFF"/>
              </a:solidFill>
            </a:endParaRPr>
          </a:p>
        </p:txBody>
      </p:sp>
      <p:sp>
        <p:nvSpPr>
          <p:cNvPr id="477" name="Google Shape;477;p65"/>
          <p:cNvSpPr/>
          <p:nvPr/>
        </p:nvSpPr>
        <p:spPr>
          <a:xfrm flipH="1" rot="-2023650">
            <a:off x="5058970" y="2167983"/>
            <a:ext cx="2164995" cy="1347589"/>
          </a:xfrm>
          <a:prstGeom prst="flowChartDelay">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CC4125"/>
                </a:solidFill>
              </a:rPr>
              <a:t>STATE</a:t>
            </a:r>
            <a:endParaRPr b="1" sz="2500">
              <a:solidFill>
                <a:srgbClr val="CC412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6"/>
          <p:cNvSpPr txBox="1"/>
          <p:nvPr>
            <p:ph type="title"/>
          </p:nvPr>
        </p:nvSpPr>
        <p:spPr>
          <a:xfrm>
            <a:off x="3117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Privacy</a:t>
            </a:r>
            <a:endParaRPr/>
          </a:p>
        </p:txBody>
      </p:sp>
      <p:sp>
        <p:nvSpPr>
          <p:cNvPr id="483" name="Google Shape;483;p66"/>
          <p:cNvSpPr txBox="1"/>
          <p:nvPr>
            <p:ph idx="1" type="body"/>
          </p:nvPr>
        </p:nvSpPr>
        <p:spPr>
          <a:xfrm>
            <a:off x="4345175" y="35400"/>
            <a:ext cx="4489500" cy="5041500"/>
          </a:xfrm>
          <a:prstGeom prst="rect">
            <a:avLst/>
          </a:prstGeom>
        </p:spPr>
        <p:txBody>
          <a:bodyPr anchorCtr="0" anchor="t" bIns="91425" lIns="91425" spcFirstLastPara="1" rIns="91425" wrap="square" tIns="91425">
            <a:spAutoFit/>
          </a:bodyPr>
          <a:lstStyle/>
          <a:p>
            <a:pPr indent="-319595" lvl="0" marL="457200" rtl="0" algn="l">
              <a:lnSpc>
                <a:spcPct val="100000"/>
              </a:lnSpc>
              <a:spcBef>
                <a:spcPts val="0"/>
              </a:spcBef>
              <a:spcAft>
                <a:spcPts val="0"/>
              </a:spcAft>
              <a:buSzPts val="1433"/>
              <a:buFont typeface="Calibri"/>
              <a:buChar char="●"/>
            </a:pPr>
            <a:r>
              <a:rPr lang="en" sz="1433">
                <a:latin typeface="Calibri"/>
                <a:ea typeface="Calibri"/>
                <a:cs typeface="Calibri"/>
                <a:sym typeface="Calibri"/>
              </a:rPr>
              <a:t>The other major reason we encapsulate state and behavior is to protect and control </a:t>
            </a:r>
            <a:r>
              <a:rPr b="1" i="1" lang="en" sz="1433">
                <a:solidFill>
                  <a:srgbClr val="FF0000"/>
                </a:solidFill>
                <a:latin typeface="Calibri"/>
                <a:ea typeface="Calibri"/>
                <a:cs typeface="Calibri"/>
                <a:sym typeface="Calibri"/>
              </a:rPr>
              <a:t>access </a:t>
            </a:r>
            <a:r>
              <a:rPr lang="en" sz="1433">
                <a:latin typeface="Calibri"/>
                <a:ea typeface="Calibri"/>
                <a:cs typeface="Calibri"/>
                <a:sym typeface="Calibri"/>
              </a:rPr>
              <a:t>to it.</a:t>
            </a:r>
            <a:endParaRPr sz="1433">
              <a:latin typeface="Calibri"/>
              <a:ea typeface="Calibri"/>
              <a:cs typeface="Calibri"/>
              <a:sym typeface="Calibri"/>
            </a:endParaRPr>
          </a:p>
          <a:p>
            <a:pPr indent="-306895" lvl="1" marL="914400" rtl="0" algn="l">
              <a:lnSpc>
                <a:spcPct val="100000"/>
              </a:lnSpc>
              <a:spcBef>
                <a:spcPts val="0"/>
              </a:spcBef>
              <a:spcAft>
                <a:spcPts val="0"/>
              </a:spcAft>
              <a:buSzPts val="1233"/>
              <a:buFont typeface="Calibri"/>
              <a:buChar char="○"/>
            </a:pPr>
            <a:r>
              <a:rPr lang="en" sz="1233">
                <a:latin typeface="Calibri"/>
                <a:ea typeface="Calibri"/>
                <a:cs typeface="Calibri"/>
                <a:sym typeface="Calibri"/>
              </a:rPr>
              <a:t>We want to be able to enforce the rules regarding the way that state is changed, e.g. we don't want a ship's shields to fall below 0.</a:t>
            </a:r>
            <a:endParaRPr sz="1233">
              <a:latin typeface="Calibri"/>
              <a:ea typeface="Calibri"/>
              <a:cs typeface="Calibri"/>
              <a:sym typeface="Calibri"/>
            </a:endParaRPr>
          </a:p>
          <a:p>
            <a:pPr indent="-306895" lvl="1" marL="914400" rtl="0" algn="l">
              <a:lnSpc>
                <a:spcPct val="100000"/>
              </a:lnSpc>
              <a:spcBef>
                <a:spcPts val="0"/>
              </a:spcBef>
              <a:spcAft>
                <a:spcPts val="0"/>
              </a:spcAft>
              <a:buSzPts val="1233"/>
              <a:buFont typeface="Calibri"/>
              <a:buChar char="○"/>
            </a:pPr>
            <a:r>
              <a:rPr lang="en" sz="1233">
                <a:latin typeface="Calibri"/>
                <a:ea typeface="Calibri"/>
                <a:cs typeface="Calibri"/>
                <a:sym typeface="Calibri"/>
              </a:rPr>
              <a:t>We do not want the fields inside an object to be accessed or modified by other parts of the program.</a:t>
            </a:r>
            <a:endParaRPr sz="1233">
              <a:latin typeface="Calibri"/>
              <a:ea typeface="Calibri"/>
              <a:cs typeface="Calibri"/>
              <a:sym typeface="Calibri"/>
            </a:endParaRPr>
          </a:p>
          <a:p>
            <a:pPr indent="-319595" lvl="0" marL="457200" rtl="0" algn="l">
              <a:lnSpc>
                <a:spcPct val="100000"/>
              </a:lnSpc>
              <a:spcBef>
                <a:spcPts val="0"/>
              </a:spcBef>
              <a:spcAft>
                <a:spcPts val="0"/>
              </a:spcAft>
              <a:buSzPts val="1433"/>
              <a:buFont typeface="Calibri"/>
              <a:buChar char="●"/>
            </a:pPr>
            <a:r>
              <a:rPr lang="en" sz="1433">
                <a:latin typeface="Calibri"/>
                <a:ea typeface="Calibri"/>
                <a:cs typeface="Calibri"/>
                <a:sym typeface="Calibri"/>
              </a:rPr>
              <a:t>To do this in Java, we use </a:t>
            </a:r>
            <a:r>
              <a:rPr b="1" i="1" lang="en" sz="1433">
                <a:solidFill>
                  <a:srgbClr val="EE0000"/>
                </a:solidFill>
                <a:latin typeface="Calibri"/>
                <a:ea typeface="Calibri"/>
                <a:cs typeface="Calibri"/>
                <a:sym typeface="Calibri"/>
              </a:rPr>
              <a:t>access modifiers</a:t>
            </a:r>
            <a:r>
              <a:rPr lang="en" sz="1433">
                <a:latin typeface="Calibri"/>
                <a:ea typeface="Calibri"/>
                <a:cs typeface="Calibri"/>
                <a:sym typeface="Calibri"/>
              </a:rPr>
              <a:t> to change the </a:t>
            </a:r>
            <a:r>
              <a:rPr b="1" i="1" lang="en" sz="1433">
                <a:solidFill>
                  <a:srgbClr val="FF0000"/>
                </a:solidFill>
                <a:latin typeface="Calibri"/>
                <a:ea typeface="Calibri"/>
                <a:cs typeface="Calibri"/>
                <a:sym typeface="Calibri"/>
              </a:rPr>
              <a:t>visibility</a:t>
            </a:r>
            <a:r>
              <a:rPr lang="en" sz="1433">
                <a:solidFill>
                  <a:srgbClr val="FF0000"/>
                </a:solidFill>
                <a:latin typeface="Calibri"/>
                <a:ea typeface="Calibri"/>
                <a:cs typeface="Calibri"/>
                <a:sym typeface="Calibri"/>
              </a:rPr>
              <a:t> </a:t>
            </a:r>
            <a:r>
              <a:rPr lang="en" sz="1433">
                <a:latin typeface="Calibri"/>
                <a:ea typeface="Calibri"/>
                <a:cs typeface="Calibri"/>
                <a:sym typeface="Calibri"/>
              </a:rPr>
              <a:t>of methods and fields.</a:t>
            </a:r>
            <a:endParaRPr sz="1433">
              <a:latin typeface="Calibri"/>
              <a:ea typeface="Calibri"/>
              <a:cs typeface="Calibri"/>
              <a:sym typeface="Calibri"/>
            </a:endParaRPr>
          </a:p>
          <a:p>
            <a:pPr indent="-283820" lvl="1" marL="853428" rtl="0" algn="l">
              <a:lnSpc>
                <a:spcPct val="100000"/>
              </a:lnSpc>
              <a:spcBef>
                <a:spcPts val="0"/>
              </a:spcBef>
              <a:spcAft>
                <a:spcPts val="0"/>
              </a:spcAft>
              <a:buClr>
                <a:schemeClr val="dk2"/>
              </a:buClr>
              <a:buSzPts val="1110"/>
              <a:buFont typeface="Courier New"/>
              <a:buChar char="o"/>
            </a:pPr>
            <a:r>
              <a:rPr lang="en" sz="1200">
                <a:solidFill>
                  <a:srgbClr val="FF0000"/>
                </a:solidFill>
                <a:latin typeface="Courier New"/>
                <a:ea typeface="Courier New"/>
                <a:cs typeface="Courier New"/>
                <a:sym typeface="Courier New"/>
              </a:rPr>
              <a:t>public</a:t>
            </a:r>
            <a:r>
              <a:rPr lang="en" sz="1200">
                <a:solidFill>
                  <a:srgbClr val="FF0000"/>
                </a:solidFill>
                <a:latin typeface="Calibri"/>
                <a:ea typeface="Calibri"/>
                <a:cs typeface="Calibri"/>
                <a:sym typeface="Calibri"/>
              </a:rPr>
              <a:t> </a:t>
            </a:r>
            <a:r>
              <a:rPr lang="en" sz="1200">
                <a:latin typeface="Calibri"/>
                <a:ea typeface="Calibri"/>
                <a:cs typeface="Calibri"/>
                <a:sym typeface="Calibri"/>
              </a:rPr>
              <a:t>– </a:t>
            </a:r>
            <a:r>
              <a:rPr lang="en" sz="1200">
                <a:latin typeface="Calibri"/>
                <a:ea typeface="Calibri"/>
                <a:cs typeface="Calibri"/>
                <a:sym typeface="Calibri"/>
              </a:rPr>
              <a:t>grants access</a:t>
            </a:r>
            <a:r>
              <a:rPr lang="en" sz="1200">
                <a:latin typeface="Calibri"/>
                <a:ea typeface="Calibri"/>
                <a:cs typeface="Calibri"/>
                <a:sym typeface="Calibri"/>
              </a:rPr>
              <a:t> to all parts of the program.</a:t>
            </a:r>
            <a:endParaRPr sz="1200">
              <a:latin typeface="Calibri"/>
              <a:ea typeface="Calibri"/>
              <a:cs typeface="Calibri"/>
              <a:sym typeface="Calibri"/>
            </a:endParaRPr>
          </a:p>
          <a:p>
            <a:pPr indent="-283820" lvl="1" marL="853428" rtl="0" algn="l">
              <a:lnSpc>
                <a:spcPct val="100000"/>
              </a:lnSpc>
              <a:spcBef>
                <a:spcPts val="0"/>
              </a:spcBef>
              <a:spcAft>
                <a:spcPts val="0"/>
              </a:spcAft>
              <a:buClr>
                <a:schemeClr val="dk2"/>
              </a:buClr>
              <a:buSzPts val="1110"/>
              <a:buFont typeface="Courier New"/>
              <a:buChar char="o"/>
            </a:pPr>
            <a:r>
              <a:rPr lang="en" sz="1200">
                <a:solidFill>
                  <a:srgbClr val="FF0000"/>
                </a:solidFill>
                <a:latin typeface="Courier New"/>
                <a:ea typeface="Courier New"/>
                <a:cs typeface="Courier New"/>
                <a:sym typeface="Courier New"/>
              </a:rPr>
              <a:t>protected</a:t>
            </a:r>
            <a:r>
              <a:rPr lang="en" sz="1200">
                <a:solidFill>
                  <a:srgbClr val="FF0000"/>
                </a:solidFill>
                <a:latin typeface="Calibri"/>
                <a:ea typeface="Calibri"/>
                <a:cs typeface="Calibri"/>
                <a:sym typeface="Calibri"/>
              </a:rPr>
              <a:t> </a:t>
            </a:r>
            <a:r>
              <a:rPr lang="en" sz="1200">
                <a:latin typeface="Calibri"/>
                <a:ea typeface="Calibri"/>
                <a:cs typeface="Calibri"/>
                <a:sym typeface="Calibri"/>
              </a:rPr>
              <a:t>– grants access to classes in the same package and child classes (we'll talk about this more in the next unit).</a:t>
            </a:r>
            <a:endParaRPr sz="1200">
              <a:latin typeface="Calibri"/>
              <a:ea typeface="Calibri"/>
              <a:cs typeface="Calibri"/>
              <a:sym typeface="Calibri"/>
            </a:endParaRPr>
          </a:p>
          <a:p>
            <a:pPr indent="-283820" lvl="1" marL="853428" rtl="0" algn="l">
              <a:lnSpc>
                <a:spcPct val="100000"/>
              </a:lnSpc>
              <a:spcBef>
                <a:spcPts val="0"/>
              </a:spcBef>
              <a:spcAft>
                <a:spcPts val="0"/>
              </a:spcAft>
              <a:buClr>
                <a:schemeClr val="dk2"/>
              </a:buClr>
              <a:buSzPts val="1110"/>
              <a:buFont typeface="Courier New"/>
              <a:buChar char="o"/>
            </a:pPr>
            <a:r>
              <a:rPr lang="en" sz="1200">
                <a:solidFill>
                  <a:srgbClr val="FF0000"/>
                </a:solidFill>
                <a:latin typeface="Courier New"/>
                <a:ea typeface="Courier New"/>
                <a:cs typeface="Courier New"/>
                <a:sym typeface="Courier New"/>
              </a:rPr>
              <a:t>private</a:t>
            </a:r>
            <a:r>
              <a:rPr lang="en" sz="1200">
                <a:solidFill>
                  <a:srgbClr val="FF0000"/>
                </a:solidFill>
                <a:latin typeface="Calibri"/>
                <a:ea typeface="Calibri"/>
                <a:cs typeface="Calibri"/>
                <a:sym typeface="Calibri"/>
              </a:rPr>
              <a:t> </a:t>
            </a:r>
            <a:r>
              <a:rPr lang="en" sz="1200">
                <a:latin typeface="Calibri"/>
                <a:ea typeface="Calibri"/>
                <a:cs typeface="Calibri"/>
                <a:sym typeface="Calibri"/>
              </a:rPr>
              <a:t>– grants access to objects of the same class.</a:t>
            </a:r>
            <a:endParaRPr sz="1200">
              <a:latin typeface="Calibri"/>
              <a:ea typeface="Calibri"/>
              <a:cs typeface="Calibri"/>
              <a:sym typeface="Calibri"/>
            </a:endParaRPr>
          </a:p>
          <a:p>
            <a:pPr indent="-283820" lvl="1" marL="853428" rtl="0" algn="l">
              <a:lnSpc>
                <a:spcPct val="100000"/>
              </a:lnSpc>
              <a:spcBef>
                <a:spcPts val="0"/>
              </a:spcBef>
              <a:spcAft>
                <a:spcPts val="0"/>
              </a:spcAft>
              <a:buClr>
                <a:schemeClr val="dk2"/>
              </a:buClr>
              <a:buSzPts val="1110"/>
              <a:buFont typeface="Courier New"/>
              <a:buChar char="o"/>
            </a:pPr>
            <a:r>
              <a:rPr b="1" i="1" lang="en" sz="1200">
                <a:solidFill>
                  <a:srgbClr val="FF0000"/>
                </a:solidFill>
                <a:latin typeface="Calibri"/>
                <a:ea typeface="Calibri"/>
                <a:cs typeface="Calibri"/>
                <a:sym typeface="Calibri"/>
              </a:rPr>
              <a:t>&lt;none&gt;</a:t>
            </a:r>
            <a:r>
              <a:rPr lang="en" sz="1200">
                <a:latin typeface="Calibri"/>
                <a:ea typeface="Calibri"/>
                <a:cs typeface="Calibri"/>
                <a:sym typeface="Calibri"/>
              </a:rPr>
              <a:t> - grants access to other classes in the same package but </a:t>
            </a:r>
            <a:r>
              <a:rPr i="1" lang="en" sz="1200">
                <a:latin typeface="Calibri"/>
                <a:ea typeface="Calibri"/>
                <a:cs typeface="Calibri"/>
                <a:sym typeface="Calibri"/>
              </a:rPr>
              <a:t>not</a:t>
            </a:r>
            <a:r>
              <a:rPr lang="en" sz="1200">
                <a:latin typeface="Calibri"/>
                <a:ea typeface="Calibri"/>
                <a:cs typeface="Calibri"/>
                <a:sym typeface="Calibri"/>
              </a:rPr>
              <a:t> child classes.</a:t>
            </a:r>
            <a:r>
              <a:rPr lang="en" sz="1200">
                <a:latin typeface="Calibri"/>
                <a:ea typeface="Calibri"/>
                <a:cs typeface="Calibri"/>
                <a:sym typeface="Calibri"/>
              </a:rPr>
              <a:t> Also known as "package private."</a:t>
            </a:r>
            <a:endParaRPr sz="1200">
              <a:latin typeface="Calibri"/>
              <a:ea typeface="Calibri"/>
              <a:cs typeface="Calibri"/>
              <a:sym typeface="Calibri"/>
            </a:endParaRPr>
          </a:p>
          <a:p>
            <a:pPr indent="-319595" lvl="0" marL="457200" rtl="0" algn="l">
              <a:lnSpc>
                <a:spcPct val="100000"/>
              </a:lnSpc>
              <a:spcBef>
                <a:spcPts val="0"/>
              </a:spcBef>
              <a:spcAft>
                <a:spcPts val="0"/>
              </a:spcAft>
              <a:buSzPts val="1433"/>
              <a:buFont typeface="Calibri"/>
              <a:buChar char="●"/>
            </a:pPr>
            <a:r>
              <a:rPr lang="en" sz="1433">
                <a:latin typeface="Calibri"/>
                <a:ea typeface="Calibri"/>
                <a:cs typeface="Calibri"/>
                <a:sym typeface="Calibri"/>
              </a:rPr>
              <a:t>In general, state (fields) should be </a:t>
            </a:r>
            <a:r>
              <a:rPr b="1" i="1" lang="en" sz="1433">
                <a:solidFill>
                  <a:srgbClr val="FF0000"/>
                </a:solidFill>
                <a:latin typeface="Calibri"/>
                <a:ea typeface="Calibri"/>
                <a:cs typeface="Calibri"/>
                <a:sym typeface="Calibri"/>
              </a:rPr>
              <a:t>private </a:t>
            </a:r>
            <a:r>
              <a:rPr lang="en" sz="1433">
                <a:latin typeface="Calibri"/>
                <a:ea typeface="Calibri"/>
                <a:cs typeface="Calibri"/>
                <a:sym typeface="Calibri"/>
              </a:rPr>
              <a:t>and accessed or modified </a:t>
            </a:r>
            <a:r>
              <a:rPr i="1" lang="en" sz="1433" u="sng">
                <a:latin typeface="Calibri"/>
                <a:ea typeface="Calibri"/>
                <a:cs typeface="Calibri"/>
                <a:sym typeface="Calibri"/>
              </a:rPr>
              <a:t>only as needed</a:t>
            </a:r>
            <a:r>
              <a:rPr lang="en" sz="1433">
                <a:latin typeface="Calibri"/>
                <a:ea typeface="Calibri"/>
                <a:cs typeface="Calibri"/>
                <a:sym typeface="Calibri"/>
              </a:rPr>
              <a:t> using  </a:t>
            </a:r>
            <a:r>
              <a:rPr b="1" i="1" lang="en" sz="1433">
                <a:solidFill>
                  <a:srgbClr val="FF0000"/>
                </a:solidFill>
                <a:latin typeface="Calibri"/>
                <a:ea typeface="Calibri"/>
                <a:cs typeface="Calibri"/>
                <a:sym typeface="Calibri"/>
              </a:rPr>
              <a:t>public </a:t>
            </a:r>
            <a:r>
              <a:rPr lang="en" sz="1433">
                <a:latin typeface="Calibri"/>
                <a:ea typeface="Calibri"/>
                <a:cs typeface="Calibri"/>
                <a:sym typeface="Calibri"/>
              </a:rPr>
              <a:t>methods.</a:t>
            </a:r>
            <a:endParaRPr sz="1433">
              <a:latin typeface="Calibri"/>
              <a:ea typeface="Calibri"/>
              <a:cs typeface="Calibri"/>
              <a:sym typeface="Calibri"/>
            </a:endParaRPr>
          </a:p>
          <a:p>
            <a:pPr indent="-319595" lvl="0" marL="457200" rtl="0" algn="l">
              <a:lnSpc>
                <a:spcPct val="100000"/>
              </a:lnSpc>
              <a:spcBef>
                <a:spcPts val="0"/>
              </a:spcBef>
              <a:spcAft>
                <a:spcPts val="0"/>
              </a:spcAft>
              <a:buSzPts val="1433"/>
              <a:buFont typeface="Calibri"/>
              <a:buChar char="●"/>
            </a:pPr>
            <a:r>
              <a:rPr lang="en" sz="1433">
                <a:latin typeface="Calibri"/>
                <a:ea typeface="Calibri"/>
                <a:cs typeface="Calibri"/>
                <a:sym typeface="Calibri"/>
              </a:rPr>
              <a:t>Protecting fields from being manipulated by other parts of the program is referred to as </a:t>
            </a:r>
            <a:r>
              <a:rPr b="1" i="1" lang="en" sz="1433">
                <a:solidFill>
                  <a:srgbClr val="FF0000"/>
                </a:solidFill>
                <a:latin typeface="Calibri"/>
                <a:ea typeface="Calibri"/>
                <a:cs typeface="Calibri"/>
                <a:sym typeface="Calibri"/>
              </a:rPr>
              <a:t>data privacy</a:t>
            </a:r>
            <a:r>
              <a:rPr lang="en" sz="1433">
                <a:latin typeface="Calibri"/>
                <a:ea typeface="Calibri"/>
                <a:cs typeface="Calibri"/>
                <a:sym typeface="Calibri"/>
              </a:rPr>
              <a:t>.</a:t>
            </a:r>
            <a:endParaRPr sz="1433">
              <a:latin typeface="Calibri"/>
              <a:ea typeface="Calibri"/>
              <a:cs typeface="Calibri"/>
              <a:sym typeface="Calibri"/>
            </a:endParaRPr>
          </a:p>
          <a:p>
            <a:pPr indent="-313245" lvl="1" marL="914400" rtl="0" algn="l">
              <a:lnSpc>
                <a:spcPct val="100000"/>
              </a:lnSpc>
              <a:spcBef>
                <a:spcPts val="0"/>
              </a:spcBef>
              <a:spcAft>
                <a:spcPts val="0"/>
              </a:spcAft>
              <a:buSzPts val="1333"/>
              <a:buFont typeface="Calibri"/>
              <a:buChar char="○"/>
            </a:pPr>
            <a:r>
              <a:rPr lang="en" sz="1333">
                <a:latin typeface="Calibri"/>
                <a:ea typeface="Calibri"/>
                <a:cs typeface="Calibri"/>
                <a:sym typeface="Calibri"/>
              </a:rPr>
              <a:t>This is a core concept in object-oriented programming.</a:t>
            </a:r>
            <a:endParaRPr sz="1333">
              <a:latin typeface="Calibri"/>
              <a:ea typeface="Calibri"/>
              <a:cs typeface="Calibri"/>
              <a:sym typeface="Calibri"/>
            </a:endParaRPr>
          </a:p>
          <a:p>
            <a:pPr indent="0" lvl="0" marL="0" rtl="0" algn="l">
              <a:lnSpc>
                <a:spcPct val="100000"/>
              </a:lnSpc>
              <a:spcBef>
                <a:spcPts val="0"/>
              </a:spcBef>
              <a:spcAft>
                <a:spcPts val="1600"/>
              </a:spcAft>
              <a:buNone/>
            </a:pPr>
            <a:r>
              <a:t/>
            </a:r>
            <a:endParaRPr sz="100"/>
          </a:p>
        </p:txBody>
      </p:sp>
      <p:sp>
        <p:nvSpPr>
          <p:cNvPr id="484" name="Google Shape;484;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66"/>
          <p:cNvSpPr txBox="1"/>
          <p:nvPr>
            <p:ph idx="3" type="body"/>
          </p:nvPr>
        </p:nvSpPr>
        <p:spPr>
          <a:xfrm>
            <a:off x="315425" y="348005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In addition to containing related state and behavior, another key aspect of encapsulation is </a:t>
            </a:r>
            <a:r>
              <a:rPr b="1" i="1" lang="en" sz="1200">
                <a:solidFill>
                  <a:srgbClr val="FF0000"/>
                </a:solidFill>
              </a:rPr>
              <a:t>data privacy</a:t>
            </a:r>
            <a:r>
              <a:rPr lang="en" sz="1200"/>
              <a:t>.</a:t>
            </a:r>
            <a:endParaRPr sz="1200"/>
          </a:p>
        </p:txBody>
      </p:sp>
      <p:sp>
        <p:nvSpPr>
          <p:cNvPr id="486" name="Google Shape;486;p66"/>
          <p:cNvSpPr/>
          <p:nvPr/>
        </p:nvSpPr>
        <p:spPr>
          <a:xfrm rot="-2023704">
            <a:off x="2011664" y="906102"/>
            <a:ext cx="1865624" cy="1161376"/>
          </a:xfrm>
          <a:prstGeom prst="flowChartDelay">
            <a:avLst/>
          </a:prstGeom>
          <a:solidFill>
            <a:srgbClr val="93C47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rPr>
              <a:t>BEHAVIOR</a:t>
            </a:r>
            <a:endParaRPr b="1" sz="2000">
              <a:solidFill>
                <a:srgbClr val="FFFFFF"/>
              </a:solidFill>
            </a:endParaRPr>
          </a:p>
        </p:txBody>
      </p:sp>
      <p:sp>
        <p:nvSpPr>
          <p:cNvPr id="487" name="Google Shape;487;p66"/>
          <p:cNvSpPr/>
          <p:nvPr/>
        </p:nvSpPr>
        <p:spPr>
          <a:xfrm flipH="1" rot="-2023704">
            <a:off x="460059" y="1941995"/>
            <a:ext cx="1865624" cy="1161376"/>
          </a:xfrm>
          <a:prstGeom prst="flowChartDelay">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CC4125"/>
                </a:solidFill>
              </a:rPr>
              <a:t>STATE</a:t>
            </a:r>
            <a:endParaRPr b="1" sz="2000">
              <a:solidFill>
                <a:srgbClr val="CC4125"/>
              </a:solidFill>
            </a:endParaRPr>
          </a:p>
        </p:txBody>
      </p:sp>
      <p:pic>
        <p:nvPicPr>
          <p:cNvPr id="488" name="Google Shape;488;p66"/>
          <p:cNvPicPr preferRelativeResize="0"/>
          <p:nvPr/>
        </p:nvPicPr>
        <p:blipFill>
          <a:blip r:embed="rId3">
            <a:alphaModFix/>
          </a:blip>
          <a:stretch>
            <a:fillRect/>
          </a:stretch>
        </p:blipFill>
        <p:spPr>
          <a:xfrm>
            <a:off x="1905945" y="1423522"/>
            <a:ext cx="2196301" cy="1938926"/>
          </a:xfrm>
          <a:prstGeom prst="rect">
            <a:avLst/>
          </a:prstGeom>
          <a:noFill/>
          <a:ln>
            <a:noFill/>
          </a:ln>
        </p:spPr>
      </p:pic>
      <p:sp>
        <p:nvSpPr>
          <p:cNvPr id="489" name="Google Shape;489;p66"/>
          <p:cNvSpPr txBox="1"/>
          <p:nvPr>
            <p:ph idx="3" type="body"/>
          </p:nvPr>
        </p:nvSpPr>
        <p:spPr>
          <a:xfrm>
            <a:off x="315425" y="4318250"/>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Objects prevent other parts of the program from accessing or modifying their state.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7"/>
          <p:cNvSpPr txBox="1"/>
          <p:nvPr>
            <p:ph idx="4" type="body"/>
          </p:nvPr>
        </p:nvSpPr>
        <p:spPr>
          <a:xfrm>
            <a:off x="198350" y="1919825"/>
            <a:ext cx="2907300" cy="2652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Samples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getWelcome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267F99"/>
                </a:solidFill>
                <a:highlight>
                  <a:schemeClr val="lt1"/>
                </a:highlight>
                <a:latin typeface="Consolas"/>
                <a:ea typeface="Consolas"/>
                <a:cs typeface="Consolas"/>
                <a:sym typeface="Consolas"/>
              </a:rPr>
              <a:t>String</a:t>
            </a:r>
            <a:r>
              <a:rPr lang="en" sz="1100">
                <a:highlight>
                  <a:schemeClr val="lt1"/>
                </a:highlight>
                <a:latin typeface="Consolas"/>
                <a:ea typeface="Consolas"/>
                <a:cs typeface="Consolas"/>
                <a:sym typeface="Consolas"/>
              </a:rPr>
              <a:t> </a:t>
            </a:r>
            <a:r>
              <a:rPr lang="en" sz="1100">
                <a:solidFill>
                  <a:srgbClr val="001080"/>
                </a:solidFill>
                <a:highlight>
                  <a:schemeClr val="lt1"/>
                </a:highlight>
                <a:latin typeface="Consolas"/>
                <a:ea typeface="Consolas"/>
                <a:cs typeface="Consolas"/>
                <a:sym typeface="Consolas"/>
              </a:rPr>
              <a:t>welcome</a:t>
            </a:r>
            <a:r>
              <a:rPr lang="en" sz="1100">
                <a:highlight>
                  <a:schemeClr val="lt1"/>
                </a:highlight>
                <a:latin typeface="Consolas"/>
                <a:ea typeface="Consolas"/>
                <a:cs typeface="Consolas"/>
                <a:sym typeface="Consolas"/>
              </a:rPr>
              <a:t> = </a:t>
            </a:r>
            <a:r>
              <a:rPr lang="en" sz="1100">
                <a:solidFill>
                  <a:srgbClr val="A31515"/>
                </a:solidFill>
                <a:highlight>
                  <a:schemeClr val="lt1"/>
                </a:highlight>
                <a:latin typeface="Consolas"/>
                <a:ea typeface="Consolas"/>
                <a:cs typeface="Consolas"/>
                <a:sym typeface="Consolas"/>
              </a:rPr>
              <a:t>"Hello "</a:t>
            </a:r>
            <a:r>
              <a:rPr lang="en" sz="1100">
                <a:highlight>
                  <a:schemeClr val="lt1"/>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if</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welcome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chemeClr val="lt1"/>
                </a:highlight>
                <a:latin typeface="Consolas"/>
                <a:ea typeface="Consolas"/>
                <a:cs typeface="Consolas"/>
                <a:sym typeface="Consolas"/>
              </a:rPr>
              <a:t>welcome </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solidFill>
                  <a:srgbClr val="000000"/>
                </a:solidFill>
                <a:highlight>
                  <a:srgbClr val="FFFFFF"/>
                </a:highlight>
                <a:latin typeface="Consolas"/>
                <a:ea typeface="Consolas"/>
                <a:cs typeface="Consolas"/>
                <a:sym typeface="Consolas"/>
              </a:rPr>
              <a:t> welcome;</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p>
        </p:txBody>
      </p:sp>
      <p:sp>
        <p:nvSpPr>
          <p:cNvPr id="495" name="Google Shape;495;p6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do not want other parts of the program to modify the fields inside of our objects (either accidentally or on purpose). The mechanism for preventing access is to use access modifiers for all fields. Let's modify our classes to make all of the fields </a:t>
            </a:r>
            <a:r>
              <a:rPr lang="en">
                <a:latin typeface="Courier New"/>
                <a:ea typeface="Courier New"/>
                <a:cs typeface="Courier New"/>
                <a:sym typeface="Courier New"/>
              </a:rPr>
              <a:t>private</a:t>
            </a:r>
            <a:r>
              <a:rPr lang="en"/>
              <a:t>.</a:t>
            </a:r>
            <a:endParaRPr/>
          </a:p>
        </p:txBody>
      </p:sp>
      <p:sp>
        <p:nvSpPr>
          <p:cNvPr id="496" name="Google Shape;496;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67"/>
          <p:cNvSpPr txBox="1"/>
          <p:nvPr>
            <p:ph idx="2" type="body"/>
          </p:nvPr>
        </p:nvSpPr>
        <p:spPr>
          <a:xfrm>
            <a:off x="3105650" y="1919825"/>
            <a:ext cx="5781300" cy="1663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Weapon</a:t>
            </a:r>
            <a:r>
              <a:rPr lang="en"/>
              <a:t> class and change the access modifiers for all of the fields to make them private.</a:t>
            </a:r>
            <a:endParaRPr/>
          </a:p>
          <a:p>
            <a:pPr indent="-311150" lvl="0" marL="457200" rtl="0" algn="l">
              <a:spcBef>
                <a:spcPts val="0"/>
              </a:spcBef>
              <a:spcAft>
                <a:spcPts val="0"/>
              </a:spcAft>
              <a:buSzPts val="1300"/>
              <a:buChar char="●"/>
            </a:pPr>
            <a:r>
              <a:rPr lang="en"/>
              <a:t>What happens when you try to run the </a:t>
            </a:r>
            <a:r>
              <a:rPr lang="en">
                <a:latin typeface="Courier New"/>
                <a:ea typeface="Courier New"/>
                <a:cs typeface="Courier New"/>
                <a:sym typeface="Courier New"/>
              </a:rPr>
              <a:t>StarWarsBattle</a:t>
            </a:r>
            <a:r>
              <a:rPr lang="en"/>
              <a:t> class? </a:t>
            </a:r>
            <a:endParaRPr/>
          </a:p>
          <a:p>
            <a:pPr indent="-298450" lvl="1" marL="914400" rtl="0" algn="l">
              <a:spcBef>
                <a:spcPts val="0"/>
              </a:spcBef>
              <a:spcAft>
                <a:spcPts val="0"/>
              </a:spcAft>
              <a:buSzPts val="1100"/>
              <a:buChar char="○"/>
            </a:pPr>
            <a:r>
              <a:rPr lang="en"/>
              <a:t>If there are any errors, do you know why?</a:t>
            </a:r>
            <a:endParaRPr/>
          </a:p>
          <a:p>
            <a:pPr indent="-311150" lvl="0" marL="457200" rtl="0" algn="l">
              <a:spcBef>
                <a:spcPts val="0"/>
              </a:spcBef>
              <a:spcAft>
                <a:spcPts val="0"/>
              </a:spcAft>
              <a:buSzPts val="1300"/>
              <a:buChar char="●"/>
            </a:pPr>
            <a:r>
              <a:rPr lang="en"/>
              <a:t>Repeat this process with the </a:t>
            </a:r>
            <a:r>
              <a:rPr lang="en">
                <a:latin typeface="Courier New"/>
                <a:ea typeface="Courier New"/>
                <a:cs typeface="Courier New"/>
                <a:sym typeface="Courier New"/>
              </a:rPr>
              <a:t>Ship</a:t>
            </a:r>
            <a:r>
              <a:rPr lang="en"/>
              <a:t> class.</a:t>
            </a:r>
            <a:endParaRPr/>
          </a:p>
          <a:p>
            <a:pPr indent="-298450" lvl="1" marL="914400" rtl="0" algn="l">
              <a:spcBef>
                <a:spcPts val="0"/>
              </a:spcBef>
              <a:spcAft>
                <a:spcPts val="0"/>
              </a:spcAft>
              <a:buSzPts val="1100"/>
              <a:buChar char="○"/>
            </a:pPr>
            <a:r>
              <a:rPr lang="en"/>
              <a:t>There may be more errors!</a:t>
            </a:r>
            <a:endParaRPr/>
          </a:p>
          <a:p>
            <a:pPr indent="-298450" lvl="1" marL="914400" rtl="0" algn="l">
              <a:spcBef>
                <a:spcPts val="0"/>
              </a:spcBef>
              <a:spcAft>
                <a:spcPts val="0"/>
              </a:spcAft>
              <a:buSzPts val="1100"/>
              <a:buChar char="○"/>
            </a:pPr>
            <a:r>
              <a:rPr lang="en"/>
              <a:t>How should we fix them?</a:t>
            </a:r>
            <a:endParaRPr/>
          </a:p>
        </p:txBody>
      </p:sp>
      <p:sp>
        <p:nvSpPr>
          <p:cNvPr id="498" name="Google Shape;498;p6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Controlling Access to State</a:t>
            </a:r>
            <a:endParaRPr/>
          </a:p>
        </p:txBody>
      </p:sp>
      <p:sp>
        <p:nvSpPr>
          <p:cNvPr id="499" name="Google Shape;499;p6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2.7</a:t>
            </a:r>
            <a:endParaRPr/>
          </a:p>
        </p:txBody>
      </p:sp>
      <p:pic>
        <p:nvPicPr>
          <p:cNvPr id="500" name="Google Shape;500;p67"/>
          <p:cNvPicPr preferRelativeResize="0"/>
          <p:nvPr/>
        </p:nvPicPr>
        <p:blipFill>
          <a:blip r:embed="rId3">
            <a:alphaModFix/>
          </a:blip>
          <a:stretch>
            <a:fillRect/>
          </a:stretch>
        </p:blipFill>
        <p:spPr>
          <a:xfrm>
            <a:off x="6991650" y="3282625"/>
            <a:ext cx="1560075" cy="1560075"/>
          </a:xfrm>
          <a:prstGeom prst="rect">
            <a:avLst/>
          </a:prstGeom>
          <a:noFill/>
          <a:ln>
            <a:noFill/>
          </a:ln>
        </p:spPr>
      </p:pic>
      <p:pic>
        <p:nvPicPr>
          <p:cNvPr id="501" name="Google Shape;501;p67"/>
          <p:cNvPicPr preferRelativeResize="0"/>
          <p:nvPr/>
        </p:nvPicPr>
        <p:blipFill>
          <a:blip r:embed="rId4">
            <a:alphaModFix/>
          </a:blip>
          <a:stretch>
            <a:fillRect/>
          </a:stretch>
        </p:blipFill>
        <p:spPr>
          <a:xfrm>
            <a:off x="6063674" y="3668575"/>
            <a:ext cx="1527475" cy="13484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68"/>
          <p:cNvSpPr txBox="1"/>
          <p:nvPr>
            <p:ph type="title"/>
          </p:nvPr>
        </p:nvSpPr>
        <p:spPr>
          <a:xfrm>
            <a:off x="5188525" y="151775"/>
            <a:ext cx="37065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600"/>
              <a:t>Accessors &amp; Mutators</a:t>
            </a:r>
            <a:endParaRPr sz="2600"/>
          </a:p>
        </p:txBody>
      </p:sp>
      <p:sp>
        <p:nvSpPr>
          <p:cNvPr id="508" name="Google Shape;508;p68"/>
          <p:cNvSpPr txBox="1"/>
          <p:nvPr>
            <p:ph idx="1" type="body"/>
          </p:nvPr>
        </p:nvSpPr>
        <p:spPr>
          <a:xfrm>
            <a:off x="301275" y="134275"/>
            <a:ext cx="4325700" cy="4581300"/>
          </a:xfrm>
          <a:prstGeom prst="rect">
            <a:avLst/>
          </a:prstGeom>
        </p:spPr>
        <p:txBody>
          <a:bodyPr anchorCtr="0" anchor="t" bIns="91425" lIns="91425" spcFirstLastPara="1" rIns="91425" wrap="square" tIns="91425">
            <a:spAutoFit/>
          </a:bodyPr>
          <a:lstStyle/>
          <a:p>
            <a:pPr indent="-319595" lvl="0" marL="457200" rtl="0" algn="l">
              <a:lnSpc>
                <a:spcPct val="100000"/>
              </a:lnSpc>
              <a:spcBef>
                <a:spcPts val="0"/>
              </a:spcBef>
              <a:spcAft>
                <a:spcPts val="0"/>
              </a:spcAft>
              <a:buSzPts val="1433"/>
              <a:buChar char="●"/>
            </a:pPr>
            <a:r>
              <a:rPr lang="en" sz="1433"/>
              <a:t>Because all the fields are now private there is no way to access the state directly</a:t>
            </a:r>
            <a:r>
              <a:rPr lang="en" sz="1433"/>
              <a:t> from another class.</a:t>
            </a:r>
            <a:endParaRPr sz="1433"/>
          </a:p>
          <a:p>
            <a:pPr indent="-306895" lvl="1" marL="914400" rtl="0" algn="l">
              <a:lnSpc>
                <a:spcPct val="100000"/>
              </a:lnSpc>
              <a:spcBef>
                <a:spcPts val="0"/>
              </a:spcBef>
              <a:spcAft>
                <a:spcPts val="0"/>
              </a:spcAft>
              <a:buSzPts val="1233"/>
              <a:buChar char="○"/>
            </a:pPr>
            <a:r>
              <a:rPr lang="en" sz="1233"/>
              <a:t>This will cause errors in any code that tries to access the fields directly.</a:t>
            </a:r>
            <a:endParaRPr sz="1233"/>
          </a:p>
          <a:p>
            <a:pPr indent="-319595" lvl="0" marL="457200" rtl="0" algn="l">
              <a:lnSpc>
                <a:spcPct val="100000"/>
              </a:lnSpc>
              <a:spcBef>
                <a:spcPts val="0"/>
              </a:spcBef>
              <a:spcAft>
                <a:spcPts val="0"/>
              </a:spcAft>
              <a:buSzPts val="1433"/>
              <a:buChar char="●"/>
            </a:pPr>
            <a:r>
              <a:rPr lang="en" sz="1433"/>
              <a:t>If other parts of the program </a:t>
            </a:r>
            <a:r>
              <a:rPr i="1" lang="en" sz="1433" u="sng"/>
              <a:t>must</a:t>
            </a:r>
            <a:r>
              <a:rPr b="1" lang="en" sz="1433"/>
              <a:t> </a:t>
            </a:r>
            <a:r>
              <a:rPr b="1" i="1" lang="en" sz="1433">
                <a:solidFill>
                  <a:srgbClr val="FF0000"/>
                </a:solidFill>
              </a:rPr>
              <a:t>access</a:t>
            </a:r>
            <a:r>
              <a:rPr lang="en" sz="1433"/>
              <a:t> the private data we use </a:t>
            </a:r>
            <a:r>
              <a:rPr b="1" i="1" lang="en" sz="1433">
                <a:solidFill>
                  <a:srgbClr val="FF0000"/>
                </a:solidFill>
              </a:rPr>
              <a:t>accessors</a:t>
            </a:r>
            <a:r>
              <a:rPr lang="en" sz="1433"/>
              <a:t>.</a:t>
            </a:r>
            <a:endParaRPr sz="1433"/>
          </a:p>
          <a:p>
            <a:pPr indent="-306895" lvl="1" marL="914400" rtl="0" algn="l">
              <a:lnSpc>
                <a:spcPct val="100000"/>
              </a:lnSpc>
              <a:spcBef>
                <a:spcPts val="0"/>
              </a:spcBef>
              <a:spcAft>
                <a:spcPts val="0"/>
              </a:spcAft>
              <a:buSzPts val="1233"/>
              <a:buChar char="○"/>
            </a:pPr>
            <a:r>
              <a:rPr lang="en" sz="1233"/>
              <a:t>An accessor is named using the "</a:t>
            </a:r>
            <a:r>
              <a:rPr lang="en" sz="1233">
                <a:solidFill>
                  <a:srgbClr val="FF0000"/>
                </a:solidFill>
                <a:latin typeface="Courier New"/>
                <a:ea typeface="Courier New"/>
                <a:cs typeface="Courier New"/>
                <a:sym typeface="Courier New"/>
              </a:rPr>
              <a:t>get</a:t>
            </a:r>
            <a:r>
              <a:rPr lang="en" sz="1233"/>
              <a:t>" prefix and the name of the field, e.g. </a:t>
            </a:r>
            <a:r>
              <a:rPr lang="en" sz="1233">
                <a:solidFill>
                  <a:srgbClr val="FF0000"/>
                </a:solidFill>
                <a:latin typeface="Courier New"/>
                <a:ea typeface="Courier New"/>
                <a:cs typeface="Courier New"/>
                <a:sym typeface="Courier New"/>
              </a:rPr>
              <a:t>getName</a:t>
            </a:r>
            <a:r>
              <a:rPr lang="en" sz="1233"/>
              <a:t>.</a:t>
            </a:r>
            <a:endParaRPr sz="1233"/>
          </a:p>
          <a:p>
            <a:pPr indent="-319595" lvl="1" marL="914400" rtl="0" algn="l">
              <a:lnSpc>
                <a:spcPct val="100000"/>
              </a:lnSpc>
              <a:spcBef>
                <a:spcPts val="0"/>
              </a:spcBef>
              <a:spcAft>
                <a:spcPts val="0"/>
              </a:spcAft>
              <a:buSzPts val="1433"/>
              <a:buChar char="○"/>
            </a:pPr>
            <a:r>
              <a:rPr lang="en" sz="1200"/>
              <a:t>An accessor typically contains only a return statement that returns the value of the field.</a:t>
            </a:r>
            <a:endParaRPr sz="1200"/>
          </a:p>
          <a:p>
            <a:pPr indent="-319595" lvl="1" marL="914400" rtl="0" algn="l">
              <a:lnSpc>
                <a:spcPct val="100000"/>
              </a:lnSpc>
              <a:spcBef>
                <a:spcPts val="0"/>
              </a:spcBef>
              <a:spcAft>
                <a:spcPts val="0"/>
              </a:spcAft>
              <a:buSzPts val="1433"/>
              <a:buChar char="○"/>
            </a:pPr>
            <a:r>
              <a:rPr lang="en" sz="1200"/>
              <a:t>Accessors are also called "</a:t>
            </a:r>
            <a:r>
              <a:rPr lang="en" sz="1200">
                <a:solidFill>
                  <a:srgbClr val="FF0000"/>
                </a:solidFill>
              </a:rPr>
              <a:t>getters</a:t>
            </a:r>
            <a:r>
              <a:rPr lang="en" sz="1200"/>
              <a:t>."</a:t>
            </a:r>
            <a:endParaRPr sz="1200"/>
          </a:p>
          <a:p>
            <a:pPr indent="-317500" lvl="0" marL="457200" rtl="0" algn="l">
              <a:lnSpc>
                <a:spcPct val="100000"/>
              </a:lnSpc>
              <a:spcBef>
                <a:spcPts val="0"/>
              </a:spcBef>
              <a:spcAft>
                <a:spcPts val="0"/>
              </a:spcAft>
              <a:buSzPts val="1400"/>
              <a:buChar char="●"/>
            </a:pPr>
            <a:r>
              <a:rPr lang="en" sz="1400"/>
              <a:t>If other parts of the program </a:t>
            </a:r>
            <a:r>
              <a:rPr i="1" lang="en" sz="1400" u="sng"/>
              <a:t>must</a:t>
            </a:r>
            <a:r>
              <a:rPr lang="en" sz="1400"/>
              <a:t> </a:t>
            </a:r>
            <a:r>
              <a:rPr b="1" i="1" lang="en" sz="1400">
                <a:solidFill>
                  <a:srgbClr val="FF0000"/>
                </a:solidFill>
              </a:rPr>
              <a:t>change</a:t>
            </a:r>
            <a:r>
              <a:rPr lang="en" sz="1400"/>
              <a:t> the private data, we use </a:t>
            </a:r>
            <a:r>
              <a:rPr b="1" i="1" lang="en" sz="1400">
                <a:solidFill>
                  <a:srgbClr val="FF0000"/>
                </a:solidFill>
              </a:rPr>
              <a:t>mutators</a:t>
            </a:r>
            <a:r>
              <a:rPr lang="en" sz="1400"/>
              <a:t>.</a:t>
            </a:r>
            <a:endParaRPr sz="1400"/>
          </a:p>
          <a:p>
            <a:pPr indent="-304800" lvl="1" marL="914400" rtl="0" algn="l">
              <a:lnSpc>
                <a:spcPct val="100000"/>
              </a:lnSpc>
              <a:spcBef>
                <a:spcPts val="0"/>
              </a:spcBef>
              <a:spcAft>
                <a:spcPts val="0"/>
              </a:spcAft>
              <a:buSzPts val="1200"/>
              <a:buChar char="○"/>
            </a:pPr>
            <a:r>
              <a:rPr lang="en" sz="1200"/>
              <a:t>A mutator is named using the "</a:t>
            </a:r>
            <a:r>
              <a:rPr lang="en" sz="1200">
                <a:solidFill>
                  <a:srgbClr val="FF0000"/>
                </a:solidFill>
                <a:latin typeface="Courier New"/>
                <a:ea typeface="Courier New"/>
                <a:cs typeface="Courier New"/>
                <a:sym typeface="Courier New"/>
              </a:rPr>
              <a:t>set</a:t>
            </a:r>
            <a:r>
              <a:rPr lang="en" sz="1200"/>
              <a:t>" prefix and the name of the field, e.g. </a:t>
            </a:r>
            <a:r>
              <a:rPr lang="en" sz="1200">
                <a:solidFill>
                  <a:srgbClr val="FF0000"/>
                </a:solidFill>
                <a:latin typeface="Courier New"/>
                <a:ea typeface="Courier New"/>
                <a:cs typeface="Courier New"/>
                <a:sym typeface="Courier New"/>
              </a:rPr>
              <a:t>setName</a:t>
            </a:r>
            <a:r>
              <a:rPr lang="en" sz="1200"/>
              <a:t>.</a:t>
            </a:r>
            <a:endParaRPr sz="1200"/>
          </a:p>
          <a:p>
            <a:pPr indent="-304800" lvl="1" marL="914400" rtl="0" algn="l">
              <a:lnSpc>
                <a:spcPct val="100000"/>
              </a:lnSpc>
              <a:spcBef>
                <a:spcPts val="0"/>
              </a:spcBef>
              <a:spcAft>
                <a:spcPts val="0"/>
              </a:spcAft>
              <a:buSzPts val="1200"/>
              <a:buChar char="○"/>
            </a:pPr>
            <a:r>
              <a:rPr lang="en" sz="1200"/>
              <a:t>A mutator declares one parameter and uses it to modify the value of the field with the same name.</a:t>
            </a:r>
            <a:endParaRPr sz="1200"/>
          </a:p>
          <a:p>
            <a:pPr indent="-304800" lvl="1" marL="914400" rtl="0" algn="l">
              <a:lnSpc>
                <a:spcPct val="100000"/>
              </a:lnSpc>
              <a:spcBef>
                <a:spcPts val="0"/>
              </a:spcBef>
              <a:spcAft>
                <a:spcPts val="0"/>
              </a:spcAft>
              <a:buSzPts val="1200"/>
              <a:buChar char="○"/>
            </a:pPr>
            <a:r>
              <a:rPr lang="en" sz="1200"/>
              <a:t>Mutators are also called "</a:t>
            </a:r>
            <a:r>
              <a:rPr lang="en" sz="1200">
                <a:solidFill>
                  <a:srgbClr val="FF0000"/>
                </a:solidFill>
              </a:rPr>
              <a:t>setters</a:t>
            </a:r>
            <a:r>
              <a:rPr lang="en" sz="1200"/>
              <a:t>."</a:t>
            </a:r>
            <a:endParaRPr sz="1200"/>
          </a:p>
          <a:p>
            <a:pPr indent="-304800" lvl="0" marL="457200" rtl="0" algn="l">
              <a:lnSpc>
                <a:spcPct val="100000"/>
              </a:lnSpc>
              <a:spcBef>
                <a:spcPts val="0"/>
              </a:spcBef>
              <a:spcAft>
                <a:spcPts val="0"/>
              </a:spcAft>
              <a:buSzPts val="1200"/>
              <a:buChar char="●"/>
            </a:pPr>
            <a:r>
              <a:rPr lang="en" sz="1200"/>
              <a:t>Accessors and mutators should </a:t>
            </a:r>
            <a:r>
              <a:rPr b="1" i="1" lang="en" sz="1200">
                <a:solidFill>
                  <a:srgbClr val="FF0000"/>
                </a:solidFill>
              </a:rPr>
              <a:t>only</a:t>
            </a:r>
            <a:r>
              <a:rPr lang="en" sz="1200">
                <a:solidFill>
                  <a:srgbClr val="FF0000"/>
                </a:solidFill>
              </a:rPr>
              <a:t> </a:t>
            </a:r>
            <a:r>
              <a:rPr lang="en" sz="1200"/>
              <a:t>be written if they are </a:t>
            </a:r>
            <a:r>
              <a:rPr b="1" i="1" lang="en" sz="1200">
                <a:solidFill>
                  <a:srgbClr val="FF0000"/>
                </a:solidFill>
              </a:rPr>
              <a:t>needed</a:t>
            </a:r>
            <a:r>
              <a:rPr lang="en" sz="1200">
                <a:solidFill>
                  <a:srgbClr val="FF0000"/>
                </a:solidFill>
              </a:rPr>
              <a:t> </a:t>
            </a:r>
            <a:r>
              <a:rPr lang="en" sz="1200"/>
              <a:t>by other parts of the program.</a:t>
            </a:r>
            <a:endParaRPr sz="1200"/>
          </a:p>
        </p:txBody>
      </p:sp>
      <p:sp>
        <p:nvSpPr>
          <p:cNvPr id="509" name="Google Shape;509;p68"/>
          <p:cNvSpPr txBox="1"/>
          <p:nvPr>
            <p:ph idx="2" type="body"/>
          </p:nvPr>
        </p:nvSpPr>
        <p:spPr>
          <a:xfrm>
            <a:off x="5188525" y="1605950"/>
            <a:ext cx="3706500" cy="2320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Pet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age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getAge</a:t>
            </a:r>
            <a:r>
              <a:rPr lang="en" sz="1050">
                <a:solidFill>
                  <a:srgbClr val="000000"/>
                </a:solidFill>
                <a:latin typeface="Consolas"/>
                <a:ea typeface="Consolas"/>
                <a:cs typeface="Consolas"/>
                <a:sym typeface="Consolas"/>
              </a:rPr>
              <a:t>() {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age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setName</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   </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a:t>
            </a:r>
            <a:endParaRPr/>
          </a:p>
        </p:txBody>
      </p:sp>
      <p:sp>
        <p:nvSpPr>
          <p:cNvPr id="510" name="Google Shape;510;p68"/>
          <p:cNvSpPr txBox="1"/>
          <p:nvPr>
            <p:ph idx="3" type="body"/>
          </p:nvPr>
        </p:nvSpPr>
        <p:spPr>
          <a:xfrm>
            <a:off x="5188525" y="73677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Getters and setters allow other parts of the program to access and/or modify the private data inside of an object.</a:t>
            </a:r>
            <a:endParaRPr sz="1200"/>
          </a:p>
        </p:txBody>
      </p:sp>
      <p:sp>
        <p:nvSpPr>
          <p:cNvPr id="511" name="Google Shape;511;p68"/>
          <p:cNvSpPr txBox="1"/>
          <p:nvPr>
            <p:ph idx="3" type="body"/>
          </p:nvPr>
        </p:nvSpPr>
        <p:spPr>
          <a:xfrm>
            <a:off x="5188525" y="4056725"/>
            <a:ext cx="3706500" cy="9234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This </a:t>
            </a:r>
            <a:r>
              <a:rPr b="1" i="1" lang="en" sz="1200">
                <a:solidFill>
                  <a:srgbClr val="FF0000"/>
                </a:solidFill>
              </a:rPr>
              <a:t>breaks encapsulation</a:t>
            </a:r>
            <a:r>
              <a:rPr lang="en" sz="1200">
                <a:solidFill>
                  <a:srgbClr val="FF0000"/>
                </a:solidFill>
              </a:rPr>
              <a:t> </a:t>
            </a:r>
            <a:r>
              <a:rPr lang="en" sz="1200"/>
              <a:t>because it exposes private data outside of the class. Getters and especially setters should only be added if </a:t>
            </a:r>
            <a:r>
              <a:rPr i="1" lang="en" sz="1200" u="sng"/>
              <a:t>absolutely necessary</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Using proper encapsulation means that an object protects and controls access to is fields by using access modifiers to make them private. If the values of the fields are needed outside of the class, you will need to add accessors and/or modifiers to enable that access.</a:t>
            </a:r>
            <a:endParaRPr/>
          </a:p>
        </p:txBody>
      </p:sp>
      <p:sp>
        <p:nvSpPr>
          <p:cNvPr id="517" name="Google Shape;517;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69"/>
          <p:cNvSpPr txBox="1"/>
          <p:nvPr>
            <p:ph idx="2" type="body"/>
          </p:nvPr>
        </p:nvSpPr>
        <p:spPr>
          <a:xfrm>
            <a:off x="3848100" y="1806663"/>
            <a:ext cx="4993800" cy="31155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Update the </a:t>
            </a:r>
            <a:r>
              <a:rPr lang="en" sz="1200">
                <a:latin typeface="Courier New"/>
                <a:ea typeface="Courier New"/>
                <a:cs typeface="Courier New"/>
                <a:sym typeface="Courier New"/>
              </a:rPr>
              <a:t>Weapon</a:t>
            </a:r>
            <a:r>
              <a:rPr lang="en" sz="1200"/>
              <a:t> class to include accessors only as needed.</a:t>
            </a:r>
            <a:endParaRPr sz="1200"/>
          </a:p>
          <a:p>
            <a:pPr indent="-292100" lvl="1" marL="914400" rtl="0" algn="l">
              <a:spcBef>
                <a:spcPts val="0"/>
              </a:spcBef>
              <a:spcAft>
                <a:spcPts val="0"/>
              </a:spcAft>
              <a:buSzPts val="1000"/>
              <a:buChar char="○"/>
            </a:pPr>
            <a:r>
              <a:rPr lang="en" sz="1000"/>
              <a:t>Only add accessors where at least one other part of the program needs to be able to see the field.</a:t>
            </a:r>
            <a:endParaRPr sz="1000"/>
          </a:p>
          <a:p>
            <a:pPr indent="-292100" lvl="1" marL="914400" rtl="0" algn="l">
              <a:spcBef>
                <a:spcPts val="0"/>
              </a:spcBef>
              <a:spcAft>
                <a:spcPts val="0"/>
              </a:spcAft>
              <a:buSzPts val="1000"/>
              <a:buChar char="○"/>
            </a:pPr>
            <a:r>
              <a:rPr b="1" i="1" lang="en" sz="1000"/>
              <a:t>Hint</a:t>
            </a:r>
            <a:r>
              <a:rPr lang="en" sz="1000"/>
              <a:t>: add them to fix any errors cause by making the fields private.</a:t>
            </a:r>
            <a:endParaRPr sz="1000"/>
          </a:p>
          <a:p>
            <a:pPr indent="-292100" lvl="1" marL="914400" rtl="0" algn="l">
              <a:spcBef>
                <a:spcPts val="0"/>
              </a:spcBef>
              <a:spcAft>
                <a:spcPts val="0"/>
              </a:spcAft>
              <a:buSzPts val="1000"/>
              <a:buChar char="○"/>
            </a:pPr>
            <a:r>
              <a:rPr lang="en" sz="1000"/>
              <a:t>You can always add more accessors later as needed!</a:t>
            </a:r>
            <a:endParaRPr sz="1000"/>
          </a:p>
          <a:p>
            <a:pPr indent="-304800" lvl="0" marL="457200" rtl="0" algn="l">
              <a:spcBef>
                <a:spcPts val="0"/>
              </a:spcBef>
              <a:spcAft>
                <a:spcPts val="0"/>
              </a:spcAft>
              <a:buSzPts val="1200"/>
              <a:buChar char="●"/>
            </a:pPr>
            <a:r>
              <a:rPr lang="en" sz="1200"/>
              <a:t>Update the </a:t>
            </a:r>
            <a:r>
              <a:rPr lang="en" sz="1200">
                <a:latin typeface="Courier New"/>
                <a:ea typeface="Courier New"/>
                <a:cs typeface="Courier New"/>
                <a:sym typeface="Courier New"/>
              </a:rPr>
              <a:t>Weapon</a:t>
            </a:r>
            <a:r>
              <a:rPr lang="en" sz="1200"/>
              <a:t> class to include mutators only as needed.</a:t>
            </a:r>
            <a:endParaRPr sz="1200"/>
          </a:p>
          <a:p>
            <a:pPr indent="-292100" lvl="1" marL="914400" rtl="0" algn="l">
              <a:spcBef>
                <a:spcPts val="0"/>
              </a:spcBef>
              <a:spcAft>
                <a:spcPts val="0"/>
              </a:spcAft>
              <a:buSzPts val="1000"/>
              <a:buChar char="○"/>
            </a:pPr>
            <a:r>
              <a:rPr lang="en" sz="1000"/>
              <a:t>An object may change the value of one of its own fields. That does not mean that a mutator is needed. Ask yourself "Will some </a:t>
            </a:r>
            <a:r>
              <a:rPr i="1" lang="en" sz="1000" u="sng"/>
              <a:t>other part</a:t>
            </a:r>
            <a:r>
              <a:rPr lang="en" sz="1000"/>
              <a:t> of the program need to </a:t>
            </a:r>
            <a:r>
              <a:rPr i="1" lang="en" sz="1000" u="sng"/>
              <a:t>directly</a:t>
            </a:r>
            <a:r>
              <a:rPr lang="en" sz="1000"/>
              <a:t> set the value of the field?"</a:t>
            </a:r>
            <a:endParaRPr sz="1000"/>
          </a:p>
          <a:p>
            <a:pPr indent="-292100" lvl="1" marL="914400" rtl="0" algn="l">
              <a:spcBef>
                <a:spcPts val="0"/>
              </a:spcBef>
              <a:spcAft>
                <a:spcPts val="0"/>
              </a:spcAft>
              <a:buSzPts val="1000"/>
              <a:buChar char="○"/>
            </a:pPr>
            <a:r>
              <a:rPr lang="en" sz="1000"/>
              <a:t>If the answer is </a:t>
            </a:r>
            <a:r>
              <a:rPr b="1" lang="en" sz="1000">
                <a:solidFill>
                  <a:srgbClr val="FF0000"/>
                </a:solidFill>
              </a:rPr>
              <a:t>no</a:t>
            </a:r>
            <a:r>
              <a:rPr lang="en" sz="1000"/>
              <a:t>, do not create a mutator for that value.</a:t>
            </a:r>
            <a:endParaRPr sz="1000"/>
          </a:p>
          <a:p>
            <a:pPr indent="-292100" lvl="1" marL="914400" rtl="0" algn="l">
              <a:spcBef>
                <a:spcPts val="0"/>
              </a:spcBef>
              <a:spcAft>
                <a:spcPts val="0"/>
              </a:spcAft>
              <a:buSzPts val="1000"/>
              <a:buChar char="○"/>
            </a:pPr>
            <a:r>
              <a:rPr lang="en" sz="1000"/>
              <a:t>If it is, </a:t>
            </a:r>
            <a:r>
              <a:rPr b="1" lang="en" sz="1000">
                <a:solidFill>
                  <a:srgbClr val="FF0000"/>
                </a:solidFill>
              </a:rPr>
              <a:t>yes</a:t>
            </a:r>
            <a:r>
              <a:rPr lang="en" sz="1000"/>
              <a:t>, then add the mutator.</a:t>
            </a:r>
            <a:endParaRPr sz="1000"/>
          </a:p>
          <a:p>
            <a:pPr indent="-292100" lvl="1" marL="914400" rtl="0" algn="l">
              <a:spcBef>
                <a:spcPts val="0"/>
              </a:spcBef>
              <a:spcAft>
                <a:spcPts val="0"/>
              </a:spcAft>
              <a:buSzPts val="1000"/>
              <a:buChar char="○"/>
            </a:pPr>
            <a:r>
              <a:rPr lang="en" sz="1000"/>
              <a:t>If the answer is </a:t>
            </a:r>
            <a:r>
              <a:rPr b="1" lang="en" sz="1000">
                <a:solidFill>
                  <a:srgbClr val="FF0000"/>
                </a:solidFill>
              </a:rPr>
              <a:t>maybe</a:t>
            </a:r>
            <a:r>
              <a:rPr lang="en" sz="1000"/>
              <a:t>, delay creating a mutator until the implementation specifically requires it.</a:t>
            </a:r>
            <a:endParaRPr sz="1000"/>
          </a:p>
          <a:p>
            <a:pPr indent="-298450" lvl="0" marL="457200" rtl="0" algn="l">
              <a:spcBef>
                <a:spcPts val="0"/>
              </a:spcBef>
              <a:spcAft>
                <a:spcPts val="0"/>
              </a:spcAft>
              <a:buSzPts val="1100"/>
              <a:buChar char="●"/>
            </a:pPr>
            <a:r>
              <a:rPr lang="en" sz="1100"/>
              <a:t>Repeat the entire process for the fields in the </a:t>
            </a:r>
            <a:r>
              <a:rPr lang="en" sz="1100">
                <a:latin typeface="Courier New"/>
                <a:ea typeface="Courier New"/>
                <a:cs typeface="Courier New"/>
                <a:sym typeface="Courier New"/>
              </a:rPr>
              <a:t>Ship</a:t>
            </a:r>
            <a:r>
              <a:rPr lang="en" sz="1100"/>
              <a:t> class.</a:t>
            </a:r>
            <a:endParaRPr sz="1100"/>
          </a:p>
          <a:p>
            <a:pPr indent="-298450" lvl="0" marL="457200" rtl="0" algn="l">
              <a:spcBef>
                <a:spcPts val="0"/>
              </a:spcBef>
              <a:spcAft>
                <a:spcPts val="0"/>
              </a:spcAft>
              <a:buSzPts val="1100"/>
              <a:buChar char="●"/>
            </a:pPr>
            <a:r>
              <a:rPr lang="en" sz="1100"/>
              <a:t>Run the </a:t>
            </a:r>
            <a:r>
              <a:rPr lang="en" sz="1100">
                <a:latin typeface="Courier New"/>
                <a:ea typeface="Courier New"/>
                <a:cs typeface="Courier New"/>
                <a:sym typeface="Courier New"/>
              </a:rPr>
              <a:t>StarWarsBattle</a:t>
            </a:r>
            <a:r>
              <a:rPr lang="en" sz="1100"/>
              <a:t> class to make sure that everything is working as expected.</a:t>
            </a:r>
            <a:endParaRPr sz="1100"/>
          </a:p>
        </p:txBody>
      </p:sp>
      <p:sp>
        <p:nvSpPr>
          <p:cNvPr id="519" name="Google Shape;519;p6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Accessing &amp; Mutating</a:t>
            </a:r>
            <a:endParaRPr/>
          </a:p>
        </p:txBody>
      </p:sp>
      <p:sp>
        <p:nvSpPr>
          <p:cNvPr id="520" name="Google Shape;520;p6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2.8</a:t>
            </a:r>
            <a:endParaRPr/>
          </a:p>
        </p:txBody>
      </p:sp>
      <p:sp>
        <p:nvSpPr>
          <p:cNvPr id="521" name="Google Shape;521;p69"/>
          <p:cNvSpPr txBox="1"/>
          <p:nvPr>
            <p:ph idx="4" type="body"/>
          </p:nvPr>
        </p:nvSpPr>
        <p:spPr>
          <a:xfrm>
            <a:off x="141600" y="4233100"/>
            <a:ext cx="37065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It is almost never a good idea to make a field public. The coding standards for this class require that all non-static fields be private. </a:t>
            </a:r>
            <a:endParaRPr/>
          </a:p>
        </p:txBody>
      </p:sp>
      <p:sp>
        <p:nvSpPr>
          <p:cNvPr id="522" name="Google Shape;522;p69"/>
          <p:cNvSpPr txBox="1"/>
          <p:nvPr>
            <p:ph idx="4" type="body"/>
          </p:nvPr>
        </p:nvSpPr>
        <p:spPr>
          <a:xfrm>
            <a:off x="141600" y="1805325"/>
            <a:ext cx="3706500" cy="23205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Pet</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age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getAge</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return</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age</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setName</a:t>
            </a:r>
            <a:r>
              <a:rPr lang="en" sz="1050">
                <a:solidFill>
                  <a:srgbClr val="000000"/>
                </a:solidFill>
                <a:highlight>
                  <a:srgbClr val="FFFFFF"/>
                </a:highlight>
                <a:latin typeface="Consolas"/>
                <a:ea typeface="Consolas"/>
                <a:cs typeface="Consolas"/>
                <a:sym typeface="Consolas"/>
              </a:rPr>
              <a:t>(</a:t>
            </a:r>
            <a:r>
              <a:rPr lang="en" sz="1050">
                <a:solidFill>
                  <a:srgbClr val="267F99"/>
                </a:solidFill>
                <a:highlight>
                  <a:schemeClr val="lt1"/>
                </a:highlight>
                <a:latin typeface="Consolas"/>
                <a:ea typeface="Consolas"/>
                <a:cs typeface="Consolas"/>
                <a:sym typeface="Consolas"/>
              </a:rPr>
              <a:t>String</a:t>
            </a:r>
            <a:r>
              <a:rPr lang="en" sz="1050">
                <a:solidFill>
                  <a:srgbClr val="000000"/>
                </a:solidFill>
                <a:highlight>
                  <a:schemeClr val="lt1"/>
                </a:highlight>
                <a:latin typeface="Consolas"/>
                <a:ea typeface="Consolas"/>
                <a:cs typeface="Consolas"/>
                <a:sym typeface="Consolas"/>
              </a:rPr>
              <a:t> </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0000"/>
                </a:solidFill>
                <a:highlight>
                  <a:schemeClr val="lt1"/>
                </a:highlight>
                <a:latin typeface="Consolas"/>
                <a:ea typeface="Consolas"/>
                <a:cs typeface="Consolas"/>
                <a:sym typeface="Consolas"/>
              </a:rPr>
              <a:t>        </a:t>
            </a:r>
            <a:r>
              <a:rPr lang="en" sz="1050">
                <a:solidFill>
                  <a:srgbClr val="0000FF"/>
                </a:solidFill>
                <a:highlight>
                  <a:schemeClr val="lt1"/>
                </a:highlight>
                <a:latin typeface="Consolas"/>
                <a:ea typeface="Consolas"/>
                <a:cs typeface="Consolas"/>
                <a:sym typeface="Consolas"/>
              </a:rPr>
              <a:t>this</a:t>
            </a:r>
            <a:r>
              <a:rPr lang="en" sz="1050">
                <a:solidFill>
                  <a:srgbClr val="000000"/>
                </a:solidFill>
                <a:highlight>
                  <a:schemeClr val="lt1"/>
                </a:highlight>
                <a:latin typeface="Consolas"/>
                <a:ea typeface="Consolas"/>
                <a:cs typeface="Consolas"/>
                <a:sym typeface="Consolas"/>
              </a:rPr>
              <a:t>.</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chemeClr val="lt1"/>
                </a:highlight>
                <a:latin typeface="Consolas"/>
                <a:ea typeface="Consolas"/>
                <a:cs typeface="Consolas"/>
                <a:sym typeface="Consolas"/>
              </a:rPr>
              <a:t> = </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chemeClr val="lt1"/>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   </a:t>
            </a:r>
            <a:endParaRPr sz="1050">
              <a:solidFill>
                <a:srgbClr val="000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8" name="Google Shape;528;p70"/>
          <p:cNvSpPr txBox="1"/>
          <p:nvPr>
            <p:ph type="title"/>
          </p:nvPr>
        </p:nvSpPr>
        <p:spPr>
          <a:xfrm>
            <a:off x="311725" y="43725"/>
            <a:ext cx="37065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Enumerated Types</a:t>
            </a:r>
            <a:endParaRPr/>
          </a:p>
          <a:p>
            <a:pPr indent="0" lvl="0" marL="0" rtl="0" algn="l">
              <a:spcBef>
                <a:spcPts val="0"/>
              </a:spcBef>
              <a:spcAft>
                <a:spcPts val="0"/>
              </a:spcAft>
              <a:buNone/>
            </a:pPr>
            <a:r>
              <a:rPr lang="en"/>
              <a:t>(</a:t>
            </a:r>
            <a:r>
              <a:rPr lang="en">
                <a:latin typeface="Courier New"/>
                <a:ea typeface="Courier New"/>
                <a:cs typeface="Courier New"/>
                <a:sym typeface="Courier New"/>
              </a:rPr>
              <a:t>enum</a:t>
            </a:r>
            <a:r>
              <a:rPr lang="en"/>
              <a:t>)</a:t>
            </a:r>
            <a:endParaRPr/>
          </a:p>
        </p:txBody>
      </p:sp>
      <p:sp>
        <p:nvSpPr>
          <p:cNvPr id="529" name="Google Shape;529;p70"/>
          <p:cNvSpPr txBox="1"/>
          <p:nvPr>
            <p:ph idx="1" type="body"/>
          </p:nvPr>
        </p:nvSpPr>
        <p:spPr>
          <a:xfrm>
            <a:off x="4538525" y="134050"/>
            <a:ext cx="4287300" cy="4726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Sometimes a variable should only be assigned one of a specific set of predefined values, e.g.:</a:t>
            </a:r>
            <a:endParaRPr/>
          </a:p>
          <a:p>
            <a:pPr indent="-298450" lvl="1" marL="914400" rtl="0" algn="l">
              <a:spcBef>
                <a:spcPts val="0"/>
              </a:spcBef>
              <a:spcAft>
                <a:spcPts val="0"/>
              </a:spcAft>
              <a:buSzPts val="1100"/>
              <a:buChar char="○"/>
            </a:pPr>
            <a:r>
              <a:rPr lang="en"/>
              <a:t>Days of the week: Monday, Tuesday, etc.</a:t>
            </a:r>
            <a:endParaRPr/>
          </a:p>
          <a:p>
            <a:pPr indent="-298450" lvl="1" marL="914400" rtl="0" algn="l">
              <a:spcBef>
                <a:spcPts val="0"/>
              </a:spcBef>
              <a:spcAft>
                <a:spcPts val="0"/>
              </a:spcAft>
              <a:buSzPts val="1100"/>
              <a:buChar char="○"/>
            </a:pPr>
            <a:r>
              <a:rPr lang="en"/>
              <a:t>Months of the year: January, February, etc.</a:t>
            </a:r>
            <a:endParaRPr/>
          </a:p>
          <a:p>
            <a:pPr indent="-298450" lvl="1" marL="914400" rtl="0" algn="l">
              <a:spcBef>
                <a:spcPts val="0"/>
              </a:spcBef>
              <a:spcAft>
                <a:spcPts val="0"/>
              </a:spcAft>
              <a:buSzPts val="1100"/>
              <a:buChar char="○"/>
            </a:pPr>
            <a:r>
              <a:rPr lang="en"/>
              <a:t>Species of pet: cat, dog, hamster, etc.</a:t>
            </a:r>
            <a:endParaRPr/>
          </a:p>
          <a:p>
            <a:pPr indent="-311150" lvl="0" marL="457200" rtl="0" algn="l">
              <a:spcBef>
                <a:spcPts val="0"/>
              </a:spcBef>
              <a:spcAft>
                <a:spcPts val="0"/>
              </a:spcAft>
              <a:buSzPts val="1300"/>
              <a:buChar char="●"/>
            </a:pPr>
            <a:r>
              <a:rPr lang="en"/>
              <a:t>What Java type would you use to represent a variable like this?</a:t>
            </a:r>
            <a:endParaRPr/>
          </a:p>
          <a:p>
            <a:pPr indent="-298450" lvl="1" marL="914400" rtl="0" algn="l">
              <a:spcBef>
                <a:spcPts val="0"/>
              </a:spcBef>
              <a:spcAft>
                <a:spcPts val="0"/>
              </a:spcAft>
              <a:buSzPts val="1100"/>
              <a:buChar char="○"/>
            </a:pPr>
            <a:r>
              <a:rPr lang="en"/>
              <a:t>You could use an </a:t>
            </a:r>
            <a:r>
              <a:rPr lang="en">
                <a:latin typeface="Courier New"/>
                <a:ea typeface="Courier New"/>
                <a:cs typeface="Courier New"/>
                <a:sym typeface="Courier New"/>
              </a:rPr>
              <a:t>int</a:t>
            </a:r>
            <a:r>
              <a:rPr lang="en"/>
              <a:t>, e.g. 0=Monday, 1=Tuesday, and so on. But what would stop you from assigning a value of -1 or 327 to the variable?</a:t>
            </a:r>
            <a:endParaRPr/>
          </a:p>
          <a:p>
            <a:pPr indent="-298450" lvl="1" marL="914400" rtl="0" algn="l">
              <a:spcBef>
                <a:spcPts val="0"/>
              </a:spcBef>
              <a:spcAft>
                <a:spcPts val="0"/>
              </a:spcAft>
              <a:buSzPts val="1100"/>
              <a:buChar char="○"/>
            </a:pPr>
            <a:r>
              <a:rPr lang="en"/>
              <a:t>You might try a </a:t>
            </a:r>
            <a:r>
              <a:rPr lang="en">
                <a:latin typeface="Courier New"/>
                <a:ea typeface="Courier New"/>
                <a:cs typeface="Courier New"/>
                <a:sym typeface="Courier New"/>
              </a:rPr>
              <a:t>String</a:t>
            </a:r>
            <a:r>
              <a:rPr lang="en"/>
              <a:t>, but you'd have the same problem: you could assign </a:t>
            </a:r>
            <a:r>
              <a:rPr i="1" lang="en"/>
              <a:t>any</a:t>
            </a:r>
            <a:r>
              <a:rPr lang="en"/>
              <a:t> string to the variable.</a:t>
            </a:r>
            <a:endParaRPr/>
          </a:p>
          <a:p>
            <a:pPr indent="-311150" lvl="0" marL="457200" rtl="0" algn="l">
              <a:spcBef>
                <a:spcPts val="0"/>
              </a:spcBef>
              <a:spcAft>
                <a:spcPts val="0"/>
              </a:spcAft>
              <a:buSzPts val="1300"/>
              <a:buChar char="●"/>
            </a:pPr>
            <a:r>
              <a:rPr lang="en"/>
              <a:t>In Java, it is possible to create an </a:t>
            </a:r>
            <a:r>
              <a:rPr b="1" i="1" lang="en">
                <a:solidFill>
                  <a:srgbClr val="FF0000"/>
                </a:solidFill>
              </a:rPr>
              <a:t>enumerated type</a:t>
            </a:r>
            <a:r>
              <a:rPr lang="en"/>
              <a:t> (or an </a:t>
            </a:r>
            <a:r>
              <a:rPr lang="en">
                <a:solidFill>
                  <a:srgbClr val="FF0000"/>
                </a:solidFill>
                <a:latin typeface="Courier New"/>
                <a:ea typeface="Courier New"/>
                <a:cs typeface="Courier New"/>
                <a:sym typeface="Courier New"/>
              </a:rPr>
              <a:t>enum</a:t>
            </a:r>
            <a:r>
              <a:rPr i="1" lang="en"/>
              <a:t> </a:t>
            </a:r>
            <a:r>
              <a:rPr lang="en"/>
              <a:t>for short).</a:t>
            </a:r>
            <a:endParaRPr/>
          </a:p>
          <a:p>
            <a:pPr indent="-298450" lvl="1" marL="914400" rtl="0" algn="l">
              <a:spcBef>
                <a:spcPts val="0"/>
              </a:spcBef>
              <a:spcAft>
                <a:spcPts val="0"/>
              </a:spcAft>
              <a:buSzPts val="1100"/>
              <a:buChar char="○"/>
            </a:pPr>
            <a:r>
              <a:rPr lang="en"/>
              <a:t>The values that may be assigned to the type are explicitly enumerated using a comma-separated list of names.</a:t>
            </a:r>
            <a:endParaRPr/>
          </a:p>
          <a:p>
            <a:pPr indent="-311150" lvl="0" marL="457200" rtl="0" algn="l">
              <a:spcBef>
                <a:spcPts val="0"/>
              </a:spcBef>
              <a:spcAft>
                <a:spcPts val="0"/>
              </a:spcAft>
              <a:buSzPts val="1300"/>
              <a:buChar char="●"/>
            </a:pPr>
            <a:r>
              <a:rPr lang="en"/>
              <a:t>Once created, an enum can be used like any other type as variables, parameters, etc.</a:t>
            </a:r>
            <a:endParaRPr/>
          </a:p>
          <a:p>
            <a:pPr indent="-298450" lvl="1" marL="914400" rtl="0" algn="l">
              <a:spcBef>
                <a:spcPts val="0"/>
              </a:spcBef>
              <a:spcAft>
                <a:spcPts val="0"/>
              </a:spcAft>
              <a:buSzPts val="1100"/>
              <a:buChar char="○"/>
            </a:pPr>
            <a:r>
              <a:rPr b="1" i="1" lang="en">
                <a:solidFill>
                  <a:srgbClr val="FF0000"/>
                </a:solidFill>
              </a:rPr>
              <a:t>Only</a:t>
            </a:r>
            <a:r>
              <a:rPr lang="en"/>
              <a:t> values from the enumerated list may be assigned to a variable of the enum's type.</a:t>
            </a:r>
            <a:endParaRPr/>
          </a:p>
        </p:txBody>
      </p:sp>
      <p:sp>
        <p:nvSpPr>
          <p:cNvPr id="530" name="Google Shape;530;p70"/>
          <p:cNvSpPr txBox="1"/>
          <p:nvPr>
            <p:ph idx="2" type="body"/>
          </p:nvPr>
        </p:nvSpPr>
        <p:spPr>
          <a:xfrm>
            <a:off x="311725" y="1747700"/>
            <a:ext cx="3706500" cy="1539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1</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enum</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70C1"/>
                </a:solidFill>
                <a:latin typeface="Consolas"/>
                <a:ea typeface="Consolas"/>
                <a:cs typeface="Consolas"/>
                <a:sym typeface="Consolas"/>
              </a:rPr>
              <a:t>CAT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70C1"/>
                </a:solidFill>
                <a:latin typeface="Consolas"/>
                <a:ea typeface="Consolas"/>
                <a:cs typeface="Consolas"/>
                <a:sym typeface="Consolas"/>
              </a:rPr>
              <a:t>DOG</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70C1"/>
                </a:solidFill>
                <a:latin typeface="Consolas"/>
                <a:ea typeface="Consolas"/>
                <a:cs typeface="Consolas"/>
                <a:sym typeface="Consolas"/>
              </a:rPr>
              <a:t>BIRD</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70C1"/>
                </a:solidFill>
                <a:latin typeface="Consolas"/>
                <a:ea typeface="Consolas"/>
                <a:cs typeface="Consolas"/>
                <a:sym typeface="Consolas"/>
              </a:rPr>
              <a:t>FISH</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70C1"/>
                </a:solidFill>
                <a:latin typeface="Consolas"/>
                <a:ea typeface="Consolas"/>
                <a:cs typeface="Consolas"/>
                <a:sym typeface="Consolas"/>
              </a:rPr>
              <a:t>LIZARD</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7</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70C1"/>
                </a:solidFill>
                <a:latin typeface="Consolas"/>
                <a:ea typeface="Consolas"/>
                <a:cs typeface="Consolas"/>
                <a:sym typeface="Consolas"/>
              </a:rPr>
              <a:t>HAMSTER</a:t>
            </a:r>
            <a:endParaRPr sz="11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98658"/>
                </a:solidFill>
                <a:latin typeface="Consolas"/>
                <a:ea typeface="Consolas"/>
                <a:cs typeface="Consolas"/>
                <a:sym typeface="Consolas"/>
              </a:rPr>
              <a:t>8</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a:t>
            </a:r>
            <a:endParaRPr sz="1100"/>
          </a:p>
        </p:txBody>
      </p:sp>
      <p:sp>
        <p:nvSpPr>
          <p:cNvPr id="531" name="Google Shape;531;p70"/>
          <p:cNvSpPr/>
          <p:nvPr/>
        </p:nvSpPr>
        <p:spPr>
          <a:xfrm>
            <a:off x="1377600" y="1599525"/>
            <a:ext cx="97950" cy="277025"/>
          </a:xfrm>
          <a:custGeom>
            <a:rect b="b" l="l" r="r" t="t"/>
            <a:pathLst>
              <a:path extrusionOk="0" h="11081" w="3918">
                <a:moveTo>
                  <a:pt x="0" y="0"/>
                </a:moveTo>
                <a:cubicBezTo>
                  <a:pt x="649" y="849"/>
                  <a:pt x="3793" y="3244"/>
                  <a:pt x="3893" y="5091"/>
                </a:cubicBezTo>
                <a:cubicBezTo>
                  <a:pt x="3993" y="6938"/>
                  <a:pt x="1148" y="10083"/>
                  <a:pt x="599" y="11081"/>
                </a:cubicBezTo>
              </a:path>
            </a:pathLst>
          </a:custGeom>
          <a:noFill/>
          <a:ln cap="flat" cmpd="sng" w="19050">
            <a:solidFill>
              <a:srgbClr val="FF0000"/>
            </a:solidFill>
            <a:prstDash val="solid"/>
            <a:round/>
            <a:headEnd len="med" w="med" type="none"/>
            <a:tailEnd len="med" w="med" type="triangle"/>
          </a:ln>
        </p:spPr>
      </p:sp>
      <p:sp>
        <p:nvSpPr>
          <p:cNvPr id="532" name="Google Shape;532;p70"/>
          <p:cNvSpPr txBox="1"/>
          <p:nvPr>
            <p:ph idx="3" type="body"/>
          </p:nvPr>
        </p:nvSpPr>
        <p:spPr>
          <a:xfrm>
            <a:off x="315425" y="1090425"/>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A new enumerated type is declared as an enum rather than a class.</a:t>
            </a:r>
            <a:endParaRPr sz="1200"/>
          </a:p>
        </p:txBody>
      </p:sp>
      <p:sp>
        <p:nvSpPr>
          <p:cNvPr id="533" name="Google Shape;533;p70"/>
          <p:cNvSpPr txBox="1"/>
          <p:nvPr>
            <p:ph idx="3" type="body"/>
          </p:nvPr>
        </p:nvSpPr>
        <p:spPr>
          <a:xfrm>
            <a:off x="311725" y="339017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 values that may be assigned to a variable of the enumerated type are explicitly specified as a comma-separated list of names.</a:t>
            </a:r>
            <a:endParaRPr sz="1200"/>
          </a:p>
        </p:txBody>
      </p:sp>
      <p:grpSp>
        <p:nvGrpSpPr>
          <p:cNvPr id="534" name="Google Shape;534;p70"/>
          <p:cNvGrpSpPr/>
          <p:nvPr/>
        </p:nvGrpSpPr>
        <p:grpSpPr>
          <a:xfrm>
            <a:off x="1475550" y="2041251"/>
            <a:ext cx="508476" cy="1347649"/>
            <a:chOff x="1475550" y="2193651"/>
            <a:chExt cx="508476" cy="1347649"/>
          </a:xfrm>
        </p:grpSpPr>
        <p:sp>
          <p:nvSpPr>
            <p:cNvPr id="535" name="Google Shape;535;p70"/>
            <p:cNvSpPr/>
            <p:nvPr/>
          </p:nvSpPr>
          <p:spPr>
            <a:xfrm>
              <a:off x="1475550" y="2193651"/>
              <a:ext cx="141600" cy="965700"/>
            </a:xfrm>
            <a:prstGeom prst="rightBrace">
              <a:avLst>
                <a:gd fmla="val 50000" name="adj1"/>
                <a:gd fmla="val 50393" name="adj2"/>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0"/>
            <p:cNvSpPr/>
            <p:nvPr/>
          </p:nvSpPr>
          <p:spPr>
            <a:xfrm>
              <a:off x="1617176" y="2680300"/>
              <a:ext cx="366850" cy="861000"/>
            </a:xfrm>
            <a:custGeom>
              <a:rect b="b" l="l" r="r" t="t"/>
              <a:pathLst>
                <a:path extrusionOk="0" h="34440" w="14674">
                  <a:moveTo>
                    <a:pt x="0" y="0"/>
                  </a:moveTo>
                  <a:lnTo>
                    <a:pt x="14674" y="0"/>
                  </a:lnTo>
                  <a:lnTo>
                    <a:pt x="14674" y="34440"/>
                  </a:lnTo>
                </a:path>
              </a:pathLst>
            </a:custGeom>
            <a:noFill/>
            <a:ln cap="flat" cmpd="sng" w="19050">
              <a:solidFill>
                <a:srgbClr val="FF0000"/>
              </a:solidFill>
              <a:prstDash val="solid"/>
              <a:round/>
              <a:headEnd len="med" w="med" type="none"/>
              <a:tailEnd len="med" w="med" type="none"/>
            </a:ln>
          </p:spPr>
        </p:sp>
      </p:grpSp>
      <p:sp>
        <p:nvSpPr>
          <p:cNvPr id="537" name="Google Shape;537;p70"/>
          <p:cNvSpPr txBox="1"/>
          <p:nvPr>
            <p:ph idx="3" type="body"/>
          </p:nvPr>
        </p:nvSpPr>
        <p:spPr>
          <a:xfrm>
            <a:off x="311725" y="4232250"/>
            <a:ext cx="3706500" cy="377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267F99"/>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 = </a:t>
            </a:r>
            <a:r>
              <a:rPr lang="en" sz="1250">
                <a:solidFill>
                  <a:srgbClr val="267F99"/>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DOG</a:t>
            </a:r>
            <a:r>
              <a:rPr lang="en" sz="1250">
                <a:highlight>
                  <a:srgbClr val="FFFFFF"/>
                </a:highlight>
                <a:latin typeface="Consolas"/>
                <a:ea typeface="Consolas"/>
                <a:cs typeface="Consolas"/>
                <a:sym typeface="Consolas"/>
              </a:rPr>
              <a:t>;</a:t>
            </a:r>
            <a:endParaRPr sz="1400"/>
          </a:p>
        </p:txBody>
      </p:sp>
      <p:grpSp>
        <p:nvGrpSpPr>
          <p:cNvPr id="538" name="Google Shape;538;p70"/>
          <p:cNvGrpSpPr/>
          <p:nvPr/>
        </p:nvGrpSpPr>
        <p:grpSpPr>
          <a:xfrm>
            <a:off x="1924125" y="4117800"/>
            <a:ext cx="1407550" cy="449100"/>
            <a:chOff x="1924125" y="4117800"/>
            <a:chExt cx="1407550" cy="449100"/>
          </a:xfrm>
        </p:grpSpPr>
        <p:sp>
          <p:nvSpPr>
            <p:cNvPr id="539" name="Google Shape;539;p70"/>
            <p:cNvSpPr/>
            <p:nvPr/>
          </p:nvSpPr>
          <p:spPr>
            <a:xfrm>
              <a:off x="1924125" y="4290000"/>
              <a:ext cx="1123200" cy="276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0"/>
            <p:cNvSpPr/>
            <p:nvPr/>
          </p:nvSpPr>
          <p:spPr>
            <a:xfrm>
              <a:off x="3054650" y="4117800"/>
              <a:ext cx="277025" cy="314450"/>
            </a:xfrm>
            <a:custGeom>
              <a:rect b="b" l="l" r="r" t="t"/>
              <a:pathLst>
                <a:path extrusionOk="0" h="12578" w="11081">
                  <a:moveTo>
                    <a:pt x="0" y="12578"/>
                  </a:moveTo>
                  <a:lnTo>
                    <a:pt x="11081" y="12578"/>
                  </a:lnTo>
                  <a:lnTo>
                    <a:pt x="11081" y="0"/>
                  </a:lnTo>
                </a:path>
              </a:pathLst>
            </a:custGeom>
            <a:noFill/>
            <a:ln cap="flat" cmpd="sng" w="19050">
              <a:solidFill>
                <a:srgbClr val="EE0000"/>
              </a:solidFill>
              <a:prstDash val="solid"/>
              <a:round/>
              <a:headEnd len="med" w="med" type="none"/>
              <a:tailEnd len="med" w="med" type="non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10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1000"/>
                                        <p:tgtEl>
                                          <p:spTgt spid="5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1000"/>
                                        <p:tgtEl>
                                          <p:spTgt spid="5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00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know that the weapons in the Star Wars Battle game have one of three different damage types: </a:t>
            </a:r>
            <a:r>
              <a:rPr i="1" lang="en"/>
              <a:t>heavy</a:t>
            </a:r>
            <a:r>
              <a:rPr lang="en"/>
              <a:t>, </a:t>
            </a:r>
            <a:r>
              <a:rPr i="1" lang="en"/>
              <a:t>normal</a:t>
            </a:r>
            <a:r>
              <a:rPr lang="en"/>
              <a:t>, and </a:t>
            </a:r>
            <a:r>
              <a:rPr i="1" lang="en"/>
              <a:t>ion</a:t>
            </a:r>
            <a:r>
              <a:rPr lang="en"/>
              <a:t>. We'd like to restrict the damage type so that if can only be one of that specific set of predefined values. Let's create an enum to represent the damage type!</a:t>
            </a:r>
            <a:endParaRPr/>
          </a:p>
        </p:txBody>
      </p:sp>
      <p:sp>
        <p:nvSpPr>
          <p:cNvPr id="546" name="Google Shape;546;p7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7" name="Google Shape;547;p71"/>
          <p:cNvSpPr txBox="1"/>
          <p:nvPr>
            <p:ph idx="2" type="body"/>
          </p:nvPr>
        </p:nvSpPr>
        <p:spPr>
          <a:xfrm>
            <a:off x="3274950" y="1666175"/>
            <a:ext cx="5619600" cy="3323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file in the </a:t>
            </a:r>
            <a:r>
              <a:rPr lang="en" sz="1500">
                <a:latin typeface="Courier New"/>
                <a:ea typeface="Courier New"/>
                <a:cs typeface="Courier New"/>
                <a:sym typeface="Courier New"/>
              </a:rPr>
              <a:t>swb</a:t>
            </a:r>
            <a:r>
              <a:rPr lang="en" sz="1500"/>
              <a:t> package named "</a:t>
            </a:r>
            <a:r>
              <a:rPr lang="en" sz="1500">
                <a:solidFill>
                  <a:srgbClr val="EE0000"/>
                </a:solidFill>
                <a:latin typeface="Courier New"/>
                <a:ea typeface="Courier New"/>
                <a:cs typeface="Courier New"/>
                <a:sym typeface="Courier New"/>
              </a:rPr>
              <a:t>DamageType.java</a:t>
            </a:r>
            <a:r>
              <a:rPr lang="en" sz="1500"/>
              <a:t>".</a:t>
            </a:r>
            <a:endParaRPr sz="1500"/>
          </a:p>
          <a:p>
            <a:pPr indent="-311150" lvl="1" marL="914400" rtl="0" algn="l">
              <a:spcBef>
                <a:spcPts val="0"/>
              </a:spcBef>
              <a:spcAft>
                <a:spcPts val="0"/>
              </a:spcAft>
              <a:buSzPts val="1300"/>
              <a:buChar char="○"/>
            </a:pPr>
            <a:r>
              <a:rPr lang="en" sz="1300"/>
              <a:t>Use the example to the left to create an enumerated type that lists the specific, pre-defined values that may be assigned to a </a:t>
            </a:r>
            <a:r>
              <a:rPr lang="en" sz="1300">
                <a:latin typeface="Courier New"/>
                <a:ea typeface="Courier New"/>
                <a:cs typeface="Courier New"/>
                <a:sym typeface="Courier New"/>
              </a:rPr>
              <a:t>DamageType</a:t>
            </a:r>
            <a:r>
              <a:rPr lang="en" sz="1300"/>
              <a:t> </a:t>
            </a:r>
            <a:r>
              <a:rPr lang="en" sz="1300"/>
              <a:t>variable: </a:t>
            </a:r>
            <a:r>
              <a:rPr i="1" lang="en" sz="1300"/>
              <a:t>heavy</a:t>
            </a:r>
            <a:r>
              <a:rPr lang="en" sz="1300"/>
              <a:t>, </a:t>
            </a:r>
            <a:r>
              <a:rPr i="1" lang="en" sz="1300"/>
              <a:t>normal</a:t>
            </a:r>
            <a:r>
              <a:rPr lang="en" sz="1300"/>
              <a:t>, and </a:t>
            </a:r>
            <a:r>
              <a:rPr i="1" lang="en" sz="1300"/>
              <a:t>ion</a:t>
            </a:r>
            <a:r>
              <a:rPr lang="en" sz="1300"/>
              <a:t>.</a:t>
            </a:r>
            <a:endParaRPr sz="1300"/>
          </a:p>
          <a:p>
            <a:pPr indent="-311150" lvl="1" marL="914400" rtl="0" algn="l">
              <a:spcBef>
                <a:spcPts val="0"/>
              </a:spcBef>
              <a:spcAft>
                <a:spcPts val="0"/>
              </a:spcAft>
              <a:buSzPts val="1300"/>
              <a:buChar char="○"/>
            </a:pPr>
            <a:r>
              <a:rPr lang="en" sz="1300"/>
              <a:t>By stylistic convention, the identifiers should be UPPERCASE.</a:t>
            </a:r>
            <a:endParaRPr sz="1300"/>
          </a:p>
          <a:p>
            <a:pPr indent="-323850" lvl="0" marL="457200" rtl="0" algn="l">
              <a:spcBef>
                <a:spcPts val="0"/>
              </a:spcBef>
              <a:spcAft>
                <a:spcPts val="0"/>
              </a:spcAft>
              <a:buSzPts val="1500"/>
              <a:buChar char="●"/>
            </a:pPr>
            <a:r>
              <a:rPr lang="en" sz="1500"/>
              <a:t>Update the </a:t>
            </a:r>
            <a:r>
              <a:rPr lang="en" sz="1500">
                <a:latin typeface="Courier New"/>
                <a:ea typeface="Courier New"/>
                <a:cs typeface="Courier New"/>
                <a:sym typeface="Courier New"/>
              </a:rPr>
              <a:t>Weapon</a:t>
            </a:r>
            <a:r>
              <a:rPr lang="en" sz="1500"/>
              <a:t> </a:t>
            </a:r>
            <a:r>
              <a:rPr lang="en" sz="1500"/>
              <a:t>class to use your new enumerated type for the damage type.</a:t>
            </a:r>
            <a:endParaRPr sz="1500"/>
          </a:p>
          <a:p>
            <a:pPr indent="-311150" lvl="1" marL="914400" rtl="0" algn="l">
              <a:spcBef>
                <a:spcPts val="0"/>
              </a:spcBef>
              <a:spcAft>
                <a:spcPts val="0"/>
              </a:spcAft>
              <a:buSzPts val="1300"/>
              <a:buChar char="○"/>
            </a:pPr>
            <a:r>
              <a:rPr lang="en" sz="1300"/>
              <a:t>Replace all instances of the old type with the new </a:t>
            </a:r>
            <a:r>
              <a:rPr lang="en" sz="1300">
                <a:latin typeface="Courier New"/>
                <a:ea typeface="Courier New"/>
                <a:cs typeface="Courier New"/>
                <a:sym typeface="Courier New"/>
              </a:rPr>
              <a:t>DamageType</a:t>
            </a:r>
            <a:r>
              <a:rPr lang="en" sz="1300"/>
              <a:t> including fields, parameters, return types, etc.</a:t>
            </a:r>
            <a:endParaRPr sz="1300"/>
          </a:p>
          <a:p>
            <a:pPr indent="-323850" lvl="0" marL="457200" rtl="0" algn="l">
              <a:spcBef>
                <a:spcPts val="0"/>
              </a:spcBef>
              <a:spcAft>
                <a:spcPts val="0"/>
              </a:spcAft>
              <a:buSzPts val="1500"/>
              <a:buChar char="●"/>
            </a:pPr>
            <a:r>
              <a:rPr lang="en" sz="1500"/>
              <a:t>Fix any errors that occur in the </a:t>
            </a:r>
            <a:r>
              <a:rPr lang="en" sz="1500">
                <a:latin typeface="Courier New"/>
                <a:ea typeface="Courier New"/>
                <a:cs typeface="Courier New"/>
                <a:sym typeface="Courier New"/>
              </a:rPr>
              <a:t>StarWarsBattle</a:t>
            </a:r>
            <a:r>
              <a:rPr lang="en" sz="1500"/>
              <a:t> class.</a:t>
            </a:r>
            <a:endParaRPr sz="1500"/>
          </a:p>
          <a:p>
            <a:pPr indent="-311150" lvl="1" marL="914400" rtl="0" algn="l">
              <a:spcBef>
                <a:spcPts val="0"/>
              </a:spcBef>
              <a:spcAft>
                <a:spcPts val="0"/>
              </a:spcAft>
              <a:buSzPts val="1300"/>
              <a:buChar char="○"/>
            </a:pPr>
            <a:r>
              <a:rPr lang="en" sz="1300"/>
              <a:t>Run the </a:t>
            </a:r>
            <a:r>
              <a:rPr lang="en" sz="1300">
                <a:latin typeface="Courier New"/>
                <a:ea typeface="Courier New"/>
                <a:cs typeface="Courier New"/>
                <a:sym typeface="Courier New"/>
              </a:rPr>
              <a:t>main</a:t>
            </a:r>
            <a:r>
              <a:rPr lang="en" sz="1300"/>
              <a:t> method to make sure that everything is working as expected.</a:t>
            </a:r>
            <a:endParaRPr>
              <a:latin typeface="Courier New"/>
              <a:ea typeface="Courier New"/>
              <a:cs typeface="Courier New"/>
              <a:sym typeface="Courier New"/>
            </a:endParaRPr>
          </a:p>
        </p:txBody>
      </p:sp>
      <p:sp>
        <p:nvSpPr>
          <p:cNvPr id="548" name="Google Shape;548;p7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Damage Type </a:t>
            </a:r>
            <a:r>
              <a:rPr lang="en">
                <a:latin typeface="Courier New"/>
                <a:ea typeface="Courier New"/>
                <a:cs typeface="Courier New"/>
                <a:sym typeface="Courier New"/>
              </a:rPr>
              <a:t>enum</a:t>
            </a:r>
            <a:endParaRPr>
              <a:latin typeface="Courier New"/>
              <a:ea typeface="Courier New"/>
              <a:cs typeface="Courier New"/>
              <a:sym typeface="Courier New"/>
            </a:endParaRPr>
          </a:p>
        </p:txBody>
      </p:sp>
      <p:sp>
        <p:nvSpPr>
          <p:cNvPr id="549" name="Google Shape;549;p7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2.9</a:t>
            </a:r>
            <a:endParaRPr/>
          </a:p>
        </p:txBody>
      </p:sp>
      <p:sp>
        <p:nvSpPr>
          <p:cNvPr id="550" name="Google Shape;550;p71"/>
          <p:cNvSpPr txBox="1"/>
          <p:nvPr>
            <p:ph idx="4" type="body"/>
          </p:nvPr>
        </p:nvSpPr>
        <p:spPr>
          <a:xfrm>
            <a:off x="152250" y="1800950"/>
            <a:ext cx="3023700" cy="16623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enum</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Species</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CAT</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DOG</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BIRD</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FISH</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LIZARD</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HAMSTER</a:t>
            </a:r>
            <a:endParaRPr>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a:t>
            </a:r>
            <a:endParaRPr/>
          </a:p>
        </p:txBody>
      </p:sp>
      <p:pic>
        <p:nvPicPr>
          <p:cNvPr id="551" name="Google Shape;551;p71"/>
          <p:cNvPicPr preferRelativeResize="0"/>
          <p:nvPr/>
        </p:nvPicPr>
        <p:blipFill>
          <a:blip r:embed="rId3">
            <a:alphaModFix/>
          </a:blip>
          <a:stretch>
            <a:fillRect/>
          </a:stretch>
        </p:blipFill>
        <p:spPr>
          <a:xfrm>
            <a:off x="152245" y="3574800"/>
            <a:ext cx="2089593" cy="1433951"/>
          </a:xfrm>
          <a:prstGeom prst="rect">
            <a:avLst/>
          </a:prstGeom>
          <a:noFill/>
          <a:ln cap="flat" cmpd="sng" w="19050">
            <a:solidFill>
              <a:schemeClr val="dk2"/>
            </a:solidFill>
            <a:prstDash val="solid"/>
            <a:round/>
            <a:headEnd len="sm" w="sm" type="none"/>
            <a:tailEnd len="sm" w="sm" type="none"/>
          </a:ln>
        </p:spPr>
      </p:pic>
      <p:sp>
        <p:nvSpPr>
          <p:cNvPr id="552" name="Google Shape;552;p71"/>
          <p:cNvSpPr/>
          <p:nvPr/>
        </p:nvSpPr>
        <p:spPr>
          <a:xfrm>
            <a:off x="1834300" y="3698525"/>
            <a:ext cx="1341600" cy="393600"/>
          </a:xfrm>
          <a:prstGeom prst="wedgeRectCallout">
            <a:avLst>
              <a:gd fmla="val -50000" name="adj1"/>
              <a:gd fmla="val 98368" name="adj2"/>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PEW PEW!</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2"/>
          <p:cNvSpPr txBox="1"/>
          <p:nvPr>
            <p:ph type="title"/>
          </p:nvPr>
        </p:nvSpPr>
        <p:spPr>
          <a:xfrm>
            <a:off x="311725" y="28751"/>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Complex </a:t>
            </a:r>
            <a:r>
              <a:rPr lang="en">
                <a:latin typeface="Courier New"/>
                <a:ea typeface="Courier New"/>
                <a:cs typeface="Courier New"/>
                <a:sym typeface="Courier New"/>
              </a:rPr>
              <a:t>enum</a:t>
            </a:r>
            <a:r>
              <a:rPr lang="en"/>
              <a:t>s</a:t>
            </a:r>
            <a:endParaRPr/>
          </a:p>
        </p:txBody>
      </p:sp>
      <p:sp>
        <p:nvSpPr>
          <p:cNvPr id="558" name="Google Shape;558;p72"/>
          <p:cNvSpPr txBox="1"/>
          <p:nvPr>
            <p:ph idx="1" type="body"/>
          </p:nvPr>
        </p:nvSpPr>
        <p:spPr>
          <a:xfrm>
            <a:off x="4659650" y="113925"/>
            <a:ext cx="4166400" cy="4726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Sometimes we would like to associate one or more additional values with each of the predefined values in an enumerated type.</a:t>
            </a:r>
            <a:endParaRPr/>
          </a:p>
          <a:p>
            <a:pPr indent="-311150" lvl="0" marL="457200" rtl="0" algn="l">
              <a:spcBef>
                <a:spcPts val="0"/>
              </a:spcBef>
              <a:spcAft>
                <a:spcPts val="0"/>
              </a:spcAft>
              <a:buSzPts val="1300"/>
              <a:buChar char="●"/>
            </a:pPr>
            <a:r>
              <a:rPr lang="en"/>
              <a:t>It is possible to do this by declaring </a:t>
            </a:r>
            <a:r>
              <a:rPr b="1" i="1" lang="en">
                <a:solidFill>
                  <a:srgbClr val="FF0000"/>
                </a:solidFill>
              </a:rPr>
              <a:t>fields</a:t>
            </a:r>
            <a:r>
              <a:rPr lang="en">
                <a:solidFill>
                  <a:srgbClr val="FF0000"/>
                </a:solidFill>
              </a:rPr>
              <a:t> </a:t>
            </a:r>
            <a:r>
              <a:rPr lang="en"/>
              <a:t>inside of an </a:t>
            </a:r>
            <a:r>
              <a:rPr lang="en">
                <a:latin typeface="Courier New"/>
                <a:ea typeface="Courier New"/>
                <a:cs typeface="Courier New"/>
                <a:sym typeface="Courier New"/>
              </a:rPr>
              <a:t>enum</a:t>
            </a:r>
            <a:r>
              <a:rPr lang="en"/>
              <a:t>.</a:t>
            </a:r>
            <a:endParaRPr/>
          </a:p>
          <a:p>
            <a:pPr indent="-298450" lvl="1" marL="914400" rtl="0" algn="l">
              <a:spcBef>
                <a:spcPts val="0"/>
              </a:spcBef>
              <a:spcAft>
                <a:spcPts val="0"/>
              </a:spcAft>
              <a:buSzPts val="1100"/>
              <a:buChar char="○"/>
            </a:pPr>
            <a:r>
              <a:rPr lang="en"/>
              <a:t>Each of the predefined values in the </a:t>
            </a:r>
            <a:r>
              <a:rPr lang="en">
                <a:latin typeface="Courier New"/>
                <a:ea typeface="Courier New"/>
                <a:cs typeface="Courier New"/>
                <a:sym typeface="Courier New"/>
              </a:rPr>
              <a:t>enum</a:t>
            </a:r>
            <a:r>
              <a:rPr lang="en"/>
              <a:t> should </a:t>
            </a:r>
            <a:r>
              <a:rPr lang="en"/>
              <a:t>assign a value to each of the fields.</a:t>
            </a:r>
            <a:endParaRPr/>
          </a:p>
          <a:p>
            <a:pPr indent="-298450" lvl="1" marL="914400" rtl="0" algn="l">
              <a:spcBef>
                <a:spcPts val="0"/>
              </a:spcBef>
              <a:spcAft>
                <a:spcPts val="0"/>
              </a:spcAft>
              <a:buSzPts val="1100"/>
              <a:buChar char="○"/>
            </a:pPr>
            <a:r>
              <a:rPr lang="en"/>
              <a:t>This is done by defining a </a:t>
            </a:r>
            <a:r>
              <a:rPr b="1" i="1" lang="en">
                <a:solidFill>
                  <a:srgbClr val="EE0000"/>
                </a:solidFill>
              </a:rPr>
              <a:t>constructor</a:t>
            </a:r>
            <a:r>
              <a:rPr b="1" i="1" lang="en"/>
              <a:t> </a:t>
            </a:r>
            <a:r>
              <a:rPr lang="en"/>
              <a:t>in the </a:t>
            </a:r>
            <a:r>
              <a:rPr lang="en">
                <a:latin typeface="Courier New"/>
                <a:ea typeface="Courier New"/>
                <a:cs typeface="Courier New"/>
                <a:sym typeface="Courier New"/>
              </a:rPr>
              <a:t>enum</a:t>
            </a:r>
            <a:r>
              <a:rPr lang="en"/>
              <a:t> and using it to initialize the variables.</a:t>
            </a:r>
            <a:endParaRPr/>
          </a:p>
          <a:p>
            <a:pPr indent="-298450" lvl="1" marL="914400" rtl="0" algn="l">
              <a:spcBef>
                <a:spcPts val="0"/>
              </a:spcBef>
              <a:spcAft>
                <a:spcPts val="0"/>
              </a:spcAft>
              <a:buSzPts val="1100"/>
              <a:buChar char="○"/>
            </a:pPr>
            <a:r>
              <a:rPr lang="en"/>
              <a:t>The constructor may declare </a:t>
            </a:r>
            <a:r>
              <a:rPr b="1" i="1" lang="en">
                <a:solidFill>
                  <a:srgbClr val="EE0000"/>
                </a:solidFill>
              </a:rPr>
              <a:t>parameters</a:t>
            </a:r>
            <a:r>
              <a:rPr lang="en"/>
              <a:t>, in which case arguments must be passed into the constructor when each of the predefined values is declared.</a:t>
            </a:r>
            <a:endParaRPr/>
          </a:p>
          <a:p>
            <a:pPr indent="-311150" lvl="0" marL="457200" rtl="0" algn="l">
              <a:spcBef>
                <a:spcPts val="0"/>
              </a:spcBef>
              <a:spcAft>
                <a:spcPts val="0"/>
              </a:spcAft>
              <a:buSzPts val="1300"/>
              <a:buChar char="●"/>
            </a:pPr>
            <a:r>
              <a:rPr lang="en"/>
              <a:t>An </a:t>
            </a:r>
            <a:r>
              <a:rPr lang="en">
                <a:latin typeface="Courier New"/>
                <a:ea typeface="Courier New"/>
                <a:cs typeface="Courier New"/>
                <a:sym typeface="Courier New"/>
              </a:rPr>
              <a:t>enum</a:t>
            </a:r>
            <a:r>
              <a:rPr lang="en"/>
              <a:t> may also define methods.</a:t>
            </a:r>
            <a:endParaRPr/>
          </a:p>
          <a:p>
            <a:pPr indent="-298450" lvl="1" marL="914400" rtl="0" algn="l">
              <a:spcBef>
                <a:spcPts val="0"/>
              </a:spcBef>
              <a:spcAft>
                <a:spcPts val="0"/>
              </a:spcAft>
              <a:buSzPts val="1100"/>
              <a:buChar char="○"/>
            </a:pPr>
            <a:r>
              <a:rPr lang="en"/>
              <a:t>It is common to write an accessor for each of the fields.</a:t>
            </a:r>
            <a:endParaRPr/>
          </a:p>
          <a:p>
            <a:pPr indent="-298450" lvl="1" marL="914400" rtl="0" algn="l">
              <a:spcBef>
                <a:spcPts val="0"/>
              </a:spcBef>
              <a:spcAft>
                <a:spcPts val="0"/>
              </a:spcAft>
              <a:buSzPts val="1100"/>
              <a:buChar char="○"/>
            </a:pPr>
            <a:r>
              <a:rPr lang="en"/>
              <a:t>You may add other methods as well.</a:t>
            </a:r>
            <a:endParaRPr/>
          </a:p>
          <a:p>
            <a:pPr indent="-311150" lvl="0" marL="457200" rtl="0" algn="l">
              <a:spcBef>
                <a:spcPts val="0"/>
              </a:spcBef>
              <a:spcAft>
                <a:spcPts val="0"/>
              </a:spcAft>
              <a:buSzPts val="1300"/>
              <a:buChar char="●"/>
            </a:pPr>
            <a:r>
              <a:rPr lang="en"/>
              <a:t>Adding these features to an </a:t>
            </a:r>
            <a:r>
              <a:rPr lang="en">
                <a:latin typeface="Courier New"/>
                <a:ea typeface="Courier New"/>
                <a:cs typeface="Courier New"/>
                <a:sym typeface="Courier New"/>
              </a:rPr>
              <a:t>enum</a:t>
            </a:r>
            <a:r>
              <a:rPr lang="en"/>
              <a:t> significantly complicates the syntax.</a:t>
            </a:r>
            <a:endParaRPr/>
          </a:p>
          <a:p>
            <a:pPr indent="-298450" lvl="1" marL="914400" rtl="0" algn="l">
              <a:spcBef>
                <a:spcPts val="0"/>
              </a:spcBef>
              <a:spcAft>
                <a:spcPts val="0"/>
              </a:spcAft>
              <a:buSzPts val="1100"/>
              <a:buChar char="○"/>
            </a:pPr>
            <a:r>
              <a:rPr lang="en"/>
              <a:t>The syntax resembles a full-blown Java class, but the </a:t>
            </a:r>
            <a:r>
              <a:rPr lang="en">
                <a:latin typeface="Courier New"/>
                <a:ea typeface="Courier New"/>
                <a:cs typeface="Courier New"/>
                <a:sym typeface="Courier New"/>
              </a:rPr>
              <a:t>enum</a:t>
            </a:r>
            <a:r>
              <a:rPr lang="en"/>
              <a:t> still retains the benefit of only being assignable to a specific list of predefined values. </a:t>
            </a:r>
            <a:endParaRPr/>
          </a:p>
        </p:txBody>
      </p:sp>
      <p:sp>
        <p:nvSpPr>
          <p:cNvPr id="559" name="Google Shape;559;p72"/>
          <p:cNvSpPr txBox="1"/>
          <p:nvPr>
            <p:ph idx="2" type="body"/>
          </p:nvPr>
        </p:nvSpPr>
        <p:spPr>
          <a:xfrm>
            <a:off x="311725" y="637814"/>
            <a:ext cx="3706500" cy="3740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enum</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CELSIUS</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'C'</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100</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FAHRENHEIT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'F'</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212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KELVIN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'K'</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373.5f</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267F99"/>
                </a:solidFill>
                <a:latin typeface="Consolas"/>
                <a:ea typeface="Consolas"/>
                <a:cs typeface="Consolas"/>
                <a:sym typeface="Consolas"/>
              </a:rPr>
              <a:t>                          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11</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12</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13</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15</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16</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17</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19</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20</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21</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22</a:t>
            </a:r>
            <a:r>
              <a:rPr lang="en" sz="1050">
                <a:solidFill>
                  <a:srgbClr val="000000"/>
                </a:solidFill>
                <a:latin typeface="Consolas"/>
                <a:ea typeface="Consolas"/>
                <a:cs typeface="Consolas"/>
                <a:sym typeface="Consolas"/>
              </a:rPr>
              <a:t> </a:t>
            </a:r>
            <a:r>
              <a:rPr lang="en" sz="1050">
                <a:solidFill>
                  <a:srgbClr val="000000"/>
                </a:solidFill>
                <a:latin typeface="Consolas"/>
                <a:ea typeface="Consolas"/>
                <a:cs typeface="Consolas"/>
                <a:sym typeface="Consolas"/>
              </a:rPr>
              <a:t>}</a:t>
            </a:r>
            <a:endParaRPr sz="1050"/>
          </a:p>
        </p:txBody>
      </p:sp>
      <p:sp>
        <p:nvSpPr>
          <p:cNvPr id="560" name="Google Shape;560;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72"/>
          <p:cNvSpPr txBox="1"/>
          <p:nvPr>
            <p:ph idx="3" type="body"/>
          </p:nvPr>
        </p:nvSpPr>
        <p:spPr>
          <a:xfrm>
            <a:off x="311725" y="4487751"/>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There's a lot going on here! Let's take a closer look…</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567" name="Google Shape;567;p73"/>
          <p:cNvSpPr txBox="1"/>
          <p:nvPr>
            <p:ph type="title"/>
          </p:nvPr>
        </p:nvSpPr>
        <p:spPr>
          <a:xfrm>
            <a:off x="311725" y="67171"/>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Complex Enumerated Types</a:t>
            </a:r>
            <a:endParaRPr/>
          </a:p>
        </p:txBody>
      </p:sp>
      <p:sp>
        <p:nvSpPr>
          <p:cNvPr id="568" name="Google Shape;568;p73"/>
          <p:cNvSpPr txBox="1"/>
          <p:nvPr>
            <p:ph idx="4294967295" type="body"/>
          </p:nvPr>
        </p:nvSpPr>
        <p:spPr>
          <a:xfrm>
            <a:off x="2839375" y="1004675"/>
            <a:ext cx="3465300" cy="3740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enum</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CELSIUS</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'C'</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100</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FAHRENHEIT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'F'</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212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KELVIN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'K'</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373.5f</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267F99"/>
                </a:solidFill>
                <a:latin typeface="Consolas"/>
                <a:ea typeface="Consolas"/>
                <a:cs typeface="Consolas"/>
                <a:sym typeface="Consolas"/>
              </a:rPr>
              <a:t>                          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13</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15</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16</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17</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20</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21</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22</a:t>
            </a:r>
            <a:r>
              <a:rPr lang="en" sz="1050">
                <a:solidFill>
                  <a:srgbClr val="000000"/>
                </a:solidFill>
                <a:latin typeface="Consolas"/>
                <a:ea typeface="Consolas"/>
                <a:cs typeface="Consolas"/>
                <a:sym typeface="Consolas"/>
              </a:rPr>
              <a:t> }</a:t>
            </a:r>
            <a:endParaRPr sz="105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7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574" name="Google Shape;574;p74"/>
          <p:cNvSpPr txBox="1"/>
          <p:nvPr>
            <p:ph type="title"/>
          </p:nvPr>
        </p:nvSpPr>
        <p:spPr>
          <a:xfrm>
            <a:off x="311725" y="67171"/>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Complex Enumerated Types</a:t>
            </a:r>
            <a:endParaRPr/>
          </a:p>
        </p:txBody>
      </p:sp>
      <p:sp>
        <p:nvSpPr>
          <p:cNvPr id="575" name="Google Shape;575;p74"/>
          <p:cNvSpPr txBox="1"/>
          <p:nvPr>
            <p:ph idx="4294967295" type="body"/>
          </p:nvPr>
        </p:nvSpPr>
        <p:spPr>
          <a:xfrm>
            <a:off x="2839375" y="1004675"/>
            <a:ext cx="3465300" cy="3740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enum</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CELSIUS</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'C'</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100</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FAHRENHEIT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'F'</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212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KELVIN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'K'</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373.5f</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267F99"/>
                </a:solidFill>
                <a:latin typeface="Consolas"/>
                <a:ea typeface="Consolas"/>
                <a:cs typeface="Consolas"/>
                <a:sym typeface="Consolas"/>
              </a:rPr>
              <a:t>                          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13</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15</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16</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17</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20</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21</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22</a:t>
            </a:r>
            <a:r>
              <a:rPr lang="en" sz="1050">
                <a:solidFill>
                  <a:srgbClr val="000000"/>
                </a:solidFill>
                <a:latin typeface="Consolas"/>
                <a:ea typeface="Consolas"/>
                <a:cs typeface="Consolas"/>
                <a:sym typeface="Consolas"/>
              </a:rPr>
              <a:t> }</a:t>
            </a:r>
            <a:endParaRPr sz="1050"/>
          </a:p>
        </p:txBody>
      </p:sp>
      <p:sp>
        <p:nvSpPr>
          <p:cNvPr id="576" name="Google Shape;576;p74"/>
          <p:cNvSpPr txBox="1"/>
          <p:nvPr>
            <p:ph idx="4294967295" type="body"/>
          </p:nvPr>
        </p:nvSpPr>
        <p:spPr>
          <a:xfrm>
            <a:off x="134775" y="1610100"/>
            <a:ext cx="2560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The enum may declare one or more </a:t>
            </a:r>
            <a:r>
              <a:rPr b="1" i="1" lang="en" sz="1200">
                <a:solidFill>
                  <a:srgbClr val="EE0000"/>
                </a:solidFill>
                <a:latin typeface="Arial"/>
                <a:ea typeface="Arial"/>
                <a:cs typeface="Arial"/>
                <a:sym typeface="Arial"/>
              </a:rPr>
              <a:t>fields</a:t>
            </a:r>
            <a:r>
              <a:rPr lang="en" sz="1200">
                <a:solidFill>
                  <a:srgbClr val="000000"/>
                </a:solidFill>
                <a:latin typeface="Arial"/>
                <a:ea typeface="Arial"/>
                <a:cs typeface="Arial"/>
                <a:sym typeface="Arial"/>
              </a:rPr>
              <a:t>. If the fields are not explicitly initialized, Java will assign default values.</a:t>
            </a:r>
            <a:endParaRPr sz="1200">
              <a:solidFill>
                <a:srgbClr val="000000"/>
              </a:solidFill>
              <a:latin typeface="Arial"/>
              <a:ea typeface="Arial"/>
              <a:cs typeface="Arial"/>
              <a:sym typeface="Arial"/>
            </a:endParaRPr>
          </a:p>
        </p:txBody>
      </p:sp>
      <p:grpSp>
        <p:nvGrpSpPr>
          <p:cNvPr id="577" name="Google Shape;577;p74"/>
          <p:cNvGrpSpPr/>
          <p:nvPr/>
        </p:nvGrpSpPr>
        <p:grpSpPr>
          <a:xfrm>
            <a:off x="2695275" y="1879200"/>
            <a:ext cx="2418300" cy="385200"/>
            <a:chOff x="2695275" y="1879200"/>
            <a:chExt cx="2418300" cy="385200"/>
          </a:xfrm>
        </p:grpSpPr>
        <p:sp>
          <p:nvSpPr>
            <p:cNvPr id="578" name="Google Shape;578;p74"/>
            <p:cNvSpPr/>
            <p:nvPr/>
          </p:nvSpPr>
          <p:spPr>
            <a:xfrm>
              <a:off x="3391575" y="1879200"/>
              <a:ext cx="1722000" cy="385200"/>
            </a:xfrm>
            <a:prstGeom prst="rect">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 name="Google Shape;579;p74"/>
            <p:cNvCxnSpPr>
              <a:stCxn id="576" idx="3"/>
              <a:endCxn id="578" idx="1"/>
            </p:cNvCxnSpPr>
            <p:nvPr/>
          </p:nvCxnSpPr>
          <p:spPr>
            <a:xfrm>
              <a:off x="2695275" y="2071800"/>
              <a:ext cx="696300" cy="0"/>
            </a:xfrm>
            <a:prstGeom prst="straightConnector1">
              <a:avLst/>
            </a:prstGeom>
            <a:noFill/>
            <a:ln cap="flat" cmpd="sng" w="19050">
              <a:solidFill>
                <a:srgbClr val="EE0000"/>
              </a:solidFill>
              <a:prstDash val="solid"/>
              <a:round/>
              <a:headEnd len="med" w="med" type="none"/>
              <a:tailEnd len="med" w="med" type="none"/>
            </a:ln>
          </p:spPr>
        </p:cxnSp>
      </p:grpSp>
      <p:sp>
        <p:nvSpPr>
          <p:cNvPr id="580" name="Google Shape;580;p74"/>
          <p:cNvSpPr txBox="1"/>
          <p:nvPr>
            <p:ph idx="4294967295" type="body"/>
          </p:nvPr>
        </p:nvSpPr>
        <p:spPr>
          <a:xfrm>
            <a:off x="6448775" y="2144075"/>
            <a:ext cx="2560500" cy="1293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A </a:t>
            </a:r>
            <a:r>
              <a:rPr lang="en" sz="1200">
                <a:solidFill>
                  <a:srgbClr val="FF0000"/>
                </a:solidFill>
                <a:latin typeface="Courier New"/>
                <a:ea typeface="Courier New"/>
                <a:cs typeface="Courier New"/>
                <a:sym typeface="Courier New"/>
              </a:rPr>
              <a:t>private</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constructor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may be defined to explicitly initialize any fields. </a:t>
            </a:r>
            <a:r>
              <a:rPr b="1" i="1" lang="en" sz="1200">
                <a:solidFill>
                  <a:srgbClr val="FF0000"/>
                </a:solidFill>
                <a:latin typeface="Arial"/>
                <a:ea typeface="Arial"/>
                <a:cs typeface="Arial"/>
                <a:sym typeface="Arial"/>
              </a:rPr>
              <a:t>Arguments </a:t>
            </a:r>
            <a:r>
              <a:rPr lang="en" sz="1200">
                <a:solidFill>
                  <a:srgbClr val="000000"/>
                </a:solidFill>
                <a:latin typeface="Arial"/>
                <a:ea typeface="Arial"/>
                <a:cs typeface="Arial"/>
                <a:sym typeface="Arial"/>
              </a:rPr>
              <a:t>must be provided for each </a:t>
            </a:r>
            <a:r>
              <a:rPr b="1" i="1" lang="en" sz="1200">
                <a:solidFill>
                  <a:srgbClr val="FF0000"/>
                </a:solidFill>
                <a:latin typeface="Arial"/>
                <a:ea typeface="Arial"/>
                <a:cs typeface="Arial"/>
                <a:sym typeface="Arial"/>
              </a:rPr>
              <a:t>parameter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when the predefined values are declared.</a:t>
            </a:r>
            <a:endParaRPr sz="1200">
              <a:solidFill>
                <a:srgbClr val="000000"/>
              </a:solidFill>
              <a:latin typeface="Arial"/>
              <a:ea typeface="Arial"/>
              <a:cs typeface="Arial"/>
              <a:sym typeface="Arial"/>
            </a:endParaRPr>
          </a:p>
        </p:txBody>
      </p:sp>
      <p:grpSp>
        <p:nvGrpSpPr>
          <p:cNvPr id="581" name="Google Shape;581;p74"/>
          <p:cNvGrpSpPr/>
          <p:nvPr/>
        </p:nvGrpSpPr>
        <p:grpSpPr>
          <a:xfrm>
            <a:off x="3391575" y="1254625"/>
            <a:ext cx="4337450" cy="889450"/>
            <a:chOff x="3391575" y="1254625"/>
            <a:chExt cx="4337450" cy="889450"/>
          </a:xfrm>
        </p:grpSpPr>
        <p:sp>
          <p:nvSpPr>
            <p:cNvPr id="582" name="Google Shape;582;p74"/>
            <p:cNvSpPr/>
            <p:nvPr/>
          </p:nvSpPr>
          <p:spPr>
            <a:xfrm>
              <a:off x="3391575" y="1254625"/>
              <a:ext cx="1722000" cy="519900"/>
            </a:xfrm>
            <a:prstGeom prst="rect">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3" name="Google Shape;583;p74"/>
            <p:cNvCxnSpPr>
              <a:stCxn id="580" idx="0"/>
              <a:endCxn id="582" idx="3"/>
            </p:cNvCxnSpPr>
            <p:nvPr/>
          </p:nvCxnSpPr>
          <p:spPr>
            <a:xfrm flipH="1" rot="5400000">
              <a:off x="6106625" y="521675"/>
              <a:ext cx="629400" cy="2615400"/>
            </a:xfrm>
            <a:prstGeom prst="bentConnector2">
              <a:avLst/>
            </a:prstGeom>
            <a:noFill/>
            <a:ln cap="flat" cmpd="sng" w="19050">
              <a:solidFill>
                <a:srgbClr val="FF0000"/>
              </a:solidFill>
              <a:prstDash val="solid"/>
              <a:round/>
              <a:headEnd len="med" w="med" type="none"/>
              <a:tailEnd len="med" w="med" type="none"/>
            </a:ln>
          </p:spPr>
        </p:cxnSp>
      </p:grpSp>
      <p:grpSp>
        <p:nvGrpSpPr>
          <p:cNvPr id="584" name="Google Shape;584;p74"/>
          <p:cNvGrpSpPr/>
          <p:nvPr/>
        </p:nvGrpSpPr>
        <p:grpSpPr>
          <a:xfrm>
            <a:off x="3391575" y="2351375"/>
            <a:ext cx="3057300" cy="878400"/>
            <a:chOff x="3391575" y="2351375"/>
            <a:chExt cx="3057300" cy="878400"/>
          </a:xfrm>
        </p:grpSpPr>
        <p:sp>
          <p:nvSpPr>
            <p:cNvPr id="585" name="Google Shape;585;p74"/>
            <p:cNvSpPr/>
            <p:nvPr/>
          </p:nvSpPr>
          <p:spPr>
            <a:xfrm>
              <a:off x="3391575" y="2351375"/>
              <a:ext cx="2822700" cy="878400"/>
            </a:xfrm>
            <a:prstGeom prst="rect">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 name="Google Shape;586;p74"/>
            <p:cNvCxnSpPr>
              <a:stCxn id="585" idx="3"/>
              <a:endCxn id="580" idx="1"/>
            </p:cNvCxnSpPr>
            <p:nvPr/>
          </p:nvCxnSpPr>
          <p:spPr>
            <a:xfrm>
              <a:off x="6214275" y="2790575"/>
              <a:ext cx="234600" cy="0"/>
            </a:xfrm>
            <a:prstGeom prst="straightConnector1">
              <a:avLst/>
            </a:prstGeom>
            <a:noFill/>
            <a:ln cap="flat" cmpd="sng" w="19050">
              <a:solidFill>
                <a:srgbClr val="FF0000"/>
              </a:solidFill>
              <a:prstDash val="solid"/>
              <a:round/>
              <a:headEnd len="med" w="med" type="none"/>
              <a:tailEnd len="med" w="med" type="none"/>
            </a:ln>
          </p:spPr>
        </p:cxnSp>
      </p:grpSp>
      <p:sp>
        <p:nvSpPr>
          <p:cNvPr id="587" name="Google Shape;587;p74"/>
          <p:cNvSpPr txBox="1"/>
          <p:nvPr>
            <p:ph idx="4294967295" type="body"/>
          </p:nvPr>
        </p:nvSpPr>
        <p:spPr>
          <a:xfrm>
            <a:off x="134775" y="3451675"/>
            <a:ext cx="2560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It is common to write </a:t>
            </a:r>
            <a:r>
              <a:rPr b="1" i="1" lang="en" sz="1200">
                <a:solidFill>
                  <a:srgbClr val="FF0000"/>
                </a:solidFill>
                <a:latin typeface="Arial"/>
                <a:ea typeface="Arial"/>
                <a:cs typeface="Arial"/>
                <a:sym typeface="Arial"/>
              </a:rPr>
              <a:t>accessors</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for each of the fields so that they can be accessed from outside of the enumeration.</a:t>
            </a:r>
            <a:endParaRPr sz="1200">
              <a:solidFill>
                <a:srgbClr val="000000"/>
              </a:solidFill>
              <a:latin typeface="Arial"/>
              <a:ea typeface="Arial"/>
              <a:cs typeface="Arial"/>
              <a:sym typeface="Arial"/>
            </a:endParaRPr>
          </a:p>
        </p:txBody>
      </p:sp>
      <p:grpSp>
        <p:nvGrpSpPr>
          <p:cNvPr id="588" name="Google Shape;588;p74"/>
          <p:cNvGrpSpPr/>
          <p:nvPr/>
        </p:nvGrpSpPr>
        <p:grpSpPr>
          <a:xfrm>
            <a:off x="2695275" y="3319513"/>
            <a:ext cx="2830200" cy="1187700"/>
            <a:chOff x="2695275" y="3319513"/>
            <a:chExt cx="2830200" cy="1187700"/>
          </a:xfrm>
        </p:grpSpPr>
        <p:sp>
          <p:nvSpPr>
            <p:cNvPr id="589" name="Google Shape;589;p74"/>
            <p:cNvSpPr/>
            <p:nvPr/>
          </p:nvSpPr>
          <p:spPr>
            <a:xfrm>
              <a:off x="3391575" y="3319513"/>
              <a:ext cx="2133900" cy="1187700"/>
            </a:xfrm>
            <a:prstGeom prst="rect">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0" name="Google Shape;590;p74"/>
            <p:cNvCxnSpPr>
              <a:stCxn id="587" idx="3"/>
              <a:endCxn id="589" idx="1"/>
            </p:cNvCxnSpPr>
            <p:nvPr/>
          </p:nvCxnSpPr>
          <p:spPr>
            <a:xfrm>
              <a:off x="2695275" y="3913375"/>
              <a:ext cx="696300" cy="0"/>
            </a:xfrm>
            <a:prstGeom prst="straightConnector1">
              <a:avLst/>
            </a:prstGeom>
            <a:noFill/>
            <a:ln cap="flat" cmpd="sng" w="19050">
              <a:solidFill>
                <a:srgbClr val="EE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1000"/>
                                        <p:tgtEl>
                                          <p:spTgt spid="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000"/>
                                        <p:tgtEl>
                                          <p:spTgt spid="5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5"/>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Each of the different types of damage in the Star Wars Battle game has an associated color: green (heavy), red (normal), and blue (ion). Let's upgrade the </a:t>
            </a:r>
            <a:r>
              <a:rPr lang="en">
                <a:latin typeface="Courier New"/>
                <a:ea typeface="Courier New"/>
                <a:cs typeface="Courier New"/>
                <a:sym typeface="Courier New"/>
              </a:rPr>
              <a:t>DamageType</a:t>
            </a:r>
            <a:r>
              <a:rPr lang="en"/>
              <a:t> </a:t>
            </a:r>
            <a:r>
              <a:rPr lang="en">
                <a:latin typeface="Courier New"/>
                <a:ea typeface="Courier New"/>
                <a:cs typeface="Courier New"/>
                <a:sym typeface="Courier New"/>
              </a:rPr>
              <a:t>enum</a:t>
            </a:r>
            <a:r>
              <a:rPr lang="en"/>
              <a:t> so that it associates the appropriate color with each of the predefined values.</a:t>
            </a:r>
            <a:endParaRPr/>
          </a:p>
        </p:txBody>
      </p:sp>
      <p:sp>
        <p:nvSpPr>
          <p:cNvPr id="596" name="Google Shape;596;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75"/>
          <p:cNvSpPr txBox="1"/>
          <p:nvPr>
            <p:ph idx="2" type="body"/>
          </p:nvPr>
        </p:nvSpPr>
        <p:spPr>
          <a:xfrm>
            <a:off x="3487575" y="1617151"/>
            <a:ext cx="5377200" cy="3088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DamageType</a:t>
            </a:r>
            <a:r>
              <a:rPr lang="en" sz="1500"/>
              <a:t> </a:t>
            </a:r>
            <a:r>
              <a:rPr lang="en" sz="1500">
                <a:latin typeface="Courier New"/>
                <a:ea typeface="Courier New"/>
                <a:cs typeface="Courier New"/>
                <a:sym typeface="Courier New"/>
              </a:rPr>
              <a:t>enum</a:t>
            </a:r>
            <a:r>
              <a:rPr lang="en" sz="1500"/>
              <a:t> and upgrade it so that the appropriate color is associated with each of the predefined damage types.</a:t>
            </a:r>
            <a:endParaRPr sz="1500"/>
          </a:p>
          <a:p>
            <a:pPr indent="-311150" lvl="1" marL="914400" rtl="0" algn="l">
              <a:spcBef>
                <a:spcPts val="0"/>
              </a:spcBef>
              <a:spcAft>
                <a:spcPts val="0"/>
              </a:spcAft>
              <a:buSzPts val="1300"/>
              <a:buChar char="○"/>
            </a:pPr>
            <a:r>
              <a:rPr lang="en" sz="1300"/>
              <a:t>Declare a </a:t>
            </a:r>
            <a:r>
              <a:rPr lang="en" sz="1300">
                <a:latin typeface="Courier New"/>
                <a:ea typeface="Courier New"/>
                <a:cs typeface="Courier New"/>
                <a:sym typeface="Courier New"/>
              </a:rPr>
              <a:t>private</a:t>
            </a:r>
            <a:r>
              <a:rPr lang="en" sz="1300"/>
              <a:t> field of an appropriate Java type.</a:t>
            </a:r>
            <a:endParaRPr sz="1300"/>
          </a:p>
          <a:p>
            <a:pPr indent="-311150" lvl="1" marL="914400" rtl="0" algn="l">
              <a:spcBef>
                <a:spcPts val="0"/>
              </a:spcBef>
              <a:spcAft>
                <a:spcPts val="0"/>
              </a:spcAft>
              <a:buSzPts val="1300"/>
              <a:buChar char="○"/>
            </a:pPr>
            <a:r>
              <a:rPr lang="en" sz="1300"/>
              <a:t>Define a </a:t>
            </a:r>
            <a:r>
              <a:rPr lang="en" sz="1300">
                <a:latin typeface="Courier New"/>
                <a:ea typeface="Courier New"/>
                <a:cs typeface="Courier New"/>
                <a:sym typeface="Courier New"/>
              </a:rPr>
              <a:t>private</a:t>
            </a:r>
            <a:r>
              <a:rPr lang="en" sz="1300"/>
              <a:t> constructor that declares a parameter for the </a:t>
            </a:r>
            <a:r>
              <a:rPr lang="en" sz="1300">
                <a:latin typeface="Courier New"/>
                <a:ea typeface="Courier New"/>
                <a:cs typeface="Courier New"/>
                <a:sym typeface="Courier New"/>
              </a:rPr>
              <a:t>color</a:t>
            </a:r>
            <a:r>
              <a:rPr lang="en" sz="1300"/>
              <a:t> and use it to initialize the field.</a:t>
            </a:r>
            <a:endParaRPr sz="1300"/>
          </a:p>
          <a:p>
            <a:pPr indent="-311150" lvl="1" marL="914400" rtl="0" algn="l">
              <a:spcBef>
                <a:spcPts val="0"/>
              </a:spcBef>
              <a:spcAft>
                <a:spcPts val="0"/>
              </a:spcAft>
              <a:buSzPts val="1300"/>
              <a:buChar char="○"/>
            </a:pPr>
            <a:r>
              <a:rPr lang="en" sz="1300"/>
              <a:t>Modify the declaration of each of the predefined values so that it provides an appropriate argument to the constructor.</a:t>
            </a:r>
            <a:endParaRPr sz="1300"/>
          </a:p>
          <a:p>
            <a:pPr indent="-311150" lvl="1" marL="914400" rtl="0" algn="l">
              <a:spcBef>
                <a:spcPts val="0"/>
              </a:spcBef>
              <a:spcAft>
                <a:spcPts val="0"/>
              </a:spcAft>
              <a:buSzPts val="1300"/>
              <a:buChar char="○"/>
            </a:pPr>
            <a:r>
              <a:rPr lang="en" sz="1300"/>
              <a:t>Add an accessor for the color.</a:t>
            </a:r>
            <a:endParaRPr sz="1300"/>
          </a:p>
          <a:p>
            <a:pPr indent="-323850" lvl="0" marL="457200" rtl="0" algn="l">
              <a:spcBef>
                <a:spcPts val="0"/>
              </a:spcBef>
              <a:spcAft>
                <a:spcPts val="0"/>
              </a:spcAft>
              <a:buSzPts val="1500"/>
              <a:buChar char="●"/>
            </a:pPr>
            <a:r>
              <a:rPr lang="en" sz="1500"/>
              <a:t>Update the </a:t>
            </a:r>
            <a:r>
              <a:rPr lang="en" sz="1500">
                <a:latin typeface="Courier New"/>
                <a:ea typeface="Courier New"/>
                <a:cs typeface="Courier New"/>
                <a:sym typeface="Courier New"/>
              </a:rPr>
              <a:t>main</a:t>
            </a:r>
            <a:r>
              <a:rPr lang="en" sz="1500"/>
              <a:t> method in the </a:t>
            </a:r>
            <a:r>
              <a:rPr lang="en" sz="1500">
                <a:latin typeface="Courier New"/>
                <a:ea typeface="Courier New"/>
                <a:cs typeface="Courier New"/>
                <a:sym typeface="Courier New"/>
              </a:rPr>
              <a:t>StarWarsBattle</a:t>
            </a:r>
            <a:r>
              <a:rPr lang="en" sz="1500"/>
              <a:t> class to print the color of each weapon's damage type.</a:t>
            </a:r>
            <a:endParaRPr sz="1500"/>
          </a:p>
        </p:txBody>
      </p:sp>
      <p:sp>
        <p:nvSpPr>
          <p:cNvPr id="598" name="Google Shape;598;p7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Upgrading </a:t>
            </a:r>
            <a:r>
              <a:rPr lang="en">
                <a:latin typeface="Courier New"/>
                <a:ea typeface="Courier New"/>
                <a:cs typeface="Courier New"/>
                <a:sym typeface="Courier New"/>
              </a:rPr>
              <a:t>DamageType</a:t>
            </a:r>
            <a:endParaRPr>
              <a:latin typeface="Courier New"/>
              <a:ea typeface="Courier New"/>
              <a:cs typeface="Courier New"/>
              <a:sym typeface="Courier New"/>
            </a:endParaRPr>
          </a:p>
        </p:txBody>
      </p:sp>
      <p:sp>
        <p:nvSpPr>
          <p:cNvPr id="599" name="Google Shape;599;p7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2.10</a:t>
            </a:r>
            <a:endParaRPr/>
          </a:p>
        </p:txBody>
      </p:sp>
      <p:sp>
        <p:nvSpPr>
          <p:cNvPr id="600" name="Google Shape;600;p75"/>
          <p:cNvSpPr txBox="1"/>
          <p:nvPr>
            <p:ph idx="4" type="body"/>
          </p:nvPr>
        </p:nvSpPr>
        <p:spPr>
          <a:xfrm>
            <a:off x="136600" y="1652925"/>
            <a:ext cx="3240000" cy="3401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enum</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BoilingPoint</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CELSIUS</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'C'</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100</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FAHRENHEIT</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'F'</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212</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KELVIN</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'K'</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373.5f</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float</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BoilingPoint</a:t>
            </a:r>
            <a:r>
              <a:rPr lang="en" sz="950">
                <a:solidFill>
                  <a:srgbClr val="000000"/>
                </a:solidFill>
                <a:latin typeface="Consolas"/>
                <a:ea typeface="Consolas"/>
                <a:cs typeface="Consolas"/>
                <a:sym typeface="Consolas"/>
              </a:rPr>
              <a:t>(</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267F99"/>
                </a:solidFill>
                <a:latin typeface="Consolas"/>
                <a:ea typeface="Consolas"/>
                <a:cs typeface="Consolas"/>
                <a:sym typeface="Consolas"/>
              </a:rPr>
              <a:t>                         float</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this</a:t>
            </a:r>
            <a:r>
              <a:rPr lang="en" sz="950">
                <a:solidFill>
                  <a:srgbClr val="000000"/>
                </a:solidFill>
                <a:latin typeface="Consolas"/>
                <a:ea typeface="Consolas"/>
                <a:cs typeface="Consolas"/>
                <a:sym typeface="Consolas"/>
              </a:rPr>
              <a:t>.</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 =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this</a:t>
            </a:r>
            <a:r>
              <a:rPr lang="en" sz="950">
                <a:solidFill>
                  <a:srgbClr val="000000"/>
                </a:solidFill>
                <a:latin typeface="Consolas"/>
                <a:ea typeface="Consolas"/>
                <a:cs typeface="Consolas"/>
                <a:sym typeface="Consolas"/>
              </a:rPr>
              <a:t>.</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 =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getScale</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AF00DB"/>
                </a:solidFill>
                <a:latin typeface="Consolas"/>
                <a:ea typeface="Consolas"/>
                <a:cs typeface="Consolas"/>
                <a:sym typeface="Consolas"/>
              </a:rPr>
              <a:t>return</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float</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getDegrees</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AF00DB"/>
                </a:solidFill>
                <a:latin typeface="Consolas"/>
                <a:ea typeface="Consolas"/>
                <a:cs typeface="Consolas"/>
                <a:sym typeface="Consolas"/>
              </a:rPr>
              <a:t>return</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50">
                <a:solidFill>
                  <a:srgbClr val="000000"/>
                </a:solidFill>
                <a:latin typeface="Consolas"/>
                <a:ea typeface="Consolas"/>
                <a:cs typeface="Consolas"/>
                <a:sym typeface="Consolas"/>
              </a:rPr>
              <a:t>}</a:t>
            </a:r>
            <a:endParaRPr sz="95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6"/>
          <p:cNvSpPr txBox="1"/>
          <p:nvPr>
            <p:ph type="title"/>
          </p:nvPr>
        </p:nvSpPr>
        <p:spPr>
          <a:xfrm>
            <a:off x="5264725" y="160200"/>
            <a:ext cx="3706500" cy="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Special Method: </a:t>
            </a:r>
            <a:r>
              <a:rPr lang="en">
                <a:latin typeface="Courier New"/>
                <a:ea typeface="Courier New"/>
                <a:cs typeface="Courier New"/>
                <a:sym typeface="Courier New"/>
              </a:rPr>
              <a:t>toString()</a:t>
            </a:r>
            <a:endParaRPr>
              <a:latin typeface="Courier New"/>
              <a:ea typeface="Courier New"/>
              <a:cs typeface="Courier New"/>
              <a:sym typeface="Courier New"/>
            </a:endParaRPr>
          </a:p>
        </p:txBody>
      </p:sp>
      <p:sp>
        <p:nvSpPr>
          <p:cNvPr id="606" name="Google Shape;606;p76"/>
          <p:cNvSpPr txBox="1"/>
          <p:nvPr>
            <p:ph idx="1" type="body"/>
          </p:nvPr>
        </p:nvSpPr>
        <p:spPr>
          <a:xfrm>
            <a:off x="187625" y="117775"/>
            <a:ext cx="4521600" cy="4558500"/>
          </a:xfrm>
          <a:prstGeom prst="rect">
            <a:avLst/>
          </a:prstGeom>
        </p:spPr>
        <p:txBody>
          <a:bodyPr anchorCtr="0" anchor="t" bIns="91425" lIns="91425" spcFirstLastPara="1" rIns="91425" wrap="square" tIns="91425">
            <a:spAutoFit/>
          </a:bodyPr>
          <a:lstStyle/>
          <a:p>
            <a:pPr indent="-319595" lvl="0" marL="457200" rtl="0" algn="l">
              <a:lnSpc>
                <a:spcPct val="115000"/>
              </a:lnSpc>
              <a:spcBef>
                <a:spcPts val="0"/>
              </a:spcBef>
              <a:spcAft>
                <a:spcPts val="0"/>
              </a:spcAft>
              <a:buSzPts val="1433"/>
              <a:buChar char="●"/>
            </a:pPr>
            <a:r>
              <a:rPr lang="en" sz="1433"/>
              <a:t>All classes contain a </a:t>
            </a:r>
            <a:r>
              <a:rPr lang="en" sz="1433">
                <a:solidFill>
                  <a:srgbClr val="FF0000"/>
                </a:solidFill>
                <a:latin typeface="Courier New"/>
                <a:ea typeface="Courier New"/>
                <a:cs typeface="Courier New"/>
                <a:sym typeface="Courier New"/>
              </a:rPr>
              <a:t>toString()</a:t>
            </a:r>
            <a:r>
              <a:rPr lang="en" sz="1433"/>
              <a:t> method with the following signature:</a:t>
            </a:r>
            <a:endParaRPr sz="1433"/>
          </a:p>
          <a:p>
            <a:pPr indent="457200" lvl="0" marL="457200" rtl="0" algn="l">
              <a:lnSpc>
                <a:spcPct val="115000"/>
              </a:lnSpc>
              <a:spcBef>
                <a:spcPts val="0"/>
              </a:spcBef>
              <a:spcAft>
                <a:spcPts val="0"/>
              </a:spcAft>
              <a:buNone/>
            </a:pPr>
            <a:r>
              <a:rPr lang="en" sz="1200">
                <a:solidFill>
                  <a:srgbClr val="FF0000"/>
                </a:solidFill>
                <a:latin typeface="Courier New"/>
                <a:ea typeface="Courier New"/>
                <a:cs typeface="Courier New"/>
                <a:sym typeface="Courier New"/>
              </a:rPr>
              <a:t>public String toString() {...}</a:t>
            </a:r>
            <a:endParaRPr sz="1733">
              <a:solidFill>
                <a:srgbClr val="FF0000"/>
              </a:solidFill>
              <a:latin typeface="Courier New"/>
              <a:ea typeface="Courier New"/>
              <a:cs typeface="Courier New"/>
              <a:sym typeface="Courier New"/>
            </a:endParaRPr>
          </a:p>
          <a:p>
            <a:pPr indent="-317500" lvl="0" marL="457200" rtl="0" algn="l">
              <a:lnSpc>
                <a:spcPct val="115000"/>
              </a:lnSpc>
              <a:spcBef>
                <a:spcPts val="0"/>
              </a:spcBef>
              <a:spcAft>
                <a:spcPts val="0"/>
              </a:spcAft>
              <a:buSzPts val="1400"/>
              <a:buChar char="●"/>
            </a:pPr>
            <a:r>
              <a:rPr lang="en" sz="1400"/>
              <a:t>If you do not replace the default implementation, it will return the </a:t>
            </a:r>
            <a:r>
              <a:rPr lang="en" sz="1400"/>
              <a:t>name of the </a:t>
            </a:r>
            <a:r>
              <a:rPr b="1" i="1" lang="en" sz="1400">
                <a:solidFill>
                  <a:srgbClr val="FF0000"/>
                </a:solidFill>
              </a:rPr>
              <a:t>object</a:t>
            </a:r>
            <a:r>
              <a:rPr lang="en" sz="1400"/>
              <a:t> (plus some other </a:t>
            </a:r>
            <a:r>
              <a:rPr i="1" lang="en" sz="1400"/>
              <a:t>stuff</a:t>
            </a:r>
            <a:r>
              <a:rPr lang="en" sz="1400"/>
              <a:t> that we will talk about later), e.g.:</a:t>
            </a:r>
            <a:endParaRPr sz="1400"/>
          </a:p>
          <a:p>
            <a:pPr indent="457200" lvl="0" marL="457200" rtl="0" algn="l">
              <a:lnSpc>
                <a:spcPct val="115000"/>
              </a:lnSpc>
              <a:spcBef>
                <a:spcPts val="0"/>
              </a:spcBef>
              <a:spcAft>
                <a:spcPts val="0"/>
              </a:spcAft>
              <a:buNone/>
            </a:pPr>
            <a:r>
              <a:rPr lang="en" sz="1200">
                <a:solidFill>
                  <a:srgbClr val="FF0000"/>
                </a:solidFill>
                <a:latin typeface="Courier New"/>
                <a:ea typeface="Courier New"/>
                <a:cs typeface="Courier New"/>
                <a:sym typeface="Courier New"/>
              </a:rPr>
              <a:t>unit02.activities.Pet@</a:t>
            </a:r>
            <a:r>
              <a:rPr lang="en" sz="1200">
                <a:solidFill>
                  <a:srgbClr val="FF0000"/>
                </a:solidFill>
                <a:latin typeface="Courier New"/>
                <a:ea typeface="Courier New"/>
                <a:cs typeface="Courier New"/>
                <a:sym typeface="Courier New"/>
              </a:rPr>
              <a:t>2328c243</a:t>
            </a:r>
            <a:endParaRPr sz="1200">
              <a:solidFill>
                <a:srgbClr val="FF0000"/>
              </a:solidFill>
              <a:latin typeface="Courier New"/>
              <a:ea typeface="Courier New"/>
              <a:cs typeface="Courier New"/>
              <a:sym typeface="Courier New"/>
            </a:endParaRPr>
          </a:p>
          <a:p>
            <a:pPr indent="-317500" lvl="0" marL="457200" rtl="0" algn="l">
              <a:lnSpc>
                <a:spcPct val="115000"/>
              </a:lnSpc>
              <a:spcBef>
                <a:spcPts val="0"/>
              </a:spcBef>
              <a:spcAft>
                <a:spcPts val="0"/>
              </a:spcAft>
              <a:buSzPts val="1400"/>
              <a:buChar char="●"/>
            </a:pPr>
            <a:r>
              <a:rPr lang="en" sz="1400"/>
              <a:t>The </a:t>
            </a:r>
            <a:r>
              <a:rPr lang="en" sz="1400">
                <a:latin typeface="Courier New"/>
                <a:ea typeface="Courier New"/>
                <a:cs typeface="Courier New"/>
                <a:sym typeface="Courier New"/>
              </a:rPr>
              <a:t>toString()</a:t>
            </a:r>
            <a:r>
              <a:rPr lang="en" sz="1400"/>
              <a:t> method is automatically called on an object whenever you:</a:t>
            </a:r>
            <a:endParaRPr sz="1400"/>
          </a:p>
          <a:p>
            <a:pPr indent="-304800" lvl="1" marL="914400" rtl="0" algn="l">
              <a:lnSpc>
                <a:spcPct val="115000"/>
              </a:lnSpc>
              <a:spcBef>
                <a:spcPts val="0"/>
              </a:spcBef>
              <a:spcAft>
                <a:spcPts val="0"/>
              </a:spcAft>
              <a:buSzPts val="1200"/>
              <a:buChar char="○"/>
            </a:pPr>
            <a:r>
              <a:rPr lang="en" sz="1200"/>
              <a:t>A</a:t>
            </a:r>
            <a:r>
              <a:rPr lang="en" sz="1200"/>
              <a:t>ttempt to </a:t>
            </a:r>
            <a:r>
              <a:rPr b="1" i="1" lang="en" sz="1200">
                <a:solidFill>
                  <a:srgbClr val="FF0000"/>
                </a:solidFill>
              </a:rPr>
              <a:t>print</a:t>
            </a:r>
            <a:r>
              <a:rPr i="1" lang="en" sz="1200">
                <a:solidFill>
                  <a:srgbClr val="FF0000"/>
                </a:solidFill>
              </a:rPr>
              <a:t> </a:t>
            </a:r>
            <a:r>
              <a:rPr lang="en" sz="1200"/>
              <a:t>the object to standard output.</a:t>
            </a:r>
            <a:endParaRPr sz="1200"/>
          </a:p>
          <a:p>
            <a:pPr indent="-304800" lvl="1" marL="914400" rtl="0" algn="l">
              <a:lnSpc>
                <a:spcPct val="115000"/>
              </a:lnSpc>
              <a:spcBef>
                <a:spcPts val="0"/>
              </a:spcBef>
              <a:spcAft>
                <a:spcPts val="0"/>
              </a:spcAft>
              <a:buSzPts val="1200"/>
              <a:buChar char="○"/>
            </a:pPr>
            <a:r>
              <a:rPr lang="en" sz="1200"/>
              <a:t>Attempt to</a:t>
            </a:r>
            <a:r>
              <a:rPr lang="en" sz="1200"/>
              <a:t> </a:t>
            </a:r>
            <a:r>
              <a:rPr b="1" i="1" lang="en" sz="1200">
                <a:solidFill>
                  <a:srgbClr val="FF0000"/>
                </a:solidFill>
              </a:rPr>
              <a:t>concatenate </a:t>
            </a:r>
            <a:r>
              <a:rPr lang="en" sz="1200"/>
              <a:t>the object</a:t>
            </a:r>
            <a:r>
              <a:rPr lang="en" sz="1200"/>
              <a:t> onto a string with the </a:t>
            </a:r>
            <a:r>
              <a:rPr lang="en" sz="1200">
                <a:latin typeface="Courier New"/>
                <a:ea typeface="Courier New"/>
                <a:cs typeface="Courier New"/>
                <a:sym typeface="Courier New"/>
              </a:rPr>
              <a:t>+</a:t>
            </a:r>
            <a:r>
              <a:rPr lang="en" sz="1200"/>
              <a:t> operator, e.g. </a:t>
            </a:r>
            <a:r>
              <a:rPr lang="en" sz="1200">
                <a:latin typeface="Courier New"/>
                <a:ea typeface="Courier New"/>
                <a:cs typeface="Courier New"/>
                <a:sym typeface="Courier New"/>
              </a:rPr>
              <a:t>"Pet: " </a:t>
            </a:r>
            <a:r>
              <a:rPr lang="en" sz="1200">
                <a:solidFill>
                  <a:srgbClr val="FF0000"/>
                </a:solidFill>
                <a:latin typeface="Courier New"/>
                <a:ea typeface="Courier New"/>
                <a:cs typeface="Courier New"/>
                <a:sym typeface="Courier New"/>
              </a:rPr>
              <a:t>+</a:t>
            </a:r>
            <a:r>
              <a:rPr lang="en" sz="1200">
                <a:latin typeface="Courier New"/>
                <a:ea typeface="Courier New"/>
                <a:cs typeface="Courier New"/>
                <a:sym typeface="Courier New"/>
              </a:rPr>
              <a:t> myPet</a:t>
            </a:r>
            <a:endParaRPr sz="1733">
              <a:latin typeface="Courier New"/>
              <a:ea typeface="Courier New"/>
              <a:cs typeface="Courier New"/>
              <a:sym typeface="Courier New"/>
            </a:endParaRPr>
          </a:p>
          <a:p>
            <a:pPr indent="-317500" lvl="0" marL="457200" rtl="0" algn="l">
              <a:lnSpc>
                <a:spcPct val="115000"/>
              </a:lnSpc>
              <a:spcBef>
                <a:spcPts val="0"/>
              </a:spcBef>
              <a:spcAft>
                <a:spcPts val="0"/>
              </a:spcAft>
              <a:buSzPts val="1400"/>
              <a:buChar char="●"/>
            </a:pPr>
            <a:r>
              <a:rPr lang="en" sz="1400"/>
              <a:t>Thus it is often beneficial to write your own version that returns something more useful than the default string.</a:t>
            </a:r>
            <a:endParaRPr sz="1400"/>
          </a:p>
          <a:p>
            <a:pPr indent="-304800" lvl="1" marL="914400" rtl="0" algn="l">
              <a:lnSpc>
                <a:spcPct val="115000"/>
              </a:lnSpc>
              <a:spcBef>
                <a:spcPts val="0"/>
              </a:spcBef>
              <a:spcAft>
                <a:spcPts val="0"/>
              </a:spcAft>
              <a:buSzPts val="1200"/>
              <a:buChar char="○"/>
            </a:pPr>
            <a:r>
              <a:rPr lang="en" sz="1200"/>
              <a:t>Replacing an existing </a:t>
            </a:r>
            <a:r>
              <a:rPr lang="en" sz="1200"/>
              <a:t>method with your own implementation is called </a:t>
            </a:r>
            <a:r>
              <a:rPr b="1" i="1" lang="en" sz="1200">
                <a:solidFill>
                  <a:srgbClr val="FF0000"/>
                </a:solidFill>
              </a:rPr>
              <a:t>overriding</a:t>
            </a:r>
            <a:r>
              <a:rPr lang="en" sz="1200"/>
              <a:t>.</a:t>
            </a:r>
            <a:endParaRPr sz="1200"/>
          </a:p>
          <a:p>
            <a:pPr indent="-304800" lvl="1" marL="914400" rtl="0" algn="l">
              <a:lnSpc>
                <a:spcPct val="115000"/>
              </a:lnSpc>
              <a:spcBef>
                <a:spcPts val="0"/>
              </a:spcBef>
              <a:spcAft>
                <a:spcPts val="0"/>
              </a:spcAft>
              <a:buSzPts val="1200"/>
              <a:buChar char="○"/>
            </a:pPr>
            <a:r>
              <a:rPr lang="en" sz="1200"/>
              <a:t>When overriding, you should u</a:t>
            </a:r>
            <a:r>
              <a:rPr lang="en" sz="1200"/>
              <a:t>se the </a:t>
            </a:r>
            <a:r>
              <a:rPr lang="en" sz="1200">
                <a:solidFill>
                  <a:srgbClr val="FF0000"/>
                </a:solidFill>
                <a:latin typeface="Courier New"/>
                <a:ea typeface="Courier New"/>
                <a:cs typeface="Courier New"/>
                <a:sym typeface="Courier New"/>
              </a:rPr>
              <a:t>@Override</a:t>
            </a:r>
            <a:r>
              <a:rPr lang="en" sz="1200"/>
              <a:t> annotation.</a:t>
            </a:r>
            <a:endParaRPr sz="1200"/>
          </a:p>
        </p:txBody>
      </p:sp>
      <p:sp>
        <p:nvSpPr>
          <p:cNvPr id="607" name="Google Shape;607;p76"/>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08" name="Google Shape;608;p76"/>
          <p:cNvSpPr txBox="1"/>
          <p:nvPr>
            <p:ph idx="2" type="body"/>
          </p:nvPr>
        </p:nvSpPr>
        <p:spPr>
          <a:xfrm>
            <a:off x="5192225" y="1286175"/>
            <a:ext cx="3706500" cy="2697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1</a:t>
            </a:r>
            <a:r>
              <a:rPr lang="en" sz="1400">
                <a:solidFill>
                  <a:srgbClr val="000000"/>
                </a:solidFill>
                <a:latin typeface="Consolas"/>
                <a:ea typeface="Consolas"/>
                <a:cs typeface="Consolas"/>
                <a:sym typeface="Consolas"/>
              </a:rPr>
              <a:t>  </a:t>
            </a:r>
            <a:r>
              <a:rPr lang="en" sz="1400">
                <a:solidFill>
                  <a:srgbClr val="0000FF"/>
                </a:solidFill>
                <a:latin typeface="Consolas"/>
                <a:ea typeface="Consolas"/>
                <a:cs typeface="Consolas"/>
                <a:sym typeface="Consolas"/>
              </a:rPr>
              <a:t>public</a:t>
            </a:r>
            <a:r>
              <a:rPr lang="en" sz="1400">
                <a:solidFill>
                  <a:srgbClr val="000000"/>
                </a:solidFill>
                <a:latin typeface="Consolas"/>
                <a:ea typeface="Consolas"/>
                <a:cs typeface="Consolas"/>
                <a:sym typeface="Consolas"/>
              </a:rPr>
              <a:t> </a:t>
            </a:r>
            <a:r>
              <a:rPr lang="en" sz="1400">
                <a:solidFill>
                  <a:srgbClr val="0000FF"/>
                </a:solidFill>
                <a:latin typeface="Consolas"/>
                <a:ea typeface="Consolas"/>
                <a:cs typeface="Consolas"/>
                <a:sym typeface="Consolas"/>
              </a:rPr>
              <a:t>class</a:t>
            </a:r>
            <a:r>
              <a:rPr lang="en" sz="1400">
                <a:solidFill>
                  <a:srgbClr val="000000"/>
                </a:solidFill>
                <a:latin typeface="Consolas"/>
                <a:ea typeface="Consolas"/>
                <a:cs typeface="Consolas"/>
                <a:sym typeface="Consolas"/>
              </a:rPr>
              <a:t> </a:t>
            </a:r>
            <a:r>
              <a:rPr lang="en" sz="1400">
                <a:solidFill>
                  <a:srgbClr val="267F99"/>
                </a:solidFill>
                <a:latin typeface="Consolas"/>
                <a:ea typeface="Consolas"/>
                <a:cs typeface="Consolas"/>
                <a:sym typeface="Consolas"/>
              </a:rPr>
              <a:t>Pet</a:t>
            </a:r>
            <a:r>
              <a:rPr lang="en" sz="1400">
                <a:solidFill>
                  <a:srgbClr val="000000"/>
                </a:solidFill>
                <a:latin typeface="Consolas"/>
                <a:ea typeface="Consolas"/>
                <a:cs typeface="Consolas"/>
                <a:sym typeface="Consolas"/>
              </a:rPr>
              <a:t> {</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2</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0000FF"/>
                </a:solidFill>
                <a:latin typeface="Consolas"/>
                <a:ea typeface="Consolas"/>
                <a:cs typeface="Consolas"/>
                <a:sym typeface="Consolas"/>
              </a:rPr>
              <a:t>private</a:t>
            </a:r>
            <a:r>
              <a:rPr lang="en" sz="1400">
                <a:solidFill>
                  <a:srgbClr val="000000"/>
                </a:solidFill>
                <a:latin typeface="Consolas"/>
                <a:ea typeface="Consolas"/>
                <a:cs typeface="Consolas"/>
                <a:sym typeface="Consolas"/>
              </a:rPr>
              <a:t> </a:t>
            </a:r>
            <a:r>
              <a:rPr lang="en" sz="1400">
                <a:solidFill>
                  <a:srgbClr val="267F99"/>
                </a:solidFill>
                <a:latin typeface="Consolas"/>
                <a:ea typeface="Consolas"/>
                <a:cs typeface="Consolas"/>
                <a:sym typeface="Consolas"/>
              </a:rPr>
              <a:t>String</a:t>
            </a:r>
            <a:r>
              <a:rPr lang="en" sz="1400">
                <a:solidFill>
                  <a:srgbClr val="000000"/>
                </a:solidFill>
                <a:latin typeface="Consolas"/>
                <a:ea typeface="Consolas"/>
                <a:cs typeface="Consolas"/>
                <a:sym typeface="Consolas"/>
              </a:rPr>
              <a:t> </a:t>
            </a:r>
            <a:r>
              <a:rPr lang="en" sz="1400">
                <a:solidFill>
                  <a:srgbClr val="001080"/>
                </a:solidFill>
                <a:latin typeface="Consolas"/>
                <a:ea typeface="Consolas"/>
                <a:cs typeface="Consolas"/>
                <a:sym typeface="Consolas"/>
              </a:rPr>
              <a:t>name</a:t>
            </a:r>
            <a:r>
              <a:rPr lang="en" sz="1400">
                <a:solidFill>
                  <a:srgbClr val="000000"/>
                </a:solidFill>
                <a:latin typeface="Consolas"/>
                <a:ea typeface="Consolas"/>
                <a:cs typeface="Consolas"/>
                <a:sym typeface="Consolas"/>
              </a:rPr>
              <a:t>;</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3</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0000FF"/>
                </a:solidFill>
                <a:latin typeface="Consolas"/>
                <a:ea typeface="Consolas"/>
                <a:cs typeface="Consolas"/>
                <a:sym typeface="Consolas"/>
              </a:rPr>
              <a:t>private</a:t>
            </a:r>
            <a:r>
              <a:rPr lang="en" sz="1400">
                <a:solidFill>
                  <a:srgbClr val="000000"/>
                </a:solidFill>
                <a:latin typeface="Consolas"/>
                <a:ea typeface="Consolas"/>
                <a:cs typeface="Consolas"/>
                <a:sym typeface="Consolas"/>
              </a:rPr>
              <a:t> </a:t>
            </a:r>
            <a:r>
              <a:rPr lang="en" sz="1400">
                <a:solidFill>
                  <a:srgbClr val="267F99"/>
                </a:solidFill>
                <a:latin typeface="Consolas"/>
                <a:ea typeface="Consolas"/>
                <a:cs typeface="Consolas"/>
                <a:sym typeface="Consolas"/>
              </a:rPr>
              <a:t>int</a:t>
            </a:r>
            <a:r>
              <a:rPr lang="en" sz="1400">
                <a:solidFill>
                  <a:srgbClr val="000000"/>
                </a:solidFill>
                <a:latin typeface="Consolas"/>
                <a:ea typeface="Consolas"/>
                <a:cs typeface="Consolas"/>
                <a:sym typeface="Consolas"/>
              </a:rPr>
              <a:t> </a:t>
            </a:r>
            <a:r>
              <a:rPr lang="en" sz="1400">
                <a:solidFill>
                  <a:srgbClr val="001080"/>
                </a:solidFill>
                <a:latin typeface="Consolas"/>
                <a:ea typeface="Consolas"/>
                <a:cs typeface="Consolas"/>
                <a:sym typeface="Consolas"/>
              </a:rPr>
              <a:t>age</a:t>
            </a:r>
            <a:r>
              <a:rPr lang="en" sz="1400">
                <a:solidFill>
                  <a:srgbClr val="000000"/>
                </a:solidFill>
                <a:latin typeface="Consolas"/>
                <a:ea typeface="Consolas"/>
                <a:cs typeface="Consolas"/>
                <a:sym typeface="Consolas"/>
              </a:rPr>
              <a:t>;</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4</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0000FF"/>
                </a:solidFill>
                <a:latin typeface="Consolas"/>
                <a:ea typeface="Consolas"/>
                <a:cs typeface="Consolas"/>
                <a:sym typeface="Consolas"/>
              </a:rPr>
              <a:t>private</a:t>
            </a:r>
            <a:r>
              <a:rPr lang="en" sz="1400">
                <a:solidFill>
                  <a:srgbClr val="000000"/>
                </a:solidFill>
                <a:latin typeface="Consolas"/>
                <a:ea typeface="Consolas"/>
                <a:cs typeface="Consolas"/>
                <a:sym typeface="Consolas"/>
              </a:rPr>
              <a:t> </a:t>
            </a:r>
            <a:r>
              <a:rPr lang="en" sz="1400">
                <a:solidFill>
                  <a:srgbClr val="267F99"/>
                </a:solidFill>
                <a:latin typeface="Consolas"/>
                <a:ea typeface="Consolas"/>
                <a:cs typeface="Consolas"/>
                <a:sym typeface="Consolas"/>
              </a:rPr>
              <a:t>Species</a:t>
            </a:r>
            <a:r>
              <a:rPr lang="en" sz="1400">
                <a:solidFill>
                  <a:srgbClr val="000000"/>
                </a:solidFill>
                <a:latin typeface="Consolas"/>
                <a:ea typeface="Consolas"/>
                <a:cs typeface="Consolas"/>
                <a:sym typeface="Consolas"/>
              </a:rPr>
              <a:t> </a:t>
            </a:r>
            <a:r>
              <a:rPr lang="en" sz="1400">
                <a:solidFill>
                  <a:srgbClr val="001080"/>
                </a:solidFill>
                <a:latin typeface="Consolas"/>
                <a:ea typeface="Consolas"/>
                <a:cs typeface="Consolas"/>
                <a:sym typeface="Consolas"/>
              </a:rPr>
              <a:t>species</a:t>
            </a:r>
            <a:r>
              <a:rPr lang="en" sz="1400">
                <a:solidFill>
                  <a:srgbClr val="000000"/>
                </a:solidFill>
                <a:latin typeface="Consolas"/>
                <a:ea typeface="Consolas"/>
                <a:cs typeface="Consolas"/>
                <a:sym typeface="Consolas"/>
              </a:rPr>
              <a:t>;</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5</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6</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267F99"/>
                </a:solidFill>
                <a:latin typeface="Consolas"/>
                <a:ea typeface="Consolas"/>
                <a:cs typeface="Consolas"/>
                <a:sym typeface="Consolas"/>
              </a:rPr>
              <a:t>Override</a:t>
            </a:r>
            <a:endParaRPr sz="14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7</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0000FF"/>
                </a:solidFill>
                <a:latin typeface="Consolas"/>
                <a:ea typeface="Consolas"/>
                <a:cs typeface="Consolas"/>
                <a:sym typeface="Consolas"/>
              </a:rPr>
              <a:t>public</a:t>
            </a:r>
            <a:r>
              <a:rPr lang="en" sz="1400">
                <a:solidFill>
                  <a:srgbClr val="000000"/>
                </a:solidFill>
                <a:latin typeface="Consolas"/>
                <a:ea typeface="Consolas"/>
                <a:cs typeface="Consolas"/>
                <a:sym typeface="Consolas"/>
              </a:rPr>
              <a:t> </a:t>
            </a:r>
            <a:r>
              <a:rPr lang="en" sz="1400">
                <a:solidFill>
                  <a:srgbClr val="267F99"/>
                </a:solidFill>
                <a:latin typeface="Consolas"/>
                <a:ea typeface="Consolas"/>
                <a:cs typeface="Consolas"/>
                <a:sym typeface="Consolas"/>
              </a:rPr>
              <a:t>String</a:t>
            </a:r>
            <a:r>
              <a:rPr lang="en" sz="1400">
                <a:solidFill>
                  <a:srgbClr val="000000"/>
                </a:solidFill>
                <a:latin typeface="Consolas"/>
                <a:ea typeface="Consolas"/>
                <a:cs typeface="Consolas"/>
                <a:sym typeface="Consolas"/>
              </a:rPr>
              <a:t> </a:t>
            </a:r>
            <a:r>
              <a:rPr lang="en" sz="1400">
                <a:solidFill>
                  <a:srgbClr val="795E26"/>
                </a:solidFill>
                <a:latin typeface="Consolas"/>
                <a:ea typeface="Consolas"/>
                <a:cs typeface="Consolas"/>
                <a:sym typeface="Consolas"/>
              </a:rPr>
              <a:t>toString</a:t>
            </a:r>
            <a:r>
              <a:rPr lang="en" sz="1400">
                <a:solidFill>
                  <a:srgbClr val="000000"/>
                </a:solidFill>
                <a:latin typeface="Consolas"/>
                <a:ea typeface="Consolas"/>
                <a:cs typeface="Consolas"/>
                <a:sym typeface="Consolas"/>
              </a:rPr>
              <a:t> () {</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8</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AF00DB"/>
                </a:solidFill>
                <a:latin typeface="Consolas"/>
                <a:ea typeface="Consolas"/>
                <a:cs typeface="Consolas"/>
                <a:sym typeface="Consolas"/>
              </a:rPr>
              <a:t>return</a:t>
            </a:r>
            <a:r>
              <a:rPr lang="en" sz="1400">
                <a:solidFill>
                  <a:srgbClr val="000000"/>
                </a:solidFill>
                <a:latin typeface="Consolas"/>
                <a:ea typeface="Consolas"/>
                <a:cs typeface="Consolas"/>
                <a:sym typeface="Consolas"/>
              </a:rPr>
              <a:t> </a:t>
            </a:r>
            <a:r>
              <a:rPr lang="en" sz="1400">
                <a:solidFill>
                  <a:srgbClr val="001080"/>
                </a:solidFill>
                <a:latin typeface="Consolas"/>
                <a:ea typeface="Consolas"/>
                <a:cs typeface="Consolas"/>
                <a:sym typeface="Consolas"/>
              </a:rPr>
              <a:t>name</a:t>
            </a:r>
            <a:r>
              <a:rPr lang="en" sz="1400">
                <a:solidFill>
                  <a:srgbClr val="000000"/>
                </a:solidFill>
                <a:latin typeface="Consolas"/>
                <a:ea typeface="Consolas"/>
                <a:cs typeface="Consolas"/>
                <a:sym typeface="Consolas"/>
              </a:rPr>
              <a:t> + </a:t>
            </a:r>
            <a:r>
              <a:rPr lang="en" sz="1400">
                <a:solidFill>
                  <a:srgbClr val="A31515"/>
                </a:solidFill>
                <a:latin typeface="Consolas"/>
                <a:ea typeface="Consolas"/>
                <a:cs typeface="Consolas"/>
                <a:sym typeface="Consolas"/>
              </a:rPr>
              <a:t>" is a "</a:t>
            </a:r>
            <a:r>
              <a:rPr lang="en" sz="1400">
                <a:solidFill>
                  <a:srgbClr val="000000"/>
                </a:solidFill>
                <a:latin typeface="Consolas"/>
                <a:ea typeface="Consolas"/>
                <a:cs typeface="Consolas"/>
                <a:sym typeface="Consolas"/>
              </a:rPr>
              <a:t> +</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9</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001080"/>
                </a:solidFill>
                <a:latin typeface="Consolas"/>
                <a:ea typeface="Consolas"/>
                <a:cs typeface="Consolas"/>
                <a:sym typeface="Consolas"/>
              </a:rPr>
              <a:t>age</a:t>
            </a:r>
            <a:r>
              <a:rPr lang="en" sz="1400">
                <a:solidFill>
                  <a:srgbClr val="000000"/>
                </a:solidFill>
                <a:latin typeface="Consolas"/>
                <a:ea typeface="Consolas"/>
                <a:cs typeface="Consolas"/>
                <a:sym typeface="Consolas"/>
              </a:rPr>
              <a:t> + </a:t>
            </a:r>
            <a:r>
              <a:rPr lang="en" sz="1400">
                <a:solidFill>
                  <a:srgbClr val="A31515"/>
                </a:solidFill>
                <a:latin typeface="Consolas"/>
                <a:ea typeface="Consolas"/>
                <a:cs typeface="Consolas"/>
                <a:sym typeface="Consolas"/>
              </a:rPr>
              <a:t>" year old "</a:t>
            </a:r>
            <a:r>
              <a:rPr lang="en" sz="1400">
                <a:solidFill>
                  <a:srgbClr val="000000"/>
                </a:solidFill>
                <a:latin typeface="Consolas"/>
                <a:ea typeface="Consolas"/>
                <a:cs typeface="Consolas"/>
                <a:sym typeface="Consolas"/>
              </a:rPr>
              <a:t> + </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10</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r>
              <a:rPr lang="en" sz="1400">
                <a:solidFill>
                  <a:srgbClr val="001080"/>
                </a:solidFill>
                <a:latin typeface="Consolas"/>
                <a:ea typeface="Consolas"/>
                <a:cs typeface="Consolas"/>
                <a:sym typeface="Consolas"/>
              </a:rPr>
              <a:t>species </a:t>
            </a:r>
            <a:r>
              <a:rPr lang="en" sz="1400">
                <a:solidFill>
                  <a:srgbClr val="000000"/>
                </a:solidFill>
                <a:latin typeface="Consolas"/>
                <a:ea typeface="Consolas"/>
                <a:cs typeface="Consolas"/>
                <a:sym typeface="Consolas"/>
              </a:rPr>
              <a:t>+ </a:t>
            </a:r>
            <a:r>
              <a:rPr lang="en" sz="1400">
                <a:solidFill>
                  <a:srgbClr val="A31515"/>
                </a:solidFill>
                <a:latin typeface="Consolas"/>
                <a:ea typeface="Consolas"/>
                <a:cs typeface="Consolas"/>
                <a:sym typeface="Consolas"/>
              </a:rPr>
              <a:t>"."</a:t>
            </a:r>
            <a:r>
              <a:rPr lang="en" sz="1400">
                <a:solidFill>
                  <a:srgbClr val="000000"/>
                </a:solidFill>
                <a:latin typeface="Consolas"/>
                <a:ea typeface="Consolas"/>
                <a:cs typeface="Consolas"/>
                <a:sym typeface="Consolas"/>
              </a:rPr>
              <a:t>;</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11</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    }</a:t>
            </a:r>
            <a:endParaRPr sz="14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400">
                <a:solidFill>
                  <a:srgbClr val="098658"/>
                </a:solidFill>
                <a:latin typeface="Consolas"/>
                <a:ea typeface="Consolas"/>
                <a:cs typeface="Consolas"/>
                <a:sym typeface="Consolas"/>
              </a:rPr>
              <a:t>12</a:t>
            </a:r>
            <a:r>
              <a:rPr lang="en" sz="1400">
                <a:solidFill>
                  <a:srgbClr val="000000"/>
                </a:solidFill>
                <a:latin typeface="Consolas"/>
                <a:ea typeface="Consolas"/>
                <a:cs typeface="Consolas"/>
                <a:sym typeface="Consolas"/>
              </a:rPr>
              <a:t> </a:t>
            </a:r>
            <a:r>
              <a:rPr lang="en" sz="14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609" name="Google Shape;609;p76"/>
          <p:cNvSpPr txBox="1"/>
          <p:nvPr>
            <p:ph idx="3" type="body"/>
          </p:nvPr>
        </p:nvSpPr>
        <p:spPr>
          <a:xfrm>
            <a:off x="5192225" y="4089650"/>
            <a:ext cx="3706500" cy="5817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
            </a:r>
            <a:r>
              <a:rPr lang="en" sz="1200">
                <a:solidFill>
                  <a:srgbClr val="FF0000"/>
                </a:solidFill>
                <a:latin typeface="Courier New"/>
                <a:ea typeface="Courier New"/>
                <a:cs typeface="Courier New"/>
                <a:sym typeface="Courier New"/>
              </a:rPr>
              <a:t>toString()</a:t>
            </a:r>
            <a:r>
              <a:rPr lang="en" sz="1200"/>
              <a:t> special method is used to control how a class is translated into a string.</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77"/>
          <p:cNvSpPr txBox="1"/>
          <p:nvPr>
            <p:ph idx="1" type="body"/>
          </p:nvPr>
        </p:nvSpPr>
        <p:spPr>
          <a:xfrm>
            <a:off x="65250" y="5792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If we try to print one of our </a:t>
            </a:r>
            <a:r>
              <a:rPr lang="en">
                <a:latin typeface="Courier New"/>
                <a:ea typeface="Courier New"/>
                <a:cs typeface="Courier New"/>
                <a:sym typeface="Courier New"/>
              </a:rPr>
              <a:t>Weapon</a:t>
            </a:r>
            <a:r>
              <a:rPr lang="en"/>
              <a:t> objects to standard output, the string that is printed will look something like </a:t>
            </a:r>
            <a:r>
              <a:rPr lang="en">
                <a:latin typeface="Courier New"/>
                <a:ea typeface="Courier New"/>
                <a:cs typeface="Courier New"/>
                <a:sym typeface="Courier New"/>
              </a:rPr>
              <a:t>Weapon@12a3db47</a:t>
            </a:r>
            <a:r>
              <a:rPr lang="en"/>
              <a:t>. That is not particularly useful. However, if we override the </a:t>
            </a:r>
            <a:r>
              <a:rPr lang="en">
                <a:latin typeface="Courier New"/>
                <a:ea typeface="Courier New"/>
                <a:cs typeface="Courier New"/>
                <a:sym typeface="Courier New"/>
              </a:rPr>
              <a:t>toString()</a:t>
            </a:r>
            <a:r>
              <a:rPr lang="en"/>
              <a:t> method we can replace the default string representation of an object with our own version. Let's try it now!</a:t>
            </a:r>
            <a:endParaRPr/>
          </a:p>
        </p:txBody>
      </p:sp>
      <p:sp>
        <p:nvSpPr>
          <p:cNvPr id="615" name="Google Shape;615;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77"/>
          <p:cNvSpPr txBox="1"/>
          <p:nvPr>
            <p:ph idx="2" type="body"/>
          </p:nvPr>
        </p:nvSpPr>
        <p:spPr>
          <a:xfrm>
            <a:off x="3780875" y="1936925"/>
            <a:ext cx="5160300" cy="2314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Ship</a:t>
            </a:r>
            <a:r>
              <a:rPr lang="en"/>
              <a:t> class and override the </a:t>
            </a:r>
            <a:r>
              <a:rPr lang="en">
                <a:latin typeface="Courier New"/>
                <a:ea typeface="Courier New"/>
                <a:cs typeface="Courier New"/>
                <a:sym typeface="Courier New"/>
              </a:rPr>
              <a:t>toString</a:t>
            </a:r>
            <a:r>
              <a:rPr lang="en"/>
              <a:t> method for the </a:t>
            </a:r>
            <a:r>
              <a:rPr lang="en">
                <a:latin typeface="Courier New"/>
                <a:ea typeface="Courier New"/>
                <a:cs typeface="Courier New"/>
                <a:sym typeface="Courier New"/>
              </a:rPr>
              <a:t>Ship</a:t>
            </a:r>
            <a:r>
              <a:rPr lang="en"/>
              <a:t> to return a string in the format:</a:t>
            </a:r>
            <a:endParaRPr/>
          </a:p>
          <a:p>
            <a:pPr indent="-298450" lvl="1" marL="914400" rtl="0" algn="l">
              <a:spcBef>
                <a:spcPts val="0"/>
              </a:spcBef>
              <a:spcAft>
                <a:spcPts val="0"/>
              </a:spcAft>
              <a:buSzPts val="1100"/>
              <a:buFont typeface="Courier New"/>
              <a:buChar char="○"/>
            </a:pPr>
            <a:r>
              <a:rPr lang="en">
                <a:latin typeface="Courier New"/>
                <a:ea typeface="Courier New"/>
                <a:cs typeface="Courier New"/>
                <a:sym typeface="Courier New"/>
              </a:rPr>
              <a:t>"&lt;</a:t>
            </a:r>
            <a:r>
              <a:rPr lang="en">
                <a:solidFill>
                  <a:srgbClr val="FF0000"/>
                </a:solidFill>
                <a:latin typeface="Courier New"/>
                <a:ea typeface="Courier New"/>
                <a:cs typeface="Courier New"/>
                <a:sym typeface="Courier New"/>
              </a:rPr>
              <a:t>name</a:t>
            </a:r>
            <a:r>
              <a:rPr lang="en">
                <a:latin typeface="Courier New"/>
                <a:ea typeface="Courier New"/>
                <a:cs typeface="Courier New"/>
                <a:sym typeface="Courier New"/>
              </a:rPr>
              <a:t>&gt;: shields &lt;</a:t>
            </a:r>
            <a:r>
              <a:rPr lang="en">
                <a:solidFill>
                  <a:srgbClr val="FF0000"/>
                </a:solidFill>
                <a:latin typeface="Courier New"/>
                <a:ea typeface="Courier New"/>
                <a:cs typeface="Courier New"/>
                <a:sym typeface="Courier New"/>
              </a:rPr>
              <a:t>shields</a:t>
            </a:r>
            <a:r>
              <a:rPr lang="en">
                <a:latin typeface="Courier New"/>
                <a:ea typeface="Courier New"/>
                <a:cs typeface="Courier New"/>
                <a:sym typeface="Courier New"/>
              </a:rPr>
              <a:t>&gt;, hull &lt;</a:t>
            </a:r>
            <a:r>
              <a:rPr lang="en">
                <a:solidFill>
                  <a:srgbClr val="FF0000"/>
                </a:solidFill>
                <a:latin typeface="Courier New"/>
                <a:ea typeface="Courier New"/>
                <a:cs typeface="Courier New"/>
                <a:sym typeface="Courier New"/>
              </a:rPr>
              <a:t>hullAmount</a:t>
            </a:r>
            <a:r>
              <a:rPr lang="en">
                <a:latin typeface="Courier New"/>
                <a:ea typeface="Courier New"/>
                <a:cs typeface="Courier New"/>
                <a:sym typeface="Courier New"/>
              </a:rPr>
              <a:t>&gt;" </a:t>
            </a:r>
            <a:r>
              <a:rPr lang="en"/>
              <a:t>e.g. </a:t>
            </a:r>
            <a:r>
              <a:rPr lang="en">
                <a:latin typeface="Courier New"/>
                <a:ea typeface="Courier New"/>
                <a:cs typeface="Courier New"/>
                <a:sym typeface="Courier New"/>
              </a:rPr>
              <a:t>"</a:t>
            </a:r>
            <a:r>
              <a:rPr lang="en">
                <a:solidFill>
                  <a:srgbClr val="FF0000"/>
                </a:solidFill>
                <a:latin typeface="Courier New"/>
                <a:ea typeface="Courier New"/>
                <a:cs typeface="Courier New"/>
                <a:sym typeface="Courier New"/>
              </a:rPr>
              <a:t>X-Wing</a:t>
            </a:r>
            <a:r>
              <a:rPr lang="en">
                <a:latin typeface="Courier New"/>
                <a:ea typeface="Courier New"/>
                <a:cs typeface="Courier New"/>
                <a:sym typeface="Courier New"/>
              </a:rPr>
              <a:t>: shields </a:t>
            </a:r>
            <a:r>
              <a:rPr lang="en">
                <a:solidFill>
                  <a:srgbClr val="FF0000"/>
                </a:solidFill>
                <a:latin typeface="Courier New"/>
                <a:ea typeface="Courier New"/>
                <a:cs typeface="Courier New"/>
                <a:sym typeface="Courier New"/>
              </a:rPr>
              <a:t>50</a:t>
            </a:r>
            <a:r>
              <a:rPr lang="en">
                <a:latin typeface="Courier New"/>
                <a:ea typeface="Courier New"/>
                <a:cs typeface="Courier New"/>
                <a:sym typeface="Courier New"/>
              </a:rPr>
              <a:t>, hull </a:t>
            </a:r>
            <a:r>
              <a:rPr lang="en">
                <a:solidFill>
                  <a:srgbClr val="FF0000"/>
                </a:solidFill>
                <a:latin typeface="Courier New"/>
                <a:ea typeface="Courier New"/>
                <a:cs typeface="Courier New"/>
                <a:sym typeface="Courier New"/>
              </a:rPr>
              <a:t>12</a:t>
            </a:r>
            <a:r>
              <a:rPr lang="en">
                <a:latin typeface="Courier New"/>
                <a:ea typeface="Courier New"/>
                <a:cs typeface="Courier New"/>
                <a:sym typeface="Courier New"/>
              </a:rPr>
              <a:t>"</a:t>
            </a:r>
            <a:endParaRPr/>
          </a:p>
          <a:p>
            <a:pPr indent="-311150" lvl="0" marL="457200" rtl="0" algn="l">
              <a:spcBef>
                <a:spcPts val="0"/>
              </a:spcBef>
              <a:spcAft>
                <a:spcPts val="0"/>
              </a:spcAft>
              <a:buSzPts val="1300"/>
              <a:buChar char="●"/>
            </a:pPr>
            <a:r>
              <a:rPr lang="en"/>
              <a:t>Repeat this process for the </a:t>
            </a:r>
            <a:r>
              <a:rPr lang="en">
                <a:solidFill>
                  <a:srgbClr val="FF0000"/>
                </a:solidFill>
                <a:latin typeface="Courier New"/>
                <a:ea typeface="Courier New"/>
                <a:cs typeface="Courier New"/>
                <a:sym typeface="Courier New"/>
              </a:rPr>
              <a:t>Weapon</a:t>
            </a:r>
            <a:r>
              <a:rPr lang="en"/>
              <a:t> class.</a:t>
            </a:r>
            <a:endParaRPr/>
          </a:p>
          <a:p>
            <a:pPr indent="-298450" lvl="1" marL="914400" rtl="0" algn="l">
              <a:spcBef>
                <a:spcPts val="0"/>
              </a:spcBef>
              <a:spcAft>
                <a:spcPts val="0"/>
              </a:spcAft>
              <a:buSzPts val="1100"/>
              <a:buChar char="○"/>
            </a:pPr>
            <a:r>
              <a:rPr lang="en"/>
              <a:t>You may choose  a format for the string that is returned, but you should try to include all of the relevant details.</a:t>
            </a:r>
            <a:endParaRPr/>
          </a:p>
          <a:p>
            <a:pPr indent="-311150" lvl="0" marL="457200" rtl="0" algn="l">
              <a:spcBef>
                <a:spcPts val="0"/>
              </a:spcBef>
              <a:spcAft>
                <a:spcPts val="0"/>
              </a:spcAft>
              <a:buSzPts val="1300"/>
              <a:buChar char="●"/>
            </a:pPr>
            <a:r>
              <a:rPr lang="en"/>
              <a:t>In the </a:t>
            </a:r>
            <a:r>
              <a:rPr lang="en">
                <a:latin typeface="Courier New"/>
                <a:ea typeface="Courier New"/>
                <a:cs typeface="Courier New"/>
                <a:sym typeface="Courier New"/>
              </a:rPr>
              <a:t>StarWarsBattle</a:t>
            </a:r>
            <a:r>
              <a:rPr lang="en"/>
              <a:t> </a:t>
            </a:r>
            <a:r>
              <a:rPr lang="en">
                <a:latin typeface="Courier New"/>
                <a:ea typeface="Courier New"/>
                <a:cs typeface="Courier New"/>
                <a:sym typeface="Courier New"/>
              </a:rPr>
              <a:t>main</a:t>
            </a:r>
            <a:r>
              <a:rPr lang="en"/>
              <a:t>, print one of the ships and one of the weapons that you created previously to standard output.</a:t>
            </a:r>
            <a:endParaRPr/>
          </a:p>
        </p:txBody>
      </p:sp>
      <p:sp>
        <p:nvSpPr>
          <p:cNvPr id="617" name="Google Shape;617;p7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Overriding </a:t>
            </a:r>
            <a:r>
              <a:rPr lang="en">
                <a:latin typeface="Courier New"/>
                <a:ea typeface="Courier New"/>
                <a:cs typeface="Courier New"/>
                <a:sym typeface="Courier New"/>
              </a:rPr>
              <a:t>toString()</a:t>
            </a:r>
            <a:endParaRPr>
              <a:latin typeface="Courier New"/>
              <a:ea typeface="Courier New"/>
              <a:cs typeface="Courier New"/>
              <a:sym typeface="Courier New"/>
            </a:endParaRPr>
          </a:p>
        </p:txBody>
      </p:sp>
      <p:sp>
        <p:nvSpPr>
          <p:cNvPr id="618" name="Google Shape;618;p7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2.11</a:t>
            </a:r>
            <a:endParaRPr/>
          </a:p>
        </p:txBody>
      </p:sp>
      <p:sp>
        <p:nvSpPr>
          <p:cNvPr id="619" name="Google Shape;619;p77"/>
          <p:cNvSpPr txBox="1"/>
          <p:nvPr>
            <p:ph idx="4" type="body"/>
          </p:nvPr>
        </p:nvSpPr>
        <p:spPr>
          <a:xfrm>
            <a:off x="147625" y="1938989"/>
            <a:ext cx="3580800" cy="2216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class</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Pet</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name</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int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age</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species</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Override</a:t>
            </a:r>
            <a:endParaRPr sz="11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toString</a:t>
            </a:r>
            <a:r>
              <a:rPr lang="en" sz="1100">
                <a:solidFill>
                  <a:srgbClr val="000000"/>
                </a:solidFill>
                <a:latin typeface="Consolas"/>
                <a:ea typeface="Consolas"/>
                <a:cs typeface="Consolas"/>
                <a:sym typeface="Consolas"/>
              </a:rPr>
              <a:t> ()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AF00DB"/>
                </a:solidFill>
                <a:latin typeface="Consolas"/>
                <a:ea typeface="Consolas"/>
                <a:cs typeface="Consolas"/>
                <a:sym typeface="Consolas"/>
              </a:rPr>
              <a:t>return</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name</a:t>
            </a:r>
            <a:r>
              <a:rPr lang="en" sz="1100">
                <a:solidFill>
                  <a:srgbClr val="000000"/>
                </a:solidFill>
                <a:latin typeface="Consolas"/>
                <a:ea typeface="Consolas"/>
                <a:cs typeface="Consolas"/>
                <a:sym typeface="Consolas"/>
              </a:rPr>
              <a:t> + </a:t>
            </a:r>
            <a:r>
              <a:rPr lang="en" sz="1100">
                <a:solidFill>
                  <a:srgbClr val="A31515"/>
                </a:solidFill>
                <a:latin typeface="Consolas"/>
                <a:ea typeface="Consolas"/>
                <a:cs typeface="Consolas"/>
                <a:sym typeface="Consolas"/>
              </a:rPr>
              <a:t>" is a "</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age</a:t>
            </a:r>
            <a:r>
              <a:rPr lang="en" sz="1100">
                <a:solidFill>
                  <a:srgbClr val="000000"/>
                </a:solidFill>
                <a:latin typeface="Consolas"/>
                <a:ea typeface="Consolas"/>
                <a:cs typeface="Consolas"/>
                <a:sym typeface="Consolas"/>
              </a:rPr>
              <a:t> + </a:t>
            </a:r>
            <a:r>
              <a:rPr lang="en" sz="1100">
                <a:solidFill>
                  <a:srgbClr val="A31515"/>
                </a:solidFill>
                <a:latin typeface="Consolas"/>
                <a:ea typeface="Consolas"/>
                <a:cs typeface="Consolas"/>
                <a:sym typeface="Consolas"/>
              </a:rPr>
              <a:t>" year old "</a:t>
            </a:r>
            <a:r>
              <a:rPr lang="en" sz="1100">
                <a:solidFill>
                  <a:srgbClr val="000000"/>
                </a:solidFill>
                <a:latin typeface="Consolas"/>
                <a:ea typeface="Consolas"/>
                <a:cs typeface="Consolas"/>
                <a:sym typeface="Consolas"/>
              </a:rPr>
              <a:t> +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species </a:t>
            </a:r>
            <a:r>
              <a:rPr lang="en" sz="1100">
                <a:solidFill>
                  <a:srgbClr val="000000"/>
                </a:solidFill>
                <a:latin typeface="Consolas"/>
                <a:ea typeface="Consolas"/>
                <a:cs typeface="Consolas"/>
                <a:sym typeface="Consolas"/>
              </a:rPr>
              <a:t>+ </a:t>
            </a:r>
            <a:r>
              <a:rPr lang="en" sz="1100">
                <a:solidFill>
                  <a:srgbClr val="A31515"/>
                </a:solidFill>
                <a:latin typeface="Consolas"/>
                <a:ea typeface="Consolas"/>
                <a:cs typeface="Consolas"/>
                <a:sym typeface="Consolas"/>
              </a:rPr>
              <a: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900">
              <a:latin typeface="Consolas"/>
              <a:ea typeface="Consolas"/>
              <a:cs typeface="Consolas"/>
              <a:sym typeface="Consolas"/>
            </a:endParaRPr>
          </a:p>
        </p:txBody>
      </p:sp>
      <p:sp>
        <p:nvSpPr>
          <p:cNvPr id="620" name="Google Shape;620;p77"/>
          <p:cNvSpPr txBox="1"/>
          <p:nvPr>
            <p:ph idx="2" type="body"/>
          </p:nvPr>
        </p:nvSpPr>
        <p:spPr>
          <a:xfrm>
            <a:off x="147625" y="4260514"/>
            <a:ext cx="3580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The </a:t>
            </a:r>
            <a:r>
              <a:rPr lang="en" sz="1200">
                <a:solidFill>
                  <a:srgbClr val="FF0000"/>
                </a:solidFill>
                <a:latin typeface="Courier New"/>
                <a:ea typeface="Courier New"/>
                <a:cs typeface="Courier New"/>
                <a:sym typeface="Courier New"/>
              </a:rPr>
              <a:t>@Override</a:t>
            </a:r>
            <a:r>
              <a:rPr lang="en" sz="1200">
                <a:solidFill>
                  <a:srgbClr val="000000"/>
                </a:solidFill>
                <a:latin typeface="Arial"/>
                <a:ea typeface="Arial"/>
                <a:cs typeface="Arial"/>
                <a:sym typeface="Arial"/>
              </a:rPr>
              <a:t> annotation is not required, but it can be very helpful for a number of reasons and it is considered good practice to use it.</a:t>
            </a:r>
            <a:endParaRPr sz="1200">
              <a:solidFill>
                <a:srgbClr val="000000"/>
              </a:solidFill>
              <a:latin typeface="Arial"/>
              <a:ea typeface="Arial"/>
              <a:cs typeface="Arial"/>
              <a:sym typeface="Arial"/>
            </a:endParaRPr>
          </a:p>
        </p:txBody>
      </p:sp>
      <p:sp>
        <p:nvSpPr>
          <p:cNvPr id="621" name="Google Shape;621;p77"/>
          <p:cNvSpPr/>
          <p:nvPr/>
        </p:nvSpPr>
        <p:spPr>
          <a:xfrm>
            <a:off x="486649" y="2867473"/>
            <a:ext cx="816000" cy="194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77"/>
          <p:cNvSpPr/>
          <p:nvPr/>
        </p:nvSpPr>
        <p:spPr>
          <a:xfrm>
            <a:off x="329424" y="2949850"/>
            <a:ext cx="157232" cy="1302700"/>
          </a:xfrm>
          <a:custGeom>
            <a:rect b="b" l="l" r="r" t="t"/>
            <a:pathLst>
              <a:path extrusionOk="0" h="52108" w="8086">
                <a:moveTo>
                  <a:pt x="8086" y="0"/>
                </a:moveTo>
                <a:lnTo>
                  <a:pt x="0" y="0"/>
                </a:lnTo>
                <a:lnTo>
                  <a:pt x="0" y="52108"/>
                </a:lnTo>
              </a:path>
            </a:pathLst>
          </a:custGeom>
          <a:noFill/>
          <a:ln cap="flat" cmpd="sng" w="19050">
            <a:solidFill>
              <a:srgbClr val="EE0000"/>
            </a:solidFill>
            <a:prstDash val="solid"/>
            <a:round/>
            <a:headEnd len="med" w="med" type="none"/>
            <a:tailEnd len="med" w="med" type="none"/>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8" name="Google Shape;628;p78"/>
          <p:cNvSpPr txBox="1"/>
          <p:nvPr>
            <p:ph type="title"/>
          </p:nvPr>
        </p:nvSpPr>
        <p:spPr>
          <a:xfrm>
            <a:off x="311725" y="160200"/>
            <a:ext cx="3706500" cy="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Special Method: </a:t>
            </a:r>
            <a:r>
              <a:rPr lang="en">
                <a:latin typeface="Courier New"/>
                <a:ea typeface="Courier New"/>
                <a:cs typeface="Courier New"/>
                <a:sym typeface="Courier New"/>
              </a:rPr>
              <a:t>equals(Object)</a:t>
            </a:r>
            <a:endParaRPr>
              <a:latin typeface="Courier New"/>
              <a:ea typeface="Courier New"/>
              <a:cs typeface="Courier New"/>
              <a:sym typeface="Courier New"/>
            </a:endParaRPr>
          </a:p>
        </p:txBody>
      </p:sp>
      <p:sp>
        <p:nvSpPr>
          <p:cNvPr id="629" name="Google Shape;629;p78"/>
          <p:cNvSpPr txBox="1"/>
          <p:nvPr>
            <p:ph idx="1" type="body"/>
          </p:nvPr>
        </p:nvSpPr>
        <p:spPr>
          <a:xfrm>
            <a:off x="4416781" y="46473"/>
            <a:ext cx="4462200" cy="5037600"/>
          </a:xfrm>
          <a:prstGeom prst="rect">
            <a:avLst/>
          </a:prstGeom>
        </p:spPr>
        <p:txBody>
          <a:bodyPr anchorCtr="0" anchor="t" bIns="91425" lIns="91425" spcFirstLastPara="1" rIns="91425" wrap="square" tIns="91425">
            <a:spAutoFit/>
          </a:bodyPr>
          <a:lstStyle/>
          <a:p>
            <a:pPr indent="-313245" lvl="0" marL="457200" rtl="0" algn="l">
              <a:lnSpc>
                <a:spcPct val="100000"/>
              </a:lnSpc>
              <a:spcBef>
                <a:spcPts val="0"/>
              </a:spcBef>
              <a:spcAft>
                <a:spcPts val="0"/>
              </a:spcAft>
              <a:buSzPts val="1333"/>
              <a:buChar char="●"/>
            </a:pPr>
            <a:r>
              <a:rPr lang="en" sz="1333"/>
              <a:t>Like Python, Java includes two different methods for comparing values for equality.</a:t>
            </a:r>
            <a:endParaRPr sz="1333"/>
          </a:p>
          <a:p>
            <a:pPr indent="-313245" lvl="0" marL="457200" rtl="0" algn="l">
              <a:lnSpc>
                <a:spcPct val="100000"/>
              </a:lnSpc>
              <a:spcBef>
                <a:spcPts val="1000"/>
              </a:spcBef>
              <a:spcAft>
                <a:spcPts val="0"/>
              </a:spcAft>
              <a:buSzPts val="1333"/>
              <a:buChar char="●"/>
            </a:pPr>
            <a:r>
              <a:rPr lang="en" sz="1333"/>
              <a:t>The </a:t>
            </a:r>
            <a:r>
              <a:rPr lang="en" sz="1333">
                <a:solidFill>
                  <a:srgbClr val="EE0000"/>
                </a:solidFill>
                <a:latin typeface="Courier New"/>
                <a:ea typeface="Courier New"/>
                <a:cs typeface="Courier New"/>
                <a:sym typeface="Courier New"/>
              </a:rPr>
              <a:t>==</a:t>
            </a:r>
            <a:r>
              <a:rPr lang="en" sz="1333"/>
              <a:t> </a:t>
            </a:r>
            <a:r>
              <a:rPr lang="en" sz="1333">
                <a:solidFill>
                  <a:srgbClr val="EE0000"/>
                </a:solidFill>
              </a:rPr>
              <a:t>operator </a:t>
            </a:r>
            <a:r>
              <a:rPr lang="en" sz="1333"/>
              <a:t>is used in a boolean expression to compare two values for </a:t>
            </a:r>
            <a:r>
              <a:rPr b="1" i="1" lang="en" sz="1333">
                <a:solidFill>
                  <a:srgbClr val="EE0000"/>
                </a:solidFill>
              </a:rPr>
              <a:t>shallow equality</a:t>
            </a:r>
            <a:r>
              <a:rPr lang="en" sz="1333"/>
              <a:t>. </a:t>
            </a:r>
            <a:endParaRPr sz="1333"/>
          </a:p>
          <a:p>
            <a:pPr indent="-313245" lvl="1" marL="914400" rtl="0" algn="l">
              <a:lnSpc>
                <a:spcPct val="100000"/>
              </a:lnSpc>
              <a:spcBef>
                <a:spcPts val="0"/>
              </a:spcBef>
              <a:spcAft>
                <a:spcPts val="0"/>
              </a:spcAft>
              <a:buSzPts val="1333"/>
              <a:buChar char="○"/>
            </a:pPr>
            <a:r>
              <a:rPr lang="en" sz="1333"/>
              <a:t>e.g. </a:t>
            </a:r>
            <a:r>
              <a:rPr lang="en" sz="1333">
                <a:solidFill>
                  <a:srgbClr val="EE0000"/>
                </a:solidFill>
                <a:latin typeface="Courier New"/>
                <a:ea typeface="Courier New"/>
                <a:cs typeface="Courier New"/>
                <a:sym typeface="Courier New"/>
              </a:rPr>
              <a:t>x == y</a:t>
            </a:r>
            <a:endParaRPr sz="1333">
              <a:solidFill>
                <a:srgbClr val="EE0000"/>
              </a:solidFill>
              <a:latin typeface="Courier New"/>
              <a:ea typeface="Courier New"/>
              <a:cs typeface="Courier New"/>
              <a:sym typeface="Courier New"/>
            </a:endParaRPr>
          </a:p>
          <a:p>
            <a:pPr indent="-300545" lvl="1" marL="914400" rtl="0" algn="l">
              <a:lnSpc>
                <a:spcPct val="100000"/>
              </a:lnSpc>
              <a:spcBef>
                <a:spcPts val="0"/>
              </a:spcBef>
              <a:spcAft>
                <a:spcPts val="0"/>
              </a:spcAft>
              <a:buSzPts val="1133"/>
              <a:buChar char="○"/>
            </a:pPr>
            <a:r>
              <a:rPr lang="en" sz="1133"/>
              <a:t>When comparing primitive types, the expression will be true if the </a:t>
            </a:r>
            <a:r>
              <a:rPr b="1" i="1" lang="en" sz="1133">
                <a:solidFill>
                  <a:srgbClr val="EE0000"/>
                </a:solidFill>
              </a:rPr>
              <a:t>values</a:t>
            </a:r>
            <a:r>
              <a:rPr lang="en" sz="1133">
                <a:solidFill>
                  <a:srgbClr val="EE0000"/>
                </a:solidFill>
              </a:rPr>
              <a:t> </a:t>
            </a:r>
            <a:r>
              <a:rPr lang="en" sz="1133"/>
              <a:t>are the same.</a:t>
            </a:r>
            <a:endParaRPr sz="1133"/>
          </a:p>
          <a:p>
            <a:pPr indent="-313245" lvl="1" marL="914400" rtl="0" algn="l">
              <a:lnSpc>
                <a:spcPct val="100000"/>
              </a:lnSpc>
              <a:spcBef>
                <a:spcPts val="0"/>
              </a:spcBef>
              <a:spcAft>
                <a:spcPts val="0"/>
              </a:spcAft>
              <a:buSzPts val="1333"/>
              <a:buChar char="○"/>
            </a:pPr>
            <a:r>
              <a:rPr lang="en"/>
              <a:t>When comparing </a:t>
            </a:r>
            <a:r>
              <a:rPr b="1" i="1" lang="en">
                <a:solidFill>
                  <a:srgbClr val="EE0000"/>
                </a:solidFill>
              </a:rPr>
              <a:t>objects</a:t>
            </a:r>
            <a:r>
              <a:rPr lang="en"/>
              <a:t>, the expression will be true if the </a:t>
            </a:r>
            <a:r>
              <a:rPr b="1" i="1" lang="en">
                <a:solidFill>
                  <a:srgbClr val="EE0000"/>
                </a:solidFill>
              </a:rPr>
              <a:t>addresses</a:t>
            </a:r>
            <a:r>
              <a:rPr lang="en">
                <a:solidFill>
                  <a:srgbClr val="EE0000"/>
                </a:solidFill>
              </a:rPr>
              <a:t> </a:t>
            </a:r>
            <a:r>
              <a:rPr lang="en"/>
              <a:t>are the same. This is only true if </a:t>
            </a:r>
            <a:r>
              <a:rPr lang="en">
                <a:latin typeface="Courier New"/>
                <a:ea typeface="Courier New"/>
                <a:cs typeface="Courier New"/>
                <a:sym typeface="Courier New"/>
              </a:rPr>
              <a:t>x</a:t>
            </a:r>
            <a:r>
              <a:rPr lang="en"/>
              <a:t> and </a:t>
            </a:r>
            <a:r>
              <a:rPr lang="en">
                <a:latin typeface="Courier New"/>
                <a:ea typeface="Courier New"/>
                <a:cs typeface="Courier New"/>
                <a:sym typeface="Courier New"/>
              </a:rPr>
              <a:t>y</a:t>
            </a:r>
            <a:r>
              <a:rPr lang="en"/>
              <a:t> are the same object.</a:t>
            </a:r>
            <a:endParaRPr/>
          </a:p>
          <a:p>
            <a:pPr indent="-313245" lvl="0" marL="457200" rtl="0" algn="l">
              <a:lnSpc>
                <a:spcPct val="100000"/>
              </a:lnSpc>
              <a:spcBef>
                <a:spcPts val="1000"/>
              </a:spcBef>
              <a:spcAft>
                <a:spcPts val="0"/>
              </a:spcAft>
              <a:buSzPts val="1333"/>
              <a:buFont typeface="Courier New"/>
              <a:buChar char="●"/>
            </a:pPr>
            <a:r>
              <a:rPr lang="en" sz="1333"/>
              <a:t>The </a:t>
            </a:r>
            <a:r>
              <a:rPr lang="en" sz="1333">
                <a:solidFill>
                  <a:srgbClr val="EE0000"/>
                </a:solidFill>
                <a:latin typeface="Courier New"/>
                <a:ea typeface="Courier New"/>
                <a:cs typeface="Courier New"/>
                <a:sym typeface="Courier New"/>
              </a:rPr>
              <a:t>equals(Object)</a:t>
            </a:r>
            <a:r>
              <a:rPr lang="en" sz="1333"/>
              <a:t> method is used to compare two objects for </a:t>
            </a:r>
            <a:r>
              <a:rPr b="1" i="1" lang="en" sz="1333">
                <a:solidFill>
                  <a:srgbClr val="FF0000"/>
                </a:solidFill>
              </a:rPr>
              <a:t>deep equality</a:t>
            </a:r>
            <a:r>
              <a:rPr lang="en" sz="1333"/>
              <a:t>.</a:t>
            </a:r>
            <a:endParaRPr sz="1333"/>
          </a:p>
          <a:p>
            <a:pPr indent="-313245" lvl="1" marL="914400" rtl="0" algn="l">
              <a:lnSpc>
                <a:spcPct val="100000"/>
              </a:lnSpc>
              <a:spcBef>
                <a:spcPts val="0"/>
              </a:spcBef>
              <a:spcAft>
                <a:spcPts val="0"/>
              </a:spcAft>
              <a:buSzPts val="1333"/>
              <a:buChar char="○"/>
            </a:pPr>
            <a:r>
              <a:rPr lang="en"/>
              <a:t>e.g. </a:t>
            </a:r>
            <a:r>
              <a:rPr lang="en">
                <a:solidFill>
                  <a:srgbClr val="EE0000"/>
                </a:solidFill>
                <a:latin typeface="Courier New"/>
                <a:ea typeface="Courier New"/>
                <a:cs typeface="Courier New"/>
                <a:sym typeface="Courier New"/>
              </a:rPr>
              <a:t>x.equals(y)</a:t>
            </a:r>
            <a:endParaRPr>
              <a:solidFill>
                <a:srgbClr val="EE0000"/>
              </a:solidFill>
              <a:latin typeface="Courier New"/>
              <a:ea typeface="Courier New"/>
              <a:cs typeface="Courier New"/>
              <a:sym typeface="Courier New"/>
            </a:endParaRPr>
          </a:p>
          <a:p>
            <a:pPr indent="-313245" lvl="1" marL="914400" rtl="0" algn="l">
              <a:lnSpc>
                <a:spcPct val="100000"/>
              </a:lnSpc>
              <a:spcBef>
                <a:spcPts val="0"/>
              </a:spcBef>
              <a:spcAft>
                <a:spcPts val="0"/>
              </a:spcAft>
              <a:buSzPts val="1333"/>
              <a:buChar char="○"/>
            </a:pPr>
            <a:r>
              <a:rPr lang="en"/>
              <a:t>The method returns true if </a:t>
            </a:r>
            <a:r>
              <a:rPr lang="en">
                <a:latin typeface="Courier New"/>
                <a:ea typeface="Courier New"/>
                <a:cs typeface="Courier New"/>
                <a:sym typeface="Courier New"/>
              </a:rPr>
              <a:t>x</a:t>
            </a:r>
            <a:r>
              <a:rPr lang="en"/>
              <a:t> and </a:t>
            </a:r>
            <a:r>
              <a:rPr lang="en">
                <a:latin typeface="Courier New"/>
                <a:ea typeface="Courier New"/>
                <a:cs typeface="Courier New"/>
                <a:sym typeface="Courier New"/>
              </a:rPr>
              <a:t>y</a:t>
            </a:r>
            <a:r>
              <a:rPr lang="en"/>
              <a:t> are </a:t>
            </a:r>
            <a:r>
              <a:rPr lang="en">
                <a:solidFill>
                  <a:srgbClr val="EE0000"/>
                </a:solidFill>
              </a:rPr>
              <a:t>equivalent </a:t>
            </a:r>
            <a:r>
              <a:rPr lang="en"/>
              <a:t>to each other. </a:t>
            </a:r>
            <a:endParaRPr/>
          </a:p>
          <a:p>
            <a:pPr indent="-298450" lvl="1" marL="914400" rtl="0" algn="l">
              <a:lnSpc>
                <a:spcPct val="100000"/>
              </a:lnSpc>
              <a:spcBef>
                <a:spcPts val="0"/>
              </a:spcBef>
              <a:spcAft>
                <a:spcPts val="0"/>
              </a:spcAft>
              <a:buSzPts val="1100"/>
              <a:buChar char="○"/>
            </a:pPr>
            <a:r>
              <a:rPr lang="en"/>
              <a:t>The default implementation provided by Java works just like the </a:t>
            </a:r>
            <a:r>
              <a:rPr lang="en">
                <a:latin typeface="Courier New"/>
                <a:ea typeface="Courier New"/>
                <a:cs typeface="Courier New"/>
                <a:sym typeface="Courier New"/>
              </a:rPr>
              <a:t>==</a:t>
            </a:r>
            <a:r>
              <a:rPr lang="en"/>
              <a:t> operator - it returns </a:t>
            </a:r>
            <a:r>
              <a:rPr lang="en">
                <a:latin typeface="Courier New"/>
                <a:ea typeface="Courier New"/>
                <a:cs typeface="Courier New"/>
                <a:sym typeface="Courier New"/>
              </a:rPr>
              <a:t>true</a:t>
            </a:r>
            <a:r>
              <a:rPr lang="en"/>
              <a:t> if </a:t>
            </a:r>
            <a:r>
              <a:rPr lang="en">
                <a:latin typeface="Courier New"/>
                <a:ea typeface="Courier New"/>
                <a:cs typeface="Courier New"/>
                <a:sym typeface="Courier New"/>
              </a:rPr>
              <a:t>x</a:t>
            </a:r>
            <a:r>
              <a:rPr lang="en"/>
              <a:t> and </a:t>
            </a:r>
            <a:r>
              <a:rPr lang="en">
                <a:latin typeface="Courier New"/>
                <a:ea typeface="Courier New"/>
                <a:cs typeface="Courier New"/>
                <a:sym typeface="Courier New"/>
              </a:rPr>
              <a:t>y</a:t>
            </a:r>
            <a:r>
              <a:rPr lang="en"/>
              <a:t> are the same object.</a:t>
            </a:r>
            <a:endParaRPr/>
          </a:p>
          <a:p>
            <a:pPr indent="-298450" lvl="1" marL="914400" rtl="0" algn="l">
              <a:lnSpc>
                <a:spcPct val="100000"/>
              </a:lnSpc>
              <a:spcBef>
                <a:spcPts val="0"/>
              </a:spcBef>
              <a:spcAft>
                <a:spcPts val="0"/>
              </a:spcAft>
              <a:buSzPts val="1100"/>
              <a:buChar char="○"/>
            </a:pPr>
            <a:r>
              <a:rPr lang="en"/>
              <a:t>The method must be overridden to change this.</a:t>
            </a:r>
            <a:endParaRPr/>
          </a:p>
          <a:p>
            <a:pPr indent="-313245" lvl="0" marL="457200" rtl="0" algn="l">
              <a:lnSpc>
                <a:spcPct val="100000"/>
              </a:lnSpc>
              <a:spcBef>
                <a:spcPts val="1000"/>
              </a:spcBef>
              <a:spcAft>
                <a:spcPts val="0"/>
              </a:spcAft>
              <a:buSzPts val="1333"/>
              <a:buChar char="●"/>
            </a:pPr>
            <a:r>
              <a:rPr lang="en" sz="1100"/>
              <a:t>In general you will want to use </a:t>
            </a:r>
            <a:r>
              <a:rPr lang="en" sz="1100">
                <a:latin typeface="Courier New"/>
                <a:ea typeface="Courier New"/>
                <a:cs typeface="Courier New"/>
                <a:sym typeface="Courier New"/>
              </a:rPr>
              <a:t>equals</a:t>
            </a:r>
            <a:r>
              <a:rPr lang="en" sz="1100"/>
              <a:t> instead of </a:t>
            </a:r>
            <a:r>
              <a:rPr lang="en" sz="1100">
                <a:latin typeface="Courier New"/>
                <a:ea typeface="Courier New"/>
                <a:cs typeface="Courier New"/>
                <a:sym typeface="Courier New"/>
              </a:rPr>
              <a:t>==</a:t>
            </a:r>
            <a:r>
              <a:rPr lang="en" sz="1100"/>
              <a:t> when working with non-primitive objects. </a:t>
            </a:r>
            <a:endParaRPr b="1" sz="1100">
              <a:solidFill>
                <a:srgbClr val="FF0000"/>
              </a:solidFill>
            </a:endParaRPr>
          </a:p>
          <a:p>
            <a:pPr indent="-298450" lvl="1" marL="914400" rtl="0" algn="l">
              <a:lnSpc>
                <a:spcPct val="100000"/>
              </a:lnSpc>
              <a:spcBef>
                <a:spcPts val="0"/>
              </a:spcBef>
              <a:spcAft>
                <a:spcPts val="0"/>
              </a:spcAft>
              <a:buSzPts val="1100"/>
              <a:buChar char="○"/>
            </a:pPr>
            <a:r>
              <a:rPr lang="en"/>
              <a:t>Even though </a:t>
            </a:r>
            <a:r>
              <a:rPr lang="en">
                <a:latin typeface="Courier New"/>
                <a:ea typeface="Courier New"/>
                <a:cs typeface="Courier New"/>
                <a:sym typeface="Courier New"/>
              </a:rPr>
              <a:t>==</a:t>
            </a:r>
            <a:r>
              <a:rPr lang="en"/>
              <a:t> will appear to work sometimes with strings, y</a:t>
            </a:r>
            <a:r>
              <a:rPr lang="en"/>
              <a:t>ou should generally use </a:t>
            </a:r>
            <a:r>
              <a:rPr lang="en">
                <a:latin typeface="Courier New"/>
                <a:ea typeface="Courier New"/>
                <a:cs typeface="Courier New"/>
                <a:sym typeface="Courier New"/>
              </a:rPr>
              <a:t>equals</a:t>
            </a:r>
            <a:r>
              <a:rPr lang="en"/>
              <a:t> when comparing two </a:t>
            </a:r>
            <a:r>
              <a:rPr b="1" i="1" lang="en">
                <a:solidFill>
                  <a:srgbClr val="FF0000"/>
                </a:solidFill>
              </a:rPr>
              <a:t>strings</a:t>
            </a:r>
            <a:r>
              <a:rPr lang="en"/>
              <a:t>.</a:t>
            </a:r>
            <a:endParaRPr b="1" i="1">
              <a:solidFill>
                <a:srgbClr val="FF0000"/>
              </a:solidFill>
            </a:endParaRPr>
          </a:p>
        </p:txBody>
      </p:sp>
      <p:sp>
        <p:nvSpPr>
          <p:cNvPr id="630" name="Google Shape;630;p78"/>
          <p:cNvSpPr txBox="1"/>
          <p:nvPr>
            <p:ph idx="2" type="body"/>
          </p:nvPr>
        </p:nvSpPr>
        <p:spPr>
          <a:xfrm>
            <a:off x="311725" y="1368550"/>
            <a:ext cx="3706500" cy="2425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98658"/>
                </a:solidFill>
                <a:latin typeface="Consolas"/>
                <a:ea typeface="Consolas"/>
                <a:cs typeface="Consolas"/>
                <a:sym typeface="Consolas"/>
              </a:rPr>
              <a:t>1</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2</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3</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4</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5</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6</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7</a:t>
            </a: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8</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9</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10</a:t>
            </a:r>
            <a:r>
              <a:rPr lang="en">
                <a:solidFill>
                  <a:srgbClr val="000000"/>
                </a:solidFill>
                <a:latin typeface="Consolas"/>
                <a:ea typeface="Consolas"/>
                <a:cs typeface="Consolas"/>
                <a:sym typeface="Consolas"/>
              </a:rPr>
              <a:t> }</a:t>
            </a:r>
            <a:endParaRPr sz="1400">
              <a:solidFill>
                <a:srgbClr val="000000"/>
              </a:solidFill>
              <a:highlight>
                <a:schemeClr val="lt1"/>
              </a:highlight>
              <a:latin typeface="Consolas"/>
              <a:ea typeface="Consolas"/>
              <a:cs typeface="Consolas"/>
              <a:sym typeface="Consolas"/>
            </a:endParaRPr>
          </a:p>
        </p:txBody>
      </p:sp>
      <p:sp>
        <p:nvSpPr>
          <p:cNvPr id="631" name="Google Shape;631;p78"/>
          <p:cNvSpPr txBox="1"/>
          <p:nvPr>
            <p:ph idx="3" type="body"/>
          </p:nvPr>
        </p:nvSpPr>
        <p:spPr>
          <a:xfrm>
            <a:off x="311725" y="389497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Remember that two instances of the same class can directly access each other's private fields without using an accessor.</a:t>
            </a:r>
            <a:endParaRPr sz="1200"/>
          </a:p>
        </p:txBody>
      </p:sp>
      <p:grpSp>
        <p:nvGrpSpPr>
          <p:cNvPr id="632" name="Google Shape;632;p78"/>
          <p:cNvGrpSpPr/>
          <p:nvPr/>
        </p:nvGrpSpPr>
        <p:grpSpPr>
          <a:xfrm>
            <a:off x="1167950" y="2313450"/>
            <a:ext cx="2710200" cy="1572300"/>
            <a:chOff x="1167950" y="2313450"/>
            <a:chExt cx="2710200" cy="1572300"/>
          </a:xfrm>
        </p:grpSpPr>
        <p:sp>
          <p:nvSpPr>
            <p:cNvPr id="633" name="Google Shape;633;p78"/>
            <p:cNvSpPr/>
            <p:nvPr/>
          </p:nvSpPr>
          <p:spPr>
            <a:xfrm>
              <a:off x="1167950" y="2313450"/>
              <a:ext cx="2710200" cy="486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4" name="Google Shape;634;p78"/>
            <p:cNvCxnSpPr>
              <a:stCxn id="633" idx="2"/>
            </p:cNvCxnSpPr>
            <p:nvPr/>
          </p:nvCxnSpPr>
          <p:spPr>
            <a:xfrm>
              <a:off x="2523050" y="2800050"/>
              <a:ext cx="0" cy="108570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1000"/>
                                        <p:tgtEl>
                                          <p:spTgt spid="6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the </a:t>
            </a:r>
            <a:r>
              <a:rPr lang="en">
                <a:latin typeface="Courier New"/>
                <a:ea typeface="Courier New"/>
                <a:cs typeface="Courier New"/>
                <a:sym typeface="Courier New"/>
              </a:rPr>
              <a:t>equals(Object)</a:t>
            </a:r>
            <a:r>
              <a:rPr lang="en"/>
              <a:t> Method</a:t>
            </a:r>
            <a:endParaRPr/>
          </a:p>
        </p:txBody>
      </p:sp>
      <p:sp>
        <p:nvSpPr>
          <p:cNvPr id="640" name="Google Shape;640;p7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1" name="Google Shape;641;p79"/>
          <p:cNvSpPr txBox="1"/>
          <p:nvPr>
            <p:ph idx="4294967295" type="body"/>
          </p:nvPr>
        </p:nvSpPr>
        <p:spPr>
          <a:xfrm>
            <a:off x="2718775" y="1584350"/>
            <a:ext cx="3706500" cy="2425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98658"/>
                </a:solidFill>
                <a:latin typeface="Consolas"/>
                <a:ea typeface="Consolas"/>
                <a:cs typeface="Consolas"/>
                <a:sym typeface="Consolas"/>
              </a:rPr>
              <a:t>1</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2</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3</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4</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5</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6</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7</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8</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9</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10</a:t>
            </a:r>
            <a:r>
              <a:rPr lang="en">
                <a:solidFill>
                  <a:srgbClr val="000000"/>
                </a:solidFill>
                <a:latin typeface="Consolas"/>
                <a:ea typeface="Consolas"/>
                <a:cs typeface="Consolas"/>
                <a:sym typeface="Consolas"/>
              </a:rPr>
              <a:t> </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the </a:t>
            </a:r>
            <a:r>
              <a:rPr lang="en">
                <a:latin typeface="Courier New"/>
                <a:ea typeface="Courier New"/>
                <a:cs typeface="Courier New"/>
                <a:sym typeface="Courier New"/>
              </a:rPr>
              <a:t>equals(Object)</a:t>
            </a:r>
            <a:r>
              <a:rPr lang="en"/>
              <a:t> Method</a:t>
            </a:r>
            <a:endParaRPr/>
          </a:p>
        </p:txBody>
      </p:sp>
      <p:sp>
        <p:nvSpPr>
          <p:cNvPr id="647" name="Google Shape;647;p8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8" name="Google Shape;648;p80"/>
          <p:cNvSpPr txBox="1"/>
          <p:nvPr>
            <p:ph idx="4294967295" type="body"/>
          </p:nvPr>
        </p:nvSpPr>
        <p:spPr>
          <a:xfrm>
            <a:off x="2718775" y="1584350"/>
            <a:ext cx="3706500" cy="24258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98658"/>
                </a:solidFill>
                <a:latin typeface="Consolas"/>
                <a:ea typeface="Consolas"/>
                <a:cs typeface="Consolas"/>
                <a:sym typeface="Consolas"/>
              </a:rPr>
              <a:t>1</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2</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3</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4</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5</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6</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7</a:t>
            </a: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8</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9</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98658"/>
                </a:solidFill>
                <a:latin typeface="Consolas"/>
                <a:ea typeface="Consolas"/>
                <a:cs typeface="Consolas"/>
                <a:sym typeface="Consolas"/>
              </a:rPr>
              <a:t>10</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p:txBody>
      </p:sp>
      <p:sp>
        <p:nvSpPr>
          <p:cNvPr id="649" name="Google Shape;649;p80"/>
          <p:cNvSpPr/>
          <p:nvPr/>
        </p:nvSpPr>
        <p:spPr>
          <a:xfrm>
            <a:off x="2418275" y="1481923"/>
            <a:ext cx="950825" cy="232586"/>
          </a:xfrm>
          <a:custGeom>
            <a:rect b="b" l="l" r="r" t="t"/>
            <a:pathLst>
              <a:path extrusionOk="0" h="12298" w="38033">
                <a:moveTo>
                  <a:pt x="0" y="3613"/>
                </a:moveTo>
                <a:cubicBezTo>
                  <a:pt x="5141" y="3064"/>
                  <a:pt x="24507" y="-1128"/>
                  <a:pt x="30846" y="319"/>
                </a:cubicBezTo>
                <a:cubicBezTo>
                  <a:pt x="37185" y="1767"/>
                  <a:pt x="36835" y="10302"/>
                  <a:pt x="38033" y="12298"/>
                </a:cubicBezTo>
              </a:path>
            </a:pathLst>
          </a:custGeom>
          <a:noFill/>
          <a:ln cap="flat" cmpd="sng" w="19050">
            <a:solidFill>
              <a:srgbClr val="FF0000"/>
            </a:solidFill>
            <a:prstDash val="solid"/>
            <a:round/>
            <a:headEnd len="med" w="med" type="none"/>
            <a:tailEnd len="med" w="med" type="triangle"/>
          </a:ln>
        </p:spPr>
      </p:sp>
      <p:sp>
        <p:nvSpPr>
          <p:cNvPr id="650" name="Google Shape;650;p80"/>
          <p:cNvSpPr txBox="1"/>
          <p:nvPr>
            <p:ph idx="4294967295" type="body"/>
          </p:nvPr>
        </p:nvSpPr>
        <p:spPr>
          <a:xfrm>
            <a:off x="98300" y="1506675"/>
            <a:ext cx="24846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The </a:t>
            </a:r>
            <a:r>
              <a:rPr lang="en" sz="1200">
                <a:solidFill>
                  <a:srgbClr val="FF0000"/>
                </a:solidFill>
                <a:latin typeface="Courier New"/>
                <a:ea typeface="Courier New"/>
                <a:cs typeface="Courier New"/>
                <a:sym typeface="Courier New"/>
              </a:rPr>
              <a:t>@Override</a:t>
            </a:r>
            <a:r>
              <a:rPr lang="en" sz="1200">
                <a:solidFill>
                  <a:srgbClr val="000000"/>
                </a:solidFill>
                <a:latin typeface="Arial"/>
                <a:ea typeface="Arial"/>
                <a:cs typeface="Arial"/>
                <a:sym typeface="Arial"/>
              </a:rPr>
              <a:t> annotation is not required, but is recommended.</a:t>
            </a:r>
            <a:endParaRPr sz="1200">
              <a:solidFill>
                <a:srgbClr val="000000"/>
              </a:solidFill>
              <a:latin typeface="Arial"/>
              <a:ea typeface="Arial"/>
              <a:cs typeface="Arial"/>
              <a:sym typeface="Arial"/>
            </a:endParaRPr>
          </a:p>
        </p:txBody>
      </p:sp>
      <p:sp>
        <p:nvSpPr>
          <p:cNvPr id="651" name="Google Shape;651;p80"/>
          <p:cNvSpPr/>
          <p:nvPr/>
        </p:nvSpPr>
        <p:spPr>
          <a:xfrm>
            <a:off x="5338150" y="2222275"/>
            <a:ext cx="1355097" cy="183125"/>
          </a:xfrm>
          <a:custGeom>
            <a:rect b="b" l="l" r="r" t="t"/>
            <a:pathLst>
              <a:path extrusionOk="0" h="7325" w="61393">
                <a:moveTo>
                  <a:pt x="61393" y="3294"/>
                </a:moveTo>
                <a:cubicBezTo>
                  <a:pt x="57699" y="3943"/>
                  <a:pt x="49463" y="7737"/>
                  <a:pt x="39231" y="7188"/>
                </a:cubicBezTo>
                <a:cubicBezTo>
                  <a:pt x="28999" y="6639"/>
                  <a:pt x="6539" y="1198"/>
                  <a:pt x="0" y="0"/>
                </a:cubicBezTo>
              </a:path>
            </a:pathLst>
          </a:custGeom>
          <a:noFill/>
          <a:ln cap="flat" cmpd="sng" w="19050">
            <a:solidFill>
              <a:srgbClr val="FF0000"/>
            </a:solidFill>
            <a:prstDash val="solid"/>
            <a:round/>
            <a:headEnd len="med" w="med" type="none"/>
            <a:tailEnd len="med" w="med" type="triangle"/>
          </a:ln>
        </p:spPr>
      </p:sp>
      <p:sp>
        <p:nvSpPr>
          <p:cNvPr id="652" name="Google Shape;652;p80"/>
          <p:cNvSpPr txBox="1"/>
          <p:nvPr>
            <p:ph idx="4294967295" type="body"/>
          </p:nvPr>
        </p:nvSpPr>
        <p:spPr>
          <a:xfrm>
            <a:off x="6536550" y="1506675"/>
            <a:ext cx="24846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b="1" i="1" lang="en" sz="1200">
                <a:solidFill>
                  <a:srgbClr val="FF0000"/>
                </a:solidFill>
                <a:latin typeface="Arial"/>
                <a:ea typeface="Arial"/>
                <a:cs typeface="Arial"/>
                <a:sym typeface="Arial"/>
              </a:rPr>
              <a:t>Any </a:t>
            </a:r>
            <a:r>
              <a:rPr lang="en" sz="1200">
                <a:solidFill>
                  <a:srgbClr val="000000"/>
                </a:solidFill>
                <a:latin typeface="Arial"/>
                <a:ea typeface="Arial"/>
                <a:cs typeface="Arial"/>
                <a:sym typeface="Arial"/>
              </a:rPr>
              <a:t>kind of Java object may be passed into the method, so it is important that we make sure it is the right type using </a:t>
            </a:r>
            <a:r>
              <a:rPr lang="en" sz="1200">
                <a:solidFill>
                  <a:srgbClr val="FF0000"/>
                </a:solidFill>
                <a:latin typeface="Courier New"/>
                <a:ea typeface="Courier New"/>
                <a:cs typeface="Courier New"/>
                <a:sym typeface="Courier New"/>
              </a:rPr>
              <a:t>instanceof</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53" name="Google Shape;653;p80"/>
          <p:cNvSpPr/>
          <p:nvPr/>
        </p:nvSpPr>
        <p:spPr>
          <a:xfrm>
            <a:off x="2470675" y="2508100"/>
            <a:ext cx="1123025" cy="381850"/>
          </a:xfrm>
          <a:custGeom>
            <a:rect b="b" l="l" r="r" t="t"/>
            <a:pathLst>
              <a:path extrusionOk="0" h="15274" w="44921">
                <a:moveTo>
                  <a:pt x="0" y="15274"/>
                </a:moveTo>
                <a:cubicBezTo>
                  <a:pt x="2695" y="13278"/>
                  <a:pt x="8685" y="5841"/>
                  <a:pt x="16172" y="3295"/>
                </a:cubicBezTo>
                <a:cubicBezTo>
                  <a:pt x="23659" y="749"/>
                  <a:pt x="40130" y="549"/>
                  <a:pt x="44921" y="0"/>
                </a:cubicBezTo>
              </a:path>
            </a:pathLst>
          </a:custGeom>
          <a:noFill/>
          <a:ln cap="flat" cmpd="sng" w="19050">
            <a:solidFill>
              <a:srgbClr val="FF0000"/>
            </a:solidFill>
            <a:prstDash val="solid"/>
            <a:round/>
            <a:headEnd len="med" w="med" type="none"/>
            <a:tailEnd len="med" w="med" type="triangle"/>
          </a:ln>
        </p:spPr>
      </p:sp>
      <p:sp>
        <p:nvSpPr>
          <p:cNvPr id="654" name="Google Shape;654;p80"/>
          <p:cNvSpPr txBox="1"/>
          <p:nvPr>
            <p:ph idx="4294967295" type="body"/>
          </p:nvPr>
        </p:nvSpPr>
        <p:spPr>
          <a:xfrm>
            <a:off x="98300" y="2266950"/>
            <a:ext cx="24846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Not all objects have an </a:t>
            </a:r>
            <a:r>
              <a:rPr lang="en" sz="1200">
                <a:solidFill>
                  <a:srgbClr val="000000"/>
                </a:solidFill>
                <a:latin typeface="Courier New"/>
                <a:ea typeface="Courier New"/>
                <a:cs typeface="Courier New"/>
                <a:sym typeface="Courier New"/>
              </a:rPr>
              <a:t>age</a:t>
            </a:r>
            <a:r>
              <a:rPr lang="en" sz="1200">
                <a:solidFill>
                  <a:srgbClr val="000000"/>
                </a:solidFill>
                <a:latin typeface="Arial"/>
                <a:ea typeface="Arial"/>
                <a:cs typeface="Arial"/>
                <a:sym typeface="Arial"/>
              </a:rPr>
              <a:t> or a </a:t>
            </a:r>
            <a:r>
              <a:rPr lang="en" sz="1200">
                <a:solidFill>
                  <a:srgbClr val="000000"/>
                </a:solidFill>
                <a:latin typeface="Courier New"/>
                <a:ea typeface="Courier New"/>
                <a:cs typeface="Courier New"/>
                <a:sym typeface="Courier New"/>
              </a:rPr>
              <a:t>name</a:t>
            </a:r>
            <a:r>
              <a:rPr lang="en" sz="1200">
                <a:solidFill>
                  <a:srgbClr val="000000"/>
                </a:solidFill>
                <a:latin typeface="Arial"/>
                <a:ea typeface="Arial"/>
                <a:cs typeface="Arial"/>
                <a:sym typeface="Arial"/>
              </a:rPr>
              <a:t> like </a:t>
            </a:r>
            <a:r>
              <a:rPr lang="en" sz="1200">
                <a:solidFill>
                  <a:srgbClr val="000000"/>
                </a:solidFill>
                <a:latin typeface="Courier New"/>
                <a:ea typeface="Courier New"/>
                <a:cs typeface="Courier New"/>
                <a:sym typeface="Courier New"/>
              </a:rPr>
              <a:t>Pet</a:t>
            </a:r>
            <a:r>
              <a:rPr lang="en" sz="1200">
                <a:solidFill>
                  <a:srgbClr val="000000"/>
                </a:solidFill>
                <a:latin typeface="Arial"/>
                <a:ea typeface="Arial"/>
                <a:cs typeface="Arial"/>
                <a:sym typeface="Arial"/>
              </a:rPr>
              <a:t>s do. In order to access those fields, we will need to </a:t>
            </a:r>
            <a:r>
              <a:rPr b="1" i="1" lang="en" sz="1200">
                <a:solidFill>
                  <a:srgbClr val="FF0000"/>
                </a:solidFill>
                <a:latin typeface="Arial"/>
                <a:ea typeface="Arial"/>
                <a:cs typeface="Arial"/>
                <a:sym typeface="Arial"/>
              </a:rPr>
              <a:t>cast</a:t>
            </a:r>
            <a:r>
              <a:rPr lang="en" sz="1200">
                <a:solidFill>
                  <a:srgbClr val="FF0000"/>
                </a:solidFill>
                <a:latin typeface="Arial"/>
                <a:ea typeface="Arial"/>
                <a:cs typeface="Arial"/>
                <a:sym typeface="Arial"/>
              </a:rPr>
              <a:t> </a:t>
            </a:r>
            <a:r>
              <a:rPr lang="en" sz="1200">
                <a:solidFill>
                  <a:srgbClr val="000000"/>
                </a:solidFill>
                <a:latin typeface="Courier New"/>
                <a:ea typeface="Courier New"/>
                <a:cs typeface="Courier New"/>
                <a:sym typeface="Courier New"/>
              </a:rPr>
              <a:t>obj</a:t>
            </a:r>
            <a:r>
              <a:rPr lang="en" sz="1200">
                <a:solidFill>
                  <a:srgbClr val="000000"/>
                </a:solidFill>
                <a:latin typeface="Arial"/>
                <a:ea typeface="Arial"/>
                <a:cs typeface="Arial"/>
                <a:sym typeface="Arial"/>
              </a:rPr>
              <a:t> into a </a:t>
            </a:r>
            <a:r>
              <a:rPr lang="en" sz="1200">
                <a:solidFill>
                  <a:srgbClr val="000000"/>
                </a:solidFill>
                <a:latin typeface="Courier New"/>
                <a:ea typeface="Courier New"/>
                <a:cs typeface="Courier New"/>
                <a:sym typeface="Courier New"/>
              </a:rPr>
              <a:t>Pet</a:t>
            </a:r>
            <a:r>
              <a:rPr lang="en" sz="1200">
                <a:solidFill>
                  <a:srgbClr val="000000"/>
                </a:solidFill>
                <a:latin typeface="Arial"/>
                <a:ea typeface="Arial"/>
                <a:cs typeface="Arial"/>
                <a:sym typeface="Arial"/>
              </a:rPr>
              <a:t> variable</a:t>
            </a:r>
            <a:r>
              <a:rPr lang="en" sz="1200">
                <a:solidFill>
                  <a:srgbClr val="000000"/>
                </a:solidFill>
                <a:latin typeface="Arial"/>
                <a:ea typeface="Arial"/>
                <a:cs typeface="Arial"/>
                <a:sym typeface="Arial"/>
              </a:rPr>
              <a:t>, e.g. </a:t>
            </a:r>
            <a:r>
              <a:rPr lang="en" sz="1200">
                <a:solidFill>
                  <a:srgbClr val="FF0000"/>
                </a:solidFill>
                <a:latin typeface="Courier New"/>
                <a:ea typeface="Courier New"/>
                <a:cs typeface="Courier New"/>
                <a:sym typeface="Courier New"/>
              </a:rPr>
              <a:t>Pet other = (Pet)obj;</a:t>
            </a:r>
            <a:endParaRPr sz="1200">
              <a:solidFill>
                <a:srgbClr val="FF0000"/>
              </a:solidFill>
              <a:latin typeface="Courier New"/>
              <a:ea typeface="Courier New"/>
              <a:cs typeface="Courier New"/>
              <a:sym typeface="Courier New"/>
            </a:endParaRPr>
          </a:p>
        </p:txBody>
      </p:sp>
      <p:sp>
        <p:nvSpPr>
          <p:cNvPr id="655" name="Google Shape;655;p80"/>
          <p:cNvSpPr/>
          <p:nvPr/>
        </p:nvSpPr>
        <p:spPr>
          <a:xfrm>
            <a:off x="5585701" y="2069875"/>
            <a:ext cx="950824" cy="183125"/>
          </a:xfrm>
          <a:custGeom>
            <a:rect b="b" l="l" r="r" t="t"/>
            <a:pathLst>
              <a:path extrusionOk="0" h="7325" w="61393">
                <a:moveTo>
                  <a:pt x="61393" y="3294"/>
                </a:moveTo>
                <a:cubicBezTo>
                  <a:pt x="57699" y="3943"/>
                  <a:pt x="49463" y="7737"/>
                  <a:pt x="39231" y="7188"/>
                </a:cubicBezTo>
                <a:cubicBezTo>
                  <a:pt x="28999" y="6639"/>
                  <a:pt x="6539" y="1198"/>
                  <a:pt x="0" y="0"/>
                </a:cubicBezTo>
              </a:path>
            </a:pathLst>
          </a:custGeom>
          <a:noFill/>
          <a:ln cap="flat" cmpd="sng" w="19050">
            <a:solidFill>
              <a:srgbClr val="FF0000"/>
            </a:solidFill>
            <a:prstDash val="solid"/>
            <a:round/>
            <a:headEnd len="med" w="med" type="none"/>
            <a:tailEnd len="med" w="med" type="triangle"/>
          </a:ln>
        </p:spPr>
      </p:sp>
      <p:sp>
        <p:nvSpPr>
          <p:cNvPr id="656" name="Google Shape;656;p80"/>
          <p:cNvSpPr/>
          <p:nvPr/>
        </p:nvSpPr>
        <p:spPr>
          <a:xfrm>
            <a:off x="5532812" y="2963475"/>
            <a:ext cx="1070635" cy="421100"/>
          </a:xfrm>
          <a:custGeom>
            <a:rect b="b" l="l" r="r" t="t"/>
            <a:pathLst>
              <a:path extrusionOk="0" h="16844" w="48815">
                <a:moveTo>
                  <a:pt x="48815" y="11380"/>
                </a:moveTo>
                <a:cubicBezTo>
                  <a:pt x="45571" y="12229"/>
                  <a:pt x="37485" y="18368"/>
                  <a:pt x="29349" y="16471"/>
                </a:cubicBezTo>
                <a:cubicBezTo>
                  <a:pt x="21213" y="14574"/>
                  <a:pt x="4892" y="2745"/>
                  <a:pt x="0" y="0"/>
                </a:cubicBezTo>
              </a:path>
            </a:pathLst>
          </a:custGeom>
          <a:noFill/>
          <a:ln cap="flat" cmpd="sng" w="19050">
            <a:solidFill>
              <a:srgbClr val="FF0000"/>
            </a:solidFill>
            <a:prstDash val="solid"/>
            <a:round/>
            <a:headEnd len="med" w="med" type="none"/>
            <a:tailEnd len="med" w="med" type="triangle"/>
          </a:ln>
        </p:spPr>
      </p:sp>
      <p:sp>
        <p:nvSpPr>
          <p:cNvPr id="657" name="Google Shape;657;p80"/>
          <p:cNvSpPr txBox="1"/>
          <p:nvPr>
            <p:ph idx="4294967295" type="body"/>
          </p:nvPr>
        </p:nvSpPr>
        <p:spPr>
          <a:xfrm>
            <a:off x="6536550" y="2701675"/>
            <a:ext cx="2484600" cy="11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The </a:t>
            </a:r>
            <a:r>
              <a:rPr lang="en" sz="1200">
                <a:solidFill>
                  <a:srgbClr val="000000"/>
                </a:solidFill>
                <a:latin typeface="Courier New"/>
                <a:ea typeface="Courier New"/>
                <a:cs typeface="Courier New"/>
                <a:sym typeface="Courier New"/>
              </a:rPr>
              <a:t>==</a:t>
            </a:r>
            <a:r>
              <a:rPr lang="en" sz="1200">
                <a:solidFill>
                  <a:srgbClr val="000000"/>
                </a:solidFill>
                <a:latin typeface="Arial"/>
                <a:ea typeface="Arial"/>
                <a:cs typeface="Arial"/>
                <a:sym typeface="Arial"/>
              </a:rPr>
              <a:t> operator should be used when comparing primitive values, and </a:t>
            </a:r>
            <a:r>
              <a:rPr lang="en" sz="1200">
                <a:solidFill>
                  <a:srgbClr val="000000"/>
                </a:solidFill>
                <a:latin typeface="Courier New"/>
                <a:ea typeface="Courier New"/>
                <a:cs typeface="Courier New"/>
                <a:sym typeface="Courier New"/>
              </a:rPr>
              <a:t>equals(Object)</a:t>
            </a:r>
            <a:r>
              <a:rPr lang="en" sz="1200">
                <a:solidFill>
                  <a:srgbClr val="000000"/>
                </a:solidFill>
                <a:latin typeface="Arial"/>
                <a:ea typeface="Arial"/>
                <a:cs typeface="Arial"/>
                <a:sym typeface="Arial"/>
              </a:rPr>
              <a:t> should be used to compare reference types like strings.</a:t>
            </a:r>
            <a:endParaRPr sz="1200">
              <a:solidFill>
                <a:srgbClr val="FF0000"/>
              </a:solidFill>
              <a:latin typeface="Courier New"/>
              <a:ea typeface="Courier New"/>
              <a:cs typeface="Courier New"/>
              <a:sym typeface="Courier New"/>
            </a:endParaRPr>
          </a:p>
        </p:txBody>
      </p:sp>
      <p:sp>
        <p:nvSpPr>
          <p:cNvPr id="658" name="Google Shape;658;p80"/>
          <p:cNvSpPr/>
          <p:nvPr/>
        </p:nvSpPr>
        <p:spPr>
          <a:xfrm>
            <a:off x="2515600" y="3321900"/>
            <a:ext cx="995796" cy="623715"/>
          </a:xfrm>
          <a:custGeom>
            <a:rect b="b" l="l" r="r" t="t"/>
            <a:pathLst>
              <a:path extrusionOk="0" h="30593" w="38333">
                <a:moveTo>
                  <a:pt x="0" y="30593"/>
                </a:moveTo>
                <a:cubicBezTo>
                  <a:pt x="3993" y="25951"/>
                  <a:pt x="17569" y="7683"/>
                  <a:pt x="23958" y="2742"/>
                </a:cubicBezTo>
                <a:cubicBezTo>
                  <a:pt x="30347" y="-2199"/>
                  <a:pt x="35937" y="1245"/>
                  <a:pt x="38333" y="945"/>
                </a:cubicBezTo>
              </a:path>
            </a:pathLst>
          </a:custGeom>
          <a:noFill/>
          <a:ln cap="flat" cmpd="sng" w="19050">
            <a:solidFill>
              <a:srgbClr val="FF0000"/>
            </a:solidFill>
            <a:prstDash val="solid"/>
            <a:round/>
            <a:headEnd len="med" w="med" type="none"/>
            <a:tailEnd len="med" w="med" type="triangle"/>
          </a:ln>
        </p:spPr>
      </p:sp>
      <p:sp>
        <p:nvSpPr>
          <p:cNvPr id="659" name="Google Shape;659;p80"/>
          <p:cNvSpPr txBox="1"/>
          <p:nvPr>
            <p:ph idx="4294967295" type="body"/>
          </p:nvPr>
        </p:nvSpPr>
        <p:spPr>
          <a:xfrm>
            <a:off x="98300" y="3555025"/>
            <a:ext cx="2484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If the </a:t>
            </a:r>
            <a:r>
              <a:rPr lang="en" sz="1200">
                <a:solidFill>
                  <a:srgbClr val="000000"/>
                </a:solidFill>
                <a:latin typeface="Courier New"/>
                <a:ea typeface="Courier New"/>
                <a:cs typeface="Courier New"/>
                <a:sym typeface="Courier New"/>
              </a:rPr>
              <a:t>Object</a:t>
            </a:r>
            <a:r>
              <a:rPr lang="en" sz="1200">
                <a:solidFill>
                  <a:srgbClr val="000000"/>
                </a:solidFill>
                <a:latin typeface="Arial"/>
                <a:ea typeface="Arial"/>
                <a:cs typeface="Arial"/>
                <a:sym typeface="Arial"/>
              </a:rPr>
              <a:t> parameter is not an instance of the correct class, return </a:t>
            </a:r>
            <a:r>
              <a:rPr lang="en" sz="1200">
                <a:solidFill>
                  <a:srgbClr val="000000"/>
                </a:solidFill>
                <a:latin typeface="Courier New"/>
                <a:ea typeface="Courier New"/>
                <a:cs typeface="Courier New"/>
                <a:sym typeface="Courier New"/>
              </a:rPr>
              <a:t>false</a:t>
            </a:r>
            <a:r>
              <a:rPr lang="en" sz="1200">
                <a:solidFill>
                  <a:srgbClr val="000000"/>
                </a:solidFill>
                <a:latin typeface="Arial"/>
                <a:ea typeface="Arial"/>
                <a:cs typeface="Arial"/>
                <a:sym typeface="Arial"/>
              </a:rPr>
              <a:t>.</a:t>
            </a:r>
            <a:endParaRPr sz="1200">
              <a:solidFill>
                <a:srgbClr val="FF0000"/>
              </a:solidFill>
              <a:latin typeface="Courier New"/>
              <a:ea typeface="Courier New"/>
              <a:cs typeface="Courier New"/>
              <a:sym typeface="Courier New"/>
            </a:endParaRPr>
          </a:p>
        </p:txBody>
      </p:sp>
      <p:sp>
        <p:nvSpPr>
          <p:cNvPr id="660" name="Google Shape;660;p80"/>
          <p:cNvSpPr txBox="1"/>
          <p:nvPr>
            <p:ph idx="4294967295" type="body"/>
          </p:nvPr>
        </p:nvSpPr>
        <p:spPr>
          <a:xfrm>
            <a:off x="2718775" y="4085275"/>
            <a:ext cx="3706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It is up to the programmer to decide what it means for two instances to be equal to each other. In this case, two </a:t>
            </a:r>
            <a:r>
              <a:rPr lang="en" sz="1200">
                <a:solidFill>
                  <a:srgbClr val="000000"/>
                </a:solidFill>
                <a:latin typeface="Courier New"/>
                <a:ea typeface="Courier New"/>
                <a:cs typeface="Courier New"/>
                <a:sym typeface="Courier New"/>
              </a:rPr>
              <a:t>Pet</a:t>
            </a:r>
            <a:r>
              <a:rPr lang="en" sz="1200">
                <a:solidFill>
                  <a:srgbClr val="000000"/>
                </a:solidFill>
                <a:latin typeface="Arial"/>
                <a:ea typeface="Arial"/>
                <a:cs typeface="Arial"/>
                <a:sym typeface="Arial"/>
              </a:rPr>
              <a:t>s are equal if they have the same values for </a:t>
            </a:r>
            <a:r>
              <a:rPr lang="en" sz="1200">
                <a:solidFill>
                  <a:srgbClr val="000000"/>
                </a:solidFill>
                <a:latin typeface="Courier New"/>
                <a:ea typeface="Courier New"/>
                <a:cs typeface="Courier New"/>
                <a:sym typeface="Courier New"/>
              </a:rPr>
              <a:t>age</a:t>
            </a:r>
            <a:r>
              <a:rPr lang="en" sz="1200">
                <a:solidFill>
                  <a:srgbClr val="000000"/>
                </a:solidFill>
                <a:latin typeface="Arial"/>
                <a:ea typeface="Arial"/>
                <a:cs typeface="Arial"/>
                <a:sym typeface="Arial"/>
              </a:rPr>
              <a:t> and </a:t>
            </a:r>
            <a:r>
              <a:rPr lang="en" sz="1200">
                <a:solidFill>
                  <a:srgbClr val="000000"/>
                </a:solidFill>
                <a:latin typeface="Courier New"/>
                <a:ea typeface="Courier New"/>
                <a:cs typeface="Courier New"/>
                <a:sym typeface="Courier New"/>
              </a:rPr>
              <a:t>name</a:t>
            </a:r>
            <a:r>
              <a:rPr lang="en" sz="1200">
                <a:solidFill>
                  <a:srgbClr val="000000"/>
                </a:solidFill>
                <a:latin typeface="Arial"/>
                <a:ea typeface="Arial"/>
                <a:cs typeface="Arial"/>
                <a:sym typeface="Arial"/>
              </a:rPr>
              <a:t>.</a:t>
            </a:r>
            <a:endParaRPr sz="1200">
              <a:solidFill>
                <a:srgbClr val="FF0000"/>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1000"/>
                                        <p:tgtEl>
                                          <p:spTgt spid="6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1000"/>
                                        <p:tgtEl>
                                          <p:spTgt spid="65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1000"/>
                                        <p:tgtEl>
                                          <p:spTgt spid="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1000"/>
                                        <p:tgtEl>
                                          <p:spTgt spid="65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1000"/>
                                        <p:tgtEl>
                                          <p:spTgt spid="6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000"/>
                                        <p:tgtEl>
                                          <p:spTgt spid="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a:t>
            </a:r>
            <a:r>
              <a:rPr lang="en"/>
              <a:t> operator will only evaluate to </a:t>
            </a:r>
            <a:r>
              <a:rPr lang="en">
                <a:latin typeface="Courier New"/>
                <a:ea typeface="Courier New"/>
                <a:cs typeface="Courier New"/>
                <a:sym typeface="Courier New"/>
              </a:rPr>
              <a:t>true</a:t>
            </a:r>
            <a:r>
              <a:rPr lang="en"/>
              <a:t> if an object is compared to itself, but we'd like two </a:t>
            </a:r>
            <a:r>
              <a:rPr lang="en">
                <a:latin typeface="Courier New"/>
                <a:ea typeface="Courier New"/>
                <a:cs typeface="Courier New"/>
                <a:sym typeface="Courier New"/>
              </a:rPr>
              <a:t>Weapon</a:t>
            </a:r>
            <a:r>
              <a:rPr lang="en"/>
              <a:t>s to be considered equal if they have the same damage amount and damage type. </a:t>
            </a:r>
            <a:endParaRPr/>
          </a:p>
        </p:txBody>
      </p:sp>
      <p:sp>
        <p:nvSpPr>
          <p:cNvPr id="666" name="Google Shape;666;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7" name="Google Shape;667;p81"/>
          <p:cNvSpPr txBox="1"/>
          <p:nvPr>
            <p:ph idx="2" type="body"/>
          </p:nvPr>
        </p:nvSpPr>
        <p:spPr>
          <a:xfrm>
            <a:off x="3466425" y="1501500"/>
            <a:ext cx="5554800" cy="3221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Weapon</a:t>
            </a:r>
            <a:r>
              <a:rPr lang="en"/>
              <a:t> class and override the special </a:t>
            </a:r>
            <a:r>
              <a:rPr lang="en">
                <a:latin typeface="Courier New"/>
                <a:ea typeface="Courier New"/>
                <a:cs typeface="Courier New"/>
                <a:sym typeface="Courier New"/>
              </a:rPr>
              <a:t>equals(Object)</a:t>
            </a:r>
            <a:r>
              <a:rPr lang="en"/>
              <a:t> method.</a:t>
            </a:r>
            <a:endParaRPr/>
          </a:p>
          <a:p>
            <a:pPr indent="-298450" lvl="1" marL="914400" rtl="0" algn="l">
              <a:spcBef>
                <a:spcPts val="0"/>
              </a:spcBef>
              <a:spcAft>
                <a:spcPts val="0"/>
              </a:spcAft>
              <a:buSzPts val="1100"/>
              <a:buChar char="○"/>
            </a:pPr>
            <a:r>
              <a:rPr lang="en"/>
              <a:t>Use the </a:t>
            </a:r>
            <a:r>
              <a:rPr lang="en">
                <a:latin typeface="Courier New"/>
                <a:ea typeface="Courier New"/>
                <a:cs typeface="Courier New"/>
                <a:sym typeface="Courier New"/>
              </a:rPr>
              <a:t>@Override</a:t>
            </a:r>
            <a:r>
              <a:rPr lang="en"/>
              <a:t> annotation and make sure that the method signature matches the example to the left.</a:t>
            </a:r>
            <a:endParaRPr/>
          </a:p>
          <a:p>
            <a:pPr indent="-298450" lvl="1" marL="914400" rtl="0" algn="l">
              <a:spcBef>
                <a:spcPts val="0"/>
              </a:spcBef>
              <a:spcAft>
                <a:spcPts val="0"/>
              </a:spcAft>
              <a:buSzPts val="1100"/>
              <a:buChar char="○"/>
            </a:pPr>
            <a:r>
              <a:rPr lang="en"/>
              <a:t>Use </a:t>
            </a:r>
            <a:r>
              <a:rPr lang="en">
                <a:latin typeface="Courier New"/>
                <a:ea typeface="Courier New"/>
                <a:cs typeface="Courier New"/>
                <a:sym typeface="Courier New"/>
              </a:rPr>
              <a:t>instanceof</a:t>
            </a:r>
            <a:r>
              <a:rPr lang="en"/>
              <a:t> to make sure that the </a:t>
            </a:r>
            <a:r>
              <a:rPr lang="en">
                <a:latin typeface="Courier New"/>
                <a:ea typeface="Courier New"/>
                <a:cs typeface="Courier New"/>
                <a:sym typeface="Courier New"/>
              </a:rPr>
              <a:t>obj</a:t>
            </a:r>
            <a:r>
              <a:rPr lang="en"/>
              <a:t> parameter is another </a:t>
            </a:r>
            <a:r>
              <a:rPr lang="en">
                <a:latin typeface="Courier New"/>
                <a:ea typeface="Courier New"/>
                <a:cs typeface="Courier New"/>
                <a:sym typeface="Courier New"/>
              </a:rPr>
              <a:t>Weapon</a:t>
            </a:r>
            <a:r>
              <a:rPr lang="en"/>
              <a:t>. Return </a:t>
            </a:r>
            <a:r>
              <a:rPr lang="en">
                <a:latin typeface="Courier New"/>
                <a:ea typeface="Courier New"/>
                <a:cs typeface="Courier New"/>
                <a:sym typeface="Courier New"/>
              </a:rPr>
              <a:t>false</a:t>
            </a:r>
            <a:r>
              <a:rPr lang="en"/>
              <a:t> if it is not.</a:t>
            </a:r>
            <a:endParaRPr/>
          </a:p>
          <a:p>
            <a:pPr indent="-298450" lvl="1" marL="914400" rtl="0" algn="l">
              <a:spcBef>
                <a:spcPts val="0"/>
              </a:spcBef>
              <a:spcAft>
                <a:spcPts val="0"/>
              </a:spcAft>
              <a:buSzPts val="1100"/>
              <a:buChar char="○"/>
            </a:pPr>
            <a:r>
              <a:rPr lang="en"/>
              <a:t>Don't forget to cast the </a:t>
            </a:r>
            <a:r>
              <a:rPr lang="en">
                <a:latin typeface="Courier New"/>
                <a:ea typeface="Courier New"/>
                <a:cs typeface="Courier New"/>
                <a:sym typeface="Courier New"/>
              </a:rPr>
              <a:t>obj</a:t>
            </a:r>
            <a:r>
              <a:rPr lang="en"/>
              <a:t> parameter into a </a:t>
            </a:r>
            <a:r>
              <a:rPr lang="en">
                <a:latin typeface="Courier New"/>
                <a:ea typeface="Courier New"/>
                <a:cs typeface="Courier New"/>
                <a:sym typeface="Courier New"/>
              </a:rPr>
              <a:t>Weapon</a:t>
            </a:r>
            <a:r>
              <a:rPr lang="en"/>
              <a:t>!</a:t>
            </a:r>
            <a:endParaRPr/>
          </a:p>
          <a:p>
            <a:pPr indent="-298450" lvl="1" marL="914400" rtl="0" algn="l">
              <a:spcBef>
                <a:spcPts val="0"/>
              </a:spcBef>
              <a:spcAft>
                <a:spcPts val="0"/>
              </a:spcAft>
              <a:buSzPts val="1100"/>
              <a:buChar char="○"/>
            </a:pPr>
            <a:r>
              <a:rPr lang="en"/>
              <a:t>Return </a:t>
            </a:r>
            <a:r>
              <a:rPr lang="en">
                <a:latin typeface="Courier New"/>
                <a:ea typeface="Courier New"/>
                <a:cs typeface="Courier New"/>
                <a:sym typeface="Courier New"/>
              </a:rPr>
              <a:t>true</a:t>
            </a:r>
            <a:r>
              <a:rPr lang="en"/>
              <a:t> if both weapons have the same damage amount and damage type.</a:t>
            </a:r>
            <a:endParaRPr/>
          </a:p>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main</a:t>
            </a:r>
            <a:r>
              <a:rPr lang="en"/>
              <a:t> method in the </a:t>
            </a:r>
            <a:r>
              <a:rPr lang="en">
                <a:latin typeface="Courier New"/>
                <a:ea typeface="Courier New"/>
                <a:cs typeface="Courier New"/>
                <a:sym typeface="Courier New"/>
              </a:rPr>
              <a:t>StarWarsBattle</a:t>
            </a:r>
            <a:r>
              <a:rPr lang="en"/>
              <a:t> class and c</a:t>
            </a:r>
            <a:r>
              <a:rPr lang="en"/>
              <a:t>reate at least three </a:t>
            </a:r>
            <a:r>
              <a:rPr lang="en">
                <a:latin typeface="Courier New"/>
                <a:ea typeface="Courier New"/>
                <a:cs typeface="Courier New"/>
                <a:sym typeface="Courier New"/>
              </a:rPr>
              <a:t>Weapon</a:t>
            </a:r>
            <a:r>
              <a:rPr lang="en"/>
              <a:t> objects.</a:t>
            </a:r>
            <a:endParaRPr/>
          </a:p>
          <a:p>
            <a:pPr indent="-298450" lvl="1" marL="914400" rtl="0" algn="l">
              <a:spcBef>
                <a:spcPts val="0"/>
              </a:spcBef>
              <a:spcAft>
                <a:spcPts val="0"/>
              </a:spcAft>
              <a:buSzPts val="1100"/>
              <a:buChar char="○"/>
            </a:pPr>
            <a:r>
              <a:rPr lang="en"/>
              <a:t>Two of the </a:t>
            </a:r>
            <a:r>
              <a:rPr lang="en">
                <a:latin typeface="Courier New"/>
                <a:ea typeface="Courier New"/>
                <a:cs typeface="Courier New"/>
                <a:sym typeface="Courier New"/>
              </a:rPr>
              <a:t>Weapon</a:t>
            </a:r>
            <a:r>
              <a:rPr lang="en"/>
              <a:t>s should have the same damage type and amount, and the third weapon should be different in some way.</a:t>
            </a:r>
            <a:endParaRPr/>
          </a:p>
          <a:p>
            <a:pPr indent="-298450" lvl="1" marL="914400" rtl="0" algn="l">
              <a:spcBef>
                <a:spcPts val="0"/>
              </a:spcBef>
              <a:spcAft>
                <a:spcPts val="0"/>
              </a:spcAft>
              <a:buSzPts val="1100"/>
              <a:buChar char="○"/>
            </a:pPr>
            <a:r>
              <a:rPr lang="en"/>
              <a:t>Print the results of comparing the weapons to each other using both </a:t>
            </a:r>
            <a:r>
              <a:rPr lang="en">
                <a:latin typeface="Courier New"/>
                <a:ea typeface="Courier New"/>
                <a:cs typeface="Courier New"/>
                <a:sym typeface="Courier New"/>
              </a:rPr>
              <a:t>== </a:t>
            </a:r>
            <a:r>
              <a:rPr lang="en"/>
              <a:t>and </a:t>
            </a:r>
            <a:r>
              <a:rPr lang="en">
                <a:latin typeface="Courier New"/>
                <a:ea typeface="Courier New"/>
                <a:cs typeface="Courier New"/>
                <a:sym typeface="Courier New"/>
              </a:rPr>
              <a:t>equals(Object)</a:t>
            </a:r>
            <a:r>
              <a:rPr lang="en"/>
              <a:t>.</a:t>
            </a:r>
            <a:endParaRPr/>
          </a:p>
        </p:txBody>
      </p:sp>
      <p:sp>
        <p:nvSpPr>
          <p:cNvPr id="668" name="Google Shape;668;p8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Blaster By Any Other Name</a:t>
            </a:r>
            <a:endParaRPr/>
          </a:p>
        </p:txBody>
      </p:sp>
      <p:sp>
        <p:nvSpPr>
          <p:cNvPr id="669" name="Google Shape;669;p8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2.12</a:t>
            </a:r>
            <a:endParaRPr/>
          </a:p>
        </p:txBody>
      </p:sp>
      <p:sp>
        <p:nvSpPr>
          <p:cNvPr id="670" name="Google Shape;670;p81"/>
          <p:cNvSpPr txBox="1"/>
          <p:nvPr>
            <p:ph idx="4" type="body"/>
          </p:nvPr>
        </p:nvSpPr>
        <p:spPr>
          <a:xfrm>
            <a:off x="179050" y="1621300"/>
            <a:ext cx="3225900" cy="211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2"/>
          <p:cNvSpPr txBox="1"/>
          <p:nvPr>
            <p:ph idx="1" type="body"/>
          </p:nvPr>
        </p:nvSpPr>
        <p:spPr>
          <a:xfrm>
            <a:off x="405600" y="272850"/>
            <a:ext cx="4166400" cy="4597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 common question when implementing an </a:t>
            </a:r>
            <a:r>
              <a:rPr lang="en">
                <a:latin typeface="Courier New"/>
                <a:ea typeface="Courier New"/>
                <a:cs typeface="Courier New"/>
                <a:sym typeface="Courier New"/>
              </a:rPr>
              <a:t>equals(Object)</a:t>
            </a:r>
            <a:r>
              <a:rPr lang="en"/>
              <a:t> method is: </a:t>
            </a:r>
            <a:r>
              <a:rPr i="1" lang="en"/>
              <a:t>"If I already used </a:t>
            </a:r>
            <a:r>
              <a:rPr i="1" lang="en">
                <a:latin typeface="Courier New"/>
                <a:ea typeface="Courier New"/>
                <a:cs typeface="Courier New"/>
                <a:sym typeface="Courier New"/>
              </a:rPr>
              <a:t>instanceof</a:t>
            </a:r>
            <a:r>
              <a:rPr i="1" lang="en"/>
              <a:t> to check the object type, why do I still need to cast? Is Java really that dumb?"</a:t>
            </a:r>
            <a:endParaRPr i="1"/>
          </a:p>
          <a:p>
            <a:pPr indent="-298450" lvl="1" marL="914400" rtl="0" algn="l">
              <a:spcBef>
                <a:spcPts val="0"/>
              </a:spcBef>
              <a:spcAft>
                <a:spcPts val="0"/>
              </a:spcAft>
              <a:buSzPts val="1100"/>
              <a:buChar char="○"/>
            </a:pPr>
            <a:r>
              <a:rPr lang="en"/>
              <a:t>Excellent question!</a:t>
            </a:r>
            <a:endParaRPr/>
          </a:p>
          <a:p>
            <a:pPr indent="-311150" lvl="0" marL="457200" rtl="0" algn="l">
              <a:spcBef>
                <a:spcPts val="1000"/>
              </a:spcBef>
              <a:spcAft>
                <a:spcPts val="0"/>
              </a:spcAft>
              <a:buSzPts val="1300"/>
              <a:buChar char="●"/>
            </a:pPr>
            <a:r>
              <a:rPr lang="en"/>
              <a:t>The answer used to be: </a:t>
            </a:r>
            <a:r>
              <a:rPr i="1" lang="en"/>
              <a:t>"Yes!"</a:t>
            </a:r>
            <a:endParaRPr i="1"/>
          </a:p>
          <a:p>
            <a:pPr indent="-311150" lvl="0" marL="457200" rtl="0" algn="l">
              <a:spcBef>
                <a:spcPts val="1000"/>
              </a:spcBef>
              <a:spcAft>
                <a:spcPts val="0"/>
              </a:spcAft>
              <a:buSzPts val="1300"/>
              <a:buChar char="●"/>
            </a:pPr>
            <a:r>
              <a:rPr lang="en"/>
              <a:t>The answer now is: </a:t>
            </a:r>
            <a:r>
              <a:rPr i="1" lang="en"/>
              <a:t>"As of Java 16, you </a:t>
            </a:r>
            <a:r>
              <a:rPr b="1" i="1" lang="en"/>
              <a:t>do not</a:t>
            </a:r>
            <a:r>
              <a:rPr i="1" lang="en"/>
              <a:t> need to explicitly cast from </a:t>
            </a:r>
            <a:r>
              <a:rPr i="1" lang="en">
                <a:latin typeface="Courier New"/>
                <a:ea typeface="Courier New"/>
                <a:cs typeface="Courier New"/>
                <a:sym typeface="Courier New"/>
              </a:rPr>
              <a:t>Object</a:t>
            </a:r>
            <a:r>
              <a:rPr i="1" lang="en"/>
              <a:t> into a specific type."</a:t>
            </a:r>
            <a:endParaRPr i="1"/>
          </a:p>
          <a:p>
            <a:pPr indent="-298450" lvl="1" marL="914400" rtl="0" algn="l">
              <a:spcBef>
                <a:spcPts val="0"/>
              </a:spcBef>
              <a:spcAft>
                <a:spcPts val="0"/>
              </a:spcAft>
              <a:buSzPts val="1100"/>
              <a:buChar char="○"/>
            </a:pPr>
            <a:r>
              <a:rPr lang="en"/>
              <a:t>You can </a:t>
            </a:r>
            <a:r>
              <a:rPr b="1" i="1" lang="en">
                <a:solidFill>
                  <a:srgbClr val="FF0000"/>
                </a:solidFill>
              </a:rPr>
              <a:t>automatically </a:t>
            </a:r>
            <a:r>
              <a:rPr lang="en"/>
              <a:t>cast into a new variable name if </a:t>
            </a:r>
            <a:r>
              <a:rPr lang="en">
                <a:latin typeface="Courier New"/>
                <a:ea typeface="Courier New"/>
                <a:cs typeface="Courier New"/>
                <a:sym typeface="Courier New"/>
              </a:rPr>
              <a:t>instanceof</a:t>
            </a:r>
            <a:r>
              <a:rPr lang="en"/>
              <a:t> evaluates to </a:t>
            </a:r>
            <a:r>
              <a:rPr lang="en">
                <a:latin typeface="Courier New"/>
                <a:ea typeface="Courier New"/>
                <a:cs typeface="Courier New"/>
                <a:sym typeface="Courier New"/>
              </a:rPr>
              <a:t>true</a:t>
            </a:r>
            <a:r>
              <a:rPr lang="en"/>
              <a:t>.</a:t>
            </a:r>
            <a:endParaRPr/>
          </a:p>
          <a:p>
            <a:pPr indent="-298450" lvl="1" marL="914400" rtl="0" algn="l">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if(obj instanceof Pet other) {}</a:t>
            </a:r>
            <a:r>
              <a:rPr lang="en"/>
              <a:t> will automatically cast </a:t>
            </a:r>
            <a:r>
              <a:rPr lang="en">
                <a:latin typeface="Courier New"/>
                <a:ea typeface="Courier New"/>
                <a:cs typeface="Courier New"/>
                <a:sym typeface="Courier New"/>
              </a:rPr>
              <a:t>obj</a:t>
            </a:r>
            <a:r>
              <a:rPr lang="en"/>
              <a:t> into a </a:t>
            </a:r>
            <a:r>
              <a:rPr lang="en">
                <a:latin typeface="Courier New"/>
                <a:ea typeface="Courier New"/>
                <a:cs typeface="Courier New"/>
                <a:sym typeface="Courier New"/>
              </a:rPr>
              <a:t>Pet</a:t>
            </a:r>
            <a:r>
              <a:rPr lang="en"/>
              <a:t> variable named "</a:t>
            </a:r>
            <a:r>
              <a:rPr lang="en">
                <a:latin typeface="Courier New"/>
                <a:ea typeface="Courier New"/>
                <a:cs typeface="Courier New"/>
                <a:sym typeface="Courier New"/>
              </a:rPr>
              <a:t>other</a:t>
            </a:r>
            <a:r>
              <a:rPr lang="en"/>
              <a:t>" if </a:t>
            </a:r>
            <a:r>
              <a:rPr lang="en">
                <a:latin typeface="Courier New"/>
                <a:ea typeface="Courier New"/>
                <a:cs typeface="Courier New"/>
                <a:sym typeface="Courier New"/>
              </a:rPr>
              <a:t>instanceof</a:t>
            </a:r>
            <a:r>
              <a:rPr lang="en"/>
              <a:t> is </a:t>
            </a:r>
            <a:r>
              <a:rPr lang="en">
                <a:latin typeface="Courier New"/>
                <a:ea typeface="Courier New"/>
                <a:cs typeface="Courier New"/>
                <a:sym typeface="Courier New"/>
              </a:rPr>
              <a:t>true</a:t>
            </a:r>
            <a:r>
              <a:rPr lang="en"/>
              <a:t>.</a:t>
            </a:r>
            <a:endParaRPr/>
          </a:p>
          <a:p>
            <a:pPr indent="-298450" lvl="1" marL="914400" rtl="0" algn="l">
              <a:spcBef>
                <a:spcPts val="0"/>
              </a:spcBef>
              <a:spcAft>
                <a:spcPts val="0"/>
              </a:spcAft>
              <a:buSzPts val="1100"/>
              <a:buChar char="○"/>
            </a:pPr>
            <a:r>
              <a:rPr lang="en"/>
              <a:t>You can then use </a:t>
            </a:r>
            <a:r>
              <a:rPr lang="en">
                <a:latin typeface="Courier New"/>
                <a:ea typeface="Courier New"/>
                <a:cs typeface="Courier New"/>
                <a:sym typeface="Courier New"/>
              </a:rPr>
              <a:t>other</a:t>
            </a:r>
            <a:r>
              <a:rPr lang="en"/>
              <a:t> inside of the body of the </a:t>
            </a:r>
            <a:r>
              <a:rPr lang="en">
                <a:latin typeface="Courier New"/>
                <a:ea typeface="Courier New"/>
                <a:cs typeface="Courier New"/>
                <a:sym typeface="Courier New"/>
              </a:rPr>
              <a:t>if</a:t>
            </a:r>
            <a:r>
              <a:rPr lang="en"/>
              <a:t> without needing to explicitly cast.</a:t>
            </a:r>
            <a:endParaRPr/>
          </a:p>
          <a:p>
            <a:pPr indent="-311150" lvl="0" marL="457200" rtl="0" algn="l">
              <a:spcBef>
                <a:spcPts val="1000"/>
              </a:spcBef>
              <a:spcAft>
                <a:spcPts val="0"/>
              </a:spcAft>
              <a:buSzPts val="1300"/>
              <a:buChar char="●"/>
            </a:pPr>
            <a:r>
              <a:rPr lang="en"/>
              <a:t>This relatively recent feature is called "pattern matching for </a:t>
            </a:r>
            <a:r>
              <a:rPr lang="en">
                <a:latin typeface="Courier New"/>
                <a:ea typeface="Courier New"/>
                <a:cs typeface="Courier New"/>
                <a:sym typeface="Courier New"/>
              </a:rPr>
              <a:t>instanceof</a:t>
            </a:r>
            <a:r>
              <a:rPr lang="en"/>
              <a:t>". </a:t>
            </a:r>
            <a:endParaRPr/>
          </a:p>
          <a:p>
            <a:pPr indent="-298450" lvl="1" marL="914400" rtl="0" algn="l">
              <a:spcBef>
                <a:spcPts val="0"/>
              </a:spcBef>
              <a:spcAft>
                <a:spcPts val="0"/>
              </a:spcAft>
              <a:buSzPts val="1100"/>
              <a:buChar char="○"/>
            </a:pPr>
            <a:r>
              <a:rPr lang="en"/>
              <a:t>It was added to Java in 2021.</a:t>
            </a:r>
            <a:endParaRPr/>
          </a:p>
        </p:txBody>
      </p:sp>
      <p:sp>
        <p:nvSpPr>
          <p:cNvPr id="676" name="Google Shape;676;p8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77" name="Google Shape;677;p82"/>
          <p:cNvSpPr txBox="1"/>
          <p:nvPr>
            <p:ph idx="3" type="body"/>
          </p:nvPr>
        </p:nvSpPr>
        <p:spPr>
          <a:xfrm>
            <a:off x="5039825" y="3642425"/>
            <a:ext cx="38472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Pattern matching with </a:t>
            </a:r>
            <a:r>
              <a:rPr lang="en" sz="1200">
                <a:latin typeface="Courier New"/>
                <a:ea typeface="Courier New"/>
                <a:cs typeface="Courier New"/>
                <a:sym typeface="Courier New"/>
              </a:rPr>
              <a:t>instanceof</a:t>
            </a:r>
            <a:r>
              <a:rPr lang="en" sz="1200"/>
              <a:t> can automatically cast a variable into another type. This makes writing </a:t>
            </a:r>
            <a:r>
              <a:rPr lang="en" sz="1200">
                <a:latin typeface="Courier New"/>
                <a:ea typeface="Courier New"/>
                <a:cs typeface="Courier New"/>
                <a:sym typeface="Courier New"/>
              </a:rPr>
              <a:t>equals(Object)</a:t>
            </a:r>
            <a:r>
              <a:rPr lang="en" sz="1200"/>
              <a:t> methods a little easier.</a:t>
            </a:r>
            <a:endParaRPr sz="1200"/>
          </a:p>
        </p:txBody>
      </p:sp>
      <p:sp>
        <p:nvSpPr>
          <p:cNvPr id="678" name="Google Shape;678;p82"/>
          <p:cNvSpPr txBox="1"/>
          <p:nvPr>
            <p:ph type="title"/>
          </p:nvPr>
        </p:nvSpPr>
        <p:spPr>
          <a:xfrm>
            <a:off x="5039825" y="119925"/>
            <a:ext cx="37065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Pattern Matching with </a:t>
            </a:r>
            <a:r>
              <a:rPr lang="en">
                <a:latin typeface="Courier New"/>
                <a:ea typeface="Courier New"/>
                <a:cs typeface="Courier New"/>
                <a:sym typeface="Courier New"/>
              </a:rPr>
              <a:t>instanceof</a:t>
            </a:r>
            <a:endParaRPr>
              <a:latin typeface="Courier New"/>
              <a:ea typeface="Courier New"/>
              <a:cs typeface="Courier New"/>
              <a:sym typeface="Courier New"/>
            </a:endParaRPr>
          </a:p>
        </p:txBody>
      </p:sp>
      <p:sp>
        <p:nvSpPr>
          <p:cNvPr id="679" name="Google Shape;679;p82"/>
          <p:cNvSpPr txBox="1"/>
          <p:nvPr>
            <p:ph idx="2" type="body"/>
          </p:nvPr>
        </p:nvSpPr>
        <p:spPr>
          <a:xfrm>
            <a:off x="5039825" y="1306675"/>
            <a:ext cx="3847200" cy="2195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098658"/>
                </a:solidFill>
                <a:latin typeface="Consolas"/>
                <a:ea typeface="Consolas"/>
                <a:cs typeface="Consolas"/>
                <a:sym typeface="Consolas"/>
              </a:rPr>
              <a:t>1</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2</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3</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 </a:t>
            </a:r>
            <a:r>
              <a:rPr lang="en">
                <a:solidFill>
                  <a:srgbClr val="001080"/>
                </a:solidFill>
                <a:highlight>
                  <a:srgbClr val="FFFF00"/>
                </a:highlight>
                <a:latin typeface="Consolas"/>
                <a:ea typeface="Consolas"/>
                <a:cs typeface="Consolas"/>
                <a:sym typeface="Consolas"/>
              </a:rPr>
              <a:t>other</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4</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5</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6</a:t>
            </a: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7</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8</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indent="0" lvl="0" marL="0" rtl="0" algn="l">
              <a:spcBef>
                <a:spcPts val="0"/>
              </a:spcBef>
              <a:spcAft>
                <a:spcPts val="0"/>
              </a:spcAft>
              <a:buNone/>
            </a:pPr>
            <a:r>
              <a:rPr lang="en">
                <a:solidFill>
                  <a:srgbClr val="098658"/>
                </a:solidFill>
                <a:latin typeface="Consolas"/>
                <a:ea typeface="Consolas"/>
                <a:cs typeface="Consolas"/>
                <a:sym typeface="Consolas"/>
              </a:rPr>
              <a:t>9 </a:t>
            </a:r>
            <a:r>
              <a:rPr lang="en">
                <a:solidFill>
                  <a:srgbClr val="000000"/>
                </a:solidFill>
                <a:latin typeface="Consolas"/>
                <a:ea typeface="Consolas"/>
                <a:cs typeface="Consolas"/>
                <a:sym typeface="Consolas"/>
              </a:rPr>
              <a:t> }</a:t>
            </a:r>
            <a:endParaRPr sz="1400">
              <a:solidFill>
                <a:srgbClr val="000000"/>
              </a:solidFill>
              <a:highlight>
                <a:schemeClr val="lt1"/>
              </a:highlight>
              <a:latin typeface="Consolas"/>
              <a:ea typeface="Consolas"/>
              <a:cs typeface="Consolas"/>
              <a:sym typeface="Consolas"/>
            </a:endParaRPr>
          </a:p>
        </p:txBody>
      </p:sp>
      <p:grpSp>
        <p:nvGrpSpPr>
          <p:cNvPr id="680" name="Google Shape;680;p82"/>
          <p:cNvGrpSpPr/>
          <p:nvPr/>
        </p:nvGrpSpPr>
        <p:grpSpPr>
          <a:xfrm>
            <a:off x="5633075" y="1802150"/>
            <a:ext cx="3253950" cy="2209725"/>
            <a:chOff x="5633075" y="1802150"/>
            <a:chExt cx="3253950" cy="2209725"/>
          </a:xfrm>
        </p:grpSpPr>
        <p:sp>
          <p:nvSpPr>
            <p:cNvPr id="681" name="Google Shape;681;p82"/>
            <p:cNvSpPr/>
            <p:nvPr/>
          </p:nvSpPr>
          <p:spPr>
            <a:xfrm>
              <a:off x="5633075" y="1802150"/>
              <a:ext cx="2900400" cy="688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82" name="Google Shape;682;p82"/>
            <p:cNvCxnSpPr>
              <a:stCxn id="677" idx="3"/>
              <a:endCxn id="681" idx="3"/>
            </p:cNvCxnSpPr>
            <p:nvPr/>
          </p:nvCxnSpPr>
          <p:spPr>
            <a:xfrm rot="10800000">
              <a:off x="8533625" y="2146475"/>
              <a:ext cx="353400" cy="1865400"/>
            </a:xfrm>
            <a:prstGeom prst="bentConnector3">
              <a:avLst>
                <a:gd fmla="val -37210" name="adj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1000"/>
                                        <p:tgtEl>
                                          <p:spTgt spid="6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1000"/>
                                        <p:tgtEl>
                                          <p:spTgt spid="6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83"/>
          <p:cNvSpPr txBox="1"/>
          <p:nvPr>
            <p:ph type="title"/>
          </p:nvPr>
        </p:nvSpPr>
        <p:spPr>
          <a:xfrm>
            <a:off x="311725" y="118050"/>
            <a:ext cx="3706500" cy="102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What About the Other Special Methods?</a:t>
            </a:r>
            <a:endParaRPr sz="2500"/>
          </a:p>
        </p:txBody>
      </p:sp>
      <p:sp>
        <p:nvSpPr>
          <p:cNvPr id="689" name="Google Shape;689;p83"/>
          <p:cNvSpPr txBox="1"/>
          <p:nvPr>
            <p:ph idx="1" type="body"/>
          </p:nvPr>
        </p:nvSpPr>
        <p:spPr>
          <a:xfrm>
            <a:off x="4572000" y="118050"/>
            <a:ext cx="4330500" cy="48522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b="1" i="1" lang="en" sz="1200">
                <a:solidFill>
                  <a:srgbClr val="FF0000"/>
                </a:solidFill>
              </a:rPr>
              <a:t>Operator overloading</a:t>
            </a:r>
            <a:r>
              <a:rPr lang="en" sz="1200"/>
              <a:t> refers to replacing the default functionality of an operator.</a:t>
            </a:r>
            <a:endParaRPr sz="1200"/>
          </a:p>
          <a:p>
            <a:pPr indent="-304800" lvl="0" marL="457200" rtl="0" algn="l">
              <a:spcBef>
                <a:spcPts val="1000"/>
              </a:spcBef>
              <a:spcAft>
                <a:spcPts val="0"/>
              </a:spcAft>
              <a:buSzPts val="1200"/>
              <a:buChar char="●"/>
            </a:pPr>
            <a:r>
              <a:rPr lang="en" sz="1200"/>
              <a:t>In Python, there are several other special methods that may be implemented to overload comparison operators:</a:t>
            </a:r>
            <a:endParaRPr sz="1200"/>
          </a:p>
          <a:p>
            <a:pPr indent="-292100" lvl="1" marL="914400" rtl="0" algn="l">
              <a:spcBef>
                <a:spcPts val="0"/>
              </a:spcBef>
              <a:spcAft>
                <a:spcPts val="0"/>
              </a:spcAft>
              <a:buSzPts val="1000"/>
              <a:buChar char="○"/>
            </a:pPr>
            <a:r>
              <a:rPr lang="en" sz="1000">
                <a:latin typeface="Courier New"/>
                <a:ea typeface="Courier New"/>
                <a:cs typeface="Courier New"/>
                <a:sym typeface="Courier New"/>
              </a:rPr>
              <a:t>__lt__</a:t>
            </a:r>
            <a:r>
              <a:rPr lang="en" sz="1000"/>
              <a:t> overloads less than (</a:t>
            </a:r>
            <a:r>
              <a:rPr lang="en" sz="1000">
                <a:latin typeface="Courier New"/>
                <a:ea typeface="Courier New"/>
                <a:cs typeface="Courier New"/>
                <a:sym typeface="Courier New"/>
              </a:rPr>
              <a:t>&lt;</a:t>
            </a:r>
            <a:r>
              <a:rPr lang="en" sz="1000"/>
              <a:t>)</a:t>
            </a:r>
            <a:endParaRPr sz="1000"/>
          </a:p>
          <a:p>
            <a:pPr indent="-292100" lvl="1" marL="914400" rtl="0" algn="l">
              <a:spcBef>
                <a:spcPts val="0"/>
              </a:spcBef>
              <a:spcAft>
                <a:spcPts val="0"/>
              </a:spcAft>
              <a:buSzPts val="1000"/>
              <a:buChar char="○"/>
            </a:pPr>
            <a:r>
              <a:rPr lang="en" sz="1000">
                <a:latin typeface="Courier New"/>
                <a:ea typeface="Courier New"/>
                <a:cs typeface="Courier New"/>
                <a:sym typeface="Courier New"/>
              </a:rPr>
              <a:t>__le__</a:t>
            </a:r>
            <a:r>
              <a:rPr lang="en" sz="1000"/>
              <a:t> overloads less than or equal to (</a:t>
            </a:r>
            <a:r>
              <a:rPr lang="en" sz="1000">
                <a:latin typeface="Courier New"/>
                <a:ea typeface="Courier New"/>
                <a:cs typeface="Courier New"/>
                <a:sym typeface="Courier New"/>
              </a:rPr>
              <a:t>&lt;=</a:t>
            </a:r>
            <a:r>
              <a:rPr lang="en" sz="1000"/>
              <a:t>)</a:t>
            </a:r>
            <a:endParaRPr sz="1000"/>
          </a:p>
          <a:p>
            <a:pPr indent="-292100" lvl="1" marL="914400" rtl="0" algn="l">
              <a:spcBef>
                <a:spcPts val="0"/>
              </a:spcBef>
              <a:spcAft>
                <a:spcPts val="0"/>
              </a:spcAft>
              <a:buSzPts val="1000"/>
              <a:buChar char="○"/>
            </a:pPr>
            <a:r>
              <a:rPr lang="en" sz="1000">
                <a:latin typeface="Courier New"/>
                <a:ea typeface="Courier New"/>
                <a:cs typeface="Courier New"/>
                <a:sym typeface="Courier New"/>
              </a:rPr>
              <a:t>__gt__</a:t>
            </a:r>
            <a:r>
              <a:rPr lang="en" sz="1000"/>
              <a:t> overloads greater than (</a:t>
            </a:r>
            <a:r>
              <a:rPr lang="en" sz="1000">
                <a:latin typeface="Courier New"/>
                <a:ea typeface="Courier New"/>
                <a:cs typeface="Courier New"/>
                <a:sym typeface="Courier New"/>
              </a:rPr>
              <a:t>&gt;</a:t>
            </a:r>
            <a:r>
              <a:rPr lang="en" sz="1000"/>
              <a:t>)</a:t>
            </a:r>
            <a:endParaRPr sz="1000"/>
          </a:p>
          <a:p>
            <a:pPr indent="-292100" lvl="1" marL="914400" rtl="0" algn="l">
              <a:spcBef>
                <a:spcPts val="0"/>
              </a:spcBef>
              <a:spcAft>
                <a:spcPts val="0"/>
              </a:spcAft>
              <a:buSzPts val="1000"/>
              <a:buChar char="○"/>
            </a:pPr>
            <a:r>
              <a:rPr lang="en" sz="1000">
                <a:latin typeface="Courier New"/>
                <a:ea typeface="Courier New"/>
                <a:cs typeface="Courier New"/>
                <a:sym typeface="Courier New"/>
              </a:rPr>
              <a:t>__ge__</a:t>
            </a:r>
            <a:r>
              <a:rPr lang="en" sz="1000"/>
              <a:t> overloads greater than or equal to (</a:t>
            </a:r>
            <a:r>
              <a:rPr lang="en" sz="1000">
                <a:latin typeface="Courier New"/>
                <a:ea typeface="Courier New"/>
                <a:cs typeface="Courier New"/>
                <a:sym typeface="Courier New"/>
              </a:rPr>
              <a:t>&gt;=</a:t>
            </a:r>
            <a:r>
              <a:rPr lang="en" sz="1000"/>
              <a:t>)</a:t>
            </a:r>
            <a:endParaRPr sz="1000"/>
          </a:p>
          <a:p>
            <a:pPr indent="-304800" lvl="0" marL="457200" rtl="0" algn="l">
              <a:spcBef>
                <a:spcPts val="1000"/>
              </a:spcBef>
              <a:spcAft>
                <a:spcPts val="0"/>
              </a:spcAft>
              <a:buSzPts val="1200"/>
              <a:buChar char="●"/>
            </a:pPr>
            <a:r>
              <a:rPr lang="en" sz="1200"/>
              <a:t>Java does not support operator overloading, and so there is no way to replace the default behavior of any of the operators in Java.</a:t>
            </a:r>
            <a:endParaRPr sz="1200"/>
          </a:p>
          <a:p>
            <a:pPr indent="-304800" lvl="0" marL="457200" rtl="0" algn="l">
              <a:spcBef>
                <a:spcPts val="1000"/>
              </a:spcBef>
              <a:spcAft>
                <a:spcPts val="0"/>
              </a:spcAft>
              <a:buSzPts val="1200"/>
              <a:buChar char="●"/>
            </a:pPr>
            <a:r>
              <a:rPr lang="en" sz="1200"/>
              <a:t>For the purposes of sorting, Java manages object comparisons in a different way.</a:t>
            </a:r>
            <a:endParaRPr sz="1200"/>
          </a:p>
          <a:p>
            <a:pPr indent="-292100" lvl="1" marL="914400" rtl="0" algn="l">
              <a:spcBef>
                <a:spcPts val="0"/>
              </a:spcBef>
              <a:spcAft>
                <a:spcPts val="0"/>
              </a:spcAft>
              <a:buSzPts val="1000"/>
              <a:buChar char="○"/>
            </a:pPr>
            <a:r>
              <a:rPr lang="en" sz="1000"/>
              <a:t>We'll talk about how this works in the </a:t>
            </a:r>
            <a:r>
              <a:rPr b="1" i="1" lang="en" sz="1000"/>
              <a:t>data structures</a:t>
            </a:r>
            <a:r>
              <a:rPr lang="en" sz="1000"/>
              <a:t> units later in this course.</a:t>
            </a:r>
            <a:endParaRPr sz="1000"/>
          </a:p>
          <a:p>
            <a:pPr indent="-304800" lvl="0" marL="457200" rtl="0" algn="l">
              <a:spcBef>
                <a:spcPts val="1000"/>
              </a:spcBef>
              <a:spcAft>
                <a:spcPts val="0"/>
              </a:spcAft>
              <a:buSzPts val="1200"/>
              <a:buChar char="●"/>
            </a:pPr>
            <a:r>
              <a:rPr lang="en" sz="1200"/>
              <a:t>Python's special </a:t>
            </a:r>
            <a:r>
              <a:rPr lang="en" sz="1200">
                <a:latin typeface="Courier New"/>
                <a:ea typeface="Courier New"/>
                <a:cs typeface="Courier New"/>
                <a:sym typeface="Courier New"/>
              </a:rPr>
              <a:t>__hash__</a:t>
            </a:r>
            <a:r>
              <a:rPr lang="en" sz="1200"/>
              <a:t> method is implemented so that objects will work with hashing data structures like sets and dictionaries.</a:t>
            </a:r>
            <a:endParaRPr sz="1200"/>
          </a:p>
          <a:p>
            <a:pPr indent="-292100" lvl="1" marL="914400" rtl="0" algn="l">
              <a:spcBef>
                <a:spcPts val="0"/>
              </a:spcBef>
              <a:spcAft>
                <a:spcPts val="1000"/>
              </a:spcAft>
              <a:buSzPts val="1000"/>
              <a:buChar char="○"/>
            </a:pPr>
            <a:r>
              <a:rPr lang="en" sz="1000"/>
              <a:t>Java features an equivalent method that we will discuss in more detail in the data structures units. </a:t>
            </a:r>
            <a:endParaRPr sz="1000"/>
          </a:p>
        </p:txBody>
      </p:sp>
      <p:sp>
        <p:nvSpPr>
          <p:cNvPr id="690" name="Google Shape;690;p83"/>
          <p:cNvSpPr txBox="1"/>
          <p:nvPr>
            <p:ph idx="2" type="body"/>
          </p:nvPr>
        </p:nvSpPr>
        <p:spPr>
          <a:xfrm>
            <a:off x="284075" y="1747350"/>
            <a:ext cx="3769200" cy="1648800"/>
          </a:xfrm>
          <a:prstGeom prst="rect">
            <a:avLst/>
          </a:prstGeom>
          <a:solidFill>
            <a:srgbClr val="000000"/>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999999"/>
                </a:solidFill>
                <a:latin typeface="Consolas"/>
                <a:ea typeface="Consolas"/>
                <a:cs typeface="Consolas"/>
                <a:sym typeface="Consolas"/>
              </a:rPr>
              <a:t>1  </a:t>
            </a:r>
            <a:r>
              <a:rPr lang="en" sz="1150">
                <a:solidFill>
                  <a:srgbClr val="569CD6"/>
                </a:solidFill>
                <a:latin typeface="Consolas"/>
                <a:ea typeface="Consolas"/>
                <a:cs typeface="Consolas"/>
                <a:sym typeface="Consolas"/>
              </a:rPr>
              <a:t>class </a:t>
            </a:r>
            <a:r>
              <a:rPr lang="en" sz="1150">
                <a:solidFill>
                  <a:srgbClr val="D4D4D4"/>
                </a:solidFill>
                <a:latin typeface="Consolas"/>
                <a:ea typeface="Consolas"/>
                <a:cs typeface="Consolas"/>
                <a:sym typeface="Consolas"/>
              </a:rPr>
              <a:t>Bike:</a:t>
            </a:r>
            <a:endParaRPr sz="1150">
              <a:solidFill>
                <a:srgbClr val="D4D4D4"/>
              </a:solidFill>
              <a:latin typeface="Consolas"/>
              <a:ea typeface="Consolas"/>
              <a:cs typeface="Consolas"/>
              <a:sym typeface="Consolas"/>
            </a:endParaRPr>
          </a:p>
          <a:p>
            <a:pPr indent="0" lvl="0" marL="0" rtl="0" algn="l">
              <a:spcBef>
                <a:spcPts val="0"/>
              </a:spcBef>
              <a:spcAft>
                <a:spcPts val="0"/>
              </a:spcAft>
              <a:buNone/>
            </a:pPr>
            <a:r>
              <a:rPr lang="en" sz="1150">
                <a:solidFill>
                  <a:srgbClr val="999999"/>
                </a:solidFill>
                <a:latin typeface="Consolas"/>
                <a:ea typeface="Consolas"/>
                <a:cs typeface="Consolas"/>
                <a:sym typeface="Consolas"/>
              </a:rPr>
              <a:t>2 </a:t>
            </a:r>
            <a:endParaRPr sz="1150">
              <a:solidFill>
                <a:srgbClr val="999999"/>
              </a:solidFill>
              <a:latin typeface="Consolas"/>
              <a:ea typeface="Consolas"/>
              <a:cs typeface="Consolas"/>
              <a:sym typeface="Consolas"/>
            </a:endParaRPr>
          </a:p>
          <a:p>
            <a:pPr indent="0" lvl="0" marL="0" rtl="0" algn="l">
              <a:spcBef>
                <a:spcPts val="0"/>
              </a:spcBef>
              <a:spcAft>
                <a:spcPts val="0"/>
              </a:spcAft>
              <a:buNone/>
            </a:pPr>
            <a:r>
              <a:rPr lang="en" sz="1150">
                <a:solidFill>
                  <a:srgbClr val="999999"/>
                </a:solidFill>
                <a:latin typeface="Consolas"/>
                <a:ea typeface="Consolas"/>
                <a:cs typeface="Consolas"/>
                <a:sym typeface="Consolas"/>
              </a:rPr>
              <a:t>3  </a:t>
            </a:r>
            <a:r>
              <a:rPr lang="en" sz="1150">
                <a:solidFill>
                  <a:srgbClr val="569CD6"/>
                </a:solidFill>
                <a:latin typeface="Consolas"/>
                <a:ea typeface="Consolas"/>
                <a:cs typeface="Consolas"/>
                <a:sym typeface="Consolas"/>
              </a:rPr>
              <a:t>  def</a:t>
            </a:r>
            <a:r>
              <a:rPr lang="en" sz="1150">
                <a:solidFill>
                  <a:srgbClr val="D4D4D4"/>
                </a:solidFill>
                <a:latin typeface="Consolas"/>
                <a:ea typeface="Consolas"/>
                <a:cs typeface="Consolas"/>
                <a:sym typeface="Consolas"/>
              </a:rPr>
              <a:t> </a:t>
            </a:r>
            <a:r>
              <a:rPr lang="en" sz="1150">
                <a:solidFill>
                  <a:srgbClr val="DCDCAA"/>
                </a:solidFill>
                <a:latin typeface="Consolas"/>
                <a:ea typeface="Consolas"/>
                <a:cs typeface="Consolas"/>
                <a:sym typeface="Consolas"/>
              </a:rPr>
              <a:t>__lt__</a:t>
            </a:r>
            <a:r>
              <a:rPr lang="en" sz="1150">
                <a:solidFill>
                  <a:srgbClr val="D4D4D4"/>
                </a:solidFill>
                <a:latin typeface="Consolas"/>
                <a:ea typeface="Consolas"/>
                <a:cs typeface="Consolas"/>
                <a:sym typeface="Consolas"/>
              </a:rPr>
              <a:t>(</a:t>
            </a:r>
            <a:r>
              <a:rPr lang="en" sz="1150">
                <a:solidFill>
                  <a:srgbClr val="9CDCFE"/>
                </a:solidFill>
                <a:latin typeface="Consolas"/>
                <a:ea typeface="Consolas"/>
                <a:cs typeface="Consolas"/>
                <a:sym typeface="Consolas"/>
              </a:rPr>
              <a:t>self</a:t>
            </a:r>
            <a:r>
              <a:rPr lang="en" sz="1150">
                <a:solidFill>
                  <a:srgbClr val="D4D4D4"/>
                </a:solidFill>
                <a:latin typeface="Consolas"/>
                <a:ea typeface="Consolas"/>
                <a:cs typeface="Consolas"/>
                <a:sym typeface="Consolas"/>
              </a:rPr>
              <a:t>, </a:t>
            </a:r>
            <a:r>
              <a:rPr lang="en" sz="1150">
                <a:solidFill>
                  <a:srgbClr val="9CDCFE"/>
                </a:solidFill>
                <a:latin typeface="Consolas"/>
                <a:ea typeface="Consolas"/>
                <a:cs typeface="Consolas"/>
                <a:sym typeface="Consolas"/>
              </a:rPr>
              <a:t>other</a:t>
            </a:r>
            <a:r>
              <a:rPr lang="en" sz="1150">
                <a:solidFill>
                  <a:srgbClr val="D4D4D4"/>
                </a:solidFill>
                <a:latin typeface="Consolas"/>
                <a:ea typeface="Consolas"/>
                <a:cs typeface="Consolas"/>
                <a:sym typeface="Consolas"/>
              </a:rPr>
              <a:t>):</a:t>
            </a:r>
            <a:endParaRPr sz="1150">
              <a:solidFill>
                <a:srgbClr val="D4D4D4"/>
              </a:solidFill>
              <a:latin typeface="Consolas"/>
              <a:ea typeface="Consolas"/>
              <a:cs typeface="Consolas"/>
              <a:sym typeface="Consolas"/>
            </a:endParaRPr>
          </a:p>
          <a:p>
            <a:pPr indent="0" lvl="0" marL="0" rtl="0" algn="l">
              <a:spcBef>
                <a:spcPts val="0"/>
              </a:spcBef>
              <a:spcAft>
                <a:spcPts val="0"/>
              </a:spcAft>
              <a:buNone/>
            </a:pPr>
            <a:r>
              <a:rPr lang="en" sz="1150">
                <a:solidFill>
                  <a:srgbClr val="999999"/>
                </a:solidFill>
                <a:latin typeface="Consolas"/>
                <a:ea typeface="Consolas"/>
                <a:cs typeface="Consolas"/>
                <a:sym typeface="Consolas"/>
              </a:rPr>
              <a:t>4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if</a:t>
            </a:r>
            <a:r>
              <a:rPr lang="en" sz="1150">
                <a:solidFill>
                  <a:srgbClr val="D4D4D4"/>
                </a:solidFill>
                <a:latin typeface="Consolas"/>
                <a:ea typeface="Consolas"/>
                <a:cs typeface="Consolas"/>
                <a:sym typeface="Consolas"/>
              </a:rPr>
              <a:t> </a:t>
            </a:r>
            <a:r>
              <a:rPr lang="en" sz="1150">
                <a:solidFill>
                  <a:srgbClr val="4EC9B0"/>
                </a:solidFill>
                <a:latin typeface="Consolas"/>
                <a:ea typeface="Consolas"/>
                <a:cs typeface="Consolas"/>
                <a:sym typeface="Consolas"/>
              </a:rPr>
              <a:t>type</a:t>
            </a:r>
            <a:r>
              <a:rPr lang="en" sz="1150">
                <a:solidFill>
                  <a:srgbClr val="D4D4D4"/>
                </a:solidFill>
                <a:latin typeface="Consolas"/>
                <a:ea typeface="Consolas"/>
                <a:cs typeface="Consolas"/>
                <a:sym typeface="Consolas"/>
              </a:rPr>
              <a:t>(</a:t>
            </a:r>
            <a:r>
              <a:rPr lang="en" sz="1150">
                <a:solidFill>
                  <a:srgbClr val="569CD6"/>
                </a:solidFill>
                <a:latin typeface="Consolas"/>
                <a:ea typeface="Consolas"/>
                <a:cs typeface="Consolas"/>
                <a:sym typeface="Consolas"/>
              </a:rPr>
              <a:t>self</a:t>
            </a:r>
            <a:r>
              <a:rPr lang="en" sz="1150">
                <a:solidFill>
                  <a:srgbClr val="D4D4D4"/>
                </a:solidFill>
                <a:latin typeface="Consolas"/>
                <a:ea typeface="Consolas"/>
                <a:cs typeface="Consolas"/>
                <a:sym typeface="Consolas"/>
              </a:rPr>
              <a:t>) == </a:t>
            </a:r>
            <a:r>
              <a:rPr lang="en" sz="1150">
                <a:solidFill>
                  <a:srgbClr val="4EC9B0"/>
                </a:solidFill>
                <a:latin typeface="Consolas"/>
                <a:ea typeface="Consolas"/>
                <a:cs typeface="Consolas"/>
                <a:sym typeface="Consolas"/>
              </a:rPr>
              <a:t>type</a:t>
            </a:r>
            <a:r>
              <a:rPr lang="en" sz="1150">
                <a:solidFill>
                  <a:srgbClr val="D4D4D4"/>
                </a:solidFill>
                <a:latin typeface="Consolas"/>
                <a:ea typeface="Consolas"/>
                <a:cs typeface="Consolas"/>
                <a:sym typeface="Consolas"/>
              </a:rPr>
              <a:t>(other):</a:t>
            </a:r>
            <a:endParaRPr sz="1150">
              <a:solidFill>
                <a:srgbClr val="D4D4D4"/>
              </a:solidFill>
              <a:latin typeface="Consolas"/>
              <a:ea typeface="Consolas"/>
              <a:cs typeface="Consolas"/>
              <a:sym typeface="Consolas"/>
            </a:endParaRPr>
          </a:p>
          <a:p>
            <a:pPr indent="0" lvl="0" marL="0" rtl="0" algn="l">
              <a:spcBef>
                <a:spcPts val="0"/>
              </a:spcBef>
              <a:spcAft>
                <a:spcPts val="0"/>
              </a:spcAft>
              <a:buNone/>
            </a:pPr>
            <a:r>
              <a:rPr lang="en" sz="1150">
                <a:solidFill>
                  <a:srgbClr val="999999"/>
                </a:solidFill>
                <a:latin typeface="Consolas"/>
                <a:ea typeface="Consolas"/>
                <a:cs typeface="Consolas"/>
                <a:sym typeface="Consolas"/>
              </a:rPr>
              <a:t>5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return</a:t>
            </a:r>
            <a:r>
              <a:rPr lang="en" sz="1150">
                <a:solidFill>
                  <a:srgbClr val="D4D4D4"/>
                </a:solidFill>
                <a:latin typeface="Consolas"/>
                <a:ea typeface="Consolas"/>
                <a:cs typeface="Consolas"/>
                <a:sym typeface="Consolas"/>
              </a:rPr>
              <a:t> </a:t>
            </a:r>
            <a:r>
              <a:rPr lang="en" sz="1150">
                <a:solidFill>
                  <a:srgbClr val="569CD6"/>
                </a:solidFill>
                <a:latin typeface="Consolas"/>
                <a:ea typeface="Consolas"/>
                <a:cs typeface="Consolas"/>
                <a:sym typeface="Consolas"/>
              </a:rPr>
              <a:t>self</a:t>
            </a:r>
            <a:r>
              <a:rPr lang="en" sz="1150">
                <a:solidFill>
                  <a:srgbClr val="D4D4D4"/>
                </a:solidFill>
                <a:latin typeface="Consolas"/>
                <a:ea typeface="Consolas"/>
                <a:cs typeface="Consolas"/>
                <a:sym typeface="Consolas"/>
              </a:rPr>
              <a:t>.__gears &lt; other.__gears</a:t>
            </a:r>
            <a:endParaRPr sz="1150">
              <a:solidFill>
                <a:srgbClr val="D4D4D4"/>
              </a:solidFill>
              <a:latin typeface="Consolas"/>
              <a:ea typeface="Consolas"/>
              <a:cs typeface="Consolas"/>
              <a:sym typeface="Consolas"/>
            </a:endParaRPr>
          </a:p>
          <a:p>
            <a:pPr indent="0" lvl="0" marL="0" rtl="0" algn="l">
              <a:spcBef>
                <a:spcPts val="0"/>
              </a:spcBef>
              <a:spcAft>
                <a:spcPts val="0"/>
              </a:spcAft>
              <a:buNone/>
            </a:pPr>
            <a:r>
              <a:rPr lang="en" sz="1150">
                <a:solidFill>
                  <a:srgbClr val="999999"/>
                </a:solidFill>
                <a:latin typeface="Consolas"/>
                <a:ea typeface="Consolas"/>
                <a:cs typeface="Consolas"/>
                <a:sym typeface="Consolas"/>
              </a:rPr>
              <a:t>6  	</a:t>
            </a:r>
            <a:r>
              <a:rPr lang="en" sz="1150">
                <a:solidFill>
                  <a:srgbClr val="C586C0"/>
                </a:solidFill>
                <a:latin typeface="Consolas"/>
                <a:ea typeface="Consolas"/>
                <a:cs typeface="Consolas"/>
                <a:sym typeface="Consolas"/>
              </a:rPr>
              <a:t>else</a:t>
            </a:r>
            <a:r>
              <a:rPr lang="en" sz="1150">
                <a:solidFill>
                  <a:srgbClr val="D4D4D4"/>
                </a:solidFill>
                <a:latin typeface="Consolas"/>
                <a:ea typeface="Consolas"/>
                <a:cs typeface="Consolas"/>
                <a:sym typeface="Consolas"/>
              </a:rPr>
              <a:t>:</a:t>
            </a:r>
            <a:endParaRPr sz="1150">
              <a:solidFill>
                <a:srgbClr val="D4D4D4"/>
              </a:solidFill>
              <a:latin typeface="Consolas"/>
              <a:ea typeface="Consolas"/>
              <a:cs typeface="Consolas"/>
              <a:sym typeface="Consolas"/>
            </a:endParaRPr>
          </a:p>
          <a:p>
            <a:pPr indent="0" lvl="0" marL="0" rtl="0" algn="l">
              <a:spcBef>
                <a:spcPts val="0"/>
              </a:spcBef>
              <a:spcAft>
                <a:spcPts val="0"/>
              </a:spcAft>
              <a:buNone/>
            </a:pPr>
            <a:r>
              <a:rPr lang="en" sz="1150">
                <a:solidFill>
                  <a:srgbClr val="999999"/>
                </a:solidFill>
                <a:latin typeface="Consolas"/>
                <a:ea typeface="Consolas"/>
                <a:cs typeface="Consolas"/>
                <a:sym typeface="Consolas"/>
              </a:rPr>
              <a:t>7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return</a:t>
            </a:r>
            <a:r>
              <a:rPr lang="en" sz="1150">
                <a:solidFill>
                  <a:srgbClr val="D4D4D4"/>
                </a:solidFill>
                <a:latin typeface="Consolas"/>
                <a:ea typeface="Consolas"/>
                <a:cs typeface="Consolas"/>
                <a:sym typeface="Consolas"/>
              </a:rPr>
              <a:t> </a:t>
            </a:r>
            <a:r>
              <a:rPr lang="en" sz="1150">
                <a:solidFill>
                  <a:srgbClr val="569CD6"/>
                </a:solidFill>
                <a:latin typeface="Consolas"/>
                <a:ea typeface="Consolas"/>
                <a:cs typeface="Consolas"/>
                <a:sym typeface="Consolas"/>
              </a:rPr>
              <a:t>False</a:t>
            </a:r>
            <a:endParaRPr sz="1150">
              <a:latin typeface="Consolas"/>
              <a:ea typeface="Consolas"/>
              <a:cs typeface="Consolas"/>
              <a:sym typeface="Consolas"/>
            </a:endParaRPr>
          </a:p>
        </p:txBody>
      </p:sp>
      <p:sp>
        <p:nvSpPr>
          <p:cNvPr id="691" name="Google Shape;691;p83"/>
          <p:cNvSpPr txBox="1"/>
          <p:nvPr>
            <p:ph idx="3" type="body"/>
          </p:nvPr>
        </p:nvSpPr>
        <p:spPr>
          <a:xfrm>
            <a:off x="280375" y="3540575"/>
            <a:ext cx="37692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For the purposes of sorting, J</a:t>
            </a:r>
            <a:r>
              <a:rPr lang="en" sz="1200"/>
              <a:t>ava manages object comparisons using a different strategy than Python. This will be discussed in detail in a later unit.</a:t>
            </a:r>
            <a:endParaRPr sz="1200"/>
          </a:p>
        </p:txBody>
      </p:sp>
      <p:sp>
        <p:nvSpPr>
          <p:cNvPr id="692" name="Google Shape;692;p83"/>
          <p:cNvSpPr/>
          <p:nvPr/>
        </p:nvSpPr>
        <p:spPr>
          <a:xfrm>
            <a:off x="1004875" y="1690437"/>
            <a:ext cx="1901700" cy="1758900"/>
          </a:xfrm>
          <a:prstGeom prst="noSmoking">
            <a:avLst>
              <a:gd fmla="val 5161" name="adj"/>
            </a:avLst>
          </a:prstGeom>
          <a:solidFill>
            <a:srgbClr val="FF0000"/>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1000"/>
                                        <p:tgtEl>
                                          <p:spTgt spid="6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1000"/>
                                        <p:tgtEl>
                                          <p:spTgt spid="6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84"/>
          <p:cNvSpPr txBox="1"/>
          <p:nvPr>
            <p:ph type="title"/>
          </p:nvPr>
        </p:nvSpPr>
        <p:spPr>
          <a:xfrm>
            <a:off x="5036125" y="1961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About </a:t>
            </a:r>
            <a:r>
              <a:rPr lang="en">
                <a:latin typeface="Courier New"/>
                <a:ea typeface="Courier New"/>
                <a:cs typeface="Courier New"/>
                <a:sym typeface="Courier New"/>
              </a:rPr>
              <a:t>enum</a:t>
            </a:r>
            <a:r>
              <a:rPr lang="en"/>
              <a:t>s</a:t>
            </a:r>
            <a:endParaRPr/>
          </a:p>
        </p:txBody>
      </p:sp>
      <p:sp>
        <p:nvSpPr>
          <p:cNvPr id="698" name="Google Shape;698;p84"/>
          <p:cNvSpPr txBox="1"/>
          <p:nvPr>
            <p:ph idx="1" type="body"/>
          </p:nvPr>
        </p:nvSpPr>
        <p:spPr>
          <a:xfrm>
            <a:off x="153550" y="45050"/>
            <a:ext cx="4579500" cy="5012700"/>
          </a:xfrm>
          <a:prstGeom prst="rect">
            <a:avLst/>
          </a:prstGeom>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A Java </a:t>
            </a:r>
            <a:r>
              <a:rPr lang="en" sz="1200">
                <a:latin typeface="Courier New"/>
                <a:ea typeface="Courier New"/>
                <a:cs typeface="Courier New"/>
                <a:sym typeface="Courier New"/>
              </a:rPr>
              <a:t>enum</a:t>
            </a:r>
            <a:r>
              <a:rPr lang="en" sz="1200"/>
              <a:t> is really a full-blown class with some extra requirements and features.</a:t>
            </a:r>
            <a:endParaRPr sz="1200"/>
          </a:p>
          <a:p>
            <a:pPr indent="-292100" lvl="1" marL="914400" rtl="0" algn="l">
              <a:lnSpc>
                <a:spcPct val="100000"/>
              </a:lnSpc>
              <a:spcBef>
                <a:spcPts val="0"/>
              </a:spcBef>
              <a:spcAft>
                <a:spcPts val="0"/>
              </a:spcAft>
              <a:buSzPts val="1000"/>
              <a:buChar char="○"/>
            </a:pPr>
            <a:r>
              <a:rPr lang="en" sz="1000"/>
              <a:t>We already know that we can add fields, constructors, methods, and so on.</a:t>
            </a:r>
            <a:endParaRPr sz="1000"/>
          </a:p>
          <a:p>
            <a:pPr indent="-292100" lvl="1" marL="914400" rtl="0" algn="l">
              <a:lnSpc>
                <a:spcPct val="100000"/>
              </a:lnSpc>
              <a:spcBef>
                <a:spcPts val="0"/>
              </a:spcBef>
              <a:spcAft>
                <a:spcPts val="0"/>
              </a:spcAft>
              <a:buSzPts val="1000"/>
              <a:buChar char="○"/>
            </a:pPr>
            <a:r>
              <a:rPr lang="en" sz="1000"/>
              <a:t>Only the values enumerated inside of the enum can be assigned to a variable of the </a:t>
            </a:r>
            <a:r>
              <a:rPr lang="en" sz="1000">
                <a:latin typeface="Courier New"/>
                <a:ea typeface="Courier New"/>
                <a:cs typeface="Courier New"/>
                <a:sym typeface="Courier New"/>
              </a:rPr>
              <a:t>enum</a:t>
            </a:r>
            <a:r>
              <a:rPr lang="en" sz="1000"/>
              <a:t>'s type.</a:t>
            </a:r>
            <a:endParaRPr sz="1000"/>
          </a:p>
          <a:p>
            <a:pPr indent="-304800" lvl="0" marL="457200" rtl="0" algn="l">
              <a:lnSpc>
                <a:spcPct val="100000"/>
              </a:lnSpc>
              <a:spcBef>
                <a:spcPts val="1000"/>
              </a:spcBef>
              <a:spcAft>
                <a:spcPts val="0"/>
              </a:spcAft>
              <a:buSzPts val="1200"/>
              <a:buChar char="●"/>
            </a:pPr>
            <a:r>
              <a:rPr lang="en" sz="1200"/>
              <a:t>Java </a:t>
            </a:r>
            <a:r>
              <a:rPr lang="en" sz="1200">
                <a:latin typeface="Courier New"/>
                <a:ea typeface="Courier New"/>
                <a:cs typeface="Courier New"/>
                <a:sym typeface="Courier New"/>
              </a:rPr>
              <a:t>enum</a:t>
            </a:r>
            <a:r>
              <a:rPr lang="en" sz="1200"/>
              <a:t>s also have quite a few other features.</a:t>
            </a:r>
            <a:endParaRPr sz="1200"/>
          </a:p>
          <a:p>
            <a:pPr indent="-304800" lvl="0" marL="457200" rtl="0" algn="l">
              <a:lnSpc>
                <a:spcPct val="100000"/>
              </a:lnSpc>
              <a:spcBef>
                <a:spcPts val="1000"/>
              </a:spcBef>
              <a:spcAft>
                <a:spcPts val="0"/>
              </a:spcAft>
              <a:buSzPts val="1200"/>
              <a:buChar char="●"/>
            </a:pPr>
            <a:r>
              <a:rPr lang="en" sz="1200"/>
              <a:t>The default </a:t>
            </a:r>
            <a:r>
              <a:rPr lang="en" sz="1200">
                <a:solidFill>
                  <a:srgbClr val="EE0000"/>
                </a:solidFill>
                <a:latin typeface="Courier New"/>
                <a:ea typeface="Courier New"/>
                <a:cs typeface="Courier New"/>
                <a:sym typeface="Courier New"/>
              </a:rPr>
              <a:t>toString()</a:t>
            </a:r>
            <a:r>
              <a:rPr lang="en" sz="1200"/>
              <a:t> method returns the name of the value.</a:t>
            </a:r>
            <a:endParaRPr sz="1200"/>
          </a:p>
          <a:p>
            <a:pPr indent="-292100" lvl="1" marL="914400" rtl="0" algn="l">
              <a:lnSpc>
                <a:spcPct val="100000"/>
              </a:lnSpc>
              <a:spcBef>
                <a:spcPts val="0"/>
              </a:spcBef>
              <a:spcAft>
                <a:spcPts val="0"/>
              </a:spcAft>
              <a:buSzPts val="1000"/>
              <a:buChar char="○"/>
            </a:pPr>
            <a:r>
              <a:rPr lang="en" sz="1000"/>
              <a:t>e.g. </a:t>
            </a:r>
            <a:r>
              <a:rPr lang="en" sz="1000">
                <a:latin typeface="Courier New"/>
                <a:ea typeface="Courier New"/>
                <a:cs typeface="Courier New"/>
                <a:sym typeface="Courier New"/>
              </a:rPr>
              <a:t>BoilingPoint.KELVIN</a:t>
            </a:r>
            <a:r>
              <a:rPr lang="en" sz="1000"/>
              <a:t> will return </a:t>
            </a:r>
            <a:r>
              <a:rPr lang="en" sz="1000">
                <a:latin typeface="Courier New"/>
                <a:ea typeface="Courier New"/>
                <a:cs typeface="Courier New"/>
                <a:sym typeface="Courier New"/>
              </a:rPr>
              <a:t>"KELVIN"</a:t>
            </a:r>
            <a:r>
              <a:rPr lang="en" sz="1000"/>
              <a:t>.</a:t>
            </a:r>
            <a:endParaRPr sz="1000"/>
          </a:p>
          <a:p>
            <a:pPr indent="-304800" lvl="0" marL="457200" rtl="0" algn="l">
              <a:lnSpc>
                <a:spcPct val="100000"/>
              </a:lnSpc>
              <a:spcBef>
                <a:spcPts val="1000"/>
              </a:spcBef>
              <a:spcAft>
                <a:spcPts val="0"/>
              </a:spcAft>
              <a:buSzPts val="1200"/>
              <a:buChar char="●"/>
            </a:pPr>
            <a:r>
              <a:rPr lang="en" sz="1200"/>
              <a:t>The </a:t>
            </a:r>
            <a:r>
              <a:rPr lang="en" sz="1200">
                <a:solidFill>
                  <a:srgbClr val="EE0000"/>
                </a:solidFill>
                <a:latin typeface="Courier New"/>
                <a:ea typeface="Courier New"/>
                <a:cs typeface="Courier New"/>
                <a:sym typeface="Courier New"/>
              </a:rPr>
              <a:t>name()</a:t>
            </a:r>
            <a:r>
              <a:rPr lang="en" sz="1200"/>
              <a:t> method will also return the name of a value, similar to </a:t>
            </a:r>
            <a:r>
              <a:rPr lang="en" sz="1200">
                <a:latin typeface="Courier New"/>
                <a:ea typeface="Courier New"/>
                <a:cs typeface="Courier New"/>
                <a:sym typeface="Courier New"/>
              </a:rPr>
              <a:t>toString()</a:t>
            </a:r>
            <a:r>
              <a:rPr lang="en" sz="1200"/>
              <a:t>.</a:t>
            </a:r>
            <a:endParaRPr sz="1200"/>
          </a:p>
          <a:p>
            <a:pPr indent="-292100" lvl="1" marL="914400" rtl="0" algn="l">
              <a:lnSpc>
                <a:spcPct val="100000"/>
              </a:lnSpc>
              <a:spcBef>
                <a:spcPts val="0"/>
              </a:spcBef>
              <a:spcAft>
                <a:spcPts val="0"/>
              </a:spcAft>
              <a:buSzPts val="1000"/>
              <a:buChar char="○"/>
            </a:pPr>
            <a:r>
              <a:rPr lang="en" sz="1000"/>
              <a:t>e.g. </a:t>
            </a:r>
            <a:r>
              <a:rPr lang="en" sz="1000">
                <a:solidFill>
                  <a:srgbClr val="EE0000"/>
                </a:solidFill>
                <a:latin typeface="Courier New"/>
                <a:ea typeface="Courier New"/>
                <a:cs typeface="Courier New"/>
                <a:sym typeface="Courier New"/>
              </a:rPr>
              <a:t>BoilingPoint.CELSIUS.name()</a:t>
            </a:r>
            <a:r>
              <a:rPr lang="en" sz="1000"/>
              <a:t> will return </a:t>
            </a:r>
            <a:r>
              <a:rPr lang="en" sz="1000">
                <a:latin typeface="Courier New"/>
                <a:ea typeface="Courier New"/>
                <a:cs typeface="Courier New"/>
                <a:sym typeface="Courier New"/>
              </a:rPr>
              <a:t>"CELSIUS"</a:t>
            </a:r>
            <a:r>
              <a:rPr lang="en" sz="1000"/>
              <a:t>.</a:t>
            </a:r>
            <a:endParaRPr sz="1000"/>
          </a:p>
          <a:p>
            <a:pPr indent="-292100" lvl="1" marL="914400" rtl="0" algn="l">
              <a:lnSpc>
                <a:spcPct val="100000"/>
              </a:lnSpc>
              <a:spcBef>
                <a:spcPts val="0"/>
              </a:spcBef>
              <a:spcAft>
                <a:spcPts val="0"/>
              </a:spcAft>
              <a:buSzPts val="1000"/>
              <a:buChar char="○"/>
            </a:pPr>
            <a:r>
              <a:rPr lang="en" sz="1000"/>
              <a:t>It can be used inside the methods of the enum.</a:t>
            </a:r>
            <a:endParaRPr sz="1000"/>
          </a:p>
          <a:p>
            <a:pPr indent="-304800" lvl="0" marL="457200" rtl="0" algn="l">
              <a:lnSpc>
                <a:spcPct val="100000"/>
              </a:lnSpc>
              <a:spcBef>
                <a:spcPts val="1000"/>
              </a:spcBef>
              <a:spcAft>
                <a:spcPts val="0"/>
              </a:spcAft>
              <a:buSzPts val="1200"/>
              <a:buChar char="●"/>
            </a:pPr>
            <a:r>
              <a:rPr lang="en" sz="1200"/>
              <a:t>The </a:t>
            </a:r>
            <a:r>
              <a:rPr lang="en" sz="1200">
                <a:solidFill>
                  <a:srgbClr val="FF0000"/>
                </a:solidFill>
                <a:latin typeface="Courier New"/>
                <a:ea typeface="Courier New"/>
                <a:cs typeface="Courier New"/>
                <a:sym typeface="Courier New"/>
              </a:rPr>
              <a:t>valueOf(String)</a:t>
            </a:r>
            <a:r>
              <a:rPr lang="en" sz="1200"/>
              <a:t> method returns the value with the name that matches the string.</a:t>
            </a:r>
            <a:endParaRPr sz="1200"/>
          </a:p>
          <a:p>
            <a:pPr indent="-292100" lvl="1" marL="914400" rtl="0" algn="l">
              <a:lnSpc>
                <a:spcPct val="100000"/>
              </a:lnSpc>
              <a:spcBef>
                <a:spcPts val="0"/>
              </a:spcBef>
              <a:spcAft>
                <a:spcPts val="0"/>
              </a:spcAft>
              <a:buSzPts val="1000"/>
              <a:buChar char="○"/>
            </a:pPr>
            <a:r>
              <a:rPr lang="en" sz="1000"/>
              <a:t>e.g. </a:t>
            </a:r>
            <a:r>
              <a:rPr lang="en" sz="1000">
                <a:solidFill>
                  <a:srgbClr val="EE0000"/>
                </a:solidFill>
                <a:latin typeface="Courier New"/>
                <a:ea typeface="Courier New"/>
                <a:cs typeface="Courier New"/>
                <a:sym typeface="Courier New"/>
              </a:rPr>
              <a:t>BoilingPoint.valueOf("CELSIUS")</a:t>
            </a:r>
            <a:r>
              <a:rPr lang="en" sz="1000"/>
              <a:t> will return </a:t>
            </a:r>
            <a:r>
              <a:rPr lang="en" sz="1000">
                <a:latin typeface="Courier New"/>
                <a:ea typeface="Courier New"/>
                <a:cs typeface="Courier New"/>
                <a:sym typeface="Courier New"/>
              </a:rPr>
              <a:t>BoilingPoint.CELSIUS</a:t>
            </a:r>
            <a:r>
              <a:rPr lang="en" sz="1000"/>
              <a:t>. </a:t>
            </a:r>
            <a:endParaRPr sz="1000"/>
          </a:p>
          <a:p>
            <a:pPr indent="-292100" lvl="1" marL="914400" rtl="0" algn="l">
              <a:lnSpc>
                <a:spcPct val="100000"/>
              </a:lnSpc>
              <a:spcBef>
                <a:spcPts val="0"/>
              </a:spcBef>
              <a:spcAft>
                <a:spcPts val="0"/>
              </a:spcAft>
              <a:buSzPts val="1000"/>
              <a:buChar char="○"/>
            </a:pPr>
            <a:r>
              <a:rPr lang="en" sz="1000"/>
              <a:t>Specifying the name of a value that does not exist will throw an </a:t>
            </a:r>
            <a:r>
              <a:rPr lang="en" sz="1000">
                <a:latin typeface="Courier New"/>
                <a:ea typeface="Courier New"/>
                <a:cs typeface="Courier New"/>
                <a:sym typeface="Courier New"/>
              </a:rPr>
              <a:t>IllegalArgumentException</a:t>
            </a:r>
            <a:r>
              <a:rPr lang="en" sz="1000"/>
              <a:t>.</a:t>
            </a:r>
            <a:endParaRPr sz="1000"/>
          </a:p>
          <a:p>
            <a:pPr indent="-304800" lvl="0" marL="457200" rtl="0" algn="l">
              <a:lnSpc>
                <a:spcPct val="100000"/>
              </a:lnSpc>
              <a:spcBef>
                <a:spcPts val="1000"/>
              </a:spcBef>
              <a:spcAft>
                <a:spcPts val="0"/>
              </a:spcAft>
              <a:buSzPts val="1200"/>
              <a:buChar char="●"/>
            </a:pPr>
            <a:r>
              <a:rPr lang="en" sz="1200"/>
              <a:t>The </a:t>
            </a:r>
            <a:r>
              <a:rPr lang="en" sz="1200">
                <a:solidFill>
                  <a:srgbClr val="FF0000"/>
                </a:solidFill>
                <a:latin typeface="Courier New"/>
                <a:ea typeface="Courier New"/>
                <a:cs typeface="Courier New"/>
                <a:sym typeface="Courier New"/>
              </a:rPr>
              <a:t>values()</a:t>
            </a:r>
            <a:r>
              <a:rPr lang="en" sz="1200"/>
              <a:t> method will return an array of the enumerated values.</a:t>
            </a:r>
            <a:endParaRPr sz="1200"/>
          </a:p>
          <a:p>
            <a:pPr indent="-292100" lvl="1" marL="914400" rtl="0" algn="l">
              <a:lnSpc>
                <a:spcPct val="100000"/>
              </a:lnSpc>
              <a:spcBef>
                <a:spcPts val="0"/>
              </a:spcBef>
              <a:spcAft>
                <a:spcPts val="0"/>
              </a:spcAft>
              <a:buSzPts val="1000"/>
              <a:buChar char="○"/>
            </a:pPr>
            <a:r>
              <a:rPr lang="en" sz="1000"/>
              <a:t>e.g. </a:t>
            </a:r>
            <a:r>
              <a:rPr lang="en" sz="1000">
                <a:solidFill>
                  <a:srgbClr val="EE0000"/>
                </a:solidFill>
                <a:latin typeface="Courier New"/>
                <a:ea typeface="Courier New"/>
                <a:cs typeface="Courier New"/>
                <a:sym typeface="Courier New"/>
              </a:rPr>
              <a:t>BoilingPoint.values()</a:t>
            </a:r>
            <a:r>
              <a:rPr lang="en" sz="1000"/>
              <a:t> will return an array containing the </a:t>
            </a:r>
            <a:r>
              <a:rPr lang="en" sz="1000">
                <a:latin typeface="Courier New"/>
                <a:ea typeface="Courier New"/>
                <a:cs typeface="Courier New"/>
                <a:sym typeface="Courier New"/>
              </a:rPr>
              <a:t>FAHRENHEIT</a:t>
            </a:r>
            <a:r>
              <a:rPr lang="en" sz="1000"/>
              <a:t>, </a:t>
            </a:r>
            <a:r>
              <a:rPr lang="en" sz="1000">
                <a:latin typeface="Courier New"/>
                <a:ea typeface="Courier New"/>
                <a:cs typeface="Courier New"/>
                <a:sym typeface="Courier New"/>
              </a:rPr>
              <a:t>CELSIUS</a:t>
            </a:r>
            <a:r>
              <a:rPr lang="en" sz="1000"/>
              <a:t>, and </a:t>
            </a:r>
            <a:r>
              <a:rPr lang="en" sz="1000">
                <a:latin typeface="Courier New"/>
                <a:ea typeface="Courier New"/>
                <a:cs typeface="Courier New"/>
                <a:sym typeface="Courier New"/>
              </a:rPr>
              <a:t>KELVIN</a:t>
            </a:r>
            <a:r>
              <a:rPr lang="en" sz="1000"/>
              <a:t> values.</a:t>
            </a:r>
            <a:endParaRPr sz="1000"/>
          </a:p>
        </p:txBody>
      </p:sp>
      <p:sp>
        <p:nvSpPr>
          <p:cNvPr id="699" name="Google Shape;699;p84"/>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00" name="Google Shape;700;p84"/>
          <p:cNvSpPr txBox="1"/>
          <p:nvPr>
            <p:ph idx="2" type="body"/>
          </p:nvPr>
        </p:nvSpPr>
        <p:spPr>
          <a:xfrm>
            <a:off x="5000701" y="1790475"/>
            <a:ext cx="3907200" cy="2108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 = </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267F99"/>
                </a:solidFill>
                <a:latin typeface="Consolas"/>
                <a:ea typeface="Consolas"/>
                <a:cs typeface="Consolas"/>
                <a:sym typeface="Consolas"/>
              </a:rPr>
              <a:t>       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98658"/>
                </a:solidFill>
                <a:latin typeface="Consolas"/>
                <a:ea typeface="Consolas"/>
                <a:cs typeface="Consolas"/>
                <a:sym typeface="Consolas"/>
              </a:rPr>
              <a:t>6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98658"/>
                </a:solidFill>
                <a:latin typeface="Consolas"/>
                <a:ea typeface="Consolas"/>
                <a:cs typeface="Consolas"/>
                <a:sym typeface="Consolas"/>
              </a:rPr>
              <a:t>7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error</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"no"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98658"/>
                </a:solidFill>
                <a:latin typeface="Consolas"/>
                <a:ea typeface="Consolas"/>
                <a:cs typeface="Consolas"/>
                <a:sym typeface="Consolas"/>
              </a:rPr>
              <a:t>8</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267F99"/>
                </a:solidFill>
                <a:latin typeface="Consolas"/>
                <a:ea typeface="Consolas"/>
                <a:cs typeface="Consolas"/>
                <a:sym typeface="Consolas"/>
              </a:rPr>
              <a:t>      Arrays</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p>
        </p:txBody>
      </p:sp>
      <p:sp>
        <p:nvSpPr>
          <p:cNvPr id="701" name="Google Shape;701;p84"/>
          <p:cNvSpPr txBox="1"/>
          <p:nvPr>
            <p:ph idx="3" type="body"/>
          </p:nvPr>
        </p:nvSpPr>
        <p:spPr>
          <a:xfrm>
            <a:off x="4997001" y="910425"/>
            <a:ext cx="39072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 </a:t>
            </a:r>
            <a:r>
              <a:rPr lang="en" sz="1200">
                <a:solidFill>
                  <a:srgbClr val="EE0000"/>
                </a:solidFill>
                <a:latin typeface="Courier New"/>
                <a:ea typeface="Courier New"/>
                <a:cs typeface="Courier New"/>
                <a:sym typeface="Courier New"/>
              </a:rPr>
              <a:t>name</a:t>
            </a:r>
            <a:r>
              <a:rPr lang="en" sz="1200">
                <a:solidFill>
                  <a:srgbClr val="EE0000"/>
                </a:solidFill>
                <a:latin typeface="Courier New"/>
                <a:ea typeface="Courier New"/>
                <a:cs typeface="Courier New"/>
                <a:sym typeface="Courier New"/>
              </a:rPr>
              <a:t>()</a:t>
            </a:r>
            <a:r>
              <a:rPr lang="en" sz="1200"/>
              <a:t> and </a:t>
            </a:r>
            <a:r>
              <a:rPr lang="en" sz="1200">
                <a:solidFill>
                  <a:srgbClr val="EE0000"/>
                </a:solidFill>
                <a:latin typeface="Courier New"/>
                <a:ea typeface="Courier New"/>
                <a:cs typeface="Courier New"/>
                <a:sym typeface="Courier New"/>
              </a:rPr>
              <a:t>valueOf(String)</a:t>
            </a:r>
            <a:r>
              <a:rPr lang="en" sz="1200"/>
              <a:t> methods can be used to easily convert values of an </a:t>
            </a:r>
            <a:r>
              <a:rPr lang="en" sz="1200">
                <a:latin typeface="Courier New"/>
                <a:ea typeface="Courier New"/>
                <a:cs typeface="Courier New"/>
                <a:sym typeface="Courier New"/>
              </a:rPr>
              <a:t>enum</a:t>
            </a:r>
            <a:r>
              <a:rPr lang="en" sz="1200"/>
              <a:t> to-and-from strings.</a:t>
            </a:r>
            <a:endParaRPr sz="1200"/>
          </a:p>
        </p:txBody>
      </p:sp>
      <p:sp>
        <p:nvSpPr>
          <p:cNvPr id="702" name="Google Shape;702;p84"/>
          <p:cNvSpPr txBox="1"/>
          <p:nvPr>
            <p:ph idx="3" type="body"/>
          </p:nvPr>
        </p:nvSpPr>
        <p:spPr>
          <a:xfrm>
            <a:off x="5000701" y="4040325"/>
            <a:ext cx="39072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 </a:t>
            </a:r>
            <a:r>
              <a:rPr lang="en" sz="1200">
                <a:solidFill>
                  <a:srgbClr val="EE0000"/>
                </a:solidFill>
                <a:latin typeface="Courier New"/>
                <a:ea typeface="Courier New"/>
                <a:cs typeface="Courier New"/>
                <a:sym typeface="Courier New"/>
              </a:rPr>
              <a:t>values()</a:t>
            </a:r>
            <a:r>
              <a:rPr lang="en" sz="1200"/>
              <a:t> method will return an array that contains </a:t>
            </a:r>
            <a:r>
              <a:rPr b="1" i="1" lang="en" sz="1200">
                <a:solidFill>
                  <a:srgbClr val="EE0000"/>
                </a:solidFill>
              </a:rPr>
              <a:t>all</a:t>
            </a:r>
            <a:r>
              <a:rPr lang="en" sz="1200">
                <a:solidFill>
                  <a:srgbClr val="EE0000"/>
                </a:solidFill>
              </a:rPr>
              <a:t> </a:t>
            </a:r>
            <a:r>
              <a:rPr lang="en" sz="1200"/>
              <a:t>of the values enumerated in the </a:t>
            </a:r>
            <a:r>
              <a:rPr lang="en" sz="1200">
                <a:latin typeface="Courier New"/>
                <a:ea typeface="Courier New"/>
                <a:cs typeface="Courier New"/>
                <a:sym typeface="Courier New"/>
              </a:rPr>
              <a:t>enum</a:t>
            </a:r>
            <a:r>
              <a:rPr lang="en" sz="1200"/>
              <a:t>.</a:t>
            </a:r>
            <a:endParaRPr sz="1200"/>
          </a:p>
        </p:txBody>
      </p:sp>
      <p:grpSp>
        <p:nvGrpSpPr>
          <p:cNvPr id="703" name="Google Shape;703;p84"/>
          <p:cNvGrpSpPr/>
          <p:nvPr/>
        </p:nvGrpSpPr>
        <p:grpSpPr>
          <a:xfrm>
            <a:off x="5589348" y="1279950"/>
            <a:ext cx="3314792" cy="1509300"/>
            <a:chOff x="788761" y="1203752"/>
            <a:chExt cx="3672900" cy="1509300"/>
          </a:xfrm>
        </p:grpSpPr>
        <p:sp>
          <p:nvSpPr>
            <p:cNvPr id="704" name="Google Shape;704;p84"/>
            <p:cNvSpPr/>
            <p:nvPr/>
          </p:nvSpPr>
          <p:spPr>
            <a:xfrm>
              <a:off x="788761" y="2465852"/>
              <a:ext cx="2583600" cy="24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5" name="Google Shape;705;p84"/>
            <p:cNvCxnSpPr>
              <a:stCxn id="704" idx="3"/>
              <a:endCxn id="701" idx="3"/>
            </p:cNvCxnSpPr>
            <p:nvPr/>
          </p:nvCxnSpPr>
          <p:spPr>
            <a:xfrm flipH="1" rot="10800000">
              <a:off x="3372361" y="1203752"/>
              <a:ext cx="1089300" cy="1385700"/>
            </a:xfrm>
            <a:prstGeom prst="bentConnector3">
              <a:avLst>
                <a:gd fmla="val 114244" name="adj1"/>
              </a:avLst>
            </a:prstGeom>
            <a:noFill/>
            <a:ln cap="flat" cmpd="sng" w="19050">
              <a:solidFill>
                <a:srgbClr val="EE0000"/>
              </a:solidFill>
              <a:prstDash val="solid"/>
              <a:round/>
              <a:headEnd len="med" w="med" type="none"/>
              <a:tailEnd len="med" w="med" type="none"/>
            </a:ln>
          </p:spPr>
        </p:cxnSp>
      </p:grpSp>
      <p:grpSp>
        <p:nvGrpSpPr>
          <p:cNvPr id="706" name="Google Shape;706;p84"/>
          <p:cNvGrpSpPr/>
          <p:nvPr/>
        </p:nvGrpSpPr>
        <p:grpSpPr>
          <a:xfrm>
            <a:off x="6455200" y="1655925"/>
            <a:ext cx="2388325" cy="426900"/>
            <a:chOff x="1654600" y="1579725"/>
            <a:chExt cx="2388325" cy="426900"/>
          </a:xfrm>
        </p:grpSpPr>
        <p:sp>
          <p:nvSpPr>
            <p:cNvPr id="707" name="Google Shape;707;p84"/>
            <p:cNvSpPr/>
            <p:nvPr/>
          </p:nvSpPr>
          <p:spPr>
            <a:xfrm>
              <a:off x="1654600" y="1759425"/>
              <a:ext cx="1952400" cy="24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84"/>
            <p:cNvSpPr/>
            <p:nvPr/>
          </p:nvSpPr>
          <p:spPr>
            <a:xfrm>
              <a:off x="3607000" y="1579725"/>
              <a:ext cx="435925" cy="299475"/>
            </a:xfrm>
            <a:custGeom>
              <a:rect b="b" l="l" r="r" t="t"/>
              <a:pathLst>
                <a:path extrusionOk="0" h="11979" w="5690">
                  <a:moveTo>
                    <a:pt x="0" y="11979"/>
                  </a:moveTo>
                  <a:lnTo>
                    <a:pt x="5690" y="11979"/>
                  </a:lnTo>
                  <a:lnTo>
                    <a:pt x="5690" y="0"/>
                  </a:lnTo>
                </a:path>
              </a:pathLst>
            </a:custGeom>
            <a:noFill/>
            <a:ln cap="flat" cmpd="sng" w="19050">
              <a:solidFill>
                <a:srgbClr val="FF0000"/>
              </a:solidFill>
              <a:prstDash val="solid"/>
              <a:round/>
              <a:headEnd len="med" w="med" type="none"/>
              <a:tailEnd len="med" w="med" type="none"/>
            </a:ln>
          </p:spPr>
        </p:sp>
      </p:grpSp>
      <p:grpSp>
        <p:nvGrpSpPr>
          <p:cNvPr id="709" name="Google Shape;709;p84"/>
          <p:cNvGrpSpPr/>
          <p:nvPr/>
        </p:nvGrpSpPr>
        <p:grpSpPr>
          <a:xfrm>
            <a:off x="6997000" y="3234975"/>
            <a:ext cx="1911000" cy="1082400"/>
            <a:chOff x="2196400" y="3234975"/>
            <a:chExt cx="1911000" cy="1082400"/>
          </a:xfrm>
        </p:grpSpPr>
        <p:sp>
          <p:nvSpPr>
            <p:cNvPr id="710" name="Google Shape;710;p84"/>
            <p:cNvSpPr/>
            <p:nvPr/>
          </p:nvSpPr>
          <p:spPr>
            <a:xfrm>
              <a:off x="2196400" y="3234975"/>
              <a:ext cx="1614300" cy="24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1" name="Google Shape;711;p84"/>
            <p:cNvCxnSpPr>
              <a:stCxn id="710" idx="3"/>
              <a:endCxn id="702" idx="3"/>
            </p:cNvCxnSpPr>
            <p:nvPr/>
          </p:nvCxnSpPr>
          <p:spPr>
            <a:xfrm>
              <a:off x="3810700" y="3358575"/>
              <a:ext cx="296700" cy="958800"/>
            </a:xfrm>
            <a:prstGeom prst="bentConnector3">
              <a:avLst>
                <a:gd fmla="val 148871" name="adj1"/>
              </a:avLst>
            </a:prstGeom>
            <a:noFill/>
            <a:ln cap="flat" cmpd="sng" w="19050">
              <a:solidFill>
                <a:srgbClr val="EE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1000"/>
                                        <p:tgtEl>
                                          <p:spTgt spid="701"/>
                                        </p:tgtEl>
                                      </p:cBhvr>
                                    </p:animEffect>
                                  </p:childTnLst>
                                </p:cTn>
                              </p:par>
                              <p:par>
                                <p:cTn fill="hold" nodeType="with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1000"/>
                                        <p:tgtEl>
                                          <p:spTgt spid="7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000"/>
                                        <p:tgtEl>
                                          <p:spTgt spid="7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1000"/>
                                        <p:tgtEl>
                                          <p:spTgt spid="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1000"/>
                                        <p:tgtEl>
                                          <p:spTgt spid="7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1000"/>
                                        <p:tgtEl>
                                          <p:spTgt spid="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85"/>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Java enums are really full-blown classes with lots of special features. Practice using some of the methods that convert values of an enumerated type to-and-from strings. In addition, print an array of all of the values in an enumerated type.</a:t>
            </a:r>
            <a:endParaRPr/>
          </a:p>
        </p:txBody>
      </p:sp>
      <p:sp>
        <p:nvSpPr>
          <p:cNvPr id="717" name="Google Shape;717;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8" name="Google Shape;718;p85"/>
          <p:cNvSpPr txBox="1"/>
          <p:nvPr>
            <p:ph idx="2" type="body"/>
          </p:nvPr>
        </p:nvSpPr>
        <p:spPr>
          <a:xfrm>
            <a:off x="3870725" y="1860725"/>
            <a:ext cx="5070300" cy="2761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StarWarsBattle</a:t>
            </a:r>
            <a:r>
              <a:rPr lang="en"/>
              <a:t> class and navigate to the </a:t>
            </a:r>
            <a:r>
              <a:rPr lang="en">
                <a:latin typeface="Courier New"/>
                <a:ea typeface="Courier New"/>
                <a:cs typeface="Courier New"/>
                <a:sym typeface="Courier New"/>
              </a:rPr>
              <a:t>main</a:t>
            </a:r>
            <a:r>
              <a:rPr lang="en"/>
              <a:t> method.</a:t>
            </a:r>
            <a:endParaRPr/>
          </a:p>
          <a:p>
            <a:pPr indent="-298450" lvl="1" marL="914400" rtl="0" algn="l">
              <a:spcBef>
                <a:spcPts val="0"/>
              </a:spcBef>
              <a:spcAft>
                <a:spcPts val="0"/>
              </a:spcAft>
              <a:buSzPts val="1100"/>
              <a:buChar char="○"/>
            </a:pPr>
            <a:r>
              <a:rPr lang="en"/>
              <a:t>Convert each value of the </a:t>
            </a:r>
            <a:r>
              <a:rPr lang="en">
                <a:latin typeface="Courier New"/>
                <a:ea typeface="Courier New"/>
                <a:cs typeface="Courier New"/>
                <a:sym typeface="Courier New"/>
              </a:rPr>
              <a:t>DamageType</a:t>
            </a:r>
            <a:r>
              <a:rPr lang="en"/>
              <a:t> </a:t>
            </a:r>
            <a:r>
              <a:rPr lang="en">
                <a:latin typeface="Courier New"/>
                <a:ea typeface="Courier New"/>
                <a:cs typeface="Courier New"/>
                <a:sym typeface="Courier New"/>
              </a:rPr>
              <a:t>enum</a:t>
            </a:r>
            <a:r>
              <a:rPr lang="en"/>
              <a:t> to a string and print each to standard output.</a:t>
            </a:r>
            <a:endParaRPr/>
          </a:p>
          <a:p>
            <a:pPr indent="-298450" lvl="1" marL="914400" rtl="0" algn="l">
              <a:spcBef>
                <a:spcPts val="0"/>
              </a:spcBef>
              <a:spcAft>
                <a:spcPts val="0"/>
              </a:spcAft>
              <a:buSzPts val="1100"/>
              <a:buChar char="○"/>
            </a:pPr>
            <a:r>
              <a:rPr lang="en"/>
              <a:t>Use the </a:t>
            </a:r>
            <a:r>
              <a:rPr lang="en">
                <a:solidFill>
                  <a:srgbClr val="FF0000"/>
                </a:solidFill>
                <a:latin typeface="Courier New"/>
                <a:ea typeface="Courier New"/>
                <a:cs typeface="Courier New"/>
                <a:sym typeface="Courier New"/>
              </a:rPr>
              <a:t>valueOf(String)</a:t>
            </a:r>
            <a:r>
              <a:rPr lang="en"/>
              <a:t> method to convert a string into a value of each of the enumerated values and print each to standard output.</a:t>
            </a:r>
            <a:endParaRPr/>
          </a:p>
          <a:p>
            <a:pPr indent="-298450" lvl="1" marL="914400" rtl="0" algn="l">
              <a:spcBef>
                <a:spcPts val="0"/>
              </a:spcBef>
              <a:spcAft>
                <a:spcPts val="0"/>
              </a:spcAft>
              <a:buSzPts val="1100"/>
              <a:buChar char="○"/>
            </a:pPr>
            <a:r>
              <a:rPr lang="en"/>
              <a:t>Finally, use the </a:t>
            </a:r>
            <a:r>
              <a:rPr lang="en">
                <a:latin typeface="Courier New"/>
                <a:ea typeface="Courier New"/>
                <a:cs typeface="Courier New"/>
                <a:sym typeface="Courier New"/>
              </a:rPr>
              <a:t>values()</a:t>
            </a:r>
            <a:r>
              <a:rPr lang="en"/>
              <a:t> method to get an array of </a:t>
            </a:r>
            <a:r>
              <a:rPr lang="en">
                <a:latin typeface="Courier New"/>
                <a:ea typeface="Courier New"/>
                <a:cs typeface="Courier New"/>
                <a:sym typeface="Courier New"/>
              </a:rPr>
              <a:t>DamageType</a:t>
            </a:r>
            <a:r>
              <a:rPr lang="en"/>
              <a:t> values and print it to standard output. </a:t>
            </a:r>
            <a:r>
              <a:rPr b="1" i="1" lang="en"/>
              <a:t>Hint:</a:t>
            </a:r>
            <a:r>
              <a:rPr lang="en"/>
              <a:t> use the </a:t>
            </a:r>
            <a:r>
              <a:rPr lang="en">
                <a:latin typeface="Courier New"/>
                <a:ea typeface="Courier New"/>
                <a:cs typeface="Courier New"/>
                <a:sym typeface="Courier New"/>
              </a:rPr>
              <a:t>Arrays.toString(array)</a:t>
            </a:r>
            <a:r>
              <a:rPr lang="en"/>
              <a:t> method to convert the array into a nicely formatted string.</a:t>
            </a:r>
            <a:endParaRPr/>
          </a:p>
          <a:p>
            <a:pPr indent="-298450" lvl="1" marL="914400" rtl="0" algn="l">
              <a:spcBef>
                <a:spcPts val="0"/>
              </a:spcBef>
              <a:spcAft>
                <a:spcPts val="0"/>
              </a:spcAft>
              <a:buSzPts val="1100"/>
              <a:buChar char="○"/>
            </a:pPr>
            <a:r>
              <a:rPr b="1" i="1" lang="en">
                <a:solidFill>
                  <a:srgbClr val="EE0000"/>
                </a:solidFill>
              </a:rPr>
              <a:t>Challenge</a:t>
            </a:r>
            <a:r>
              <a:rPr lang="en"/>
              <a:t>: override the </a:t>
            </a:r>
            <a:r>
              <a:rPr lang="en">
                <a:latin typeface="Courier New"/>
                <a:ea typeface="Courier New"/>
                <a:cs typeface="Courier New"/>
                <a:sym typeface="Courier New"/>
              </a:rPr>
              <a:t>toString()</a:t>
            </a:r>
            <a:r>
              <a:rPr lang="en"/>
              <a:t> method to return a string in the format </a:t>
            </a:r>
            <a:r>
              <a:rPr lang="en">
                <a:latin typeface="Courier New"/>
                <a:ea typeface="Courier New"/>
                <a:cs typeface="Courier New"/>
                <a:sym typeface="Courier New"/>
              </a:rPr>
              <a:t>"&lt;type&gt; (&lt;color&gt;)"</a:t>
            </a:r>
            <a:r>
              <a:rPr lang="en"/>
              <a:t> e.g. </a:t>
            </a:r>
            <a:r>
              <a:rPr lang="en">
                <a:latin typeface="Courier New"/>
                <a:ea typeface="Courier New"/>
                <a:cs typeface="Courier New"/>
                <a:sym typeface="Courier New"/>
              </a:rPr>
              <a:t>"HEAVY (Green)"</a:t>
            </a:r>
            <a:r>
              <a:rPr lang="en"/>
              <a:t>.</a:t>
            </a:r>
            <a:endParaRPr/>
          </a:p>
        </p:txBody>
      </p:sp>
      <p:sp>
        <p:nvSpPr>
          <p:cNvPr id="719" name="Google Shape;719;p8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More </a:t>
            </a:r>
            <a:r>
              <a:rPr lang="en">
                <a:latin typeface="Courier New"/>
                <a:ea typeface="Courier New"/>
                <a:cs typeface="Courier New"/>
                <a:sym typeface="Courier New"/>
              </a:rPr>
              <a:t>enum</a:t>
            </a:r>
            <a:r>
              <a:rPr lang="en"/>
              <a:t> Features</a:t>
            </a:r>
            <a:endParaRPr/>
          </a:p>
        </p:txBody>
      </p:sp>
      <p:sp>
        <p:nvSpPr>
          <p:cNvPr id="720" name="Google Shape;720;p8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2.13</a:t>
            </a:r>
            <a:endParaRPr/>
          </a:p>
        </p:txBody>
      </p:sp>
      <p:sp>
        <p:nvSpPr>
          <p:cNvPr id="721" name="Google Shape;721;p85"/>
          <p:cNvSpPr txBox="1"/>
          <p:nvPr>
            <p:ph idx="4" type="body"/>
          </p:nvPr>
        </p:nvSpPr>
        <p:spPr>
          <a:xfrm>
            <a:off x="141600" y="1940225"/>
            <a:ext cx="3588300" cy="1970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     </a:t>
            </a:r>
            <a:endParaRPr sz="1000">
              <a:solidFill>
                <a:srgbClr val="267F99"/>
              </a:solidFill>
              <a:latin typeface="Consolas"/>
              <a:ea typeface="Consolas"/>
              <a:cs typeface="Consolas"/>
              <a:sym typeface="Consolas"/>
            </a:endParaRPr>
          </a:p>
          <a:p>
            <a:pPr indent="0" lvl="0" marL="0" rtl="0" algn="l">
              <a:spcBef>
                <a:spcPts val="0"/>
              </a:spcBef>
              <a:spcAft>
                <a:spcPts val="0"/>
              </a:spcAft>
              <a:buNone/>
            </a:pPr>
            <a:r>
              <a:rPr lang="en" sz="1000">
                <a:solidFill>
                  <a:srgbClr val="267F99"/>
                </a:solidFill>
                <a:latin typeface="Consolas"/>
                <a:ea typeface="Consolas"/>
                <a:cs typeface="Consolas"/>
                <a:sym typeface="Consolas"/>
              </a:rPr>
              <a:t>                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error</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"no"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Arrays</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p>
        </p:txBody>
      </p:sp>
      <p:sp>
        <p:nvSpPr>
          <p:cNvPr id="722" name="Google Shape;722;p85"/>
          <p:cNvSpPr txBox="1"/>
          <p:nvPr>
            <p:ph idx="2" type="body"/>
          </p:nvPr>
        </p:nvSpPr>
        <p:spPr>
          <a:xfrm>
            <a:off x="141600" y="4010012"/>
            <a:ext cx="3588300" cy="738900"/>
          </a:xfrm>
          <a:prstGeom prst="rect">
            <a:avLst/>
          </a:prstGeom>
          <a:solidFill>
            <a:srgbClr val="FFF2CC"/>
          </a:solidFill>
          <a:ln cap="flat" cmpd="sng" w="19050">
            <a:solidFill>
              <a:srgbClr val="EE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200">
                <a:solidFill>
                  <a:srgbClr val="000000"/>
                </a:solidFill>
                <a:latin typeface="Arial"/>
                <a:ea typeface="Arial"/>
                <a:cs typeface="Arial"/>
                <a:sym typeface="Arial"/>
              </a:rPr>
              <a:t>Java enums have lots of features that other Java classes don't, including the ability to fetch an array of the enumerated values.</a:t>
            </a:r>
            <a:endParaRPr sz="1200">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6"/>
          <p:cNvSpPr txBox="1"/>
          <p:nvPr>
            <p:ph type="title"/>
          </p:nvPr>
        </p:nvSpPr>
        <p:spPr>
          <a:xfrm>
            <a:off x="5008750" y="92625"/>
            <a:ext cx="39699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latin typeface="Courier New"/>
                <a:ea typeface="Courier New"/>
                <a:cs typeface="Courier New"/>
                <a:sym typeface="Courier New"/>
              </a:rPr>
              <a:t>s</a:t>
            </a:r>
            <a:r>
              <a:rPr lang="en">
                <a:latin typeface="Courier New"/>
                <a:ea typeface="Courier New"/>
                <a:cs typeface="Courier New"/>
                <a:sym typeface="Courier New"/>
              </a:rPr>
              <a:t>tatic</a:t>
            </a:r>
            <a:r>
              <a:rPr lang="en"/>
              <a:t> Modifier</a:t>
            </a:r>
            <a:endParaRPr/>
          </a:p>
        </p:txBody>
      </p:sp>
      <p:sp>
        <p:nvSpPr>
          <p:cNvPr id="728" name="Google Shape;728;p86"/>
          <p:cNvSpPr txBox="1"/>
          <p:nvPr>
            <p:ph idx="1" type="body"/>
          </p:nvPr>
        </p:nvSpPr>
        <p:spPr>
          <a:xfrm>
            <a:off x="301275" y="43725"/>
            <a:ext cx="4452900" cy="4736400"/>
          </a:xfrm>
          <a:prstGeom prst="rect">
            <a:avLst/>
          </a:prstGeom>
        </p:spPr>
        <p:txBody>
          <a:bodyPr anchorCtr="0" anchor="ctr" bIns="91425" lIns="91425" spcFirstLastPara="1" rIns="91425" wrap="square" tIns="91425">
            <a:spAutoFit/>
          </a:bodyPr>
          <a:lstStyle/>
          <a:p>
            <a:pPr indent="-313245" lvl="0" marL="457200" rtl="0" algn="l">
              <a:lnSpc>
                <a:spcPct val="115000"/>
              </a:lnSpc>
              <a:spcBef>
                <a:spcPts val="0"/>
              </a:spcBef>
              <a:spcAft>
                <a:spcPts val="0"/>
              </a:spcAft>
              <a:buSzPts val="1333"/>
              <a:buChar char="●"/>
            </a:pPr>
            <a:r>
              <a:rPr lang="en" sz="1333"/>
              <a:t>In the last unit, </a:t>
            </a:r>
            <a:r>
              <a:rPr lang="en" sz="1333"/>
              <a:t>we used the </a:t>
            </a:r>
            <a:r>
              <a:rPr lang="en" sz="1333">
                <a:solidFill>
                  <a:srgbClr val="FF0000"/>
                </a:solidFill>
                <a:latin typeface="Courier New"/>
                <a:ea typeface="Courier New"/>
                <a:cs typeface="Courier New"/>
                <a:sym typeface="Courier New"/>
              </a:rPr>
              <a:t>static</a:t>
            </a:r>
            <a:r>
              <a:rPr lang="en" sz="1333"/>
              <a:t> modifier before all of the methods that we wrote, but what does </a:t>
            </a:r>
            <a:r>
              <a:rPr lang="en" sz="1333">
                <a:solidFill>
                  <a:srgbClr val="FF0000"/>
                </a:solidFill>
                <a:latin typeface="Courier New"/>
                <a:ea typeface="Courier New"/>
                <a:cs typeface="Courier New"/>
                <a:sym typeface="Courier New"/>
              </a:rPr>
              <a:t>static</a:t>
            </a:r>
            <a:r>
              <a:rPr lang="en" sz="1333"/>
              <a:t> mean?</a:t>
            </a:r>
            <a:endParaRPr sz="1333"/>
          </a:p>
          <a:p>
            <a:pPr indent="-313245" lvl="0" marL="457200" rtl="0" algn="l">
              <a:lnSpc>
                <a:spcPct val="115000"/>
              </a:lnSpc>
              <a:spcBef>
                <a:spcPts val="1000"/>
              </a:spcBef>
              <a:spcAft>
                <a:spcPts val="0"/>
              </a:spcAft>
              <a:buSzPts val="1333"/>
              <a:buChar char="●"/>
            </a:pPr>
            <a:r>
              <a:rPr lang="en" sz="1333"/>
              <a:t>The </a:t>
            </a:r>
            <a:r>
              <a:rPr lang="en" sz="1333">
                <a:solidFill>
                  <a:srgbClr val="FF0000"/>
                </a:solidFill>
                <a:latin typeface="Courier New"/>
                <a:ea typeface="Courier New"/>
                <a:cs typeface="Courier New"/>
                <a:sym typeface="Courier New"/>
              </a:rPr>
              <a:t>static</a:t>
            </a:r>
            <a:r>
              <a:rPr lang="en" sz="1333"/>
              <a:t> modifier indicates that only </a:t>
            </a:r>
            <a:r>
              <a:rPr b="1" i="1" lang="en" sz="1333">
                <a:solidFill>
                  <a:srgbClr val="FF0000"/>
                </a:solidFill>
              </a:rPr>
              <a:t>one</a:t>
            </a:r>
            <a:r>
              <a:rPr i="1" lang="en" sz="1333"/>
              <a:t> </a:t>
            </a:r>
            <a:r>
              <a:rPr b="1" i="1" lang="en" sz="1333">
                <a:solidFill>
                  <a:srgbClr val="FF0000"/>
                </a:solidFill>
              </a:rPr>
              <a:t>global </a:t>
            </a:r>
            <a:r>
              <a:rPr lang="en" sz="1333"/>
              <a:t>instance of the corresponding item will exist in the program.</a:t>
            </a:r>
            <a:endParaRPr sz="1333"/>
          </a:p>
          <a:p>
            <a:pPr indent="-300545" lvl="1" marL="914400" rtl="0" algn="l">
              <a:lnSpc>
                <a:spcPct val="115000"/>
              </a:lnSpc>
              <a:spcBef>
                <a:spcPts val="0"/>
              </a:spcBef>
              <a:spcAft>
                <a:spcPts val="0"/>
              </a:spcAft>
              <a:buSzPts val="1133"/>
              <a:buChar char="○"/>
            </a:pPr>
            <a:r>
              <a:rPr lang="en" sz="1133"/>
              <a:t>It may be used to modify </a:t>
            </a:r>
            <a:r>
              <a:rPr b="1" i="1" lang="en" sz="1133">
                <a:solidFill>
                  <a:srgbClr val="FF0000"/>
                </a:solidFill>
              </a:rPr>
              <a:t>methods</a:t>
            </a:r>
            <a:r>
              <a:rPr lang="en" sz="1133">
                <a:solidFill>
                  <a:srgbClr val="FF0000"/>
                </a:solidFill>
              </a:rPr>
              <a:t> </a:t>
            </a:r>
            <a:r>
              <a:rPr lang="en" sz="1133"/>
              <a:t>or </a:t>
            </a:r>
            <a:r>
              <a:rPr b="1" i="1" lang="en" sz="1133">
                <a:solidFill>
                  <a:srgbClr val="FF0000"/>
                </a:solidFill>
              </a:rPr>
              <a:t>fields</a:t>
            </a:r>
            <a:r>
              <a:rPr lang="en" sz="1133"/>
              <a:t>.</a:t>
            </a:r>
            <a:endParaRPr sz="1133"/>
          </a:p>
          <a:p>
            <a:pPr indent="-313245" lvl="0" marL="457200" rtl="0" algn="l">
              <a:lnSpc>
                <a:spcPct val="115000"/>
              </a:lnSpc>
              <a:spcBef>
                <a:spcPts val="1000"/>
              </a:spcBef>
              <a:spcAft>
                <a:spcPts val="0"/>
              </a:spcAft>
              <a:buSzPts val="1333"/>
              <a:buChar char="●"/>
            </a:pPr>
            <a:r>
              <a:rPr lang="en" sz="1333"/>
              <a:t>The side effects of this are:</a:t>
            </a:r>
            <a:endParaRPr sz="1333"/>
          </a:p>
          <a:p>
            <a:pPr indent="-313245" lvl="1" marL="914400" rtl="0" algn="l">
              <a:lnSpc>
                <a:spcPct val="115000"/>
              </a:lnSpc>
              <a:spcBef>
                <a:spcPts val="0"/>
              </a:spcBef>
              <a:spcAft>
                <a:spcPts val="0"/>
              </a:spcAft>
              <a:buSzPts val="1333"/>
              <a:buChar char="○"/>
            </a:pPr>
            <a:r>
              <a:rPr lang="en"/>
              <a:t>The static item is part of the </a:t>
            </a:r>
            <a:r>
              <a:rPr b="1" i="1" lang="en">
                <a:solidFill>
                  <a:srgbClr val="FF0000"/>
                </a:solidFill>
              </a:rPr>
              <a:t>class</a:t>
            </a:r>
            <a:r>
              <a:rPr i="1" lang="en"/>
              <a:t> </a:t>
            </a:r>
            <a:r>
              <a:rPr lang="en"/>
              <a:t>and not an instance.</a:t>
            </a:r>
            <a:endParaRPr/>
          </a:p>
          <a:p>
            <a:pPr indent="-313245" lvl="1" marL="914400" rtl="0" algn="l">
              <a:lnSpc>
                <a:spcPct val="115000"/>
              </a:lnSpc>
              <a:spcBef>
                <a:spcPts val="0"/>
              </a:spcBef>
              <a:spcAft>
                <a:spcPts val="0"/>
              </a:spcAft>
              <a:buSzPts val="1333"/>
              <a:buChar char="○"/>
            </a:pPr>
            <a:r>
              <a:rPr lang="en"/>
              <a:t>You can </a:t>
            </a:r>
            <a:r>
              <a:rPr b="1" i="1" lang="en">
                <a:solidFill>
                  <a:srgbClr val="FF0000"/>
                </a:solidFill>
              </a:rPr>
              <a:t>access</a:t>
            </a:r>
            <a:r>
              <a:rPr i="1" lang="en"/>
              <a:t> </a:t>
            </a:r>
            <a:r>
              <a:rPr lang="en"/>
              <a:t>it using </a:t>
            </a:r>
            <a:r>
              <a:rPr lang="en">
                <a:latin typeface="Courier New"/>
                <a:ea typeface="Courier New"/>
                <a:cs typeface="Courier New"/>
                <a:sym typeface="Courier New"/>
              </a:rPr>
              <a:t>className.staticMember</a:t>
            </a:r>
            <a:r>
              <a:rPr lang="en"/>
              <a:t> instead of </a:t>
            </a:r>
            <a:r>
              <a:rPr lang="en">
                <a:latin typeface="Courier New"/>
                <a:ea typeface="Courier New"/>
                <a:cs typeface="Courier New"/>
                <a:sym typeface="Courier New"/>
              </a:rPr>
              <a:t>objectName.member</a:t>
            </a:r>
            <a:endParaRPr>
              <a:latin typeface="Courier New"/>
              <a:ea typeface="Courier New"/>
              <a:cs typeface="Courier New"/>
              <a:sym typeface="Courier New"/>
            </a:endParaRPr>
          </a:p>
          <a:p>
            <a:pPr indent="-313245" lvl="2" marL="1371600" rtl="0" algn="l">
              <a:lnSpc>
                <a:spcPct val="115000"/>
              </a:lnSpc>
              <a:spcBef>
                <a:spcPts val="0"/>
              </a:spcBef>
              <a:spcAft>
                <a:spcPts val="0"/>
              </a:spcAft>
              <a:buSzPts val="1333"/>
              <a:buChar char="■"/>
            </a:pPr>
            <a:r>
              <a:rPr lang="en"/>
              <a:t>It is considered bad practice to access a static member using an object.</a:t>
            </a:r>
            <a:endParaRPr/>
          </a:p>
          <a:p>
            <a:pPr indent="-298450" lvl="1" marL="914400" rtl="0" algn="l">
              <a:lnSpc>
                <a:spcPct val="115000"/>
              </a:lnSpc>
              <a:spcBef>
                <a:spcPts val="0"/>
              </a:spcBef>
              <a:spcAft>
                <a:spcPts val="0"/>
              </a:spcAft>
              <a:buSzPts val="1100"/>
              <a:buChar char="○"/>
            </a:pPr>
            <a:r>
              <a:rPr lang="en"/>
              <a:t>If a static member is changed, it is changed </a:t>
            </a:r>
            <a:r>
              <a:rPr b="1" i="1" lang="en">
                <a:solidFill>
                  <a:srgbClr val="FF0000"/>
                </a:solidFill>
              </a:rPr>
              <a:t>globally</a:t>
            </a:r>
            <a:r>
              <a:rPr lang="en"/>
              <a:t>.</a:t>
            </a:r>
            <a:endParaRPr>
              <a:solidFill>
                <a:srgbClr val="FF0000"/>
              </a:solidFill>
            </a:endParaRPr>
          </a:p>
          <a:p>
            <a:pPr indent="-313245" lvl="1" marL="914400" rtl="0" algn="l">
              <a:lnSpc>
                <a:spcPct val="115000"/>
              </a:lnSpc>
              <a:spcBef>
                <a:spcPts val="0"/>
              </a:spcBef>
              <a:spcAft>
                <a:spcPts val="0"/>
              </a:spcAft>
              <a:buSzPts val="1333"/>
              <a:buChar char="○"/>
            </a:pPr>
            <a:r>
              <a:rPr lang="en"/>
              <a:t>Static methods can only access other </a:t>
            </a:r>
            <a:r>
              <a:rPr b="1" i="1" lang="en">
                <a:solidFill>
                  <a:srgbClr val="FF0000"/>
                </a:solidFill>
              </a:rPr>
              <a:t>static</a:t>
            </a:r>
            <a:r>
              <a:rPr i="1" lang="en"/>
              <a:t> </a:t>
            </a:r>
            <a:r>
              <a:rPr lang="en"/>
              <a:t>methods and fields.</a:t>
            </a:r>
            <a:endParaRPr/>
          </a:p>
          <a:p>
            <a:pPr indent="-304800" lvl="0" marL="457200" rtl="0" algn="l">
              <a:spcBef>
                <a:spcPts val="1000"/>
              </a:spcBef>
              <a:spcAft>
                <a:spcPts val="1600"/>
              </a:spcAft>
              <a:buSzPts val="1200"/>
              <a:buChar char="●"/>
            </a:pPr>
            <a:r>
              <a:rPr lang="en" sz="1200"/>
              <a:t>In general, you should avoid using </a:t>
            </a:r>
            <a:r>
              <a:rPr lang="en" sz="1200">
                <a:latin typeface="Courier New"/>
                <a:ea typeface="Courier New"/>
                <a:cs typeface="Courier New"/>
                <a:sym typeface="Courier New"/>
              </a:rPr>
              <a:t>static</a:t>
            </a:r>
            <a:r>
              <a:rPr lang="en" sz="1200"/>
              <a:t> outside of </a:t>
            </a:r>
            <a:r>
              <a:rPr lang="en" sz="1200">
                <a:latin typeface="Courier New"/>
                <a:ea typeface="Courier New"/>
                <a:cs typeface="Courier New"/>
                <a:sym typeface="Courier New"/>
              </a:rPr>
              <a:t>main</a:t>
            </a:r>
            <a:r>
              <a:rPr lang="en" sz="1200"/>
              <a:t> and when creating constants.</a:t>
            </a:r>
            <a:endParaRPr b="1" i="1" sz="100" strike="sngStrike">
              <a:solidFill>
                <a:srgbClr val="FF0000"/>
              </a:solidFill>
            </a:endParaRPr>
          </a:p>
        </p:txBody>
      </p:sp>
      <p:sp>
        <p:nvSpPr>
          <p:cNvPr id="729" name="Google Shape;729;p86"/>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30" name="Google Shape;730;p86"/>
          <p:cNvSpPr txBox="1"/>
          <p:nvPr>
            <p:ph idx="2" type="body"/>
          </p:nvPr>
        </p:nvSpPr>
        <p:spPr>
          <a:xfrm>
            <a:off x="5192225" y="789375"/>
            <a:ext cx="3706500" cy="1962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1</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static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main</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 </a:t>
            </a:r>
            <a:r>
              <a:rPr lang="en" sz="1100">
                <a:solidFill>
                  <a:srgbClr val="001080"/>
                </a:solidFill>
                <a:latin typeface="Consolas"/>
                <a:ea typeface="Consolas"/>
                <a:cs typeface="Consolas"/>
                <a:sym typeface="Consolas"/>
              </a:rPr>
              <a:t>args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Pet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Pet</a:t>
            </a:r>
            <a:r>
              <a:rPr lang="en" sz="1100">
                <a:solidFill>
                  <a:srgbClr val="000000"/>
                </a:solidFill>
                <a:latin typeface="Consolas"/>
                <a:ea typeface="Consolas"/>
                <a:cs typeface="Consolas"/>
                <a:sym typeface="Consolas"/>
              </a:rPr>
              <a:t>(</a:t>
            </a:r>
            <a:r>
              <a:rPr lang="en" sz="1100">
                <a:solidFill>
                  <a:srgbClr val="A31515"/>
                </a:solidFill>
                <a:latin typeface="Consolas"/>
                <a:ea typeface="Consolas"/>
                <a:cs typeface="Consolas"/>
                <a:sym typeface="Consolas"/>
              </a:rPr>
              <a:t>"Cosmo"</a:t>
            </a:r>
            <a:r>
              <a:rPr lang="en" sz="1100">
                <a:solidFill>
                  <a:srgbClr val="000000"/>
                </a:solidFill>
                <a:latin typeface="Consolas"/>
                <a:ea typeface="Consolas"/>
                <a:cs typeface="Consolas"/>
                <a:sym typeface="Consolas"/>
              </a:rPr>
              <a:t>, </a:t>
            </a: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a:t>
            </a:r>
            <a:r>
              <a:rPr lang="en" sz="1100">
                <a:solidFill>
                  <a:srgbClr val="0070C1"/>
                </a:solidFill>
                <a:latin typeface="Consolas"/>
                <a:ea typeface="Consolas"/>
                <a:cs typeface="Consolas"/>
                <a:sym typeface="Consolas"/>
              </a:rPr>
              <a:t>DOG</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adopt</a:t>
            </a:r>
            <a:r>
              <a:rPr lang="en" sz="1100">
                <a:solidFill>
                  <a:srgbClr val="000000"/>
                </a:solidFill>
                <a:latin typeface="Consolas"/>
                <a:ea typeface="Consolas"/>
                <a:cs typeface="Consolas"/>
                <a:sym typeface="Consolas"/>
              </a:rPr>
              <a:t>(</a:t>
            </a:r>
            <a:r>
              <a:rPr lang="en" sz="1100">
                <a:solidFill>
                  <a:srgbClr val="A31515"/>
                </a:solidFill>
                <a:latin typeface="Consolas"/>
                <a:ea typeface="Consolas"/>
                <a:cs typeface="Consolas"/>
                <a:sym typeface="Consolas"/>
              </a:rPr>
              <a:t>"Bandit"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birthday</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7</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System</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out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98658"/>
                </a:solidFill>
                <a:latin typeface="Consolas"/>
                <a:ea typeface="Consolas"/>
                <a:cs typeface="Consolas"/>
                <a:sym typeface="Consolas"/>
              </a:rPr>
              <a:t>8</a:t>
            </a:r>
            <a:r>
              <a:rPr lang="en" sz="1100">
                <a:solidFill>
                  <a:srgbClr val="000000"/>
                </a:solidFill>
                <a:latin typeface="Consolas"/>
                <a:ea typeface="Consolas"/>
                <a:cs typeface="Consolas"/>
                <a:sym typeface="Consolas"/>
              </a:rPr>
              <a:t>  </a:t>
            </a: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grpSp>
        <p:nvGrpSpPr>
          <p:cNvPr id="731" name="Google Shape;731;p86"/>
          <p:cNvGrpSpPr/>
          <p:nvPr/>
        </p:nvGrpSpPr>
        <p:grpSpPr>
          <a:xfrm>
            <a:off x="5061091" y="727556"/>
            <a:ext cx="1483580" cy="2499327"/>
            <a:chOff x="5031200" y="681300"/>
            <a:chExt cx="1513548" cy="3062150"/>
          </a:xfrm>
        </p:grpSpPr>
        <p:sp>
          <p:nvSpPr>
            <p:cNvPr id="732" name="Google Shape;732;p86"/>
            <p:cNvSpPr/>
            <p:nvPr/>
          </p:nvSpPr>
          <p:spPr>
            <a:xfrm>
              <a:off x="5996048" y="875975"/>
              <a:ext cx="548700" cy="202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86"/>
            <p:cNvSpPr/>
            <p:nvPr/>
          </p:nvSpPr>
          <p:spPr>
            <a:xfrm>
              <a:off x="5031200" y="681300"/>
              <a:ext cx="1250259" cy="3062150"/>
            </a:xfrm>
            <a:custGeom>
              <a:rect b="b" l="l" r="r" t="t"/>
              <a:pathLst>
                <a:path extrusionOk="0" h="122486" w="43723">
                  <a:moveTo>
                    <a:pt x="43723" y="7787"/>
                  </a:moveTo>
                  <a:lnTo>
                    <a:pt x="43723" y="0"/>
                  </a:lnTo>
                  <a:lnTo>
                    <a:pt x="0" y="0"/>
                  </a:lnTo>
                  <a:lnTo>
                    <a:pt x="0" y="122486"/>
                  </a:lnTo>
                  <a:lnTo>
                    <a:pt x="6888" y="122486"/>
                  </a:lnTo>
                </a:path>
              </a:pathLst>
            </a:custGeom>
            <a:noFill/>
            <a:ln cap="flat" cmpd="sng" w="19050">
              <a:solidFill>
                <a:srgbClr val="EE0000"/>
              </a:solidFill>
              <a:prstDash val="solid"/>
              <a:round/>
              <a:headEnd len="med" w="med" type="none"/>
              <a:tailEnd len="med" w="med" type="none"/>
            </a:ln>
          </p:spPr>
        </p:sp>
      </p:grpSp>
      <p:sp>
        <p:nvSpPr>
          <p:cNvPr id="734" name="Google Shape;734;p86"/>
          <p:cNvSpPr txBox="1"/>
          <p:nvPr>
            <p:ph idx="3" type="body"/>
          </p:nvPr>
        </p:nvSpPr>
        <p:spPr>
          <a:xfrm>
            <a:off x="5192225" y="286745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A method that uses the </a:t>
            </a:r>
            <a:r>
              <a:rPr lang="en" sz="1200">
                <a:latin typeface="Courier New"/>
                <a:ea typeface="Courier New"/>
                <a:cs typeface="Courier New"/>
                <a:sym typeface="Courier New"/>
              </a:rPr>
              <a:t>static</a:t>
            </a:r>
            <a:r>
              <a:rPr lang="en" sz="1200"/>
              <a:t> modifier is in a </a:t>
            </a:r>
            <a:r>
              <a:rPr b="1" i="1" lang="en" sz="1200">
                <a:solidFill>
                  <a:srgbClr val="FF0000"/>
                </a:solidFill>
              </a:rPr>
              <a:t>static context</a:t>
            </a:r>
            <a:r>
              <a:rPr lang="en" sz="1200"/>
              <a:t> and can only directly access other methods or fields that are also static.</a:t>
            </a:r>
            <a:endParaRPr sz="1200"/>
          </a:p>
        </p:txBody>
      </p:sp>
      <p:sp>
        <p:nvSpPr>
          <p:cNvPr id="735" name="Google Shape;735;p86"/>
          <p:cNvSpPr txBox="1"/>
          <p:nvPr>
            <p:ph idx="3" type="body"/>
          </p:nvPr>
        </p:nvSpPr>
        <p:spPr>
          <a:xfrm>
            <a:off x="5192225" y="3751225"/>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Non-static fields and methods will need to be accessed through an instance of the class.</a:t>
            </a:r>
            <a:endParaRPr sz="1200"/>
          </a:p>
        </p:txBody>
      </p:sp>
      <p:grpSp>
        <p:nvGrpSpPr>
          <p:cNvPr id="736" name="Google Shape;736;p86"/>
          <p:cNvGrpSpPr/>
          <p:nvPr/>
        </p:nvGrpSpPr>
        <p:grpSpPr>
          <a:xfrm>
            <a:off x="5767575" y="1750600"/>
            <a:ext cx="3254162" cy="2284949"/>
            <a:chOff x="5767575" y="1750600"/>
            <a:chExt cx="3254162" cy="2284949"/>
          </a:xfrm>
        </p:grpSpPr>
        <p:sp>
          <p:nvSpPr>
            <p:cNvPr id="737" name="Google Shape;737;p86"/>
            <p:cNvSpPr/>
            <p:nvPr/>
          </p:nvSpPr>
          <p:spPr>
            <a:xfrm>
              <a:off x="5767575" y="1750600"/>
              <a:ext cx="1764300" cy="497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86"/>
            <p:cNvSpPr/>
            <p:nvPr/>
          </p:nvSpPr>
          <p:spPr>
            <a:xfrm>
              <a:off x="7531875" y="1984025"/>
              <a:ext cx="1489862" cy="2051524"/>
            </a:xfrm>
            <a:custGeom>
              <a:rect b="b" l="l" r="r" t="t"/>
              <a:pathLst>
                <a:path extrusionOk="0" h="94934" w="61692">
                  <a:moveTo>
                    <a:pt x="0" y="0"/>
                  </a:moveTo>
                  <a:lnTo>
                    <a:pt x="61692" y="0"/>
                  </a:lnTo>
                  <a:lnTo>
                    <a:pt x="61692" y="94934"/>
                  </a:lnTo>
                  <a:lnTo>
                    <a:pt x="56900" y="94934"/>
                  </a:lnTo>
                </a:path>
              </a:pathLst>
            </a:custGeom>
            <a:noFill/>
            <a:ln cap="flat" cmpd="sng" w="19050">
              <a:solidFill>
                <a:srgbClr val="EE0000"/>
              </a:solidFill>
              <a:prstDash val="solid"/>
              <a:round/>
              <a:headEnd len="med" w="med" type="none"/>
              <a:tailEnd len="med" w="med" type="none"/>
            </a:ln>
          </p:spPr>
        </p:sp>
      </p:grpSp>
      <p:sp>
        <p:nvSpPr>
          <p:cNvPr id="739" name="Google Shape;739;p86"/>
          <p:cNvSpPr txBox="1"/>
          <p:nvPr>
            <p:ph idx="3" type="body"/>
          </p:nvPr>
        </p:nvSpPr>
        <p:spPr>
          <a:xfrm>
            <a:off x="5192225" y="4450200"/>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You should </a:t>
            </a:r>
            <a:r>
              <a:rPr b="1" i="1" lang="en" sz="1200">
                <a:solidFill>
                  <a:srgbClr val="FF0000"/>
                </a:solidFill>
              </a:rPr>
              <a:t>not</a:t>
            </a:r>
            <a:r>
              <a:rPr lang="en" sz="1200">
                <a:solidFill>
                  <a:srgbClr val="FF0000"/>
                </a:solidFill>
              </a:rPr>
              <a:t> </a:t>
            </a:r>
            <a:r>
              <a:rPr lang="en" sz="1200"/>
              <a:t>make a non-static method </a:t>
            </a:r>
            <a:r>
              <a:rPr lang="en" sz="1200">
                <a:latin typeface="Courier New"/>
                <a:ea typeface="Courier New"/>
                <a:cs typeface="Courier New"/>
                <a:sym typeface="Courier New"/>
              </a:rPr>
              <a:t>static</a:t>
            </a:r>
            <a:r>
              <a:rPr lang="en" sz="1200"/>
              <a:t> just so that it can be called from a static method.</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0" st="0"/>
                                            </p:txEl>
                                          </p:spTgt>
                                        </p:tgtEl>
                                        <p:attrNameLst>
                                          <p:attrName>style.visibility</p:attrName>
                                        </p:attrNameLst>
                                      </p:cBhvr>
                                      <p:to>
                                        <p:strVal val="visible"/>
                                      </p:to>
                                    </p:set>
                                    <p:animEffect filter="fade" transition="in">
                                      <p:cBhvr>
                                        <p:cTn dur="1000"/>
                                        <p:tgtEl>
                                          <p:spTgt spid="7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1" st="1"/>
                                            </p:txEl>
                                          </p:spTgt>
                                        </p:tgtEl>
                                        <p:attrNameLst>
                                          <p:attrName>style.visibility</p:attrName>
                                        </p:attrNameLst>
                                      </p:cBhvr>
                                      <p:to>
                                        <p:strVal val="visible"/>
                                      </p:to>
                                    </p:set>
                                    <p:animEffect filter="fade" transition="in">
                                      <p:cBhvr>
                                        <p:cTn dur="1000"/>
                                        <p:tgtEl>
                                          <p:spTgt spid="7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2" st="2"/>
                                            </p:txEl>
                                          </p:spTgt>
                                        </p:tgtEl>
                                        <p:attrNameLst>
                                          <p:attrName>style.visibility</p:attrName>
                                        </p:attrNameLst>
                                      </p:cBhvr>
                                      <p:to>
                                        <p:strVal val="visible"/>
                                      </p:to>
                                    </p:set>
                                    <p:animEffect filter="fade" transition="in">
                                      <p:cBhvr>
                                        <p:cTn dur="1000"/>
                                        <p:tgtEl>
                                          <p:spTgt spid="7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3" st="3"/>
                                            </p:txEl>
                                          </p:spTgt>
                                        </p:tgtEl>
                                        <p:attrNameLst>
                                          <p:attrName>style.visibility</p:attrName>
                                        </p:attrNameLst>
                                      </p:cBhvr>
                                      <p:to>
                                        <p:strVal val="visible"/>
                                      </p:to>
                                    </p:set>
                                    <p:animEffect filter="fade" transition="in">
                                      <p:cBhvr>
                                        <p:cTn dur="1000"/>
                                        <p:tgtEl>
                                          <p:spTgt spid="7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4" st="4"/>
                                            </p:txEl>
                                          </p:spTgt>
                                        </p:tgtEl>
                                        <p:attrNameLst>
                                          <p:attrName>style.visibility</p:attrName>
                                        </p:attrNameLst>
                                      </p:cBhvr>
                                      <p:to>
                                        <p:strVal val="visible"/>
                                      </p:to>
                                    </p:set>
                                    <p:animEffect filter="fade" transition="in">
                                      <p:cBhvr>
                                        <p:cTn dur="1000"/>
                                        <p:tgtEl>
                                          <p:spTgt spid="7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5" st="5"/>
                                            </p:txEl>
                                          </p:spTgt>
                                        </p:tgtEl>
                                        <p:attrNameLst>
                                          <p:attrName>style.visibility</p:attrName>
                                        </p:attrNameLst>
                                      </p:cBhvr>
                                      <p:to>
                                        <p:strVal val="visible"/>
                                      </p:to>
                                    </p:set>
                                    <p:animEffect filter="fade" transition="in">
                                      <p:cBhvr>
                                        <p:cTn dur="1000"/>
                                        <p:tgtEl>
                                          <p:spTgt spid="7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6" st="6"/>
                                            </p:txEl>
                                          </p:spTgt>
                                        </p:tgtEl>
                                        <p:attrNameLst>
                                          <p:attrName>style.visibility</p:attrName>
                                        </p:attrNameLst>
                                      </p:cBhvr>
                                      <p:to>
                                        <p:strVal val="visible"/>
                                      </p:to>
                                    </p:set>
                                    <p:animEffect filter="fade" transition="in">
                                      <p:cBhvr>
                                        <p:cTn dur="1000"/>
                                        <p:tgtEl>
                                          <p:spTgt spid="7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7" st="7"/>
                                            </p:txEl>
                                          </p:spTgt>
                                        </p:tgtEl>
                                        <p:attrNameLst>
                                          <p:attrName>style.visibility</p:attrName>
                                        </p:attrNameLst>
                                      </p:cBhvr>
                                      <p:to>
                                        <p:strVal val="visible"/>
                                      </p:to>
                                    </p:set>
                                    <p:animEffect filter="fade" transition="in">
                                      <p:cBhvr>
                                        <p:cTn dur="1000"/>
                                        <p:tgtEl>
                                          <p:spTgt spid="7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8" st="8"/>
                                            </p:txEl>
                                          </p:spTgt>
                                        </p:tgtEl>
                                        <p:attrNameLst>
                                          <p:attrName>style.visibility</p:attrName>
                                        </p:attrNameLst>
                                      </p:cBhvr>
                                      <p:to>
                                        <p:strVal val="visible"/>
                                      </p:to>
                                    </p:set>
                                    <p:animEffect filter="fade" transition="in">
                                      <p:cBhvr>
                                        <p:cTn dur="1000"/>
                                        <p:tgtEl>
                                          <p:spTgt spid="72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9" st="9"/>
                                            </p:txEl>
                                          </p:spTgt>
                                        </p:tgtEl>
                                        <p:attrNameLst>
                                          <p:attrName>style.visibility</p:attrName>
                                        </p:attrNameLst>
                                      </p:cBhvr>
                                      <p:to>
                                        <p:strVal val="visible"/>
                                      </p:to>
                                    </p:set>
                                    <p:animEffect filter="fade" transition="in">
                                      <p:cBhvr>
                                        <p:cTn dur="1000"/>
                                        <p:tgtEl>
                                          <p:spTgt spid="72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1000"/>
                                        <p:tgtEl>
                                          <p:spTgt spid="7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1000"/>
                                        <p:tgtEl>
                                          <p:spTgt spid="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1000"/>
                                        <p:tgtEl>
                                          <p:spTgt spid="7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1000"/>
                                        <p:tgtEl>
                                          <p:spTgt spid="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1000"/>
                                        <p:tgtEl>
                                          <p:spTgt spid="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5" name="Google Shape;745;p87"/>
          <p:cNvSpPr txBox="1"/>
          <p:nvPr>
            <p:ph type="title"/>
          </p:nvPr>
        </p:nvSpPr>
        <p:spPr>
          <a:xfrm>
            <a:off x="311725" y="437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final</a:t>
            </a:r>
            <a:r>
              <a:rPr lang="en"/>
              <a:t> &amp; </a:t>
            </a:r>
            <a:r>
              <a:rPr lang="en"/>
              <a:t>Constants</a:t>
            </a:r>
            <a:endParaRPr/>
          </a:p>
        </p:txBody>
      </p:sp>
      <p:sp>
        <p:nvSpPr>
          <p:cNvPr id="746" name="Google Shape;746;p87"/>
          <p:cNvSpPr txBox="1"/>
          <p:nvPr>
            <p:ph idx="1" type="body"/>
          </p:nvPr>
        </p:nvSpPr>
        <p:spPr>
          <a:xfrm>
            <a:off x="4426225" y="35025"/>
            <a:ext cx="4474500" cy="5016600"/>
          </a:xfrm>
          <a:prstGeom prst="rect">
            <a:avLst/>
          </a:prstGeom>
        </p:spPr>
        <p:txBody>
          <a:bodyPr anchorCtr="0" anchor="t" bIns="91425" lIns="91425" spcFirstLastPara="1" rIns="91425" wrap="square" tIns="91425">
            <a:spAutoFit/>
          </a:bodyPr>
          <a:lstStyle/>
          <a:p>
            <a:pPr indent="-313245" lvl="0" marL="457200" rtl="0" algn="l">
              <a:lnSpc>
                <a:spcPct val="100000"/>
              </a:lnSpc>
              <a:spcBef>
                <a:spcPts val="0"/>
              </a:spcBef>
              <a:spcAft>
                <a:spcPts val="0"/>
              </a:spcAft>
              <a:buSzPts val="1333"/>
              <a:buChar char="●"/>
            </a:pPr>
            <a:r>
              <a:rPr lang="en" sz="1333"/>
              <a:t>The </a:t>
            </a:r>
            <a:r>
              <a:rPr lang="en" sz="1333">
                <a:solidFill>
                  <a:srgbClr val="FF0000"/>
                </a:solidFill>
                <a:latin typeface="Courier New"/>
                <a:ea typeface="Courier New"/>
                <a:cs typeface="Courier New"/>
                <a:sym typeface="Courier New"/>
              </a:rPr>
              <a:t>final</a:t>
            </a:r>
            <a:r>
              <a:rPr lang="en" sz="1333"/>
              <a:t> modifier indicates that, once a value has been assigned to a variable, the value may never be changed.</a:t>
            </a:r>
            <a:endParaRPr sz="1333"/>
          </a:p>
          <a:p>
            <a:pPr indent="-300545" lvl="1" marL="914400" rtl="0" algn="l">
              <a:lnSpc>
                <a:spcPct val="100000"/>
              </a:lnSpc>
              <a:spcBef>
                <a:spcPts val="0"/>
              </a:spcBef>
              <a:spcAft>
                <a:spcPts val="0"/>
              </a:spcAft>
              <a:buSzPts val="1133"/>
              <a:buChar char="○"/>
            </a:pPr>
            <a:r>
              <a:rPr lang="en" sz="1133"/>
              <a:t>A field that is final </a:t>
            </a:r>
            <a:r>
              <a:rPr b="1" i="1" lang="en" sz="1133">
                <a:solidFill>
                  <a:srgbClr val="FF0000"/>
                </a:solidFill>
              </a:rPr>
              <a:t>must</a:t>
            </a:r>
            <a:r>
              <a:rPr lang="en" sz="1133">
                <a:solidFill>
                  <a:srgbClr val="FF0000"/>
                </a:solidFill>
              </a:rPr>
              <a:t> </a:t>
            </a:r>
            <a:r>
              <a:rPr lang="en" sz="1133"/>
              <a:t>be assigned a value when the object is constructed.</a:t>
            </a:r>
            <a:endParaRPr sz="1133"/>
          </a:p>
          <a:p>
            <a:pPr indent="-300545" lvl="1" marL="914400" rtl="0" algn="l">
              <a:lnSpc>
                <a:spcPct val="100000"/>
              </a:lnSpc>
              <a:spcBef>
                <a:spcPts val="0"/>
              </a:spcBef>
              <a:spcAft>
                <a:spcPts val="0"/>
              </a:spcAft>
              <a:buSzPts val="1133"/>
              <a:buChar char="○"/>
            </a:pPr>
            <a:r>
              <a:rPr lang="en" sz="1133"/>
              <a:t>If a value is not assigned </a:t>
            </a:r>
            <a:r>
              <a:rPr lang="en" sz="1133"/>
              <a:t>in the constructor or when the field is declared,</a:t>
            </a:r>
            <a:r>
              <a:rPr lang="en" sz="1133"/>
              <a:t> the class will not compile.</a:t>
            </a:r>
            <a:endParaRPr sz="1133"/>
          </a:p>
          <a:p>
            <a:pPr indent="-313245" lvl="0" marL="457200" rtl="0" algn="l">
              <a:lnSpc>
                <a:spcPct val="100000"/>
              </a:lnSpc>
              <a:spcBef>
                <a:spcPts val="1000"/>
              </a:spcBef>
              <a:spcAft>
                <a:spcPts val="0"/>
              </a:spcAft>
              <a:buSzPts val="1333"/>
              <a:buChar char="●"/>
            </a:pPr>
            <a:r>
              <a:rPr lang="en" sz="1333"/>
              <a:t>A </a:t>
            </a:r>
            <a:r>
              <a:rPr b="1" i="1" lang="en" sz="1333">
                <a:solidFill>
                  <a:srgbClr val="FF0000"/>
                </a:solidFill>
              </a:rPr>
              <a:t>constant</a:t>
            </a:r>
            <a:r>
              <a:rPr lang="en" sz="1333">
                <a:solidFill>
                  <a:srgbClr val="FF0000"/>
                </a:solidFill>
              </a:rPr>
              <a:t> </a:t>
            </a:r>
            <a:r>
              <a:rPr lang="en" sz="1333"/>
              <a:t>is a variable that has a predefined value that never changes.</a:t>
            </a:r>
            <a:endParaRPr sz="1333"/>
          </a:p>
          <a:p>
            <a:pPr indent="-300545" lvl="1" marL="914400" rtl="0" algn="l">
              <a:lnSpc>
                <a:spcPct val="100000"/>
              </a:lnSpc>
              <a:spcBef>
                <a:spcPts val="0"/>
              </a:spcBef>
              <a:spcAft>
                <a:spcPts val="0"/>
              </a:spcAft>
              <a:buSzPts val="1133"/>
              <a:buChar char="○"/>
            </a:pPr>
            <a:r>
              <a:rPr lang="en" sz="1133"/>
              <a:t>e.g. Pi (3.14159), the number of feet in a mile (5,280), etc.</a:t>
            </a:r>
            <a:endParaRPr sz="1133"/>
          </a:p>
          <a:p>
            <a:pPr indent="-313245" lvl="0" marL="457200" rtl="0" algn="l">
              <a:lnSpc>
                <a:spcPct val="100000"/>
              </a:lnSpc>
              <a:spcBef>
                <a:spcPts val="1000"/>
              </a:spcBef>
              <a:spcAft>
                <a:spcPts val="0"/>
              </a:spcAft>
              <a:buSzPts val="1333"/>
              <a:buChar char="●"/>
            </a:pPr>
            <a:r>
              <a:rPr lang="en" sz="1333"/>
              <a:t>A constant is </a:t>
            </a:r>
            <a:r>
              <a:rPr b="1" i="1" lang="en" sz="1333">
                <a:solidFill>
                  <a:srgbClr val="FF0000"/>
                </a:solidFill>
              </a:rPr>
              <a:t>both</a:t>
            </a:r>
            <a:r>
              <a:rPr lang="en" sz="1333">
                <a:solidFill>
                  <a:srgbClr val="FF0000"/>
                </a:solidFill>
              </a:rPr>
              <a:t> </a:t>
            </a:r>
            <a:r>
              <a:rPr lang="en" sz="1333">
                <a:latin typeface="Courier New"/>
                <a:ea typeface="Courier New"/>
                <a:cs typeface="Courier New"/>
                <a:sym typeface="Courier New"/>
              </a:rPr>
              <a:t>static</a:t>
            </a:r>
            <a:r>
              <a:rPr lang="en" sz="1333"/>
              <a:t> and </a:t>
            </a:r>
            <a:r>
              <a:rPr lang="en" sz="1333">
                <a:latin typeface="Courier New"/>
                <a:ea typeface="Courier New"/>
                <a:cs typeface="Courier New"/>
                <a:sym typeface="Courier New"/>
              </a:rPr>
              <a:t>final</a:t>
            </a:r>
            <a:r>
              <a:rPr lang="en" sz="1333"/>
              <a:t>.</a:t>
            </a:r>
            <a:endParaRPr sz="1333"/>
          </a:p>
          <a:p>
            <a:pPr indent="-313245" lvl="0" marL="457200" rtl="0" algn="l">
              <a:lnSpc>
                <a:spcPct val="100000"/>
              </a:lnSpc>
              <a:spcBef>
                <a:spcPts val="1000"/>
              </a:spcBef>
              <a:spcAft>
                <a:spcPts val="0"/>
              </a:spcAft>
              <a:buSzPts val="1333"/>
              <a:buChar char="●"/>
            </a:pPr>
            <a:r>
              <a:rPr lang="en" sz="1333"/>
              <a:t>In general, constants should be used instead of "magic values."</a:t>
            </a:r>
            <a:endParaRPr sz="1333"/>
          </a:p>
          <a:p>
            <a:pPr indent="-300545" lvl="1" marL="914400" rtl="0" algn="l">
              <a:lnSpc>
                <a:spcPct val="100000"/>
              </a:lnSpc>
              <a:spcBef>
                <a:spcPts val="0"/>
              </a:spcBef>
              <a:spcAft>
                <a:spcPts val="0"/>
              </a:spcAft>
              <a:buSzPts val="1133"/>
              <a:buChar char="○"/>
            </a:pPr>
            <a:r>
              <a:rPr lang="en" sz="1133"/>
              <a:t>A "</a:t>
            </a:r>
            <a:r>
              <a:rPr b="1" i="1" lang="en" sz="1133">
                <a:solidFill>
                  <a:srgbClr val="FF0000"/>
                </a:solidFill>
              </a:rPr>
              <a:t>magic</a:t>
            </a:r>
            <a:r>
              <a:rPr lang="en" sz="1133"/>
              <a:t>" value is one that just appears hardcoded without any context.</a:t>
            </a:r>
            <a:endParaRPr sz="1133"/>
          </a:p>
          <a:p>
            <a:pPr indent="-300545" lvl="1" marL="914400" rtl="0" algn="l">
              <a:lnSpc>
                <a:spcPct val="100000"/>
              </a:lnSpc>
              <a:spcBef>
                <a:spcPts val="0"/>
              </a:spcBef>
              <a:spcAft>
                <a:spcPts val="0"/>
              </a:spcAft>
              <a:buSzPts val="1133"/>
              <a:buChar char="○"/>
            </a:pPr>
            <a:r>
              <a:rPr lang="en" sz="1133"/>
              <a:t>This is especially true if the value is used in more than one place.</a:t>
            </a:r>
            <a:endParaRPr sz="1133"/>
          </a:p>
          <a:p>
            <a:pPr indent="-313245" lvl="0" marL="457200" rtl="0" algn="l">
              <a:lnSpc>
                <a:spcPct val="100000"/>
              </a:lnSpc>
              <a:spcBef>
                <a:spcPts val="1000"/>
              </a:spcBef>
              <a:spcAft>
                <a:spcPts val="0"/>
              </a:spcAft>
              <a:buSzPts val="1333"/>
              <a:buChar char="●"/>
            </a:pPr>
            <a:r>
              <a:rPr lang="en" sz="1333"/>
              <a:t>Using constants makes it </a:t>
            </a:r>
            <a:r>
              <a:rPr b="1" i="1" lang="en" sz="1333">
                <a:solidFill>
                  <a:srgbClr val="FF0000"/>
                </a:solidFill>
              </a:rPr>
              <a:t>much</a:t>
            </a:r>
            <a:r>
              <a:rPr lang="en" sz="1333">
                <a:solidFill>
                  <a:srgbClr val="FF0000"/>
                </a:solidFill>
              </a:rPr>
              <a:t> </a:t>
            </a:r>
            <a:r>
              <a:rPr lang="en" sz="1333"/>
              <a:t>easier to change the value.</a:t>
            </a:r>
            <a:endParaRPr sz="1333"/>
          </a:p>
          <a:p>
            <a:pPr indent="-300545" lvl="1" marL="914400" rtl="0" algn="l">
              <a:lnSpc>
                <a:spcPct val="100000"/>
              </a:lnSpc>
              <a:spcBef>
                <a:spcPts val="0"/>
              </a:spcBef>
              <a:spcAft>
                <a:spcPts val="0"/>
              </a:spcAft>
              <a:buSzPts val="1133"/>
              <a:buChar char="○"/>
            </a:pPr>
            <a:r>
              <a:rPr lang="en" sz="1133"/>
              <a:t>For example, if we need to add 3 more digits of precision to Pi, we only need to change it in one place.</a:t>
            </a:r>
            <a:endParaRPr sz="1133"/>
          </a:p>
        </p:txBody>
      </p:sp>
      <p:sp>
        <p:nvSpPr>
          <p:cNvPr id="747" name="Google Shape;747;p87"/>
          <p:cNvSpPr txBox="1"/>
          <p:nvPr>
            <p:ph idx="2" type="body"/>
          </p:nvPr>
        </p:nvSpPr>
        <p:spPr>
          <a:xfrm>
            <a:off x="311725" y="1284027"/>
            <a:ext cx="3706500" cy="2801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Circle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3.14</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 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Circle</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circumference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area</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17</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p:txBody>
      </p:sp>
      <p:grpSp>
        <p:nvGrpSpPr>
          <p:cNvPr id="748" name="Google Shape;748;p87"/>
          <p:cNvGrpSpPr/>
          <p:nvPr/>
        </p:nvGrpSpPr>
        <p:grpSpPr>
          <a:xfrm>
            <a:off x="1362613" y="1160412"/>
            <a:ext cx="891000" cy="546600"/>
            <a:chOff x="1362613" y="1160412"/>
            <a:chExt cx="891000" cy="546600"/>
          </a:xfrm>
        </p:grpSpPr>
        <p:sp>
          <p:nvSpPr>
            <p:cNvPr id="749" name="Google Shape;749;p87"/>
            <p:cNvSpPr/>
            <p:nvPr/>
          </p:nvSpPr>
          <p:spPr>
            <a:xfrm>
              <a:off x="1362613" y="1534812"/>
              <a:ext cx="891000" cy="172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0" name="Google Shape;750;p87"/>
            <p:cNvCxnSpPr/>
            <p:nvPr/>
          </p:nvCxnSpPr>
          <p:spPr>
            <a:xfrm rot="10800000">
              <a:off x="2151679" y="1160412"/>
              <a:ext cx="0" cy="374400"/>
            </a:xfrm>
            <a:prstGeom prst="straightConnector1">
              <a:avLst/>
            </a:prstGeom>
            <a:noFill/>
            <a:ln cap="flat" cmpd="sng" w="19050">
              <a:solidFill>
                <a:srgbClr val="FF0000"/>
              </a:solidFill>
              <a:prstDash val="solid"/>
              <a:round/>
              <a:headEnd len="med" w="med" type="none"/>
              <a:tailEnd len="med" w="med" type="none"/>
            </a:ln>
          </p:spPr>
        </p:cxnSp>
      </p:grpSp>
      <p:sp>
        <p:nvSpPr>
          <p:cNvPr id="751" name="Google Shape;751;p87"/>
          <p:cNvSpPr txBox="1"/>
          <p:nvPr>
            <p:ph idx="3" type="body"/>
          </p:nvPr>
        </p:nvSpPr>
        <p:spPr>
          <a:xfrm>
            <a:off x="311725" y="622275"/>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Constants are both static and final and may also be public if they are needed outside of the class.</a:t>
            </a:r>
            <a:endParaRPr sz="1200"/>
          </a:p>
        </p:txBody>
      </p:sp>
      <p:sp>
        <p:nvSpPr>
          <p:cNvPr id="752" name="Google Shape;752;p87"/>
          <p:cNvSpPr txBox="1"/>
          <p:nvPr>
            <p:ph idx="3" type="body"/>
          </p:nvPr>
        </p:nvSpPr>
        <p:spPr>
          <a:xfrm>
            <a:off x="311725" y="419307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Constants make better </a:t>
            </a:r>
            <a:r>
              <a:rPr b="1" i="1" lang="en" sz="1200">
                <a:solidFill>
                  <a:srgbClr val="FF0000"/>
                </a:solidFill>
              </a:rPr>
              <a:t>self documenting code</a:t>
            </a:r>
            <a:r>
              <a:rPr lang="en" sz="1200"/>
              <a:t> </a:t>
            </a:r>
            <a:r>
              <a:rPr lang="en" sz="1200"/>
              <a:t>and it is much easier to modify if the value of the constant has to change for any reason.</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0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1000"/>
                                        <p:tgtEl>
                                          <p:spTgt spid="7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1000"/>
                                        <p:tgtEl>
                                          <p:spTgt spid="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1000"/>
                                        <p:tgtEl>
                                          <p:spTgt spid="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8"/>
          <p:cNvSpPr txBox="1"/>
          <p:nvPr>
            <p:ph idx="1" type="body"/>
          </p:nvPr>
        </p:nvSpPr>
        <p:spPr>
          <a:xfrm>
            <a:off x="65250" y="5792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current version of the </a:t>
            </a:r>
            <a:r>
              <a:rPr lang="en">
                <a:latin typeface="Courier New"/>
                <a:ea typeface="Courier New"/>
                <a:cs typeface="Courier New"/>
                <a:sym typeface="Courier New"/>
              </a:rPr>
              <a:t>StarWarsBattle</a:t>
            </a:r>
            <a:r>
              <a:rPr lang="en"/>
              <a:t> uses hardcoded string literals for the names of the ships and weapons. Let's practice using constants by declaring a constant for each ship and weapon name and reusing it when the corresponding ship is created.</a:t>
            </a:r>
            <a:endParaRPr/>
          </a:p>
        </p:txBody>
      </p:sp>
      <p:sp>
        <p:nvSpPr>
          <p:cNvPr id="758" name="Google Shape;758;p8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9" name="Google Shape;759;p88"/>
          <p:cNvSpPr txBox="1"/>
          <p:nvPr>
            <p:ph idx="2" type="body"/>
          </p:nvPr>
        </p:nvSpPr>
        <p:spPr>
          <a:xfrm>
            <a:off x="3396375" y="1576725"/>
            <a:ext cx="5544600" cy="25044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In </a:t>
            </a:r>
            <a:r>
              <a:rPr lang="en" sz="1500">
                <a:latin typeface="Courier New"/>
                <a:ea typeface="Courier New"/>
                <a:cs typeface="Courier New"/>
                <a:sym typeface="Courier New"/>
              </a:rPr>
              <a:t>StarWarsBattle</a:t>
            </a:r>
            <a:r>
              <a:rPr lang="en" sz="1500"/>
              <a:t>, add constants for each of the ship and weapon names.</a:t>
            </a:r>
            <a:endParaRPr sz="1500"/>
          </a:p>
          <a:p>
            <a:pPr indent="-317500" lvl="1" marL="914400" rtl="0" algn="l">
              <a:spcBef>
                <a:spcPts val="0"/>
              </a:spcBef>
              <a:spcAft>
                <a:spcPts val="0"/>
              </a:spcAft>
              <a:buSzPts val="1400"/>
              <a:buChar char="○"/>
            </a:pPr>
            <a:r>
              <a:rPr lang="en" sz="1400"/>
              <a:t>It is recommended the constant names be based off the value, e.g. </a:t>
            </a:r>
            <a:r>
              <a:rPr lang="en" sz="1400">
                <a:latin typeface="Courier New"/>
                <a:ea typeface="Courier New"/>
                <a:cs typeface="Courier New"/>
                <a:sym typeface="Courier New"/>
              </a:rPr>
              <a:t>X_WING</a:t>
            </a:r>
            <a:r>
              <a:rPr lang="en" sz="1400"/>
              <a:t> and not </a:t>
            </a:r>
            <a:r>
              <a:rPr lang="en" sz="1400">
                <a:latin typeface="Courier New"/>
                <a:ea typeface="Courier New"/>
                <a:cs typeface="Courier New"/>
                <a:sym typeface="Courier New"/>
              </a:rPr>
              <a:t>SHIP_1</a:t>
            </a:r>
            <a:r>
              <a:rPr lang="en" sz="1400"/>
              <a:t>.</a:t>
            </a:r>
            <a:endParaRPr sz="1400"/>
          </a:p>
          <a:p>
            <a:pPr indent="-323850" lvl="0" marL="457200" rtl="0" algn="l">
              <a:spcBef>
                <a:spcPts val="0"/>
              </a:spcBef>
              <a:spcAft>
                <a:spcPts val="0"/>
              </a:spcAft>
              <a:buSzPts val="1500"/>
              <a:buChar char="●"/>
            </a:pPr>
            <a:r>
              <a:rPr lang="en" sz="1500"/>
              <a:t>Change any code that was using the string literals to use the new constants.</a:t>
            </a:r>
            <a:endParaRPr sz="1500"/>
          </a:p>
          <a:p>
            <a:pPr indent="-323850" lvl="0" marL="457200" rtl="0" algn="l">
              <a:spcBef>
                <a:spcPts val="0"/>
              </a:spcBef>
              <a:spcAft>
                <a:spcPts val="0"/>
              </a:spcAft>
              <a:buSzPts val="1500"/>
              <a:buChar char="●"/>
            </a:pPr>
            <a:r>
              <a:rPr lang="en" sz="1500"/>
              <a:t>In the main method inside </a:t>
            </a:r>
            <a:r>
              <a:rPr lang="en" sz="1500">
                <a:latin typeface="Courier New"/>
                <a:ea typeface="Courier New"/>
                <a:cs typeface="Courier New"/>
                <a:sym typeface="Courier New"/>
              </a:rPr>
              <a:t>StarWarsBattle</a:t>
            </a:r>
            <a:r>
              <a:rPr lang="en" sz="1500"/>
              <a:t>, create your ships and print the details about the ship and weapon names to make sure that everything looks correct.</a:t>
            </a:r>
            <a:endParaRPr sz="1500"/>
          </a:p>
        </p:txBody>
      </p:sp>
      <p:sp>
        <p:nvSpPr>
          <p:cNvPr id="760" name="Google Shape;760;p8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Look at all the Colors</a:t>
            </a:r>
            <a:endParaRPr/>
          </a:p>
        </p:txBody>
      </p:sp>
      <p:sp>
        <p:nvSpPr>
          <p:cNvPr id="761" name="Google Shape;761;p8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2.14</a:t>
            </a:r>
            <a:endParaRPr/>
          </a:p>
        </p:txBody>
      </p:sp>
      <p:sp>
        <p:nvSpPr>
          <p:cNvPr id="762" name="Google Shape;762;p88"/>
          <p:cNvSpPr txBox="1"/>
          <p:nvPr>
            <p:ph idx="4" type="body"/>
          </p:nvPr>
        </p:nvSpPr>
        <p:spPr>
          <a:xfrm>
            <a:off x="174250" y="3164476"/>
            <a:ext cx="3124800" cy="1877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Circle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public</a:t>
            </a:r>
            <a:r>
              <a:rPr lang="en" sz="1000">
                <a:solidFill>
                  <a:srgbClr val="000000"/>
                </a:solidFill>
                <a:highlight>
                  <a:srgbClr val="CFE2F3"/>
                </a:highlight>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static</a:t>
            </a:r>
            <a:r>
              <a:rPr lang="en" sz="1000">
                <a:solidFill>
                  <a:srgbClr val="000000"/>
                </a:solidFill>
                <a:highlight>
                  <a:srgbClr val="CFE2F3"/>
                </a:highlight>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final</a:t>
            </a:r>
            <a:r>
              <a:rPr lang="en" sz="1000">
                <a:solidFill>
                  <a:srgbClr val="000000"/>
                </a:solidFill>
                <a:highlight>
                  <a:srgbClr val="CFE2F3"/>
                </a:highlight>
                <a:latin typeface="Consolas"/>
                <a:ea typeface="Consolas"/>
                <a:cs typeface="Consolas"/>
                <a:sym typeface="Consolas"/>
              </a:rPr>
              <a:t> </a:t>
            </a:r>
            <a:r>
              <a:rPr lang="en" sz="1000">
                <a:solidFill>
                  <a:srgbClr val="267F99"/>
                </a:solidFill>
                <a:highlight>
                  <a:srgbClr val="CFE2F3"/>
                </a:highlight>
                <a:latin typeface="Consolas"/>
                <a:ea typeface="Consolas"/>
                <a:cs typeface="Consolas"/>
                <a:sym typeface="Consolas"/>
              </a:rPr>
              <a:t>double</a:t>
            </a:r>
            <a:r>
              <a:rPr lang="en" sz="1000">
                <a:solidFill>
                  <a:srgbClr val="000000"/>
                </a:solidFill>
                <a:highlight>
                  <a:srgbClr val="CFE2F3"/>
                </a:highlight>
                <a:latin typeface="Consolas"/>
                <a:ea typeface="Consolas"/>
                <a:cs typeface="Consolas"/>
                <a:sym typeface="Consolas"/>
              </a:rPr>
              <a:t> </a:t>
            </a:r>
            <a:r>
              <a:rPr lang="en" sz="1000">
                <a:solidFill>
                  <a:srgbClr val="0070C1"/>
                </a:solidFill>
                <a:highlight>
                  <a:srgbClr val="CFE2F3"/>
                </a:highlight>
                <a:latin typeface="Consolas"/>
                <a:ea typeface="Consolas"/>
                <a:cs typeface="Consolas"/>
                <a:sym typeface="Consolas"/>
              </a:rPr>
              <a:t>PI</a:t>
            </a:r>
            <a:r>
              <a:rPr lang="en" sz="1000">
                <a:solidFill>
                  <a:srgbClr val="000000"/>
                </a:solidFill>
                <a:highlight>
                  <a:srgbClr val="CFE2F3"/>
                </a:highlight>
                <a:latin typeface="Consolas"/>
                <a:ea typeface="Consolas"/>
                <a:cs typeface="Consolas"/>
                <a:sym typeface="Consolas"/>
              </a:rPr>
              <a:t> = </a:t>
            </a:r>
            <a:r>
              <a:rPr lang="en" sz="1000">
                <a:solidFill>
                  <a:srgbClr val="098658"/>
                </a:solidFill>
                <a:highlight>
                  <a:srgbClr val="CFE2F3"/>
                </a:highlight>
                <a:latin typeface="Consolas"/>
                <a:ea typeface="Consolas"/>
                <a:cs typeface="Consolas"/>
                <a:sym typeface="Consolas"/>
              </a:rPr>
              <a:t>3.14</a:t>
            </a:r>
            <a:r>
              <a:rPr lang="en" sz="1000">
                <a:solidFill>
                  <a:srgbClr val="000000"/>
                </a:solidFill>
                <a:highlight>
                  <a:srgbClr val="CFE2F3"/>
                </a:highlight>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circumference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area</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latin typeface="Consolas"/>
                <a:ea typeface="Consolas"/>
                <a:cs typeface="Consolas"/>
                <a:sym typeface="Consolas"/>
              </a:rPr>
              <a:t>}</a:t>
            </a:r>
            <a:endParaRPr sz="1000">
              <a:solidFill>
                <a:srgbClr val="0000FF"/>
              </a:solidFill>
              <a:latin typeface="Consolas"/>
              <a:ea typeface="Consolas"/>
              <a:cs typeface="Consolas"/>
              <a:sym typeface="Consolas"/>
            </a:endParaRPr>
          </a:p>
        </p:txBody>
      </p:sp>
      <p:pic>
        <p:nvPicPr>
          <p:cNvPr id="763" name="Google Shape;763;p88"/>
          <p:cNvPicPr preferRelativeResize="0"/>
          <p:nvPr/>
        </p:nvPicPr>
        <p:blipFill rotWithShape="1">
          <a:blip r:embed="rId3">
            <a:alphaModFix/>
          </a:blip>
          <a:srcRect b="14533" l="0" r="0" t="24116"/>
          <a:stretch/>
        </p:blipFill>
        <p:spPr>
          <a:xfrm>
            <a:off x="174250" y="1604850"/>
            <a:ext cx="3124800" cy="1444975"/>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89"/>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UML Class Diagrams</a:t>
            </a:r>
            <a:endParaRPr/>
          </a:p>
        </p:txBody>
      </p:sp>
      <p:sp>
        <p:nvSpPr>
          <p:cNvPr id="769" name="Google Shape;769;p89"/>
          <p:cNvSpPr txBox="1"/>
          <p:nvPr>
            <p:ph idx="12" type="sldNum"/>
          </p:nvPr>
        </p:nvSpPr>
        <p:spPr>
          <a:xfrm>
            <a:off x="8563632" y="4776851"/>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770" name="Google Shape;770;p89"/>
          <p:cNvSpPr txBox="1"/>
          <p:nvPr/>
        </p:nvSpPr>
        <p:spPr>
          <a:xfrm>
            <a:off x="6326425" y="871700"/>
            <a:ext cx="2658300" cy="304500"/>
          </a:xfrm>
          <a:prstGeom prst="rect">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600">
                <a:latin typeface="Calibri"/>
                <a:ea typeface="Calibri"/>
                <a:cs typeface="Calibri"/>
                <a:sym typeface="Calibri"/>
              </a:rPr>
              <a:t>Pet</a:t>
            </a:r>
            <a:endParaRPr sz="1200"/>
          </a:p>
        </p:txBody>
      </p:sp>
      <p:sp>
        <p:nvSpPr>
          <p:cNvPr id="771" name="Google Shape;771;p89"/>
          <p:cNvSpPr/>
          <p:nvPr/>
        </p:nvSpPr>
        <p:spPr>
          <a:xfrm>
            <a:off x="6326425" y="1176276"/>
            <a:ext cx="2658300" cy="12588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name: String</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age: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72" name="Google Shape;772;p89"/>
          <p:cNvSpPr/>
          <p:nvPr/>
        </p:nvSpPr>
        <p:spPr>
          <a:xfrm>
            <a:off x="6326425" y="2435218"/>
            <a:ext cx="2658300" cy="23415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(name: String,</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age: int, </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birthday(): void</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getAge</a:t>
            </a:r>
            <a:r>
              <a:rPr lang="en" sz="1500">
                <a:latin typeface="Calibri"/>
                <a:ea typeface="Calibri"/>
                <a:cs typeface="Calibri"/>
                <a:sym typeface="Calibri"/>
              </a:rPr>
              <a:t>(</a:t>
            </a:r>
            <a:r>
              <a:rPr lang="en" sz="1500">
                <a:solidFill>
                  <a:srgbClr val="000000"/>
                </a:solidFill>
                <a:latin typeface="Calibri"/>
                <a:ea typeface="Calibri"/>
                <a:cs typeface="Calibri"/>
                <a:sym typeface="Calibri"/>
              </a:rPr>
              <a:t>):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adopt(name: String): void</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get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73" name="Google Shape;773;p89"/>
          <p:cNvSpPr txBox="1"/>
          <p:nvPr/>
        </p:nvSpPr>
        <p:spPr>
          <a:xfrm>
            <a:off x="4426100" y="871700"/>
            <a:ext cx="1707600" cy="304500"/>
          </a:xfrm>
          <a:prstGeom prst="rect">
            <a:avLst/>
          </a:prstGeom>
          <a:solidFill>
            <a:schemeClr val="accent6"/>
          </a:solid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 sz="1600">
                <a:solidFill>
                  <a:schemeClr val="accent1"/>
                </a:solidFill>
                <a:latin typeface="Calibri"/>
                <a:ea typeface="Calibri"/>
                <a:cs typeface="Calibri"/>
                <a:sym typeface="Calibri"/>
              </a:rPr>
              <a:t>Name</a:t>
            </a:r>
            <a:endParaRPr b="1" sz="1200">
              <a:solidFill>
                <a:schemeClr val="accent1"/>
              </a:solidFill>
            </a:endParaRPr>
          </a:p>
        </p:txBody>
      </p:sp>
      <p:sp>
        <p:nvSpPr>
          <p:cNvPr id="774" name="Google Shape;774;p89"/>
          <p:cNvSpPr/>
          <p:nvPr/>
        </p:nvSpPr>
        <p:spPr>
          <a:xfrm>
            <a:off x="4426100" y="1176278"/>
            <a:ext cx="1707600" cy="1258800"/>
          </a:xfrm>
          <a:prstGeom prst="rect">
            <a:avLst/>
          </a:prstGeom>
          <a:solidFill>
            <a:schemeClr val="accent6"/>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
                <a:solidFill>
                  <a:schemeClr val="accent1"/>
                </a:solidFill>
                <a:latin typeface="Calibri"/>
                <a:ea typeface="Calibri"/>
                <a:cs typeface="Calibri"/>
                <a:sym typeface="Calibri"/>
              </a:rPr>
              <a:t>Attributes/State</a:t>
            </a:r>
            <a:endParaRPr b="1">
              <a:solidFill>
                <a:schemeClr val="accent1"/>
              </a:solidFill>
              <a:latin typeface="Calibri"/>
              <a:ea typeface="Calibri"/>
              <a:cs typeface="Calibri"/>
              <a:sym typeface="Calibri"/>
            </a:endParaRPr>
          </a:p>
        </p:txBody>
      </p:sp>
      <p:sp>
        <p:nvSpPr>
          <p:cNvPr id="775" name="Google Shape;775;p89"/>
          <p:cNvSpPr/>
          <p:nvPr/>
        </p:nvSpPr>
        <p:spPr>
          <a:xfrm>
            <a:off x="4426100" y="2435231"/>
            <a:ext cx="1707600" cy="2341500"/>
          </a:xfrm>
          <a:prstGeom prst="rect">
            <a:avLst/>
          </a:prstGeom>
          <a:solidFill>
            <a:schemeClr val="accent6"/>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
                <a:solidFill>
                  <a:schemeClr val="accent1"/>
                </a:solidFill>
                <a:latin typeface="Calibri"/>
                <a:ea typeface="Calibri"/>
                <a:cs typeface="Calibri"/>
                <a:sym typeface="Calibri"/>
              </a:rPr>
              <a:t>Operations/ Behavior</a:t>
            </a:r>
            <a:endParaRPr b="1">
              <a:solidFill>
                <a:schemeClr val="accent1"/>
              </a:solidFill>
              <a:latin typeface="Calibri"/>
              <a:ea typeface="Calibri"/>
              <a:cs typeface="Calibri"/>
              <a:sym typeface="Calibri"/>
            </a:endParaRPr>
          </a:p>
        </p:txBody>
      </p:sp>
      <p:sp>
        <p:nvSpPr>
          <p:cNvPr id="776" name="Google Shape;776;p89"/>
          <p:cNvSpPr txBox="1"/>
          <p:nvPr>
            <p:ph idx="4294967295" type="body"/>
          </p:nvPr>
        </p:nvSpPr>
        <p:spPr>
          <a:xfrm>
            <a:off x="126375" y="810850"/>
            <a:ext cx="4183200" cy="4120200"/>
          </a:xfrm>
          <a:prstGeom prst="rect">
            <a:avLst/>
          </a:prstGeom>
        </p:spPr>
        <p:txBody>
          <a:bodyPr anchorCtr="0" anchor="t" bIns="91425" lIns="91425" spcFirstLastPara="1" rIns="91425" wrap="square" tIns="91425">
            <a:spAutoFit/>
          </a:bodyPr>
          <a:lstStyle/>
          <a:p>
            <a:pPr indent="-313245" lvl="0" marL="457200" rtl="0" algn="l">
              <a:lnSpc>
                <a:spcPct val="115000"/>
              </a:lnSpc>
              <a:spcBef>
                <a:spcPts val="0"/>
              </a:spcBef>
              <a:spcAft>
                <a:spcPts val="0"/>
              </a:spcAft>
              <a:buSzPts val="1333"/>
              <a:buChar char="●"/>
            </a:pPr>
            <a:r>
              <a:rPr lang="en" sz="1333"/>
              <a:t>The </a:t>
            </a:r>
            <a:r>
              <a:rPr b="1" i="1" lang="en" sz="1333">
                <a:solidFill>
                  <a:srgbClr val="EE0000"/>
                </a:solidFill>
              </a:rPr>
              <a:t>Unified Modeling Language</a:t>
            </a:r>
            <a:r>
              <a:rPr lang="en" sz="1333"/>
              <a:t> (</a:t>
            </a:r>
            <a:r>
              <a:rPr b="1" i="1" lang="en" sz="1333">
                <a:solidFill>
                  <a:srgbClr val="EE0000"/>
                </a:solidFill>
              </a:rPr>
              <a:t>UML</a:t>
            </a:r>
            <a:r>
              <a:rPr lang="en" sz="1333"/>
              <a:t>) is the standard used to </a:t>
            </a:r>
            <a:r>
              <a:rPr b="1" i="1" lang="en" sz="1333">
                <a:solidFill>
                  <a:srgbClr val="EE0000"/>
                </a:solidFill>
              </a:rPr>
              <a:t>diagram</a:t>
            </a:r>
            <a:r>
              <a:rPr lang="en" sz="1333">
                <a:solidFill>
                  <a:srgbClr val="EE0000"/>
                </a:solidFill>
              </a:rPr>
              <a:t> </a:t>
            </a:r>
            <a:r>
              <a:rPr lang="en" sz="1333"/>
              <a:t>object-oriented </a:t>
            </a:r>
            <a:r>
              <a:rPr lang="en" sz="1333"/>
              <a:t>software</a:t>
            </a:r>
            <a:r>
              <a:rPr lang="en" sz="1333"/>
              <a:t> systems.</a:t>
            </a:r>
            <a:endParaRPr sz="1333"/>
          </a:p>
          <a:p>
            <a:pPr indent="-313245" lvl="0" marL="457200" rtl="0" algn="l">
              <a:lnSpc>
                <a:spcPct val="115000"/>
              </a:lnSpc>
              <a:spcBef>
                <a:spcPts val="1000"/>
              </a:spcBef>
              <a:spcAft>
                <a:spcPts val="0"/>
              </a:spcAft>
              <a:buSzPts val="1333"/>
              <a:buChar char="●"/>
            </a:pPr>
            <a:r>
              <a:rPr lang="en" sz="1333"/>
              <a:t>While UML can be used to diagram many different aspects of a software system, the most common diagram is a </a:t>
            </a:r>
            <a:r>
              <a:rPr b="1" i="1" lang="en" sz="1333">
                <a:solidFill>
                  <a:srgbClr val="FF0000"/>
                </a:solidFill>
              </a:rPr>
              <a:t>class diagram</a:t>
            </a:r>
            <a:r>
              <a:rPr lang="en" sz="1333"/>
              <a:t>.</a:t>
            </a:r>
            <a:endParaRPr sz="1333"/>
          </a:p>
          <a:p>
            <a:pPr indent="-313245" lvl="0" marL="457200" rtl="0" algn="l">
              <a:lnSpc>
                <a:spcPct val="115000"/>
              </a:lnSpc>
              <a:spcBef>
                <a:spcPts val="1000"/>
              </a:spcBef>
              <a:spcAft>
                <a:spcPts val="0"/>
              </a:spcAft>
              <a:buSzPts val="1333"/>
              <a:buChar char="●"/>
            </a:pPr>
            <a:r>
              <a:rPr lang="en" sz="1333"/>
              <a:t>Boxes that </a:t>
            </a:r>
            <a:r>
              <a:rPr lang="en" sz="1333"/>
              <a:t>represent</a:t>
            </a:r>
            <a:r>
              <a:rPr lang="en" sz="1333"/>
              <a:t> a class are divided into three partitions</a:t>
            </a:r>
            <a:r>
              <a:rPr lang="en" sz="1333"/>
              <a:t>:</a:t>
            </a:r>
            <a:endParaRPr sz="1333"/>
          </a:p>
          <a:p>
            <a:pPr indent="-313245" lvl="1" marL="914400" rtl="0" algn="l">
              <a:lnSpc>
                <a:spcPct val="100000"/>
              </a:lnSpc>
              <a:spcBef>
                <a:spcPts val="0"/>
              </a:spcBef>
              <a:spcAft>
                <a:spcPts val="0"/>
              </a:spcAft>
              <a:buSzPts val="1333"/>
              <a:buChar char="○"/>
            </a:pPr>
            <a:r>
              <a:rPr lang="en"/>
              <a:t>The class </a:t>
            </a:r>
            <a:r>
              <a:rPr b="1" i="1" lang="en">
                <a:solidFill>
                  <a:srgbClr val="FF0000"/>
                </a:solidFill>
              </a:rPr>
              <a:t>name</a:t>
            </a:r>
            <a:r>
              <a:rPr lang="en"/>
              <a:t> </a:t>
            </a:r>
            <a:endParaRPr/>
          </a:p>
          <a:p>
            <a:pPr indent="-313245" lvl="1" marL="914400" rtl="0" algn="l">
              <a:lnSpc>
                <a:spcPct val="100000"/>
              </a:lnSpc>
              <a:spcBef>
                <a:spcPts val="0"/>
              </a:spcBef>
              <a:spcAft>
                <a:spcPts val="0"/>
              </a:spcAft>
              <a:buSzPts val="1333"/>
              <a:buChar char="○"/>
            </a:pPr>
            <a:r>
              <a:rPr lang="en"/>
              <a:t>Its </a:t>
            </a:r>
            <a:r>
              <a:rPr b="1" i="1" lang="en">
                <a:solidFill>
                  <a:srgbClr val="FF0000"/>
                </a:solidFill>
              </a:rPr>
              <a:t>a</a:t>
            </a:r>
            <a:r>
              <a:rPr b="1" i="1" lang="en">
                <a:solidFill>
                  <a:srgbClr val="FF0000"/>
                </a:solidFill>
              </a:rPr>
              <a:t>ttributes</a:t>
            </a:r>
            <a:r>
              <a:rPr i="1" lang="en">
                <a:solidFill>
                  <a:srgbClr val="FF0000"/>
                </a:solidFill>
              </a:rPr>
              <a:t> </a:t>
            </a:r>
            <a:r>
              <a:rPr lang="en"/>
              <a:t>(fields)</a:t>
            </a:r>
            <a:endParaRPr/>
          </a:p>
          <a:p>
            <a:pPr indent="-313245" lvl="1" marL="914400" rtl="0" algn="l">
              <a:lnSpc>
                <a:spcPct val="100000"/>
              </a:lnSpc>
              <a:spcBef>
                <a:spcPts val="0"/>
              </a:spcBef>
              <a:spcAft>
                <a:spcPts val="0"/>
              </a:spcAft>
              <a:buSzPts val="1333"/>
              <a:buChar char="○"/>
            </a:pPr>
            <a:r>
              <a:rPr lang="en"/>
              <a:t>Its </a:t>
            </a:r>
            <a:r>
              <a:rPr b="1" i="1" lang="en">
                <a:solidFill>
                  <a:srgbClr val="FF0000"/>
                </a:solidFill>
              </a:rPr>
              <a:t>o</a:t>
            </a:r>
            <a:r>
              <a:rPr b="1" i="1" lang="en">
                <a:solidFill>
                  <a:srgbClr val="FF0000"/>
                </a:solidFill>
              </a:rPr>
              <a:t>perations</a:t>
            </a:r>
            <a:r>
              <a:rPr i="1" lang="en">
                <a:solidFill>
                  <a:srgbClr val="FF0000"/>
                </a:solidFill>
              </a:rPr>
              <a:t> </a:t>
            </a:r>
            <a:r>
              <a:rPr lang="en"/>
              <a:t>(methods)</a:t>
            </a:r>
            <a:endParaRPr/>
          </a:p>
          <a:p>
            <a:pPr indent="-313245" lvl="0" marL="457200" rtl="0" algn="l">
              <a:lnSpc>
                <a:spcPct val="115000"/>
              </a:lnSpc>
              <a:spcBef>
                <a:spcPts val="1000"/>
              </a:spcBef>
              <a:spcAft>
                <a:spcPts val="0"/>
              </a:spcAft>
              <a:buSzPts val="1333"/>
              <a:buChar char="●"/>
            </a:pPr>
            <a:r>
              <a:rPr lang="en" sz="1333"/>
              <a:t>Visibility is specified for each attribute and operation:</a:t>
            </a:r>
            <a:endParaRPr sz="1333"/>
          </a:p>
          <a:p>
            <a:pPr indent="-300545" lvl="1" marL="914400" rtl="0" algn="l">
              <a:lnSpc>
                <a:spcPct val="115000"/>
              </a:lnSpc>
              <a:spcBef>
                <a:spcPts val="0"/>
              </a:spcBef>
              <a:spcAft>
                <a:spcPts val="0"/>
              </a:spcAft>
              <a:buSzPts val="1133"/>
              <a:buChar char="○"/>
            </a:pPr>
            <a:r>
              <a:rPr b="1" lang="en" sz="1133">
                <a:solidFill>
                  <a:srgbClr val="FF0000"/>
                </a:solidFill>
              </a:rPr>
              <a:t>+</a:t>
            </a:r>
            <a:r>
              <a:rPr lang="en" sz="1133"/>
              <a:t> public</a:t>
            </a:r>
            <a:endParaRPr sz="1133"/>
          </a:p>
          <a:p>
            <a:pPr indent="-300545" lvl="1" marL="914400" rtl="0" algn="l">
              <a:lnSpc>
                <a:spcPct val="115000"/>
              </a:lnSpc>
              <a:spcBef>
                <a:spcPts val="0"/>
              </a:spcBef>
              <a:spcAft>
                <a:spcPts val="0"/>
              </a:spcAft>
              <a:buSzPts val="1133"/>
              <a:buChar char="○"/>
            </a:pPr>
            <a:r>
              <a:rPr b="1" lang="en" sz="1133">
                <a:solidFill>
                  <a:srgbClr val="FF0000"/>
                </a:solidFill>
              </a:rPr>
              <a:t>-</a:t>
            </a:r>
            <a:r>
              <a:rPr lang="en" sz="1133"/>
              <a:t>  private</a:t>
            </a:r>
            <a:endParaRPr sz="1133"/>
          </a:p>
          <a:p>
            <a:pPr indent="-300545" lvl="1" marL="914400" rtl="0" algn="l">
              <a:lnSpc>
                <a:spcPct val="115000"/>
              </a:lnSpc>
              <a:spcBef>
                <a:spcPts val="0"/>
              </a:spcBef>
              <a:spcAft>
                <a:spcPts val="0"/>
              </a:spcAft>
              <a:buSzPts val="1133"/>
              <a:buChar char="○"/>
            </a:pPr>
            <a:r>
              <a:rPr b="1" lang="en" sz="1133">
                <a:solidFill>
                  <a:srgbClr val="FF0000"/>
                </a:solidFill>
              </a:rPr>
              <a:t>#</a:t>
            </a:r>
            <a:r>
              <a:rPr lang="en" sz="1133"/>
              <a:t> protected</a:t>
            </a:r>
            <a:endParaRPr sz="1133"/>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90"/>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UML Class Diagrams</a:t>
            </a:r>
            <a:endParaRPr/>
          </a:p>
        </p:txBody>
      </p:sp>
      <p:sp>
        <p:nvSpPr>
          <p:cNvPr id="782" name="Google Shape;782;p90"/>
          <p:cNvSpPr txBox="1"/>
          <p:nvPr>
            <p:ph idx="12" type="sldNum"/>
          </p:nvPr>
        </p:nvSpPr>
        <p:spPr>
          <a:xfrm>
            <a:off x="8548658" y="47394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783" name="Google Shape;783;p90"/>
          <p:cNvSpPr txBox="1"/>
          <p:nvPr/>
        </p:nvSpPr>
        <p:spPr>
          <a:xfrm>
            <a:off x="3242850" y="969025"/>
            <a:ext cx="2658300" cy="304500"/>
          </a:xfrm>
          <a:prstGeom prst="rect">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600">
                <a:latin typeface="Calibri"/>
                <a:ea typeface="Calibri"/>
                <a:cs typeface="Calibri"/>
                <a:sym typeface="Calibri"/>
              </a:rPr>
              <a:t>Pet</a:t>
            </a:r>
            <a:endParaRPr sz="1200"/>
          </a:p>
        </p:txBody>
      </p:sp>
      <p:sp>
        <p:nvSpPr>
          <p:cNvPr id="784" name="Google Shape;784;p90"/>
          <p:cNvSpPr/>
          <p:nvPr/>
        </p:nvSpPr>
        <p:spPr>
          <a:xfrm>
            <a:off x="3242850" y="1273601"/>
            <a:ext cx="2658300" cy="12588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name: String</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age: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85" name="Google Shape;785;p90"/>
          <p:cNvSpPr/>
          <p:nvPr/>
        </p:nvSpPr>
        <p:spPr>
          <a:xfrm>
            <a:off x="3242850" y="2532543"/>
            <a:ext cx="2658300" cy="23415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(name: String,</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age: int, </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birthday(): void</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getAge</a:t>
            </a:r>
            <a:r>
              <a:rPr lang="en" sz="1500">
                <a:latin typeface="Calibri"/>
                <a:ea typeface="Calibri"/>
                <a:cs typeface="Calibri"/>
                <a:sym typeface="Calibri"/>
              </a:rPr>
              <a:t>(</a:t>
            </a:r>
            <a:r>
              <a:rPr lang="en" sz="1500">
                <a:solidFill>
                  <a:srgbClr val="000000"/>
                </a:solidFill>
                <a:latin typeface="Calibri"/>
                <a:ea typeface="Calibri"/>
                <a:cs typeface="Calibri"/>
                <a:sym typeface="Calibri"/>
              </a:rPr>
              <a:t>):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adopt(name: String): void</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get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91"/>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Closer Look at UML Class Diagrams</a:t>
            </a:r>
            <a:endParaRPr/>
          </a:p>
        </p:txBody>
      </p:sp>
      <p:sp>
        <p:nvSpPr>
          <p:cNvPr id="791" name="Google Shape;791;p91"/>
          <p:cNvSpPr txBox="1"/>
          <p:nvPr>
            <p:ph idx="12" type="sldNum"/>
          </p:nvPr>
        </p:nvSpPr>
        <p:spPr>
          <a:xfrm>
            <a:off x="8548658" y="47394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sp>
        <p:nvSpPr>
          <p:cNvPr id="792" name="Google Shape;792;p91"/>
          <p:cNvSpPr txBox="1"/>
          <p:nvPr/>
        </p:nvSpPr>
        <p:spPr>
          <a:xfrm>
            <a:off x="3242850" y="969025"/>
            <a:ext cx="2658300" cy="304500"/>
          </a:xfrm>
          <a:prstGeom prst="rect">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600">
                <a:latin typeface="Calibri"/>
                <a:ea typeface="Calibri"/>
                <a:cs typeface="Calibri"/>
                <a:sym typeface="Calibri"/>
              </a:rPr>
              <a:t>Pet</a:t>
            </a:r>
            <a:endParaRPr sz="1200"/>
          </a:p>
        </p:txBody>
      </p:sp>
      <p:sp>
        <p:nvSpPr>
          <p:cNvPr id="793" name="Google Shape;793;p91"/>
          <p:cNvSpPr/>
          <p:nvPr/>
        </p:nvSpPr>
        <p:spPr>
          <a:xfrm>
            <a:off x="3242850" y="1273601"/>
            <a:ext cx="2658300" cy="12588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name: String</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age: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94" name="Google Shape;794;p91"/>
          <p:cNvSpPr/>
          <p:nvPr/>
        </p:nvSpPr>
        <p:spPr>
          <a:xfrm>
            <a:off x="3242850" y="2532543"/>
            <a:ext cx="2658300" cy="23415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(name: String,</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age: int, </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birthday(): void</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getAge</a:t>
            </a:r>
            <a:r>
              <a:rPr lang="en" sz="1500">
                <a:latin typeface="Calibri"/>
                <a:ea typeface="Calibri"/>
                <a:cs typeface="Calibri"/>
                <a:sym typeface="Calibri"/>
              </a:rPr>
              <a:t>(</a:t>
            </a:r>
            <a:r>
              <a:rPr lang="en" sz="1500">
                <a:solidFill>
                  <a:srgbClr val="000000"/>
                </a:solidFill>
                <a:latin typeface="Calibri"/>
                <a:ea typeface="Calibri"/>
                <a:cs typeface="Calibri"/>
                <a:sym typeface="Calibri"/>
              </a:rPr>
              <a:t>): int</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adopt(name: String): void</a:t>
            </a:r>
            <a:endParaRPr sz="1100"/>
          </a:p>
          <a:p>
            <a:pPr indent="0" lvl="0" marL="0" marR="0" rtl="0" algn="l">
              <a:spcBef>
                <a:spcPts val="0"/>
              </a:spcBef>
              <a:spcAft>
                <a:spcPts val="0"/>
              </a:spcAft>
              <a:buNone/>
            </a:pPr>
            <a:r>
              <a:rPr lang="en" sz="1500">
                <a:solidFill>
                  <a:srgbClr val="000000"/>
                </a:solidFill>
                <a:latin typeface="Calibri"/>
                <a:ea typeface="Calibri"/>
                <a:cs typeface="Calibri"/>
                <a:sym typeface="Calibri"/>
              </a:rPr>
              <a:t>+ get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95" name="Google Shape;795;p91"/>
          <p:cNvSpPr txBox="1"/>
          <p:nvPr/>
        </p:nvSpPr>
        <p:spPr>
          <a:xfrm>
            <a:off x="189550" y="957000"/>
            <a:ext cx="27603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Classes in a UML class diagram are represented by boxes divided into three parts.</a:t>
            </a:r>
            <a:endParaRPr sz="1200">
              <a:latin typeface="Roboto"/>
              <a:ea typeface="Roboto"/>
              <a:cs typeface="Roboto"/>
              <a:sym typeface="Roboto"/>
            </a:endParaRPr>
          </a:p>
        </p:txBody>
      </p:sp>
      <p:sp>
        <p:nvSpPr>
          <p:cNvPr id="796" name="Google Shape;796;p91"/>
          <p:cNvSpPr txBox="1"/>
          <p:nvPr/>
        </p:nvSpPr>
        <p:spPr>
          <a:xfrm>
            <a:off x="189550" y="1795200"/>
            <a:ext cx="27603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class </a:t>
            </a:r>
            <a:r>
              <a:rPr b="1" i="1" lang="en" sz="1200">
                <a:solidFill>
                  <a:srgbClr val="FF0000"/>
                </a:solidFill>
                <a:latin typeface="Roboto"/>
                <a:ea typeface="Roboto"/>
                <a:cs typeface="Roboto"/>
                <a:sym typeface="Roboto"/>
              </a:rPr>
              <a:t>name</a:t>
            </a:r>
            <a:r>
              <a:rPr lang="en" sz="1200">
                <a:solidFill>
                  <a:srgbClr val="FF0000"/>
                </a:solidFill>
                <a:latin typeface="Roboto"/>
                <a:ea typeface="Roboto"/>
                <a:cs typeface="Roboto"/>
                <a:sym typeface="Roboto"/>
              </a:rPr>
              <a:t> </a:t>
            </a:r>
            <a:r>
              <a:rPr lang="en" sz="1200">
                <a:latin typeface="Roboto"/>
                <a:ea typeface="Roboto"/>
                <a:cs typeface="Roboto"/>
                <a:sym typeface="Roboto"/>
              </a:rPr>
              <a:t>is written in the topmost partition.</a:t>
            </a:r>
            <a:endParaRPr sz="1200">
              <a:latin typeface="Roboto"/>
              <a:ea typeface="Roboto"/>
              <a:cs typeface="Roboto"/>
              <a:sym typeface="Roboto"/>
            </a:endParaRPr>
          </a:p>
        </p:txBody>
      </p:sp>
      <p:grpSp>
        <p:nvGrpSpPr>
          <p:cNvPr id="797" name="Google Shape;797;p91"/>
          <p:cNvGrpSpPr/>
          <p:nvPr/>
        </p:nvGrpSpPr>
        <p:grpSpPr>
          <a:xfrm>
            <a:off x="2949850" y="969025"/>
            <a:ext cx="2951300" cy="1103225"/>
            <a:chOff x="2949850" y="969025"/>
            <a:chExt cx="2951300" cy="1103225"/>
          </a:xfrm>
        </p:grpSpPr>
        <p:sp>
          <p:nvSpPr>
            <p:cNvPr id="798" name="Google Shape;798;p91"/>
            <p:cNvSpPr txBox="1"/>
            <p:nvPr/>
          </p:nvSpPr>
          <p:spPr>
            <a:xfrm>
              <a:off x="3242850" y="969025"/>
              <a:ext cx="2658300" cy="304500"/>
            </a:xfrm>
            <a:prstGeom prst="rect">
              <a:avLst/>
            </a:prstGeom>
            <a:noFill/>
            <a:ln cap="flat" cmpd="sng" w="28575">
              <a:solidFill>
                <a:srgbClr val="EE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p>
          </p:txBody>
        </p:sp>
        <p:cxnSp>
          <p:nvCxnSpPr>
            <p:cNvPr id="799" name="Google Shape;799;p91"/>
            <p:cNvCxnSpPr>
              <a:stCxn id="796" idx="3"/>
              <a:endCxn id="798" idx="1"/>
            </p:cNvCxnSpPr>
            <p:nvPr/>
          </p:nvCxnSpPr>
          <p:spPr>
            <a:xfrm flipH="1" rot="10800000">
              <a:off x="2949850" y="1121250"/>
              <a:ext cx="293100" cy="951000"/>
            </a:xfrm>
            <a:prstGeom prst="bentConnector3">
              <a:avLst>
                <a:gd fmla="val 32207" name="adj1"/>
              </a:avLst>
            </a:prstGeom>
            <a:noFill/>
            <a:ln cap="flat" cmpd="sng" w="28575">
              <a:solidFill>
                <a:srgbClr val="FF0000"/>
              </a:solidFill>
              <a:prstDash val="solid"/>
              <a:round/>
              <a:headEnd len="med" w="med" type="none"/>
              <a:tailEnd len="med" w="med" type="none"/>
            </a:ln>
          </p:spPr>
        </p:cxnSp>
      </p:grpSp>
      <p:sp>
        <p:nvSpPr>
          <p:cNvPr id="800" name="Google Shape;800;p91"/>
          <p:cNvSpPr txBox="1"/>
          <p:nvPr/>
        </p:nvSpPr>
        <p:spPr>
          <a:xfrm>
            <a:off x="189550" y="2448600"/>
            <a:ext cx="2760300" cy="554100"/>
          </a:xfrm>
          <a:prstGeom prst="rect">
            <a:avLst/>
          </a:prstGeom>
          <a:solidFill>
            <a:srgbClr val="FFF2CC"/>
          </a:solidFill>
          <a:ln cap="flat" cmpd="sng" w="19050">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a:t>
            </a:r>
            <a:r>
              <a:rPr b="1" i="1" lang="en" sz="1200">
                <a:solidFill>
                  <a:srgbClr val="4A86E8"/>
                </a:solidFill>
                <a:latin typeface="Roboto"/>
                <a:ea typeface="Roboto"/>
                <a:cs typeface="Roboto"/>
                <a:sym typeface="Roboto"/>
              </a:rPr>
              <a:t>attributes</a:t>
            </a:r>
            <a:r>
              <a:rPr lang="en" sz="1200">
                <a:solidFill>
                  <a:srgbClr val="4A86E8"/>
                </a:solidFill>
                <a:latin typeface="Roboto"/>
                <a:ea typeface="Roboto"/>
                <a:cs typeface="Roboto"/>
                <a:sym typeface="Roboto"/>
              </a:rPr>
              <a:t> </a:t>
            </a:r>
            <a:r>
              <a:rPr lang="en" sz="1200">
                <a:latin typeface="Roboto"/>
                <a:ea typeface="Roboto"/>
                <a:cs typeface="Roboto"/>
                <a:sym typeface="Roboto"/>
              </a:rPr>
              <a:t>(fields) are listed in the middle partition.</a:t>
            </a:r>
            <a:endParaRPr sz="1200">
              <a:latin typeface="Roboto"/>
              <a:ea typeface="Roboto"/>
              <a:cs typeface="Roboto"/>
              <a:sym typeface="Roboto"/>
            </a:endParaRPr>
          </a:p>
        </p:txBody>
      </p:sp>
      <p:grpSp>
        <p:nvGrpSpPr>
          <p:cNvPr id="801" name="Google Shape;801;p91"/>
          <p:cNvGrpSpPr/>
          <p:nvPr/>
        </p:nvGrpSpPr>
        <p:grpSpPr>
          <a:xfrm>
            <a:off x="2949850" y="1302721"/>
            <a:ext cx="2951300" cy="1422929"/>
            <a:chOff x="2949850" y="1273601"/>
            <a:chExt cx="2951300" cy="1459714"/>
          </a:xfrm>
        </p:grpSpPr>
        <p:sp>
          <p:nvSpPr>
            <p:cNvPr id="802" name="Google Shape;802;p91"/>
            <p:cNvSpPr/>
            <p:nvPr/>
          </p:nvSpPr>
          <p:spPr>
            <a:xfrm>
              <a:off x="3242850" y="1273601"/>
              <a:ext cx="2658300" cy="1258800"/>
            </a:xfrm>
            <a:prstGeom prst="rect">
              <a:avLst/>
            </a:prstGeom>
            <a:noFill/>
            <a:ln cap="flat" cmpd="sng" w="28575">
              <a:solidFill>
                <a:srgbClr val="4A86E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100"/>
            </a:p>
          </p:txBody>
        </p:sp>
        <p:cxnSp>
          <p:nvCxnSpPr>
            <p:cNvPr id="803" name="Google Shape;803;p91"/>
            <p:cNvCxnSpPr>
              <a:stCxn id="800" idx="3"/>
              <a:endCxn id="802" idx="1"/>
            </p:cNvCxnSpPr>
            <p:nvPr/>
          </p:nvCxnSpPr>
          <p:spPr>
            <a:xfrm flipH="1" rot="10800000">
              <a:off x="2949850" y="1902915"/>
              <a:ext cx="293100" cy="830400"/>
            </a:xfrm>
            <a:prstGeom prst="bentConnector3">
              <a:avLst>
                <a:gd fmla="val 69132" name="adj1"/>
              </a:avLst>
            </a:prstGeom>
            <a:noFill/>
            <a:ln cap="flat" cmpd="sng" w="28575">
              <a:solidFill>
                <a:srgbClr val="4A86E8"/>
              </a:solidFill>
              <a:prstDash val="solid"/>
              <a:round/>
              <a:headEnd len="med" w="med" type="none"/>
              <a:tailEnd len="med" w="med" type="none"/>
            </a:ln>
          </p:spPr>
        </p:cxnSp>
      </p:grpSp>
      <p:sp>
        <p:nvSpPr>
          <p:cNvPr id="804" name="Google Shape;804;p91"/>
          <p:cNvSpPr txBox="1"/>
          <p:nvPr/>
        </p:nvSpPr>
        <p:spPr>
          <a:xfrm>
            <a:off x="189550" y="3102000"/>
            <a:ext cx="27603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Attributes are shown in with the name first followed by the type, e.g.       </a:t>
            </a:r>
            <a:r>
              <a:rPr lang="en" sz="1200">
                <a:solidFill>
                  <a:srgbClr val="FF0000"/>
                </a:solidFill>
                <a:latin typeface="Courier New"/>
                <a:ea typeface="Courier New"/>
                <a:cs typeface="Courier New"/>
                <a:sym typeface="Courier New"/>
              </a:rPr>
              <a:t>age:</a:t>
            </a:r>
            <a:r>
              <a:rPr lang="en" sz="1200">
                <a:solidFill>
                  <a:srgbClr val="FF0000"/>
                </a:solidFill>
              </a:rPr>
              <a:t> </a:t>
            </a:r>
            <a:r>
              <a:rPr lang="en" sz="1200">
                <a:solidFill>
                  <a:srgbClr val="FF0000"/>
                </a:solidFill>
                <a:latin typeface="Courier New"/>
                <a:ea typeface="Courier New"/>
                <a:cs typeface="Courier New"/>
                <a:sym typeface="Courier New"/>
              </a:rPr>
              <a:t>int</a:t>
            </a:r>
            <a:endParaRPr sz="1200">
              <a:latin typeface="Roboto"/>
              <a:ea typeface="Roboto"/>
              <a:cs typeface="Roboto"/>
              <a:sym typeface="Roboto"/>
            </a:endParaRPr>
          </a:p>
        </p:txBody>
      </p:sp>
      <p:sp>
        <p:nvSpPr>
          <p:cNvPr id="805" name="Google Shape;805;p91"/>
          <p:cNvSpPr txBox="1"/>
          <p:nvPr/>
        </p:nvSpPr>
        <p:spPr>
          <a:xfrm>
            <a:off x="189550" y="3940200"/>
            <a:ext cx="27603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Static attributes are </a:t>
            </a:r>
            <a:r>
              <a:rPr i="1" lang="en" sz="1200" u="sng">
                <a:solidFill>
                  <a:srgbClr val="EE0000"/>
                </a:solidFill>
                <a:latin typeface="Roboto"/>
                <a:ea typeface="Roboto"/>
                <a:cs typeface="Roboto"/>
                <a:sym typeface="Roboto"/>
              </a:rPr>
              <a:t>underlined</a:t>
            </a:r>
            <a:r>
              <a:rPr lang="en" sz="1200">
                <a:latin typeface="Roboto"/>
                <a:ea typeface="Roboto"/>
                <a:cs typeface="Roboto"/>
                <a:sym typeface="Roboto"/>
              </a:rPr>
              <a:t> and by convention are named in UPPERCASE.</a:t>
            </a:r>
            <a:endParaRPr sz="1200">
              <a:latin typeface="Roboto"/>
              <a:ea typeface="Roboto"/>
              <a:cs typeface="Roboto"/>
              <a:sym typeface="Roboto"/>
            </a:endParaRPr>
          </a:p>
        </p:txBody>
      </p:sp>
      <p:sp>
        <p:nvSpPr>
          <p:cNvPr id="806" name="Google Shape;806;p91"/>
          <p:cNvSpPr txBox="1"/>
          <p:nvPr/>
        </p:nvSpPr>
        <p:spPr>
          <a:xfrm>
            <a:off x="6194150" y="957000"/>
            <a:ext cx="2760300" cy="554100"/>
          </a:xfrm>
          <a:prstGeom prst="rect">
            <a:avLst/>
          </a:prstGeom>
          <a:solidFill>
            <a:srgbClr val="FFF2CC"/>
          </a:solidFill>
          <a:ln cap="flat" cmpd="sng" w="19050">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a:t>
            </a:r>
            <a:r>
              <a:rPr b="1" i="1" lang="en" sz="1200">
                <a:solidFill>
                  <a:srgbClr val="FF9900"/>
                </a:solidFill>
                <a:latin typeface="Roboto"/>
                <a:ea typeface="Roboto"/>
                <a:cs typeface="Roboto"/>
                <a:sym typeface="Roboto"/>
              </a:rPr>
              <a:t>operations</a:t>
            </a:r>
            <a:r>
              <a:rPr lang="en" sz="1200">
                <a:solidFill>
                  <a:srgbClr val="FF9900"/>
                </a:solidFill>
                <a:latin typeface="Roboto"/>
                <a:ea typeface="Roboto"/>
                <a:cs typeface="Roboto"/>
                <a:sym typeface="Roboto"/>
              </a:rPr>
              <a:t> </a:t>
            </a:r>
            <a:r>
              <a:rPr lang="en" sz="1200">
                <a:latin typeface="Roboto"/>
                <a:ea typeface="Roboto"/>
                <a:cs typeface="Roboto"/>
                <a:sym typeface="Roboto"/>
              </a:rPr>
              <a:t>(methods) are listed in the bottom partition.</a:t>
            </a:r>
            <a:endParaRPr sz="1200">
              <a:latin typeface="Roboto"/>
              <a:ea typeface="Roboto"/>
              <a:cs typeface="Roboto"/>
              <a:sym typeface="Roboto"/>
            </a:endParaRPr>
          </a:p>
        </p:txBody>
      </p:sp>
      <p:sp>
        <p:nvSpPr>
          <p:cNvPr id="807" name="Google Shape;807;p91"/>
          <p:cNvSpPr txBox="1"/>
          <p:nvPr/>
        </p:nvSpPr>
        <p:spPr>
          <a:xfrm>
            <a:off x="6194150" y="1626599"/>
            <a:ext cx="27603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Any parameters are shown with the name first followed by the type, e.g. </a:t>
            </a:r>
            <a:r>
              <a:rPr lang="en" sz="1200">
                <a:latin typeface="Courier New"/>
                <a:ea typeface="Courier New"/>
                <a:cs typeface="Courier New"/>
                <a:sym typeface="Courier New"/>
              </a:rPr>
              <a:t>name:</a:t>
            </a:r>
            <a:r>
              <a:rPr lang="en" sz="1200">
                <a:latin typeface="Roboto"/>
                <a:ea typeface="Roboto"/>
                <a:cs typeface="Roboto"/>
                <a:sym typeface="Roboto"/>
              </a:rPr>
              <a:t> </a:t>
            </a:r>
            <a:r>
              <a:rPr lang="en" sz="1200">
                <a:latin typeface="Courier New"/>
                <a:ea typeface="Courier New"/>
                <a:cs typeface="Courier New"/>
                <a:sym typeface="Courier New"/>
              </a:rPr>
              <a:t>String</a:t>
            </a:r>
            <a:endParaRPr sz="1200">
              <a:latin typeface="Roboto"/>
              <a:ea typeface="Roboto"/>
              <a:cs typeface="Roboto"/>
              <a:sym typeface="Roboto"/>
            </a:endParaRPr>
          </a:p>
        </p:txBody>
      </p:sp>
      <p:grpSp>
        <p:nvGrpSpPr>
          <p:cNvPr id="808" name="Google Shape;808;p91"/>
          <p:cNvGrpSpPr/>
          <p:nvPr/>
        </p:nvGrpSpPr>
        <p:grpSpPr>
          <a:xfrm>
            <a:off x="3242850" y="1234050"/>
            <a:ext cx="2951300" cy="3632413"/>
            <a:chOff x="3242850" y="1241537"/>
            <a:chExt cx="2951300" cy="3632413"/>
          </a:xfrm>
        </p:grpSpPr>
        <p:sp>
          <p:nvSpPr>
            <p:cNvPr id="809" name="Google Shape;809;p91"/>
            <p:cNvSpPr/>
            <p:nvPr/>
          </p:nvSpPr>
          <p:spPr>
            <a:xfrm>
              <a:off x="3242850" y="2571750"/>
              <a:ext cx="2658300" cy="2302200"/>
            </a:xfrm>
            <a:prstGeom prst="rect">
              <a:avLst/>
            </a:prstGeom>
            <a:noFill/>
            <a:ln cap="flat" cmpd="sng" w="28575">
              <a:solidFill>
                <a:srgbClr val="FF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100"/>
            </a:p>
          </p:txBody>
        </p:sp>
        <p:cxnSp>
          <p:nvCxnSpPr>
            <p:cNvPr id="810" name="Google Shape;810;p91"/>
            <p:cNvCxnSpPr>
              <a:stCxn id="806" idx="1"/>
              <a:endCxn id="809" idx="3"/>
            </p:cNvCxnSpPr>
            <p:nvPr/>
          </p:nvCxnSpPr>
          <p:spPr>
            <a:xfrm flipH="1">
              <a:off x="5901050" y="1241537"/>
              <a:ext cx="293100" cy="2481300"/>
            </a:xfrm>
            <a:prstGeom prst="bentConnector3">
              <a:avLst>
                <a:gd fmla="val 49983" name="adj1"/>
              </a:avLst>
            </a:prstGeom>
            <a:noFill/>
            <a:ln cap="flat" cmpd="sng" w="28575">
              <a:solidFill>
                <a:srgbClr val="FF9900"/>
              </a:solidFill>
              <a:prstDash val="solid"/>
              <a:round/>
              <a:headEnd len="med" w="med" type="none"/>
              <a:tailEnd len="med" w="med" type="none"/>
            </a:ln>
          </p:spPr>
        </p:cxnSp>
      </p:grpSp>
      <p:sp>
        <p:nvSpPr>
          <p:cNvPr id="811" name="Google Shape;811;p91"/>
          <p:cNvSpPr txBox="1"/>
          <p:nvPr/>
        </p:nvSpPr>
        <p:spPr>
          <a:xfrm>
            <a:off x="6194150" y="2480997"/>
            <a:ext cx="27603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return value is listed after the method declaration, e.g.    </a:t>
            </a:r>
            <a:r>
              <a:rPr lang="en" sz="1200">
                <a:latin typeface="Courier New"/>
                <a:ea typeface="Courier New"/>
                <a:cs typeface="Courier New"/>
                <a:sym typeface="Courier New"/>
              </a:rPr>
              <a:t>getAge():</a:t>
            </a:r>
            <a:r>
              <a:rPr lang="en" sz="1200"/>
              <a:t> </a:t>
            </a:r>
            <a:r>
              <a:rPr lang="en" sz="1200">
                <a:solidFill>
                  <a:srgbClr val="FF0000"/>
                </a:solidFill>
                <a:latin typeface="Courier New"/>
                <a:ea typeface="Courier New"/>
                <a:cs typeface="Courier New"/>
                <a:sym typeface="Courier New"/>
              </a:rPr>
              <a:t>int</a:t>
            </a:r>
            <a:endParaRPr sz="1200">
              <a:solidFill>
                <a:srgbClr val="FF0000"/>
              </a:solidFill>
              <a:latin typeface="Courier New"/>
              <a:ea typeface="Courier New"/>
              <a:cs typeface="Courier New"/>
              <a:sym typeface="Courier New"/>
            </a:endParaRPr>
          </a:p>
        </p:txBody>
      </p:sp>
      <p:sp>
        <p:nvSpPr>
          <p:cNvPr id="812" name="Google Shape;812;p91"/>
          <p:cNvSpPr txBox="1"/>
          <p:nvPr/>
        </p:nvSpPr>
        <p:spPr>
          <a:xfrm>
            <a:off x="6194150" y="3319195"/>
            <a:ext cx="27603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Constructors are marked with the </a:t>
            </a:r>
            <a:r>
              <a:rPr lang="en" sz="1200">
                <a:solidFill>
                  <a:srgbClr val="FF0000"/>
                </a:solidFill>
                <a:latin typeface="Courier New"/>
                <a:ea typeface="Courier New"/>
                <a:cs typeface="Courier New"/>
                <a:sym typeface="Courier New"/>
              </a:rPr>
              <a:t>&lt;&lt;create&gt;&gt;</a:t>
            </a:r>
            <a:r>
              <a:rPr lang="en" sz="1200">
                <a:latin typeface="Roboto"/>
                <a:ea typeface="Roboto"/>
                <a:cs typeface="Roboto"/>
                <a:sym typeface="Roboto"/>
              </a:rPr>
              <a:t> annotation.</a:t>
            </a:r>
            <a:endParaRPr sz="1200">
              <a:solidFill>
                <a:srgbClr val="FF0000"/>
              </a:solidFill>
              <a:latin typeface="Courier New"/>
              <a:ea typeface="Courier New"/>
              <a:cs typeface="Courier New"/>
              <a:sym typeface="Courier New"/>
            </a:endParaRPr>
          </a:p>
        </p:txBody>
      </p:sp>
      <p:sp>
        <p:nvSpPr>
          <p:cNvPr id="813" name="Google Shape;813;p91"/>
          <p:cNvSpPr txBox="1"/>
          <p:nvPr/>
        </p:nvSpPr>
        <p:spPr>
          <a:xfrm>
            <a:off x="6194150" y="3981202"/>
            <a:ext cx="27603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Visibility is indicated using </a:t>
            </a:r>
            <a:r>
              <a:rPr b="1" lang="en" sz="1200">
                <a:solidFill>
                  <a:srgbClr val="FF0000"/>
                </a:solidFill>
                <a:latin typeface="Courier New"/>
                <a:ea typeface="Courier New"/>
                <a:cs typeface="Courier New"/>
                <a:sym typeface="Courier New"/>
              </a:rPr>
              <a:t>+</a:t>
            </a:r>
            <a:r>
              <a:rPr lang="en" sz="1200">
                <a:latin typeface="Roboto"/>
                <a:ea typeface="Roboto"/>
                <a:cs typeface="Roboto"/>
                <a:sym typeface="Roboto"/>
              </a:rPr>
              <a:t> (public), </a:t>
            </a:r>
            <a:r>
              <a:rPr b="1" lang="en" sz="1200">
                <a:solidFill>
                  <a:srgbClr val="FF0000"/>
                </a:solidFill>
                <a:latin typeface="Courier New"/>
                <a:ea typeface="Courier New"/>
                <a:cs typeface="Courier New"/>
                <a:sym typeface="Courier New"/>
              </a:rPr>
              <a:t>-</a:t>
            </a:r>
            <a:r>
              <a:rPr lang="en" sz="1200">
                <a:latin typeface="Roboto"/>
                <a:ea typeface="Roboto"/>
                <a:cs typeface="Roboto"/>
                <a:sym typeface="Roboto"/>
              </a:rPr>
              <a:t> (private), or </a:t>
            </a:r>
            <a:r>
              <a:rPr b="1" lang="en" sz="1200">
                <a:solidFill>
                  <a:srgbClr val="FF0000"/>
                </a:solidFill>
                <a:latin typeface="Courier New"/>
                <a:ea typeface="Courier New"/>
                <a:cs typeface="Courier New"/>
                <a:sym typeface="Courier New"/>
              </a:rPr>
              <a:t>#</a:t>
            </a:r>
            <a:r>
              <a:rPr lang="en" sz="1200">
                <a:latin typeface="Roboto"/>
                <a:ea typeface="Roboto"/>
                <a:cs typeface="Roboto"/>
                <a:sym typeface="Roboto"/>
              </a:rPr>
              <a:t> (protected).</a:t>
            </a:r>
            <a:endParaRPr sz="1200">
              <a:solidFill>
                <a:srgbClr val="FF0000"/>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1000"/>
                                        <p:tgtEl>
                                          <p:spTgt spid="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1000"/>
                                        <p:tgtEl>
                                          <p:spTgt spid="7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1000"/>
                                        <p:tgtEl>
                                          <p:spTgt spid="8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10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1000"/>
                                        <p:tgtEl>
                                          <p:spTgt spid="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1000"/>
                                        <p:tgtEl>
                                          <p:spTgt spid="8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1000"/>
                                        <p:tgtEl>
                                          <p:spTgt spid="8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1000"/>
                                        <p:tgtEl>
                                          <p:spTgt spid="8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1000"/>
                                        <p:tgtEl>
                                          <p:spTgt spid="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1000"/>
                                        <p:tgtEl>
                                          <p:spTgt spid="8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000"/>
                                        <p:tgtEl>
                                          <p:spTgt spid="8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9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While many UML class diagrams are drawn by hand (e.g. on paper or a whiteboard), professional software engineers document their designs using software tools. There are many tools available, but today we will be using a free, online tool that connects to Google Drive.</a:t>
            </a:r>
            <a:endParaRPr/>
          </a:p>
        </p:txBody>
      </p:sp>
      <p:sp>
        <p:nvSpPr>
          <p:cNvPr id="819" name="Google Shape;819;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0" name="Google Shape;820;p92"/>
          <p:cNvSpPr txBox="1"/>
          <p:nvPr>
            <p:ph idx="2" type="body"/>
          </p:nvPr>
        </p:nvSpPr>
        <p:spPr>
          <a:xfrm>
            <a:off x="3204400" y="1881525"/>
            <a:ext cx="5751600" cy="2792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a browser and navigate to </a:t>
            </a:r>
            <a:r>
              <a:rPr lang="en" u="sng">
                <a:solidFill>
                  <a:schemeClr val="hlink"/>
                </a:solidFill>
                <a:hlinkClick r:id="rId3"/>
              </a:rPr>
              <a:t>https://draw.io</a:t>
            </a:r>
            <a:endParaRPr/>
          </a:p>
          <a:p>
            <a:pPr indent="-298450" lvl="1" marL="914400" rtl="0" algn="l">
              <a:spcBef>
                <a:spcPts val="0"/>
              </a:spcBef>
              <a:spcAft>
                <a:spcPts val="0"/>
              </a:spcAft>
              <a:buSzPts val="1100"/>
              <a:buChar char="○"/>
            </a:pPr>
            <a:r>
              <a:rPr lang="en"/>
              <a:t>You will be asked where your diagrams should be saved. Click </a:t>
            </a:r>
            <a:r>
              <a:rPr lang="en"/>
              <a:t>the </a:t>
            </a:r>
            <a:r>
              <a:rPr b="1" i="1" lang="en">
                <a:solidFill>
                  <a:srgbClr val="FF0000"/>
                </a:solidFill>
              </a:rPr>
              <a:t>Google Drive</a:t>
            </a:r>
            <a:r>
              <a:rPr i="1" lang="en"/>
              <a:t> </a:t>
            </a:r>
            <a:r>
              <a:rPr lang="en"/>
              <a:t>option.</a:t>
            </a:r>
            <a:endParaRPr/>
          </a:p>
          <a:p>
            <a:pPr indent="-298450" lvl="1" marL="914400" rtl="0" algn="l">
              <a:spcBef>
                <a:spcPts val="0"/>
              </a:spcBef>
              <a:spcAft>
                <a:spcPts val="0"/>
              </a:spcAft>
              <a:buSzPts val="1100"/>
              <a:buChar char="○"/>
            </a:pPr>
            <a:r>
              <a:rPr lang="en"/>
              <a:t>You will be asked to </a:t>
            </a:r>
            <a:r>
              <a:rPr b="1" i="1" lang="en">
                <a:solidFill>
                  <a:srgbClr val="FF0000"/>
                </a:solidFill>
              </a:rPr>
              <a:t>authorize</a:t>
            </a:r>
            <a:r>
              <a:rPr lang="en">
                <a:solidFill>
                  <a:srgbClr val="FF0000"/>
                </a:solidFill>
              </a:rPr>
              <a:t> </a:t>
            </a:r>
            <a:r>
              <a:rPr lang="en"/>
              <a:t>draw.io so that it can save files to your Google Drive. </a:t>
            </a:r>
            <a:endParaRPr/>
          </a:p>
          <a:p>
            <a:pPr indent="-298450" lvl="1" marL="914400" rtl="0" algn="l">
              <a:spcBef>
                <a:spcPts val="0"/>
              </a:spcBef>
              <a:spcAft>
                <a:spcPts val="0"/>
              </a:spcAft>
              <a:buSzPts val="1100"/>
              <a:buChar char="○"/>
            </a:pPr>
            <a:r>
              <a:rPr lang="en"/>
              <a:t>Log in with your RIT Gmail and password. Don't forget the "</a:t>
            </a:r>
            <a:r>
              <a:rPr b="1" i="1" lang="en">
                <a:solidFill>
                  <a:srgbClr val="FF0000"/>
                </a:solidFill>
                <a:latin typeface="Courier New"/>
                <a:ea typeface="Courier New"/>
                <a:cs typeface="Courier New"/>
                <a:sym typeface="Courier New"/>
              </a:rPr>
              <a:t>@g</a:t>
            </a:r>
            <a:r>
              <a:rPr lang="en"/>
              <a:t>" in your email, e.g. "</a:t>
            </a:r>
            <a:r>
              <a:rPr lang="en" u="sng">
                <a:solidFill>
                  <a:schemeClr val="hlink"/>
                </a:solidFill>
                <a:latin typeface="Courier New"/>
                <a:ea typeface="Courier New"/>
                <a:cs typeface="Courier New"/>
                <a:sym typeface="Courier New"/>
                <a:hlinkClick r:id="rId4"/>
              </a:rPr>
              <a:t>abc1234</a:t>
            </a:r>
            <a:r>
              <a:rPr b="1" i="1" lang="en" u="sng">
                <a:solidFill>
                  <a:schemeClr val="hlink"/>
                </a:solidFill>
                <a:latin typeface="Courier New"/>
                <a:ea typeface="Courier New"/>
                <a:cs typeface="Courier New"/>
                <a:sym typeface="Courier New"/>
                <a:hlinkClick r:id="rId5"/>
              </a:rPr>
              <a:t>@g</a:t>
            </a:r>
            <a:r>
              <a:rPr lang="en" u="sng">
                <a:solidFill>
                  <a:schemeClr val="hlink"/>
                </a:solidFill>
                <a:latin typeface="Courier New"/>
                <a:ea typeface="Courier New"/>
                <a:cs typeface="Courier New"/>
                <a:sym typeface="Courier New"/>
                <a:hlinkClick r:id="rId6"/>
              </a:rPr>
              <a:t>.rit.edu</a:t>
            </a:r>
            <a:r>
              <a:rPr lang="en"/>
              <a:t>"!</a:t>
            </a:r>
            <a:endParaRPr/>
          </a:p>
          <a:p>
            <a:pPr indent="-311150" lvl="0" marL="457200" rtl="0" algn="l">
              <a:spcBef>
                <a:spcPts val="0"/>
              </a:spcBef>
              <a:spcAft>
                <a:spcPts val="0"/>
              </a:spcAft>
              <a:buSzPts val="1300"/>
              <a:buChar char="●"/>
            </a:pPr>
            <a:r>
              <a:rPr lang="en"/>
              <a:t>Now you are ready to create your first diagram!</a:t>
            </a:r>
            <a:endParaRPr/>
          </a:p>
          <a:p>
            <a:pPr indent="-298450" lvl="1" marL="914400" rtl="0" algn="l">
              <a:spcBef>
                <a:spcPts val="0"/>
              </a:spcBef>
              <a:spcAft>
                <a:spcPts val="0"/>
              </a:spcAft>
              <a:buSzPts val="1100"/>
              <a:buChar char="○"/>
            </a:pPr>
            <a:r>
              <a:rPr lang="en"/>
              <a:t>Choose the </a:t>
            </a:r>
            <a:r>
              <a:rPr b="1" i="1" lang="en">
                <a:solidFill>
                  <a:srgbClr val="FF0000"/>
                </a:solidFill>
              </a:rPr>
              <a:t>Create New Diagram</a:t>
            </a:r>
            <a:r>
              <a:rPr lang="en"/>
              <a:t> option.</a:t>
            </a:r>
            <a:endParaRPr/>
          </a:p>
          <a:p>
            <a:pPr indent="-298450" lvl="1" marL="914400" rtl="0" algn="l">
              <a:spcBef>
                <a:spcPts val="0"/>
              </a:spcBef>
              <a:spcAft>
                <a:spcPts val="0"/>
              </a:spcAft>
              <a:buSzPts val="1100"/>
              <a:buChar char="○"/>
            </a:pPr>
            <a:r>
              <a:rPr lang="en"/>
              <a:t>In the next dialog, type "</a:t>
            </a:r>
            <a:r>
              <a:rPr lang="en">
                <a:solidFill>
                  <a:srgbClr val="FF0000"/>
                </a:solidFill>
              </a:rPr>
              <a:t>Star Wars Battle</a:t>
            </a:r>
            <a:r>
              <a:rPr lang="en"/>
              <a:t>" into the </a:t>
            </a:r>
            <a:r>
              <a:rPr b="1" i="1" lang="en">
                <a:solidFill>
                  <a:srgbClr val="FF0000"/>
                </a:solidFill>
              </a:rPr>
              <a:t>Diagram Name</a:t>
            </a:r>
            <a:r>
              <a:rPr lang="en"/>
              <a:t> field at the top and then choose the </a:t>
            </a:r>
            <a:r>
              <a:rPr b="1" i="1" lang="en">
                <a:solidFill>
                  <a:srgbClr val="FF0000"/>
                </a:solidFill>
              </a:rPr>
              <a:t>Class Diagram</a:t>
            </a:r>
            <a:r>
              <a:rPr lang="en"/>
              <a:t> option.</a:t>
            </a:r>
            <a:endParaRPr/>
          </a:p>
          <a:p>
            <a:pPr indent="-298450" lvl="1" marL="914400" rtl="0" algn="l">
              <a:spcBef>
                <a:spcPts val="0"/>
              </a:spcBef>
              <a:spcAft>
                <a:spcPts val="0"/>
              </a:spcAft>
              <a:buSzPts val="1100"/>
              <a:buChar char="○"/>
            </a:pPr>
            <a:r>
              <a:rPr lang="en"/>
              <a:t>Next, click the </a:t>
            </a:r>
            <a:r>
              <a:rPr b="1" i="1" lang="en">
                <a:solidFill>
                  <a:srgbClr val="FF0000"/>
                </a:solidFill>
              </a:rPr>
              <a:t>Create</a:t>
            </a:r>
            <a:r>
              <a:rPr lang="en"/>
              <a:t> button and choose your root folder.</a:t>
            </a:r>
            <a:endParaRPr b="1"/>
          </a:p>
          <a:p>
            <a:pPr indent="-311150" lvl="0" marL="457200" rtl="0" algn="l">
              <a:spcBef>
                <a:spcPts val="0"/>
              </a:spcBef>
              <a:spcAft>
                <a:spcPts val="0"/>
              </a:spcAft>
              <a:buSzPts val="1300"/>
              <a:buChar char="●"/>
            </a:pPr>
            <a:r>
              <a:rPr lang="en"/>
              <a:t>You are now ready to create your first UML class diagram!</a:t>
            </a:r>
            <a:endParaRPr/>
          </a:p>
        </p:txBody>
      </p:sp>
      <p:sp>
        <p:nvSpPr>
          <p:cNvPr id="821" name="Google Shape;821;p9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UML Drawing Tool</a:t>
            </a:r>
            <a:endParaRPr/>
          </a:p>
        </p:txBody>
      </p:sp>
      <p:sp>
        <p:nvSpPr>
          <p:cNvPr id="822" name="Google Shape;822;p9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2.15</a:t>
            </a:r>
            <a:endParaRPr/>
          </a:p>
        </p:txBody>
      </p:sp>
      <p:pic>
        <p:nvPicPr>
          <p:cNvPr id="823" name="Google Shape;823;p92"/>
          <p:cNvPicPr preferRelativeResize="0"/>
          <p:nvPr/>
        </p:nvPicPr>
        <p:blipFill>
          <a:blip r:embed="rId7">
            <a:alphaModFix/>
          </a:blip>
          <a:stretch>
            <a:fillRect/>
          </a:stretch>
        </p:blipFill>
        <p:spPr>
          <a:xfrm>
            <a:off x="76200" y="1957725"/>
            <a:ext cx="3256974" cy="2529600"/>
          </a:xfrm>
          <a:prstGeom prst="rect">
            <a:avLst/>
          </a:prstGeom>
          <a:noFill/>
          <a:ln>
            <a:noFill/>
          </a:ln>
        </p:spPr>
      </p:pic>
      <p:sp>
        <p:nvSpPr>
          <p:cNvPr id="824" name="Google Shape;824;p92"/>
          <p:cNvSpPr/>
          <p:nvPr/>
        </p:nvSpPr>
        <p:spPr>
          <a:xfrm>
            <a:off x="958326" y="2171200"/>
            <a:ext cx="1220400" cy="172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92"/>
          <p:cNvSpPr/>
          <p:nvPr/>
        </p:nvSpPr>
        <p:spPr>
          <a:xfrm>
            <a:off x="1574925" y="2399550"/>
            <a:ext cx="753600" cy="75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92"/>
          <p:cNvSpPr/>
          <p:nvPr/>
        </p:nvSpPr>
        <p:spPr>
          <a:xfrm>
            <a:off x="2710250" y="4140250"/>
            <a:ext cx="437100" cy="21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Being able to read and draw UML is an essential skill for any software developer. Professional</a:t>
            </a:r>
            <a:r>
              <a:rPr lang="en"/>
              <a:t>s must document their software design and keep it up to date so that they can share it with their teams, customers, and other stakeholders. Let's practice now!</a:t>
            </a:r>
            <a:endParaRPr/>
          </a:p>
        </p:txBody>
      </p:sp>
      <p:sp>
        <p:nvSpPr>
          <p:cNvPr id="832" name="Google Shape;832;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3" name="Google Shape;833;p93"/>
          <p:cNvSpPr txBox="1"/>
          <p:nvPr>
            <p:ph idx="2" type="body"/>
          </p:nvPr>
        </p:nvSpPr>
        <p:spPr>
          <a:xfrm>
            <a:off x="3211875" y="1814150"/>
            <a:ext cx="5467200" cy="2898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Start by deleting any classes that were created for you in the new diagram.</a:t>
            </a:r>
            <a:endParaRPr/>
          </a:p>
          <a:p>
            <a:pPr indent="-311150" lvl="0" marL="457200" rtl="0" algn="l">
              <a:spcBef>
                <a:spcPts val="0"/>
              </a:spcBef>
              <a:spcAft>
                <a:spcPts val="0"/>
              </a:spcAft>
              <a:buSzPts val="1300"/>
              <a:buChar char="●"/>
            </a:pPr>
            <a:r>
              <a:rPr lang="en"/>
              <a:t>Draw a UML class diagram representing the </a:t>
            </a:r>
            <a:r>
              <a:rPr lang="en">
                <a:latin typeface="Courier New"/>
                <a:ea typeface="Courier New"/>
                <a:cs typeface="Courier New"/>
                <a:sym typeface="Courier New"/>
              </a:rPr>
              <a:t>Weapon</a:t>
            </a:r>
            <a:r>
              <a:rPr lang="en"/>
              <a:t> class.</a:t>
            </a:r>
            <a:endParaRPr/>
          </a:p>
          <a:p>
            <a:pPr indent="-298450" lvl="1" marL="914400" rtl="0" algn="l">
              <a:spcBef>
                <a:spcPts val="0"/>
              </a:spcBef>
              <a:spcAft>
                <a:spcPts val="0"/>
              </a:spcAft>
              <a:buSzPts val="1100"/>
              <a:buChar char="○"/>
            </a:pPr>
            <a:r>
              <a:rPr lang="en"/>
              <a:t>Expand the </a:t>
            </a:r>
            <a:r>
              <a:rPr b="1" i="1" lang="en">
                <a:solidFill>
                  <a:srgbClr val="FF0000"/>
                </a:solidFill>
              </a:rPr>
              <a:t>UML</a:t>
            </a:r>
            <a:r>
              <a:rPr lang="en">
                <a:solidFill>
                  <a:srgbClr val="FF0000"/>
                </a:solidFill>
              </a:rPr>
              <a:t> </a:t>
            </a:r>
            <a:r>
              <a:rPr lang="en"/>
              <a:t>palette on the left. It may be all the way at the bottom.</a:t>
            </a:r>
            <a:endParaRPr/>
          </a:p>
          <a:p>
            <a:pPr indent="-298450" lvl="1" marL="914400" rtl="0" algn="l">
              <a:spcBef>
                <a:spcPts val="0"/>
              </a:spcBef>
              <a:spcAft>
                <a:spcPts val="0"/>
              </a:spcAft>
              <a:buSzPts val="1100"/>
              <a:buChar char="○"/>
            </a:pPr>
            <a:r>
              <a:rPr lang="en"/>
              <a:t>Click and drag the "</a:t>
            </a:r>
            <a:r>
              <a:rPr b="1" i="1" lang="en">
                <a:solidFill>
                  <a:srgbClr val="FF0000"/>
                </a:solidFill>
              </a:rPr>
              <a:t>Class</a:t>
            </a:r>
            <a:r>
              <a:rPr lang="en"/>
              <a:t>" shape into the drawing area. The shapes may be very hard to read, but when you mouse over each shape you will see a larger pop-up.</a:t>
            </a:r>
            <a:endParaRPr/>
          </a:p>
          <a:p>
            <a:pPr indent="-298450" lvl="1" marL="914400" rtl="0" algn="l">
              <a:spcBef>
                <a:spcPts val="0"/>
              </a:spcBef>
              <a:spcAft>
                <a:spcPts val="0"/>
              </a:spcAft>
              <a:buSzPts val="1100"/>
              <a:buChar char="○"/>
            </a:pPr>
            <a:r>
              <a:rPr lang="en"/>
              <a:t>Edit the new shape to change the name, list the fields, and list the operations. Don't forget to indicate visibility where appropriate!</a:t>
            </a:r>
            <a:endParaRPr/>
          </a:p>
          <a:p>
            <a:pPr indent="-298450" lvl="1" marL="914400" rtl="0" algn="l">
              <a:spcBef>
                <a:spcPts val="0"/>
              </a:spcBef>
              <a:spcAft>
                <a:spcPts val="0"/>
              </a:spcAft>
              <a:buSzPts val="1100"/>
              <a:buChar char="○"/>
            </a:pPr>
            <a:r>
              <a:rPr lang="en"/>
              <a:t>Refer to the "</a:t>
            </a:r>
            <a:r>
              <a:rPr lang="en" u="sng">
                <a:solidFill>
                  <a:schemeClr val="hlink"/>
                </a:solidFill>
                <a:hlinkClick action="ppaction://hlinksldjump" r:id="rId3"/>
              </a:rPr>
              <a:t>Closer Look</a:t>
            </a:r>
            <a:r>
              <a:rPr lang="en"/>
              <a:t>" slide while drawing!</a:t>
            </a:r>
            <a:endParaRPr/>
          </a:p>
          <a:p>
            <a:pPr indent="-311150" lvl="0" marL="457200" rtl="0" algn="l">
              <a:spcBef>
                <a:spcPts val="0"/>
              </a:spcBef>
              <a:spcAft>
                <a:spcPts val="0"/>
              </a:spcAft>
              <a:buSzPts val="1300"/>
              <a:buChar char="●"/>
            </a:pPr>
            <a:r>
              <a:rPr lang="en"/>
              <a:t>Once you are satisfied with your diagram, ask your instructor or a Course Assistant to check it over.</a:t>
            </a:r>
            <a:endParaRPr/>
          </a:p>
          <a:p>
            <a:pPr indent="-311150" lvl="0" marL="457200" rtl="0" algn="l">
              <a:spcBef>
                <a:spcPts val="0"/>
              </a:spcBef>
              <a:spcAft>
                <a:spcPts val="0"/>
              </a:spcAft>
              <a:buSzPts val="1300"/>
              <a:buChar char="●"/>
            </a:pPr>
            <a:r>
              <a:rPr lang="en"/>
              <a:t>Next, Draw a UML class diagram representing the </a:t>
            </a:r>
            <a:r>
              <a:rPr lang="en">
                <a:latin typeface="Courier New"/>
                <a:ea typeface="Courier New"/>
                <a:cs typeface="Courier New"/>
                <a:sym typeface="Courier New"/>
              </a:rPr>
              <a:t>Ship</a:t>
            </a:r>
            <a:r>
              <a:rPr lang="en"/>
              <a:t> class.</a:t>
            </a:r>
            <a:endParaRPr/>
          </a:p>
        </p:txBody>
      </p:sp>
      <p:sp>
        <p:nvSpPr>
          <p:cNvPr id="834" name="Google Shape;834;p9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First UML Class Diagram</a:t>
            </a:r>
            <a:endParaRPr/>
          </a:p>
        </p:txBody>
      </p:sp>
      <p:sp>
        <p:nvSpPr>
          <p:cNvPr id="835" name="Google Shape;835;p9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2.16</a:t>
            </a:r>
            <a:endParaRPr/>
          </a:p>
        </p:txBody>
      </p:sp>
      <p:pic>
        <p:nvPicPr>
          <p:cNvPr id="836" name="Google Shape;836;p93"/>
          <p:cNvPicPr preferRelativeResize="0"/>
          <p:nvPr/>
        </p:nvPicPr>
        <p:blipFill>
          <a:blip r:embed="rId4">
            <a:alphaModFix/>
          </a:blip>
          <a:stretch>
            <a:fillRect/>
          </a:stretch>
        </p:blipFill>
        <p:spPr>
          <a:xfrm>
            <a:off x="189825" y="1918950"/>
            <a:ext cx="2981325" cy="23431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pic>
        <p:nvPicPr>
          <p:cNvPr id="841" name="Google Shape;841;p94"/>
          <p:cNvPicPr preferRelativeResize="0"/>
          <p:nvPr/>
        </p:nvPicPr>
        <p:blipFill>
          <a:blip r:embed="rId3">
            <a:alphaModFix/>
          </a:blip>
          <a:stretch>
            <a:fillRect/>
          </a:stretch>
        </p:blipFill>
        <p:spPr>
          <a:xfrm>
            <a:off x="315425" y="942924"/>
            <a:ext cx="3706500" cy="2015176"/>
          </a:xfrm>
          <a:prstGeom prst="rect">
            <a:avLst/>
          </a:prstGeom>
          <a:noFill/>
          <a:ln>
            <a:noFill/>
          </a:ln>
        </p:spPr>
      </p:pic>
      <p:sp>
        <p:nvSpPr>
          <p:cNvPr id="842" name="Google Shape;842;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3" name="Google Shape;843;p94"/>
          <p:cNvSpPr txBox="1"/>
          <p:nvPr>
            <p:ph type="title"/>
          </p:nvPr>
        </p:nvSpPr>
        <p:spPr>
          <a:xfrm>
            <a:off x="311725" y="119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UML - Relationships</a:t>
            </a:r>
            <a:endParaRPr sz="2700"/>
          </a:p>
        </p:txBody>
      </p:sp>
      <p:sp>
        <p:nvSpPr>
          <p:cNvPr id="844" name="Google Shape;844;p94"/>
          <p:cNvSpPr txBox="1"/>
          <p:nvPr>
            <p:ph idx="1" type="body"/>
          </p:nvPr>
        </p:nvSpPr>
        <p:spPr>
          <a:xfrm>
            <a:off x="4519575" y="100850"/>
            <a:ext cx="4314900" cy="47946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In addition to describing individual classes, UML is used to describe the relationships that exist between classes.</a:t>
            </a:r>
            <a:endParaRPr sz="1200"/>
          </a:p>
          <a:p>
            <a:pPr indent="-292100" lvl="1" marL="914400" rtl="0" algn="l">
              <a:spcBef>
                <a:spcPts val="0"/>
              </a:spcBef>
              <a:spcAft>
                <a:spcPts val="0"/>
              </a:spcAft>
              <a:buSzPts val="1000"/>
              <a:buChar char="○"/>
            </a:pPr>
            <a:r>
              <a:rPr lang="en" sz="1000"/>
              <a:t>A relationship between two classes indicates that the classes use each other in some way.</a:t>
            </a:r>
            <a:endParaRPr sz="1000"/>
          </a:p>
          <a:p>
            <a:pPr indent="-304800" lvl="0" marL="457200" rtl="0" algn="l">
              <a:spcBef>
                <a:spcPts val="1000"/>
              </a:spcBef>
              <a:spcAft>
                <a:spcPts val="0"/>
              </a:spcAft>
              <a:buSzPts val="1200"/>
              <a:buChar char="●"/>
            </a:pPr>
            <a:r>
              <a:rPr lang="en" sz="1200"/>
              <a:t>Relationships are represented using a line that connects the two classes.</a:t>
            </a:r>
            <a:endParaRPr sz="1200"/>
          </a:p>
          <a:p>
            <a:pPr indent="-292100" lvl="1" marL="914400" rtl="0" algn="l">
              <a:spcBef>
                <a:spcPts val="0"/>
              </a:spcBef>
              <a:spcAft>
                <a:spcPts val="0"/>
              </a:spcAft>
              <a:buSzPts val="1000"/>
              <a:buChar char="○"/>
            </a:pPr>
            <a:r>
              <a:rPr lang="en" sz="1000"/>
              <a:t>The lines may be solid or dashed.</a:t>
            </a:r>
            <a:endParaRPr sz="1000"/>
          </a:p>
          <a:p>
            <a:pPr indent="-292100" lvl="1" marL="914400" rtl="0" algn="l">
              <a:spcBef>
                <a:spcPts val="0"/>
              </a:spcBef>
              <a:spcAft>
                <a:spcPts val="0"/>
              </a:spcAft>
              <a:buSzPts val="1000"/>
              <a:buChar char="○"/>
            </a:pPr>
            <a:r>
              <a:rPr lang="en" sz="1000"/>
              <a:t>A solid line indicates a stronger relationship.</a:t>
            </a:r>
            <a:endParaRPr sz="1000"/>
          </a:p>
          <a:p>
            <a:pPr indent="-304800" lvl="0" marL="457200" rtl="0" algn="l">
              <a:spcBef>
                <a:spcPts val="1000"/>
              </a:spcBef>
              <a:spcAft>
                <a:spcPts val="0"/>
              </a:spcAft>
              <a:buSzPts val="1200"/>
              <a:buChar char="●"/>
            </a:pPr>
            <a:r>
              <a:rPr lang="en" sz="1200"/>
              <a:t>Relationships may also include an arrow that indicates </a:t>
            </a:r>
            <a:r>
              <a:rPr b="1" i="1" lang="en" sz="1200">
                <a:solidFill>
                  <a:srgbClr val="FF0000"/>
                </a:solidFill>
              </a:rPr>
              <a:t>directionality</a:t>
            </a:r>
            <a:r>
              <a:rPr lang="en" sz="1200"/>
              <a:t>.</a:t>
            </a:r>
            <a:endParaRPr sz="1200"/>
          </a:p>
          <a:p>
            <a:pPr indent="-292100" lvl="1" marL="914400" rtl="0" algn="l">
              <a:spcBef>
                <a:spcPts val="0"/>
              </a:spcBef>
              <a:spcAft>
                <a:spcPts val="0"/>
              </a:spcAft>
              <a:buSzPts val="1000"/>
              <a:buChar char="○"/>
            </a:pPr>
            <a:r>
              <a:rPr lang="en" sz="1000"/>
              <a:t>The arrow points </a:t>
            </a:r>
            <a:r>
              <a:rPr b="1" i="1" lang="en" sz="1000">
                <a:solidFill>
                  <a:srgbClr val="FF0000"/>
                </a:solidFill>
              </a:rPr>
              <a:t>from</a:t>
            </a:r>
            <a:r>
              <a:rPr lang="en" sz="1000">
                <a:solidFill>
                  <a:srgbClr val="FF0000"/>
                </a:solidFill>
              </a:rPr>
              <a:t> </a:t>
            </a:r>
            <a:r>
              <a:rPr lang="en" sz="1000"/>
              <a:t>a class </a:t>
            </a:r>
            <a:r>
              <a:rPr b="1" i="1" lang="en" sz="1000">
                <a:solidFill>
                  <a:srgbClr val="FF0000"/>
                </a:solidFill>
              </a:rPr>
              <a:t>to</a:t>
            </a:r>
            <a:r>
              <a:rPr lang="en" sz="1000"/>
              <a:t> the class that it uses.</a:t>
            </a:r>
            <a:endParaRPr sz="1000"/>
          </a:p>
          <a:p>
            <a:pPr indent="-292100" lvl="1" marL="914400" rtl="0" algn="l">
              <a:spcBef>
                <a:spcPts val="0"/>
              </a:spcBef>
              <a:spcAft>
                <a:spcPts val="0"/>
              </a:spcAft>
              <a:buSzPts val="1000"/>
              <a:buChar char="○"/>
            </a:pPr>
            <a:r>
              <a:rPr lang="en" sz="1000"/>
              <a:t>If there is no arrow, the relationship is </a:t>
            </a:r>
            <a:r>
              <a:rPr b="1" i="1" lang="en" sz="1000">
                <a:solidFill>
                  <a:srgbClr val="FF0000"/>
                </a:solidFill>
              </a:rPr>
              <a:t>undirected</a:t>
            </a:r>
            <a:r>
              <a:rPr lang="en" sz="1000">
                <a:solidFill>
                  <a:srgbClr val="FF0000"/>
                </a:solidFill>
              </a:rPr>
              <a:t> </a:t>
            </a:r>
            <a:r>
              <a:rPr lang="en" sz="1000"/>
              <a:t>meaning</a:t>
            </a:r>
            <a:r>
              <a:rPr lang="en" sz="1000"/>
              <a:t> that the classes </a:t>
            </a:r>
            <a:r>
              <a:rPr b="1" i="1" lang="en" sz="1000">
                <a:solidFill>
                  <a:srgbClr val="FF0000"/>
                </a:solidFill>
              </a:rPr>
              <a:t>use</a:t>
            </a:r>
            <a:r>
              <a:rPr lang="en" sz="1000">
                <a:solidFill>
                  <a:srgbClr val="FF0000"/>
                </a:solidFill>
              </a:rPr>
              <a:t> </a:t>
            </a:r>
            <a:r>
              <a:rPr b="1" i="1" lang="en" sz="1000">
                <a:solidFill>
                  <a:srgbClr val="FF0000"/>
                </a:solidFill>
              </a:rPr>
              <a:t>each other</a:t>
            </a:r>
            <a:r>
              <a:rPr lang="en" sz="1000"/>
              <a:t>.</a:t>
            </a:r>
            <a:endParaRPr sz="1000"/>
          </a:p>
          <a:p>
            <a:pPr indent="-304800" lvl="0" marL="457200" rtl="0" algn="l">
              <a:spcBef>
                <a:spcPts val="1000"/>
              </a:spcBef>
              <a:spcAft>
                <a:spcPts val="0"/>
              </a:spcAft>
              <a:buSzPts val="1200"/>
              <a:buChar char="●"/>
            </a:pPr>
            <a:r>
              <a:rPr lang="en" sz="1200"/>
              <a:t>Class diagrams and relationships form a more complete picture of how all the components relate to each other.</a:t>
            </a:r>
            <a:endParaRPr sz="1200"/>
          </a:p>
          <a:p>
            <a:pPr indent="-292100" lvl="1" marL="914400" rtl="0" algn="l">
              <a:spcBef>
                <a:spcPts val="0"/>
              </a:spcBef>
              <a:spcAft>
                <a:spcPts val="0"/>
              </a:spcAft>
              <a:buSzPts val="1000"/>
              <a:buChar char="○"/>
            </a:pPr>
            <a:r>
              <a:rPr lang="en" sz="1000"/>
              <a:t>The association syntax is very important, using the wrong ones is like using the wrong grammar or punctuation in a sentence; it totally changes the meaning, e.g. "Let's eat Grandma!" vs "Let's eat, Grandma."</a:t>
            </a:r>
            <a:endParaRPr sz="1000"/>
          </a:p>
        </p:txBody>
      </p:sp>
      <p:sp>
        <p:nvSpPr>
          <p:cNvPr id="845" name="Google Shape;845;p94"/>
          <p:cNvSpPr txBox="1"/>
          <p:nvPr>
            <p:ph idx="3" type="body"/>
          </p:nvPr>
        </p:nvSpPr>
        <p:spPr>
          <a:xfrm>
            <a:off x="315425" y="309905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UML includes several different kinds of associations, each of which has a different meaning.</a:t>
            </a:r>
            <a:endParaRPr sz="1200"/>
          </a:p>
        </p:txBody>
      </p:sp>
      <p:sp>
        <p:nvSpPr>
          <p:cNvPr id="846" name="Google Shape;846;p94"/>
          <p:cNvSpPr txBox="1"/>
          <p:nvPr>
            <p:ph idx="3" type="body"/>
          </p:nvPr>
        </p:nvSpPr>
        <p:spPr>
          <a:xfrm>
            <a:off x="2420950" y="2382875"/>
            <a:ext cx="1262700" cy="384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relationship.</a:t>
            </a:r>
            <a:endParaRPr/>
          </a:p>
        </p:txBody>
      </p:sp>
      <p:cxnSp>
        <p:nvCxnSpPr>
          <p:cNvPr id="847" name="Google Shape;847;p94"/>
          <p:cNvCxnSpPr>
            <a:stCxn id="846" idx="1"/>
          </p:cNvCxnSpPr>
          <p:nvPr/>
        </p:nvCxnSpPr>
        <p:spPr>
          <a:xfrm rot="10800000">
            <a:off x="2148850" y="1515725"/>
            <a:ext cx="272100" cy="1059600"/>
          </a:xfrm>
          <a:prstGeom prst="straightConnector1">
            <a:avLst/>
          </a:prstGeom>
          <a:noFill/>
          <a:ln cap="flat" cmpd="sng" w="19050">
            <a:solidFill>
              <a:srgbClr val="FF0000"/>
            </a:solidFill>
            <a:prstDash val="solid"/>
            <a:round/>
            <a:headEnd len="med" w="med" type="none"/>
            <a:tailEnd len="med" w="med" type="triangle"/>
          </a:ln>
        </p:spPr>
      </p:cxnSp>
      <p:sp>
        <p:nvSpPr>
          <p:cNvPr id="848" name="Google Shape;848;p94"/>
          <p:cNvSpPr txBox="1"/>
          <p:nvPr>
            <p:ph idx="3" type="body"/>
          </p:nvPr>
        </p:nvSpPr>
        <p:spPr>
          <a:xfrm>
            <a:off x="315425" y="393725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Professional software developers are expected to be able to implement code based on UML class diagrams.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0" st="0"/>
                                            </p:txEl>
                                          </p:spTgt>
                                        </p:tgtEl>
                                        <p:attrNameLst>
                                          <p:attrName>style.visibility</p:attrName>
                                        </p:attrNameLst>
                                      </p:cBhvr>
                                      <p:to>
                                        <p:strVal val="visible"/>
                                      </p:to>
                                    </p:set>
                                    <p:animEffect filter="fade" transition="in">
                                      <p:cBhvr>
                                        <p:cTn dur="1000"/>
                                        <p:tgtEl>
                                          <p:spTgt spid="8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1" st="1"/>
                                            </p:txEl>
                                          </p:spTgt>
                                        </p:tgtEl>
                                        <p:attrNameLst>
                                          <p:attrName>style.visibility</p:attrName>
                                        </p:attrNameLst>
                                      </p:cBhvr>
                                      <p:to>
                                        <p:strVal val="visible"/>
                                      </p:to>
                                    </p:set>
                                    <p:animEffect filter="fade" transition="in">
                                      <p:cBhvr>
                                        <p:cTn dur="1000"/>
                                        <p:tgtEl>
                                          <p:spTgt spid="8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2" st="2"/>
                                            </p:txEl>
                                          </p:spTgt>
                                        </p:tgtEl>
                                        <p:attrNameLst>
                                          <p:attrName>style.visibility</p:attrName>
                                        </p:attrNameLst>
                                      </p:cBhvr>
                                      <p:to>
                                        <p:strVal val="visible"/>
                                      </p:to>
                                    </p:set>
                                    <p:animEffect filter="fade" transition="in">
                                      <p:cBhvr>
                                        <p:cTn dur="1000"/>
                                        <p:tgtEl>
                                          <p:spTgt spid="8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3" st="3"/>
                                            </p:txEl>
                                          </p:spTgt>
                                        </p:tgtEl>
                                        <p:attrNameLst>
                                          <p:attrName>style.visibility</p:attrName>
                                        </p:attrNameLst>
                                      </p:cBhvr>
                                      <p:to>
                                        <p:strVal val="visible"/>
                                      </p:to>
                                    </p:set>
                                    <p:animEffect filter="fade" transition="in">
                                      <p:cBhvr>
                                        <p:cTn dur="1000"/>
                                        <p:tgtEl>
                                          <p:spTgt spid="8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4" st="4"/>
                                            </p:txEl>
                                          </p:spTgt>
                                        </p:tgtEl>
                                        <p:attrNameLst>
                                          <p:attrName>style.visibility</p:attrName>
                                        </p:attrNameLst>
                                      </p:cBhvr>
                                      <p:to>
                                        <p:strVal val="visible"/>
                                      </p:to>
                                    </p:set>
                                    <p:animEffect filter="fade" transition="in">
                                      <p:cBhvr>
                                        <p:cTn dur="1000"/>
                                        <p:tgtEl>
                                          <p:spTgt spid="8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5" st="5"/>
                                            </p:txEl>
                                          </p:spTgt>
                                        </p:tgtEl>
                                        <p:attrNameLst>
                                          <p:attrName>style.visibility</p:attrName>
                                        </p:attrNameLst>
                                      </p:cBhvr>
                                      <p:to>
                                        <p:strVal val="visible"/>
                                      </p:to>
                                    </p:set>
                                    <p:animEffect filter="fade" transition="in">
                                      <p:cBhvr>
                                        <p:cTn dur="1000"/>
                                        <p:tgtEl>
                                          <p:spTgt spid="84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6" st="6"/>
                                            </p:txEl>
                                          </p:spTgt>
                                        </p:tgtEl>
                                        <p:attrNameLst>
                                          <p:attrName>style.visibility</p:attrName>
                                        </p:attrNameLst>
                                      </p:cBhvr>
                                      <p:to>
                                        <p:strVal val="visible"/>
                                      </p:to>
                                    </p:set>
                                    <p:animEffect filter="fade" transition="in">
                                      <p:cBhvr>
                                        <p:cTn dur="1000"/>
                                        <p:tgtEl>
                                          <p:spTgt spid="84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7" st="7"/>
                                            </p:txEl>
                                          </p:spTgt>
                                        </p:tgtEl>
                                        <p:attrNameLst>
                                          <p:attrName>style.visibility</p:attrName>
                                        </p:attrNameLst>
                                      </p:cBhvr>
                                      <p:to>
                                        <p:strVal val="visible"/>
                                      </p:to>
                                    </p:set>
                                    <p:animEffect filter="fade" transition="in">
                                      <p:cBhvr>
                                        <p:cTn dur="1000"/>
                                        <p:tgtEl>
                                          <p:spTgt spid="84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8" st="8"/>
                                            </p:txEl>
                                          </p:spTgt>
                                        </p:tgtEl>
                                        <p:attrNameLst>
                                          <p:attrName>style.visibility</p:attrName>
                                        </p:attrNameLst>
                                      </p:cBhvr>
                                      <p:to>
                                        <p:strVal val="visible"/>
                                      </p:to>
                                    </p:set>
                                    <p:animEffect filter="fade" transition="in">
                                      <p:cBhvr>
                                        <p:cTn dur="1000"/>
                                        <p:tgtEl>
                                          <p:spTgt spid="84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xEl>
                                              <p:pRg end="9" st="9"/>
                                            </p:txEl>
                                          </p:spTgt>
                                        </p:tgtEl>
                                        <p:attrNameLst>
                                          <p:attrName>style.visibility</p:attrName>
                                        </p:attrNameLst>
                                      </p:cBhvr>
                                      <p:to>
                                        <p:strVal val="visible"/>
                                      </p:to>
                                    </p:set>
                                    <p:animEffect filter="fade" transition="in">
                                      <p:cBhvr>
                                        <p:cTn dur="1000"/>
                                        <p:tgtEl>
                                          <p:spTgt spid="84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1000"/>
                                        <p:tgtEl>
                                          <p:spTgt spid="8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1000"/>
                                        <p:tgtEl>
                                          <p:spTgt spid="8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pic>
        <p:nvPicPr>
          <p:cNvPr id="853" name="Google Shape;853;p95"/>
          <p:cNvPicPr preferRelativeResize="0"/>
          <p:nvPr/>
        </p:nvPicPr>
        <p:blipFill>
          <a:blip r:embed="rId3">
            <a:alphaModFix/>
          </a:blip>
          <a:stretch>
            <a:fillRect/>
          </a:stretch>
        </p:blipFill>
        <p:spPr>
          <a:xfrm>
            <a:off x="74826" y="3299399"/>
            <a:ext cx="2904127" cy="1075600"/>
          </a:xfrm>
          <a:prstGeom prst="rect">
            <a:avLst/>
          </a:prstGeom>
          <a:noFill/>
          <a:ln>
            <a:noFill/>
          </a:ln>
        </p:spPr>
      </p:pic>
      <p:sp>
        <p:nvSpPr>
          <p:cNvPr id="854" name="Google Shape;854;p95"/>
          <p:cNvSpPr txBox="1"/>
          <p:nvPr>
            <p:ph type="title"/>
          </p:nvPr>
        </p:nvSpPr>
        <p:spPr>
          <a:xfrm>
            <a:off x="311700" y="10527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Basic UML Relationships</a:t>
            </a:r>
            <a:endParaRPr/>
          </a:p>
        </p:txBody>
      </p:sp>
      <p:sp>
        <p:nvSpPr>
          <p:cNvPr id="855" name="Google Shape;855;p9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fld id="{00000000-1234-1234-1234-123412341234}" type="slidenum">
              <a:rPr lang="en"/>
              <a:t>‹#›</a:t>
            </a:fld>
            <a:endParaRPr/>
          </a:p>
        </p:txBody>
      </p:sp>
      <p:pic>
        <p:nvPicPr>
          <p:cNvPr id="856" name="Google Shape;856;p95"/>
          <p:cNvPicPr preferRelativeResize="0"/>
          <p:nvPr/>
        </p:nvPicPr>
        <p:blipFill>
          <a:blip r:embed="rId4">
            <a:alphaModFix/>
          </a:blip>
          <a:stretch>
            <a:fillRect/>
          </a:stretch>
        </p:blipFill>
        <p:spPr>
          <a:xfrm>
            <a:off x="89811" y="748473"/>
            <a:ext cx="2939699" cy="1126750"/>
          </a:xfrm>
          <a:prstGeom prst="rect">
            <a:avLst/>
          </a:prstGeom>
          <a:noFill/>
          <a:ln>
            <a:noFill/>
          </a:ln>
        </p:spPr>
      </p:pic>
      <p:sp>
        <p:nvSpPr>
          <p:cNvPr id="857" name="Google Shape;857;p95"/>
          <p:cNvSpPr txBox="1"/>
          <p:nvPr/>
        </p:nvSpPr>
        <p:spPr>
          <a:xfrm>
            <a:off x="200811" y="1875223"/>
            <a:ext cx="27177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An </a:t>
            </a:r>
            <a:r>
              <a:rPr b="1" i="1" lang="en" sz="1100">
                <a:solidFill>
                  <a:srgbClr val="FF0000"/>
                </a:solidFill>
                <a:latin typeface="Roboto"/>
                <a:ea typeface="Roboto"/>
                <a:cs typeface="Roboto"/>
                <a:sym typeface="Roboto"/>
              </a:rPr>
              <a:t>association</a:t>
            </a:r>
            <a:r>
              <a:rPr lang="en" sz="1100">
                <a:solidFill>
                  <a:srgbClr val="FF0000"/>
                </a:solidFill>
                <a:latin typeface="Roboto"/>
                <a:ea typeface="Roboto"/>
                <a:cs typeface="Roboto"/>
                <a:sym typeface="Roboto"/>
              </a:rPr>
              <a:t> </a:t>
            </a:r>
            <a:r>
              <a:rPr lang="en" sz="1100">
                <a:latin typeface="Roboto"/>
                <a:ea typeface="Roboto"/>
                <a:cs typeface="Roboto"/>
                <a:sym typeface="Roboto"/>
              </a:rPr>
              <a:t>usually indicates </a:t>
            </a:r>
            <a:r>
              <a:rPr lang="en" sz="1100">
                <a:latin typeface="Roboto"/>
                <a:ea typeface="Roboto"/>
                <a:cs typeface="Roboto"/>
                <a:sym typeface="Roboto"/>
              </a:rPr>
              <a:t>that</a:t>
            </a:r>
            <a:r>
              <a:rPr lang="en" sz="1100">
                <a:latin typeface="Roboto"/>
                <a:ea typeface="Roboto"/>
                <a:cs typeface="Roboto"/>
                <a:sym typeface="Roboto"/>
              </a:rPr>
              <a:t> class </a:t>
            </a:r>
            <a:r>
              <a:rPr b="1" i="1" lang="en" sz="1100">
                <a:solidFill>
                  <a:srgbClr val="FF0000"/>
                </a:solidFill>
                <a:latin typeface="Roboto"/>
                <a:ea typeface="Roboto"/>
                <a:cs typeface="Roboto"/>
                <a:sym typeface="Roboto"/>
              </a:rPr>
              <a:t>A</a:t>
            </a:r>
            <a:r>
              <a:rPr lang="en" sz="1100">
                <a:latin typeface="Roboto"/>
                <a:ea typeface="Roboto"/>
                <a:cs typeface="Roboto"/>
                <a:sym typeface="Roboto"/>
              </a:rPr>
              <a:t> has a </a:t>
            </a:r>
            <a:r>
              <a:rPr b="1" i="1" lang="en" sz="1100">
                <a:solidFill>
                  <a:srgbClr val="FF0000"/>
                </a:solidFill>
                <a:latin typeface="Roboto"/>
                <a:ea typeface="Roboto"/>
                <a:cs typeface="Roboto"/>
                <a:sym typeface="Roboto"/>
              </a:rPr>
              <a:t>field </a:t>
            </a:r>
            <a:r>
              <a:rPr lang="en" sz="1100">
                <a:latin typeface="Roboto"/>
                <a:ea typeface="Roboto"/>
                <a:cs typeface="Roboto"/>
                <a:sym typeface="Roboto"/>
              </a:rPr>
              <a:t>of type </a:t>
            </a:r>
            <a:r>
              <a:rPr b="1" i="1" lang="en" sz="1100">
                <a:solidFill>
                  <a:srgbClr val="FF0000"/>
                </a:solidFill>
                <a:latin typeface="Roboto"/>
                <a:ea typeface="Roboto"/>
                <a:cs typeface="Roboto"/>
                <a:sym typeface="Roboto"/>
              </a:rPr>
              <a:t>B</a:t>
            </a:r>
            <a:r>
              <a:rPr lang="en" sz="1100">
                <a:latin typeface="Roboto"/>
                <a:ea typeface="Roboto"/>
                <a:cs typeface="Roboto"/>
                <a:sym typeface="Roboto"/>
              </a:rPr>
              <a:t>. </a:t>
            </a:r>
            <a:endParaRPr sz="1100">
              <a:latin typeface="Roboto"/>
              <a:ea typeface="Roboto"/>
              <a:cs typeface="Roboto"/>
              <a:sym typeface="Roboto"/>
            </a:endParaRPr>
          </a:p>
        </p:txBody>
      </p:sp>
      <p:sp>
        <p:nvSpPr>
          <p:cNvPr id="858" name="Google Shape;858;p95"/>
          <p:cNvSpPr txBox="1"/>
          <p:nvPr/>
        </p:nvSpPr>
        <p:spPr>
          <a:xfrm>
            <a:off x="200811" y="2490473"/>
            <a:ext cx="2717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Note the </a:t>
            </a:r>
            <a:r>
              <a:rPr b="1" i="1" lang="en" sz="1100">
                <a:solidFill>
                  <a:srgbClr val="FF0000"/>
                </a:solidFill>
              </a:rPr>
              <a:t>solid line</a:t>
            </a:r>
            <a:r>
              <a:rPr lang="en" sz="1100"/>
              <a:t> and that the arrow points </a:t>
            </a:r>
            <a:r>
              <a:rPr b="1" i="1" lang="en" sz="1100">
                <a:solidFill>
                  <a:srgbClr val="FF0000"/>
                </a:solidFill>
              </a:rPr>
              <a:t>from </a:t>
            </a:r>
            <a:r>
              <a:rPr lang="en" sz="1100"/>
              <a:t>A </a:t>
            </a:r>
            <a:r>
              <a:rPr b="1" i="1" lang="en" sz="1100">
                <a:solidFill>
                  <a:srgbClr val="FF0000"/>
                </a:solidFill>
              </a:rPr>
              <a:t>to</a:t>
            </a:r>
            <a:r>
              <a:rPr lang="en" sz="1100"/>
              <a:t> B because A needs B (not the other way around).</a:t>
            </a:r>
            <a:endParaRPr sz="1100"/>
          </a:p>
        </p:txBody>
      </p:sp>
      <p:sp>
        <p:nvSpPr>
          <p:cNvPr id="859" name="Google Shape;859;p95"/>
          <p:cNvSpPr txBox="1"/>
          <p:nvPr/>
        </p:nvSpPr>
        <p:spPr>
          <a:xfrm>
            <a:off x="3278975" y="1845275"/>
            <a:ext cx="27705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a:t>
            </a:r>
            <a:r>
              <a:rPr b="1" i="1" lang="en" sz="1100">
                <a:solidFill>
                  <a:srgbClr val="FF0000"/>
                </a:solidFill>
                <a:latin typeface="Roboto"/>
                <a:ea typeface="Roboto"/>
                <a:cs typeface="Roboto"/>
                <a:sym typeface="Roboto"/>
              </a:rPr>
              <a:t>dependency</a:t>
            </a:r>
            <a:r>
              <a:rPr lang="en" sz="1100">
                <a:solidFill>
                  <a:srgbClr val="FF0000"/>
                </a:solidFill>
                <a:latin typeface="Roboto"/>
                <a:ea typeface="Roboto"/>
                <a:cs typeface="Roboto"/>
                <a:sym typeface="Roboto"/>
              </a:rPr>
              <a:t> </a:t>
            </a:r>
            <a:r>
              <a:rPr lang="en" sz="1100">
                <a:latin typeface="Roboto"/>
                <a:ea typeface="Roboto"/>
                <a:cs typeface="Roboto"/>
                <a:sym typeface="Roboto"/>
              </a:rPr>
              <a:t>is weaker than an association and indicates that </a:t>
            </a:r>
            <a:r>
              <a:rPr b="1" i="1" lang="en" sz="1100">
                <a:solidFill>
                  <a:srgbClr val="FF0000"/>
                </a:solidFill>
                <a:latin typeface="Roboto"/>
                <a:ea typeface="Roboto"/>
                <a:cs typeface="Roboto"/>
                <a:sym typeface="Roboto"/>
              </a:rPr>
              <a:t>A</a:t>
            </a:r>
            <a:r>
              <a:rPr lang="en" sz="1100">
                <a:solidFill>
                  <a:srgbClr val="FF0000"/>
                </a:solidFill>
                <a:latin typeface="Roboto"/>
                <a:ea typeface="Roboto"/>
                <a:cs typeface="Roboto"/>
                <a:sym typeface="Roboto"/>
              </a:rPr>
              <a:t> </a:t>
            </a:r>
            <a:r>
              <a:rPr b="1" i="1" lang="en" sz="1100">
                <a:solidFill>
                  <a:srgbClr val="FF0000"/>
                </a:solidFill>
                <a:latin typeface="Roboto"/>
                <a:ea typeface="Roboto"/>
                <a:cs typeface="Roboto"/>
                <a:sym typeface="Roboto"/>
              </a:rPr>
              <a:t>uses</a:t>
            </a:r>
            <a:r>
              <a:rPr lang="en" sz="1100">
                <a:solidFill>
                  <a:srgbClr val="FF0000"/>
                </a:solidFill>
                <a:latin typeface="Roboto"/>
                <a:ea typeface="Roboto"/>
                <a:cs typeface="Roboto"/>
                <a:sym typeface="Roboto"/>
              </a:rPr>
              <a:t> </a:t>
            </a:r>
            <a:r>
              <a:rPr b="1" i="1" lang="en" sz="1100">
                <a:solidFill>
                  <a:srgbClr val="FF0000"/>
                </a:solidFill>
                <a:latin typeface="Roboto"/>
                <a:ea typeface="Roboto"/>
                <a:cs typeface="Roboto"/>
                <a:sym typeface="Roboto"/>
              </a:rPr>
              <a:t>B</a:t>
            </a:r>
            <a:r>
              <a:rPr lang="en" sz="1100">
                <a:latin typeface="Roboto"/>
                <a:ea typeface="Roboto"/>
                <a:cs typeface="Roboto"/>
                <a:sym typeface="Roboto"/>
              </a:rPr>
              <a:t> in some way, e.g. as a </a:t>
            </a:r>
            <a:r>
              <a:rPr b="1" i="1" lang="en" sz="1100">
                <a:solidFill>
                  <a:srgbClr val="FF0000"/>
                </a:solidFill>
                <a:latin typeface="Roboto"/>
                <a:ea typeface="Roboto"/>
                <a:cs typeface="Roboto"/>
                <a:sym typeface="Roboto"/>
              </a:rPr>
              <a:t>parameter</a:t>
            </a:r>
            <a:r>
              <a:rPr lang="en" sz="1100">
                <a:solidFill>
                  <a:srgbClr val="FF0000"/>
                </a:solidFill>
                <a:latin typeface="Roboto"/>
                <a:ea typeface="Roboto"/>
                <a:cs typeface="Roboto"/>
                <a:sym typeface="Roboto"/>
              </a:rPr>
              <a:t> </a:t>
            </a:r>
            <a:r>
              <a:rPr lang="en" sz="1100">
                <a:latin typeface="Roboto"/>
                <a:ea typeface="Roboto"/>
                <a:cs typeface="Roboto"/>
                <a:sym typeface="Roboto"/>
              </a:rPr>
              <a:t>or a </a:t>
            </a:r>
            <a:r>
              <a:rPr b="1" i="1" lang="en" sz="1100">
                <a:solidFill>
                  <a:srgbClr val="FF0000"/>
                </a:solidFill>
                <a:latin typeface="Roboto"/>
                <a:ea typeface="Roboto"/>
                <a:cs typeface="Roboto"/>
                <a:sym typeface="Roboto"/>
              </a:rPr>
              <a:t>return value</a:t>
            </a:r>
            <a:r>
              <a:rPr lang="en" sz="1100">
                <a:latin typeface="Roboto"/>
                <a:ea typeface="Roboto"/>
                <a:cs typeface="Roboto"/>
                <a:sym typeface="Roboto"/>
              </a:rPr>
              <a:t> but B is </a:t>
            </a:r>
            <a:r>
              <a:rPr b="1" i="1" lang="en" sz="1100">
                <a:solidFill>
                  <a:srgbClr val="FF0000"/>
                </a:solidFill>
                <a:latin typeface="Roboto"/>
                <a:ea typeface="Roboto"/>
                <a:cs typeface="Roboto"/>
                <a:sym typeface="Roboto"/>
              </a:rPr>
              <a:t>not</a:t>
            </a:r>
            <a:r>
              <a:rPr lang="en" sz="1100">
                <a:solidFill>
                  <a:srgbClr val="FF0000"/>
                </a:solidFill>
                <a:latin typeface="Roboto"/>
                <a:ea typeface="Roboto"/>
                <a:cs typeface="Roboto"/>
                <a:sym typeface="Roboto"/>
              </a:rPr>
              <a:t> </a:t>
            </a:r>
            <a:r>
              <a:rPr lang="en" sz="1100">
                <a:latin typeface="Roboto"/>
                <a:ea typeface="Roboto"/>
                <a:cs typeface="Roboto"/>
                <a:sym typeface="Roboto"/>
              </a:rPr>
              <a:t>part of the state of A.</a:t>
            </a:r>
            <a:endParaRPr sz="1100">
              <a:latin typeface="Roboto"/>
              <a:ea typeface="Roboto"/>
              <a:cs typeface="Roboto"/>
              <a:sym typeface="Roboto"/>
            </a:endParaRPr>
          </a:p>
        </p:txBody>
      </p:sp>
      <p:sp>
        <p:nvSpPr>
          <p:cNvPr id="860" name="Google Shape;860;p95"/>
          <p:cNvSpPr txBox="1"/>
          <p:nvPr/>
        </p:nvSpPr>
        <p:spPr>
          <a:xfrm>
            <a:off x="3278975" y="2837001"/>
            <a:ext cx="27705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Note the </a:t>
            </a:r>
            <a:r>
              <a:rPr b="1" i="1" lang="en" sz="1100">
                <a:solidFill>
                  <a:srgbClr val="FF0000"/>
                </a:solidFill>
                <a:latin typeface="Roboto"/>
                <a:ea typeface="Roboto"/>
                <a:cs typeface="Roboto"/>
                <a:sym typeface="Roboto"/>
              </a:rPr>
              <a:t>dashed line</a:t>
            </a:r>
            <a:r>
              <a:rPr lang="en" sz="1100">
                <a:latin typeface="Roboto"/>
                <a:ea typeface="Roboto"/>
                <a:cs typeface="Roboto"/>
                <a:sym typeface="Roboto"/>
              </a:rPr>
              <a:t> and that the arrow points in the direction of dependency: A depends on B (not the other way around).</a:t>
            </a:r>
            <a:endParaRPr sz="1100">
              <a:latin typeface="Roboto"/>
              <a:ea typeface="Roboto"/>
              <a:cs typeface="Roboto"/>
              <a:sym typeface="Roboto"/>
            </a:endParaRPr>
          </a:p>
        </p:txBody>
      </p:sp>
      <p:pic>
        <p:nvPicPr>
          <p:cNvPr id="861" name="Google Shape;861;p95"/>
          <p:cNvPicPr preferRelativeResize="0"/>
          <p:nvPr/>
        </p:nvPicPr>
        <p:blipFill>
          <a:blip r:embed="rId5">
            <a:alphaModFix/>
          </a:blip>
          <a:stretch>
            <a:fillRect/>
          </a:stretch>
        </p:blipFill>
        <p:spPr>
          <a:xfrm>
            <a:off x="3187800" y="815950"/>
            <a:ext cx="2939701" cy="931879"/>
          </a:xfrm>
          <a:prstGeom prst="rect">
            <a:avLst/>
          </a:prstGeom>
          <a:noFill/>
          <a:ln>
            <a:noFill/>
          </a:ln>
        </p:spPr>
      </p:pic>
      <p:grpSp>
        <p:nvGrpSpPr>
          <p:cNvPr id="862" name="Google Shape;862;p95"/>
          <p:cNvGrpSpPr/>
          <p:nvPr/>
        </p:nvGrpSpPr>
        <p:grpSpPr>
          <a:xfrm>
            <a:off x="6705748" y="1385000"/>
            <a:ext cx="1909200" cy="1909200"/>
            <a:chOff x="6923100" y="916475"/>
            <a:chExt cx="1909200" cy="1909200"/>
          </a:xfrm>
        </p:grpSpPr>
        <p:sp>
          <p:nvSpPr>
            <p:cNvPr id="863" name="Google Shape;863;p95"/>
            <p:cNvSpPr/>
            <p:nvPr/>
          </p:nvSpPr>
          <p:spPr>
            <a:xfrm>
              <a:off x="6923100" y="916475"/>
              <a:ext cx="1909200" cy="1909200"/>
            </a:xfrm>
            <a:prstGeom prst="noSmoking">
              <a:avLst>
                <a:gd fmla="val 5002" name="adj"/>
              </a:avLst>
            </a:prstGeom>
            <a:solidFill>
              <a:srgbClr val="FF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4" name="Google Shape;864;p95"/>
            <p:cNvCxnSpPr/>
            <p:nvPr/>
          </p:nvCxnSpPr>
          <p:spPr>
            <a:xfrm>
              <a:off x="7913625" y="1489900"/>
              <a:ext cx="606600" cy="0"/>
            </a:xfrm>
            <a:prstGeom prst="straightConnector1">
              <a:avLst/>
            </a:prstGeom>
            <a:noFill/>
            <a:ln cap="flat" cmpd="sng" w="76200">
              <a:solidFill>
                <a:srgbClr val="000000"/>
              </a:solidFill>
              <a:prstDash val="solid"/>
              <a:round/>
              <a:headEnd len="med" w="med" type="none"/>
              <a:tailEnd len="med" w="med" type="triangle"/>
            </a:ln>
          </p:spPr>
        </p:cxnSp>
        <p:cxnSp>
          <p:nvCxnSpPr>
            <p:cNvPr id="865" name="Google Shape;865;p95"/>
            <p:cNvCxnSpPr/>
            <p:nvPr/>
          </p:nvCxnSpPr>
          <p:spPr>
            <a:xfrm>
              <a:off x="7419650" y="2302475"/>
              <a:ext cx="606600" cy="0"/>
            </a:xfrm>
            <a:prstGeom prst="straightConnector1">
              <a:avLst/>
            </a:prstGeom>
            <a:noFill/>
            <a:ln cap="flat" cmpd="sng" w="76200">
              <a:solidFill>
                <a:srgbClr val="000000"/>
              </a:solidFill>
              <a:prstDash val="solid"/>
              <a:round/>
              <a:headEnd len="med" w="med" type="none"/>
              <a:tailEnd len="med" w="med" type="stealth"/>
            </a:ln>
          </p:spPr>
        </p:cxnSp>
      </p:grpSp>
      <p:sp>
        <p:nvSpPr>
          <p:cNvPr id="866" name="Google Shape;866;p95"/>
          <p:cNvSpPr txBox="1"/>
          <p:nvPr/>
        </p:nvSpPr>
        <p:spPr>
          <a:xfrm>
            <a:off x="6409950" y="3436150"/>
            <a:ext cx="25008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These kinds of arrows are </a:t>
            </a:r>
            <a:r>
              <a:rPr b="1" i="1" lang="en" sz="1100">
                <a:solidFill>
                  <a:srgbClr val="FF0000"/>
                </a:solidFill>
                <a:latin typeface="Roboto"/>
                <a:ea typeface="Roboto"/>
                <a:cs typeface="Roboto"/>
                <a:sym typeface="Roboto"/>
              </a:rPr>
              <a:t>never</a:t>
            </a:r>
            <a:r>
              <a:rPr lang="en" sz="1100">
                <a:solidFill>
                  <a:srgbClr val="FF0000"/>
                </a:solidFill>
                <a:latin typeface="Roboto"/>
                <a:ea typeface="Roboto"/>
                <a:cs typeface="Roboto"/>
                <a:sym typeface="Roboto"/>
              </a:rPr>
              <a:t> </a:t>
            </a:r>
            <a:r>
              <a:rPr lang="en" sz="1100">
                <a:latin typeface="Roboto"/>
                <a:ea typeface="Roboto"/>
                <a:cs typeface="Roboto"/>
                <a:sym typeface="Roboto"/>
              </a:rPr>
              <a:t>used in UML class diagrams.</a:t>
            </a:r>
            <a:endParaRPr sz="1100">
              <a:latin typeface="Roboto"/>
              <a:ea typeface="Roboto"/>
              <a:cs typeface="Roboto"/>
              <a:sym typeface="Roboto"/>
            </a:endParaRPr>
          </a:p>
        </p:txBody>
      </p:sp>
      <p:sp>
        <p:nvSpPr>
          <p:cNvPr id="867" name="Google Shape;867;p95"/>
          <p:cNvSpPr txBox="1"/>
          <p:nvPr/>
        </p:nvSpPr>
        <p:spPr>
          <a:xfrm>
            <a:off x="154586" y="4360025"/>
            <a:ext cx="27177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t>The absence of an arrow indicates that the association is </a:t>
            </a:r>
            <a:r>
              <a:rPr b="1" i="1" lang="en" sz="1100">
                <a:solidFill>
                  <a:srgbClr val="FF0000"/>
                </a:solidFill>
              </a:rPr>
              <a:t>undirected</a:t>
            </a:r>
            <a:r>
              <a:rPr lang="en" sz="1100">
                <a:solidFill>
                  <a:srgbClr val="FF0000"/>
                </a:solidFill>
              </a:rPr>
              <a:t> </a:t>
            </a:r>
            <a:r>
              <a:rPr lang="en" sz="1100"/>
              <a:t>- both classes use </a:t>
            </a:r>
            <a:r>
              <a:rPr b="1" i="1" lang="en" sz="1100">
                <a:solidFill>
                  <a:srgbClr val="FF0000"/>
                </a:solidFill>
              </a:rPr>
              <a:t>each other</a:t>
            </a:r>
            <a:r>
              <a:rPr lang="en" sz="1100"/>
              <a:t>.</a:t>
            </a:r>
            <a:endParaRPr sz="1100"/>
          </a:p>
        </p:txBody>
      </p:sp>
      <p:sp>
        <p:nvSpPr>
          <p:cNvPr id="868" name="Google Shape;868;p95"/>
          <p:cNvSpPr txBox="1"/>
          <p:nvPr/>
        </p:nvSpPr>
        <p:spPr>
          <a:xfrm>
            <a:off x="3272400" y="3659526"/>
            <a:ext cx="27705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A dependency may also be undirected if both classes use each other. In that case there is no arrow on the dashed line.</a:t>
            </a:r>
            <a:endParaRPr sz="11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1000"/>
                                        <p:tgtEl>
                                          <p:spTgt spid="857"/>
                                        </p:tgtEl>
                                      </p:cBhvr>
                                    </p:animEffect>
                                  </p:childTnLst>
                                </p:cTn>
                              </p:par>
                              <p:par>
                                <p:cTn fill="hold" nodeType="with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1000"/>
                                        <p:tgtEl>
                                          <p:spTgt spid="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1000"/>
                                        <p:tgtEl>
                                          <p:spTgt spid="867"/>
                                        </p:tgtEl>
                                      </p:cBhvr>
                                    </p:animEffect>
                                  </p:childTnLst>
                                </p:cTn>
                              </p:par>
                              <p:par>
                                <p:cTn fill="hold" nodeType="with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1000"/>
                                        <p:tgtEl>
                                          <p:spTgt spid="8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1000"/>
                                        <p:tgtEl>
                                          <p:spTgt spid="859"/>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1100"/>
                                        <p:tgtEl>
                                          <p:spTgt spid="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1000"/>
                                        <p:tgtEl>
                                          <p:spTgt spid="866"/>
                                        </p:tgtEl>
                                      </p:cBhvr>
                                    </p:animEffect>
                                  </p:childTnLst>
                                </p:cTn>
                              </p:par>
                              <p:par>
                                <p:cTn fill="hold" nodeType="with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000"/>
                                        <p:tgtEl>
                                          <p:spTgt spid="8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9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It is usually not enough to represent individual classes in a UML class diagram. The relationships (associations, dependencies, etc.) between classes must also be represented. Let's practice by updating your UML class diagram to include the correct relationships between classes.</a:t>
            </a:r>
            <a:endParaRPr/>
          </a:p>
        </p:txBody>
      </p:sp>
      <p:sp>
        <p:nvSpPr>
          <p:cNvPr id="874" name="Google Shape;874;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5" name="Google Shape;875;p96"/>
          <p:cNvSpPr txBox="1"/>
          <p:nvPr>
            <p:ph idx="2" type="body"/>
          </p:nvPr>
        </p:nvSpPr>
        <p:spPr>
          <a:xfrm>
            <a:off x="3466425" y="1814150"/>
            <a:ext cx="5414700" cy="2832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Connect the </a:t>
            </a:r>
            <a:r>
              <a:rPr lang="en">
                <a:latin typeface="Courier New"/>
                <a:ea typeface="Courier New"/>
                <a:cs typeface="Courier New"/>
                <a:sym typeface="Courier New"/>
              </a:rPr>
              <a:t>Ship</a:t>
            </a:r>
            <a:r>
              <a:rPr lang="en"/>
              <a:t> and </a:t>
            </a:r>
            <a:r>
              <a:rPr lang="en">
                <a:latin typeface="Courier New"/>
                <a:ea typeface="Courier New"/>
                <a:cs typeface="Courier New"/>
                <a:sym typeface="Courier New"/>
              </a:rPr>
              <a:t>Weapon</a:t>
            </a:r>
            <a:r>
              <a:rPr lang="en"/>
              <a:t> classes using the correct kind of UML relationship.</a:t>
            </a:r>
            <a:endParaRPr/>
          </a:p>
          <a:p>
            <a:pPr indent="-298450" lvl="1" marL="914400" rtl="0" algn="l">
              <a:spcBef>
                <a:spcPts val="0"/>
              </a:spcBef>
              <a:spcAft>
                <a:spcPts val="0"/>
              </a:spcAft>
              <a:buSzPts val="1100"/>
              <a:buChar char="○"/>
            </a:pPr>
            <a:r>
              <a:rPr lang="en"/>
              <a:t>Refer to the </a:t>
            </a:r>
            <a:r>
              <a:rPr lang="en" u="sng">
                <a:solidFill>
                  <a:schemeClr val="hlink"/>
                </a:solidFill>
                <a:hlinkClick action="ppaction://hlinksldjump" r:id="rId3"/>
              </a:rPr>
              <a:t>Basic UML Relationships</a:t>
            </a:r>
            <a:r>
              <a:rPr lang="en"/>
              <a:t> and decide which you think is most appropriate.</a:t>
            </a:r>
            <a:endParaRPr/>
          </a:p>
          <a:p>
            <a:pPr indent="-298450" lvl="1" marL="914400" rtl="0" algn="l">
              <a:spcBef>
                <a:spcPts val="0"/>
              </a:spcBef>
              <a:spcAft>
                <a:spcPts val="0"/>
              </a:spcAft>
              <a:buSzPts val="1100"/>
              <a:buChar char="○"/>
            </a:pPr>
            <a:r>
              <a:rPr lang="en"/>
              <a:t>Should it be directed or undirected?</a:t>
            </a:r>
            <a:endParaRPr/>
          </a:p>
          <a:p>
            <a:pPr indent="-298450" lvl="1" marL="914400" rtl="0" algn="l">
              <a:spcBef>
                <a:spcPts val="0"/>
              </a:spcBef>
              <a:spcAft>
                <a:spcPts val="0"/>
              </a:spcAft>
              <a:buSzPts val="1100"/>
              <a:buChar char="○"/>
            </a:pPr>
            <a:r>
              <a:rPr lang="en"/>
              <a:t>Once you have decided, use the UML palette to drag the correct kind of arrow into your diagram.</a:t>
            </a:r>
            <a:endParaRPr/>
          </a:p>
          <a:p>
            <a:pPr indent="-298450" lvl="1" marL="914400" rtl="0" algn="l">
              <a:spcBef>
                <a:spcPts val="0"/>
              </a:spcBef>
              <a:spcAft>
                <a:spcPts val="0"/>
              </a:spcAft>
              <a:buSzPts val="1100"/>
              <a:buChar char="○"/>
            </a:pPr>
            <a:r>
              <a:rPr lang="en"/>
              <a:t> Click the arrow to select it and drag the anchors to connect your two classes together.</a:t>
            </a:r>
            <a:endParaRPr/>
          </a:p>
          <a:p>
            <a:pPr indent="-311150" lvl="0" marL="457200" rtl="0" algn="l">
              <a:spcBef>
                <a:spcPts val="0"/>
              </a:spcBef>
              <a:spcAft>
                <a:spcPts val="0"/>
              </a:spcAft>
              <a:buSzPts val="1300"/>
              <a:buChar char="●"/>
            </a:pPr>
            <a:r>
              <a:rPr lang="en"/>
              <a:t>Next, add classes to represent the </a:t>
            </a:r>
            <a:r>
              <a:rPr lang="en">
                <a:latin typeface="Courier New"/>
                <a:ea typeface="Courier New"/>
                <a:cs typeface="Courier New"/>
                <a:sym typeface="Courier New"/>
              </a:rPr>
              <a:t>DamageType</a:t>
            </a:r>
            <a:r>
              <a:rPr lang="en"/>
              <a:t> </a:t>
            </a:r>
            <a:r>
              <a:rPr lang="en">
                <a:latin typeface="Courier New"/>
                <a:ea typeface="Courier New"/>
                <a:cs typeface="Courier New"/>
                <a:sym typeface="Courier New"/>
              </a:rPr>
              <a:t>enum</a:t>
            </a:r>
            <a:r>
              <a:rPr lang="en"/>
              <a:t> and  </a:t>
            </a:r>
            <a:r>
              <a:rPr lang="en">
                <a:latin typeface="Courier New"/>
                <a:ea typeface="Courier New"/>
                <a:cs typeface="Courier New"/>
                <a:sym typeface="Courier New"/>
              </a:rPr>
              <a:t>StarWarsBattle</a:t>
            </a:r>
            <a:r>
              <a:rPr lang="en"/>
              <a:t>.</a:t>
            </a:r>
            <a:endParaRPr/>
          </a:p>
          <a:p>
            <a:pPr indent="-298450" lvl="1" marL="914400" rtl="0" algn="l">
              <a:spcBef>
                <a:spcPts val="0"/>
              </a:spcBef>
              <a:spcAft>
                <a:spcPts val="0"/>
              </a:spcAft>
              <a:buSzPts val="1100"/>
              <a:buChar char="○"/>
            </a:pPr>
            <a:r>
              <a:rPr lang="en"/>
              <a:t>Connect them to the other classes in your diagram using the correct UML relationships.</a:t>
            </a:r>
            <a:endParaRPr/>
          </a:p>
        </p:txBody>
      </p:sp>
      <p:sp>
        <p:nvSpPr>
          <p:cNvPr id="876" name="Google Shape;876;p9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Adding Relationships</a:t>
            </a:r>
            <a:endParaRPr/>
          </a:p>
        </p:txBody>
      </p:sp>
      <p:sp>
        <p:nvSpPr>
          <p:cNvPr id="877" name="Google Shape;877;p9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2.17</a:t>
            </a:r>
            <a:endParaRPr/>
          </a:p>
        </p:txBody>
      </p:sp>
      <p:sp>
        <p:nvSpPr>
          <p:cNvPr id="878" name="Google Shape;878;p96"/>
          <p:cNvSpPr txBox="1"/>
          <p:nvPr>
            <p:ph idx="4" type="body"/>
          </p:nvPr>
        </p:nvSpPr>
        <p:spPr>
          <a:xfrm>
            <a:off x="141600" y="3969725"/>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There are many different kinds of relationships in UML. We will explore more later this semester.</a:t>
            </a:r>
            <a:endParaRPr/>
          </a:p>
        </p:txBody>
      </p:sp>
      <p:pic>
        <p:nvPicPr>
          <p:cNvPr id="879" name="Google Shape;879;p96"/>
          <p:cNvPicPr preferRelativeResize="0"/>
          <p:nvPr/>
        </p:nvPicPr>
        <p:blipFill>
          <a:blip r:embed="rId4">
            <a:alphaModFix/>
          </a:blip>
          <a:stretch>
            <a:fillRect/>
          </a:stretch>
        </p:blipFill>
        <p:spPr>
          <a:xfrm>
            <a:off x="183611" y="1820110"/>
            <a:ext cx="2939699" cy="1126750"/>
          </a:xfrm>
          <a:prstGeom prst="rect">
            <a:avLst/>
          </a:prstGeom>
          <a:noFill/>
          <a:ln>
            <a:noFill/>
          </a:ln>
        </p:spPr>
      </p:pic>
      <p:pic>
        <p:nvPicPr>
          <p:cNvPr id="880" name="Google Shape;880;p96"/>
          <p:cNvPicPr preferRelativeResize="0"/>
          <p:nvPr/>
        </p:nvPicPr>
        <p:blipFill>
          <a:blip r:embed="rId5">
            <a:alphaModFix/>
          </a:blip>
          <a:stretch>
            <a:fillRect/>
          </a:stretch>
        </p:blipFill>
        <p:spPr>
          <a:xfrm>
            <a:off x="183600" y="2946863"/>
            <a:ext cx="2939701" cy="93187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97"/>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practice some of the basics! The number of days in a year is usually 365, but a leap year has one extra day. </a:t>
            </a:r>
            <a:r>
              <a:rPr lang="en"/>
              <a:t>Write class that provides a method that, given a year number, returns the number of days in that year.</a:t>
            </a:r>
            <a:endParaRPr/>
          </a:p>
        </p:txBody>
      </p:sp>
      <p:sp>
        <p:nvSpPr>
          <p:cNvPr id="886" name="Google Shape;886;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7" name="Google Shape;887;p97"/>
          <p:cNvSpPr txBox="1"/>
          <p:nvPr>
            <p:ph idx="2" type="body"/>
          </p:nvPr>
        </p:nvSpPr>
        <p:spPr>
          <a:xfrm>
            <a:off x="3414050" y="1605625"/>
            <a:ext cx="5534400" cy="3057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in a file named "</a:t>
            </a:r>
            <a:r>
              <a:rPr lang="en">
                <a:solidFill>
                  <a:srgbClr val="FF0000"/>
                </a:solidFill>
                <a:latin typeface="Courier New"/>
                <a:ea typeface="Courier New"/>
                <a:cs typeface="Courier New"/>
                <a:sym typeface="Courier New"/>
              </a:rPr>
              <a:t>Year.java</a:t>
            </a:r>
            <a:r>
              <a:rPr lang="en"/>
              <a:t>".</a:t>
            </a:r>
            <a:endParaRPr/>
          </a:p>
          <a:p>
            <a:pPr indent="-298450" lvl="1" marL="914400" rtl="0" algn="l">
              <a:spcBef>
                <a:spcPts val="0"/>
              </a:spcBef>
              <a:spcAft>
                <a:spcPts val="0"/>
              </a:spcAft>
              <a:buSzPts val="1100"/>
              <a:buChar char="○"/>
            </a:pPr>
            <a:r>
              <a:rPr b="1" i="1" lang="en">
                <a:solidFill>
                  <a:srgbClr val="FF0000"/>
                </a:solidFill>
              </a:rPr>
              <a:t>Add</a:t>
            </a:r>
            <a:r>
              <a:rPr lang="en">
                <a:solidFill>
                  <a:srgbClr val="FF0000"/>
                </a:solidFill>
              </a:rPr>
              <a:t> </a:t>
            </a:r>
            <a:r>
              <a:rPr lang="en"/>
              <a:t>a </a:t>
            </a:r>
            <a:r>
              <a:rPr lang="en">
                <a:solidFill>
                  <a:srgbClr val="FF0000"/>
                </a:solidFill>
                <a:latin typeface="Courier New"/>
                <a:ea typeface="Courier New"/>
                <a:cs typeface="Courier New"/>
                <a:sym typeface="Courier New"/>
              </a:rPr>
              <a:t>static</a:t>
            </a:r>
            <a:r>
              <a:rPr lang="en">
                <a:solidFill>
                  <a:srgbClr val="FF0000"/>
                </a:solidFill>
              </a:rPr>
              <a:t> </a:t>
            </a:r>
            <a:r>
              <a:rPr b="1" i="1" lang="en">
                <a:solidFill>
                  <a:srgbClr val="FF0000"/>
                </a:solidFill>
              </a:rPr>
              <a:t>field </a:t>
            </a:r>
            <a:r>
              <a:rPr lang="en"/>
              <a:t>named </a:t>
            </a:r>
            <a:r>
              <a:rPr lang="en">
                <a:solidFill>
                  <a:srgbClr val="FF0000"/>
                </a:solidFill>
                <a:latin typeface="Courier New"/>
                <a:ea typeface="Courier New"/>
                <a:cs typeface="Courier New"/>
                <a:sym typeface="Courier New"/>
              </a:rPr>
              <a:t>DAYS_IN_YEAR</a:t>
            </a:r>
            <a:r>
              <a:rPr lang="en">
                <a:solidFill>
                  <a:srgbClr val="FF0000"/>
                </a:solidFill>
              </a:rPr>
              <a:t> </a:t>
            </a:r>
            <a:r>
              <a:rPr lang="en"/>
              <a:t>to hold the number of days in a typical year, i.e. </a:t>
            </a:r>
            <a:r>
              <a:rPr lang="en">
                <a:solidFill>
                  <a:srgbClr val="FF0000"/>
                </a:solidFill>
                <a:latin typeface="Courier New"/>
                <a:ea typeface="Courier New"/>
                <a:cs typeface="Courier New"/>
                <a:sym typeface="Courier New"/>
              </a:rPr>
              <a:t>365</a:t>
            </a:r>
            <a:r>
              <a:rPr lang="en"/>
              <a:t>.</a:t>
            </a:r>
            <a:endParaRPr/>
          </a:p>
          <a:p>
            <a:pPr indent="-298450" lvl="1" marL="914400" rtl="0" algn="l">
              <a:spcBef>
                <a:spcPts val="0"/>
              </a:spcBef>
              <a:spcAft>
                <a:spcPts val="0"/>
              </a:spcAft>
              <a:buSzPts val="1100"/>
              <a:buChar char="○"/>
            </a:pPr>
            <a:r>
              <a:rPr b="1" i="1" lang="en">
                <a:solidFill>
                  <a:srgbClr val="FF0000"/>
                </a:solidFill>
              </a:rPr>
              <a:t>Define </a:t>
            </a:r>
            <a:r>
              <a:rPr lang="en"/>
              <a:t>a </a:t>
            </a:r>
            <a:r>
              <a:rPr lang="en">
                <a:solidFill>
                  <a:srgbClr val="FF0000"/>
                </a:solidFill>
                <a:latin typeface="Courier New"/>
                <a:ea typeface="Courier New"/>
                <a:cs typeface="Courier New"/>
                <a:sym typeface="Courier New"/>
              </a:rPr>
              <a:t>static</a:t>
            </a:r>
            <a:r>
              <a:rPr lang="en">
                <a:solidFill>
                  <a:srgbClr val="FF0000"/>
                </a:solidFill>
              </a:rPr>
              <a:t> </a:t>
            </a:r>
            <a:r>
              <a:rPr lang="en"/>
              <a:t>method</a:t>
            </a:r>
            <a:r>
              <a:rPr lang="en"/>
              <a:t> called "</a:t>
            </a:r>
            <a:r>
              <a:rPr lang="en">
                <a:solidFill>
                  <a:srgbClr val="FF0000"/>
                </a:solidFill>
                <a:latin typeface="Courier New"/>
                <a:ea typeface="Courier New"/>
                <a:cs typeface="Courier New"/>
                <a:sym typeface="Courier New"/>
              </a:rPr>
              <a:t>daysInYear</a:t>
            </a:r>
            <a:r>
              <a:rPr lang="en"/>
              <a:t>" that, given an </a:t>
            </a:r>
            <a:r>
              <a:rPr lang="en">
                <a:latin typeface="Courier New"/>
                <a:ea typeface="Courier New"/>
                <a:cs typeface="Courier New"/>
                <a:sym typeface="Courier New"/>
              </a:rPr>
              <a:t>int</a:t>
            </a:r>
            <a:r>
              <a:rPr lang="en"/>
              <a:t> year, will return the correct number of days in that year. A </a:t>
            </a:r>
            <a:r>
              <a:rPr b="1" i="1" lang="en">
                <a:solidFill>
                  <a:srgbClr val="FF0000"/>
                </a:solidFill>
              </a:rPr>
              <a:t>leap year</a:t>
            </a:r>
            <a:r>
              <a:rPr lang="en"/>
              <a:t> is any year that:</a:t>
            </a:r>
            <a:endParaRPr/>
          </a:p>
          <a:p>
            <a:pPr indent="-298450" lvl="2" marL="1371600" rtl="0" algn="l">
              <a:spcBef>
                <a:spcPts val="0"/>
              </a:spcBef>
              <a:spcAft>
                <a:spcPts val="0"/>
              </a:spcAft>
              <a:buSzPts val="1100"/>
              <a:buChar char="■"/>
            </a:pPr>
            <a:r>
              <a:rPr b="1" i="1" lang="en">
                <a:solidFill>
                  <a:srgbClr val="FF0000"/>
                </a:solidFill>
              </a:rPr>
              <a:t>Is </a:t>
            </a:r>
            <a:r>
              <a:rPr lang="en"/>
              <a:t>divisible by </a:t>
            </a:r>
            <a:r>
              <a:rPr lang="en">
                <a:solidFill>
                  <a:srgbClr val="FF0000"/>
                </a:solidFill>
              </a:rPr>
              <a:t>400</a:t>
            </a:r>
            <a:r>
              <a:rPr lang="en"/>
              <a:t>.</a:t>
            </a:r>
            <a:endParaRPr/>
          </a:p>
          <a:p>
            <a:pPr indent="-298450" lvl="2" marL="1371600" rtl="0" algn="l">
              <a:spcBef>
                <a:spcPts val="0"/>
              </a:spcBef>
              <a:spcAft>
                <a:spcPts val="0"/>
              </a:spcAft>
              <a:buSzPts val="1100"/>
              <a:buChar char="■"/>
            </a:pPr>
            <a:r>
              <a:rPr b="1" i="1" lang="en">
                <a:solidFill>
                  <a:srgbClr val="FF0000"/>
                </a:solidFill>
              </a:rPr>
              <a:t>Is</a:t>
            </a:r>
            <a:r>
              <a:rPr lang="en">
                <a:solidFill>
                  <a:srgbClr val="FF0000"/>
                </a:solidFill>
              </a:rPr>
              <a:t> </a:t>
            </a:r>
            <a:r>
              <a:rPr lang="en"/>
              <a:t>divisible by</a:t>
            </a:r>
            <a:r>
              <a:rPr lang="en">
                <a:solidFill>
                  <a:srgbClr val="FF0000"/>
                </a:solidFill>
              </a:rPr>
              <a:t> 4</a:t>
            </a:r>
            <a:r>
              <a:rPr lang="en"/>
              <a:t> but </a:t>
            </a:r>
            <a:r>
              <a:rPr b="1" i="1" lang="en">
                <a:solidFill>
                  <a:srgbClr val="FF0000"/>
                </a:solidFill>
              </a:rPr>
              <a:t>not</a:t>
            </a:r>
            <a:r>
              <a:rPr lang="en">
                <a:solidFill>
                  <a:srgbClr val="FF0000"/>
                </a:solidFill>
              </a:rPr>
              <a:t> </a:t>
            </a:r>
            <a:r>
              <a:rPr lang="en"/>
              <a:t>divisible by </a:t>
            </a:r>
            <a:r>
              <a:rPr lang="en">
                <a:solidFill>
                  <a:srgbClr val="FF0000"/>
                </a:solidFill>
              </a:rPr>
              <a:t>100</a:t>
            </a:r>
            <a:r>
              <a:rPr lang="en"/>
              <a:t>. </a:t>
            </a:r>
            <a:endParaRPr/>
          </a:p>
          <a:p>
            <a:pPr indent="-311150" lvl="0" marL="457200" rtl="0" algn="l">
              <a:spcBef>
                <a:spcPts val="0"/>
              </a:spcBef>
              <a:spcAft>
                <a:spcPts val="0"/>
              </a:spcAft>
              <a:buSzPts val="1300"/>
              <a:buChar char="●"/>
            </a:pPr>
            <a:r>
              <a:rPr lang="en"/>
              <a:t>Define</a:t>
            </a:r>
            <a:r>
              <a:rPr lang="en"/>
              <a:t>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a:t>
            </a:r>
            <a:endParaRPr/>
          </a:p>
          <a:p>
            <a:pPr indent="-298450" lvl="1" marL="914400" rtl="0" algn="l">
              <a:spcBef>
                <a:spcPts val="0"/>
              </a:spcBef>
              <a:spcAft>
                <a:spcPts val="0"/>
              </a:spcAft>
              <a:buSzPts val="1100"/>
              <a:buChar char="○"/>
            </a:pPr>
            <a:r>
              <a:rPr b="1" i="1" lang="en">
                <a:solidFill>
                  <a:srgbClr val="FF0000"/>
                </a:solidFill>
              </a:rPr>
              <a:t>Call </a:t>
            </a:r>
            <a:r>
              <a:rPr lang="en"/>
              <a:t>your </a:t>
            </a:r>
            <a:r>
              <a:rPr lang="en">
                <a:latin typeface="Courier New"/>
                <a:ea typeface="Courier New"/>
                <a:cs typeface="Courier New"/>
                <a:sym typeface="Courier New"/>
              </a:rPr>
              <a:t>daysInYear</a:t>
            </a:r>
            <a:r>
              <a:rPr lang="en"/>
              <a:t> method with several different years and print the results, e.g. </a:t>
            </a:r>
            <a:r>
              <a:rPr lang="en">
                <a:latin typeface="Courier New"/>
                <a:ea typeface="Courier New"/>
                <a:cs typeface="Courier New"/>
                <a:sym typeface="Courier New"/>
              </a:rPr>
              <a:t>"Days in 2021: 365"</a:t>
            </a:r>
            <a:r>
              <a:rPr lang="en"/>
              <a:t>.</a:t>
            </a:r>
            <a:endParaRPr/>
          </a:p>
          <a:p>
            <a:pPr indent="-311150" lvl="0" marL="457200" rtl="0" algn="l">
              <a:spcBef>
                <a:spcPts val="0"/>
              </a:spcBef>
              <a:spcAft>
                <a:spcPts val="0"/>
              </a:spcAft>
              <a:buSzPts val="1300"/>
              <a:buChar char="●"/>
            </a:pPr>
            <a:r>
              <a:rPr b="1" i="1" lang="en">
                <a:solidFill>
                  <a:srgbClr val="FF0000"/>
                </a:solidFill>
              </a:rPr>
              <a:t>Run</a:t>
            </a:r>
            <a:r>
              <a:rPr lang="en">
                <a:solidFill>
                  <a:srgbClr val="FF0000"/>
                </a:solidFill>
              </a:rPr>
              <a:t> </a:t>
            </a:r>
            <a:r>
              <a:rPr lang="en"/>
              <a:t>your class to make sure that it works correctly.</a:t>
            </a:r>
            <a:endParaRPr/>
          </a:p>
          <a:p>
            <a:pPr indent="-311150" lvl="0" marL="457200" rtl="0" algn="l">
              <a:spcBef>
                <a:spcPts val="0"/>
              </a:spcBef>
              <a:spcAft>
                <a:spcPts val="0"/>
              </a:spcAft>
              <a:buSzPts val="1300"/>
              <a:buChar char="●"/>
            </a:pPr>
            <a:r>
              <a:rPr lang="en"/>
              <a:t>What happens if you </a:t>
            </a:r>
            <a:r>
              <a:rPr b="1" i="1" lang="en">
                <a:solidFill>
                  <a:srgbClr val="FF0000"/>
                </a:solidFill>
              </a:rPr>
              <a:t>change</a:t>
            </a:r>
            <a:r>
              <a:rPr lang="en">
                <a:solidFill>
                  <a:srgbClr val="FF0000"/>
                </a:solidFill>
              </a:rPr>
              <a:t> </a:t>
            </a:r>
            <a:r>
              <a:rPr lang="en">
                <a:latin typeface="Courier New"/>
                <a:ea typeface="Courier New"/>
                <a:cs typeface="Courier New"/>
                <a:sym typeface="Courier New"/>
              </a:rPr>
              <a:t>DAYS_IN_YEAR</a:t>
            </a:r>
            <a:r>
              <a:rPr lang="en"/>
              <a:t> from your </a:t>
            </a:r>
            <a:r>
              <a:rPr lang="en">
                <a:latin typeface="Courier New"/>
                <a:ea typeface="Courier New"/>
                <a:cs typeface="Courier New"/>
                <a:sym typeface="Courier New"/>
              </a:rPr>
              <a:t>main</a:t>
            </a:r>
            <a:r>
              <a:rPr lang="en"/>
              <a:t> method </a:t>
            </a:r>
            <a:r>
              <a:rPr b="1" i="1" lang="en">
                <a:solidFill>
                  <a:srgbClr val="FF0000"/>
                </a:solidFill>
              </a:rPr>
              <a:t>before </a:t>
            </a:r>
            <a:r>
              <a:rPr lang="en"/>
              <a:t>calling the </a:t>
            </a:r>
            <a:r>
              <a:rPr lang="en">
                <a:latin typeface="Courier New"/>
                <a:ea typeface="Courier New"/>
                <a:cs typeface="Courier New"/>
                <a:sym typeface="Courier New"/>
              </a:rPr>
              <a:t>daysInYear</a:t>
            </a:r>
            <a:r>
              <a:rPr lang="en"/>
              <a:t> method?</a:t>
            </a:r>
            <a:endParaRPr/>
          </a:p>
        </p:txBody>
      </p:sp>
      <p:sp>
        <p:nvSpPr>
          <p:cNvPr id="888" name="Google Shape;888;p9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Days in a Year</a:t>
            </a:r>
            <a:endParaRPr/>
          </a:p>
        </p:txBody>
      </p:sp>
      <p:sp>
        <p:nvSpPr>
          <p:cNvPr id="889" name="Google Shape;889;p9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2.18</a:t>
            </a:r>
            <a:endParaRPr/>
          </a:p>
        </p:txBody>
      </p:sp>
      <p:sp>
        <p:nvSpPr>
          <p:cNvPr id="890" name="Google Shape;890;p97"/>
          <p:cNvSpPr txBox="1"/>
          <p:nvPr>
            <p:ph idx="4" type="body"/>
          </p:nvPr>
        </p:nvSpPr>
        <p:spPr>
          <a:xfrm>
            <a:off x="141600" y="4461700"/>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If needed, you may refer to the code that you wrote for earlier activities in this unit.</a:t>
            </a:r>
            <a:endParaRPr/>
          </a:p>
        </p:txBody>
      </p:sp>
      <p:pic>
        <p:nvPicPr>
          <p:cNvPr id="891" name="Google Shape;891;p97"/>
          <p:cNvPicPr preferRelativeResize="0"/>
          <p:nvPr/>
        </p:nvPicPr>
        <p:blipFill>
          <a:blip r:embed="rId3">
            <a:alphaModFix/>
          </a:blip>
          <a:stretch>
            <a:fillRect/>
          </a:stretch>
        </p:blipFill>
        <p:spPr>
          <a:xfrm>
            <a:off x="614712" y="1709750"/>
            <a:ext cx="2077471" cy="268937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98"/>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Year class currently has a single static method. Let's improve it so that instances of the class can be created to represent an individual year.</a:t>
            </a:r>
            <a:endParaRPr/>
          </a:p>
        </p:txBody>
      </p:sp>
      <p:sp>
        <p:nvSpPr>
          <p:cNvPr id="897" name="Google Shape;897;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8" name="Google Shape;898;p98"/>
          <p:cNvSpPr txBox="1"/>
          <p:nvPr>
            <p:ph idx="2" type="body"/>
          </p:nvPr>
        </p:nvSpPr>
        <p:spPr>
          <a:xfrm>
            <a:off x="3264300" y="1503725"/>
            <a:ext cx="5756700" cy="34824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Year</a:t>
            </a:r>
            <a:r>
              <a:rPr lang="en" sz="1500"/>
              <a:t> class and make the following changes:</a:t>
            </a:r>
            <a:endParaRPr sz="1500"/>
          </a:p>
          <a:p>
            <a:pPr indent="-311150" lvl="1" marL="914400" rtl="0" algn="l">
              <a:spcBef>
                <a:spcPts val="0"/>
              </a:spcBef>
              <a:spcAft>
                <a:spcPts val="0"/>
              </a:spcAft>
              <a:buSzPts val="1300"/>
              <a:buChar char="○"/>
            </a:pPr>
            <a:r>
              <a:rPr b="1" i="1" lang="en" sz="1300">
                <a:solidFill>
                  <a:srgbClr val="FF0000"/>
                </a:solidFill>
              </a:rPr>
              <a:t>Add </a:t>
            </a:r>
            <a:r>
              <a:rPr lang="en" sz="1300"/>
              <a:t>a field to hold the value for the </a:t>
            </a:r>
            <a:r>
              <a:rPr lang="en" sz="1300">
                <a:solidFill>
                  <a:srgbClr val="FF0000"/>
                </a:solidFill>
                <a:latin typeface="Courier New"/>
                <a:ea typeface="Courier New"/>
                <a:cs typeface="Courier New"/>
                <a:sym typeface="Courier New"/>
              </a:rPr>
              <a:t>yearNumber</a:t>
            </a:r>
            <a:r>
              <a:rPr lang="en" sz="1300"/>
              <a:t>.</a:t>
            </a:r>
            <a:endParaRPr sz="1300"/>
          </a:p>
          <a:p>
            <a:pPr indent="-311150" lvl="1" marL="914400" rtl="0" algn="l">
              <a:spcBef>
                <a:spcPts val="0"/>
              </a:spcBef>
              <a:spcAft>
                <a:spcPts val="0"/>
              </a:spcAft>
              <a:buSzPts val="1300"/>
              <a:buChar char="○"/>
            </a:pPr>
            <a:r>
              <a:rPr b="1" i="1" lang="en" sz="1300">
                <a:solidFill>
                  <a:srgbClr val="FF0000"/>
                </a:solidFill>
              </a:rPr>
              <a:t>Add </a:t>
            </a:r>
            <a:r>
              <a:rPr lang="en" sz="1300"/>
              <a:t>a </a:t>
            </a:r>
            <a:r>
              <a:rPr b="1" i="1" lang="en" sz="1300">
                <a:solidFill>
                  <a:srgbClr val="FF0000"/>
                </a:solidFill>
              </a:rPr>
              <a:t>constructor</a:t>
            </a:r>
            <a:r>
              <a:rPr lang="en" sz="1300">
                <a:solidFill>
                  <a:srgbClr val="FF0000"/>
                </a:solidFill>
              </a:rPr>
              <a:t> </a:t>
            </a:r>
            <a:r>
              <a:rPr lang="en" sz="1300"/>
              <a:t>that creates a new </a:t>
            </a:r>
            <a:r>
              <a:rPr lang="en" sz="1300">
                <a:latin typeface="Courier New"/>
                <a:ea typeface="Courier New"/>
                <a:cs typeface="Courier New"/>
                <a:sym typeface="Courier New"/>
              </a:rPr>
              <a:t>Year</a:t>
            </a:r>
            <a:r>
              <a:rPr lang="en" sz="1300"/>
              <a:t> with a specified value.</a:t>
            </a:r>
            <a:endParaRPr sz="1300"/>
          </a:p>
          <a:p>
            <a:pPr indent="-311150" lvl="1" marL="914400" rtl="0" algn="l">
              <a:spcBef>
                <a:spcPts val="0"/>
              </a:spcBef>
              <a:spcAft>
                <a:spcPts val="0"/>
              </a:spcAft>
              <a:buSzPts val="1300"/>
              <a:buChar char="○"/>
            </a:pPr>
            <a:r>
              <a:rPr b="1" i="1" lang="en" sz="1300">
                <a:solidFill>
                  <a:srgbClr val="FF0000"/>
                </a:solidFill>
              </a:rPr>
              <a:t>Add </a:t>
            </a:r>
            <a:r>
              <a:rPr lang="en" sz="1300"/>
              <a:t>an </a:t>
            </a:r>
            <a:r>
              <a:rPr b="1" i="1" lang="en" sz="1300">
                <a:solidFill>
                  <a:srgbClr val="FF0000"/>
                </a:solidFill>
              </a:rPr>
              <a:t>accessor </a:t>
            </a:r>
            <a:r>
              <a:rPr lang="en" sz="1300"/>
              <a:t>for the </a:t>
            </a:r>
            <a:r>
              <a:rPr lang="en" sz="1300">
                <a:solidFill>
                  <a:srgbClr val="FF0000"/>
                </a:solidFill>
                <a:latin typeface="Courier New"/>
                <a:ea typeface="Courier New"/>
                <a:cs typeface="Courier New"/>
                <a:sym typeface="Courier New"/>
              </a:rPr>
              <a:t>yearNumber</a:t>
            </a:r>
            <a:r>
              <a:rPr lang="en" sz="1300"/>
              <a:t>.</a:t>
            </a:r>
            <a:endParaRPr sz="1300"/>
          </a:p>
          <a:p>
            <a:pPr indent="-311150" lvl="1" marL="914400" rtl="0" algn="l">
              <a:spcBef>
                <a:spcPts val="0"/>
              </a:spcBef>
              <a:spcAft>
                <a:spcPts val="0"/>
              </a:spcAft>
              <a:buSzPts val="1300"/>
              <a:buChar char="○"/>
            </a:pPr>
            <a:r>
              <a:rPr lang="en" sz="1300"/>
              <a:t>Does it make sense to add a mutator as well?</a:t>
            </a:r>
            <a:endParaRPr sz="1300"/>
          </a:p>
          <a:p>
            <a:pPr indent="-311150" lvl="1" marL="914400" rtl="0" algn="l">
              <a:spcBef>
                <a:spcPts val="0"/>
              </a:spcBef>
              <a:spcAft>
                <a:spcPts val="0"/>
              </a:spcAft>
              <a:buSzPts val="1300"/>
              <a:buChar char="○"/>
            </a:pPr>
            <a:r>
              <a:rPr b="1" i="1" lang="en" sz="1300">
                <a:solidFill>
                  <a:srgbClr val="FF0000"/>
                </a:solidFill>
              </a:rPr>
              <a:t>Define </a:t>
            </a:r>
            <a:r>
              <a:rPr lang="en" sz="1300"/>
              <a:t>a method named "</a:t>
            </a:r>
            <a:r>
              <a:rPr lang="en" sz="1300">
                <a:solidFill>
                  <a:srgbClr val="FF0000"/>
                </a:solidFill>
                <a:latin typeface="Courier New"/>
                <a:ea typeface="Courier New"/>
                <a:cs typeface="Courier New"/>
                <a:sym typeface="Courier New"/>
              </a:rPr>
              <a:t>numberOfDays</a:t>
            </a:r>
            <a:r>
              <a:rPr lang="en" sz="1300"/>
              <a:t>" that returns the number of days for this year.</a:t>
            </a:r>
            <a:endParaRPr sz="1300"/>
          </a:p>
          <a:p>
            <a:pPr indent="-311150" lvl="2" marL="1371600" rtl="0" algn="l">
              <a:spcBef>
                <a:spcPts val="0"/>
              </a:spcBef>
              <a:spcAft>
                <a:spcPts val="0"/>
              </a:spcAft>
              <a:buSzPts val="1300"/>
              <a:buChar char="■"/>
            </a:pPr>
            <a:r>
              <a:rPr b="1" i="1" lang="en" sz="1300">
                <a:solidFill>
                  <a:srgbClr val="FF0000"/>
                </a:solidFill>
              </a:rPr>
              <a:t>Hint</a:t>
            </a:r>
            <a:r>
              <a:rPr b="1" i="1" lang="en" sz="1300"/>
              <a:t>: </a:t>
            </a:r>
            <a:r>
              <a:rPr lang="en" sz="1300"/>
              <a:t>use the </a:t>
            </a:r>
            <a:r>
              <a:rPr lang="en" sz="1300">
                <a:latin typeface="Courier New"/>
                <a:ea typeface="Courier New"/>
                <a:cs typeface="Courier New"/>
                <a:sym typeface="Courier New"/>
              </a:rPr>
              <a:t>static</a:t>
            </a:r>
            <a:r>
              <a:rPr lang="en" sz="1300"/>
              <a:t> </a:t>
            </a:r>
            <a:r>
              <a:rPr lang="en" sz="1300">
                <a:solidFill>
                  <a:srgbClr val="FF0000"/>
                </a:solidFill>
                <a:latin typeface="Courier New"/>
                <a:ea typeface="Courier New"/>
                <a:cs typeface="Courier New"/>
                <a:sym typeface="Courier New"/>
              </a:rPr>
              <a:t>daysInYear</a:t>
            </a:r>
            <a:r>
              <a:rPr lang="en" sz="1300">
                <a:solidFill>
                  <a:srgbClr val="FF0000"/>
                </a:solidFill>
              </a:rPr>
              <a:t> </a:t>
            </a:r>
            <a:r>
              <a:rPr lang="en" sz="1300"/>
              <a:t>method to compute the value.</a:t>
            </a:r>
            <a:endParaRPr sz="1300"/>
          </a:p>
          <a:p>
            <a:pPr indent="-311150" lvl="1" marL="914400" rtl="0" algn="l">
              <a:spcBef>
                <a:spcPts val="0"/>
              </a:spcBef>
              <a:spcAft>
                <a:spcPts val="0"/>
              </a:spcAft>
              <a:buSzPts val="1300"/>
              <a:buChar char="○"/>
            </a:pPr>
            <a:r>
              <a:rPr lang="en" sz="1300"/>
              <a:t>Make sure to use </a:t>
            </a:r>
            <a:r>
              <a:rPr b="1" i="1" lang="en" sz="1300">
                <a:solidFill>
                  <a:srgbClr val="FF0000"/>
                </a:solidFill>
              </a:rPr>
              <a:t>proper encapsulation</a:t>
            </a:r>
            <a:r>
              <a:rPr lang="en" sz="1300"/>
              <a:t>!</a:t>
            </a:r>
            <a:endParaRPr sz="1300"/>
          </a:p>
          <a:p>
            <a:pPr indent="-323850" lvl="0" marL="457200" rtl="0" algn="l">
              <a:spcBef>
                <a:spcPts val="0"/>
              </a:spcBef>
              <a:spcAft>
                <a:spcPts val="0"/>
              </a:spcAft>
              <a:buSzPts val="1500"/>
              <a:buChar char="●"/>
            </a:pPr>
            <a:r>
              <a:rPr lang="en" sz="1500"/>
              <a:t>In </a:t>
            </a:r>
            <a:r>
              <a:rPr lang="en" sz="1500">
                <a:latin typeface="Courier New"/>
                <a:ea typeface="Courier New"/>
                <a:cs typeface="Courier New"/>
                <a:sym typeface="Courier New"/>
              </a:rPr>
              <a:t>main</a:t>
            </a:r>
            <a:r>
              <a:rPr lang="en" sz="1500"/>
              <a:t>, create several instances of your class to represent different years.</a:t>
            </a:r>
            <a:endParaRPr sz="1500"/>
          </a:p>
          <a:p>
            <a:pPr indent="-311150" lvl="1" marL="914400" rtl="0" algn="l">
              <a:spcBef>
                <a:spcPts val="0"/>
              </a:spcBef>
              <a:spcAft>
                <a:spcPts val="0"/>
              </a:spcAft>
              <a:buSzPts val="1300"/>
              <a:buChar char="○"/>
            </a:pPr>
            <a:r>
              <a:rPr lang="en" sz="1300"/>
              <a:t>Print each to standard output.</a:t>
            </a:r>
            <a:endParaRPr sz="1300"/>
          </a:p>
        </p:txBody>
      </p:sp>
      <p:sp>
        <p:nvSpPr>
          <p:cNvPr id="899" name="Google Shape;899;p9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Representing a Single Year</a:t>
            </a:r>
            <a:endParaRPr/>
          </a:p>
        </p:txBody>
      </p:sp>
      <p:sp>
        <p:nvSpPr>
          <p:cNvPr id="900" name="Google Shape;900;p9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2.19</a:t>
            </a:r>
            <a:endParaRPr/>
          </a:p>
        </p:txBody>
      </p:sp>
      <p:sp>
        <p:nvSpPr>
          <p:cNvPr id="901" name="Google Shape;901;p98"/>
          <p:cNvSpPr txBox="1"/>
          <p:nvPr>
            <p:ph idx="4" type="body"/>
          </p:nvPr>
        </p:nvSpPr>
        <p:spPr>
          <a:xfrm>
            <a:off x="141600" y="4309300"/>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If needed, you may refer to the code that you wrote for earlier activities in this unit.</a:t>
            </a:r>
            <a:endParaRPr/>
          </a:p>
        </p:txBody>
      </p:sp>
      <p:pic>
        <p:nvPicPr>
          <p:cNvPr id="902" name="Google Shape;902;p98"/>
          <p:cNvPicPr preferRelativeResize="0"/>
          <p:nvPr/>
        </p:nvPicPr>
        <p:blipFill>
          <a:blip r:embed="rId3">
            <a:alphaModFix/>
          </a:blip>
          <a:stretch>
            <a:fillRect/>
          </a:stretch>
        </p:blipFill>
        <p:spPr>
          <a:xfrm>
            <a:off x="614712" y="1557350"/>
            <a:ext cx="2077471" cy="268937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9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Once a value is assigned to a variable that uses the </a:t>
            </a:r>
            <a:r>
              <a:rPr lang="en">
                <a:latin typeface="Courier New"/>
                <a:ea typeface="Courier New"/>
                <a:cs typeface="Courier New"/>
                <a:sym typeface="Courier New"/>
              </a:rPr>
              <a:t>final</a:t>
            </a:r>
            <a:r>
              <a:rPr lang="en"/>
              <a:t> modifier, that value can never change. At least one of the fields inside the </a:t>
            </a:r>
            <a:r>
              <a:rPr lang="en">
                <a:latin typeface="Courier New"/>
                <a:ea typeface="Courier New"/>
                <a:cs typeface="Courier New"/>
                <a:sym typeface="Courier New"/>
              </a:rPr>
              <a:t>Year</a:t>
            </a:r>
            <a:r>
              <a:rPr lang="en"/>
              <a:t> class should be </a:t>
            </a:r>
            <a:r>
              <a:rPr lang="en">
                <a:latin typeface="Courier New"/>
                <a:ea typeface="Courier New"/>
                <a:cs typeface="Courier New"/>
                <a:sym typeface="Courier New"/>
              </a:rPr>
              <a:t>final</a:t>
            </a:r>
            <a:r>
              <a:rPr lang="en"/>
              <a:t>. Update the class to make it so.</a:t>
            </a:r>
            <a:endParaRPr/>
          </a:p>
        </p:txBody>
      </p:sp>
      <p:sp>
        <p:nvSpPr>
          <p:cNvPr id="908" name="Google Shape;908;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9" name="Google Shape;909;p99"/>
          <p:cNvSpPr txBox="1"/>
          <p:nvPr>
            <p:ph idx="2" type="body"/>
          </p:nvPr>
        </p:nvSpPr>
        <p:spPr>
          <a:xfrm>
            <a:off x="3346625" y="1710213"/>
            <a:ext cx="5586900" cy="2699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Year</a:t>
            </a:r>
            <a:r>
              <a:rPr lang="en" sz="1500"/>
              <a:t> class and navigate to the </a:t>
            </a:r>
            <a:r>
              <a:rPr lang="en" sz="1500">
                <a:solidFill>
                  <a:srgbClr val="FF0000"/>
                </a:solidFill>
                <a:latin typeface="Courier New"/>
                <a:ea typeface="Courier New"/>
                <a:cs typeface="Courier New"/>
                <a:sym typeface="Courier New"/>
              </a:rPr>
              <a:t>DAYS_IN_YEAR</a:t>
            </a:r>
            <a:r>
              <a:rPr lang="en" sz="1500">
                <a:solidFill>
                  <a:srgbClr val="FF0000"/>
                </a:solidFill>
              </a:rPr>
              <a:t> </a:t>
            </a:r>
            <a:r>
              <a:rPr lang="en" sz="1500"/>
              <a:t>variable.</a:t>
            </a:r>
            <a:endParaRPr sz="1500"/>
          </a:p>
          <a:p>
            <a:pPr indent="-311150" lvl="1" marL="914400" rtl="0" algn="l">
              <a:spcBef>
                <a:spcPts val="0"/>
              </a:spcBef>
              <a:spcAft>
                <a:spcPts val="0"/>
              </a:spcAft>
              <a:buSzPts val="1300"/>
              <a:buChar char="○"/>
            </a:pPr>
            <a:r>
              <a:rPr lang="en" sz="1300"/>
              <a:t>Use the </a:t>
            </a:r>
            <a:r>
              <a:rPr lang="en" sz="1300">
                <a:solidFill>
                  <a:srgbClr val="FF0000"/>
                </a:solidFill>
                <a:latin typeface="Courier New"/>
                <a:ea typeface="Courier New"/>
                <a:cs typeface="Courier New"/>
                <a:sym typeface="Courier New"/>
              </a:rPr>
              <a:t>final</a:t>
            </a:r>
            <a:r>
              <a:rPr lang="en" sz="1300">
                <a:solidFill>
                  <a:srgbClr val="FF0000"/>
                </a:solidFill>
              </a:rPr>
              <a:t> </a:t>
            </a:r>
            <a:r>
              <a:rPr b="1" i="1" lang="en" sz="1300">
                <a:solidFill>
                  <a:srgbClr val="FF0000"/>
                </a:solidFill>
              </a:rPr>
              <a:t>modifier </a:t>
            </a:r>
            <a:r>
              <a:rPr lang="en" sz="1300"/>
              <a:t>to make it a constant (immutable).</a:t>
            </a:r>
            <a:endParaRPr sz="1300"/>
          </a:p>
          <a:p>
            <a:pPr indent="-311150" lvl="1" marL="914400" rtl="0" algn="l">
              <a:spcBef>
                <a:spcPts val="0"/>
              </a:spcBef>
              <a:spcAft>
                <a:spcPts val="0"/>
              </a:spcAft>
              <a:buSzPts val="1300"/>
              <a:buChar char="○"/>
            </a:pPr>
            <a:r>
              <a:rPr lang="en" sz="1300"/>
              <a:t>This may cause compilation problems elsewhere in your code. Comment out any broken code.</a:t>
            </a:r>
            <a:endParaRPr sz="1300"/>
          </a:p>
          <a:p>
            <a:pPr indent="-323850" lvl="0" marL="457200" rtl="0" algn="l">
              <a:spcBef>
                <a:spcPts val="0"/>
              </a:spcBef>
              <a:spcAft>
                <a:spcPts val="0"/>
              </a:spcAft>
              <a:buSzPts val="1500"/>
              <a:buChar char="●"/>
            </a:pPr>
            <a:r>
              <a:rPr lang="en" sz="1500"/>
              <a:t>Remember, </a:t>
            </a:r>
            <a:r>
              <a:rPr lang="en" sz="1500">
                <a:latin typeface="Courier New"/>
                <a:ea typeface="Courier New"/>
                <a:cs typeface="Courier New"/>
                <a:sym typeface="Courier New"/>
              </a:rPr>
              <a:t>final</a:t>
            </a:r>
            <a:r>
              <a:rPr lang="en" sz="1500"/>
              <a:t> is meant for values that, once they are set, should never change. Are there any other values in Year that should be modified with </a:t>
            </a:r>
            <a:r>
              <a:rPr lang="en" sz="1500">
                <a:latin typeface="Courier New"/>
                <a:ea typeface="Courier New"/>
                <a:cs typeface="Courier New"/>
                <a:sym typeface="Courier New"/>
              </a:rPr>
              <a:t>final</a:t>
            </a:r>
            <a:r>
              <a:rPr lang="en" sz="1500"/>
              <a:t>?</a:t>
            </a:r>
            <a:endParaRPr sz="1500"/>
          </a:p>
          <a:p>
            <a:pPr indent="-323850" lvl="0" marL="457200" rtl="0" algn="l">
              <a:spcBef>
                <a:spcPts val="0"/>
              </a:spcBef>
              <a:spcAft>
                <a:spcPts val="0"/>
              </a:spcAft>
              <a:buSzPts val="1500"/>
              <a:buChar char="●"/>
            </a:pPr>
            <a:r>
              <a:rPr b="1" i="1" lang="en" sz="1500">
                <a:solidFill>
                  <a:srgbClr val="FF0000"/>
                </a:solidFill>
              </a:rPr>
              <a:t>Run </a:t>
            </a:r>
            <a:r>
              <a:rPr lang="en" sz="1500"/>
              <a:t>your class to make sure that everything is still working.</a:t>
            </a:r>
            <a:endParaRPr sz="1500"/>
          </a:p>
        </p:txBody>
      </p:sp>
      <p:sp>
        <p:nvSpPr>
          <p:cNvPr id="910" name="Google Shape;910;p9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Immutable Fields</a:t>
            </a:r>
            <a:endParaRPr/>
          </a:p>
        </p:txBody>
      </p:sp>
      <p:sp>
        <p:nvSpPr>
          <p:cNvPr id="911" name="Google Shape;911;p9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2.20</a:t>
            </a:r>
            <a:endParaRPr/>
          </a:p>
        </p:txBody>
      </p:sp>
      <p:sp>
        <p:nvSpPr>
          <p:cNvPr id="912" name="Google Shape;912;p99"/>
          <p:cNvSpPr txBox="1"/>
          <p:nvPr>
            <p:ph idx="4" type="body"/>
          </p:nvPr>
        </p:nvSpPr>
        <p:spPr>
          <a:xfrm>
            <a:off x="141600" y="4385500"/>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If needed, you may refer to the code that you wrote for earlier activities in this unit.</a:t>
            </a:r>
            <a:endParaRPr/>
          </a:p>
        </p:txBody>
      </p:sp>
      <p:pic>
        <p:nvPicPr>
          <p:cNvPr id="913" name="Google Shape;913;p99"/>
          <p:cNvPicPr preferRelativeResize="0"/>
          <p:nvPr/>
        </p:nvPicPr>
        <p:blipFill>
          <a:blip r:embed="rId3">
            <a:alphaModFix/>
          </a:blip>
          <a:stretch>
            <a:fillRect/>
          </a:stretch>
        </p:blipFill>
        <p:spPr>
          <a:xfrm>
            <a:off x="614712" y="1633550"/>
            <a:ext cx="2077471" cy="268937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0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Java includes a number of special methods, but the default implementations are not very useful. Let's continue to enhance the Year class by adding more useful implementations of some of those special methods.</a:t>
            </a:r>
            <a:endParaRPr/>
          </a:p>
        </p:txBody>
      </p:sp>
      <p:sp>
        <p:nvSpPr>
          <p:cNvPr id="919" name="Google Shape;919;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0" name="Google Shape;920;p100"/>
          <p:cNvSpPr txBox="1"/>
          <p:nvPr>
            <p:ph idx="2" type="body"/>
          </p:nvPr>
        </p:nvSpPr>
        <p:spPr>
          <a:xfrm>
            <a:off x="3271775" y="1714975"/>
            <a:ext cx="5661900" cy="2247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Add a special method that returns a string representation of the year in the </a:t>
            </a:r>
            <a:r>
              <a:rPr lang="en"/>
              <a:t>format</a:t>
            </a:r>
            <a:r>
              <a:rPr lang="en"/>
              <a:t>:</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"Year{yearNumber=&lt;yearNumber&gt;, days=&lt;number of days&gt;}"</a:t>
            </a:r>
            <a:endParaRPr/>
          </a:p>
          <a:p>
            <a:pPr indent="-298450" lvl="1" marL="914400" rtl="0" algn="l">
              <a:spcBef>
                <a:spcPts val="0"/>
              </a:spcBef>
              <a:spcAft>
                <a:spcPts val="0"/>
              </a:spcAft>
              <a:buSzPts val="1100"/>
              <a:buChar char="○"/>
            </a:pPr>
            <a:r>
              <a:rPr lang="en"/>
              <a:t>Test your new method in </a:t>
            </a:r>
            <a:r>
              <a:rPr lang="en">
                <a:latin typeface="Courier New"/>
                <a:ea typeface="Courier New"/>
                <a:cs typeface="Courier New"/>
                <a:sym typeface="Courier New"/>
              </a:rPr>
              <a:t>main</a:t>
            </a:r>
            <a:r>
              <a:rPr lang="en"/>
              <a:t> by creating at least 3 different years and printing them to standard output.</a:t>
            </a:r>
            <a:endParaRPr/>
          </a:p>
          <a:p>
            <a:pPr indent="-311150" lvl="0" marL="457200" rtl="0" algn="l">
              <a:spcBef>
                <a:spcPts val="0"/>
              </a:spcBef>
              <a:spcAft>
                <a:spcPts val="0"/>
              </a:spcAft>
              <a:buSzPts val="1300"/>
              <a:buChar char="●"/>
            </a:pPr>
            <a:r>
              <a:rPr lang="en"/>
              <a:t>Add a special method to the Year class so that two individual years are considered equal if they have the same </a:t>
            </a:r>
            <a:r>
              <a:rPr lang="en">
                <a:latin typeface="Courier New"/>
                <a:ea typeface="Courier New"/>
                <a:cs typeface="Courier New"/>
                <a:sym typeface="Courier New"/>
              </a:rPr>
              <a:t>yearNumber</a:t>
            </a:r>
            <a:r>
              <a:rPr lang="en"/>
              <a:t>.  </a:t>
            </a:r>
            <a:endParaRPr/>
          </a:p>
          <a:p>
            <a:pPr indent="-298450" lvl="1" marL="914400" rtl="0" algn="l">
              <a:spcBef>
                <a:spcPts val="0"/>
              </a:spcBef>
              <a:spcAft>
                <a:spcPts val="0"/>
              </a:spcAft>
              <a:buSzPts val="1100"/>
              <a:buChar char="○"/>
            </a:pPr>
            <a:r>
              <a:rPr lang="en"/>
              <a:t>Test the new method from </a:t>
            </a:r>
            <a:r>
              <a:rPr lang="en">
                <a:latin typeface="Courier New"/>
                <a:ea typeface="Courier New"/>
                <a:cs typeface="Courier New"/>
                <a:sym typeface="Courier New"/>
              </a:rPr>
              <a:t>main</a:t>
            </a:r>
            <a:r>
              <a:rPr lang="en"/>
              <a:t> by creating at least one more year that is equal to one of the years that you previously created.</a:t>
            </a:r>
            <a:endParaRPr/>
          </a:p>
          <a:p>
            <a:pPr indent="-298450" lvl="1" marL="914400" rtl="0" algn="l">
              <a:spcBef>
                <a:spcPts val="0"/>
              </a:spcBef>
              <a:spcAft>
                <a:spcPts val="0"/>
              </a:spcAft>
              <a:buSzPts val="1100"/>
              <a:buChar char="○"/>
            </a:pPr>
            <a:r>
              <a:rPr lang="en"/>
              <a:t>Print the results of comparing the new year to at least two other years.</a:t>
            </a:r>
            <a:endParaRPr/>
          </a:p>
        </p:txBody>
      </p:sp>
      <p:sp>
        <p:nvSpPr>
          <p:cNvPr id="921" name="Google Shape;921;p10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Adding Special Methods</a:t>
            </a:r>
            <a:endParaRPr/>
          </a:p>
        </p:txBody>
      </p:sp>
      <p:sp>
        <p:nvSpPr>
          <p:cNvPr id="922" name="Google Shape;922;p10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2.21</a:t>
            </a:r>
            <a:endParaRPr/>
          </a:p>
        </p:txBody>
      </p:sp>
      <p:sp>
        <p:nvSpPr>
          <p:cNvPr id="923" name="Google Shape;923;p100"/>
          <p:cNvSpPr txBox="1"/>
          <p:nvPr>
            <p:ph idx="4" type="body"/>
          </p:nvPr>
        </p:nvSpPr>
        <p:spPr>
          <a:xfrm>
            <a:off x="141600" y="4461700"/>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If needed, you may refer to the code that you wrote for earlier activities in this unit.</a:t>
            </a:r>
            <a:endParaRPr/>
          </a:p>
        </p:txBody>
      </p:sp>
      <p:pic>
        <p:nvPicPr>
          <p:cNvPr id="924" name="Google Shape;924;p100"/>
          <p:cNvPicPr preferRelativeResize="0"/>
          <p:nvPr/>
        </p:nvPicPr>
        <p:blipFill>
          <a:blip r:embed="rId3">
            <a:alphaModFix/>
          </a:blip>
          <a:stretch>
            <a:fillRect/>
          </a:stretch>
        </p:blipFill>
        <p:spPr>
          <a:xfrm>
            <a:off x="614712" y="1709750"/>
            <a:ext cx="2077471" cy="268937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01"/>
          <p:cNvSpPr txBox="1"/>
          <p:nvPr>
            <p:ph type="title"/>
          </p:nvPr>
        </p:nvSpPr>
        <p:spPr>
          <a:xfrm>
            <a:off x="311725" y="54774"/>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JavaDoc</a:t>
            </a:r>
            <a:endParaRPr/>
          </a:p>
        </p:txBody>
      </p:sp>
      <p:sp>
        <p:nvSpPr>
          <p:cNvPr id="930" name="Google Shape;930;p101"/>
          <p:cNvSpPr txBox="1"/>
          <p:nvPr>
            <p:ph idx="1" type="body"/>
          </p:nvPr>
        </p:nvSpPr>
        <p:spPr>
          <a:xfrm>
            <a:off x="4419800" y="119925"/>
            <a:ext cx="4569000" cy="4741200"/>
          </a:xfrm>
          <a:prstGeom prst="rect">
            <a:avLst/>
          </a:prstGeom>
        </p:spPr>
        <p:txBody>
          <a:bodyPr anchorCtr="0" anchor="ctr" bIns="91425" lIns="91425" spcFirstLastPara="1" rIns="91425" wrap="square" tIns="91425">
            <a:spAutoFit/>
          </a:bodyPr>
          <a:lstStyle/>
          <a:p>
            <a:pPr indent="-304800" lvl="0" marL="457200" rtl="0" algn="l">
              <a:spcBef>
                <a:spcPts val="0"/>
              </a:spcBef>
              <a:spcAft>
                <a:spcPts val="0"/>
              </a:spcAft>
              <a:buSzPts val="1200"/>
              <a:buChar char="●"/>
            </a:pPr>
            <a:r>
              <a:rPr b="1" i="1" lang="en" sz="1200">
                <a:solidFill>
                  <a:srgbClr val="FF0000"/>
                </a:solidFill>
              </a:rPr>
              <a:t>JavaDoc</a:t>
            </a:r>
            <a:r>
              <a:rPr lang="en" sz="1200">
                <a:solidFill>
                  <a:srgbClr val="FF0000"/>
                </a:solidFill>
              </a:rPr>
              <a:t> </a:t>
            </a:r>
            <a:r>
              <a:rPr lang="en" sz="1200"/>
              <a:t>is a special kind of comment that can be used to document </a:t>
            </a:r>
            <a:r>
              <a:rPr b="1" i="1" lang="en" sz="1200">
                <a:solidFill>
                  <a:srgbClr val="FF0000"/>
                </a:solidFill>
              </a:rPr>
              <a:t>classes</a:t>
            </a:r>
            <a:r>
              <a:rPr lang="en" sz="1200"/>
              <a:t>, </a:t>
            </a:r>
            <a:r>
              <a:rPr b="1" i="1" lang="en" sz="1200">
                <a:solidFill>
                  <a:srgbClr val="FF0000"/>
                </a:solidFill>
              </a:rPr>
              <a:t>methods</a:t>
            </a:r>
            <a:r>
              <a:rPr lang="en" sz="1200"/>
              <a:t>, and </a:t>
            </a:r>
            <a:r>
              <a:rPr b="1" i="1" lang="en" sz="1200">
                <a:solidFill>
                  <a:srgbClr val="FF0000"/>
                </a:solidFill>
              </a:rPr>
              <a:t>fields</a:t>
            </a:r>
            <a:r>
              <a:rPr lang="en" sz="1200"/>
              <a:t>.</a:t>
            </a:r>
            <a:endParaRPr sz="1200"/>
          </a:p>
          <a:p>
            <a:pPr indent="-292100" lvl="1" marL="914400" rtl="0" algn="l">
              <a:spcBef>
                <a:spcPts val="0"/>
              </a:spcBef>
              <a:spcAft>
                <a:spcPts val="0"/>
              </a:spcAft>
              <a:buSzPts val="1000"/>
              <a:buChar char="○"/>
            </a:pPr>
            <a:r>
              <a:rPr lang="en" sz="1000"/>
              <a:t>A JavaDoc is a </a:t>
            </a:r>
            <a:r>
              <a:rPr b="1" i="1" lang="en" sz="1000">
                <a:solidFill>
                  <a:srgbClr val="FF0000"/>
                </a:solidFill>
              </a:rPr>
              <a:t>multi-line comment</a:t>
            </a:r>
            <a:r>
              <a:rPr lang="en" sz="1000"/>
              <a:t> that begins with </a:t>
            </a:r>
            <a:r>
              <a:rPr lang="en" sz="1000">
                <a:solidFill>
                  <a:srgbClr val="FF0000"/>
                </a:solidFill>
                <a:latin typeface="Courier New"/>
                <a:ea typeface="Courier New"/>
                <a:cs typeface="Courier New"/>
                <a:sym typeface="Courier New"/>
              </a:rPr>
              <a:t>/**</a:t>
            </a:r>
            <a:r>
              <a:rPr lang="en" sz="1000"/>
              <a:t> and ends with </a:t>
            </a:r>
            <a:r>
              <a:rPr lang="en" sz="1000">
                <a:solidFill>
                  <a:srgbClr val="FF0000"/>
                </a:solidFill>
                <a:latin typeface="Courier New"/>
                <a:ea typeface="Courier New"/>
                <a:cs typeface="Courier New"/>
                <a:sym typeface="Courier New"/>
              </a:rPr>
              <a:t>*/</a:t>
            </a:r>
            <a:r>
              <a:rPr lang="en" sz="1000"/>
              <a:t>.</a:t>
            </a:r>
            <a:endParaRPr sz="1000"/>
          </a:p>
          <a:p>
            <a:pPr indent="-292100" lvl="1" marL="914400" rtl="0" algn="l">
              <a:spcBef>
                <a:spcPts val="0"/>
              </a:spcBef>
              <a:spcAft>
                <a:spcPts val="0"/>
              </a:spcAft>
              <a:buSzPts val="1000"/>
              <a:buChar char="○"/>
            </a:pPr>
            <a:r>
              <a:rPr lang="en" sz="1000"/>
              <a:t>When you hit enter after typing </a:t>
            </a:r>
            <a:r>
              <a:rPr lang="en" sz="1000">
                <a:solidFill>
                  <a:srgbClr val="FF0000"/>
                </a:solidFill>
                <a:latin typeface="Courier New"/>
                <a:ea typeface="Courier New"/>
                <a:cs typeface="Courier New"/>
                <a:sym typeface="Courier New"/>
              </a:rPr>
              <a:t>/**</a:t>
            </a:r>
            <a:r>
              <a:rPr lang="en" sz="1000"/>
              <a:t>, VS Code will helpfully </a:t>
            </a:r>
            <a:r>
              <a:rPr b="1" i="1" lang="en" sz="1000">
                <a:solidFill>
                  <a:srgbClr val="FF0000"/>
                </a:solidFill>
              </a:rPr>
              <a:t>stub out</a:t>
            </a:r>
            <a:r>
              <a:rPr lang="en" sz="1000"/>
              <a:t> the rest of the JavaDoc comment.</a:t>
            </a:r>
            <a:endParaRPr sz="1000"/>
          </a:p>
          <a:p>
            <a:pPr indent="-304800" lvl="0" marL="457200" rtl="0" algn="l">
              <a:spcBef>
                <a:spcPts val="1000"/>
              </a:spcBef>
              <a:spcAft>
                <a:spcPts val="0"/>
              </a:spcAft>
              <a:buSzPts val="1200"/>
              <a:buChar char="●"/>
            </a:pPr>
            <a:r>
              <a:rPr lang="en" sz="1200"/>
              <a:t>A JavaDoc comment should </a:t>
            </a:r>
            <a:r>
              <a:rPr b="1" i="1" lang="en" sz="1200">
                <a:solidFill>
                  <a:srgbClr val="FF0000"/>
                </a:solidFill>
              </a:rPr>
              <a:t>immediately precede</a:t>
            </a:r>
            <a:r>
              <a:rPr lang="en" sz="1200">
                <a:solidFill>
                  <a:srgbClr val="FF0000"/>
                </a:solidFill>
              </a:rPr>
              <a:t> </a:t>
            </a:r>
            <a:r>
              <a:rPr lang="en" sz="1200"/>
              <a:t>whatever it is being used to document.</a:t>
            </a:r>
            <a:endParaRPr sz="1200"/>
          </a:p>
          <a:p>
            <a:pPr indent="-304800" lvl="0" marL="457200" rtl="0" algn="l">
              <a:spcBef>
                <a:spcPts val="1000"/>
              </a:spcBef>
              <a:spcAft>
                <a:spcPts val="0"/>
              </a:spcAft>
              <a:buSzPts val="1200"/>
              <a:buChar char="●"/>
            </a:pPr>
            <a:r>
              <a:rPr lang="en" sz="1200"/>
              <a:t>JavaDoc also supports many special </a:t>
            </a:r>
            <a:r>
              <a:rPr b="1" i="1" lang="en" sz="1200">
                <a:solidFill>
                  <a:srgbClr val="FF0000"/>
                </a:solidFill>
              </a:rPr>
              <a:t>tags</a:t>
            </a:r>
            <a:r>
              <a:rPr lang="en" sz="1200">
                <a:solidFill>
                  <a:srgbClr val="FF0000"/>
                </a:solidFill>
              </a:rPr>
              <a:t> </a:t>
            </a:r>
            <a:r>
              <a:rPr lang="en" sz="1200"/>
              <a:t>- special reserved words starting with an </a:t>
            </a:r>
            <a:r>
              <a:rPr lang="en" sz="1200">
                <a:solidFill>
                  <a:srgbClr val="FF0000"/>
                </a:solidFill>
                <a:latin typeface="Courier New"/>
                <a:ea typeface="Courier New"/>
                <a:cs typeface="Courier New"/>
                <a:sym typeface="Courier New"/>
              </a:rPr>
              <a:t>@</a:t>
            </a:r>
            <a:r>
              <a:rPr lang="en" sz="1200"/>
              <a:t>.</a:t>
            </a:r>
            <a:endParaRPr sz="1200"/>
          </a:p>
          <a:p>
            <a:pPr indent="-292100" lvl="1" marL="914400" rtl="0" algn="l">
              <a:spcBef>
                <a:spcPts val="0"/>
              </a:spcBef>
              <a:spcAft>
                <a:spcPts val="0"/>
              </a:spcAft>
              <a:buSzPts val="1000"/>
              <a:buChar char="○"/>
            </a:pPr>
            <a:r>
              <a:rPr lang="en" sz="1000"/>
              <a:t>For example, an </a:t>
            </a:r>
            <a:r>
              <a:rPr lang="en" sz="1000">
                <a:solidFill>
                  <a:srgbClr val="FF0000"/>
                </a:solidFill>
                <a:latin typeface="Courier New"/>
                <a:ea typeface="Courier New"/>
                <a:cs typeface="Courier New"/>
                <a:sym typeface="Courier New"/>
              </a:rPr>
              <a:t>@author</a:t>
            </a:r>
            <a:r>
              <a:rPr lang="en" sz="1000"/>
              <a:t> tag can be included with the JavaDoc for a class to identify the author of the class.</a:t>
            </a:r>
            <a:endParaRPr sz="1000"/>
          </a:p>
          <a:p>
            <a:pPr indent="-304800" lvl="0" marL="457200" rtl="0" algn="l">
              <a:spcBef>
                <a:spcPts val="1000"/>
              </a:spcBef>
              <a:spcAft>
                <a:spcPts val="0"/>
              </a:spcAft>
              <a:buSzPts val="1200"/>
              <a:buChar char="●"/>
            </a:pPr>
            <a:r>
              <a:rPr lang="en" sz="1200"/>
              <a:t>There are some special tags that can be used with JavaDoc documenting a method.</a:t>
            </a:r>
            <a:endParaRPr sz="12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@param &lt;name&gt;</a:t>
            </a:r>
            <a:r>
              <a:rPr lang="en" sz="1000"/>
              <a:t> documents the purpose of the parameter with the specified name.</a:t>
            </a:r>
            <a:endParaRPr sz="10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@return</a:t>
            </a:r>
            <a:r>
              <a:rPr lang="en" sz="1000"/>
              <a:t> documents the return value (if there is one).</a:t>
            </a:r>
            <a:endParaRPr sz="10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@exception</a:t>
            </a:r>
            <a:r>
              <a:rPr lang="en" sz="1000"/>
              <a:t> documents an exception that may be thrown by the method.</a:t>
            </a:r>
            <a:endParaRPr sz="1000"/>
          </a:p>
          <a:p>
            <a:pPr indent="-304800" lvl="0" marL="457200" rtl="0" algn="l">
              <a:spcBef>
                <a:spcPts val="1000"/>
              </a:spcBef>
              <a:spcAft>
                <a:spcPts val="0"/>
              </a:spcAft>
              <a:buSzPts val="1200"/>
              <a:buChar char="●"/>
            </a:pPr>
            <a:r>
              <a:rPr lang="en" sz="1200"/>
              <a:t>You should </a:t>
            </a:r>
            <a:r>
              <a:rPr b="1" i="1" lang="en" sz="1200">
                <a:solidFill>
                  <a:srgbClr val="FF0000"/>
                </a:solidFill>
              </a:rPr>
              <a:t>always</a:t>
            </a:r>
            <a:r>
              <a:rPr lang="en" sz="1200">
                <a:solidFill>
                  <a:srgbClr val="FF0000"/>
                </a:solidFill>
              </a:rPr>
              <a:t> </a:t>
            </a:r>
            <a:r>
              <a:rPr lang="en" sz="1200"/>
              <a:t>use JavaDoc to document your classes and any </a:t>
            </a:r>
            <a:r>
              <a:rPr b="1" i="1" lang="en" sz="1200">
                <a:solidFill>
                  <a:srgbClr val="FF0000"/>
                </a:solidFill>
              </a:rPr>
              <a:t>public </a:t>
            </a:r>
            <a:r>
              <a:rPr lang="en" sz="1200"/>
              <a:t>fields, methods, and constructors. </a:t>
            </a:r>
            <a:endParaRPr sz="1200"/>
          </a:p>
        </p:txBody>
      </p:sp>
      <p:sp>
        <p:nvSpPr>
          <p:cNvPr id="931" name="Google Shape;931;p10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32" name="Google Shape;932;p101"/>
          <p:cNvSpPr txBox="1"/>
          <p:nvPr>
            <p:ph idx="2" type="body"/>
          </p:nvPr>
        </p:nvSpPr>
        <p:spPr>
          <a:xfrm>
            <a:off x="315425" y="1533288"/>
            <a:ext cx="3706500" cy="2816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  </a:t>
            </a:r>
            <a:r>
              <a:rPr lang="en" sz="900">
                <a:solidFill>
                  <a:srgbClr val="008000"/>
                </a:solidFill>
                <a:latin typeface="Consolas"/>
                <a:ea typeface="Consolas"/>
                <a:cs typeface="Consolas"/>
                <a:sym typeface="Consolas"/>
              </a:rPr>
              <a:t>/**</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2   * Computes and returns the factorial of n.</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3   *</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4   * @param n The integer input.</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5   *</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6   * @return The factorial of n.</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7   *</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8   * @exception IllegalArgumentException If n &lt; 0.</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9   */</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10</a:t>
            </a:r>
            <a:r>
              <a:rPr lang="en" sz="900">
                <a:solidFill>
                  <a:srgbClr val="000000"/>
                </a:solidFill>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solidFill>
                  <a:srgbClr val="000000"/>
                </a:solidFill>
                <a:latin typeface="Consolas"/>
                <a:ea typeface="Consolas"/>
                <a:cs typeface="Consolas"/>
                <a:sym typeface="Consolas"/>
              </a:rPr>
              <a:t> </a:t>
            </a:r>
            <a:r>
              <a:rPr lang="en" sz="900">
                <a:solidFill>
                  <a:srgbClr val="0000FF"/>
                </a:solidFill>
                <a:latin typeface="Consolas"/>
                <a:ea typeface="Consolas"/>
                <a:cs typeface="Consolas"/>
                <a:sym typeface="Consolas"/>
              </a:rPr>
              <a:t>static</a:t>
            </a:r>
            <a:r>
              <a:rPr lang="en" sz="900">
                <a:solidFill>
                  <a:srgbClr val="000000"/>
                </a:solidFill>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solidFill>
                  <a:srgbClr val="000000"/>
                </a:solidFill>
                <a:latin typeface="Consolas"/>
                <a:ea typeface="Consolas"/>
                <a:cs typeface="Consolas"/>
                <a:sym typeface="Consolas"/>
              </a:rPr>
              <a:t> </a:t>
            </a:r>
            <a:r>
              <a:rPr lang="en" sz="900">
                <a:solidFill>
                  <a:srgbClr val="795E26"/>
                </a:solidFill>
                <a:latin typeface="Consolas"/>
                <a:ea typeface="Consolas"/>
                <a:cs typeface="Consolas"/>
                <a:sym typeface="Consolas"/>
              </a:rPr>
              <a:t>factorial</a:t>
            </a:r>
            <a:r>
              <a:rPr lang="en" sz="900">
                <a:solidFill>
                  <a:srgbClr val="000000"/>
                </a:solidFill>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solidFill>
                  <a:srgbClr val="000000"/>
                </a:solidFill>
                <a:latin typeface="Consolas"/>
                <a:ea typeface="Consolas"/>
                <a:cs typeface="Consolas"/>
                <a:sym typeface="Consolas"/>
              </a:rPr>
              <a:t>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11</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if</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&lt; </a:t>
            </a:r>
            <a:r>
              <a:rPr lang="en" sz="900">
                <a:solidFill>
                  <a:srgbClr val="098658"/>
                </a:solidFill>
                <a:latin typeface="Consolas"/>
                <a:ea typeface="Consolas"/>
                <a:cs typeface="Consolas"/>
                <a:sym typeface="Consolas"/>
              </a:rPr>
              <a:t>0</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12</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throw</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solidFill>
                  <a:srgbClr val="000000"/>
                </a:solidFill>
                <a:latin typeface="Consolas"/>
                <a:ea typeface="Consolas"/>
                <a:cs typeface="Consolas"/>
                <a:sym typeface="Consolas"/>
              </a:rPr>
              <a:t> </a:t>
            </a:r>
            <a:r>
              <a:rPr lang="en" sz="900">
                <a:solidFill>
                  <a:srgbClr val="795E26"/>
                </a:solidFill>
                <a:latin typeface="Consolas"/>
                <a:ea typeface="Consolas"/>
                <a:cs typeface="Consolas"/>
                <a:sym typeface="Consolas"/>
              </a:rPr>
              <a:t>IllegalArgumentException</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13</a:t>
            </a:r>
            <a:r>
              <a:rPr lang="en" sz="900">
                <a:solidFill>
                  <a:srgbClr val="000000"/>
                </a:solidFill>
                <a:latin typeface="Consolas"/>
                <a:ea typeface="Consolas"/>
                <a:cs typeface="Consolas"/>
                <a:sym typeface="Consolas"/>
              </a:rPr>
              <a:t>             </a:t>
            </a:r>
            <a:r>
              <a:rPr lang="en" sz="900">
                <a:solidFill>
                  <a:srgbClr val="A31515"/>
                </a:solidFill>
                <a:latin typeface="Consolas"/>
                <a:ea typeface="Consolas"/>
                <a:cs typeface="Consolas"/>
                <a:sym typeface="Consolas"/>
              </a:rPr>
              <a:t>"n cannot be negative!"</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14</a:t>
            </a:r>
            <a:r>
              <a:rPr lang="en" sz="900">
                <a:solidFill>
                  <a:srgbClr val="000000"/>
                </a:solidFill>
                <a:latin typeface="Consolas"/>
                <a:ea typeface="Consolas"/>
                <a:cs typeface="Consolas"/>
                <a:sym typeface="Consolas"/>
              </a:rPr>
              <a:t>     } </a:t>
            </a:r>
            <a:r>
              <a:rPr lang="en" sz="900">
                <a:solidFill>
                  <a:srgbClr val="AF00DB"/>
                </a:solidFill>
                <a:latin typeface="Consolas"/>
                <a:ea typeface="Consolas"/>
                <a:cs typeface="Consolas"/>
                <a:sym typeface="Consolas"/>
              </a:rPr>
              <a:t>else</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if</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 ||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15</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solidFill>
                  <a:srgbClr val="000000"/>
                </a:solidFill>
                <a:latin typeface="Consolas"/>
                <a:ea typeface="Consolas"/>
                <a:cs typeface="Consolas"/>
                <a:sym typeface="Consolas"/>
              </a:rPr>
              <a:t> </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16</a:t>
            </a:r>
            <a:r>
              <a:rPr lang="en" sz="900">
                <a:solidFill>
                  <a:srgbClr val="000000"/>
                </a:solidFill>
                <a:latin typeface="Consolas"/>
                <a:ea typeface="Consolas"/>
                <a:cs typeface="Consolas"/>
                <a:sym typeface="Consolas"/>
              </a:rPr>
              <a:t>     } </a:t>
            </a:r>
            <a:r>
              <a:rPr lang="en" sz="900">
                <a:solidFill>
                  <a:srgbClr val="AF00DB"/>
                </a:solidFill>
                <a:latin typeface="Consolas"/>
                <a:ea typeface="Consolas"/>
                <a:cs typeface="Consolas"/>
                <a:sym typeface="Consolas"/>
              </a:rPr>
              <a:t>else</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17</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solidFill>
                  <a:srgbClr val="000000"/>
                </a:solidFill>
                <a:latin typeface="Consolas"/>
                <a:ea typeface="Consolas"/>
                <a:cs typeface="Consolas"/>
                <a:sym typeface="Consolas"/>
              </a:rPr>
              <a:t>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795E26"/>
                </a:solidFill>
                <a:latin typeface="Consolas"/>
                <a:ea typeface="Consolas"/>
                <a:cs typeface="Consolas"/>
                <a:sym typeface="Consolas"/>
              </a:rPr>
              <a:t>factorial</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18</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98658"/>
                </a:solidFill>
                <a:latin typeface="Consolas"/>
                <a:ea typeface="Consolas"/>
                <a:cs typeface="Consolas"/>
                <a:sym typeface="Consolas"/>
              </a:rPr>
              <a:t>19</a:t>
            </a:r>
            <a:r>
              <a:rPr lang="en" sz="900">
                <a:solidFill>
                  <a:srgbClr val="000000"/>
                </a:solidFill>
                <a:latin typeface="Consolas"/>
                <a:ea typeface="Consolas"/>
                <a:cs typeface="Consolas"/>
                <a:sym typeface="Consolas"/>
              </a:rPr>
              <a:t> }</a:t>
            </a:r>
            <a:endParaRPr sz="900">
              <a:solidFill>
                <a:srgbClr val="999999"/>
              </a:solidFill>
              <a:latin typeface="Consolas"/>
              <a:ea typeface="Consolas"/>
              <a:cs typeface="Consolas"/>
              <a:sym typeface="Consolas"/>
            </a:endParaRPr>
          </a:p>
        </p:txBody>
      </p:sp>
      <p:sp>
        <p:nvSpPr>
          <p:cNvPr id="933" name="Google Shape;933;p101"/>
          <p:cNvSpPr txBox="1"/>
          <p:nvPr>
            <p:ph idx="3" type="body"/>
          </p:nvPr>
        </p:nvSpPr>
        <p:spPr>
          <a:xfrm>
            <a:off x="315425" y="4457951"/>
            <a:ext cx="3706500" cy="5541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Refer to the </a:t>
            </a:r>
            <a:r>
              <a:rPr lang="en" sz="1200" u="sng">
                <a:solidFill>
                  <a:schemeClr val="hlink"/>
                </a:solidFill>
                <a:hlinkClick r:id="rId3"/>
              </a:rPr>
              <a:t>style example</a:t>
            </a:r>
            <a:r>
              <a:rPr lang="en" sz="1200"/>
              <a:t> for more JavaDoc examples.</a:t>
            </a:r>
            <a:endParaRPr sz="1200"/>
          </a:p>
        </p:txBody>
      </p:sp>
      <p:sp>
        <p:nvSpPr>
          <p:cNvPr id="934" name="Google Shape;934;p101"/>
          <p:cNvSpPr/>
          <p:nvPr/>
        </p:nvSpPr>
        <p:spPr>
          <a:xfrm>
            <a:off x="434518" y="1386975"/>
            <a:ext cx="388700" cy="723725"/>
          </a:xfrm>
          <a:custGeom>
            <a:rect b="b" l="l" r="r" t="t"/>
            <a:pathLst>
              <a:path extrusionOk="0" h="28949" w="15548">
                <a:moveTo>
                  <a:pt x="15548" y="0"/>
                </a:moveTo>
                <a:cubicBezTo>
                  <a:pt x="12970" y="3094"/>
                  <a:pt x="704" y="13738"/>
                  <a:pt x="78" y="18563"/>
                </a:cubicBezTo>
                <a:cubicBezTo>
                  <a:pt x="-548" y="23388"/>
                  <a:pt x="9839" y="27218"/>
                  <a:pt x="11791" y="28949"/>
                </a:cubicBezTo>
              </a:path>
            </a:pathLst>
          </a:custGeom>
          <a:noFill/>
          <a:ln cap="flat" cmpd="sng" w="19050">
            <a:solidFill>
              <a:srgbClr val="FF0000"/>
            </a:solidFill>
            <a:prstDash val="solid"/>
            <a:round/>
            <a:headEnd len="med" w="med" type="none"/>
            <a:tailEnd len="med" w="med" type="triangle"/>
          </a:ln>
        </p:spPr>
      </p:sp>
      <p:sp>
        <p:nvSpPr>
          <p:cNvPr id="935" name="Google Shape;935;p101"/>
          <p:cNvSpPr/>
          <p:nvPr/>
        </p:nvSpPr>
        <p:spPr>
          <a:xfrm>
            <a:off x="269549" y="1348300"/>
            <a:ext cx="454203" cy="1016550"/>
          </a:xfrm>
          <a:custGeom>
            <a:rect b="b" l="l" r="r" t="t"/>
            <a:pathLst>
              <a:path extrusionOk="0" h="40662" w="21217">
                <a:moveTo>
                  <a:pt x="20996" y="0"/>
                </a:moveTo>
                <a:cubicBezTo>
                  <a:pt x="17497" y="3020"/>
                  <a:pt x="-35" y="11344"/>
                  <a:pt x="2" y="18121"/>
                </a:cubicBezTo>
                <a:cubicBezTo>
                  <a:pt x="39" y="24898"/>
                  <a:pt x="17681" y="36905"/>
                  <a:pt x="21217" y="40662"/>
                </a:cubicBezTo>
              </a:path>
            </a:pathLst>
          </a:custGeom>
          <a:noFill/>
          <a:ln cap="flat" cmpd="sng" w="19050">
            <a:solidFill>
              <a:srgbClr val="FF0000"/>
            </a:solidFill>
            <a:prstDash val="solid"/>
            <a:round/>
            <a:headEnd len="med" w="med" type="none"/>
            <a:tailEnd len="med" w="med" type="triangle"/>
          </a:ln>
        </p:spPr>
      </p:sp>
      <p:sp>
        <p:nvSpPr>
          <p:cNvPr id="936" name="Google Shape;936;p101"/>
          <p:cNvSpPr/>
          <p:nvPr/>
        </p:nvSpPr>
        <p:spPr>
          <a:xfrm>
            <a:off x="96203" y="1358202"/>
            <a:ext cx="665100" cy="1281725"/>
          </a:xfrm>
          <a:custGeom>
            <a:rect b="b" l="l" r="r" t="t"/>
            <a:pathLst>
              <a:path extrusionOk="0" h="51269" w="26604">
                <a:moveTo>
                  <a:pt x="19090" y="0"/>
                </a:moveTo>
                <a:cubicBezTo>
                  <a:pt x="15923" y="2762"/>
                  <a:pt x="-1167" y="8029"/>
                  <a:pt x="85" y="16574"/>
                </a:cubicBezTo>
                <a:cubicBezTo>
                  <a:pt x="1337" y="25119"/>
                  <a:pt x="22184" y="45487"/>
                  <a:pt x="26604" y="51269"/>
                </a:cubicBezTo>
              </a:path>
            </a:pathLst>
          </a:custGeom>
          <a:noFill/>
          <a:ln cap="flat" cmpd="sng" w="19050">
            <a:solidFill>
              <a:srgbClr val="FF0000"/>
            </a:solidFill>
            <a:prstDash val="solid"/>
            <a:round/>
            <a:headEnd len="med" w="med" type="none"/>
            <a:tailEnd len="med" w="med" type="triangle"/>
          </a:ln>
        </p:spPr>
      </p:sp>
      <p:sp>
        <p:nvSpPr>
          <p:cNvPr id="937" name="Google Shape;937;p101"/>
          <p:cNvSpPr txBox="1"/>
          <p:nvPr>
            <p:ph idx="3" type="body"/>
          </p:nvPr>
        </p:nvSpPr>
        <p:spPr>
          <a:xfrm>
            <a:off x="311725" y="686425"/>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An example of a </a:t>
            </a:r>
            <a:r>
              <a:rPr b="1" i="1" lang="en" sz="1200">
                <a:solidFill>
                  <a:srgbClr val="FF0000"/>
                </a:solidFill>
              </a:rPr>
              <a:t>JavaDoc comment</a:t>
            </a:r>
            <a:r>
              <a:rPr lang="en" sz="1200">
                <a:solidFill>
                  <a:srgbClr val="FF0000"/>
                </a:solidFill>
              </a:rPr>
              <a:t> </a:t>
            </a:r>
            <a:r>
              <a:rPr lang="en" sz="1200"/>
              <a:t>used to document a method including </a:t>
            </a:r>
            <a:r>
              <a:rPr lang="en" sz="1200">
                <a:solidFill>
                  <a:srgbClr val="FF0000"/>
                </a:solidFill>
                <a:latin typeface="Courier New"/>
                <a:ea typeface="Courier New"/>
                <a:cs typeface="Courier New"/>
                <a:sym typeface="Courier New"/>
              </a:rPr>
              <a:t>@param</a:t>
            </a:r>
            <a:r>
              <a:rPr lang="en" sz="1200"/>
              <a:t>, </a:t>
            </a:r>
            <a:r>
              <a:rPr lang="en" sz="1200">
                <a:solidFill>
                  <a:srgbClr val="FF0000"/>
                </a:solidFill>
                <a:latin typeface="Courier New"/>
                <a:ea typeface="Courier New"/>
                <a:cs typeface="Courier New"/>
                <a:sym typeface="Courier New"/>
              </a:rPr>
              <a:t>@return</a:t>
            </a:r>
            <a:r>
              <a:rPr lang="en" sz="1200"/>
              <a:t>, and </a:t>
            </a:r>
            <a:r>
              <a:rPr lang="en" sz="1200">
                <a:solidFill>
                  <a:srgbClr val="FF0000"/>
                </a:solidFill>
                <a:latin typeface="Courier New"/>
                <a:ea typeface="Courier New"/>
                <a:cs typeface="Courier New"/>
                <a:sym typeface="Courier New"/>
              </a:rPr>
              <a:t>@exception</a:t>
            </a:r>
            <a:r>
              <a:rPr lang="en" sz="1200"/>
              <a:t> tags.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1000"/>
                                        <p:tgtEl>
                                          <p:spTgt spid="937"/>
                                        </p:tgtEl>
                                      </p:cBhvr>
                                    </p:animEffect>
                                  </p:childTnLst>
                                </p:cTn>
                              </p:par>
                              <p:par>
                                <p:cTn fill="hold" nodeType="with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1000"/>
                                        <p:tgtEl>
                                          <p:spTgt spid="9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34"/>
                                        </p:tgtEl>
                                        <p:attrNameLst>
                                          <p:attrName>style.visibility</p:attrName>
                                        </p:attrNameLst>
                                      </p:cBhvr>
                                      <p:to>
                                        <p:strVal val="visible"/>
                                      </p:to>
                                    </p:set>
                                    <p:animEffect filter="fade" transition="in">
                                      <p:cBhvr>
                                        <p:cTn dur="1000"/>
                                        <p:tgtEl>
                                          <p:spTgt spid="9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1000"/>
                                        <p:tgtEl>
                                          <p:spTgt spid="93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1000"/>
                                        <p:tgtEl>
                                          <p:spTgt spid="9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
                                        </p:tgtEl>
                                        <p:attrNameLst>
                                          <p:attrName>style.visibility</p:attrName>
                                        </p:attrNameLst>
                                      </p:cBhvr>
                                      <p:to>
                                        <p:strVal val="visible"/>
                                      </p:to>
                                    </p:set>
                                    <p:animEffect filter="fade" transition="in">
                                      <p:cBhvr>
                                        <p:cTn dur="1000"/>
                                        <p:tgtEl>
                                          <p:spTgt spid="9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p102"/>
          <p:cNvPicPr preferRelativeResize="0"/>
          <p:nvPr/>
        </p:nvPicPr>
        <p:blipFill>
          <a:blip r:embed="rId3">
            <a:alphaModFix/>
          </a:blip>
          <a:stretch>
            <a:fillRect/>
          </a:stretch>
        </p:blipFill>
        <p:spPr>
          <a:xfrm>
            <a:off x="7076138" y="103775"/>
            <a:ext cx="1940889" cy="2708398"/>
          </a:xfrm>
          <a:prstGeom prst="rect">
            <a:avLst/>
          </a:prstGeom>
          <a:noFill/>
          <a:ln>
            <a:noFill/>
          </a:ln>
        </p:spPr>
      </p:pic>
      <p:sp>
        <p:nvSpPr>
          <p:cNvPr id="943" name="Google Shape;943;p102"/>
          <p:cNvSpPr txBox="1"/>
          <p:nvPr>
            <p:ph idx="1" type="body"/>
          </p:nvPr>
        </p:nvSpPr>
        <p:spPr>
          <a:xfrm>
            <a:off x="65250" y="731625"/>
            <a:ext cx="68151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Documentation is an important part of software development. You will be expected to write JavaDoc for all classes, and any public methods or fields. Start practicing now by adding JavaDoc to the </a:t>
            </a:r>
            <a:r>
              <a:rPr lang="en">
                <a:latin typeface="Courier New"/>
                <a:ea typeface="Courier New"/>
                <a:cs typeface="Courier New"/>
                <a:sym typeface="Courier New"/>
              </a:rPr>
              <a:t>Year</a:t>
            </a:r>
            <a:r>
              <a:rPr lang="en"/>
              <a:t> class.</a:t>
            </a:r>
            <a:endParaRPr/>
          </a:p>
        </p:txBody>
      </p:sp>
      <p:sp>
        <p:nvSpPr>
          <p:cNvPr id="944" name="Google Shape;944;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45" name="Google Shape;945;p102"/>
          <p:cNvSpPr txBox="1"/>
          <p:nvPr>
            <p:ph idx="2" type="body"/>
          </p:nvPr>
        </p:nvSpPr>
        <p:spPr>
          <a:xfrm>
            <a:off x="3444450" y="1994900"/>
            <a:ext cx="5125500" cy="2119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Year</a:t>
            </a:r>
            <a:r>
              <a:rPr lang="en"/>
              <a:t> class and add </a:t>
            </a:r>
            <a:r>
              <a:rPr b="1" i="1" lang="en">
                <a:solidFill>
                  <a:srgbClr val="FF0000"/>
                </a:solidFill>
              </a:rPr>
              <a:t>JavaDoc </a:t>
            </a:r>
            <a:r>
              <a:rPr lang="en"/>
              <a:t>for:</a:t>
            </a:r>
            <a:endParaRPr/>
          </a:p>
          <a:p>
            <a:pPr indent="-298450" lvl="1" marL="914400" rtl="0" algn="l">
              <a:spcBef>
                <a:spcPts val="0"/>
              </a:spcBef>
              <a:spcAft>
                <a:spcPts val="0"/>
              </a:spcAft>
              <a:buSzPts val="1100"/>
              <a:buChar char="○"/>
            </a:pPr>
            <a:r>
              <a:rPr lang="en"/>
              <a:t>The </a:t>
            </a:r>
            <a:r>
              <a:rPr b="1" i="1" lang="en">
                <a:solidFill>
                  <a:srgbClr val="FF0000"/>
                </a:solidFill>
              </a:rPr>
              <a:t>class</a:t>
            </a:r>
            <a:r>
              <a:rPr lang="en"/>
              <a:t>.</a:t>
            </a:r>
            <a:endParaRPr>
              <a:solidFill>
                <a:srgbClr val="FF0000"/>
              </a:solidFill>
            </a:endParaRPr>
          </a:p>
          <a:p>
            <a:pPr indent="-298450" lvl="1" marL="914400" rtl="0" algn="l">
              <a:spcBef>
                <a:spcPts val="0"/>
              </a:spcBef>
              <a:spcAft>
                <a:spcPts val="0"/>
              </a:spcAft>
              <a:buSzPts val="1100"/>
              <a:buChar char="○"/>
            </a:pPr>
            <a:r>
              <a:rPr lang="en"/>
              <a:t>All </a:t>
            </a:r>
            <a:r>
              <a:rPr b="1" i="1" lang="en">
                <a:solidFill>
                  <a:srgbClr val="FF0000"/>
                </a:solidFill>
              </a:rPr>
              <a:t>fields</a:t>
            </a:r>
            <a:r>
              <a:rPr lang="en"/>
              <a:t>.</a:t>
            </a:r>
            <a:endParaRPr>
              <a:solidFill>
                <a:srgbClr val="FF0000"/>
              </a:solidFill>
            </a:endParaRPr>
          </a:p>
          <a:p>
            <a:pPr indent="-298450" lvl="1" marL="914400" rtl="0" algn="l">
              <a:spcBef>
                <a:spcPts val="0"/>
              </a:spcBef>
              <a:spcAft>
                <a:spcPts val="0"/>
              </a:spcAft>
              <a:buSzPts val="1100"/>
              <a:buChar char="○"/>
            </a:pPr>
            <a:r>
              <a:rPr lang="en"/>
              <a:t>All </a:t>
            </a:r>
            <a:r>
              <a:rPr b="1" i="1" lang="en">
                <a:solidFill>
                  <a:srgbClr val="FF0000"/>
                </a:solidFill>
              </a:rPr>
              <a:t>methods</a:t>
            </a:r>
            <a:r>
              <a:rPr lang="en"/>
              <a:t>.</a:t>
            </a:r>
            <a:endParaRPr>
              <a:solidFill>
                <a:srgbClr val="FF0000"/>
              </a:solidFill>
            </a:endParaRPr>
          </a:p>
          <a:p>
            <a:pPr indent="-311150" lvl="0" marL="457200" rtl="0" algn="l">
              <a:spcBef>
                <a:spcPts val="0"/>
              </a:spcBef>
              <a:spcAft>
                <a:spcPts val="0"/>
              </a:spcAft>
              <a:buSzPts val="1300"/>
              <a:buChar char="●"/>
            </a:pPr>
            <a:r>
              <a:rPr lang="en"/>
              <a:t>This is practice! You should write JavaDoc even for private members.</a:t>
            </a:r>
            <a:endParaRPr b="1" i="1">
              <a:solidFill>
                <a:srgbClr val="FF0000"/>
              </a:solidFill>
            </a:endParaRPr>
          </a:p>
          <a:p>
            <a:pPr indent="-311150" lvl="0" marL="457200" rtl="0" algn="l">
              <a:spcBef>
                <a:spcPts val="0"/>
              </a:spcBef>
              <a:spcAft>
                <a:spcPts val="0"/>
              </a:spcAft>
              <a:buSzPts val="1300"/>
              <a:buChar char="●"/>
            </a:pPr>
            <a:r>
              <a:rPr b="1" i="1" lang="en">
                <a:solidFill>
                  <a:srgbClr val="FF0000"/>
                </a:solidFill>
              </a:rPr>
              <a:t>Hint</a:t>
            </a:r>
            <a:r>
              <a:rPr lang="en"/>
              <a:t>: if you type </a:t>
            </a:r>
            <a:r>
              <a:rPr lang="en">
                <a:solidFill>
                  <a:srgbClr val="FF0000"/>
                </a:solidFill>
                <a:latin typeface="Courier New"/>
                <a:ea typeface="Courier New"/>
                <a:cs typeface="Courier New"/>
                <a:sym typeface="Courier New"/>
              </a:rPr>
              <a:t>/**</a:t>
            </a:r>
            <a:r>
              <a:rPr lang="en"/>
              <a:t> and hit </a:t>
            </a:r>
            <a:r>
              <a:rPr b="1" i="1" lang="en">
                <a:solidFill>
                  <a:srgbClr val="FF0000"/>
                </a:solidFill>
              </a:rPr>
              <a:t>enter</a:t>
            </a:r>
            <a:r>
              <a:rPr lang="en"/>
              <a:t>, VS Code will helpfully stub out the JavaDoc for you, including </a:t>
            </a:r>
            <a:r>
              <a:rPr lang="en">
                <a:latin typeface="Courier New"/>
                <a:ea typeface="Courier New"/>
                <a:cs typeface="Courier New"/>
                <a:sym typeface="Courier New"/>
              </a:rPr>
              <a:t>@param</a:t>
            </a:r>
            <a:r>
              <a:rPr lang="en"/>
              <a:t> and </a:t>
            </a:r>
            <a:r>
              <a:rPr lang="en">
                <a:latin typeface="Courier New"/>
                <a:ea typeface="Courier New"/>
                <a:cs typeface="Courier New"/>
                <a:sym typeface="Courier New"/>
              </a:rPr>
              <a:t>@return</a:t>
            </a:r>
            <a:r>
              <a:rPr lang="en"/>
              <a:t> tags for you to fill in.</a:t>
            </a:r>
            <a:endParaRPr/>
          </a:p>
        </p:txBody>
      </p:sp>
      <p:sp>
        <p:nvSpPr>
          <p:cNvPr id="946" name="Google Shape;946;p10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JavaDoc of the Year</a:t>
            </a:r>
            <a:endParaRPr/>
          </a:p>
        </p:txBody>
      </p:sp>
      <p:sp>
        <p:nvSpPr>
          <p:cNvPr id="947" name="Google Shape;947;p10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2.22</a:t>
            </a:r>
            <a:endParaRPr/>
          </a:p>
        </p:txBody>
      </p:sp>
      <p:sp>
        <p:nvSpPr>
          <p:cNvPr id="948" name="Google Shape;948;p102"/>
          <p:cNvSpPr txBox="1"/>
          <p:nvPr>
            <p:ph idx="4" type="body"/>
          </p:nvPr>
        </p:nvSpPr>
        <p:spPr>
          <a:xfrm>
            <a:off x="128250" y="1842500"/>
            <a:ext cx="3234000" cy="2816700"/>
          </a:xfrm>
          <a:prstGeom prst="rect">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Computes and returns the factorial of n.</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@param</a:t>
            </a:r>
            <a:r>
              <a:rPr lang="en" sz="900">
                <a:solidFill>
                  <a:srgbClr val="008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8000"/>
                </a:solidFill>
                <a:highlight>
                  <a:srgbClr val="FFFFFF"/>
                </a:highlight>
                <a:latin typeface="Consolas"/>
                <a:ea typeface="Consolas"/>
                <a:cs typeface="Consolas"/>
                <a:sym typeface="Consolas"/>
              </a:rPr>
              <a:t> The integer input.</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@return</a:t>
            </a:r>
            <a:r>
              <a:rPr lang="en" sz="900">
                <a:solidFill>
                  <a:srgbClr val="008000"/>
                </a:solidFill>
                <a:highlight>
                  <a:srgbClr val="FFFFFF"/>
                </a:highlight>
                <a:latin typeface="Consolas"/>
                <a:ea typeface="Consolas"/>
                <a:cs typeface="Consolas"/>
                <a:sym typeface="Consolas"/>
              </a:rPr>
              <a:t> The factorial of n.</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@exception</a:t>
            </a:r>
            <a:r>
              <a:rPr lang="en" sz="900">
                <a:solidFill>
                  <a:srgbClr val="008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IllegalArgumentException</a:t>
            </a:r>
            <a:r>
              <a:rPr lang="en" sz="900">
                <a:solidFill>
                  <a:srgbClr val="008000"/>
                </a:solidFill>
                <a:highlight>
                  <a:srgbClr val="FFFFFF"/>
                </a:highlight>
                <a:latin typeface="Consolas"/>
                <a:ea typeface="Consolas"/>
                <a:cs typeface="Consolas"/>
                <a:sym typeface="Consolas"/>
              </a:rPr>
              <a:t> If n &lt; 0.</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factorial</a:t>
            </a:r>
            <a:r>
              <a:rPr lang="en" sz="900">
                <a:solidFill>
                  <a:srgbClr val="000000"/>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n) {</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000000"/>
                </a:solidFill>
                <a:highlight>
                  <a:srgbClr val="FFFFFF"/>
                </a:highlight>
                <a:latin typeface="Consolas"/>
                <a:ea typeface="Consolas"/>
                <a:cs typeface="Consolas"/>
                <a:sym typeface="Consolas"/>
              </a:rPr>
              <a:t>(n &lt; </a:t>
            </a:r>
            <a:r>
              <a:rPr lang="en" sz="900">
                <a:solidFill>
                  <a:srgbClr val="098658"/>
                </a:solidFill>
                <a:highlight>
                  <a:srgbClr val="FFFFFF"/>
                </a:highlight>
                <a:latin typeface="Consolas"/>
                <a:ea typeface="Consolas"/>
                <a:cs typeface="Consolas"/>
                <a:sym typeface="Consolas"/>
              </a:rPr>
              <a:t>0</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throw</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IllegalArgumentException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"n cannot be negative!"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else</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000000"/>
                </a:solidFill>
                <a:highlight>
                  <a:srgbClr val="FFFFFF"/>
                </a:highlight>
                <a:latin typeface="Consolas"/>
                <a:ea typeface="Consolas"/>
                <a:cs typeface="Consolas"/>
                <a:sym typeface="Consolas"/>
              </a:rPr>
              <a:t>(n ==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 || n == </a:t>
            </a:r>
            <a:r>
              <a:rPr lang="en" sz="900">
                <a:solidFill>
                  <a:srgbClr val="098658"/>
                </a:solidFill>
                <a:highlight>
                  <a:srgbClr val="FFFFFF"/>
                </a:highlight>
                <a:latin typeface="Consolas"/>
                <a:ea typeface="Consolas"/>
                <a:cs typeface="Consolas"/>
                <a:sym typeface="Consolas"/>
              </a:rPr>
              <a:t>0</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else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n * </a:t>
            </a:r>
            <a:r>
              <a:rPr lang="en" sz="900">
                <a:solidFill>
                  <a:srgbClr val="795E26"/>
                </a:solidFill>
                <a:highlight>
                  <a:srgbClr val="FFFFFF"/>
                </a:highlight>
                <a:latin typeface="Consolas"/>
                <a:ea typeface="Consolas"/>
                <a:cs typeface="Consolas"/>
                <a:sym typeface="Consolas"/>
              </a:rPr>
              <a:t>factorial</a:t>
            </a:r>
            <a:r>
              <a:rPr lang="en" sz="900">
                <a:solidFill>
                  <a:srgbClr val="000000"/>
                </a:solidFill>
                <a:highlight>
                  <a:srgbClr val="FFFFFF"/>
                </a:highlight>
                <a:latin typeface="Consolas"/>
                <a:ea typeface="Consolas"/>
                <a:cs typeface="Consolas"/>
                <a:sym typeface="Consolas"/>
              </a:rPr>
              <a:t>(n-</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900">
              <a:solidFill>
                <a:srgbClr val="6A9955"/>
              </a:solidFill>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0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Parsing</a:t>
            </a:r>
            <a:endParaRPr/>
          </a:p>
        </p:txBody>
      </p:sp>
      <p:sp>
        <p:nvSpPr>
          <p:cNvPr id="954" name="Google Shape;954;p103"/>
          <p:cNvSpPr txBox="1"/>
          <p:nvPr>
            <p:ph idx="1" type="body"/>
          </p:nvPr>
        </p:nvSpPr>
        <p:spPr>
          <a:xfrm>
            <a:off x="311725" y="1512925"/>
            <a:ext cx="3999900" cy="3420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You should recall that Python's string type provides some methods that can be used for basic </a:t>
            </a:r>
            <a:r>
              <a:rPr b="1" i="1" lang="en">
                <a:solidFill>
                  <a:srgbClr val="FF0000"/>
                </a:solidFill>
              </a:rPr>
              <a:t>string parsing</a:t>
            </a:r>
            <a:r>
              <a:rPr lang="en"/>
              <a:t>.</a:t>
            </a:r>
            <a:endParaRPr/>
          </a:p>
          <a:p>
            <a:pPr indent="-311150" lvl="0" marL="457200" rtl="0" algn="l">
              <a:spcBef>
                <a:spcPts val="1000"/>
              </a:spcBef>
              <a:spcAft>
                <a:spcPts val="0"/>
              </a:spcAft>
              <a:buSzPts val="1300"/>
              <a:buChar char="●"/>
            </a:pPr>
            <a:r>
              <a:rPr lang="en"/>
              <a:t>At this point it should probably come as no surprise that Java's String class also provides similar methods.</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String t = s.trim()</a:t>
            </a:r>
            <a:r>
              <a:rPr lang="en"/>
              <a:t> returns a </a:t>
            </a:r>
            <a:r>
              <a:rPr b="1" i="1" lang="en">
                <a:solidFill>
                  <a:srgbClr val="FF0000"/>
                </a:solidFill>
              </a:rPr>
              <a:t>copy</a:t>
            </a:r>
            <a:r>
              <a:rPr lang="en"/>
              <a:t> of the string with any leading and trailing </a:t>
            </a:r>
            <a:r>
              <a:rPr b="1" i="1" lang="en">
                <a:solidFill>
                  <a:srgbClr val="FF0000"/>
                </a:solidFill>
              </a:rPr>
              <a:t>whitespace removed</a:t>
            </a:r>
            <a:r>
              <a:rPr lang="en"/>
              <a:t> (including newlines). Whitespace is </a:t>
            </a:r>
            <a:r>
              <a:rPr b="1" i="1" lang="en">
                <a:solidFill>
                  <a:srgbClr val="FF0000"/>
                </a:solidFill>
              </a:rPr>
              <a:t>not</a:t>
            </a:r>
            <a:r>
              <a:rPr lang="en"/>
              <a:t> removed from the middle of the string. It is similar to Python's </a:t>
            </a:r>
            <a:r>
              <a:rPr lang="en">
                <a:latin typeface="Courier New"/>
                <a:ea typeface="Courier New"/>
                <a:cs typeface="Courier New"/>
                <a:sym typeface="Courier New"/>
              </a:rPr>
              <a:t>strip()</a:t>
            </a:r>
            <a:r>
              <a:rPr lang="en"/>
              <a:t> method.</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String[] tokens = s.split(regex)</a:t>
            </a:r>
            <a:r>
              <a:rPr lang="en"/>
              <a:t> will use the specified </a:t>
            </a:r>
            <a:r>
              <a:rPr b="1" i="1" lang="en">
                <a:solidFill>
                  <a:srgbClr val="FF0000"/>
                </a:solidFill>
              </a:rPr>
              <a:t>regular expression</a:t>
            </a:r>
            <a:r>
              <a:rPr lang="en"/>
              <a:t> to split a string into an array of tokens. It is similar to Python's </a:t>
            </a:r>
            <a:r>
              <a:rPr lang="en">
                <a:latin typeface="Courier New"/>
                <a:ea typeface="Courier New"/>
                <a:cs typeface="Courier New"/>
                <a:sym typeface="Courier New"/>
              </a:rPr>
              <a:t>split()</a:t>
            </a:r>
            <a:r>
              <a:rPr lang="en"/>
              <a:t> method.</a:t>
            </a:r>
            <a:endParaRPr/>
          </a:p>
        </p:txBody>
      </p:sp>
      <p:sp>
        <p:nvSpPr>
          <p:cNvPr id="955" name="Google Shape;955;p103"/>
          <p:cNvSpPr txBox="1"/>
          <p:nvPr>
            <p:ph idx="2" type="body"/>
          </p:nvPr>
        </p:nvSpPr>
        <p:spPr>
          <a:xfrm>
            <a:off x="4603825" y="2448350"/>
            <a:ext cx="3999900" cy="831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parseMe</a:t>
            </a:r>
            <a:r>
              <a:rPr lang="en" sz="1050">
                <a:solidFill>
                  <a:srgbClr val="000000"/>
                </a:solidFill>
                <a:latin typeface="Consolas"/>
                <a:ea typeface="Consolas"/>
                <a:cs typeface="Consolas"/>
                <a:sym typeface="Consolas"/>
              </a:rPr>
              <a:t> = </a:t>
            </a:r>
            <a:r>
              <a:rPr lang="en" sz="1050">
                <a:solidFill>
                  <a:srgbClr val="A31515"/>
                </a:solidFill>
                <a:latin typeface="Consolas"/>
                <a:ea typeface="Consolas"/>
                <a:cs typeface="Consolas"/>
                <a:sym typeface="Consolas"/>
              </a:rPr>
              <a:t>"</a:t>
            </a:r>
            <a:r>
              <a:rPr lang="en" sz="1050">
                <a:solidFill>
                  <a:srgbClr val="EE0000"/>
                </a:solidFill>
                <a:latin typeface="Consolas"/>
                <a:ea typeface="Consolas"/>
                <a:cs typeface="Consolas"/>
                <a:sym typeface="Consolas"/>
              </a:rPr>
              <a:t>\t</a:t>
            </a:r>
            <a:r>
              <a:rPr lang="en" sz="1050">
                <a:solidFill>
                  <a:srgbClr val="A31515"/>
                </a:solidFill>
                <a:latin typeface="Consolas"/>
                <a:ea typeface="Consolas"/>
                <a:cs typeface="Consolas"/>
                <a:sym typeface="Consolas"/>
              </a:rPr>
              <a:t>  The.Quick.Brown.Fox</a:t>
            </a:r>
            <a:r>
              <a:rPr lang="en" sz="1050">
                <a:solidFill>
                  <a:srgbClr val="EE0000"/>
                </a:solidFill>
                <a:latin typeface="Consolas"/>
                <a:ea typeface="Consolas"/>
                <a:cs typeface="Consolas"/>
                <a:sym typeface="Consolas"/>
              </a:rPr>
              <a:t>\n</a:t>
            </a:r>
            <a:r>
              <a:rPr lang="en" sz="1050">
                <a:solidFill>
                  <a:srgbClr val="A31515"/>
                </a:solidFill>
                <a:latin typeface="Consolas"/>
                <a:ea typeface="Consolas"/>
                <a:cs typeface="Consolas"/>
                <a:sym typeface="Consolas"/>
              </a:rPr>
              <a: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trimmed</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parseMe</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trim</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tokens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trimmed</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split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System</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out</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Arrays</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toString</a:t>
            </a:r>
            <a:r>
              <a:rPr lang="en" sz="1050">
                <a:solidFill>
                  <a:srgbClr val="000000"/>
                </a:solidFill>
                <a:latin typeface="Consolas"/>
                <a:ea typeface="Consolas"/>
                <a:cs typeface="Consolas"/>
                <a:sym typeface="Consolas"/>
              </a:rPr>
              <a:t>(tokens));</a:t>
            </a:r>
            <a:endParaRPr sz="1050">
              <a:solidFill>
                <a:srgbClr val="999999"/>
              </a:solidFill>
              <a:latin typeface="Consolas"/>
              <a:ea typeface="Consolas"/>
              <a:cs typeface="Consolas"/>
              <a:sym typeface="Consolas"/>
            </a:endParaRPr>
          </a:p>
        </p:txBody>
      </p:sp>
      <p:sp>
        <p:nvSpPr>
          <p:cNvPr id="956" name="Google Shape;956;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7" name="Google Shape;957;p103"/>
          <p:cNvSpPr/>
          <p:nvPr/>
        </p:nvSpPr>
        <p:spPr>
          <a:xfrm>
            <a:off x="7516650" y="2345750"/>
            <a:ext cx="1127675" cy="470936"/>
          </a:xfrm>
          <a:custGeom>
            <a:rect b="b" l="l" r="r" t="t"/>
            <a:pathLst>
              <a:path extrusionOk="0" h="21266" w="45107">
                <a:moveTo>
                  <a:pt x="27373" y="0"/>
                </a:moveTo>
                <a:cubicBezTo>
                  <a:pt x="30206" y="3127"/>
                  <a:pt x="48933" y="15232"/>
                  <a:pt x="44371" y="18764"/>
                </a:cubicBezTo>
                <a:cubicBezTo>
                  <a:pt x="39809" y="22296"/>
                  <a:pt x="7395" y="20787"/>
                  <a:pt x="0" y="21192"/>
                </a:cubicBezTo>
              </a:path>
            </a:pathLst>
          </a:custGeom>
          <a:noFill/>
          <a:ln cap="flat" cmpd="sng" w="19050">
            <a:solidFill>
              <a:srgbClr val="FF0000"/>
            </a:solidFill>
            <a:prstDash val="solid"/>
            <a:round/>
            <a:headEnd len="med" w="med" type="none"/>
            <a:tailEnd len="med" w="med" type="triangle"/>
          </a:ln>
        </p:spPr>
      </p:sp>
      <p:sp>
        <p:nvSpPr>
          <p:cNvPr id="958" name="Google Shape;958;p103"/>
          <p:cNvSpPr txBox="1"/>
          <p:nvPr/>
        </p:nvSpPr>
        <p:spPr>
          <a:xfrm>
            <a:off x="4603925" y="1454619"/>
            <a:ext cx="39999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The </a:t>
            </a:r>
            <a:r>
              <a:rPr lang="en" sz="1200">
                <a:latin typeface="Courier New"/>
                <a:ea typeface="Courier New"/>
                <a:cs typeface="Courier New"/>
                <a:sym typeface="Courier New"/>
              </a:rPr>
              <a:t>String</a:t>
            </a:r>
            <a:r>
              <a:rPr lang="en" sz="1200"/>
              <a:t> class provides </a:t>
            </a:r>
            <a:r>
              <a:rPr b="1" i="1" lang="en" sz="1200">
                <a:solidFill>
                  <a:srgbClr val="FF0000"/>
                </a:solidFill>
              </a:rPr>
              <a:t>many</a:t>
            </a:r>
            <a:r>
              <a:rPr lang="en" sz="1200">
                <a:solidFill>
                  <a:srgbClr val="FF0000"/>
                </a:solidFill>
              </a:rPr>
              <a:t> </a:t>
            </a:r>
            <a:r>
              <a:rPr lang="en" sz="1200"/>
              <a:t>methods that can be used for </a:t>
            </a:r>
            <a:r>
              <a:rPr b="1" i="1" lang="en" sz="1200">
                <a:solidFill>
                  <a:srgbClr val="FF0000"/>
                </a:solidFill>
              </a:rPr>
              <a:t>string parsing</a:t>
            </a:r>
            <a:r>
              <a:rPr lang="en" sz="1200"/>
              <a:t>. One such method is </a:t>
            </a:r>
            <a:r>
              <a:rPr lang="en" sz="1200">
                <a:solidFill>
                  <a:srgbClr val="FF0000"/>
                </a:solidFill>
                <a:latin typeface="Courier New"/>
                <a:ea typeface="Courier New"/>
                <a:cs typeface="Courier New"/>
                <a:sym typeface="Courier New"/>
              </a:rPr>
              <a:t>trim()</a:t>
            </a:r>
            <a:r>
              <a:rPr lang="en" sz="1200"/>
              <a:t>, which will return a copy of the string with </a:t>
            </a:r>
            <a:r>
              <a:rPr b="1" i="1" lang="en" sz="1200">
                <a:solidFill>
                  <a:srgbClr val="FF0000"/>
                </a:solidFill>
              </a:rPr>
              <a:t>whitespace removed</a:t>
            </a:r>
            <a:r>
              <a:rPr lang="en" sz="1200">
                <a:solidFill>
                  <a:srgbClr val="FF0000"/>
                </a:solidFill>
              </a:rPr>
              <a:t> </a:t>
            </a:r>
            <a:r>
              <a:rPr lang="en" sz="1200"/>
              <a:t>from both ends (but </a:t>
            </a:r>
            <a:r>
              <a:rPr b="1" i="1" lang="en" sz="1200">
                <a:solidFill>
                  <a:srgbClr val="FF0000"/>
                </a:solidFill>
              </a:rPr>
              <a:t>not</a:t>
            </a:r>
            <a:r>
              <a:rPr lang="en" sz="1200"/>
              <a:t> the middle).</a:t>
            </a:r>
            <a:endParaRPr sz="1200"/>
          </a:p>
        </p:txBody>
      </p:sp>
      <p:sp>
        <p:nvSpPr>
          <p:cNvPr id="959" name="Google Shape;959;p103"/>
          <p:cNvSpPr/>
          <p:nvPr/>
        </p:nvSpPr>
        <p:spPr>
          <a:xfrm>
            <a:off x="7660125" y="2987774"/>
            <a:ext cx="801825" cy="470898"/>
          </a:xfrm>
          <a:custGeom>
            <a:rect b="b" l="l" r="r" t="t"/>
            <a:pathLst>
              <a:path extrusionOk="0" h="21339" w="32073">
                <a:moveTo>
                  <a:pt x="19205" y="21339"/>
                </a:moveTo>
                <a:cubicBezTo>
                  <a:pt x="21265" y="18175"/>
                  <a:pt x="34768" y="5886"/>
                  <a:pt x="31567" y="2354"/>
                </a:cubicBezTo>
                <a:cubicBezTo>
                  <a:pt x="28366" y="-1178"/>
                  <a:pt x="5261" y="515"/>
                  <a:pt x="0" y="147"/>
                </a:cubicBezTo>
              </a:path>
            </a:pathLst>
          </a:custGeom>
          <a:noFill/>
          <a:ln cap="flat" cmpd="sng" w="19050">
            <a:solidFill>
              <a:srgbClr val="FF0000"/>
            </a:solidFill>
            <a:prstDash val="solid"/>
            <a:round/>
            <a:headEnd len="med" w="med" type="none"/>
            <a:tailEnd len="med" w="med" type="triangle"/>
          </a:ln>
        </p:spPr>
      </p:sp>
      <p:sp>
        <p:nvSpPr>
          <p:cNvPr id="960" name="Google Shape;960;p103"/>
          <p:cNvSpPr txBox="1"/>
          <p:nvPr/>
        </p:nvSpPr>
        <p:spPr>
          <a:xfrm>
            <a:off x="4603925" y="3402706"/>
            <a:ext cx="3999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Another example is the </a:t>
            </a:r>
            <a:r>
              <a:rPr lang="en" sz="1200">
                <a:solidFill>
                  <a:srgbClr val="FF0000"/>
                </a:solidFill>
                <a:latin typeface="Courier New"/>
                <a:ea typeface="Courier New"/>
                <a:cs typeface="Courier New"/>
                <a:sym typeface="Courier New"/>
              </a:rPr>
              <a:t>split(String regex)</a:t>
            </a:r>
            <a:r>
              <a:rPr lang="en" sz="1200"/>
              <a:t> method, which uses a </a:t>
            </a:r>
            <a:r>
              <a:rPr b="1" i="1" lang="en" sz="1200">
                <a:solidFill>
                  <a:srgbClr val="FF0000"/>
                </a:solidFill>
              </a:rPr>
              <a:t>regular expression</a:t>
            </a:r>
            <a:r>
              <a:rPr lang="en" sz="1200"/>
              <a:t> to</a:t>
            </a:r>
            <a:r>
              <a:rPr lang="en" sz="1200"/>
              <a:t> split the string into an </a:t>
            </a:r>
            <a:r>
              <a:rPr b="1" i="1" lang="en" sz="1200">
                <a:solidFill>
                  <a:srgbClr val="FF0000"/>
                </a:solidFill>
              </a:rPr>
              <a:t>array of tokens</a:t>
            </a:r>
            <a:r>
              <a:rPr lang="en" sz="1200"/>
              <a:t>.</a:t>
            </a:r>
            <a:endParaRPr sz="1200"/>
          </a:p>
        </p:txBody>
      </p:sp>
      <p:sp>
        <p:nvSpPr>
          <p:cNvPr id="961" name="Google Shape;961;p103"/>
          <p:cNvSpPr txBox="1"/>
          <p:nvPr/>
        </p:nvSpPr>
        <p:spPr>
          <a:xfrm>
            <a:off x="4603925" y="4218831"/>
            <a:ext cx="3999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200"/>
              <a:t>Some common regular expressions include </a:t>
            </a:r>
            <a:r>
              <a:rPr lang="en" sz="1200">
                <a:solidFill>
                  <a:srgbClr val="FF0000"/>
                </a:solidFill>
                <a:latin typeface="Courier New"/>
                <a:ea typeface="Courier New"/>
                <a:cs typeface="Courier New"/>
                <a:sym typeface="Courier New"/>
              </a:rPr>
              <a:t>""</a:t>
            </a:r>
            <a:r>
              <a:rPr lang="en" sz="1200"/>
              <a:t> (the empty string) which will split into </a:t>
            </a:r>
            <a:r>
              <a:rPr b="1" i="1" lang="en" sz="1200">
                <a:solidFill>
                  <a:srgbClr val="FF0000"/>
                </a:solidFill>
              </a:rPr>
              <a:t>individual characters</a:t>
            </a:r>
            <a:r>
              <a:rPr lang="en" sz="1200"/>
              <a:t>,</a:t>
            </a:r>
            <a:r>
              <a:rPr lang="en" sz="1200"/>
              <a:t> and </a:t>
            </a:r>
            <a:r>
              <a:rPr lang="en" sz="1200">
                <a:solidFill>
                  <a:srgbClr val="FF0000"/>
                </a:solidFill>
                <a:latin typeface="Courier New"/>
                <a:ea typeface="Courier New"/>
                <a:cs typeface="Courier New"/>
                <a:sym typeface="Courier New"/>
              </a:rPr>
              <a:t>" "</a:t>
            </a:r>
            <a:r>
              <a:rPr lang="en" sz="1200"/>
              <a:t> (a space) which will split on </a:t>
            </a:r>
            <a:r>
              <a:rPr b="1" i="1" lang="en" sz="1200">
                <a:solidFill>
                  <a:srgbClr val="FF0000"/>
                </a:solidFill>
              </a:rPr>
              <a:t>spaces</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1000"/>
                                        <p:tgtEl>
                                          <p:spTgt spid="958"/>
                                        </p:tgtEl>
                                      </p:cBhvr>
                                    </p:animEffect>
                                  </p:childTnLst>
                                </p:cTn>
                              </p:par>
                              <p:par>
                                <p:cTn fill="hold" nodeType="with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1000"/>
                                        <p:tgtEl>
                                          <p:spTgt spid="9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1000"/>
                                        <p:tgtEl>
                                          <p:spTgt spid="9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1000"/>
                                        <p:tgtEl>
                                          <p:spTgt spid="9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1000"/>
                                        <p:tgtEl>
                                          <p:spTgt spid="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0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String parsing refers to extracting data from a string. Often this means converting the string data into some other form. Let's practice string parsing in Java by parsing strings into </a:t>
            </a:r>
            <a:r>
              <a:rPr lang="en">
                <a:latin typeface="Courier New"/>
                <a:ea typeface="Courier New"/>
                <a:cs typeface="Courier New"/>
                <a:sym typeface="Courier New"/>
              </a:rPr>
              <a:t>Year</a:t>
            </a:r>
            <a:r>
              <a:rPr lang="en"/>
              <a:t> objects.</a:t>
            </a:r>
            <a:endParaRPr/>
          </a:p>
        </p:txBody>
      </p:sp>
      <p:sp>
        <p:nvSpPr>
          <p:cNvPr id="967" name="Google Shape;967;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8" name="Google Shape;968;p104"/>
          <p:cNvSpPr txBox="1"/>
          <p:nvPr>
            <p:ph idx="2" type="body"/>
          </p:nvPr>
        </p:nvSpPr>
        <p:spPr>
          <a:xfrm>
            <a:off x="3623650" y="1530950"/>
            <a:ext cx="5190300" cy="33078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latin typeface="Courier New"/>
                <a:ea typeface="Courier New"/>
                <a:cs typeface="Courier New"/>
                <a:sym typeface="Courier New"/>
              </a:rPr>
              <a:t>Year</a:t>
            </a:r>
            <a:r>
              <a:rPr lang="en" sz="1400"/>
              <a:t> class and add a static method named "</a:t>
            </a:r>
            <a:r>
              <a:rPr lang="en" sz="1400">
                <a:solidFill>
                  <a:srgbClr val="FF0000"/>
                </a:solidFill>
                <a:latin typeface="Courier New"/>
                <a:ea typeface="Courier New"/>
                <a:cs typeface="Courier New"/>
                <a:sym typeface="Courier New"/>
              </a:rPr>
              <a:t>parseYears</a:t>
            </a:r>
            <a:r>
              <a:rPr lang="en" sz="1400"/>
              <a:t>" that declares a parameter for a string of </a:t>
            </a:r>
            <a:r>
              <a:rPr lang="en" sz="1400">
                <a:solidFill>
                  <a:srgbClr val="FF0000"/>
                </a:solidFill>
                <a:latin typeface="Courier New"/>
                <a:ea typeface="Courier New"/>
                <a:cs typeface="Courier New"/>
                <a:sym typeface="Courier New"/>
              </a:rPr>
              <a:t>years</a:t>
            </a:r>
            <a:r>
              <a:rPr lang="en" sz="1400">
                <a:solidFill>
                  <a:srgbClr val="FF0000"/>
                </a:solidFill>
              </a:rPr>
              <a:t> </a:t>
            </a:r>
            <a:r>
              <a:rPr lang="en" sz="1400"/>
              <a:t>and </a:t>
            </a:r>
            <a:r>
              <a:rPr b="1" i="1" lang="en" sz="1400">
                <a:solidFill>
                  <a:srgbClr val="FF0000"/>
                </a:solidFill>
              </a:rPr>
              <a:t>returns an array</a:t>
            </a:r>
            <a:r>
              <a:rPr lang="en" sz="1400"/>
              <a:t> of </a:t>
            </a:r>
            <a:r>
              <a:rPr lang="en" sz="1400">
                <a:latin typeface="Courier New"/>
                <a:ea typeface="Courier New"/>
                <a:cs typeface="Courier New"/>
                <a:sym typeface="Courier New"/>
              </a:rPr>
              <a:t>Year</a:t>
            </a:r>
            <a:r>
              <a:rPr lang="en" sz="1400"/>
              <a:t> objects.</a:t>
            </a:r>
            <a:endParaRPr sz="1400"/>
          </a:p>
          <a:p>
            <a:pPr indent="-304800" lvl="1" marL="914400" rtl="0" algn="l">
              <a:spcBef>
                <a:spcPts val="0"/>
              </a:spcBef>
              <a:spcAft>
                <a:spcPts val="0"/>
              </a:spcAft>
              <a:buSzPts val="1200"/>
              <a:buChar char="○"/>
            </a:pPr>
            <a:r>
              <a:rPr lang="en" sz="1200"/>
              <a:t>Assume the string is in the format </a:t>
            </a:r>
            <a:r>
              <a:rPr lang="en" sz="1200">
                <a:solidFill>
                  <a:srgbClr val="FF0000"/>
                </a:solidFill>
                <a:latin typeface="Courier New"/>
                <a:ea typeface="Courier New"/>
                <a:cs typeface="Courier New"/>
                <a:sym typeface="Courier New"/>
              </a:rPr>
              <a:t>"&lt;year 1&gt; &lt;year 2&gt; … &lt;year n&gt;"</a:t>
            </a:r>
            <a:r>
              <a:rPr lang="en" sz="1200"/>
              <a:t> where </a:t>
            </a:r>
            <a:r>
              <a:rPr lang="en" sz="1200">
                <a:solidFill>
                  <a:srgbClr val="FF0000"/>
                </a:solidFill>
                <a:latin typeface="Courier New"/>
                <a:ea typeface="Courier New"/>
                <a:cs typeface="Courier New"/>
                <a:sym typeface="Courier New"/>
              </a:rPr>
              <a:t>n</a:t>
            </a:r>
            <a:r>
              <a:rPr lang="en" sz="1200"/>
              <a:t> is the number of years in the string, e.g. </a:t>
            </a:r>
            <a:r>
              <a:rPr lang="en" sz="1200">
                <a:solidFill>
                  <a:srgbClr val="FF0000"/>
                </a:solidFill>
                <a:latin typeface="Courier New"/>
                <a:ea typeface="Courier New"/>
                <a:cs typeface="Courier New"/>
                <a:sym typeface="Courier New"/>
              </a:rPr>
              <a:t>"1975 2000 1952 2023"</a:t>
            </a:r>
            <a:endParaRPr sz="1200">
              <a:solidFill>
                <a:srgbClr val="FF0000"/>
              </a:solidFill>
              <a:latin typeface="Courier New"/>
              <a:ea typeface="Courier New"/>
              <a:cs typeface="Courier New"/>
              <a:sym typeface="Courier New"/>
            </a:endParaRPr>
          </a:p>
          <a:p>
            <a:pPr indent="-304800" lvl="1" marL="914400" rtl="0" algn="l">
              <a:spcBef>
                <a:spcPts val="0"/>
              </a:spcBef>
              <a:spcAft>
                <a:spcPts val="0"/>
              </a:spcAft>
              <a:buSzPts val="1200"/>
              <a:buChar char="○"/>
            </a:pPr>
            <a:r>
              <a:rPr lang="en" sz="1200"/>
              <a:t>Use </a:t>
            </a:r>
            <a:r>
              <a:rPr lang="en" sz="1200">
                <a:solidFill>
                  <a:srgbClr val="FF0000"/>
                </a:solidFill>
                <a:latin typeface="Courier New"/>
                <a:ea typeface="Courier New"/>
                <a:cs typeface="Courier New"/>
                <a:sym typeface="Courier New"/>
              </a:rPr>
              <a:t>Integer.parseInt(String)</a:t>
            </a:r>
            <a:r>
              <a:rPr lang="en" sz="1200"/>
              <a:t> to convert the tokens into integers.</a:t>
            </a:r>
            <a:endParaRPr sz="1200"/>
          </a:p>
          <a:p>
            <a:pPr indent="-304800" lvl="1" marL="914400" rtl="0" algn="l">
              <a:spcBef>
                <a:spcPts val="0"/>
              </a:spcBef>
              <a:spcAft>
                <a:spcPts val="0"/>
              </a:spcAft>
              <a:buSzPts val="1200"/>
              <a:buChar char="○"/>
            </a:pPr>
            <a:r>
              <a:rPr b="1" i="1" lang="en" sz="1200">
                <a:solidFill>
                  <a:srgbClr val="FF0000"/>
                </a:solidFill>
              </a:rPr>
              <a:t>Do not</a:t>
            </a:r>
            <a:r>
              <a:rPr lang="en" sz="1200"/>
              <a:t> worry about </a:t>
            </a:r>
            <a:r>
              <a:rPr b="1" i="1" lang="en" sz="1200">
                <a:solidFill>
                  <a:srgbClr val="FF0000"/>
                </a:solidFill>
              </a:rPr>
              <a:t>error handling</a:t>
            </a:r>
            <a:r>
              <a:rPr lang="en" sz="1200"/>
              <a:t>; assume the string is correctly formatted.</a:t>
            </a:r>
            <a:endParaRPr sz="1200"/>
          </a:p>
          <a:p>
            <a:pPr indent="-317500" lvl="0" marL="457200" rtl="0" algn="l">
              <a:spcBef>
                <a:spcPts val="0"/>
              </a:spcBef>
              <a:spcAft>
                <a:spcPts val="0"/>
              </a:spcAft>
              <a:buSzPts val="1400"/>
              <a:buChar char="●"/>
            </a:pPr>
            <a:r>
              <a:rPr lang="en" sz="1400"/>
              <a:t>Test your new method by calling it from </a:t>
            </a:r>
            <a:r>
              <a:rPr lang="en" sz="1400">
                <a:solidFill>
                  <a:srgbClr val="FF0000"/>
                </a:solidFill>
                <a:latin typeface="Courier New"/>
                <a:ea typeface="Courier New"/>
                <a:cs typeface="Courier New"/>
                <a:sym typeface="Courier New"/>
              </a:rPr>
              <a:t>main</a:t>
            </a:r>
            <a:r>
              <a:rPr lang="en" sz="1400"/>
              <a:t> with the properly formatted string of your choice.</a:t>
            </a:r>
            <a:endParaRPr sz="1400"/>
          </a:p>
          <a:p>
            <a:pPr indent="-304800" lvl="1" marL="914400" rtl="0" algn="l">
              <a:spcBef>
                <a:spcPts val="0"/>
              </a:spcBef>
              <a:spcAft>
                <a:spcPts val="0"/>
              </a:spcAft>
              <a:buSzPts val="1200"/>
              <a:buChar char="○"/>
            </a:pPr>
            <a:r>
              <a:rPr lang="en" sz="1200"/>
              <a:t>Use </a:t>
            </a:r>
            <a:r>
              <a:rPr lang="en" sz="1200">
                <a:solidFill>
                  <a:srgbClr val="FF0000"/>
                </a:solidFill>
                <a:latin typeface="Courier New"/>
                <a:ea typeface="Courier New"/>
                <a:cs typeface="Courier New"/>
                <a:sym typeface="Courier New"/>
              </a:rPr>
              <a:t>Arrays.toString()</a:t>
            </a:r>
            <a:r>
              <a:rPr lang="en" sz="1200"/>
              <a:t> to print the array that is returned.</a:t>
            </a:r>
            <a:endParaRPr b="1" sz="1200"/>
          </a:p>
        </p:txBody>
      </p:sp>
      <p:sp>
        <p:nvSpPr>
          <p:cNvPr id="969" name="Google Shape;969;p10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Parsing Years</a:t>
            </a:r>
            <a:endParaRPr/>
          </a:p>
        </p:txBody>
      </p:sp>
      <p:sp>
        <p:nvSpPr>
          <p:cNvPr id="970" name="Google Shape;970;p10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2.23</a:t>
            </a:r>
            <a:endParaRPr/>
          </a:p>
        </p:txBody>
      </p:sp>
      <p:pic>
        <p:nvPicPr>
          <p:cNvPr id="971" name="Google Shape;971;p104"/>
          <p:cNvPicPr preferRelativeResize="0"/>
          <p:nvPr/>
        </p:nvPicPr>
        <p:blipFill>
          <a:blip r:embed="rId3">
            <a:alphaModFix/>
          </a:blip>
          <a:stretch>
            <a:fillRect/>
          </a:stretch>
        </p:blipFill>
        <p:spPr>
          <a:xfrm>
            <a:off x="1335675" y="1598325"/>
            <a:ext cx="1151442" cy="1932900"/>
          </a:xfrm>
          <a:prstGeom prst="rect">
            <a:avLst/>
          </a:prstGeom>
          <a:noFill/>
          <a:ln>
            <a:noFill/>
          </a:ln>
        </p:spPr>
      </p:pic>
      <p:sp>
        <p:nvSpPr>
          <p:cNvPr id="972" name="Google Shape;972;p104"/>
          <p:cNvSpPr txBox="1"/>
          <p:nvPr>
            <p:ph idx="4" type="body"/>
          </p:nvPr>
        </p:nvSpPr>
        <p:spPr>
          <a:xfrm>
            <a:off x="199150" y="3668675"/>
            <a:ext cx="3424500" cy="954300"/>
          </a:xfrm>
          <a:prstGeom prst="rect">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parseMe</a:t>
            </a:r>
            <a:r>
              <a:rPr lang="en" sz="1000">
                <a:solidFill>
                  <a:srgbClr val="000000"/>
                </a:solidFill>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t>
            </a:r>
            <a:r>
              <a:rPr lang="en" sz="1000">
                <a:solidFill>
                  <a:srgbClr val="EE0000"/>
                </a:solidFill>
                <a:highlight>
                  <a:srgbClr val="FFFFFF"/>
                </a:highlight>
                <a:latin typeface="Consolas"/>
                <a:ea typeface="Consolas"/>
                <a:cs typeface="Consolas"/>
                <a:sym typeface="Consolas"/>
              </a:rPr>
              <a:t>\t</a:t>
            </a:r>
            <a:r>
              <a:rPr lang="en" sz="1000">
                <a:solidFill>
                  <a:srgbClr val="A31515"/>
                </a:solidFill>
                <a:highlight>
                  <a:srgbClr val="FFFFFF"/>
                </a:highlight>
                <a:latin typeface="Consolas"/>
                <a:ea typeface="Consolas"/>
                <a:cs typeface="Consolas"/>
                <a:sym typeface="Consolas"/>
              </a:rPr>
              <a:t>  The.Quick.Brown.Fox</a:t>
            </a:r>
            <a:r>
              <a:rPr lang="en" sz="1000">
                <a:solidFill>
                  <a:srgbClr val="EE0000"/>
                </a:solidFill>
                <a:highlight>
                  <a:srgbClr val="FFFFFF"/>
                </a:highlight>
                <a:latin typeface="Consolas"/>
                <a:ea typeface="Consolas"/>
                <a:cs typeface="Consolas"/>
                <a:sym typeface="Consolas"/>
              </a:rPr>
              <a:t>\n</a:t>
            </a:r>
            <a:r>
              <a:rPr lang="en" sz="1000">
                <a:solidFill>
                  <a:srgbClr val="A31515"/>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trimmed</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parseMe</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trim</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tokens</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trimmed</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split</a:t>
            </a:r>
            <a:r>
              <a:rPr lang="en" sz="1000">
                <a:solidFill>
                  <a:srgbClr val="000000"/>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Arrays</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toString</a:t>
            </a:r>
            <a:r>
              <a:rPr lang="en" sz="1000">
                <a:solidFill>
                  <a:srgbClr val="000000"/>
                </a:solidFill>
                <a:highlight>
                  <a:srgbClr val="FFFFFF"/>
                </a:highlight>
                <a:latin typeface="Consolas"/>
                <a:ea typeface="Consolas"/>
                <a:cs typeface="Consolas"/>
                <a:sym typeface="Consolas"/>
              </a:rPr>
              <a:t>(tokens));</a:t>
            </a:r>
            <a:endParaRPr sz="1000">
              <a:solidFill>
                <a:srgbClr val="4EC9B0"/>
              </a:solidFill>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05"/>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78" name="Google Shape;978;p105"/>
          <p:cNvSpPr txBox="1"/>
          <p:nvPr>
            <p:ph type="title"/>
          </p:nvPr>
        </p:nvSpPr>
        <p:spPr>
          <a:xfrm>
            <a:off x="5188525" y="97464"/>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java.util.Random</a:t>
            </a:r>
            <a:endParaRPr>
              <a:latin typeface="Consolas"/>
              <a:ea typeface="Consolas"/>
              <a:cs typeface="Consolas"/>
              <a:sym typeface="Consolas"/>
            </a:endParaRPr>
          </a:p>
        </p:txBody>
      </p:sp>
      <p:sp>
        <p:nvSpPr>
          <p:cNvPr id="979" name="Google Shape;979;p105"/>
          <p:cNvSpPr txBox="1"/>
          <p:nvPr>
            <p:ph idx="1" type="body"/>
          </p:nvPr>
        </p:nvSpPr>
        <p:spPr>
          <a:xfrm>
            <a:off x="207550" y="307350"/>
            <a:ext cx="4488000" cy="4528800"/>
          </a:xfrm>
          <a:prstGeom prst="rect">
            <a:avLst/>
          </a:prstGeom>
        </p:spPr>
        <p:txBody>
          <a:bodyPr anchorCtr="0" anchor="ctr" bIns="91425" lIns="91425" spcFirstLastPara="1" rIns="91425" wrap="square" tIns="91425">
            <a:spAutoFit/>
          </a:bodyPr>
          <a:lstStyle/>
          <a:p>
            <a:pPr indent="-304800" lvl="0" marL="457200" rtl="0" algn="l">
              <a:spcBef>
                <a:spcPts val="0"/>
              </a:spcBef>
              <a:spcAft>
                <a:spcPts val="0"/>
              </a:spcAft>
              <a:buSzPts val="1200"/>
              <a:buChar char="●"/>
            </a:pPr>
            <a:r>
              <a:rPr lang="en" sz="1200"/>
              <a:t>It is often the case that the programs that we write will need some elements of </a:t>
            </a:r>
            <a:r>
              <a:rPr b="1" i="1" lang="en" sz="1200">
                <a:solidFill>
                  <a:srgbClr val="FF0000"/>
                </a:solidFill>
              </a:rPr>
              <a:t>randomness</a:t>
            </a:r>
            <a:r>
              <a:rPr lang="en" sz="1200"/>
              <a:t>.</a:t>
            </a:r>
            <a:endParaRPr sz="1200"/>
          </a:p>
          <a:p>
            <a:pPr indent="-292100" lvl="1" marL="914400" rtl="0" algn="l">
              <a:spcBef>
                <a:spcPts val="0"/>
              </a:spcBef>
              <a:spcAft>
                <a:spcPts val="0"/>
              </a:spcAft>
              <a:buSzPts val="1000"/>
              <a:buChar char="○"/>
            </a:pPr>
            <a:r>
              <a:rPr lang="en" sz="1000"/>
              <a:t>We accomplished this in Python by importing the </a:t>
            </a:r>
            <a:r>
              <a:rPr lang="en" sz="1000">
                <a:latin typeface="Courier New"/>
                <a:ea typeface="Courier New"/>
                <a:cs typeface="Courier New"/>
                <a:sym typeface="Courier New"/>
              </a:rPr>
              <a:t>random</a:t>
            </a:r>
            <a:r>
              <a:rPr lang="en" sz="1000"/>
              <a:t> module and calling the </a:t>
            </a:r>
            <a:r>
              <a:rPr lang="en" sz="1000">
                <a:latin typeface="Courier New"/>
                <a:ea typeface="Courier New"/>
                <a:cs typeface="Courier New"/>
                <a:sym typeface="Courier New"/>
              </a:rPr>
              <a:t>randint(a, b)</a:t>
            </a:r>
            <a:r>
              <a:rPr lang="en" sz="1000"/>
              <a:t> and </a:t>
            </a:r>
            <a:r>
              <a:rPr lang="en" sz="1000">
                <a:latin typeface="Courier New"/>
                <a:ea typeface="Courier New"/>
                <a:cs typeface="Courier New"/>
                <a:sym typeface="Courier New"/>
              </a:rPr>
              <a:t>randrange(a, b)</a:t>
            </a:r>
            <a:r>
              <a:rPr lang="en" sz="1000"/>
              <a:t> functions.</a:t>
            </a:r>
            <a:endParaRPr sz="1000"/>
          </a:p>
          <a:p>
            <a:pPr indent="-304800" lvl="0" marL="457200" rtl="0" algn="l">
              <a:spcBef>
                <a:spcPts val="1000"/>
              </a:spcBef>
              <a:spcAft>
                <a:spcPts val="0"/>
              </a:spcAft>
              <a:buSzPts val="1200"/>
              <a:buChar char="●"/>
            </a:pPr>
            <a:r>
              <a:rPr lang="en" sz="1200"/>
              <a:t>Thankfully, Java also provides a class that can be used to generate </a:t>
            </a:r>
            <a:r>
              <a:rPr b="1" i="1" lang="en" sz="1200">
                <a:solidFill>
                  <a:srgbClr val="FF0000"/>
                </a:solidFill>
              </a:rPr>
              <a:t>pseudorandom</a:t>
            </a:r>
            <a:r>
              <a:rPr lang="en" sz="1200">
                <a:solidFill>
                  <a:srgbClr val="FF0000"/>
                </a:solidFill>
              </a:rPr>
              <a:t> </a:t>
            </a:r>
            <a:r>
              <a:rPr lang="en" sz="1200"/>
              <a:t>numbers: </a:t>
            </a:r>
            <a:r>
              <a:rPr lang="en" sz="1200">
                <a:solidFill>
                  <a:srgbClr val="FF0000"/>
                </a:solidFill>
                <a:latin typeface="Courier New"/>
                <a:ea typeface="Courier New"/>
                <a:cs typeface="Courier New"/>
                <a:sym typeface="Courier New"/>
              </a:rPr>
              <a:t>java.util.Random</a:t>
            </a:r>
            <a:r>
              <a:rPr lang="en" sz="1200"/>
              <a:t>.</a:t>
            </a:r>
            <a:endParaRPr sz="1200"/>
          </a:p>
          <a:p>
            <a:pPr indent="-304800" lvl="0" marL="457200" rtl="0" algn="l">
              <a:spcBef>
                <a:spcPts val="1000"/>
              </a:spcBef>
              <a:spcAft>
                <a:spcPts val="0"/>
              </a:spcAft>
              <a:buSzPts val="1200"/>
              <a:buChar char="●"/>
            </a:pPr>
            <a:r>
              <a:rPr lang="en" sz="1200"/>
              <a:t>An instance of the </a:t>
            </a:r>
            <a:r>
              <a:rPr lang="en" sz="1200">
                <a:latin typeface="Courier New"/>
                <a:ea typeface="Courier New"/>
                <a:cs typeface="Courier New"/>
                <a:sym typeface="Courier New"/>
              </a:rPr>
              <a:t>Random</a:t>
            </a:r>
            <a:r>
              <a:rPr lang="en" sz="1200"/>
              <a:t> class can be created with or without a </a:t>
            </a:r>
            <a:r>
              <a:rPr b="1" i="1" lang="en" sz="1200">
                <a:solidFill>
                  <a:srgbClr val="FF0000"/>
                </a:solidFill>
              </a:rPr>
              <a:t>seed</a:t>
            </a:r>
            <a:r>
              <a:rPr lang="en" sz="1200"/>
              <a:t>, i.e.</a:t>
            </a:r>
            <a:endParaRPr sz="1200"/>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Random RNG = new Random();</a:t>
            </a:r>
            <a:endParaRPr sz="1000">
              <a:solidFill>
                <a:srgbClr val="FF0000"/>
              </a:solidFill>
              <a:latin typeface="Courier New"/>
              <a:ea typeface="Courier New"/>
              <a:cs typeface="Courier New"/>
              <a:sym typeface="Courier New"/>
            </a:endParaRPr>
          </a:p>
          <a:p>
            <a:pPr indent="-292100" lvl="1" marL="914400" rtl="0" algn="l">
              <a:spcBef>
                <a:spcPts val="0"/>
              </a:spcBef>
              <a:spcAft>
                <a:spcPts val="0"/>
              </a:spcAft>
              <a:buSzPts val="1000"/>
              <a:buChar char="○"/>
            </a:pPr>
            <a:r>
              <a:rPr lang="en" sz="1000">
                <a:solidFill>
                  <a:srgbClr val="FF0000"/>
                </a:solidFill>
                <a:latin typeface="Courier New"/>
                <a:ea typeface="Courier New"/>
                <a:cs typeface="Courier New"/>
                <a:sym typeface="Courier New"/>
              </a:rPr>
              <a:t>Random RNG = new Random(1);</a:t>
            </a:r>
            <a:endParaRPr sz="1000">
              <a:solidFill>
                <a:srgbClr val="FF0000"/>
              </a:solidFill>
              <a:latin typeface="Courier New"/>
              <a:ea typeface="Courier New"/>
              <a:cs typeface="Courier New"/>
              <a:sym typeface="Courier New"/>
            </a:endParaRPr>
          </a:p>
          <a:p>
            <a:pPr indent="-304800" lvl="0" marL="457200" rtl="0" algn="l">
              <a:spcBef>
                <a:spcPts val="1000"/>
              </a:spcBef>
              <a:spcAft>
                <a:spcPts val="0"/>
              </a:spcAft>
              <a:buSzPts val="1200"/>
              <a:buChar char="●"/>
            </a:pPr>
            <a:r>
              <a:rPr lang="en" sz="1200"/>
              <a:t>Once created, an instance of the </a:t>
            </a:r>
            <a:r>
              <a:rPr lang="en" sz="1200">
                <a:latin typeface="Courier New"/>
                <a:ea typeface="Courier New"/>
                <a:cs typeface="Courier New"/>
                <a:sym typeface="Courier New"/>
              </a:rPr>
              <a:t>Random</a:t>
            </a:r>
            <a:r>
              <a:rPr lang="en" sz="1200"/>
              <a:t> class can be used to generate pseudorandom integers between an </a:t>
            </a:r>
            <a:r>
              <a:rPr b="1" i="1" lang="en" sz="1200">
                <a:solidFill>
                  <a:srgbClr val="EE0000"/>
                </a:solidFill>
              </a:rPr>
              <a:t>origin</a:t>
            </a:r>
            <a:r>
              <a:rPr lang="en" sz="1200">
                <a:solidFill>
                  <a:srgbClr val="EE0000"/>
                </a:solidFill>
              </a:rPr>
              <a:t> </a:t>
            </a:r>
            <a:r>
              <a:rPr lang="en" sz="1200"/>
              <a:t>and </a:t>
            </a:r>
            <a:r>
              <a:rPr b="1" i="1" lang="en" sz="1200">
                <a:solidFill>
                  <a:srgbClr val="FF0000"/>
                </a:solidFill>
              </a:rPr>
              <a:t>some upper bound - 1</a:t>
            </a:r>
            <a:r>
              <a:rPr lang="en" sz="1200"/>
              <a:t>, e.g. </a:t>
            </a:r>
            <a:r>
              <a:rPr lang="en" sz="1200">
                <a:solidFill>
                  <a:srgbClr val="FF0000"/>
                </a:solidFill>
                <a:latin typeface="Courier New"/>
                <a:ea typeface="Courier New"/>
                <a:cs typeface="Courier New"/>
                <a:sym typeface="Courier New"/>
              </a:rPr>
              <a:t>RNG.nextInt(50, 100)</a:t>
            </a:r>
            <a:r>
              <a:rPr lang="en" sz="1200"/>
              <a:t> will generate a number between </a:t>
            </a:r>
            <a:r>
              <a:rPr b="1" i="1" lang="en" sz="1200">
                <a:solidFill>
                  <a:srgbClr val="FF0000"/>
                </a:solidFill>
              </a:rPr>
              <a:t>50</a:t>
            </a:r>
            <a:r>
              <a:rPr lang="en" sz="1200"/>
              <a:t> and </a:t>
            </a:r>
            <a:r>
              <a:rPr b="1" i="1" lang="en" sz="1200">
                <a:solidFill>
                  <a:srgbClr val="FF0000"/>
                </a:solidFill>
              </a:rPr>
              <a:t>99</a:t>
            </a:r>
            <a:r>
              <a:rPr lang="en" sz="1200"/>
              <a:t>.</a:t>
            </a:r>
            <a:endParaRPr sz="1200"/>
          </a:p>
          <a:p>
            <a:pPr indent="-304800" lvl="0" marL="457200" rtl="0" algn="l">
              <a:spcBef>
                <a:spcPts val="1000"/>
              </a:spcBef>
              <a:spcAft>
                <a:spcPts val="0"/>
              </a:spcAft>
              <a:buSzPts val="1200"/>
              <a:buChar char="●"/>
            </a:pPr>
            <a:r>
              <a:rPr lang="en" sz="1200"/>
              <a:t>Random also includes a method </a:t>
            </a:r>
            <a:r>
              <a:rPr lang="en" sz="1200">
                <a:solidFill>
                  <a:srgbClr val="FF0000"/>
                </a:solidFill>
                <a:latin typeface="Courier New"/>
                <a:ea typeface="Courier New"/>
                <a:cs typeface="Courier New"/>
                <a:sym typeface="Courier New"/>
              </a:rPr>
              <a:t>nextInt(bound)</a:t>
            </a:r>
            <a:r>
              <a:rPr lang="en" sz="1200"/>
              <a:t> that returns an integer between </a:t>
            </a:r>
            <a:r>
              <a:rPr b="1" i="1" lang="en" sz="1200">
                <a:solidFill>
                  <a:srgbClr val="FF0000"/>
                </a:solidFill>
              </a:rPr>
              <a:t>0</a:t>
            </a:r>
            <a:r>
              <a:rPr lang="en" sz="1200"/>
              <a:t> and </a:t>
            </a:r>
            <a:r>
              <a:rPr b="1" i="1" lang="en" sz="1200">
                <a:solidFill>
                  <a:srgbClr val="FF0000"/>
                </a:solidFill>
              </a:rPr>
              <a:t>bound - 1</a:t>
            </a:r>
            <a:r>
              <a:rPr lang="en" sz="1200"/>
              <a:t>.</a:t>
            </a:r>
            <a:endParaRPr sz="1200"/>
          </a:p>
        </p:txBody>
      </p:sp>
      <p:sp>
        <p:nvSpPr>
          <p:cNvPr id="980" name="Google Shape;980;p105"/>
          <p:cNvSpPr txBox="1"/>
          <p:nvPr>
            <p:ph idx="2" type="body"/>
          </p:nvPr>
        </p:nvSpPr>
        <p:spPr>
          <a:xfrm>
            <a:off x="5192225" y="1544786"/>
            <a:ext cx="3706500" cy="2647500"/>
          </a:xfrm>
          <a:prstGeom prst="rect">
            <a:avLst/>
          </a:prstGeom>
          <a:solidFill>
            <a:srgbClr val="FFFFFF"/>
          </a:solidFill>
          <a:ln cap="flat" cmpd="sng" w="19050">
            <a:solidFill>
              <a:srgbClr val="B7B7B7"/>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import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java</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util</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Random</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RandomExample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Random</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Random</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between 50 and 99</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rand1</a:t>
            </a:r>
            <a:r>
              <a:rPr lang="en" sz="1000">
                <a:solidFill>
                  <a:srgbClr val="000000"/>
                </a:solidFill>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50</a:t>
            </a:r>
            <a:r>
              <a:rPr lang="en" sz="1000">
                <a:solidFill>
                  <a:srgbClr val="000000"/>
                </a:solidFill>
                <a:latin typeface="Consolas"/>
                <a:ea typeface="Consolas"/>
                <a:cs typeface="Consolas"/>
                <a:sym typeface="Consolas"/>
              </a:rPr>
              <a:t>, </a:t>
            </a:r>
            <a:r>
              <a:rPr lang="en" sz="1000">
                <a:solidFill>
                  <a:srgbClr val="098658"/>
                </a:solidFill>
                <a:latin typeface="Consolas"/>
                <a:ea typeface="Consolas"/>
                <a:cs typeface="Consolas"/>
                <a:sym typeface="Consolas"/>
              </a:rPr>
              <a:t>100</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between 0 and 99</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rand2</a:t>
            </a:r>
            <a:r>
              <a:rPr lang="en" sz="1000">
                <a:solidFill>
                  <a:srgbClr val="000000"/>
                </a:solidFill>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100</a:t>
            </a:r>
            <a:r>
              <a:rPr lang="en" sz="1000">
                <a:solidFill>
                  <a:srgbClr val="000000"/>
                </a:solidFill>
                <a:latin typeface="Consolas"/>
                <a:ea typeface="Consolas"/>
                <a:cs typeface="Consolas"/>
                <a:sym typeface="Consolas"/>
              </a:rPr>
              <a:t>);</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r>
              <a:rPr lang="en" sz="1000">
                <a:solidFill>
                  <a:srgbClr val="000000"/>
                </a:solidFill>
                <a:latin typeface="Consolas"/>
                <a:ea typeface="Consolas"/>
                <a:cs typeface="Consolas"/>
                <a:sym typeface="Consolas"/>
              </a:rPr>
              <a:t>}</a:t>
            </a:r>
            <a:endParaRPr sz="1000">
              <a:solidFill>
                <a:srgbClr val="0000FF"/>
              </a:solidFill>
              <a:latin typeface="Consolas"/>
              <a:ea typeface="Consolas"/>
              <a:cs typeface="Consolas"/>
              <a:sym typeface="Consolas"/>
            </a:endParaRPr>
          </a:p>
        </p:txBody>
      </p:sp>
      <p:sp>
        <p:nvSpPr>
          <p:cNvPr id="981" name="Google Shape;981;p105"/>
          <p:cNvSpPr/>
          <p:nvPr/>
        </p:nvSpPr>
        <p:spPr>
          <a:xfrm>
            <a:off x="5108939" y="1207864"/>
            <a:ext cx="336175" cy="508000"/>
          </a:xfrm>
          <a:custGeom>
            <a:rect b="b" l="l" r="r" t="t"/>
            <a:pathLst>
              <a:path extrusionOk="0" h="20320" w="13447">
                <a:moveTo>
                  <a:pt x="8050" y="0"/>
                </a:moveTo>
                <a:cubicBezTo>
                  <a:pt x="6727" y="2275"/>
                  <a:pt x="-787" y="10265"/>
                  <a:pt x="112" y="13652"/>
                </a:cubicBezTo>
                <a:cubicBezTo>
                  <a:pt x="1012" y="17039"/>
                  <a:pt x="11225" y="19209"/>
                  <a:pt x="13447" y="20320"/>
                </a:cubicBezTo>
              </a:path>
            </a:pathLst>
          </a:custGeom>
          <a:noFill/>
          <a:ln cap="flat" cmpd="sng" w="19050">
            <a:solidFill>
              <a:srgbClr val="FF0000"/>
            </a:solidFill>
            <a:prstDash val="solid"/>
            <a:round/>
            <a:headEnd len="med" w="med" type="none"/>
            <a:tailEnd len="med" w="med" type="triangle"/>
          </a:ln>
        </p:spPr>
      </p:sp>
      <p:sp>
        <p:nvSpPr>
          <p:cNvPr id="982" name="Google Shape;982;p105"/>
          <p:cNvSpPr/>
          <p:nvPr/>
        </p:nvSpPr>
        <p:spPr>
          <a:xfrm>
            <a:off x="6905625" y="1358664"/>
            <a:ext cx="1837650" cy="971488"/>
          </a:xfrm>
          <a:custGeom>
            <a:rect b="b" l="l" r="r" t="t"/>
            <a:pathLst>
              <a:path extrusionOk="0" h="43815" w="73506">
                <a:moveTo>
                  <a:pt x="56515" y="0"/>
                </a:moveTo>
                <a:cubicBezTo>
                  <a:pt x="58949" y="6403"/>
                  <a:pt x="80539" y="31116"/>
                  <a:pt x="71120" y="38418"/>
                </a:cubicBezTo>
                <a:cubicBezTo>
                  <a:pt x="61701" y="45721"/>
                  <a:pt x="11853" y="42916"/>
                  <a:pt x="0" y="43815"/>
                </a:cubicBezTo>
              </a:path>
            </a:pathLst>
          </a:custGeom>
          <a:noFill/>
          <a:ln cap="flat" cmpd="sng" w="19050">
            <a:solidFill>
              <a:srgbClr val="FF0000"/>
            </a:solidFill>
            <a:prstDash val="solid"/>
            <a:round/>
            <a:headEnd len="med" w="med" type="none"/>
            <a:tailEnd len="med" w="med" type="triangle"/>
          </a:ln>
        </p:spPr>
      </p:sp>
      <p:sp>
        <p:nvSpPr>
          <p:cNvPr id="983" name="Google Shape;983;p105"/>
          <p:cNvSpPr txBox="1"/>
          <p:nvPr>
            <p:ph idx="3" type="body"/>
          </p:nvPr>
        </p:nvSpPr>
        <p:spPr>
          <a:xfrm>
            <a:off x="5192225" y="735564"/>
            <a:ext cx="3706500" cy="704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t>The </a:t>
            </a:r>
            <a:r>
              <a:rPr lang="en" sz="1200">
                <a:solidFill>
                  <a:srgbClr val="FF0000"/>
                </a:solidFill>
                <a:latin typeface="Courier New"/>
                <a:ea typeface="Courier New"/>
                <a:cs typeface="Courier New"/>
                <a:sym typeface="Courier New"/>
              </a:rPr>
              <a:t>Random</a:t>
            </a:r>
            <a:r>
              <a:rPr lang="en" sz="1200">
                <a:solidFill>
                  <a:srgbClr val="FF0000"/>
                </a:solidFill>
              </a:rPr>
              <a:t> </a:t>
            </a:r>
            <a:r>
              <a:rPr lang="en" sz="1200"/>
              <a:t>class is in the </a:t>
            </a:r>
            <a:r>
              <a:rPr lang="en" sz="1200">
                <a:solidFill>
                  <a:srgbClr val="FF0000"/>
                </a:solidFill>
                <a:latin typeface="Courier New"/>
                <a:ea typeface="Courier New"/>
                <a:cs typeface="Courier New"/>
                <a:sym typeface="Courier New"/>
              </a:rPr>
              <a:t>java.util</a:t>
            </a:r>
            <a:r>
              <a:rPr lang="en" sz="1200"/>
              <a:t> package, and so should be </a:t>
            </a:r>
            <a:r>
              <a:rPr b="1" i="1" lang="en" sz="1200">
                <a:solidFill>
                  <a:srgbClr val="FF0000"/>
                </a:solidFill>
              </a:rPr>
              <a:t>imported</a:t>
            </a:r>
            <a:r>
              <a:rPr lang="en" sz="1200"/>
              <a:t>. An instance of the class can be created with or without a </a:t>
            </a:r>
            <a:r>
              <a:rPr b="1" i="1" lang="en" sz="1200">
                <a:solidFill>
                  <a:srgbClr val="FF0000"/>
                </a:solidFill>
              </a:rPr>
              <a:t>seed</a:t>
            </a:r>
            <a:r>
              <a:rPr lang="en" sz="1200"/>
              <a:t>.</a:t>
            </a:r>
            <a:endParaRPr sz="1200"/>
          </a:p>
        </p:txBody>
      </p:sp>
      <p:sp>
        <p:nvSpPr>
          <p:cNvPr id="984" name="Google Shape;984;p105"/>
          <p:cNvSpPr/>
          <p:nvPr/>
        </p:nvSpPr>
        <p:spPr>
          <a:xfrm>
            <a:off x="8362876" y="3092089"/>
            <a:ext cx="458460" cy="1243197"/>
          </a:xfrm>
          <a:custGeom>
            <a:rect b="b" l="l" r="r" t="t"/>
            <a:pathLst>
              <a:path extrusionOk="0" h="54610" w="27735">
                <a:moveTo>
                  <a:pt x="15875" y="54610"/>
                </a:moveTo>
                <a:cubicBezTo>
                  <a:pt x="17780" y="47043"/>
                  <a:pt x="29951" y="18309"/>
                  <a:pt x="27305" y="9207"/>
                </a:cubicBezTo>
                <a:cubicBezTo>
                  <a:pt x="24659" y="105"/>
                  <a:pt x="4551" y="1535"/>
                  <a:pt x="0" y="0"/>
                </a:cubicBezTo>
              </a:path>
            </a:pathLst>
          </a:custGeom>
          <a:noFill/>
          <a:ln cap="flat" cmpd="sng" w="19050">
            <a:solidFill>
              <a:srgbClr val="FF0000"/>
            </a:solidFill>
            <a:prstDash val="solid"/>
            <a:round/>
            <a:headEnd len="med" w="med" type="none"/>
            <a:tailEnd len="med" w="med" type="triangle"/>
          </a:ln>
        </p:spPr>
      </p:sp>
      <p:sp>
        <p:nvSpPr>
          <p:cNvPr id="985" name="Google Shape;985;p105"/>
          <p:cNvSpPr/>
          <p:nvPr/>
        </p:nvSpPr>
        <p:spPr>
          <a:xfrm>
            <a:off x="8134275" y="3691051"/>
            <a:ext cx="458460" cy="704742"/>
          </a:xfrm>
          <a:custGeom>
            <a:rect b="b" l="l" r="r" t="t"/>
            <a:pathLst>
              <a:path extrusionOk="0" h="54610" w="27735">
                <a:moveTo>
                  <a:pt x="15875" y="54610"/>
                </a:moveTo>
                <a:cubicBezTo>
                  <a:pt x="17780" y="47043"/>
                  <a:pt x="29951" y="18309"/>
                  <a:pt x="27305" y="9207"/>
                </a:cubicBezTo>
                <a:cubicBezTo>
                  <a:pt x="24659" y="105"/>
                  <a:pt x="4551" y="1535"/>
                  <a:pt x="0" y="0"/>
                </a:cubicBezTo>
              </a:path>
            </a:pathLst>
          </a:custGeom>
          <a:noFill/>
          <a:ln cap="flat" cmpd="sng" w="19050">
            <a:solidFill>
              <a:srgbClr val="FF0000"/>
            </a:solidFill>
            <a:prstDash val="solid"/>
            <a:round/>
            <a:headEnd len="med" w="med" type="none"/>
            <a:tailEnd len="med" w="med" type="triangle"/>
          </a:ln>
        </p:spPr>
      </p:sp>
      <p:sp>
        <p:nvSpPr>
          <p:cNvPr id="986" name="Google Shape;986;p105"/>
          <p:cNvSpPr txBox="1"/>
          <p:nvPr>
            <p:ph idx="3" type="body"/>
          </p:nvPr>
        </p:nvSpPr>
        <p:spPr>
          <a:xfrm>
            <a:off x="5192225" y="4296789"/>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There are two different methods to use when generating pseudorandom numbers. In both cases the upper bound is </a:t>
            </a:r>
            <a:r>
              <a:rPr b="1" i="1" lang="en" sz="1200">
                <a:solidFill>
                  <a:srgbClr val="FF0000"/>
                </a:solidFill>
              </a:rPr>
              <a:t>exclusive</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
                                        </p:tgtEl>
                                        <p:attrNameLst>
                                          <p:attrName>style.visibility</p:attrName>
                                        </p:attrNameLst>
                                      </p:cBhvr>
                                      <p:to>
                                        <p:strVal val="visible"/>
                                      </p:to>
                                    </p:set>
                                    <p:animEffect filter="fade" transition="in">
                                      <p:cBhvr>
                                        <p:cTn dur="1000"/>
                                        <p:tgtEl>
                                          <p:spTgt spid="983"/>
                                        </p:tgtEl>
                                      </p:cBhvr>
                                    </p:animEffect>
                                  </p:childTnLst>
                                </p:cTn>
                              </p:par>
                              <p:par>
                                <p:cTn fill="hold" nodeType="with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1000"/>
                                        <p:tgtEl>
                                          <p:spTgt spid="9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1000"/>
                                        <p:tgtEl>
                                          <p:spTgt spid="9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1000"/>
                                        <p:tgtEl>
                                          <p:spTgt spid="9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1000"/>
                                        <p:tgtEl>
                                          <p:spTgt spid="9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1000"/>
                                        <p:tgtEl>
                                          <p:spTgt spid="9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1000"/>
                                        <p:tgtEl>
                                          <p:spTgt spid="9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06"/>
          <p:cNvSpPr txBox="1"/>
          <p:nvPr>
            <p:ph idx="4" type="body"/>
          </p:nvPr>
        </p:nvSpPr>
        <p:spPr>
          <a:xfrm>
            <a:off x="149750" y="1848225"/>
            <a:ext cx="3489000" cy="26475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00FF"/>
                </a:solidFill>
                <a:latin typeface="Consolas"/>
                <a:ea typeface="Consolas"/>
                <a:cs typeface="Consolas"/>
                <a:sym typeface="Consolas"/>
              </a:rPr>
              <a:t>import</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java</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util</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Random</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solidFill>
                <a:srgbClr val="0000FF"/>
              </a:solidFill>
              <a:latin typeface="Consolas"/>
              <a:ea typeface="Consolas"/>
              <a:cs typeface="Consolas"/>
              <a:sym typeface="Consolas"/>
            </a:endParaRPr>
          </a:p>
          <a:p>
            <a:pPr indent="0" lvl="0" marL="0" rtl="0" algn="l">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RandomExample</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Random</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Random</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between 50 and 99</a:t>
            </a:r>
            <a:endParaRPr sz="1000">
              <a:solidFill>
                <a:srgbClr val="008000"/>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rand1</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50</a:t>
            </a:r>
            <a:r>
              <a:rPr lang="en" sz="1000">
                <a:latin typeface="Consolas"/>
                <a:ea typeface="Consolas"/>
                <a:cs typeface="Consolas"/>
                <a:sym typeface="Consolas"/>
              </a:rPr>
              <a:t>, </a:t>
            </a:r>
            <a:r>
              <a:rPr lang="en" sz="1000">
                <a:solidFill>
                  <a:srgbClr val="098658"/>
                </a:solidFill>
                <a:latin typeface="Consolas"/>
                <a:ea typeface="Consolas"/>
                <a:cs typeface="Consolas"/>
                <a:sym typeface="Consolas"/>
              </a:rPr>
              <a:t>100</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between 0 and 99</a:t>
            </a:r>
            <a:endParaRPr sz="1000">
              <a:solidFill>
                <a:srgbClr val="008000"/>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rand2</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100</a:t>
            </a:r>
            <a:r>
              <a:rPr lang="en" sz="1000">
                <a:latin typeface="Consolas"/>
                <a:ea typeface="Consolas"/>
                <a:cs typeface="Consolas"/>
                <a:sym typeface="Consolas"/>
              </a:rPr>
              <a:t>);</a:t>
            </a:r>
            <a:endParaRPr sz="1000">
              <a:solidFill>
                <a:srgbClr val="008000"/>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a:t>
            </a:r>
            <a:endParaRPr sz="1000">
              <a:solidFill>
                <a:srgbClr val="0000FF"/>
              </a:solidFill>
              <a:highlight>
                <a:srgbClr val="FFFFFF"/>
              </a:highlight>
              <a:latin typeface="Consolas"/>
              <a:ea typeface="Consolas"/>
              <a:cs typeface="Consolas"/>
              <a:sym typeface="Consolas"/>
            </a:endParaRPr>
          </a:p>
        </p:txBody>
      </p:sp>
      <p:sp>
        <p:nvSpPr>
          <p:cNvPr id="992" name="Google Shape;992;p106"/>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Randomness is an essential part of many software programs. The </a:t>
            </a:r>
            <a:r>
              <a:rPr lang="en">
                <a:latin typeface="Courier New"/>
                <a:ea typeface="Courier New"/>
                <a:cs typeface="Courier New"/>
                <a:sym typeface="Courier New"/>
              </a:rPr>
              <a:t>Random</a:t>
            </a:r>
            <a:r>
              <a:rPr lang="en"/>
              <a:t> class in Java </a:t>
            </a:r>
            <a:r>
              <a:rPr lang="en"/>
              <a:t>can</a:t>
            </a:r>
            <a:r>
              <a:rPr lang="en"/>
              <a:t> be used to generate pseudorandom numbers to simulate things like shuffling cards or rolling dice. Let's practice using it to generate random years. </a:t>
            </a:r>
            <a:endParaRPr/>
          </a:p>
        </p:txBody>
      </p:sp>
      <p:sp>
        <p:nvSpPr>
          <p:cNvPr id="993" name="Google Shape;993;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4" name="Google Shape;994;p106"/>
          <p:cNvSpPr txBox="1"/>
          <p:nvPr>
            <p:ph idx="2" type="body"/>
          </p:nvPr>
        </p:nvSpPr>
        <p:spPr>
          <a:xfrm>
            <a:off x="3644800" y="1708325"/>
            <a:ext cx="5220000" cy="28782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latin typeface="Courier New"/>
                <a:ea typeface="Courier New"/>
                <a:cs typeface="Courier New"/>
                <a:sym typeface="Courier New"/>
              </a:rPr>
              <a:t>Year</a:t>
            </a:r>
            <a:r>
              <a:rPr lang="en" sz="1400"/>
              <a:t> class and define a new static method named "</a:t>
            </a:r>
            <a:r>
              <a:rPr lang="en" sz="1400">
                <a:solidFill>
                  <a:srgbClr val="FF0000"/>
                </a:solidFill>
                <a:latin typeface="Courier New"/>
                <a:ea typeface="Courier New"/>
                <a:cs typeface="Courier New"/>
                <a:sym typeface="Courier New"/>
              </a:rPr>
              <a:t>getRandomYear</a:t>
            </a:r>
            <a:r>
              <a:rPr lang="en" sz="1400"/>
              <a:t>" that returns a new </a:t>
            </a:r>
            <a:r>
              <a:rPr lang="en" sz="1400">
                <a:latin typeface="Courier New"/>
                <a:ea typeface="Courier New"/>
                <a:cs typeface="Courier New"/>
                <a:sym typeface="Courier New"/>
              </a:rPr>
              <a:t>Year</a:t>
            </a:r>
            <a:r>
              <a:rPr lang="en" sz="1400"/>
              <a:t> object representing a random year between </a:t>
            </a:r>
            <a:r>
              <a:rPr lang="en" sz="1400">
                <a:latin typeface="Courier New"/>
                <a:ea typeface="Courier New"/>
                <a:cs typeface="Courier New"/>
                <a:sym typeface="Courier New"/>
              </a:rPr>
              <a:t>1900</a:t>
            </a:r>
            <a:r>
              <a:rPr lang="en" sz="1400"/>
              <a:t> and </a:t>
            </a:r>
            <a:r>
              <a:rPr lang="en" sz="1400">
                <a:latin typeface="Courier New"/>
                <a:ea typeface="Courier New"/>
                <a:cs typeface="Courier New"/>
                <a:sym typeface="Courier New"/>
              </a:rPr>
              <a:t>202</a:t>
            </a:r>
            <a:r>
              <a:rPr lang="en" sz="1400">
                <a:latin typeface="Courier New"/>
                <a:ea typeface="Courier New"/>
                <a:cs typeface="Courier New"/>
                <a:sym typeface="Courier New"/>
              </a:rPr>
              <a:t>3</a:t>
            </a:r>
            <a:r>
              <a:rPr lang="en" sz="1400"/>
              <a:t>.</a:t>
            </a:r>
            <a:endParaRPr sz="1400"/>
          </a:p>
          <a:p>
            <a:pPr indent="-304800" lvl="1" marL="914400" rtl="0" algn="l">
              <a:spcBef>
                <a:spcPts val="0"/>
              </a:spcBef>
              <a:spcAft>
                <a:spcPts val="0"/>
              </a:spcAft>
              <a:buSzPts val="1200"/>
              <a:buChar char="○"/>
            </a:pPr>
            <a:r>
              <a:rPr lang="en" sz="1200"/>
              <a:t>You will need to </a:t>
            </a:r>
            <a:r>
              <a:rPr b="1" i="1" lang="en" sz="1200">
                <a:solidFill>
                  <a:srgbClr val="FF0000"/>
                </a:solidFill>
              </a:rPr>
              <a:t>import </a:t>
            </a:r>
            <a:r>
              <a:rPr lang="en" sz="1200"/>
              <a:t>the </a:t>
            </a:r>
            <a:r>
              <a:rPr lang="en" sz="1200">
                <a:solidFill>
                  <a:srgbClr val="FF0000"/>
                </a:solidFill>
                <a:latin typeface="Courier New"/>
                <a:ea typeface="Courier New"/>
                <a:cs typeface="Courier New"/>
                <a:sym typeface="Courier New"/>
              </a:rPr>
              <a:t>java.util.Random</a:t>
            </a:r>
            <a:r>
              <a:rPr lang="en" sz="1200"/>
              <a:t> class.</a:t>
            </a:r>
            <a:endParaRPr sz="1200"/>
          </a:p>
          <a:p>
            <a:pPr indent="-304800" lvl="1" marL="914400" rtl="0" algn="l">
              <a:spcBef>
                <a:spcPts val="0"/>
              </a:spcBef>
              <a:spcAft>
                <a:spcPts val="0"/>
              </a:spcAft>
              <a:buSzPts val="1200"/>
              <a:buChar char="○"/>
            </a:pPr>
            <a:r>
              <a:rPr lang="en" sz="1200"/>
              <a:t>Remember, the </a:t>
            </a:r>
            <a:r>
              <a:rPr lang="en" sz="1200">
                <a:solidFill>
                  <a:srgbClr val="FF0000"/>
                </a:solidFill>
                <a:latin typeface="Courier New"/>
                <a:ea typeface="Courier New"/>
                <a:cs typeface="Courier New"/>
                <a:sym typeface="Courier New"/>
              </a:rPr>
              <a:t>nextInt(int origin, int bound)</a:t>
            </a:r>
            <a:r>
              <a:rPr lang="en" sz="1200"/>
              <a:t> method returns an integer </a:t>
            </a:r>
            <a:r>
              <a:rPr b="1" i="1" lang="en" sz="1200">
                <a:solidFill>
                  <a:srgbClr val="FF0000"/>
                </a:solidFill>
              </a:rPr>
              <a:t>between </a:t>
            </a:r>
            <a:r>
              <a:rPr lang="en" sz="1200">
                <a:solidFill>
                  <a:srgbClr val="FF0000"/>
                </a:solidFill>
                <a:latin typeface="Courier New"/>
                <a:ea typeface="Courier New"/>
                <a:cs typeface="Courier New"/>
                <a:sym typeface="Courier New"/>
              </a:rPr>
              <a:t>origin</a:t>
            </a:r>
            <a:r>
              <a:rPr lang="en" sz="1200">
                <a:solidFill>
                  <a:srgbClr val="FF0000"/>
                </a:solidFill>
              </a:rPr>
              <a:t> </a:t>
            </a:r>
            <a:r>
              <a:rPr b="1" i="1" lang="en" sz="1200">
                <a:solidFill>
                  <a:srgbClr val="FF0000"/>
                </a:solidFill>
              </a:rPr>
              <a:t>and </a:t>
            </a:r>
            <a:r>
              <a:rPr lang="en" sz="1200">
                <a:solidFill>
                  <a:srgbClr val="FF0000"/>
                </a:solidFill>
                <a:latin typeface="Courier New"/>
                <a:ea typeface="Courier New"/>
                <a:cs typeface="Courier New"/>
                <a:sym typeface="Courier New"/>
              </a:rPr>
              <a:t>bound-1</a:t>
            </a:r>
            <a:r>
              <a:rPr lang="en" sz="1200"/>
              <a:t>. You will need to compensate for this to generate a number between </a:t>
            </a:r>
            <a:r>
              <a:rPr lang="en" sz="1200">
                <a:latin typeface="Courier New"/>
                <a:ea typeface="Courier New"/>
                <a:cs typeface="Courier New"/>
                <a:sym typeface="Courier New"/>
              </a:rPr>
              <a:t>1900</a:t>
            </a:r>
            <a:r>
              <a:rPr lang="en" sz="1200"/>
              <a:t> and </a:t>
            </a:r>
            <a:r>
              <a:rPr lang="en" sz="1200">
                <a:latin typeface="Courier New"/>
                <a:ea typeface="Courier New"/>
                <a:cs typeface="Courier New"/>
                <a:sym typeface="Courier New"/>
              </a:rPr>
              <a:t>2024</a:t>
            </a:r>
            <a:r>
              <a:rPr lang="en" sz="1200"/>
              <a:t>.</a:t>
            </a:r>
            <a:endParaRPr sz="1200"/>
          </a:p>
          <a:p>
            <a:pPr indent="-304800" lvl="1" marL="914400" rtl="0" algn="l">
              <a:spcBef>
                <a:spcPts val="0"/>
              </a:spcBef>
              <a:spcAft>
                <a:spcPts val="0"/>
              </a:spcAft>
              <a:buSzPts val="1200"/>
              <a:buChar char="○"/>
            </a:pPr>
            <a:r>
              <a:rPr b="1" i="1" lang="en" sz="1200">
                <a:solidFill>
                  <a:srgbClr val="FF0000"/>
                </a:solidFill>
              </a:rPr>
              <a:t>Challenge</a:t>
            </a:r>
            <a:r>
              <a:rPr lang="en" sz="1200"/>
              <a:t>: use constants for the minimum and maximum years.</a:t>
            </a:r>
            <a:endParaRPr sz="1200"/>
          </a:p>
          <a:p>
            <a:pPr indent="-317500" lvl="0" marL="457200" rtl="0" algn="l">
              <a:spcBef>
                <a:spcPts val="0"/>
              </a:spcBef>
              <a:spcAft>
                <a:spcPts val="0"/>
              </a:spcAft>
              <a:buSzPts val="1400"/>
              <a:buChar char="●"/>
            </a:pPr>
            <a:r>
              <a:rPr b="1" i="1" lang="en" sz="1400">
                <a:solidFill>
                  <a:srgbClr val="FF0000"/>
                </a:solidFill>
              </a:rPr>
              <a:t>Update </a:t>
            </a:r>
            <a:r>
              <a:rPr lang="en" sz="1400"/>
              <a:t>your </a:t>
            </a:r>
            <a:r>
              <a:rPr lang="en" sz="1400">
                <a:latin typeface="Courier New"/>
                <a:ea typeface="Courier New"/>
                <a:cs typeface="Courier New"/>
                <a:sym typeface="Courier New"/>
              </a:rPr>
              <a:t>main</a:t>
            </a:r>
            <a:r>
              <a:rPr lang="en" sz="1400"/>
              <a:t> method to generate a few random years and print them to standard output.</a:t>
            </a:r>
            <a:endParaRPr sz="1400"/>
          </a:p>
        </p:txBody>
      </p:sp>
      <p:sp>
        <p:nvSpPr>
          <p:cNvPr id="995" name="Google Shape;995;p10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Random Years</a:t>
            </a:r>
            <a:endParaRPr/>
          </a:p>
        </p:txBody>
      </p:sp>
      <p:sp>
        <p:nvSpPr>
          <p:cNvPr id="996" name="Google Shape;996;p10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2.24</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2" name="Google Shape;1002;p107"/>
          <p:cNvSpPr txBox="1"/>
          <p:nvPr>
            <p:ph type="title"/>
          </p:nvPr>
        </p:nvSpPr>
        <p:spPr>
          <a:xfrm>
            <a:off x="311725" y="2723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java.lang.Object</a:t>
            </a:r>
            <a:endParaRPr>
              <a:latin typeface="Consolas"/>
              <a:ea typeface="Consolas"/>
              <a:cs typeface="Consolas"/>
              <a:sym typeface="Consolas"/>
            </a:endParaRPr>
          </a:p>
        </p:txBody>
      </p:sp>
      <p:sp>
        <p:nvSpPr>
          <p:cNvPr id="1003" name="Google Shape;1003;p107"/>
          <p:cNvSpPr txBox="1"/>
          <p:nvPr>
            <p:ph idx="1" type="body"/>
          </p:nvPr>
        </p:nvSpPr>
        <p:spPr>
          <a:xfrm>
            <a:off x="4358175" y="135950"/>
            <a:ext cx="4549200" cy="4863900"/>
          </a:xfrm>
          <a:prstGeom prst="rect">
            <a:avLst/>
          </a:prstGeom>
        </p:spPr>
        <p:txBody>
          <a:bodyPr anchorCtr="0" anchor="ctr" bIns="91425" lIns="91425" spcFirstLastPara="1" rIns="91425" wrap="square" tIns="91425">
            <a:spAutoFit/>
          </a:bodyPr>
          <a:lstStyle/>
          <a:p>
            <a:pPr indent="-307975" lvl="0" marL="457200" rtl="0" algn="l">
              <a:lnSpc>
                <a:spcPct val="100000"/>
              </a:lnSpc>
              <a:spcBef>
                <a:spcPts val="0"/>
              </a:spcBef>
              <a:spcAft>
                <a:spcPts val="0"/>
              </a:spcAft>
              <a:buSzPts val="1250"/>
              <a:buChar char="●"/>
            </a:pPr>
            <a:r>
              <a:rPr lang="en" sz="1250"/>
              <a:t>As we have discussed, there are </a:t>
            </a:r>
            <a:r>
              <a:rPr b="1" i="1" lang="en" sz="1250">
                <a:solidFill>
                  <a:srgbClr val="FF0000"/>
                </a:solidFill>
              </a:rPr>
              <a:t>two</a:t>
            </a:r>
            <a:r>
              <a:rPr lang="en" sz="1250">
                <a:solidFill>
                  <a:srgbClr val="FF0000"/>
                </a:solidFill>
              </a:rPr>
              <a:t> </a:t>
            </a:r>
            <a:r>
              <a:rPr lang="en" sz="1250"/>
              <a:t>basic kinds of types in Java.</a:t>
            </a:r>
            <a:endParaRPr sz="1250"/>
          </a:p>
          <a:p>
            <a:pPr indent="-298450" lvl="1" marL="914400" rtl="0" algn="l">
              <a:lnSpc>
                <a:spcPct val="100000"/>
              </a:lnSpc>
              <a:spcBef>
                <a:spcPts val="0"/>
              </a:spcBef>
              <a:spcAft>
                <a:spcPts val="0"/>
              </a:spcAft>
              <a:buSzPts val="1100"/>
              <a:buChar char="○"/>
            </a:pPr>
            <a:r>
              <a:rPr b="1" i="1" lang="en">
                <a:solidFill>
                  <a:srgbClr val="FF0000"/>
                </a:solidFill>
              </a:rPr>
              <a:t>Primitive types</a:t>
            </a:r>
            <a:r>
              <a:rPr lang="en"/>
              <a:t> like </a:t>
            </a:r>
            <a:r>
              <a:rPr lang="en">
                <a:latin typeface="Courier New"/>
                <a:ea typeface="Courier New"/>
                <a:cs typeface="Courier New"/>
                <a:sym typeface="Courier New"/>
              </a:rPr>
              <a:t>byte</a:t>
            </a:r>
            <a:r>
              <a:rPr lang="en"/>
              <a:t>, </a:t>
            </a:r>
            <a:r>
              <a:rPr lang="en">
                <a:latin typeface="Courier New"/>
                <a:ea typeface="Courier New"/>
                <a:cs typeface="Courier New"/>
                <a:sym typeface="Courier New"/>
              </a:rPr>
              <a:t>int</a:t>
            </a:r>
            <a:r>
              <a:rPr lang="en"/>
              <a:t>, </a:t>
            </a:r>
            <a:r>
              <a:rPr lang="en">
                <a:latin typeface="Courier New"/>
                <a:ea typeface="Courier New"/>
                <a:cs typeface="Courier New"/>
                <a:sym typeface="Courier New"/>
              </a:rPr>
              <a:t>boolean</a:t>
            </a:r>
            <a:r>
              <a:rPr lang="en"/>
              <a:t>, and </a:t>
            </a:r>
            <a:r>
              <a:rPr lang="en">
                <a:latin typeface="Courier New"/>
                <a:ea typeface="Courier New"/>
                <a:cs typeface="Courier New"/>
                <a:sym typeface="Courier New"/>
              </a:rPr>
              <a:t>float</a:t>
            </a:r>
            <a:r>
              <a:rPr lang="en"/>
              <a:t>.</a:t>
            </a:r>
            <a:endParaRPr/>
          </a:p>
          <a:p>
            <a:pPr indent="-298450" lvl="1" marL="914400" rtl="0" algn="l">
              <a:lnSpc>
                <a:spcPct val="100000"/>
              </a:lnSpc>
              <a:spcBef>
                <a:spcPts val="0"/>
              </a:spcBef>
              <a:spcAft>
                <a:spcPts val="0"/>
              </a:spcAft>
              <a:buSzPts val="1100"/>
              <a:buChar char="○"/>
            </a:pPr>
            <a:r>
              <a:rPr b="1" i="1" lang="en">
                <a:solidFill>
                  <a:srgbClr val="FF0000"/>
                </a:solidFill>
              </a:rPr>
              <a:t>Reference types</a:t>
            </a:r>
            <a:r>
              <a:rPr lang="en"/>
              <a:t>, which comprise </a:t>
            </a:r>
            <a:r>
              <a:rPr b="1" i="1" lang="en">
                <a:solidFill>
                  <a:srgbClr val="FF0000"/>
                </a:solidFill>
              </a:rPr>
              <a:t>every</a:t>
            </a:r>
            <a:r>
              <a:rPr lang="en">
                <a:solidFill>
                  <a:srgbClr val="FF0000"/>
                </a:solidFill>
              </a:rPr>
              <a:t> </a:t>
            </a:r>
            <a:r>
              <a:rPr lang="en"/>
              <a:t>type that is </a:t>
            </a:r>
            <a:r>
              <a:rPr b="1" i="1" lang="en">
                <a:solidFill>
                  <a:srgbClr val="FF0000"/>
                </a:solidFill>
              </a:rPr>
              <a:t>not</a:t>
            </a:r>
            <a:r>
              <a:rPr lang="en">
                <a:solidFill>
                  <a:srgbClr val="FF0000"/>
                </a:solidFill>
              </a:rPr>
              <a:t> </a:t>
            </a:r>
            <a:r>
              <a:rPr lang="en"/>
              <a:t>a primitive type.</a:t>
            </a:r>
            <a:endParaRPr/>
          </a:p>
          <a:p>
            <a:pPr indent="-307975" lvl="0" marL="457200" rtl="0" algn="l">
              <a:lnSpc>
                <a:spcPct val="100000"/>
              </a:lnSpc>
              <a:spcBef>
                <a:spcPts val="1000"/>
              </a:spcBef>
              <a:spcAft>
                <a:spcPts val="0"/>
              </a:spcAft>
              <a:buSzPts val="1250"/>
              <a:buChar char="●"/>
            </a:pPr>
            <a:r>
              <a:rPr lang="en" sz="1250"/>
              <a:t>The </a:t>
            </a:r>
            <a:r>
              <a:rPr lang="en" sz="1250" u="sng">
                <a:solidFill>
                  <a:srgbClr val="4A86E8"/>
                </a:solidFill>
                <a:latin typeface="Courier New"/>
                <a:ea typeface="Courier New"/>
                <a:cs typeface="Courier New"/>
                <a:sym typeface="Courier New"/>
                <a:hlinkClick r:id="rId3">
                  <a:extLst>
                    <a:ext uri="{A12FA001-AC4F-418D-AE19-62706E023703}">
                      <ahyp:hlinkClr val="tx"/>
                    </a:ext>
                  </a:extLst>
                </a:hlinkClick>
              </a:rPr>
              <a:t>java.lang.Object</a:t>
            </a:r>
            <a:r>
              <a:rPr lang="en" sz="1250"/>
              <a:t> class is a very special kind of reference type: </a:t>
            </a:r>
            <a:r>
              <a:rPr b="1" i="1" lang="en" sz="1250">
                <a:solidFill>
                  <a:srgbClr val="FF0000"/>
                </a:solidFill>
              </a:rPr>
              <a:t>every</a:t>
            </a:r>
            <a:r>
              <a:rPr lang="en" sz="1250">
                <a:solidFill>
                  <a:srgbClr val="FF0000"/>
                </a:solidFill>
              </a:rPr>
              <a:t> </a:t>
            </a:r>
            <a:r>
              <a:rPr lang="en" sz="1250"/>
              <a:t>reference type in Java is </a:t>
            </a:r>
            <a:r>
              <a:rPr b="1" i="1" lang="en" sz="1250">
                <a:solidFill>
                  <a:srgbClr val="FF0000"/>
                </a:solidFill>
              </a:rPr>
              <a:t>related </a:t>
            </a:r>
            <a:r>
              <a:rPr lang="en" sz="1250"/>
              <a:t>to </a:t>
            </a:r>
            <a:r>
              <a:rPr lang="en" sz="1250">
                <a:latin typeface="Courier New"/>
                <a:ea typeface="Courier New"/>
                <a:cs typeface="Courier New"/>
                <a:sym typeface="Courier New"/>
              </a:rPr>
              <a:t>Object</a:t>
            </a:r>
            <a:r>
              <a:rPr lang="en" sz="1250"/>
              <a:t>.</a:t>
            </a:r>
            <a:endParaRPr sz="1250"/>
          </a:p>
          <a:p>
            <a:pPr indent="-298450" lvl="1" marL="914400" rtl="0" algn="l">
              <a:lnSpc>
                <a:spcPct val="100000"/>
              </a:lnSpc>
              <a:spcBef>
                <a:spcPts val="0"/>
              </a:spcBef>
              <a:spcAft>
                <a:spcPts val="0"/>
              </a:spcAft>
              <a:buSzPts val="1100"/>
              <a:buChar char="○"/>
            </a:pPr>
            <a:r>
              <a:rPr lang="en"/>
              <a:t>It also means that an instance of </a:t>
            </a:r>
            <a:r>
              <a:rPr b="1" i="1" lang="en">
                <a:solidFill>
                  <a:srgbClr val="FF0000"/>
                </a:solidFill>
              </a:rPr>
              <a:t>any</a:t>
            </a:r>
            <a:r>
              <a:rPr lang="en">
                <a:solidFill>
                  <a:srgbClr val="FF0000"/>
                </a:solidFill>
              </a:rPr>
              <a:t> </a:t>
            </a:r>
            <a:r>
              <a:rPr lang="en"/>
              <a:t>type can be used in place of the </a:t>
            </a:r>
            <a:r>
              <a:rPr lang="en">
                <a:latin typeface="Courier New"/>
                <a:ea typeface="Courier New"/>
                <a:cs typeface="Courier New"/>
                <a:sym typeface="Courier New"/>
              </a:rPr>
              <a:t>Object</a:t>
            </a:r>
            <a:r>
              <a:rPr lang="en"/>
              <a:t> class in code.</a:t>
            </a:r>
            <a:endParaRPr/>
          </a:p>
          <a:p>
            <a:pPr indent="-298450" lvl="1" marL="914400" rtl="0" algn="l">
              <a:lnSpc>
                <a:spcPct val="100000"/>
              </a:lnSpc>
              <a:spcBef>
                <a:spcPts val="0"/>
              </a:spcBef>
              <a:spcAft>
                <a:spcPts val="0"/>
              </a:spcAft>
              <a:buSzPts val="1100"/>
              <a:buChar char="○"/>
            </a:pPr>
            <a:r>
              <a:rPr lang="en"/>
              <a:t>This is why, for example, that an instance of </a:t>
            </a:r>
            <a:r>
              <a:rPr b="1" i="1" lang="en">
                <a:solidFill>
                  <a:srgbClr val="FF0000"/>
                </a:solidFill>
              </a:rPr>
              <a:t>any class</a:t>
            </a:r>
            <a:r>
              <a:rPr lang="en">
                <a:solidFill>
                  <a:srgbClr val="FF0000"/>
                </a:solidFill>
              </a:rPr>
              <a:t> </a:t>
            </a:r>
            <a:r>
              <a:rPr lang="en"/>
              <a:t>can be used as the argument to the </a:t>
            </a:r>
            <a:r>
              <a:rPr lang="en">
                <a:latin typeface="Courier New"/>
                <a:ea typeface="Courier New"/>
                <a:cs typeface="Courier New"/>
                <a:sym typeface="Courier New"/>
              </a:rPr>
              <a:t>equals(Object)</a:t>
            </a:r>
            <a:r>
              <a:rPr lang="en"/>
              <a:t> method.</a:t>
            </a:r>
            <a:endParaRPr/>
          </a:p>
          <a:p>
            <a:pPr indent="-298450" lvl="1" marL="914400" rtl="0" algn="l">
              <a:lnSpc>
                <a:spcPct val="100000"/>
              </a:lnSpc>
              <a:spcBef>
                <a:spcPts val="0"/>
              </a:spcBef>
              <a:spcAft>
                <a:spcPts val="0"/>
              </a:spcAft>
              <a:buSzPts val="1100"/>
              <a:buChar char="○"/>
            </a:pPr>
            <a:r>
              <a:rPr lang="en"/>
              <a:t>We'll explain exactly why this is the case in the </a:t>
            </a:r>
            <a:r>
              <a:rPr b="1" i="1" lang="en">
                <a:solidFill>
                  <a:srgbClr val="FF0000"/>
                </a:solidFill>
              </a:rPr>
              <a:t>inheritance unit</a:t>
            </a:r>
            <a:r>
              <a:rPr lang="en"/>
              <a:t>.</a:t>
            </a:r>
            <a:endParaRPr/>
          </a:p>
          <a:p>
            <a:pPr indent="-307975" lvl="0" marL="457200" rtl="0" algn="l">
              <a:lnSpc>
                <a:spcPct val="100000"/>
              </a:lnSpc>
              <a:spcBef>
                <a:spcPts val="1000"/>
              </a:spcBef>
              <a:spcAft>
                <a:spcPts val="0"/>
              </a:spcAft>
              <a:buSzPts val="1250"/>
              <a:buChar char="●"/>
            </a:pPr>
            <a:r>
              <a:rPr lang="en" sz="1250"/>
              <a:t>The </a:t>
            </a:r>
            <a:r>
              <a:rPr lang="en" sz="1250">
                <a:latin typeface="Courier New"/>
                <a:ea typeface="Courier New"/>
                <a:cs typeface="Courier New"/>
                <a:sym typeface="Courier New"/>
              </a:rPr>
              <a:t>Object</a:t>
            </a:r>
            <a:r>
              <a:rPr lang="en" sz="1250"/>
              <a:t> class also provides the </a:t>
            </a:r>
            <a:r>
              <a:rPr b="1" i="1" lang="en" sz="1250">
                <a:solidFill>
                  <a:srgbClr val="FF0000"/>
                </a:solidFill>
              </a:rPr>
              <a:t>default implementations</a:t>
            </a:r>
            <a:r>
              <a:rPr lang="en" sz="1250"/>
              <a:t> of the </a:t>
            </a:r>
            <a:r>
              <a:rPr lang="en" sz="1250">
                <a:latin typeface="Courier New"/>
                <a:ea typeface="Courier New"/>
                <a:cs typeface="Courier New"/>
                <a:sym typeface="Courier New"/>
              </a:rPr>
              <a:t>toString()</a:t>
            </a:r>
            <a:r>
              <a:rPr lang="en" sz="1250"/>
              <a:t> and </a:t>
            </a:r>
            <a:r>
              <a:rPr lang="en" sz="1250">
                <a:latin typeface="Courier New"/>
                <a:ea typeface="Courier New"/>
                <a:cs typeface="Courier New"/>
                <a:sym typeface="Courier New"/>
              </a:rPr>
              <a:t>equals(Object)</a:t>
            </a:r>
            <a:r>
              <a:rPr lang="en" sz="1250"/>
              <a:t> methods.</a:t>
            </a:r>
            <a:endParaRPr sz="1250"/>
          </a:p>
          <a:p>
            <a:pPr indent="-298450" lvl="1" marL="914400" rtl="0" algn="l">
              <a:lnSpc>
                <a:spcPct val="100000"/>
              </a:lnSpc>
              <a:spcBef>
                <a:spcPts val="0"/>
              </a:spcBef>
              <a:spcAft>
                <a:spcPts val="0"/>
              </a:spcAft>
              <a:buSzPts val="1100"/>
              <a:buChar char="○"/>
            </a:pPr>
            <a:r>
              <a:rPr lang="en"/>
              <a:t>If a class does not explicitly </a:t>
            </a:r>
            <a:r>
              <a:rPr b="1" i="1" lang="en">
                <a:solidFill>
                  <a:srgbClr val="FF0000"/>
                </a:solidFill>
              </a:rPr>
              <a:t>override</a:t>
            </a:r>
            <a:r>
              <a:rPr lang="en">
                <a:solidFill>
                  <a:srgbClr val="FF0000"/>
                </a:solidFill>
              </a:rPr>
              <a:t> </a:t>
            </a:r>
            <a:r>
              <a:rPr lang="en"/>
              <a:t>these methods, then the default implementations are used.</a:t>
            </a:r>
            <a:endParaRPr/>
          </a:p>
          <a:p>
            <a:pPr indent="-307975" lvl="0" marL="457200" rtl="0" algn="l">
              <a:lnSpc>
                <a:spcPct val="100000"/>
              </a:lnSpc>
              <a:spcBef>
                <a:spcPts val="1000"/>
              </a:spcBef>
              <a:spcAft>
                <a:spcPts val="0"/>
              </a:spcAft>
              <a:buSzPts val="1250"/>
              <a:buChar char="●"/>
            </a:pPr>
            <a:r>
              <a:rPr lang="en" sz="1250"/>
              <a:t>It also provides many other useful methods that we will discuss later in the semester.</a:t>
            </a:r>
            <a:endParaRPr sz="1250"/>
          </a:p>
          <a:p>
            <a:pPr indent="-298450" lvl="1" marL="914400" rtl="0" algn="l">
              <a:lnSpc>
                <a:spcPct val="100000"/>
              </a:lnSpc>
              <a:spcBef>
                <a:spcPts val="0"/>
              </a:spcBef>
              <a:spcAft>
                <a:spcPts val="0"/>
              </a:spcAft>
              <a:buSzPts val="1100"/>
              <a:buChar char="○"/>
            </a:pPr>
            <a:r>
              <a:rPr lang="en"/>
              <a:t>Some of these methods are </a:t>
            </a:r>
            <a:r>
              <a:rPr lang="en">
                <a:solidFill>
                  <a:srgbClr val="FF0000"/>
                </a:solidFill>
                <a:latin typeface="Courier New"/>
                <a:ea typeface="Courier New"/>
                <a:cs typeface="Courier New"/>
                <a:sym typeface="Courier New"/>
              </a:rPr>
              <a:t>final</a:t>
            </a:r>
            <a:r>
              <a:rPr lang="en"/>
              <a:t>, which means that they </a:t>
            </a:r>
            <a:r>
              <a:rPr b="1" i="1" lang="en">
                <a:solidFill>
                  <a:srgbClr val="FF0000"/>
                </a:solidFill>
              </a:rPr>
              <a:t>cannot</a:t>
            </a:r>
            <a:r>
              <a:rPr lang="en">
                <a:solidFill>
                  <a:srgbClr val="FF0000"/>
                </a:solidFill>
              </a:rPr>
              <a:t> </a:t>
            </a:r>
            <a:r>
              <a:rPr lang="en"/>
              <a:t>be overridden by other classes.</a:t>
            </a:r>
            <a:endParaRPr/>
          </a:p>
        </p:txBody>
      </p:sp>
      <p:sp>
        <p:nvSpPr>
          <p:cNvPr id="1004" name="Google Shape;1004;p107"/>
          <p:cNvSpPr txBox="1"/>
          <p:nvPr>
            <p:ph idx="3" type="body"/>
          </p:nvPr>
        </p:nvSpPr>
        <p:spPr>
          <a:xfrm>
            <a:off x="311725" y="974925"/>
            <a:ext cx="3706500" cy="9234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Remember, when declaring a variable you must specify a </a:t>
            </a:r>
            <a:r>
              <a:rPr b="1" i="1" lang="en" sz="1200">
                <a:solidFill>
                  <a:srgbClr val="FF0000"/>
                </a:solidFill>
              </a:rPr>
              <a:t>type</a:t>
            </a:r>
            <a:r>
              <a:rPr lang="en" sz="1200"/>
              <a:t>. From that point forward, you can only assign values that are </a:t>
            </a:r>
            <a:r>
              <a:rPr b="1" i="1" lang="en" sz="1200">
                <a:solidFill>
                  <a:srgbClr val="FF0000"/>
                </a:solidFill>
              </a:rPr>
              <a:t>compatible</a:t>
            </a:r>
            <a:r>
              <a:rPr lang="en" sz="1200">
                <a:solidFill>
                  <a:srgbClr val="FF0000"/>
                </a:solidFill>
              </a:rPr>
              <a:t> </a:t>
            </a:r>
            <a:r>
              <a:rPr lang="en" sz="1200"/>
              <a:t>with that type to the variable.</a:t>
            </a:r>
            <a:endParaRPr sz="1200"/>
          </a:p>
        </p:txBody>
      </p:sp>
      <p:sp>
        <p:nvSpPr>
          <p:cNvPr id="1005" name="Google Shape;1005;p107"/>
          <p:cNvSpPr txBox="1"/>
          <p:nvPr>
            <p:ph idx="3" type="body"/>
          </p:nvPr>
        </p:nvSpPr>
        <p:spPr>
          <a:xfrm>
            <a:off x="311725" y="198760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Because </a:t>
            </a:r>
            <a:r>
              <a:rPr b="1" i="1" lang="en" sz="1200">
                <a:solidFill>
                  <a:srgbClr val="FF0000"/>
                </a:solidFill>
              </a:rPr>
              <a:t>every</a:t>
            </a:r>
            <a:r>
              <a:rPr lang="en" sz="1200">
                <a:solidFill>
                  <a:srgbClr val="FF0000"/>
                </a:solidFill>
              </a:rPr>
              <a:t> </a:t>
            </a:r>
            <a:r>
              <a:rPr lang="en" sz="1200"/>
              <a:t>reference type is related to the </a:t>
            </a:r>
            <a:r>
              <a:rPr lang="en" sz="1200">
                <a:latin typeface="Courier New"/>
                <a:ea typeface="Courier New"/>
                <a:cs typeface="Courier New"/>
                <a:sym typeface="Courier New"/>
              </a:rPr>
              <a:t>java.lang.Object</a:t>
            </a:r>
            <a:r>
              <a:rPr lang="en" sz="1200"/>
              <a:t> class, instances of </a:t>
            </a:r>
            <a:r>
              <a:rPr b="1" i="1" lang="en" sz="1200">
                <a:solidFill>
                  <a:srgbClr val="FF0000"/>
                </a:solidFill>
              </a:rPr>
              <a:t>every</a:t>
            </a:r>
            <a:r>
              <a:rPr lang="en" sz="1200">
                <a:solidFill>
                  <a:srgbClr val="FF0000"/>
                </a:solidFill>
              </a:rPr>
              <a:t> </a:t>
            </a:r>
            <a:r>
              <a:rPr lang="en" sz="1200"/>
              <a:t>reference type are compatible with </a:t>
            </a:r>
            <a:r>
              <a:rPr lang="en" sz="1200">
                <a:latin typeface="Courier New"/>
                <a:ea typeface="Courier New"/>
                <a:cs typeface="Courier New"/>
                <a:sym typeface="Courier New"/>
              </a:rPr>
              <a:t>Object</a:t>
            </a:r>
            <a:r>
              <a:rPr lang="en" sz="1200"/>
              <a:t>!</a:t>
            </a:r>
            <a:endParaRPr sz="1200"/>
          </a:p>
        </p:txBody>
      </p:sp>
      <p:sp>
        <p:nvSpPr>
          <p:cNvPr id="1006" name="Google Shape;1006;p107"/>
          <p:cNvSpPr txBox="1"/>
          <p:nvPr>
            <p:ph idx="3" type="body"/>
          </p:nvPr>
        </p:nvSpPr>
        <p:spPr>
          <a:xfrm>
            <a:off x="311725" y="2825800"/>
            <a:ext cx="3706500" cy="7389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en" sz="1200"/>
              <a:t>This means that instances of </a:t>
            </a:r>
            <a:r>
              <a:rPr b="1" i="1" lang="en" sz="1200">
                <a:solidFill>
                  <a:srgbClr val="FF0000"/>
                </a:solidFill>
              </a:rPr>
              <a:t>any</a:t>
            </a:r>
            <a:r>
              <a:rPr lang="en" sz="1200">
                <a:solidFill>
                  <a:srgbClr val="FF0000"/>
                </a:solidFill>
              </a:rPr>
              <a:t> </a:t>
            </a:r>
            <a:r>
              <a:rPr lang="en" sz="1200"/>
              <a:t>class can be </a:t>
            </a:r>
            <a:r>
              <a:rPr b="1" i="1" lang="en" sz="1200">
                <a:solidFill>
                  <a:srgbClr val="FF0000"/>
                </a:solidFill>
              </a:rPr>
              <a:t>assigned to</a:t>
            </a:r>
            <a:r>
              <a:rPr lang="en" sz="1200">
                <a:solidFill>
                  <a:srgbClr val="FF0000"/>
                </a:solidFill>
              </a:rPr>
              <a:t> </a:t>
            </a:r>
            <a:r>
              <a:rPr lang="en" sz="1200"/>
              <a:t>or used as </a:t>
            </a:r>
            <a:r>
              <a:rPr b="1" i="1" lang="en" sz="1200">
                <a:solidFill>
                  <a:srgbClr val="FF0000"/>
                </a:solidFill>
              </a:rPr>
              <a:t>arguments</a:t>
            </a:r>
            <a:r>
              <a:rPr lang="en" sz="1200">
                <a:solidFill>
                  <a:srgbClr val="FF0000"/>
                </a:solidFill>
              </a:rPr>
              <a:t> </a:t>
            </a:r>
            <a:r>
              <a:rPr lang="en" sz="1200"/>
              <a:t>and </a:t>
            </a:r>
            <a:r>
              <a:rPr b="1" i="1" lang="en" sz="1200">
                <a:solidFill>
                  <a:srgbClr val="FF0000"/>
                </a:solidFill>
              </a:rPr>
              <a:t>return values</a:t>
            </a:r>
            <a:r>
              <a:rPr lang="en" sz="1200">
                <a:solidFill>
                  <a:srgbClr val="FF0000"/>
                </a:solidFill>
              </a:rPr>
              <a:t> </a:t>
            </a:r>
            <a:r>
              <a:rPr lang="en" sz="1200"/>
              <a:t>where </a:t>
            </a:r>
            <a:r>
              <a:rPr lang="en" sz="1200">
                <a:latin typeface="Courier New"/>
                <a:ea typeface="Courier New"/>
                <a:cs typeface="Courier New"/>
                <a:sym typeface="Courier New"/>
              </a:rPr>
              <a:t>Object</a:t>
            </a:r>
            <a:r>
              <a:rPr lang="en" sz="1200"/>
              <a:t> is declared as the type.</a:t>
            </a:r>
            <a:endParaRPr sz="1200"/>
          </a:p>
        </p:txBody>
      </p:sp>
      <p:sp>
        <p:nvSpPr>
          <p:cNvPr id="1007" name="Google Shape;1007;p107"/>
          <p:cNvSpPr txBox="1"/>
          <p:nvPr/>
        </p:nvSpPr>
        <p:spPr>
          <a:xfrm>
            <a:off x="311725" y="3664000"/>
            <a:ext cx="3706500" cy="1108200"/>
          </a:xfrm>
          <a:prstGeom prst="rect">
            <a:avLst/>
          </a:prstGeom>
          <a:solidFill>
            <a:srgbClr val="FFFFFF"/>
          </a:solidFill>
          <a:ln cap="flat" cmpd="sng" w="19050">
            <a:solidFill>
              <a:srgbClr val="B7B7B7"/>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objectCode</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obj</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EE0000"/>
                </a:solidFill>
                <a:latin typeface="Consolas"/>
                <a:ea typeface="Consolas"/>
                <a:cs typeface="Consolas"/>
                <a:sym typeface="Consolas"/>
              </a:rPr>
              <a:t>\t\t</a:t>
            </a:r>
            <a:r>
              <a:rPr lang="en" sz="1000">
                <a:solidFill>
                  <a:srgbClr val="A31515"/>
                </a:solidFill>
                <a:latin typeface="Consolas"/>
                <a:ea typeface="Consolas"/>
                <a:cs typeface="Consolas"/>
                <a:sym typeface="Consolas"/>
              </a:rPr>
              <a:t>abcdefg"</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obj</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o</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 =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trim</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1000"/>
                                        <p:tgtEl>
                                          <p:spTgt spid="10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1000"/>
                                        <p:tgtEl>
                                          <p:spTgt spid="10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par>
                                <p:cTn fill="hold" nodeType="with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1000"/>
                                        <p:tgtEl>
                                          <p:spTgt spid="10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08"/>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In Java, every non-primitive type is an Object. Values of any type may be assigned to an Object variable, passed as arguments to an Object parameter, or store in an array of Objects. Experiment with the Object class to see how this works in practice. </a:t>
            </a:r>
            <a:endParaRPr b="1"/>
          </a:p>
        </p:txBody>
      </p:sp>
      <p:sp>
        <p:nvSpPr>
          <p:cNvPr id="1013" name="Google Shape;1013;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14" name="Google Shape;1014;p108"/>
          <p:cNvSpPr txBox="1"/>
          <p:nvPr>
            <p:ph idx="2" type="body"/>
          </p:nvPr>
        </p:nvSpPr>
        <p:spPr>
          <a:xfrm>
            <a:off x="3406550" y="1733425"/>
            <a:ext cx="5362500" cy="3221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class named</a:t>
            </a:r>
            <a:r>
              <a:rPr lang="en"/>
              <a:t> </a:t>
            </a:r>
            <a:r>
              <a:rPr lang="en">
                <a:solidFill>
                  <a:srgbClr val="FF0000"/>
                </a:solidFill>
                <a:latin typeface="Courier New"/>
                <a:ea typeface="Courier New"/>
                <a:cs typeface="Courier New"/>
                <a:sym typeface="Courier New"/>
              </a:rPr>
              <a:t>Objects</a:t>
            </a:r>
            <a:r>
              <a:rPr lang="en"/>
              <a:t> and define a static method named "</a:t>
            </a:r>
            <a:r>
              <a:rPr lang="en">
                <a:solidFill>
                  <a:srgbClr val="FF0000"/>
                </a:solidFill>
                <a:latin typeface="Courier New"/>
                <a:ea typeface="Courier New"/>
                <a:cs typeface="Courier New"/>
                <a:sym typeface="Courier New"/>
              </a:rPr>
              <a:t>funWithObjects</a:t>
            </a:r>
            <a:r>
              <a:rPr lang="en"/>
              <a:t>" that declares an </a:t>
            </a:r>
            <a:r>
              <a:rPr lang="en">
                <a:latin typeface="Courier New"/>
                <a:ea typeface="Courier New"/>
                <a:cs typeface="Courier New"/>
                <a:sym typeface="Courier New"/>
              </a:rPr>
              <a:t>Object</a:t>
            </a:r>
            <a:r>
              <a:rPr lang="en"/>
              <a:t> parameter and returns an </a:t>
            </a:r>
            <a:r>
              <a:rPr lang="en">
                <a:latin typeface="Courier New"/>
                <a:ea typeface="Courier New"/>
                <a:cs typeface="Courier New"/>
                <a:sym typeface="Courier New"/>
              </a:rPr>
              <a:t>Object</a:t>
            </a:r>
            <a:r>
              <a:rPr lang="en"/>
              <a:t> array.</a:t>
            </a:r>
            <a:endParaRPr/>
          </a:p>
          <a:p>
            <a:pPr indent="-298450" lvl="1" marL="914400" rtl="0" algn="l">
              <a:spcBef>
                <a:spcPts val="0"/>
              </a:spcBef>
              <a:spcAft>
                <a:spcPts val="0"/>
              </a:spcAft>
              <a:buSzPts val="1100"/>
              <a:buChar char="○"/>
            </a:pPr>
            <a:r>
              <a:rPr lang="en"/>
              <a:t>Create an Object array large enough to hold at least 5 values.</a:t>
            </a:r>
            <a:endParaRPr/>
          </a:p>
          <a:p>
            <a:pPr indent="-298450" lvl="1" marL="914400" rtl="0" algn="l">
              <a:spcBef>
                <a:spcPts val="0"/>
              </a:spcBef>
              <a:spcAft>
                <a:spcPts val="0"/>
              </a:spcAft>
              <a:buSzPts val="1100"/>
              <a:buChar char="○"/>
            </a:pPr>
            <a:r>
              <a:rPr lang="en"/>
              <a:t>Convert the Object parameter into a </a:t>
            </a:r>
            <a:r>
              <a:rPr lang="en">
                <a:latin typeface="Courier New"/>
                <a:ea typeface="Courier New"/>
                <a:cs typeface="Courier New"/>
                <a:sym typeface="Courier New"/>
              </a:rPr>
              <a:t>String</a:t>
            </a:r>
            <a:r>
              <a:rPr lang="en"/>
              <a:t> and store it in the first index in the array. </a:t>
            </a:r>
            <a:r>
              <a:rPr b="1" i="1" lang="en"/>
              <a:t>Hint</a:t>
            </a:r>
            <a:r>
              <a:rPr lang="en"/>
              <a:t>: call its </a:t>
            </a:r>
            <a:r>
              <a:rPr lang="en">
                <a:latin typeface="Courier New"/>
                <a:ea typeface="Courier New"/>
                <a:cs typeface="Courier New"/>
                <a:sym typeface="Courier New"/>
              </a:rPr>
              <a:t>toString()</a:t>
            </a:r>
            <a:r>
              <a:rPr lang="en"/>
              <a:t> method!</a:t>
            </a:r>
            <a:endParaRPr/>
          </a:p>
          <a:p>
            <a:pPr indent="-298450" lvl="1" marL="914400" rtl="0" algn="l">
              <a:spcBef>
                <a:spcPts val="0"/>
              </a:spcBef>
              <a:spcAft>
                <a:spcPts val="0"/>
              </a:spcAft>
              <a:buSzPts val="1100"/>
              <a:buChar char="○"/>
            </a:pPr>
            <a:r>
              <a:rPr lang="en"/>
              <a:t>Fill the remaining indexes in the array with values of different types.</a:t>
            </a:r>
            <a:endParaRPr/>
          </a:p>
          <a:p>
            <a:pPr indent="-298450" lvl="1" marL="914400" rtl="0" algn="l">
              <a:spcBef>
                <a:spcPts val="0"/>
              </a:spcBef>
              <a:spcAft>
                <a:spcPts val="0"/>
              </a:spcAft>
              <a:buSzPts val="1100"/>
              <a:buChar char="○"/>
            </a:pPr>
            <a:r>
              <a:rPr lang="en"/>
              <a:t>What happens when you try to store a primitive value in the array?</a:t>
            </a:r>
            <a:endParaRPr/>
          </a:p>
          <a:p>
            <a:pPr indent="-298450" lvl="1" marL="914400" rtl="0" algn="l">
              <a:spcBef>
                <a:spcPts val="0"/>
              </a:spcBef>
              <a:spcAft>
                <a:spcPts val="0"/>
              </a:spcAft>
              <a:buSzPts val="1100"/>
              <a:buChar char="○"/>
            </a:pPr>
            <a:r>
              <a:rPr lang="en"/>
              <a:t>What about an instance of one of your own classes, e.g. </a:t>
            </a:r>
            <a:r>
              <a:rPr lang="en">
                <a:latin typeface="Courier New"/>
                <a:ea typeface="Courier New"/>
                <a:cs typeface="Courier New"/>
                <a:sym typeface="Courier New"/>
              </a:rPr>
              <a:t>Year</a:t>
            </a:r>
            <a:r>
              <a:rPr lang="en"/>
              <a:t>?</a:t>
            </a:r>
            <a:endParaRPr/>
          </a:p>
          <a:p>
            <a:pPr indent="-298450" lvl="1" marL="914400" rtl="0" algn="l">
              <a:spcBef>
                <a:spcPts val="0"/>
              </a:spcBef>
              <a:spcAft>
                <a:spcPts val="0"/>
              </a:spcAft>
              <a:buSzPts val="1100"/>
              <a:buChar char="○"/>
            </a:pPr>
            <a:r>
              <a:rPr lang="en"/>
              <a:t>What about another array?</a:t>
            </a:r>
            <a:endParaRPr/>
          </a:p>
          <a:p>
            <a:pPr indent="-311150" lvl="0" marL="457200" rtl="0" algn="l">
              <a:spcBef>
                <a:spcPts val="0"/>
              </a:spcBef>
              <a:spcAft>
                <a:spcPts val="0"/>
              </a:spcAft>
              <a:buSzPts val="1300"/>
              <a:buChar char="●"/>
            </a:pPr>
            <a:r>
              <a:rPr lang="en"/>
              <a:t> Define a </a:t>
            </a:r>
            <a:r>
              <a:rPr lang="en">
                <a:latin typeface="Courier New"/>
                <a:ea typeface="Courier New"/>
                <a:cs typeface="Courier New"/>
                <a:sym typeface="Courier New"/>
              </a:rPr>
              <a:t>main</a:t>
            </a:r>
            <a:r>
              <a:rPr lang="en"/>
              <a:t> method with the appropriate signature.</a:t>
            </a:r>
            <a:endParaRPr/>
          </a:p>
          <a:p>
            <a:pPr indent="-298450" lvl="1" marL="914400" rtl="0" algn="l">
              <a:spcBef>
                <a:spcPts val="0"/>
              </a:spcBef>
              <a:spcAft>
                <a:spcPts val="0"/>
              </a:spcAft>
              <a:buSzPts val="1100"/>
              <a:buChar char="○"/>
            </a:pPr>
            <a:r>
              <a:rPr lang="en"/>
              <a:t>Call the </a:t>
            </a:r>
            <a:r>
              <a:rPr lang="en">
                <a:latin typeface="Courier New"/>
                <a:ea typeface="Courier New"/>
                <a:cs typeface="Courier New"/>
                <a:sym typeface="Courier New"/>
              </a:rPr>
              <a:t>funWithObjects</a:t>
            </a:r>
            <a:r>
              <a:rPr lang="en"/>
              <a:t> method at least 3 times with arguments of different types.</a:t>
            </a:r>
            <a:endParaRPr/>
          </a:p>
          <a:p>
            <a:pPr indent="-298450" lvl="1" marL="914400" rtl="0" algn="l">
              <a:spcBef>
                <a:spcPts val="0"/>
              </a:spcBef>
              <a:spcAft>
                <a:spcPts val="0"/>
              </a:spcAft>
              <a:buSzPts val="1100"/>
              <a:buChar char="○"/>
            </a:pPr>
            <a:r>
              <a:rPr lang="en"/>
              <a:t>Use the </a:t>
            </a:r>
            <a:r>
              <a:rPr lang="en">
                <a:latin typeface="Courier New"/>
                <a:ea typeface="Courier New"/>
                <a:cs typeface="Courier New"/>
                <a:sym typeface="Courier New"/>
              </a:rPr>
              <a:t>Arrays.toString(array)</a:t>
            </a:r>
            <a:r>
              <a:rPr lang="en"/>
              <a:t> method to print the return values to standard output.</a:t>
            </a:r>
            <a:endParaRPr/>
          </a:p>
        </p:txBody>
      </p:sp>
      <p:sp>
        <p:nvSpPr>
          <p:cNvPr id="1015" name="Google Shape;1015;p10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Objects in Space</a:t>
            </a:r>
            <a:endParaRPr/>
          </a:p>
        </p:txBody>
      </p:sp>
      <p:sp>
        <p:nvSpPr>
          <p:cNvPr id="1016" name="Google Shape;1016;p10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2.25</a:t>
            </a:r>
            <a:endParaRPr/>
          </a:p>
        </p:txBody>
      </p:sp>
      <p:sp>
        <p:nvSpPr>
          <p:cNvPr id="1017" name="Google Shape;1017;p108"/>
          <p:cNvSpPr txBox="1"/>
          <p:nvPr/>
        </p:nvSpPr>
        <p:spPr>
          <a:xfrm>
            <a:off x="189275" y="3774500"/>
            <a:ext cx="3009900" cy="11544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objectCode</a:t>
            </a:r>
            <a:r>
              <a:rPr lang="en" sz="1050">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obj) {</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a:t>
            </a:r>
            <a:r>
              <a:rPr lang="en" sz="1050">
                <a:highlight>
                  <a:srgbClr val="FFFFFF"/>
                </a:highlight>
                <a:latin typeface="Consolas"/>
                <a:ea typeface="Consolas"/>
                <a:cs typeface="Consolas"/>
                <a:sym typeface="Consolas"/>
              </a:rPr>
              <a:t> = </a:t>
            </a:r>
            <a:r>
              <a:rPr lang="en" sz="1050">
                <a:solidFill>
                  <a:srgbClr val="A31515"/>
                </a:solidFill>
                <a:highlight>
                  <a:srgbClr val="FFFFFF"/>
                </a:highlight>
                <a:latin typeface="Consolas"/>
                <a:ea typeface="Consolas"/>
                <a:cs typeface="Consolas"/>
                <a:sym typeface="Consolas"/>
              </a:rPr>
              <a:t>"</a:t>
            </a:r>
            <a:r>
              <a:rPr lang="en" sz="1050">
                <a:solidFill>
                  <a:srgbClr val="EE0000"/>
                </a:solidFill>
                <a:highlight>
                  <a:srgbClr val="FFFFFF"/>
                </a:highlight>
                <a:latin typeface="Consolas"/>
                <a:ea typeface="Consolas"/>
                <a:cs typeface="Consolas"/>
                <a:sym typeface="Consolas"/>
              </a:rPr>
              <a:t>\t\t</a:t>
            </a:r>
            <a:r>
              <a:rPr lang="en" sz="1050">
                <a:solidFill>
                  <a:srgbClr val="A31515"/>
                </a:solidFill>
                <a:highlight>
                  <a:srgbClr val="FFFFFF"/>
                </a:highlight>
                <a:latin typeface="Consolas"/>
                <a:ea typeface="Consolas"/>
                <a:cs typeface="Consolas"/>
                <a:sym typeface="Consolas"/>
              </a:rPr>
              <a:t>abcdefg"</a:t>
            </a:r>
            <a:r>
              <a:rPr lang="en" sz="1050">
                <a:highlight>
                  <a:srgbClr val="FFFFFF"/>
                </a:highlight>
                <a:latin typeface="Consolas"/>
                <a:ea typeface="Consolas"/>
                <a:cs typeface="Consolas"/>
                <a:sym typeface="Consolas"/>
              </a:rPr>
              <a:t> + obj;</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a:t>
            </a:r>
            <a:r>
              <a:rPr lang="en" sz="1050">
                <a:highlight>
                  <a:srgbClr val="FFFFFF"/>
                </a:highlight>
                <a:latin typeface="Consolas"/>
                <a:ea typeface="Consolas"/>
                <a:cs typeface="Consolas"/>
                <a:sym typeface="Consolas"/>
              </a:rPr>
              <a:t> = s + s;</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x</a:t>
            </a:r>
            <a:r>
              <a:rPr lang="en" sz="1050">
                <a:highlight>
                  <a:srgbClr val="FFFFFF"/>
                </a:highlight>
                <a:latin typeface="Consolas"/>
                <a:ea typeface="Consolas"/>
                <a:cs typeface="Consolas"/>
                <a:sym typeface="Consolas"/>
              </a:rPr>
              <a:t> = (String)o;</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x</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trim</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highlight>
                  <a:srgbClr val="FFFFFF"/>
                </a:highlight>
                <a:latin typeface="Consolas"/>
                <a:ea typeface="Consolas"/>
                <a:cs typeface="Consolas"/>
                <a:sym typeface="Consolas"/>
              </a:rPr>
              <a:t>}</a:t>
            </a:r>
            <a:endParaRPr sz="1050">
              <a:solidFill>
                <a:srgbClr val="569CD6"/>
              </a:solidFill>
              <a:latin typeface="Consolas"/>
              <a:ea typeface="Consolas"/>
              <a:cs typeface="Consolas"/>
              <a:sym typeface="Consolas"/>
            </a:endParaRPr>
          </a:p>
        </p:txBody>
      </p:sp>
      <p:pic>
        <p:nvPicPr>
          <p:cNvPr id="1018" name="Google Shape;1018;p108"/>
          <p:cNvPicPr preferRelativeResize="0"/>
          <p:nvPr/>
        </p:nvPicPr>
        <p:blipFill>
          <a:blip r:embed="rId3">
            <a:alphaModFix/>
          </a:blip>
          <a:stretch>
            <a:fillRect/>
          </a:stretch>
        </p:blipFill>
        <p:spPr>
          <a:xfrm>
            <a:off x="189275" y="1733425"/>
            <a:ext cx="3009875" cy="1851375"/>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graphicFrame>
        <p:nvGraphicFramePr>
          <p:cNvPr id="1023" name="Google Shape;1023;p109"/>
          <p:cNvGraphicFramePr/>
          <p:nvPr/>
        </p:nvGraphicFramePr>
        <p:xfrm>
          <a:off x="-10" y="-9"/>
          <a:ext cx="3000000" cy="3000000"/>
        </p:xfrm>
        <a:graphic>
          <a:graphicData uri="http://schemas.openxmlformats.org/drawingml/2006/table">
            <a:tbl>
              <a:tblPr>
                <a:noFill/>
                <a:tableStyleId>{DCB0A160-8D32-47A0-BB77-B2D693EC1B64}</a:tableStyleId>
              </a:tblPr>
              <a:tblGrid>
                <a:gridCol w="388675"/>
                <a:gridCol w="4377650"/>
                <a:gridCol w="4377650"/>
              </a:tblGrid>
              <a:tr h="95250">
                <a:tc rowSpan="8">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rowSpan="2">
                  <a:txBody>
                    <a:bodyPr/>
                    <a:lstStyle/>
                    <a:p>
                      <a:pPr indent="0" lvl="0" marL="0" rtl="0" algn="l">
                        <a:spcBef>
                          <a:spcPts val="0"/>
                        </a:spcBef>
                        <a:spcAft>
                          <a:spcPts val="0"/>
                        </a:spcAft>
                        <a:buNone/>
                      </a:pPr>
                      <a:r>
                        <a:rPr lang="en" sz="1000" u="sng">
                          <a:solidFill>
                            <a:schemeClr val="hlink"/>
                          </a:solidFill>
                          <a:hlinkClick r:id="rId3"/>
                        </a:rPr>
                        <a:t>Java Classes &amp; Fields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public class House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int numBathrooms;</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int numBedrooms;</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sz="1000" u="sng">
                          <a:solidFill>
                            <a:schemeClr val="hlink"/>
                          </a:solidFill>
                          <a:hlinkClick r:id="rId4"/>
                        </a:rPr>
                        <a:t>Java Packages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package unit02.activities;</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308175">
                <a:tc vMerge="1"/>
                <a:tc vMerge="1"/>
                <a:tc>
                  <a:txBody>
                    <a:bodyPr/>
                    <a:lstStyle/>
                    <a:p>
                      <a:pPr indent="0" lvl="0" marL="0" rtl="0" algn="l">
                        <a:spcBef>
                          <a:spcPts val="0"/>
                        </a:spcBef>
                        <a:spcAft>
                          <a:spcPts val="0"/>
                        </a:spcAft>
                        <a:buNone/>
                      </a:pPr>
                      <a:r>
                        <a:rPr lang="en" sz="1000" u="sng">
                          <a:solidFill>
                            <a:schemeClr val="hlink"/>
                          </a:solidFill>
                          <a:hlinkClick r:id="rId5"/>
                        </a:rPr>
                        <a:t>Default Constructors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House house = new House();</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33550">
                <a:tc vMerge="1"/>
                <a:tc>
                  <a:txBody>
                    <a:bodyPr/>
                    <a:lstStyle/>
                    <a:p>
                      <a:pPr indent="0" lvl="0" marL="0" rtl="0" algn="l">
                        <a:spcBef>
                          <a:spcPts val="0"/>
                        </a:spcBef>
                        <a:spcAft>
                          <a:spcPts val="0"/>
                        </a:spcAft>
                        <a:buNone/>
                      </a:pPr>
                      <a:r>
                        <a:rPr lang="en" sz="1000" u="sng">
                          <a:solidFill>
                            <a:schemeClr val="hlink"/>
                          </a:solidFill>
                          <a:hlinkClick r:id="rId6"/>
                        </a:rPr>
                        <a:t>Initializing Constructors &amp; </a:t>
                      </a:r>
                      <a:r>
                        <a:rPr lang="en" sz="1000" u="sng">
                          <a:solidFill>
                            <a:schemeClr val="hlink"/>
                          </a:solidFill>
                          <a:latin typeface="Courier New"/>
                          <a:ea typeface="Courier New"/>
                          <a:cs typeface="Courier New"/>
                          <a:sym typeface="Courier New"/>
                          <a:hlinkClick r:id="rId7"/>
                        </a:rPr>
                        <a:t>this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this.numberOfBathrooms = numberOfBathrooms;</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rowSpan="2">
                  <a:txBody>
                    <a:bodyPr/>
                    <a:lstStyle/>
                    <a:p>
                      <a:pPr indent="0" lvl="0" marL="0" rtl="0" algn="l">
                        <a:spcBef>
                          <a:spcPts val="0"/>
                        </a:spcBef>
                        <a:spcAft>
                          <a:spcPts val="0"/>
                        </a:spcAft>
                        <a:buNone/>
                      </a:pPr>
                      <a:r>
                        <a:rPr lang="en" sz="1000" u="sng">
                          <a:solidFill>
                            <a:schemeClr val="hlink"/>
                          </a:solidFill>
                          <a:hlinkClick r:id="rId8"/>
                        </a:rPr>
                        <a:t>Overloading &amp; Constructors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public House(String color)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this(color, 2, 3, true);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33550">
                <a:tc vMerge="1"/>
                <a:tc rowSpan="2">
                  <a:txBody>
                    <a:bodyPr/>
                    <a:lstStyle/>
                    <a:p>
                      <a:pPr indent="0" lvl="0" marL="0" rtl="0" algn="l">
                        <a:spcBef>
                          <a:spcPts val="0"/>
                        </a:spcBef>
                        <a:spcAft>
                          <a:spcPts val="0"/>
                        </a:spcAft>
                        <a:buNone/>
                      </a:pPr>
                      <a:r>
                        <a:rPr lang="en" sz="1000" u="sng">
                          <a:solidFill>
                            <a:schemeClr val="hlink"/>
                          </a:solidFill>
                          <a:hlinkClick r:id="rId9"/>
                        </a:rPr>
                        <a:t>Data Privacy</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public int numOfBathrooms;</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protected int numBedrooms;</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private boolean hvac;</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String color;</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vMerge="1"/>
              </a:tr>
              <a:tr h="165325">
                <a:tc vMerge="1"/>
                <a:tc vMerge="1"/>
                <a:tc rowSpan="2">
                  <a:txBody>
                    <a:bodyPr/>
                    <a:lstStyle/>
                    <a:p>
                      <a:pPr indent="0" lvl="0" marL="0" rtl="0" algn="l">
                        <a:spcBef>
                          <a:spcPts val="0"/>
                        </a:spcBef>
                        <a:spcAft>
                          <a:spcPts val="0"/>
                        </a:spcAft>
                        <a:buNone/>
                      </a:pPr>
                      <a:r>
                        <a:rPr lang="en" sz="1000" u="sng">
                          <a:solidFill>
                            <a:schemeClr val="hlink"/>
                          </a:solidFill>
                          <a:hlinkClick r:id="rId10"/>
                        </a:rPr>
                        <a:t>Accessors &amp; Mutators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public int getNumBathrooms()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numBathrooms;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void setColor(String color)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this.color = color;</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165325">
                <a:tc vMerge="1"/>
                <a:tc rowSpan="2">
                  <a:txBody>
                    <a:bodyPr/>
                    <a:lstStyle/>
                    <a:p>
                      <a:pPr indent="0" lvl="0" marL="0" rtl="0" algn="l">
                        <a:spcBef>
                          <a:spcPts val="0"/>
                        </a:spcBef>
                        <a:spcAft>
                          <a:spcPts val="0"/>
                        </a:spcAft>
                        <a:buNone/>
                      </a:pPr>
                      <a:r>
                        <a:rPr lang="en" sz="1000" u="sng">
                          <a:solidFill>
                            <a:schemeClr val="hlink"/>
                          </a:solidFill>
                          <a:hlinkClick r:id="rId11"/>
                        </a:rPr>
                        <a:t>Enumerated Types</a:t>
                      </a:r>
                      <a:r>
                        <a:rPr lang="en" sz="1000"/>
                        <a:t>, </a:t>
                      </a:r>
                      <a:r>
                        <a:rPr lang="en" sz="1000" u="sng">
                          <a:solidFill>
                            <a:schemeClr val="hlink"/>
                          </a:solidFill>
                          <a:hlinkClick r:id="rId12"/>
                        </a:rPr>
                        <a:t>Complex enums</a:t>
                      </a:r>
                      <a:r>
                        <a:rPr lang="en" sz="1000"/>
                        <a:t>, &amp; </a:t>
                      </a:r>
                      <a:r>
                        <a:rPr lang="en" sz="1000" u="sng">
                          <a:solidFill>
                            <a:schemeClr val="hlink"/>
                          </a:solidFill>
                          <a:hlinkClick r:id="rId13"/>
                        </a:rPr>
                        <a:t>More enums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public enum BoilingPoint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FAHRENHEIT('F'),</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CELSIUS('C');</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char scale;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BoilingPoint(char scale)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this.scale = scale;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char getScale() { return this.scale;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vMerge="1"/>
              </a:tr>
              <a:tr h="65500">
                <a:tc vMerge="1"/>
                <a:tc vMerge="1"/>
                <a:tc>
                  <a:txBody>
                    <a:bodyPr/>
                    <a:lstStyle/>
                    <a:p>
                      <a:pPr indent="0" lvl="0" marL="0" rtl="0" algn="l">
                        <a:spcBef>
                          <a:spcPts val="0"/>
                        </a:spcBef>
                        <a:spcAft>
                          <a:spcPts val="0"/>
                        </a:spcAft>
                        <a:buNone/>
                      </a:pPr>
                      <a:r>
                        <a:rPr lang="en" sz="1000" u="sng">
                          <a:solidFill>
                            <a:schemeClr val="hlink"/>
                          </a:solidFill>
                          <a:hlinkClick r:id="rId14"/>
                        </a:rPr>
                        <a:t>Special Method: </a:t>
                      </a:r>
                      <a:r>
                        <a:rPr lang="en" sz="1000" u="sng">
                          <a:solidFill>
                            <a:schemeClr val="hlink"/>
                          </a:solidFill>
                          <a:latin typeface="Courier New"/>
                          <a:ea typeface="Courier New"/>
                          <a:cs typeface="Courier New"/>
                          <a:sym typeface="Courier New"/>
                          <a:hlinkClick r:id="rId15"/>
                        </a:rPr>
                        <a:t>toString()</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String toString()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"A pet named " + this.name +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5500">
                <a:tc vMerge="1"/>
                <a:tc>
                  <a:txBody>
                    <a:bodyPr/>
                    <a:lstStyle/>
                    <a:p>
                      <a:pPr indent="0" lvl="0" marL="0" rtl="0" algn="l">
                        <a:spcBef>
                          <a:spcPts val="0"/>
                        </a:spcBef>
                        <a:spcAft>
                          <a:spcPts val="0"/>
                        </a:spcAft>
                        <a:buNone/>
                      </a:pPr>
                      <a:r>
                        <a:rPr lang="en" sz="1000" u="sng">
                          <a:solidFill>
                            <a:schemeClr val="hlink"/>
                          </a:solidFill>
                          <a:hlinkClick r:id="rId16"/>
                        </a:rPr>
                        <a:t>The </a:t>
                      </a:r>
                      <a:r>
                        <a:rPr lang="en" sz="1000" u="sng">
                          <a:solidFill>
                            <a:schemeClr val="hlink"/>
                          </a:solidFill>
                          <a:latin typeface="Courier New"/>
                          <a:ea typeface="Courier New"/>
                          <a:cs typeface="Courier New"/>
                          <a:sym typeface="Courier New"/>
                          <a:hlinkClick r:id="rId17"/>
                        </a:rPr>
                        <a:t>static</a:t>
                      </a:r>
                      <a:r>
                        <a:rPr lang="en" sz="1000" u="sng">
                          <a:solidFill>
                            <a:schemeClr val="hlink"/>
                          </a:solidFill>
                          <a:hlinkClick r:id="rId18"/>
                        </a:rPr>
                        <a:t> modifier</a:t>
                      </a:r>
                      <a:r>
                        <a:rPr lang="en" sz="1000"/>
                        <a:t>, </a:t>
                      </a:r>
                      <a:r>
                        <a:rPr lang="en" sz="1000" u="sng">
                          <a:solidFill>
                            <a:schemeClr val="hlink"/>
                          </a:solidFill>
                          <a:latin typeface="Courier New"/>
                          <a:ea typeface="Courier New"/>
                          <a:cs typeface="Courier New"/>
                          <a:sym typeface="Courier New"/>
                          <a:hlinkClick r:id="rId19"/>
                        </a:rPr>
                        <a:t>final</a:t>
                      </a:r>
                      <a:r>
                        <a:rPr lang="en" sz="1000" u="sng">
                          <a:solidFill>
                            <a:schemeClr val="hlink"/>
                          </a:solidFill>
                          <a:hlinkClick r:id="rId20"/>
                        </a:rPr>
                        <a:t>, &amp; Constants</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public static final double PI = 3.14159;</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sz="1000" u="sng">
                          <a:solidFill>
                            <a:schemeClr val="hlink"/>
                          </a:solidFill>
                          <a:latin typeface="Courier New"/>
                          <a:ea typeface="Courier New"/>
                          <a:cs typeface="Courier New"/>
                          <a:sym typeface="Courier New"/>
                          <a:hlinkClick r:id="rId21"/>
                        </a:rPr>
                        <a:t>java.lang.Object</a:t>
                      </a:r>
                      <a:r>
                        <a:rPr lang="en" sz="1000"/>
                        <a:t>.</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1024" name="Google Shape;1024;p109"/>
          <p:cNvSpPr txBox="1"/>
          <p:nvPr/>
        </p:nvSpPr>
        <p:spPr>
          <a:xfrm rot="-5400000">
            <a:off x="-2284450" y="2283675"/>
            <a:ext cx="49635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2: Java Classes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graphicFrame>
        <p:nvGraphicFramePr>
          <p:cNvPr id="1029" name="Google Shape;1029;p110"/>
          <p:cNvGraphicFramePr/>
          <p:nvPr/>
        </p:nvGraphicFramePr>
        <p:xfrm>
          <a:off x="-10" y="-9"/>
          <a:ext cx="3000000" cy="3000000"/>
        </p:xfrm>
        <a:graphic>
          <a:graphicData uri="http://schemas.openxmlformats.org/drawingml/2006/table">
            <a:tbl>
              <a:tblPr>
                <a:noFill/>
                <a:tableStyleId>{DCB0A160-8D32-47A0-BB77-B2D693EC1B64}</a:tableStyleId>
              </a:tblPr>
              <a:tblGrid>
                <a:gridCol w="388675"/>
                <a:gridCol w="4377650"/>
                <a:gridCol w="4377650"/>
              </a:tblGrid>
              <a:tr h="252250">
                <a:tc rowSpan="3">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rowSpan="2">
                  <a:txBody>
                    <a:bodyPr/>
                    <a:lstStyle/>
                    <a:p>
                      <a:pPr indent="0" lvl="0" marL="0" rtl="0" algn="l">
                        <a:spcBef>
                          <a:spcPts val="0"/>
                        </a:spcBef>
                        <a:spcAft>
                          <a:spcPts val="0"/>
                        </a:spcAft>
                        <a:buNone/>
                      </a:pPr>
                      <a:r>
                        <a:rPr lang="en" sz="1000" u="sng">
                          <a:solidFill>
                            <a:schemeClr val="hlink"/>
                          </a:solidFill>
                          <a:hlinkClick r:id="rId3"/>
                        </a:rPr>
                        <a:t>JavaDoc</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 This method does something cool.</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 @param x The x parameter.</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 @return Returns something neat.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double aSpiffyMethod(int x) { …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rtl="0" algn="l">
                        <a:spcBef>
                          <a:spcPts val="0"/>
                        </a:spcBef>
                        <a:spcAft>
                          <a:spcPts val="0"/>
                        </a:spcAft>
                        <a:buNone/>
                      </a:pPr>
                      <a:r>
                        <a:rPr lang="en" sz="1000" u="sng">
                          <a:solidFill>
                            <a:schemeClr val="hlink"/>
                          </a:solidFill>
                          <a:hlinkClick r:id="rId4"/>
                        </a:rPr>
                        <a:t>String Parsing</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String[] tokens = aString.split("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String first = tokens[0];</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520850">
                <a:tc vMerge="1"/>
                <a:tc vMerge="1"/>
                <a:tc>
                  <a:txBody>
                    <a:bodyPr/>
                    <a:lstStyle/>
                    <a:p>
                      <a:pPr indent="0" lvl="0" marL="0" rtl="0" algn="l">
                        <a:spcBef>
                          <a:spcPts val="0"/>
                        </a:spcBef>
                        <a:spcAft>
                          <a:spcPts val="0"/>
                        </a:spcAft>
                        <a:buNone/>
                      </a:pPr>
                      <a:r>
                        <a:rPr lang="en" sz="1000" u="sng">
                          <a:solidFill>
                            <a:schemeClr val="hlink"/>
                          </a:solidFill>
                          <a:latin typeface="Courier New"/>
                          <a:ea typeface="Courier New"/>
                          <a:cs typeface="Courier New"/>
                          <a:sym typeface="Courier New"/>
                          <a:hlinkClick r:id="rId5"/>
                        </a:rPr>
                        <a:t>java.util.Random</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Random RNG = new Random();</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int roll = RNG.nextInt(1, 7); // 1-6</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int pick = RNG.nextInt(10); // 0-9</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83600">
                <a:tc vMerge="1"/>
                <a:tc gridSpan="2">
                  <a:txBody>
                    <a:bodyPr/>
                    <a:lstStyle/>
                    <a:p>
                      <a:pPr indent="0" lvl="0" marL="0" rtl="0" algn="l">
                        <a:spcBef>
                          <a:spcPts val="0"/>
                        </a:spcBef>
                        <a:spcAft>
                          <a:spcPts val="0"/>
                        </a:spcAft>
                        <a:buNone/>
                      </a:pPr>
                      <a:r>
                        <a:rPr lang="en" sz="1000" u="sng">
                          <a:solidFill>
                            <a:schemeClr val="hlink"/>
                          </a:solidFill>
                          <a:hlinkClick r:id="rId6"/>
                        </a:rPr>
                        <a:t>Special Method: </a:t>
                      </a:r>
                      <a:r>
                        <a:rPr lang="en" sz="1000" u="sng">
                          <a:solidFill>
                            <a:schemeClr val="hlink"/>
                          </a:solidFill>
                          <a:latin typeface="Courier New"/>
                          <a:ea typeface="Courier New"/>
                          <a:cs typeface="Courier New"/>
                          <a:sym typeface="Courier New"/>
                          <a:hlinkClick r:id="rId7"/>
                        </a:rPr>
                        <a:t>equals(Object)</a:t>
                      </a:r>
                      <a:r>
                        <a:rPr lang="en" sz="1000"/>
                        <a:t>.</a:t>
                      </a:r>
                      <a:endParaRPr sz="1000"/>
                    </a:p>
                    <a:p>
                      <a:pPr indent="0" lvl="0" marL="0" rtl="0" algn="l">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boolean equals(Object o)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if(o instanceof Pet other)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this.name.equals(other.name) &amp;&amp;</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this.breed == other.breed &amp;&amp;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this.age == other.age;</a:t>
                      </a:r>
                      <a:br>
                        <a:rPr lang="en" sz="1000">
                          <a:latin typeface="Courier New"/>
                          <a:ea typeface="Courier New"/>
                          <a:cs typeface="Courier New"/>
                          <a:sym typeface="Courier New"/>
                        </a:rPr>
                      </a:br>
                      <a:r>
                        <a:rPr lang="en" sz="1000">
                          <a:latin typeface="Courier New"/>
                          <a:ea typeface="Courier New"/>
                          <a:cs typeface="Courier New"/>
                          <a:sym typeface="Courier New"/>
                        </a:rPr>
                        <a:t>  } else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false;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hMerge="1"/>
              </a:tr>
            </a:tbl>
          </a:graphicData>
        </a:graphic>
      </p:graphicFrame>
      <p:sp>
        <p:nvSpPr>
          <p:cNvPr id="1030" name="Google Shape;1030;p110"/>
          <p:cNvSpPr txBox="1"/>
          <p:nvPr/>
        </p:nvSpPr>
        <p:spPr>
          <a:xfrm rot="-5400000">
            <a:off x="-1557400" y="1556621"/>
            <a:ext cx="35094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2: Java Classes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11"/>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1036" name="Google Shape;1036;p111"/>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1037" name="Google Shape;1037;p111"/>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038" name="Google Shape;1038;p111"/>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1039" name="Google Shape;1039;p111"/>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1040" name="Google Shape;1040;p111"/>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41" name="Google Shape;1041;p111"/>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42" name="Google Shape;1042;p111"/>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 Classes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Fields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Methods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Special Methods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static</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final</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UML Class Diagrams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JavaDoc</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Random</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java.lang.Object</a:t>
            </a:r>
            <a:endParaRPr sz="1600">
              <a:solidFill>
                <a:srgbClr val="FF0000"/>
              </a:solidFill>
              <a:latin typeface="Shadows Into Light"/>
              <a:ea typeface="Shadows Into Light"/>
              <a:cs typeface="Shadows Into Light"/>
              <a:sym typeface="Shadows Into Light"/>
            </a:endParaRPr>
          </a:p>
        </p:txBody>
      </p:sp>
      <p:sp>
        <p:nvSpPr>
          <p:cNvPr id="1043" name="Google Shape;1043;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