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7" r:id="rId1"/>
    <p:sldMasterId id="2147483678" r:id="rId2"/>
  </p:sldMasterIdLst>
  <p:notesMasterIdLst>
    <p:notesMasterId r:id="rId5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9D149B-3B2E-4EDA-BF98-D3530D9AB1DA}">
  <a:tblStyle styleId="{D69D149B-3B2E-4EDA-BF98-D3530D9AB1D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417" autoAdjust="0"/>
  </p:normalViewPr>
  <p:slideViewPr>
    <p:cSldViewPr snapToGrid="0">
      <p:cViewPr varScale="1">
        <p:scale>
          <a:sx n="131" d="100"/>
          <a:sy n="131" d="100"/>
        </p:scale>
        <p:origin x="144" y="60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b3d365e4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b3d365e4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Only one public java class in a file. Also not protected or private</a:t>
            </a:r>
          </a:p>
          <a:p>
            <a:r>
              <a:rPr lang="en-US" dirty="0"/>
              <a:t>In Java, </a:t>
            </a:r>
            <a:r>
              <a:rPr lang="en-US" b="1" dirty="0"/>
              <a:t>top-level classes</a:t>
            </a:r>
            <a:r>
              <a:rPr lang="en-US" dirty="0"/>
              <a:t> (classes declared directly in a file, not inside another class) can only be:</a:t>
            </a:r>
          </a:p>
          <a:p>
            <a:r>
              <a:rPr lang="en-US" dirty="0"/>
              <a:t>✅ </a:t>
            </a:r>
            <a:r>
              <a:rPr lang="en-US" sz="1100" b="0" i="0" u="none" strike="noStrike" cap="none" dirty="0">
                <a:solidFill>
                  <a:srgbClr val="000000"/>
                </a:solidFill>
                <a:latin typeface="Arial"/>
                <a:ea typeface="Arial"/>
                <a:cs typeface="Arial"/>
                <a:sym typeface="Arial"/>
              </a:rPr>
              <a:t>public</a:t>
            </a:r>
            <a:br>
              <a:rPr lang="en-US" dirty="0"/>
            </a:br>
            <a:r>
              <a:rPr lang="en-US" dirty="0"/>
              <a:t>✅ package-private (no modifier)</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c1f5a37ac2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c1f5a37ac2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Outer class can access the private variables of inner class.</a:t>
            </a:r>
          </a:p>
          <a:p>
            <a:pPr marL="0" lvl="0" indent="0" algn="l" rtl="0">
              <a:spcBef>
                <a:spcPts val="0"/>
              </a:spcBef>
              <a:spcAft>
                <a:spcPts val="0"/>
              </a:spcAft>
              <a:buNone/>
            </a:pPr>
            <a:r>
              <a:rPr lang="en-US" dirty="0"/>
              <a:t>Talk about why inner class -&gt; typically when used withing same class.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443f40e887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443f40e88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443f40e887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443f40e887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ab330bb62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ab330bb62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Inner class adds maintenance nightmare. Create only if needed by outer class.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Do some example.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ab330bb623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ab330bb62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c54442f425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c54442f425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1b4ee6056f_0_1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1b4ee6056f_0_1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b4ee6056f_0_13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b4ee6056f_0_1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c741dfc98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c741dfc9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ab330bb62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ab330bb62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Talk a bit about Factory method.</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930e3afb35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930e3afb35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930e3afb35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930e3afb35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 int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byte</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short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char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String</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enum</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Integer (wrapper)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Java 14+: pattern matching (advanced)</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Not allowed:</a:t>
            </a:r>
          </a:p>
          <a:p>
            <a:r>
              <a:rPr lang="en-US" sz="1100" b="0" i="0" u="none" strike="noStrike" cap="none" dirty="0">
                <a:solidFill>
                  <a:srgbClr val="000000"/>
                </a:solidFill>
                <a:effectLst/>
                <a:latin typeface="Arial"/>
                <a:ea typeface="Arial"/>
                <a:cs typeface="Arial"/>
                <a:sym typeface="Arial"/>
              </a:rPr>
              <a:t>❌ float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double</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boolean</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 long</a:t>
            </a:r>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930e3afb35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930e3afb35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int day = 3;</a:t>
            </a:r>
          </a:p>
          <a:p>
            <a:r>
              <a:rPr lang="en-US" sz="1100" b="0" i="0" u="none" strike="noStrike" cap="none" dirty="0">
                <a:solidFill>
                  <a:srgbClr val="000000"/>
                </a:solidFill>
                <a:effectLst/>
                <a:latin typeface="Arial"/>
                <a:ea typeface="Arial"/>
                <a:cs typeface="Arial"/>
                <a:sym typeface="Arial"/>
              </a:rPr>
              <a:t> </a:t>
            </a:r>
          </a:p>
          <a:p>
            <a:r>
              <a:rPr lang="en-US" sz="1100" b="0" i="0" u="none" strike="noStrike" cap="none" dirty="0">
                <a:solidFill>
                  <a:srgbClr val="000000"/>
                </a:solidFill>
                <a:effectLst/>
                <a:latin typeface="Arial"/>
                <a:ea typeface="Arial"/>
                <a:cs typeface="Arial"/>
                <a:sym typeface="Arial"/>
              </a:rPr>
              <a:t>switch (day) {</a:t>
            </a:r>
          </a:p>
          <a:p>
            <a:r>
              <a:rPr lang="en-US" sz="1100" b="0" i="0" u="none" strike="noStrike" cap="none" dirty="0">
                <a:solidFill>
                  <a:srgbClr val="000000"/>
                </a:solidFill>
                <a:effectLst/>
                <a:latin typeface="Arial"/>
                <a:ea typeface="Arial"/>
                <a:cs typeface="Arial"/>
                <a:sym typeface="Arial"/>
              </a:rPr>
              <a:t>    case 1 -&gt; </a:t>
            </a:r>
            <a:r>
              <a:rPr lang="en-US" sz="1100" b="0" i="0" u="none" strike="noStrike" cap="none" dirty="0" err="1">
                <a:solidFill>
                  <a:srgbClr val="000000"/>
                </a:solidFill>
                <a:effectLst/>
                <a:latin typeface="Arial"/>
                <a:ea typeface="Arial"/>
                <a:cs typeface="Arial"/>
                <a:sym typeface="Arial"/>
              </a:rPr>
              <a:t>System.out.println</a:t>
            </a:r>
            <a:r>
              <a:rPr lang="en-US" sz="1100" b="0" i="0" u="none" strike="noStrike" cap="none" dirty="0">
                <a:solidFill>
                  <a:srgbClr val="000000"/>
                </a:solidFill>
                <a:effectLst/>
                <a:latin typeface="Arial"/>
                <a:ea typeface="Arial"/>
                <a:cs typeface="Arial"/>
                <a:sym typeface="Arial"/>
              </a:rPr>
              <a:t>("Monday");</a:t>
            </a:r>
          </a:p>
          <a:p>
            <a:r>
              <a:rPr lang="en-US" sz="1100" b="0" i="0" u="none" strike="noStrike" cap="none" dirty="0">
                <a:solidFill>
                  <a:srgbClr val="000000"/>
                </a:solidFill>
                <a:effectLst/>
                <a:latin typeface="Arial"/>
                <a:ea typeface="Arial"/>
                <a:cs typeface="Arial"/>
                <a:sym typeface="Arial"/>
              </a:rPr>
              <a:t>    case 2 -&gt; </a:t>
            </a:r>
            <a:r>
              <a:rPr lang="en-US" sz="1100" b="0" i="0" u="none" strike="noStrike" cap="none" dirty="0" err="1">
                <a:solidFill>
                  <a:srgbClr val="000000"/>
                </a:solidFill>
                <a:effectLst/>
                <a:latin typeface="Arial"/>
                <a:ea typeface="Arial"/>
                <a:cs typeface="Arial"/>
                <a:sym typeface="Arial"/>
              </a:rPr>
              <a:t>System.out.println</a:t>
            </a:r>
            <a:r>
              <a:rPr lang="en-US" sz="1100" b="0" i="0" u="none" strike="noStrike" cap="none" dirty="0">
                <a:solidFill>
                  <a:srgbClr val="000000"/>
                </a:solidFill>
                <a:effectLst/>
                <a:latin typeface="Arial"/>
                <a:ea typeface="Arial"/>
                <a:cs typeface="Arial"/>
                <a:sym typeface="Arial"/>
              </a:rPr>
              <a:t>("Tuesday");</a:t>
            </a:r>
          </a:p>
          <a:p>
            <a:r>
              <a:rPr lang="en-US" sz="1100" b="0" i="0" u="none" strike="noStrike" cap="none" dirty="0">
                <a:solidFill>
                  <a:srgbClr val="000000"/>
                </a:solidFill>
                <a:effectLst/>
                <a:latin typeface="Arial"/>
                <a:ea typeface="Arial"/>
                <a:cs typeface="Arial"/>
                <a:sym typeface="Arial"/>
              </a:rPr>
              <a:t>    case 3 -&gt; </a:t>
            </a:r>
            <a:r>
              <a:rPr lang="en-US" sz="1100" b="0" i="0" u="none" strike="noStrike" cap="none" dirty="0" err="1">
                <a:solidFill>
                  <a:srgbClr val="000000"/>
                </a:solidFill>
                <a:effectLst/>
                <a:latin typeface="Arial"/>
                <a:ea typeface="Arial"/>
                <a:cs typeface="Arial"/>
                <a:sym typeface="Arial"/>
              </a:rPr>
              <a:t>System.out.println</a:t>
            </a:r>
            <a:r>
              <a:rPr lang="en-US" sz="1100" b="0" i="0" u="none" strike="noStrike" cap="none" dirty="0">
                <a:solidFill>
                  <a:srgbClr val="000000"/>
                </a:solidFill>
                <a:effectLst/>
                <a:latin typeface="Arial"/>
                <a:ea typeface="Arial"/>
                <a:cs typeface="Arial"/>
                <a:sym typeface="Arial"/>
              </a:rPr>
              <a:t>("Wednesday");</a:t>
            </a:r>
          </a:p>
          <a:p>
            <a:r>
              <a:rPr lang="en-US" sz="1100" b="0" i="0" u="none" strike="noStrike" cap="none" dirty="0">
                <a:solidFill>
                  <a:srgbClr val="000000"/>
                </a:solidFill>
                <a:effectLst/>
                <a:latin typeface="Arial"/>
                <a:ea typeface="Arial"/>
                <a:cs typeface="Arial"/>
                <a:sym typeface="Arial"/>
              </a:rPr>
              <a:t>    default -&gt; </a:t>
            </a:r>
            <a:r>
              <a:rPr lang="en-US" sz="1100" b="0" i="0" u="none" strike="noStrike" cap="none" dirty="0" err="1">
                <a:solidFill>
                  <a:srgbClr val="000000"/>
                </a:solidFill>
                <a:effectLst/>
                <a:latin typeface="Arial"/>
                <a:ea typeface="Arial"/>
                <a:cs typeface="Arial"/>
                <a:sym typeface="Arial"/>
              </a:rPr>
              <a:t>System.out.println</a:t>
            </a:r>
            <a:r>
              <a:rPr lang="en-US" sz="1100" b="0" i="0" u="none" strike="noStrike" cap="none" dirty="0">
                <a:solidFill>
                  <a:srgbClr val="000000"/>
                </a:solidFill>
                <a:effectLst/>
                <a:latin typeface="Arial"/>
                <a:ea typeface="Arial"/>
                <a:cs typeface="Arial"/>
                <a:sym typeface="Arial"/>
              </a:rPr>
              <a:t>("Unknown");</a:t>
            </a:r>
          </a:p>
          <a:p>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No break needed. No fall-through.</a:t>
            </a: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930e3afb35_1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930e3afb35_1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1" i="0" u="none" strike="noStrike" cap="none" dirty="0">
                <a:solidFill>
                  <a:srgbClr val="000000"/>
                </a:solidFill>
                <a:effectLst/>
                <a:latin typeface="Arial"/>
                <a:ea typeface="Arial"/>
                <a:cs typeface="Arial"/>
                <a:sym typeface="Arial"/>
              </a:rPr>
              <a:t>Switch as an expression (Java 14+)</a:t>
            </a:r>
          </a:p>
          <a:p>
            <a:r>
              <a:rPr lang="en-US" sz="1100" b="0" i="0" u="none" strike="noStrike" cap="none" dirty="0">
                <a:solidFill>
                  <a:srgbClr val="000000"/>
                </a:solidFill>
                <a:effectLst/>
                <a:latin typeface="Arial"/>
                <a:ea typeface="Arial"/>
                <a:cs typeface="Arial"/>
                <a:sym typeface="Arial"/>
              </a:rPr>
              <a:t>int result = switch (day) {</a:t>
            </a:r>
          </a:p>
          <a:p>
            <a:r>
              <a:rPr lang="en-US" sz="1100" b="0" i="0" u="none" strike="noStrike" cap="none" dirty="0">
                <a:solidFill>
                  <a:srgbClr val="000000"/>
                </a:solidFill>
                <a:effectLst/>
                <a:latin typeface="Arial"/>
                <a:ea typeface="Arial"/>
                <a:cs typeface="Arial"/>
                <a:sym typeface="Arial"/>
              </a:rPr>
              <a:t>    case 1 -&gt; 10;</a:t>
            </a:r>
          </a:p>
          <a:p>
            <a:r>
              <a:rPr lang="en-US" sz="1100" b="0" i="0" u="none" strike="noStrike" cap="none" dirty="0">
                <a:solidFill>
                  <a:srgbClr val="000000"/>
                </a:solidFill>
                <a:effectLst/>
                <a:latin typeface="Arial"/>
                <a:ea typeface="Arial"/>
                <a:cs typeface="Arial"/>
                <a:sym typeface="Arial"/>
              </a:rPr>
              <a:t>    case 2 -&gt; 20;</a:t>
            </a:r>
          </a:p>
          <a:p>
            <a:r>
              <a:rPr lang="en-US" sz="1100" b="0" i="0" u="none" strike="noStrike" cap="none" dirty="0">
                <a:solidFill>
                  <a:srgbClr val="000000"/>
                </a:solidFill>
                <a:effectLst/>
                <a:latin typeface="Arial"/>
                <a:ea typeface="Arial"/>
                <a:cs typeface="Arial"/>
                <a:sym typeface="Arial"/>
              </a:rPr>
              <a:t>    default -&gt; 0;</a:t>
            </a:r>
          </a:p>
          <a:p>
            <a:r>
              <a:rPr lang="en-US" sz="1100" b="0" i="0" u="none" strike="noStrike" cap="none" dirty="0">
                <a:solidFill>
                  <a:srgbClr val="000000"/>
                </a:solidFill>
                <a:effectLst/>
                <a:latin typeface="Arial"/>
                <a:ea typeface="Arial"/>
                <a:cs typeface="Arial"/>
                <a:sym typeface="Arial"/>
              </a:rPr>
              <a:t>};</a:t>
            </a: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930e3afb35_1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930e3afb35_1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930e3afb35_1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930e3afb35_1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c54442f425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c54442f425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1b4ee6056f_0_950: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g21b4ee6056f_0_9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3435897835d_26_2: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r>
              <a:rPr lang="en-US" dirty="0"/>
              <a:t>A </a:t>
            </a:r>
            <a:r>
              <a:rPr lang="en-US" b="1" dirty="0"/>
              <a:t>lambda in Java</a:t>
            </a:r>
            <a:r>
              <a:rPr lang="en-US" dirty="0"/>
              <a:t> is a short way to write an implementation of a </a:t>
            </a:r>
            <a:r>
              <a:rPr lang="en-US" b="1" dirty="0"/>
              <a:t>functional interface</a:t>
            </a:r>
            <a:r>
              <a:rPr lang="en-US" dirty="0"/>
              <a:t> using a function-like expression instead of a full class.</a:t>
            </a:r>
          </a:p>
          <a:p>
            <a:r>
              <a:rPr lang="en-US" dirty="0"/>
              <a:t>In simple words:</a:t>
            </a:r>
          </a:p>
          <a:p>
            <a:r>
              <a:rPr lang="en-US" dirty="0"/>
              <a:t>A lambda = anonymous function that implements one-method interface</a:t>
            </a:r>
          </a:p>
          <a:p>
            <a:r>
              <a:rPr lang="en-US" dirty="0"/>
              <a:t>It was added in </a:t>
            </a:r>
            <a:r>
              <a:rPr lang="en-US" b="1" dirty="0"/>
              <a:t>Java 8</a:t>
            </a:r>
            <a:r>
              <a:rPr lang="en-US" dirty="0"/>
              <a:t> to support functional programming.</a:t>
            </a:r>
          </a:p>
          <a:p>
            <a:pPr marL="0" lvl="0" indent="0" algn="l" rtl="0">
              <a:spcBef>
                <a:spcPts val="0"/>
              </a:spcBef>
              <a:spcAft>
                <a:spcPts val="0"/>
              </a:spcAft>
              <a:buNone/>
            </a:pPr>
            <a:endParaRPr dirty="0"/>
          </a:p>
        </p:txBody>
      </p:sp>
      <p:sp>
        <p:nvSpPr>
          <p:cNvPr id="510" name="Google Shape;510;g3435897835d_26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435897835d_26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435897835d_26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435897835d_26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435897835d_26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b45766e24c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b45766e24c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21b4ee6056f_0_9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21b4ee6056f_0_9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Why </a:t>
            </a:r>
            <a:r>
              <a:rPr lang="en-US" sz="1100" b="1" i="0" u="none" strike="noStrike" cap="none" dirty="0">
                <a:solidFill>
                  <a:srgbClr val="000000"/>
                </a:solidFill>
                <a:latin typeface="Arial"/>
                <a:ea typeface="Arial"/>
                <a:cs typeface="Arial"/>
                <a:sym typeface="Arial"/>
              </a:rPr>
              <a:t>Addition</a:t>
            </a:r>
            <a:r>
              <a:rPr lang="en-US" b="1" dirty="0"/>
              <a:t> and </a:t>
            </a:r>
            <a:r>
              <a:rPr lang="en-US" sz="1100" b="1" i="0" u="none" strike="noStrike" cap="none" dirty="0">
                <a:solidFill>
                  <a:srgbClr val="000000"/>
                </a:solidFill>
                <a:latin typeface="Arial"/>
                <a:ea typeface="Arial"/>
                <a:cs typeface="Arial"/>
                <a:sym typeface="Arial"/>
              </a:rPr>
              <a:t>Subtraction</a:t>
            </a:r>
            <a:r>
              <a:rPr lang="en-US" b="1" dirty="0"/>
              <a:t> work without </a:t>
            </a:r>
            <a:r>
              <a:rPr lang="en-US" sz="1100" b="1" i="0" u="none" strike="noStrike" cap="none" dirty="0">
                <a:solidFill>
                  <a:srgbClr val="000000"/>
                </a:solidFill>
                <a:latin typeface="Arial"/>
                <a:ea typeface="Arial"/>
                <a:cs typeface="Arial"/>
                <a:sym typeface="Arial"/>
              </a:rPr>
              <a:t>final</a:t>
            </a:r>
            <a:endParaRPr lang="en-US" b="1" dirty="0"/>
          </a:p>
          <a:p>
            <a:r>
              <a:rPr lang="en-US" dirty="0"/>
              <a:t>Because they store the operands </a:t>
            </a:r>
            <a:r>
              <a:rPr lang="en-US" b="1" dirty="0"/>
              <a:t>inside objects</a:t>
            </a:r>
            <a:r>
              <a:rPr lang="en-US" dirty="0"/>
              <a:t>, not inside a lambda.</a:t>
            </a:r>
          </a:p>
          <a:p>
            <a:r>
              <a:rPr lang="en-US" dirty="0"/>
              <a:t>Look at your Addition constructor:</a:t>
            </a:r>
          </a:p>
          <a:p>
            <a:pPr rtl="0"/>
            <a:r>
              <a:rPr lang="en-US" sz="1100" b="0" i="0" u="none" strike="noStrike" cap="none" dirty="0">
                <a:solidFill>
                  <a:srgbClr val="000000"/>
                </a:solidFill>
                <a:latin typeface="Arial"/>
                <a:ea typeface="Arial"/>
                <a:cs typeface="Arial"/>
                <a:sym typeface="Arial"/>
              </a:rPr>
              <a:t>expression = new Addition(operands[0], operands[1]);</a:t>
            </a:r>
          </a:p>
          <a:p>
            <a:r>
              <a:rPr lang="en-US" dirty="0"/>
              <a:t>What happens here?</a:t>
            </a:r>
          </a:p>
          <a:p>
            <a:r>
              <a:rPr lang="en-US" dirty="0"/>
              <a:t>👉 The constructor copies the references into fields:</a:t>
            </a:r>
          </a:p>
          <a:p>
            <a:pPr rtl="0"/>
            <a:r>
              <a:rPr lang="en-US" sz="1100" b="0" i="0" u="none" strike="noStrike" cap="none" dirty="0">
                <a:solidFill>
                  <a:srgbClr val="000000"/>
                </a:solidFill>
                <a:latin typeface="Arial"/>
                <a:ea typeface="Arial"/>
                <a:cs typeface="Arial"/>
                <a:sym typeface="Arial"/>
              </a:rPr>
              <a:t>private final Expression </a:t>
            </a:r>
            <a:r>
              <a:rPr lang="en-US" sz="1100" b="0" i="0" u="none" strike="noStrike" cap="none" dirty="0" err="1">
                <a:solidFill>
                  <a:srgbClr val="000000"/>
                </a:solidFill>
                <a:latin typeface="Arial"/>
                <a:ea typeface="Arial"/>
                <a:cs typeface="Arial"/>
                <a:sym typeface="Arial"/>
              </a:rPr>
              <a:t>expressionOne</a:t>
            </a:r>
            <a:r>
              <a:rPr lang="en-US" sz="1100" b="0" i="0" u="none" strike="noStrike" cap="none" dirty="0">
                <a:solidFill>
                  <a:srgbClr val="000000"/>
                </a:solidFill>
                <a:latin typeface="Arial"/>
                <a:ea typeface="Arial"/>
                <a:cs typeface="Arial"/>
                <a:sym typeface="Arial"/>
              </a:rPr>
              <a:t>;</a:t>
            </a:r>
          </a:p>
          <a:p>
            <a:pPr rtl="0"/>
            <a:r>
              <a:rPr lang="en-US" sz="1100" b="0" i="0" u="none" strike="noStrike" cap="none" dirty="0">
                <a:solidFill>
                  <a:srgbClr val="000000"/>
                </a:solidFill>
                <a:latin typeface="Arial"/>
                <a:ea typeface="Arial"/>
                <a:cs typeface="Arial"/>
                <a:sym typeface="Arial"/>
              </a:rPr>
              <a:t>private final Expression </a:t>
            </a:r>
            <a:r>
              <a:rPr lang="en-US" sz="1100" b="0" i="0" u="none" strike="noStrike" cap="none" dirty="0" err="1">
                <a:solidFill>
                  <a:srgbClr val="000000"/>
                </a:solidFill>
                <a:latin typeface="Arial"/>
                <a:ea typeface="Arial"/>
                <a:cs typeface="Arial"/>
                <a:sym typeface="Arial"/>
              </a:rPr>
              <a:t>expressionTwo</a:t>
            </a:r>
            <a:r>
              <a:rPr lang="en-US" sz="1100" b="0" i="0" u="none" strike="noStrike" cap="none" dirty="0">
                <a:solidFill>
                  <a:srgbClr val="000000"/>
                </a:solidFill>
                <a:latin typeface="Arial"/>
                <a:ea typeface="Arial"/>
                <a:cs typeface="Arial"/>
                <a:sym typeface="Arial"/>
              </a:rPr>
              <a:t>;</a:t>
            </a:r>
          </a:p>
          <a:p>
            <a:pPr marL="0" lvl="0" indent="0" algn="l" rtl="0">
              <a:spcBef>
                <a:spcPts val="0"/>
              </a:spcBef>
              <a:spcAft>
                <a:spcPts val="0"/>
              </a:spcAft>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21b4ee6056f_0_975: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 name="Google Shape;573;g21b4ee6056f_0_9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21b4ee6056f_0_9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21b4ee6056f_0_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21b4ee6056f_0_992:notes"/>
          <p:cNvSpPr txBox="1">
            <a:spLocks noGrp="1"/>
          </p:cNvSpPr>
          <p:nvPr>
            <p:ph type="body" idx="1"/>
          </p:nvPr>
        </p:nvSpPr>
        <p:spPr>
          <a:xfrm>
            <a:off x="686099" y="4401155"/>
            <a:ext cx="5485800" cy="359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3" name="Google Shape;593;g21b4ee6056f_0_9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2c52e85cc8a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5" name="Google Shape;605;g2c52e85cc8a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2c52e85cc8a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2c52e85cc8a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2c52e85cc8a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2c52e85cc8a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21b4ee6056f_0_1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21b4ee6056f_0_1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Simplest correct method reference</a:t>
            </a:r>
          </a:p>
          <a:p>
            <a:r>
              <a:rPr lang="en-US" dirty="0"/>
              <a:t>Use Java’s built-in functional interface:</a:t>
            </a:r>
          </a:p>
          <a:p>
            <a:pPr rtl="0"/>
            <a:r>
              <a:rPr lang="en-US" sz="1100" b="0" i="0" u="none" strike="noStrike" cap="none" dirty="0">
                <a:solidFill>
                  <a:srgbClr val="000000"/>
                </a:solidFill>
                <a:latin typeface="Arial"/>
                <a:ea typeface="Arial"/>
                <a:cs typeface="Arial"/>
                <a:sym typeface="Arial"/>
              </a:rPr>
              <a:t>import </a:t>
            </a:r>
            <a:r>
              <a:rPr lang="en-US" sz="1100" b="0" i="0" u="none" strike="noStrike" cap="none" dirty="0" err="1">
                <a:solidFill>
                  <a:srgbClr val="000000"/>
                </a:solidFill>
                <a:latin typeface="Arial"/>
                <a:ea typeface="Arial"/>
                <a:cs typeface="Arial"/>
                <a:sym typeface="Arial"/>
              </a:rPr>
              <a:t>java.util.function.DoubleBinaryOperator</a:t>
            </a:r>
            <a:r>
              <a:rPr lang="en-US" sz="1100" b="0" i="0" u="none" strike="noStrike" cap="none" dirty="0">
                <a:solidFill>
                  <a:srgbClr val="000000"/>
                </a:solidFill>
                <a:latin typeface="Arial"/>
                <a:ea typeface="Arial"/>
                <a:cs typeface="Arial"/>
                <a:sym typeface="Arial"/>
              </a:rPr>
              <a:t>;</a:t>
            </a:r>
          </a:p>
          <a:p>
            <a:pPr rtl="0"/>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err="1">
                <a:solidFill>
                  <a:srgbClr val="000000"/>
                </a:solidFill>
                <a:latin typeface="Arial"/>
                <a:ea typeface="Arial"/>
                <a:cs typeface="Arial"/>
                <a:sym typeface="Arial"/>
              </a:rPr>
              <a:t>DoubleBinaryOperator</a:t>
            </a:r>
            <a:r>
              <a:rPr lang="en-US" sz="1100" b="0" i="0" u="none" strike="noStrike" cap="none" dirty="0">
                <a:solidFill>
                  <a:srgbClr val="000000"/>
                </a:solidFill>
                <a:latin typeface="Arial"/>
                <a:ea typeface="Arial"/>
                <a:cs typeface="Arial"/>
                <a:sym typeface="Arial"/>
              </a:rPr>
              <a:t> power = Math::pow;</a:t>
            </a:r>
          </a:p>
          <a:p>
            <a:pPr rtl="0"/>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power.applyAsDouble</a:t>
            </a:r>
            <a:r>
              <a:rPr lang="en-US" sz="1100" b="0" i="0" u="none" strike="noStrike" cap="none" dirty="0">
                <a:solidFill>
                  <a:srgbClr val="000000"/>
                </a:solidFill>
                <a:latin typeface="Arial"/>
                <a:ea typeface="Arial"/>
                <a:cs typeface="Arial"/>
                <a:sym typeface="Arial"/>
              </a:rPr>
              <a:t>(2, 3)); // 8.0</a:t>
            </a:r>
          </a:p>
          <a:p>
            <a:r>
              <a:rPr lang="en-US" dirty="0"/>
              <a:t>That’s the cleanest and most direct answer.</a:t>
            </a:r>
          </a:p>
          <a:p>
            <a:r>
              <a:rPr lang="en-US" dirty="0"/>
              <a:t>👉 </a:t>
            </a:r>
            <a:r>
              <a:rPr lang="en-US" sz="1100" b="0" i="0" u="none" strike="noStrike" cap="none" dirty="0" err="1">
                <a:solidFill>
                  <a:srgbClr val="000000"/>
                </a:solidFill>
                <a:latin typeface="Arial"/>
                <a:ea typeface="Arial"/>
                <a:cs typeface="Arial"/>
                <a:sym typeface="Arial"/>
              </a:rPr>
              <a:t>DoubleBinaryOperator</a:t>
            </a:r>
            <a:r>
              <a:rPr lang="en-US" dirty="0"/>
              <a:t> matches exactly:</a:t>
            </a:r>
          </a:p>
          <a:p>
            <a:pPr rtl="0"/>
            <a:r>
              <a:rPr lang="en-US" sz="1100" b="0" i="0" u="none" strike="noStrike" cap="none" dirty="0">
                <a:solidFill>
                  <a:srgbClr val="000000"/>
                </a:solidFill>
                <a:latin typeface="Arial"/>
                <a:ea typeface="Arial"/>
                <a:cs typeface="Arial"/>
                <a:sym typeface="Arial"/>
              </a:rPr>
              <a:t>double </a:t>
            </a:r>
            <a:r>
              <a:rPr lang="en-US" sz="1100" b="0" i="0" u="none" strike="noStrike" cap="none" dirty="0" err="1">
                <a:solidFill>
                  <a:srgbClr val="000000"/>
                </a:solidFill>
                <a:latin typeface="Arial"/>
                <a:ea typeface="Arial"/>
                <a:cs typeface="Arial"/>
                <a:sym typeface="Arial"/>
              </a:rPr>
              <a:t>applyAsDouble</a:t>
            </a:r>
            <a:r>
              <a:rPr lang="en-US" sz="1100" b="0" i="0" u="none" strike="noStrike" cap="none" dirty="0">
                <a:solidFill>
                  <a:srgbClr val="000000"/>
                </a:solidFill>
                <a:latin typeface="Arial"/>
                <a:ea typeface="Arial"/>
                <a:cs typeface="Arial"/>
                <a:sym typeface="Arial"/>
              </a:rPr>
              <a:t>(double, double)</a:t>
            </a:r>
          </a:p>
          <a:p>
            <a:pPr marL="158750" indent="0">
              <a:buNone/>
            </a:pPr>
            <a:endParaRPr lang="en-US" b="1" dirty="0"/>
          </a:p>
          <a:p>
            <a:pPr marL="158750" indent="0">
              <a:buNone/>
            </a:pPr>
            <a:endParaRPr lang="en-US" b="1" dirty="0"/>
          </a:p>
          <a:p>
            <a:r>
              <a:rPr lang="en-US" b="1" dirty="0"/>
              <a:t>Custom functional interface version</a:t>
            </a:r>
          </a:p>
          <a:p>
            <a:r>
              <a:rPr lang="en-US" dirty="0"/>
              <a:t>If you want your own interface:</a:t>
            </a:r>
          </a:p>
          <a:p>
            <a:pPr rtl="0"/>
            <a:r>
              <a:rPr lang="en-US" sz="1100" b="0" i="0" u="none" strike="noStrike" cap="none" dirty="0">
                <a:solidFill>
                  <a:srgbClr val="000000"/>
                </a:solidFill>
                <a:latin typeface="Arial"/>
                <a:ea typeface="Arial"/>
                <a:cs typeface="Arial"/>
                <a:sym typeface="Arial"/>
              </a:rPr>
              <a:t>@FunctionalInterface</a:t>
            </a:r>
          </a:p>
          <a:p>
            <a:pPr rtl="0"/>
            <a:r>
              <a:rPr lang="en-US" sz="1100" b="0" i="0" u="none" strike="noStrike" cap="none" dirty="0">
                <a:solidFill>
                  <a:srgbClr val="000000"/>
                </a:solidFill>
                <a:latin typeface="Arial"/>
                <a:ea typeface="Arial"/>
                <a:cs typeface="Arial"/>
                <a:sym typeface="Arial"/>
              </a:rPr>
              <a:t>interface Power {</a:t>
            </a:r>
          </a:p>
          <a:p>
            <a:pPr rtl="0"/>
            <a:r>
              <a:rPr lang="en-US" sz="1100" b="0" i="0" u="none" strike="noStrike" cap="none" dirty="0">
                <a:solidFill>
                  <a:srgbClr val="000000"/>
                </a:solidFill>
                <a:latin typeface="Arial"/>
                <a:ea typeface="Arial"/>
                <a:cs typeface="Arial"/>
                <a:sym typeface="Arial"/>
              </a:rPr>
              <a:t>    double apply(double a, double b);</a:t>
            </a:r>
          </a:p>
          <a:p>
            <a:pPr rtl="0"/>
            <a:r>
              <a:rPr lang="en-US" sz="1100" b="0" i="0" u="none" strike="noStrike" cap="none" dirty="0">
                <a:solidFill>
                  <a:srgbClr val="000000"/>
                </a:solidFill>
                <a:latin typeface="Arial"/>
                <a:ea typeface="Arial"/>
                <a:cs typeface="Arial"/>
                <a:sym typeface="Arial"/>
              </a:rPr>
              <a:t>}</a:t>
            </a:r>
          </a:p>
          <a:p>
            <a:pPr rtl="0"/>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a:solidFill>
                  <a:srgbClr val="000000"/>
                </a:solidFill>
                <a:latin typeface="Arial"/>
                <a:ea typeface="Arial"/>
                <a:cs typeface="Arial"/>
                <a:sym typeface="Arial"/>
              </a:rPr>
              <a:t>Power </a:t>
            </a:r>
            <a:r>
              <a:rPr lang="en-US" sz="1100" b="0" i="0" u="none" strike="noStrike" cap="none" dirty="0" err="1">
                <a:solidFill>
                  <a:srgbClr val="000000"/>
                </a:solidFill>
                <a:latin typeface="Arial"/>
                <a:ea typeface="Arial"/>
                <a:cs typeface="Arial"/>
                <a:sym typeface="Arial"/>
              </a:rPr>
              <a:t>power</a:t>
            </a:r>
            <a:r>
              <a:rPr lang="en-US" sz="1100" b="0" i="0" u="none" strike="noStrike" cap="none" dirty="0">
                <a:solidFill>
                  <a:srgbClr val="000000"/>
                </a:solidFill>
                <a:latin typeface="Arial"/>
                <a:ea typeface="Arial"/>
                <a:cs typeface="Arial"/>
                <a:sym typeface="Arial"/>
              </a:rPr>
              <a:t> = Math::pow;</a:t>
            </a:r>
          </a:p>
          <a:p>
            <a:pPr rtl="0"/>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power.apply</a:t>
            </a:r>
            <a:r>
              <a:rPr lang="en-US" sz="1100" b="0" i="0" u="none" strike="noStrike" cap="none" dirty="0">
                <a:solidFill>
                  <a:srgbClr val="000000"/>
                </a:solidFill>
                <a:latin typeface="Arial"/>
                <a:ea typeface="Arial"/>
                <a:cs typeface="Arial"/>
                <a:sym typeface="Arial"/>
              </a:rPr>
              <a:t>(2, 3));</a:t>
            </a:r>
          </a:p>
          <a:p>
            <a:r>
              <a:rPr lang="en-US" dirty="0"/>
              <a:t>Java automatically binds the method reference.</a:t>
            </a:r>
          </a:p>
          <a:p>
            <a:endParaRPr lang="en-US" b="1" dirty="0"/>
          </a:p>
          <a:p>
            <a:pPr marL="158750" indent="0">
              <a:buNone/>
            </a:pPr>
            <a:endParaRPr lang="en-US" b="1" dirty="0"/>
          </a:p>
          <a:p>
            <a:r>
              <a:rPr lang="en-US" b="1" dirty="0"/>
              <a:t>⚠ Why you cannot do this in your Expression interface</a:t>
            </a:r>
          </a:p>
          <a:p>
            <a:r>
              <a:rPr lang="en-US" dirty="0"/>
              <a:t>Your interface:</a:t>
            </a:r>
          </a:p>
          <a:p>
            <a:pPr rtl="0"/>
            <a:r>
              <a:rPr lang="en-US" sz="1100" b="0" i="0" u="none" strike="noStrike" cap="none" dirty="0">
                <a:solidFill>
                  <a:srgbClr val="000000"/>
                </a:solidFill>
                <a:latin typeface="Arial"/>
                <a:ea typeface="Arial"/>
                <a:cs typeface="Arial"/>
                <a:sym typeface="Arial"/>
              </a:rPr>
              <a:t>double evaluate();</a:t>
            </a:r>
          </a:p>
          <a:p>
            <a:r>
              <a:rPr lang="en-US" dirty="0"/>
              <a:t>takes </a:t>
            </a:r>
            <a:r>
              <a:rPr lang="en-US" b="1" dirty="0"/>
              <a:t>no parameters</a:t>
            </a:r>
            <a:r>
              <a:rPr lang="en-US" dirty="0"/>
              <a:t>.</a:t>
            </a:r>
          </a:p>
          <a:p>
            <a:r>
              <a:rPr lang="en-US" dirty="0"/>
              <a:t>So this is illegal:</a:t>
            </a:r>
          </a:p>
          <a:p>
            <a:pPr rtl="0"/>
            <a:r>
              <a:rPr lang="en-US" sz="1100" b="0" i="0" u="none" strike="noStrike" cap="none" dirty="0">
                <a:solidFill>
                  <a:srgbClr val="000000"/>
                </a:solidFill>
                <a:latin typeface="Arial"/>
                <a:ea typeface="Arial"/>
                <a:cs typeface="Arial"/>
                <a:sym typeface="Arial"/>
              </a:rPr>
              <a:t>Expression e = Math::pow; // ❌ mismatch</a:t>
            </a:r>
          </a:p>
          <a:p>
            <a:r>
              <a:rPr lang="en-US" dirty="0"/>
              <a:t>Because Java cannot guess the two inputs.</a:t>
            </a:r>
          </a:p>
          <a:p>
            <a:r>
              <a:rPr lang="en-US" dirty="0"/>
              <a:t>You must wrap it:</a:t>
            </a:r>
          </a:p>
          <a:p>
            <a:pPr rtl="0"/>
            <a:r>
              <a:rPr lang="en-US" sz="1100" b="0" i="0" u="none" strike="noStrike" cap="none" dirty="0">
                <a:solidFill>
                  <a:srgbClr val="000000"/>
                </a:solidFill>
                <a:latin typeface="Arial"/>
                <a:ea typeface="Arial"/>
                <a:cs typeface="Arial"/>
                <a:sym typeface="Arial"/>
              </a:rPr>
              <a:t>Expression e = () -&gt; </a:t>
            </a:r>
            <a:r>
              <a:rPr lang="en-US" sz="1100" b="0" i="0" u="none" strike="noStrike" cap="none" dirty="0" err="1">
                <a:solidFill>
                  <a:srgbClr val="000000"/>
                </a:solidFill>
                <a:latin typeface="Arial"/>
                <a:ea typeface="Arial"/>
                <a:cs typeface="Arial"/>
                <a:sym typeface="Arial"/>
              </a:rPr>
              <a:t>Math.pow</a:t>
            </a:r>
            <a:r>
              <a:rPr lang="en-US" sz="1100" b="0" i="0" u="none" strike="noStrike" cap="none" dirty="0">
                <a:solidFill>
                  <a:srgbClr val="000000"/>
                </a:solidFill>
                <a:latin typeface="Arial"/>
                <a:ea typeface="Arial"/>
                <a:cs typeface="Arial"/>
                <a:sym typeface="Arial"/>
              </a:rPr>
              <a:t>(2, 3);</a:t>
            </a:r>
          </a:p>
          <a:p>
            <a:r>
              <a:rPr lang="en-US" dirty="0"/>
              <a:t>or inside your tree:</a:t>
            </a:r>
          </a:p>
          <a:p>
            <a:pPr rtl="0"/>
            <a:r>
              <a:rPr lang="en-US" sz="1100" b="0" i="0" u="none" strike="noStrike" cap="none" dirty="0" err="1">
                <a:solidFill>
                  <a:srgbClr val="000000"/>
                </a:solidFill>
                <a:latin typeface="Arial"/>
                <a:ea typeface="Arial"/>
                <a:cs typeface="Arial"/>
                <a:sym typeface="Arial"/>
              </a:rPr>
              <a:t>DoubleBinaryOperator</a:t>
            </a:r>
            <a:r>
              <a:rPr lang="en-US" sz="1100" b="0" i="0" u="none" strike="noStrike" cap="none" dirty="0">
                <a:solidFill>
                  <a:srgbClr val="000000"/>
                </a:solidFill>
                <a:latin typeface="Arial"/>
                <a:ea typeface="Arial"/>
                <a:cs typeface="Arial"/>
                <a:sym typeface="Arial"/>
              </a:rPr>
              <a:t> pow = Math::pow;</a:t>
            </a:r>
          </a:p>
          <a:p>
            <a:pPr rtl="0"/>
            <a:r>
              <a:rPr lang="en-US" sz="1100" b="0" i="0" u="none" strike="noStrike" cap="none" dirty="0">
                <a:solidFill>
                  <a:srgbClr val="000000"/>
                </a:solidFill>
                <a:latin typeface="Arial"/>
                <a:ea typeface="Arial"/>
                <a:cs typeface="Arial"/>
                <a:sym typeface="Arial"/>
              </a:rPr>
              <a:t>expression = () -&gt; </a:t>
            </a:r>
            <a:r>
              <a:rPr lang="en-US" sz="1100" b="0" i="0" u="none" strike="noStrike" cap="none" dirty="0" err="1">
                <a:solidFill>
                  <a:srgbClr val="000000"/>
                </a:solidFill>
                <a:latin typeface="Arial"/>
                <a:ea typeface="Arial"/>
                <a:cs typeface="Arial"/>
                <a:sym typeface="Arial"/>
              </a:rPr>
              <a:t>pow.applyAsDouble</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left.evaluate</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right.evaluate</a:t>
            </a:r>
            <a:r>
              <a:rPr lang="en-US" sz="1100" b="0" i="0" u="none" strike="noStrike" cap="none" dirty="0">
                <a:solidFill>
                  <a:srgbClr val="000000"/>
                </a:solidFill>
                <a:latin typeface="Arial"/>
                <a:ea typeface="Arial"/>
                <a:cs typeface="Arial"/>
                <a:sym typeface="Arial"/>
              </a:rPr>
              <a:t>());</a:t>
            </a:r>
          </a:p>
          <a:p>
            <a:r>
              <a:rPr lang="en-US" dirty="0"/>
              <a:t>That still uses a real method reference.</a:t>
            </a:r>
          </a:p>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1b4ee6056f_0_10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21b4ee6056f_0_10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1b4ee6056f_0_10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21b4ee6056f_0_1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3922cfbf4ee_1_7:notes"/>
          <p:cNvSpPr>
            <a:spLocks noGrp="1" noRot="1" noChangeAspect="1"/>
          </p:cNvSpPr>
          <p:nvPr>
            <p:ph type="sldImg" idx="2"/>
          </p:nvPr>
        </p:nvSpPr>
        <p:spPr>
          <a:xfrm>
            <a:off x="729258" y="1143000"/>
            <a:ext cx="5399400" cy="3085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4" name="Google Shape;684;g3922cfbf4ee_1_7:notes"/>
          <p:cNvSpPr txBox="1">
            <a:spLocks noGrp="1"/>
          </p:cNvSpPr>
          <p:nvPr>
            <p:ph type="body" idx="1"/>
          </p:nvPr>
        </p:nvSpPr>
        <p:spPr>
          <a:xfrm>
            <a:off x="686099" y="4401155"/>
            <a:ext cx="5485800" cy="35997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1b4ee6056f_0_10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21b4ee6056f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1b4ee6056f_0_10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21b4ee6056f_0_10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1b4ee6056f_0_10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21b4ee6056f_0_10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21b4ee6056f_0_10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6" name="Google Shape;736;g21b4ee6056f_0_10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1b4ee6056f_0_1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6" name="Google Shape;746;g21b4ee6056f_0_1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21b4ee6056f_0_1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21b4ee6056f_0_1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1f9f92410a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1f9f92410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Can skip if short on time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1f9f92410ab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1f9f92410a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Can skip if short on time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ab330bb623_0_3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ab330bb623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3ab330bb623_0_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2" name="Google Shape;802;g3ab330bb623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3ab330bb623_0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6" name="Google Shape;816;g3ab330bb623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3ab330bb623_0_3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3ab330bb623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3ab330bb623_0_3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3ab330bb623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3ab330bb623_0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6" name="Google Shape;856;g3ab330bb623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3ab330bb623_0_3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3ab330bb623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3ab330bb623_0_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3ab330bb623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3ab330bb623_0_4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3ab330bb623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3ab330bb623_0_4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6" name="Google Shape;916;g3ab330bb623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3447cd4901f_1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3447cd4901f_1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3447cd4901f_1_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3" name="Google Shape;933;g3447cd4901f_1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8b6744271a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9" name="Google Shape;939;g8b6744271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rgbClr val="FFFFFF"/>
        </a:solidFill>
        <a:effectLst/>
      </p:bgPr>
    </p:bg>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40660" y="30698"/>
            <a:ext cx="8449200" cy="6360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5"/>
          <p:cNvSpPr txBox="1">
            <a:spLocks noGrp="1"/>
          </p:cNvSpPr>
          <p:nvPr>
            <p:ph type="body" idx="1"/>
          </p:nvPr>
        </p:nvSpPr>
        <p:spPr>
          <a:xfrm>
            <a:off x="340660" y="884286"/>
            <a:ext cx="8449200" cy="4156800"/>
          </a:xfrm>
          <a:prstGeom prst="rect">
            <a:avLst/>
          </a:prstGeom>
          <a:noFill/>
          <a:ln>
            <a:noFill/>
          </a:ln>
        </p:spPr>
        <p:txBody>
          <a:bodyPr spcFirstLastPara="1" wrap="square" lIns="68575" tIns="34275" rIns="68575" bIns="34275" anchor="t" anchorCtr="0">
            <a:normAutofit/>
          </a:bodyPr>
          <a:lstStyle>
            <a:lvl1pPr marL="457200" lvl="0" indent="-349250" algn="l" rtl="0">
              <a:lnSpc>
                <a:spcPct val="90000"/>
              </a:lnSpc>
              <a:spcBef>
                <a:spcPts val="800"/>
              </a:spcBef>
              <a:spcAft>
                <a:spcPts val="0"/>
              </a:spcAft>
              <a:buClr>
                <a:schemeClr val="dk1"/>
              </a:buClr>
              <a:buSzPts val="1900"/>
              <a:buFont typeface="Calibri"/>
              <a:buChar char="●"/>
              <a:defRPr sz="2100"/>
            </a:lvl1pPr>
            <a:lvl2pPr marL="914400" lvl="1" indent="-330200" algn="l" rtl="0">
              <a:lnSpc>
                <a:spcPct val="90000"/>
              </a:lnSpc>
              <a:spcBef>
                <a:spcPts val="1600"/>
              </a:spcBef>
              <a:spcAft>
                <a:spcPts val="0"/>
              </a:spcAft>
              <a:buClr>
                <a:schemeClr val="dk1"/>
              </a:buClr>
              <a:buSzPts val="1600"/>
              <a:buFont typeface="Courier New"/>
              <a:buChar char="o"/>
              <a:defRPr sz="1800"/>
            </a:lvl2pPr>
            <a:lvl3pPr marL="1371600" lvl="2" indent="-323850" algn="l" rtl="0">
              <a:lnSpc>
                <a:spcPct val="90000"/>
              </a:lnSpc>
              <a:spcBef>
                <a:spcPts val="1600"/>
              </a:spcBef>
              <a:spcAft>
                <a:spcPts val="0"/>
              </a:spcAft>
              <a:buClr>
                <a:schemeClr val="dk1"/>
              </a:buClr>
              <a:buSzPts val="1500"/>
              <a:buFont typeface="Noto Sans Symbols"/>
              <a:buChar char="▪"/>
              <a:defRPr sz="1500"/>
            </a:lvl3pPr>
            <a:lvl4pPr marL="1828800" lvl="3" indent="-317500" algn="l" rtl="0">
              <a:lnSpc>
                <a:spcPct val="90000"/>
              </a:lnSpc>
              <a:spcBef>
                <a:spcPts val="1600"/>
              </a:spcBef>
              <a:spcAft>
                <a:spcPts val="0"/>
              </a:spcAft>
              <a:buClr>
                <a:schemeClr val="dk1"/>
              </a:buClr>
              <a:buSzPts val="1400"/>
              <a:buFont typeface="Calibri"/>
              <a:buChar char="▫"/>
              <a:defRPr sz="1400"/>
            </a:lvl4pPr>
            <a:lvl5pPr marL="2286000" lvl="4" indent="-298450" algn="l" rtl="0">
              <a:lnSpc>
                <a:spcPct val="90000"/>
              </a:lnSpc>
              <a:spcBef>
                <a:spcPts val="1600"/>
              </a:spcBef>
              <a:spcAft>
                <a:spcPts val="0"/>
              </a:spcAft>
              <a:buClr>
                <a:schemeClr val="dk1"/>
              </a:buClr>
              <a:buSzPts val="1100"/>
              <a:buChar char="○"/>
              <a:defRPr sz="1100"/>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cxnSp>
        <p:nvCxnSpPr>
          <p:cNvPr id="76" name="Google Shape;76;p15"/>
          <p:cNvCxnSpPr/>
          <p:nvPr/>
        </p:nvCxnSpPr>
        <p:spPr>
          <a:xfrm>
            <a:off x="340660" y="690167"/>
            <a:ext cx="8449200" cy="0"/>
          </a:xfrm>
          <a:prstGeom prst="straightConnector1">
            <a:avLst/>
          </a:prstGeom>
          <a:noFill/>
          <a:ln w="63500" cap="flat" cmpd="thickThin">
            <a:solidFill>
              <a:schemeClr val="lt2"/>
            </a:solidFill>
            <a:prstDash val="solid"/>
            <a:miter lim="800000"/>
            <a:headEnd type="none" w="sm" len="sm"/>
            <a:tailEnd type="none" w="sm" len="sm"/>
          </a:ln>
        </p:spPr>
      </p:cxnSp>
      <p:sp>
        <p:nvSpPr>
          <p:cNvPr id="77" name="Google Shape;77;p15"/>
          <p:cNvSpPr txBox="1">
            <a:spLocks noGrp="1"/>
          </p:cNvSpPr>
          <p:nvPr>
            <p:ph type="body" idx="2"/>
          </p:nvPr>
        </p:nvSpPr>
        <p:spPr>
          <a:xfrm>
            <a:off x="915543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78" name="Google Shape;78;p15"/>
          <p:cNvSpPr txBox="1">
            <a:spLocks noGrp="1"/>
          </p:cNvSpPr>
          <p:nvPr>
            <p:ph type="body" idx="3"/>
          </p:nvPr>
        </p:nvSpPr>
        <p:spPr>
          <a:xfrm>
            <a:off x="915543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79" name="Google Shape;79;p15"/>
          <p:cNvSpPr txBox="1">
            <a:spLocks noGrp="1"/>
          </p:cNvSpPr>
          <p:nvPr>
            <p:ph type="body" idx="4"/>
          </p:nvPr>
        </p:nvSpPr>
        <p:spPr>
          <a:xfrm>
            <a:off x="915543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0" name="Google Shape;80;p15"/>
          <p:cNvSpPr txBox="1">
            <a:spLocks noGrp="1"/>
          </p:cNvSpPr>
          <p:nvPr>
            <p:ph type="body" idx="5"/>
          </p:nvPr>
        </p:nvSpPr>
        <p:spPr>
          <a:xfrm>
            <a:off x="915543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1" name="Google Shape;81;p15"/>
          <p:cNvSpPr txBox="1">
            <a:spLocks noGrp="1"/>
          </p:cNvSpPr>
          <p:nvPr>
            <p:ph type="body" idx="6"/>
          </p:nvPr>
        </p:nvSpPr>
        <p:spPr>
          <a:xfrm>
            <a:off x="915543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2" name="Google Shape;82;p15"/>
          <p:cNvSpPr txBox="1">
            <a:spLocks noGrp="1"/>
          </p:cNvSpPr>
          <p:nvPr>
            <p:ph type="body" idx="7"/>
          </p:nvPr>
        </p:nvSpPr>
        <p:spPr>
          <a:xfrm>
            <a:off x="915543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3" name="Google Shape;83;p15"/>
          <p:cNvSpPr txBox="1">
            <a:spLocks noGrp="1"/>
          </p:cNvSpPr>
          <p:nvPr>
            <p:ph type="body" idx="8"/>
          </p:nvPr>
        </p:nvSpPr>
        <p:spPr>
          <a:xfrm>
            <a:off x="915543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4" name="Google Shape;84;p15"/>
          <p:cNvSpPr txBox="1">
            <a:spLocks noGrp="1"/>
          </p:cNvSpPr>
          <p:nvPr>
            <p:ph type="body" idx="9"/>
          </p:nvPr>
        </p:nvSpPr>
        <p:spPr>
          <a:xfrm>
            <a:off x="915543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5" name="Google Shape;85;p15"/>
          <p:cNvSpPr txBox="1">
            <a:spLocks noGrp="1"/>
          </p:cNvSpPr>
          <p:nvPr>
            <p:ph type="body" idx="13"/>
          </p:nvPr>
        </p:nvSpPr>
        <p:spPr>
          <a:xfrm>
            <a:off x="915543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6" name="Google Shape;86;p15"/>
          <p:cNvSpPr txBox="1">
            <a:spLocks noGrp="1"/>
          </p:cNvSpPr>
          <p:nvPr>
            <p:ph type="body" idx="14"/>
          </p:nvPr>
        </p:nvSpPr>
        <p:spPr>
          <a:xfrm>
            <a:off x="915543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7" name="Google Shape;87;p15"/>
          <p:cNvSpPr txBox="1">
            <a:spLocks noGrp="1"/>
          </p:cNvSpPr>
          <p:nvPr>
            <p:ph type="body" idx="15"/>
          </p:nvPr>
        </p:nvSpPr>
        <p:spPr>
          <a:xfrm>
            <a:off x="915543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8" name="Google Shape;88;p15"/>
          <p:cNvSpPr txBox="1">
            <a:spLocks noGrp="1"/>
          </p:cNvSpPr>
          <p:nvPr>
            <p:ph type="body" idx="16"/>
          </p:nvPr>
        </p:nvSpPr>
        <p:spPr>
          <a:xfrm>
            <a:off x="915543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89" name="Google Shape;89;p15"/>
          <p:cNvSpPr txBox="1">
            <a:spLocks noGrp="1"/>
          </p:cNvSpPr>
          <p:nvPr>
            <p:ph type="body" idx="17"/>
          </p:nvPr>
        </p:nvSpPr>
        <p:spPr>
          <a:xfrm>
            <a:off x="915543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0" name="Google Shape;90;p15"/>
          <p:cNvSpPr txBox="1">
            <a:spLocks noGrp="1"/>
          </p:cNvSpPr>
          <p:nvPr>
            <p:ph type="body" idx="18"/>
          </p:nvPr>
        </p:nvSpPr>
        <p:spPr>
          <a:xfrm>
            <a:off x="915543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1" name="Google Shape;91;p15"/>
          <p:cNvSpPr txBox="1">
            <a:spLocks noGrp="1"/>
          </p:cNvSpPr>
          <p:nvPr>
            <p:ph type="body" idx="19"/>
          </p:nvPr>
        </p:nvSpPr>
        <p:spPr>
          <a:xfrm>
            <a:off x="915543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2" name="Google Shape;92;p15"/>
          <p:cNvSpPr txBox="1">
            <a:spLocks noGrp="1"/>
          </p:cNvSpPr>
          <p:nvPr>
            <p:ph type="body" idx="20"/>
          </p:nvPr>
        </p:nvSpPr>
        <p:spPr>
          <a:xfrm>
            <a:off x="915543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3" name="Google Shape;93;p15"/>
          <p:cNvSpPr txBox="1">
            <a:spLocks noGrp="1"/>
          </p:cNvSpPr>
          <p:nvPr>
            <p:ph type="body" idx="21"/>
          </p:nvPr>
        </p:nvSpPr>
        <p:spPr>
          <a:xfrm>
            <a:off x="915543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4" name="Google Shape;94;p15"/>
          <p:cNvSpPr txBox="1">
            <a:spLocks noGrp="1"/>
          </p:cNvSpPr>
          <p:nvPr>
            <p:ph type="body" idx="22"/>
          </p:nvPr>
        </p:nvSpPr>
        <p:spPr>
          <a:xfrm>
            <a:off x="915543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5" name="Google Shape;95;p15"/>
          <p:cNvSpPr txBox="1">
            <a:spLocks noGrp="1"/>
          </p:cNvSpPr>
          <p:nvPr>
            <p:ph type="body" idx="23"/>
          </p:nvPr>
        </p:nvSpPr>
        <p:spPr>
          <a:xfrm>
            <a:off x="915543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6" name="Google Shape;96;p15"/>
          <p:cNvSpPr txBox="1">
            <a:spLocks noGrp="1"/>
          </p:cNvSpPr>
          <p:nvPr>
            <p:ph type="body" idx="24"/>
          </p:nvPr>
        </p:nvSpPr>
        <p:spPr>
          <a:xfrm>
            <a:off x="915543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7" name="Google Shape;97;p15"/>
          <p:cNvSpPr txBox="1">
            <a:spLocks noGrp="1"/>
          </p:cNvSpPr>
          <p:nvPr>
            <p:ph type="body" idx="25"/>
          </p:nvPr>
        </p:nvSpPr>
        <p:spPr>
          <a:xfrm>
            <a:off x="915543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2"/>
              </a:buClr>
              <a:buSzPts val="2300"/>
              <a:buNone/>
              <a:defRPr sz="2300" b="1">
                <a:solidFill>
                  <a:schemeClr val="dk2"/>
                </a:solidFill>
                <a:latin typeface="Arial"/>
                <a:ea typeface="Arial"/>
                <a:cs typeface="Arial"/>
                <a:sym typeface="Arial"/>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8" name="Google Shape;98;p15"/>
          <p:cNvSpPr txBox="1">
            <a:spLocks noGrp="1"/>
          </p:cNvSpPr>
          <p:nvPr>
            <p:ph type="body" idx="26"/>
          </p:nvPr>
        </p:nvSpPr>
        <p:spPr>
          <a:xfrm>
            <a:off x="-2811780" y="150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99" name="Google Shape;99;p15"/>
          <p:cNvSpPr txBox="1">
            <a:spLocks noGrp="1"/>
          </p:cNvSpPr>
          <p:nvPr>
            <p:ph type="body" idx="27"/>
          </p:nvPr>
        </p:nvSpPr>
        <p:spPr>
          <a:xfrm>
            <a:off x="-2811780" y="2189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0" name="Google Shape;100;p15"/>
          <p:cNvSpPr txBox="1">
            <a:spLocks noGrp="1"/>
          </p:cNvSpPr>
          <p:nvPr>
            <p:ph type="body" idx="28"/>
          </p:nvPr>
        </p:nvSpPr>
        <p:spPr>
          <a:xfrm>
            <a:off x="-2811780" y="44345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1" name="Google Shape;101;p15"/>
          <p:cNvSpPr txBox="1">
            <a:spLocks noGrp="1"/>
          </p:cNvSpPr>
          <p:nvPr>
            <p:ph type="body" idx="29"/>
          </p:nvPr>
        </p:nvSpPr>
        <p:spPr>
          <a:xfrm>
            <a:off x="-2811780" y="6668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2" name="Google Shape;102;p15"/>
          <p:cNvSpPr txBox="1">
            <a:spLocks noGrp="1"/>
          </p:cNvSpPr>
          <p:nvPr>
            <p:ph type="body" idx="30"/>
          </p:nvPr>
        </p:nvSpPr>
        <p:spPr>
          <a:xfrm>
            <a:off x="-2811780" y="88428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3" name="Google Shape;103;p15"/>
          <p:cNvSpPr txBox="1">
            <a:spLocks noGrp="1"/>
          </p:cNvSpPr>
          <p:nvPr>
            <p:ph type="body" idx="31"/>
          </p:nvPr>
        </p:nvSpPr>
        <p:spPr>
          <a:xfrm>
            <a:off x="-2811780" y="112836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4" name="Google Shape;104;p15"/>
          <p:cNvSpPr txBox="1">
            <a:spLocks noGrp="1"/>
          </p:cNvSpPr>
          <p:nvPr>
            <p:ph type="body" idx="32"/>
          </p:nvPr>
        </p:nvSpPr>
        <p:spPr>
          <a:xfrm>
            <a:off x="-2811780" y="136614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5" name="Google Shape;105;p15"/>
          <p:cNvSpPr txBox="1">
            <a:spLocks noGrp="1"/>
          </p:cNvSpPr>
          <p:nvPr>
            <p:ph type="body" idx="33"/>
          </p:nvPr>
        </p:nvSpPr>
        <p:spPr>
          <a:xfrm>
            <a:off x="-2811780" y="160379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6" name="Google Shape;106;p15"/>
          <p:cNvSpPr txBox="1">
            <a:spLocks noGrp="1"/>
          </p:cNvSpPr>
          <p:nvPr>
            <p:ph type="body" idx="34"/>
          </p:nvPr>
        </p:nvSpPr>
        <p:spPr>
          <a:xfrm>
            <a:off x="-2811780" y="18415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7" name="Google Shape;107;p15"/>
          <p:cNvSpPr txBox="1">
            <a:spLocks noGrp="1"/>
          </p:cNvSpPr>
          <p:nvPr>
            <p:ph type="body" idx="35"/>
          </p:nvPr>
        </p:nvSpPr>
        <p:spPr>
          <a:xfrm>
            <a:off x="-2811780" y="2072525"/>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8" name="Google Shape;108;p15"/>
          <p:cNvSpPr txBox="1">
            <a:spLocks noGrp="1"/>
          </p:cNvSpPr>
          <p:nvPr>
            <p:ph type="body" idx="36"/>
          </p:nvPr>
        </p:nvSpPr>
        <p:spPr>
          <a:xfrm>
            <a:off x="-2811780" y="230876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09" name="Google Shape;109;p15"/>
          <p:cNvSpPr txBox="1">
            <a:spLocks noGrp="1"/>
          </p:cNvSpPr>
          <p:nvPr>
            <p:ph type="body" idx="37"/>
          </p:nvPr>
        </p:nvSpPr>
        <p:spPr>
          <a:xfrm>
            <a:off x="-2811780" y="253444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0" name="Google Shape;110;p15"/>
          <p:cNvSpPr txBox="1">
            <a:spLocks noGrp="1"/>
          </p:cNvSpPr>
          <p:nvPr>
            <p:ph type="body" idx="38"/>
          </p:nvPr>
        </p:nvSpPr>
        <p:spPr>
          <a:xfrm>
            <a:off x="-2811780" y="275877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1" name="Google Shape;111;p15"/>
          <p:cNvSpPr txBox="1">
            <a:spLocks noGrp="1"/>
          </p:cNvSpPr>
          <p:nvPr>
            <p:ph type="body" idx="39"/>
          </p:nvPr>
        </p:nvSpPr>
        <p:spPr>
          <a:xfrm>
            <a:off x="-2811780" y="29817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2" name="Google Shape;112;p15"/>
          <p:cNvSpPr txBox="1">
            <a:spLocks noGrp="1"/>
          </p:cNvSpPr>
          <p:nvPr>
            <p:ph type="body" idx="40"/>
          </p:nvPr>
        </p:nvSpPr>
        <p:spPr>
          <a:xfrm>
            <a:off x="-2811780" y="321240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3" name="Google Shape;113;p15"/>
          <p:cNvSpPr txBox="1">
            <a:spLocks noGrp="1"/>
          </p:cNvSpPr>
          <p:nvPr>
            <p:ph type="body" idx="41"/>
          </p:nvPr>
        </p:nvSpPr>
        <p:spPr>
          <a:xfrm>
            <a:off x="-2811780" y="343674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4" name="Google Shape;114;p15"/>
          <p:cNvSpPr txBox="1">
            <a:spLocks noGrp="1"/>
          </p:cNvSpPr>
          <p:nvPr>
            <p:ph type="body" idx="42"/>
          </p:nvPr>
        </p:nvSpPr>
        <p:spPr>
          <a:xfrm>
            <a:off x="-2811780" y="366795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5" name="Google Shape;115;p15"/>
          <p:cNvSpPr txBox="1">
            <a:spLocks noGrp="1"/>
          </p:cNvSpPr>
          <p:nvPr>
            <p:ph type="body" idx="43"/>
          </p:nvPr>
        </p:nvSpPr>
        <p:spPr>
          <a:xfrm>
            <a:off x="-2811780" y="391172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6" name="Google Shape;116;p15"/>
          <p:cNvSpPr txBox="1">
            <a:spLocks noGrp="1"/>
          </p:cNvSpPr>
          <p:nvPr>
            <p:ph type="body" idx="44"/>
          </p:nvPr>
        </p:nvSpPr>
        <p:spPr>
          <a:xfrm>
            <a:off x="-2811780" y="41485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7" name="Google Shape;117;p15"/>
          <p:cNvSpPr txBox="1">
            <a:spLocks noGrp="1"/>
          </p:cNvSpPr>
          <p:nvPr>
            <p:ph type="body" idx="45"/>
          </p:nvPr>
        </p:nvSpPr>
        <p:spPr>
          <a:xfrm>
            <a:off x="-2811780" y="437292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18" name="Google Shape;118;p15"/>
          <p:cNvSpPr txBox="1">
            <a:spLocks noGrp="1"/>
          </p:cNvSpPr>
          <p:nvPr>
            <p:ph type="body" idx="46"/>
          </p:nvPr>
        </p:nvSpPr>
        <p:spPr>
          <a:xfrm>
            <a:off x="-2811780" y="4591789"/>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dk1"/>
              </a:buClr>
              <a:buSzPts val="1800"/>
              <a:buNone/>
              <a:defRPr sz="1800" b="1">
                <a:solidFill>
                  <a:schemeClr val="dk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8">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8">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8">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8">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8">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8">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8">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78">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9">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9">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79">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9">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79">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9">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9">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9">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9">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80">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80">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80">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80">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80">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80">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80">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80">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80">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81">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81">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81">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81">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81">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81">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81">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81">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81">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82">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82">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82">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82">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82">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82">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82">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83">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83">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83">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83">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83">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83">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83">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83">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83">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84">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84">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84">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84">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84">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84">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84">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84">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84">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85">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85">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85">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85">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85">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85">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85">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85">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85">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86">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86">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86">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86">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86">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86">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86">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86">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87">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87">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87">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87">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87">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87">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87">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87">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88">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89">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89">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89">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89">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89">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89">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89">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89">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89">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90">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90">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90">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90">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90">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90">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90">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90">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91">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91">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91">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91">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91">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91">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91">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91">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92">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92">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92">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92">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92">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92">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92">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92">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93">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93">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93">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93">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94">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94">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94">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94">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94">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94">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94">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94">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94">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95">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95">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95">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95">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95">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95">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95">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95">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95">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96">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96">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96">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96">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96">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96">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96">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96">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96">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97">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97">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97">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97">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97">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97">
                                            <p:txEl>
                                              <p:pRg st="8" end="8"/>
                                            </p:txEl>
                                          </p:spTgt>
                                        </p:tgtEl>
                                        <p:attrNameLst>
                                          <p:attrName>style.visibility</p:attrName>
                                        </p:attrNameLst>
                                      </p:cBhvr>
                                      <p:to>
                                        <p:strVal val="visible"/>
                                      </p:to>
                                    </p:set>
                                  </p:childTnLst>
                                </p:cTn>
                              </p:par>
                            </p:childTnLst>
                          </p:cTn>
                        </p:par>
                      </p:childTnLst>
                    </p:cTn>
                  </p:par>
                  <p:par>
                    <p:cTn id="759" fill="hold">
                      <p:stCondLst>
                        <p:cond delay="indefinite"/>
                      </p:stCondLst>
                      <p:childTnLst>
                        <p:par>
                          <p:cTn id="760" fill="hold">
                            <p:stCondLst>
                              <p:cond delay="0"/>
                            </p:stCondLst>
                            <p:childTnLst>
                              <p:par>
                                <p:cTn id="761" presetID="1" presetClass="entr" presetSubtype="0" fill="hold" nodeType="clickEffect">
                                  <p:stCondLst>
                                    <p:cond delay="0"/>
                                  </p:stCondLst>
                                  <p:childTnLst>
                                    <p:set>
                                      <p:cBhvr>
                                        <p:cTn id="762" dur="1" fill="hold">
                                          <p:stCondLst>
                                            <p:cond delay="0"/>
                                          </p:stCondLst>
                                        </p:cTn>
                                        <p:tgtEl>
                                          <p:spTgt spid="98">
                                            <p:txEl>
                                              <p:pRg st="0" end="0"/>
                                            </p:txEl>
                                          </p:spTgt>
                                        </p:tgtEl>
                                        <p:attrNameLst>
                                          <p:attrName>style.visibility</p:attrName>
                                        </p:attrNameLst>
                                      </p:cBhvr>
                                      <p:to>
                                        <p:strVal val="visible"/>
                                      </p:to>
                                    </p:set>
                                  </p:childTnLst>
                                </p:cTn>
                              </p:par>
                            </p:childTnLst>
                          </p:cTn>
                        </p:par>
                      </p:childTnLst>
                    </p:cTn>
                  </p:par>
                  <p:par>
                    <p:cTn id="763" fill="hold">
                      <p:stCondLst>
                        <p:cond delay="indefinite"/>
                      </p:stCondLst>
                      <p:childTnLst>
                        <p:par>
                          <p:cTn id="764" fill="hold">
                            <p:stCondLst>
                              <p:cond delay="0"/>
                            </p:stCondLst>
                            <p:childTnLst>
                              <p:par>
                                <p:cTn id="765" presetID="1" presetClass="entr" presetSubtype="0" fill="hold" nodeType="clickEffect">
                                  <p:stCondLst>
                                    <p:cond delay="0"/>
                                  </p:stCondLst>
                                  <p:childTnLst>
                                    <p:set>
                                      <p:cBhvr>
                                        <p:cTn id="766" dur="1" fill="hold">
                                          <p:stCondLst>
                                            <p:cond delay="0"/>
                                          </p:stCondLst>
                                        </p:cTn>
                                        <p:tgtEl>
                                          <p:spTgt spid="98">
                                            <p:txEl>
                                              <p:pRg st="1" end="1"/>
                                            </p:txEl>
                                          </p:spTgt>
                                        </p:tgtEl>
                                        <p:attrNameLst>
                                          <p:attrName>style.visibility</p:attrName>
                                        </p:attrNameLst>
                                      </p:cBhvr>
                                      <p:to>
                                        <p:strVal val="visible"/>
                                      </p:to>
                                    </p:set>
                                  </p:childTnLst>
                                </p:cTn>
                              </p:par>
                            </p:childTnLst>
                          </p:cTn>
                        </p:par>
                      </p:childTnLst>
                    </p:cTn>
                  </p:par>
                  <p:par>
                    <p:cTn id="767" fill="hold">
                      <p:stCondLst>
                        <p:cond delay="indefinite"/>
                      </p:stCondLst>
                      <p:childTnLst>
                        <p:par>
                          <p:cTn id="768" fill="hold">
                            <p:stCondLst>
                              <p:cond delay="0"/>
                            </p:stCondLst>
                            <p:childTnLst>
                              <p:par>
                                <p:cTn id="769" presetID="1" presetClass="entr" presetSubtype="0" fill="hold" nodeType="clickEffect">
                                  <p:stCondLst>
                                    <p:cond delay="0"/>
                                  </p:stCondLst>
                                  <p:childTnLst>
                                    <p:set>
                                      <p:cBhvr>
                                        <p:cTn id="770" dur="1" fill="hold">
                                          <p:stCondLst>
                                            <p:cond delay="0"/>
                                          </p:stCondLst>
                                        </p:cTn>
                                        <p:tgtEl>
                                          <p:spTgt spid="98">
                                            <p:txEl>
                                              <p:pRg st="2" end="2"/>
                                            </p:txEl>
                                          </p:spTgt>
                                        </p:tgtEl>
                                        <p:attrNameLst>
                                          <p:attrName>style.visibility</p:attrName>
                                        </p:attrNameLst>
                                      </p:cBhvr>
                                      <p:to>
                                        <p:strVal val="visible"/>
                                      </p:to>
                                    </p:set>
                                  </p:childTnLst>
                                </p:cTn>
                              </p:par>
                            </p:childTnLst>
                          </p:cTn>
                        </p:par>
                      </p:childTnLst>
                    </p:cTn>
                  </p:par>
                  <p:par>
                    <p:cTn id="771" fill="hold">
                      <p:stCondLst>
                        <p:cond delay="indefinite"/>
                      </p:stCondLst>
                      <p:childTnLst>
                        <p:par>
                          <p:cTn id="772" fill="hold">
                            <p:stCondLst>
                              <p:cond delay="0"/>
                            </p:stCondLst>
                            <p:childTnLst>
                              <p:par>
                                <p:cTn id="773" presetID="1" presetClass="entr" presetSubtype="0" fill="hold" nodeType="clickEffect">
                                  <p:stCondLst>
                                    <p:cond delay="0"/>
                                  </p:stCondLst>
                                  <p:childTnLst>
                                    <p:set>
                                      <p:cBhvr>
                                        <p:cTn id="774" dur="1" fill="hold">
                                          <p:stCondLst>
                                            <p:cond delay="0"/>
                                          </p:stCondLst>
                                        </p:cTn>
                                        <p:tgtEl>
                                          <p:spTgt spid="98">
                                            <p:txEl>
                                              <p:pRg st="3" end="3"/>
                                            </p:txEl>
                                          </p:spTgt>
                                        </p:tgtEl>
                                        <p:attrNameLst>
                                          <p:attrName>style.visibility</p:attrName>
                                        </p:attrNameLst>
                                      </p:cBhvr>
                                      <p:to>
                                        <p:strVal val="visible"/>
                                      </p:to>
                                    </p:set>
                                  </p:childTnLst>
                                </p:cTn>
                              </p:par>
                            </p:childTnLst>
                          </p:cTn>
                        </p:par>
                      </p:childTnLst>
                    </p:cTn>
                  </p:par>
                  <p:par>
                    <p:cTn id="775" fill="hold">
                      <p:stCondLst>
                        <p:cond delay="indefinite"/>
                      </p:stCondLst>
                      <p:childTnLst>
                        <p:par>
                          <p:cTn id="776" fill="hold">
                            <p:stCondLst>
                              <p:cond delay="0"/>
                            </p:stCondLst>
                            <p:childTnLst>
                              <p:par>
                                <p:cTn id="777" presetID="1" presetClass="entr" presetSubtype="0" fill="hold" nodeType="clickEffect">
                                  <p:stCondLst>
                                    <p:cond delay="0"/>
                                  </p:stCondLst>
                                  <p:childTnLst>
                                    <p:set>
                                      <p:cBhvr>
                                        <p:cTn id="778" dur="1" fill="hold">
                                          <p:stCondLst>
                                            <p:cond delay="0"/>
                                          </p:stCondLst>
                                        </p:cTn>
                                        <p:tgtEl>
                                          <p:spTgt spid="98">
                                            <p:txEl>
                                              <p:pRg st="4" end="4"/>
                                            </p:txEl>
                                          </p:spTgt>
                                        </p:tgtEl>
                                        <p:attrNameLst>
                                          <p:attrName>style.visibility</p:attrName>
                                        </p:attrNameLst>
                                      </p:cBhvr>
                                      <p:to>
                                        <p:strVal val="visible"/>
                                      </p:to>
                                    </p:set>
                                  </p:childTnLst>
                                </p:cTn>
                              </p:par>
                            </p:childTnLst>
                          </p:cTn>
                        </p:par>
                      </p:childTnLst>
                    </p:cTn>
                  </p:par>
                  <p:par>
                    <p:cTn id="779" fill="hold">
                      <p:stCondLst>
                        <p:cond delay="indefinite"/>
                      </p:stCondLst>
                      <p:childTnLst>
                        <p:par>
                          <p:cTn id="780" fill="hold">
                            <p:stCondLst>
                              <p:cond delay="0"/>
                            </p:stCondLst>
                            <p:childTnLst>
                              <p:par>
                                <p:cTn id="781" presetID="1" presetClass="entr" presetSubtype="0" fill="hold" nodeType="clickEffect">
                                  <p:stCondLst>
                                    <p:cond delay="0"/>
                                  </p:stCondLst>
                                  <p:childTnLst>
                                    <p:set>
                                      <p:cBhvr>
                                        <p:cTn id="782" dur="1" fill="hold">
                                          <p:stCondLst>
                                            <p:cond delay="0"/>
                                          </p:stCondLst>
                                        </p:cTn>
                                        <p:tgtEl>
                                          <p:spTgt spid="98">
                                            <p:txEl>
                                              <p:pRg st="5" end="5"/>
                                            </p:txEl>
                                          </p:spTgt>
                                        </p:tgtEl>
                                        <p:attrNameLst>
                                          <p:attrName>style.visibility</p:attrName>
                                        </p:attrNameLst>
                                      </p:cBhvr>
                                      <p:to>
                                        <p:strVal val="visible"/>
                                      </p:to>
                                    </p:set>
                                  </p:childTnLst>
                                </p:cTn>
                              </p:par>
                            </p:childTnLst>
                          </p:cTn>
                        </p:par>
                      </p:childTnLst>
                    </p:cTn>
                  </p:par>
                  <p:par>
                    <p:cTn id="783" fill="hold">
                      <p:stCondLst>
                        <p:cond delay="indefinite"/>
                      </p:stCondLst>
                      <p:childTnLst>
                        <p:par>
                          <p:cTn id="784" fill="hold">
                            <p:stCondLst>
                              <p:cond delay="0"/>
                            </p:stCondLst>
                            <p:childTnLst>
                              <p:par>
                                <p:cTn id="785" presetID="1" presetClass="entr" presetSubtype="0" fill="hold" nodeType="clickEffect">
                                  <p:stCondLst>
                                    <p:cond delay="0"/>
                                  </p:stCondLst>
                                  <p:childTnLst>
                                    <p:set>
                                      <p:cBhvr>
                                        <p:cTn id="786" dur="1" fill="hold">
                                          <p:stCondLst>
                                            <p:cond delay="0"/>
                                          </p:stCondLst>
                                        </p:cTn>
                                        <p:tgtEl>
                                          <p:spTgt spid="98">
                                            <p:txEl>
                                              <p:pRg st="6" end="6"/>
                                            </p:txEl>
                                          </p:spTgt>
                                        </p:tgtEl>
                                        <p:attrNameLst>
                                          <p:attrName>style.visibility</p:attrName>
                                        </p:attrNameLst>
                                      </p:cBhvr>
                                      <p:to>
                                        <p:strVal val="visible"/>
                                      </p:to>
                                    </p:set>
                                  </p:childTnLst>
                                </p:cTn>
                              </p:par>
                            </p:childTnLst>
                          </p:cTn>
                        </p:par>
                      </p:childTnLst>
                    </p:cTn>
                  </p:par>
                  <p:par>
                    <p:cTn id="787" fill="hold">
                      <p:stCondLst>
                        <p:cond delay="indefinite"/>
                      </p:stCondLst>
                      <p:childTnLst>
                        <p:par>
                          <p:cTn id="788" fill="hold">
                            <p:stCondLst>
                              <p:cond delay="0"/>
                            </p:stCondLst>
                            <p:childTnLst>
                              <p:par>
                                <p:cTn id="789" presetID="1" presetClass="entr" presetSubtype="0" fill="hold" nodeType="clickEffect">
                                  <p:stCondLst>
                                    <p:cond delay="0"/>
                                  </p:stCondLst>
                                  <p:childTnLst>
                                    <p:set>
                                      <p:cBhvr>
                                        <p:cTn id="790" dur="1" fill="hold">
                                          <p:stCondLst>
                                            <p:cond delay="0"/>
                                          </p:stCondLst>
                                        </p:cTn>
                                        <p:tgtEl>
                                          <p:spTgt spid="98">
                                            <p:txEl>
                                              <p:pRg st="7" end="7"/>
                                            </p:txEl>
                                          </p:spTgt>
                                        </p:tgtEl>
                                        <p:attrNameLst>
                                          <p:attrName>style.visibility</p:attrName>
                                        </p:attrNameLst>
                                      </p:cBhvr>
                                      <p:to>
                                        <p:strVal val="visible"/>
                                      </p:to>
                                    </p:set>
                                  </p:childTnLst>
                                </p:cTn>
                              </p:par>
                            </p:childTnLst>
                          </p:cTn>
                        </p:par>
                      </p:childTnLst>
                    </p:cTn>
                  </p:par>
                  <p:par>
                    <p:cTn id="791" fill="hold">
                      <p:stCondLst>
                        <p:cond delay="indefinite"/>
                      </p:stCondLst>
                      <p:childTnLst>
                        <p:par>
                          <p:cTn id="792" fill="hold">
                            <p:stCondLst>
                              <p:cond delay="0"/>
                            </p:stCondLst>
                            <p:childTnLst>
                              <p:par>
                                <p:cTn id="793" presetID="1" presetClass="entr" presetSubtype="0" fill="hold" nodeType="clickEffect">
                                  <p:stCondLst>
                                    <p:cond delay="0"/>
                                  </p:stCondLst>
                                  <p:childTnLst>
                                    <p:set>
                                      <p:cBhvr>
                                        <p:cTn id="794" dur="1" fill="hold">
                                          <p:stCondLst>
                                            <p:cond delay="0"/>
                                          </p:stCondLst>
                                        </p:cTn>
                                        <p:tgtEl>
                                          <p:spTgt spid="98">
                                            <p:txEl>
                                              <p:pRg st="8" end="8"/>
                                            </p:txEl>
                                          </p:spTgt>
                                        </p:tgtEl>
                                        <p:attrNameLst>
                                          <p:attrName>style.visibility</p:attrName>
                                        </p:attrNameLst>
                                      </p:cBhvr>
                                      <p:to>
                                        <p:strVal val="visible"/>
                                      </p:to>
                                    </p:set>
                                  </p:childTnLst>
                                </p:cTn>
                              </p:par>
                            </p:childTnLst>
                          </p:cTn>
                        </p:par>
                      </p:childTnLst>
                    </p:cTn>
                  </p:par>
                  <p:par>
                    <p:cTn id="795" fill="hold">
                      <p:stCondLst>
                        <p:cond delay="indefinite"/>
                      </p:stCondLst>
                      <p:childTnLst>
                        <p:par>
                          <p:cTn id="796" fill="hold">
                            <p:stCondLst>
                              <p:cond delay="0"/>
                            </p:stCondLst>
                            <p:childTnLst>
                              <p:par>
                                <p:cTn id="797" presetID="1" presetClass="entr" presetSubtype="0" fill="hold" nodeType="clickEffect">
                                  <p:stCondLst>
                                    <p:cond delay="0"/>
                                  </p:stCondLst>
                                  <p:childTnLst>
                                    <p:set>
                                      <p:cBhvr>
                                        <p:cTn id="798" dur="1" fill="hold">
                                          <p:stCondLst>
                                            <p:cond delay="0"/>
                                          </p:stCondLst>
                                        </p:cTn>
                                        <p:tgtEl>
                                          <p:spTgt spid="99">
                                            <p:txEl>
                                              <p:pRg st="0" end="0"/>
                                            </p:txEl>
                                          </p:spTgt>
                                        </p:tgtEl>
                                        <p:attrNameLst>
                                          <p:attrName>style.visibility</p:attrName>
                                        </p:attrNameLst>
                                      </p:cBhvr>
                                      <p:to>
                                        <p:strVal val="visible"/>
                                      </p:to>
                                    </p:set>
                                  </p:childTnLst>
                                </p:cTn>
                              </p:par>
                            </p:childTnLst>
                          </p:cTn>
                        </p:par>
                      </p:childTnLst>
                    </p:cTn>
                  </p:par>
                  <p:par>
                    <p:cTn id="799" fill="hold">
                      <p:stCondLst>
                        <p:cond delay="indefinite"/>
                      </p:stCondLst>
                      <p:childTnLst>
                        <p:par>
                          <p:cTn id="800" fill="hold">
                            <p:stCondLst>
                              <p:cond delay="0"/>
                            </p:stCondLst>
                            <p:childTnLst>
                              <p:par>
                                <p:cTn id="801" presetID="1" presetClass="entr" presetSubtype="0" fill="hold" nodeType="clickEffect">
                                  <p:stCondLst>
                                    <p:cond delay="0"/>
                                  </p:stCondLst>
                                  <p:childTnLst>
                                    <p:set>
                                      <p:cBhvr>
                                        <p:cTn id="802" dur="1" fill="hold">
                                          <p:stCondLst>
                                            <p:cond delay="0"/>
                                          </p:stCondLst>
                                        </p:cTn>
                                        <p:tgtEl>
                                          <p:spTgt spid="99">
                                            <p:txEl>
                                              <p:pRg st="1" end="1"/>
                                            </p:txEl>
                                          </p:spTgt>
                                        </p:tgtEl>
                                        <p:attrNameLst>
                                          <p:attrName>style.visibility</p:attrName>
                                        </p:attrNameLst>
                                      </p:cBhvr>
                                      <p:to>
                                        <p:strVal val="visible"/>
                                      </p:to>
                                    </p:set>
                                  </p:childTnLst>
                                </p:cTn>
                              </p:par>
                            </p:childTnLst>
                          </p:cTn>
                        </p:par>
                      </p:childTnLst>
                    </p:cTn>
                  </p:par>
                  <p:par>
                    <p:cTn id="803" fill="hold">
                      <p:stCondLst>
                        <p:cond delay="indefinite"/>
                      </p:stCondLst>
                      <p:childTnLst>
                        <p:par>
                          <p:cTn id="804" fill="hold">
                            <p:stCondLst>
                              <p:cond delay="0"/>
                            </p:stCondLst>
                            <p:childTnLst>
                              <p:par>
                                <p:cTn id="805" presetID="1" presetClass="entr" presetSubtype="0" fill="hold" nodeType="clickEffect">
                                  <p:stCondLst>
                                    <p:cond delay="0"/>
                                  </p:stCondLst>
                                  <p:childTnLst>
                                    <p:set>
                                      <p:cBhvr>
                                        <p:cTn id="806" dur="1" fill="hold">
                                          <p:stCondLst>
                                            <p:cond delay="0"/>
                                          </p:stCondLst>
                                        </p:cTn>
                                        <p:tgtEl>
                                          <p:spTgt spid="99">
                                            <p:txEl>
                                              <p:pRg st="2" end="2"/>
                                            </p:txEl>
                                          </p:spTgt>
                                        </p:tgtEl>
                                        <p:attrNameLst>
                                          <p:attrName>style.visibility</p:attrName>
                                        </p:attrNameLst>
                                      </p:cBhvr>
                                      <p:to>
                                        <p:strVal val="visible"/>
                                      </p:to>
                                    </p:set>
                                  </p:childTnLst>
                                </p:cTn>
                              </p:par>
                            </p:childTnLst>
                          </p:cTn>
                        </p:par>
                      </p:childTnLst>
                    </p:cTn>
                  </p:par>
                  <p:par>
                    <p:cTn id="807" fill="hold">
                      <p:stCondLst>
                        <p:cond delay="indefinite"/>
                      </p:stCondLst>
                      <p:childTnLst>
                        <p:par>
                          <p:cTn id="808" fill="hold">
                            <p:stCondLst>
                              <p:cond delay="0"/>
                            </p:stCondLst>
                            <p:childTnLst>
                              <p:par>
                                <p:cTn id="809" presetID="1" presetClass="entr" presetSubtype="0" fill="hold" nodeType="clickEffect">
                                  <p:stCondLst>
                                    <p:cond delay="0"/>
                                  </p:stCondLst>
                                  <p:childTnLst>
                                    <p:set>
                                      <p:cBhvr>
                                        <p:cTn id="810" dur="1" fill="hold">
                                          <p:stCondLst>
                                            <p:cond delay="0"/>
                                          </p:stCondLst>
                                        </p:cTn>
                                        <p:tgtEl>
                                          <p:spTgt spid="99">
                                            <p:txEl>
                                              <p:pRg st="3" end="3"/>
                                            </p:txEl>
                                          </p:spTgt>
                                        </p:tgtEl>
                                        <p:attrNameLst>
                                          <p:attrName>style.visibility</p:attrName>
                                        </p:attrNameLst>
                                      </p:cBhvr>
                                      <p:to>
                                        <p:strVal val="visible"/>
                                      </p:to>
                                    </p:set>
                                  </p:childTnLst>
                                </p:cTn>
                              </p:par>
                            </p:childTnLst>
                          </p:cTn>
                        </p:par>
                      </p:childTnLst>
                    </p:cTn>
                  </p:par>
                  <p:par>
                    <p:cTn id="811" fill="hold">
                      <p:stCondLst>
                        <p:cond delay="indefinite"/>
                      </p:stCondLst>
                      <p:childTnLst>
                        <p:par>
                          <p:cTn id="812" fill="hold">
                            <p:stCondLst>
                              <p:cond delay="0"/>
                            </p:stCondLst>
                            <p:childTnLst>
                              <p:par>
                                <p:cTn id="813" presetID="1" presetClass="entr" presetSubtype="0" fill="hold" nodeType="clickEffect">
                                  <p:stCondLst>
                                    <p:cond delay="0"/>
                                  </p:stCondLst>
                                  <p:childTnLst>
                                    <p:set>
                                      <p:cBhvr>
                                        <p:cTn id="814" dur="1" fill="hold">
                                          <p:stCondLst>
                                            <p:cond delay="0"/>
                                          </p:stCondLst>
                                        </p:cTn>
                                        <p:tgtEl>
                                          <p:spTgt spid="99">
                                            <p:txEl>
                                              <p:pRg st="4" end="4"/>
                                            </p:txEl>
                                          </p:spTgt>
                                        </p:tgtEl>
                                        <p:attrNameLst>
                                          <p:attrName>style.visibility</p:attrName>
                                        </p:attrNameLst>
                                      </p:cBhvr>
                                      <p:to>
                                        <p:strVal val="visible"/>
                                      </p:to>
                                    </p:set>
                                  </p:childTnLst>
                                </p:cTn>
                              </p:par>
                            </p:childTnLst>
                          </p:cTn>
                        </p:par>
                      </p:childTnLst>
                    </p:cTn>
                  </p:par>
                  <p:par>
                    <p:cTn id="815" fill="hold">
                      <p:stCondLst>
                        <p:cond delay="indefinite"/>
                      </p:stCondLst>
                      <p:childTnLst>
                        <p:par>
                          <p:cTn id="816" fill="hold">
                            <p:stCondLst>
                              <p:cond delay="0"/>
                            </p:stCondLst>
                            <p:childTnLst>
                              <p:par>
                                <p:cTn id="817" presetID="1" presetClass="entr" presetSubtype="0" fill="hold" nodeType="clickEffect">
                                  <p:stCondLst>
                                    <p:cond delay="0"/>
                                  </p:stCondLst>
                                  <p:childTnLst>
                                    <p:set>
                                      <p:cBhvr>
                                        <p:cTn id="818" dur="1" fill="hold">
                                          <p:stCondLst>
                                            <p:cond delay="0"/>
                                          </p:stCondLst>
                                        </p:cTn>
                                        <p:tgtEl>
                                          <p:spTgt spid="99">
                                            <p:txEl>
                                              <p:pRg st="5" end="5"/>
                                            </p:txEl>
                                          </p:spTgt>
                                        </p:tgtEl>
                                        <p:attrNameLst>
                                          <p:attrName>style.visibility</p:attrName>
                                        </p:attrNameLst>
                                      </p:cBhvr>
                                      <p:to>
                                        <p:strVal val="visible"/>
                                      </p:to>
                                    </p:set>
                                  </p:childTnLst>
                                </p:cTn>
                              </p:par>
                            </p:childTnLst>
                          </p:cTn>
                        </p:par>
                      </p:childTnLst>
                    </p:cTn>
                  </p:par>
                  <p:par>
                    <p:cTn id="819" fill="hold">
                      <p:stCondLst>
                        <p:cond delay="indefinite"/>
                      </p:stCondLst>
                      <p:childTnLst>
                        <p:par>
                          <p:cTn id="820" fill="hold">
                            <p:stCondLst>
                              <p:cond delay="0"/>
                            </p:stCondLst>
                            <p:childTnLst>
                              <p:par>
                                <p:cTn id="821" presetID="1" presetClass="entr" presetSubtype="0" fill="hold" nodeType="clickEffect">
                                  <p:stCondLst>
                                    <p:cond delay="0"/>
                                  </p:stCondLst>
                                  <p:childTnLst>
                                    <p:set>
                                      <p:cBhvr>
                                        <p:cTn id="822" dur="1" fill="hold">
                                          <p:stCondLst>
                                            <p:cond delay="0"/>
                                          </p:stCondLst>
                                        </p:cTn>
                                        <p:tgtEl>
                                          <p:spTgt spid="99">
                                            <p:txEl>
                                              <p:pRg st="6" end="6"/>
                                            </p:txEl>
                                          </p:spTgt>
                                        </p:tgtEl>
                                        <p:attrNameLst>
                                          <p:attrName>style.visibility</p:attrName>
                                        </p:attrNameLst>
                                      </p:cBhvr>
                                      <p:to>
                                        <p:strVal val="visible"/>
                                      </p:to>
                                    </p:set>
                                  </p:childTnLst>
                                </p:cTn>
                              </p:par>
                            </p:childTnLst>
                          </p:cTn>
                        </p:par>
                      </p:childTnLst>
                    </p:cTn>
                  </p:par>
                  <p:par>
                    <p:cTn id="823" fill="hold">
                      <p:stCondLst>
                        <p:cond delay="indefinite"/>
                      </p:stCondLst>
                      <p:childTnLst>
                        <p:par>
                          <p:cTn id="824" fill="hold">
                            <p:stCondLst>
                              <p:cond delay="0"/>
                            </p:stCondLst>
                            <p:childTnLst>
                              <p:par>
                                <p:cTn id="825" presetID="1" presetClass="entr" presetSubtype="0" fill="hold" nodeType="clickEffect">
                                  <p:stCondLst>
                                    <p:cond delay="0"/>
                                  </p:stCondLst>
                                  <p:childTnLst>
                                    <p:set>
                                      <p:cBhvr>
                                        <p:cTn id="826" dur="1" fill="hold">
                                          <p:stCondLst>
                                            <p:cond delay="0"/>
                                          </p:stCondLst>
                                        </p:cTn>
                                        <p:tgtEl>
                                          <p:spTgt spid="99">
                                            <p:txEl>
                                              <p:pRg st="7" end="7"/>
                                            </p:txEl>
                                          </p:spTgt>
                                        </p:tgtEl>
                                        <p:attrNameLst>
                                          <p:attrName>style.visibility</p:attrName>
                                        </p:attrNameLst>
                                      </p:cBhvr>
                                      <p:to>
                                        <p:strVal val="visible"/>
                                      </p:to>
                                    </p:set>
                                  </p:childTnLst>
                                </p:cTn>
                              </p:par>
                            </p:childTnLst>
                          </p:cTn>
                        </p:par>
                      </p:childTnLst>
                    </p:cTn>
                  </p:par>
                  <p:par>
                    <p:cTn id="827" fill="hold">
                      <p:stCondLst>
                        <p:cond delay="indefinite"/>
                      </p:stCondLst>
                      <p:childTnLst>
                        <p:par>
                          <p:cTn id="828" fill="hold">
                            <p:stCondLst>
                              <p:cond delay="0"/>
                            </p:stCondLst>
                            <p:childTnLst>
                              <p:par>
                                <p:cTn id="829" presetID="1" presetClass="entr" presetSubtype="0" fill="hold" nodeType="clickEffect">
                                  <p:stCondLst>
                                    <p:cond delay="0"/>
                                  </p:stCondLst>
                                  <p:childTnLst>
                                    <p:set>
                                      <p:cBhvr>
                                        <p:cTn id="830" dur="1" fill="hold">
                                          <p:stCondLst>
                                            <p:cond delay="0"/>
                                          </p:stCondLst>
                                        </p:cTn>
                                        <p:tgtEl>
                                          <p:spTgt spid="99">
                                            <p:txEl>
                                              <p:pRg st="8" end="8"/>
                                            </p:txEl>
                                          </p:spTgt>
                                        </p:tgtEl>
                                        <p:attrNameLst>
                                          <p:attrName>style.visibility</p:attrName>
                                        </p:attrNameLst>
                                      </p:cBhvr>
                                      <p:to>
                                        <p:strVal val="visible"/>
                                      </p:to>
                                    </p:set>
                                  </p:childTnLst>
                                </p:cTn>
                              </p:par>
                            </p:childTnLst>
                          </p:cTn>
                        </p:par>
                      </p:childTnLst>
                    </p:cTn>
                  </p:par>
                  <p:par>
                    <p:cTn id="831" fill="hold">
                      <p:stCondLst>
                        <p:cond delay="indefinite"/>
                      </p:stCondLst>
                      <p:childTnLst>
                        <p:par>
                          <p:cTn id="832" fill="hold">
                            <p:stCondLst>
                              <p:cond delay="0"/>
                            </p:stCondLst>
                            <p:childTnLst>
                              <p:par>
                                <p:cTn id="833" presetID="1" presetClass="entr" presetSubtype="0" fill="hold" nodeType="clickEffect">
                                  <p:stCondLst>
                                    <p:cond delay="0"/>
                                  </p:stCondLst>
                                  <p:childTnLst>
                                    <p:set>
                                      <p:cBhvr>
                                        <p:cTn id="834" dur="1" fill="hold">
                                          <p:stCondLst>
                                            <p:cond delay="0"/>
                                          </p:stCondLst>
                                        </p:cTn>
                                        <p:tgtEl>
                                          <p:spTgt spid="100">
                                            <p:txEl>
                                              <p:pRg st="0" end="0"/>
                                            </p:txEl>
                                          </p:spTgt>
                                        </p:tgtEl>
                                        <p:attrNameLst>
                                          <p:attrName>style.visibility</p:attrName>
                                        </p:attrNameLst>
                                      </p:cBhvr>
                                      <p:to>
                                        <p:strVal val="visible"/>
                                      </p:to>
                                    </p:set>
                                  </p:childTnLst>
                                </p:cTn>
                              </p:par>
                            </p:childTnLst>
                          </p:cTn>
                        </p:par>
                      </p:childTnLst>
                    </p:cTn>
                  </p:par>
                  <p:par>
                    <p:cTn id="835" fill="hold">
                      <p:stCondLst>
                        <p:cond delay="indefinite"/>
                      </p:stCondLst>
                      <p:childTnLst>
                        <p:par>
                          <p:cTn id="836" fill="hold">
                            <p:stCondLst>
                              <p:cond delay="0"/>
                            </p:stCondLst>
                            <p:childTnLst>
                              <p:par>
                                <p:cTn id="837" presetID="1" presetClass="entr" presetSubtype="0" fill="hold" nodeType="clickEffect">
                                  <p:stCondLst>
                                    <p:cond delay="0"/>
                                  </p:stCondLst>
                                  <p:childTnLst>
                                    <p:set>
                                      <p:cBhvr>
                                        <p:cTn id="838" dur="1" fill="hold">
                                          <p:stCondLst>
                                            <p:cond delay="0"/>
                                          </p:stCondLst>
                                        </p:cTn>
                                        <p:tgtEl>
                                          <p:spTgt spid="100">
                                            <p:txEl>
                                              <p:pRg st="1" end="1"/>
                                            </p:txEl>
                                          </p:spTgt>
                                        </p:tgtEl>
                                        <p:attrNameLst>
                                          <p:attrName>style.visibility</p:attrName>
                                        </p:attrNameLst>
                                      </p:cBhvr>
                                      <p:to>
                                        <p:strVal val="visible"/>
                                      </p:to>
                                    </p:set>
                                  </p:childTnLst>
                                </p:cTn>
                              </p:par>
                            </p:childTnLst>
                          </p:cTn>
                        </p:par>
                      </p:childTnLst>
                    </p:cTn>
                  </p:par>
                  <p:par>
                    <p:cTn id="839" fill="hold">
                      <p:stCondLst>
                        <p:cond delay="indefinite"/>
                      </p:stCondLst>
                      <p:childTnLst>
                        <p:par>
                          <p:cTn id="840" fill="hold">
                            <p:stCondLst>
                              <p:cond delay="0"/>
                            </p:stCondLst>
                            <p:childTnLst>
                              <p:par>
                                <p:cTn id="841" presetID="1" presetClass="entr" presetSubtype="0" fill="hold" nodeType="clickEffect">
                                  <p:stCondLst>
                                    <p:cond delay="0"/>
                                  </p:stCondLst>
                                  <p:childTnLst>
                                    <p:set>
                                      <p:cBhvr>
                                        <p:cTn id="842" dur="1" fill="hold">
                                          <p:stCondLst>
                                            <p:cond delay="0"/>
                                          </p:stCondLst>
                                        </p:cTn>
                                        <p:tgtEl>
                                          <p:spTgt spid="100">
                                            <p:txEl>
                                              <p:pRg st="2" end="2"/>
                                            </p:txEl>
                                          </p:spTgt>
                                        </p:tgtEl>
                                        <p:attrNameLst>
                                          <p:attrName>style.visibility</p:attrName>
                                        </p:attrNameLst>
                                      </p:cBhvr>
                                      <p:to>
                                        <p:strVal val="visible"/>
                                      </p:to>
                                    </p:set>
                                  </p:childTnLst>
                                </p:cTn>
                              </p:par>
                            </p:childTnLst>
                          </p:cTn>
                        </p:par>
                      </p:childTnLst>
                    </p:cTn>
                  </p:par>
                  <p:par>
                    <p:cTn id="843" fill="hold">
                      <p:stCondLst>
                        <p:cond delay="indefinite"/>
                      </p:stCondLst>
                      <p:childTnLst>
                        <p:par>
                          <p:cTn id="844" fill="hold">
                            <p:stCondLst>
                              <p:cond delay="0"/>
                            </p:stCondLst>
                            <p:childTnLst>
                              <p:par>
                                <p:cTn id="845" presetID="1" presetClass="entr" presetSubtype="0" fill="hold" nodeType="clickEffect">
                                  <p:stCondLst>
                                    <p:cond delay="0"/>
                                  </p:stCondLst>
                                  <p:childTnLst>
                                    <p:set>
                                      <p:cBhvr>
                                        <p:cTn id="846" dur="1" fill="hold">
                                          <p:stCondLst>
                                            <p:cond delay="0"/>
                                          </p:stCondLst>
                                        </p:cTn>
                                        <p:tgtEl>
                                          <p:spTgt spid="100">
                                            <p:txEl>
                                              <p:pRg st="3" end="3"/>
                                            </p:txEl>
                                          </p:spTgt>
                                        </p:tgtEl>
                                        <p:attrNameLst>
                                          <p:attrName>style.visibility</p:attrName>
                                        </p:attrNameLst>
                                      </p:cBhvr>
                                      <p:to>
                                        <p:strVal val="visible"/>
                                      </p:to>
                                    </p:set>
                                  </p:childTnLst>
                                </p:cTn>
                              </p:par>
                            </p:childTnLst>
                          </p:cTn>
                        </p:par>
                      </p:childTnLst>
                    </p:cTn>
                  </p:par>
                  <p:par>
                    <p:cTn id="847" fill="hold">
                      <p:stCondLst>
                        <p:cond delay="indefinite"/>
                      </p:stCondLst>
                      <p:childTnLst>
                        <p:par>
                          <p:cTn id="848" fill="hold">
                            <p:stCondLst>
                              <p:cond delay="0"/>
                            </p:stCondLst>
                            <p:childTnLst>
                              <p:par>
                                <p:cTn id="849" presetID="1" presetClass="entr" presetSubtype="0" fill="hold" nodeType="clickEffect">
                                  <p:stCondLst>
                                    <p:cond delay="0"/>
                                  </p:stCondLst>
                                  <p:childTnLst>
                                    <p:set>
                                      <p:cBhvr>
                                        <p:cTn id="850" dur="1" fill="hold">
                                          <p:stCondLst>
                                            <p:cond delay="0"/>
                                          </p:stCondLst>
                                        </p:cTn>
                                        <p:tgtEl>
                                          <p:spTgt spid="100">
                                            <p:txEl>
                                              <p:pRg st="4" end="4"/>
                                            </p:txEl>
                                          </p:spTgt>
                                        </p:tgtEl>
                                        <p:attrNameLst>
                                          <p:attrName>style.visibility</p:attrName>
                                        </p:attrNameLst>
                                      </p:cBhvr>
                                      <p:to>
                                        <p:strVal val="visible"/>
                                      </p:to>
                                    </p:set>
                                  </p:childTnLst>
                                </p:cTn>
                              </p:par>
                            </p:childTnLst>
                          </p:cTn>
                        </p:par>
                      </p:childTnLst>
                    </p:cTn>
                  </p:par>
                  <p:par>
                    <p:cTn id="851" fill="hold">
                      <p:stCondLst>
                        <p:cond delay="indefinite"/>
                      </p:stCondLst>
                      <p:childTnLst>
                        <p:par>
                          <p:cTn id="852" fill="hold">
                            <p:stCondLst>
                              <p:cond delay="0"/>
                            </p:stCondLst>
                            <p:childTnLst>
                              <p:par>
                                <p:cTn id="853" presetID="1" presetClass="entr" presetSubtype="0" fill="hold" nodeType="clickEffect">
                                  <p:stCondLst>
                                    <p:cond delay="0"/>
                                  </p:stCondLst>
                                  <p:childTnLst>
                                    <p:set>
                                      <p:cBhvr>
                                        <p:cTn id="854" dur="1" fill="hold">
                                          <p:stCondLst>
                                            <p:cond delay="0"/>
                                          </p:stCondLst>
                                        </p:cTn>
                                        <p:tgtEl>
                                          <p:spTgt spid="100">
                                            <p:txEl>
                                              <p:pRg st="5" end="5"/>
                                            </p:txEl>
                                          </p:spTgt>
                                        </p:tgtEl>
                                        <p:attrNameLst>
                                          <p:attrName>style.visibility</p:attrName>
                                        </p:attrNameLst>
                                      </p:cBhvr>
                                      <p:to>
                                        <p:strVal val="visible"/>
                                      </p:to>
                                    </p:set>
                                  </p:childTnLst>
                                </p:cTn>
                              </p:par>
                            </p:childTnLst>
                          </p:cTn>
                        </p:par>
                      </p:childTnLst>
                    </p:cTn>
                  </p:par>
                  <p:par>
                    <p:cTn id="855" fill="hold">
                      <p:stCondLst>
                        <p:cond delay="indefinite"/>
                      </p:stCondLst>
                      <p:childTnLst>
                        <p:par>
                          <p:cTn id="856" fill="hold">
                            <p:stCondLst>
                              <p:cond delay="0"/>
                            </p:stCondLst>
                            <p:childTnLst>
                              <p:par>
                                <p:cTn id="857" presetID="1" presetClass="entr" presetSubtype="0" fill="hold" nodeType="clickEffect">
                                  <p:stCondLst>
                                    <p:cond delay="0"/>
                                  </p:stCondLst>
                                  <p:childTnLst>
                                    <p:set>
                                      <p:cBhvr>
                                        <p:cTn id="858" dur="1" fill="hold">
                                          <p:stCondLst>
                                            <p:cond delay="0"/>
                                          </p:stCondLst>
                                        </p:cTn>
                                        <p:tgtEl>
                                          <p:spTgt spid="100">
                                            <p:txEl>
                                              <p:pRg st="6" end="6"/>
                                            </p:txEl>
                                          </p:spTgt>
                                        </p:tgtEl>
                                        <p:attrNameLst>
                                          <p:attrName>style.visibility</p:attrName>
                                        </p:attrNameLst>
                                      </p:cBhvr>
                                      <p:to>
                                        <p:strVal val="visible"/>
                                      </p:to>
                                    </p:set>
                                  </p:childTnLst>
                                </p:cTn>
                              </p:par>
                            </p:childTnLst>
                          </p:cTn>
                        </p:par>
                      </p:childTnLst>
                    </p:cTn>
                  </p:par>
                  <p:par>
                    <p:cTn id="859" fill="hold">
                      <p:stCondLst>
                        <p:cond delay="indefinite"/>
                      </p:stCondLst>
                      <p:childTnLst>
                        <p:par>
                          <p:cTn id="860" fill="hold">
                            <p:stCondLst>
                              <p:cond delay="0"/>
                            </p:stCondLst>
                            <p:childTnLst>
                              <p:par>
                                <p:cTn id="861" presetID="1" presetClass="entr" presetSubtype="0" fill="hold" nodeType="clickEffect">
                                  <p:stCondLst>
                                    <p:cond delay="0"/>
                                  </p:stCondLst>
                                  <p:childTnLst>
                                    <p:set>
                                      <p:cBhvr>
                                        <p:cTn id="862" dur="1" fill="hold">
                                          <p:stCondLst>
                                            <p:cond delay="0"/>
                                          </p:stCondLst>
                                        </p:cTn>
                                        <p:tgtEl>
                                          <p:spTgt spid="100">
                                            <p:txEl>
                                              <p:pRg st="7" end="7"/>
                                            </p:txEl>
                                          </p:spTgt>
                                        </p:tgtEl>
                                        <p:attrNameLst>
                                          <p:attrName>style.visibility</p:attrName>
                                        </p:attrNameLst>
                                      </p:cBhvr>
                                      <p:to>
                                        <p:strVal val="visible"/>
                                      </p:to>
                                    </p:set>
                                  </p:childTnLst>
                                </p:cTn>
                              </p:par>
                            </p:childTnLst>
                          </p:cTn>
                        </p:par>
                      </p:childTnLst>
                    </p:cTn>
                  </p:par>
                  <p:par>
                    <p:cTn id="863" fill="hold">
                      <p:stCondLst>
                        <p:cond delay="indefinite"/>
                      </p:stCondLst>
                      <p:childTnLst>
                        <p:par>
                          <p:cTn id="864" fill="hold">
                            <p:stCondLst>
                              <p:cond delay="0"/>
                            </p:stCondLst>
                            <p:childTnLst>
                              <p:par>
                                <p:cTn id="865" presetID="1" presetClass="entr" presetSubtype="0" fill="hold" nodeType="clickEffect">
                                  <p:stCondLst>
                                    <p:cond delay="0"/>
                                  </p:stCondLst>
                                  <p:childTnLst>
                                    <p:set>
                                      <p:cBhvr>
                                        <p:cTn id="866" dur="1" fill="hold">
                                          <p:stCondLst>
                                            <p:cond delay="0"/>
                                          </p:stCondLst>
                                        </p:cTn>
                                        <p:tgtEl>
                                          <p:spTgt spid="100">
                                            <p:txEl>
                                              <p:pRg st="8" end="8"/>
                                            </p:txEl>
                                          </p:spTgt>
                                        </p:tgtEl>
                                        <p:attrNameLst>
                                          <p:attrName>style.visibility</p:attrName>
                                        </p:attrNameLst>
                                      </p:cBhvr>
                                      <p:to>
                                        <p:strVal val="visible"/>
                                      </p:to>
                                    </p:set>
                                  </p:childTnLst>
                                </p:cTn>
                              </p:par>
                            </p:childTnLst>
                          </p:cTn>
                        </p:par>
                      </p:childTnLst>
                    </p:cTn>
                  </p:par>
                  <p:par>
                    <p:cTn id="867" fill="hold">
                      <p:stCondLst>
                        <p:cond delay="indefinite"/>
                      </p:stCondLst>
                      <p:childTnLst>
                        <p:par>
                          <p:cTn id="868" fill="hold">
                            <p:stCondLst>
                              <p:cond delay="0"/>
                            </p:stCondLst>
                            <p:childTnLst>
                              <p:par>
                                <p:cTn id="869" presetID="1" presetClass="entr" presetSubtype="0" fill="hold" nodeType="clickEffect">
                                  <p:stCondLst>
                                    <p:cond delay="0"/>
                                  </p:stCondLst>
                                  <p:childTnLst>
                                    <p:set>
                                      <p:cBhvr>
                                        <p:cTn id="870" dur="1" fill="hold">
                                          <p:stCondLst>
                                            <p:cond delay="0"/>
                                          </p:stCondLst>
                                        </p:cTn>
                                        <p:tgtEl>
                                          <p:spTgt spid="101">
                                            <p:txEl>
                                              <p:pRg st="0" end="0"/>
                                            </p:txEl>
                                          </p:spTgt>
                                        </p:tgtEl>
                                        <p:attrNameLst>
                                          <p:attrName>style.visibility</p:attrName>
                                        </p:attrNameLst>
                                      </p:cBhvr>
                                      <p:to>
                                        <p:strVal val="visible"/>
                                      </p:to>
                                    </p:set>
                                  </p:childTnLst>
                                </p:cTn>
                              </p:par>
                            </p:childTnLst>
                          </p:cTn>
                        </p:par>
                      </p:childTnLst>
                    </p:cTn>
                  </p:par>
                  <p:par>
                    <p:cTn id="871" fill="hold">
                      <p:stCondLst>
                        <p:cond delay="indefinite"/>
                      </p:stCondLst>
                      <p:childTnLst>
                        <p:par>
                          <p:cTn id="872" fill="hold">
                            <p:stCondLst>
                              <p:cond delay="0"/>
                            </p:stCondLst>
                            <p:childTnLst>
                              <p:par>
                                <p:cTn id="873" presetID="1" presetClass="entr" presetSubtype="0" fill="hold" nodeType="clickEffect">
                                  <p:stCondLst>
                                    <p:cond delay="0"/>
                                  </p:stCondLst>
                                  <p:childTnLst>
                                    <p:set>
                                      <p:cBhvr>
                                        <p:cTn id="874"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par>
                    <p:cTn id="875" fill="hold">
                      <p:stCondLst>
                        <p:cond delay="indefinite"/>
                      </p:stCondLst>
                      <p:childTnLst>
                        <p:par>
                          <p:cTn id="876" fill="hold">
                            <p:stCondLst>
                              <p:cond delay="0"/>
                            </p:stCondLst>
                            <p:childTnLst>
                              <p:par>
                                <p:cTn id="877" presetID="1" presetClass="entr" presetSubtype="0" fill="hold" nodeType="clickEffect">
                                  <p:stCondLst>
                                    <p:cond delay="0"/>
                                  </p:stCondLst>
                                  <p:childTnLst>
                                    <p:set>
                                      <p:cBhvr>
                                        <p:cTn id="878" dur="1" fill="hold">
                                          <p:stCondLst>
                                            <p:cond delay="0"/>
                                          </p:stCondLst>
                                        </p:cTn>
                                        <p:tgtEl>
                                          <p:spTgt spid="101">
                                            <p:txEl>
                                              <p:pRg st="2" end="2"/>
                                            </p:txEl>
                                          </p:spTgt>
                                        </p:tgtEl>
                                        <p:attrNameLst>
                                          <p:attrName>style.visibility</p:attrName>
                                        </p:attrNameLst>
                                      </p:cBhvr>
                                      <p:to>
                                        <p:strVal val="visible"/>
                                      </p:to>
                                    </p:set>
                                  </p:childTnLst>
                                </p:cTn>
                              </p:par>
                            </p:childTnLst>
                          </p:cTn>
                        </p:par>
                      </p:childTnLst>
                    </p:cTn>
                  </p:par>
                  <p:par>
                    <p:cTn id="879" fill="hold">
                      <p:stCondLst>
                        <p:cond delay="indefinite"/>
                      </p:stCondLst>
                      <p:childTnLst>
                        <p:par>
                          <p:cTn id="880" fill="hold">
                            <p:stCondLst>
                              <p:cond delay="0"/>
                            </p:stCondLst>
                            <p:childTnLst>
                              <p:par>
                                <p:cTn id="881" presetID="1" presetClass="entr" presetSubtype="0" fill="hold" nodeType="clickEffect">
                                  <p:stCondLst>
                                    <p:cond delay="0"/>
                                  </p:stCondLst>
                                  <p:childTnLst>
                                    <p:set>
                                      <p:cBhvr>
                                        <p:cTn id="882" dur="1" fill="hold">
                                          <p:stCondLst>
                                            <p:cond delay="0"/>
                                          </p:stCondLst>
                                        </p:cTn>
                                        <p:tgtEl>
                                          <p:spTgt spid="101">
                                            <p:txEl>
                                              <p:pRg st="3" end="3"/>
                                            </p:txEl>
                                          </p:spTgt>
                                        </p:tgtEl>
                                        <p:attrNameLst>
                                          <p:attrName>style.visibility</p:attrName>
                                        </p:attrNameLst>
                                      </p:cBhvr>
                                      <p:to>
                                        <p:strVal val="visible"/>
                                      </p:to>
                                    </p:set>
                                  </p:childTnLst>
                                </p:cTn>
                              </p:par>
                            </p:childTnLst>
                          </p:cTn>
                        </p:par>
                      </p:childTnLst>
                    </p:cTn>
                  </p:par>
                  <p:par>
                    <p:cTn id="883" fill="hold">
                      <p:stCondLst>
                        <p:cond delay="indefinite"/>
                      </p:stCondLst>
                      <p:childTnLst>
                        <p:par>
                          <p:cTn id="884" fill="hold">
                            <p:stCondLst>
                              <p:cond delay="0"/>
                            </p:stCondLst>
                            <p:childTnLst>
                              <p:par>
                                <p:cTn id="885" presetID="1" presetClass="entr" presetSubtype="0" fill="hold" nodeType="clickEffect">
                                  <p:stCondLst>
                                    <p:cond delay="0"/>
                                  </p:stCondLst>
                                  <p:childTnLst>
                                    <p:set>
                                      <p:cBhvr>
                                        <p:cTn id="886" dur="1" fill="hold">
                                          <p:stCondLst>
                                            <p:cond delay="0"/>
                                          </p:stCondLst>
                                        </p:cTn>
                                        <p:tgtEl>
                                          <p:spTgt spid="101">
                                            <p:txEl>
                                              <p:pRg st="4" end="4"/>
                                            </p:txEl>
                                          </p:spTgt>
                                        </p:tgtEl>
                                        <p:attrNameLst>
                                          <p:attrName>style.visibility</p:attrName>
                                        </p:attrNameLst>
                                      </p:cBhvr>
                                      <p:to>
                                        <p:strVal val="visible"/>
                                      </p:to>
                                    </p:set>
                                  </p:childTnLst>
                                </p:cTn>
                              </p:par>
                            </p:childTnLst>
                          </p:cTn>
                        </p:par>
                      </p:childTnLst>
                    </p:cTn>
                  </p:par>
                  <p:par>
                    <p:cTn id="887" fill="hold">
                      <p:stCondLst>
                        <p:cond delay="indefinite"/>
                      </p:stCondLst>
                      <p:childTnLst>
                        <p:par>
                          <p:cTn id="888" fill="hold">
                            <p:stCondLst>
                              <p:cond delay="0"/>
                            </p:stCondLst>
                            <p:childTnLst>
                              <p:par>
                                <p:cTn id="889" presetID="1" presetClass="entr" presetSubtype="0" fill="hold" nodeType="clickEffect">
                                  <p:stCondLst>
                                    <p:cond delay="0"/>
                                  </p:stCondLst>
                                  <p:childTnLst>
                                    <p:set>
                                      <p:cBhvr>
                                        <p:cTn id="890" dur="1" fill="hold">
                                          <p:stCondLst>
                                            <p:cond delay="0"/>
                                          </p:stCondLst>
                                        </p:cTn>
                                        <p:tgtEl>
                                          <p:spTgt spid="101">
                                            <p:txEl>
                                              <p:pRg st="5" end="5"/>
                                            </p:txEl>
                                          </p:spTgt>
                                        </p:tgtEl>
                                        <p:attrNameLst>
                                          <p:attrName>style.visibility</p:attrName>
                                        </p:attrNameLst>
                                      </p:cBhvr>
                                      <p:to>
                                        <p:strVal val="visible"/>
                                      </p:to>
                                    </p:set>
                                  </p:childTnLst>
                                </p:cTn>
                              </p:par>
                            </p:childTnLst>
                          </p:cTn>
                        </p:par>
                      </p:childTnLst>
                    </p:cTn>
                  </p:par>
                  <p:par>
                    <p:cTn id="891" fill="hold">
                      <p:stCondLst>
                        <p:cond delay="indefinite"/>
                      </p:stCondLst>
                      <p:childTnLst>
                        <p:par>
                          <p:cTn id="892" fill="hold">
                            <p:stCondLst>
                              <p:cond delay="0"/>
                            </p:stCondLst>
                            <p:childTnLst>
                              <p:par>
                                <p:cTn id="893" presetID="1" presetClass="entr" presetSubtype="0" fill="hold" nodeType="clickEffect">
                                  <p:stCondLst>
                                    <p:cond delay="0"/>
                                  </p:stCondLst>
                                  <p:childTnLst>
                                    <p:set>
                                      <p:cBhvr>
                                        <p:cTn id="894" dur="1" fill="hold">
                                          <p:stCondLst>
                                            <p:cond delay="0"/>
                                          </p:stCondLst>
                                        </p:cTn>
                                        <p:tgtEl>
                                          <p:spTgt spid="101">
                                            <p:txEl>
                                              <p:pRg st="6" end="6"/>
                                            </p:txEl>
                                          </p:spTgt>
                                        </p:tgtEl>
                                        <p:attrNameLst>
                                          <p:attrName>style.visibility</p:attrName>
                                        </p:attrNameLst>
                                      </p:cBhvr>
                                      <p:to>
                                        <p:strVal val="visible"/>
                                      </p:to>
                                    </p:set>
                                  </p:childTnLst>
                                </p:cTn>
                              </p:par>
                            </p:childTnLst>
                          </p:cTn>
                        </p:par>
                      </p:childTnLst>
                    </p:cTn>
                  </p:par>
                  <p:par>
                    <p:cTn id="895" fill="hold">
                      <p:stCondLst>
                        <p:cond delay="indefinite"/>
                      </p:stCondLst>
                      <p:childTnLst>
                        <p:par>
                          <p:cTn id="896" fill="hold">
                            <p:stCondLst>
                              <p:cond delay="0"/>
                            </p:stCondLst>
                            <p:childTnLst>
                              <p:par>
                                <p:cTn id="897" presetID="1" presetClass="entr" presetSubtype="0" fill="hold" nodeType="clickEffect">
                                  <p:stCondLst>
                                    <p:cond delay="0"/>
                                  </p:stCondLst>
                                  <p:childTnLst>
                                    <p:set>
                                      <p:cBhvr>
                                        <p:cTn id="898" dur="1" fill="hold">
                                          <p:stCondLst>
                                            <p:cond delay="0"/>
                                          </p:stCondLst>
                                        </p:cTn>
                                        <p:tgtEl>
                                          <p:spTgt spid="101">
                                            <p:txEl>
                                              <p:pRg st="7" end="7"/>
                                            </p:txEl>
                                          </p:spTgt>
                                        </p:tgtEl>
                                        <p:attrNameLst>
                                          <p:attrName>style.visibility</p:attrName>
                                        </p:attrNameLst>
                                      </p:cBhvr>
                                      <p:to>
                                        <p:strVal val="visible"/>
                                      </p:to>
                                    </p:set>
                                  </p:childTnLst>
                                </p:cTn>
                              </p:par>
                            </p:childTnLst>
                          </p:cTn>
                        </p:par>
                      </p:childTnLst>
                    </p:cTn>
                  </p:par>
                  <p:par>
                    <p:cTn id="899" fill="hold">
                      <p:stCondLst>
                        <p:cond delay="indefinite"/>
                      </p:stCondLst>
                      <p:childTnLst>
                        <p:par>
                          <p:cTn id="900" fill="hold">
                            <p:stCondLst>
                              <p:cond delay="0"/>
                            </p:stCondLst>
                            <p:childTnLst>
                              <p:par>
                                <p:cTn id="901" presetID="1" presetClass="entr" presetSubtype="0" fill="hold" nodeType="clickEffect">
                                  <p:stCondLst>
                                    <p:cond delay="0"/>
                                  </p:stCondLst>
                                  <p:childTnLst>
                                    <p:set>
                                      <p:cBhvr>
                                        <p:cTn id="902" dur="1" fill="hold">
                                          <p:stCondLst>
                                            <p:cond delay="0"/>
                                          </p:stCondLst>
                                        </p:cTn>
                                        <p:tgtEl>
                                          <p:spTgt spid="101">
                                            <p:txEl>
                                              <p:pRg st="8" end="8"/>
                                            </p:txEl>
                                          </p:spTgt>
                                        </p:tgtEl>
                                        <p:attrNameLst>
                                          <p:attrName>style.visibility</p:attrName>
                                        </p:attrNameLst>
                                      </p:cBhvr>
                                      <p:to>
                                        <p:strVal val="visible"/>
                                      </p:to>
                                    </p:set>
                                  </p:childTnLst>
                                </p:cTn>
                              </p:par>
                            </p:childTnLst>
                          </p:cTn>
                        </p:par>
                      </p:childTnLst>
                    </p:cTn>
                  </p:par>
                  <p:par>
                    <p:cTn id="903" fill="hold">
                      <p:stCondLst>
                        <p:cond delay="indefinite"/>
                      </p:stCondLst>
                      <p:childTnLst>
                        <p:par>
                          <p:cTn id="904" fill="hold">
                            <p:stCondLst>
                              <p:cond delay="0"/>
                            </p:stCondLst>
                            <p:childTnLst>
                              <p:par>
                                <p:cTn id="905" presetID="1" presetClass="entr" presetSubtype="0" fill="hold" nodeType="clickEffect">
                                  <p:stCondLst>
                                    <p:cond delay="0"/>
                                  </p:stCondLst>
                                  <p:childTnLst>
                                    <p:set>
                                      <p:cBhvr>
                                        <p:cTn id="906" dur="1" fill="hold">
                                          <p:stCondLst>
                                            <p:cond delay="0"/>
                                          </p:stCondLst>
                                        </p:cTn>
                                        <p:tgtEl>
                                          <p:spTgt spid="102">
                                            <p:txEl>
                                              <p:pRg st="0" end="0"/>
                                            </p:txEl>
                                          </p:spTgt>
                                        </p:tgtEl>
                                        <p:attrNameLst>
                                          <p:attrName>style.visibility</p:attrName>
                                        </p:attrNameLst>
                                      </p:cBhvr>
                                      <p:to>
                                        <p:strVal val="visible"/>
                                      </p:to>
                                    </p:set>
                                  </p:childTnLst>
                                </p:cTn>
                              </p:par>
                            </p:childTnLst>
                          </p:cTn>
                        </p:par>
                      </p:childTnLst>
                    </p:cTn>
                  </p:par>
                  <p:par>
                    <p:cTn id="907" fill="hold">
                      <p:stCondLst>
                        <p:cond delay="indefinite"/>
                      </p:stCondLst>
                      <p:childTnLst>
                        <p:par>
                          <p:cTn id="908" fill="hold">
                            <p:stCondLst>
                              <p:cond delay="0"/>
                            </p:stCondLst>
                            <p:childTnLst>
                              <p:par>
                                <p:cTn id="909" presetID="1" presetClass="entr" presetSubtype="0" fill="hold" nodeType="clickEffect">
                                  <p:stCondLst>
                                    <p:cond delay="0"/>
                                  </p:stCondLst>
                                  <p:childTnLst>
                                    <p:set>
                                      <p:cBhvr>
                                        <p:cTn id="910" dur="1" fill="hold">
                                          <p:stCondLst>
                                            <p:cond delay="0"/>
                                          </p:stCondLst>
                                        </p:cTn>
                                        <p:tgtEl>
                                          <p:spTgt spid="102">
                                            <p:txEl>
                                              <p:pRg st="1" end="1"/>
                                            </p:txEl>
                                          </p:spTgt>
                                        </p:tgtEl>
                                        <p:attrNameLst>
                                          <p:attrName>style.visibility</p:attrName>
                                        </p:attrNameLst>
                                      </p:cBhvr>
                                      <p:to>
                                        <p:strVal val="visible"/>
                                      </p:to>
                                    </p:set>
                                  </p:childTnLst>
                                </p:cTn>
                              </p:par>
                            </p:childTnLst>
                          </p:cTn>
                        </p:par>
                      </p:childTnLst>
                    </p:cTn>
                  </p:par>
                  <p:par>
                    <p:cTn id="911" fill="hold">
                      <p:stCondLst>
                        <p:cond delay="indefinite"/>
                      </p:stCondLst>
                      <p:childTnLst>
                        <p:par>
                          <p:cTn id="912" fill="hold">
                            <p:stCondLst>
                              <p:cond delay="0"/>
                            </p:stCondLst>
                            <p:childTnLst>
                              <p:par>
                                <p:cTn id="913" presetID="1" presetClass="entr" presetSubtype="0" fill="hold" nodeType="clickEffect">
                                  <p:stCondLst>
                                    <p:cond delay="0"/>
                                  </p:stCondLst>
                                  <p:childTnLst>
                                    <p:set>
                                      <p:cBhvr>
                                        <p:cTn id="914" dur="1" fill="hold">
                                          <p:stCondLst>
                                            <p:cond delay="0"/>
                                          </p:stCondLst>
                                        </p:cTn>
                                        <p:tgtEl>
                                          <p:spTgt spid="102">
                                            <p:txEl>
                                              <p:pRg st="2" end="2"/>
                                            </p:txEl>
                                          </p:spTgt>
                                        </p:tgtEl>
                                        <p:attrNameLst>
                                          <p:attrName>style.visibility</p:attrName>
                                        </p:attrNameLst>
                                      </p:cBhvr>
                                      <p:to>
                                        <p:strVal val="visible"/>
                                      </p:to>
                                    </p:set>
                                  </p:childTnLst>
                                </p:cTn>
                              </p:par>
                            </p:childTnLst>
                          </p:cTn>
                        </p:par>
                      </p:childTnLst>
                    </p:cTn>
                  </p:par>
                  <p:par>
                    <p:cTn id="915" fill="hold">
                      <p:stCondLst>
                        <p:cond delay="indefinite"/>
                      </p:stCondLst>
                      <p:childTnLst>
                        <p:par>
                          <p:cTn id="916" fill="hold">
                            <p:stCondLst>
                              <p:cond delay="0"/>
                            </p:stCondLst>
                            <p:childTnLst>
                              <p:par>
                                <p:cTn id="917" presetID="1" presetClass="entr" presetSubtype="0" fill="hold" nodeType="clickEffect">
                                  <p:stCondLst>
                                    <p:cond delay="0"/>
                                  </p:stCondLst>
                                  <p:childTnLst>
                                    <p:set>
                                      <p:cBhvr>
                                        <p:cTn id="918" dur="1" fill="hold">
                                          <p:stCondLst>
                                            <p:cond delay="0"/>
                                          </p:stCondLst>
                                        </p:cTn>
                                        <p:tgtEl>
                                          <p:spTgt spid="102">
                                            <p:txEl>
                                              <p:pRg st="3" end="3"/>
                                            </p:txEl>
                                          </p:spTgt>
                                        </p:tgtEl>
                                        <p:attrNameLst>
                                          <p:attrName>style.visibility</p:attrName>
                                        </p:attrNameLst>
                                      </p:cBhvr>
                                      <p:to>
                                        <p:strVal val="visible"/>
                                      </p:to>
                                    </p:set>
                                  </p:childTnLst>
                                </p:cTn>
                              </p:par>
                            </p:childTnLst>
                          </p:cTn>
                        </p:par>
                      </p:childTnLst>
                    </p:cTn>
                  </p:par>
                  <p:par>
                    <p:cTn id="919" fill="hold">
                      <p:stCondLst>
                        <p:cond delay="indefinite"/>
                      </p:stCondLst>
                      <p:childTnLst>
                        <p:par>
                          <p:cTn id="920" fill="hold">
                            <p:stCondLst>
                              <p:cond delay="0"/>
                            </p:stCondLst>
                            <p:childTnLst>
                              <p:par>
                                <p:cTn id="921" presetID="1" presetClass="entr" presetSubtype="0" fill="hold" nodeType="clickEffect">
                                  <p:stCondLst>
                                    <p:cond delay="0"/>
                                  </p:stCondLst>
                                  <p:childTnLst>
                                    <p:set>
                                      <p:cBhvr>
                                        <p:cTn id="922" dur="1" fill="hold">
                                          <p:stCondLst>
                                            <p:cond delay="0"/>
                                          </p:stCondLst>
                                        </p:cTn>
                                        <p:tgtEl>
                                          <p:spTgt spid="102">
                                            <p:txEl>
                                              <p:pRg st="4" end="4"/>
                                            </p:txEl>
                                          </p:spTgt>
                                        </p:tgtEl>
                                        <p:attrNameLst>
                                          <p:attrName>style.visibility</p:attrName>
                                        </p:attrNameLst>
                                      </p:cBhvr>
                                      <p:to>
                                        <p:strVal val="visible"/>
                                      </p:to>
                                    </p:set>
                                  </p:childTnLst>
                                </p:cTn>
                              </p:par>
                            </p:childTnLst>
                          </p:cTn>
                        </p:par>
                      </p:childTnLst>
                    </p:cTn>
                  </p:par>
                  <p:par>
                    <p:cTn id="923" fill="hold">
                      <p:stCondLst>
                        <p:cond delay="indefinite"/>
                      </p:stCondLst>
                      <p:childTnLst>
                        <p:par>
                          <p:cTn id="924" fill="hold">
                            <p:stCondLst>
                              <p:cond delay="0"/>
                            </p:stCondLst>
                            <p:childTnLst>
                              <p:par>
                                <p:cTn id="925" presetID="1" presetClass="entr" presetSubtype="0" fill="hold" nodeType="clickEffect">
                                  <p:stCondLst>
                                    <p:cond delay="0"/>
                                  </p:stCondLst>
                                  <p:childTnLst>
                                    <p:set>
                                      <p:cBhvr>
                                        <p:cTn id="926" dur="1" fill="hold">
                                          <p:stCondLst>
                                            <p:cond delay="0"/>
                                          </p:stCondLst>
                                        </p:cTn>
                                        <p:tgtEl>
                                          <p:spTgt spid="102">
                                            <p:txEl>
                                              <p:pRg st="5" end="5"/>
                                            </p:txEl>
                                          </p:spTgt>
                                        </p:tgtEl>
                                        <p:attrNameLst>
                                          <p:attrName>style.visibility</p:attrName>
                                        </p:attrNameLst>
                                      </p:cBhvr>
                                      <p:to>
                                        <p:strVal val="visible"/>
                                      </p:to>
                                    </p:set>
                                  </p:childTnLst>
                                </p:cTn>
                              </p:par>
                            </p:childTnLst>
                          </p:cTn>
                        </p:par>
                      </p:childTnLst>
                    </p:cTn>
                  </p:par>
                  <p:par>
                    <p:cTn id="927" fill="hold">
                      <p:stCondLst>
                        <p:cond delay="indefinite"/>
                      </p:stCondLst>
                      <p:childTnLst>
                        <p:par>
                          <p:cTn id="928" fill="hold">
                            <p:stCondLst>
                              <p:cond delay="0"/>
                            </p:stCondLst>
                            <p:childTnLst>
                              <p:par>
                                <p:cTn id="929" presetID="1" presetClass="entr" presetSubtype="0" fill="hold" nodeType="clickEffect">
                                  <p:stCondLst>
                                    <p:cond delay="0"/>
                                  </p:stCondLst>
                                  <p:childTnLst>
                                    <p:set>
                                      <p:cBhvr>
                                        <p:cTn id="930" dur="1" fill="hold">
                                          <p:stCondLst>
                                            <p:cond delay="0"/>
                                          </p:stCondLst>
                                        </p:cTn>
                                        <p:tgtEl>
                                          <p:spTgt spid="102">
                                            <p:txEl>
                                              <p:pRg st="6" end="6"/>
                                            </p:txEl>
                                          </p:spTgt>
                                        </p:tgtEl>
                                        <p:attrNameLst>
                                          <p:attrName>style.visibility</p:attrName>
                                        </p:attrNameLst>
                                      </p:cBhvr>
                                      <p:to>
                                        <p:strVal val="visible"/>
                                      </p:to>
                                    </p:set>
                                  </p:childTnLst>
                                </p:cTn>
                              </p:par>
                            </p:childTnLst>
                          </p:cTn>
                        </p:par>
                      </p:childTnLst>
                    </p:cTn>
                  </p:par>
                  <p:par>
                    <p:cTn id="931" fill="hold">
                      <p:stCondLst>
                        <p:cond delay="indefinite"/>
                      </p:stCondLst>
                      <p:childTnLst>
                        <p:par>
                          <p:cTn id="932" fill="hold">
                            <p:stCondLst>
                              <p:cond delay="0"/>
                            </p:stCondLst>
                            <p:childTnLst>
                              <p:par>
                                <p:cTn id="933" presetID="1" presetClass="entr" presetSubtype="0" fill="hold" nodeType="clickEffect">
                                  <p:stCondLst>
                                    <p:cond delay="0"/>
                                  </p:stCondLst>
                                  <p:childTnLst>
                                    <p:set>
                                      <p:cBhvr>
                                        <p:cTn id="934" dur="1" fill="hold">
                                          <p:stCondLst>
                                            <p:cond delay="0"/>
                                          </p:stCondLst>
                                        </p:cTn>
                                        <p:tgtEl>
                                          <p:spTgt spid="102">
                                            <p:txEl>
                                              <p:pRg st="7" end="7"/>
                                            </p:txEl>
                                          </p:spTgt>
                                        </p:tgtEl>
                                        <p:attrNameLst>
                                          <p:attrName>style.visibility</p:attrName>
                                        </p:attrNameLst>
                                      </p:cBhvr>
                                      <p:to>
                                        <p:strVal val="visible"/>
                                      </p:to>
                                    </p:set>
                                  </p:childTnLst>
                                </p:cTn>
                              </p:par>
                            </p:childTnLst>
                          </p:cTn>
                        </p:par>
                      </p:childTnLst>
                    </p:cTn>
                  </p:par>
                  <p:par>
                    <p:cTn id="935" fill="hold">
                      <p:stCondLst>
                        <p:cond delay="indefinite"/>
                      </p:stCondLst>
                      <p:childTnLst>
                        <p:par>
                          <p:cTn id="936" fill="hold">
                            <p:stCondLst>
                              <p:cond delay="0"/>
                            </p:stCondLst>
                            <p:childTnLst>
                              <p:par>
                                <p:cTn id="937" presetID="1" presetClass="entr" presetSubtype="0" fill="hold" nodeType="clickEffect">
                                  <p:stCondLst>
                                    <p:cond delay="0"/>
                                  </p:stCondLst>
                                  <p:childTnLst>
                                    <p:set>
                                      <p:cBhvr>
                                        <p:cTn id="938" dur="1" fill="hold">
                                          <p:stCondLst>
                                            <p:cond delay="0"/>
                                          </p:stCondLst>
                                        </p:cTn>
                                        <p:tgtEl>
                                          <p:spTgt spid="102">
                                            <p:txEl>
                                              <p:pRg st="8" end="8"/>
                                            </p:txEl>
                                          </p:spTgt>
                                        </p:tgtEl>
                                        <p:attrNameLst>
                                          <p:attrName>style.visibility</p:attrName>
                                        </p:attrNameLst>
                                      </p:cBhvr>
                                      <p:to>
                                        <p:strVal val="visible"/>
                                      </p:to>
                                    </p:set>
                                  </p:childTnLst>
                                </p:cTn>
                              </p:par>
                            </p:childTnLst>
                          </p:cTn>
                        </p:par>
                      </p:childTnLst>
                    </p:cTn>
                  </p:par>
                  <p:par>
                    <p:cTn id="939" fill="hold">
                      <p:stCondLst>
                        <p:cond delay="indefinite"/>
                      </p:stCondLst>
                      <p:childTnLst>
                        <p:par>
                          <p:cTn id="940" fill="hold">
                            <p:stCondLst>
                              <p:cond delay="0"/>
                            </p:stCondLst>
                            <p:childTnLst>
                              <p:par>
                                <p:cTn id="941" presetID="1" presetClass="entr" presetSubtype="0" fill="hold" nodeType="clickEffect">
                                  <p:stCondLst>
                                    <p:cond delay="0"/>
                                  </p:stCondLst>
                                  <p:childTnLst>
                                    <p:set>
                                      <p:cBhvr>
                                        <p:cTn id="942" dur="1" fill="hold">
                                          <p:stCondLst>
                                            <p:cond delay="0"/>
                                          </p:stCondLst>
                                        </p:cTn>
                                        <p:tgtEl>
                                          <p:spTgt spid="103">
                                            <p:txEl>
                                              <p:pRg st="0" end="0"/>
                                            </p:txEl>
                                          </p:spTgt>
                                        </p:tgtEl>
                                        <p:attrNameLst>
                                          <p:attrName>style.visibility</p:attrName>
                                        </p:attrNameLst>
                                      </p:cBhvr>
                                      <p:to>
                                        <p:strVal val="visible"/>
                                      </p:to>
                                    </p:set>
                                  </p:childTnLst>
                                </p:cTn>
                              </p:par>
                            </p:childTnLst>
                          </p:cTn>
                        </p:par>
                      </p:childTnLst>
                    </p:cTn>
                  </p:par>
                  <p:par>
                    <p:cTn id="943" fill="hold">
                      <p:stCondLst>
                        <p:cond delay="indefinite"/>
                      </p:stCondLst>
                      <p:childTnLst>
                        <p:par>
                          <p:cTn id="944" fill="hold">
                            <p:stCondLst>
                              <p:cond delay="0"/>
                            </p:stCondLst>
                            <p:childTnLst>
                              <p:par>
                                <p:cTn id="945" presetID="1" presetClass="entr" presetSubtype="0" fill="hold" nodeType="clickEffect">
                                  <p:stCondLst>
                                    <p:cond delay="0"/>
                                  </p:stCondLst>
                                  <p:childTnLst>
                                    <p:set>
                                      <p:cBhvr>
                                        <p:cTn id="946" dur="1" fill="hold">
                                          <p:stCondLst>
                                            <p:cond delay="0"/>
                                          </p:stCondLst>
                                        </p:cTn>
                                        <p:tgtEl>
                                          <p:spTgt spid="103">
                                            <p:txEl>
                                              <p:pRg st="1" end="1"/>
                                            </p:txEl>
                                          </p:spTgt>
                                        </p:tgtEl>
                                        <p:attrNameLst>
                                          <p:attrName>style.visibility</p:attrName>
                                        </p:attrNameLst>
                                      </p:cBhvr>
                                      <p:to>
                                        <p:strVal val="visible"/>
                                      </p:to>
                                    </p:set>
                                  </p:childTnLst>
                                </p:cTn>
                              </p:par>
                            </p:childTnLst>
                          </p:cTn>
                        </p:par>
                      </p:childTnLst>
                    </p:cTn>
                  </p:par>
                  <p:par>
                    <p:cTn id="947" fill="hold">
                      <p:stCondLst>
                        <p:cond delay="indefinite"/>
                      </p:stCondLst>
                      <p:childTnLst>
                        <p:par>
                          <p:cTn id="948" fill="hold">
                            <p:stCondLst>
                              <p:cond delay="0"/>
                            </p:stCondLst>
                            <p:childTnLst>
                              <p:par>
                                <p:cTn id="949" presetID="1" presetClass="entr" presetSubtype="0" fill="hold" nodeType="clickEffect">
                                  <p:stCondLst>
                                    <p:cond delay="0"/>
                                  </p:stCondLst>
                                  <p:childTnLst>
                                    <p:set>
                                      <p:cBhvr>
                                        <p:cTn id="950" dur="1" fill="hold">
                                          <p:stCondLst>
                                            <p:cond delay="0"/>
                                          </p:stCondLst>
                                        </p:cTn>
                                        <p:tgtEl>
                                          <p:spTgt spid="103">
                                            <p:txEl>
                                              <p:pRg st="2" end="2"/>
                                            </p:txEl>
                                          </p:spTgt>
                                        </p:tgtEl>
                                        <p:attrNameLst>
                                          <p:attrName>style.visibility</p:attrName>
                                        </p:attrNameLst>
                                      </p:cBhvr>
                                      <p:to>
                                        <p:strVal val="visible"/>
                                      </p:to>
                                    </p:set>
                                  </p:childTnLst>
                                </p:cTn>
                              </p:par>
                            </p:childTnLst>
                          </p:cTn>
                        </p:par>
                      </p:childTnLst>
                    </p:cTn>
                  </p:par>
                  <p:par>
                    <p:cTn id="951" fill="hold">
                      <p:stCondLst>
                        <p:cond delay="indefinite"/>
                      </p:stCondLst>
                      <p:childTnLst>
                        <p:par>
                          <p:cTn id="952" fill="hold">
                            <p:stCondLst>
                              <p:cond delay="0"/>
                            </p:stCondLst>
                            <p:childTnLst>
                              <p:par>
                                <p:cTn id="953" presetID="1" presetClass="entr" presetSubtype="0" fill="hold" nodeType="clickEffect">
                                  <p:stCondLst>
                                    <p:cond delay="0"/>
                                  </p:stCondLst>
                                  <p:childTnLst>
                                    <p:set>
                                      <p:cBhvr>
                                        <p:cTn id="954" dur="1" fill="hold">
                                          <p:stCondLst>
                                            <p:cond delay="0"/>
                                          </p:stCondLst>
                                        </p:cTn>
                                        <p:tgtEl>
                                          <p:spTgt spid="103">
                                            <p:txEl>
                                              <p:pRg st="3" end="3"/>
                                            </p:txEl>
                                          </p:spTgt>
                                        </p:tgtEl>
                                        <p:attrNameLst>
                                          <p:attrName>style.visibility</p:attrName>
                                        </p:attrNameLst>
                                      </p:cBhvr>
                                      <p:to>
                                        <p:strVal val="visible"/>
                                      </p:to>
                                    </p:set>
                                  </p:childTnLst>
                                </p:cTn>
                              </p:par>
                            </p:childTnLst>
                          </p:cTn>
                        </p:par>
                      </p:childTnLst>
                    </p:cTn>
                  </p:par>
                  <p:par>
                    <p:cTn id="955" fill="hold">
                      <p:stCondLst>
                        <p:cond delay="indefinite"/>
                      </p:stCondLst>
                      <p:childTnLst>
                        <p:par>
                          <p:cTn id="956" fill="hold">
                            <p:stCondLst>
                              <p:cond delay="0"/>
                            </p:stCondLst>
                            <p:childTnLst>
                              <p:par>
                                <p:cTn id="957" presetID="1" presetClass="entr" presetSubtype="0" fill="hold" nodeType="clickEffect">
                                  <p:stCondLst>
                                    <p:cond delay="0"/>
                                  </p:stCondLst>
                                  <p:childTnLst>
                                    <p:set>
                                      <p:cBhvr>
                                        <p:cTn id="958" dur="1" fill="hold">
                                          <p:stCondLst>
                                            <p:cond delay="0"/>
                                          </p:stCondLst>
                                        </p:cTn>
                                        <p:tgtEl>
                                          <p:spTgt spid="103">
                                            <p:txEl>
                                              <p:pRg st="4" end="4"/>
                                            </p:txEl>
                                          </p:spTgt>
                                        </p:tgtEl>
                                        <p:attrNameLst>
                                          <p:attrName>style.visibility</p:attrName>
                                        </p:attrNameLst>
                                      </p:cBhvr>
                                      <p:to>
                                        <p:strVal val="visible"/>
                                      </p:to>
                                    </p:set>
                                  </p:childTnLst>
                                </p:cTn>
                              </p:par>
                            </p:childTnLst>
                          </p:cTn>
                        </p:par>
                      </p:childTnLst>
                    </p:cTn>
                  </p:par>
                  <p:par>
                    <p:cTn id="959" fill="hold">
                      <p:stCondLst>
                        <p:cond delay="indefinite"/>
                      </p:stCondLst>
                      <p:childTnLst>
                        <p:par>
                          <p:cTn id="960" fill="hold">
                            <p:stCondLst>
                              <p:cond delay="0"/>
                            </p:stCondLst>
                            <p:childTnLst>
                              <p:par>
                                <p:cTn id="961" presetID="1" presetClass="entr" presetSubtype="0" fill="hold" nodeType="clickEffect">
                                  <p:stCondLst>
                                    <p:cond delay="0"/>
                                  </p:stCondLst>
                                  <p:childTnLst>
                                    <p:set>
                                      <p:cBhvr>
                                        <p:cTn id="962" dur="1" fill="hold">
                                          <p:stCondLst>
                                            <p:cond delay="0"/>
                                          </p:stCondLst>
                                        </p:cTn>
                                        <p:tgtEl>
                                          <p:spTgt spid="103">
                                            <p:txEl>
                                              <p:pRg st="5" end="5"/>
                                            </p:txEl>
                                          </p:spTgt>
                                        </p:tgtEl>
                                        <p:attrNameLst>
                                          <p:attrName>style.visibility</p:attrName>
                                        </p:attrNameLst>
                                      </p:cBhvr>
                                      <p:to>
                                        <p:strVal val="visible"/>
                                      </p:to>
                                    </p:set>
                                  </p:childTnLst>
                                </p:cTn>
                              </p:par>
                            </p:childTnLst>
                          </p:cTn>
                        </p:par>
                      </p:childTnLst>
                    </p:cTn>
                  </p:par>
                  <p:par>
                    <p:cTn id="963" fill="hold">
                      <p:stCondLst>
                        <p:cond delay="indefinite"/>
                      </p:stCondLst>
                      <p:childTnLst>
                        <p:par>
                          <p:cTn id="964" fill="hold">
                            <p:stCondLst>
                              <p:cond delay="0"/>
                            </p:stCondLst>
                            <p:childTnLst>
                              <p:par>
                                <p:cTn id="965" presetID="1" presetClass="entr" presetSubtype="0" fill="hold" nodeType="clickEffect">
                                  <p:stCondLst>
                                    <p:cond delay="0"/>
                                  </p:stCondLst>
                                  <p:childTnLst>
                                    <p:set>
                                      <p:cBhvr>
                                        <p:cTn id="966" dur="1" fill="hold">
                                          <p:stCondLst>
                                            <p:cond delay="0"/>
                                          </p:stCondLst>
                                        </p:cTn>
                                        <p:tgtEl>
                                          <p:spTgt spid="103">
                                            <p:txEl>
                                              <p:pRg st="6" end="6"/>
                                            </p:txEl>
                                          </p:spTgt>
                                        </p:tgtEl>
                                        <p:attrNameLst>
                                          <p:attrName>style.visibility</p:attrName>
                                        </p:attrNameLst>
                                      </p:cBhvr>
                                      <p:to>
                                        <p:strVal val="visible"/>
                                      </p:to>
                                    </p:set>
                                  </p:childTnLst>
                                </p:cTn>
                              </p:par>
                            </p:childTnLst>
                          </p:cTn>
                        </p:par>
                      </p:childTnLst>
                    </p:cTn>
                  </p:par>
                  <p:par>
                    <p:cTn id="967" fill="hold">
                      <p:stCondLst>
                        <p:cond delay="indefinite"/>
                      </p:stCondLst>
                      <p:childTnLst>
                        <p:par>
                          <p:cTn id="968" fill="hold">
                            <p:stCondLst>
                              <p:cond delay="0"/>
                            </p:stCondLst>
                            <p:childTnLst>
                              <p:par>
                                <p:cTn id="969" presetID="1" presetClass="entr" presetSubtype="0" fill="hold" nodeType="clickEffect">
                                  <p:stCondLst>
                                    <p:cond delay="0"/>
                                  </p:stCondLst>
                                  <p:childTnLst>
                                    <p:set>
                                      <p:cBhvr>
                                        <p:cTn id="970" dur="1" fill="hold">
                                          <p:stCondLst>
                                            <p:cond delay="0"/>
                                          </p:stCondLst>
                                        </p:cTn>
                                        <p:tgtEl>
                                          <p:spTgt spid="103">
                                            <p:txEl>
                                              <p:pRg st="7" end="7"/>
                                            </p:txEl>
                                          </p:spTgt>
                                        </p:tgtEl>
                                        <p:attrNameLst>
                                          <p:attrName>style.visibility</p:attrName>
                                        </p:attrNameLst>
                                      </p:cBhvr>
                                      <p:to>
                                        <p:strVal val="visible"/>
                                      </p:to>
                                    </p:set>
                                  </p:childTnLst>
                                </p:cTn>
                              </p:par>
                            </p:childTnLst>
                          </p:cTn>
                        </p:par>
                      </p:childTnLst>
                    </p:cTn>
                  </p:par>
                  <p:par>
                    <p:cTn id="971" fill="hold">
                      <p:stCondLst>
                        <p:cond delay="indefinite"/>
                      </p:stCondLst>
                      <p:childTnLst>
                        <p:par>
                          <p:cTn id="972" fill="hold">
                            <p:stCondLst>
                              <p:cond delay="0"/>
                            </p:stCondLst>
                            <p:childTnLst>
                              <p:par>
                                <p:cTn id="973" presetID="1" presetClass="entr" presetSubtype="0" fill="hold" nodeType="clickEffect">
                                  <p:stCondLst>
                                    <p:cond delay="0"/>
                                  </p:stCondLst>
                                  <p:childTnLst>
                                    <p:set>
                                      <p:cBhvr>
                                        <p:cTn id="974" dur="1" fill="hold">
                                          <p:stCondLst>
                                            <p:cond delay="0"/>
                                          </p:stCondLst>
                                        </p:cTn>
                                        <p:tgtEl>
                                          <p:spTgt spid="103">
                                            <p:txEl>
                                              <p:pRg st="8" end="8"/>
                                            </p:txEl>
                                          </p:spTgt>
                                        </p:tgtEl>
                                        <p:attrNameLst>
                                          <p:attrName>style.visibility</p:attrName>
                                        </p:attrNameLst>
                                      </p:cBhvr>
                                      <p:to>
                                        <p:strVal val="visible"/>
                                      </p:to>
                                    </p:set>
                                  </p:childTnLst>
                                </p:cTn>
                              </p:par>
                            </p:childTnLst>
                          </p:cTn>
                        </p:par>
                      </p:childTnLst>
                    </p:cTn>
                  </p:par>
                  <p:par>
                    <p:cTn id="975" fill="hold">
                      <p:stCondLst>
                        <p:cond delay="indefinite"/>
                      </p:stCondLst>
                      <p:childTnLst>
                        <p:par>
                          <p:cTn id="976" fill="hold">
                            <p:stCondLst>
                              <p:cond delay="0"/>
                            </p:stCondLst>
                            <p:childTnLst>
                              <p:par>
                                <p:cTn id="977" presetID="1" presetClass="entr" presetSubtype="0" fill="hold" nodeType="clickEffect">
                                  <p:stCondLst>
                                    <p:cond delay="0"/>
                                  </p:stCondLst>
                                  <p:childTnLst>
                                    <p:set>
                                      <p:cBhvr>
                                        <p:cTn id="978"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979" fill="hold">
                      <p:stCondLst>
                        <p:cond delay="indefinite"/>
                      </p:stCondLst>
                      <p:childTnLst>
                        <p:par>
                          <p:cTn id="980" fill="hold">
                            <p:stCondLst>
                              <p:cond delay="0"/>
                            </p:stCondLst>
                            <p:childTnLst>
                              <p:par>
                                <p:cTn id="981" presetID="1" presetClass="entr" presetSubtype="0" fill="hold" nodeType="clickEffect">
                                  <p:stCondLst>
                                    <p:cond delay="0"/>
                                  </p:stCondLst>
                                  <p:childTnLst>
                                    <p:set>
                                      <p:cBhvr>
                                        <p:cTn id="982" dur="1" fill="hold">
                                          <p:stCondLst>
                                            <p:cond delay="0"/>
                                          </p:stCondLst>
                                        </p:cTn>
                                        <p:tgtEl>
                                          <p:spTgt spid="104">
                                            <p:txEl>
                                              <p:pRg st="1" end="1"/>
                                            </p:txEl>
                                          </p:spTgt>
                                        </p:tgtEl>
                                        <p:attrNameLst>
                                          <p:attrName>style.visibility</p:attrName>
                                        </p:attrNameLst>
                                      </p:cBhvr>
                                      <p:to>
                                        <p:strVal val="visible"/>
                                      </p:to>
                                    </p:set>
                                  </p:childTnLst>
                                </p:cTn>
                              </p:par>
                            </p:childTnLst>
                          </p:cTn>
                        </p:par>
                      </p:childTnLst>
                    </p:cTn>
                  </p:par>
                  <p:par>
                    <p:cTn id="983" fill="hold">
                      <p:stCondLst>
                        <p:cond delay="indefinite"/>
                      </p:stCondLst>
                      <p:childTnLst>
                        <p:par>
                          <p:cTn id="984" fill="hold">
                            <p:stCondLst>
                              <p:cond delay="0"/>
                            </p:stCondLst>
                            <p:childTnLst>
                              <p:par>
                                <p:cTn id="985" presetID="1" presetClass="entr" presetSubtype="0" fill="hold" nodeType="clickEffect">
                                  <p:stCondLst>
                                    <p:cond delay="0"/>
                                  </p:stCondLst>
                                  <p:childTnLst>
                                    <p:set>
                                      <p:cBhvr>
                                        <p:cTn id="986" dur="1" fill="hold">
                                          <p:stCondLst>
                                            <p:cond delay="0"/>
                                          </p:stCondLst>
                                        </p:cTn>
                                        <p:tgtEl>
                                          <p:spTgt spid="104">
                                            <p:txEl>
                                              <p:pRg st="2" end="2"/>
                                            </p:txEl>
                                          </p:spTgt>
                                        </p:tgtEl>
                                        <p:attrNameLst>
                                          <p:attrName>style.visibility</p:attrName>
                                        </p:attrNameLst>
                                      </p:cBhvr>
                                      <p:to>
                                        <p:strVal val="visible"/>
                                      </p:to>
                                    </p:set>
                                  </p:childTnLst>
                                </p:cTn>
                              </p:par>
                            </p:childTnLst>
                          </p:cTn>
                        </p:par>
                      </p:childTnLst>
                    </p:cTn>
                  </p:par>
                  <p:par>
                    <p:cTn id="987" fill="hold">
                      <p:stCondLst>
                        <p:cond delay="indefinite"/>
                      </p:stCondLst>
                      <p:childTnLst>
                        <p:par>
                          <p:cTn id="988" fill="hold">
                            <p:stCondLst>
                              <p:cond delay="0"/>
                            </p:stCondLst>
                            <p:childTnLst>
                              <p:par>
                                <p:cTn id="989" presetID="1" presetClass="entr" presetSubtype="0" fill="hold" nodeType="clickEffect">
                                  <p:stCondLst>
                                    <p:cond delay="0"/>
                                  </p:stCondLst>
                                  <p:childTnLst>
                                    <p:set>
                                      <p:cBhvr>
                                        <p:cTn id="990" dur="1" fill="hold">
                                          <p:stCondLst>
                                            <p:cond delay="0"/>
                                          </p:stCondLst>
                                        </p:cTn>
                                        <p:tgtEl>
                                          <p:spTgt spid="104">
                                            <p:txEl>
                                              <p:pRg st="3" end="3"/>
                                            </p:txEl>
                                          </p:spTgt>
                                        </p:tgtEl>
                                        <p:attrNameLst>
                                          <p:attrName>style.visibility</p:attrName>
                                        </p:attrNameLst>
                                      </p:cBhvr>
                                      <p:to>
                                        <p:strVal val="visible"/>
                                      </p:to>
                                    </p:set>
                                  </p:childTnLst>
                                </p:cTn>
                              </p:par>
                            </p:childTnLst>
                          </p:cTn>
                        </p:par>
                      </p:childTnLst>
                    </p:cTn>
                  </p:par>
                  <p:par>
                    <p:cTn id="991" fill="hold">
                      <p:stCondLst>
                        <p:cond delay="indefinite"/>
                      </p:stCondLst>
                      <p:childTnLst>
                        <p:par>
                          <p:cTn id="992" fill="hold">
                            <p:stCondLst>
                              <p:cond delay="0"/>
                            </p:stCondLst>
                            <p:childTnLst>
                              <p:par>
                                <p:cTn id="993" presetID="1" presetClass="entr" presetSubtype="0" fill="hold" nodeType="clickEffect">
                                  <p:stCondLst>
                                    <p:cond delay="0"/>
                                  </p:stCondLst>
                                  <p:childTnLst>
                                    <p:set>
                                      <p:cBhvr>
                                        <p:cTn id="994" dur="1" fill="hold">
                                          <p:stCondLst>
                                            <p:cond delay="0"/>
                                          </p:stCondLst>
                                        </p:cTn>
                                        <p:tgtEl>
                                          <p:spTgt spid="104">
                                            <p:txEl>
                                              <p:pRg st="4" end="4"/>
                                            </p:txEl>
                                          </p:spTgt>
                                        </p:tgtEl>
                                        <p:attrNameLst>
                                          <p:attrName>style.visibility</p:attrName>
                                        </p:attrNameLst>
                                      </p:cBhvr>
                                      <p:to>
                                        <p:strVal val="visible"/>
                                      </p:to>
                                    </p:set>
                                  </p:childTnLst>
                                </p:cTn>
                              </p:par>
                            </p:childTnLst>
                          </p:cTn>
                        </p:par>
                      </p:childTnLst>
                    </p:cTn>
                  </p:par>
                  <p:par>
                    <p:cTn id="995" fill="hold">
                      <p:stCondLst>
                        <p:cond delay="indefinite"/>
                      </p:stCondLst>
                      <p:childTnLst>
                        <p:par>
                          <p:cTn id="996" fill="hold">
                            <p:stCondLst>
                              <p:cond delay="0"/>
                            </p:stCondLst>
                            <p:childTnLst>
                              <p:par>
                                <p:cTn id="997" presetID="1" presetClass="entr" presetSubtype="0" fill="hold" nodeType="clickEffect">
                                  <p:stCondLst>
                                    <p:cond delay="0"/>
                                  </p:stCondLst>
                                  <p:childTnLst>
                                    <p:set>
                                      <p:cBhvr>
                                        <p:cTn id="998" dur="1" fill="hold">
                                          <p:stCondLst>
                                            <p:cond delay="0"/>
                                          </p:stCondLst>
                                        </p:cTn>
                                        <p:tgtEl>
                                          <p:spTgt spid="104">
                                            <p:txEl>
                                              <p:pRg st="5" end="5"/>
                                            </p:txEl>
                                          </p:spTgt>
                                        </p:tgtEl>
                                        <p:attrNameLst>
                                          <p:attrName>style.visibility</p:attrName>
                                        </p:attrNameLst>
                                      </p:cBhvr>
                                      <p:to>
                                        <p:strVal val="visible"/>
                                      </p:to>
                                    </p:set>
                                  </p:childTnLst>
                                </p:cTn>
                              </p:par>
                            </p:childTnLst>
                          </p:cTn>
                        </p:par>
                      </p:childTnLst>
                    </p:cTn>
                  </p:par>
                  <p:par>
                    <p:cTn id="999" fill="hold">
                      <p:stCondLst>
                        <p:cond delay="indefinite"/>
                      </p:stCondLst>
                      <p:childTnLst>
                        <p:par>
                          <p:cTn id="1000" fill="hold">
                            <p:stCondLst>
                              <p:cond delay="0"/>
                            </p:stCondLst>
                            <p:childTnLst>
                              <p:par>
                                <p:cTn id="1001" presetID="1" presetClass="entr" presetSubtype="0" fill="hold" nodeType="clickEffect">
                                  <p:stCondLst>
                                    <p:cond delay="0"/>
                                  </p:stCondLst>
                                  <p:childTnLst>
                                    <p:set>
                                      <p:cBhvr>
                                        <p:cTn id="1002" dur="1" fill="hold">
                                          <p:stCondLst>
                                            <p:cond delay="0"/>
                                          </p:stCondLst>
                                        </p:cTn>
                                        <p:tgtEl>
                                          <p:spTgt spid="104">
                                            <p:txEl>
                                              <p:pRg st="6" end="6"/>
                                            </p:txEl>
                                          </p:spTgt>
                                        </p:tgtEl>
                                        <p:attrNameLst>
                                          <p:attrName>style.visibility</p:attrName>
                                        </p:attrNameLst>
                                      </p:cBhvr>
                                      <p:to>
                                        <p:strVal val="visible"/>
                                      </p:to>
                                    </p:set>
                                  </p:childTnLst>
                                </p:cTn>
                              </p:par>
                            </p:childTnLst>
                          </p:cTn>
                        </p:par>
                      </p:childTnLst>
                    </p:cTn>
                  </p:par>
                  <p:par>
                    <p:cTn id="1003" fill="hold">
                      <p:stCondLst>
                        <p:cond delay="indefinite"/>
                      </p:stCondLst>
                      <p:childTnLst>
                        <p:par>
                          <p:cTn id="1004" fill="hold">
                            <p:stCondLst>
                              <p:cond delay="0"/>
                            </p:stCondLst>
                            <p:childTnLst>
                              <p:par>
                                <p:cTn id="1005" presetID="1" presetClass="entr" presetSubtype="0" fill="hold" nodeType="clickEffect">
                                  <p:stCondLst>
                                    <p:cond delay="0"/>
                                  </p:stCondLst>
                                  <p:childTnLst>
                                    <p:set>
                                      <p:cBhvr>
                                        <p:cTn id="1006" dur="1" fill="hold">
                                          <p:stCondLst>
                                            <p:cond delay="0"/>
                                          </p:stCondLst>
                                        </p:cTn>
                                        <p:tgtEl>
                                          <p:spTgt spid="104">
                                            <p:txEl>
                                              <p:pRg st="7" end="7"/>
                                            </p:txEl>
                                          </p:spTgt>
                                        </p:tgtEl>
                                        <p:attrNameLst>
                                          <p:attrName>style.visibility</p:attrName>
                                        </p:attrNameLst>
                                      </p:cBhvr>
                                      <p:to>
                                        <p:strVal val="visible"/>
                                      </p:to>
                                    </p:set>
                                  </p:childTnLst>
                                </p:cTn>
                              </p:par>
                            </p:childTnLst>
                          </p:cTn>
                        </p:par>
                      </p:childTnLst>
                    </p:cTn>
                  </p:par>
                  <p:par>
                    <p:cTn id="1007" fill="hold">
                      <p:stCondLst>
                        <p:cond delay="indefinite"/>
                      </p:stCondLst>
                      <p:childTnLst>
                        <p:par>
                          <p:cTn id="1008" fill="hold">
                            <p:stCondLst>
                              <p:cond delay="0"/>
                            </p:stCondLst>
                            <p:childTnLst>
                              <p:par>
                                <p:cTn id="1009" presetID="1" presetClass="entr" presetSubtype="0" fill="hold" nodeType="clickEffect">
                                  <p:stCondLst>
                                    <p:cond delay="0"/>
                                  </p:stCondLst>
                                  <p:childTnLst>
                                    <p:set>
                                      <p:cBhvr>
                                        <p:cTn id="1010" dur="1" fill="hold">
                                          <p:stCondLst>
                                            <p:cond delay="0"/>
                                          </p:stCondLst>
                                        </p:cTn>
                                        <p:tgtEl>
                                          <p:spTgt spid="104">
                                            <p:txEl>
                                              <p:pRg st="8" end="8"/>
                                            </p:txEl>
                                          </p:spTgt>
                                        </p:tgtEl>
                                        <p:attrNameLst>
                                          <p:attrName>style.visibility</p:attrName>
                                        </p:attrNameLst>
                                      </p:cBhvr>
                                      <p:to>
                                        <p:strVal val="visible"/>
                                      </p:to>
                                    </p:set>
                                  </p:childTnLst>
                                </p:cTn>
                              </p:par>
                            </p:childTnLst>
                          </p:cTn>
                        </p:par>
                      </p:childTnLst>
                    </p:cTn>
                  </p:par>
                  <p:par>
                    <p:cTn id="1011" fill="hold">
                      <p:stCondLst>
                        <p:cond delay="indefinite"/>
                      </p:stCondLst>
                      <p:childTnLst>
                        <p:par>
                          <p:cTn id="1012" fill="hold">
                            <p:stCondLst>
                              <p:cond delay="0"/>
                            </p:stCondLst>
                            <p:childTnLst>
                              <p:par>
                                <p:cTn id="1013" presetID="1" presetClass="entr" presetSubtype="0" fill="hold" nodeType="clickEffect">
                                  <p:stCondLst>
                                    <p:cond delay="0"/>
                                  </p:stCondLst>
                                  <p:childTnLst>
                                    <p:set>
                                      <p:cBhvr>
                                        <p:cTn id="1014" dur="1" fill="hold">
                                          <p:stCondLst>
                                            <p:cond delay="0"/>
                                          </p:stCondLst>
                                        </p:cTn>
                                        <p:tgtEl>
                                          <p:spTgt spid="105">
                                            <p:txEl>
                                              <p:pRg st="0" end="0"/>
                                            </p:txEl>
                                          </p:spTgt>
                                        </p:tgtEl>
                                        <p:attrNameLst>
                                          <p:attrName>style.visibility</p:attrName>
                                        </p:attrNameLst>
                                      </p:cBhvr>
                                      <p:to>
                                        <p:strVal val="visible"/>
                                      </p:to>
                                    </p:set>
                                  </p:childTnLst>
                                </p:cTn>
                              </p:par>
                            </p:childTnLst>
                          </p:cTn>
                        </p:par>
                      </p:childTnLst>
                    </p:cTn>
                  </p:par>
                  <p:par>
                    <p:cTn id="1015" fill="hold">
                      <p:stCondLst>
                        <p:cond delay="indefinite"/>
                      </p:stCondLst>
                      <p:childTnLst>
                        <p:par>
                          <p:cTn id="1016" fill="hold">
                            <p:stCondLst>
                              <p:cond delay="0"/>
                            </p:stCondLst>
                            <p:childTnLst>
                              <p:par>
                                <p:cTn id="1017" presetID="1" presetClass="entr" presetSubtype="0" fill="hold" nodeType="clickEffect">
                                  <p:stCondLst>
                                    <p:cond delay="0"/>
                                  </p:stCondLst>
                                  <p:childTnLst>
                                    <p:set>
                                      <p:cBhvr>
                                        <p:cTn id="1018" dur="1" fill="hold">
                                          <p:stCondLst>
                                            <p:cond delay="0"/>
                                          </p:stCondLst>
                                        </p:cTn>
                                        <p:tgtEl>
                                          <p:spTgt spid="105">
                                            <p:txEl>
                                              <p:pRg st="1" end="1"/>
                                            </p:txEl>
                                          </p:spTgt>
                                        </p:tgtEl>
                                        <p:attrNameLst>
                                          <p:attrName>style.visibility</p:attrName>
                                        </p:attrNameLst>
                                      </p:cBhvr>
                                      <p:to>
                                        <p:strVal val="visible"/>
                                      </p:to>
                                    </p:set>
                                  </p:childTnLst>
                                </p:cTn>
                              </p:par>
                            </p:childTnLst>
                          </p:cTn>
                        </p:par>
                      </p:childTnLst>
                    </p:cTn>
                  </p:par>
                  <p:par>
                    <p:cTn id="1019" fill="hold">
                      <p:stCondLst>
                        <p:cond delay="indefinite"/>
                      </p:stCondLst>
                      <p:childTnLst>
                        <p:par>
                          <p:cTn id="1020" fill="hold">
                            <p:stCondLst>
                              <p:cond delay="0"/>
                            </p:stCondLst>
                            <p:childTnLst>
                              <p:par>
                                <p:cTn id="1021" presetID="1" presetClass="entr" presetSubtype="0" fill="hold" nodeType="clickEffect">
                                  <p:stCondLst>
                                    <p:cond delay="0"/>
                                  </p:stCondLst>
                                  <p:childTnLst>
                                    <p:set>
                                      <p:cBhvr>
                                        <p:cTn id="1022" dur="1" fill="hold">
                                          <p:stCondLst>
                                            <p:cond delay="0"/>
                                          </p:stCondLst>
                                        </p:cTn>
                                        <p:tgtEl>
                                          <p:spTgt spid="105">
                                            <p:txEl>
                                              <p:pRg st="2" end="2"/>
                                            </p:txEl>
                                          </p:spTgt>
                                        </p:tgtEl>
                                        <p:attrNameLst>
                                          <p:attrName>style.visibility</p:attrName>
                                        </p:attrNameLst>
                                      </p:cBhvr>
                                      <p:to>
                                        <p:strVal val="visible"/>
                                      </p:to>
                                    </p:set>
                                  </p:childTnLst>
                                </p:cTn>
                              </p:par>
                            </p:childTnLst>
                          </p:cTn>
                        </p:par>
                      </p:childTnLst>
                    </p:cTn>
                  </p:par>
                  <p:par>
                    <p:cTn id="1023" fill="hold">
                      <p:stCondLst>
                        <p:cond delay="indefinite"/>
                      </p:stCondLst>
                      <p:childTnLst>
                        <p:par>
                          <p:cTn id="1024" fill="hold">
                            <p:stCondLst>
                              <p:cond delay="0"/>
                            </p:stCondLst>
                            <p:childTnLst>
                              <p:par>
                                <p:cTn id="1025" presetID="1" presetClass="entr" presetSubtype="0" fill="hold" nodeType="clickEffect">
                                  <p:stCondLst>
                                    <p:cond delay="0"/>
                                  </p:stCondLst>
                                  <p:childTnLst>
                                    <p:set>
                                      <p:cBhvr>
                                        <p:cTn id="1026" dur="1" fill="hold">
                                          <p:stCondLst>
                                            <p:cond delay="0"/>
                                          </p:stCondLst>
                                        </p:cTn>
                                        <p:tgtEl>
                                          <p:spTgt spid="105">
                                            <p:txEl>
                                              <p:pRg st="3" end="3"/>
                                            </p:txEl>
                                          </p:spTgt>
                                        </p:tgtEl>
                                        <p:attrNameLst>
                                          <p:attrName>style.visibility</p:attrName>
                                        </p:attrNameLst>
                                      </p:cBhvr>
                                      <p:to>
                                        <p:strVal val="visible"/>
                                      </p:to>
                                    </p:set>
                                  </p:childTnLst>
                                </p:cTn>
                              </p:par>
                            </p:childTnLst>
                          </p:cTn>
                        </p:par>
                      </p:childTnLst>
                    </p:cTn>
                  </p:par>
                  <p:par>
                    <p:cTn id="1027" fill="hold">
                      <p:stCondLst>
                        <p:cond delay="indefinite"/>
                      </p:stCondLst>
                      <p:childTnLst>
                        <p:par>
                          <p:cTn id="1028" fill="hold">
                            <p:stCondLst>
                              <p:cond delay="0"/>
                            </p:stCondLst>
                            <p:childTnLst>
                              <p:par>
                                <p:cTn id="1029" presetID="1" presetClass="entr" presetSubtype="0" fill="hold" nodeType="clickEffect">
                                  <p:stCondLst>
                                    <p:cond delay="0"/>
                                  </p:stCondLst>
                                  <p:childTnLst>
                                    <p:set>
                                      <p:cBhvr>
                                        <p:cTn id="1030" dur="1" fill="hold">
                                          <p:stCondLst>
                                            <p:cond delay="0"/>
                                          </p:stCondLst>
                                        </p:cTn>
                                        <p:tgtEl>
                                          <p:spTgt spid="105">
                                            <p:txEl>
                                              <p:pRg st="4" end="4"/>
                                            </p:txEl>
                                          </p:spTgt>
                                        </p:tgtEl>
                                        <p:attrNameLst>
                                          <p:attrName>style.visibility</p:attrName>
                                        </p:attrNameLst>
                                      </p:cBhvr>
                                      <p:to>
                                        <p:strVal val="visible"/>
                                      </p:to>
                                    </p:set>
                                  </p:childTnLst>
                                </p:cTn>
                              </p:par>
                            </p:childTnLst>
                          </p:cTn>
                        </p:par>
                      </p:childTnLst>
                    </p:cTn>
                  </p:par>
                  <p:par>
                    <p:cTn id="1031" fill="hold">
                      <p:stCondLst>
                        <p:cond delay="indefinite"/>
                      </p:stCondLst>
                      <p:childTnLst>
                        <p:par>
                          <p:cTn id="1032" fill="hold">
                            <p:stCondLst>
                              <p:cond delay="0"/>
                            </p:stCondLst>
                            <p:childTnLst>
                              <p:par>
                                <p:cTn id="1033" presetID="1" presetClass="entr" presetSubtype="0" fill="hold" nodeType="clickEffect">
                                  <p:stCondLst>
                                    <p:cond delay="0"/>
                                  </p:stCondLst>
                                  <p:childTnLst>
                                    <p:set>
                                      <p:cBhvr>
                                        <p:cTn id="1034" dur="1" fill="hold">
                                          <p:stCondLst>
                                            <p:cond delay="0"/>
                                          </p:stCondLst>
                                        </p:cTn>
                                        <p:tgtEl>
                                          <p:spTgt spid="105">
                                            <p:txEl>
                                              <p:pRg st="5" end="5"/>
                                            </p:txEl>
                                          </p:spTgt>
                                        </p:tgtEl>
                                        <p:attrNameLst>
                                          <p:attrName>style.visibility</p:attrName>
                                        </p:attrNameLst>
                                      </p:cBhvr>
                                      <p:to>
                                        <p:strVal val="visible"/>
                                      </p:to>
                                    </p:set>
                                  </p:childTnLst>
                                </p:cTn>
                              </p:par>
                            </p:childTnLst>
                          </p:cTn>
                        </p:par>
                      </p:childTnLst>
                    </p:cTn>
                  </p:par>
                  <p:par>
                    <p:cTn id="1035" fill="hold">
                      <p:stCondLst>
                        <p:cond delay="indefinite"/>
                      </p:stCondLst>
                      <p:childTnLst>
                        <p:par>
                          <p:cTn id="1036" fill="hold">
                            <p:stCondLst>
                              <p:cond delay="0"/>
                            </p:stCondLst>
                            <p:childTnLst>
                              <p:par>
                                <p:cTn id="1037" presetID="1" presetClass="entr" presetSubtype="0" fill="hold" nodeType="clickEffect">
                                  <p:stCondLst>
                                    <p:cond delay="0"/>
                                  </p:stCondLst>
                                  <p:childTnLst>
                                    <p:set>
                                      <p:cBhvr>
                                        <p:cTn id="1038" dur="1" fill="hold">
                                          <p:stCondLst>
                                            <p:cond delay="0"/>
                                          </p:stCondLst>
                                        </p:cTn>
                                        <p:tgtEl>
                                          <p:spTgt spid="105">
                                            <p:txEl>
                                              <p:pRg st="6" end="6"/>
                                            </p:txEl>
                                          </p:spTgt>
                                        </p:tgtEl>
                                        <p:attrNameLst>
                                          <p:attrName>style.visibility</p:attrName>
                                        </p:attrNameLst>
                                      </p:cBhvr>
                                      <p:to>
                                        <p:strVal val="visible"/>
                                      </p:to>
                                    </p:set>
                                  </p:childTnLst>
                                </p:cTn>
                              </p:par>
                            </p:childTnLst>
                          </p:cTn>
                        </p:par>
                      </p:childTnLst>
                    </p:cTn>
                  </p:par>
                  <p:par>
                    <p:cTn id="1039" fill="hold">
                      <p:stCondLst>
                        <p:cond delay="indefinite"/>
                      </p:stCondLst>
                      <p:childTnLst>
                        <p:par>
                          <p:cTn id="1040" fill="hold">
                            <p:stCondLst>
                              <p:cond delay="0"/>
                            </p:stCondLst>
                            <p:childTnLst>
                              <p:par>
                                <p:cTn id="1041" presetID="1" presetClass="entr" presetSubtype="0" fill="hold" nodeType="clickEffect">
                                  <p:stCondLst>
                                    <p:cond delay="0"/>
                                  </p:stCondLst>
                                  <p:childTnLst>
                                    <p:set>
                                      <p:cBhvr>
                                        <p:cTn id="1042" dur="1" fill="hold">
                                          <p:stCondLst>
                                            <p:cond delay="0"/>
                                          </p:stCondLst>
                                        </p:cTn>
                                        <p:tgtEl>
                                          <p:spTgt spid="105">
                                            <p:txEl>
                                              <p:pRg st="7" end="7"/>
                                            </p:txEl>
                                          </p:spTgt>
                                        </p:tgtEl>
                                        <p:attrNameLst>
                                          <p:attrName>style.visibility</p:attrName>
                                        </p:attrNameLst>
                                      </p:cBhvr>
                                      <p:to>
                                        <p:strVal val="visible"/>
                                      </p:to>
                                    </p:set>
                                  </p:childTnLst>
                                </p:cTn>
                              </p:par>
                            </p:childTnLst>
                          </p:cTn>
                        </p:par>
                      </p:childTnLst>
                    </p:cTn>
                  </p:par>
                  <p:par>
                    <p:cTn id="1043" fill="hold">
                      <p:stCondLst>
                        <p:cond delay="indefinite"/>
                      </p:stCondLst>
                      <p:childTnLst>
                        <p:par>
                          <p:cTn id="1044" fill="hold">
                            <p:stCondLst>
                              <p:cond delay="0"/>
                            </p:stCondLst>
                            <p:childTnLst>
                              <p:par>
                                <p:cTn id="1045" presetID="1" presetClass="entr" presetSubtype="0" fill="hold" nodeType="clickEffect">
                                  <p:stCondLst>
                                    <p:cond delay="0"/>
                                  </p:stCondLst>
                                  <p:childTnLst>
                                    <p:set>
                                      <p:cBhvr>
                                        <p:cTn id="1046" dur="1" fill="hold">
                                          <p:stCondLst>
                                            <p:cond delay="0"/>
                                          </p:stCondLst>
                                        </p:cTn>
                                        <p:tgtEl>
                                          <p:spTgt spid="105">
                                            <p:txEl>
                                              <p:pRg st="8" end="8"/>
                                            </p:txEl>
                                          </p:spTgt>
                                        </p:tgtEl>
                                        <p:attrNameLst>
                                          <p:attrName>style.visibility</p:attrName>
                                        </p:attrNameLst>
                                      </p:cBhvr>
                                      <p:to>
                                        <p:strVal val="visible"/>
                                      </p:to>
                                    </p:set>
                                  </p:childTnLst>
                                </p:cTn>
                              </p:par>
                            </p:childTnLst>
                          </p:cTn>
                        </p:par>
                      </p:childTnLst>
                    </p:cTn>
                  </p:par>
                  <p:par>
                    <p:cTn id="1047" fill="hold">
                      <p:stCondLst>
                        <p:cond delay="indefinite"/>
                      </p:stCondLst>
                      <p:childTnLst>
                        <p:par>
                          <p:cTn id="1048" fill="hold">
                            <p:stCondLst>
                              <p:cond delay="0"/>
                            </p:stCondLst>
                            <p:childTnLst>
                              <p:par>
                                <p:cTn id="1049" presetID="1" presetClass="entr" presetSubtype="0" fill="hold" nodeType="clickEffect">
                                  <p:stCondLst>
                                    <p:cond delay="0"/>
                                  </p:stCondLst>
                                  <p:childTnLst>
                                    <p:set>
                                      <p:cBhvr>
                                        <p:cTn id="1050"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1051" fill="hold">
                      <p:stCondLst>
                        <p:cond delay="indefinite"/>
                      </p:stCondLst>
                      <p:childTnLst>
                        <p:par>
                          <p:cTn id="1052" fill="hold">
                            <p:stCondLst>
                              <p:cond delay="0"/>
                            </p:stCondLst>
                            <p:childTnLst>
                              <p:par>
                                <p:cTn id="1053" presetID="1" presetClass="entr" presetSubtype="0" fill="hold" nodeType="clickEffect">
                                  <p:stCondLst>
                                    <p:cond delay="0"/>
                                  </p:stCondLst>
                                  <p:childTnLst>
                                    <p:set>
                                      <p:cBhvr>
                                        <p:cTn id="1054" dur="1" fill="hold">
                                          <p:stCondLst>
                                            <p:cond delay="0"/>
                                          </p:stCondLst>
                                        </p:cTn>
                                        <p:tgtEl>
                                          <p:spTgt spid="106">
                                            <p:txEl>
                                              <p:pRg st="1" end="1"/>
                                            </p:txEl>
                                          </p:spTgt>
                                        </p:tgtEl>
                                        <p:attrNameLst>
                                          <p:attrName>style.visibility</p:attrName>
                                        </p:attrNameLst>
                                      </p:cBhvr>
                                      <p:to>
                                        <p:strVal val="visible"/>
                                      </p:to>
                                    </p:set>
                                  </p:childTnLst>
                                </p:cTn>
                              </p:par>
                            </p:childTnLst>
                          </p:cTn>
                        </p:par>
                      </p:childTnLst>
                    </p:cTn>
                  </p:par>
                  <p:par>
                    <p:cTn id="1055" fill="hold">
                      <p:stCondLst>
                        <p:cond delay="indefinite"/>
                      </p:stCondLst>
                      <p:childTnLst>
                        <p:par>
                          <p:cTn id="1056" fill="hold">
                            <p:stCondLst>
                              <p:cond delay="0"/>
                            </p:stCondLst>
                            <p:childTnLst>
                              <p:par>
                                <p:cTn id="1057" presetID="1" presetClass="entr" presetSubtype="0" fill="hold" nodeType="clickEffect">
                                  <p:stCondLst>
                                    <p:cond delay="0"/>
                                  </p:stCondLst>
                                  <p:childTnLst>
                                    <p:set>
                                      <p:cBhvr>
                                        <p:cTn id="1058" dur="1" fill="hold">
                                          <p:stCondLst>
                                            <p:cond delay="0"/>
                                          </p:stCondLst>
                                        </p:cTn>
                                        <p:tgtEl>
                                          <p:spTgt spid="106">
                                            <p:txEl>
                                              <p:pRg st="2" end="2"/>
                                            </p:txEl>
                                          </p:spTgt>
                                        </p:tgtEl>
                                        <p:attrNameLst>
                                          <p:attrName>style.visibility</p:attrName>
                                        </p:attrNameLst>
                                      </p:cBhvr>
                                      <p:to>
                                        <p:strVal val="visible"/>
                                      </p:to>
                                    </p:set>
                                  </p:childTnLst>
                                </p:cTn>
                              </p:par>
                            </p:childTnLst>
                          </p:cTn>
                        </p:par>
                      </p:childTnLst>
                    </p:cTn>
                  </p:par>
                  <p:par>
                    <p:cTn id="1059" fill="hold">
                      <p:stCondLst>
                        <p:cond delay="indefinite"/>
                      </p:stCondLst>
                      <p:childTnLst>
                        <p:par>
                          <p:cTn id="1060" fill="hold">
                            <p:stCondLst>
                              <p:cond delay="0"/>
                            </p:stCondLst>
                            <p:childTnLst>
                              <p:par>
                                <p:cTn id="1061" presetID="1" presetClass="entr" presetSubtype="0" fill="hold" nodeType="clickEffect">
                                  <p:stCondLst>
                                    <p:cond delay="0"/>
                                  </p:stCondLst>
                                  <p:childTnLst>
                                    <p:set>
                                      <p:cBhvr>
                                        <p:cTn id="1062" dur="1" fill="hold">
                                          <p:stCondLst>
                                            <p:cond delay="0"/>
                                          </p:stCondLst>
                                        </p:cTn>
                                        <p:tgtEl>
                                          <p:spTgt spid="106">
                                            <p:txEl>
                                              <p:pRg st="3" end="3"/>
                                            </p:txEl>
                                          </p:spTgt>
                                        </p:tgtEl>
                                        <p:attrNameLst>
                                          <p:attrName>style.visibility</p:attrName>
                                        </p:attrNameLst>
                                      </p:cBhvr>
                                      <p:to>
                                        <p:strVal val="visible"/>
                                      </p:to>
                                    </p:set>
                                  </p:childTnLst>
                                </p:cTn>
                              </p:par>
                            </p:childTnLst>
                          </p:cTn>
                        </p:par>
                      </p:childTnLst>
                    </p:cTn>
                  </p:par>
                  <p:par>
                    <p:cTn id="1063" fill="hold">
                      <p:stCondLst>
                        <p:cond delay="indefinite"/>
                      </p:stCondLst>
                      <p:childTnLst>
                        <p:par>
                          <p:cTn id="1064" fill="hold">
                            <p:stCondLst>
                              <p:cond delay="0"/>
                            </p:stCondLst>
                            <p:childTnLst>
                              <p:par>
                                <p:cTn id="1065" presetID="1" presetClass="entr" presetSubtype="0" fill="hold" nodeType="clickEffect">
                                  <p:stCondLst>
                                    <p:cond delay="0"/>
                                  </p:stCondLst>
                                  <p:childTnLst>
                                    <p:set>
                                      <p:cBhvr>
                                        <p:cTn id="1066" dur="1" fill="hold">
                                          <p:stCondLst>
                                            <p:cond delay="0"/>
                                          </p:stCondLst>
                                        </p:cTn>
                                        <p:tgtEl>
                                          <p:spTgt spid="106">
                                            <p:txEl>
                                              <p:pRg st="4" end="4"/>
                                            </p:txEl>
                                          </p:spTgt>
                                        </p:tgtEl>
                                        <p:attrNameLst>
                                          <p:attrName>style.visibility</p:attrName>
                                        </p:attrNameLst>
                                      </p:cBhvr>
                                      <p:to>
                                        <p:strVal val="visible"/>
                                      </p:to>
                                    </p:set>
                                  </p:childTnLst>
                                </p:cTn>
                              </p:par>
                            </p:childTnLst>
                          </p:cTn>
                        </p:par>
                      </p:childTnLst>
                    </p:cTn>
                  </p:par>
                  <p:par>
                    <p:cTn id="1067" fill="hold">
                      <p:stCondLst>
                        <p:cond delay="indefinite"/>
                      </p:stCondLst>
                      <p:childTnLst>
                        <p:par>
                          <p:cTn id="1068" fill="hold">
                            <p:stCondLst>
                              <p:cond delay="0"/>
                            </p:stCondLst>
                            <p:childTnLst>
                              <p:par>
                                <p:cTn id="1069" presetID="1" presetClass="entr" presetSubtype="0" fill="hold" nodeType="clickEffect">
                                  <p:stCondLst>
                                    <p:cond delay="0"/>
                                  </p:stCondLst>
                                  <p:childTnLst>
                                    <p:set>
                                      <p:cBhvr>
                                        <p:cTn id="1070" dur="1" fill="hold">
                                          <p:stCondLst>
                                            <p:cond delay="0"/>
                                          </p:stCondLst>
                                        </p:cTn>
                                        <p:tgtEl>
                                          <p:spTgt spid="106">
                                            <p:txEl>
                                              <p:pRg st="5" end="5"/>
                                            </p:txEl>
                                          </p:spTgt>
                                        </p:tgtEl>
                                        <p:attrNameLst>
                                          <p:attrName>style.visibility</p:attrName>
                                        </p:attrNameLst>
                                      </p:cBhvr>
                                      <p:to>
                                        <p:strVal val="visible"/>
                                      </p:to>
                                    </p:set>
                                  </p:childTnLst>
                                </p:cTn>
                              </p:par>
                            </p:childTnLst>
                          </p:cTn>
                        </p:par>
                      </p:childTnLst>
                    </p:cTn>
                  </p:par>
                  <p:par>
                    <p:cTn id="1071" fill="hold">
                      <p:stCondLst>
                        <p:cond delay="indefinite"/>
                      </p:stCondLst>
                      <p:childTnLst>
                        <p:par>
                          <p:cTn id="1072" fill="hold">
                            <p:stCondLst>
                              <p:cond delay="0"/>
                            </p:stCondLst>
                            <p:childTnLst>
                              <p:par>
                                <p:cTn id="1073" presetID="1" presetClass="entr" presetSubtype="0" fill="hold" nodeType="clickEffect">
                                  <p:stCondLst>
                                    <p:cond delay="0"/>
                                  </p:stCondLst>
                                  <p:childTnLst>
                                    <p:set>
                                      <p:cBhvr>
                                        <p:cTn id="1074" dur="1" fill="hold">
                                          <p:stCondLst>
                                            <p:cond delay="0"/>
                                          </p:stCondLst>
                                        </p:cTn>
                                        <p:tgtEl>
                                          <p:spTgt spid="106">
                                            <p:txEl>
                                              <p:pRg st="6" end="6"/>
                                            </p:txEl>
                                          </p:spTgt>
                                        </p:tgtEl>
                                        <p:attrNameLst>
                                          <p:attrName>style.visibility</p:attrName>
                                        </p:attrNameLst>
                                      </p:cBhvr>
                                      <p:to>
                                        <p:strVal val="visible"/>
                                      </p:to>
                                    </p:set>
                                  </p:childTnLst>
                                </p:cTn>
                              </p:par>
                            </p:childTnLst>
                          </p:cTn>
                        </p:par>
                      </p:childTnLst>
                    </p:cTn>
                  </p:par>
                  <p:par>
                    <p:cTn id="1075" fill="hold">
                      <p:stCondLst>
                        <p:cond delay="indefinite"/>
                      </p:stCondLst>
                      <p:childTnLst>
                        <p:par>
                          <p:cTn id="1076" fill="hold">
                            <p:stCondLst>
                              <p:cond delay="0"/>
                            </p:stCondLst>
                            <p:childTnLst>
                              <p:par>
                                <p:cTn id="1077" presetID="1" presetClass="entr" presetSubtype="0" fill="hold" nodeType="clickEffect">
                                  <p:stCondLst>
                                    <p:cond delay="0"/>
                                  </p:stCondLst>
                                  <p:childTnLst>
                                    <p:set>
                                      <p:cBhvr>
                                        <p:cTn id="1078" dur="1" fill="hold">
                                          <p:stCondLst>
                                            <p:cond delay="0"/>
                                          </p:stCondLst>
                                        </p:cTn>
                                        <p:tgtEl>
                                          <p:spTgt spid="106">
                                            <p:txEl>
                                              <p:pRg st="7" end="7"/>
                                            </p:txEl>
                                          </p:spTgt>
                                        </p:tgtEl>
                                        <p:attrNameLst>
                                          <p:attrName>style.visibility</p:attrName>
                                        </p:attrNameLst>
                                      </p:cBhvr>
                                      <p:to>
                                        <p:strVal val="visible"/>
                                      </p:to>
                                    </p:set>
                                  </p:childTnLst>
                                </p:cTn>
                              </p:par>
                            </p:childTnLst>
                          </p:cTn>
                        </p:par>
                      </p:childTnLst>
                    </p:cTn>
                  </p:par>
                  <p:par>
                    <p:cTn id="1079" fill="hold">
                      <p:stCondLst>
                        <p:cond delay="indefinite"/>
                      </p:stCondLst>
                      <p:childTnLst>
                        <p:par>
                          <p:cTn id="1080" fill="hold">
                            <p:stCondLst>
                              <p:cond delay="0"/>
                            </p:stCondLst>
                            <p:childTnLst>
                              <p:par>
                                <p:cTn id="1081" presetID="1" presetClass="entr" presetSubtype="0" fill="hold" nodeType="clickEffect">
                                  <p:stCondLst>
                                    <p:cond delay="0"/>
                                  </p:stCondLst>
                                  <p:childTnLst>
                                    <p:set>
                                      <p:cBhvr>
                                        <p:cTn id="1082" dur="1" fill="hold">
                                          <p:stCondLst>
                                            <p:cond delay="0"/>
                                          </p:stCondLst>
                                        </p:cTn>
                                        <p:tgtEl>
                                          <p:spTgt spid="106">
                                            <p:txEl>
                                              <p:pRg st="8" end="8"/>
                                            </p:txEl>
                                          </p:spTgt>
                                        </p:tgtEl>
                                        <p:attrNameLst>
                                          <p:attrName>style.visibility</p:attrName>
                                        </p:attrNameLst>
                                      </p:cBhvr>
                                      <p:to>
                                        <p:strVal val="visible"/>
                                      </p:to>
                                    </p:set>
                                  </p:childTnLst>
                                </p:cTn>
                              </p:par>
                            </p:childTnLst>
                          </p:cTn>
                        </p:par>
                      </p:childTnLst>
                    </p:cTn>
                  </p:par>
                  <p:par>
                    <p:cTn id="1083" fill="hold">
                      <p:stCondLst>
                        <p:cond delay="indefinite"/>
                      </p:stCondLst>
                      <p:childTnLst>
                        <p:par>
                          <p:cTn id="1084" fill="hold">
                            <p:stCondLst>
                              <p:cond delay="0"/>
                            </p:stCondLst>
                            <p:childTnLst>
                              <p:par>
                                <p:cTn id="1085" presetID="1" presetClass="entr" presetSubtype="0" fill="hold" nodeType="clickEffect">
                                  <p:stCondLst>
                                    <p:cond delay="0"/>
                                  </p:stCondLst>
                                  <p:childTnLst>
                                    <p:set>
                                      <p:cBhvr>
                                        <p:cTn id="1086"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1087" fill="hold">
                      <p:stCondLst>
                        <p:cond delay="indefinite"/>
                      </p:stCondLst>
                      <p:childTnLst>
                        <p:par>
                          <p:cTn id="1088" fill="hold">
                            <p:stCondLst>
                              <p:cond delay="0"/>
                            </p:stCondLst>
                            <p:childTnLst>
                              <p:par>
                                <p:cTn id="1089" presetID="1" presetClass="entr" presetSubtype="0" fill="hold" nodeType="clickEffect">
                                  <p:stCondLst>
                                    <p:cond delay="0"/>
                                  </p:stCondLst>
                                  <p:childTnLst>
                                    <p:set>
                                      <p:cBhvr>
                                        <p:cTn id="1090" dur="1" fill="hold">
                                          <p:stCondLst>
                                            <p:cond delay="0"/>
                                          </p:stCondLst>
                                        </p:cTn>
                                        <p:tgtEl>
                                          <p:spTgt spid="107">
                                            <p:txEl>
                                              <p:pRg st="1" end="1"/>
                                            </p:txEl>
                                          </p:spTgt>
                                        </p:tgtEl>
                                        <p:attrNameLst>
                                          <p:attrName>style.visibility</p:attrName>
                                        </p:attrNameLst>
                                      </p:cBhvr>
                                      <p:to>
                                        <p:strVal val="visible"/>
                                      </p:to>
                                    </p:set>
                                  </p:childTnLst>
                                </p:cTn>
                              </p:par>
                            </p:childTnLst>
                          </p:cTn>
                        </p:par>
                      </p:childTnLst>
                    </p:cTn>
                  </p:par>
                  <p:par>
                    <p:cTn id="1091" fill="hold">
                      <p:stCondLst>
                        <p:cond delay="indefinite"/>
                      </p:stCondLst>
                      <p:childTnLst>
                        <p:par>
                          <p:cTn id="1092" fill="hold">
                            <p:stCondLst>
                              <p:cond delay="0"/>
                            </p:stCondLst>
                            <p:childTnLst>
                              <p:par>
                                <p:cTn id="1093" presetID="1" presetClass="entr" presetSubtype="0" fill="hold" nodeType="clickEffect">
                                  <p:stCondLst>
                                    <p:cond delay="0"/>
                                  </p:stCondLst>
                                  <p:childTnLst>
                                    <p:set>
                                      <p:cBhvr>
                                        <p:cTn id="1094" dur="1" fill="hold">
                                          <p:stCondLst>
                                            <p:cond delay="0"/>
                                          </p:stCondLst>
                                        </p:cTn>
                                        <p:tgtEl>
                                          <p:spTgt spid="107">
                                            <p:txEl>
                                              <p:pRg st="2" end="2"/>
                                            </p:txEl>
                                          </p:spTgt>
                                        </p:tgtEl>
                                        <p:attrNameLst>
                                          <p:attrName>style.visibility</p:attrName>
                                        </p:attrNameLst>
                                      </p:cBhvr>
                                      <p:to>
                                        <p:strVal val="visible"/>
                                      </p:to>
                                    </p:set>
                                  </p:childTnLst>
                                </p:cTn>
                              </p:par>
                            </p:childTnLst>
                          </p:cTn>
                        </p:par>
                      </p:childTnLst>
                    </p:cTn>
                  </p:par>
                  <p:par>
                    <p:cTn id="1095" fill="hold">
                      <p:stCondLst>
                        <p:cond delay="indefinite"/>
                      </p:stCondLst>
                      <p:childTnLst>
                        <p:par>
                          <p:cTn id="1096" fill="hold">
                            <p:stCondLst>
                              <p:cond delay="0"/>
                            </p:stCondLst>
                            <p:childTnLst>
                              <p:par>
                                <p:cTn id="1097" presetID="1" presetClass="entr" presetSubtype="0" fill="hold" nodeType="clickEffect">
                                  <p:stCondLst>
                                    <p:cond delay="0"/>
                                  </p:stCondLst>
                                  <p:childTnLst>
                                    <p:set>
                                      <p:cBhvr>
                                        <p:cTn id="1098" dur="1" fill="hold">
                                          <p:stCondLst>
                                            <p:cond delay="0"/>
                                          </p:stCondLst>
                                        </p:cTn>
                                        <p:tgtEl>
                                          <p:spTgt spid="107">
                                            <p:txEl>
                                              <p:pRg st="3" end="3"/>
                                            </p:txEl>
                                          </p:spTgt>
                                        </p:tgtEl>
                                        <p:attrNameLst>
                                          <p:attrName>style.visibility</p:attrName>
                                        </p:attrNameLst>
                                      </p:cBhvr>
                                      <p:to>
                                        <p:strVal val="visible"/>
                                      </p:to>
                                    </p:set>
                                  </p:childTnLst>
                                </p:cTn>
                              </p:par>
                            </p:childTnLst>
                          </p:cTn>
                        </p:par>
                      </p:childTnLst>
                    </p:cTn>
                  </p:par>
                  <p:par>
                    <p:cTn id="1099" fill="hold">
                      <p:stCondLst>
                        <p:cond delay="indefinite"/>
                      </p:stCondLst>
                      <p:childTnLst>
                        <p:par>
                          <p:cTn id="1100" fill="hold">
                            <p:stCondLst>
                              <p:cond delay="0"/>
                            </p:stCondLst>
                            <p:childTnLst>
                              <p:par>
                                <p:cTn id="1101" presetID="1" presetClass="entr" presetSubtype="0" fill="hold" nodeType="clickEffect">
                                  <p:stCondLst>
                                    <p:cond delay="0"/>
                                  </p:stCondLst>
                                  <p:childTnLst>
                                    <p:set>
                                      <p:cBhvr>
                                        <p:cTn id="1102" dur="1" fill="hold">
                                          <p:stCondLst>
                                            <p:cond delay="0"/>
                                          </p:stCondLst>
                                        </p:cTn>
                                        <p:tgtEl>
                                          <p:spTgt spid="107">
                                            <p:txEl>
                                              <p:pRg st="4" end="4"/>
                                            </p:txEl>
                                          </p:spTgt>
                                        </p:tgtEl>
                                        <p:attrNameLst>
                                          <p:attrName>style.visibility</p:attrName>
                                        </p:attrNameLst>
                                      </p:cBhvr>
                                      <p:to>
                                        <p:strVal val="visible"/>
                                      </p:to>
                                    </p:set>
                                  </p:childTnLst>
                                </p:cTn>
                              </p:par>
                            </p:childTnLst>
                          </p:cTn>
                        </p:par>
                      </p:childTnLst>
                    </p:cTn>
                  </p:par>
                  <p:par>
                    <p:cTn id="1103" fill="hold">
                      <p:stCondLst>
                        <p:cond delay="indefinite"/>
                      </p:stCondLst>
                      <p:childTnLst>
                        <p:par>
                          <p:cTn id="1104" fill="hold">
                            <p:stCondLst>
                              <p:cond delay="0"/>
                            </p:stCondLst>
                            <p:childTnLst>
                              <p:par>
                                <p:cTn id="1105" presetID="1" presetClass="entr" presetSubtype="0" fill="hold" nodeType="clickEffect">
                                  <p:stCondLst>
                                    <p:cond delay="0"/>
                                  </p:stCondLst>
                                  <p:childTnLst>
                                    <p:set>
                                      <p:cBhvr>
                                        <p:cTn id="1106" dur="1" fill="hold">
                                          <p:stCondLst>
                                            <p:cond delay="0"/>
                                          </p:stCondLst>
                                        </p:cTn>
                                        <p:tgtEl>
                                          <p:spTgt spid="107">
                                            <p:txEl>
                                              <p:pRg st="5" end="5"/>
                                            </p:txEl>
                                          </p:spTgt>
                                        </p:tgtEl>
                                        <p:attrNameLst>
                                          <p:attrName>style.visibility</p:attrName>
                                        </p:attrNameLst>
                                      </p:cBhvr>
                                      <p:to>
                                        <p:strVal val="visible"/>
                                      </p:to>
                                    </p:set>
                                  </p:childTnLst>
                                </p:cTn>
                              </p:par>
                            </p:childTnLst>
                          </p:cTn>
                        </p:par>
                      </p:childTnLst>
                    </p:cTn>
                  </p:par>
                  <p:par>
                    <p:cTn id="1107" fill="hold">
                      <p:stCondLst>
                        <p:cond delay="indefinite"/>
                      </p:stCondLst>
                      <p:childTnLst>
                        <p:par>
                          <p:cTn id="1108" fill="hold">
                            <p:stCondLst>
                              <p:cond delay="0"/>
                            </p:stCondLst>
                            <p:childTnLst>
                              <p:par>
                                <p:cTn id="1109" presetID="1" presetClass="entr" presetSubtype="0" fill="hold" nodeType="clickEffect">
                                  <p:stCondLst>
                                    <p:cond delay="0"/>
                                  </p:stCondLst>
                                  <p:childTnLst>
                                    <p:set>
                                      <p:cBhvr>
                                        <p:cTn id="1110" dur="1" fill="hold">
                                          <p:stCondLst>
                                            <p:cond delay="0"/>
                                          </p:stCondLst>
                                        </p:cTn>
                                        <p:tgtEl>
                                          <p:spTgt spid="107">
                                            <p:txEl>
                                              <p:pRg st="6" end="6"/>
                                            </p:txEl>
                                          </p:spTgt>
                                        </p:tgtEl>
                                        <p:attrNameLst>
                                          <p:attrName>style.visibility</p:attrName>
                                        </p:attrNameLst>
                                      </p:cBhvr>
                                      <p:to>
                                        <p:strVal val="visible"/>
                                      </p:to>
                                    </p:set>
                                  </p:childTnLst>
                                </p:cTn>
                              </p:par>
                            </p:childTnLst>
                          </p:cTn>
                        </p:par>
                      </p:childTnLst>
                    </p:cTn>
                  </p:par>
                  <p:par>
                    <p:cTn id="1111" fill="hold">
                      <p:stCondLst>
                        <p:cond delay="indefinite"/>
                      </p:stCondLst>
                      <p:childTnLst>
                        <p:par>
                          <p:cTn id="1112" fill="hold">
                            <p:stCondLst>
                              <p:cond delay="0"/>
                            </p:stCondLst>
                            <p:childTnLst>
                              <p:par>
                                <p:cTn id="1113" presetID="1" presetClass="entr" presetSubtype="0" fill="hold" nodeType="clickEffect">
                                  <p:stCondLst>
                                    <p:cond delay="0"/>
                                  </p:stCondLst>
                                  <p:childTnLst>
                                    <p:set>
                                      <p:cBhvr>
                                        <p:cTn id="1114" dur="1" fill="hold">
                                          <p:stCondLst>
                                            <p:cond delay="0"/>
                                          </p:stCondLst>
                                        </p:cTn>
                                        <p:tgtEl>
                                          <p:spTgt spid="107">
                                            <p:txEl>
                                              <p:pRg st="7" end="7"/>
                                            </p:txEl>
                                          </p:spTgt>
                                        </p:tgtEl>
                                        <p:attrNameLst>
                                          <p:attrName>style.visibility</p:attrName>
                                        </p:attrNameLst>
                                      </p:cBhvr>
                                      <p:to>
                                        <p:strVal val="visible"/>
                                      </p:to>
                                    </p:set>
                                  </p:childTnLst>
                                </p:cTn>
                              </p:par>
                            </p:childTnLst>
                          </p:cTn>
                        </p:par>
                      </p:childTnLst>
                    </p:cTn>
                  </p:par>
                  <p:par>
                    <p:cTn id="1115" fill="hold">
                      <p:stCondLst>
                        <p:cond delay="indefinite"/>
                      </p:stCondLst>
                      <p:childTnLst>
                        <p:par>
                          <p:cTn id="1116" fill="hold">
                            <p:stCondLst>
                              <p:cond delay="0"/>
                            </p:stCondLst>
                            <p:childTnLst>
                              <p:par>
                                <p:cTn id="1117" presetID="1" presetClass="entr" presetSubtype="0" fill="hold" nodeType="clickEffect">
                                  <p:stCondLst>
                                    <p:cond delay="0"/>
                                  </p:stCondLst>
                                  <p:childTnLst>
                                    <p:set>
                                      <p:cBhvr>
                                        <p:cTn id="1118" dur="1" fill="hold">
                                          <p:stCondLst>
                                            <p:cond delay="0"/>
                                          </p:stCondLst>
                                        </p:cTn>
                                        <p:tgtEl>
                                          <p:spTgt spid="107">
                                            <p:txEl>
                                              <p:pRg st="8" end="8"/>
                                            </p:txEl>
                                          </p:spTgt>
                                        </p:tgtEl>
                                        <p:attrNameLst>
                                          <p:attrName>style.visibility</p:attrName>
                                        </p:attrNameLst>
                                      </p:cBhvr>
                                      <p:to>
                                        <p:strVal val="visible"/>
                                      </p:to>
                                    </p:set>
                                  </p:childTnLst>
                                </p:cTn>
                              </p:par>
                            </p:childTnLst>
                          </p:cTn>
                        </p:par>
                      </p:childTnLst>
                    </p:cTn>
                  </p:par>
                  <p:par>
                    <p:cTn id="1119" fill="hold">
                      <p:stCondLst>
                        <p:cond delay="indefinite"/>
                      </p:stCondLst>
                      <p:childTnLst>
                        <p:par>
                          <p:cTn id="1120" fill="hold">
                            <p:stCondLst>
                              <p:cond delay="0"/>
                            </p:stCondLst>
                            <p:childTnLst>
                              <p:par>
                                <p:cTn id="1121" presetID="1" presetClass="entr" presetSubtype="0" fill="hold" nodeType="clickEffect">
                                  <p:stCondLst>
                                    <p:cond delay="0"/>
                                  </p:stCondLst>
                                  <p:childTnLst>
                                    <p:set>
                                      <p:cBhvr>
                                        <p:cTn id="1122" dur="1" fill="hold">
                                          <p:stCondLst>
                                            <p:cond delay="0"/>
                                          </p:stCondLst>
                                        </p:cTn>
                                        <p:tgtEl>
                                          <p:spTgt spid="108">
                                            <p:txEl>
                                              <p:pRg st="0" end="0"/>
                                            </p:txEl>
                                          </p:spTgt>
                                        </p:tgtEl>
                                        <p:attrNameLst>
                                          <p:attrName>style.visibility</p:attrName>
                                        </p:attrNameLst>
                                      </p:cBhvr>
                                      <p:to>
                                        <p:strVal val="visible"/>
                                      </p:to>
                                    </p:set>
                                  </p:childTnLst>
                                </p:cTn>
                              </p:par>
                            </p:childTnLst>
                          </p:cTn>
                        </p:par>
                      </p:childTnLst>
                    </p:cTn>
                  </p:par>
                  <p:par>
                    <p:cTn id="1123" fill="hold">
                      <p:stCondLst>
                        <p:cond delay="indefinite"/>
                      </p:stCondLst>
                      <p:childTnLst>
                        <p:par>
                          <p:cTn id="1124" fill="hold">
                            <p:stCondLst>
                              <p:cond delay="0"/>
                            </p:stCondLst>
                            <p:childTnLst>
                              <p:par>
                                <p:cTn id="1125" presetID="1" presetClass="entr" presetSubtype="0" fill="hold" nodeType="clickEffect">
                                  <p:stCondLst>
                                    <p:cond delay="0"/>
                                  </p:stCondLst>
                                  <p:childTnLst>
                                    <p:set>
                                      <p:cBhvr>
                                        <p:cTn id="1126" dur="1" fill="hold">
                                          <p:stCondLst>
                                            <p:cond delay="0"/>
                                          </p:stCondLst>
                                        </p:cTn>
                                        <p:tgtEl>
                                          <p:spTgt spid="108">
                                            <p:txEl>
                                              <p:pRg st="1" end="1"/>
                                            </p:txEl>
                                          </p:spTgt>
                                        </p:tgtEl>
                                        <p:attrNameLst>
                                          <p:attrName>style.visibility</p:attrName>
                                        </p:attrNameLst>
                                      </p:cBhvr>
                                      <p:to>
                                        <p:strVal val="visible"/>
                                      </p:to>
                                    </p:set>
                                  </p:childTnLst>
                                </p:cTn>
                              </p:par>
                            </p:childTnLst>
                          </p:cTn>
                        </p:par>
                      </p:childTnLst>
                    </p:cTn>
                  </p:par>
                  <p:par>
                    <p:cTn id="1127" fill="hold">
                      <p:stCondLst>
                        <p:cond delay="indefinite"/>
                      </p:stCondLst>
                      <p:childTnLst>
                        <p:par>
                          <p:cTn id="1128" fill="hold">
                            <p:stCondLst>
                              <p:cond delay="0"/>
                            </p:stCondLst>
                            <p:childTnLst>
                              <p:par>
                                <p:cTn id="1129" presetID="1" presetClass="entr" presetSubtype="0" fill="hold" nodeType="clickEffect">
                                  <p:stCondLst>
                                    <p:cond delay="0"/>
                                  </p:stCondLst>
                                  <p:childTnLst>
                                    <p:set>
                                      <p:cBhvr>
                                        <p:cTn id="1130" dur="1" fill="hold">
                                          <p:stCondLst>
                                            <p:cond delay="0"/>
                                          </p:stCondLst>
                                        </p:cTn>
                                        <p:tgtEl>
                                          <p:spTgt spid="108">
                                            <p:txEl>
                                              <p:pRg st="2" end="2"/>
                                            </p:txEl>
                                          </p:spTgt>
                                        </p:tgtEl>
                                        <p:attrNameLst>
                                          <p:attrName>style.visibility</p:attrName>
                                        </p:attrNameLst>
                                      </p:cBhvr>
                                      <p:to>
                                        <p:strVal val="visible"/>
                                      </p:to>
                                    </p:set>
                                  </p:childTnLst>
                                </p:cTn>
                              </p:par>
                            </p:childTnLst>
                          </p:cTn>
                        </p:par>
                      </p:childTnLst>
                    </p:cTn>
                  </p:par>
                  <p:par>
                    <p:cTn id="1131" fill="hold">
                      <p:stCondLst>
                        <p:cond delay="indefinite"/>
                      </p:stCondLst>
                      <p:childTnLst>
                        <p:par>
                          <p:cTn id="1132" fill="hold">
                            <p:stCondLst>
                              <p:cond delay="0"/>
                            </p:stCondLst>
                            <p:childTnLst>
                              <p:par>
                                <p:cTn id="1133" presetID="1" presetClass="entr" presetSubtype="0" fill="hold" nodeType="clickEffect">
                                  <p:stCondLst>
                                    <p:cond delay="0"/>
                                  </p:stCondLst>
                                  <p:childTnLst>
                                    <p:set>
                                      <p:cBhvr>
                                        <p:cTn id="1134" dur="1" fill="hold">
                                          <p:stCondLst>
                                            <p:cond delay="0"/>
                                          </p:stCondLst>
                                        </p:cTn>
                                        <p:tgtEl>
                                          <p:spTgt spid="108">
                                            <p:txEl>
                                              <p:pRg st="3" end="3"/>
                                            </p:txEl>
                                          </p:spTgt>
                                        </p:tgtEl>
                                        <p:attrNameLst>
                                          <p:attrName>style.visibility</p:attrName>
                                        </p:attrNameLst>
                                      </p:cBhvr>
                                      <p:to>
                                        <p:strVal val="visible"/>
                                      </p:to>
                                    </p:set>
                                  </p:childTnLst>
                                </p:cTn>
                              </p:par>
                            </p:childTnLst>
                          </p:cTn>
                        </p:par>
                      </p:childTnLst>
                    </p:cTn>
                  </p:par>
                  <p:par>
                    <p:cTn id="1135" fill="hold">
                      <p:stCondLst>
                        <p:cond delay="indefinite"/>
                      </p:stCondLst>
                      <p:childTnLst>
                        <p:par>
                          <p:cTn id="1136" fill="hold">
                            <p:stCondLst>
                              <p:cond delay="0"/>
                            </p:stCondLst>
                            <p:childTnLst>
                              <p:par>
                                <p:cTn id="1137" presetID="1" presetClass="entr" presetSubtype="0" fill="hold" nodeType="clickEffect">
                                  <p:stCondLst>
                                    <p:cond delay="0"/>
                                  </p:stCondLst>
                                  <p:childTnLst>
                                    <p:set>
                                      <p:cBhvr>
                                        <p:cTn id="1138" dur="1" fill="hold">
                                          <p:stCondLst>
                                            <p:cond delay="0"/>
                                          </p:stCondLst>
                                        </p:cTn>
                                        <p:tgtEl>
                                          <p:spTgt spid="108">
                                            <p:txEl>
                                              <p:pRg st="4" end="4"/>
                                            </p:txEl>
                                          </p:spTgt>
                                        </p:tgtEl>
                                        <p:attrNameLst>
                                          <p:attrName>style.visibility</p:attrName>
                                        </p:attrNameLst>
                                      </p:cBhvr>
                                      <p:to>
                                        <p:strVal val="visible"/>
                                      </p:to>
                                    </p:set>
                                  </p:childTnLst>
                                </p:cTn>
                              </p:par>
                            </p:childTnLst>
                          </p:cTn>
                        </p:par>
                      </p:childTnLst>
                    </p:cTn>
                  </p:par>
                  <p:par>
                    <p:cTn id="1139" fill="hold">
                      <p:stCondLst>
                        <p:cond delay="indefinite"/>
                      </p:stCondLst>
                      <p:childTnLst>
                        <p:par>
                          <p:cTn id="1140" fill="hold">
                            <p:stCondLst>
                              <p:cond delay="0"/>
                            </p:stCondLst>
                            <p:childTnLst>
                              <p:par>
                                <p:cTn id="1141" presetID="1" presetClass="entr" presetSubtype="0" fill="hold" nodeType="clickEffect">
                                  <p:stCondLst>
                                    <p:cond delay="0"/>
                                  </p:stCondLst>
                                  <p:childTnLst>
                                    <p:set>
                                      <p:cBhvr>
                                        <p:cTn id="1142" dur="1" fill="hold">
                                          <p:stCondLst>
                                            <p:cond delay="0"/>
                                          </p:stCondLst>
                                        </p:cTn>
                                        <p:tgtEl>
                                          <p:spTgt spid="108">
                                            <p:txEl>
                                              <p:pRg st="5" end="5"/>
                                            </p:txEl>
                                          </p:spTgt>
                                        </p:tgtEl>
                                        <p:attrNameLst>
                                          <p:attrName>style.visibility</p:attrName>
                                        </p:attrNameLst>
                                      </p:cBhvr>
                                      <p:to>
                                        <p:strVal val="visible"/>
                                      </p:to>
                                    </p:set>
                                  </p:childTnLst>
                                </p:cTn>
                              </p:par>
                            </p:childTnLst>
                          </p:cTn>
                        </p:par>
                      </p:childTnLst>
                    </p:cTn>
                  </p:par>
                  <p:par>
                    <p:cTn id="1143" fill="hold">
                      <p:stCondLst>
                        <p:cond delay="indefinite"/>
                      </p:stCondLst>
                      <p:childTnLst>
                        <p:par>
                          <p:cTn id="1144" fill="hold">
                            <p:stCondLst>
                              <p:cond delay="0"/>
                            </p:stCondLst>
                            <p:childTnLst>
                              <p:par>
                                <p:cTn id="1145" presetID="1" presetClass="entr" presetSubtype="0" fill="hold" nodeType="clickEffect">
                                  <p:stCondLst>
                                    <p:cond delay="0"/>
                                  </p:stCondLst>
                                  <p:childTnLst>
                                    <p:set>
                                      <p:cBhvr>
                                        <p:cTn id="1146" dur="1" fill="hold">
                                          <p:stCondLst>
                                            <p:cond delay="0"/>
                                          </p:stCondLst>
                                        </p:cTn>
                                        <p:tgtEl>
                                          <p:spTgt spid="108">
                                            <p:txEl>
                                              <p:pRg st="6" end="6"/>
                                            </p:txEl>
                                          </p:spTgt>
                                        </p:tgtEl>
                                        <p:attrNameLst>
                                          <p:attrName>style.visibility</p:attrName>
                                        </p:attrNameLst>
                                      </p:cBhvr>
                                      <p:to>
                                        <p:strVal val="visible"/>
                                      </p:to>
                                    </p:set>
                                  </p:childTnLst>
                                </p:cTn>
                              </p:par>
                            </p:childTnLst>
                          </p:cTn>
                        </p:par>
                      </p:childTnLst>
                    </p:cTn>
                  </p:par>
                  <p:par>
                    <p:cTn id="1147" fill="hold">
                      <p:stCondLst>
                        <p:cond delay="indefinite"/>
                      </p:stCondLst>
                      <p:childTnLst>
                        <p:par>
                          <p:cTn id="1148" fill="hold">
                            <p:stCondLst>
                              <p:cond delay="0"/>
                            </p:stCondLst>
                            <p:childTnLst>
                              <p:par>
                                <p:cTn id="1149" presetID="1" presetClass="entr" presetSubtype="0" fill="hold" nodeType="clickEffect">
                                  <p:stCondLst>
                                    <p:cond delay="0"/>
                                  </p:stCondLst>
                                  <p:childTnLst>
                                    <p:set>
                                      <p:cBhvr>
                                        <p:cTn id="1150" dur="1" fill="hold">
                                          <p:stCondLst>
                                            <p:cond delay="0"/>
                                          </p:stCondLst>
                                        </p:cTn>
                                        <p:tgtEl>
                                          <p:spTgt spid="108">
                                            <p:txEl>
                                              <p:pRg st="7" end="7"/>
                                            </p:txEl>
                                          </p:spTgt>
                                        </p:tgtEl>
                                        <p:attrNameLst>
                                          <p:attrName>style.visibility</p:attrName>
                                        </p:attrNameLst>
                                      </p:cBhvr>
                                      <p:to>
                                        <p:strVal val="visible"/>
                                      </p:to>
                                    </p:set>
                                  </p:childTnLst>
                                </p:cTn>
                              </p:par>
                            </p:childTnLst>
                          </p:cTn>
                        </p:par>
                      </p:childTnLst>
                    </p:cTn>
                  </p:par>
                  <p:par>
                    <p:cTn id="1151" fill="hold">
                      <p:stCondLst>
                        <p:cond delay="indefinite"/>
                      </p:stCondLst>
                      <p:childTnLst>
                        <p:par>
                          <p:cTn id="1152" fill="hold">
                            <p:stCondLst>
                              <p:cond delay="0"/>
                            </p:stCondLst>
                            <p:childTnLst>
                              <p:par>
                                <p:cTn id="1153" presetID="1" presetClass="entr" presetSubtype="0" fill="hold" nodeType="clickEffect">
                                  <p:stCondLst>
                                    <p:cond delay="0"/>
                                  </p:stCondLst>
                                  <p:childTnLst>
                                    <p:set>
                                      <p:cBhvr>
                                        <p:cTn id="1154" dur="1" fill="hold">
                                          <p:stCondLst>
                                            <p:cond delay="0"/>
                                          </p:stCondLst>
                                        </p:cTn>
                                        <p:tgtEl>
                                          <p:spTgt spid="108">
                                            <p:txEl>
                                              <p:pRg st="8" end="8"/>
                                            </p:txEl>
                                          </p:spTgt>
                                        </p:tgtEl>
                                        <p:attrNameLst>
                                          <p:attrName>style.visibility</p:attrName>
                                        </p:attrNameLst>
                                      </p:cBhvr>
                                      <p:to>
                                        <p:strVal val="visible"/>
                                      </p:to>
                                    </p:set>
                                  </p:childTnLst>
                                </p:cTn>
                              </p:par>
                            </p:childTnLst>
                          </p:cTn>
                        </p:par>
                      </p:childTnLst>
                    </p:cTn>
                  </p:par>
                  <p:par>
                    <p:cTn id="1155" fill="hold">
                      <p:stCondLst>
                        <p:cond delay="indefinite"/>
                      </p:stCondLst>
                      <p:childTnLst>
                        <p:par>
                          <p:cTn id="1156" fill="hold">
                            <p:stCondLst>
                              <p:cond delay="0"/>
                            </p:stCondLst>
                            <p:childTnLst>
                              <p:par>
                                <p:cTn id="1157" presetID="1" presetClass="entr" presetSubtype="0" fill="hold" nodeType="clickEffect">
                                  <p:stCondLst>
                                    <p:cond delay="0"/>
                                  </p:stCondLst>
                                  <p:childTnLst>
                                    <p:set>
                                      <p:cBhvr>
                                        <p:cTn id="1158" dur="1" fill="hold">
                                          <p:stCondLst>
                                            <p:cond delay="0"/>
                                          </p:stCondLst>
                                        </p:cTn>
                                        <p:tgtEl>
                                          <p:spTgt spid="109">
                                            <p:txEl>
                                              <p:pRg st="0" end="0"/>
                                            </p:txEl>
                                          </p:spTgt>
                                        </p:tgtEl>
                                        <p:attrNameLst>
                                          <p:attrName>style.visibility</p:attrName>
                                        </p:attrNameLst>
                                      </p:cBhvr>
                                      <p:to>
                                        <p:strVal val="visible"/>
                                      </p:to>
                                    </p:set>
                                  </p:childTnLst>
                                </p:cTn>
                              </p:par>
                            </p:childTnLst>
                          </p:cTn>
                        </p:par>
                      </p:childTnLst>
                    </p:cTn>
                  </p:par>
                  <p:par>
                    <p:cTn id="1159" fill="hold">
                      <p:stCondLst>
                        <p:cond delay="indefinite"/>
                      </p:stCondLst>
                      <p:childTnLst>
                        <p:par>
                          <p:cTn id="1160" fill="hold">
                            <p:stCondLst>
                              <p:cond delay="0"/>
                            </p:stCondLst>
                            <p:childTnLst>
                              <p:par>
                                <p:cTn id="1161" presetID="1" presetClass="entr" presetSubtype="0" fill="hold" nodeType="clickEffect">
                                  <p:stCondLst>
                                    <p:cond delay="0"/>
                                  </p:stCondLst>
                                  <p:childTnLst>
                                    <p:set>
                                      <p:cBhvr>
                                        <p:cTn id="1162" dur="1" fill="hold">
                                          <p:stCondLst>
                                            <p:cond delay="0"/>
                                          </p:stCondLst>
                                        </p:cTn>
                                        <p:tgtEl>
                                          <p:spTgt spid="109">
                                            <p:txEl>
                                              <p:pRg st="1" end="1"/>
                                            </p:txEl>
                                          </p:spTgt>
                                        </p:tgtEl>
                                        <p:attrNameLst>
                                          <p:attrName>style.visibility</p:attrName>
                                        </p:attrNameLst>
                                      </p:cBhvr>
                                      <p:to>
                                        <p:strVal val="visible"/>
                                      </p:to>
                                    </p:set>
                                  </p:childTnLst>
                                </p:cTn>
                              </p:par>
                            </p:childTnLst>
                          </p:cTn>
                        </p:par>
                      </p:childTnLst>
                    </p:cTn>
                  </p:par>
                  <p:par>
                    <p:cTn id="1163" fill="hold">
                      <p:stCondLst>
                        <p:cond delay="indefinite"/>
                      </p:stCondLst>
                      <p:childTnLst>
                        <p:par>
                          <p:cTn id="1164" fill="hold">
                            <p:stCondLst>
                              <p:cond delay="0"/>
                            </p:stCondLst>
                            <p:childTnLst>
                              <p:par>
                                <p:cTn id="1165" presetID="1" presetClass="entr" presetSubtype="0" fill="hold" nodeType="clickEffect">
                                  <p:stCondLst>
                                    <p:cond delay="0"/>
                                  </p:stCondLst>
                                  <p:childTnLst>
                                    <p:set>
                                      <p:cBhvr>
                                        <p:cTn id="1166" dur="1" fill="hold">
                                          <p:stCondLst>
                                            <p:cond delay="0"/>
                                          </p:stCondLst>
                                        </p:cTn>
                                        <p:tgtEl>
                                          <p:spTgt spid="109">
                                            <p:txEl>
                                              <p:pRg st="2" end="2"/>
                                            </p:txEl>
                                          </p:spTgt>
                                        </p:tgtEl>
                                        <p:attrNameLst>
                                          <p:attrName>style.visibility</p:attrName>
                                        </p:attrNameLst>
                                      </p:cBhvr>
                                      <p:to>
                                        <p:strVal val="visible"/>
                                      </p:to>
                                    </p:set>
                                  </p:childTnLst>
                                </p:cTn>
                              </p:par>
                            </p:childTnLst>
                          </p:cTn>
                        </p:par>
                      </p:childTnLst>
                    </p:cTn>
                  </p:par>
                  <p:par>
                    <p:cTn id="1167" fill="hold">
                      <p:stCondLst>
                        <p:cond delay="indefinite"/>
                      </p:stCondLst>
                      <p:childTnLst>
                        <p:par>
                          <p:cTn id="1168" fill="hold">
                            <p:stCondLst>
                              <p:cond delay="0"/>
                            </p:stCondLst>
                            <p:childTnLst>
                              <p:par>
                                <p:cTn id="1169" presetID="1" presetClass="entr" presetSubtype="0" fill="hold" nodeType="clickEffect">
                                  <p:stCondLst>
                                    <p:cond delay="0"/>
                                  </p:stCondLst>
                                  <p:childTnLst>
                                    <p:set>
                                      <p:cBhvr>
                                        <p:cTn id="1170" dur="1" fill="hold">
                                          <p:stCondLst>
                                            <p:cond delay="0"/>
                                          </p:stCondLst>
                                        </p:cTn>
                                        <p:tgtEl>
                                          <p:spTgt spid="109">
                                            <p:txEl>
                                              <p:pRg st="3" end="3"/>
                                            </p:txEl>
                                          </p:spTgt>
                                        </p:tgtEl>
                                        <p:attrNameLst>
                                          <p:attrName>style.visibility</p:attrName>
                                        </p:attrNameLst>
                                      </p:cBhvr>
                                      <p:to>
                                        <p:strVal val="visible"/>
                                      </p:to>
                                    </p:set>
                                  </p:childTnLst>
                                </p:cTn>
                              </p:par>
                            </p:childTnLst>
                          </p:cTn>
                        </p:par>
                      </p:childTnLst>
                    </p:cTn>
                  </p:par>
                  <p:par>
                    <p:cTn id="1171" fill="hold">
                      <p:stCondLst>
                        <p:cond delay="indefinite"/>
                      </p:stCondLst>
                      <p:childTnLst>
                        <p:par>
                          <p:cTn id="1172" fill="hold">
                            <p:stCondLst>
                              <p:cond delay="0"/>
                            </p:stCondLst>
                            <p:childTnLst>
                              <p:par>
                                <p:cTn id="1173" presetID="1" presetClass="entr" presetSubtype="0" fill="hold" nodeType="clickEffect">
                                  <p:stCondLst>
                                    <p:cond delay="0"/>
                                  </p:stCondLst>
                                  <p:childTnLst>
                                    <p:set>
                                      <p:cBhvr>
                                        <p:cTn id="1174" dur="1" fill="hold">
                                          <p:stCondLst>
                                            <p:cond delay="0"/>
                                          </p:stCondLst>
                                        </p:cTn>
                                        <p:tgtEl>
                                          <p:spTgt spid="109">
                                            <p:txEl>
                                              <p:pRg st="4" end="4"/>
                                            </p:txEl>
                                          </p:spTgt>
                                        </p:tgtEl>
                                        <p:attrNameLst>
                                          <p:attrName>style.visibility</p:attrName>
                                        </p:attrNameLst>
                                      </p:cBhvr>
                                      <p:to>
                                        <p:strVal val="visible"/>
                                      </p:to>
                                    </p:set>
                                  </p:childTnLst>
                                </p:cTn>
                              </p:par>
                            </p:childTnLst>
                          </p:cTn>
                        </p:par>
                      </p:childTnLst>
                    </p:cTn>
                  </p:par>
                  <p:par>
                    <p:cTn id="1175" fill="hold">
                      <p:stCondLst>
                        <p:cond delay="indefinite"/>
                      </p:stCondLst>
                      <p:childTnLst>
                        <p:par>
                          <p:cTn id="1176" fill="hold">
                            <p:stCondLst>
                              <p:cond delay="0"/>
                            </p:stCondLst>
                            <p:childTnLst>
                              <p:par>
                                <p:cTn id="1177" presetID="1" presetClass="entr" presetSubtype="0" fill="hold" nodeType="clickEffect">
                                  <p:stCondLst>
                                    <p:cond delay="0"/>
                                  </p:stCondLst>
                                  <p:childTnLst>
                                    <p:set>
                                      <p:cBhvr>
                                        <p:cTn id="1178" dur="1" fill="hold">
                                          <p:stCondLst>
                                            <p:cond delay="0"/>
                                          </p:stCondLst>
                                        </p:cTn>
                                        <p:tgtEl>
                                          <p:spTgt spid="109">
                                            <p:txEl>
                                              <p:pRg st="5" end="5"/>
                                            </p:txEl>
                                          </p:spTgt>
                                        </p:tgtEl>
                                        <p:attrNameLst>
                                          <p:attrName>style.visibility</p:attrName>
                                        </p:attrNameLst>
                                      </p:cBhvr>
                                      <p:to>
                                        <p:strVal val="visible"/>
                                      </p:to>
                                    </p:set>
                                  </p:childTnLst>
                                </p:cTn>
                              </p:par>
                            </p:childTnLst>
                          </p:cTn>
                        </p:par>
                      </p:childTnLst>
                    </p:cTn>
                  </p:par>
                  <p:par>
                    <p:cTn id="1179" fill="hold">
                      <p:stCondLst>
                        <p:cond delay="indefinite"/>
                      </p:stCondLst>
                      <p:childTnLst>
                        <p:par>
                          <p:cTn id="1180" fill="hold">
                            <p:stCondLst>
                              <p:cond delay="0"/>
                            </p:stCondLst>
                            <p:childTnLst>
                              <p:par>
                                <p:cTn id="1181" presetID="1" presetClass="entr" presetSubtype="0" fill="hold" nodeType="clickEffect">
                                  <p:stCondLst>
                                    <p:cond delay="0"/>
                                  </p:stCondLst>
                                  <p:childTnLst>
                                    <p:set>
                                      <p:cBhvr>
                                        <p:cTn id="1182" dur="1" fill="hold">
                                          <p:stCondLst>
                                            <p:cond delay="0"/>
                                          </p:stCondLst>
                                        </p:cTn>
                                        <p:tgtEl>
                                          <p:spTgt spid="109">
                                            <p:txEl>
                                              <p:pRg st="6" end="6"/>
                                            </p:txEl>
                                          </p:spTgt>
                                        </p:tgtEl>
                                        <p:attrNameLst>
                                          <p:attrName>style.visibility</p:attrName>
                                        </p:attrNameLst>
                                      </p:cBhvr>
                                      <p:to>
                                        <p:strVal val="visible"/>
                                      </p:to>
                                    </p:set>
                                  </p:childTnLst>
                                </p:cTn>
                              </p:par>
                            </p:childTnLst>
                          </p:cTn>
                        </p:par>
                      </p:childTnLst>
                    </p:cTn>
                  </p:par>
                  <p:par>
                    <p:cTn id="1183" fill="hold">
                      <p:stCondLst>
                        <p:cond delay="indefinite"/>
                      </p:stCondLst>
                      <p:childTnLst>
                        <p:par>
                          <p:cTn id="1184" fill="hold">
                            <p:stCondLst>
                              <p:cond delay="0"/>
                            </p:stCondLst>
                            <p:childTnLst>
                              <p:par>
                                <p:cTn id="1185" presetID="1" presetClass="entr" presetSubtype="0" fill="hold" nodeType="clickEffect">
                                  <p:stCondLst>
                                    <p:cond delay="0"/>
                                  </p:stCondLst>
                                  <p:childTnLst>
                                    <p:set>
                                      <p:cBhvr>
                                        <p:cTn id="1186" dur="1" fill="hold">
                                          <p:stCondLst>
                                            <p:cond delay="0"/>
                                          </p:stCondLst>
                                        </p:cTn>
                                        <p:tgtEl>
                                          <p:spTgt spid="109">
                                            <p:txEl>
                                              <p:pRg st="7" end="7"/>
                                            </p:txEl>
                                          </p:spTgt>
                                        </p:tgtEl>
                                        <p:attrNameLst>
                                          <p:attrName>style.visibility</p:attrName>
                                        </p:attrNameLst>
                                      </p:cBhvr>
                                      <p:to>
                                        <p:strVal val="visible"/>
                                      </p:to>
                                    </p:set>
                                  </p:childTnLst>
                                </p:cTn>
                              </p:par>
                            </p:childTnLst>
                          </p:cTn>
                        </p:par>
                      </p:childTnLst>
                    </p:cTn>
                  </p:par>
                  <p:par>
                    <p:cTn id="1187" fill="hold">
                      <p:stCondLst>
                        <p:cond delay="indefinite"/>
                      </p:stCondLst>
                      <p:childTnLst>
                        <p:par>
                          <p:cTn id="1188" fill="hold">
                            <p:stCondLst>
                              <p:cond delay="0"/>
                            </p:stCondLst>
                            <p:childTnLst>
                              <p:par>
                                <p:cTn id="1189" presetID="1" presetClass="entr" presetSubtype="0" fill="hold" nodeType="clickEffect">
                                  <p:stCondLst>
                                    <p:cond delay="0"/>
                                  </p:stCondLst>
                                  <p:childTnLst>
                                    <p:set>
                                      <p:cBhvr>
                                        <p:cTn id="1190" dur="1" fill="hold">
                                          <p:stCondLst>
                                            <p:cond delay="0"/>
                                          </p:stCondLst>
                                        </p:cTn>
                                        <p:tgtEl>
                                          <p:spTgt spid="109">
                                            <p:txEl>
                                              <p:pRg st="8" end="8"/>
                                            </p:txEl>
                                          </p:spTgt>
                                        </p:tgtEl>
                                        <p:attrNameLst>
                                          <p:attrName>style.visibility</p:attrName>
                                        </p:attrNameLst>
                                      </p:cBhvr>
                                      <p:to>
                                        <p:strVal val="visible"/>
                                      </p:to>
                                    </p:set>
                                  </p:childTnLst>
                                </p:cTn>
                              </p:par>
                            </p:childTnLst>
                          </p:cTn>
                        </p:par>
                      </p:childTnLst>
                    </p:cTn>
                  </p:par>
                  <p:par>
                    <p:cTn id="1191" fill="hold">
                      <p:stCondLst>
                        <p:cond delay="indefinite"/>
                      </p:stCondLst>
                      <p:childTnLst>
                        <p:par>
                          <p:cTn id="1192" fill="hold">
                            <p:stCondLst>
                              <p:cond delay="0"/>
                            </p:stCondLst>
                            <p:childTnLst>
                              <p:par>
                                <p:cTn id="1193" presetID="1" presetClass="entr" presetSubtype="0" fill="hold" nodeType="clickEffect">
                                  <p:stCondLst>
                                    <p:cond delay="0"/>
                                  </p:stCondLst>
                                  <p:childTnLst>
                                    <p:set>
                                      <p:cBhvr>
                                        <p:cTn id="1194" dur="1" fill="hold">
                                          <p:stCondLst>
                                            <p:cond delay="0"/>
                                          </p:stCondLst>
                                        </p:cTn>
                                        <p:tgtEl>
                                          <p:spTgt spid="110">
                                            <p:txEl>
                                              <p:pRg st="0" end="0"/>
                                            </p:txEl>
                                          </p:spTgt>
                                        </p:tgtEl>
                                        <p:attrNameLst>
                                          <p:attrName>style.visibility</p:attrName>
                                        </p:attrNameLst>
                                      </p:cBhvr>
                                      <p:to>
                                        <p:strVal val="visible"/>
                                      </p:to>
                                    </p:set>
                                  </p:childTnLst>
                                </p:cTn>
                              </p:par>
                            </p:childTnLst>
                          </p:cTn>
                        </p:par>
                      </p:childTnLst>
                    </p:cTn>
                  </p:par>
                  <p:par>
                    <p:cTn id="1195" fill="hold">
                      <p:stCondLst>
                        <p:cond delay="indefinite"/>
                      </p:stCondLst>
                      <p:childTnLst>
                        <p:par>
                          <p:cTn id="1196" fill="hold">
                            <p:stCondLst>
                              <p:cond delay="0"/>
                            </p:stCondLst>
                            <p:childTnLst>
                              <p:par>
                                <p:cTn id="1197" presetID="1" presetClass="entr" presetSubtype="0" fill="hold" nodeType="clickEffect">
                                  <p:stCondLst>
                                    <p:cond delay="0"/>
                                  </p:stCondLst>
                                  <p:childTnLst>
                                    <p:set>
                                      <p:cBhvr>
                                        <p:cTn id="1198" dur="1" fill="hold">
                                          <p:stCondLst>
                                            <p:cond delay="0"/>
                                          </p:stCondLst>
                                        </p:cTn>
                                        <p:tgtEl>
                                          <p:spTgt spid="110">
                                            <p:txEl>
                                              <p:pRg st="1" end="1"/>
                                            </p:txEl>
                                          </p:spTgt>
                                        </p:tgtEl>
                                        <p:attrNameLst>
                                          <p:attrName>style.visibility</p:attrName>
                                        </p:attrNameLst>
                                      </p:cBhvr>
                                      <p:to>
                                        <p:strVal val="visible"/>
                                      </p:to>
                                    </p:set>
                                  </p:childTnLst>
                                </p:cTn>
                              </p:par>
                            </p:childTnLst>
                          </p:cTn>
                        </p:par>
                      </p:childTnLst>
                    </p:cTn>
                  </p:par>
                  <p:par>
                    <p:cTn id="1199" fill="hold">
                      <p:stCondLst>
                        <p:cond delay="indefinite"/>
                      </p:stCondLst>
                      <p:childTnLst>
                        <p:par>
                          <p:cTn id="1200" fill="hold">
                            <p:stCondLst>
                              <p:cond delay="0"/>
                            </p:stCondLst>
                            <p:childTnLst>
                              <p:par>
                                <p:cTn id="1201" presetID="1" presetClass="entr" presetSubtype="0" fill="hold" nodeType="clickEffect">
                                  <p:stCondLst>
                                    <p:cond delay="0"/>
                                  </p:stCondLst>
                                  <p:childTnLst>
                                    <p:set>
                                      <p:cBhvr>
                                        <p:cTn id="1202" dur="1" fill="hold">
                                          <p:stCondLst>
                                            <p:cond delay="0"/>
                                          </p:stCondLst>
                                        </p:cTn>
                                        <p:tgtEl>
                                          <p:spTgt spid="110">
                                            <p:txEl>
                                              <p:pRg st="2" end="2"/>
                                            </p:txEl>
                                          </p:spTgt>
                                        </p:tgtEl>
                                        <p:attrNameLst>
                                          <p:attrName>style.visibility</p:attrName>
                                        </p:attrNameLst>
                                      </p:cBhvr>
                                      <p:to>
                                        <p:strVal val="visible"/>
                                      </p:to>
                                    </p:set>
                                  </p:childTnLst>
                                </p:cTn>
                              </p:par>
                            </p:childTnLst>
                          </p:cTn>
                        </p:par>
                      </p:childTnLst>
                    </p:cTn>
                  </p:par>
                  <p:par>
                    <p:cTn id="1203" fill="hold">
                      <p:stCondLst>
                        <p:cond delay="indefinite"/>
                      </p:stCondLst>
                      <p:childTnLst>
                        <p:par>
                          <p:cTn id="1204" fill="hold">
                            <p:stCondLst>
                              <p:cond delay="0"/>
                            </p:stCondLst>
                            <p:childTnLst>
                              <p:par>
                                <p:cTn id="1205" presetID="1" presetClass="entr" presetSubtype="0" fill="hold" nodeType="clickEffect">
                                  <p:stCondLst>
                                    <p:cond delay="0"/>
                                  </p:stCondLst>
                                  <p:childTnLst>
                                    <p:set>
                                      <p:cBhvr>
                                        <p:cTn id="1206" dur="1" fill="hold">
                                          <p:stCondLst>
                                            <p:cond delay="0"/>
                                          </p:stCondLst>
                                        </p:cTn>
                                        <p:tgtEl>
                                          <p:spTgt spid="110">
                                            <p:txEl>
                                              <p:pRg st="3" end="3"/>
                                            </p:txEl>
                                          </p:spTgt>
                                        </p:tgtEl>
                                        <p:attrNameLst>
                                          <p:attrName>style.visibility</p:attrName>
                                        </p:attrNameLst>
                                      </p:cBhvr>
                                      <p:to>
                                        <p:strVal val="visible"/>
                                      </p:to>
                                    </p:set>
                                  </p:childTnLst>
                                </p:cTn>
                              </p:par>
                            </p:childTnLst>
                          </p:cTn>
                        </p:par>
                      </p:childTnLst>
                    </p:cTn>
                  </p:par>
                  <p:par>
                    <p:cTn id="1207" fill="hold">
                      <p:stCondLst>
                        <p:cond delay="indefinite"/>
                      </p:stCondLst>
                      <p:childTnLst>
                        <p:par>
                          <p:cTn id="1208" fill="hold">
                            <p:stCondLst>
                              <p:cond delay="0"/>
                            </p:stCondLst>
                            <p:childTnLst>
                              <p:par>
                                <p:cTn id="1209" presetID="1" presetClass="entr" presetSubtype="0" fill="hold" nodeType="clickEffect">
                                  <p:stCondLst>
                                    <p:cond delay="0"/>
                                  </p:stCondLst>
                                  <p:childTnLst>
                                    <p:set>
                                      <p:cBhvr>
                                        <p:cTn id="1210" dur="1" fill="hold">
                                          <p:stCondLst>
                                            <p:cond delay="0"/>
                                          </p:stCondLst>
                                        </p:cTn>
                                        <p:tgtEl>
                                          <p:spTgt spid="110">
                                            <p:txEl>
                                              <p:pRg st="4" end="4"/>
                                            </p:txEl>
                                          </p:spTgt>
                                        </p:tgtEl>
                                        <p:attrNameLst>
                                          <p:attrName>style.visibility</p:attrName>
                                        </p:attrNameLst>
                                      </p:cBhvr>
                                      <p:to>
                                        <p:strVal val="visible"/>
                                      </p:to>
                                    </p:set>
                                  </p:childTnLst>
                                </p:cTn>
                              </p:par>
                            </p:childTnLst>
                          </p:cTn>
                        </p:par>
                      </p:childTnLst>
                    </p:cTn>
                  </p:par>
                  <p:par>
                    <p:cTn id="1211" fill="hold">
                      <p:stCondLst>
                        <p:cond delay="indefinite"/>
                      </p:stCondLst>
                      <p:childTnLst>
                        <p:par>
                          <p:cTn id="1212" fill="hold">
                            <p:stCondLst>
                              <p:cond delay="0"/>
                            </p:stCondLst>
                            <p:childTnLst>
                              <p:par>
                                <p:cTn id="1213" presetID="1" presetClass="entr" presetSubtype="0" fill="hold" nodeType="clickEffect">
                                  <p:stCondLst>
                                    <p:cond delay="0"/>
                                  </p:stCondLst>
                                  <p:childTnLst>
                                    <p:set>
                                      <p:cBhvr>
                                        <p:cTn id="1214" dur="1" fill="hold">
                                          <p:stCondLst>
                                            <p:cond delay="0"/>
                                          </p:stCondLst>
                                        </p:cTn>
                                        <p:tgtEl>
                                          <p:spTgt spid="110">
                                            <p:txEl>
                                              <p:pRg st="5" end="5"/>
                                            </p:txEl>
                                          </p:spTgt>
                                        </p:tgtEl>
                                        <p:attrNameLst>
                                          <p:attrName>style.visibility</p:attrName>
                                        </p:attrNameLst>
                                      </p:cBhvr>
                                      <p:to>
                                        <p:strVal val="visible"/>
                                      </p:to>
                                    </p:set>
                                  </p:childTnLst>
                                </p:cTn>
                              </p:par>
                            </p:childTnLst>
                          </p:cTn>
                        </p:par>
                      </p:childTnLst>
                    </p:cTn>
                  </p:par>
                  <p:par>
                    <p:cTn id="1215" fill="hold">
                      <p:stCondLst>
                        <p:cond delay="indefinite"/>
                      </p:stCondLst>
                      <p:childTnLst>
                        <p:par>
                          <p:cTn id="1216" fill="hold">
                            <p:stCondLst>
                              <p:cond delay="0"/>
                            </p:stCondLst>
                            <p:childTnLst>
                              <p:par>
                                <p:cTn id="1217" presetID="1" presetClass="entr" presetSubtype="0" fill="hold" nodeType="clickEffect">
                                  <p:stCondLst>
                                    <p:cond delay="0"/>
                                  </p:stCondLst>
                                  <p:childTnLst>
                                    <p:set>
                                      <p:cBhvr>
                                        <p:cTn id="1218" dur="1" fill="hold">
                                          <p:stCondLst>
                                            <p:cond delay="0"/>
                                          </p:stCondLst>
                                        </p:cTn>
                                        <p:tgtEl>
                                          <p:spTgt spid="110">
                                            <p:txEl>
                                              <p:pRg st="6" end="6"/>
                                            </p:txEl>
                                          </p:spTgt>
                                        </p:tgtEl>
                                        <p:attrNameLst>
                                          <p:attrName>style.visibility</p:attrName>
                                        </p:attrNameLst>
                                      </p:cBhvr>
                                      <p:to>
                                        <p:strVal val="visible"/>
                                      </p:to>
                                    </p:set>
                                  </p:childTnLst>
                                </p:cTn>
                              </p:par>
                            </p:childTnLst>
                          </p:cTn>
                        </p:par>
                      </p:childTnLst>
                    </p:cTn>
                  </p:par>
                  <p:par>
                    <p:cTn id="1219" fill="hold">
                      <p:stCondLst>
                        <p:cond delay="indefinite"/>
                      </p:stCondLst>
                      <p:childTnLst>
                        <p:par>
                          <p:cTn id="1220" fill="hold">
                            <p:stCondLst>
                              <p:cond delay="0"/>
                            </p:stCondLst>
                            <p:childTnLst>
                              <p:par>
                                <p:cTn id="1221" presetID="1" presetClass="entr" presetSubtype="0" fill="hold" nodeType="clickEffect">
                                  <p:stCondLst>
                                    <p:cond delay="0"/>
                                  </p:stCondLst>
                                  <p:childTnLst>
                                    <p:set>
                                      <p:cBhvr>
                                        <p:cTn id="1222" dur="1" fill="hold">
                                          <p:stCondLst>
                                            <p:cond delay="0"/>
                                          </p:stCondLst>
                                        </p:cTn>
                                        <p:tgtEl>
                                          <p:spTgt spid="110">
                                            <p:txEl>
                                              <p:pRg st="7" end="7"/>
                                            </p:txEl>
                                          </p:spTgt>
                                        </p:tgtEl>
                                        <p:attrNameLst>
                                          <p:attrName>style.visibility</p:attrName>
                                        </p:attrNameLst>
                                      </p:cBhvr>
                                      <p:to>
                                        <p:strVal val="visible"/>
                                      </p:to>
                                    </p:set>
                                  </p:childTnLst>
                                </p:cTn>
                              </p:par>
                            </p:childTnLst>
                          </p:cTn>
                        </p:par>
                      </p:childTnLst>
                    </p:cTn>
                  </p:par>
                  <p:par>
                    <p:cTn id="1223" fill="hold">
                      <p:stCondLst>
                        <p:cond delay="indefinite"/>
                      </p:stCondLst>
                      <p:childTnLst>
                        <p:par>
                          <p:cTn id="1224" fill="hold">
                            <p:stCondLst>
                              <p:cond delay="0"/>
                            </p:stCondLst>
                            <p:childTnLst>
                              <p:par>
                                <p:cTn id="1225" presetID="1" presetClass="entr" presetSubtype="0" fill="hold" nodeType="clickEffect">
                                  <p:stCondLst>
                                    <p:cond delay="0"/>
                                  </p:stCondLst>
                                  <p:childTnLst>
                                    <p:set>
                                      <p:cBhvr>
                                        <p:cTn id="1226" dur="1" fill="hold">
                                          <p:stCondLst>
                                            <p:cond delay="0"/>
                                          </p:stCondLst>
                                        </p:cTn>
                                        <p:tgtEl>
                                          <p:spTgt spid="110">
                                            <p:txEl>
                                              <p:pRg st="8" end="8"/>
                                            </p:txEl>
                                          </p:spTgt>
                                        </p:tgtEl>
                                        <p:attrNameLst>
                                          <p:attrName>style.visibility</p:attrName>
                                        </p:attrNameLst>
                                      </p:cBhvr>
                                      <p:to>
                                        <p:strVal val="visible"/>
                                      </p:to>
                                    </p:set>
                                  </p:childTnLst>
                                </p:cTn>
                              </p:par>
                            </p:childTnLst>
                          </p:cTn>
                        </p:par>
                      </p:childTnLst>
                    </p:cTn>
                  </p:par>
                  <p:par>
                    <p:cTn id="1227" fill="hold">
                      <p:stCondLst>
                        <p:cond delay="indefinite"/>
                      </p:stCondLst>
                      <p:childTnLst>
                        <p:par>
                          <p:cTn id="1228" fill="hold">
                            <p:stCondLst>
                              <p:cond delay="0"/>
                            </p:stCondLst>
                            <p:childTnLst>
                              <p:par>
                                <p:cTn id="1229" presetID="1" presetClass="entr" presetSubtype="0" fill="hold" nodeType="clickEffect">
                                  <p:stCondLst>
                                    <p:cond delay="0"/>
                                  </p:stCondLst>
                                  <p:childTnLst>
                                    <p:set>
                                      <p:cBhvr>
                                        <p:cTn id="1230" dur="1" fill="hold">
                                          <p:stCondLst>
                                            <p:cond delay="0"/>
                                          </p:stCondLst>
                                        </p:cTn>
                                        <p:tgtEl>
                                          <p:spTgt spid="111">
                                            <p:txEl>
                                              <p:pRg st="0" end="0"/>
                                            </p:txEl>
                                          </p:spTgt>
                                        </p:tgtEl>
                                        <p:attrNameLst>
                                          <p:attrName>style.visibility</p:attrName>
                                        </p:attrNameLst>
                                      </p:cBhvr>
                                      <p:to>
                                        <p:strVal val="visible"/>
                                      </p:to>
                                    </p:set>
                                  </p:childTnLst>
                                </p:cTn>
                              </p:par>
                            </p:childTnLst>
                          </p:cTn>
                        </p:par>
                      </p:childTnLst>
                    </p:cTn>
                  </p:par>
                  <p:par>
                    <p:cTn id="1231" fill="hold">
                      <p:stCondLst>
                        <p:cond delay="indefinite"/>
                      </p:stCondLst>
                      <p:childTnLst>
                        <p:par>
                          <p:cTn id="1232" fill="hold">
                            <p:stCondLst>
                              <p:cond delay="0"/>
                            </p:stCondLst>
                            <p:childTnLst>
                              <p:par>
                                <p:cTn id="1233" presetID="1" presetClass="entr" presetSubtype="0" fill="hold" nodeType="clickEffect">
                                  <p:stCondLst>
                                    <p:cond delay="0"/>
                                  </p:stCondLst>
                                  <p:childTnLst>
                                    <p:set>
                                      <p:cBhvr>
                                        <p:cTn id="1234" dur="1" fill="hold">
                                          <p:stCondLst>
                                            <p:cond delay="0"/>
                                          </p:stCondLst>
                                        </p:cTn>
                                        <p:tgtEl>
                                          <p:spTgt spid="111">
                                            <p:txEl>
                                              <p:pRg st="1" end="1"/>
                                            </p:txEl>
                                          </p:spTgt>
                                        </p:tgtEl>
                                        <p:attrNameLst>
                                          <p:attrName>style.visibility</p:attrName>
                                        </p:attrNameLst>
                                      </p:cBhvr>
                                      <p:to>
                                        <p:strVal val="visible"/>
                                      </p:to>
                                    </p:set>
                                  </p:childTnLst>
                                </p:cTn>
                              </p:par>
                            </p:childTnLst>
                          </p:cTn>
                        </p:par>
                      </p:childTnLst>
                    </p:cTn>
                  </p:par>
                  <p:par>
                    <p:cTn id="1235" fill="hold">
                      <p:stCondLst>
                        <p:cond delay="indefinite"/>
                      </p:stCondLst>
                      <p:childTnLst>
                        <p:par>
                          <p:cTn id="1236" fill="hold">
                            <p:stCondLst>
                              <p:cond delay="0"/>
                            </p:stCondLst>
                            <p:childTnLst>
                              <p:par>
                                <p:cTn id="1237" presetID="1" presetClass="entr" presetSubtype="0" fill="hold" nodeType="clickEffect">
                                  <p:stCondLst>
                                    <p:cond delay="0"/>
                                  </p:stCondLst>
                                  <p:childTnLst>
                                    <p:set>
                                      <p:cBhvr>
                                        <p:cTn id="1238" dur="1" fill="hold">
                                          <p:stCondLst>
                                            <p:cond delay="0"/>
                                          </p:stCondLst>
                                        </p:cTn>
                                        <p:tgtEl>
                                          <p:spTgt spid="111">
                                            <p:txEl>
                                              <p:pRg st="2" end="2"/>
                                            </p:txEl>
                                          </p:spTgt>
                                        </p:tgtEl>
                                        <p:attrNameLst>
                                          <p:attrName>style.visibility</p:attrName>
                                        </p:attrNameLst>
                                      </p:cBhvr>
                                      <p:to>
                                        <p:strVal val="visible"/>
                                      </p:to>
                                    </p:set>
                                  </p:childTnLst>
                                </p:cTn>
                              </p:par>
                            </p:childTnLst>
                          </p:cTn>
                        </p:par>
                      </p:childTnLst>
                    </p:cTn>
                  </p:par>
                  <p:par>
                    <p:cTn id="1239" fill="hold">
                      <p:stCondLst>
                        <p:cond delay="indefinite"/>
                      </p:stCondLst>
                      <p:childTnLst>
                        <p:par>
                          <p:cTn id="1240" fill="hold">
                            <p:stCondLst>
                              <p:cond delay="0"/>
                            </p:stCondLst>
                            <p:childTnLst>
                              <p:par>
                                <p:cTn id="1241" presetID="1" presetClass="entr" presetSubtype="0" fill="hold" nodeType="clickEffect">
                                  <p:stCondLst>
                                    <p:cond delay="0"/>
                                  </p:stCondLst>
                                  <p:childTnLst>
                                    <p:set>
                                      <p:cBhvr>
                                        <p:cTn id="1242" dur="1" fill="hold">
                                          <p:stCondLst>
                                            <p:cond delay="0"/>
                                          </p:stCondLst>
                                        </p:cTn>
                                        <p:tgtEl>
                                          <p:spTgt spid="111">
                                            <p:txEl>
                                              <p:pRg st="3" end="3"/>
                                            </p:txEl>
                                          </p:spTgt>
                                        </p:tgtEl>
                                        <p:attrNameLst>
                                          <p:attrName>style.visibility</p:attrName>
                                        </p:attrNameLst>
                                      </p:cBhvr>
                                      <p:to>
                                        <p:strVal val="visible"/>
                                      </p:to>
                                    </p:set>
                                  </p:childTnLst>
                                </p:cTn>
                              </p:par>
                            </p:childTnLst>
                          </p:cTn>
                        </p:par>
                      </p:childTnLst>
                    </p:cTn>
                  </p:par>
                  <p:par>
                    <p:cTn id="1243" fill="hold">
                      <p:stCondLst>
                        <p:cond delay="indefinite"/>
                      </p:stCondLst>
                      <p:childTnLst>
                        <p:par>
                          <p:cTn id="1244" fill="hold">
                            <p:stCondLst>
                              <p:cond delay="0"/>
                            </p:stCondLst>
                            <p:childTnLst>
                              <p:par>
                                <p:cTn id="1245" presetID="1" presetClass="entr" presetSubtype="0" fill="hold" nodeType="clickEffect">
                                  <p:stCondLst>
                                    <p:cond delay="0"/>
                                  </p:stCondLst>
                                  <p:childTnLst>
                                    <p:set>
                                      <p:cBhvr>
                                        <p:cTn id="1246" dur="1" fill="hold">
                                          <p:stCondLst>
                                            <p:cond delay="0"/>
                                          </p:stCondLst>
                                        </p:cTn>
                                        <p:tgtEl>
                                          <p:spTgt spid="111">
                                            <p:txEl>
                                              <p:pRg st="4" end="4"/>
                                            </p:txEl>
                                          </p:spTgt>
                                        </p:tgtEl>
                                        <p:attrNameLst>
                                          <p:attrName>style.visibility</p:attrName>
                                        </p:attrNameLst>
                                      </p:cBhvr>
                                      <p:to>
                                        <p:strVal val="visible"/>
                                      </p:to>
                                    </p:set>
                                  </p:childTnLst>
                                </p:cTn>
                              </p:par>
                            </p:childTnLst>
                          </p:cTn>
                        </p:par>
                      </p:childTnLst>
                    </p:cTn>
                  </p:par>
                  <p:par>
                    <p:cTn id="1247" fill="hold">
                      <p:stCondLst>
                        <p:cond delay="indefinite"/>
                      </p:stCondLst>
                      <p:childTnLst>
                        <p:par>
                          <p:cTn id="1248" fill="hold">
                            <p:stCondLst>
                              <p:cond delay="0"/>
                            </p:stCondLst>
                            <p:childTnLst>
                              <p:par>
                                <p:cTn id="1249" presetID="1" presetClass="entr" presetSubtype="0" fill="hold" nodeType="clickEffect">
                                  <p:stCondLst>
                                    <p:cond delay="0"/>
                                  </p:stCondLst>
                                  <p:childTnLst>
                                    <p:set>
                                      <p:cBhvr>
                                        <p:cTn id="1250" dur="1" fill="hold">
                                          <p:stCondLst>
                                            <p:cond delay="0"/>
                                          </p:stCondLst>
                                        </p:cTn>
                                        <p:tgtEl>
                                          <p:spTgt spid="111">
                                            <p:txEl>
                                              <p:pRg st="5" end="5"/>
                                            </p:txEl>
                                          </p:spTgt>
                                        </p:tgtEl>
                                        <p:attrNameLst>
                                          <p:attrName>style.visibility</p:attrName>
                                        </p:attrNameLst>
                                      </p:cBhvr>
                                      <p:to>
                                        <p:strVal val="visible"/>
                                      </p:to>
                                    </p:set>
                                  </p:childTnLst>
                                </p:cTn>
                              </p:par>
                            </p:childTnLst>
                          </p:cTn>
                        </p:par>
                      </p:childTnLst>
                    </p:cTn>
                  </p:par>
                  <p:par>
                    <p:cTn id="1251" fill="hold">
                      <p:stCondLst>
                        <p:cond delay="indefinite"/>
                      </p:stCondLst>
                      <p:childTnLst>
                        <p:par>
                          <p:cTn id="1252" fill="hold">
                            <p:stCondLst>
                              <p:cond delay="0"/>
                            </p:stCondLst>
                            <p:childTnLst>
                              <p:par>
                                <p:cTn id="1253" presetID="1" presetClass="entr" presetSubtype="0" fill="hold" nodeType="clickEffect">
                                  <p:stCondLst>
                                    <p:cond delay="0"/>
                                  </p:stCondLst>
                                  <p:childTnLst>
                                    <p:set>
                                      <p:cBhvr>
                                        <p:cTn id="1254" dur="1" fill="hold">
                                          <p:stCondLst>
                                            <p:cond delay="0"/>
                                          </p:stCondLst>
                                        </p:cTn>
                                        <p:tgtEl>
                                          <p:spTgt spid="111">
                                            <p:txEl>
                                              <p:pRg st="6" end="6"/>
                                            </p:txEl>
                                          </p:spTgt>
                                        </p:tgtEl>
                                        <p:attrNameLst>
                                          <p:attrName>style.visibility</p:attrName>
                                        </p:attrNameLst>
                                      </p:cBhvr>
                                      <p:to>
                                        <p:strVal val="visible"/>
                                      </p:to>
                                    </p:set>
                                  </p:childTnLst>
                                </p:cTn>
                              </p:par>
                            </p:childTnLst>
                          </p:cTn>
                        </p:par>
                      </p:childTnLst>
                    </p:cTn>
                  </p:par>
                  <p:par>
                    <p:cTn id="1255" fill="hold">
                      <p:stCondLst>
                        <p:cond delay="indefinite"/>
                      </p:stCondLst>
                      <p:childTnLst>
                        <p:par>
                          <p:cTn id="1256" fill="hold">
                            <p:stCondLst>
                              <p:cond delay="0"/>
                            </p:stCondLst>
                            <p:childTnLst>
                              <p:par>
                                <p:cTn id="1257" presetID="1" presetClass="entr" presetSubtype="0" fill="hold" nodeType="clickEffect">
                                  <p:stCondLst>
                                    <p:cond delay="0"/>
                                  </p:stCondLst>
                                  <p:childTnLst>
                                    <p:set>
                                      <p:cBhvr>
                                        <p:cTn id="1258" dur="1" fill="hold">
                                          <p:stCondLst>
                                            <p:cond delay="0"/>
                                          </p:stCondLst>
                                        </p:cTn>
                                        <p:tgtEl>
                                          <p:spTgt spid="111">
                                            <p:txEl>
                                              <p:pRg st="7" end="7"/>
                                            </p:txEl>
                                          </p:spTgt>
                                        </p:tgtEl>
                                        <p:attrNameLst>
                                          <p:attrName>style.visibility</p:attrName>
                                        </p:attrNameLst>
                                      </p:cBhvr>
                                      <p:to>
                                        <p:strVal val="visible"/>
                                      </p:to>
                                    </p:set>
                                  </p:childTnLst>
                                </p:cTn>
                              </p:par>
                            </p:childTnLst>
                          </p:cTn>
                        </p:par>
                      </p:childTnLst>
                    </p:cTn>
                  </p:par>
                  <p:par>
                    <p:cTn id="1259" fill="hold">
                      <p:stCondLst>
                        <p:cond delay="indefinite"/>
                      </p:stCondLst>
                      <p:childTnLst>
                        <p:par>
                          <p:cTn id="1260" fill="hold">
                            <p:stCondLst>
                              <p:cond delay="0"/>
                            </p:stCondLst>
                            <p:childTnLst>
                              <p:par>
                                <p:cTn id="1261" presetID="1" presetClass="entr" presetSubtype="0" fill="hold" nodeType="clickEffect">
                                  <p:stCondLst>
                                    <p:cond delay="0"/>
                                  </p:stCondLst>
                                  <p:childTnLst>
                                    <p:set>
                                      <p:cBhvr>
                                        <p:cTn id="1262" dur="1" fill="hold">
                                          <p:stCondLst>
                                            <p:cond delay="0"/>
                                          </p:stCondLst>
                                        </p:cTn>
                                        <p:tgtEl>
                                          <p:spTgt spid="111">
                                            <p:txEl>
                                              <p:pRg st="8" end="8"/>
                                            </p:txEl>
                                          </p:spTgt>
                                        </p:tgtEl>
                                        <p:attrNameLst>
                                          <p:attrName>style.visibility</p:attrName>
                                        </p:attrNameLst>
                                      </p:cBhvr>
                                      <p:to>
                                        <p:strVal val="visible"/>
                                      </p:to>
                                    </p:set>
                                  </p:childTnLst>
                                </p:cTn>
                              </p:par>
                            </p:childTnLst>
                          </p:cTn>
                        </p:par>
                      </p:childTnLst>
                    </p:cTn>
                  </p:par>
                  <p:par>
                    <p:cTn id="1263" fill="hold">
                      <p:stCondLst>
                        <p:cond delay="indefinite"/>
                      </p:stCondLst>
                      <p:childTnLst>
                        <p:par>
                          <p:cTn id="1264" fill="hold">
                            <p:stCondLst>
                              <p:cond delay="0"/>
                            </p:stCondLst>
                            <p:childTnLst>
                              <p:par>
                                <p:cTn id="1265" presetID="1" presetClass="entr" presetSubtype="0" fill="hold" nodeType="clickEffect">
                                  <p:stCondLst>
                                    <p:cond delay="0"/>
                                  </p:stCondLst>
                                  <p:childTnLst>
                                    <p:set>
                                      <p:cBhvr>
                                        <p:cTn id="1266" dur="1" fill="hold">
                                          <p:stCondLst>
                                            <p:cond delay="0"/>
                                          </p:stCondLst>
                                        </p:cTn>
                                        <p:tgtEl>
                                          <p:spTgt spid="112">
                                            <p:txEl>
                                              <p:pRg st="0" end="0"/>
                                            </p:txEl>
                                          </p:spTgt>
                                        </p:tgtEl>
                                        <p:attrNameLst>
                                          <p:attrName>style.visibility</p:attrName>
                                        </p:attrNameLst>
                                      </p:cBhvr>
                                      <p:to>
                                        <p:strVal val="visible"/>
                                      </p:to>
                                    </p:set>
                                  </p:childTnLst>
                                </p:cTn>
                              </p:par>
                            </p:childTnLst>
                          </p:cTn>
                        </p:par>
                      </p:childTnLst>
                    </p:cTn>
                  </p:par>
                  <p:par>
                    <p:cTn id="1267" fill="hold">
                      <p:stCondLst>
                        <p:cond delay="indefinite"/>
                      </p:stCondLst>
                      <p:childTnLst>
                        <p:par>
                          <p:cTn id="1268" fill="hold">
                            <p:stCondLst>
                              <p:cond delay="0"/>
                            </p:stCondLst>
                            <p:childTnLst>
                              <p:par>
                                <p:cTn id="1269" presetID="1" presetClass="entr" presetSubtype="0" fill="hold" nodeType="clickEffect">
                                  <p:stCondLst>
                                    <p:cond delay="0"/>
                                  </p:stCondLst>
                                  <p:childTnLst>
                                    <p:set>
                                      <p:cBhvr>
                                        <p:cTn id="1270" dur="1" fill="hold">
                                          <p:stCondLst>
                                            <p:cond delay="0"/>
                                          </p:stCondLst>
                                        </p:cTn>
                                        <p:tgtEl>
                                          <p:spTgt spid="112">
                                            <p:txEl>
                                              <p:pRg st="1" end="1"/>
                                            </p:txEl>
                                          </p:spTgt>
                                        </p:tgtEl>
                                        <p:attrNameLst>
                                          <p:attrName>style.visibility</p:attrName>
                                        </p:attrNameLst>
                                      </p:cBhvr>
                                      <p:to>
                                        <p:strVal val="visible"/>
                                      </p:to>
                                    </p:set>
                                  </p:childTnLst>
                                </p:cTn>
                              </p:par>
                            </p:childTnLst>
                          </p:cTn>
                        </p:par>
                      </p:childTnLst>
                    </p:cTn>
                  </p:par>
                  <p:par>
                    <p:cTn id="1271" fill="hold">
                      <p:stCondLst>
                        <p:cond delay="indefinite"/>
                      </p:stCondLst>
                      <p:childTnLst>
                        <p:par>
                          <p:cTn id="1272" fill="hold">
                            <p:stCondLst>
                              <p:cond delay="0"/>
                            </p:stCondLst>
                            <p:childTnLst>
                              <p:par>
                                <p:cTn id="1273" presetID="1" presetClass="entr" presetSubtype="0" fill="hold" nodeType="clickEffect">
                                  <p:stCondLst>
                                    <p:cond delay="0"/>
                                  </p:stCondLst>
                                  <p:childTnLst>
                                    <p:set>
                                      <p:cBhvr>
                                        <p:cTn id="1274" dur="1" fill="hold">
                                          <p:stCondLst>
                                            <p:cond delay="0"/>
                                          </p:stCondLst>
                                        </p:cTn>
                                        <p:tgtEl>
                                          <p:spTgt spid="112">
                                            <p:txEl>
                                              <p:pRg st="2" end="2"/>
                                            </p:txEl>
                                          </p:spTgt>
                                        </p:tgtEl>
                                        <p:attrNameLst>
                                          <p:attrName>style.visibility</p:attrName>
                                        </p:attrNameLst>
                                      </p:cBhvr>
                                      <p:to>
                                        <p:strVal val="visible"/>
                                      </p:to>
                                    </p:set>
                                  </p:childTnLst>
                                </p:cTn>
                              </p:par>
                            </p:childTnLst>
                          </p:cTn>
                        </p:par>
                      </p:childTnLst>
                    </p:cTn>
                  </p:par>
                  <p:par>
                    <p:cTn id="1275" fill="hold">
                      <p:stCondLst>
                        <p:cond delay="indefinite"/>
                      </p:stCondLst>
                      <p:childTnLst>
                        <p:par>
                          <p:cTn id="1276" fill="hold">
                            <p:stCondLst>
                              <p:cond delay="0"/>
                            </p:stCondLst>
                            <p:childTnLst>
                              <p:par>
                                <p:cTn id="1277" presetID="1" presetClass="entr" presetSubtype="0" fill="hold" nodeType="clickEffect">
                                  <p:stCondLst>
                                    <p:cond delay="0"/>
                                  </p:stCondLst>
                                  <p:childTnLst>
                                    <p:set>
                                      <p:cBhvr>
                                        <p:cTn id="1278" dur="1" fill="hold">
                                          <p:stCondLst>
                                            <p:cond delay="0"/>
                                          </p:stCondLst>
                                        </p:cTn>
                                        <p:tgtEl>
                                          <p:spTgt spid="112">
                                            <p:txEl>
                                              <p:pRg st="3" end="3"/>
                                            </p:txEl>
                                          </p:spTgt>
                                        </p:tgtEl>
                                        <p:attrNameLst>
                                          <p:attrName>style.visibility</p:attrName>
                                        </p:attrNameLst>
                                      </p:cBhvr>
                                      <p:to>
                                        <p:strVal val="visible"/>
                                      </p:to>
                                    </p:set>
                                  </p:childTnLst>
                                </p:cTn>
                              </p:par>
                            </p:childTnLst>
                          </p:cTn>
                        </p:par>
                      </p:childTnLst>
                    </p:cTn>
                  </p:par>
                  <p:par>
                    <p:cTn id="1279" fill="hold">
                      <p:stCondLst>
                        <p:cond delay="indefinite"/>
                      </p:stCondLst>
                      <p:childTnLst>
                        <p:par>
                          <p:cTn id="1280" fill="hold">
                            <p:stCondLst>
                              <p:cond delay="0"/>
                            </p:stCondLst>
                            <p:childTnLst>
                              <p:par>
                                <p:cTn id="1281" presetID="1" presetClass="entr" presetSubtype="0" fill="hold" nodeType="clickEffect">
                                  <p:stCondLst>
                                    <p:cond delay="0"/>
                                  </p:stCondLst>
                                  <p:childTnLst>
                                    <p:set>
                                      <p:cBhvr>
                                        <p:cTn id="1282" dur="1" fill="hold">
                                          <p:stCondLst>
                                            <p:cond delay="0"/>
                                          </p:stCondLst>
                                        </p:cTn>
                                        <p:tgtEl>
                                          <p:spTgt spid="112">
                                            <p:txEl>
                                              <p:pRg st="4" end="4"/>
                                            </p:txEl>
                                          </p:spTgt>
                                        </p:tgtEl>
                                        <p:attrNameLst>
                                          <p:attrName>style.visibility</p:attrName>
                                        </p:attrNameLst>
                                      </p:cBhvr>
                                      <p:to>
                                        <p:strVal val="visible"/>
                                      </p:to>
                                    </p:set>
                                  </p:childTnLst>
                                </p:cTn>
                              </p:par>
                            </p:childTnLst>
                          </p:cTn>
                        </p:par>
                      </p:childTnLst>
                    </p:cTn>
                  </p:par>
                  <p:par>
                    <p:cTn id="1283" fill="hold">
                      <p:stCondLst>
                        <p:cond delay="indefinite"/>
                      </p:stCondLst>
                      <p:childTnLst>
                        <p:par>
                          <p:cTn id="1284" fill="hold">
                            <p:stCondLst>
                              <p:cond delay="0"/>
                            </p:stCondLst>
                            <p:childTnLst>
                              <p:par>
                                <p:cTn id="1285" presetID="1" presetClass="entr" presetSubtype="0" fill="hold" nodeType="clickEffect">
                                  <p:stCondLst>
                                    <p:cond delay="0"/>
                                  </p:stCondLst>
                                  <p:childTnLst>
                                    <p:set>
                                      <p:cBhvr>
                                        <p:cTn id="1286" dur="1" fill="hold">
                                          <p:stCondLst>
                                            <p:cond delay="0"/>
                                          </p:stCondLst>
                                        </p:cTn>
                                        <p:tgtEl>
                                          <p:spTgt spid="112">
                                            <p:txEl>
                                              <p:pRg st="5" end="5"/>
                                            </p:txEl>
                                          </p:spTgt>
                                        </p:tgtEl>
                                        <p:attrNameLst>
                                          <p:attrName>style.visibility</p:attrName>
                                        </p:attrNameLst>
                                      </p:cBhvr>
                                      <p:to>
                                        <p:strVal val="visible"/>
                                      </p:to>
                                    </p:set>
                                  </p:childTnLst>
                                </p:cTn>
                              </p:par>
                            </p:childTnLst>
                          </p:cTn>
                        </p:par>
                      </p:childTnLst>
                    </p:cTn>
                  </p:par>
                  <p:par>
                    <p:cTn id="1287" fill="hold">
                      <p:stCondLst>
                        <p:cond delay="indefinite"/>
                      </p:stCondLst>
                      <p:childTnLst>
                        <p:par>
                          <p:cTn id="1288" fill="hold">
                            <p:stCondLst>
                              <p:cond delay="0"/>
                            </p:stCondLst>
                            <p:childTnLst>
                              <p:par>
                                <p:cTn id="1289" presetID="1" presetClass="entr" presetSubtype="0" fill="hold" nodeType="clickEffect">
                                  <p:stCondLst>
                                    <p:cond delay="0"/>
                                  </p:stCondLst>
                                  <p:childTnLst>
                                    <p:set>
                                      <p:cBhvr>
                                        <p:cTn id="1290" dur="1" fill="hold">
                                          <p:stCondLst>
                                            <p:cond delay="0"/>
                                          </p:stCondLst>
                                        </p:cTn>
                                        <p:tgtEl>
                                          <p:spTgt spid="112">
                                            <p:txEl>
                                              <p:pRg st="6" end="6"/>
                                            </p:txEl>
                                          </p:spTgt>
                                        </p:tgtEl>
                                        <p:attrNameLst>
                                          <p:attrName>style.visibility</p:attrName>
                                        </p:attrNameLst>
                                      </p:cBhvr>
                                      <p:to>
                                        <p:strVal val="visible"/>
                                      </p:to>
                                    </p:set>
                                  </p:childTnLst>
                                </p:cTn>
                              </p:par>
                            </p:childTnLst>
                          </p:cTn>
                        </p:par>
                      </p:childTnLst>
                    </p:cTn>
                  </p:par>
                  <p:par>
                    <p:cTn id="1291" fill="hold">
                      <p:stCondLst>
                        <p:cond delay="indefinite"/>
                      </p:stCondLst>
                      <p:childTnLst>
                        <p:par>
                          <p:cTn id="1292" fill="hold">
                            <p:stCondLst>
                              <p:cond delay="0"/>
                            </p:stCondLst>
                            <p:childTnLst>
                              <p:par>
                                <p:cTn id="1293" presetID="1" presetClass="entr" presetSubtype="0" fill="hold" nodeType="clickEffect">
                                  <p:stCondLst>
                                    <p:cond delay="0"/>
                                  </p:stCondLst>
                                  <p:childTnLst>
                                    <p:set>
                                      <p:cBhvr>
                                        <p:cTn id="1294" dur="1" fill="hold">
                                          <p:stCondLst>
                                            <p:cond delay="0"/>
                                          </p:stCondLst>
                                        </p:cTn>
                                        <p:tgtEl>
                                          <p:spTgt spid="112">
                                            <p:txEl>
                                              <p:pRg st="7" end="7"/>
                                            </p:txEl>
                                          </p:spTgt>
                                        </p:tgtEl>
                                        <p:attrNameLst>
                                          <p:attrName>style.visibility</p:attrName>
                                        </p:attrNameLst>
                                      </p:cBhvr>
                                      <p:to>
                                        <p:strVal val="visible"/>
                                      </p:to>
                                    </p:set>
                                  </p:childTnLst>
                                </p:cTn>
                              </p:par>
                            </p:childTnLst>
                          </p:cTn>
                        </p:par>
                      </p:childTnLst>
                    </p:cTn>
                  </p:par>
                  <p:par>
                    <p:cTn id="1295" fill="hold">
                      <p:stCondLst>
                        <p:cond delay="indefinite"/>
                      </p:stCondLst>
                      <p:childTnLst>
                        <p:par>
                          <p:cTn id="1296" fill="hold">
                            <p:stCondLst>
                              <p:cond delay="0"/>
                            </p:stCondLst>
                            <p:childTnLst>
                              <p:par>
                                <p:cTn id="1297" presetID="1" presetClass="entr" presetSubtype="0" fill="hold" nodeType="clickEffect">
                                  <p:stCondLst>
                                    <p:cond delay="0"/>
                                  </p:stCondLst>
                                  <p:childTnLst>
                                    <p:set>
                                      <p:cBhvr>
                                        <p:cTn id="1298" dur="1" fill="hold">
                                          <p:stCondLst>
                                            <p:cond delay="0"/>
                                          </p:stCondLst>
                                        </p:cTn>
                                        <p:tgtEl>
                                          <p:spTgt spid="112">
                                            <p:txEl>
                                              <p:pRg st="8" end="8"/>
                                            </p:txEl>
                                          </p:spTgt>
                                        </p:tgtEl>
                                        <p:attrNameLst>
                                          <p:attrName>style.visibility</p:attrName>
                                        </p:attrNameLst>
                                      </p:cBhvr>
                                      <p:to>
                                        <p:strVal val="visible"/>
                                      </p:to>
                                    </p:set>
                                  </p:childTnLst>
                                </p:cTn>
                              </p:par>
                            </p:childTnLst>
                          </p:cTn>
                        </p:par>
                      </p:childTnLst>
                    </p:cTn>
                  </p:par>
                  <p:par>
                    <p:cTn id="1299" fill="hold">
                      <p:stCondLst>
                        <p:cond delay="indefinite"/>
                      </p:stCondLst>
                      <p:childTnLst>
                        <p:par>
                          <p:cTn id="1300" fill="hold">
                            <p:stCondLst>
                              <p:cond delay="0"/>
                            </p:stCondLst>
                            <p:childTnLst>
                              <p:par>
                                <p:cTn id="1301" presetID="1" presetClass="entr" presetSubtype="0" fill="hold" nodeType="clickEffect">
                                  <p:stCondLst>
                                    <p:cond delay="0"/>
                                  </p:stCondLst>
                                  <p:childTnLst>
                                    <p:set>
                                      <p:cBhvr>
                                        <p:cTn id="1302"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1303" fill="hold">
                      <p:stCondLst>
                        <p:cond delay="indefinite"/>
                      </p:stCondLst>
                      <p:childTnLst>
                        <p:par>
                          <p:cTn id="1304" fill="hold">
                            <p:stCondLst>
                              <p:cond delay="0"/>
                            </p:stCondLst>
                            <p:childTnLst>
                              <p:par>
                                <p:cTn id="1305" presetID="1" presetClass="entr" presetSubtype="0" fill="hold" nodeType="clickEffect">
                                  <p:stCondLst>
                                    <p:cond delay="0"/>
                                  </p:stCondLst>
                                  <p:childTnLst>
                                    <p:set>
                                      <p:cBhvr>
                                        <p:cTn id="1306" dur="1" fill="hold">
                                          <p:stCondLst>
                                            <p:cond delay="0"/>
                                          </p:stCondLst>
                                        </p:cTn>
                                        <p:tgtEl>
                                          <p:spTgt spid="113">
                                            <p:txEl>
                                              <p:pRg st="1" end="1"/>
                                            </p:txEl>
                                          </p:spTgt>
                                        </p:tgtEl>
                                        <p:attrNameLst>
                                          <p:attrName>style.visibility</p:attrName>
                                        </p:attrNameLst>
                                      </p:cBhvr>
                                      <p:to>
                                        <p:strVal val="visible"/>
                                      </p:to>
                                    </p:set>
                                  </p:childTnLst>
                                </p:cTn>
                              </p:par>
                            </p:childTnLst>
                          </p:cTn>
                        </p:par>
                      </p:childTnLst>
                    </p:cTn>
                  </p:par>
                  <p:par>
                    <p:cTn id="1307" fill="hold">
                      <p:stCondLst>
                        <p:cond delay="indefinite"/>
                      </p:stCondLst>
                      <p:childTnLst>
                        <p:par>
                          <p:cTn id="1308" fill="hold">
                            <p:stCondLst>
                              <p:cond delay="0"/>
                            </p:stCondLst>
                            <p:childTnLst>
                              <p:par>
                                <p:cTn id="1309" presetID="1" presetClass="entr" presetSubtype="0" fill="hold" nodeType="clickEffect">
                                  <p:stCondLst>
                                    <p:cond delay="0"/>
                                  </p:stCondLst>
                                  <p:childTnLst>
                                    <p:set>
                                      <p:cBhvr>
                                        <p:cTn id="1310" dur="1" fill="hold">
                                          <p:stCondLst>
                                            <p:cond delay="0"/>
                                          </p:stCondLst>
                                        </p:cTn>
                                        <p:tgtEl>
                                          <p:spTgt spid="113">
                                            <p:txEl>
                                              <p:pRg st="2" end="2"/>
                                            </p:txEl>
                                          </p:spTgt>
                                        </p:tgtEl>
                                        <p:attrNameLst>
                                          <p:attrName>style.visibility</p:attrName>
                                        </p:attrNameLst>
                                      </p:cBhvr>
                                      <p:to>
                                        <p:strVal val="visible"/>
                                      </p:to>
                                    </p:set>
                                  </p:childTnLst>
                                </p:cTn>
                              </p:par>
                            </p:childTnLst>
                          </p:cTn>
                        </p:par>
                      </p:childTnLst>
                    </p:cTn>
                  </p:par>
                  <p:par>
                    <p:cTn id="1311" fill="hold">
                      <p:stCondLst>
                        <p:cond delay="indefinite"/>
                      </p:stCondLst>
                      <p:childTnLst>
                        <p:par>
                          <p:cTn id="1312" fill="hold">
                            <p:stCondLst>
                              <p:cond delay="0"/>
                            </p:stCondLst>
                            <p:childTnLst>
                              <p:par>
                                <p:cTn id="1313" presetID="1" presetClass="entr" presetSubtype="0" fill="hold" nodeType="clickEffect">
                                  <p:stCondLst>
                                    <p:cond delay="0"/>
                                  </p:stCondLst>
                                  <p:childTnLst>
                                    <p:set>
                                      <p:cBhvr>
                                        <p:cTn id="1314"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1315" fill="hold">
                      <p:stCondLst>
                        <p:cond delay="indefinite"/>
                      </p:stCondLst>
                      <p:childTnLst>
                        <p:par>
                          <p:cTn id="1316" fill="hold">
                            <p:stCondLst>
                              <p:cond delay="0"/>
                            </p:stCondLst>
                            <p:childTnLst>
                              <p:par>
                                <p:cTn id="1317" presetID="1" presetClass="entr" presetSubtype="0" fill="hold" nodeType="clickEffect">
                                  <p:stCondLst>
                                    <p:cond delay="0"/>
                                  </p:stCondLst>
                                  <p:childTnLst>
                                    <p:set>
                                      <p:cBhvr>
                                        <p:cTn id="1318" dur="1" fill="hold">
                                          <p:stCondLst>
                                            <p:cond delay="0"/>
                                          </p:stCondLst>
                                        </p:cTn>
                                        <p:tgtEl>
                                          <p:spTgt spid="113">
                                            <p:txEl>
                                              <p:pRg st="4" end="4"/>
                                            </p:txEl>
                                          </p:spTgt>
                                        </p:tgtEl>
                                        <p:attrNameLst>
                                          <p:attrName>style.visibility</p:attrName>
                                        </p:attrNameLst>
                                      </p:cBhvr>
                                      <p:to>
                                        <p:strVal val="visible"/>
                                      </p:to>
                                    </p:set>
                                  </p:childTnLst>
                                </p:cTn>
                              </p:par>
                            </p:childTnLst>
                          </p:cTn>
                        </p:par>
                      </p:childTnLst>
                    </p:cTn>
                  </p:par>
                  <p:par>
                    <p:cTn id="1319" fill="hold">
                      <p:stCondLst>
                        <p:cond delay="indefinite"/>
                      </p:stCondLst>
                      <p:childTnLst>
                        <p:par>
                          <p:cTn id="1320" fill="hold">
                            <p:stCondLst>
                              <p:cond delay="0"/>
                            </p:stCondLst>
                            <p:childTnLst>
                              <p:par>
                                <p:cTn id="1321" presetID="1" presetClass="entr" presetSubtype="0" fill="hold" nodeType="clickEffect">
                                  <p:stCondLst>
                                    <p:cond delay="0"/>
                                  </p:stCondLst>
                                  <p:childTnLst>
                                    <p:set>
                                      <p:cBhvr>
                                        <p:cTn id="1322" dur="1" fill="hold">
                                          <p:stCondLst>
                                            <p:cond delay="0"/>
                                          </p:stCondLst>
                                        </p:cTn>
                                        <p:tgtEl>
                                          <p:spTgt spid="113">
                                            <p:txEl>
                                              <p:pRg st="5" end="5"/>
                                            </p:txEl>
                                          </p:spTgt>
                                        </p:tgtEl>
                                        <p:attrNameLst>
                                          <p:attrName>style.visibility</p:attrName>
                                        </p:attrNameLst>
                                      </p:cBhvr>
                                      <p:to>
                                        <p:strVal val="visible"/>
                                      </p:to>
                                    </p:set>
                                  </p:childTnLst>
                                </p:cTn>
                              </p:par>
                            </p:childTnLst>
                          </p:cTn>
                        </p:par>
                      </p:childTnLst>
                    </p:cTn>
                  </p:par>
                  <p:par>
                    <p:cTn id="1323" fill="hold">
                      <p:stCondLst>
                        <p:cond delay="indefinite"/>
                      </p:stCondLst>
                      <p:childTnLst>
                        <p:par>
                          <p:cTn id="1324" fill="hold">
                            <p:stCondLst>
                              <p:cond delay="0"/>
                            </p:stCondLst>
                            <p:childTnLst>
                              <p:par>
                                <p:cTn id="1325" presetID="1" presetClass="entr" presetSubtype="0" fill="hold" nodeType="clickEffect">
                                  <p:stCondLst>
                                    <p:cond delay="0"/>
                                  </p:stCondLst>
                                  <p:childTnLst>
                                    <p:set>
                                      <p:cBhvr>
                                        <p:cTn id="1326" dur="1" fill="hold">
                                          <p:stCondLst>
                                            <p:cond delay="0"/>
                                          </p:stCondLst>
                                        </p:cTn>
                                        <p:tgtEl>
                                          <p:spTgt spid="113">
                                            <p:txEl>
                                              <p:pRg st="6" end="6"/>
                                            </p:txEl>
                                          </p:spTgt>
                                        </p:tgtEl>
                                        <p:attrNameLst>
                                          <p:attrName>style.visibility</p:attrName>
                                        </p:attrNameLst>
                                      </p:cBhvr>
                                      <p:to>
                                        <p:strVal val="visible"/>
                                      </p:to>
                                    </p:set>
                                  </p:childTnLst>
                                </p:cTn>
                              </p:par>
                            </p:childTnLst>
                          </p:cTn>
                        </p:par>
                      </p:childTnLst>
                    </p:cTn>
                  </p:par>
                  <p:par>
                    <p:cTn id="1327" fill="hold">
                      <p:stCondLst>
                        <p:cond delay="indefinite"/>
                      </p:stCondLst>
                      <p:childTnLst>
                        <p:par>
                          <p:cTn id="1328" fill="hold">
                            <p:stCondLst>
                              <p:cond delay="0"/>
                            </p:stCondLst>
                            <p:childTnLst>
                              <p:par>
                                <p:cTn id="1329" presetID="1" presetClass="entr" presetSubtype="0" fill="hold" nodeType="clickEffect">
                                  <p:stCondLst>
                                    <p:cond delay="0"/>
                                  </p:stCondLst>
                                  <p:childTnLst>
                                    <p:set>
                                      <p:cBhvr>
                                        <p:cTn id="1330" dur="1" fill="hold">
                                          <p:stCondLst>
                                            <p:cond delay="0"/>
                                          </p:stCondLst>
                                        </p:cTn>
                                        <p:tgtEl>
                                          <p:spTgt spid="113">
                                            <p:txEl>
                                              <p:pRg st="7" end="7"/>
                                            </p:txEl>
                                          </p:spTgt>
                                        </p:tgtEl>
                                        <p:attrNameLst>
                                          <p:attrName>style.visibility</p:attrName>
                                        </p:attrNameLst>
                                      </p:cBhvr>
                                      <p:to>
                                        <p:strVal val="visible"/>
                                      </p:to>
                                    </p:set>
                                  </p:childTnLst>
                                </p:cTn>
                              </p:par>
                            </p:childTnLst>
                          </p:cTn>
                        </p:par>
                      </p:childTnLst>
                    </p:cTn>
                  </p:par>
                  <p:par>
                    <p:cTn id="1331" fill="hold">
                      <p:stCondLst>
                        <p:cond delay="indefinite"/>
                      </p:stCondLst>
                      <p:childTnLst>
                        <p:par>
                          <p:cTn id="1332" fill="hold">
                            <p:stCondLst>
                              <p:cond delay="0"/>
                            </p:stCondLst>
                            <p:childTnLst>
                              <p:par>
                                <p:cTn id="1333" presetID="1" presetClass="entr" presetSubtype="0" fill="hold" nodeType="clickEffect">
                                  <p:stCondLst>
                                    <p:cond delay="0"/>
                                  </p:stCondLst>
                                  <p:childTnLst>
                                    <p:set>
                                      <p:cBhvr>
                                        <p:cTn id="1334" dur="1" fill="hold">
                                          <p:stCondLst>
                                            <p:cond delay="0"/>
                                          </p:stCondLst>
                                        </p:cTn>
                                        <p:tgtEl>
                                          <p:spTgt spid="113">
                                            <p:txEl>
                                              <p:pRg st="8" end="8"/>
                                            </p:txEl>
                                          </p:spTgt>
                                        </p:tgtEl>
                                        <p:attrNameLst>
                                          <p:attrName>style.visibility</p:attrName>
                                        </p:attrNameLst>
                                      </p:cBhvr>
                                      <p:to>
                                        <p:strVal val="visible"/>
                                      </p:to>
                                    </p:set>
                                  </p:childTnLst>
                                </p:cTn>
                              </p:par>
                            </p:childTnLst>
                          </p:cTn>
                        </p:par>
                      </p:childTnLst>
                    </p:cTn>
                  </p:par>
                  <p:par>
                    <p:cTn id="1335" fill="hold">
                      <p:stCondLst>
                        <p:cond delay="indefinite"/>
                      </p:stCondLst>
                      <p:childTnLst>
                        <p:par>
                          <p:cTn id="1336" fill="hold">
                            <p:stCondLst>
                              <p:cond delay="0"/>
                            </p:stCondLst>
                            <p:childTnLst>
                              <p:par>
                                <p:cTn id="1337" presetID="1" presetClass="entr" presetSubtype="0" fill="hold" nodeType="clickEffect">
                                  <p:stCondLst>
                                    <p:cond delay="0"/>
                                  </p:stCondLst>
                                  <p:childTnLst>
                                    <p:set>
                                      <p:cBhvr>
                                        <p:cTn id="1338"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1339" fill="hold">
                      <p:stCondLst>
                        <p:cond delay="indefinite"/>
                      </p:stCondLst>
                      <p:childTnLst>
                        <p:par>
                          <p:cTn id="1340" fill="hold">
                            <p:stCondLst>
                              <p:cond delay="0"/>
                            </p:stCondLst>
                            <p:childTnLst>
                              <p:par>
                                <p:cTn id="1341" presetID="1" presetClass="entr" presetSubtype="0" fill="hold" nodeType="clickEffect">
                                  <p:stCondLst>
                                    <p:cond delay="0"/>
                                  </p:stCondLst>
                                  <p:childTnLst>
                                    <p:set>
                                      <p:cBhvr>
                                        <p:cTn id="1342" dur="1" fill="hold">
                                          <p:stCondLst>
                                            <p:cond delay="0"/>
                                          </p:stCondLst>
                                        </p:cTn>
                                        <p:tgtEl>
                                          <p:spTgt spid="114">
                                            <p:txEl>
                                              <p:pRg st="1" end="1"/>
                                            </p:txEl>
                                          </p:spTgt>
                                        </p:tgtEl>
                                        <p:attrNameLst>
                                          <p:attrName>style.visibility</p:attrName>
                                        </p:attrNameLst>
                                      </p:cBhvr>
                                      <p:to>
                                        <p:strVal val="visible"/>
                                      </p:to>
                                    </p:set>
                                  </p:childTnLst>
                                </p:cTn>
                              </p:par>
                            </p:childTnLst>
                          </p:cTn>
                        </p:par>
                      </p:childTnLst>
                    </p:cTn>
                  </p:par>
                  <p:par>
                    <p:cTn id="1343" fill="hold">
                      <p:stCondLst>
                        <p:cond delay="indefinite"/>
                      </p:stCondLst>
                      <p:childTnLst>
                        <p:par>
                          <p:cTn id="1344" fill="hold">
                            <p:stCondLst>
                              <p:cond delay="0"/>
                            </p:stCondLst>
                            <p:childTnLst>
                              <p:par>
                                <p:cTn id="1345" presetID="1" presetClass="entr" presetSubtype="0" fill="hold" nodeType="clickEffect">
                                  <p:stCondLst>
                                    <p:cond delay="0"/>
                                  </p:stCondLst>
                                  <p:childTnLst>
                                    <p:set>
                                      <p:cBhvr>
                                        <p:cTn id="1346" dur="1" fill="hold">
                                          <p:stCondLst>
                                            <p:cond delay="0"/>
                                          </p:stCondLst>
                                        </p:cTn>
                                        <p:tgtEl>
                                          <p:spTgt spid="114">
                                            <p:txEl>
                                              <p:pRg st="2" end="2"/>
                                            </p:txEl>
                                          </p:spTgt>
                                        </p:tgtEl>
                                        <p:attrNameLst>
                                          <p:attrName>style.visibility</p:attrName>
                                        </p:attrNameLst>
                                      </p:cBhvr>
                                      <p:to>
                                        <p:strVal val="visible"/>
                                      </p:to>
                                    </p:set>
                                  </p:childTnLst>
                                </p:cTn>
                              </p:par>
                            </p:childTnLst>
                          </p:cTn>
                        </p:par>
                      </p:childTnLst>
                    </p:cTn>
                  </p:par>
                  <p:par>
                    <p:cTn id="1347" fill="hold">
                      <p:stCondLst>
                        <p:cond delay="indefinite"/>
                      </p:stCondLst>
                      <p:childTnLst>
                        <p:par>
                          <p:cTn id="1348" fill="hold">
                            <p:stCondLst>
                              <p:cond delay="0"/>
                            </p:stCondLst>
                            <p:childTnLst>
                              <p:par>
                                <p:cTn id="1349" presetID="1" presetClass="entr" presetSubtype="0" fill="hold" nodeType="clickEffect">
                                  <p:stCondLst>
                                    <p:cond delay="0"/>
                                  </p:stCondLst>
                                  <p:childTnLst>
                                    <p:set>
                                      <p:cBhvr>
                                        <p:cTn id="1350" dur="1" fill="hold">
                                          <p:stCondLst>
                                            <p:cond delay="0"/>
                                          </p:stCondLst>
                                        </p:cTn>
                                        <p:tgtEl>
                                          <p:spTgt spid="114">
                                            <p:txEl>
                                              <p:pRg st="3" end="3"/>
                                            </p:txEl>
                                          </p:spTgt>
                                        </p:tgtEl>
                                        <p:attrNameLst>
                                          <p:attrName>style.visibility</p:attrName>
                                        </p:attrNameLst>
                                      </p:cBhvr>
                                      <p:to>
                                        <p:strVal val="visible"/>
                                      </p:to>
                                    </p:set>
                                  </p:childTnLst>
                                </p:cTn>
                              </p:par>
                            </p:childTnLst>
                          </p:cTn>
                        </p:par>
                      </p:childTnLst>
                    </p:cTn>
                  </p:par>
                  <p:par>
                    <p:cTn id="1351" fill="hold">
                      <p:stCondLst>
                        <p:cond delay="indefinite"/>
                      </p:stCondLst>
                      <p:childTnLst>
                        <p:par>
                          <p:cTn id="1352" fill="hold">
                            <p:stCondLst>
                              <p:cond delay="0"/>
                            </p:stCondLst>
                            <p:childTnLst>
                              <p:par>
                                <p:cTn id="1353" presetID="1" presetClass="entr" presetSubtype="0" fill="hold" nodeType="clickEffect">
                                  <p:stCondLst>
                                    <p:cond delay="0"/>
                                  </p:stCondLst>
                                  <p:childTnLst>
                                    <p:set>
                                      <p:cBhvr>
                                        <p:cTn id="1354" dur="1" fill="hold">
                                          <p:stCondLst>
                                            <p:cond delay="0"/>
                                          </p:stCondLst>
                                        </p:cTn>
                                        <p:tgtEl>
                                          <p:spTgt spid="114">
                                            <p:txEl>
                                              <p:pRg st="4" end="4"/>
                                            </p:txEl>
                                          </p:spTgt>
                                        </p:tgtEl>
                                        <p:attrNameLst>
                                          <p:attrName>style.visibility</p:attrName>
                                        </p:attrNameLst>
                                      </p:cBhvr>
                                      <p:to>
                                        <p:strVal val="visible"/>
                                      </p:to>
                                    </p:set>
                                  </p:childTnLst>
                                </p:cTn>
                              </p:par>
                            </p:childTnLst>
                          </p:cTn>
                        </p:par>
                      </p:childTnLst>
                    </p:cTn>
                  </p:par>
                  <p:par>
                    <p:cTn id="1355" fill="hold">
                      <p:stCondLst>
                        <p:cond delay="indefinite"/>
                      </p:stCondLst>
                      <p:childTnLst>
                        <p:par>
                          <p:cTn id="1356" fill="hold">
                            <p:stCondLst>
                              <p:cond delay="0"/>
                            </p:stCondLst>
                            <p:childTnLst>
                              <p:par>
                                <p:cTn id="1357" presetID="1" presetClass="entr" presetSubtype="0" fill="hold" nodeType="clickEffect">
                                  <p:stCondLst>
                                    <p:cond delay="0"/>
                                  </p:stCondLst>
                                  <p:childTnLst>
                                    <p:set>
                                      <p:cBhvr>
                                        <p:cTn id="1358" dur="1" fill="hold">
                                          <p:stCondLst>
                                            <p:cond delay="0"/>
                                          </p:stCondLst>
                                        </p:cTn>
                                        <p:tgtEl>
                                          <p:spTgt spid="114">
                                            <p:txEl>
                                              <p:pRg st="5" end="5"/>
                                            </p:txEl>
                                          </p:spTgt>
                                        </p:tgtEl>
                                        <p:attrNameLst>
                                          <p:attrName>style.visibility</p:attrName>
                                        </p:attrNameLst>
                                      </p:cBhvr>
                                      <p:to>
                                        <p:strVal val="visible"/>
                                      </p:to>
                                    </p:set>
                                  </p:childTnLst>
                                </p:cTn>
                              </p:par>
                            </p:childTnLst>
                          </p:cTn>
                        </p:par>
                      </p:childTnLst>
                    </p:cTn>
                  </p:par>
                  <p:par>
                    <p:cTn id="1359" fill="hold">
                      <p:stCondLst>
                        <p:cond delay="indefinite"/>
                      </p:stCondLst>
                      <p:childTnLst>
                        <p:par>
                          <p:cTn id="1360" fill="hold">
                            <p:stCondLst>
                              <p:cond delay="0"/>
                            </p:stCondLst>
                            <p:childTnLst>
                              <p:par>
                                <p:cTn id="1361" presetID="1" presetClass="entr" presetSubtype="0" fill="hold" nodeType="clickEffect">
                                  <p:stCondLst>
                                    <p:cond delay="0"/>
                                  </p:stCondLst>
                                  <p:childTnLst>
                                    <p:set>
                                      <p:cBhvr>
                                        <p:cTn id="1362" dur="1" fill="hold">
                                          <p:stCondLst>
                                            <p:cond delay="0"/>
                                          </p:stCondLst>
                                        </p:cTn>
                                        <p:tgtEl>
                                          <p:spTgt spid="114">
                                            <p:txEl>
                                              <p:pRg st="6" end="6"/>
                                            </p:txEl>
                                          </p:spTgt>
                                        </p:tgtEl>
                                        <p:attrNameLst>
                                          <p:attrName>style.visibility</p:attrName>
                                        </p:attrNameLst>
                                      </p:cBhvr>
                                      <p:to>
                                        <p:strVal val="visible"/>
                                      </p:to>
                                    </p:set>
                                  </p:childTnLst>
                                </p:cTn>
                              </p:par>
                            </p:childTnLst>
                          </p:cTn>
                        </p:par>
                      </p:childTnLst>
                    </p:cTn>
                  </p:par>
                  <p:par>
                    <p:cTn id="1363" fill="hold">
                      <p:stCondLst>
                        <p:cond delay="indefinite"/>
                      </p:stCondLst>
                      <p:childTnLst>
                        <p:par>
                          <p:cTn id="1364" fill="hold">
                            <p:stCondLst>
                              <p:cond delay="0"/>
                            </p:stCondLst>
                            <p:childTnLst>
                              <p:par>
                                <p:cTn id="1365" presetID="1" presetClass="entr" presetSubtype="0" fill="hold" nodeType="clickEffect">
                                  <p:stCondLst>
                                    <p:cond delay="0"/>
                                  </p:stCondLst>
                                  <p:childTnLst>
                                    <p:set>
                                      <p:cBhvr>
                                        <p:cTn id="1366" dur="1" fill="hold">
                                          <p:stCondLst>
                                            <p:cond delay="0"/>
                                          </p:stCondLst>
                                        </p:cTn>
                                        <p:tgtEl>
                                          <p:spTgt spid="114">
                                            <p:txEl>
                                              <p:pRg st="7" end="7"/>
                                            </p:txEl>
                                          </p:spTgt>
                                        </p:tgtEl>
                                        <p:attrNameLst>
                                          <p:attrName>style.visibility</p:attrName>
                                        </p:attrNameLst>
                                      </p:cBhvr>
                                      <p:to>
                                        <p:strVal val="visible"/>
                                      </p:to>
                                    </p:set>
                                  </p:childTnLst>
                                </p:cTn>
                              </p:par>
                            </p:childTnLst>
                          </p:cTn>
                        </p:par>
                      </p:childTnLst>
                    </p:cTn>
                  </p:par>
                  <p:par>
                    <p:cTn id="1367" fill="hold">
                      <p:stCondLst>
                        <p:cond delay="indefinite"/>
                      </p:stCondLst>
                      <p:childTnLst>
                        <p:par>
                          <p:cTn id="1368" fill="hold">
                            <p:stCondLst>
                              <p:cond delay="0"/>
                            </p:stCondLst>
                            <p:childTnLst>
                              <p:par>
                                <p:cTn id="1369" presetID="1" presetClass="entr" presetSubtype="0" fill="hold" nodeType="clickEffect">
                                  <p:stCondLst>
                                    <p:cond delay="0"/>
                                  </p:stCondLst>
                                  <p:childTnLst>
                                    <p:set>
                                      <p:cBhvr>
                                        <p:cTn id="1370" dur="1" fill="hold">
                                          <p:stCondLst>
                                            <p:cond delay="0"/>
                                          </p:stCondLst>
                                        </p:cTn>
                                        <p:tgtEl>
                                          <p:spTgt spid="114">
                                            <p:txEl>
                                              <p:pRg st="8" end="8"/>
                                            </p:txEl>
                                          </p:spTgt>
                                        </p:tgtEl>
                                        <p:attrNameLst>
                                          <p:attrName>style.visibility</p:attrName>
                                        </p:attrNameLst>
                                      </p:cBhvr>
                                      <p:to>
                                        <p:strVal val="visible"/>
                                      </p:to>
                                    </p:set>
                                  </p:childTnLst>
                                </p:cTn>
                              </p:par>
                            </p:childTnLst>
                          </p:cTn>
                        </p:par>
                      </p:childTnLst>
                    </p:cTn>
                  </p:par>
                  <p:par>
                    <p:cTn id="1371" fill="hold">
                      <p:stCondLst>
                        <p:cond delay="indefinite"/>
                      </p:stCondLst>
                      <p:childTnLst>
                        <p:par>
                          <p:cTn id="1372" fill="hold">
                            <p:stCondLst>
                              <p:cond delay="0"/>
                            </p:stCondLst>
                            <p:childTnLst>
                              <p:par>
                                <p:cTn id="1373" presetID="1" presetClass="entr" presetSubtype="0" fill="hold" nodeType="clickEffect">
                                  <p:stCondLst>
                                    <p:cond delay="0"/>
                                  </p:stCondLst>
                                  <p:childTnLst>
                                    <p:set>
                                      <p:cBhvr>
                                        <p:cTn id="1374"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1375" fill="hold">
                      <p:stCondLst>
                        <p:cond delay="indefinite"/>
                      </p:stCondLst>
                      <p:childTnLst>
                        <p:par>
                          <p:cTn id="1376" fill="hold">
                            <p:stCondLst>
                              <p:cond delay="0"/>
                            </p:stCondLst>
                            <p:childTnLst>
                              <p:par>
                                <p:cTn id="1377" presetID="1" presetClass="entr" presetSubtype="0" fill="hold" nodeType="clickEffect">
                                  <p:stCondLst>
                                    <p:cond delay="0"/>
                                  </p:stCondLst>
                                  <p:childTnLst>
                                    <p:set>
                                      <p:cBhvr>
                                        <p:cTn id="1378"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1379" fill="hold">
                      <p:stCondLst>
                        <p:cond delay="indefinite"/>
                      </p:stCondLst>
                      <p:childTnLst>
                        <p:par>
                          <p:cTn id="1380" fill="hold">
                            <p:stCondLst>
                              <p:cond delay="0"/>
                            </p:stCondLst>
                            <p:childTnLst>
                              <p:par>
                                <p:cTn id="1381" presetID="1" presetClass="entr" presetSubtype="0" fill="hold" nodeType="clickEffect">
                                  <p:stCondLst>
                                    <p:cond delay="0"/>
                                  </p:stCondLst>
                                  <p:childTnLst>
                                    <p:set>
                                      <p:cBhvr>
                                        <p:cTn id="1382" dur="1" fill="hold">
                                          <p:stCondLst>
                                            <p:cond delay="0"/>
                                          </p:stCondLst>
                                        </p:cTn>
                                        <p:tgtEl>
                                          <p:spTgt spid="115">
                                            <p:txEl>
                                              <p:pRg st="2" end="2"/>
                                            </p:txEl>
                                          </p:spTgt>
                                        </p:tgtEl>
                                        <p:attrNameLst>
                                          <p:attrName>style.visibility</p:attrName>
                                        </p:attrNameLst>
                                      </p:cBhvr>
                                      <p:to>
                                        <p:strVal val="visible"/>
                                      </p:to>
                                    </p:set>
                                  </p:childTnLst>
                                </p:cTn>
                              </p:par>
                            </p:childTnLst>
                          </p:cTn>
                        </p:par>
                      </p:childTnLst>
                    </p:cTn>
                  </p:par>
                  <p:par>
                    <p:cTn id="1383" fill="hold">
                      <p:stCondLst>
                        <p:cond delay="indefinite"/>
                      </p:stCondLst>
                      <p:childTnLst>
                        <p:par>
                          <p:cTn id="1384" fill="hold">
                            <p:stCondLst>
                              <p:cond delay="0"/>
                            </p:stCondLst>
                            <p:childTnLst>
                              <p:par>
                                <p:cTn id="1385" presetID="1" presetClass="entr" presetSubtype="0" fill="hold" nodeType="clickEffect">
                                  <p:stCondLst>
                                    <p:cond delay="0"/>
                                  </p:stCondLst>
                                  <p:childTnLst>
                                    <p:set>
                                      <p:cBhvr>
                                        <p:cTn id="1386" dur="1" fill="hold">
                                          <p:stCondLst>
                                            <p:cond delay="0"/>
                                          </p:stCondLst>
                                        </p:cTn>
                                        <p:tgtEl>
                                          <p:spTgt spid="115">
                                            <p:txEl>
                                              <p:pRg st="3" end="3"/>
                                            </p:txEl>
                                          </p:spTgt>
                                        </p:tgtEl>
                                        <p:attrNameLst>
                                          <p:attrName>style.visibility</p:attrName>
                                        </p:attrNameLst>
                                      </p:cBhvr>
                                      <p:to>
                                        <p:strVal val="visible"/>
                                      </p:to>
                                    </p:set>
                                  </p:childTnLst>
                                </p:cTn>
                              </p:par>
                            </p:childTnLst>
                          </p:cTn>
                        </p:par>
                      </p:childTnLst>
                    </p:cTn>
                  </p:par>
                  <p:par>
                    <p:cTn id="1387" fill="hold">
                      <p:stCondLst>
                        <p:cond delay="indefinite"/>
                      </p:stCondLst>
                      <p:childTnLst>
                        <p:par>
                          <p:cTn id="1388" fill="hold">
                            <p:stCondLst>
                              <p:cond delay="0"/>
                            </p:stCondLst>
                            <p:childTnLst>
                              <p:par>
                                <p:cTn id="1389" presetID="1" presetClass="entr" presetSubtype="0" fill="hold" nodeType="clickEffect">
                                  <p:stCondLst>
                                    <p:cond delay="0"/>
                                  </p:stCondLst>
                                  <p:childTnLst>
                                    <p:set>
                                      <p:cBhvr>
                                        <p:cTn id="1390" dur="1" fill="hold">
                                          <p:stCondLst>
                                            <p:cond delay="0"/>
                                          </p:stCondLst>
                                        </p:cTn>
                                        <p:tgtEl>
                                          <p:spTgt spid="115">
                                            <p:txEl>
                                              <p:pRg st="4" end="4"/>
                                            </p:txEl>
                                          </p:spTgt>
                                        </p:tgtEl>
                                        <p:attrNameLst>
                                          <p:attrName>style.visibility</p:attrName>
                                        </p:attrNameLst>
                                      </p:cBhvr>
                                      <p:to>
                                        <p:strVal val="visible"/>
                                      </p:to>
                                    </p:set>
                                  </p:childTnLst>
                                </p:cTn>
                              </p:par>
                            </p:childTnLst>
                          </p:cTn>
                        </p:par>
                      </p:childTnLst>
                    </p:cTn>
                  </p:par>
                  <p:par>
                    <p:cTn id="1391" fill="hold">
                      <p:stCondLst>
                        <p:cond delay="indefinite"/>
                      </p:stCondLst>
                      <p:childTnLst>
                        <p:par>
                          <p:cTn id="1392" fill="hold">
                            <p:stCondLst>
                              <p:cond delay="0"/>
                            </p:stCondLst>
                            <p:childTnLst>
                              <p:par>
                                <p:cTn id="1393" presetID="1" presetClass="entr" presetSubtype="0" fill="hold" nodeType="clickEffect">
                                  <p:stCondLst>
                                    <p:cond delay="0"/>
                                  </p:stCondLst>
                                  <p:childTnLst>
                                    <p:set>
                                      <p:cBhvr>
                                        <p:cTn id="1394" dur="1" fill="hold">
                                          <p:stCondLst>
                                            <p:cond delay="0"/>
                                          </p:stCondLst>
                                        </p:cTn>
                                        <p:tgtEl>
                                          <p:spTgt spid="115">
                                            <p:txEl>
                                              <p:pRg st="5" end="5"/>
                                            </p:txEl>
                                          </p:spTgt>
                                        </p:tgtEl>
                                        <p:attrNameLst>
                                          <p:attrName>style.visibility</p:attrName>
                                        </p:attrNameLst>
                                      </p:cBhvr>
                                      <p:to>
                                        <p:strVal val="visible"/>
                                      </p:to>
                                    </p:set>
                                  </p:childTnLst>
                                </p:cTn>
                              </p:par>
                            </p:childTnLst>
                          </p:cTn>
                        </p:par>
                      </p:childTnLst>
                    </p:cTn>
                  </p:par>
                  <p:par>
                    <p:cTn id="1395" fill="hold">
                      <p:stCondLst>
                        <p:cond delay="indefinite"/>
                      </p:stCondLst>
                      <p:childTnLst>
                        <p:par>
                          <p:cTn id="1396" fill="hold">
                            <p:stCondLst>
                              <p:cond delay="0"/>
                            </p:stCondLst>
                            <p:childTnLst>
                              <p:par>
                                <p:cTn id="1397" presetID="1" presetClass="entr" presetSubtype="0" fill="hold" nodeType="clickEffect">
                                  <p:stCondLst>
                                    <p:cond delay="0"/>
                                  </p:stCondLst>
                                  <p:childTnLst>
                                    <p:set>
                                      <p:cBhvr>
                                        <p:cTn id="1398" dur="1" fill="hold">
                                          <p:stCondLst>
                                            <p:cond delay="0"/>
                                          </p:stCondLst>
                                        </p:cTn>
                                        <p:tgtEl>
                                          <p:spTgt spid="115">
                                            <p:txEl>
                                              <p:pRg st="6" end="6"/>
                                            </p:txEl>
                                          </p:spTgt>
                                        </p:tgtEl>
                                        <p:attrNameLst>
                                          <p:attrName>style.visibility</p:attrName>
                                        </p:attrNameLst>
                                      </p:cBhvr>
                                      <p:to>
                                        <p:strVal val="visible"/>
                                      </p:to>
                                    </p:set>
                                  </p:childTnLst>
                                </p:cTn>
                              </p:par>
                            </p:childTnLst>
                          </p:cTn>
                        </p:par>
                      </p:childTnLst>
                    </p:cTn>
                  </p:par>
                  <p:par>
                    <p:cTn id="1399" fill="hold">
                      <p:stCondLst>
                        <p:cond delay="indefinite"/>
                      </p:stCondLst>
                      <p:childTnLst>
                        <p:par>
                          <p:cTn id="1400" fill="hold">
                            <p:stCondLst>
                              <p:cond delay="0"/>
                            </p:stCondLst>
                            <p:childTnLst>
                              <p:par>
                                <p:cTn id="1401" presetID="1" presetClass="entr" presetSubtype="0" fill="hold" nodeType="clickEffect">
                                  <p:stCondLst>
                                    <p:cond delay="0"/>
                                  </p:stCondLst>
                                  <p:childTnLst>
                                    <p:set>
                                      <p:cBhvr>
                                        <p:cTn id="1402" dur="1" fill="hold">
                                          <p:stCondLst>
                                            <p:cond delay="0"/>
                                          </p:stCondLst>
                                        </p:cTn>
                                        <p:tgtEl>
                                          <p:spTgt spid="115">
                                            <p:txEl>
                                              <p:pRg st="7" end="7"/>
                                            </p:txEl>
                                          </p:spTgt>
                                        </p:tgtEl>
                                        <p:attrNameLst>
                                          <p:attrName>style.visibility</p:attrName>
                                        </p:attrNameLst>
                                      </p:cBhvr>
                                      <p:to>
                                        <p:strVal val="visible"/>
                                      </p:to>
                                    </p:set>
                                  </p:childTnLst>
                                </p:cTn>
                              </p:par>
                            </p:childTnLst>
                          </p:cTn>
                        </p:par>
                      </p:childTnLst>
                    </p:cTn>
                  </p:par>
                  <p:par>
                    <p:cTn id="1403" fill="hold">
                      <p:stCondLst>
                        <p:cond delay="indefinite"/>
                      </p:stCondLst>
                      <p:childTnLst>
                        <p:par>
                          <p:cTn id="1404" fill="hold">
                            <p:stCondLst>
                              <p:cond delay="0"/>
                            </p:stCondLst>
                            <p:childTnLst>
                              <p:par>
                                <p:cTn id="1405" presetID="1" presetClass="entr" presetSubtype="0" fill="hold" nodeType="clickEffect">
                                  <p:stCondLst>
                                    <p:cond delay="0"/>
                                  </p:stCondLst>
                                  <p:childTnLst>
                                    <p:set>
                                      <p:cBhvr>
                                        <p:cTn id="1406" dur="1" fill="hold">
                                          <p:stCondLst>
                                            <p:cond delay="0"/>
                                          </p:stCondLst>
                                        </p:cTn>
                                        <p:tgtEl>
                                          <p:spTgt spid="115">
                                            <p:txEl>
                                              <p:pRg st="8" end="8"/>
                                            </p:txEl>
                                          </p:spTgt>
                                        </p:tgtEl>
                                        <p:attrNameLst>
                                          <p:attrName>style.visibility</p:attrName>
                                        </p:attrNameLst>
                                      </p:cBhvr>
                                      <p:to>
                                        <p:strVal val="visible"/>
                                      </p:to>
                                    </p:set>
                                  </p:childTnLst>
                                </p:cTn>
                              </p:par>
                            </p:childTnLst>
                          </p:cTn>
                        </p:par>
                      </p:childTnLst>
                    </p:cTn>
                  </p:par>
                  <p:par>
                    <p:cTn id="1407" fill="hold">
                      <p:stCondLst>
                        <p:cond delay="indefinite"/>
                      </p:stCondLst>
                      <p:childTnLst>
                        <p:par>
                          <p:cTn id="1408" fill="hold">
                            <p:stCondLst>
                              <p:cond delay="0"/>
                            </p:stCondLst>
                            <p:childTnLst>
                              <p:par>
                                <p:cTn id="1409" presetID="1" presetClass="entr" presetSubtype="0" fill="hold" nodeType="clickEffect">
                                  <p:stCondLst>
                                    <p:cond delay="0"/>
                                  </p:stCondLst>
                                  <p:childTnLst>
                                    <p:set>
                                      <p:cBhvr>
                                        <p:cTn id="1410"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1411" fill="hold">
                      <p:stCondLst>
                        <p:cond delay="indefinite"/>
                      </p:stCondLst>
                      <p:childTnLst>
                        <p:par>
                          <p:cTn id="1412" fill="hold">
                            <p:stCondLst>
                              <p:cond delay="0"/>
                            </p:stCondLst>
                            <p:childTnLst>
                              <p:par>
                                <p:cTn id="1413" presetID="1" presetClass="entr" presetSubtype="0" fill="hold" nodeType="clickEffect">
                                  <p:stCondLst>
                                    <p:cond delay="0"/>
                                  </p:stCondLst>
                                  <p:childTnLst>
                                    <p:set>
                                      <p:cBhvr>
                                        <p:cTn id="1414" dur="1" fill="hold">
                                          <p:stCondLst>
                                            <p:cond delay="0"/>
                                          </p:stCondLst>
                                        </p:cTn>
                                        <p:tgtEl>
                                          <p:spTgt spid="116">
                                            <p:txEl>
                                              <p:pRg st="1" end="1"/>
                                            </p:txEl>
                                          </p:spTgt>
                                        </p:tgtEl>
                                        <p:attrNameLst>
                                          <p:attrName>style.visibility</p:attrName>
                                        </p:attrNameLst>
                                      </p:cBhvr>
                                      <p:to>
                                        <p:strVal val="visible"/>
                                      </p:to>
                                    </p:set>
                                  </p:childTnLst>
                                </p:cTn>
                              </p:par>
                            </p:childTnLst>
                          </p:cTn>
                        </p:par>
                      </p:childTnLst>
                    </p:cTn>
                  </p:par>
                  <p:par>
                    <p:cTn id="1415" fill="hold">
                      <p:stCondLst>
                        <p:cond delay="indefinite"/>
                      </p:stCondLst>
                      <p:childTnLst>
                        <p:par>
                          <p:cTn id="1416" fill="hold">
                            <p:stCondLst>
                              <p:cond delay="0"/>
                            </p:stCondLst>
                            <p:childTnLst>
                              <p:par>
                                <p:cTn id="1417" presetID="1" presetClass="entr" presetSubtype="0" fill="hold" nodeType="clickEffect">
                                  <p:stCondLst>
                                    <p:cond delay="0"/>
                                  </p:stCondLst>
                                  <p:childTnLst>
                                    <p:set>
                                      <p:cBhvr>
                                        <p:cTn id="1418" dur="1" fill="hold">
                                          <p:stCondLst>
                                            <p:cond delay="0"/>
                                          </p:stCondLst>
                                        </p:cTn>
                                        <p:tgtEl>
                                          <p:spTgt spid="116">
                                            <p:txEl>
                                              <p:pRg st="2" end="2"/>
                                            </p:txEl>
                                          </p:spTgt>
                                        </p:tgtEl>
                                        <p:attrNameLst>
                                          <p:attrName>style.visibility</p:attrName>
                                        </p:attrNameLst>
                                      </p:cBhvr>
                                      <p:to>
                                        <p:strVal val="visible"/>
                                      </p:to>
                                    </p:set>
                                  </p:childTnLst>
                                </p:cTn>
                              </p:par>
                            </p:childTnLst>
                          </p:cTn>
                        </p:par>
                      </p:childTnLst>
                    </p:cTn>
                  </p:par>
                  <p:par>
                    <p:cTn id="1419" fill="hold">
                      <p:stCondLst>
                        <p:cond delay="indefinite"/>
                      </p:stCondLst>
                      <p:childTnLst>
                        <p:par>
                          <p:cTn id="1420" fill="hold">
                            <p:stCondLst>
                              <p:cond delay="0"/>
                            </p:stCondLst>
                            <p:childTnLst>
                              <p:par>
                                <p:cTn id="1421" presetID="1" presetClass="entr" presetSubtype="0" fill="hold" nodeType="clickEffect">
                                  <p:stCondLst>
                                    <p:cond delay="0"/>
                                  </p:stCondLst>
                                  <p:childTnLst>
                                    <p:set>
                                      <p:cBhvr>
                                        <p:cTn id="1422" dur="1" fill="hold">
                                          <p:stCondLst>
                                            <p:cond delay="0"/>
                                          </p:stCondLst>
                                        </p:cTn>
                                        <p:tgtEl>
                                          <p:spTgt spid="116">
                                            <p:txEl>
                                              <p:pRg st="3" end="3"/>
                                            </p:txEl>
                                          </p:spTgt>
                                        </p:tgtEl>
                                        <p:attrNameLst>
                                          <p:attrName>style.visibility</p:attrName>
                                        </p:attrNameLst>
                                      </p:cBhvr>
                                      <p:to>
                                        <p:strVal val="visible"/>
                                      </p:to>
                                    </p:set>
                                  </p:childTnLst>
                                </p:cTn>
                              </p:par>
                            </p:childTnLst>
                          </p:cTn>
                        </p:par>
                      </p:childTnLst>
                    </p:cTn>
                  </p:par>
                  <p:par>
                    <p:cTn id="1423" fill="hold">
                      <p:stCondLst>
                        <p:cond delay="indefinite"/>
                      </p:stCondLst>
                      <p:childTnLst>
                        <p:par>
                          <p:cTn id="1424" fill="hold">
                            <p:stCondLst>
                              <p:cond delay="0"/>
                            </p:stCondLst>
                            <p:childTnLst>
                              <p:par>
                                <p:cTn id="1425" presetID="1" presetClass="entr" presetSubtype="0" fill="hold" nodeType="clickEffect">
                                  <p:stCondLst>
                                    <p:cond delay="0"/>
                                  </p:stCondLst>
                                  <p:childTnLst>
                                    <p:set>
                                      <p:cBhvr>
                                        <p:cTn id="1426" dur="1" fill="hold">
                                          <p:stCondLst>
                                            <p:cond delay="0"/>
                                          </p:stCondLst>
                                        </p:cTn>
                                        <p:tgtEl>
                                          <p:spTgt spid="116">
                                            <p:txEl>
                                              <p:pRg st="4" end="4"/>
                                            </p:txEl>
                                          </p:spTgt>
                                        </p:tgtEl>
                                        <p:attrNameLst>
                                          <p:attrName>style.visibility</p:attrName>
                                        </p:attrNameLst>
                                      </p:cBhvr>
                                      <p:to>
                                        <p:strVal val="visible"/>
                                      </p:to>
                                    </p:set>
                                  </p:childTnLst>
                                </p:cTn>
                              </p:par>
                            </p:childTnLst>
                          </p:cTn>
                        </p:par>
                      </p:childTnLst>
                    </p:cTn>
                  </p:par>
                  <p:par>
                    <p:cTn id="1427" fill="hold">
                      <p:stCondLst>
                        <p:cond delay="indefinite"/>
                      </p:stCondLst>
                      <p:childTnLst>
                        <p:par>
                          <p:cTn id="1428" fill="hold">
                            <p:stCondLst>
                              <p:cond delay="0"/>
                            </p:stCondLst>
                            <p:childTnLst>
                              <p:par>
                                <p:cTn id="1429" presetID="1" presetClass="entr" presetSubtype="0" fill="hold" nodeType="clickEffect">
                                  <p:stCondLst>
                                    <p:cond delay="0"/>
                                  </p:stCondLst>
                                  <p:childTnLst>
                                    <p:set>
                                      <p:cBhvr>
                                        <p:cTn id="1430" dur="1" fill="hold">
                                          <p:stCondLst>
                                            <p:cond delay="0"/>
                                          </p:stCondLst>
                                        </p:cTn>
                                        <p:tgtEl>
                                          <p:spTgt spid="116">
                                            <p:txEl>
                                              <p:pRg st="5" end="5"/>
                                            </p:txEl>
                                          </p:spTgt>
                                        </p:tgtEl>
                                        <p:attrNameLst>
                                          <p:attrName>style.visibility</p:attrName>
                                        </p:attrNameLst>
                                      </p:cBhvr>
                                      <p:to>
                                        <p:strVal val="visible"/>
                                      </p:to>
                                    </p:set>
                                  </p:childTnLst>
                                </p:cTn>
                              </p:par>
                            </p:childTnLst>
                          </p:cTn>
                        </p:par>
                      </p:childTnLst>
                    </p:cTn>
                  </p:par>
                  <p:par>
                    <p:cTn id="1431" fill="hold">
                      <p:stCondLst>
                        <p:cond delay="indefinite"/>
                      </p:stCondLst>
                      <p:childTnLst>
                        <p:par>
                          <p:cTn id="1432" fill="hold">
                            <p:stCondLst>
                              <p:cond delay="0"/>
                            </p:stCondLst>
                            <p:childTnLst>
                              <p:par>
                                <p:cTn id="1433" presetID="1" presetClass="entr" presetSubtype="0" fill="hold" nodeType="clickEffect">
                                  <p:stCondLst>
                                    <p:cond delay="0"/>
                                  </p:stCondLst>
                                  <p:childTnLst>
                                    <p:set>
                                      <p:cBhvr>
                                        <p:cTn id="1434" dur="1" fill="hold">
                                          <p:stCondLst>
                                            <p:cond delay="0"/>
                                          </p:stCondLst>
                                        </p:cTn>
                                        <p:tgtEl>
                                          <p:spTgt spid="116">
                                            <p:txEl>
                                              <p:pRg st="6" end="6"/>
                                            </p:txEl>
                                          </p:spTgt>
                                        </p:tgtEl>
                                        <p:attrNameLst>
                                          <p:attrName>style.visibility</p:attrName>
                                        </p:attrNameLst>
                                      </p:cBhvr>
                                      <p:to>
                                        <p:strVal val="visible"/>
                                      </p:to>
                                    </p:set>
                                  </p:childTnLst>
                                </p:cTn>
                              </p:par>
                            </p:childTnLst>
                          </p:cTn>
                        </p:par>
                      </p:childTnLst>
                    </p:cTn>
                  </p:par>
                  <p:par>
                    <p:cTn id="1435" fill="hold">
                      <p:stCondLst>
                        <p:cond delay="indefinite"/>
                      </p:stCondLst>
                      <p:childTnLst>
                        <p:par>
                          <p:cTn id="1436" fill="hold">
                            <p:stCondLst>
                              <p:cond delay="0"/>
                            </p:stCondLst>
                            <p:childTnLst>
                              <p:par>
                                <p:cTn id="1437" presetID="1" presetClass="entr" presetSubtype="0" fill="hold" nodeType="clickEffect">
                                  <p:stCondLst>
                                    <p:cond delay="0"/>
                                  </p:stCondLst>
                                  <p:childTnLst>
                                    <p:set>
                                      <p:cBhvr>
                                        <p:cTn id="1438" dur="1" fill="hold">
                                          <p:stCondLst>
                                            <p:cond delay="0"/>
                                          </p:stCondLst>
                                        </p:cTn>
                                        <p:tgtEl>
                                          <p:spTgt spid="116">
                                            <p:txEl>
                                              <p:pRg st="7" end="7"/>
                                            </p:txEl>
                                          </p:spTgt>
                                        </p:tgtEl>
                                        <p:attrNameLst>
                                          <p:attrName>style.visibility</p:attrName>
                                        </p:attrNameLst>
                                      </p:cBhvr>
                                      <p:to>
                                        <p:strVal val="visible"/>
                                      </p:to>
                                    </p:set>
                                  </p:childTnLst>
                                </p:cTn>
                              </p:par>
                            </p:childTnLst>
                          </p:cTn>
                        </p:par>
                      </p:childTnLst>
                    </p:cTn>
                  </p:par>
                  <p:par>
                    <p:cTn id="1439" fill="hold">
                      <p:stCondLst>
                        <p:cond delay="indefinite"/>
                      </p:stCondLst>
                      <p:childTnLst>
                        <p:par>
                          <p:cTn id="1440" fill="hold">
                            <p:stCondLst>
                              <p:cond delay="0"/>
                            </p:stCondLst>
                            <p:childTnLst>
                              <p:par>
                                <p:cTn id="1441" presetID="1" presetClass="entr" presetSubtype="0" fill="hold" nodeType="clickEffect">
                                  <p:stCondLst>
                                    <p:cond delay="0"/>
                                  </p:stCondLst>
                                  <p:childTnLst>
                                    <p:set>
                                      <p:cBhvr>
                                        <p:cTn id="1442" dur="1" fill="hold">
                                          <p:stCondLst>
                                            <p:cond delay="0"/>
                                          </p:stCondLst>
                                        </p:cTn>
                                        <p:tgtEl>
                                          <p:spTgt spid="116">
                                            <p:txEl>
                                              <p:pRg st="8" end="8"/>
                                            </p:txEl>
                                          </p:spTgt>
                                        </p:tgtEl>
                                        <p:attrNameLst>
                                          <p:attrName>style.visibility</p:attrName>
                                        </p:attrNameLst>
                                      </p:cBhvr>
                                      <p:to>
                                        <p:strVal val="visible"/>
                                      </p:to>
                                    </p:set>
                                  </p:childTnLst>
                                </p:cTn>
                              </p:par>
                            </p:childTnLst>
                          </p:cTn>
                        </p:par>
                      </p:childTnLst>
                    </p:cTn>
                  </p:par>
                  <p:par>
                    <p:cTn id="1443" fill="hold">
                      <p:stCondLst>
                        <p:cond delay="indefinite"/>
                      </p:stCondLst>
                      <p:childTnLst>
                        <p:par>
                          <p:cTn id="1444" fill="hold">
                            <p:stCondLst>
                              <p:cond delay="0"/>
                            </p:stCondLst>
                            <p:childTnLst>
                              <p:par>
                                <p:cTn id="1445" presetID="1" presetClass="entr" presetSubtype="0" fill="hold" nodeType="clickEffect">
                                  <p:stCondLst>
                                    <p:cond delay="0"/>
                                  </p:stCondLst>
                                  <p:childTnLst>
                                    <p:set>
                                      <p:cBhvr>
                                        <p:cTn id="1446" dur="1" fill="hold">
                                          <p:stCondLst>
                                            <p:cond delay="0"/>
                                          </p:stCondLst>
                                        </p:cTn>
                                        <p:tgtEl>
                                          <p:spTgt spid="117">
                                            <p:txEl>
                                              <p:pRg st="0" end="0"/>
                                            </p:txEl>
                                          </p:spTgt>
                                        </p:tgtEl>
                                        <p:attrNameLst>
                                          <p:attrName>style.visibility</p:attrName>
                                        </p:attrNameLst>
                                      </p:cBhvr>
                                      <p:to>
                                        <p:strVal val="visible"/>
                                      </p:to>
                                    </p:set>
                                  </p:childTnLst>
                                </p:cTn>
                              </p:par>
                            </p:childTnLst>
                          </p:cTn>
                        </p:par>
                      </p:childTnLst>
                    </p:cTn>
                  </p:par>
                  <p:par>
                    <p:cTn id="1447" fill="hold">
                      <p:stCondLst>
                        <p:cond delay="indefinite"/>
                      </p:stCondLst>
                      <p:childTnLst>
                        <p:par>
                          <p:cTn id="1448" fill="hold">
                            <p:stCondLst>
                              <p:cond delay="0"/>
                            </p:stCondLst>
                            <p:childTnLst>
                              <p:par>
                                <p:cTn id="1449" presetID="1" presetClass="entr" presetSubtype="0" fill="hold" nodeType="clickEffect">
                                  <p:stCondLst>
                                    <p:cond delay="0"/>
                                  </p:stCondLst>
                                  <p:childTnLst>
                                    <p:set>
                                      <p:cBhvr>
                                        <p:cTn id="1450" dur="1" fill="hold">
                                          <p:stCondLst>
                                            <p:cond delay="0"/>
                                          </p:stCondLst>
                                        </p:cTn>
                                        <p:tgtEl>
                                          <p:spTgt spid="117">
                                            <p:txEl>
                                              <p:pRg st="1" end="1"/>
                                            </p:txEl>
                                          </p:spTgt>
                                        </p:tgtEl>
                                        <p:attrNameLst>
                                          <p:attrName>style.visibility</p:attrName>
                                        </p:attrNameLst>
                                      </p:cBhvr>
                                      <p:to>
                                        <p:strVal val="visible"/>
                                      </p:to>
                                    </p:set>
                                  </p:childTnLst>
                                </p:cTn>
                              </p:par>
                            </p:childTnLst>
                          </p:cTn>
                        </p:par>
                      </p:childTnLst>
                    </p:cTn>
                  </p:par>
                  <p:par>
                    <p:cTn id="1451" fill="hold">
                      <p:stCondLst>
                        <p:cond delay="indefinite"/>
                      </p:stCondLst>
                      <p:childTnLst>
                        <p:par>
                          <p:cTn id="1452" fill="hold">
                            <p:stCondLst>
                              <p:cond delay="0"/>
                            </p:stCondLst>
                            <p:childTnLst>
                              <p:par>
                                <p:cTn id="1453" presetID="1" presetClass="entr" presetSubtype="0" fill="hold" nodeType="clickEffect">
                                  <p:stCondLst>
                                    <p:cond delay="0"/>
                                  </p:stCondLst>
                                  <p:childTnLst>
                                    <p:set>
                                      <p:cBhvr>
                                        <p:cTn id="1454" dur="1" fill="hold">
                                          <p:stCondLst>
                                            <p:cond delay="0"/>
                                          </p:stCondLst>
                                        </p:cTn>
                                        <p:tgtEl>
                                          <p:spTgt spid="117">
                                            <p:txEl>
                                              <p:pRg st="2" end="2"/>
                                            </p:txEl>
                                          </p:spTgt>
                                        </p:tgtEl>
                                        <p:attrNameLst>
                                          <p:attrName>style.visibility</p:attrName>
                                        </p:attrNameLst>
                                      </p:cBhvr>
                                      <p:to>
                                        <p:strVal val="visible"/>
                                      </p:to>
                                    </p:set>
                                  </p:childTnLst>
                                </p:cTn>
                              </p:par>
                            </p:childTnLst>
                          </p:cTn>
                        </p:par>
                      </p:childTnLst>
                    </p:cTn>
                  </p:par>
                  <p:par>
                    <p:cTn id="1455" fill="hold">
                      <p:stCondLst>
                        <p:cond delay="indefinite"/>
                      </p:stCondLst>
                      <p:childTnLst>
                        <p:par>
                          <p:cTn id="1456" fill="hold">
                            <p:stCondLst>
                              <p:cond delay="0"/>
                            </p:stCondLst>
                            <p:childTnLst>
                              <p:par>
                                <p:cTn id="1457" presetID="1" presetClass="entr" presetSubtype="0" fill="hold" nodeType="clickEffect">
                                  <p:stCondLst>
                                    <p:cond delay="0"/>
                                  </p:stCondLst>
                                  <p:childTnLst>
                                    <p:set>
                                      <p:cBhvr>
                                        <p:cTn id="1458" dur="1" fill="hold">
                                          <p:stCondLst>
                                            <p:cond delay="0"/>
                                          </p:stCondLst>
                                        </p:cTn>
                                        <p:tgtEl>
                                          <p:spTgt spid="117">
                                            <p:txEl>
                                              <p:pRg st="3" end="3"/>
                                            </p:txEl>
                                          </p:spTgt>
                                        </p:tgtEl>
                                        <p:attrNameLst>
                                          <p:attrName>style.visibility</p:attrName>
                                        </p:attrNameLst>
                                      </p:cBhvr>
                                      <p:to>
                                        <p:strVal val="visible"/>
                                      </p:to>
                                    </p:set>
                                  </p:childTnLst>
                                </p:cTn>
                              </p:par>
                            </p:childTnLst>
                          </p:cTn>
                        </p:par>
                      </p:childTnLst>
                    </p:cTn>
                  </p:par>
                  <p:par>
                    <p:cTn id="1459" fill="hold">
                      <p:stCondLst>
                        <p:cond delay="indefinite"/>
                      </p:stCondLst>
                      <p:childTnLst>
                        <p:par>
                          <p:cTn id="1460" fill="hold">
                            <p:stCondLst>
                              <p:cond delay="0"/>
                            </p:stCondLst>
                            <p:childTnLst>
                              <p:par>
                                <p:cTn id="1461" presetID="1" presetClass="entr" presetSubtype="0" fill="hold" nodeType="clickEffect">
                                  <p:stCondLst>
                                    <p:cond delay="0"/>
                                  </p:stCondLst>
                                  <p:childTnLst>
                                    <p:set>
                                      <p:cBhvr>
                                        <p:cTn id="1462" dur="1" fill="hold">
                                          <p:stCondLst>
                                            <p:cond delay="0"/>
                                          </p:stCondLst>
                                        </p:cTn>
                                        <p:tgtEl>
                                          <p:spTgt spid="117">
                                            <p:txEl>
                                              <p:pRg st="4" end="4"/>
                                            </p:txEl>
                                          </p:spTgt>
                                        </p:tgtEl>
                                        <p:attrNameLst>
                                          <p:attrName>style.visibility</p:attrName>
                                        </p:attrNameLst>
                                      </p:cBhvr>
                                      <p:to>
                                        <p:strVal val="visible"/>
                                      </p:to>
                                    </p:set>
                                  </p:childTnLst>
                                </p:cTn>
                              </p:par>
                            </p:childTnLst>
                          </p:cTn>
                        </p:par>
                      </p:childTnLst>
                    </p:cTn>
                  </p:par>
                  <p:par>
                    <p:cTn id="1463" fill="hold">
                      <p:stCondLst>
                        <p:cond delay="indefinite"/>
                      </p:stCondLst>
                      <p:childTnLst>
                        <p:par>
                          <p:cTn id="1464" fill="hold">
                            <p:stCondLst>
                              <p:cond delay="0"/>
                            </p:stCondLst>
                            <p:childTnLst>
                              <p:par>
                                <p:cTn id="1465" presetID="1" presetClass="entr" presetSubtype="0" fill="hold" nodeType="clickEffect">
                                  <p:stCondLst>
                                    <p:cond delay="0"/>
                                  </p:stCondLst>
                                  <p:childTnLst>
                                    <p:set>
                                      <p:cBhvr>
                                        <p:cTn id="1466" dur="1" fill="hold">
                                          <p:stCondLst>
                                            <p:cond delay="0"/>
                                          </p:stCondLst>
                                        </p:cTn>
                                        <p:tgtEl>
                                          <p:spTgt spid="117">
                                            <p:txEl>
                                              <p:pRg st="5" end="5"/>
                                            </p:txEl>
                                          </p:spTgt>
                                        </p:tgtEl>
                                        <p:attrNameLst>
                                          <p:attrName>style.visibility</p:attrName>
                                        </p:attrNameLst>
                                      </p:cBhvr>
                                      <p:to>
                                        <p:strVal val="visible"/>
                                      </p:to>
                                    </p:set>
                                  </p:childTnLst>
                                </p:cTn>
                              </p:par>
                            </p:childTnLst>
                          </p:cTn>
                        </p:par>
                      </p:childTnLst>
                    </p:cTn>
                  </p:par>
                  <p:par>
                    <p:cTn id="1467" fill="hold">
                      <p:stCondLst>
                        <p:cond delay="indefinite"/>
                      </p:stCondLst>
                      <p:childTnLst>
                        <p:par>
                          <p:cTn id="1468" fill="hold">
                            <p:stCondLst>
                              <p:cond delay="0"/>
                            </p:stCondLst>
                            <p:childTnLst>
                              <p:par>
                                <p:cTn id="1469" presetID="1" presetClass="entr" presetSubtype="0" fill="hold" nodeType="clickEffect">
                                  <p:stCondLst>
                                    <p:cond delay="0"/>
                                  </p:stCondLst>
                                  <p:childTnLst>
                                    <p:set>
                                      <p:cBhvr>
                                        <p:cTn id="1470" dur="1" fill="hold">
                                          <p:stCondLst>
                                            <p:cond delay="0"/>
                                          </p:stCondLst>
                                        </p:cTn>
                                        <p:tgtEl>
                                          <p:spTgt spid="117">
                                            <p:txEl>
                                              <p:pRg st="6" end="6"/>
                                            </p:txEl>
                                          </p:spTgt>
                                        </p:tgtEl>
                                        <p:attrNameLst>
                                          <p:attrName>style.visibility</p:attrName>
                                        </p:attrNameLst>
                                      </p:cBhvr>
                                      <p:to>
                                        <p:strVal val="visible"/>
                                      </p:to>
                                    </p:set>
                                  </p:childTnLst>
                                </p:cTn>
                              </p:par>
                            </p:childTnLst>
                          </p:cTn>
                        </p:par>
                      </p:childTnLst>
                    </p:cTn>
                  </p:par>
                  <p:par>
                    <p:cTn id="1471" fill="hold">
                      <p:stCondLst>
                        <p:cond delay="indefinite"/>
                      </p:stCondLst>
                      <p:childTnLst>
                        <p:par>
                          <p:cTn id="1472" fill="hold">
                            <p:stCondLst>
                              <p:cond delay="0"/>
                            </p:stCondLst>
                            <p:childTnLst>
                              <p:par>
                                <p:cTn id="1473" presetID="1" presetClass="entr" presetSubtype="0" fill="hold" nodeType="clickEffect">
                                  <p:stCondLst>
                                    <p:cond delay="0"/>
                                  </p:stCondLst>
                                  <p:childTnLst>
                                    <p:set>
                                      <p:cBhvr>
                                        <p:cTn id="1474" dur="1" fill="hold">
                                          <p:stCondLst>
                                            <p:cond delay="0"/>
                                          </p:stCondLst>
                                        </p:cTn>
                                        <p:tgtEl>
                                          <p:spTgt spid="117">
                                            <p:txEl>
                                              <p:pRg st="7" end="7"/>
                                            </p:txEl>
                                          </p:spTgt>
                                        </p:tgtEl>
                                        <p:attrNameLst>
                                          <p:attrName>style.visibility</p:attrName>
                                        </p:attrNameLst>
                                      </p:cBhvr>
                                      <p:to>
                                        <p:strVal val="visible"/>
                                      </p:to>
                                    </p:set>
                                  </p:childTnLst>
                                </p:cTn>
                              </p:par>
                            </p:childTnLst>
                          </p:cTn>
                        </p:par>
                      </p:childTnLst>
                    </p:cTn>
                  </p:par>
                  <p:par>
                    <p:cTn id="1475" fill="hold">
                      <p:stCondLst>
                        <p:cond delay="indefinite"/>
                      </p:stCondLst>
                      <p:childTnLst>
                        <p:par>
                          <p:cTn id="1476" fill="hold">
                            <p:stCondLst>
                              <p:cond delay="0"/>
                            </p:stCondLst>
                            <p:childTnLst>
                              <p:par>
                                <p:cTn id="1477" presetID="1" presetClass="entr" presetSubtype="0" fill="hold" nodeType="clickEffect">
                                  <p:stCondLst>
                                    <p:cond delay="0"/>
                                  </p:stCondLst>
                                  <p:childTnLst>
                                    <p:set>
                                      <p:cBhvr>
                                        <p:cTn id="1478" dur="1" fill="hold">
                                          <p:stCondLst>
                                            <p:cond delay="0"/>
                                          </p:stCondLst>
                                        </p:cTn>
                                        <p:tgtEl>
                                          <p:spTgt spid="117">
                                            <p:txEl>
                                              <p:pRg st="8" end="8"/>
                                            </p:txEl>
                                          </p:spTgt>
                                        </p:tgtEl>
                                        <p:attrNameLst>
                                          <p:attrName>style.visibility</p:attrName>
                                        </p:attrNameLst>
                                      </p:cBhvr>
                                      <p:to>
                                        <p:strVal val="visible"/>
                                      </p:to>
                                    </p:set>
                                  </p:childTnLst>
                                </p:cTn>
                              </p:par>
                            </p:childTnLst>
                          </p:cTn>
                        </p:par>
                      </p:childTnLst>
                    </p:cTn>
                  </p:par>
                  <p:par>
                    <p:cTn id="1479" fill="hold">
                      <p:stCondLst>
                        <p:cond delay="indefinite"/>
                      </p:stCondLst>
                      <p:childTnLst>
                        <p:par>
                          <p:cTn id="1480" fill="hold">
                            <p:stCondLst>
                              <p:cond delay="0"/>
                            </p:stCondLst>
                            <p:childTnLst>
                              <p:par>
                                <p:cTn id="1481" presetID="1" presetClass="entr" presetSubtype="0" fill="hold" nodeType="clickEffect">
                                  <p:stCondLst>
                                    <p:cond delay="0"/>
                                  </p:stCondLst>
                                  <p:childTnLst>
                                    <p:set>
                                      <p:cBhvr>
                                        <p:cTn id="1482"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1483" fill="hold">
                      <p:stCondLst>
                        <p:cond delay="indefinite"/>
                      </p:stCondLst>
                      <p:childTnLst>
                        <p:par>
                          <p:cTn id="1484" fill="hold">
                            <p:stCondLst>
                              <p:cond delay="0"/>
                            </p:stCondLst>
                            <p:childTnLst>
                              <p:par>
                                <p:cTn id="1485" presetID="1" presetClass="entr" presetSubtype="0" fill="hold" nodeType="clickEffect">
                                  <p:stCondLst>
                                    <p:cond delay="0"/>
                                  </p:stCondLst>
                                  <p:childTnLst>
                                    <p:set>
                                      <p:cBhvr>
                                        <p:cTn id="148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1487" fill="hold">
                      <p:stCondLst>
                        <p:cond delay="indefinite"/>
                      </p:stCondLst>
                      <p:childTnLst>
                        <p:par>
                          <p:cTn id="1488" fill="hold">
                            <p:stCondLst>
                              <p:cond delay="0"/>
                            </p:stCondLst>
                            <p:childTnLst>
                              <p:par>
                                <p:cTn id="1489" presetID="1" presetClass="entr" presetSubtype="0" fill="hold" nodeType="clickEffect">
                                  <p:stCondLst>
                                    <p:cond delay="0"/>
                                  </p:stCondLst>
                                  <p:childTnLst>
                                    <p:set>
                                      <p:cBhvr>
                                        <p:cTn id="1490"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491" fill="hold">
                      <p:stCondLst>
                        <p:cond delay="indefinite"/>
                      </p:stCondLst>
                      <p:childTnLst>
                        <p:par>
                          <p:cTn id="1492" fill="hold">
                            <p:stCondLst>
                              <p:cond delay="0"/>
                            </p:stCondLst>
                            <p:childTnLst>
                              <p:par>
                                <p:cTn id="1493" presetID="1" presetClass="entr" presetSubtype="0" fill="hold" nodeType="clickEffect">
                                  <p:stCondLst>
                                    <p:cond delay="0"/>
                                  </p:stCondLst>
                                  <p:childTnLst>
                                    <p:set>
                                      <p:cBhvr>
                                        <p:cTn id="1494"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495" fill="hold">
                      <p:stCondLst>
                        <p:cond delay="indefinite"/>
                      </p:stCondLst>
                      <p:childTnLst>
                        <p:par>
                          <p:cTn id="1496" fill="hold">
                            <p:stCondLst>
                              <p:cond delay="0"/>
                            </p:stCondLst>
                            <p:childTnLst>
                              <p:par>
                                <p:cTn id="1497" presetID="1" presetClass="entr" presetSubtype="0" fill="hold" nodeType="clickEffect">
                                  <p:stCondLst>
                                    <p:cond delay="0"/>
                                  </p:stCondLst>
                                  <p:childTnLst>
                                    <p:set>
                                      <p:cBhvr>
                                        <p:cTn id="149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499" fill="hold">
                      <p:stCondLst>
                        <p:cond delay="indefinite"/>
                      </p:stCondLst>
                      <p:childTnLst>
                        <p:par>
                          <p:cTn id="1500" fill="hold">
                            <p:stCondLst>
                              <p:cond delay="0"/>
                            </p:stCondLst>
                            <p:childTnLst>
                              <p:par>
                                <p:cTn id="1501" presetID="1" presetClass="entr" presetSubtype="0" fill="hold" nodeType="clickEffect">
                                  <p:stCondLst>
                                    <p:cond delay="0"/>
                                  </p:stCondLst>
                                  <p:childTnLst>
                                    <p:set>
                                      <p:cBhvr>
                                        <p:cTn id="1502"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03" fill="hold">
                      <p:stCondLst>
                        <p:cond delay="indefinite"/>
                      </p:stCondLst>
                      <p:childTnLst>
                        <p:par>
                          <p:cTn id="1504" fill="hold">
                            <p:stCondLst>
                              <p:cond delay="0"/>
                            </p:stCondLst>
                            <p:childTnLst>
                              <p:par>
                                <p:cTn id="1505" presetID="1" presetClass="entr" presetSubtype="0" fill="hold" nodeType="clickEffect">
                                  <p:stCondLst>
                                    <p:cond delay="0"/>
                                  </p:stCondLst>
                                  <p:childTnLst>
                                    <p:set>
                                      <p:cBhvr>
                                        <p:cTn id="150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07" fill="hold">
                      <p:stCondLst>
                        <p:cond delay="indefinite"/>
                      </p:stCondLst>
                      <p:childTnLst>
                        <p:par>
                          <p:cTn id="1508" fill="hold">
                            <p:stCondLst>
                              <p:cond delay="0"/>
                            </p:stCondLst>
                            <p:childTnLst>
                              <p:par>
                                <p:cTn id="1509" presetID="1" presetClass="entr" presetSubtype="0" fill="hold" nodeType="clickEffect">
                                  <p:stCondLst>
                                    <p:cond delay="0"/>
                                  </p:stCondLst>
                                  <p:childTnLst>
                                    <p:set>
                                      <p:cBhvr>
                                        <p:cTn id="15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11" fill="hold">
                      <p:stCondLst>
                        <p:cond delay="indefinite"/>
                      </p:stCondLst>
                      <p:childTnLst>
                        <p:par>
                          <p:cTn id="1512" fill="hold">
                            <p:stCondLst>
                              <p:cond delay="0"/>
                            </p:stCondLst>
                            <p:childTnLst>
                              <p:par>
                                <p:cTn id="1513" presetID="1" presetClass="entr" presetSubtype="0" fill="hold" nodeType="clickEffect">
                                  <p:stCondLst>
                                    <p:cond delay="0"/>
                                  </p:stCondLst>
                                  <p:childTnLst>
                                    <p:set>
                                      <p:cBhvr>
                                        <p:cTn id="15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ctivity">
  <p:cSld name="Activity">
    <p:spTree>
      <p:nvGrpSpPr>
        <p:cNvPr id="1" name="Shape 119"/>
        <p:cNvGrpSpPr/>
        <p:nvPr/>
      </p:nvGrpSpPr>
      <p:grpSpPr>
        <a:xfrm>
          <a:off x="0" y="0"/>
          <a:ext cx="0" cy="0"/>
          <a:chOff x="0" y="0"/>
          <a:chExt cx="0" cy="0"/>
        </a:xfrm>
      </p:grpSpPr>
      <p:sp>
        <p:nvSpPr>
          <p:cNvPr id="120" name="Google Shape;120;p16"/>
          <p:cNvSpPr txBox="1">
            <a:spLocks noGrp="1"/>
          </p:cNvSpPr>
          <p:nvPr>
            <p:ph type="title"/>
          </p:nvPr>
        </p:nvSpPr>
        <p:spPr>
          <a:xfrm>
            <a:off x="1039579" y="119975"/>
            <a:ext cx="7795200" cy="577200"/>
          </a:xfrm>
          <a:prstGeom prst="rect">
            <a:avLst/>
          </a:prstGeom>
          <a:noFill/>
          <a:ln>
            <a:noFill/>
          </a:ln>
        </p:spPr>
        <p:txBody>
          <a:bodyPr spcFirstLastPara="1" wrap="square" lIns="68575" tIns="34275" rIns="68575" bIns="34275" anchor="ctr" anchorCtr="0">
            <a:normAutofit/>
          </a:bodyPr>
          <a:lstStyle>
            <a:lvl1pPr lvl="0" algn="l" rtl="0">
              <a:lnSpc>
                <a:spcPct val="10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1" name="Google Shape;121;p16"/>
          <p:cNvSpPr txBox="1">
            <a:spLocks noGrp="1"/>
          </p:cNvSpPr>
          <p:nvPr>
            <p:ph type="body" idx="1"/>
          </p:nvPr>
        </p:nvSpPr>
        <p:spPr>
          <a:xfrm>
            <a:off x="300382" y="768629"/>
            <a:ext cx="3399300" cy="3864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cxnSp>
        <p:nvCxnSpPr>
          <p:cNvPr id="122" name="Google Shape;122;p16"/>
          <p:cNvCxnSpPr/>
          <p:nvPr/>
        </p:nvCxnSpPr>
        <p:spPr>
          <a:xfrm>
            <a:off x="300382" y="736560"/>
            <a:ext cx="8534400" cy="0"/>
          </a:xfrm>
          <a:prstGeom prst="straightConnector1">
            <a:avLst/>
          </a:prstGeom>
          <a:noFill/>
          <a:ln w="63500" cap="flat" cmpd="thickThin">
            <a:solidFill>
              <a:schemeClr val="lt2"/>
            </a:solidFill>
            <a:prstDash val="solid"/>
            <a:miter lim="800000"/>
            <a:headEnd type="none" w="sm" len="sm"/>
            <a:tailEnd type="none" w="sm" len="sm"/>
          </a:ln>
        </p:spPr>
      </p:cxnSp>
      <p:sp>
        <p:nvSpPr>
          <p:cNvPr id="123" name="Google Shape;123;p16"/>
          <p:cNvSpPr txBox="1">
            <a:spLocks noGrp="1"/>
          </p:cNvSpPr>
          <p:nvPr>
            <p:ph type="body" idx="2"/>
          </p:nvPr>
        </p:nvSpPr>
        <p:spPr>
          <a:xfrm>
            <a:off x="3699710" y="784668"/>
            <a:ext cx="5135100" cy="4258500"/>
          </a:xfrm>
          <a:prstGeom prst="rect">
            <a:avLst/>
          </a:prstGeom>
          <a:noFill/>
          <a:ln w="38100"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SzPts val="1800"/>
              <a:buNone/>
              <a:defRPr sz="1800" b="1">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4" name="Google Shape;124;p16"/>
          <p:cNvSpPr txBox="1">
            <a:spLocks noGrp="1"/>
          </p:cNvSpPr>
          <p:nvPr>
            <p:ph type="body" idx="3"/>
          </p:nvPr>
        </p:nvSpPr>
        <p:spPr>
          <a:xfrm>
            <a:off x="-2811780" y="230948"/>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5" name="Google Shape;125;p16"/>
          <p:cNvSpPr txBox="1">
            <a:spLocks noGrp="1"/>
          </p:cNvSpPr>
          <p:nvPr>
            <p:ph type="body" idx="4"/>
          </p:nvPr>
        </p:nvSpPr>
        <p:spPr>
          <a:xfrm>
            <a:off x="-2811780" y="46719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6" name="Google Shape;126;p16"/>
          <p:cNvSpPr txBox="1">
            <a:spLocks noGrp="1"/>
          </p:cNvSpPr>
          <p:nvPr>
            <p:ph type="body" idx="5"/>
          </p:nvPr>
        </p:nvSpPr>
        <p:spPr>
          <a:xfrm>
            <a:off x="-2811780" y="6928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7" name="Google Shape;127;p16"/>
          <p:cNvSpPr txBox="1">
            <a:spLocks noGrp="1"/>
          </p:cNvSpPr>
          <p:nvPr>
            <p:ph type="body" idx="6"/>
          </p:nvPr>
        </p:nvSpPr>
        <p:spPr>
          <a:xfrm>
            <a:off x="-2811780" y="9172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8" name="Google Shape;128;p16"/>
          <p:cNvSpPr txBox="1">
            <a:spLocks noGrp="1"/>
          </p:cNvSpPr>
          <p:nvPr>
            <p:ph type="body" idx="7"/>
          </p:nvPr>
        </p:nvSpPr>
        <p:spPr>
          <a:xfrm>
            <a:off x="-2811780" y="114021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29" name="Google Shape;129;p16"/>
          <p:cNvSpPr txBox="1">
            <a:spLocks noGrp="1"/>
          </p:cNvSpPr>
          <p:nvPr>
            <p:ph type="body" idx="8"/>
          </p:nvPr>
        </p:nvSpPr>
        <p:spPr>
          <a:xfrm>
            <a:off x="-2811780" y="137082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0" name="Google Shape;130;p16"/>
          <p:cNvSpPr txBox="1">
            <a:spLocks noGrp="1"/>
          </p:cNvSpPr>
          <p:nvPr>
            <p:ph type="body" idx="9"/>
          </p:nvPr>
        </p:nvSpPr>
        <p:spPr>
          <a:xfrm>
            <a:off x="-2811780" y="1595164"/>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1" name="Google Shape;131;p16"/>
          <p:cNvSpPr txBox="1">
            <a:spLocks noGrp="1"/>
          </p:cNvSpPr>
          <p:nvPr>
            <p:ph type="body" idx="13"/>
          </p:nvPr>
        </p:nvSpPr>
        <p:spPr>
          <a:xfrm>
            <a:off x="-2811780" y="182638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2" name="Google Shape;132;p16"/>
          <p:cNvSpPr txBox="1">
            <a:spLocks noGrp="1"/>
          </p:cNvSpPr>
          <p:nvPr>
            <p:ph type="body" idx="14"/>
          </p:nvPr>
        </p:nvSpPr>
        <p:spPr>
          <a:xfrm>
            <a:off x="-2811780" y="2070151"/>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3" name="Google Shape;133;p16"/>
          <p:cNvSpPr txBox="1">
            <a:spLocks noGrp="1"/>
          </p:cNvSpPr>
          <p:nvPr>
            <p:ph type="body" idx="15"/>
          </p:nvPr>
        </p:nvSpPr>
        <p:spPr>
          <a:xfrm>
            <a:off x="-2811780" y="230701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4" name="Google Shape;134;p16"/>
          <p:cNvSpPr txBox="1">
            <a:spLocks noGrp="1"/>
          </p:cNvSpPr>
          <p:nvPr>
            <p:ph type="body" idx="16"/>
          </p:nvPr>
        </p:nvSpPr>
        <p:spPr>
          <a:xfrm>
            <a:off x="-2811780" y="253135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5" name="Google Shape;135;p16"/>
          <p:cNvSpPr txBox="1">
            <a:spLocks noGrp="1"/>
          </p:cNvSpPr>
          <p:nvPr>
            <p:ph type="body" idx="17"/>
          </p:nvPr>
        </p:nvSpPr>
        <p:spPr>
          <a:xfrm>
            <a:off x="-2811780" y="2750212"/>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6" name="Google Shape;136;p16"/>
          <p:cNvSpPr/>
          <p:nvPr/>
        </p:nvSpPr>
        <p:spPr>
          <a:xfrm>
            <a:off x="277239" y="109654"/>
            <a:ext cx="633000" cy="578700"/>
          </a:xfrm>
          <a:prstGeom prst="roundRect">
            <a:avLst>
              <a:gd name="adj" fmla="val 16667"/>
            </a:avLst>
          </a:prstGeom>
          <a:gradFill>
            <a:gsLst>
              <a:gs pos="0">
                <a:srgbClr val="FFFFFF"/>
              </a:gs>
              <a:gs pos="66000">
                <a:srgbClr val="FFFFFF"/>
              </a:gs>
              <a:gs pos="100000">
                <a:schemeClr val="dk2"/>
              </a:gs>
            </a:gsLst>
            <a:path path="circle">
              <a:fillToRect l="50000" t="50000" r="50000" b="50000"/>
            </a:path>
            <a:tileRect/>
          </a:gradFill>
          <a:ln w="12700" cap="flat" cmpd="sng">
            <a:solidFill>
              <a:srgbClr val="A246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37" name="Google Shape;137;p16"/>
          <p:cNvSpPr/>
          <p:nvPr/>
        </p:nvSpPr>
        <p:spPr>
          <a:xfrm>
            <a:off x="412441" y="97590"/>
            <a:ext cx="394800" cy="5772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3300" b="1" cap="none">
                <a:solidFill>
                  <a:schemeClr val="dk2"/>
                </a:solidFill>
                <a:latin typeface="Calibri"/>
                <a:ea typeface="Calibri"/>
                <a:cs typeface="Calibri"/>
                <a:sym typeface="Calibri"/>
              </a:rPr>
              <a:t>A</a:t>
            </a:r>
            <a:endParaRPr sz="1100"/>
          </a:p>
        </p:txBody>
      </p:sp>
      <p:sp>
        <p:nvSpPr>
          <p:cNvPr id="138" name="Google Shape;138;p16"/>
          <p:cNvSpPr txBox="1">
            <a:spLocks noGrp="1"/>
          </p:cNvSpPr>
          <p:nvPr>
            <p:ph type="body" idx="18"/>
          </p:nvPr>
        </p:nvSpPr>
        <p:spPr>
          <a:xfrm>
            <a:off x="-2811780" y="30367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39" name="Google Shape;139;p16"/>
          <p:cNvSpPr txBox="1">
            <a:spLocks noGrp="1"/>
          </p:cNvSpPr>
          <p:nvPr>
            <p:ph type="body" idx="19"/>
          </p:nvPr>
        </p:nvSpPr>
        <p:spPr>
          <a:xfrm>
            <a:off x="-2811780" y="3267647"/>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0" name="Google Shape;140;p16"/>
          <p:cNvSpPr txBox="1">
            <a:spLocks noGrp="1"/>
          </p:cNvSpPr>
          <p:nvPr>
            <p:ph type="body" idx="20"/>
          </p:nvPr>
        </p:nvSpPr>
        <p:spPr>
          <a:xfrm>
            <a:off x="-2811780" y="350389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1" name="Google Shape;141;p16"/>
          <p:cNvSpPr txBox="1">
            <a:spLocks noGrp="1"/>
          </p:cNvSpPr>
          <p:nvPr>
            <p:ph type="body" idx="21"/>
          </p:nvPr>
        </p:nvSpPr>
        <p:spPr>
          <a:xfrm>
            <a:off x="-2811780" y="37295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2" name="Google Shape;142;p16"/>
          <p:cNvSpPr txBox="1">
            <a:spLocks noGrp="1"/>
          </p:cNvSpPr>
          <p:nvPr>
            <p:ph type="body" idx="22"/>
          </p:nvPr>
        </p:nvSpPr>
        <p:spPr>
          <a:xfrm>
            <a:off x="-2811780" y="3953900"/>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3" name="Google Shape;143;p16"/>
          <p:cNvSpPr txBox="1">
            <a:spLocks noGrp="1"/>
          </p:cNvSpPr>
          <p:nvPr>
            <p:ph type="body" idx="23"/>
          </p:nvPr>
        </p:nvSpPr>
        <p:spPr>
          <a:xfrm>
            <a:off x="-2811780" y="417691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4" name="Google Shape;144;p16"/>
          <p:cNvSpPr txBox="1">
            <a:spLocks noGrp="1"/>
          </p:cNvSpPr>
          <p:nvPr>
            <p:ph type="body" idx="24"/>
          </p:nvPr>
        </p:nvSpPr>
        <p:spPr>
          <a:xfrm>
            <a:off x="-2811780" y="4407526"/>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
        <p:nvSpPr>
          <p:cNvPr id="145" name="Google Shape;145;p16"/>
          <p:cNvSpPr txBox="1">
            <a:spLocks noGrp="1"/>
          </p:cNvSpPr>
          <p:nvPr>
            <p:ph type="body" idx="25"/>
          </p:nvPr>
        </p:nvSpPr>
        <p:spPr>
          <a:xfrm>
            <a:off x="-2811780" y="4631863"/>
            <a:ext cx="2811900" cy="4116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0"/>
              </a:spcBef>
              <a:spcAft>
                <a:spcPts val="0"/>
              </a:spcAft>
              <a:buClr>
                <a:schemeClr val="lt1"/>
              </a:buClr>
              <a:buSzPts val="1800"/>
              <a:buNone/>
              <a:defRPr sz="1800" b="1">
                <a:solidFill>
                  <a:schemeClr val="lt1"/>
                </a:solidFill>
                <a:latin typeface="Consolas"/>
                <a:ea typeface="Consolas"/>
                <a:cs typeface="Consolas"/>
                <a:sym typeface="Consolas"/>
              </a:defRPr>
            </a:lvl1pPr>
            <a:lvl2pPr marL="914400" lvl="1" indent="-317500" algn="l" rtl="0">
              <a:lnSpc>
                <a:spcPct val="90000"/>
              </a:lnSpc>
              <a:spcBef>
                <a:spcPts val="1600"/>
              </a:spcBef>
              <a:spcAft>
                <a:spcPts val="0"/>
              </a:spcAft>
              <a:buClr>
                <a:schemeClr val="dk1"/>
              </a:buClr>
              <a:buSzPts val="1400"/>
              <a:buChar char="○"/>
              <a:defRPr/>
            </a:lvl2pPr>
            <a:lvl3pPr marL="1371600" lvl="2" indent="-317500" algn="l" rtl="0">
              <a:lnSpc>
                <a:spcPct val="90000"/>
              </a:lnSpc>
              <a:spcBef>
                <a:spcPts val="1600"/>
              </a:spcBef>
              <a:spcAft>
                <a:spcPts val="0"/>
              </a:spcAft>
              <a:buClr>
                <a:schemeClr val="dk1"/>
              </a:buClr>
              <a:buSzPts val="1400"/>
              <a:buChar char="■"/>
              <a:defRPr/>
            </a:lvl3pPr>
            <a:lvl4pPr marL="1828800" lvl="3" indent="-317500" algn="l" rtl="0">
              <a:lnSpc>
                <a:spcPct val="90000"/>
              </a:lnSpc>
              <a:spcBef>
                <a:spcPts val="1600"/>
              </a:spcBef>
              <a:spcAft>
                <a:spcPts val="0"/>
              </a:spcAft>
              <a:buClr>
                <a:schemeClr val="dk1"/>
              </a:buClr>
              <a:buSzPts val="1400"/>
              <a:buChar char="●"/>
              <a:defRPr/>
            </a:lvl4pPr>
            <a:lvl5pPr marL="2286000" lvl="4" indent="-317500" algn="l" rtl="0">
              <a:lnSpc>
                <a:spcPct val="90000"/>
              </a:lnSpc>
              <a:spcBef>
                <a:spcPts val="1600"/>
              </a:spcBef>
              <a:spcAft>
                <a:spcPts val="0"/>
              </a:spcAft>
              <a:buClr>
                <a:schemeClr val="dk1"/>
              </a:buClr>
              <a:buSzPts val="1400"/>
              <a:buChar char="○"/>
              <a:defRPr/>
            </a:lvl5pPr>
            <a:lvl6pPr marL="2743200" lvl="5" indent="-317500" algn="l" rtl="0">
              <a:lnSpc>
                <a:spcPct val="90000"/>
              </a:lnSpc>
              <a:spcBef>
                <a:spcPts val="1600"/>
              </a:spcBef>
              <a:spcAft>
                <a:spcPts val="0"/>
              </a:spcAft>
              <a:buClr>
                <a:schemeClr val="dk1"/>
              </a:buClr>
              <a:buSzPts val="1400"/>
              <a:buChar char="■"/>
              <a:defRPr/>
            </a:lvl6pPr>
            <a:lvl7pPr marL="3200400" lvl="6" indent="-317500" algn="l" rtl="0">
              <a:lnSpc>
                <a:spcPct val="90000"/>
              </a:lnSpc>
              <a:spcBef>
                <a:spcPts val="1600"/>
              </a:spcBef>
              <a:spcAft>
                <a:spcPts val="0"/>
              </a:spcAft>
              <a:buClr>
                <a:schemeClr val="dk1"/>
              </a:buClr>
              <a:buSzPts val="1400"/>
              <a:buChar char="●"/>
              <a:defRPr/>
            </a:lvl7pPr>
            <a:lvl8pPr marL="3657600" lvl="7" indent="-317500" algn="l" rtl="0">
              <a:lnSpc>
                <a:spcPct val="90000"/>
              </a:lnSpc>
              <a:spcBef>
                <a:spcPts val="1600"/>
              </a:spcBef>
              <a:spcAft>
                <a:spcPts val="0"/>
              </a:spcAft>
              <a:buClr>
                <a:schemeClr val="dk1"/>
              </a:buClr>
              <a:buSzPts val="1400"/>
              <a:buChar char="○"/>
              <a:defRPr/>
            </a:lvl8pPr>
            <a:lvl9pPr marL="4114800" lvl="8" indent="-317500" algn="l" rtl="0">
              <a:lnSpc>
                <a:spcPct val="90000"/>
              </a:lnSpc>
              <a:spcBef>
                <a:spcPts val="1600"/>
              </a:spcBef>
              <a:spcAft>
                <a:spcPts val="1600"/>
              </a:spcAft>
              <a:buClr>
                <a:schemeClr val="dk1"/>
              </a:buClr>
              <a:buSzPts val="14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4">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4">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4">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4">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4">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4">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4">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4">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4">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25">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25">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25">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25">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25">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25">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26">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26">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26">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26">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26">
                                            <p:txEl>
                                              <p:pRg st="4" end="4"/>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26">
                                            <p:txEl>
                                              <p:pRg st="5" end="5"/>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26">
                                            <p:txEl>
                                              <p:pRg st="6" end="6"/>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26">
                                            <p:txEl>
                                              <p:pRg st="7" end="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26">
                                            <p:txEl>
                                              <p:pRg st="8" end="8"/>
                                            </p:txEl>
                                          </p:spTgt>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127">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27">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127">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27">
                                            <p:txEl>
                                              <p:pRg st="5" end="5"/>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127">
                                            <p:txEl>
                                              <p:pRg st="6" end="6"/>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127">
                                            <p:txEl>
                                              <p:pRg st="7" end="7"/>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27">
                                            <p:txEl>
                                              <p:pRg st="8" end="8"/>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128">
                                            <p:txEl>
                                              <p:pRg st="0" end="0"/>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28">
                                            <p:txEl>
                                              <p:pRg st="1" end="1"/>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28">
                                            <p:txEl>
                                              <p:pRg st="2" end="2"/>
                                            </p:txEl>
                                          </p:spTgt>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128">
                                            <p:txEl>
                                              <p:pRg st="3" end="3"/>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128">
                                            <p:txEl>
                                              <p:pRg st="4" end="4"/>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28">
                                            <p:txEl>
                                              <p:pRg st="5" end="5"/>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128">
                                            <p:txEl>
                                              <p:pRg st="6" end="6"/>
                                            </p:txEl>
                                          </p:spTgt>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128">
                                            <p:txEl>
                                              <p:pRg st="7" end="7"/>
                                            </p:txEl>
                                          </p:spTgt>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128">
                                            <p:txEl>
                                              <p:pRg st="8" end="8"/>
                                            </p:txEl>
                                          </p:spTgt>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29">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29">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29">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29">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nodeType="clickEffect">
                                  <p:stCondLst>
                                    <p:cond delay="0"/>
                                  </p:stCondLst>
                                  <p:childTnLst>
                                    <p:set>
                                      <p:cBhvr>
                                        <p:cTn id="238" dur="1" fill="hold">
                                          <p:stCondLst>
                                            <p:cond delay="0"/>
                                          </p:stCondLst>
                                        </p:cTn>
                                        <p:tgtEl>
                                          <p:spTgt spid="129">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129">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129">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29">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129">
                                            <p:txEl>
                                              <p:pRg st="8" end="8"/>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130">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nodeType="clickEffect">
                                  <p:stCondLst>
                                    <p:cond delay="0"/>
                                  </p:stCondLst>
                                  <p:childTnLst>
                                    <p:set>
                                      <p:cBhvr>
                                        <p:cTn id="262" dur="1" fill="hold">
                                          <p:stCondLst>
                                            <p:cond delay="0"/>
                                          </p:stCondLst>
                                        </p:cTn>
                                        <p:tgtEl>
                                          <p:spTgt spid="130">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130">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nodeType="clickEffect">
                                  <p:stCondLst>
                                    <p:cond delay="0"/>
                                  </p:stCondLst>
                                  <p:childTnLst>
                                    <p:set>
                                      <p:cBhvr>
                                        <p:cTn id="270" dur="1" fill="hold">
                                          <p:stCondLst>
                                            <p:cond delay="0"/>
                                          </p:stCondLst>
                                        </p:cTn>
                                        <p:tgtEl>
                                          <p:spTgt spid="130">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130">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130">
                                            <p:txEl>
                                              <p:pRg st="5" end="5"/>
                                            </p:txEl>
                                          </p:spTgt>
                                        </p:tgtEl>
                                        <p:attrNameLst>
                                          <p:attrName>style.visibility</p:attrName>
                                        </p:attrNameLst>
                                      </p:cBhvr>
                                      <p:to>
                                        <p:strVal val="visible"/>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nodeType="clickEffect">
                                  <p:stCondLst>
                                    <p:cond delay="0"/>
                                  </p:stCondLst>
                                  <p:childTnLst>
                                    <p:set>
                                      <p:cBhvr>
                                        <p:cTn id="282" dur="1" fill="hold">
                                          <p:stCondLst>
                                            <p:cond delay="0"/>
                                          </p:stCondLst>
                                        </p:cTn>
                                        <p:tgtEl>
                                          <p:spTgt spid="130">
                                            <p:txEl>
                                              <p:pRg st="6" end="6"/>
                                            </p:txEl>
                                          </p:spTgt>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0"/>
                                          </p:stCondLst>
                                        </p:cTn>
                                        <p:tgtEl>
                                          <p:spTgt spid="130">
                                            <p:txEl>
                                              <p:pRg st="7" end="7"/>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130">
                                            <p:txEl>
                                              <p:pRg st="8" end="8"/>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nodeType="clickEffect">
                                  <p:stCondLst>
                                    <p:cond delay="0"/>
                                  </p:stCondLst>
                                  <p:childTnLst>
                                    <p:set>
                                      <p:cBhvr>
                                        <p:cTn id="298" dur="1" fill="hold">
                                          <p:stCondLst>
                                            <p:cond delay="0"/>
                                          </p:stCondLst>
                                        </p:cTn>
                                        <p:tgtEl>
                                          <p:spTgt spid="131">
                                            <p:txEl>
                                              <p:pRg st="1" end="1"/>
                                            </p:txEl>
                                          </p:spTgt>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nodeType="clickEffect">
                                  <p:stCondLst>
                                    <p:cond delay="0"/>
                                  </p:stCondLst>
                                  <p:childTnLst>
                                    <p:set>
                                      <p:cBhvr>
                                        <p:cTn id="302" dur="1" fill="hold">
                                          <p:stCondLst>
                                            <p:cond delay="0"/>
                                          </p:stCondLst>
                                        </p:cTn>
                                        <p:tgtEl>
                                          <p:spTgt spid="131">
                                            <p:txEl>
                                              <p:pRg st="2" end="2"/>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nodeType="clickEffect">
                                  <p:stCondLst>
                                    <p:cond delay="0"/>
                                  </p:stCondLst>
                                  <p:childTnLst>
                                    <p:set>
                                      <p:cBhvr>
                                        <p:cTn id="306" dur="1" fill="hold">
                                          <p:stCondLst>
                                            <p:cond delay="0"/>
                                          </p:stCondLst>
                                        </p:cTn>
                                        <p:tgtEl>
                                          <p:spTgt spid="131">
                                            <p:txEl>
                                              <p:pRg st="3" end="3"/>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131">
                                            <p:txEl>
                                              <p:pRg st="4" end="4"/>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presetSubtype="0" fill="hold" nodeType="clickEffect">
                                  <p:stCondLst>
                                    <p:cond delay="0"/>
                                  </p:stCondLst>
                                  <p:childTnLst>
                                    <p:set>
                                      <p:cBhvr>
                                        <p:cTn id="314" dur="1" fill="hold">
                                          <p:stCondLst>
                                            <p:cond delay="0"/>
                                          </p:stCondLst>
                                        </p:cTn>
                                        <p:tgtEl>
                                          <p:spTgt spid="131">
                                            <p:txEl>
                                              <p:pRg st="5" end="5"/>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131">
                                            <p:txEl>
                                              <p:pRg st="6" end="6"/>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131">
                                            <p:txEl>
                                              <p:pRg st="7" end="7"/>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presetID="1" presetClass="entr" presetSubtype="0" fill="hold" nodeType="clickEffect">
                                  <p:stCondLst>
                                    <p:cond delay="0"/>
                                  </p:stCondLst>
                                  <p:childTnLst>
                                    <p:set>
                                      <p:cBhvr>
                                        <p:cTn id="326" dur="1" fill="hold">
                                          <p:stCondLst>
                                            <p:cond delay="0"/>
                                          </p:stCondLst>
                                        </p:cTn>
                                        <p:tgtEl>
                                          <p:spTgt spid="131">
                                            <p:txEl>
                                              <p:pRg st="8" end="8"/>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nodeType="clickEffect">
                                  <p:stCondLst>
                                    <p:cond delay="0"/>
                                  </p:stCondLst>
                                  <p:childTnLst>
                                    <p:set>
                                      <p:cBhvr>
                                        <p:cTn id="330" dur="1" fill="hold">
                                          <p:stCondLst>
                                            <p:cond delay="0"/>
                                          </p:stCondLst>
                                        </p:cTn>
                                        <p:tgtEl>
                                          <p:spTgt spid="132">
                                            <p:txEl>
                                              <p:pRg st="0" end="0"/>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132">
                                            <p:txEl>
                                              <p:pRg st="1" end="1"/>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132">
                                            <p:txEl>
                                              <p:pRg st="2" end="2"/>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1" presetClass="entr" presetSubtype="0" fill="hold" nodeType="clickEffect">
                                  <p:stCondLst>
                                    <p:cond delay="0"/>
                                  </p:stCondLst>
                                  <p:childTnLst>
                                    <p:set>
                                      <p:cBhvr>
                                        <p:cTn id="342" dur="1" fill="hold">
                                          <p:stCondLst>
                                            <p:cond delay="0"/>
                                          </p:stCondLst>
                                        </p:cTn>
                                        <p:tgtEl>
                                          <p:spTgt spid="132">
                                            <p:txEl>
                                              <p:pRg st="3" end="3"/>
                                            </p:txEl>
                                          </p:spTgt>
                                        </p:tgtEl>
                                        <p:attrNameLst>
                                          <p:attrName>style.visibility</p:attrName>
                                        </p:attrNameLst>
                                      </p:cBhvr>
                                      <p:to>
                                        <p:strVal val="visible"/>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132">
                                            <p:txEl>
                                              <p:pRg st="4" end="4"/>
                                            </p:txEl>
                                          </p:spTgt>
                                        </p:tgtEl>
                                        <p:attrNameLst>
                                          <p:attrName>style.visibility</p:attrName>
                                        </p:attrNameLst>
                                      </p:cBhvr>
                                      <p:to>
                                        <p:strVal val="visible"/>
                                      </p:to>
                                    </p:set>
                                  </p:childTnLst>
                                </p:cTn>
                              </p:par>
                            </p:childTnLst>
                          </p:cTn>
                        </p:par>
                      </p:childTnLst>
                    </p:cTn>
                  </p:par>
                  <p:par>
                    <p:cTn id="347" fill="hold">
                      <p:stCondLst>
                        <p:cond delay="indefinite"/>
                      </p:stCondLst>
                      <p:childTnLst>
                        <p:par>
                          <p:cTn id="348" fill="hold">
                            <p:stCondLst>
                              <p:cond delay="0"/>
                            </p:stCondLst>
                            <p:childTnLst>
                              <p:par>
                                <p:cTn id="349" presetID="1" presetClass="entr" presetSubtype="0" fill="hold" nodeType="clickEffect">
                                  <p:stCondLst>
                                    <p:cond delay="0"/>
                                  </p:stCondLst>
                                  <p:childTnLst>
                                    <p:set>
                                      <p:cBhvr>
                                        <p:cTn id="350" dur="1" fill="hold">
                                          <p:stCondLst>
                                            <p:cond delay="0"/>
                                          </p:stCondLst>
                                        </p:cTn>
                                        <p:tgtEl>
                                          <p:spTgt spid="132">
                                            <p:txEl>
                                              <p:pRg st="5" end="5"/>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nodeType="clickEffect">
                                  <p:stCondLst>
                                    <p:cond delay="0"/>
                                  </p:stCondLst>
                                  <p:childTnLst>
                                    <p:set>
                                      <p:cBhvr>
                                        <p:cTn id="354" dur="1" fill="hold">
                                          <p:stCondLst>
                                            <p:cond delay="0"/>
                                          </p:stCondLst>
                                        </p:cTn>
                                        <p:tgtEl>
                                          <p:spTgt spid="132">
                                            <p:txEl>
                                              <p:pRg st="6" end="6"/>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132">
                                            <p:txEl>
                                              <p:pRg st="7" end="7"/>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nodeType="clickEffect">
                                  <p:stCondLst>
                                    <p:cond delay="0"/>
                                  </p:stCondLst>
                                  <p:childTnLst>
                                    <p:set>
                                      <p:cBhvr>
                                        <p:cTn id="362" dur="1" fill="hold">
                                          <p:stCondLst>
                                            <p:cond delay="0"/>
                                          </p:stCondLst>
                                        </p:cTn>
                                        <p:tgtEl>
                                          <p:spTgt spid="132">
                                            <p:txEl>
                                              <p:pRg st="8" end="8"/>
                                            </p:txEl>
                                          </p:spTgt>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nodeType="clickEffect">
                                  <p:stCondLst>
                                    <p:cond delay="0"/>
                                  </p:stCondLst>
                                  <p:childTnLst>
                                    <p:set>
                                      <p:cBhvr>
                                        <p:cTn id="370"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nodeType="clickEffect">
                                  <p:stCondLst>
                                    <p:cond delay="0"/>
                                  </p:stCondLst>
                                  <p:childTnLst>
                                    <p:set>
                                      <p:cBhvr>
                                        <p:cTn id="378" dur="1" fill="hold">
                                          <p:stCondLst>
                                            <p:cond delay="0"/>
                                          </p:stCondLst>
                                        </p:cTn>
                                        <p:tgtEl>
                                          <p:spTgt spid="133">
                                            <p:txEl>
                                              <p:pRg st="3" end="3"/>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nodeType="clickEffect">
                                  <p:stCondLst>
                                    <p:cond delay="0"/>
                                  </p:stCondLst>
                                  <p:childTnLst>
                                    <p:set>
                                      <p:cBhvr>
                                        <p:cTn id="382" dur="1" fill="hold">
                                          <p:stCondLst>
                                            <p:cond delay="0"/>
                                          </p:stCondLst>
                                        </p:cTn>
                                        <p:tgtEl>
                                          <p:spTgt spid="133">
                                            <p:txEl>
                                              <p:pRg st="4" end="4"/>
                                            </p:txEl>
                                          </p:spTgt>
                                        </p:tgtEl>
                                        <p:attrNameLst>
                                          <p:attrName>style.visibility</p:attrName>
                                        </p:attrNameLst>
                                      </p:cBhvr>
                                      <p:to>
                                        <p:strVal val="visible"/>
                                      </p:to>
                                    </p:set>
                                  </p:childTnLst>
                                </p:cTn>
                              </p:par>
                            </p:childTnLst>
                          </p:cTn>
                        </p:par>
                      </p:childTnLst>
                    </p:cTn>
                  </p:par>
                  <p:par>
                    <p:cTn id="383" fill="hold">
                      <p:stCondLst>
                        <p:cond delay="indefinite"/>
                      </p:stCondLst>
                      <p:childTnLst>
                        <p:par>
                          <p:cTn id="384" fill="hold">
                            <p:stCondLst>
                              <p:cond delay="0"/>
                            </p:stCondLst>
                            <p:childTnLst>
                              <p:par>
                                <p:cTn id="385" presetID="1" presetClass="entr" presetSubtype="0" fill="hold" nodeType="clickEffect">
                                  <p:stCondLst>
                                    <p:cond delay="0"/>
                                  </p:stCondLst>
                                  <p:childTnLst>
                                    <p:set>
                                      <p:cBhvr>
                                        <p:cTn id="386" dur="1" fill="hold">
                                          <p:stCondLst>
                                            <p:cond delay="0"/>
                                          </p:stCondLst>
                                        </p:cTn>
                                        <p:tgtEl>
                                          <p:spTgt spid="133">
                                            <p:txEl>
                                              <p:pRg st="5" end="5"/>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fill="hold" nodeType="clickEffect">
                                  <p:stCondLst>
                                    <p:cond delay="0"/>
                                  </p:stCondLst>
                                  <p:childTnLst>
                                    <p:set>
                                      <p:cBhvr>
                                        <p:cTn id="390" dur="1" fill="hold">
                                          <p:stCondLst>
                                            <p:cond delay="0"/>
                                          </p:stCondLst>
                                        </p:cTn>
                                        <p:tgtEl>
                                          <p:spTgt spid="133">
                                            <p:txEl>
                                              <p:pRg st="6" end="6"/>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fill="hold" nodeType="clickEffect">
                                  <p:stCondLst>
                                    <p:cond delay="0"/>
                                  </p:stCondLst>
                                  <p:childTnLst>
                                    <p:set>
                                      <p:cBhvr>
                                        <p:cTn id="394" dur="1" fill="hold">
                                          <p:stCondLst>
                                            <p:cond delay="0"/>
                                          </p:stCondLst>
                                        </p:cTn>
                                        <p:tgtEl>
                                          <p:spTgt spid="133">
                                            <p:txEl>
                                              <p:pRg st="7" end="7"/>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fill="hold" nodeType="clickEffect">
                                  <p:stCondLst>
                                    <p:cond delay="0"/>
                                  </p:stCondLst>
                                  <p:childTnLst>
                                    <p:set>
                                      <p:cBhvr>
                                        <p:cTn id="398" dur="1" fill="hold">
                                          <p:stCondLst>
                                            <p:cond delay="0"/>
                                          </p:stCondLst>
                                        </p:cTn>
                                        <p:tgtEl>
                                          <p:spTgt spid="133">
                                            <p:txEl>
                                              <p:pRg st="8" end="8"/>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fill="hold" nodeType="clickEffect">
                                  <p:stCondLst>
                                    <p:cond delay="0"/>
                                  </p:stCondLst>
                                  <p:childTnLst>
                                    <p:set>
                                      <p:cBhvr>
                                        <p:cTn id="402" dur="1" fill="hold">
                                          <p:stCondLst>
                                            <p:cond delay="0"/>
                                          </p:stCondLst>
                                        </p:cTn>
                                        <p:tgtEl>
                                          <p:spTgt spid="134">
                                            <p:txEl>
                                              <p:pRg st="0" end="0"/>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fill="hold" nodeType="clickEffect">
                                  <p:stCondLst>
                                    <p:cond delay="0"/>
                                  </p:stCondLst>
                                  <p:childTnLst>
                                    <p:set>
                                      <p:cBhvr>
                                        <p:cTn id="406" dur="1" fill="hold">
                                          <p:stCondLst>
                                            <p:cond delay="0"/>
                                          </p:stCondLst>
                                        </p:cTn>
                                        <p:tgtEl>
                                          <p:spTgt spid="134">
                                            <p:txEl>
                                              <p:pRg st="1" end="1"/>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fill="hold" nodeType="clickEffect">
                                  <p:stCondLst>
                                    <p:cond delay="0"/>
                                  </p:stCondLst>
                                  <p:childTnLst>
                                    <p:set>
                                      <p:cBhvr>
                                        <p:cTn id="410" dur="1" fill="hold">
                                          <p:stCondLst>
                                            <p:cond delay="0"/>
                                          </p:stCondLst>
                                        </p:cTn>
                                        <p:tgtEl>
                                          <p:spTgt spid="134">
                                            <p:txEl>
                                              <p:pRg st="2" end="2"/>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 presetClass="entr" presetSubtype="0" fill="hold" nodeType="clickEffect">
                                  <p:stCondLst>
                                    <p:cond delay="0"/>
                                  </p:stCondLst>
                                  <p:childTnLst>
                                    <p:set>
                                      <p:cBhvr>
                                        <p:cTn id="414" dur="1" fill="hold">
                                          <p:stCondLst>
                                            <p:cond delay="0"/>
                                          </p:stCondLst>
                                        </p:cTn>
                                        <p:tgtEl>
                                          <p:spTgt spid="134">
                                            <p:txEl>
                                              <p:pRg st="3" end="3"/>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presetID="1" presetClass="entr" presetSubtype="0" fill="hold" nodeType="clickEffect">
                                  <p:stCondLst>
                                    <p:cond delay="0"/>
                                  </p:stCondLst>
                                  <p:childTnLst>
                                    <p:set>
                                      <p:cBhvr>
                                        <p:cTn id="418" dur="1" fill="hold">
                                          <p:stCondLst>
                                            <p:cond delay="0"/>
                                          </p:stCondLst>
                                        </p:cTn>
                                        <p:tgtEl>
                                          <p:spTgt spid="134">
                                            <p:txEl>
                                              <p:pRg st="4" end="4"/>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presetID="1" presetClass="entr" presetSubtype="0" fill="hold" nodeType="clickEffect">
                                  <p:stCondLst>
                                    <p:cond delay="0"/>
                                  </p:stCondLst>
                                  <p:childTnLst>
                                    <p:set>
                                      <p:cBhvr>
                                        <p:cTn id="422" dur="1" fill="hold">
                                          <p:stCondLst>
                                            <p:cond delay="0"/>
                                          </p:stCondLst>
                                        </p:cTn>
                                        <p:tgtEl>
                                          <p:spTgt spid="134">
                                            <p:txEl>
                                              <p:pRg st="5" end="5"/>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134">
                                            <p:txEl>
                                              <p:pRg st="6" end="6"/>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1" presetClass="entr" presetSubtype="0" fill="hold" nodeType="clickEffect">
                                  <p:stCondLst>
                                    <p:cond delay="0"/>
                                  </p:stCondLst>
                                  <p:childTnLst>
                                    <p:set>
                                      <p:cBhvr>
                                        <p:cTn id="430" dur="1" fill="hold">
                                          <p:stCondLst>
                                            <p:cond delay="0"/>
                                          </p:stCondLst>
                                        </p:cTn>
                                        <p:tgtEl>
                                          <p:spTgt spid="134">
                                            <p:txEl>
                                              <p:pRg st="7" end="7"/>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presetID="1" presetClass="entr" presetSubtype="0" fill="hold" nodeType="clickEffect">
                                  <p:stCondLst>
                                    <p:cond delay="0"/>
                                  </p:stCondLst>
                                  <p:childTnLst>
                                    <p:set>
                                      <p:cBhvr>
                                        <p:cTn id="434" dur="1" fill="hold">
                                          <p:stCondLst>
                                            <p:cond delay="0"/>
                                          </p:stCondLst>
                                        </p:cTn>
                                        <p:tgtEl>
                                          <p:spTgt spid="134">
                                            <p:txEl>
                                              <p:pRg st="8" end="8"/>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presetID="1" presetClass="entr" presetSubtype="0" fill="hold" nodeType="clickEffect">
                                  <p:stCondLst>
                                    <p:cond delay="0"/>
                                  </p:stCondLst>
                                  <p:childTnLst>
                                    <p:set>
                                      <p:cBhvr>
                                        <p:cTn id="438" dur="1" fill="hold">
                                          <p:stCondLst>
                                            <p:cond delay="0"/>
                                          </p:stCondLst>
                                        </p:cTn>
                                        <p:tgtEl>
                                          <p:spTgt spid="135">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nodeType="clickEffect">
                                  <p:stCondLst>
                                    <p:cond delay="0"/>
                                  </p:stCondLst>
                                  <p:childTnLst>
                                    <p:set>
                                      <p:cBhvr>
                                        <p:cTn id="442"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presetID="1" presetClass="entr" presetSubtype="0" fill="hold" nodeType="clickEffect">
                                  <p:stCondLst>
                                    <p:cond delay="0"/>
                                  </p:stCondLst>
                                  <p:childTnLst>
                                    <p:set>
                                      <p:cBhvr>
                                        <p:cTn id="446" dur="1" fill="hold">
                                          <p:stCondLst>
                                            <p:cond delay="0"/>
                                          </p:stCondLst>
                                        </p:cTn>
                                        <p:tgtEl>
                                          <p:spTgt spid="135">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135">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nodeType="clickEffect">
                                  <p:stCondLst>
                                    <p:cond delay="0"/>
                                  </p:stCondLst>
                                  <p:childTnLst>
                                    <p:set>
                                      <p:cBhvr>
                                        <p:cTn id="454" dur="1" fill="hold">
                                          <p:stCondLst>
                                            <p:cond delay="0"/>
                                          </p:stCondLst>
                                        </p:cTn>
                                        <p:tgtEl>
                                          <p:spTgt spid="135">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presetID="1" presetClass="entr" presetSubtype="0" fill="hold" nodeType="clickEffect">
                                  <p:stCondLst>
                                    <p:cond delay="0"/>
                                  </p:stCondLst>
                                  <p:childTnLst>
                                    <p:set>
                                      <p:cBhvr>
                                        <p:cTn id="458" dur="1" fill="hold">
                                          <p:stCondLst>
                                            <p:cond delay="0"/>
                                          </p:stCondLst>
                                        </p:cTn>
                                        <p:tgtEl>
                                          <p:spTgt spid="135">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135">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ntr" presetSubtype="0" fill="hold" nodeType="clickEffect">
                                  <p:stCondLst>
                                    <p:cond delay="0"/>
                                  </p:stCondLst>
                                  <p:childTnLst>
                                    <p:set>
                                      <p:cBhvr>
                                        <p:cTn id="466" dur="1" fill="hold">
                                          <p:stCondLst>
                                            <p:cond delay="0"/>
                                          </p:stCondLst>
                                        </p:cTn>
                                        <p:tgtEl>
                                          <p:spTgt spid="135">
                                            <p:txEl>
                                              <p:pRg st="7" end="7"/>
                                            </p:txEl>
                                          </p:spTgt>
                                        </p:tgtEl>
                                        <p:attrNameLst>
                                          <p:attrName>style.visibility</p:attrName>
                                        </p:attrNameLst>
                                      </p:cBhvr>
                                      <p:to>
                                        <p:strVal val="visible"/>
                                      </p:to>
                                    </p:set>
                                  </p:childTnLst>
                                </p:cTn>
                              </p:par>
                            </p:childTnLst>
                          </p:cTn>
                        </p:par>
                      </p:childTnLst>
                    </p:cTn>
                  </p:par>
                  <p:par>
                    <p:cTn id="467" fill="hold">
                      <p:stCondLst>
                        <p:cond delay="indefinite"/>
                      </p:stCondLst>
                      <p:childTnLst>
                        <p:par>
                          <p:cTn id="468" fill="hold">
                            <p:stCondLst>
                              <p:cond delay="0"/>
                            </p:stCondLst>
                            <p:childTnLst>
                              <p:par>
                                <p:cTn id="469" presetID="1" presetClass="entr" presetSubtype="0" fill="hold" nodeType="clickEffect">
                                  <p:stCondLst>
                                    <p:cond delay="0"/>
                                  </p:stCondLst>
                                  <p:childTnLst>
                                    <p:set>
                                      <p:cBhvr>
                                        <p:cTn id="470" dur="1" fill="hold">
                                          <p:stCondLst>
                                            <p:cond delay="0"/>
                                          </p:stCondLst>
                                        </p:cTn>
                                        <p:tgtEl>
                                          <p:spTgt spid="135">
                                            <p:txEl>
                                              <p:pRg st="8" end="8"/>
                                            </p:txEl>
                                          </p:spTgt>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nodeType="clickEffect">
                                  <p:stCondLst>
                                    <p:cond delay="0"/>
                                  </p:stCondLst>
                                  <p:childTnLst>
                                    <p:set>
                                      <p:cBhvr>
                                        <p:cTn id="474"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ntr" presetSubtype="0" fill="hold" nodeType="clickEffect">
                                  <p:stCondLst>
                                    <p:cond delay="0"/>
                                  </p:stCondLst>
                                  <p:childTnLst>
                                    <p:set>
                                      <p:cBhvr>
                                        <p:cTn id="478"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presetID="1" presetClass="entr" presetSubtype="0" fill="hold" nodeType="clickEffect">
                                  <p:stCondLst>
                                    <p:cond delay="0"/>
                                  </p:stCondLst>
                                  <p:childTnLst>
                                    <p:set>
                                      <p:cBhvr>
                                        <p:cTn id="482"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nodeType="clickEffect">
                                  <p:stCondLst>
                                    <p:cond delay="0"/>
                                  </p:stCondLst>
                                  <p:childTnLst>
                                    <p:set>
                                      <p:cBhvr>
                                        <p:cTn id="486" dur="1" fill="hold">
                                          <p:stCondLst>
                                            <p:cond delay="0"/>
                                          </p:stCondLst>
                                        </p:cTn>
                                        <p:tgtEl>
                                          <p:spTgt spid="138">
                                            <p:txEl>
                                              <p:pRg st="3" end="3"/>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presetID="1" presetClass="entr" presetSubtype="0" fill="hold" nodeType="clickEffect">
                                  <p:stCondLst>
                                    <p:cond delay="0"/>
                                  </p:stCondLst>
                                  <p:childTnLst>
                                    <p:set>
                                      <p:cBhvr>
                                        <p:cTn id="490"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491" fill="hold">
                      <p:stCondLst>
                        <p:cond delay="indefinite"/>
                      </p:stCondLst>
                      <p:childTnLst>
                        <p:par>
                          <p:cTn id="492" fill="hold">
                            <p:stCondLst>
                              <p:cond delay="0"/>
                            </p:stCondLst>
                            <p:childTnLst>
                              <p:par>
                                <p:cTn id="493" presetID="1" presetClass="entr" presetSubtype="0" fill="hold" nodeType="clickEffect">
                                  <p:stCondLst>
                                    <p:cond delay="0"/>
                                  </p:stCondLst>
                                  <p:childTnLst>
                                    <p:set>
                                      <p:cBhvr>
                                        <p:cTn id="494" dur="1" fill="hold">
                                          <p:stCondLst>
                                            <p:cond delay="0"/>
                                          </p:stCondLst>
                                        </p:cTn>
                                        <p:tgtEl>
                                          <p:spTgt spid="138">
                                            <p:txEl>
                                              <p:pRg st="5" end="5"/>
                                            </p:txEl>
                                          </p:spTgt>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nodeType="clickEffect">
                                  <p:stCondLst>
                                    <p:cond delay="0"/>
                                  </p:stCondLst>
                                  <p:childTnLst>
                                    <p:set>
                                      <p:cBhvr>
                                        <p:cTn id="498"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par>
                    <p:cTn id="499" fill="hold">
                      <p:stCondLst>
                        <p:cond delay="indefinite"/>
                      </p:stCondLst>
                      <p:childTnLst>
                        <p:par>
                          <p:cTn id="500" fill="hold">
                            <p:stCondLst>
                              <p:cond delay="0"/>
                            </p:stCondLst>
                            <p:childTnLst>
                              <p:par>
                                <p:cTn id="501" presetID="1" presetClass="entr" presetSubtype="0" fill="hold" nodeType="clickEffect">
                                  <p:stCondLst>
                                    <p:cond delay="0"/>
                                  </p:stCondLst>
                                  <p:childTnLst>
                                    <p:set>
                                      <p:cBhvr>
                                        <p:cTn id="502" dur="1" fill="hold">
                                          <p:stCondLst>
                                            <p:cond delay="0"/>
                                          </p:stCondLst>
                                        </p:cTn>
                                        <p:tgtEl>
                                          <p:spTgt spid="138">
                                            <p:txEl>
                                              <p:pRg st="7" end="7"/>
                                            </p:txEl>
                                          </p:spTgt>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nodeType="clickEffect">
                                  <p:stCondLst>
                                    <p:cond delay="0"/>
                                  </p:stCondLst>
                                  <p:childTnLst>
                                    <p:set>
                                      <p:cBhvr>
                                        <p:cTn id="506" dur="1" fill="hold">
                                          <p:stCondLst>
                                            <p:cond delay="0"/>
                                          </p:stCondLst>
                                        </p:cTn>
                                        <p:tgtEl>
                                          <p:spTgt spid="138">
                                            <p:txEl>
                                              <p:pRg st="8" end="8"/>
                                            </p:txEl>
                                          </p:spTgt>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nodeType="clickEffect">
                                  <p:stCondLst>
                                    <p:cond delay="0"/>
                                  </p:stCondLst>
                                  <p:childTnLst>
                                    <p:set>
                                      <p:cBhvr>
                                        <p:cTn id="510"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1" presetClass="entr" presetSubtype="0" fill="hold" nodeType="clickEffect">
                                  <p:stCondLst>
                                    <p:cond delay="0"/>
                                  </p:stCondLst>
                                  <p:childTnLst>
                                    <p:set>
                                      <p:cBhvr>
                                        <p:cTn id="518"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nodeType="clickEffect">
                                  <p:stCondLst>
                                    <p:cond delay="0"/>
                                  </p:stCondLst>
                                  <p:childTnLst>
                                    <p:set>
                                      <p:cBhvr>
                                        <p:cTn id="522"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presetID="1" presetClass="entr" presetSubtype="0" fill="hold" nodeType="clickEffect">
                                  <p:stCondLst>
                                    <p:cond delay="0"/>
                                  </p:stCondLst>
                                  <p:childTnLst>
                                    <p:set>
                                      <p:cBhvr>
                                        <p:cTn id="526" dur="1" fill="hold">
                                          <p:stCondLst>
                                            <p:cond delay="0"/>
                                          </p:stCondLst>
                                        </p:cTn>
                                        <p:tgtEl>
                                          <p:spTgt spid="139">
                                            <p:txEl>
                                              <p:pRg st="4" end="4"/>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presetID="1" presetClass="entr" presetSubtype="0" fill="hold" nodeType="clickEffect">
                                  <p:stCondLst>
                                    <p:cond delay="0"/>
                                  </p:stCondLst>
                                  <p:childTnLst>
                                    <p:set>
                                      <p:cBhvr>
                                        <p:cTn id="530" dur="1" fill="hold">
                                          <p:stCondLst>
                                            <p:cond delay="0"/>
                                          </p:stCondLst>
                                        </p:cTn>
                                        <p:tgtEl>
                                          <p:spTgt spid="139">
                                            <p:txEl>
                                              <p:pRg st="5" end="5"/>
                                            </p:txEl>
                                          </p:spTgt>
                                        </p:tgtEl>
                                        <p:attrNameLst>
                                          <p:attrName>style.visibility</p:attrName>
                                        </p:attrNameLst>
                                      </p:cBhvr>
                                      <p:to>
                                        <p:strVal val="visible"/>
                                      </p:to>
                                    </p:set>
                                  </p:childTnLst>
                                </p:cTn>
                              </p:par>
                            </p:childTnLst>
                          </p:cTn>
                        </p:par>
                      </p:childTnLst>
                    </p:cTn>
                  </p:par>
                  <p:par>
                    <p:cTn id="531" fill="hold">
                      <p:stCondLst>
                        <p:cond delay="indefinite"/>
                      </p:stCondLst>
                      <p:childTnLst>
                        <p:par>
                          <p:cTn id="532" fill="hold">
                            <p:stCondLst>
                              <p:cond delay="0"/>
                            </p:stCondLst>
                            <p:childTnLst>
                              <p:par>
                                <p:cTn id="533" presetID="1" presetClass="entr" presetSubtype="0" fill="hold" nodeType="clickEffect">
                                  <p:stCondLst>
                                    <p:cond delay="0"/>
                                  </p:stCondLst>
                                  <p:childTnLst>
                                    <p:set>
                                      <p:cBhvr>
                                        <p:cTn id="534" dur="1" fill="hold">
                                          <p:stCondLst>
                                            <p:cond delay="0"/>
                                          </p:stCondLst>
                                        </p:cTn>
                                        <p:tgtEl>
                                          <p:spTgt spid="139">
                                            <p:txEl>
                                              <p:pRg st="6" end="6"/>
                                            </p:txEl>
                                          </p:spTgt>
                                        </p:tgtEl>
                                        <p:attrNameLst>
                                          <p:attrName>style.visibility</p:attrName>
                                        </p:attrNameLst>
                                      </p:cBhvr>
                                      <p:to>
                                        <p:strVal val="visible"/>
                                      </p:to>
                                    </p:set>
                                  </p:childTnLst>
                                </p:cTn>
                              </p:par>
                            </p:childTnLst>
                          </p:cTn>
                        </p:par>
                      </p:childTnLst>
                    </p:cTn>
                  </p:par>
                  <p:par>
                    <p:cTn id="535" fill="hold">
                      <p:stCondLst>
                        <p:cond delay="indefinite"/>
                      </p:stCondLst>
                      <p:childTnLst>
                        <p:par>
                          <p:cTn id="536" fill="hold">
                            <p:stCondLst>
                              <p:cond delay="0"/>
                            </p:stCondLst>
                            <p:childTnLst>
                              <p:par>
                                <p:cTn id="537" presetID="1" presetClass="entr" presetSubtype="0" fill="hold" nodeType="clickEffect">
                                  <p:stCondLst>
                                    <p:cond delay="0"/>
                                  </p:stCondLst>
                                  <p:childTnLst>
                                    <p:set>
                                      <p:cBhvr>
                                        <p:cTn id="538" dur="1" fill="hold">
                                          <p:stCondLst>
                                            <p:cond delay="0"/>
                                          </p:stCondLst>
                                        </p:cTn>
                                        <p:tgtEl>
                                          <p:spTgt spid="139">
                                            <p:txEl>
                                              <p:pRg st="7" end="7"/>
                                            </p:txEl>
                                          </p:spTgt>
                                        </p:tgtEl>
                                        <p:attrNameLst>
                                          <p:attrName>style.visibility</p:attrName>
                                        </p:attrNameLst>
                                      </p:cBhvr>
                                      <p:to>
                                        <p:strVal val="visible"/>
                                      </p:to>
                                    </p:set>
                                  </p:childTnLst>
                                </p:cTn>
                              </p:par>
                            </p:childTnLst>
                          </p:cTn>
                        </p:par>
                      </p:childTnLst>
                    </p:cTn>
                  </p:par>
                  <p:par>
                    <p:cTn id="539" fill="hold">
                      <p:stCondLst>
                        <p:cond delay="indefinite"/>
                      </p:stCondLst>
                      <p:childTnLst>
                        <p:par>
                          <p:cTn id="540" fill="hold">
                            <p:stCondLst>
                              <p:cond delay="0"/>
                            </p:stCondLst>
                            <p:childTnLst>
                              <p:par>
                                <p:cTn id="541" presetID="1" presetClass="entr" presetSubtype="0" fill="hold" nodeType="clickEffect">
                                  <p:stCondLst>
                                    <p:cond delay="0"/>
                                  </p:stCondLst>
                                  <p:childTnLst>
                                    <p:set>
                                      <p:cBhvr>
                                        <p:cTn id="542" dur="1" fill="hold">
                                          <p:stCondLst>
                                            <p:cond delay="0"/>
                                          </p:stCondLst>
                                        </p:cTn>
                                        <p:tgtEl>
                                          <p:spTgt spid="139">
                                            <p:txEl>
                                              <p:pRg st="8" end="8"/>
                                            </p:txEl>
                                          </p:spTgt>
                                        </p:tgtEl>
                                        <p:attrNameLst>
                                          <p:attrName>style.visibility</p:attrName>
                                        </p:attrNameLst>
                                      </p:cBhvr>
                                      <p:to>
                                        <p:strVal val="visible"/>
                                      </p:to>
                                    </p:set>
                                  </p:childTnLst>
                                </p:cTn>
                              </p:par>
                            </p:childTnLst>
                          </p:cTn>
                        </p:par>
                      </p:childTnLst>
                    </p:cTn>
                  </p:par>
                  <p:par>
                    <p:cTn id="543" fill="hold">
                      <p:stCondLst>
                        <p:cond delay="indefinite"/>
                      </p:stCondLst>
                      <p:childTnLst>
                        <p:par>
                          <p:cTn id="544" fill="hold">
                            <p:stCondLst>
                              <p:cond delay="0"/>
                            </p:stCondLst>
                            <p:childTnLst>
                              <p:par>
                                <p:cTn id="545" presetID="1" presetClass="entr" presetSubtype="0" fill="hold" nodeType="clickEffect">
                                  <p:stCondLst>
                                    <p:cond delay="0"/>
                                  </p:stCondLst>
                                  <p:childTnLst>
                                    <p:set>
                                      <p:cBhvr>
                                        <p:cTn id="546"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547" fill="hold">
                      <p:stCondLst>
                        <p:cond delay="indefinite"/>
                      </p:stCondLst>
                      <p:childTnLst>
                        <p:par>
                          <p:cTn id="548" fill="hold">
                            <p:stCondLst>
                              <p:cond delay="0"/>
                            </p:stCondLst>
                            <p:childTnLst>
                              <p:par>
                                <p:cTn id="549" presetID="1" presetClass="entr" presetSubtype="0" fill="hold" nodeType="clickEffect">
                                  <p:stCondLst>
                                    <p:cond delay="0"/>
                                  </p:stCondLst>
                                  <p:childTnLst>
                                    <p:set>
                                      <p:cBhvr>
                                        <p:cTn id="550"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1" presetClass="entr" presetSubtype="0" fill="hold" nodeType="clickEffect">
                                  <p:stCondLst>
                                    <p:cond delay="0"/>
                                  </p:stCondLst>
                                  <p:childTnLst>
                                    <p:set>
                                      <p:cBhvr>
                                        <p:cTn id="558"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559" fill="hold">
                      <p:stCondLst>
                        <p:cond delay="indefinite"/>
                      </p:stCondLst>
                      <p:childTnLst>
                        <p:par>
                          <p:cTn id="560" fill="hold">
                            <p:stCondLst>
                              <p:cond delay="0"/>
                            </p:stCondLst>
                            <p:childTnLst>
                              <p:par>
                                <p:cTn id="561" presetID="1" presetClass="entr" presetSubtype="0" fill="hold" nodeType="clickEffect">
                                  <p:stCondLst>
                                    <p:cond delay="0"/>
                                  </p:stCondLst>
                                  <p:childTnLst>
                                    <p:set>
                                      <p:cBhvr>
                                        <p:cTn id="562"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presetID="1" presetClass="entr" presetSubtype="0" fill="hold" nodeType="clickEffect">
                                  <p:stCondLst>
                                    <p:cond delay="0"/>
                                  </p:stCondLst>
                                  <p:childTnLst>
                                    <p:set>
                                      <p:cBhvr>
                                        <p:cTn id="566" dur="1" fill="hold">
                                          <p:stCondLst>
                                            <p:cond delay="0"/>
                                          </p:stCondLst>
                                        </p:cTn>
                                        <p:tgtEl>
                                          <p:spTgt spid="140">
                                            <p:txEl>
                                              <p:pRg st="5" end="5"/>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presetID="1" presetClass="entr" presetSubtype="0" fill="hold" nodeType="clickEffect">
                                  <p:stCondLst>
                                    <p:cond delay="0"/>
                                  </p:stCondLst>
                                  <p:childTnLst>
                                    <p:set>
                                      <p:cBhvr>
                                        <p:cTn id="570" dur="1" fill="hold">
                                          <p:stCondLst>
                                            <p:cond delay="0"/>
                                          </p:stCondLst>
                                        </p:cTn>
                                        <p:tgtEl>
                                          <p:spTgt spid="140">
                                            <p:txEl>
                                              <p:pRg st="6" end="6"/>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presetID="1" presetClass="entr" presetSubtype="0" fill="hold" nodeType="clickEffect">
                                  <p:stCondLst>
                                    <p:cond delay="0"/>
                                  </p:stCondLst>
                                  <p:childTnLst>
                                    <p:set>
                                      <p:cBhvr>
                                        <p:cTn id="574" dur="1" fill="hold">
                                          <p:stCondLst>
                                            <p:cond delay="0"/>
                                          </p:stCondLst>
                                        </p:cTn>
                                        <p:tgtEl>
                                          <p:spTgt spid="140">
                                            <p:txEl>
                                              <p:pRg st="7" end="7"/>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presetID="1" presetClass="entr" presetSubtype="0" fill="hold" nodeType="clickEffect">
                                  <p:stCondLst>
                                    <p:cond delay="0"/>
                                  </p:stCondLst>
                                  <p:childTnLst>
                                    <p:set>
                                      <p:cBhvr>
                                        <p:cTn id="578" dur="1" fill="hold">
                                          <p:stCondLst>
                                            <p:cond delay="0"/>
                                          </p:stCondLst>
                                        </p:cTn>
                                        <p:tgtEl>
                                          <p:spTgt spid="140">
                                            <p:txEl>
                                              <p:pRg st="8" end="8"/>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presetID="1" presetClass="entr" presetSubtype="0" fill="hold" nodeType="clickEffect">
                                  <p:stCondLst>
                                    <p:cond delay="0"/>
                                  </p:stCondLst>
                                  <p:childTnLst>
                                    <p:set>
                                      <p:cBhvr>
                                        <p:cTn id="582"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nodeType="clickEffect">
                                  <p:stCondLst>
                                    <p:cond delay="0"/>
                                  </p:stCondLst>
                                  <p:childTnLst>
                                    <p:set>
                                      <p:cBhvr>
                                        <p:cTn id="586"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1" presetClass="entr" presetSubtype="0" fill="hold" nodeType="clickEffect">
                                  <p:stCondLst>
                                    <p:cond delay="0"/>
                                  </p:stCondLst>
                                  <p:childTnLst>
                                    <p:set>
                                      <p:cBhvr>
                                        <p:cTn id="594"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presetID="1" presetClass="entr" presetSubtype="0" fill="hold" nodeType="clickEffect">
                                  <p:stCondLst>
                                    <p:cond delay="0"/>
                                  </p:stCondLst>
                                  <p:childTnLst>
                                    <p:set>
                                      <p:cBhvr>
                                        <p:cTn id="598" dur="1" fill="hold">
                                          <p:stCondLst>
                                            <p:cond delay="0"/>
                                          </p:stCondLst>
                                        </p:cTn>
                                        <p:tgtEl>
                                          <p:spTgt spid="141">
                                            <p:txEl>
                                              <p:pRg st="4" end="4"/>
                                            </p:txEl>
                                          </p:spTgt>
                                        </p:tgtEl>
                                        <p:attrNameLst>
                                          <p:attrName>style.visibility</p:attrName>
                                        </p:attrNameLst>
                                      </p:cBhvr>
                                      <p:to>
                                        <p:strVal val="visible"/>
                                      </p:to>
                                    </p:set>
                                  </p:childTnLst>
                                </p:cTn>
                              </p:par>
                            </p:childTnLst>
                          </p:cTn>
                        </p:par>
                      </p:childTnLst>
                    </p:cTn>
                  </p:par>
                  <p:par>
                    <p:cTn id="599" fill="hold">
                      <p:stCondLst>
                        <p:cond delay="indefinite"/>
                      </p:stCondLst>
                      <p:childTnLst>
                        <p:par>
                          <p:cTn id="600" fill="hold">
                            <p:stCondLst>
                              <p:cond delay="0"/>
                            </p:stCondLst>
                            <p:childTnLst>
                              <p:par>
                                <p:cTn id="601" presetID="1" presetClass="entr" presetSubtype="0" fill="hold" nodeType="clickEffect">
                                  <p:stCondLst>
                                    <p:cond delay="0"/>
                                  </p:stCondLst>
                                  <p:childTnLst>
                                    <p:set>
                                      <p:cBhvr>
                                        <p:cTn id="602" dur="1" fill="hold">
                                          <p:stCondLst>
                                            <p:cond delay="0"/>
                                          </p:stCondLst>
                                        </p:cTn>
                                        <p:tgtEl>
                                          <p:spTgt spid="141">
                                            <p:txEl>
                                              <p:pRg st="5" end="5"/>
                                            </p:txEl>
                                          </p:spTgt>
                                        </p:tgtEl>
                                        <p:attrNameLst>
                                          <p:attrName>style.visibility</p:attrName>
                                        </p:attrNameLst>
                                      </p:cBhvr>
                                      <p:to>
                                        <p:strVal val="visible"/>
                                      </p:to>
                                    </p:set>
                                  </p:childTnLst>
                                </p:cTn>
                              </p:par>
                            </p:childTnLst>
                          </p:cTn>
                        </p:par>
                      </p:childTnLst>
                    </p:cTn>
                  </p:par>
                  <p:par>
                    <p:cTn id="603" fill="hold">
                      <p:stCondLst>
                        <p:cond delay="indefinite"/>
                      </p:stCondLst>
                      <p:childTnLst>
                        <p:par>
                          <p:cTn id="604" fill="hold">
                            <p:stCondLst>
                              <p:cond delay="0"/>
                            </p:stCondLst>
                            <p:childTnLst>
                              <p:par>
                                <p:cTn id="605" presetID="1" presetClass="entr" presetSubtype="0" fill="hold" nodeType="clickEffect">
                                  <p:stCondLst>
                                    <p:cond delay="0"/>
                                  </p:stCondLst>
                                  <p:childTnLst>
                                    <p:set>
                                      <p:cBhvr>
                                        <p:cTn id="606" dur="1" fill="hold">
                                          <p:stCondLst>
                                            <p:cond delay="0"/>
                                          </p:stCondLst>
                                        </p:cTn>
                                        <p:tgtEl>
                                          <p:spTgt spid="141">
                                            <p:txEl>
                                              <p:pRg st="6" end="6"/>
                                            </p:txEl>
                                          </p:spTgt>
                                        </p:tgtEl>
                                        <p:attrNameLst>
                                          <p:attrName>style.visibility</p:attrName>
                                        </p:attrNameLst>
                                      </p:cBhvr>
                                      <p:to>
                                        <p:strVal val="visible"/>
                                      </p:to>
                                    </p:set>
                                  </p:childTnLst>
                                </p:cTn>
                              </p:par>
                            </p:childTnLst>
                          </p:cTn>
                        </p:par>
                      </p:childTnLst>
                    </p:cTn>
                  </p:par>
                  <p:par>
                    <p:cTn id="607" fill="hold">
                      <p:stCondLst>
                        <p:cond delay="indefinite"/>
                      </p:stCondLst>
                      <p:childTnLst>
                        <p:par>
                          <p:cTn id="608" fill="hold">
                            <p:stCondLst>
                              <p:cond delay="0"/>
                            </p:stCondLst>
                            <p:childTnLst>
                              <p:par>
                                <p:cTn id="609" presetID="1" presetClass="entr" presetSubtype="0" fill="hold" nodeType="clickEffect">
                                  <p:stCondLst>
                                    <p:cond delay="0"/>
                                  </p:stCondLst>
                                  <p:childTnLst>
                                    <p:set>
                                      <p:cBhvr>
                                        <p:cTn id="610" dur="1" fill="hold">
                                          <p:stCondLst>
                                            <p:cond delay="0"/>
                                          </p:stCondLst>
                                        </p:cTn>
                                        <p:tgtEl>
                                          <p:spTgt spid="141">
                                            <p:txEl>
                                              <p:pRg st="7" end="7"/>
                                            </p:txEl>
                                          </p:spTgt>
                                        </p:tgtEl>
                                        <p:attrNameLst>
                                          <p:attrName>style.visibility</p:attrName>
                                        </p:attrNameLst>
                                      </p:cBhvr>
                                      <p:to>
                                        <p:strVal val="visible"/>
                                      </p:to>
                                    </p:set>
                                  </p:childTnLst>
                                </p:cTn>
                              </p:par>
                            </p:childTnLst>
                          </p:cTn>
                        </p:par>
                      </p:childTnLst>
                    </p:cTn>
                  </p:par>
                  <p:par>
                    <p:cTn id="611" fill="hold">
                      <p:stCondLst>
                        <p:cond delay="indefinite"/>
                      </p:stCondLst>
                      <p:childTnLst>
                        <p:par>
                          <p:cTn id="612" fill="hold">
                            <p:stCondLst>
                              <p:cond delay="0"/>
                            </p:stCondLst>
                            <p:childTnLst>
                              <p:par>
                                <p:cTn id="613" presetID="1" presetClass="entr" presetSubtype="0" fill="hold" nodeType="clickEffect">
                                  <p:stCondLst>
                                    <p:cond delay="0"/>
                                  </p:stCondLst>
                                  <p:childTnLst>
                                    <p:set>
                                      <p:cBhvr>
                                        <p:cTn id="614" dur="1" fill="hold">
                                          <p:stCondLst>
                                            <p:cond delay="0"/>
                                          </p:stCondLst>
                                        </p:cTn>
                                        <p:tgtEl>
                                          <p:spTgt spid="141">
                                            <p:txEl>
                                              <p:pRg st="8" end="8"/>
                                            </p:txEl>
                                          </p:spTgt>
                                        </p:tgtEl>
                                        <p:attrNameLst>
                                          <p:attrName>style.visibility</p:attrName>
                                        </p:attrNameLst>
                                      </p:cBhvr>
                                      <p:to>
                                        <p:strVal val="visible"/>
                                      </p:to>
                                    </p:set>
                                  </p:childTnLst>
                                </p:cTn>
                              </p:par>
                            </p:childTnLst>
                          </p:cTn>
                        </p:par>
                      </p:childTnLst>
                    </p:cTn>
                  </p:par>
                  <p:par>
                    <p:cTn id="615" fill="hold">
                      <p:stCondLst>
                        <p:cond delay="indefinite"/>
                      </p:stCondLst>
                      <p:childTnLst>
                        <p:par>
                          <p:cTn id="616" fill="hold">
                            <p:stCondLst>
                              <p:cond delay="0"/>
                            </p:stCondLst>
                            <p:childTnLst>
                              <p:par>
                                <p:cTn id="617" presetID="1" presetClass="entr" presetSubtype="0" fill="hold" nodeType="clickEffect">
                                  <p:stCondLst>
                                    <p:cond delay="0"/>
                                  </p:stCondLst>
                                  <p:childTnLst>
                                    <p:set>
                                      <p:cBhvr>
                                        <p:cTn id="618"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par>
                    <p:cTn id="619" fill="hold">
                      <p:stCondLst>
                        <p:cond delay="indefinite"/>
                      </p:stCondLst>
                      <p:childTnLst>
                        <p:par>
                          <p:cTn id="620" fill="hold">
                            <p:stCondLst>
                              <p:cond delay="0"/>
                            </p:stCondLst>
                            <p:childTnLst>
                              <p:par>
                                <p:cTn id="621" presetID="1" presetClass="entr" presetSubtype="0" fill="hold" nodeType="clickEffect">
                                  <p:stCondLst>
                                    <p:cond delay="0"/>
                                  </p:stCondLst>
                                  <p:childTnLst>
                                    <p:set>
                                      <p:cBhvr>
                                        <p:cTn id="622" dur="1" fill="hold">
                                          <p:stCondLst>
                                            <p:cond delay="0"/>
                                          </p:stCondLst>
                                        </p:cTn>
                                        <p:tgtEl>
                                          <p:spTgt spid="142">
                                            <p:txEl>
                                              <p:pRg st="1" end="1"/>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presetID="1" presetClass="entr" presetSubtype="0" fill="hold" nodeType="clickEffect">
                                  <p:stCondLst>
                                    <p:cond delay="0"/>
                                  </p:stCondLst>
                                  <p:childTnLst>
                                    <p:set>
                                      <p:cBhvr>
                                        <p:cTn id="626" dur="1" fill="hold">
                                          <p:stCondLst>
                                            <p:cond delay="0"/>
                                          </p:stCondLst>
                                        </p:cTn>
                                        <p:tgtEl>
                                          <p:spTgt spid="142">
                                            <p:txEl>
                                              <p:pRg st="2" end="2"/>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nodeType="clickEffect">
                                  <p:stCondLst>
                                    <p:cond delay="0"/>
                                  </p:stCondLst>
                                  <p:childTnLst>
                                    <p:set>
                                      <p:cBhvr>
                                        <p:cTn id="630" dur="1" fill="hold">
                                          <p:stCondLst>
                                            <p:cond delay="0"/>
                                          </p:stCondLst>
                                        </p:cTn>
                                        <p:tgtEl>
                                          <p:spTgt spid="142">
                                            <p:txEl>
                                              <p:pRg st="3" end="3"/>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presetID="1" presetClass="entr" presetSubtype="0" fill="hold" nodeType="clickEffect">
                                  <p:stCondLst>
                                    <p:cond delay="0"/>
                                  </p:stCondLst>
                                  <p:childTnLst>
                                    <p:set>
                                      <p:cBhvr>
                                        <p:cTn id="634" dur="1" fill="hold">
                                          <p:stCondLst>
                                            <p:cond delay="0"/>
                                          </p:stCondLst>
                                        </p:cTn>
                                        <p:tgtEl>
                                          <p:spTgt spid="142">
                                            <p:txEl>
                                              <p:pRg st="4" end="4"/>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presetID="1" presetClass="entr" presetSubtype="0" fill="hold" nodeType="clickEffect">
                                  <p:stCondLst>
                                    <p:cond delay="0"/>
                                  </p:stCondLst>
                                  <p:childTnLst>
                                    <p:set>
                                      <p:cBhvr>
                                        <p:cTn id="638" dur="1" fill="hold">
                                          <p:stCondLst>
                                            <p:cond delay="0"/>
                                          </p:stCondLst>
                                        </p:cTn>
                                        <p:tgtEl>
                                          <p:spTgt spid="142">
                                            <p:txEl>
                                              <p:pRg st="5" end="5"/>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presetID="1" presetClass="entr" presetSubtype="0" fill="hold" nodeType="clickEffect">
                                  <p:stCondLst>
                                    <p:cond delay="0"/>
                                  </p:stCondLst>
                                  <p:childTnLst>
                                    <p:set>
                                      <p:cBhvr>
                                        <p:cTn id="642" dur="1" fill="hold">
                                          <p:stCondLst>
                                            <p:cond delay="0"/>
                                          </p:stCondLst>
                                        </p:cTn>
                                        <p:tgtEl>
                                          <p:spTgt spid="142">
                                            <p:txEl>
                                              <p:pRg st="6" end="6"/>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142">
                                            <p:txEl>
                                              <p:pRg st="7" end="7"/>
                                            </p:txEl>
                                          </p:spTgt>
                                        </p:tgtEl>
                                        <p:attrNameLst>
                                          <p:attrName>style.visibility</p:attrName>
                                        </p:attrNameLst>
                                      </p:cBhvr>
                                      <p:to>
                                        <p:strVal val="visible"/>
                                      </p:to>
                                    </p:set>
                                  </p:childTnLst>
                                </p:cTn>
                              </p:par>
                            </p:childTnLst>
                          </p:cTn>
                        </p:par>
                      </p:childTnLst>
                    </p:cTn>
                  </p:par>
                  <p:par>
                    <p:cTn id="647" fill="hold">
                      <p:stCondLst>
                        <p:cond delay="indefinite"/>
                      </p:stCondLst>
                      <p:childTnLst>
                        <p:par>
                          <p:cTn id="648" fill="hold">
                            <p:stCondLst>
                              <p:cond delay="0"/>
                            </p:stCondLst>
                            <p:childTnLst>
                              <p:par>
                                <p:cTn id="649" presetID="1" presetClass="entr" presetSubtype="0" fill="hold" nodeType="clickEffect">
                                  <p:stCondLst>
                                    <p:cond delay="0"/>
                                  </p:stCondLst>
                                  <p:childTnLst>
                                    <p:set>
                                      <p:cBhvr>
                                        <p:cTn id="650" dur="1" fill="hold">
                                          <p:stCondLst>
                                            <p:cond delay="0"/>
                                          </p:stCondLst>
                                        </p:cTn>
                                        <p:tgtEl>
                                          <p:spTgt spid="142">
                                            <p:txEl>
                                              <p:pRg st="8" end="8"/>
                                            </p:txEl>
                                          </p:spTgt>
                                        </p:tgtEl>
                                        <p:attrNameLst>
                                          <p:attrName>style.visibility</p:attrName>
                                        </p:attrNameLst>
                                      </p:cBhvr>
                                      <p:to>
                                        <p:strVal val="visible"/>
                                      </p:to>
                                    </p:set>
                                  </p:childTnLst>
                                </p:cTn>
                              </p:par>
                            </p:childTnLst>
                          </p:cTn>
                        </p:par>
                      </p:childTnLst>
                    </p:cTn>
                  </p:par>
                  <p:par>
                    <p:cTn id="651" fill="hold">
                      <p:stCondLst>
                        <p:cond delay="indefinite"/>
                      </p:stCondLst>
                      <p:childTnLst>
                        <p:par>
                          <p:cTn id="652" fill="hold">
                            <p:stCondLst>
                              <p:cond delay="0"/>
                            </p:stCondLst>
                            <p:childTnLst>
                              <p:par>
                                <p:cTn id="653" presetID="1" presetClass="entr" presetSubtype="0" fill="hold" nodeType="clickEffect">
                                  <p:stCondLst>
                                    <p:cond delay="0"/>
                                  </p:stCondLst>
                                  <p:childTnLst>
                                    <p:set>
                                      <p:cBhvr>
                                        <p:cTn id="654" dur="1" fill="hold">
                                          <p:stCondLst>
                                            <p:cond delay="0"/>
                                          </p:stCondLst>
                                        </p:cTn>
                                        <p:tgtEl>
                                          <p:spTgt spid="143">
                                            <p:txEl>
                                              <p:pRg st="0" end="0"/>
                                            </p:txEl>
                                          </p:spTgt>
                                        </p:tgtEl>
                                        <p:attrNameLst>
                                          <p:attrName>style.visibility</p:attrName>
                                        </p:attrNameLst>
                                      </p:cBhvr>
                                      <p:to>
                                        <p:strVal val="visible"/>
                                      </p:to>
                                    </p:set>
                                  </p:childTnLst>
                                </p:cTn>
                              </p:par>
                            </p:childTnLst>
                          </p:cTn>
                        </p:par>
                      </p:childTnLst>
                    </p:cTn>
                  </p:par>
                  <p:par>
                    <p:cTn id="655" fill="hold">
                      <p:stCondLst>
                        <p:cond delay="indefinite"/>
                      </p:stCondLst>
                      <p:childTnLst>
                        <p:par>
                          <p:cTn id="656" fill="hold">
                            <p:stCondLst>
                              <p:cond delay="0"/>
                            </p:stCondLst>
                            <p:childTnLst>
                              <p:par>
                                <p:cTn id="657" presetID="1" presetClass="entr" presetSubtype="0" fill="hold" nodeType="clickEffect">
                                  <p:stCondLst>
                                    <p:cond delay="0"/>
                                  </p:stCondLst>
                                  <p:childTnLst>
                                    <p:set>
                                      <p:cBhvr>
                                        <p:cTn id="658" dur="1" fill="hold">
                                          <p:stCondLst>
                                            <p:cond delay="0"/>
                                          </p:stCondLst>
                                        </p:cTn>
                                        <p:tgtEl>
                                          <p:spTgt spid="143">
                                            <p:txEl>
                                              <p:pRg st="1" end="1"/>
                                            </p:txEl>
                                          </p:spTgt>
                                        </p:tgtEl>
                                        <p:attrNameLst>
                                          <p:attrName>style.visibility</p:attrName>
                                        </p:attrNameLst>
                                      </p:cBhvr>
                                      <p:to>
                                        <p:strVal val="visible"/>
                                      </p:to>
                                    </p:set>
                                  </p:childTnLst>
                                </p:cTn>
                              </p:par>
                            </p:childTnLst>
                          </p:cTn>
                        </p:par>
                      </p:childTnLst>
                    </p:cTn>
                  </p:par>
                  <p:par>
                    <p:cTn id="659" fill="hold">
                      <p:stCondLst>
                        <p:cond delay="indefinite"/>
                      </p:stCondLst>
                      <p:childTnLst>
                        <p:par>
                          <p:cTn id="660" fill="hold">
                            <p:stCondLst>
                              <p:cond delay="0"/>
                            </p:stCondLst>
                            <p:childTnLst>
                              <p:par>
                                <p:cTn id="661" presetID="1" presetClass="entr" presetSubtype="0" fill="hold" nodeType="clickEffect">
                                  <p:stCondLst>
                                    <p:cond delay="0"/>
                                  </p:stCondLst>
                                  <p:childTnLst>
                                    <p:set>
                                      <p:cBhvr>
                                        <p:cTn id="662" dur="1" fill="hold">
                                          <p:stCondLst>
                                            <p:cond delay="0"/>
                                          </p:stCondLst>
                                        </p:cTn>
                                        <p:tgtEl>
                                          <p:spTgt spid="143">
                                            <p:txEl>
                                              <p:pRg st="2" end="2"/>
                                            </p:txEl>
                                          </p:spTgt>
                                        </p:tgtEl>
                                        <p:attrNameLst>
                                          <p:attrName>style.visibility</p:attrName>
                                        </p:attrNameLst>
                                      </p:cBhvr>
                                      <p:to>
                                        <p:strVal val="visible"/>
                                      </p:to>
                                    </p:set>
                                  </p:childTnLst>
                                </p:cTn>
                              </p:par>
                            </p:childTnLst>
                          </p:cTn>
                        </p:par>
                      </p:childTnLst>
                    </p:cTn>
                  </p:par>
                  <p:par>
                    <p:cTn id="663" fill="hold">
                      <p:stCondLst>
                        <p:cond delay="indefinite"/>
                      </p:stCondLst>
                      <p:childTnLst>
                        <p:par>
                          <p:cTn id="664" fill="hold">
                            <p:stCondLst>
                              <p:cond delay="0"/>
                            </p:stCondLst>
                            <p:childTnLst>
                              <p:par>
                                <p:cTn id="665" presetID="1" presetClass="entr" presetSubtype="0" fill="hold" nodeType="clickEffect">
                                  <p:stCondLst>
                                    <p:cond delay="0"/>
                                  </p:stCondLst>
                                  <p:childTnLst>
                                    <p:set>
                                      <p:cBhvr>
                                        <p:cTn id="666" dur="1" fill="hold">
                                          <p:stCondLst>
                                            <p:cond delay="0"/>
                                          </p:stCondLst>
                                        </p:cTn>
                                        <p:tgtEl>
                                          <p:spTgt spid="143">
                                            <p:txEl>
                                              <p:pRg st="3" end="3"/>
                                            </p:txEl>
                                          </p:spTgt>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presetID="1" presetClass="entr" presetSubtype="0" fill="hold" nodeType="clickEffect">
                                  <p:stCondLst>
                                    <p:cond delay="0"/>
                                  </p:stCondLst>
                                  <p:childTnLst>
                                    <p:set>
                                      <p:cBhvr>
                                        <p:cTn id="670" dur="1" fill="hold">
                                          <p:stCondLst>
                                            <p:cond delay="0"/>
                                          </p:stCondLst>
                                        </p:cTn>
                                        <p:tgtEl>
                                          <p:spTgt spid="143">
                                            <p:txEl>
                                              <p:pRg st="4" end="4"/>
                                            </p:txEl>
                                          </p:spTgt>
                                        </p:tgtEl>
                                        <p:attrNameLst>
                                          <p:attrName>style.visibility</p:attrName>
                                        </p:attrNameLst>
                                      </p:cBhvr>
                                      <p:to>
                                        <p:strVal val="visible"/>
                                      </p:to>
                                    </p:set>
                                  </p:childTnLst>
                                </p:cTn>
                              </p:par>
                            </p:childTnLst>
                          </p:cTn>
                        </p:par>
                      </p:childTnLst>
                    </p:cTn>
                  </p:par>
                  <p:par>
                    <p:cTn id="671" fill="hold">
                      <p:stCondLst>
                        <p:cond delay="indefinite"/>
                      </p:stCondLst>
                      <p:childTnLst>
                        <p:par>
                          <p:cTn id="672" fill="hold">
                            <p:stCondLst>
                              <p:cond delay="0"/>
                            </p:stCondLst>
                            <p:childTnLst>
                              <p:par>
                                <p:cTn id="673" presetID="1" presetClass="entr" presetSubtype="0" fill="hold" nodeType="clickEffect">
                                  <p:stCondLst>
                                    <p:cond delay="0"/>
                                  </p:stCondLst>
                                  <p:childTnLst>
                                    <p:set>
                                      <p:cBhvr>
                                        <p:cTn id="674" dur="1" fill="hold">
                                          <p:stCondLst>
                                            <p:cond delay="0"/>
                                          </p:stCondLst>
                                        </p:cTn>
                                        <p:tgtEl>
                                          <p:spTgt spid="143">
                                            <p:txEl>
                                              <p:pRg st="5" end="5"/>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presetID="1" presetClass="entr" presetSubtype="0" fill="hold" nodeType="clickEffect">
                                  <p:stCondLst>
                                    <p:cond delay="0"/>
                                  </p:stCondLst>
                                  <p:childTnLst>
                                    <p:set>
                                      <p:cBhvr>
                                        <p:cTn id="678" dur="1" fill="hold">
                                          <p:stCondLst>
                                            <p:cond delay="0"/>
                                          </p:stCondLst>
                                        </p:cTn>
                                        <p:tgtEl>
                                          <p:spTgt spid="143">
                                            <p:txEl>
                                              <p:pRg st="6" end="6"/>
                                            </p:txEl>
                                          </p:spTgt>
                                        </p:tgtEl>
                                        <p:attrNameLst>
                                          <p:attrName>style.visibility</p:attrName>
                                        </p:attrNameLst>
                                      </p:cBhvr>
                                      <p:to>
                                        <p:strVal val="visible"/>
                                      </p:to>
                                    </p:set>
                                  </p:childTnLst>
                                </p:cTn>
                              </p:par>
                            </p:childTnLst>
                          </p:cTn>
                        </p:par>
                      </p:childTnLst>
                    </p:cTn>
                  </p:par>
                  <p:par>
                    <p:cTn id="679" fill="hold">
                      <p:stCondLst>
                        <p:cond delay="indefinite"/>
                      </p:stCondLst>
                      <p:childTnLst>
                        <p:par>
                          <p:cTn id="680" fill="hold">
                            <p:stCondLst>
                              <p:cond delay="0"/>
                            </p:stCondLst>
                            <p:childTnLst>
                              <p:par>
                                <p:cTn id="681" presetID="1" presetClass="entr" presetSubtype="0" fill="hold" nodeType="clickEffect">
                                  <p:stCondLst>
                                    <p:cond delay="0"/>
                                  </p:stCondLst>
                                  <p:childTnLst>
                                    <p:set>
                                      <p:cBhvr>
                                        <p:cTn id="682" dur="1" fill="hold">
                                          <p:stCondLst>
                                            <p:cond delay="0"/>
                                          </p:stCondLst>
                                        </p:cTn>
                                        <p:tgtEl>
                                          <p:spTgt spid="143">
                                            <p:txEl>
                                              <p:pRg st="7" end="7"/>
                                            </p:txEl>
                                          </p:spTgt>
                                        </p:tgtEl>
                                        <p:attrNameLst>
                                          <p:attrName>style.visibility</p:attrName>
                                        </p:attrNameLst>
                                      </p:cBhvr>
                                      <p:to>
                                        <p:strVal val="visible"/>
                                      </p:to>
                                    </p:set>
                                  </p:childTnLst>
                                </p:cTn>
                              </p:par>
                            </p:childTnLst>
                          </p:cTn>
                        </p:par>
                      </p:childTnLst>
                    </p:cTn>
                  </p:par>
                  <p:par>
                    <p:cTn id="683" fill="hold">
                      <p:stCondLst>
                        <p:cond delay="indefinite"/>
                      </p:stCondLst>
                      <p:childTnLst>
                        <p:par>
                          <p:cTn id="684" fill="hold">
                            <p:stCondLst>
                              <p:cond delay="0"/>
                            </p:stCondLst>
                            <p:childTnLst>
                              <p:par>
                                <p:cTn id="685" presetID="1" presetClass="entr" presetSubtype="0" fill="hold" nodeType="clickEffect">
                                  <p:stCondLst>
                                    <p:cond delay="0"/>
                                  </p:stCondLst>
                                  <p:childTnLst>
                                    <p:set>
                                      <p:cBhvr>
                                        <p:cTn id="686" dur="1" fill="hold">
                                          <p:stCondLst>
                                            <p:cond delay="0"/>
                                          </p:stCondLst>
                                        </p:cTn>
                                        <p:tgtEl>
                                          <p:spTgt spid="143">
                                            <p:txEl>
                                              <p:pRg st="8" end="8"/>
                                            </p:txEl>
                                          </p:spTgt>
                                        </p:tgtEl>
                                        <p:attrNameLst>
                                          <p:attrName>style.visibility</p:attrName>
                                        </p:attrNameLst>
                                      </p:cBhvr>
                                      <p:to>
                                        <p:strVal val="visible"/>
                                      </p:to>
                                    </p:set>
                                  </p:childTnLst>
                                </p:cTn>
                              </p:par>
                            </p:childTnLst>
                          </p:cTn>
                        </p:par>
                      </p:childTnLst>
                    </p:cTn>
                  </p:par>
                  <p:par>
                    <p:cTn id="687" fill="hold">
                      <p:stCondLst>
                        <p:cond delay="indefinite"/>
                      </p:stCondLst>
                      <p:childTnLst>
                        <p:par>
                          <p:cTn id="688" fill="hold">
                            <p:stCondLst>
                              <p:cond delay="0"/>
                            </p:stCondLst>
                            <p:childTnLst>
                              <p:par>
                                <p:cTn id="689" presetID="1" presetClass="entr" presetSubtype="0" fill="hold" nodeType="clickEffect">
                                  <p:stCondLst>
                                    <p:cond delay="0"/>
                                  </p:stCondLst>
                                  <p:childTnLst>
                                    <p:set>
                                      <p:cBhvr>
                                        <p:cTn id="690" dur="1" fill="hold">
                                          <p:stCondLst>
                                            <p:cond delay="0"/>
                                          </p:stCondLst>
                                        </p:cTn>
                                        <p:tgtEl>
                                          <p:spTgt spid="144">
                                            <p:txEl>
                                              <p:pRg st="0" end="0"/>
                                            </p:txEl>
                                          </p:spTgt>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presetID="1" presetClass="entr" presetSubtype="0" fill="hold" nodeType="clickEffect">
                                  <p:stCondLst>
                                    <p:cond delay="0"/>
                                  </p:stCondLst>
                                  <p:childTnLst>
                                    <p:set>
                                      <p:cBhvr>
                                        <p:cTn id="694" dur="1" fill="hold">
                                          <p:stCondLst>
                                            <p:cond delay="0"/>
                                          </p:stCondLst>
                                        </p:cTn>
                                        <p:tgtEl>
                                          <p:spTgt spid="144">
                                            <p:txEl>
                                              <p:pRg st="1" end="1"/>
                                            </p:txEl>
                                          </p:spTgt>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presetID="1" presetClass="entr" presetSubtype="0" fill="hold" nodeType="clickEffect">
                                  <p:stCondLst>
                                    <p:cond delay="0"/>
                                  </p:stCondLst>
                                  <p:childTnLst>
                                    <p:set>
                                      <p:cBhvr>
                                        <p:cTn id="698" dur="1" fill="hold">
                                          <p:stCondLst>
                                            <p:cond delay="0"/>
                                          </p:stCondLst>
                                        </p:cTn>
                                        <p:tgtEl>
                                          <p:spTgt spid="144">
                                            <p:txEl>
                                              <p:pRg st="2" end="2"/>
                                            </p:txEl>
                                          </p:spTgt>
                                        </p:tgtEl>
                                        <p:attrNameLst>
                                          <p:attrName>style.visibility</p:attrName>
                                        </p:attrNameLst>
                                      </p:cBhvr>
                                      <p:to>
                                        <p:strVal val="visible"/>
                                      </p:to>
                                    </p:set>
                                  </p:childTnLst>
                                </p:cTn>
                              </p:par>
                            </p:childTnLst>
                          </p:cTn>
                        </p:par>
                      </p:childTnLst>
                    </p:cTn>
                  </p:par>
                  <p:par>
                    <p:cTn id="699" fill="hold">
                      <p:stCondLst>
                        <p:cond delay="indefinite"/>
                      </p:stCondLst>
                      <p:childTnLst>
                        <p:par>
                          <p:cTn id="700" fill="hold">
                            <p:stCondLst>
                              <p:cond delay="0"/>
                            </p:stCondLst>
                            <p:childTnLst>
                              <p:par>
                                <p:cTn id="701" presetID="1" presetClass="entr" presetSubtype="0" fill="hold" nodeType="clickEffect">
                                  <p:stCondLst>
                                    <p:cond delay="0"/>
                                  </p:stCondLst>
                                  <p:childTnLst>
                                    <p:set>
                                      <p:cBhvr>
                                        <p:cTn id="702" dur="1" fill="hold">
                                          <p:stCondLst>
                                            <p:cond delay="0"/>
                                          </p:stCondLst>
                                        </p:cTn>
                                        <p:tgtEl>
                                          <p:spTgt spid="144">
                                            <p:txEl>
                                              <p:pRg st="3" end="3"/>
                                            </p:txEl>
                                          </p:spTgt>
                                        </p:tgtEl>
                                        <p:attrNameLst>
                                          <p:attrName>style.visibility</p:attrName>
                                        </p:attrNameLst>
                                      </p:cBhvr>
                                      <p:to>
                                        <p:strVal val="visible"/>
                                      </p:to>
                                    </p:set>
                                  </p:childTnLst>
                                </p:cTn>
                              </p:par>
                            </p:childTnLst>
                          </p:cTn>
                        </p:par>
                      </p:childTnLst>
                    </p:cTn>
                  </p:par>
                  <p:par>
                    <p:cTn id="703" fill="hold">
                      <p:stCondLst>
                        <p:cond delay="indefinite"/>
                      </p:stCondLst>
                      <p:childTnLst>
                        <p:par>
                          <p:cTn id="704" fill="hold">
                            <p:stCondLst>
                              <p:cond delay="0"/>
                            </p:stCondLst>
                            <p:childTnLst>
                              <p:par>
                                <p:cTn id="705" presetID="1" presetClass="entr" presetSubtype="0" fill="hold" nodeType="clickEffect">
                                  <p:stCondLst>
                                    <p:cond delay="0"/>
                                  </p:stCondLst>
                                  <p:childTnLst>
                                    <p:set>
                                      <p:cBhvr>
                                        <p:cTn id="706" dur="1" fill="hold">
                                          <p:stCondLst>
                                            <p:cond delay="0"/>
                                          </p:stCondLst>
                                        </p:cTn>
                                        <p:tgtEl>
                                          <p:spTgt spid="144">
                                            <p:txEl>
                                              <p:pRg st="4" end="4"/>
                                            </p:txEl>
                                          </p:spTgt>
                                        </p:tgtEl>
                                        <p:attrNameLst>
                                          <p:attrName>style.visibility</p:attrName>
                                        </p:attrNameLst>
                                      </p:cBhvr>
                                      <p:to>
                                        <p:strVal val="visible"/>
                                      </p:to>
                                    </p:set>
                                  </p:childTnLst>
                                </p:cTn>
                              </p:par>
                            </p:childTnLst>
                          </p:cTn>
                        </p:par>
                      </p:childTnLst>
                    </p:cTn>
                  </p:par>
                  <p:par>
                    <p:cTn id="707" fill="hold">
                      <p:stCondLst>
                        <p:cond delay="indefinite"/>
                      </p:stCondLst>
                      <p:childTnLst>
                        <p:par>
                          <p:cTn id="708" fill="hold">
                            <p:stCondLst>
                              <p:cond delay="0"/>
                            </p:stCondLst>
                            <p:childTnLst>
                              <p:par>
                                <p:cTn id="709" presetID="1" presetClass="entr" presetSubtype="0" fill="hold" nodeType="clickEffect">
                                  <p:stCondLst>
                                    <p:cond delay="0"/>
                                  </p:stCondLst>
                                  <p:childTnLst>
                                    <p:set>
                                      <p:cBhvr>
                                        <p:cTn id="710" dur="1" fill="hold">
                                          <p:stCondLst>
                                            <p:cond delay="0"/>
                                          </p:stCondLst>
                                        </p:cTn>
                                        <p:tgtEl>
                                          <p:spTgt spid="144">
                                            <p:txEl>
                                              <p:pRg st="5" end="5"/>
                                            </p:txEl>
                                          </p:spTgt>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ntr" presetSubtype="0" fill="hold" nodeType="clickEffect">
                                  <p:stCondLst>
                                    <p:cond delay="0"/>
                                  </p:stCondLst>
                                  <p:childTnLst>
                                    <p:set>
                                      <p:cBhvr>
                                        <p:cTn id="714" dur="1" fill="hold">
                                          <p:stCondLst>
                                            <p:cond delay="0"/>
                                          </p:stCondLst>
                                        </p:cTn>
                                        <p:tgtEl>
                                          <p:spTgt spid="144">
                                            <p:txEl>
                                              <p:pRg st="6" end="6"/>
                                            </p:txEl>
                                          </p:spTgt>
                                        </p:tgtEl>
                                        <p:attrNameLst>
                                          <p:attrName>style.visibility</p:attrName>
                                        </p:attrNameLst>
                                      </p:cBhvr>
                                      <p:to>
                                        <p:strVal val="visible"/>
                                      </p:to>
                                    </p:set>
                                  </p:childTnLst>
                                </p:cTn>
                              </p:par>
                            </p:childTnLst>
                          </p:cTn>
                        </p:par>
                      </p:childTnLst>
                    </p:cTn>
                  </p:par>
                  <p:par>
                    <p:cTn id="715" fill="hold">
                      <p:stCondLst>
                        <p:cond delay="indefinite"/>
                      </p:stCondLst>
                      <p:childTnLst>
                        <p:par>
                          <p:cTn id="716" fill="hold">
                            <p:stCondLst>
                              <p:cond delay="0"/>
                            </p:stCondLst>
                            <p:childTnLst>
                              <p:par>
                                <p:cTn id="717" presetID="1" presetClass="entr" presetSubtype="0" fill="hold" nodeType="clickEffect">
                                  <p:stCondLst>
                                    <p:cond delay="0"/>
                                  </p:stCondLst>
                                  <p:childTnLst>
                                    <p:set>
                                      <p:cBhvr>
                                        <p:cTn id="718" dur="1" fill="hold">
                                          <p:stCondLst>
                                            <p:cond delay="0"/>
                                          </p:stCondLst>
                                        </p:cTn>
                                        <p:tgtEl>
                                          <p:spTgt spid="144">
                                            <p:txEl>
                                              <p:pRg st="7" end="7"/>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presetID="1" presetClass="entr" presetSubtype="0" fill="hold" nodeType="clickEffect">
                                  <p:stCondLst>
                                    <p:cond delay="0"/>
                                  </p:stCondLst>
                                  <p:childTnLst>
                                    <p:set>
                                      <p:cBhvr>
                                        <p:cTn id="722" dur="1" fill="hold">
                                          <p:stCondLst>
                                            <p:cond delay="0"/>
                                          </p:stCondLst>
                                        </p:cTn>
                                        <p:tgtEl>
                                          <p:spTgt spid="144">
                                            <p:txEl>
                                              <p:pRg st="8" end="8"/>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presetID="1" presetClass="entr" presetSubtype="0" fill="hold" nodeType="clickEffect">
                                  <p:stCondLst>
                                    <p:cond delay="0"/>
                                  </p:stCondLst>
                                  <p:childTnLst>
                                    <p:set>
                                      <p:cBhvr>
                                        <p:cTn id="726"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presetID="1" presetClass="entr" presetSubtype="0" fill="hold" nodeType="clickEffect">
                                  <p:stCondLst>
                                    <p:cond delay="0"/>
                                  </p:stCondLst>
                                  <p:childTnLst>
                                    <p:set>
                                      <p:cBhvr>
                                        <p:cTn id="730" dur="1" fill="hold">
                                          <p:stCondLst>
                                            <p:cond delay="0"/>
                                          </p:stCondLst>
                                        </p:cTn>
                                        <p:tgtEl>
                                          <p:spTgt spid="145">
                                            <p:txEl>
                                              <p:pRg st="1" end="1"/>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presetID="1" presetClass="entr" presetSubtype="0" fill="hold" nodeType="clickEffect">
                                  <p:stCondLst>
                                    <p:cond delay="0"/>
                                  </p:stCondLst>
                                  <p:childTnLst>
                                    <p:set>
                                      <p:cBhvr>
                                        <p:cTn id="734" dur="1" fill="hold">
                                          <p:stCondLst>
                                            <p:cond delay="0"/>
                                          </p:stCondLst>
                                        </p:cTn>
                                        <p:tgtEl>
                                          <p:spTgt spid="145">
                                            <p:txEl>
                                              <p:pRg st="2" end="2"/>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presetID="1" presetClass="entr" presetSubtype="0" fill="hold" nodeType="clickEffect">
                                  <p:stCondLst>
                                    <p:cond delay="0"/>
                                  </p:stCondLst>
                                  <p:childTnLst>
                                    <p:set>
                                      <p:cBhvr>
                                        <p:cTn id="738" dur="1" fill="hold">
                                          <p:stCondLst>
                                            <p:cond delay="0"/>
                                          </p:stCondLst>
                                        </p:cTn>
                                        <p:tgtEl>
                                          <p:spTgt spid="145">
                                            <p:txEl>
                                              <p:pRg st="3" end="3"/>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presetID="1" presetClass="entr" presetSubtype="0" fill="hold" nodeType="clickEffect">
                                  <p:stCondLst>
                                    <p:cond delay="0"/>
                                  </p:stCondLst>
                                  <p:childTnLst>
                                    <p:set>
                                      <p:cBhvr>
                                        <p:cTn id="742" dur="1" fill="hold">
                                          <p:stCondLst>
                                            <p:cond delay="0"/>
                                          </p:stCondLst>
                                        </p:cTn>
                                        <p:tgtEl>
                                          <p:spTgt spid="145">
                                            <p:txEl>
                                              <p:pRg st="4" end="4"/>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presetID="1" presetClass="entr" presetSubtype="0" fill="hold" nodeType="clickEffect">
                                  <p:stCondLst>
                                    <p:cond delay="0"/>
                                  </p:stCondLst>
                                  <p:childTnLst>
                                    <p:set>
                                      <p:cBhvr>
                                        <p:cTn id="746" dur="1" fill="hold">
                                          <p:stCondLst>
                                            <p:cond delay="0"/>
                                          </p:stCondLst>
                                        </p:cTn>
                                        <p:tgtEl>
                                          <p:spTgt spid="145">
                                            <p:txEl>
                                              <p:pRg st="5" end="5"/>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presetID="1" presetClass="entr" presetSubtype="0" fill="hold" nodeType="clickEffect">
                                  <p:stCondLst>
                                    <p:cond delay="0"/>
                                  </p:stCondLst>
                                  <p:childTnLst>
                                    <p:set>
                                      <p:cBhvr>
                                        <p:cTn id="750" dur="1" fill="hold">
                                          <p:stCondLst>
                                            <p:cond delay="0"/>
                                          </p:stCondLst>
                                        </p:cTn>
                                        <p:tgtEl>
                                          <p:spTgt spid="145">
                                            <p:txEl>
                                              <p:pRg st="6" end="6"/>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presetID="1" presetClass="entr" presetSubtype="0" fill="hold" nodeType="clickEffect">
                                  <p:stCondLst>
                                    <p:cond delay="0"/>
                                  </p:stCondLst>
                                  <p:childTnLst>
                                    <p:set>
                                      <p:cBhvr>
                                        <p:cTn id="754" dur="1" fill="hold">
                                          <p:stCondLst>
                                            <p:cond delay="0"/>
                                          </p:stCondLst>
                                        </p:cTn>
                                        <p:tgtEl>
                                          <p:spTgt spid="145">
                                            <p:txEl>
                                              <p:pRg st="7" end="7"/>
                                            </p:txEl>
                                          </p:spTgt>
                                        </p:tgtEl>
                                        <p:attrNameLst>
                                          <p:attrName>style.visibility</p:attrName>
                                        </p:attrNameLst>
                                      </p:cBhvr>
                                      <p:to>
                                        <p:strVal val="visible"/>
                                      </p:to>
                                    </p:set>
                                  </p:childTnLst>
                                </p:cTn>
                              </p:par>
                            </p:childTnLst>
                          </p:cTn>
                        </p:par>
                      </p:childTnLst>
                    </p:cTn>
                  </p:par>
                  <p:par>
                    <p:cTn id="755" fill="hold">
                      <p:stCondLst>
                        <p:cond delay="indefinite"/>
                      </p:stCondLst>
                      <p:childTnLst>
                        <p:par>
                          <p:cTn id="756" fill="hold">
                            <p:stCondLst>
                              <p:cond delay="0"/>
                            </p:stCondLst>
                            <p:childTnLst>
                              <p:par>
                                <p:cTn id="757" presetID="1" presetClass="entr" presetSubtype="0" fill="hold" nodeType="clickEffect">
                                  <p:stCondLst>
                                    <p:cond delay="0"/>
                                  </p:stCondLst>
                                  <p:childTnLst>
                                    <p:set>
                                      <p:cBhvr>
                                        <p:cTn id="758" dur="1" fill="hold">
                                          <p:stCondLst>
                                            <p:cond delay="0"/>
                                          </p:stCondLst>
                                        </p:cTn>
                                        <p:tgtEl>
                                          <p:spTgt spid="14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ctivity 1">
  <p:cSld name="AUTOLAYOUT_1_1">
    <p:bg>
      <p:bgPr>
        <a:solidFill>
          <a:srgbClr val="FFFFFF"/>
        </a:solidFill>
        <a:effectLst/>
      </p:bgPr>
    </p:bg>
    <p:spTree>
      <p:nvGrpSpPr>
        <p:cNvPr id="1" name="Shape 146"/>
        <p:cNvGrpSpPr/>
        <p:nvPr/>
      </p:nvGrpSpPr>
      <p:grpSpPr>
        <a:xfrm>
          <a:off x="0" y="0"/>
          <a:ext cx="0" cy="0"/>
          <a:chOff x="0" y="0"/>
          <a:chExt cx="0" cy="0"/>
        </a:xfrm>
      </p:grpSpPr>
      <p:sp>
        <p:nvSpPr>
          <p:cNvPr id="147" name="Google Shape;147;p17"/>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7"/>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49" name="Google Shape;149;p17"/>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50" name="Google Shape;150;p17"/>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1" name="Google Shape;151;p17"/>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7"/>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53" name="Google Shape;153;p17"/>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7"/>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55" name="Google Shape;155;p17"/>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60"/>
        <p:cNvGrpSpPr/>
        <p:nvPr/>
      </p:nvGrpSpPr>
      <p:grpSpPr>
        <a:xfrm>
          <a:off x="0" y="0"/>
          <a:ext cx="0" cy="0"/>
          <a:chOff x="0" y="0"/>
          <a:chExt cx="0" cy="0"/>
        </a:xfrm>
      </p:grpSpPr>
      <p:sp>
        <p:nvSpPr>
          <p:cNvPr id="161" name="Google Shape;161;p19"/>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2" name="Google Shape;162;p19"/>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3" name="Google Shape;163;p19"/>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64" name="Google Shape;164;p1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65"/>
        <p:cNvGrpSpPr/>
        <p:nvPr/>
      </p:nvGrpSpPr>
      <p:grpSpPr>
        <a:xfrm>
          <a:off x="0" y="0"/>
          <a:ext cx="0" cy="0"/>
          <a:chOff x="0" y="0"/>
          <a:chExt cx="0" cy="0"/>
        </a:xfrm>
      </p:grpSpPr>
      <p:sp>
        <p:nvSpPr>
          <p:cNvPr id="166" name="Google Shape;166;p20"/>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7" name="Google Shape;167;p20"/>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68" name="Google Shape;168;p20"/>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69" name="Google Shape;169;p2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0"/>
        <p:cNvGrpSpPr/>
        <p:nvPr/>
      </p:nvGrpSpPr>
      <p:grpSpPr>
        <a:xfrm>
          <a:off x="0" y="0"/>
          <a:ext cx="0" cy="0"/>
          <a:chOff x="0" y="0"/>
          <a:chExt cx="0" cy="0"/>
        </a:xfrm>
      </p:grpSpPr>
      <p:sp>
        <p:nvSpPr>
          <p:cNvPr id="171" name="Google Shape;171;p21"/>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72" name="Google Shape;172;p21"/>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1"/>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4" name="Google Shape;174;p21"/>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75" name="Google Shape;175;p2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6" name="Google Shape;176;p21"/>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77" name="Google Shape;177;p21"/>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8"/>
        <p:cNvGrpSpPr/>
        <p:nvPr/>
      </p:nvGrpSpPr>
      <p:grpSpPr>
        <a:xfrm>
          <a:off x="0" y="0"/>
          <a:ext cx="0" cy="0"/>
          <a:chOff x="0" y="0"/>
          <a:chExt cx="0" cy="0"/>
        </a:xfrm>
      </p:grpSpPr>
      <p:sp>
        <p:nvSpPr>
          <p:cNvPr id="179" name="Google Shape;179;p2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1" name="Google Shape;181;p22"/>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2" name="Google Shape;182;p22"/>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3" name="Google Shape;183;p2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4"/>
        <p:cNvGrpSpPr/>
        <p:nvPr/>
      </p:nvGrpSpPr>
      <p:grpSpPr>
        <a:xfrm>
          <a:off x="0" y="0"/>
          <a:ext cx="0" cy="0"/>
          <a:chOff x="0" y="0"/>
          <a:chExt cx="0" cy="0"/>
        </a:xfrm>
      </p:grpSpPr>
      <p:sp>
        <p:nvSpPr>
          <p:cNvPr id="185" name="Google Shape;185;p23"/>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3"/>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7" name="Google Shape;187;p2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8"/>
        <p:cNvGrpSpPr/>
        <p:nvPr/>
      </p:nvGrpSpPr>
      <p:grpSpPr>
        <a:xfrm>
          <a:off x="0" y="0"/>
          <a:ext cx="0" cy="0"/>
          <a:chOff x="0" y="0"/>
          <a:chExt cx="0" cy="0"/>
        </a:xfrm>
      </p:grpSpPr>
      <p:sp>
        <p:nvSpPr>
          <p:cNvPr id="189" name="Google Shape;189;p2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91" name="Google Shape;191;p24"/>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2" name="Google Shape;192;p24"/>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93" name="Google Shape;193;p24"/>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94" name="Google Shape;194;p24"/>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95" name="Google Shape;195;p24"/>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98" name="Google Shape;198;p2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9"/>
        <p:cNvGrpSpPr/>
        <p:nvPr/>
      </p:nvGrpSpPr>
      <p:grpSpPr>
        <a:xfrm>
          <a:off x="0" y="0"/>
          <a:ext cx="0" cy="0"/>
          <a:chOff x="0" y="0"/>
          <a:chExt cx="0" cy="0"/>
        </a:xfrm>
      </p:grpSpPr>
      <p:sp>
        <p:nvSpPr>
          <p:cNvPr id="200" name="Google Shape;200;p26"/>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02" name="Google Shape;202;p26"/>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03" name="Google Shape;203;p26"/>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4" name="Google Shape;204;p2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5"/>
        <p:cNvGrpSpPr/>
        <p:nvPr/>
      </p:nvGrpSpPr>
      <p:grpSpPr>
        <a:xfrm>
          <a:off x="0" y="0"/>
          <a:ext cx="0" cy="0"/>
          <a:chOff x="0" y="0"/>
          <a:chExt cx="0" cy="0"/>
        </a:xfrm>
      </p:grpSpPr>
      <p:sp>
        <p:nvSpPr>
          <p:cNvPr id="206" name="Google Shape;206;p27"/>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7"/>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08" name="Google Shape;208;p2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09"/>
        <p:cNvGrpSpPr/>
        <p:nvPr/>
      </p:nvGrpSpPr>
      <p:grpSpPr>
        <a:xfrm>
          <a:off x="0" y="0"/>
          <a:ext cx="0" cy="0"/>
          <a:chOff x="0" y="0"/>
          <a:chExt cx="0" cy="0"/>
        </a:xfrm>
      </p:grpSpPr>
      <p:sp>
        <p:nvSpPr>
          <p:cNvPr id="210" name="Google Shape;210;p28"/>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11" name="Google Shape;211;p28"/>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212" name="Google Shape;212;p2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3"/>
        <p:cNvGrpSpPr/>
        <p:nvPr/>
      </p:nvGrpSpPr>
      <p:grpSpPr>
        <a:xfrm>
          <a:off x="0" y="0"/>
          <a:ext cx="0" cy="0"/>
          <a:chOff x="0" y="0"/>
          <a:chExt cx="0" cy="0"/>
        </a:xfrm>
      </p:grpSpPr>
      <p:sp>
        <p:nvSpPr>
          <p:cNvPr id="214" name="Google Shape;214;p2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15"/>
        <p:cNvGrpSpPr/>
        <p:nvPr/>
      </p:nvGrpSpPr>
      <p:grpSpPr>
        <a:xfrm>
          <a:off x="0" y="0"/>
          <a:ext cx="0" cy="0"/>
          <a:chOff x="0" y="0"/>
          <a:chExt cx="0" cy="0"/>
        </a:xfrm>
      </p:grpSpPr>
      <p:sp>
        <p:nvSpPr>
          <p:cNvPr id="216" name="Google Shape;216;p30"/>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8" name="Google Shape;218;p30"/>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19" name="Google Shape;219;p3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20"/>
        <p:cNvGrpSpPr/>
        <p:nvPr/>
      </p:nvGrpSpPr>
      <p:grpSpPr>
        <a:xfrm>
          <a:off x="0" y="0"/>
          <a:ext cx="0" cy="0"/>
          <a:chOff x="0" y="0"/>
          <a:chExt cx="0" cy="0"/>
        </a:xfrm>
      </p:grpSpPr>
      <p:sp>
        <p:nvSpPr>
          <p:cNvPr id="221" name="Google Shape;22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2" name="Google Shape;222;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23" name="Google Shape;223;p3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56"/>
        <p:cNvGrpSpPr/>
        <p:nvPr/>
      </p:nvGrpSpPr>
      <p:grpSpPr>
        <a:xfrm>
          <a:off x="0" y="0"/>
          <a:ext cx="0" cy="0"/>
          <a:chOff x="0" y="0"/>
          <a:chExt cx="0" cy="0"/>
        </a:xfrm>
      </p:grpSpPr>
      <p:sp>
        <p:nvSpPr>
          <p:cNvPr id="157" name="Google Shape;157;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58" name="Google Shape;158;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59" name="Google Shape;159;p18"/>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docs.oracle.com/en/java/javase/21/docs/api/java.base/java/lang/FunctionalInterface.html"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hyperlink" Target="https://docs.oracle.com/en/java/javase/15/docs/api/java.base/java/io/File.html" TargetMode="External"/><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hyperlink" Target="https://docs.oracle.com/en/java/javase/15/docs/api/java.base/java/io/FileReader.html" TargetMode="External"/><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hyperlink" Target="https://docs.oracle.com/en/java/javase/21/docs/api/java.base/java/io/BufferedReader.html"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hyperlink" Target="https://docs.oracle.com/en/java/javase/15/docs/api/java.base/java/io/IOException.html" TargetMode="External"/><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hyperlink" Target="https://docs.oracle.com/en/java/javase/15/docs/api/java.base/java/io/FileWriter.html" TargetMode="External"/><Relationship Id="rId2" Type="http://schemas.openxmlformats.org/officeDocument/2006/relationships/notesSlide" Target="../notesSlides/notesSlide50.xml"/><Relationship Id="rId1" Type="http://schemas.openxmlformats.org/officeDocument/2006/relationships/slideLayout" Target="../slideLayouts/slideLayout6.xml"/><Relationship Id="rId4" Type="http://schemas.openxmlformats.org/officeDocument/2006/relationships/hyperlink" Target="https://docs.oracle.com/en/java/javase/15/docs/api/java.base/java/io/PrintWriter.html"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4.xml"/><Relationship Id="rId1" Type="http://schemas.openxmlformats.org/officeDocument/2006/relationships/slideLayout" Target="../slideLayouts/slideLayout27.xml"/><Relationship Id="rId6" Type="http://schemas.openxmlformats.org/officeDocument/2006/relationships/slide" Target="slide26.xml"/><Relationship Id="rId5" Type="http://schemas.openxmlformats.org/officeDocument/2006/relationships/slide" Target="slide21.xml"/><Relationship Id="rId4" Type="http://schemas.openxmlformats.org/officeDocument/2006/relationships/slide" Target="slide8.xml"/></Relationships>
</file>

<file path=ppt/slides/_rels/slide55.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32.xml"/><Relationship Id="rId7" Type="http://schemas.openxmlformats.org/officeDocument/2006/relationships/slide" Target="slide40.xml"/><Relationship Id="rId2" Type="http://schemas.openxmlformats.org/officeDocument/2006/relationships/notesSlide" Target="../notesSlides/notesSlide55.xml"/><Relationship Id="rId1" Type="http://schemas.openxmlformats.org/officeDocument/2006/relationships/slideLayout" Target="../slideLayouts/slideLayout27.xml"/><Relationship Id="rId6" Type="http://schemas.openxmlformats.org/officeDocument/2006/relationships/slide" Target="slide38.xml"/><Relationship Id="rId5" Type="http://schemas.openxmlformats.org/officeDocument/2006/relationships/slide" Target="slide36.xml"/><Relationship Id="rId4" Type="http://schemas.openxmlformats.org/officeDocument/2006/relationships/slide" Target="slide34.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229" name="Google Shape;229;p32"/>
          <p:cNvSpPr txBox="1">
            <a:spLocks noGrp="1"/>
          </p:cNvSpPr>
          <p:nvPr>
            <p:ph type="subTitle" idx="1"/>
          </p:nvPr>
        </p:nvSpPr>
        <p:spPr>
          <a:xfrm>
            <a:off x="311700" y="1878550"/>
            <a:ext cx="4741200" cy="95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4: Lambdas, Streams &amp; Files</a:t>
            </a:r>
            <a:endParaRPr sz="2600" i="1">
              <a:solidFill>
                <a:srgbClr val="FF0000"/>
              </a:solidFill>
            </a:endParaRPr>
          </a:p>
        </p:txBody>
      </p:sp>
      <p:grpSp>
        <p:nvGrpSpPr>
          <p:cNvPr id="230" name="Google Shape;230;p32"/>
          <p:cNvGrpSpPr/>
          <p:nvPr/>
        </p:nvGrpSpPr>
        <p:grpSpPr>
          <a:xfrm>
            <a:off x="5001999" y="4264475"/>
            <a:ext cx="3908400" cy="738300"/>
            <a:chOff x="5001999" y="4264475"/>
            <a:chExt cx="3908400" cy="738300"/>
          </a:xfrm>
        </p:grpSpPr>
        <p:sp>
          <p:nvSpPr>
            <p:cNvPr id="231" name="Google Shape;231;p32"/>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2" name="Google Shape;232;p32"/>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3"/>
          <p:cNvSpPr txBox="1">
            <a:spLocks noGrp="1"/>
          </p:cNvSpPr>
          <p:nvPr>
            <p:ph type="title"/>
          </p:nvPr>
        </p:nvSpPr>
        <p:spPr>
          <a:xfrm>
            <a:off x="311725" y="119925"/>
            <a:ext cx="3706500" cy="822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Lambdas, Streams, &amp; Files</a:t>
            </a:r>
            <a:endParaRPr/>
          </a:p>
        </p:txBody>
      </p:sp>
      <p:sp>
        <p:nvSpPr>
          <p:cNvPr id="238" name="Google Shape;238;p33"/>
          <p:cNvSpPr txBox="1">
            <a:spLocks noGrp="1"/>
          </p:cNvSpPr>
          <p:nvPr>
            <p:ph type="body" idx="1"/>
          </p:nvPr>
        </p:nvSpPr>
        <p:spPr>
          <a:xfrm>
            <a:off x="4644675" y="466275"/>
            <a:ext cx="4166400" cy="4079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Up until this point in the course, </a:t>
            </a:r>
            <a:r>
              <a:rPr lang="en" dirty="0">
                <a:highlight>
                  <a:srgbClr val="FFFF00"/>
                </a:highlight>
              </a:rPr>
              <a:t>whenever we needed a new class, interface, or enumeration, we would create it in its own, separate file.</a:t>
            </a:r>
            <a:endParaRPr dirty="0">
              <a:highlight>
                <a:srgbClr val="FFFF00"/>
              </a:highlight>
            </a:endParaRPr>
          </a:p>
          <a:p>
            <a:pPr marL="457200" lvl="0" indent="-311150" algn="l" rtl="0">
              <a:spcBef>
                <a:spcPts val="1000"/>
              </a:spcBef>
              <a:spcAft>
                <a:spcPts val="0"/>
              </a:spcAft>
              <a:buSzPts val="1300"/>
              <a:buChar char="●"/>
            </a:pPr>
            <a:r>
              <a:rPr lang="en" dirty="0">
                <a:highlight>
                  <a:srgbClr val="FFFF00"/>
                </a:highlight>
              </a:rPr>
              <a:t>Java provides alternative mechanisms for creating and using multiple classes within the same file.</a:t>
            </a:r>
            <a:endParaRPr dirty="0">
              <a:highlight>
                <a:srgbClr val="FFFF00"/>
              </a:highlight>
            </a:endParaRPr>
          </a:p>
          <a:p>
            <a:pPr marL="457200" lvl="0" indent="-311150" algn="l" rtl="0">
              <a:spcBef>
                <a:spcPts val="1000"/>
              </a:spcBef>
              <a:spcAft>
                <a:spcPts val="0"/>
              </a:spcAft>
              <a:buSzPts val="1300"/>
              <a:buChar char="●"/>
            </a:pPr>
            <a:r>
              <a:rPr lang="en" dirty="0"/>
              <a:t>We will be exploring several different ways to generate and use classes, including:</a:t>
            </a:r>
            <a:endParaRPr dirty="0"/>
          </a:p>
          <a:p>
            <a:pPr marL="914400" lvl="1" indent="-298450" algn="l" rtl="0">
              <a:spcBef>
                <a:spcPts val="0"/>
              </a:spcBef>
              <a:spcAft>
                <a:spcPts val="0"/>
              </a:spcAft>
              <a:buSzPts val="1100"/>
              <a:buChar char="○"/>
            </a:pPr>
            <a:r>
              <a:rPr lang="en" dirty="0">
                <a:highlight>
                  <a:srgbClr val="FFFF00"/>
                </a:highlight>
              </a:rPr>
              <a:t>Inner Classes </a:t>
            </a:r>
            <a:r>
              <a:rPr lang="en" dirty="0"/>
              <a:t>- classes inside of other classes.</a:t>
            </a:r>
            <a:endParaRPr dirty="0"/>
          </a:p>
          <a:p>
            <a:pPr marL="914400" lvl="1" indent="-298450" algn="l" rtl="0">
              <a:spcBef>
                <a:spcPts val="0"/>
              </a:spcBef>
              <a:spcAft>
                <a:spcPts val="0"/>
              </a:spcAft>
              <a:buSzPts val="1100"/>
              <a:buChar char="○"/>
            </a:pPr>
            <a:r>
              <a:rPr lang="en" dirty="0">
                <a:highlight>
                  <a:srgbClr val="FFFF00"/>
                </a:highlight>
              </a:rPr>
              <a:t>Anonymous Classes </a:t>
            </a:r>
            <a:r>
              <a:rPr lang="en" dirty="0"/>
              <a:t>- classes created on the fly.</a:t>
            </a:r>
            <a:endParaRPr dirty="0"/>
          </a:p>
          <a:p>
            <a:pPr marL="914400" lvl="1" indent="-298450" algn="l" rtl="0">
              <a:spcBef>
                <a:spcPts val="0"/>
              </a:spcBef>
              <a:spcAft>
                <a:spcPts val="0"/>
              </a:spcAft>
              <a:buSzPts val="1100"/>
              <a:buChar char="○"/>
            </a:pPr>
            <a:r>
              <a:rPr lang="en" dirty="0"/>
              <a:t>More Advanced Lambda Expressions.</a:t>
            </a:r>
            <a:endParaRPr dirty="0"/>
          </a:p>
          <a:p>
            <a:pPr marL="914400" lvl="1" indent="-298450" algn="l" rtl="0">
              <a:spcBef>
                <a:spcPts val="0"/>
              </a:spcBef>
              <a:spcAft>
                <a:spcPts val="0"/>
              </a:spcAft>
              <a:buSzPts val="1100"/>
              <a:buChar char="○"/>
            </a:pPr>
            <a:r>
              <a:rPr lang="en" dirty="0"/>
              <a:t>Streams - a powerful API for data processing.</a:t>
            </a:r>
            <a:endParaRPr dirty="0"/>
          </a:p>
          <a:p>
            <a:pPr marL="457200" lvl="0" indent="-311150" algn="l" rtl="0">
              <a:spcBef>
                <a:spcPts val="1000"/>
              </a:spcBef>
              <a:spcAft>
                <a:spcPts val="0"/>
              </a:spcAft>
              <a:buSzPts val="1300"/>
              <a:buChar char="●"/>
            </a:pPr>
            <a:r>
              <a:rPr lang="en" dirty="0"/>
              <a:t>To begin, we will specifically focus on </a:t>
            </a:r>
            <a:r>
              <a:rPr lang="en" i="1" dirty="0"/>
              <a:t>inner classes</a:t>
            </a:r>
            <a:r>
              <a:rPr lang="en" dirty="0"/>
              <a:t> and </a:t>
            </a:r>
            <a:r>
              <a:rPr lang="en" i="1" dirty="0"/>
              <a:t>anonymous classes</a:t>
            </a:r>
            <a:r>
              <a:rPr lang="en" dirty="0"/>
              <a:t>. Both of which will allow us to keep interrelated code closer together.</a:t>
            </a:r>
            <a:endParaRPr dirty="0"/>
          </a:p>
        </p:txBody>
      </p:sp>
      <p:sp>
        <p:nvSpPr>
          <p:cNvPr id="239" name="Google Shape;239;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240" name="Google Shape;240;p33"/>
          <p:cNvSpPr txBox="1">
            <a:spLocks noGrp="1"/>
          </p:cNvSpPr>
          <p:nvPr>
            <p:ph type="body" idx="3"/>
          </p:nvPr>
        </p:nvSpPr>
        <p:spPr>
          <a:xfrm>
            <a:off x="234775" y="4069525"/>
            <a:ext cx="37578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Inner Classes allow us to create a class inside of another class while Anonymous Classes allow us to create single-use classes at the time that they are needed.</a:t>
            </a:r>
            <a:endParaRPr sz="1200"/>
          </a:p>
        </p:txBody>
      </p:sp>
      <p:sp>
        <p:nvSpPr>
          <p:cNvPr id="241" name="Google Shape;241;p33"/>
          <p:cNvSpPr txBox="1">
            <a:spLocks noGrp="1"/>
          </p:cNvSpPr>
          <p:nvPr>
            <p:ph type="body" idx="2"/>
          </p:nvPr>
        </p:nvSpPr>
        <p:spPr>
          <a:xfrm>
            <a:off x="234775" y="1062575"/>
            <a:ext cx="3757800" cy="28869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p1</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Fighter</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"Thurstwig"</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p2</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Mage</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"Dandylion"</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p3</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Fighter</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"Player123456"</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p4</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Mage</a:t>
            </a:r>
            <a:r>
              <a:rPr lang="en" sz="1000">
                <a:solidFill>
                  <a:srgbClr val="000000"/>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"MagesRock"</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Set</a:t>
            </a:r>
            <a:r>
              <a:rPr lang="en" sz="1000">
                <a:solidFill>
                  <a:srgbClr val="000000"/>
                </a:solidFill>
                <a:highlight>
                  <a:srgbClr val="FFFFFF"/>
                </a:highlight>
                <a:latin typeface="Consolas"/>
                <a:ea typeface="Consolas"/>
                <a:cs typeface="Consolas"/>
                <a:sym typeface="Consolas"/>
              </a:rPr>
              <a:t> &lt;</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&gt; </a:t>
            </a: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TreeSet</a:t>
            </a:r>
            <a:r>
              <a:rPr lang="en" sz="1000">
                <a:solidFill>
                  <a:srgbClr val="000000"/>
                </a:solidFill>
                <a:highlight>
                  <a:srgbClr val="FFFFFF"/>
                </a:highlight>
                <a:latin typeface="Consolas"/>
                <a:ea typeface="Consolas"/>
                <a:cs typeface="Consolas"/>
                <a:sym typeface="Consolas"/>
              </a:rPr>
              <a:t>&lt;&gt;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AF00DB"/>
                </a:solidFill>
                <a:highlight>
                  <a:srgbClr val="FFFFFF"/>
                </a:highlight>
                <a:latin typeface="Consolas"/>
                <a:ea typeface="Consolas"/>
                <a:cs typeface="Consolas"/>
                <a:sym typeface="Consolas"/>
              </a:rPr>
              <a:t>  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Comparator</a:t>
            </a:r>
            <a:r>
              <a:rPr lang="en" sz="1000">
                <a:solidFill>
                  <a:srgbClr val="000000"/>
                </a:solidFill>
                <a:highlight>
                  <a:srgbClr val="FFFFFF"/>
                </a:highlight>
                <a:latin typeface="Consolas"/>
                <a:ea typeface="Consolas"/>
                <a:cs typeface="Consolas"/>
                <a:sym typeface="Consolas"/>
              </a:rPr>
              <a:t> &lt;</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&gt;(){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compare</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Goat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getName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compareTo</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getName</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p1</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p2</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p3</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add</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p4</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System</a:t>
            </a:r>
            <a:r>
              <a:rPr lang="en" sz="1000">
                <a:solidFill>
                  <a:srgbClr val="000000"/>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out</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party</a:t>
            </a:r>
            <a:r>
              <a:rPr lang="en" sz="1000">
                <a:solidFill>
                  <a:srgbClr val="000000"/>
                </a:solidFill>
                <a:highlight>
                  <a:srgbClr val="FFFFFF"/>
                </a:highlight>
                <a:latin typeface="Consolas"/>
                <a:ea typeface="Consolas"/>
                <a:cs typeface="Consolas"/>
                <a:sym typeface="Consolas"/>
              </a:rPr>
              <a:t>);</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0"/>
                                        </p:tgtEl>
                                        <p:attrNameLst>
                                          <p:attrName>style.visibility</p:attrName>
                                        </p:attrNameLst>
                                      </p:cBhvr>
                                      <p:to>
                                        <p:strVal val="visible"/>
                                      </p:to>
                                    </p:set>
                                    <p:animEffect transition="in" filter="fade">
                                      <p:cBhvr>
                                        <p:cTn id="39" dur="10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4"/>
          <p:cNvSpPr txBox="1">
            <a:spLocks noGrp="1"/>
          </p:cNvSpPr>
          <p:nvPr>
            <p:ph type="title"/>
          </p:nvPr>
        </p:nvSpPr>
        <p:spPr>
          <a:xfrm>
            <a:off x="5188525" y="119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Inner Classes</a:t>
            </a:r>
            <a:endParaRPr/>
          </a:p>
        </p:txBody>
      </p:sp>
      <p:sp>
        <p:nvSpPr>
          <p:cNvPr id="247" name="Google Shape;247;p34"/>
          <p:cNvSpPr txBox="1">
            <a:spLocks noGrp="1"/>
          </p:cNvSpPr>
          <p:nvPr>
            <p:ph type="body" idx="1"/>
          </p:nvPr>
        </p:nvSpPr>
        <p:spPr>
          <a:xfrm>
            <a:off x="90450" y="95425"/>
            <a:ext cx="4696200" cy="49029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Clr>
                <a:schemeClr val="lt2"/>
              </a:buClr>
              <a:buSzPts val="1200"/>
              <a:buChar char="●"/>
            </a:pPr>
            <a:r>
              <a:rPr lang="en" sz="1200" dirty="0">
                <a:solidFill>
                  <a:schemeClr val="lt2"/>
                </a:solidFill>
              </a:rPr>
              <a:t>An </a:t>
            </a:r>
            <a:r>
              <a:rPr lang="en" sz="1200" b="1" i="1" dirty="0">
                <a:solidFill>
                  <a:srgbClr val="FF0000"/>
                </a:solidFill>
              </a:rPr>
              <a:t>inner class</a:t>
            </a:r>
            <a:r>
              <a:rPr lang="en" sz="1200" dirty="0">
                <a:solidFill>
                  <a:schemeClr val="lt2"/>
                </a:solidFill>
              </a:rPr>
              <a:t> is a class that is declared inside of the body of another class.</a:t>
            </a:r>
            <a:endParaRPr sz="1200" dirty="0">
              <a:solidFill>
                <a:schemeClr val="lt2"/>
              </a:solidFill>
            </a:endParaRPr>
          </a:p>
          <a:p>
            <a:pPr marL="914400" lvl="1" indent="-298450" algn="l" rtl="0">
              <a:spcBef>
                <a:spcPts val="0"/>
              </a:spcBef>
              <a:spcAft>
                <a:spcPts val="0"/>
              </a:spcAft>
              <a:buClr>
                <a:schemeClr val="lt2"/>
              </a:buClr>
              <a:buSzPts val="1100"/>
              <a:buChar char="○"/>
            </a:pPr>
            <a:r>
              <a:rPr lang="en" dirty="0">
                <a:solidFill>
                  <a:schemeClr val="lt2"/>
                </a:solidFill>
              </a:rPr>
              <a:t>The containing class is referred to as the "</a:t>
            </a:r>
            <a:r>
              <a:rPr lang="en" b="1" i="1" dirty="0">
                <a:solidFill>
                  <a:srgbClr val="FF0000"/>
                </a:solidFill>
                <a:highlight>
                  <a:srgbClr val="FFFF00"/>
                </a:highlight>
              </a:rPr>
              <a:t>outer class</a:t>
            </a:r>
            <a:r>
              <a:rPr lang="en" dirty="0">
                <a:solidFill>
                  <a:schemeClr val="lt2"/>
                </a:solidFill>
                <a:highlight>
                  <a:srgbClr val="FFFF00"/>
                </a:highlight>
              </a:rPr>
              <a:t>" </a:t>
            </a:r>
            <a:r>
              <a:rPr lang="en" dirty="0">
                <a:solidFill>
                  <a:schemeClr val="lt2"/>
                </a:solidFill>
              </a:rPr>
              <a:t>or </a:t>
            </a:r>
            <a:r>
              <a:rPr lang="en" dirty="0">
                <a:solidFill>
                  <a:schemeClr val="lt2"/>
                </a:solidFill>
                <a:highlight>
                  <a:srgbClr val="FFFF00"/>
                </a:highlight>
              </a:rPr>
              <a:t>"</a:t>
            </a:r>
            <a:r>
              <a:rPr lang="en" b="1" i="1" dirty="0">
                <a:solidFill>
                  <a:srgbClr val="FF0000"/>
                </a:solidFill>
                <a:highlight>
                  <a:srgbClr val="FFFF00"/>
                </a:highlight>
              </a:rPr>
              <a:t>enclosing class</a:t>
            </a:r>
            <a:r>
              <a:rPr lang="en" dirty="0">
                <a:solidFill>
                  <a:schemeClr val="lt2"/>
                </a:solidFill>
                <a:highlight>
                  <a:srgbClr val="FFFF00"/>
                </a:highlight>
              </a:rPr>
              <a:t>."</a:t>
            </a:r>
            <a:endParaRPr dirty="0">
              <a:solidFill>
                <a:schemeClr val="lt2"/>
              </a:solidFill>
              <a:highlight>
                <a:srgbClr val="FFFF00"/>
              </a:highlight>
            </a:endParaRPr>
          </a:p>
          <a:p>
            <a:pPr marL="457200" lvl="0" indent="-304800" algn="l" rtl="0">
              <a:spcBef>
                <a:spcPts val="1000"/>
              </a:spcBef>
              <a:spcAft>
                <a:spcPts val="0"/>
              </a:spcAft>
              <a:buClr>
                <a:schemeClr val="lt2"/>
              </a:buClr>
              <a:buSzPts val="1200"/>
              <a:buChar char="●"/>
            </a:pPr>
            <a:r>
              <a:rPr lang="en" sz="1200" dirty="0">
                <a:solidFill>
                  <a:schemeClr val="lt2"/>
                </a:solidFill>
              </a:rPr>
              <a:t>An instance of the inner class must be created using an instance of the outer class.</a:t>
            </a:r>
            <a:endParaRPr sz="1200" dirty="0">
              <a:solidFill>
                <a:schemeClr val="lt2"/>
              </a:solidFill>
            </a:endParaRPr>
          </a:p>
          <a:p>
            <a:pPr marL="914400" lvl="1" indent="-298450" algn="l" rtl="0">
              <a:spcBef>
                <a:spcPts val="0"/>
              </a:spcBef>
              <a:spcAft>
                <a:spcPts val="0"/>
              </a:spcAft>
              <a:buClr>
                <a:schemeClr val="lt2"/>
              </a:buClr>
              <a:buSzPts val="1100"/>
              <a:buChar char="○"/>
            </a:pPr>
            <a:r>
              <a:rPr lang="en" dirty="0">
                <a:solidFill>
                  <a:schemeClr val="lt2"/>
                </a:solidFill>
              </a:rPr>
              <a:t>Within an instance of the outer class, this is as simple as invoking the constructor, e.g.</a:t>
            </a:r>
            <a:endParaRPr dirty="0">
              <a:solidFill>
                <a:schemeClr val="lt2"/>
              </a:solidFill>
            </a:endParaRPr>
          </a:p>
          <a:p>
            <a:pPr marL="914400" lvl="0" indent="0" algn="l" rtl="0">
              <a:spcBef>
                <a:spcPts val="0"/>
              </a:spcBef>
              <a:spcAft>
                <a:spcPts val="0"/>
              </a:spcAft>
              <a:buNone/>
            </a:pPr>
            <a:r>
              <a:rPr lang="en" sz="1100" dirty="0">
                <a:solidFill>
                  <a:srgbClr val="FF0000"/>
                </a:solidFill>
                <a:latin typeface="Courier New"/>
                <a:ea typeface="Courier New"/>
                <a:cs typeface="Courier New"/>
                <a:sym typeface="Courier New"/>
              </a:rPr>
              <a:t>Inner in = new Inner();</a:t>
            </a:r>
            <a:endParaRPr sz="1100" dirty="0">
              <a:solidFill>
                <a:srgbClr val="FF0000"/>
              </a:solidFill>
              <a:latin typeface="Courier New"/>
              <a:ea typeface="Courier New"/>
              <a:cs typeface="Courier New"/>
              <a:sym typeface="Courier New"/>
            </a:endParaRPr>
          </a:p>
          <a:p>
            <a:pPr marL="914400" lvl="1" indent="-298450" algn="l" rtl="0">
              <a:spcBef>
                <a:spcPts val="1000"/>
              </a:spcBef>
              <a:spcAft>
                <a:spcPts val="0"/>
              </a:spcAft>
              <a:buClr>
                <a:schemeClr val="lt2"/>
              </a:buClr>
              <a:buSzPts val="1100"/>
              <a:buChar char="○"/>
            </a:pPr>
            <a:r>
              <a:rPr lang="en" dirty="0">
                <a:solidFill>
                  <a:schemeClr val="lt2"/>
                </a:solidFill>
              </a:rPr>
              <a:t>From outside of the outer class, the syntax gets a little… </a:t>
            </a:r>
            <a:r>
              <a:rPr lang="en" i="1" dirty="0">
                <a:solidFill>
                  <a:schemeClr val="lt2"/>
                </a:solidFill>
              </a:rPr>
              <a:t>weird</a:t>
            </a:r>
            <a:r>
              <a:rPr lang="en" dirty="0">
                <a:solidFill>
                  <a:schemeClr val="lt2"/>
                </a:solidFill>
              </a:rPr>
              <a:t>, e.g.</a:t>
            </a:r>
            <a:endParaRPr dirty="0">
              <a:solidFill>
                <a:schemeClr val="lt2"/>
              </a:solidFill>
            </a:endParaRPr>
          </a:p>
          <a:p>
            <a:pPr marL="914400" lvl="0" indent="0" algn="l" rtl="0">
              <a:spcBef>
                <a:spcPts val="0"/>
              </a:spcBef>
              <a:spcAft>
                <a:spcPts val="0"/>
              </a:spcAft>
              <a:buNone/>
            </a:pPr>
            <a:r>
              <a:rPr lang="en" sz="1100" dirty="0">
                <a:solidFill>
                  <a:srgbClr val="FF0000"/>
                </a:solidFill>
                <a:latin typeface="Courier New"/>
                <a:ea typeface="Courier New"/>
                <a:cs typeface="Courier New"/>
                <a:sym typeface="Courier New"/>
              </a:rPr>
              <a:t>Outer out = new Outer();</a:t>
            </a:r>
            <a:endParaRPr sz="1100" dirty="0">
              <a:solidFill>
                <a:srgbClr val="FF0000"/>
              </a:solidFill>
              <a:latin typeface="Courier New"/>
              <a:ea typeface="Courier New"/>
              <a:cs typeface="Courier New"/>
              <a:sym typeface="Courier New"/>
            </a:endParaRPr>
          </a:p>
          <a:p>
            <a:pPr marL="914400" lvl="0" indent="0" algn="l" rtl="0">
              <a:spcBef>
                <a:spcPts val="0"/>
              </a:spcBef>
              <a:spcAft>
                <a:spcPts val="0"/>
              </a:spcAft>
              <a:buNone/>
            </a:pPr>
            <a:r>
              <a:rPr lang="en" sz="1100" dirty="0">
                <a:solidFill>
                  <a:srgbClr val="FF0000"/>
                </a:solidFill>
                <a:latin typeface="Courier New"/>
                <a:ea typeface="Courier New"/>
                <a:cs typeface="Courier New"/>
                <a:sym typeface="Courier New"/>
              </a:rPr>
              <a:t>Outer.Inner in = new out.Inner();</a:t>
            </a:r>
            <a:endParaRPr sz="1100" dirty="0">
              <a:solidFill>
                <a:srgbClr val="FF0000"/>
              </a:solidFill>
              <a:latin typeface="Courier New"/>
              <a:ea typeface="Courier New"/>
              <a:cs typeface="Courier New"/>
              <a:sym typeface="Courier New"/>
            </a:endParaRPr>
          </a:p>
          <a:p>
            <a:pPr marL="457200" lvl="0" indent="-304800" algn="l" rtl="0">
              <a:spcBef>
                <a:spcPts val="1000"/>
              </a:spcBef>
              <a:spcAft>
                <a:spcPts val="0"/>
              </a:spcAft>
              <a:buClr>
                <a:schemeClr val="lt2"/>
              </a:buClr>
              <a:buSzPts val="1200"/>
              <a:buChar char="●"/>
            </a:pPr>
            <a:r>
              <a:rPr lang="en" sz="1200" dirty="0">
                <a:solidFill>
                  <a:schemeClr val="lt2"/>
                </a:solidFill>
              </a:rPr>
              <a:t>Once created, instances of both classes </a:t>
            </a:r>
            <a:r>
              <a:rPr lang="en" sz="1200" dirty="0">
                <a:solidFill>
                  <a:schemeClr val="lt2"/>
                </a:solidFill>
                <a:highlight>
                  <a:srgbClr val="FFFF00"/>
                </a:highlight>
              </a:rPr>
              <a:t>have </a:t>
            </a:r>
            <a:r>
              <a:rPr lang="en" sz="1200" b="1" i="1" dirty="0">
                <a:solidFill>
                  <a:srgbClr val="FF0000"/>
                </a:solidFill>
                <a:highlight>
                  <a:srgbClr val="FFFF00"/>
                </a:highlight>
              </a:rPr>
              <a:t>full access</a:t>
            </a:r>
            <a:r>
              <a:rPr lang="en" sz="1200" dirty="0">
                <a:solidFill>
                  <a:schemeClr val="lt2"/>
                </a:solidFill>
                <a:highlight>
                  <a:srgbClr val="FFFF00"/>
                </a:highlight>
              </a:rPr>
              <a:t> to each other's state and behavior.</a:t>
            </a:r>
            <a:endParaRPr sz="1200" dirty="0">
              <a:solidFill>
                <a:schemeClr val="lt2"/>
              </a:solidFill>
              <a:highlight>
                <a:srgbClr val="FFFF00"/>
              </a:highlight>
            </a:endParaRPr>
          </a:p>
          <a:p>
            <a:pPr marL="914400" lvl="1" indent="-298450" algn="l" rtl="0">
              <a:spcBef>
                <a:spcPts val="0"/>
              </a:spcBef>
              <a:spcAft>
                <a:spcPts val="0"/>
              </a:spcAft>
              <a:buClr>
                <a:schemeClr val="lt2"/>
              </a:buClr>
              <a:buSzPts val="1100"/>
              <a:buChar char="○"/>
            </a:pPr>
            <a:r>
              <a:rPr lang="en" dirty="0">
                <a:solidFill>
                  <a:schemeClr val="lt2"/>
                </a:solidFill>
              </a:rPr>
              <a:t>This is regardless of the access modifiers that are used; </a:t>
            </a:r>
            <a:r>
              <a:rPr lang="en" dirty="0">
                <a:solidFill>
                  <a:schemeClr val="lt2"/>
                </a:solidFill>
                <a:highlight>
                  <a:srgbClr val="FFFF00"/>
                </a:highlight>
              </a:rPr>
              <a:t>even </a:t>
            </a:r>
            <a:r>
              <a:rPr lang="en" dirty="0">
                <a:solidFill>
                  <a:srgbClr val="FF0000"/>
                </a:solidFill>
                <a:highlight>
                  <a:srgbClr val="FFFF00"/>
                </a:highlight>
                <a:latin typeface="Courier New"/>
                <a:ea typeface="Courier New"/>
                <a:cs typeface="Courier New"/>
                <a:sym typeface="Courier New"/>
              </a:rPr>
              <a:t>private</a:t>
            </a:r>
            <a:r>
              <a:rPr lang="en" dirty="0">
                <a:solidFill>
                  <a:srgbClr val="FF0000"/>
                </a:solidFill>
                <a:highlight>
                  <a:srgbClr val="FFFF00"/>
                </a:highlight>
              </a:rPr>
              <a:t> </a:t>
            </a:r>
            <a:r>
              <a:rPr lang="en" dirty="0">
                <a:solidFill>
                  <a:schemeClr val="lt2"/>
                </a:solidFill>
                <a:highlight>
                  <a:srgbClr val="FFFF00"/>
                </a:highlight>
              </a:rPr>
              <a:t>fields</a:t>
            </a:r>
            <a:r>
              <a:rPr lang="en" dirty="0">
                <a:solidFill>
                  <a:schemeClr val="lt2"/>
                </a:solidFill>
              </a:rPr>
              <a:t> and methods are accessible.</a:t>
            </a:r>
            <a:endParaRPr dirty="0">
              <a:solidFill>
                <a:schemeClr val="lt2"/>
              </a:solidFill>
            </a:endParaRPr>
          </a:p>
          <a:p>
            <a:pPr marL="457200" lvl="0" indent="-304800" algn="l" rtl="0">
              <a:spcBef>
                <a:spcPts val="1000"/>
              </a:spcBef>
              <a:spcAft>
                <a:spcPts val="0"/>
              </a:spcAft>
              <a:buClr>
                <a:schemeClr val="lt2"/>
              </a:buClr>
              <a:buSzPts val="1200"/>
              <a:buChar char="●"/>
            </a:pPr>
            <a:r>
              <a:rPr lang="en" sz="1200" dirty="0">
                <a:solidFill>
                  <a:schemeClr val="lt2"/>
                </a:solidFill>
              </a:rPr>
              <a:t>Inner classes are often declared </a:t>
            </a:r>
            <a:r>
              <a:rPr lang="en" sz="1200" dirty="0">
                <a:solidFill>
                  <a:srgbClr val="FF0000"/>
                </a:solidFill>
                <a:highlight>
                  <a:srgbClr val="FFFF00"/>
                </a:highlight>
                <a:latin typeface="Courier New"/>
                <a:ea typeface="Courier New"/>
                <a:cs typeface="Courier New"/>
                <a:sym typeface="Courier New"/>
              </a:rPr>
              <a:t>private</a:t>
            </a:r>
            <a:r>
              <a:rPr lang="en" sz="1200" dirty="0">
                <a:solidFill>
                  <a:schemeClr val="lt2"/>
                </a:solidFill>
              </a:rPr>
              <a:t>, meaning that they are not accessible from outside of the enclosing class.</a:t>
            </a:r>
            <a:endParaRPr sz="1200" dirty="0">
              <a:solidFill>
                <a:schemeClr val="lt2"/>
              </a:solidFill>
            </a:endParaRPr>
          </a:p>
          <a:p>
            <a:pPr marL="914400" lvl="1" indent="-298450" algn="l" rtl="0">
              <a:spcBef>
                <a:spcPts val="0"/>
              </a:spcBef>
              <a:spcAft>
                <a:spcPts val="0"/>
              </a:spcAft>
              <a:buClr>
                <a:schemeClr val="lt2"/>
              </a:buClr>
              <a:buSzPts val="1100"/>
              <a:buChar char="○"/>
            </a:pPr>
            <a:r>
              <a:rPr lang="en" dirty="0">
                <a:solidFill>
                  <a:schemeClr val="lt2"/>
                </a:solidFill>
              </a:rPr>
              <a:t>A private inner class can only be used inside of its enclosing class as a sort of helper class.</a:t>
            </a:r>
            <a:endParaRPr dirty="0">
              <a:solidFill>
                <a:schemeClr val="lt2"/>
              </a:solidFill>
            </a:endParaRPr>
          </a:p>
        </p:txBody>
      </p:sp>
      <p:sp>
        <p:nvSpPr>
          <p:cNvPr id="248" name="Google Shape;248;p3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sp>
        <p:nvSpPr>
          <p:cNvPr id="249" name="Google Shape;249;p34"/>
          <p:cNvSpPr txBox="1">
            <a:spLocks noGrp="1"/>
          </p:cNvSpPr>
          <p:nvPr>
            <p:ph type="body" idx="2"/>
          </p:nvPr>
        </p:nvSpPr>
        <p:spPr>
          <a:xfrm>
            <a:off x="5192225" y="728975"/>
            <a:ext cx="3706500" cy="34170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Outer</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2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final</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x</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3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4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Outer</a:t>
            </a:r>
            <a:r>
              <a:rPr lang="en" sz="1050" dirty="0">
                <a:solidFill>
                  <a:srgbClr val="000000"/>
                </a:solidFill>
                <a:latin typeface="Consolas"/>
                <a:ea typeface="Consolas"/>
                <a:cs typeface="Consolas"/>
                <a:sym typeface="Consolas"/>
              </a:rPr>
              <a:t>(</a:t>
            </a:r>
            <a:r>
              <a:rPr lang="en" sz="1050" dirty="0">
                <a:solidFill>
                  <a:srgbClr val="267F99"/>
                </a:solidFill>
                <a:latin typeface="Consolas"/>
                <a:ea typeface="Consolas"/>
                <a:cs typeface="Consolas"/>
                <a:sym typeface="Consolas"/>
              </a:rPr>
              <a:t>int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x</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5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70C1"/>
                </a:solidFill>
                <a:latin typeface="Consolas"/>
                <a:ea typeface="Consolas"/>
                <a:cs typeface="Consolas"/>
                <a:sym typeface="Consolas"/>
              </a:rPr>
              <a:t>x</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x</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6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7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8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Inner</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9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10</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11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Inner</a:t>
            </a:r>
            <a:r>
              <a:rPr lang="en" sz="1050" dirty="0">
                <a:solidFill>
                  <a:srgbClr val="000000"/>
                </a:solidFill>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12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name</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name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13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14</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15  </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Override</a:t>
            </a:r>
            <a:endParaRPr sz="105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16  </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toString</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17  </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solidFill>
                  <a:srgbClr val="000000"/>
                </a:solidFill>
                <a:latin typeface="Consolas"/>
                <a:ea typeface="Consolas"/>
                <a:cs typeface="Consolas"/>
                <a:sym typeface="Consolas"/>
              </a:rPr>
              <a:t> + </a:t>
            </a:r>
            <a:r>
              <a:rPr lang="en" sz="1050" dirty="0">
                <a:solidFill>
                  <a:srgbClr val="A31515"/>
                </a:solidFill>
                <a:latin typeface="Consolas"/>
                <a:ea typeface="Consolas"/>
                <a:cs typeface="Consolas"/>
                <a:sym typeface="Consolas"/>
              </a:rPr>
              <a:t>": "</a:t>
            </a:r>
            <a:r>
              <a:rPr lang="en" sz="1050" dirty="0">
                <a:solidFill>
                  <a:srgbClr val="000000"/>
                </a:solidFill>
                <a:latin typeface="Consolas"/>
                <a:ea typeface="Consolas"/>
                <a:cs typeface="Consolas"/>
                <a:sym typeface="Consolas"/>
              </a:rPr>
              <a:t> + </a:t>
            </a:r>
            <a:r>
              <a:rPr lang="en" sz="1050" dirty="0">
                <a:solidFill>
                  <a:srgbClr val="0070C1"/>
                </a:solidFill>
                <a:latin typeface="Consolas"/>
                <a:ea typeface="Consolas"/>
                <a:cs typeface="Consolas"/>
                <a:sym typeface="Consolas"/>
              </a:rPr>
              <a:t>x</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18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19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6AA84F"/>
                </a:solidFill>
                <a:latin typeface="Consolas"/>
                <a:ea typeface="Consolas"/>
                <a:cs typeface="Consolas"/>
                <a:sym typeface="Consolas"/>
              </a:rPr>
              <a:t>20 </a:t>
            </a:r>
            <a:r>
              <a:rPr lang="en" sz="1050" dirty="0">
                <a:solidFill>
                  <a:srgbClr val="000000"/>
                </a:solidFill>
                <a:latin typeface="Consolas"/>
                <a:ea typeface="Consolas"/>
                <a:cs typeface="Consolas"/>
                <a:sym typeface="Consolas"/>
              </a:rPr>
              <a:t>}</a:t>
            </a:r>
            <a:endParaRPr sz="1050" dirty="0"/>
          </a:p>
        </p:txBody>
      </p:sp>
      <p:sp>
        <p:nvSpPr>
          <p:cNvPr id="250" name="Google Shape;250;p34"/>
          <p:cNvSpPr txBox="1">
            <a:spLocks noGrp="1"/>
          </p:cNvSpPr>
          <p:nvPr>
            <p:ph type="body" idx="3"/>
          </p:nvPr>
        </p:nvSpPr>
        <p:spPr>
          <a:xfrm>
            <a:off x="5188525" y="4259425"/>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Inner classes are declared inside of a containing class but may be referenced from anywhere through the outer class (if not declared </a:t>
            </a:r>
            <a:r>
              <a:rPr lang="en" dirty="0">
                <a:solidFill>
                  <a:srgbClr val="FF0000"/>
                </a:solidFill>
                <a:latin typeface="Courier New"/>
                <a:ea typeface="Courier New"/>
                <a:cs typeface="Courier New"/>
                <a:sym typeface="Courier New"/>
              </a:rPr>
              <a:t>private</a:t>
            </a:r>
            <a:r>
              <a:rPr lang="en" dirty="0"/>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4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4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50"/>
                                        </p:tgtEl>
                                        <p:attrNameLst>
                                          <p:attrName>style.visibility</p:attrName>
                                        </p:attrNameLst>
                                      </p:cBhvr>
                                      <p:to>
                                        <p:strVal val="visible"/>
                                      </p:to>
                                    </p:set>
                                    <p:animEffect transition="in" filter="fade">
                                      <p:cBhvr>
                                        <p:cTn id="55" dur="10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256" name="Google Shape;256;p3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Inner Classes…</a:t>
            </a:r>
            <a:endParaRPr/>
          </a:p>
        </p:txBody>
      </p:sp>
      <p:sp>
        <p:nvSpPr>
          <p:cNvPr id="257" name="Google Shape;257;p35"/>
          <p:cNvSpPr txBox="1"/>
          <p:nvPr/>
        </p:nvSpPr>
        <p:spPr>
          <a:xfrm>
            <a:off x="3264775" y="1380750"/>
            <a:ext cx="2614500" cy="3578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Outer</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final</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70C1"/>
                </a:solidFill>
                <a:latin typeface="Consolas"/>
                <a:ea typeface="Consolas"/>
                <a:cs typeface="Consolas"/>
                <a:sym typeface="Consolas"/>
              </a:rPr>
              <a:t>x</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Outer</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int</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x</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x</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x</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Inner</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Inner</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name</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name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Override</a:t>
            </a:r>
            <a:endParaRPr sz="105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toString</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name</a:t>
            </a:r>
            <a:r>
              <a:rPr lang="en" sz="1050" dirty="0">
                <a:latin typeface="Consolas"/>
                <a:ea typeface="Consolas"/>
                <a:cs typeface="Consolas"/>
                <a:sym typeface="Consolas"/>
              </a:rPr>
              <a:t> + </a:t>
            </a:r>
            <a:r>
              <a:rPr lang="en" sz="1050" dirty="0">
                <a:solidFill>
                  <a:srgbClr val="A31515"/>
                </a:solidFill>
                <a:latin typeface="Consolas"/>
                <a:ea typeface="Consolas"/>
                <a:cs typeface="Consolas"/>
                <a:sym typeface="Consolas"/>
              </a:rPr>
              <a:t>": "</a:t>
            </a:r>
            <a:r>
              <a:rPr lang="en" sz="1050" dirty="0">
                <a:latin typeface="Consolas"/>
                <a:ea typeface="Consolas"/>
                <a:cs typeface="Consolas"/>
                <a:sym typeface="Consolas"/>
              </a:rPr>
              <a:t> + </a:t>
            </a:r>
            <a:r>
              <a:rPr lang="en" sz="1050" dirty="0">
                <a:solidFill>
                  <a:srgbClr val="0070C1"/>
                </a:solidFill>
                <a:latin typeface="Consolas"/>
                <a:ea typeface="Consolas"/>
                <a:cs typeface="Consolas"/>
                <a:sym typeface="Consolas"/>
              </a:rPr>
              <a:t>x</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latin typeface="Consolas"/>
                <a:ea typeface="Consolas"/>
                <a:cs typeface="Consolas"/>
                <a:sym typeface="Consolas"/>
              </a:rPr>
              <a:t>}</a:t>
            </a:r>
            <a:endParaRPr sz="1050" dirty="0">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263" name="Google Shape;263;p3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Inner Classes</a:t>
            </a:r>
            <a:endParaRPr/>
          </a:p>
        </p:txBody>
      </p:sp>
      <p:sp>
        <p:nvSpPr>
          <p:cNvPr id="264" name="Google Shape;264;p36"/>
          <p:cNvSpPr txBox="1"/>
          <p:nvPr/>
        </p:nvSpPr>
        <p:spPr>
          <a:xfrm>
            <a:off x="3264775" y="1380750"/>
            <a:ext cx="2614500" cy="3578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Outer</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Outer</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Inner</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Inner</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Override</a:t>
            </a:r>
            <a:endParaRPr sz="105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toString</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latin typeface="Consolas"/>
                <a:ea typeface="Consolas"/>
                <a:cs typeface="Consolas"/>
                <a:sym typeface="Consolas"/>
              </a:rPr>
              <a:t> + </a:t>
            </a:r>
            <a:r>
              <a:rPr lang="en" sz="1050">
                <a:solidFill>
                  <a:srgbClr val="A31515"/>
                </a:solidFill>
                <a:latin typeface="Consolas"/>
                <a:ea typeface="Consolas"/>
                <a:cs typeface="Consolas"/>
                <a:sym typeface="Consolas"/>
              </a:rPr>
              <a:t>": "</a:t>
            </a:r>
            <a:r>
              <a:rPr lang="en" sz="1050">
                <a:latin typeface="Consolas"/>
                <a:ea typeface="Consolas"/>
                <a:cs typeface="Consolas"/>
                <a:sym typeface="Consolas"/>
              </a:rPr>
              <a:t> + </a:t>
            </a:r>
            <a:r>
              <a:rPr lang="en" sz="1050">
                <a:solidFill>
                  <a:srgbClr val="0070C1"/>
                </a:solidFill>
                <a:latin typeface="Consolas"/>
                <a:ea typeface="Consolas"/>
                <a:cs typeface="Consolas"/>
                <a:sym typeface="Consolas"/>
              </a:rPr>
              <a:t>x</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265" name="Google Shape;265;p36"/>
          <p:cNvSpPr txBox="1"/>
          <p:nvPr/>
        </p:nvSpPr>
        <p:spPr>
          <a:xfrm>
            <a:off x="188375" y="1383657"/>
            <a:ext cx="2938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An </a:t>
            </a:r>
            <a:r>
              <a:rPr lang="en" sz="1200" b="1" i="1" dirty="0">
                <a:solidFill>
                  <a:srgbClr val="FF0000"/>
                </a:solidFill>
              </a:rPr>
              <a:t>inner class</a:t>
            </a:r>
            <a:r>
              <a:rPr lang="en" sz="1200" dirty="0"/>
              <a:t> is declared within the body of its enclosing class.</a:t>
            </a:r>
            <a:endParaRPr sz="1200" dirty="0"/>
          </a:p>
        </p:txBody>
      </p:sp>
      <p:grpSp>
        <p:nvGrpSpPr>
          <p:cNvPr id="266" name="Google Shape;266;p36"/>
          <p:cNvGrpSpPr/>
          <p:nvPr/>
        </p:nvGrpSpPr>
        <p:grpSpPr>
          <a:xfrm>
            <a:off x="3126575" y="1660707"/>
            <a:ext cx="1815375" cy="1116668"/>
            <a:chOff x="3126575" y="1660707"/>
            <a:chExt cx="1815375" cy="1116668"/>
          </a:xfrm>
        </p:grpSpPr>
        <p:sp>
          <p:nvSpPr>
            <p:cNvPr id="267" name="Google Shape;267;p36"/>
            <p:cNvSpPr/>
            <p:nvPr/>
          </p:nvSpPr>
          <p:spPr>
            <a:xfrm>
              <a:off x="3475550" y="2562875"/>
              <a:ext cx="1466400" cy="214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268" name="Google Shape;268;p36"/>
            <p:cNvCxnSpPr>
              <a:stCxn id="265" idx="3"/>
              <a:endCxn id="267" idx="1"/>
            </p:cNvCxnSpPr>
            <p:nvPr/>
          </p:nvCxnSpPr>
          <p:spPr>
            <a:xfrm>
              <a:off x="3126575" y="1660707"/>
              <a:ext cx="348900" cy="1009500"/>
            </a:xfrm>
            <a:prstGeom prst="bentConnector3">
              <a:avLst>
                <a:gd name="adj1" fmla="val 50011"/>
              </a:avLst>
            </a:prstGeom>
            <a:noFill/>
            <a:ln w="19050" cap="flat" cmpd="sng">
              <a:solidFill>
                <a:srgbClr val="FF0000"/>
              </a:solidFill>
              <a:prstDash val="solid"/>
              <a:round/>
              <a:headEnd type="none" w="med" len="med"/>
              <a:tailEnd type="none" w="med" len="med"/>
            </a:ln>
          </p:spPr>
        </p:cxnSp>
      </p:grpSp>
      <p:sp>
        <p:nvSpPr>
          <p:cNvPr id="269" name="Google Shape;269;p36"/>
          <p:cNvSpPr txBox="1"/>
          <p:nvPr/>
        </p:nvSpPr>
        <p:spPr>
          <a:xfrm>
            <a:off x="188375" y="2892707"/>
            <a:ext cx="2938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Inner classes are full blown classes that can have their own fields…</a:t>
            </a:r>
            <a:endParaRPr sz="1200" dirty="0"/>
          </a:p>
        </p:txBody>
      </p:sp>
      <p:grpSp>
        <p:nvGrpSpPr>
          <p:cNvPr id="270" name="Google Shape;270;p36"/>
          <p:cNvGrpSpPr/>
          <p:nvPr/>
        </p:nvGrpSpPr>
        <p:grpSpPr>
          <a:xfrm>
            <a:off x="3126575" y="2898700"/>
            <a:ext cx="1998850" cy="271057"/>
            <a:chOff x="3126575" y="2898700"/>
            <a:chExt cx="1998850" cy="271057"/>
          </a:xfrm>
        </p:grpSpPr>
        <p:sp>
          <p:nvSpPr>
            <p:cNvPr id="271" name="Google Shape;271;p36"/>
            <p:cNvSpPr/>
            <p:nvPr/>
          </p:nvSpPr>
          <p:spPr>
            <a:xfrm>
              <a:off x="3607425" y="2898700"/>
              <a:ext cx="1518000" cy="214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272" name="Google Shape;272;p36"/>
            <p:cNvCxnSpPr>
              <a:stCxn id="269" idx="3"/>
              <a:endCxn id="271" idx="1"/>
            </p:cNvCxnSpPr>
            <p:nvPr/>
          </p:nvCxnSpPr>
          <p:spPr>
            <a:xfrm rot="10800000" flipH="1">
              <a:off x="3126575" y="3005957"/>
              <a:ext cx="480900" cy="163800"/>
            </a:xfrm>
            <a:prstGeom prst="bentConnector3">
              <a:avLst>
                <a:gd name="adj1" fmla="val 49995"/>
              </a:avLst>
            </a:prstGeom>
            <a:noFill/>
            <a:ln w="19050" cap="flat" cmpd="sng">
              <a:solidFill>
                <a:srgbClr val="FF0000"/>
              </a:solidFill>
              <a:prstDash val="solid"/>
              <a:round/>
              <a:headEnd type="none" w="med" len="med"/>
              <a:tailEnd type="none" w="med" len="med"/>
            </a:ln>
          </p:spPr>
        </p:cxnSp>
      </p:grpSp>
      <p:sp>
        <p:nvSpPr>
          <p:cNvPr id="273" name="Google Shape;273;p36"/>
          <p:cNvSpPr txBox="1"/>
          <p:nvPr/>
        </p:nvSpPr>
        <p:spPr>
          <a:xfrm>
            <a:off x="188375" y="3554832"/>
            <a:ext cx="29382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…constructors…</a:t>
            </a:r>
            <a:endParaRPr sz="1200"/>
          </a:p>
        </p:txBody>
      </p:sp>
      <p:sp>
        <p:nvSpPr>
          <p:cNvPr id="274" name="Google Shape;274;p36"/>
          <p:cNvSpPr txBox="1"/>
          <p:nvPr/>
        </p:nvSpPr>
        <p:spPr>
          <a:xfrm>
            <a:off x="188375" y="2045782"/>
            <a:ext cx="2938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Inner classes are often declared to be private so that they are only accessible within the enclosing class.</a:t>
            </a:r>
            <a:endParaRPr sz="1200" dirty="0"/>
          </a:p>
        </p:txBody>
      </p:sp>
      <p:grpSp>
        <p:nvGrpSpPr>
          <p:cNvPr id="275" name="Google Shape;275;p36"/>
          <p:cNvGrpSpPr/>
          <p:nvPr/>
        </p:nvGrpSpPr>
        <p:grpSpPr>
          <a:xfrm>
            <a:off x="3126575" y="3218675"/>
            <a:ext cx="2567650" cy="554100"/>
            <a:chOff x="3126575" y="3218675"/>
            <a:chExt cx="2567650" cy="554100"/>
          </a:xfrm>
        </p:grpSpPr>
        <p:sp>
          <p:nvSpPr>
            <p:cNvPr id="276" name="Google Shape;276;p36"/>
            <p:cNvSpPr/>
            <p:nvPr/>
          </p:nvSpPr>
          <p:spPr>
            <a:xfrm>
              <a:off x="3607425" y="3218675"/>
              <a:ext cx="2086800" cy="554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277" name="Google Shape;277;p36"/>
            <p:cNvCxnSpPr>
              <a:stCxn id="273" idx="3"/>
              <a:endCxn id="276" idx="1"/>
            </p:cNvCxnSpPr>
            <p:nvPr/>
          </p:nvCxnSpPr>
          <p:spPr>
            <a:xfrm rot="10800000" flipH="1">
              <a:off x="3126575" y="3495582"/>
              <a:ext cx="480900" cy="243900"/>
            </a:xfrm>
            <a:prstGeom prst="bentConnector3">
              <a:avLst>
                <a:gd name="adj1" fmla="val 49995"/>
              </a:avLst>
            </a:prstGeom>
            <a:noFill/>
            <a:ln w="19050" cap="flat" cmpd="sng">
              <a:solidFill>
                <a:srgbClr val="FF0000"/>
              </a:solidFill>
              <a:prstDash val="solid"/>
              <a:round/>
              <a:headEnd type="none" w="med" len="med"/>
              <a:tailEnd type="none" w="med" len="med"/>
            </a:ln>
          </p:spPr>
        </p:cxnSp>
      </p:grpSp>
      <p:sp>
        <p:nvSpPr>
          <p:cNvPr id="278" name="Google Shape;278;p36"/>
          <p:cNvSpPr txBox="1"/>
          <p:nvPr/>
        </p:nvSpPr>
        <p:spPr>
          <a:xfrm>
            <a:off x="188375" y="4032157"/>
            <a:ext cx="29382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…and methods.</a:t>
            </a:r>
            <a:endParaRPr sz="1200"/>
          </a:p>
        </p:txBody>
      </p:sp>
      <p:grpSp>
        <p:nvGrpSpPr>
          <p:cNvPr id="279" name="Google Shape;279;p36"/>
          <p:cNvGrpSpPr/>
          <p:nvPr/>
        </p:nvGrpSpPr>
        <p:grpSpPr>
          <a:xfrm>
            <a:off x="3126575" y="3882300"/>
            <a:ext cx="2567700" cy="670800"/>
            <a:chOff x="3126575" y="3882300"/>
            <a:chExt cx="2567700" cy="670800"/>
          </a:xfrm>
        </p:grpSpPr>
        <p:sp>
          <p:nvSpPr>
            <p:cNvPr id="280" name="Google Shape;280;p36"/>
            <p:cNvSpPr/>
            <p:nvPr/>
          </p:nvSpPr>
          <p:spPr>
            <a:xfrm>
              <a:off x="3607475" y="3882300"/>
              <a:ext cx="2086800" cy="670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281" name="Google Shape;281;p36"/>
            <p:cNvCxnSpPr>
              <a:stCxn id="278" idx="3"/>
              <a:endCxn id="280" idx="1"/>
            </p:cNvCxnSpPr>
            <p:nvPr/>
          </p:nvCxnSpPr>
          <p:spPr>
            <a:xfrm>
              <a:off x="3126575" y="4216807"/>
              <a:ext cx="480900" cy="900"/>
            </a:xfrm>
            <a:prstGeom prst="bentConnector3">
              <a:avLst>
                <a:gd name="adj1" fmla="val 50000"/>
              </a:avLst>
            </a:prstGeom>
            <a:noFill/>
            <a:ln w="19050" cap="flat" cmpd="sng">
              <a:solidFill>
                <a:srgbClr val="FF0000"/>
              </a:solidFill>
              <a:prstDash val="solid"/>
              <a:round/>
              <a:headEnd type="none" w="med" len="med"/>
              <a:tailEnd type="none" w="med" len="med"/>
            </a:ln>
          </p:spPr>
        </p:cxnSp>
      </p:grpSp>
      <p:sp>
        <p:nvSpPr>
          <p:cNvPr id="282" name="Google Shape;282;p36"/>
          <p:cNvSpPr txBox="1"/>
          <p:nvPr/>
        </p:nvSpPr>
        <p:spPr>
          <a:xfrm>
            <a:off x="6017475" y="2989894"/>
            <a:ext cx="2938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Once created, an instance of the inner class may also access the </a:t>
            </a:r>
            <a:r>
              <a:rPr lang="en" sz="1200">
                <a:solidFill>
                  <a:srgbClr val="FF0000"/>
                </a:solidFill>
                <a:latin typeface="Courier New"/>
                <a:ea typeface="Courier New"/>
                <a:cs typeface="Courier New"/>
                <a:sym typeface="Courier New"/>
              </a:rPr>
              <a:t>private</a:t>
            </a:r>
            <a:r>
              <a:rPr lang="en" sz="1200"/>
              <a:t> fields and methods in its enclosing class.</a:t>
            </a:r>
            <a:endParaRPr sz="1200"/>
          </a:p>
        </p:txBody>
      </p:sp>
      <p:sp>
        <p:nvSpPr>
          <p:cNvPr id="283" name="Google Shape;283;p36"/>
          <p:cNvSpPr/>
          <p:nvPr/>
        </p:nvSpPr>
        <p:spPr>
          <a:xfrm>
            <a:off x="5283151" y="4181525"/>
            <a:ext cx="225000" cy="2199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84" name="Google Shape;284;p36"/>
          <p:cNvGrpSpPr/>
          <p:nvPr/>
        </p:nvGrpSpPr>
        <p:grpSpPr>
          <a:xfrm>
            <a:off x="4459523" y="1610899"/>
            <a:ext cx="936000" cy="2570550"/>
            <a:chOff x="4459523" y="1610899"/>
            <a:chExt cx="936000" cy="2570550"/>
          </a:xfrm>
        </p:grpSpPr>
        <p:sp>
          <p:nvSpPr>
            <p:cNvPr id="285" name="Google Shape;285;p36"/>
            <p:cNvSpPr/>
            <p:nvPr/>
          </p:nvSpPr>
          <p:spPr>
            <a:xfrm>
              <a:off x="4459523" y="1610899"/>
              <a:ext cx="548700" cy="2199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286" name="Google Shape;286;p36"/>
            <p:cNvCxnSpPr>
              <a:stCxn id="285" idx="6"/>
              <a:endCxn id="283" idx="0"/>
            </p:cNvCxnSpPr>
            <p:nvPr/>
          </p:nvCxnSpPr>
          <p:spPr>
            <a:xfrm>
              <a:off x="5008223" y="1720849"/>
              <a:ext cx="387300" cy="2460600"/>
            </a:xfrm>
            <a:prstGeom prst="curvedConnector2">
              <a:avLst/>
            </a:prstGeom>
            <a:noFill/>
            <a:ln w="19050" cap="flat" cmpd="sng">
              <a:solidFill>
                <a:srgbClr val="0000FF"/>
              </a:solidFill>
              <a:prstDash val="solid"/>
              <a:round/>
              <a:headEnd type="none" w="med" len="med"/>
              <a:tailEnd type="none" w="med" len="med"/>
            </a:ln>
          </p:spPr>
        </p:cxnSp>
      </p:grpSp>
      <p:sp>
        <p:nvSpPr>
          <p:cNvPr id="287" name="Google Shape;287;p36"/>
          <p:cNvSpPr txBox="1"/>
          <p:nvPr/>
        </p:nvSpPr>
        <p:spPr>
          <a:xfrm>
            <a:off x="6017475" y="1380757"/>
            <a:ext cx="2938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Creating an instance of an inner class requires an instance of the outer class.</a:t>
            </a:r>
            <a:endParaRPr sz="1200" dirty="0"/>
          </a:p>
        </p:txBody>
      </p:sp>
      <p:sp>
        <p:nvSpPr>
          <p:cNvPr id="288" name="Google Shape;288;p36"/>
          <p:cNvSpPr txBox="1"/>
          <p:nvPr/>
        </p:nvSpPr>
        <p:spPr>
          <a:xfrm>
            <a:off x="6017475" y="2069825"/>
            <a:ext cx="2938200" cy="78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267F99"/>
                </a:solidFill>
                <a:latin typeface="Consolas"/>
                <a:ea typeface="Consolas"/>
                <a:cs typeface="Consolas"/>
                <a:sym typeface="Consolas"/>
              </a:rPr>
              <a:t>Outer</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outer</a:t>
            </a:r>
            <a:r>
              <a:rPr lang="en" sz="1050" dirty="0">
                <a:latin typeface="Consolas"/>
                <a:ea typeface="Consolas"/>
                <a:cs typeface="Consolas"/>
                <a:sym typeface="Consolas"/>
              </a:rPr>
              <a:t> = </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Outer</a:t>
            </a:r>
            <a:r>
              <a:rPr lang="en" sz="1050" dirty="0">
                <a:latin typeface="Consolas"/>
                <a:ea typeface="Consolas"/>
                <a:cs typeface="Consolas"/>
                <a:sym typeface="Consolas"/>
              </a:rPr>
              <a:t>(</a:t>
            </a:r>
            <a:r>
              <a:rPr lang="en" sz="1050" dirty="0">
                <a:solidFill>
                  <a:srgbClr val="098658"/>
                </a:solidFill>
                <a:latin typeface="Consolas"/>
                <a:ea typeface="Consolas"/>
                <a:cs typeface="Consolas"/>
                <a:sym typeface="Consolas"/>
              </a:rPr>
              <a:t>5</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267F99"/>
                </a:solidFill>
                <a:latin typeface="Consolas"/>
                <a:ea typeface="Consolas"/>
                <a:cs typeface="Consolas"/>
                <a:sym typeface="Consolas"/>
              </a:rPr>
              <a:t>Inner</a:t>
            </a:r>
            <a:r>
              <a:rPr lang="en" sz="1050" dirty="0">
                <a:latin typeface="Consolas"/>
                <a:ea typeface="Consolas"/>
                <a:cs typeface="Consolas"/>
                <a:sym typeface="Consolas"/>
              </a:rPr>
              <a:t> </a:t>
            </a:r>
            <a:r>
              <a:rPr lang="en" sz="1050" dirty="0">
                <a:solidFill>
                  <a:srgbClr val="001080"/>
                </a:solidFill>
                <a:latin typeface="Consolas"/>
                <a:ea typeface="Consolas"/>
                <a:cs typeface="Consolas"/>
                <a:sym typeface="Consolas"/>
              </a:rPr>
              <a:t>inner</a:t>
            </a:r>
            <a:r>
              <a:rPr lang="en" sz="1050" dirty="0">
                <a:latin typeface="Consolas"/>
                <a:ea typeface="Consolas"/>
                <a:cs typeface="Consolas"/>
                <a:sym typeface="Consolas"/>
              </a:rPr>
              <a:t> = </a:t>
            </a:r>
            <a:r>
              <a:rPr lang="en" sz="1050" dirty="0">
                <a:solidFill>
                  <a:srgbClr val="001080"/>
                </a:solidFill>
                <a:latin typeface="Consolas"/>
                <a:ea typeface="Consolas"/>
                <a:cs typeface="Consolas"/>
                <a:sym typeface="Consolas"/>
              </a:rPr>
              <a:t>outer</a:t>
            </a:r>
            <a:r>
              <a:rPr lang="en" sz="1050" dirty="0">
                <a:latin typeface="Consolas"/>
                <a:ea typeface="Consolas"/>
                <a:cs typeface="Consolas"/>
                <a:sym typeface="Consolas"/>
              </a:rPr>
              <a:t>.</a:t>
            </a:r>
            <a:r>
              <a:rPr lang="en" sz="1050" dirty="0">
                <a:solidFill>
                  <a:srgbClr val="AF00DB"/>
                </a:solidFill>
                <a:latin typeface="Consolas"/>
                <a:ea typeface="Consolas"/>
                <a:cs typeface="Consolas"/>
                <a:sym typeface="Consolas"/>
              </a:rPr>
              <a:t>new</a:t>
            </a:r>
            <a:r>
              <a:rPr lang="en" sz="1050" dirty="0">
                <a:latin typeface="Consolas"/>
                <a:ea typeface="Consolas"/>
                <a:cs typeface="Consolas"/>
                <a:sym typeface="Consolas"/>
              </a:rPr>
              <a:t> </a:t>
            </a:r>
            <a:r>
              <a:rPr lang="en" sz="1050" dirty="0">
                <a:solidFill>
                  <a:srgbClr val="795E26"/>
                </a:solidFill>
                <a:latin typeface="Consolas"/>
                <a:ea typeface="Consolas"/>
                <a:cs typeface="Consolas"/>
                <a:sym typeface="Consolas"/>
              </a:rPr>
              <a:t>Inner</a:t>
            </a:r>
            <a:r>
              <a:rPr lang="en" sz="1050" dirty="0">
                <a:latin typeface="Consolas"/>
                <a:ea typeface="Consolas"/>
                <a:cs typeface="Consolas"/>
                <a:sym typeface="Consolas"/>
              </a:rPr>
              <a:t>(</a:t>
            </a:r>
            <a:r>
              <a:rPr lang="en" sz="1050" dirty="0">
                <a:solidFill>
                  <a:srgbClr val="A31515"/>
                </a:solidFill>
                <a:latin typeface="Consolas"/>
                <a:ea typeface="Consolas"/>
                <a:cs typeface="Consolas"/>
                <a:sym typeface="Consolas"/>
              </a:rPr>
              <a:t>"Joe"</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267F99"/>
                </a:solidFill>
                <a:latin typeface="Consolas"/>
                <a:ea typeface="Consolas"/>
                <a:cs typeface="Consolas"/>
                <a:sym typeface="Consolas"/>
              </a:rPr>
              <a:t>System</a:t>
            </a:r>
            <a:r>
              <a:rPr lang="en" sz="1050" dirty="0">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latin typeface="Consolas"/>
                <a:ea typeface="Consolas"/>
                <a:cs typeface="Consolas"/>
                <a:sym typeface="Consolas"/>
              </a:rPr>
              <a:t>(</a:t>
            </a:r>
            <a:r>
              <a:rPr lang="en" sz="1050" dirty="0">
                <a:solidFill>
                  <a:srgbClr val="001080"/>
                </a:solidFill>
                <a:latin typeface="Consolas"/>
                <a:ea typeface="Consolas"/>
                <a:cs typeface="Consolas"/>
                <a:sym typeface="Consolas"/>
              </a:rPr>
              <a:t>inner</a:t>
            </a:r>
            <a:r>
              <a:rPr lang="en" sz="1050" dirty="0">
                <a:latin typeface="Consolas"/>
                <a:ea typeface="Consolas"/>
                <a:cs typeface="Consolas"/>
                <a:sym typeface="Consolas"/>
              </a:rPr>
              <a:t>);</a:t>
            </a:r>
            <a:endParaRPr sz="1050" dirty="0">
              <a:latin typeface="Consolas"/>
              <a:ea typeface="Consolas"/>
              <a:cs typeface="Consolas"/>
              <a:sym typeface="Consolas"/>
            </a:endParaRPr>
          </a:p>
        </p:txBody>
      </p:sp>
      <p:sp>
        <p:nvSpPr>
          <p:cNvPr id="289" name="Google Shape;289;p36"/>
          <p:cNvSpPr txBox="1"/>
          <p:nvPr/>
        </p:nvSpPr>
        <p:spPr>
          <a:xfrm>
            <a:off x="6017475" y="3826557"/>
            <a:ext cx="2938200" cy="369300"/>
          </a:xfrm>
          <a:prstGeom prst="rect">
            <a:avLst/>
          </a:prstGeom>
          <a:solidFill>
            <a:srgbClr val="000000"/>
          </a:solidFill>
          <a:ln w="19050" cap="flat" cmpd="sng">
            <a:solidFill>
              <a:srgbClr val="B7B7B7"/>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FFE599"/>
                </a:solidFill>
                <a:latin typeface="Consolas"/>
                <a:ea typeface="Consolas"/>
                <a:cs typeface="Consolas"/>
                <a:sym typeface="Consolas"/>
              </a:rPr>
              <a:t>Joe: 5</a:t>
            </a:r>
            <a:endParaRPr sz="1200">
              <a:solidFill>
                <a:srgbClr val="FFE599"/>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65"/>
                                        </p:tgtEl>
                                        <p:attrNameLst>
                                          <p:attrName>style.visibility</p:attrName>
                                        </p:attrNameLst>
                                      </p:cBhvr>
                                      <p:to>
                                        <p:strVal val="visible"/>
                                      </p:to>
                                    </p:set>
                                    <p:animEffect transition="in" filter="fade">
                                      <p:cBhvr>
                                        <p:cTn id="7" dur="1000"/>
                                        <p:tgtEl>
                                          <p:spTgt spid="26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66"/>
                                        </p:tgtEl>
                                        <p:attrNameLst>
                                          <p:attrName>style.visibility</p:attrName>
                                        </p:attrNameLst>
                                      </p:cBhvr>
                                      <p:to>
                                        <p:strVal val="visible"/>
                                      </p:to>
                                    </p:set>
                                    <p:animEffect transition="in" filter="fade">
                                      <p:cBhvr>
                                        <p:cTn id="11" dur="1000"/>
                                        <p:tgtEl>
                                          <p:spTgt spid="26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74"/>
                                        </p:tgtEl>
                                        <p:attrNameLst>
                                          <p:attrName>style.visibility</p:attrName>
                                        </p:attrNameLst>
                                      </p:cBhvr>
                                      <p:to>
                                        <p:strVal val="visible"/>
                                      </p:to>
                                    </p:set>
                                    <p:animEffect transition="in" filter="fade">
                                      <p:cBhvr>
                                        <p:cTn id="16" dur="1000"/>
                                        <p:tgtEl>
                                          <p:spTgt spid="27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9"/>
                                        </p:tgtEl>
                                        <p:attrNameLst>
                                          <p:attrName>style.visibility</p:attrName>
                                        </p:attrNameLst>
                                      </p:cBhvr>
                                      <p:to>
                                        <p:strVal val="visible"/>
                                      </p:to>
                                    </p:set>
                                    <p:animEffect transition="in" filter="fade">
                                      <p:cBhvr>
                                        <p:cTn id="21" dur="1000"/>
                                        <p:tgtEl>
                                          <p:spTgt spid="269"/>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270"/>
                                        </p:tgtEl>
                                        <p:attrNameLst>
                                          <p:attrName>style.visibility</p:attrName>
                                        </p:attrNameLst>
                                      </p:cBhvr>
                                      <p:to>
                                        <p:strVal val="visible"/>
                                      </p:to>
                                    </p:set>
                                    <p:animEffect transition="in" filter="fade">
                                      <p:cBhvr>
                                        <p:cTn id="25" dur="1000"/>
                                        <p:tgtEl>
                                          <p:spTgt spid="27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73"/>
                                        </p:tgtEl>
                                        <p:attrNameLst>
                                          <p:attrName>style.visibility</p:attrName>
                                        </p:attrNameLst>
                                      </p:cBhvr>
                                      <p:to>
                                        <p:strVal val="visible"/>
                                      </p:to>
                                    </p:set>
                                    <p:animEffect transition="in" filter="fade">
                                      <p:cBhvr>
                                        <p:cTn id="30" dur="1000"/>
                                        <p:tgtEl>
                                          <p:spTgt spid="273"/>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275"/>
                                        </p:tgtEl>
                                        <p:attrNameLst>
                                          <p:attrName>style.visibility</p:attrName>
                                        </p:attrNameLst>
                                      </p:cBhvr>
                                      <p:to>
                                        <p:strVal val="visible"/>
                                      </p:to>
                                    </p:set>
                                    <p:animEffect transition="in" filter="fade">
                                      <p:cBhvr>
                                        <p:cTn id="34" dur="1000"/>
                                        <p:tgtEl>
                                          <p:spTgt spid="27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8"/>
                                        </p:tgtEl>
                                        <p:attrNameLst>
                                          <p:attrName>style.visibility</p:attrName>
                                        </p:attrNameLst>
                                      </p:cBhvr>
                                      <p:to>
                                        <p:strVal val="visible"/>
                                      </p:to>
                                    </p:set>
                                    <p:animEffect transition="in" filter="fade">
                                      <p:cBhvr>
                                        <p:cTn id="39" dur="1000"/>
                                        <p:tgtEl>
                                          <p:spTgt spid="278"/>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279"/>
                                        </p:tgtEl>
                                        <p:attrNameLst>
                                          <p:attrName>style.visibility</p:attrName>
                                        </p:attrNameLst>
                                      </p:cBhvr>
                                      <p:to>
                                        <p:strVal val="visible"/>
                                      </p:to>
                                    </p:set>
                                    <p:animEffect transition="in" filter="fade">
                                      <p:cBhvr>
                                        <p:cTn id="43" dur="1000"/>
                                        <p:tgtEl>
                                          <p:spTgt spid="27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87"/>
                                        </p:tgtEl>
                                        <p:attrNameLst>
                                          <p:attrName>style.visibility</p:attrName>
                                        </p:attrNameLst>
                                      </p:cBhvr>
                                      <p:to>
                                        <p:strVal val="visible"/>
                                      </p:to>
                                    </p:set>
                                    <p:animEffect transition="in" filter="fade">
                                      <p:cBhvr>
                                        <p:cTn id="48" dur="1000"/>
                                        <p:tgtEl>
                                          <p:spTgt spid="287"/>
                                        </p:tgtEl>
                                      </p:cBhvr>
                                    </p:animEffect>
                                  </p:childTnLst>
                                </p:cTn>
                              </p:par>
                            </p:childTnLst>
                          </p:cTn>
                        </p:par>
                        <p:par>
                          <p:cTn id="49" fill="hold">
                            <p:stCondLst>
                              <p:cond delay="1000"/>
                            </p:stCondLst>
                            <p:childTnLst>
                              <p:par>
                                <p:cTn id="50" presetID="1" presetClass="entr" presetSubtype="0" fill="hold" nodeType="afterEffect">
                                  <p:stCondLst>
                                    <p:cond delay="0"/>
                                  </p:stCondLst>
                                  <p:childTnLst>
                                    <p:set>
                                      <p:cBhvr>
                                        <p:cTn id="51" dur="1" fill="hold">
                                          <p:stCondLst>
                                            <p:cond delay="0"/>
                                          </p:stCondLst>
                                        </p:cTn>
                                        <p:tgtEl>
                                          <p:spTgt spid="28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82"/>
                                        </p:tgtEl>
                                        <p:attrNameLst>
                                          <p:attrName>style.visibility</p:attrName>
                                        </p:attrNameLst>
                                      </p:cBhvr>
                                      <p:to>
                                        <p:strVal val="visible"/>
                                      </p:to>
                                    </p:set>
                                    <p:animEffect transition="in" filter="fade">
                                      <p:cBhvr>
                                        <p:cTn id="56" dur="1000"/>
                                        <p:tgtEl>
                                          <p:spTgt spid="282"/>
                                        </p:tgtEl>
                                      </p:cBhvr>
                                    </p:animEffect>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283"/>
                                        </p:tgtEl>
                                        <p:attrNameLst>
                                          <p:attrName>style.visibility</p:attrName>
                                        </p:attrNameLst>
                                      </p:cBhvr>
                                      <p:to>
                                        <p:strVal val="visible"/>
                                      </p:to>
                                    </p:set>
                                    <p:animEffect transition="in" filter="fade">
                                      <p:cBhvr>
                                        <p:cTn id="60" dur="1000"/>
                                        <p:tgtEl>
                                          <p:spTgt spid="283"/>
                                        </p:tgtEl>
                                      </p:cBhvr>
                                    </p:animEffect>
                                  </p:childTnLst>
                                </p:cTn>
                              </p:par>
                            </p:childTnLst>
                          </p:cTn>
                        </p:par>
                        <p:par>
                          <p:cTn id="61" fill="hold">
                            <p:stCondLst>
                              <p:cond delay="2000"/>
                            </p:stCondLst>
                            <p:childTnLst>
                              <p:par>
                                <p:cTn id="62" presetID="10" presetClass="entr" presetSubtype="0" fill="hold" nodeType="afterEffect">
                                  <p:stCondLst>
                                    <p:cond delay="0"/>
                                  </p:stCondLst>
                                  <p:childTnLst>
                                    <p:set>
                                      <p:cBhvr>
                                        <p:cTn id="63" dur="1" fill="hold">
                                          <p:stCondLst>
                                            <p:cond delay="0"/>
                                          </p:stCondLst>
                                        </p:cTn>
                                        <p:tgtEl>
                                          <p:spTgt spid="284"/>
                                        </p:tgtEl>
                                        <p:attrNameLst>
                                          <p:attrName>style.visibility</p:attrName>
                                        </p:attrNameLst>
                                      </p:cBhvr>
                                      <p:to>
                                        <p:strVal val="visible"/>
                                      </p:to>
                                    </p:set>
                                    <p:animEffect transition="in" filter="fade">
                                      <p:cBhvr>
                                        <p:cTn id="64" dur="1000"/>
                                        <p:tgtEl>
                                          <p:spTgt spid="284"/>
                                        </p:tgtEl>
                                      </p:cBhvr>
                                    </p:animEffect>
                                  </p:childTnLst>
                                </p:cTn>
                              </p:par>
                            </p:childTnLst>
                          </p:cTn>
                        </p:par>
                        <p:par>
                          <p:cTn id="65" fill="hold">
                            <p:stCondLst>
                              <p:cond delay="3000"/>
                            </p:stCondLst>
                            <p:childTnLst>
                              <p:par>
                                <p:cTn id="66" presetID="10" presetClass="entr" presetSubtype="0" fill="hold" nodeType="afterEffect">
                                  <p:stCondLst>
                                    <p:cond delay="0"/>
                                  </p:stCondLst>
                                  <p:childTnLst>
                                    <p:set>
                                      <p:cBhvr>
                                        <p:cTn id="67" dur="1" fill="hold">
                                          <p:stCondLst>
                                            <p:cond delay="0"/>
                                          </p:stCondLst>
                                        </p:cTn>
                                        <p:tgtEl>
                                          <p:spTgt spid="289"/>
                                        </p:tgtEl>
                                        <p:attrNameLst>
                                          <p:attrName>style.visibility</p:attrName>
                                        </p:attrNameLst>
                                      </p:cBhvr>
                                      <p:to>
                                        <p:strVal val="visible"/>
                                      </p:to>
                                    </p:set>
                                    <p:animEffect transition="in" filter="fade">
                                      <p:cBhvr>
                                        <p:cTn id="68" dur="1000"/>
                                        <p:tgtEl>
                                          <p:spTgt spid="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7"/>
          <p:cNvSpPr txBox="1">
            <a:spLocks noGrp="1"/>
          </p:cNvSpPr>
          <p:nvPr>
            <p:ph type="title"/>
          </p:nvPr>
        </p:nvSpPr>
        <p:spPr>
          <a:xfrm>
            <a:off x="311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When To Use Them?</a:t>
            </a:r>
            <a:endParaRPr/>
          </a:p>
        </p:txBody>
      </p:sp>
      <p:sp>
        <p:nvSpPr>
          <p:cNvPr id="295" name="Google Shape;29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296" name="Google Shape;296;p37"/>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Now that we've seen we can write multiple classes inside a single file, the initial temptation might be to put everything in one file</a:t>
            </a:r>
            <a:endParaRPr dirty="0"/>
          </a:p>
          <a:p>
            <a:pPr marL="457200" lvl="0" indent="-311150" algn="l" rtl="0">
              <a:spcBef>
                <a:spcPts val="1000"/>
              </a:spcBef>
              <a:spcAft>
                <a:spcPts val="0"/>
              </a:spcAft>
              <a:buClr>
                <a:srgbClr val="FF0000"/>
              </a:buClr>
              <a:buSzPts val="1300"/>
              <a:buChar char="●"/>
            </a:pPr>
            <a:r>
              <a:rPr lang="en" b="1" dirty="0">
                <a:solidFill>
                  <a:srgbClr val="FF0000"/>
                </a:solidFill>
              </a:rPr>
              <a:t>Avoid this temptation</a:t>
            </a:r>
            <a:endParaRPr b="1" dirty="0">
              <a:solidFill>
                <a:srgbClr val="FF0000"/>
              </a:solidFill>
            </a:endParaRPr>
          </a:p>
          <a:p>
            <a:pPr marL="457200" lvl="0" indent="-311150" algn="l" rtl="0">
              <a:spcBef>
                <a:spcPts val="1000"/>
              </a:spcBef>
              <a:spcAft>
                <a:spcPts val="0"/>
              </a:spcAft>
              <a:buSzPts val="1300"/>
              <a:buChar char="●"/>
            </a:pPr>
            <a:r>
              <a:rPr lang="en" dirty="0"/>
              <a:t>So when should you use inner classes?</a:t>
            </a:r>
            <a:endParaRPr dirty="0"/>
          </a:p>
          <a:p>
            <a:pPr marL="457200" lvl="0" indent="-311150" algn="l" rtl="0">
              <a:spcBef>
                <a:spcPts val="1000"/>
              </a:spcBef>
              <a:spcAft>
                <a:spcPts val="0"/>
              </a:spcAft>
              <a:buSzPts val="1300"/>
              <a:buChar char="●"/>
            </a:pPr>
            <a:r>
              <a:rPr lang="en" dirty="0">
                <a:highlight>
                  <a:srgbClr val="FFFF00"/>
                </a:highlight>
              </a:rPr>
              <a:t>The class exists only to support its outer class</a:t>
            </a:r>
            <a:endParaRPr dirty="0">
              <a:highlight>
                <a:srgbClr val="FFFF00"/>
              </a:highlight>
            </a:endParaRPr>
          </a:p>
          <a:p>
            <a:pPr marL="457200" lvl="0" indent="-311150" algn="l" rtl="0">
              <a:spcBef>
                <a:spcPts val="1000"/>
              </a:spcBef>
              <a:spcAft>
                <a:spcPts val="0"/>
              </a:spcAft>
              <a:buSzPts val="1300"/>
              <a:buChar char="●"/>
            </a:pPr>
            <a:r>
              <a:rPr lang="en" dirty="0">
                <a:highlight>
                  <a:srgbClr val="FFFF00"/>
                </a:highlight>
              </a:rPr>
              <a:t>The inner class needs direct access to the outer class's members</a:t>
            </a:r>
            <a:endParaRPr dirty="0">
              <a:highlight>
                <a:srgbClr val="FFFF00"/>
              </a:highlight>
            </a:endParaRPr>
          </a:p>
          <a:p>
            <a:pPr marL="457200" lvl="0" indent="-311150" algn="l" rtl="0">
              <a:spcBef>
                <a:spcPts val="1000"/>
              </a:spcBef>
              <a:spcAft>
                <a:spcPts val="0"/>
              </a:spcAft>
              <a:buSzPts val="1300"/>
              <a:buChar char="●"/>
            </a:pPr>
            <a:r>
              <a:rPr lang="en" dirty="0"/>
              <a:t>You want to logically group small, simple classes</a:t>
            </a:r>
            <a:endParaRPr dirty="0"/>
          </a:p>
          <a:p>
            <a:pPr marL="457200" lvl="0" indent="-311150" algn="l" rtl="0">
              <a:spcBef>
                <a:spcPts val="1000"/>
              </a:spcBef>
              <a:spcAft>
                <a:spcPts val="1000"/>
              </a:spcAft>
              <a:buSzPts val="1300"/>
              <a:buChar char="●"/>
            </a:pPr>
            <a:r>
              <a:rPr lang="en" dirty="0"/>
              <a:t>Creating one-off behaviors (though there are potentially better way for this one)</a:t>
            </a:r>
            <a:endParaRPr dirty="0"/>
          </a:p>
        </p:txBody>
      </p:sp>
      <p:sp>
        <p:nvSpPr>
          <p:cNvPr id="297" name="Google Shape;297;p37"/>
          <p:cNvSpPr txBox="1">
            <a:spLocks noGrp="1"/>
          </p:cNvSpPr>
          <p:nvPr>
            <p:ph type="body" idx="3"/>
          </p:nvPr>
        </p:nvSpPr>
        <p:spPr>
          <a:xfrm>
            <a:off x="3154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highlight>
                  <a:srgbClr val="FFFF00"/>
                </a:highlight>
              </a:rPr>
              <a:t>You should </a:t>
            </a:r>
            <a:r>
              <a:rPr lang="en" b="1" dirty="0">
                <a:solidFill>
                  <a:srgbClr val="FF0000"/>
                </a:solidFill>
                <a:highlight>
                  <a:srgbClr val="FFFF00"/>
                </a:highlight>
              </a:rPr>
              <a:t>not</a:t>
            </a:r>
            <a:r>
              <a:rPr lang="en" dirty="0">
                <a:highlight>
                  <a:srgbClr val="FFFF00"/>
                </a:highlight>
              </a:rPr>
              <a:t> use inner classes if the inner class would be large or used by multiple other classes.</a:t>
            </a:r>
            <a:endParaRPr dirty="0">
              <a:highlight>
                <a:srgbClr val="FFFF00"/>
              </a:highlight>
            </a:endParaRPr>
          </a:p>
        </p:txBody>
      </p:sp>
      <p:pic>
        <p:nvPicPr>
          <p:cNvPr id="298" name="Google Shape;298;p37"/>
          <p:cNvPicPr preferRelativeResize="0"/>
          <p:nvPr/>
        </p:nvPicPr>
        <p:blipFill rotWithShape="1">
          <a:blip r:embed="rId3">
            <a:alphaModFix/>
          </a:blip>
          <a:srcRect b="7441"/>
          <a:stretch/>
        </p:blipFill>
        <p:spPr>
          <a:xfrm>
            <a:off x="786900" y="1139013"/>
            <a:ext cx="2763550" cy="2762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Simply Star Wars Battle</a:t>
            </a:r>
            <a:endParaRPr/>
          </a:p>
        </p:txBody>
      </p:sp>
      <p:sp>
        <p:nvSpPr>
          <p:cNvPr id="304" name="Google Shape;304;p3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 the Classes Unit, we created a Star Wars Battle game (or at least part of it). Some of the classes in it were small and only used by one other class. These could be a good place to use an inner class instead of two separate classes.</a:t>
            </a:r>
            <a:endParaRPr/>
          </a:p>
        </p:txBody>
      </p:sp>
      <p:sp>
        <p:nvSpPr>
          <p:cNvPr id="305" name="Google Shape;305;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306" name="Google Shape;306;p38"/>
          <p:cNvSpPr txBox="1">
            <a:spLocks noGrp="1"/>
          </p:cNvSpPr>
          <p:nvPr>
            <p:ph type="body" idx="2"/>
          </p:nvPr>
        </p:nvSpPr>
        <p:spPr>
          <a:xfrm>
            <a:off x="3165300" y="1814150"/>
            <a:ext cx="5775900" cy="1730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 simple implementation of the game has been provided in the repo.</a:t>
            </a:r>
            <a:endParaRPr dirty="0"/>
          </a:p>
          <a:p>
            <a:pPr marL="457200" lvl="0" indent="-311150" algn="l" rtl="0">
              <a:spcBef>
                <a:spcPts val="0"/>
              </a:spcBef>
              <a:spcAft>
                <a:spcPts val="0"/>
              </a:spcAft>
              <a:buSzPts val="1300"/>
              <a:buChar char="●"/>
            </a:pPr>
            <a:r>
              <a:rPr lang="en" dirty="0"/>
              <a:t>Look through the files and consider which classes fall into the reasons for being used as an inner class:</a:t>
            </a:r>
            <a:endParaRPr dirty="0"/>
          </a:p>
          <a:p>
            <a:pPr marL="914400" lvl="1" indent="-298450" algn="l" rtl="0">
              <a:spcBef>
                <a:spcPts val="0"/>
              </a:spcBef>
              <a:spcAft>
                <a:spcPts val="0"/>
              </a:spcAft>
              <a:buSzPts val="1100"/>
              <a:buChar char="○"/>
            </a:pPr>
            <a:r>
              <a:rPr lang="en" dirty="0"/>
              <a:t>Small, used only by one other class, high coupling, etc.</a:t>
            </a:r>
            <a:endParaRPr dirty="0"/>
          </a:p>
          <a:p>
            <a:pPr marL="457200" lvl="0" indent="-311150" algn="l" rtl="0">
              <a:spcBef>
                <a:spcPts val="0"/>
              </a:spcBef>
              <a:spcAft>
                <a:spcPts val="0"/>
              </a:spcAft>
              <a:buSzPts val="1300"/>
              <a:buChar char="●"/>
            </a:pPr>
            <a:r>
              <a:rPr lang="en" dirty="0"/>
              <a:t>Refactor the </a:t>
            </a:r>
            <a:r>
              <a:rPr lang="en" dirty="0">
                <a:latin typeface="Courier New"/>
                <a:ea typeface="Courier New"/>
                <a:cs typeface="Courier New"/>
                <a:sym typeface="Courier New"/>
              </a:rPr>
              <a:t>DamageType</a:t>
            </a:r>
            <a:r>
              <a:rPr lang="en" dirty="0"/>
              <a:t> enum to be an inner class of the </a:t>
            </a:r>
            <a:r>
              <a:rPr lang="en" dirty="0">
                <a:latin typeface="Courier New"/>
                <a:ea typeface="Courier New"/>
                <a:cs typeface="Courier New"/>
                <a:sym typeface="Courier New"/>
              </a:rPr>
              <a:t>Weapon</a:t>
            </a:r>
            <a:r>
              <a:rPr lang="en" dirty="0"/>
              <a:t> class.</a:t>
            </a:r>
            <a:endParaRPr dirty="0"/>
          </a:p>
          <a:p>
            <a:pPr marL="457200" lvl="0" indent="-311150" algn="l" rtl="0">
              <a:spcBef>
                <a:spcPts val="0"/>
              </a:spcBef>
              <a:spcAft>
                <a:spcPts val="0"/>
              </a:spcAft>
              <a:buSzPts val="1300"/>
              <a:buChar char="●"/>
            </a:pPr>
            <a:r>
              <a:rPr lang="en" dirty="0"/>
              <a:t>Rerun the sample program to make sure everything still works.</a:t>
            </a:r>
            <a:endParaRPr dirty="0"/>
          </a:p>
        </p:txBody>
      </p:sp>
      <p:sp>
        <p:nvSpPr>
          <p:cNvPr id="307" name="Google Shape;307;p3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a:t>
            </a:r>
            <a:endParaRPr/>
          </a:p>
        </p:txBody>
      </p:sp>
      <p:sp>
        <p:nvSpPr>
          <p:cNvPr id="308" name="Google Shape;308;p38"/>
          <p:cNvSpPr txBox="1"/>
          <p:nvPr/>
        </p:nvSpPr>
        <p:spPr>
          <a:xfrm>
            <a:off x="346200" y="1764450"/>
            <a:ext cx="2614500" cy="32631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Outer</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70C1"/>
                </a:solidFill>
                <a:latin typeface="Consolas"/>
                <a:ea typeface="Consolas"/>
                <a:cs typeface="Consolas"/>
                <a:sym typeface="Consolas"/>
              </a:rPr>
              <a:t>x</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Outer</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x</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Inner</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Inner</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toString</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name</a:t>
            </a:r>
            <a:r>
              <a:rPr lang="en" sz="1000">
                <a:latin typeface="Consolas"/>
                <a:ea typeface="Consolas"/>
                <a:cs typeface="Consolas"/>
                <a:sym typeface="Consolas"/>
              </a:rPr>
              <a:t> + </a:t>
            </a:r>
            <a:r>
              <a:rPr lang="en" sz="1000">
                <a:solidFill>
                  <a:srgbClr val="A31515"/>
                </a:solidFill>
                <a:latin typeface="Consolas"/>
                <a:ea typeface="Consolas"/>
                <a:cs typeface="Consolas"/>
                <a:sym typeface="Consolas"/>
              </a:rPr>
              <a:t>": "</a:t>
            </a:r>
            <a:r>
              <a:rPr lang="en" sz="1000">
                <a:latin typeface="Consolas"/>
                <a:ea typeface="Consolas"/>
                <a:cs typeface="Consolas"/>
                <a:sym typeface="Consolas"/>
              </a:rPr>
              <a:t> + </a:t>
            </a:r>
            <a:r>
              <a:rPr lang="en" sz="1000">
                <a:solidFill>
                  <a:srgbClr val="0070C1"/>
                </a:solidFill>
                <a:latin typeface="Consolas"/>
                <a:ea typeface="Consolas"/>
                <a:cs typeface="Consolas"/>
                <a:sym typeface="Consolas"/>
              </a:rPr>
              <a:t>x</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latin typeface="Consolas"/>
                <a:ea typeface="Consolas"/>
                <a:cs typeface="Consolas"/>
                <a:sym typeface="Consolas"/>
              </a:rPr>
              <a:t>}</a:t>
            </a:r>
            <a:endParaRPr sz="1000">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9"/>
          <p:cNvSpPr txBox="1">
            <a:spLocks noGrp="1"/>
          </p:cNvSpPr>
          <p:nvPr>
            <p:ph type="title"/>
          </p:nvPr>
        </p:nvSpPr>
        <p:spPr>
          <a:xfrm>
            <a:off x="300800" y="352300"/>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Anonymous Classes</a:t>
            </a:r>
            <a:endParaRPr/>
          </a:p>
        </p:txBody>
      </p:sp>
      <p:sp>
        <p:nvSpPr>
          <p:cNvPr id="314" name="Google Shape;314;p39"/>
          <p:cNvSpPr txBox="1">
            <a:spLocks noGrp="1"/>
          </p:cNvSpPr>
          <p:nvPr>
            <p:ph type="body" idx="1"/>
          </p:nvPr>
        </p:nvSpPr>
        <p:spPr>
          <a:xfrm>
            <a:off x="4354850" y="97575"/>
            <a:ext cx="4590000" cy="4668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Writing classes is easy but a program can become cumbersome when creating lots of small specialized classes that are only used once.</a:t>
            </a:r>
            <a:endParaRPr dirty="0"/>
          </a:p>
          <a:p>
            <a:pPr marL="457200" lvl="0" indent="-311150" algn="l" rtl="0">
              <a:spcBef>
                <a:spcPts val="1000"/>
              </a:spcBef>
              <a:spcAft>
                <a:spcPts val="0"/>
              </a:spcAft>
              <a:buSzPts val="1300"/>
              <a:buChar char="●"/>
            </a:pPr>
            <a:r>
              <a:rPr lang="en" dirty="0">
                <a:highlight>
                  <a:srgbClr val="FFFF00"/>
                </a:highlight>
              </a:rPr>
              <a:t>To address this, Java allows on-the-fly </a:t>
            </a:r>
            <a:r>
              <a:rPr lang="en" b="1" i="1" dirty="0">
                <a:solidFill>
                  <a:srgbClr val="FF0000"/>
                </a:solidFill>
                <a:highlight>
                  <a:srgbClr val="FFFF00"/>
                </a:highlight>
              </a:rPr>
              <a:t>one-time classes</a:t>
            </a:r>
            <a:r>
              <a:rPr lang="en" dirty="0">
                <a:highlight>
                  <a:srgbClr val="FFFF00"/>
                </a:highlight>
              </a:rPr>
              <a:t> to be created inside of another class.</a:t>
            </a:r>
            <a:endParaRPr dirty="0">
              <a:highlight>
                <a:srgbClr val="FFFF00"/>
              </a:highlight>
            </a:endParaRPr>
          </a:p>
          <a:p>
            <a:pPr marL="457200" lvl="0" indent="-311150" algn="l" rtl="0">
              <a:spcBef>
                <a:spcPts val="1000"/>
              </a:spcBef>
              <a:spcAft>
                <a:spcPts val="0"/>
              </a:spcAft>
              <a:buSzPts val="1300"/>
              <a:buChar char="●"/>
            </a:pPr>
            <a:r>
              <a:rPr lang="en" dirty="0"/>
              <a:t>These classes are called </a:t>
            </a:r>
            <a:r>
              <a:rPr lang="en" b="1" i="1" dirty="0">
                <a:solidFill>
                  <a:srgbClr val="FF0000"/>
                </a:solidFill>
                <a:highlight>
                  <a:srgbClr val="FFFF00"/>
                </a:highlight>
              </a:rPr>
              <a:t>anonymous classes</a:t>
            </a:r>
            <a:r>
              <a:rPr lang="en" dirty="0">
                <a:highlight>
                  <a:srgbClr val="FFFF00"/>
                </a:highlight>
              </a:rPr>
              <a:t> because they are not given a name.</a:t>
            </a:r>
            <a:endParaRPr dirty="0">
              <a:highlight>
                <a:srgbClr val="FFFF00"/>
              </a:highlight>
            </a:endParaRPr>
          </a:p>
          <a:p>
            <a:pPr marL="457200" lvl="0" indent="-311150" algn="l" rtl="0">
              <a:spcBef>
                <a:spcPts val="1000"/>
              </a:spcBef>
              <a:spcAft>
                <a:spcPts val="0"/>
              </a:spcAft>
              <a:buSzPts val="1300"/>
              <a:buChar char="●"/>
            </a:pPr>
            <a:r>
              <a:rPr lang="en" dirty="0"/>
              <a:t>When declaring a new anonymous class, a </a:t>
            </a:r>
            <a:r>
              <a:rPr lang="en" b="1" i="1" dirty="0">
                <a:solidFill>
                  <a:srgbClr val="FF0000"/>
                </a:solidFill>
                <a:highlight>
                  <a:srgbClr val="FFFF00"/>
                </a:highlight>
              </a:rPr>
              <a:t>base class</a:t>
            </a:r>
            <a:r>
              <a:rPr lang="en" dirty="0">
                <a:highlight>
                  <a:srgbClr val="FFFF00"/>
                </a:highlight>
              </a:rPr>
              <a:t> or </a:t>
            </a:r>
            <a:r>
              <a:rPr lang="en" b="1" i="1" dirty="0">
                <a:solidFill>
                  <a:srgbClr val="FF0000"/>
                </a:solidFill>
                <a:highlight>
                  <a:srgbClr val="FFFF00"/>
                </a:highlight>
              </a:rPr>
              <a:t>interface</a:t>
            </a:r>
            <a:r>
              <a:rPr lang="en" dirty="0">
                <a:highlight>
                  <a:srgbClr val="FFFF00"/>
                </a:highlight>
              </a:rPr>
              <a:t> must be specified, then any necessary additions or customizations can be added to a </a:t>
            </a:r>
            <a:r>
              <a:rPr lang="en" b="1" i="1" dirty="0">
                <a:solidFill>
                  <a:srgbClr val="FF0000"/>
                </a:solidFill>
                <a:highlight>
                  <a:srgbClr val="FFFF00"/>
                </a:highlight>
              </a:rPr>
              <a:t>one-time </a:t>
            </a:r>
            <a:r>
              <a:rPr lang="en" dirty="0">
                <a:highlight>
                  <a:srgbClr val="FFFF00"/>
                </a:highlight>
              </a:rPr>
              <a:t>subclass instance.</a:t>
            </a:r>
            <a:endParaRPr dirty="0">
              <a:highlight>
                <a:srgbClr val="FFFF00"/>
              </a:highlight>
            </a:endParaRPr>
          </a:p>
          <a:p>
            <a:pPr marL="914400" lvl="1" indent="-298450" algn="l" rtl="0">
              <a:spcBef>
                <a:spcPts val="0"/>
              </a:spcBef>
              <a:spcAft>
                <a:spcPts val="0"/>
              </a:spcAft>
              <a:buSzPts val="1100"/>
              <a:buChar char="○"/>
            </a:pPr>
            <a:r>
              <a:rPr lang="en" dirty="0"/>
              <a:t>An anonymous class </a:t>
            </a:r>
            <a:r>
              <a:rPr lang="en" b="1" i="1" dirty="0">
                <a:solidFill>
                  <a:srgbClr val="FF0000"/>
                </a:solidFill>
              </a:rPr>
              <a:t>must</a:t>
            </a:r>
            <a:r>
              <a:rPr lang="en" dirty="0"/>
              <a:t> override any inherited abstract methods at the time of creation.</a:t>
            </a:r>
            <a:endParaRPr dirty="0"/>
          </a:p>
          <a:p>
            <a:pPr marL="914400" lvl="1" indent="-298450" algn="l" rtl="0">
              <a:spcBef>
                <a:spcPts val="0"/>
              </a:spcBef>
              <a:spcAft>
                <a:spcPts val="0"/>
              </a:spcAft>
              <a:buSzPts val="1100"/>
              <a:buChar char="○"/>
            </a:pPr>
            <a:r>
              <a:rPr lang="en" dirty="0"/>
              <a:t>An anonymous class </a:t>
            </a:r>
            <a:r>
              <a:rPr lang="en" b="1" i="1" dirty="0">
                <a:solidFill>
                  <a:srgbClr val="FF0000"/>
                </a:solidFill>
              </a:rPr>
              <a:t>may</a:t>
            </a:r>
            <a:r>
              <a:rPr lang="en" dirty="0"/>
              <a:t> override other methods as well.</a:t>
            </a:r>
            <a:endParaRPr dirty="0"/>
          </a:p>
          <a:p>
            <a:pPr marL="457200" lvl="0" indent="-311150" algn="l" rtl="0">
              <a:spcBef>
                <a:spcPts val="1000"/>
              </a:spcBef>
              <a:spcAft>
                <a:spcPts val="0"/>
              </a:spcAft>
              <a:buSzPts val="1300"/>
              <a:buChar char="●"/>
            </a:pPr>
            <a:r>
              <a:rPr lang="en" dirty="0">
                <a:highlight>
                  <a:srgbClr val="FFFF00"/>
                </a:highlight>
              </a:rPr>
              <a:t>The anonymous class will be stored in a variable of the base class type and </a:t>
            </a:r>
            <a:r>
              <a:rPr lang="en" b="1" i="1" dirty="0">
                <a:solidFill>
                  <a:srgbClr val="FF0000"/>
                </a:solidFill>
                <a:highlight>
                  <a:srgbClr val="FFFF00"/>
                </a:highlight>
              </a:rPr>
              <a:t>polymorphism </a:t>
            </a:r>
            <a:r>
              <a:rPr lang="en" dirty="0">
                <a:highlight>
                  <a:srgbClr val="FFFF00"/>
                </a:highlight>
              </a:rPr>
              <a:t>will be used to access the state and behavior.</a:t>
            </a:r>
            <a:endParaRPr dirty="0">
              <a:highlight>
                <a:srgbClr val="FFFF00"/>
              </a:highlight>
            </a:endParaRPr>
          </a:p>
        </p:txBody>
      </p:sp>
      <p:sp>
        <p:nvSpPr>
          <p:cNvPr id="315" name="Google Shape;315;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316" name="Google Shape;316;p39"/>
          <p:cNvSpPr txBox="1">
            <a:spLocks noGrp="1"/>
          </p:cNvSpPr>
          <p:nvPr>
            <p:ph type="body" idx="2"/>
          </p:nvPr>
        </p:nvSpPr>
        <p:spPr>
          <a:xfrm>
            <a:off x="252375" y="1096575"/>
            <a:ext cx="3873000" cy="2886900"/>
          </a:xfrm>
          <a:prstGeom prst="rect">
            <a:avLst/>
          </a:prstGeom>
          <a:solidFill>
            <a:srgbClr val="FFFFFF"/>
          </a:solidFill>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Constant</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c3</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solidFill>
                  <a:srgbClr val="000000"/>
                </a:solidFill>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3</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Increment</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inc</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Increment</a:t>
            </a:r>
            <a:r>
              <a:rPr lang="en" sz="1050" dirty="0">
                <a:solidFill>
                  <a:srgbClr val="000000"/>
                </a:solidFill>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c3</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Constant</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c5</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solidFill>
                  <a:srgbClr val="000000"/>
                </a:solidFill>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5</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Decrement</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Decrement</a:t>
            </a:r>
            <a:r>
              <a:rPr lang="en" sz="1050" dirty="0">
                <a:solidFill>
                  <a:srgbClr val="000000"/>
                </a:solidFill>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c5</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Subtraction</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sub</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Subtraction</a:t>
            </a:r>
            <a:r>
              <a:rPr lang="en" sz="1050" dirty="0">
                <a:solidFill>
                  <a:srgbClr val="000000"/>
                </a:solidFill>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inc</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Addition</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addition</a:t>
            </a:r>
            <a:r>
              <a:rPr lang="en" sz="1050" dirty="0">
                <a:solidFill>
                  <a:srgbClr val="000000"/>
                </a:solidFill>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solidFill>
                  <a:srgbClr val="000000"/>
                </a:solidFill>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Addition</a:t>
            </a:r>
            <a:r>
              <a:rPr lang="en" sz="1050" dirty="0">
                <a:solidFill>
                  <a:srgbClr val="000000"/>
                </a:solidFill>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sub</a:t>
            </a:r>
            <a:r>
              <a:rPr lang="en" sz="1050" dirty="0">
                <a:solidFill>
                  <a:srgbClr val="000000"/>
                </a:solidFill>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sqrt</a:t>
            </a:r>
            <a:r>
              <a:rPr lang="en" sz="1050" dirty="0">
                <a:solidFill>
                  <a:srgbClr val="000000"/>
                </a:solidFill>
                <a:highlight>
                  <a:srgbClr val="FFFFFF"/>
                </a:highlight>
                <a:latin typeface="Consolas"/>
                <a:ea typeface="Consolas"/>
                <a:cs typeface="Consolas"/>
                <a:sym typeface="Consolas"/>
              </a:rPr>
              <a:t>);</a:t>
            </a: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 What about multiplication?</a:t>
            </a:r>
            <a:endParaRPr sz="1050" dirty="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dirty="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 Or division?</a:t>
            </a:r>
            <a:endParaRPr sz="1050" dirty="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267F99"/>
                </a:solidFill>
                <a:highlight>
                  <a:srgbClr val="FFFFFF"/>
                </a:highlight>
                <a:latin typeface="Consolas"/>
                <a:ea typeface="Consolas"/>
                <a:cs typeface="Consolas"/>
                <a:sym typeface="Consolas"/>
              </a:rPr>
              <a:t>System</a:t>
            </a:r>
            <a:r>
              <a:rPr lang="en" sz="1050" dirty="0">
                <a:solidFill>
                  <a:srgbClr val="000000"/>
                </a:solidFill>
                <a:highlight>
                  <a:srgbClr val="FFFFFF"/>
                </a:highlight>
                <a:latin typeface="Consolas"/>
                <a:ea typeface="Consolas"/>
                <a:cs typeface="Consolas"/>
                <a:sym typeface="Consolas"/>
              </a:rPr>
              <a:t>.</a:t>
            </a:r>
            <a:r>
              <a:rPr lang="en" sz="1050" dirty="0">
                <a:solidFill>
                  <a:srgbClr val="0070C1"/>
                </a:solidFill>
                <a:highlight>
                  <a:srgbClr val="FFFFFF"/>
                </a:highlight>
                <a:latin typeface="Consolas"/>
                <a:ea typeface="Consolas"/>
                <a:cs typeface="Consolas"/>
                <a:sym typeface="Consolas"/>
              </a:rPr>
              <a:t>out</a:t>
            </a:r>
            <a:r>
              <a:rPr lang="en" sz="1050" dirty="0">
                <a:solidFill>
                  <a:srgbClr val="000000"/>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println</a:t>
            </a:r>
            <a:r>
              <a:rPr lang="en" sz="1050" dirty="0">
                <a:solidFill>
                  <a:srgbClr val="000000"/>
                </a:solidFill>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addition</a:t>
            </a:r>
            <a:r>
              <a:rPr lang="en" sz="1050" dirty="0">
                <a:solidFill>
                  <a:srgbClr val="000000"/>
                </a:solidFill>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evaluate</a:t>
            </a:r>
            <a:r>
              <a:rPr lang="en" sz="1050" dirty="0">
                <a:solidFill>
                  <a:srgbClr val="000000"/>
                </a:solidFill>
                <a:highlight>
                  <a:srgbClr val="FFFFFF"/>
                </a:highlight>
                <a:latin typeface="Consolas"/>
                <a:ea typeface="Consolas"/>
                <a:cs typeface="Consolas"/>
                <a:sym typeface="Consolas"/>
              </a:rPr>
              <a:t>());</a:t>
            </a:r>
            <a:endParaRPr sz="1200" dirty="0">
              <a:solidFill>
                <a:srgbClr val="267F99"/>
              </a:solidFill>
              <a:highlight>
                <a:srgbClr val="FFFFFF"/>
              </a:highlight>
              <a:latin typeface="Consolas"/>
              <a:ea typeface="Consolas"/>
              <a:cs typeface="Consolas"/>
              <a:sym typeface="Consolas"/>
            </a:endParaRPr>
          </a:p>
        </p:txBody>
      </p:sp>
      <p:sp>
        <p:nvSpPr>
          <p:cNvPr id="317" name="Google Shape;317;p39"/>
          <p:cNvSpPr txBox="1">
            <a:spLocks noGrp="1"/>
          </p:cNvSpPr>
          <p:nvPr>
            <p:ph type="body" idx="3"/>
          </p:nvPr>
        </p:nvSpPr>
        <p:spPr>
          <a:xfrm>
            <a:off x="252400" y="4089650"/>
            <a:ext cx="3873000" cy="794100"/>
          </a:xfrm>
          <a:prstGeom prst="rect">
            <a:avLst/>
          </a:prstGeom>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n"/>
              <a:t>Previously we started work on creating an expression calculator but adding simple operations can feel overly cumbersome when they are a separate class.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17"/>
                                        </p:tgtEl>
                                        <p:attrNameLst>
                                          <p:attrName>style.visibility</p:attrName>
                                        </p:attrNameLst>
                                      </p:cBhvr>
                                      <p:to>
                                        <p:strVal val="visible"/>
                                      </p:to>
                                    </p:set>
                                    <p:animEffect transition="in" filter="fade">
                                      <p:cBhvr>
                                        <p:cTn id="35" dur="1000"/>
                                        <p:tgtEl>
                                          <p:spTgt spid="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Anonymous Class Example</a:t>
            </a:r>
            <a:endParaRPr/>
          </a:p>
        </p:txBody>
      </p:sp>
      <p:sp>
        <p:nvSpPr>
          <p:cNvPr id="323" name="Google Shape;323;p40"/>
          <p:cNvSpPr txBox="1">
            <a:spLocks noGrp="1"/>
          </p:cNvSpPr>
          <p:nvPr>
            <p:ph type="sldNum" idx="12"/>
          </p:nvPr>
        </p:nvSpPr>
        <p:spPr>
          <a:xfrm>
            <a:off x="8602397"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324" name="Google Shape;324;p40"/>
          <p:cNvSpPr txBox="1"/>
          <p:nvPr/>
        </p:nvSpPr>
        <p:spPr>
          <a:xfrm>
            <a:off x="2513725" y="1549800"/>
            <a:ext cx="4116600" cy="2932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  Constant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c3</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3</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2  Increment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inc</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Increment</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c3</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3</a:t>
            </a:r>
            <a:endParaRPr sz="1050" dirty="0">
              <a:solidFill>
                <a:schemeClr val="accent5"/>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4  Constant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c5</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5</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5  Decrement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Decrement</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c5</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6</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7  Subtraction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Subtraction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inc</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8  Addition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sqrt</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9</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10</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Expression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mul</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Expression</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11</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Override</a:t>
            </a:r>
            <a:endParaRPr sz="105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12</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public</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double</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evaluate</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13</a:t>
            </a:r>
            <a:r>
              <a:rPr lang="en" sz="1050" dirty="0">
                <a:highlight>
                  <a:srgbClr val="FFFFFF"/>
                </a:highlight>
                <a:latin typeface="Consolas"/>
                <a:ea typeface="Consolas"/>
                <a:cs typeface="Consolas"/>
                <a:sym typeface="Consolas"/>
              </a:rPr>
              <a:t>       </a:t>
            </a:r>
            <a:r>
              <a:rPr lang="en" sz="1050" dirty="0">
                <a:solidFill>
                  <a:srgbClr val="AF00DB"/>
                </a:solidFill>
                <a:highlight>
                  <a:srgbClr val="FFFFFF"/>
                </a:highlight>
                <a:latin typeface="Consolas"/>
                <a:ea typeface="Consolas"/>
                <a:cs typeface="Consolas"/>
                <a:sym typeface="Consolas"/>
              </a:rPr>
              <a:t>return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 </a:t>
            </a:r>
            <a:r>
              <a:rPr lang="en" sz="1050" dirty="0">
                <a:solidFill>
                  <a:srgbClr val="001080"/>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14</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15</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16</a:t>
            </a:r>
            <a:endParaRPr sz="1050" dirty="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17 System</a:t>
            </a:r>
            <a:r>
              <a:rPr lang="en" sz="1050" dirty="0">
                <a:highlight>
                  <a:srgbClr val="FFFFFF"/>
                </a:highlight>
                <a:latin typeface="Consolas"/>
                <a:ea typeface="Consolas"/>
                <a:cs typeface="Consolas"/>
                <a:sym typeface="Consolas"/>
              </a:rPr>
              <a:t>.</a:t>
            </a:r>
            <a:r>
              <a:rPr lang="en" sz="1050" dirty="0">
                <a:solidFill>
                  <a:srgbClr val="0070C1"/>
                </a:solidFill>
                <a:highlight>
                  <a:srgbClr val="FFFFFF"/>
                </a:highlight>
                <a:latin typeface="Consolas"/>
                <a:ea typeface="Consolas"/>
                <a:cs typeface="Consolas"/>
                <a:sym typeface="Consolas"/>
              </a:rPr>
              <a:t>out</a:t>
            </a:r>
            <a:r>
              <a:rPr lang="en" sz="1050" dirty="0">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println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multiplication</a:t>
            </a:r>
            <a:r>
              <a:rPr lang="en" sz="1050" dirty="0">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evaluate</a:t>
            </a:r>
            <a:r>
              <a:rPr lang="en" sz="1050" dirty="0">
                <a:highlight>
                  <a:srgbClr val="FFFFFF"/>
                </a:highlight>
                <a:latin typeface="Consolas"/>
                <a:ea typeface="Consolas"/>
                <a:cs typeface="Consolas"/>
                <a:sym typeface="Consolas"/>
              </a:rPr>
              <a:t>());</a:t>
            </a:r>
            <a:endParaRPr sz="1000" dirty="0">
              <a:solidFill>
                <a:srgbClr val="008000"/>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Anonymous Class Example</a:t>
            </a:r>
            <a:endParaRPr/>
          </a:p>
        </p:txBody>
      </p:sp>
      <p:sp>
        <p:nvSpPr>
          <p:cNvPr id="330" name="Google Shape;330;p41"/>
          <p:cNvSpPr txBox="1">
            <a:spLocks noGrp="1"/>
          </p:cNvSpPr>
          <p:nvPr>
            <p:ph type="sldNum" idx="12"/>
          </p:nvPr>
        </p:nvSpPr>
        <p:spPr>
          <a:xfrm>
            <a:off x="8602397"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331" name="Google Shape;331;p41"/>
          <p:cNvSpPr txBox="1"/>
          <p:nvPr/>
        </p:nvSpPr>
        <p:spPr>
          <a:xfrm>
            <a:off x="2513725" y="1549800"/>
            <a:ext cx="4116600" cy="2932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  Constant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c3</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3</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2  Increment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inc</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Increment</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c3</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3</a:t>
            </a:r>
            <a:endParaRPr sz="1050" dirty="0">
              <a:solidFill>
                <a:schemeClr val="accent5"/>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4  Constant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c5</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Constant</a:t>
            </a:r>
            <a:r>
              <a:rPr lang="en" sz="1050" dirty="0">
                <a:highlight>
                  <a:srgbClr val="FFFFFF"/>
                </a:highlight>
                <a:latin typeface="Consolas"/>
                <a:ea typeface="Consolas"/>
                <a:cs typeface="Consolas"/>
                <a:sym typeface="Consolas"/>
              </a:rPr>
              <a:t>(</a:t>
            </a:r>
            <a:r>
              <a:rPr lang="en" sz="1050" dirty="0">
                <a:solidFill>
                  <a:srgbClr val="098658"/>
                </a:solidFill>
                <a:highlight>
                  <a:srgbClr val="FFFFFF"/>
                </a:highlight>
                <a:latin typeface="Consolas"/>
                <a:ea typeface="Consolas"/>
                <a:cs typeface="Consolas"/>
                <a:sym typeface="Consolas"/>
              </a:rPr>
              <a:t>5</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5  Decrement</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Decrement</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c5</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6</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7  Subtraction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Subtraction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inc</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dec</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8  Addition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sqrt</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9</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10</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Expression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mul</a:t>
            </a:r>
            <a:r>
              <a:rPr lang="en" sz="1050" dirty="0">
                <a:highlight>
                  <a:srgbClr val="FFFFFF"/>
                </a:highlight>
                <a:latin typeface="Consolas"/>
                <a:ea typeface="Consolas"/>
                <a:cs typeface="Consolas"/>
                <a:sym typeface="Consolas"/>
              </a:rPr>
              <a:t> = </a:t>
            </a:r>
            <a:r>
              <a:rPr lang="en" sz="1050" dirty="0">
                <a:solidFill>
                  <a:srgbClr val="AF00DB"/>
                </a:solidFill>
                <a:highlight>
                  <a:srgbClr val="FFFFFF"/>
                </a:highlight>
                <a:latin typeface="Consolas"/>
                <a:ea typeface="Consolas"/>
                <a:cs typeface="Consolas"/>
                <a:sym typeface="Consolas"/>
              </a:rPr>
              <a:t>new</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Expression</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11</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Override</a:t>
            </a:r>
            <a:endParaRPr sz="1050" dirty="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12</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public</a:t>
            </a:r>
            <a:r>
              <a:rPr lang="en" sz="1050" dirty="0">
                <a:highlight>
                  <a:srgbClr val="FFFFFF"/>
                </a:highlight>
                <a:latin typeface="Consolas"/>
                <a:ea typeface="Consolas"/>
                <a:cs typeface="Consolas"/>
                <a:sym typeface="Consolas"/>
              </a:rPr>
              <a:t> </a:t>
            </a:r>
            <a:r>
              <a:rPr lang="en" sz="1050" dirty="0">
                <a:solidFill>
                  <a:srgbClr val="267F99"/>
                </a:solidFill>
                <a:highlight>
                  <a:srgbClr val="FFFFFF"/>
                </a:highlight>
                <a:latin typeface="Consolas"/>
                <a:ea typeface="Consolas"/>
                <a:cs typeface="Consolas"/>
                <a:sym typeface="Consolas"/>
              </a:rPr>
              <a:t>double</a:t>
            </a:r>
            <a:r>
              <a:rPr lang="en" sz="1050" dirty="0">
                <a:highlight>
                  <a:srgbClr val="FFFFFF"/>
                </a:highlight>
                <a:latin typeface="Consolas"/>
                <a:ea typeface="Consolas"/>
                <a:cs typeface="Consolas"/>
                <a:sym typeface="Consolas"/>
              </a:rPr>
              <a:t> </a:t>
            </a:r>
            <a:r>
              <a:rPr lang="en" sz="1050" dirty="0">
                <a:solidFill>
                  <a:srgbClr val="795E26"/>
                </a:solidFill>
                <a:highlight>
                  <a:srgbClr val="FFFFFF"/>
                </a:highlight>
                <a:latin typeface="Consolas"/>
                <a:ea typeface="Consolas"/>
                <a:cs typeface="Consolas"/>
                <a:sym typeface="Consolas"/>
              </a:rPr>
              <a:t>evaluate</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13</a:t>
            </a:r>
            <a:r>
              <a:rPr lang="en" sz="1050" dirty="0">
                <a:highlight>
                  <a:srgbClr val="FFFFFF"/>
                </a:highlight>
                <a:latin typeface="Consolas"/>
                <a:ea typeface="Consolas"/>
                <a:cs typeface="Consolas"/>
                <a:sym typeface="Consolas"/>
              </a:rPr>
              <a:t>       </a:t>
            </a:r>
            <a:r>
              <a:rPr lang="en" sz="1050" dirty="0">
                <a:solidFill>
                  <a:srgbClr val="AF00DB"/>
                </a:solidFill>
                <a:highlight>
                  <a:srgbClr val="FFFFFF"/>
                </a:highlight>
                <a:latin typeface="Consolas"/>
                <a:ea typeface="Consolas"/>
                <a:cs typeface="Consolas"/>
                <a:sym typeface="Consolas"/>
              </a:rPr>
              <a:t>return</a:t>
            </a:r>
            <a:r>
              <a:rPr lang="en" sz="1050" dirty="0">
                <a:highlight>
                  <a:srgbClr val="FFFFFF"/>
                </a:highlight>
                <a:latin typeface="Consolas"/>
                <a:ea typeface="Consolas"/>
                <a:cs typeface="Consolas"/>
                <a:sym typeface="Consolas"/>
              </a:rPr>
              <a:t> </a:t>
            </a:r>
            <a:r>
              <a:rPr lang="en" sz="1050" dirty="0">
                <a:solidFill>
                  <a:srgbClr val="001080"/>
                </a:solidFill>
                <a:highlight>
                  <a:srgbClr val="FFFFFF"/>
                </a:highlight>
                <a:latin typeface="Consolas"/>
                <a:ea typeface="Consolas"/>
                <a:cs typeface="Consolas"/>
                <a:sym typeface="Consolas"/>
              </a:rPr>
              <a:t>sub</a:t>
            </a:r>
            <a:r>
              <a:rPr lang="en" sz="1050" dirty="0">
                <a:highlight>
                  <a:srgbClr val="FFFFFF"/>
                </a:highlight>
                <a:latin typeface="Consolas"/>
                <a:ea typeface="Consolas"/>
                <a:cs typeface="Consolas"/>
                <a:sym typeface="Consolas"/>
              </a:rPr>
              <a:t> * </a:t>
            </a:r>
            <a:r>
              <a:rPr lang="en" sz="1050" dirty="0">
                <a:solidFill>
                  <a:srgbClr val="001080"/>
                </a:solidFill>
                <a:highlight>
                  <a:srgbClr val="FFFFFF"/>
                </a:highlight>
                <a:latin typeface="Consolas"/>
                <a:ea typeface="Consolas"/>
                <a:cs typeface="Consolas"/>
                <a:sym typeface="Consolas"/>
              </a:rPr>
              <a:t>addition</a:t>
            </a:r>
            <a:r>
              <a:rPr lang="en" sz="1050" dirty="0">
                <a:highlight>
                  <a:srgbClr val="FFFFFF"/>
                </a:highlight>
                <a:latin typeface="Consolas"/>
                <a:ea typeface="Consolas"/>
                <a:cs typeface="Consolas"/>
                <a:sym typeface="Consolas"/>
              </a:rPr>
              <a:t>;</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14</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chemeClr val="accent5"/>
                </a:solidFill>
                <a:highlight>
                  <a:srgbClr val="FFFFFF"/>
                </a:highlight>
                <a:latin typeface="Consolas"/>
                <a:ea typeface="Consolas"/>
                <a:cs typeface="Consolas"/>
                <a:sym typeface="Consolas"/>
              </a:rPr>
              <a:t>15</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16</a:t>
            </a:r>
            <a:endParaRPr sz="1050" dirty="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dirty="0">
                <a:solidFill>
                  <a:srgbClr val="267F99"/>
                </a:solidFill>
                <a:highlight>
                  <a:srgbClr val="FFFFFF"/>
                </a:highlight>
                <a:latin typeface="Consolas"/>
                <a:ea typeface="Consolas"/>
                <a:cs typeface="Consolas"/>
                <a:sym typeface="Consolas"/>
              </a:rPr>
              <a:t>17 System</a:t>
            </a:r>
            <a:r>
              <a:rPr lang="en" sz="1050" dirty="0">
                <a:highlight>
                  <a:srgbClr val="FFFFFF"/>
                </a:highlight>
                <a:latin typeface="Consolas"/>
                <a:ea typeface="Consolas"/>
                <a:cs typeface="Consolas"/>
                <a:sym typeface="Consolas"/>
              </a:rPr>
              <a:t>.</a:t>
            </a:r>
            <a:r>
              <a:rPr lang="en" sz="1050" dirty="0">
                <a:solidFill>
                  <a:srgbClr val="0070C1"/>
                </a:solidFill>
                <a:highlight>
                  <a:srgbClr val="FFFFFF"/>
                </a:highlight>
                <a:latin typeface="Consolas"/>
                <a:ea typeface="Consolas"/>
                <a:cs typeface="Consolas"/>
                <a:sym typeface="Consolas"/>
              </a:rPr>
              <a:t>out</a:t>
            </a:r>
            <a:r>
              <a:rPr lang="en" sz="1050" dirty="0">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println</a:t>
            </a:r>
            <a:r>
              <a:rPr lang="en" sz="1050" dirty="0">
                <a:highlight>
                  <a:srgbClr val="FFFFFF"/>
                </a:highlight>
                <a:latin typeface="Consolas"/>
                <a:ea typeface="Consolas"/>
                <a:cs typeface="Consolas"/>
                <a:sym typeface="Consolas"/>
              </a:rPr>
              <a:t>(</a:t>
            </a:r>
            <a:r>
              <a:rPr lang="en" sz="1050" dirty="0">
                <a:solidFill>
                  <a:srgbClr val="001080"/>
                </a:solidFill>
                <a:highlight>
                  <a:srgbClr val="FFFFFF"/>
                </a:highlight>
                <a:latin typeface="Consolas"/>
                <a:ea typeface="Consolas"/>
                <a:cs typeface="Consolas"/>
                <a:sym typeface="Consolas"/>
              </a:rPr>
              <a:t>multiplication</a:t>
            </a:r>
            <a:r>
              <a:rPr lang="en" sz="1050" dirty="0">
                <a:highlight>
                  <a:srgbClr val="FFFFFF"/>
                </a:highlight>
                <a:latin typeface="Consolas"/>
                <a:ea typeface="Consolas"/>
                <a:cs typeface="Consolas"/>
                <a:sym typeface="Consolas"/>
              </a:rPr>
              <a:t>.</a:t>
            </a:r>
            <a:r>
              <a:rPr lang="en" sz="1050" dirty="0">
                <a:solidFill>
                  <a:srgbClr val="795E26"/>
                </a:solidFill>
                <a:highlight>
                  <a:srgbClr val="FFFFFF"/>
                </a:highlight>
                <a:latin typeface="Consolas"/>
                <a:ea typeface="Consolas"/>
                <a:cs typeface="Consolas"/>
                <a:sym typeface="Consolas"/>
              </a:rPr>
              <a:t>evaluate</a:t>
            </a:r>
            <a:r>
              <a:rPr lang="en" sz="1050" dirty="0">
                <a:highlight>
                  <a:srgbClr val="FFFFFF"/>
                </a:highlight>
                <a:latin typeface="Consolas"/>
                <a:ea typeface="Consolas"/>
                <a:cs typeface="Consolas"/>
                <a:sym typeface="Consolas"/>
              </a:rPr>
              <a:t>());</a:t>
            </a:r>
            <a:endParaRPr sz="1000" dirty="0">
              <a:solidFill>
                <a:srgbClr val="008000"/>
              </a:solidFill>
              <a:latin typeface="Consolas"/>
              <a:ea typeface="Consolas"/>
              <a:cs typeface="Consolas"/>
              <a:sym typeface="Consolas"/>
            </a:endParaRPr>
          </a:p>
        </p:txBody>
      </p:sp>
      <p:sp>
        <p:nvSpPr>
          <p:cNvPr id="332" name="Google Shape;332;p41"/>
          <p:cNvSpPr txBox="1"/>
          <p:nvPr/>
        </p:nvSpPr>
        <p:spPr>
          <a:xfrm>
            <a:off x="142375" y="1549800"/>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An </a:t>
            </a:r>
            <a:r>
              <a:rPr lang="en" sz="1100" b="1" i="1">
                <a:solidFill>
                  <a:srgbClr val="FF0000"/>
                </a:solidFill>
                <a:latin typeface="Roboto"/>
                <a:ea typeface="Roboto"/>
                <a:cs typeface="Roboto"/>
                <a:sym typeface="Roboto"/>
              </a:rPr>
              <a:t>anonymous class</a:t>
            </a:r>
            <a:r>
              <a:rPr lang="en" sz="1100">
                <a:solidFill>
                  <a:srgbClr val="FF0000"/>
                </a:solidFill>
                <a:latin typeface="Roboto"/>
                <a:ea typeface="Roboto"/>
                <a:cs typeface="Roboto"/>
                <a:sym typeface="Roboto"/>
              </a:rPr>
              <a:t> </a:t>
            </a:r>
            <a:r>
              <a:rPr lang="en" sz="1100">
                <a:latin typeface="Roboto"/>
                <a:ea typeface="Roboto"/>
                <a:cs typeface="Roboto"/>
                <a:sym typeface="Roboto"/>
              </a:rPr>
              <a:t>is created </a:t>
            </a:r>
            <a:r>
              <a:rPr lang="en" sz="1100" b="1" i="1">
                <a:solidFill>
                  <a:srgbClr val="FF0000"/>
                </a:solidFill>
                <a:latin typeface="Roboto"/>
                <a:ea typeface="Roboto"/>
                <a:cs typeface="Roboto"/>
                <a:sym typeface="Roboto"/>
              </a:rPr>
              <a:t>inline</a:t>
            </a:r>
            <a:r>
              <a:rPr lang="en" sz="1100">
                <a:solidFill>
                  <a:srgbClr val="FF0000"/>
                </a:solidFill>
                <a:latin typeface="Roboto"/>
                <a:ea typeface="Roboto"/>
                <a:cs typeface="Roboto"/>
                <a:sym typeface="Roboto"/>
              </a:rPr>
              <a:t> </a:t>
            </a:r>
            <a:r>
              <a:rPr lang="en" sz="1100">
                <a:latin typeface="Roboto"/>
                <a:ea typeface="Roboto"/>
                <a:cs typeface="Roboto"/>
                <a:sym typeface="Roboto"/>
              </a:rPr>
              <a:t>and assigned to a variable of the same type.</a:t>
            </a:r>
            <a:endParaRPr sz="1100">
              <a:latin typeface="Roboto"/>
              <a:ea typeface="Roboto"/>
              <a:cs typeface="Roboto"/>
              <a:sym typeface="Roboto"/>
            </a:endParaRPr>
          </a:p>
        </p:txBody>
      </p:sp>
      <p:grpSp>
        <p:nvGrpSpPr>
          <p:cNvPr id="333" name="Google Shape;333;p41"/>
          <p:cNvGrpSpPr/>
          <p:nvPr/>
        </p:nvGrpSpPr>
        <p:grpSpPr>
          <a:xfrm>
            <a:off x="2425675" y="1896150"/>
            <a:ext cx="3971988" cy="2179425"/>
            <a:chOff x="2489262" y="1189625"/>
            <a:chExt cx="3971988" cy="2179425"/>
          </a:xfrm>
        </p:grpSpPr>
        <p:sp>
          <p:nvSpPr>
            <p:cNvPr id="334" name="Google Shape;334;p41"/>
            <p:cNvSpPr/>
            <p:nvPr/>
          </p:nvSpPr>
          <p:spPr>
            <a:xfrm>
              <a:off x="2830050" y="2373350"/>
              <a:ext cx="3631200" cy="995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5" name="Google Shape;335;p41"/>
            <p:cNvCxnSpPr>
              <a:stCxn id="332" idx="3"/>
              <a:endCxn id="334" idx="0"/>
            </p:cNvCxnSpPr>
            <p:nvPr/>
          </p:nvCxnSpPr>
          <p:spPr>
            <a:xfrm>
              <a:off x="2489262" y="1189625"/>
              <a:ext cx="2156400" cy="1183800"/>
            </a:xfrm>
            <a:prstGeom prst="bentConnector2">
              <a:avLst/>
            </a:prstGeom>
            <a:noFill/>
            <a:ln w="19050" cap="flat" cmpd="sng">
              <a:solidFill>
                <a:srgbClr val="FF0000"/>
              </a:solidFill>
              <a:prstDash val="solid"/>
              <a:round/>
              <a:headEnd type="none" w="med" len="med"/>
              <a:tailEnd type="none" w="med" len="med"/>
            </a:ln>
          </p:spPr>
        </p:cxnSp>
      </p:grpSp>
      <p:sp>
        <p:nvSpPr>
          <p:cNvPr id="336" name="Google Shape;336;p41"/>
          <p:cNvSpPr txBox="1"/>
          <p:nvPr/>
        </p:nvSpPr>
        <p:spPr>
          <a:xfrm>
            <a:off x="142250" y="2355713"/>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a:solidFill>
                  <a:srgbClr val="FF0000"/>
                </a:solidFill>
                <a:latin typeface="Courier New"/>
                <a:ea typeface="Courier New"/>
                <a:cs typeface="Courier New"/>
                <a:sym typeface="Courier New"/>
              </a:rPr>
              <a:t>new</a:t>
            </a:r>
            <a:r>
              <a:rPr lang="en" sz="1100">
                <a:latin typeface="Roboto"/>
                <a:ea typeface="Roboto"/>
                <a:cs typeface="Roboto"/>
                <a:sym typeface="Roboto"/>
              </a:rPr>
              <a:t> operator is used to create the new instance and can even be used with interfaces!</a:t>
            </a:r>
            <a:endParaRPr sz="1100">
              <a:latin typeface="Roboto"/>
              <a:ea typeface="Roboto"/>
              <a:cs typeface="Roboto"/>
              <a:sym typeface="Roboto"/>
            </a:endParaRPr>
          </a:p>
        </p:txBody>
      </p:sp>
      <p:sp>
        <p:nvSpPr>
          <p:cNvPr id="337" name="Google Shape;337;p41"/>
          <p:cNvSpPr txBox="1"/>
          <p:nvPr/>
        </p:nvSpPr>
        <p:spPr>
          <a:xfrm>
            <a:off x="142250" y="3161638"/>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i="1">
                <a:solidFill>
                  <a:srgbClr val="FF0000"/>
                </a:solidFill>
                <a:latin typeface="Roboto"/>
                <a:ea typeface="Roboto"/>
                <a:cs typeface="Roboto"/>
                <a:sym typeface="Roboto"/>
              </a:rPr>
              <a:t>brand new</a:t>
            </a:r>
            <a:r>
              <a:rPr lang="en" sz="1100">
                <a:latin typeface="Roboto"/>
                <a:ea typeface="Roboto"/>
                <a:cs typeface="Roboto"/>
                <a:sym typeface="Roboto"/>
              </a:rPr>
              <a:t>, </a:t>
            </a:r>
            <a:r>
              <a:rPr lang="en" sz="1100" b="1" i="1">
                <a:solidFill>
                  <a:srgbClr val="FF0000"/>
                </a:solidFill>
                <a:latin typeface="Roboto"/>
                <a:ea typeface="Roboto"/>
                <a:cs typeface="Roboto"/>
                <a:sym typeface="Roboto"/>
              </a:rPr>
              <a:t>single-use class</a:t>
            </a:r>
            <a:r>
              <a:rPr lang="en" sz="1100">
                <a:latin typeface="Roboto"/>
                <a:ea typeface="Roboto"/>
                <a:cs typeface="Roboto"/>
                <a:sym typeface="Roboto"/>
              </a:rPr>
              <a:t> is created that extends or implements the specified type.</a:t>
            </a:r>
            <a:endParaRPr sz="1100">
              <a:latin typeface="Roboto"/>
              <a:ea typeface="Roboto"/>
              <a:cs typeface="Roboto"/>
              <a:sym typeface="Roboto"/>
            </a:endParaRPr>
          </a:p>
        </p:txBody>
      </p:sp>
      <p:sp>
        <p:nvSpPr>
          <p:cNvPr id="338" name="Google Shape;338;p41"/>
          <p:cNvSpPr txBox="1"/>
          <p:nvPr/>
        </p:nvSpPr>
        <p:spPr>
          <a:xfrm>
            <a:off x="6718375" y="1527325"/>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new class </a:t>
            </a:r>
            <a:r>
              <a:rPr lang="en" sz="1100" b="1" i="1">
                <a:solidFill>
                  <a:srgbClr val="FF0000"/>
                </a:solidFill>
                <a:latin typeface="Roboto"/>
                <a:ea typeface="Roboto"/>
                <a:cs typeface="Roboto"/>
                <a:sym typeface="Roboto"/>
              </a:rPr>
              <a:t>must</a:t>
            </a:r>
            <a:r>
              <a:rPr lang="en" sz="1100">
                <a:solidFill>
                  <a:srgbClr val="FF0000"/>
                </a:solidFill>
                <a:latin typeface="Roboto"/>
                <a:ea typeface="Roboto"/>
                <a:cs typeface="Roboto"/>
                <a:sym typeface="Roboto"/>
              </a:rPr>
              <a:t> </a:t>
            </a:r>
            <a:r>
              <a:rPr lang="en" sz="1100">
                <a:latin typeface="Roboto"/>
                <a:ea typeface="Roboto"/>
                <a:cs typeface="Roboto"/>
                <a:sym typeface="Roboto"/>
              </a:rPr>
              <a:t>override any inherited abstract methods.</a:t>
            </a:r>
            <a:endParaRPr sz="1100">
              <a:latin typeface="Roboto"/>
              <a:ea typeface="Roboto"/>
              <a:cs typeface="Roboto"/>
              <a:sym typeface="Roboto"/>
            </a:endParaRPr>
          </a:p>
        </p:txBody>
      </p:sp>
      <p:sp>
        <p:nvSpPr>
          <p:cNvPr id="339" name="Google Shape;339;p41"/>
          <p:cNvSpPr txBox="1"/>
          <p:nvPr/>
        </p:nvSpPr>
        <p:spPr>
          <a:xfrm>
            <a:off x="6718375" y="2201650"/>
            <a:ext cx="22833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The new class </a:t>
            </a:r>
            <a:r>
              <a:rPr lang="en" sz="1100" b="1" i="1" dirty="0">
                <a:solidFill>
                  <a:srgbClr val="FF0000"/>
                </a:solidFill>
                <a:latin typeface="Roboto"/>
                <a:ea typeface="Roboto"/>
                <a:cs typeface="Roboto"/>
                <a:sym typeface="Roboto"/>
              </a:rPr>
              <a:t>may </a:t>
            </a:r>
            <a:r>
              <a:rPr lang="en" sz="1100" dirty="0">
                <a:latin typeface="Roboto"/>
                <a:ea typeface="Roboto"/>
                <a:cs typeface="Roboto"/>
                <a:sym typeface="Roboto"/>
              </a:rPr>
              <a:t>override other inherited methods, declare its own fields and methods, and so on.</a:t>
            </a:r>
            <a:endParaRPr sz="1100" dirty="0">
              <a:latin typeface="Roboto"/>
              <a:ea typeface="Roboto"/>
              <a:cs typeface="Roboto"/>
              <a:sym typeface="Roboto"/>
            </a:endParaRPr>
          </a:p>
        </p:txBody>
      </p:sp>
      <p:sp>
        <p:nvSpPr>
          <p:cNvPr id="340" name="Google Shape;340;p41"/>
          <p:cNvSpPr txBox="1"/>
          <p:nvPr/>
        </p:nvSpPr>
        <p:spPr>
          <a:xfrm>
            <a:off x="142250" y="3951000"/>
            <a:ext cx="22833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Anonymous classes are useful if they are needed in only </a:t>
            </a:r>
            <a:r>
              <a:rPr lang="en" sz="1100" b="1" i="1">
                <a:solidFill>
                  <a:srgbClr val="FF0000"/>
                </a:solidFill>
                <a:latin typeface="Roboto"/>
                <a:ea typeface="Roboto"/>
                <a:cs typeface="Roboto"/>
                <a:sym typeface="Roboto"/>
              </a:rPr>
              <a:t>one place</a:t>
            </a:r>
            <a:r>
              <a:rPr lang="en" sz="1100">
                <a:latin typeface="Roboto"/>
                <a:ea typeface="Roboto"/>
                <a:cs typeface="Roboto"/>
                <a:sym typeface="Roboto"/>
              </a:rPr>
              <a:t> in the program and they contain a </a:t>
            </a:r>
            <a:r>
              <a:rPr lang="en" sz="1100" b="1" i="1">
                <a:solidFill>
                  <a:srgbClr val="FF0000"/>
                </a:solidFill>
                <a:latin typeface="Roboto"/>
                <a:ea typeface="Roboto"/>
                <a:cs typeface="Roboto"/>
                <a:sym typeface="Roboto"/>
              </a:rPr>
              <a:t>small amount of code</a:t>
            </a:r>
            <a:r>
              <a:rPr lang="en" sz="1100">
                <a:latin typeface="Roboto"/>
                <a:ea typeface="Roboto"/>
                <a:cs typeface="Roboto"/>
                <a:sym typeface="Roboto"/>
              </a:rPr>
              <a:t>.</a:t>
            </a:r>
            <a:endParaRPr sz="1100">
              <a:latin typeface="Roboto"/>
              <a:ea typeface="Roboto"/>
              <a:cs typeface="Roboto"/>
              <a:sym typeface="Roboto"/>
            </a:endParaRPr>
          </a:p>
        </p:txBody>
      </p:sp>
      <p:sp>
        <p:nvSpPr>
          <p:cNvPr id="341" name="Google Shape;341;p41"/>
          <p:cNvSpPr txBox="1"/>
          <p:nvPr/>
        </p:nvSpPr>
        <p:spPr>
          <a:xfrm>
            <a:off x="6718500" y="3214675"/>
            <a:ext cx="2283300" cy="1031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Anonymous classes should be avoided if the code inside the class is long or complicated - consider using an inner class instead.</a:t>
            </a:r>
            <a:endParaRPr sz="11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2"/>
                                        </p:tgtEl>
                                        <p:attrNameLst>
                                          <p:attrName>style.visibility</p:attrName>
                                        </p:attrNameLst>
                                      </p:cBhvr>
                                      <p:to>
                                        <p:strVal val="visible"/>
                                      </p:to>
                                    </p:set>
                                    <p:animEffect transition="in" filter="fade">
                                      <p:cBhvr>
                                        <p:cTn id="7" dur="1000"/>
                                        <p:tgtEl>
                                          <p:spTgt spid="33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33"/>
                                        </p:tgtEl>
                                        <p:attrNameLst>
                                          <p:attrName>style.visibility</p:attrName>
                                        </p:attrNameLst>
                                      </p:cBhvr>
                                      <p:to>
                                        <p:strVal val="visible"/>
                                      </p:to>
                                    </p:set>
                                    <p:animEffect transition="in" filter="fade">
                                      <p:cBhvr>
                                        <p:cTn id="11" dur="1000"/>
                                        <p:tgtEl>
                                          <p:spTgt spid="33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36"/>
                                        </p:tgtEl>
                                        <p:attrNameLst>
                                          <p:attrName>style.visibility</p:attrName>
                                        </p:attrNameLst>
                                      </p:cBhvr>
                                      <p:to>
                                        <p:strVal val="visible"/>
                                      </p:to>
                                    </p:set>
                                    <p:animEffect transition="in" filter="fade">
                                      <p:cBhvr>
                                        <p:cTn id="16" dur="1000"/>
                                        <p:tgtEl>
                                          <p:spTgt spid="33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37"/>
                                        </p:tgtEl>
                                        <p:attrNameLst>
                                          <p:attrName>style.visibility</p:attrName>
                                        </p:attrNameLst>
                                      </p:cBhvr>
                                      <p:to>
                                        <p:strVal val="visible"/>
                                      </p:to>
                                    </p:set>
                                    <p:animEffect transition="in" filter="fade">
                                      <p:cBhvr>
                                        <p:cTn id="21" dur="1000"/>
                                        <p:tgtEl>
                                          <p:spTgt spid="33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40"/>
                                        </p:tgtEl>
                                        <p:attrNameLst>
                                          <p:attrName>style.visibility</p:attrName>
                                        </p:attrNameLst>
                                      </p:cBhvr>
                                      <p:to>
                                        <p:strVal val="visible"/>
                                      </p:to>
                                    </p:set>
                                    <p:animEffect transition="in" filter="fade">
                                      <p:cBhvr>
                                        <p:cTn id="26" dur="1000"/>
                                        <p:tgtEl>
                                          <p:spTgt spid="34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38"/>
                                        </p:tgtEl>
                                        <p:attrNameLst>
                                          <p:attrName>style.visibility</p:attrName>
                                        </p:attrNameLst>
                                      </p:cBhvr>
                                      <p:to>
                                        <p:strVal val="visible"/>
                                      </p:to>
                                    </p:set>
                                    <p:animEffect transition="in" filter="fade">
                                      <p:cBhvr>
                                        <p:cTn id="31" dur="1000"/>
                                        <p:tgtEl>
                                          <p:spTgt spid="33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39"/>
                                        </p:tgtEl>
                                        <p:attrNameLst>
                                          <p:attrName>style.visibility</p:attrName>
                                        </p:attrNameLst>
                                      </p:cBhvr>
                                      <p:to>
                                        <p:strVal val="visible"/>
                                      </p:to>
                                    </p:set>
                                    <p:animEffect transition="in" filter="fade">
                                      <p:cBhvr>
                                        <p:cTn id="36" dur="1000"/>
                                        <p:tgtEl>
                                          <p:spTgt spid="33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41"/>
                                        </p:tgtEl>
                                        <p:attrNameLst>
                                          <p:attrName>style.visibility</p:attrName>
                                        </p:attrNameLst>
                                      </p:cBhvr>
                                      <p:to>
                                        <p:strVal val="visible"/>
                                      </p:to>
                                    </p:set>
                                    <p:animEffect transition="in" filter="fade">
                                      <p:cBhvr>
                                        <p:cTn id="41" dur="1000"/>
                                        <p:tgtEl>
                                          <p:spTgt spid="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Shape Class</a:t>
            </a:r>
            <a:endParaRPr/>
          </a:p>
        </p:txBody>
      </p:sp>
      <p:sp>
        <p:nvSpPr>
          <p:cNvPr id="347" name="Google Shape;347;p42"/>
          <p:cNvSpPr txBox="1">
            <a:spLocks noGrp="1"/>
          </p:cNvSpPr>
          <p:nvPr>
            <p:ph type="body" idx="1"/>
          </p:nvPr>
        </p:nvSpPr>
        <p:spPr>
          <a:xfrm>
            <a:off x="65250" y="655425"/>
            <a:ext cx="8955900" cy="6771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Shapes are a common inheritance example which involve small operations. This makes them a perfect illustration for anonymous classes.</a:t>
            </a:r>
            <a:endParaRPr/>
          </a:p>
        </p:txBody>
      </p:sp>
      <p:sp>
        <p:nvSpPr>
          <p:cNvPr id="348" name="Google Shape;348;p42"/>
          <p:cNvSpPr txBox="1">
            <a:spLocks noGrp="1"/>
          </p:cNvSpPr>
          <p:nvPr>
            <p:ph type="sldNum" idx="12"/>
          </p:nvPr>
        </p:nvSpPr>
        <p:spPr>
          <a:xfrm>
            <a:off x="8578605"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349" name="Google Shape;349;p42"/>
          <p:cNvSpPr txBox="1">
            <a:spLocks noGrp="1"/>
          </p:cNvSpPr>
          <p:nvPr>
            <p:ph type="body" idx="2"/>
          </p:nvPr>
        </p:nvSpPr>
        <p:spPr>
          <a:xfrm>
            <a:off x="3750925" y="1585550"/>
            <a:ext cx="5166000" cy="1385400"/>
          </a:xfrm>
          <a:prstGeom prst="rect">
            <a:avLst/>
          </a:prstGeom>
        </p:spPr>
        <p:txBody>
          <a:bodyPr spcFirstLastPara="1" wrap="square" lIns="91425" tIns="91425" rIns="91425" bIns="91425" anchor="t" anchorCtr="0">
            <a:spAutoFit/>
          </a:bodyPr>
          <a:lstStyle/>
          <a:p>
            <a:pPr marL="457200" lvl="0" indent="-311150" algn="l" rtl="0">
              <a:lnSpc>
                <a:spcPct val="125000"/>
              </a:lnSpc>
              <a:spcBef>
                <a:spcPts val="0"/>
              </a:spcBef>
              <a:spcAft>
                <a:spcPts val="0"/>
              </a:spcAft>
              <a:buSzPts val="1300"/>
              <a:buChar char="●"/>
            </a:pPr>
            <a:r>
              <a:rPr lang="en" dirty="0"/>
              <a:t>Start by creating a new file for the </a:t>
            </a:r>
            <a:r>
              <a:rPr lang="en" dirty="0">
                <a:solidFill>
                  <a:srgbClr val="FF0000"/>
                </a:solidFill>
                <a:latin typeface="Courier New"/>
                <a:ea typeface="Courier New"/>
                <a:cs typeface="Courier New"/>
                <a:sym typeface="Courier New"/>
              </a:rPr>
              <a:t>Shape</a:t>
            </a:r>
            <a:r>
              <a:rPr lang="en" dirty="0">
                <a:solidFill>
                  <a:srgbClr val="FF0000"/>
                </a:solidFill>
              </a:rPr>
              <a:t> </a:t>
            </a:r>
            <a:r>
              <a:rPr lang="en" dirty="0"/>
              <a:t>interface.</a:t>
            </a:r>
            <a:endParaRPr dirty="0"/>
          </a:p>
          <a:p>
            <a:pPr marL="457200" lvl="0" indent="-311150" algn="l" rtl="0">
              <a:lnSpc>
                <a:spcPct val="125000"/>
              </a:lnSpc>
              <a:spcBef>
                <a:spcPts val="0"/>
              </a:spcBef>
              <a:spcAft>
                <a:spcPts val="0"/>
              </a:spcAft>
              <a:buSzPts val="1300"/>
              <a:buChar char="●"/>
            </a:pPr>
            <a:r>
              <a:rPr lang="en" dirty="0"/>
              <a:t>The interface should have two methods as described by the UML on the left.</a:t>
            </a:r>
            <a:endParaRPr dirty="0"/>
          </a:p>
          <a:p>
            <a:pPr marL="457200" lvl="0" indent="-311150" algn="l" rtl="0">
              <a:lnSpc>
                <a:spcPct val="125000"/>
              </a:lnSpc>
              <a:spcBef>
                <a:spcPts val="0"/>
              </a:spcBef>
              <a:spcAft>
                <a:spcPts val="0"/>
              </a:spcAft>
              <a:buSzPts val="1300"/>
              <a:buChar char="●"/>
            </a:pPr>
            <a:r>
              <a:rPr lang="en" dirty="0"/>
              <a:t>Ensure there are no problems (red squiggles) before moving on.</a:t>
            </a:r>
            <a:endParaRPr dirty="0"/>
          </a:p>
        </p:txBody>
      </p:sp>
      <p:sp>
        <p:nvSpPr>
          <p:cNvPr id="350" name="Google Shape;350;p4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4.3</a:t>
            </a:r>
            <a:endParaRPr/>
          </a:p>
        </p:txBody>
      </p:sp>
      <p:sp>
        <p:nvSpPr>
          <p:cNvPr id="351" name="Google Shape;351;p42"/>
          <p:cNvSpPr txBox="1">
            <a:spLocks noGrp="1"/>
          </p:cNvSpPr>
          <p:nvPr>
            <p:ph type="body" idx="4"/>
          </p:nvPr>
        </p:nvSpPr>
        <p:spPr>
          <a:xfrm>
            <a:off x="295100" y="3771532"/>
            <a:ext cx="3188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Only implement the </a:t>
            </a:r>
            <a:r>
              <a:rPr lang="en" dirty="0">
                <a:solidFill>
                  <a:srgbClr val="FF0000"/>
                </a:solidFill>
                <a:latin typeface="Courier New"/>
                <a:ea typeface="Courier New"/>
                <a:cs typeface="Courier New"/>
                <a:sym typeface="Courier New"/>
              </a:rPr>
              <a:t>Shape</a:t>
            </a:r>
            <a:r>
              <a:rPr lang="en" dirty="0"/>
              <a:t> interface at this time. We'll get to the subclasses later.</a:t>
            </a:r>
            <a:endParaRPr dirty="0">
              <a:latin typeface="Courier New"/>
              <a:ea typeface="Courier New"/>
              <a:cs typeface="Courier New"/>
              <a:sym typeface="Courier New"/>
            </a:endParaRPr>
          </a:p>
        </p:txBody>
      </p:sp>
      <p:pic>
        <p:nvPicPr>
          <p:cNvPr id="352" name="Google Shape;352;p42"/>
          <p:cNvPicPr preferRelativeResize="0"/>
          <p:nvPr/>
        </p:nvPicPr>
        <p:blipFill>
          <a:blip r:embed="rId3">
            <a:alphaModFix/>
          </a:blip>
          <a:stretch>
            <a:fillRect/>
          </a:stretch>
        </p:blipFill>
        <p:spPr>
          <a:xfrm>
            <a:off x="188350" y="1653782"/>
            <a:ext cx="3692265" cy="1867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3"/>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Instead of making a bunch of tiny classes to represent different shapes, let's implement a new class that will create the Shape for us using static methods. Each method will return a new specialized shape (</a:t>
            </a:r>
            <a:r>
              <a:rPr lang="en" dirty="0">
                <a:highlight>
                  <a:srgbClr val="FFFF00"/>
                </a:highlight>
              </a:rPr>
              <a:t>circle</a:t>
            </a:r>
            <a:r>
              <a:rPr lang="en" dirty="0"/>
              <a:t>, </a:t>
            </a:r>
            <a:r>
              <a:rPr lang="en" dirty="0">
                <a:highlight>
                  <a:srgbClr val="FFFF00"/>
                </a:highlight>
              </a:rPr>
              <a:t>rectangle</a:t>
            </a:r>
            <a:r>
              <a:rPr lang="en" dirty="0"/>
              <a:t>, or </a:t>
            </a:r>
            <a:r>
              <a:rPr lang="en" dirty="0">
                <a:highlight>
                  <a:srgbClr val="FFFF00"/>
                </a:highlight>
              </a:rPr>
              <a:t>right triangle</a:t>
            </a:r>
            <a:r>
              <a:rPr lang="en" dirty="0"/>
              <a:t>) using anonymous classes.</a:t>
            </a:r>
            <a:endParaRPr dirty="0"/>
          </a:p>
        </p:txBody>
      </p:sp>
      <p:sp>
        <p:nvSpPr>
          <p:cNvPr id="358" name="Google Shape;358;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59" name="Google Shape;359;p43"/>
          <p:cNvSpPr txBox="1">
            <a:spLocks noGrp="1"/>
          </p:cNvSpPr>
          <p:nvPr>
            <p:ph type="body" idx="2"/>
          </p:nvPr>
        </p:nvSpPr>
        <p:spPr>
          <a:xfrm>
            <a:off x="3379775" y="1911548"/>
            <a:ext cx="5699700" cy="2730204"/>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To keep the math simple, assume all triangles are right triangles.</a:t>
            </a:r>
            <a:endParaRPr dirty="0"/>
          </a:p>
          <a:p>
            <a:pPr marL="457200" lvl="0" indent="-311150" algn="l" rtl="0">
              <a:spcBef>
                <a:spcPts val="0"/>
              </a:spcBef>
              <a:spcAft>
                <a:spcPts val="0"/>
              </a:spcAft>
              <a:buSzPts val="1300"/>
              <a:buChar char="●"/>
            </a:pPr>
            <a:r>
              <a:rPr lang="en" dirty="0"/>
              <a:t>Create a new class named </a:t>
            </a:r>
            <a:r>
              <a:rPr lang="en" dirty="0">
                <a:solidFill>
                  <a:srgbClr val="FF0000"/>
                </a:solidFill>
                <a:latin typeface="Courier New"/>
                <a:ea typeface="Courier New"/>
                <a:cs typeface="Courier New"/>
                <a:sym typeface="Courier New"/>
              </a:rPr>
              <a:t>ShapeFactory</a:t>
            </a:r>
            <a:r>
              <a:rPr lang="en" dirty="0"/>
              <a:t>.</a:t>
            </a:r>
            <a:endParaRPr dirty="0"/>
          </a:p>
          <a:p>
            <a:pPr marL="457200" lvl="0" indent="-311150" algn="l" rtl="0">
              <a:spcBef>
                <a:spcPts val="0"/>
              </a:spcBef>
              <a:spcAft>
                <a:spcPts val="0"/>
              </a:spcAft>
              <a:buSzPts val="1300"/>
              <a:buChar char="●"/>
            </a:pPr>
            <a:r>
              <a:rPr lang="en" dirty="0"/>
              <a:t>It should have one static method for creating each shape. </a:t>
            </a:r>
            <a:endParaRPr dirty="0"/>
          </a:p>
          <a:p>
            <a:pPr marL="457200" lvl="0" indent="-311150" algn="l" rtl="0">
              <a:spcBef>
                <a:spcPts val="0"/>
              </a:spcBef>
              <a:spcAft>
                <a:spcPts val="0"/>
              </a:spcAft>
              <a:buSzPts val="1300"/>
              <a:buChar char="●"/>
            </a:pPr>
            <a:r>
              <a:rPr lang="en" dirty="0"/>
              <a:t>For example, the signature for creating a circle would look like:</a:t>
            </a:r>
            <a:endParaRPr dirty="0"/>
          </a:p>
          <a:p>
            <a:pPr marL="457200" lvl="0" indent="0" algn="l" rtl="0">
              <a:spcBef>
                <a:spcPts val="0"/>
              </a:spcBef>
              <a:spcAft>
                <a:spcPts val="0"/>
              </a:spcAft>
              <a:buNone/>
            </a:pPr>
            <a:r>
              <a:rPr lang="en" dirty="0">
                <a:latin typeface="Courier New"/>
                <a:ea typeface="Courier New"/>
                <a:cs typeface="Courier New"/>
                <a:sym typeface="Courier New"/>
              </a:rPr>
              <a:t>public static Shape </a:t>
            </a:r>
            <a:r>
              <a:rPr lang="en" dirty="0">
                <a:highlight>
                  <a:srgbClr val="FFFF00"/>
                </a:highlight>
                <a:latin typeface="Courier New"/>
                <a:ea typeface="Courier New"/>
                <a:cs typeface="Courier New"/>
                <a:sym typeface="Courier New"/>
              </a:rPr>
              <a:t>createCircle</a:t>
            </a:r>
            <a:r>
              <a:rPr lang="en" dirty="0">
                <a:latin typeface="Courier New"/>
                <a:ea typeface="Courier New"/>
                <a:cs typeface="Courier New"/>
                <a:sym typeface="Courier New"/>
              </a:rPr>
              <a:t>(double radius)</a:t>
            </a:r>
            <a:endParaRPr dirty="0">
              <a:latin typeface="Courier New"/>
              <a:ea typeface="Courier New"/>
              <a:cs typeface="Courier New"/>
              <a:sym typeface="Courier New"/>
            </a:endParaRPr>
          </a:p>
          <a:p>
            <a:pPr marL="457200" lvl="0" indent="-304800" algn="l" rtl="0">
              <a:spcBef>
                <a:spcPts val="1000"/>
              </a:spcBef>
              <a:spcAft>
                <a:spcPts val="0"/>
              </a:spcAft>
              <a:buSzPts val="1200"/>
              <a:buChar char="●"/>
            </a:pPr>
            <a:r>
              <a:rPr lang="en" sz="1200" dirty="0"/>
              <a:t>Each method should return a new anonymous </a:t>
            </a:r>
            <a:r>
              <a:rPr lang="en" sz="1200" dirty="0">
                <a:latin typeface="Courier New"/>
                <a:ea typeface="Courier New"/>
                <a:cs typeface="Courier New"/>
                <a:sym typeface="Courier New"/>
              </a:rPr>
              <a:t>Shape</a:t>
            </a:r>
            <a:r>
              <a:rPr lang="en" sz="1200" dirty="0"/>
              <a:t> instance of the correct shape. </a:t>
            </a:r>
            <a:endParaRPr sz="1200" dirty="0"/>
          </a:p>
          <a:p>
            <a:pPr marL="457200" lvl="0" indent="0" algn="l" rtl="0">
              <a:spcBef>
                <a:spcPts val="0"/>
              </a:spcBef>
              <a:spcAft>
                <a:spcPts val="0"/>
              </a:spcAft>
              <a:buNone/>
            </a:pPr>
            <a:r>
              <a:rPr lang="en" sz="1200" dirty="0"/>
              <a:t>I.E. </a:t>
            </a:r>
            <a:r>
              <a:rPr lang="en" sz="1200" dirty="0">
                <a:latin typeface="Courier New"/>
                <a:ea typeface="Courier New"/>
                <a:cs typeface="Courier New"/>
                <a:sym typeface="Courier New"/>
              </a:rPr>
              <a:t>return new Shape {/* implementation details */};</a:t>
            </a:r>
            <a:endParaRPr sz="1200" dirty="0">
              <a:latin typeface="Courier New"/>
              <a:ea typeface="Courier New"/>
              <a:cs typeface="Courier New"/>
              <a:sym typeface="Courier New"/>
            </a:endParaRPr>
          </a:p>
          <a:p>
            <a:pPr marL="457200" lvl="0" indent="-304800" algn="l" rtl="0">
              <a:spcBef>
                <a:spcPts val="1600"/>
              </a:spcBef>
              <a:spcAft>
                <a:spcPts val="0"/>
              </a:spcAft>
              <a:buSzPts val="1200"/>
              <a:buChar char="●"/>
            </a:pPr>
            <a:r>
              <a:rPr lang="en" sz="1200" dirty="0"/>
              <a:t>In </a:t>
            </a:r>
            <a:r>
              <a:rPr lang="en" sz="1200" dirty="0">
                <a:solidFill>
                  <a:srgbClr val="FF0000"/>
                </a:solidFill>
                <a:latin typeface="Courier New"/>
                <a:ea typeface="Courier New"/>
                <a:cs typeface="Courier New"/>
                <a:sym typeface="Courier New"/>
              </a:rPr>
              <a:t>Main</a:t>
            </a:r>
            <a:r>
              <a:rPr lang="en" sz="1200" dirty="0"/>
              <a:t>, create at least one instance of each shape and print it's </a:t>
            </a:r>
            <a:r>
              <a:rPr lang="en" sz="1200" dirty="0">
                <a:latin typeface="Courier New"/>
                <a:ea typeface="Courier New"/>
                <a:cs typeface="Courier New"/>
                <a:sym typeface="Courier New"/>
              </a:rPr>
              <a:t>area</a:t>
            </a:r>
            <a:r>
              <a:rPr lang="en" sz="1200" dirty="0"/>
              <a:t> and </a:t>
            </a:r>
            <a:r>
              <a:rPr lang="en" sz="1200" dirty="0">
                <a:latin typeface="Courier New"/>
                <a:ea typeface="Courier New"/>
                <a:cs typeface="Courier New"/>
                <a:sym typeface="Courier New"/>
              </a:rPr>
              <a:t>perimeter</a:t>
            </a:r>
            <a:r>
              <a:rPr lang="en" sz="1200" dirty="0"/>
              <a:t>.</a:t>
            </a:r>
            <a:endParaRPr sz="1200" dirty="0"/>
          </a:p>
        </p:txBody>
      </p:sp>
      <p:sp>
        <p:nvSpPr>
          <p:cNvPr id="360" name="Google Shape;360;p4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ShapeFactory</a:t>
            </a:r>
            <a:endParaRPr/>
          </a:p>
        </p:txBody>
      </p:sp>
      <p:sp>
        <p:nvSpPr>
          <p:cNvPr id="361" name="Google Shape;361;p4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4.4</a:t>
            </a:r>
            <a:endParaRPr/>
          </a:p>
        </p:txBody>
      </p:sp>
      <p:sp>
        <p:nvSpPr>
          <p:cNvPr id="362" name="Google Shape;362;p43"/>
          <p:cNvSpPr txBox="1">
            <a:spLocks noGrp="1"/>
          </p:cNvSpPr>
          <p:nvPr>
            <p:ph type="body" idx="4"/>
          </p:nvPr>
        </p:nvSpPr>
        <p:spPr>
          <a:xfrm>
            <a:off x="191075" y="3921826"/>
            <a:ext cx="31887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In this example, the interface </a:t>
            </a:r>
            <a:r>
              <a:rPr lang="en" dirty="0">
                <a:latin typeface="Courier New"/>
                <a:ea typeface="Courier New"/>
                <a:cs typeface="Courier New"/>
                <a:sym typeface="Courier New"/>
              </a:rPr>
              <a:t>Expression</a:t>
            </a:r>
            <a:r>
              <a:rPr lang="en" dirty="0"/>
              <a:t> only has a single method. The </a:t>
            </a:r>
            <a:r>
              <a:rPr lang="en" dirty="0">
                <a:latin typeface="Courier New"/>
                <a:ea typeface="Courier New"/>
                <a:cs typeface="Courier New"/>
                <a:sym typeface="Courier New"/>
              </a:rPr>
              <a:t>Shape</a:t>
            </a:r>
            <a:r>
              <a:rPr lang="en" dirty="0"/>
              <a:t> interface in this activity has two and both will go inside the </a:t>
            </a:r>
            <a:r>
              <a:rPr lang="en" dirty="0">
                <a:latin typeface="Courier New"/>
                <a:ea typeface="Courier New"/>
                <a:cs typeface="Courier New"/>
                <a:sym typeface="Courier New"/>
              </a:rPr>
              <a:t>{};</a:t>
            </a:r>
            <a:r>
              <a:rPr lang="en" dirty="0"/>
              <a:t> block. </a:t>
            </a:r>
            <a:endParaRPr dirty="0">
              <a:latin typeface="Courier New"/>
              <a:ea typeface="Courier New"/>
              <a:cs typeface="Courier New"/>
              <a:sym typeface="Courier New"/>
            </a:endParaRPr>
          </a:p>
        </p:txBody>
      </p:sp>
      <p:sp>
        <p:nvSpPr>
          <p:cNvPr id="363" name="Google Shape;363;p43"/>
          <p:cNvSpPr txBox="1"/>
          <p:nvPr/>
        </p:nvSpPr>
        <p:spPr>
          <a:xfrm>
            <a:off x="191075" y="1924961"/>
            <a:ext cx="3188700" cy="1847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267F99"/>
                </a:solidFill>
                <a:highlight>
                  <a:srgbClr val="FFFFFF"/>
                </a:highlight>
                <a:latin typeface="Consolas"/>
                <a:ea typeface="Consolas"/>
                <a:cs typeface="Consolas"/>
                <a:sym typeface="Consolas"/>
              </a:rPr>
              <a:t>Expression</a:t>
            </a:r>
            <a:r>
              <a:rPr lang="en" sz="1200">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mul</a:t>
            </a:r>
            <a:r>
              <a:rPr lang="en" sz="1200">
                <a:highlight>
                  <a:srgbClr val="FFFFFF"/>
                </a:highlight>
                <a:latin typeface="Consolas"/>
                <a:ea typeface="Consolas"/>
                <a:cs typeface="Consolas"/>
                <a:sym typeface="Consolas"/>
              </a:rPr>
              <a:t> = </a:t>
            </a:r>
            <a:r>
              <a:rPr lang="en" sz="1200">
                <a:solidFill>
                  <a:srgbClr val="AF00DB"/>
                </a:solidFill>
                <a:highlight>
                  <a:srgbClr val="FFFFFF"/>
                </a:highlight>
                <a:latin typeface="Consolas"/>
                <a:ea typeface="Consolas"/>
                <a:cs typeface="Consolas"/>
                <a:sym typeface="Consolas"/>
              </a:rPr>
              <a:t>new</a:t>
            </a:r>
            <a:r>
              <a:rPr lang="en" sz="1200">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Expression</a:t>
            </a:r>
            <a:r>
              <a:rPr lang="en" sz="1200">
                <a:highlight>
                  <a:srgbClr val="FFFFFF"/>
                </a:highlight>
                <a:latin typeface="Consolas"/>
                <a:ea typeface="Consolas"/>
                <a:cs typeface="Consolas"/>
                <a:sym typeface="Consolas"/>
              </a:rPr>
              <a:t>() {</a:t>
            </a:r>
            <a:endParaRPr sz="1200">
              <a:highlight>
                <a:srgbClr val="FFFFFF"/>
              </a:highlight>
              <a:latin typeface="Consolas"/>
              <a:ea typeface="Consolas"/>
              <a:cs typeface="Consolas"/>
              <a:sym typeface="Consolas"/>
            </a:endParaRPr>
          </a:p>
          <a:p>
            <a:pPr marL="0" lvl="0" indent="0" algn="l" rtl="0">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Override</a:t>
            </a:r>
            <a:endParaRPr sz="120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public</a:t>
            </a:r>
            <a:r>
              <a:rPr lang="en" sz="1200">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evaluate</a:t>
            </a:r>
            <a:r>
              <a:rPr lang="en" sz="1200">
                <a:highlight>
                  <a:srgbClr val="FFFFFF"/>
                </a:highlight>
                <a:latin typeface="Consolas"/>
                <a:ea typeface="Consolas"/>
                <a:cs typeface="Consolas"/>
                <a:sym typeface="Consolas"/>
              </a:rPr>
              <a:t>() {</a:t>
            </a:r>
            <a:endParaRPr sz="1200">
              <a:highlight>
                <a:srgbClr val="FFFFFF"/>
              </a:highlight>
              <a:latin typeface="Consolas"/>
              <a:ea typeface="Consolas"/>
              <a:cs typeface="Consolas"/>
              <a:sym typeface="Consolas"/>
            </a:endParaRPr>
          </a:p>
          <a:p>
            <a:pPr marL="0" lvl="0" indent="0" algn="l" rtl="0">
              <a:spcBef>
                <a:spcPts val="0"/>
              </a:spcBef>
              <a:spcAft>
                <a:spcPts val="0"/>
              </a:spcAft>
              <a:buNone/>
            </a:pPr>
            <a:r>
              <a:rPr lang="en" sz="1200">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return</a:t>
            </a:r>
            <a:r>
              <a:rPr lang="en" sz="1200">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sub</a:t>
            </a:r>
            <a:r>
              <a:rPr lang="en" sz="1200">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addition</a:t>
            </a: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marL="0" lvl="0" indent="0" algn="l" rtl="0">
              <a:spcBef>
                <a:spcPts val="0"/>
              </a:spcBef>
              <a:spcAft>
                <a:spcPts val="0"/>
              </a:spcAft>
              <a:buNone/>
            </a:pPr>
            <a:r>
              <a:rPr lang="en" sz="1200">
                <a:highlight>
                  <a:srgbClr val="FFFFFF"/>
                </a:highlight>
                <a:latin typeface="Consolas"/>
                <a:ea typeface="Consolas"/>
                <a:cs typeface="Consolas"/>
                <a:sym typeface="Consolas"/>
              </a:rPr>
              <a:t>    }</a:t>
            </a:r>
            <a:endParaRPr sz="1200">
              <a:highlight>
                <a:srgbClr val="FFFFFF"/>
              </a:highlight>
              <a:latin typeface="Consolas"/>
              <a:ea typeface="Consolas"/>
              <a:cs typeface="Consolas"/>
              <a:sym typeface="Consolas"/>
            </a:endParaRPr>
          </a:p>
          <a:p>
            <a:pPr marL="0" lvl="0" indent="0" algn="l" rtl="0">
              <a:spcBef>
                <a:spcPts val="0"/>
              </a:spcBef>
              <a:spcAft>
                <a:spcPts val="0"/>
              </a:spcAft>
              <a:buNone/>
            </a:pP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marL="0" lvl="0" indent="0" algn="l" rtl="0">
              <a:spcBef>
                <a:spcPts val="0"/>
              </a:spcBef>
              <a:spcAft>
                <a:spcPts val="0"/>
              </a:spcAft>
              <a:buNone/>
            </a:pPr>
            <a:endParaRPr sz="120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200">
                <a:solidFill>
                  <a:srgbClr val="267F99"/>
                </a:solidFill>
                <a:highlight>
                  <a:srgbClr val="FFFFFF"/>
                </a:highlight>
                <a:latin typeface="Consolas"/>
                <a:ea typeface="Consolas"/>
                <a:cs typeface="Consolas"/>
                <a:sym typeface="Consolas"/>
              </a:rPr>
              <a:t>System</a:t>
            </a:r>
            <a:r>
              <a:rPr lang="en" sz="1200">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out</a:t>
            </a:r>
            <a:r>
              <a:rPr lang="en" sz="1200">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println</a:t>
            </a:r>
            <a:r>
              <a:rPr lang="en" sz="1200">
                <a:highlight>
                  <a:srgbClr val="FFFFFF"/>
                </a:highlight>
                <a:latin typeface="Consolas"/>
                <a:ea typeface="Consolas"/>
                <a:cs typeface="Consolas"/>
                <a:sym typeface="Consolas"/>
              </a:rPr>
              <a:t>(</a:t>
            </a:r>
            <a:endParaRPr sz="1200">
              <a:highlight>
                <a:srgbClr val="FFFFFF"/>
              </a:highlight>
              <a:latin typeface="Consolas"/>
              <a:ea typeface="Consolas"/>
              <a:cs typeface="Consolas"/>
              <a:sym typeface="Consolas"/>
            </a:endParaRPr>
          </a:p>
          <a:p>
            <a:pPr marL="0" lvl="0" indent="0" algn="l" rtl="0">
              <a:spcBef>
                <a:spcPts val="0"/>
              </a:spcBef>
              <a:spcAft>
                <a:spcPts val="0"/>
              </a:spcAft>
              <a:buNone/>
            </a:pPr>
            <a:r>
              <a:rPr lang="en" sz="1200">
                <a:solidFill>
                  <a:srgbClr val="001080"/>
                </a:solidFill>
                <a:highlight>
                  <a:srgbClr val="FFFFFF"/>
                </a:highlight>
                <a:latin typeface="Consolas"/>
                <a:ea typeface="Consolas"/>
                <a:cs typeface="Consolas"/>
                <a:sym typeface="Consolas"/>
              </a:rPr>
              <a:t>    multiplication</a:t>
            </a:r>
            <a:r>
              <a:rPr lang="en" sz="1200">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evaluate</a:t>
            </a:r>
            <a:r>
              <a:rPr lang="en" sz="1200">
                <a:highlight>
                  <a:srgbClr val="FFFFFF"/>
                </a:highlight>
                <a:latin typeface="Consolas"/>
                <a:ea typeface="Consolas"/>
                <a:cs typeface="Consolas"/>
                <a:sym typeface="Consolas"/>
              </a:rPr>
              <a:t>());</a:t>
            </a:r>
            <a:endParaRPr sz="1200">
              <a:solidFill>
                <a:srgbClr val="008000"/>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4"/>
          <p:cNvSpPr txBox="1">
            <a:spLocks noGrp="1"/>
          </p:cNvSpPr>
          <p:nvPr>
            <p:ph type="body" idx="1"/>
          </p:nvPr>
        </p:nvSpPr>
        <p:spPr>
          <a:xfrm>
            <a:off x="65250" y="731625"/>
            <a:ext cx="89559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 have our various shapes, let's do a small activity that uses them.</a:t>
            </a:r>
            <a:endParaRPr/>
          </a:p>
        </p:txBody>
      </p:sp>
      <p:sp>
        <p:nvSpPr>
          <p:cNvPr id="369" name="Google Shape;369;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70" name="Google Shape;370;p44"/>
          <p:cNvSpPr txBox="1">
            <a:spLocks noGrp="1"/>
          </p:cNvSpPr>
          <p:nvPr>
            <p:ph type="body" idx="2"/>
          </p:nvPr>
        </p:nvSpPr>
        <p:spPr>
          <a:xfrm>
            <a:off x="4110075" y="1405523"/>
            <a:ext cx="4737300" cy="3517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class named </a:t>
            </a:r>
            <a:r>
              <a:rPr lang="en" dirty="0">
                <a:solidFill>
                  <a:srgbClr val="FF0000"/>
                </a:solidFill>
                <a:highlight>
                  <a:srgbClr val="FFFF00"/>
                </a:highlight>
                <a:latin typeface="Courier New"/>
                <a:ea typeface="Courier New"/>
                <a:cs typeface="Courier New"/>
                <a:sym typeface="Courier New"/>
              </a:rPr>
              <a:t>UserShapes</a:t>
            </a:r>
            <a:r>
              <a:rPr lang="en" dirty="0"/>
              <a:t>.</a:t>
            </a:r>
            <a:endParaRPr dirty="0"/>
          </a:p>
          <a:p>
            <a:pPr marL="457200" lvl="0" indent="-311150" algn="l" rtl="0">
              <a:spcBef>
                <a:spcPts val="1000"/>
              </a:spcBef>
              <a:spcAft>
                <a:spcPts val="0"/>
              </a:spcAft>
              <a:buSzPts val="1300"/>
              <a:buChar char="●"/>
            </a:pPr>
            <a:r>
              <a:rPr lang="en" dirty="0"/>
              <a:t>In </a:t>
            </a:r>
            <a:r>
              <a:rPr lang="en" dirty="0">
                <a:latin typeface="Courier New"/>
                <a:ea typeface="Courier New"/>
                <a:cs typeface="Courier New"/>
                <a:sym typeface="Courier New"/>
              </a:rPr>
              <a:t>main</a:t>
            </a:r>
            <a:r>
              <a:rPr lang="en" dirty="0"/>
              <a:t>, continuously prompt the user to enter a shape and its associated parameters.</a:t>
            </a:r>
            <a:endParaRPr dirty="0"/>
          </a:p>
          <a:p>
            <a:pPr marL="914400" lvl="1" indent="-298450" algn="l" rtl="0">
              <a:spcBef>
                <a:spcPts val="0"/>
              </a:spcBef>
              <a:spcAft>
                <a:spcPts val="0"/>
              </a:spcAft>
              <a:buSzPts val="1100"/>
              <a:buChar char="○"/>
            </a:pPr>
            <a:r>
              <a:rPr lang="en" dirty="0"/>
              <a:t>Depending on how you process the user input, you may be left with a </a:t>
            </a:r>
            <a:r>
              <a:rPr lang="en" b="1" i="1" dirty="0"/>
              <a:t>blank newline</a:t>
            </a:r>
            <a:r>
              <a:rPr lang="en" dirty="0"/>
              <a:t> after reading the parameters.</a:t>
            </a:r>
            <a:endParaRPr dirty="0"/>
          </a:p>
          <a:p>
            <a:pPr marL="914400" lvl="1" indent="-298450" algn="l" rtl="0">
              <a:spcBef>
                <a:spcPts val="0"/>
              </a:spcBef>
              <a:spcAft>
                <a:spcPts val="0"/>
              </a:spcAft>
              <a:buSzPts val="1100"/>
              <a:buChar char="○"/>
            </a:pPr>
            <a:r>
              <a:rPr lang="en" dirty="0"/>
              <a:t>You can use </a:t>
            </a:r>
            <a:r>
              <a:rPr lang="en" dirty="0">
                <a:latin typeface="Courier New"/>
                <a:ea typeface="Courier New"/>
                <a:cs typeface="Courier New"/>
                <a:sym typeface="Courier New"/>
              </a:rPr>
              <a:t>scanner.nextLine()</a:t>
            </a:r>
            <a:r>
              <a:rPr lang="en" dirty="0"/>
              <a:t> to remove it before going through the loop again.</a:t>
            </a:r>
            <a:endParaRPr dirty="0"/>
          </a:p>
          <a:p>
            <a:pPr marL="457200" lvl="0" indent="-311150" algn="l" rtl="0">
              <a:spcBef>
                <a:spcPts val="1000"/>
              </a:spcBef>
              <a:spcAft>
                <a:spcPts val="0"/>
              </a:spcAft>
              <a:buSzPts val="1300"/>
              <a:buChar char="●"/>
            </a:pPr>
            <a:r>
              <a:rPr lang="en" dirty="0"/>
              <a:t>If the user enters an invalid shape, print a message letting the user know but continue to allow them to enter new shapes.</a:t>
            </a:r>
            <a:endParaRPr dirty="0"/>
          </a:p>
          <a:p>
            <a:pPr marL="457200" lvl="0" indent="-311150" algn="l" rtl="0">
              <a:spcBef>
                <a:spcPts val="1000"/>
              </a:spcBef>
              <a:spcAft>
                <a:spcPts val="0"/>
              </a:spcAft>
              <a:buSzPts val="1300"/>
              <a:buChar char="●"/>
            </a:pPr>
            <a:r>
              <a:rPr lang="en" dirty="0"/>
              <a:t>If the string </a:t>
            </a:r>
            <a:r>
              <a:rPr lang="en" b="1" i="1" dirty="0"/>
              <a:t>"exit"</a:t>
            </a:r>
            <a:r>
              <a:rPr lang="en" dirty="0"/>
              <a:t> is entered for the shape type, exit the loop.</a:t>
            </a:r>
            <a:endParaRPr dirty="0"/>
          </a:p>
          <a:p>
            <a:pPr marL="457200" lvl="0" indent="-311150" algn="l" rtl="0">
              <a:spcBef>
                <a:spcPts val="1000"/>
              </a:spcBef>
              <a:spcAft>
                <a:spcPts val="0"/>
              </a:spcAft>
              <a:buSzPts val="1300"/>
              <a:buChar char="●"/>
            </a:pPr>
            <a:r>
              <a:rPr lang="en" dirty="0"/>
              <a:t>Run your program and ensure it works for all cases.</a:t>
            </a:r>
            <a:endParaRPr dirty="0"/>
          </a:p>
        </p:txBody>
      </p:sp>
      <p:sp>
        <p:nvSpPr>
          <p:cNvPr id="371" name="Google Shape;371;p4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User Shapes</a:t>
            </a:r>
            <a:endParaRPr/>
          </a:p>
        </p:txBody>
      </p:sp>
      <p:sp>
        <p:nvSpPr>
          <p:cNvPr id="372" name="Google Shape;372;p4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4.X</a:t>
            </a:r>
            <a:endParaRPr/>
          </a:p>
        </p:txBody>
      </p:sp>
      <p:sp>
        <p:nvSpPr>
          <p:cNvPr id="373" name="Google Shape;373;p44"/>
          <p:cNvSpPr txBox="1">
            <a:spLocks noGrp="1"/>
          </p:cNvSpPr>
          <p:nvPr>
            <p:ph type="body" idx="4"/>
          </p:nvPr>
        </p:nvSpPr>
        <p:spPr>
          <a:xfrm>
            <a:off x="167175" y="4417579"/>
            <a:ext cx="39429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Sample output. Your prompts should specify the possibly options (left off here due to size constraints).</a:t>
            </a:r>
            <a:endParaRPr/>
          </a:p>
        </p:txBody>
      </p:sp>
      <p:sp>
        <p:nvSpPr>
          <p:cNvPr id="374" name="Google Shape;374;p44"/>
          <p:cNvSpPr txBox="1"/>
          <p:nvPr/>
        </p:nvSpPr>
        <p:spPr>
          <a:xfrm>
            <a:off x="167181" y="1377829"/>
            <a:ext cx="3942900" cy="29826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circle</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Enter radius: 10</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Area: 314.1592653589793</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Perimeter: 62.83185307179586</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triangle</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Enter side A: 3</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Enter side B: 4</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Enter side C: 5</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Area: 6.0</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Perimeter: 12.0</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rhombus</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Unknown shape type. Please try again.</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Choose a shape to create or 'exit' to quit:</a:t>
            </a:r>
            <a:endParaRPr sz="1100">
              <a:solidFill>
                <a:schemeClr val="dk2"/>
              </a:solidFill>
              <a:latin typeface="Courier New"/>
              <a:ea typeface="Courier New"/>
              <a:cs typeface="Courier New"/>
              <a:sym typeface="Courier New"/>
            </a:endParaRPr>
          </a:p>
          <a:p>
            <a:pPr marL="0" lvl="0" indent="0" algn="l" rtl="0">
              <a:spcBef>
                <a:spcPts val="0"/>
              </a:spcBef>
              <a:spcAft>
                <a:spcPts val="0"/>
              </a:spcAft>
              <a:buNone/>
            </a:pPr>
            <a:r>
              <a:rPr lang="en" sz="1100">
                <a:solidFill>
                  <a:schemeClr val="dk2"/>
                </a:solidFill>
                <a:latin typeface="Courier New"/>
                <a:ea typeface="Courier New"/>
                <a:cs typeface="Courier New"/>
                <a:sym typeface="Courier New"/>
              </a:rPr>
              <a:t>exit</a:t>
            </a:r>
            <a:endParaRPr sz="16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380" name="Google Shape;380;p4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Statement</a:t>
            </a:r>
            <a:endParaRPr/>
          </a:p>
        </p:txBody>
      </p:sp>
      <p:sp>
        <p:nvSpPr>
          <p:cNvPr id="381" name="Google Shape;381;p45"/>
          <p:cNvSpPr txBox="1">
            <a:spLocks noGrp="1"/>
          </p:cNvSpPr>
          <p:nvPr>
            <p:ph type="body" idx="2"/>
          </p:nvPr>
        </p:nvSpPr>
        <p:spPr>
          <a:xfrm>
            <a:off x="2668975" y="1468554"/>
            <a:ext cx="3757800" cy="3416700"/>
          </a:xfrm>
          <a:prstGeom prst="rect">
            <a:avLst/>
          </a:prstGeom>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a:t>
            </a:r>
            <a:r>
              <a:rPr lang="en" sz="1200" dirty="0">
                <a:solidFill>
                  <a:srgbClr val="AF00DB"/>
                </a:solidFill>
                <a:highlight>
                  <a:srgbClr val="FFFFFF"/>
                </a:highlight>
                <a:latin typeface="Consolas"/>
                <a:ea typeface="Consolas"/>
                <a:cs typeface="Consolas"/>
                <a:sym typeface="Consolas"/>
              </a:rPr>
              <a:t>  switch</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day</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2</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"Monday"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3</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"Go to the gym"</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4</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5</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"Tuesday"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6</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"Attend coding class"</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7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8</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"Wednesday"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9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"Thursday"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10</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"Work on project"</a:t>
            </a:r>
            <a:r>
              <a:rPr lang="en" sz="1200" dirty="0">
                <a:solidFill>
                  <a:srgbClr val="000000"/>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11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12</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"Friday"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13</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"Review week's work"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14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15</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default: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16</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"Relax and unwind"</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17</a:t>
            </a:r>
            <a:r>
              <a:rPr lang="en" sz="1200" dirty="0">
                <a:solidFill>
                  <a:srgbClr val="000000"/>
                </a:solidFill>
                <a:highlight>
                  <a:srgbClr val="FFFFFF"/>
                </a:highlight>
                <a:latin typeface="Consolas"/>
                <a:ea typeface="Consolas"/>
                <a:cs typeface="Consolas"/>
                <a:sym typeface="Consolas"/>
              </a:rPr>
              <a:t> }</a:t>
            </a:r>
            <a:endParaRPr sz="1200" dirty="0"/>
          </a:p>
        </p:txBody>
      </p:sp>
      <p:sp>
        <p:nvSpPr>
          <p:cNvPr id="382" name="Google Shape;382;p45"/>
          <p:cNvSpPr txBox="1"/>
          <p:nvPr/>
        </p:nvSpPr>
        <p:spPr>
          <a:xfrm>
            <a:off x="115050" y="161355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highlight>
                  <a:srgbClr val="FFFF00"/>
                </a:highlight>
                <a:latin typeface="Roboto"/>
                <a:ea typeface="Roboto"/>
                <a:cs typeface="Roboto"/>
                <a:sym typeface="Roboto"/>
              </a:rPr>
              <a:t>A </a:t>
            </a:r>
            <a:r>
              <a:rPr lang="en" sz="1100" b="1" dirty="0">
                <a:solidFill>
                  <a:srgbClr val="FF0000"/>
                </a:solidFill>
                <a:highlight>
                  <a:srgbClr val="FFFF00"/>
                </a:highlight>
                <a:latin typeface="Courier New"/>
                <a:ea typeface="Courier New"/>
                <a:cs typeface="Courier New"/>
                <a:sym typeface="Courier New"/>
              </a:rPr>
              <a:t>switch</a:t>
            </a:r>
            <a:r>
              <a:rPr lang="en" sz="1100" b="1" dirty="0">
                <a:highlight>
                  <a:srgbClr val="FFFF00"/>
                </a:highlight>
                <a:latin typeface="Roboto"/>
                <a:ea typeface="Roboto"/>
                <a:cs typeface="Roboto"/>
                <a:sym typeface="Roboto"/>
              </a:rPr>
              <a:t> </a:t>
            </a:r>
            <a:r>
              <a:rPr lang="en" sz="1100" dirty="0">
                <a:highlight>
                  <a:srgbClr val="FFFF00"/>
                </a:highlight>
                <a:latin typeface="Roboto"/>
                <a:ea typeface="Roboto"/>
                <a:cs typeface="Roboto"/>
                <a:sym typeface="Roboto"/>
              </a:rPr>
              <a:t>statement compares against a </a:t>
            </a:r>
            <a:r>
              <a:rPr lang="en" sz="1100" b="1" dirty="0">
                <a:solidFill>
                  <a:srgbClr val="FF0000"/>
                </a:solidFill>
                <a:highlight>
                  <a:srgbClr val="FFFF00"/>
                </a:highlight>
                <a:latin typeface="Roboto"/>
                <a:ea typeface="Roboto"/>
                <a:cs typeface="Roboto"/>
                <a:sym typeface="Roboto"/>
              </a:rPr>
              <a:t>specific value</a:t>
            </a:r>
            <a:r>
              <a:rPr lang="en" sz="1100" dirty="0">
                <a:highlight>
                  <a:srgbClr val="FFFF00"/>
                </a:highlight>
                <a:latin typeface="Roboto"/>
                <a:ea typeface="Roboto"/>
                <a:cs typeface="Roboto"/>
                <a:sym typeface="Roboto"/>
              </a:rPr>
              <a:t>, not a boolean expression.</a:t>
            </a:r>
            <a:endParaRPr sz="1100" dirty="0">
              <a:highlight>
                <a:srgbClr val="FFFF00"/>
              </a:highlight>
              <a:latin typeface="Roboto"/>
              <a:ea typeface="Roboto"/>
              <a:cs typeface="Roboto"/>
              <a:sym typeface="Roboto"/>
            </a:endParaRPr>
          </a:p>
        </p:txBody>
      </p:sp>
      <p:sp>
        <p:nvSpPr>
          <p:cNvPr id="383" name="Google Shape;383;p45"/>
          <p:cNvSpPr/>
          <p:nvPr/>
        </p:nvSpPr>
        <p:spPr>
          <a:xfrm>
            <a:off x="2980000" y="1551929"/>
            <a:ext cx="10656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84" name="Google Shape;384;p45"/>
          <p:cNvCxnSpPr>
            <a:stCxn id="382" idx="3"/>
            <a:endCxn id="383" idx="1"/>
          </p:cNvCxnSpPr>
          <p:nvPr/>
        </p:nvCxnSpPr>
        <p:spPr>
          <a:xfrm rot="10800000" flipH="1">
            <a:off x="2398350" y="1661404"/>
            <a:ext cx="581700" cy="298500"/>
          </a:xfrm>
          <a:prstGeom prst="bentConnector3">
            <a:avLst>
              <a:gd name="adj1" fmla="val 49996"/>
            </a:avLst>
          </a:prstGeom>
          <a:noFill/>
          <a:ln w="19050" cap="flat" cmpd="sng">
            <a:solidFill>
              <a:srgbClr val="FF0000"/>
            </a:solidFill>
            <a:prstDash val="solid"/>
            <a:round/>
            <a:headEnd type="none" w="med" len="med"/>
            <a:tailEnd type="none" w="med" len="med"/>
          </a:ln>
        </p:spPr>
      </p:cxnSp>
      <p:sp>
        <p:nvSpPr>
          <p:cNvPr id="385" name="Google Shape;385;p45"/>
          <p:cNvSpPr txBox="1"/>
          <p:nvPr/>
        </p:nvSpPr>
        <p:spPr>
          <a:xfrm>
            <a:off x="115050" y="24672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Each recognized value forms a different </a:t>
            </a:r>
            <a:r>
              <a:rPr lang="en" sz="1100" b="1" dirty="0">
                <a:solidFill>
                  <a:srgbClr val="FF0000"/>
                </a:solidFill>
                <a:latin typeface="Courier New"/>
                <a:ea typeface="Courier New"/>
                <a:cs typeface="Courier New"/>
                <a:sym typeface="Courier New"/>
              </a:rPr>
              <a:t>case</a:t>
            </a:r>
            <a:r>
              <a:rPr lang="en" sz="1100" dirty="0">
                <a:latin typeface="Roboto"/>
                <a:ea typeface="Roboto"/>
                <a:cs typeface="Roboto"/>
                <a:sym typeface="Roboto"/>
              </a:rPr>
              <a:t> statement.</a:t>
            </a:r>
            <a:endParaRPr sz="1100" dirty="0">
              <a:latin typeface="Roboto"/>
              <a:ea typeface="Roboto"/>
              <a:cs typeface="Roboto"/>
              <a:sym typeface="Roboto"/>
            </a:endParaRPr>
          </a:p>
        </p:txBody>
      </p:sp>
      <p:sp>
        <p:nvSpPr>
          <p:cNvPr id="386" name="Google Shape;386;p45"/>
          <p:cNvSpPr/>
          <p:nvPr/>
        </p:nvSpPr>
        <p:spPr>
          <a:xfrm>
            <a:off x="3250815" y="1734198"/>
            <a:ext cx="11136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387" name="Google Shape;387;p45"/>
          <p:cNvSpPr/>
          <p:nvPr/>
        </p:nvSpPr>
        <p:spPr>
          <a:xfrm>
            <a:off x="3239275" y="2278221"/>
            <a:ext cx="12072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388" name="Google Shape;388;p45"/>
          <p:cNvSpPr/>
          <p:nvPr/>
        </p:nvSpPr>
        <p:spPr>
          <a:xfrm>
            <a:off x="3239277" y="2831346"/>
            <a:ext cx="13710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389" name="Google Shape;389;p45"/>
          <p:cNvSpPr/>
          <p:nvPr/>
        </p:nvSpPr>
        <p:spPr>
          <a:xfrm>
            <a:off x="3241717" y="3011058"/>
            <a:ext cx="12774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390" name="Google Shape;390;p45"/>
          <p:cNvSpPr/>
          <p:nvPr/>
        </p:nvSpPr>
        <p:spPr>
          <a:xfrm>
            <a:off x="3250815" y="3545980"/>
            <a:ext cx="11136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91" name="Google Shape;391;p45"/>
          <p:cNvCxnSpPr>
            <a:stCxn id="385" idx="3"/>
            <a:endCxn id="386" idx="1"/>
          </p:cNvCxnSpPr>
          <p:nvPr/>
        </p:nvCxnSpPr>
        <p:spPr>
          <a:xfrm rot="10800000" flipH="1">
            <a:off x="2398350" y="1843554"/>
            <a:ext cx="852600" cy="885300"/>
          </a:xfrm>
          <a:prstGeom prst="bentConnector3">
            <a:avLst>
              <a:gd name="adj1" fmla="val 61811"/>
            </a:avLst>
          </a:prstGeom>
          <a:noFill/>
          <a:ln w="19050" cap="flat" cmpd="sng">
            <a:solidFill>
              <a:srgbClr val="FF0000"/>
            </a:solidFill>
            <a:prstDash val="solid"/>
            <a:round/>
            <a:headEnd type="none" w="med" len="med"/>
            <a:tailEnd type="none" w="med" len="med"/>
          </a:ln>
        </p:spPr>
      </p:cxnSp>
      <p:cxnSp>
        <p:nvCxnSpPr>
          <p:cNvPr id="392" name="Google Shape;392;p45"/>
          <p:cNvCxnSpPr>
            <a:endCxn id="387" idx="1"/>
          </p:cNvCxnSpPr>
          <p:nvPr/>
        </p:nvCxnSpPr>
        <p:spPr>
          <a:xfrm rot="10800000" flipH="1">
            <a:off x="2415475" y="2387571"/>
            <a:ext cx="823800" cy="357600"/>
          </a:xfrm>
          <a:prstGeom prst="bentConnector3">
            <a:avLst>
              <a:gd name="adj1" fmla="val 61893"/>
            </a:avLst>
          </a:prstGeom>
          <a:noFill/>
          <a:ln w="19050" cap="flat" cmpd="sng">
            <a:solidFill>
              <a:srgbClr val="FF0000"/>
            </a:solidFill>
            <a:prstDash val="solid"/>
            <a:round/>
            <a:headEnd type="none" w="med" len="med"/>
            <a:tailEnd type="none" w="med" len="med"/>
          </a:ln>
        </p:spPr>
      </p:cxnSp>
      <p:cxnSp>
        <p:nvCxnSpPr>
          <p:cNvPr id="393" name="Google Shape;393;p45"/>
          <p:cNvCxnSpPr>
            <a:stCxn id="385" idx="3"/>
            <a:endCxn id="388" idx="1"/>
          </p:cNvCxnSpPr>
          <p:nvPr/>
        </p:nvCxnSpPr>
        <p:spPr>
          <a:xfrm>
            <a:off x="2398350" y="2728854"/>
            <a:ext cx="840900" cy="211800"/>
          </a:xfrm>
          <a:prstGeom prst="bentConnector3">
            <a:avLst>
              <a:gd name="adj1" fmla="val 62671"/>
            </a:avLst>
          </a:prstGeom>
          <a:noFill/>
          <a:ln w="19050" cap="flat" cmpd="sng">
            <a:solidFill>
              <a:srgbClr val="FF0000"/>
            </a:solidFill>
            <a:prstDash val="solid"/>
            <a:round/>
            <a:headEnd type="none" w="med" len="med"/>
            <a:tailEnd type="none" w="med" len="med"/>
          </a:ln>
        </p:spPr>
      </p:cxnSp>
      <p:cxnSp>
        <p:nvCxnSpPr>
          <p:cNvPr id="394" name="Google Shape;394;p45"/>
          <p:cNvCxnSpPr>
            <a:stCxn id="385" idx="3"/>
            <a:endCxn id="389" idx="1"/>
          </p:cNvCxnSpPr>
          <p:nvPr/>
        </p:nvCxnSpPr>
        <p:spPr>
          <a:xfrm>
            <a:off x="2398350" y="2728854"/>
            <a:ext cx="843300" cy="391500"/>
          </a:xfrm>
          <a:prstGeom prst="bentConnector3">
            <a:avLst>
              <a:gd name="adj1" fmla="val 62493"/>
            </a:avLst>
          </a:prstGeom>
          <a:noFill/>
          <a:ln w="19050" cap="flat" cmpd="sng">
            <a:solidFill>
              <a:srgbClr val="FF0000"/>
            </a:solidFill>
            <a:prstDash val="solid"/>
            <a:round/>
            <a:headEnd type="none" w="med" len="med"/>
            <a:tailEnd type="none" w="med" len="med"/>
          </a:ln>
        </p:spPr>
      </p:cxnSp>
      <p:cxnSp>
        <p:nvCxnSpPr>
          <p:cNvPr id="395" name="Google Shape;395;p45"/>
          <p:cNvCxnSpPr>
            <a:stCxn id="385" idx="3"/>
            <a:endCxn id="390" idx="1"/>
          </p:cNvCxnSpPr>
          <p:nvPr/>
        </p:nvCxnSpPr>
        <p:spPr>
          <a:xfrm>
            <a:off x="2398350" y="2728854"/>
            <a:ext cx="852600" cy="926400"/>
          </a:xfrm>
          <a:prstGeom prst="bentConnector3">
            <a:avLst>
              <a:gd name="adj1" fmla="val 61811"/>
            </a:avLst>
          </a:prstGeom>
          <a:noFill/>
          <a:ln w="19050" cap="flat" cmpd="sng">
            <a:solidFill>
              <a:srgbClr val="FF0000"/>
            </a:solidFill>
            <a:prstDash val="solid"/>
            <a:round/>
            <a:headEnd type="none" w="med" len="med"/>
            <a:tailEnd type="none" w="med" len="med"/>
          </a:ln>
        </p:spPr>
      </p:cxnSp>
      <p:sp>
        <p:nvSpPr>
          <p:cNvPr id="396" name="Google Shape;396;p45"/>
          <p:cNvSpPr txBox="1"/>
          <p:nvPr/>
        </p:nvSpPr>
        <p:spPr>
          <a:xfrm>
            <a:off x="115050" y="32140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397" name="Google Shape;397;p45"/>
          <p:cNvSpPr txBox="1"/>
          <p:nvPr/>
        </p:nvSpPr>
        <p:spPr>
          <a:xfrm>
            <a:off x="115050" y="4106139"/>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
        <p:nvSpPr>
          <p:cNvPr id="398" name="Google Shape;398;p45"/>
          <p:cNvSpPr/>
          <p:nvPr/>
        </p:nvSpPr>
        <p:spPr>
          <a:xfrm>
            <a:off x="3250821" y="4080900"/>
            <a:ext cx="7128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399" name="Google Shape;399;p45"/>
          <p:cNvCxnSpPr>
            <a:stCxn id="396" idx="3"/>
            <a:endCxn id="398" idx="1"/>
          </p:cNvCxnSpPr>
          <p:nvPr/>
        </p:nvCxnSpPr>
        <p:spPr>
          <a:xfrm>
            <a:off x="2398350" y="3560354"/>
            <a:ext cx="852600" cy="630000"/>
          </a:xfrm>
          <a:prstGeom prst="bentConnector3">
            <a:avLst>
              <a:gd name="adj1" fmla="val 61811"/>
            </a:avLst>
          </a:prstGeom>
          <a:noFill/>
          <a:ln w="19050" cap="flat" cmpd="sng">
            <a:solidFill>
              <a:srgbClr val="FF0000"/>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9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9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9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405" name="Google Shape;405;p4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Statement</a:t>
            </a:r>
            <a:endParaRPr/>
          </a:p>
        </p:txBody>
      </p:sp>
      <p:sp>
        <p:nvSpPr>
          <p:cNvPr id="406" name="Google Shape;406;p46"/>
          <p:cNvSpPr txBox="1">
            <a:spLocks noGrp="1"/>
          </p:cNvSpPr>
          <p:nvPr>
            <p:ph type="body" idx="2"/>
          </p:nvPr>
        </p:nvSpPr>
        <p:spPr>
          <a:xfrm>
            <a:off x="2668975" y="1468554"/>
            <a:ext cx="3757800" cy="3416700"/>
          </a:xfrm>
          <a:prstGeom prst="rect">
            <a:avLst/>
          </a:prstGeom>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a:t>
            </a:r>
            <a:r>
              <a:rPr lang="en" sz="1200" dirty="0">
                <a:solidFill>
                  <a:srgbClr val="AF00DB"/>
                </a:solidFill>
                <a:highlight>
                  <a:srgbClr val="FFFFFF"/>
                </a:highlight>
                <a:latin typeface="Consolas"/>
                <a:ea typeface="Consolas"/>
                <a:cs typeface="Consolas"/>
                <a:sym typeface="Consolas"/>
              </a:rPr>
              <a:t>  switch</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day</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2</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"Monday"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3</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"Go to the gym"</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4</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5</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"Tuesday"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6</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"Attend coding class"</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7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8</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"Wednesday"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9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"Thursday"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10</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"Work on project"</a:t>
            </a:r>
            <a:r>
              <a:rPr lang="en" sz="1200" dirty="0">
                <a:solidFill>
                  <a:srgbClr val="000000"/>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11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12</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case</a:t>
            </a:r>
            <a:r>
              <a:rPr lang="en" sz="1200" dirty="0">
                <a:solidFill>
                  <a:srgbClr val="000000"/>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"Friday"</a:t>
            </a:r>
            <a:r>
              <a:rPr lang="en" sz="1200" dirty="0">
                <a:solidFill>
                  <a:srgbClr val="AF00DB"/>
                </a:solidFill>
                <a:highlight>
                  <a:srgbClr val="FFFFFF"/>
                </a:highlight>
                <a:latin typeface="Consolas"/>
                <a:ea typeface="Consolas"/>
                <a:cs typeface="Consolas"/>
                <a:sym typeface="Consolas"/>
              </a:rPr>
              <a: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13</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"Review week's work"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14 </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break</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15</a:t>
            </a:r>
            <a:r>
              <a:rPr lang="en" sz="1200" dirty="0">
                <a:solidFill>
                  <a:srgbClr val="000000"/>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default:</a:t>
            </a:r>
            <a:endParaRPr sz="1200" dirty="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16</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activity</a:t>
            </a:r>
            <a:r>
              <a:rPr lang="en" sz="1200" dirty="0">
                <a:solidFill>
                  <a:srgbClr val="000000"/>
                </a:solidFill>
                <a:highlight>
                  <a:srgbClr val="FFFFFF"/>
                </a:highlight>
                <a:latin typeface="Consolas"/>
                <a:ea typeface="Consolas"/>
                <a:cs typeface="Consolas"/>
                <a:sym typeface="Consolas"/>
              </a:rPr>
              <a:t> = </a:t>
            </a:r>
            <a:r>
              <a:rPr lang="en" sz="1200" dirty="0">
                <a:solidFill>
                  <a:srgbClr val="A31515"/>
                </a:solidFill>
                <a:highlight>
                  <a:srgbClr val="FFFFFF"/>
                </a:highlight>
                <a:latin typeface="Consolas"/>
                <a:ea typeface="Consolas"/>
                <a:cs typeface="Consolas"/>
                <a:sym typeface="Consolas"/>
              </a:rPr>
              <a:t>"Relax and unwind"</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17</a:t>
            </a:r>
            <a:r>
              <a:rPr lang="en" sz="1200" dirty="0">
                <a:solidFill>
                  <a:srgbClr val="000000"/>
                </a:solidFill>
                <a:highlight>
                  <a:srgbClr val="FFFFFF"/>
                </a:highlight>
                <a:latin typeface="Consolas"/>
                <a:ea typeface="Consolas"/>
                <a:cs typeface="Consolas"/>
                <a:sym typeface="Consolas"/>
              </a:rPr>
              <a:t> }</a:t>
            </a:r>
            <a:endParaRPr sz="1200" dirty="0"/>
          </a:p>
        </p:txBody>
      </p:sp>
      <p:sp>
        <p:nvSpPr>
          <p:cNvPr id="407" name="Google Shape;407;p46"/>
          <p:cNvSpPr txBox="1"/>
          <p:nvPr/>
        </p:nvSpPr>
        <p:spPr>
          <a:xfrm>
            <a:off x="115050" y="161355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switch</a:t>
            </a:r>
            <a:r>
              <a:rPr lang="en" sz="1100" b="1">
                <a:latin typeface="Roboto"/>
                <a:ea typeface="Roboto"/>
                <a:cs typeface="Roboto"/>
                <a:sym typeface="Roboto"/>
              </a:rPr>
              <a:t> </a:t>
            </a:r>
            <a:r>
              <a:rPr lang="en" sz="1100">
                <a:latin typeface="Roboto"/>
                <a:ea typeface="Roboto"/>
                <a:cs typeface="Roboto"/>
                <a:sym typeface="Roboto"/>
              </a:rPr>
              <a:t>statement compares against a </a:t>
            </a:r>
            <a:r>
              <a:rPr lang="en" sz="1100" b="1">
                <a:solidFill>
                  <a:srgbClr val="FF0000"/>
                </a:solidFill>
                <a:latin typeface="Roboto"/>
                <a:ea typeface="Roboto"/>
                <a:cs typeface="Roboto"/>
                <a:sym typeface="Roboto"/>
              </a:rPr>
              <a:t>specific value</a:t>
            </a:r>
            <a:r>
              <a:rPr lang="en" sz="1100">
                <a:latin typeface="Roboto"/>
                <a:ea typeface="Roboto"/>
                <a:cs typeface="Roboto"/>
                <a:sym typeface="Roboto"/>
              </a:rPr>
              <a:t>, not a boolean expression.</a:t>
            </a:r>
            <a:endParaRPr sz="1100">
              <a:latin typeface="Roboto"/>
              <a:ea typeface="Roboto"/>
              <a:cs typeface="Roboto"/>
              <a:sym typeface="Roboto"/>
            </a:endParaRPr>
          </a:p>
        </p:txBody>
      </p:sp>
      <p:sp>
        <p:nvSpPr>
          <p:cNvPr id="408" name="Google Shape;408;p46"/>
          <p:cNvSpPr txBox="1"/>
          <p:nvPr/>
        </p:nvSpPr>
        <p:spPr>
          <a:xfrm>
            <a:off x="6697400" y="16135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Cases don't use bracket ({}) delimenters.</a:t>
            </a:r>
            <a:endParaRPr sz="1100">
              <a:latin typeface="Roboto"/>
              <a:ea typeface="Roboto"/>
              <a:cs typeface="Roboto"/>
              <a:sym typeface="Roboto"/>
            </a:endParaRPr>
          </a:p>
        </p:txBody>
      </p:sp>
      <p:sp>
        <p:nvSpPr>
          <p:cNvPr id="409" name="Google Shape;409;p46"/>
          <p:cNvSpPr txBox="1"/>
          <p:nvPr/>
        </p:nvSpPr>
        <p:spPr>
          <a:xfrm>
            <a:off x="115050" y="24672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Each recognized value forms a different </a:t>
            </a:r>
            <a:r>
              <a:rPr lang="en" sz="1100" b="1">
                <a:solidFill>
                  <a:srgbClr val="FF0000"/>
                </a:solidFill>
                <a:latin typeface="Courier New"/>
                <a:ea typeface="Courier New"/>
                <a:cs typeface="Courier New"/>
                <a:sym typeface="Courier New"/>
              </a:rPr>
              <a:t>case</a:t>
            </a:r>
            <a:r>
              <a:rPr lang="en" sz="1100">
                <a:latin typeface="Roboto"/>
                <a:ea typeface="Roboto"/>
                <a:cs typeface="Roboto"/>
                <a:sym typeface="Roboto"/>
              </a:rPr>
              <a:t> statement.</a:t>
            </a:r>
            <a:endParaRPr sz="1100">
              <a:latin typeface="Roboto"/>
              <a:ea typeface="Roboto"/>
              <a:cs typeface="Roboto"/>
              <a:sym typeface="Roboto"/>
            </a:endParaRPr>
          </a:p>
        </p:txBody>
      </p:sp>
      <p:sp>
        <p:nvSpPr>
          <p:cNvPr id="410" name="Google Shape;410;p46"/>
          <p:cNvSpPr txBox="1"/>
          <p:nvPr/>
        </p:nvSpPr>
        <p:spPr>
          <a:xfrm>
            <a:off x="6697400" y="22344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Instead they use a </a:t>
            </a:r>
            <a:r>
              <a:rPr lang="en" sz="1100" b="1">
                <a:solidFill>
                  <a:srgbClr val="FF0000"/>
                </a:solidFill>
                <a:latin typeface="Courier New"/>
                <a:ea typeface="Courier New"/>
                <a:cs typeface="Courier New"/>
                <a:sym typeface="Courier New"/>
              </a:rPr>
              <a:t>:</a:t>
            </a:r>
            <a:r>
              <a:rPr lang="en" sz="1100">
                <a:latin typeface="Roboto"/>
                <a:ea typeface="Roboto"/>
                <a:cs typeface="Roboto"/>
                <a:sym typeface="Roboto"/>
              </a:rPr>
              <a:t> and </a:t>
            </a:r>
            <a:r>
              <a:rPr lang="en" sz="1100" b="1">
                <a:solidFill>
                  <a:srgbClr val="FF0000"/>
                </a:solidFill>
                <a:latin typeface="Courier New"/>
                <a:ea typeface="Courier New"/>
                <a:cs typeface="Courier New"/>
                <a:sym typeface="Courier New"/>
              </a:rPr>
              <a:t>break;</a:t>
            </a:r>
            <a:r>
              <a:rPr lang="en" sz="1100">
                <a:latin typeface="Roboto"/>
                <a:ea typeface="Roboto"/>
                <a:cs typeface="Roboto"/>
                <a:sym typeface="Roboto"/>
              </a:rPr>
              <a:t> to denote the </a:t>
            </a:r>
            <a:r>
              <a:rPr lang="en" sz="1100" b="1">
                <a:solidFill>
                  <a:srgbClr val="FF0000"/>
                </a:solidFill>
                <a:latin typeface="Roboto"/>
                <a:ea typeface="Roboto"/>
                <a:cs typeface="Roboto"/>
                <a:sym typeface="Roboto"/>
              </a:rPr>
              <a:t>start </a:t>
            </a:r>
            <a:r>
              <a:rPr lang="en" sz="1100">
                <a:latin typeface="Roboto"/>
                <a:ea typeface="Roboto"/>
                <a:cs typeface="Roboto"/>
                <a:sym typeface="Roboto"/>
              </a:rPr>
              <a:t>and </a:t>
            </a:r>
            <a:r>
              <a:rPr lang="en" sz="1100" b="1">
                <a:solidFill>
                  <a:srgbClr val="FF0000"/>
                </a:solidFill>
                <a:latin typeface="Roboto"/>
                <a:ea typeface="Roboto"/>
                <a:cs typeface="Roboto"/>
                <a:sym typeface="Roboto"/>
              </a:rPr>
              <a:t>end</a:t>
            </a:r>
            <a:r>
              <a:rPr lang="en" sz="1100">
                <a:latin typeface="Roboto"/>
                <a:ea typeface="Roboto"/>
                <a:cs typeface="Roboto"/>
                <a:sym typeface="Roboto"/>
              </a:rPr>
              <a:t>.</a:t>
            </a:r>
            <a:endParaRPr sz="1100">
              <a:latin typeface="Roboto"/>
              <a:ea typeface="Roboto"/>
              <a:cs typeface="Roboto"/>
              <a:sym typeface="Roboto"/>
            </a:endParaRPr>
          </a:p>
        </p:txBody>
      </p:sp>
      <p:sp>
        <p:nvSpPr>
          <p:cNvPr id="411" name="Google Shape;411;p46"/>
          <p:cNvSpPr/>
          <p:nvPr/>
        </p:nvSpPr>
        <p:spPr>
          <a:xfrm>
            <a:off x="4343220" y="1734211"/>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2" name="Google Shape;412;p46"/>
          <p:cNvSpPr/>
          <p:nvPr/>
        </p:nvSpPr>
        <p:spPr>
          <a:xfrm>
            <a:off x="3490017" y="2087554"/>
            <a:ext cx="548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3" name="Google Shape;413;p46"/>
          <p:cNvSpPr/>
          <p:nvPr/>
        </p:nvSpPr>
        <p:spPr>
          <a:xfrm>
            <a:off x="4425268" y="2282766"/>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4" name="Google Shape;414;p46"/>
          <p:cNvSpPr/>
          <p:nvPr/>
        </p:nvSpPr>
        <p:spPr>
          <a:xfrm>
            <a:off x="3481871" y="2644874"/>
            <a:ext cx="548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5" name="Google Shape;415;p46"/>
          <p:cNvSpPr/>
          <p:nvPr/>
        </p:nvSpPr>
        <p:spPr>
          <a:xfrm>
            <a:off x="4586775" y="2826792"/>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6" name="Google Shape;416;p46"/>
          <p:cNvSpPr/>
          <p:nvPr/>
        </p:nvSpPr>
        <p:spPr>
          <a:xfrm>
            <a:off x="4511486" y="3006514"/>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7" name="Google Shape;417;p46"/>
          <p:cNvSpPr/>
          <p:nvPr/>
        </p:nvSpPr>
        <p:spPr>
          <a:xfrm>
            <a:off x="4345121" y="3550540"/>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8" name="Google Shape;418;p46"/>
          <p:cNvSpPr/>
          <p:nvPr/>
        </p:nvSpPr>
        <p:spPr>
          <a:xfrm>
            <a:off x="3479443" y="3361943"/>
            <a:ext cx="548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19" name="Google Shape;419;p46"/>
          <p:cNvSpPr/>
          <p:nvPr/>
        </p:nvSpPr>
        <p:spPr>
          <a:xfrm>
            <a:off x="3486122" y="3905969"/>
            <a:ext cx="548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420" name="Google Shape;420;p46"/>
          <p:cNvCxnSpPr>
            <a:stCxn id="410" idx="1"/>
            <a:endCxn id="411" idx="3"/>
          </p:cNvCxnSpPr>
          <p:nvPr/>
        </p:nvCxnSpPr>
        <p:spPr>
          <a:xfrm rot="10800000">
            <a:off x="4460600" y="1843554"/>
            <a:ext cx="2236800" cy="652500"/>
          </a:xfrm>
          <a:prstGeom prst="bentConnector3">
            <a:avLst>
              <a:gd name="adj1" fmla="val 37504"/>
            </a:avLst>
          </a:prstGeom>
          <a:noFill/>
          <a:ln w="19050" cap="flat" cmpd="sng">
            <a:solidFill>
              <a:srgbClr val="FF0000"/>
            </a:solidFill>
            <a:prstDash val="solid"/>
            <a:round/>
            <a:headEnd type="none" w="med" len="med"/>
            <a:tailEnd type="none" w="med" len="med"/>
          </a:ln>
        </p:spPr>
      </p:cxnSp>
      <p:cxnSp>
        <p:nvCxnSpPr>
          <p:cNvPr id="421" name="Google Shape;421;p46"/>
          <p:cNvCxnSpPr>
            <a:stCxn id="410" idx="1"/>
            <a:endCxn id="412" idx="3"/>
          </p:cNvCxnSpPr>
          <p:nvPr/>
        </p:nvCxnSpPr>
        <p:spPr>
          <a:xfrm rot="10800000">
            <a:off x="4038800" y="2196954"/>
            <a:ext cx="2658600" cy="299100"/>
          </a:xfrm>
          <a:prstGeom prst="bentConnector3">
            <a:avLst>
              <a:gd name="adj1" fmla="val 31573"/>
            </a:avLst>
          </a:prstGeom>
          <a:noFill/>
          <a:ln w="19050" cap="flat" cmpd="sng">
            <a:solidFill>
              <a:srgbClr val="FF0000"/>
            </a:solidFill>
            <a:prstDash val="solid"/>
            <a:round/>
            <a:headEnd type="none" w="med" len="med"/>
            <a:tailEnd type="none" w="med" len="med"/>
          </a:ln>
        </p:spPr>
      </p:cxnSp>
      <p:cxnSp>
        <p:nvCxnSpPr>
          <p:cNvPr id="422" name="Google Shape;422;p46"/>
          <p:cNvCxnSpPr>
            <a:stCxn id="410" idx="1"/>
            <a:endCxn id="413" idx="3"/>
          </p:cNvCxnSpPr>
          <p:nvPr/>
        </p:nvCxnSpPr>
        <p:spPr>
          <a:xfrm rot="10800000">
            <a:off x="4542500" y="2392254"/>
            <a:ext cx="2154900" cy="103800"/>
          </a:xfrm>
          <a:prstGeom prst="bentConnector3">
            <a:avLst>
              <a:gd name="adj1" fmla="val 39257"/>
            </a:avLst>
          </a:prstGeom>
          <a:noFill/>
          <a:ln w="19050" cap="flat" cmpd="sng">
            <a:solidFill>
              <a:srgbClr val="FF0000"/>
            </a:solidFill>
            <a:prstDash val="solid"/>
            <a:round/>
            <a:headEnd type="none" w="med" len="med"/>
            <a:tailEnd type="none" w="med" len="med"/>
          </a:ln>
        </p:spPr>
      </p:cxnSp>
      <p:cxnSp>
        <p:nvCxnSpPr>
          <p:cNvPr id="423" name="Google Shape;423;p46"/>
          <p:cNvCxnSpPr>
            <a:stCxn id="410" idx="1"/>
            <a:endCxn id="414" idx="3"/>
          </p:cNvCxnSpPr>
          <p:nvPr/>
        </p:nvCxnSpPr>
        <p:spPr>
          <a:xfrm flipH="1">
            <a:off x="4030700" y="2496054"/>
            <a:ext cx="2666700" cy="258300"/>
          </a:xfrm>
          <a:prstGeom prst="bentConnector3">
            <a:avLst>
              <a:gd name="adj1" fmla="val 31477"/>
            </a:avLst>
          </a:prstGeom>
          <a:noFill/>
          <a:ln w="19050" cap="flat" cmpd="sng">
            <a:solidFill>
              <a:srgbClr val="FF0000"/>
            </a:solidFill>
            <a:prstDash val="solid"/>
            <a:round/>
            <a:headEnd type="none" w="med" len="med"/>
            <a:tailEnd type="none" w="med" len="med"/>
          </a:ln>
        </p:spPr>
      </p:cxnSp>
      <p:cxnSp>
        <p:nvCxnSpPr>
          <p:cNvPr id="424" name="Google Shape;424;p46"/>
          <p:cNvCxnSpPr>
            <a:stCxn id="410" idx="1"/>
            <a:endCxn id="415" idx="3"/>
          </p:cNvCxnSpPr>
          <p:nvPr/>
        </p:nvCxnSpPr>
        <p:spPr>
          <a:xfrm flipH="1">
            <a:off x="4704200" y="2496054"/>
            <a:ext cx="1993200" cy="440100"/>
          </a:xfrm>
          <a:prstGeom prst="bentConnector3">
            <a:avLst>
              <a:gd name="adj1" fmla="val 42442"/>
            </a:avLst>
          </a:prstGeom>
          <a:noFill/>
          <a:ln w="19050" cap="flat" cmpd="sng">
            <a:solidFill>
              <a:srgbClr val="FF0000"/>
            </a:solidFill>
            <a:prstDash val="solid"/>
            <a:round/>
            <a:headEnd type="none" w="med" len="med"/>
            <a:tailEnd type="none" w="med" len="med"/>
          </a:ln>
        </p:spPr>
      </p:cxnSp>
      <p:cxnSp>
        <p:nvCxnSpPr>
          <p:cNvPr id="425" name="Google Shape;425;p46"/>
          <p:cNvCxnSpPr>
            <a:stCxn id="410" idx="1"/>
            <a:endCxn id="416" idx="3"/>
          </p:cNvCxnSpPr>
          <p:nvPr/>
        </p:nvCxnSpPr>
        <p:spPr>
          <a:xfrm flipH="1">
            <a:off x="4628900" y="2496054"/>
            <a:ext cx="2068500" cy="619800"/>
          </a:xfrm>
          <a:prstGeom prst="bentConnector3">
            <a:avLst>
              <a:gd name="adj1" fmla="val 40556"/>
            </a:avLst>
          </a:prstGeom>
          <a:noFill/>
          <a:ln w="19050" cap="flat" cmpd="sng">
            <a:solidFill>
              <a:srgbClr val="FF0000"/>
            </a:solidFill>
            <a:prstDash val="solid"/>
            <a:round/>
            <a:headEnd type="none" w="med" len="med"/>
            <a:tailEnd type="none" w="med" len="med"/>
          </a:ln>
        </p:spPr>
      </p:cxnSp>
      <p:cxnSp>
        <p:nvCxnSpPr>
          <p:cNvPr id="426" name="Google Shape;426;p46"/>
          <p:cNvCxnSpPr>
            <a:stCxn id="410" idx="1"/>
            <a:endCxn id="418" idx="3"/>
          </p:cNvCxnSpPr>
          <p:nvPr/>
        </p:nvCxnSpPr>
        <p:spPr>
          <a:xfrm flipH="1">
            <a:off x="4028000" y="2496054"/>
            <a:ext cx="2669400" cy="975300"/>
          </a:xfrm>
          <a:prstGeom prst="bentConnector3">
            <a:avLst>
              <a:gd name="adj1" fmla="val 31445"/>
            </a:avLst>
          </a:prstGeom>
          <a:noFill/>
          <a:ln w="19050" cap="flat" cmpd="sng">
            <a:solidFill>
              <a:srgbClr val="FF0000"/>
            </a:solidFill>
            <a:prstDash val="solid"/>
            <a:round/>
            <a:headEnd type="none" w="med" len="med"/>
            <a:tailEnd type="none" w="med" len="med"/>
          </a:ln>
        </p:spPr>
      </p:cxnSp>
      <p:cxnSp>
        <p:nvCxnSpPr>
          <p:cNvPr id="427" name="Google Shape;427;p46"/>
          <p:cNvCxnSpPr>
            <a:stCxn id="410" idx="1"/>
            <a:endCxn id="417" idx="3"/>
          </p:cNvCxnSpPr>
          <p:nvPr/>
        </p:nvCxnSpPr>
        <p:spPr>
          <a:xfrm flipH="1">
            <a:off x="4462400" y="2496054"/>
            <a:ext cx="2235000" cy="1163700"/>
          </a:xfrm>
          <a:prstGeom prst="bentConnector3">
            <a:avLst>
              <a:gd name="adj1" fmla="val 37850"/>
            </a:avLst>
          </a:prstGeom>
          <a:noFill/>
          <a:ln w="19050" cap="flat" cmpd="sng">
            <a:solidFill>
              <a:srgbClr val="FF0000"/>
            </a:solidFill>
            <a:prstDash val="solid"/>
            <a:round/>
            <a:headEnd type="none" w="med" len="med"/>
            <a:tailEnd type="none" w="med" len="med"/>
          </a:ln>
        </p:spPr>
      </p:cxnSp>
      <p:cxnSp>
        <p:nvCxnSpPr>
          <p:cNvPr id="428" name="Google Shape;428;p46"/>
          <p:cNvCxnSpPr>
            <a:stCxn id="410" idx="1"/>
            <a:endCxn id="419" idx="3"/>
          </p:cNvCxnSpPr>
          <p:nvPr/>
        </p:nvCxnSpPr>
        <p:spPr>
          <a:xfrm flipH="1">
            <a:off x="4034900" y="2496054"/>
            <a:ext cx="2662500" cy="1519200"/>
          </a:xfrm>
          <a:prstGeom prst="bentConnector3">
            <a:avLst>
              <a:gd name="adj1" fmla="val 31869"/>
            </a:avLst>
          </a:prstGeom>
          <a:noFill/>
          <a:ln w="19050" cap="flat" cmpd="sng">
            <a:solidFill>
              <a:srgbClr val="FF0000"/>
            </a:solidFill>
            <a:prstDash val="solid"/>
            <a:round/>
            <a:headEnd type="none" w="med" len="med"/>
            <a:tailEnd type="none" w="med" len="med"/>
          </a:ln>
        </p:spPr>
      </p:cxnSp>
      <p:sp>
        <p:nvSpPr>
          <p:cNvPr id="429" name="Google Shape;429;p46"/>
          <p:cNvSpPr txBox="1"/>
          <p:nvPr/>
        </p:nvSpPr>
        <p:spPr>
          <a:xfrm>
            <a:off x="115050" y="32140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430" name="Google Shape;430;p46"/>
          <p:cNvSpPr txBox="1"/>
          <p:nvPr/>
        </p:nvSpPr>
        <p:spPr>
          <a:xfrm>
            <a:off x="115050" y="4106139"/>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41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2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21"/>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12"/>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4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3"/>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415"/>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1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418"/>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24"/>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425"/>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426"/>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4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1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436" name="Google Shape;436;p4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Statement</a:t>
            </a:r>
            <a:endParaRPr/>
          </a:p>
        </p:txBody>
      </p:sp>
      <p:sp>
        <p:nvSpPr>
          <p:cNvPr id="437" name="Google Shape;437;p47"/>
          <p:cNvSpPr txBox="1">
            <a:spLocks noGrp="1"/>
          </p:cNvSpPr>
          <p:nvPr>
            <p:ph type="body" idx="2"/>
          </p:nvPr>
        </p:nvSpPr>
        <p:spPr>
          <a:xfrm>
            <a:off x="2668975" y="1468554"/>
            <a:ext cx="3757800" cy="3416700"/>
          </a:xfrm>
          <a:prstGeom prst="rect">
            <a:avLst/>
          </a:prstGeom>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a:t>
            </a:r>
            <a:r>
              <a:rPr lang="en" sz="1200">
                <a:solidFill>
                  <a:srgbClr val="AF00DB"/>
                </a:solidFill>
                <a:highlight>
                  <a:srgbClr val="FFFFFF"/>
                </a:highlight>
                <a:latin typeface="Consolas"/>
                <a:ea typeface="Consolas"/>
                <a:cs typeface="Consolas"/>
                <a:sym typeface="Consolas"/>
              </a:rPr>
              <a:t>  switch</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day</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"Monday"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"Go to the gym"</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4</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"Tuesday"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"Attend coding class"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7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8</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"Wednesday"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9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"Thursday"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10</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"Work on project"</a:t>
            </a:r>
            <a:r>
              <a:rPr lang="en" sz="1200">
                <a:solidFill>
                  <a:srgbClr val="000000"/>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11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"Friday"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"Review week's work"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14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default: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"Relax and unwind"</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17</a:t>
            </a:r>
            <a:r>
              <a:rPr lang="en" sz="1200">
                <a:solidFill>
                  <a:srgbClr val="000000"/>
                </a:solidFill>
                <a:highlight>
                  <a:srgbClr val="FFFFFF"/>
                </a:highlight>
                <a:latin typeface="Consolas"/>
                <a:ea typeface="Consolas"/>
                <a:cs typeface="Consolas"/>
                <a:sym typeface="Consolas"/>
              </a:rPr>
              <a:t> }</a:t>
            </a:r>
            <a:endParaRPr sz="1200"/>
          </a:p>
        </p:txBody>
      </p:sp>
      <p:sp>
        <p:nvSpPr>
          <p:cNvPr id="438" name="Google Shape;438;p47"/>
          <p:cNvSpPr txBox="1"/>
          <p:nvPr/>
        </p:nvSpPr>
        <p:spPr>
          <a:xfrm>
            <a:off x="115050" y="161355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switch</a:t>
            </a:r>
            <a:r>
              <a:rPr lang="en" sz="1100" b="1">
                <a:latin typeface="Roboto"/>
                <a:ea typeface="Roboto"/>
                <a:cs typeface="Roboto"/>
                <a:sym typeface="Roboto"/>
              </a:rPr>
              <a:t> </a:t>
            </a:r>
            <a:r>
              <a:rPr lang="en" sz="1100">
                <a:latin typeface="Roboto"/>
                <a:ea typeface="Roboto"/>
                <a:cs typeface="Roboto"/>
                <a:sym typeface="Roboto"/>
              </a:rPr>
              <a:t>statement compares against a </a:t>
            </a:r>
            <a:r>
              <a:rPr lang="en" sz="1100" b="1">
                <a:solidFill>
                  <a:srgbClr val="FF0000"/>
                </a:solidFill>
                <a:latin typeface="Roboto"/>
                <a:ea typeface="Roboto"/>
                <a:cs typeface="Roboto"/>
                <a:sym typeface="Roboto"/>
              </a:rPr>
              <a:t>specific value</a:t>
            </a:r>
            <a:r>
              <a:rPr lang="en" sz="1100">
                <a:latin typeface="Roboto"/>
                <a:ea typeface="Roboto"/>
                <a:cs typeface="Roboto"/>
                <a:sym typeface="Roboto"/>
              </a:rPr>
              <a:t>, not a boolean expression.</a:t>
            </a:r>
            <a:endParaRPr sz="1100">
              <a:latin typeface="Roboto"/>
              <a:ea typeface="Roboto"/>
              <a:cs typeface="Roboto"/>
              <a:sym typeface="Roboto"/>
            </a:endParaRPr>
          </a:p>
        </p:txBody>
      </p:sp>
      <p:sp>
        <p:nvSpPr>
          <p:cNvPr id="439" name="Google Shape;439;p47"/>
          <p:cNvSpPr txBox="1"/>
          <p:nvPr/>
        </p:nvSpPr>
        <p:spPr>
          <a:xfrm>
            <a:off x="6697400" y="16135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Cases don't use bracket ({}) delimenters.</a:t>
            </a:r>
            <a:endParaRPr sz="1100">
              <a:latin typeface="Roboto"/>
              <a:ea typeface="Roboto"/>
              <a:cs typeface="Roboto"/>
              <a:sym typeface="Roboto"/>
            </a:endParaRPr>
          </a:p>
        </p:txBody>
      </p:sp>
      <p:sp>
        <p:nvSpPr>
          <p:cNvPr id="440" name="Google Shape;440;p47"/>
          <p:cNvSpPr txBox="1"/>
          <p:nvPr/>
        </p:nvSpPr>
        <p:spPr>
          <a:xfrm>
            <a:off x="115050" y="24672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Each recognized value forms a different </a:t>
            </a:r>
            <a:r>
              <a:rPr lang="en" sz="1100" b="1">
                <a:solidFill>
                  <a:srgbClr val="FF0000"/>
                </a:solidFill>
                <a:latin typeface="Courier New"/>
                <a:ea typeface="Courier New"/>
                <a:cs typeface="Courier New"/>
                <a:sym typeface="Courier New"/>
              </a:rPr>
              <a:t>case</a:t>
            </a:r>
            <a:r>
              <a:rPr lang="en" sz="1100">
                <a:latin typeface="Roboto"/>
                <a:ea typeface="Roboto"/>
                <a:cs typeface="Roboto"/>
                <a:sym typeface="Roboto"/>
              </a:rPr>
              <a:t> statement.</a:t>
            </a:r>
            <a:endParaRPr sz="1100">
              <a:latin typeface="Roboto"/>
              <a:ea typeface="Roboto"/>
              <a:cs typeface="Roboto"/>
              <a:sym typeface="Roboto"/>
            </a:endParaRPr>
          </a:p>
        </p:txBody>
      </p:sp>
      <p:sp>
        <p:nvSpPr>
          <p:cNvPr id="441" name="Google Shape;441;p47"/>
          <p:cNvSpPr txBox="1"/>
          <p:nvPr/>
        </p:nvSpPr>
        <p:spPr>
          <a:xfrm>
            <a:off x="6697400" y="22344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Instead they use a </a:t>
            </a:r>
            <a:r>
              <a:rPr lang="en" sz="1100" b="1">
                <a:solidFill>
                  <a:srgbClr val="FF0000"/>
                </a:solidFill>
                <a:latin typeface="Courier New"/>
                <a:ea typeface="Courier New"/>
                <a:cs typeface="Courier New"/>
                <a:sym typeface="Courier New"/>
              </a:rPr>
              <a:t>:</a:t>
            </a:r>
            <a:r>
              <a:rPr lang="en" sz="1100">
                <a:latin typeface="Roboto"/>
                <a:ea typeface="Roboto"/>
                <a:cs typeface="Roboto"/>
                <a:sym typeface="Roboto"/>
              </a:rPr>
              <a:t> and </a:t>
            </a:r>
            <a:r>
              <a:rPr lang="en" sz="1100" b="1">
                <a:solidFill>
                  <a:srgbClr val="FF0000"/>
                </a:solidFill>
                <a:latin typeface="Courier New"/>
                <a:ea typeface="Courier New"/>
                <a:cs typeface="Courier New"/>
                <a:sym typeface="Courier New"/>
              </a:rPr>
              <a:t>break;</a:t>
            </a:r>
            <a:r>
              <a:rPr lang="en" sz="1100">
                <a:latin typeface="Roboto"/>
                <a:ea typeface="Roboto"/>
                <a:cs typeface="Roboto"/>
                <a:sym typeface="Roboto"/>
              </a:rPr>
              <a:t> to denote the </a:t>
            </a:r>
            <a:r>
              <a:rPr lang="en" sz="1100" b="1">
                <a:solidFill>
                  <a:srgbClr val="FF0000"/>
                </a:solidFill>
                <a:latin typeface="Roboto"/>
                <a:ea typeface="Roboto"/>
                <a:cs typeface="Roboto"/>
                <a:sym typeface="Roboto"/>
              </a:rPr>
              <a:t>start </a:t>
            </a:r>
            <a:r>
              <a:rPr lang="en" sz="1100">
                <a:latin typeface="Roboto"/>
                <a:ea typeface="Roboto"/>
                <a:cs typeface="Roboto"/>
                <a:sym typeface="Roboto"/>
              </a:rPr>
              <a:t>and </a:t>
            </a:r>
            <a:r>
              <a:rPr lang="en" sz="1100" b="1">
                <a:solidFill>
                  <a:srgbClr val="FF0000"/>
                </a:solidFill>
                <a:latin typeface="Roboto"/>
                <a:ea typeface="Roboto"/>
                <a:cs typeface="Roboto"/>
                <a:sym typeface="Roboto"/>
              </a:rPr>
              <a:t>end</a:t>
            </a:r>
            <a:r>
              <a:rPr lang="en" sz="1100">
                <a:latin typeface="Roboto"/>
                <a:ea typeface="Roboto"/>
                <a:cs typeface="Roboto"/>
                <a:sym typeface="Roboto"/>
              </a:rPr>
              <a:t>.</a:t>
            </a:r>
            <a:endParaRPr sz="1100">
              <a:latin typeface="Roboto"/>
              <a:ea typeface="Roboto"/>
              <a:cs typeface="Roboto"/>
              <a:sym typeface="Roboto"/>
            </a:endParaRPr>
          </a:p>
        </p:txBody>
      </p:sp>
      <p:sp>
        <p:nvSpPr>
          <p:cNvPr id="442" name="Google Shape;442;p47"/>
          <p:cNvSpPr/>
          <p:nvPr/>
        </p:nvSpPr>
        <p:spPr>
          <a:xfrm>
            <a:off x="4586775" y="2826792"/>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43" name="Google Shape;443;p47"/>
          <p:cNvSpPr/>
          <p:nvPr/>
        </p:nvSpPr>
        <p:spPr>
          <a:xfrm>
            <a:off x="4511486" y="3006514"/>
            <a:ext cx="117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44" name="Google Shape;444;p47"/>
          <p:cNvSpPr/>
          <p:nvPr/>
        </p:nvSpPr>
        <p:spPr>
          <a:xfrm>
            <a:off x="3479443" y="3361943"/>
            <a:ext cx="548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445" name="Google Shape;445;p47"/>
          <p:cNvCxnSpPr>
            <a:stCxn id="446" idx="1"/>
            <a:endCxn id="442" idx="3"/>
          </p:cNvCxnSpPr>
          <p:nvPr/>
        </p:nvCxnSpPr>
        <p:spPr>
          <a:xfrm rot="10800000">
            <a:off x="4704200" y="2936154"/>
            <a:ext cx="1993200" cy="314400"/>
          </a:xfrm>
          <a:prstGeom prst="bentConnector3">
            <a:avLst>
              <a:gd name="adj1" fmla="val 33227"/>
            </a:avLst>
          </a:prstGeom>
          <a:noFill/>
          <a:ln w="19050" cap="flat" cmpd="sng">
            <a:solidFill>
              <a:srgbClr val="FF0000"/>
            </a:solidFill>
            <a:prstDash val="solid"/>
            <a:round/>
            <a:headEnd type="none" w="med" len="med"/>
            <a:tailEnd type="none" w="med" len="med"/>
          </a:ln>
        </p:spPr>
      </p:cxnSp>
      <p:cxnSp>
        <p:nvCxnSpPr>
          <p:cNvPr id="447" name="Google Shape;447;p47"/>
          <p:cNvCxnSpPr>
            <a:stCxn id="446" idx="1"/>
            <a:endCxn id="443" idx="3"/>
          </p:cNvCxnSpPr>
          <p:nvPr/>
        </p:nvCxnSpPr>
        <p:spPr>
          <a:xfrm rot="10800000">
            <a:off x="4628900" y="3115854"/>
            <a:ext cx="2068500" cy="134700"/>
          </a:xfrm>
          <a:prstGeom prst="bentConnector3">
            <a:avLst>
              <a:gd name="adj1" fmla="val 32017"/>
            </a:avLst>
          </a:prstGeom>
          <a:noFill/>
          <a:ln w="19050" cap="flat" cmpd="sng">
            <a:solidFill>
              <a:srgbClr val="FF0000"/>
            </a:solidFill>
            <a:prstDash val="solid"/>
            <a:round/>
            <a:headEnd type="none" w="med" len="med"/>
            <a:tailEnd type="none" w="med" len="med"/>
          </a:ln>
        </p:spPr>
      </p:cxnSp>
      <p:cxnSp>
        <p:nvCxnSpPr>
          <p:cNvPr id="448" name="Google Shape;448;p47"/>
          <p:cNvCxnSpPr>
            <a:stCxn id="446" idx="1"/>
            <a:endCxn id="444" idx="3"/>
          </p:cNvCxnSpPr>
          <p:nvPr/>
        </p:nvCxnSpPr>
        <p:spPr>
          <a:xfrm flipH="1">
            <a:off x="4028000" y="3250554"/>
            <a:ext cx="2669400" cy="220800"/>
          </a:xfrm>
          <a:prstGeom prst="bentConnector3">
            <a:avLst>
              <a:gd name="adj1" fmla="val 24810"/>
            </a:avLst>
          </a:prstGeom>
          <a:noFill/>
          <a:ln w="19050" cap="flat" cmpd="sng">
            <a:solidFill>
              <a:srgbClr val="FF0000"/>
            </a:solidFill>
            <a:prstDash val="solid"/>
            <a:round/>
            <a:headEnd type="none" w="med" len="med"/>
            <a:tailEnd type="none" w="med" len="med"/>
          </a:ln>
        </p:spPr>
      </p:cxnSp>
      <p:sp>
        <p:nvSpPr>
          <p:cNvPr id="449" name="Google Shape;449;p47"/>
          <p:cNvSpPr txBox="1"/>
          <p:nvPr/>
        </p:nvSpPr>
        <p:spPr>
          <a:xfrm>
            <a:off x="115050" y="32140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450" name="Google Shape;450;p47"/>
          <p:cNvSpPr txBox="1"/>
          <p:nvPr/>
        </p:nvSpPr>
        <p:spPr>
          <a:xfrm>
            <a:off x="115050" y="4106139"/>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
        <p:nvSpPr>
          <p:cNvPr id="446" name="Google Shape;446;p47"/>
          <p:cNvSpPr txBox="1"/>
          <p:nvPr/>
        </p:nvSpPr>
        <p:spPr>
          <a:xfrm>
            <a:off x="6697400" y="29042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Without the </a:t>
            </a:r>
            <a:r>
              <a:rPr lang="en" sz="1100" b="1">
                <a:solidFill>
                  <a:srgbClr val="FF0000"/>
                </a:solidFill>
                <a:latin typeface="Courier New"/>
                <a:ea typeface="Courier New"/>
                <a:cs typeface="Courier New"/>
                <a:sym typeface="Courier New"/>
              </a:rPr>
              <a:t>break</a:t>
            </a:r>
            <a:r>
              <a:rPr lang="en" sz="1100">
                <a:latin typeface="Roboto"/>
                <a:ea typeface="Roboto"/>
                <a:cs typeface="Roboto"/>
                <a:sym typeface="Roboto"/>
              </a:rPr>
              <a:t> statement the code executes any following cases until it reaches a </a:t>
            </a:r>
            <a:r>
              <a:rPr lang="en" sz="1100">
                <a:latin typeface="Courier New"/>
                <a:ea typeface="Courier New"/>
                <a:cs typeface="Courier New"/>
                <a:sym typeface="Courier New"/>
              </a:rPr>
              <a:t>break</a:t>
            </a:r>
            <a:r>
              <a:rPr lang="en" sz="1100">
                <a:latin typeface="Roboto"/>
                <a:ea typeface="Roboto"/>
                <a:cs typeface="Roboto"/>
                <a:sym typeface="Roboto"/>
              </a:rPr>
              <a:t>.</a:t>
            </a:r>
            <a:endParaRPr sz="1100">
              <a:latin typeface="Roboto"/>
              <a:ea typeface="Roboto"/>
              <a:cs typeface="Roboto"/>
              <a:sym typeface="Roboto"/>
            </a:endParaRPr>
          </a:p>
        </p:txBody>
      </p:sp>
      <p:sp>
        <p:nvSpPr>
          <p:cNvPr id="451" name="Google Shape;451;p47"/>
          <p:cNvSpPr txBox="1"/>
          <p:nvPr/>
        </p:nvSpPr>
        <p:spPr>
          <a:xfrm>
            <a:off x="6697400" y="3729843"/>
            <a:ext cx="2283300" cy="354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This is known as a </a:t>
            </a:r>
            <a:r>
              <a:rPr lang="en" sz="1100" b="1" dirty="0">
                <a:solidFill>
                  <a:srgbClr val="FF0000"/>
                </a:solidFill>
                <a:highlight>
                  <a:srgbClr val="FFFF00"/>
                </a:highlight>
                <a:latin typeface="Roboto"/>
                <a:ea typeface="Roboto"/>
                <a:cs typeface="Roboto"/>
                <a:sym typeface="Roboto"/>
              </a:rPr>
              <a:t>fallthrough</a:t>
            </a:r>
            <a:r>
              <a:rPr lang="en" sz="1100" dirty="0">
                <a:latin typeface="Roboto"/>
                <a:ea typeface="Roboto"/>
                <a:cs typeface="Roboto"/>
                <a:sym typeface="Roboto"/>
              </a:rPr>
              <a:t>.</a:t>
            </a:r>
            <a:endParaRPr sz="1100" dirty="0">
              <a:latin typeface="Roboto"/>
              <a:ea typeface="Roboto"/>
              <a:cs typeface="Roboto"/>
              <a:sym typeface="Roboto"/>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57" name="Google Shape;457;p4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Switch Statement</a:t>
            </a:r>
            <a:endParaRPr/>
          </a:p>
        </p:txBody>
      </p:sp>
      <p:sp>
        <p:nvSpPr>
          <p:cNvPr id="458" name="Google Shape;458;p48"/>
          <p:cNvSpPr txBox="1">
            <a:spLocks noGrp="1"/>
          </p:cNvSpPr>
          <p:nvPr>
            <p:ph type="body" idx="2"/>
          </p:nvPr>
        </p:nvSpPr>
        <p:spPr>
          <a:xfrm>
            <a:off x="2668975" y="1468554"/>
            <a:ext cx="3757800" cy="3416700"/>
          </a:xfrm>
          <a:prstGeom prst="rect">
            <a:avLst/>
          </a:prstGeom>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a:t>
            </a:r>
            <a:r>
              <a:rPr lang="en" sz="1200">
                <a:solidFill>
                  <a:srgbClr val="AF00DB"/>
                </a:solidFill>
                <a:highlight>
                  <a:srgbClr val="FFFFFF"/>
                </a:highlight>
                <a:latin typeface="Consolas"/>
                <a:ea typeface="Consolas"/>
                <a:cs typeface="Consolas"/>
                <a:sym typeface="Consolas"/>
              </a:rPr>
              <a:t>  switch</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day</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"Monday"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"Go to the gym"</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4</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"Tuesday"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"Attend coding class"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7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8</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"Wednesday"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9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"Thursday"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10</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"Work on project"</a:t>
            </a:r>
            <a:r>
              <a:rPr lang="en" sz="1200">
                <a:solidFill>
                  <a:srgbClr val="000000"/>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11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12</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case</a:t>
            </a:r>
            <a:r>
              <a:rPr lang="en" sz="1200">
                <a:solidFill>
                  <a:srgbClr val="000000"/>
                </a:solidFill>
                <a:highlight>
                  <a:srgbClr val="FFFFFF"/>
                </a:highlight>
                <a:latin typeface="Consolas"/>
                <a:ea typeface="Consolas"/>
                <a:cs typeface="Consolas"/>
                <a:sym typeface="Consolas"/>
              </a:rPr>
              <a:t> </a:t>
            </a:r>
            <a:r>
              <a:rPr lang="en" sz="1200">
                <a:solidFill>
                  <a:srgbClr val="A31515"/>
                </a:solidFill>
                <a:highlight>
                  <a:srgbClr val="FFFFFF"/>
                </a:highlight>
                <a:latin typeface="Consolas"/>
                <a:ea typeface="Consolas"/>
                <a:cs typeface="Consolas"/>
                <a:sym typeface="Consolas"/>
              </a:rPr>
              <a:t>"Friday"</a:t>
            </a:r>
            <a:r>
              <a:rPr lang="en" sz="1200">
                <a:solidFill>
                  <a:srgbClr val="AF00DB"/>
                </a:solidFill>
                <a:highlight>
                  <a:srgbClr val="FFFFFF"/>
                </a:highlight>
                <a:latin typeface="Consolas"/>
                <a:ea typeface="Consolas"/>
                <a:cs typeface="Consolas"/>
                <a:sym typeface="Consolas"/>
              </a:rPr>
              <a: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13</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"Review week's work"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14 </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break</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15</a:t>
            </a:r>
            <a:r>
              <a:rPr lang="en" sz="1200">
                <a:solidFill>
                  <a:srgbClr val="000000"/>
                </a:solidFill>
                <a:highlight>
                  <a:srgbClr val="FFFFFF"/>
                </a:highlight>
                <a:latin typeface="Consolas"/>
                <a:ea typeface="Consolas"/>
                <a:cs typeface="Consolas"/>
                <a:sym typeface="Consolas"/>
              </a:rPr>
              <a:t>    </a:t>
            </a:r>
            <a:r>
              <a:rPr lang="en" sz="1200">
                <a:solidFill>
                  <a:srgbClr val="AF00DB"/>
                </a:solidFill>
                <a:highlight>
                  <a:srgbClr val="FFFFFF"/>
                </a:highlight>
                <a:latin typeface="Consolas"/>
                <a:ea typeface="Consolas"/>
                <a:cs typeface="Consolas"/>
                <a:sym typeface="Consolas"/>
              </a:rPr>
              <a:t>default:</a:t>
            </a:r>
            <a:endParaRPr sz="12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16</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activity</a:t>
            </a:r>
            <a:r>
              <a:rPr lang="en" sz="1200">
                <a:solidFill>
                  <a:srgbClr val="000000"/>
                </a:solidFill>
                <a:highlight>
                  <a:srgbClr val="FFFFFF"/>
                </a:highlight>
                <a:latin typeface="Consolas"/>
                <a:ea typeface="Consolas"/>
                <a:cs typeface="Consolas"/>
                <a:sym typeface="Consolas"/>
              </a:rPr>
              <a:t> = </a:t>
            </a:r>
            <a:r>
              <a:rPr lang="en" sz="1200">
                <a:solidFill>
                  <a:srgbClr val="A31515"/>
                </a:solidFill>
                <a:highlight>
                  <a:srgbClr val="FFFFFF"/>
                </a:highlight>
                <a:latin typeface="Consolas"/>
                <a:ea typeface="Consolas"/>
                <a:cs typeface="Consolas"/>
                <a:sym typeface="Consolas"/>
              </a:rPr>
              <a:t>"Relax and unwind"</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chemeClr val="accent5"/>
                </a:solidFill>
                <a:highlight>
                  <a:srgbClr val="FFFFFF"/>
                </a:highlight>
                <a:latin typeface="Consolas"/>
                <a:ea typeface="Consolas"/>
                <a:cs typeface="Consolas"/>
                <a:sym typeface="Consolas"/>
              </a:rPr>
              <a:t>17</a:t>
            </a:r>
            <a:r>
              <a:rPr lang="en" sz="1200">
                <a:solidFill>
                  <a:srgbClr val="000000"/>
                </a:solidFill>
                <a:highlight>
                  <a:srgbClr val="FFFFFF"/>
                </a:highlight>
                <a:latin typeface="Consolas"/>
                <a:ea typeface="Consolas"/>
                <a:cs typeface="Consolas"/>
                <a:sym typeface="Consolas"/>
              </a:rPr>
              <a:t> }</a:t>
            </a:r>
            <a:endParaRPr sz="1200"/>
          </a:p>
        </p:txBody>
      </p:sp>
      <p:sp>
        <p:nvSpPr>
          <p:cNvPr id="459" name="Google Shape;459;p48"/>
          <p:cNvSpPr txBox="1"/>
          <p:nvPr/>
        </p:nvSpPr>
        <p:spPr>
          <a:xfrm>
            <a:off x="115050" y="161355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switch</a:t>
            </a:r>
            <a:r>
              <a:rPr lang="en" sz="1100" b="1">
                <a:latin typeface="Roboto"/>
                <a:ea typeface="Roboto"/>
                <a:cs typeface="Roboto"/>
                <a:sym typeface="Roboto"/>
              </a:rPr>
              <a:t> </a:t>
            </a:r>
            <a:r>
              <a:rPr lang="en" sz="1100">
                <a:latin typeface="Roboto"/>
                <a:ea typeface="Roboto"/>
                <a:cs typeface="Roboto"/>
                <a:sym typeface="Roboto"/>
              </a:rPr>
              <a:t>statement compares against a </a:t>
            </a:r>
            <a:r>
              <a:rPr lang="en" sz="1100" b="1">
                <a:solidFill>
                  <a:srgbClr val="FF0000"/>
                </a:solidFill>
                <a:latin typeface="Roboto"/>
                <a:ea typeface="Roboto"/>
                <a:cs typeface="Roboto"/>
                <a:sym typeface="Roboto"/>
              </a:rPr>
              <a:t>specific value</a:t>
            </a:r>
            <a:r>
              <a:rPr lang="en" sz="1100">
                <a:latin typeface="Roboto"/>
                <a:ea typeface="Roboto"/>
                <a:cs typeface="Roboto"/>
                <a:sym typeface="Roboto"/>
              </a:rPr>
              <a:t>, not a boolean expression.</a:t>
            </a:r>
            <a:endParaRPr sz="1100">
              <a:latin typeface="Roboto"/>
              <a:ea typeface="Roboto"/>
              <a:cs typeface="Roboto"/>
              <a:sym typeface="Roboto"/>
            </a:endParaRPr>
          </a:p>
        </p:txBody>
      </p:sp>
      <p:sp>
        <p:nvSpPr>
          <p:cNvPr id="460" name="Google Shape;460;p48"/>
          <p:cNvSpPr txBox="1"/>
          <p:nvPr/>
        </p:nvSpPr>
        <p:spPr>
          <a:xfrm>
            <a:off x="6697400" y="16135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Cases don't use bracket ({}) delimenters.</a:t>
            </a:r>
            <a:endParaRPr sz="1100">
              <a:latin typeface="Roboto"/>
              <a:ea typeface="Roboto"/>
              <a:cs typeface="Roboto"/>
              <a:sym typeface="Roboto"/>
            </a:endParaRPr>
          </a:p>
        </p:txBody>
      </p:sp>
      <p:sp>
        <p:nvSpPr>
          <p:cNvPr id="461" name="Google Shape;461;p48"/>
          <p:cNvSpPr txBox="1"/>
          <p:nvPr/>
        </p:nvSpPr>
        <p:spPr>
          <a:xfrm>
            <a:off x="115050" y="24672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Each recognized value forms a different </a:t>
            </a:r>
            <a:r>
              <a:rPr lang="en" sz="1100" b="1">
                <a:solidFill>
                  <a:srgbClr val="FF0000"/>
                </a:solidFill>
                <a:latin typeface="Courier New"/>
                <a:ea typeface="Courier New"/>
                <a:cs typeface="Courier New"/>
                <a:sym typeface="Courier New"/>
              </a:rPr>
              <a:t>case</a:t>
            </a:r>
            <a:r>
              <a:rPr lang="en" sz="1100">
                <a:latin typeface="Roboto"/>
                <a:ea typeface="Roboto"/>
                <a:cs typeface="Roboto"/>
                <a:sym typeface="Roboto"/>
              </a:rPr>
              <a:t> statement.</a:t>
            </a:r>
            <a:endParaRPr sz="1100">
              <a:latin typeface="Roboto"/>
              <a:ea typeface="Roboto"/>
              <a:cs typeface="Roboto"/>
              <a:sym typeface="Roboto"/>
            </a:endParaRPr>
          </a:p>
        </p:txBody>
      </p:sp>
      <p:sp>
        <p:nvSpPr>
          <p:cNvPr id="462" name="Google Shape;462;p48"/>
          <p:cNvSpPr txBox="1"/>
          <p:nvPr/>
        </p:nvSpPr>
        <p:spPr>
          <a:xfrm>
            <a:off x="6697400" y="2234454"/>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Instead they use a </a:t>
            </a:r>
            <a:r>
              <a:rPr lang="en" sz="1100" b="1">
                <a:solidFill>
                  <a:srgbClr val="FF0000"/>
                </a:solidFill>
                <a:latin typeface="Courier New"/>
                <a:ea typeface="Courier New"/>
                <a:cs typeface="Courier New"/>
                <a:sym typeface="Courier New"/>
              </a:rPr>
              <a:t>:</a:t>
            </a:r>
            <a:r>
              <a:rPr lang="en" sz="1100">
                <a:latin typeface="Roboto"/>
                <a:ea typeface="Roboto"/>
                <a:cs typeface="Roboto"/>
                <a:sym typeface="Roboto"/>
              </a:rPr>
              <a:t> and </a:t>
            </a:r>
            <a:r>
              <a:rPr lang="en" sz="1100" b="1">
                <a:solidFill>
                  <a:srgbClr val="FF0000"/>
                </a:solidFill>
                <a:latin typeface="Courier New"/>
                <a:ea typeface="Courier New"/>
                <a:cs typeface="Courier New"/>
                <a:sym typeface="Courier New"/>
              </a:rPr>
              <a:t>break;</a:t>
            </a:r>
            <a:r>
              <a:rPr lang="en" sz="1100">
                <a:latin typeface="Roboto"/>
                <a:ea typeface="Roboto"/>
                <a:cs typeface="Roboto"/>
                <a:sym typeface="Roboto"/>
              </a:rPr>
              <a:t> to denote the </a:t>
            </a:r>
            <a:r>
              <a:rPr lang="en" sz="1100" b="1">
                <a:solidFill>
                  <a:srgbClr val="FF0000"/>
                </a:solidFill>
                <a:latin typeface="Roboto"/>
                <a:ea typeface="Roboto"/>
                <a:cs typeface="Roboto"/>
                <a:sym typeface="Roboto"/>
              </a:rPr>
              <a:t>start </a:t>
            </a:r>
            <a:r>
              <a:rPr lang="en" sz="1100">
                <a:latin typeface="Roboto"/>
                <a:ea typeface="Roboto"/>
                <a:cs typeface="Roboto"/>
                <a:sym typeface="Roboto"/>
              </a:rPr>
              <a:t>and </a:t>
            </a:r>
            <a:r>
              <a:rPr lang="en" sz="1100" b="1">
                <a:solidFill>
                  <a:srgbClr val="FF0000"/>
                </a:solidFill>
                <a:latin typeface="Roboto"/>
                <a:ea typeface="Roboto"/>
                <a:cs typeface="Roboto"/>
                <a:sym typeface="Roboto"/>
              </a:rPr>
              <a:t>end</a:t>
            </a:r>
            <a:r>
              <a:rPr lang="en" sz="1100">
                <a:latin typeface="Roboto"/>
                <a:ea typeface="Roboto"/>
                <a:cs typeface="Roboto"/>
                <a:sym typeface="Roboto"/>
              </a:rPr>
              <a:t>.</a:t>
            </a:r>
            <a:endParaRPr sz="1100">
              <a:latin typeface="Roboto"/>
              <a:ea typeface="Roboto"/>
              <a:cs typeface="Roboto"/>
              <a:sym typeface="Roboto"/>
            </a:endParaRPr>
          </a:p>
        </p:txBody>
      </p:sp>
      <p:sp>
        <p:nvSpPr>
          <p:cNvPr id="463" name="Google Shape;463;p48"/>
          <p:cNvSpPr txBox="1"/>
          <p:nvPr/>
        </p:nvSpPr>
        <p:spPr>
          <a:xfrm>
            <a:off x="115050" y="32140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can be used to perform code on any value that is not a specific case.</a:t>
            </a:r>
            <a:endParaRPr sz="1100">
              <a:latin typeface="Roboto"/>
              <a:ea typeface="Roboto"/>
              <a:cs typeface="Roboto"/>
              <a:sym typeface="Roboto"/>
            </a:endParaRPr>
          </a:p>
        </p:txBody>
      </p:sp>
      <p:sp>
        <p:nvSpPr>
          <p:cNvPr id="464" name="Google Shape;464;p48"/>
          <p:cNvSpPr txBox="1"/>
          <p:nvPr/>
        </p:nvSpPr>
        <p:spPr>
          <a:xfrm>
            <a:off x="115050" y="4106139"/>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 </a:t>
            </a:r>
            <a:r>
              <a:rPr lang="en" sz="1100" b="1">
                <a:solidFill>
                  <a:srgbClr val="FF0000"/>
                </a:solidFill>
                <a:latin typeface="Courier New"/>
                <a:ea typeface="Courier New"/>
                <a:cs typeface="Courier New"/>
                <a:sym typeface="Courier New"/>
              </a:rPr>
              <a:t>default</a:t>
            </a:r>
            <a:r>
              <a:rPr lang="en" sz="1100">
                <a:latin typeface="Roboto"/>
                <a:ea typeface="Roboto"/>
                <a:cs typeface="Roboto"/>
                <a:sym typeface="Roboto"/>
              </a:rPr>
              <a:t> case is optional and is traditionally located at the end of the switch statement.</a:t>
            </a:r>
            <a:endParaRPr sz="1100">
              <a:latin typeface="Roboto"/>
              <a:ea typeface="Roboto"/>
              <a:cs typeface="Roboto"/>
              <a:sym typeface="Roboto"/>
            </a:endParaRPr>
          </a:p>
        </p:txBody>
      </p:sp>
      <p:sp>
        <p:nvSpPr>
          <p:cNvPr id="465" name="Google Shape;465;p48"/>
          <p:cNvSpPr txBox="1"/>
          <p:nvPr/>
        </p:nvSpPr>
        <p:spPr>
          <a:xfrm>
            <a:off x="6697400" y="2904204"/>
            <a:ext cx="22833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Without the </a:t>
            </a:r>
            <a:r>
              <a:rPr lang="en" sz="1100" b="1">
                <a:solidFill>
                  <a:srgbClr val="FF0000"/>
                </a:solidFill>
                <a:latin typeface="Courier New"/>
                <a:ea typeface="Courier New"/>
                <a:cs typeface="Courier New"/>
                <a:sym typeface="Courier New"/>
              </a:rPr>
              <a:t>break</a:t>
            </a:r>
            <a:r>
              <a:rPr lang="en" sz="1100">
                <a:latin typeface="Roboto"/>
                <a:ea typeface="Roboto"/>
                <a:cs typeface="Roboto"/>
                <a:sym typeface="Roboto"/>
              </a:rPr>
              <a:t> statement the code executes any following cases until it reaches a </a:t>
            </a:r>
            <a:r>
              <a:rPr lang="en" sz="1100">
                <a:latin typeface="Courier New"/>
                <a:ea typeface="Courier New"/>
                <a:cs typeface="Courier New"/>
                <a:sym typeface="Courier New"/>
              </a:rPr>
              <a:t>break</a:t>
            </a:r>
            <a:r>
              <a:rPr lang="en" sz="1100">
                <a:latin typeface="Roboto"/>
                <a:ea typeface="Roboto"/>
                <a:cs typeface="Roboto"/>
                <a:sym typeface="Roboto"/>
              </a:rPr>
              <a:t>.</a:t>
            </a:r>
            <a:endParaRPr sz="1100">
              <a:latin typeface="Roboto"/>
              <a:ea typeface="Roboto"/>
              <a:cs typeface="Roboto"/>
              <a:sym typeface="Roboto"/>
            </a:endParaRPr>
          </a:p>
        </p:txBody>
      </p:sp>
      <p:sp>
        <p:nvSpPr>
          <p:cNvPr id="466" name="Google Shape;466;p48"/>
          <p:cNvSpPr txBox="1"/>
          <p:nvPr/>
        </p:nvSpPr>
        <p:spPr>
          <a:xfrm>
            <a:off x="6697400" y="3729843"/>
            <a:ext cx="2283300" cy="354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This is known as a </a:t>
            </a:r>
            <a:r>
              <a:rPr lang="en" sz="1100" b="1">
                <a:solidFill>
                  <a:srgbClr val="FF0000"/>
                </a:solidFill>
                <a:latin typeface="Roboto"/>
                <a:ea typeface="Roboto"/>
                <a:cs typeface="Roboto"/>
                <a:sym typeface="Roboto"/>
              </a:rPr>
              <a:t>fallthrough</a:t>
            </a:r>
            <a:r>
              <a:rPr lang="en" sz="1100">
                <a:latin typeface="Roboto"/>
                <a:ea typeface="Roboto"/>
                <a:cs typeface="Roboto"/>
                <a:sym typeface="Roboto"/>
              </a:rPr>
              <a:t>.</a:t>
            </a:r>
            <a:endParaRPr sz="1100">
              <a:latin typeface="Roboto"/>
              <a:ea typeface="Roboto"/>
              <a:cs typeface="Roboto"/>
              <a:sym typeface="Roboto"/>
            </a:endParaRPr>
          </a:p>
        </p:txBody>
      </p:sp>
      <p:sp>
        <p:nvSpPr>
          <p:cNvPr id="467" name="Google Shape;467;p48"/>
          <p:cNvSpPr txBox="1"/>
          <p:nvPr/>
        </p:nvSpPr>
        <p:spPr>
          <a:xfrm>
            <a:off x="6685864" y="4185942"/>
            <a:ext cx="22833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Execution code is located </a:t>
            </a:r>
            <a:r>
              <a:rPr lang="en" sz="1100" b="1">
                <a:solidFill>
                  <a:srgbClr val="FF0000"/>
                </a:solidFill>
                <a:latin typeface="Roboto"/>
                <a:ea typeface="Roboto"/>
                <a:cs typeface="Roboto"/>
                <a:sym typeface="Roboto"/>
              </a:rPr>
              <a:t>after </a:t>
            </a:r>
            <a:r>
              <a:rPr lang="en" sz="1100">
                <a:latin typeface="Roboto"/>
                <a:ea typeface="Roboto"/>
                <a:cs typeface="Roboto"/>
                <a:sym typeface="Roboto"/>
              </a:rPr>
              <a:t>each case statement.</a:t>
            </a:r>
            <a:endParaRPr sz="1100">
              <a:latin typeface="Roboto"/>
              <a:ea typeface="Roboto"/>
              <a:cs typeface="Roboto"/>
              <a:sym typeface="Roboto"/>
            </a:endParaRPr>
          </a:p>
        </p:txBody>
      </p:sp>
      <p:sp>
        <p:nvSpPr>
          <p:cNvPr id="468" name="Google Shape;468;p48"/>
          <p:cNvSpPr/>
          <p:nvPr/>
        </p:nvSpPr>
        <p:spPr>
          <a:xfrm>
            <a:off x="3493625" y="1910985"/>
            <a:ext cx="2283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69" name="Google Shape;469;p48"/>
          <p:cNvSpPr/>
          <p:nvPr/>
        </p:nvSpPr>
        <p:spPr>
          <a:xfrm>
            <a:off x="3486560" y="2455335"/>
            <a:ext cx="27960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70" name="Google Shape;470;p48"/>
          <p:cNvSpPr/>
          <p:nvPr/>
        </p:nvSpPr>
        <p:spPr>
          <a:xfrm>
            <a:off x="3486551" y="3180000"/>
            <a:ext cx="24639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71" name="Google Shape;471;p48"/>
          <p:cNvSpPr/>
          <p:nvPr/>
        </p:nvSpPr>
        <p:spPr>
          <a:xfrm>
            <a:off x="3486550" y="3722785"/>
            <a:ext cx="27393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472" name="Google Shape;472;p48"/>
          <p:cNvSpPr/>
          <p:nvPr/>
        </p:nvSpPr>
        <p:spPr>
          <a:xfrm>
            <a:off x="3486551" y="4265550"/>
            <a:ext cx="2555700" cy="218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473" name="Google Shape;473;p48"/>
          <p:cNvCxnSpPr>
            <a:stCxn id="467" idx="1"/>
            <a:endCxn id="468" idx="3"/>
          </p:cNvCxnSpPr>
          <p:nvPr/>
        </p:nvCxnSpPr>
        <p:spPr>
          <a:xfrm rot="10800000">
            <a:off x="5776864" y="2020242"/>
            <a:ext cx="909000" cy="2427300"/>
          </a:xfrm>
          <a:prstGeom prst="bentConnector3">
            <a:avLst>
              <a:gd name="adj1" fmla="val 22620"/>
            </a:avLst>
          </a:prstGeom>
          <a:noFill/>
          <a:ln w="19050" cap="flat" cmpd="sng">
            <a:solidFill>
              <a:srgbClr val="FF0000"/>
            </a:solidFill>
            <a:prstDash val="solid"/>
            <a:round/>
            <a:headEnd type="none" w="med" len="med"/>
            <a:tailEnd type="none" w="med" len="med"/>
          </a:ln>
        </p:spPr>
      </p:cxnSp>
      <p:cxnSp>
        <p:nvCxnSpPr>
          <p:cNvPr id="474" name="Google Shape;474;p48"/>
          <p:cNvCxnSpPr>
            <a:stCxn id="467" idx="1"/>
            <a:endCxn id="469" idx="3"/>
          </p:cNvCxnSpPr>
          <p:nvPr/>
        </p:nvCxnSpPr>
        <p:spPr>
          <a:xfrm rot="10800000">
            <a:off x="6282664" y="2564742"/>
            <a:ext cx="403200" cy="1882800"/>
          </a:xfrm>
          <a:prstGeom prst="bentConnector3">
            <a:avLst>
              <a:gd name="adj1" fmla="val 49247"/>
            </a:avLst>
          </a:prstGeom>
          <a:noFill/>
          <a:ln w="19050" cap="flat" cmpd="sng">
            <a:solidFill>
              <a:srgbClr val="FF0000"/>
            </a:solidFill>
            <a:prstDash val="solid"/>
            <a:round/>
            <a:headEnd type="none" w="med" len="med"/>
            <a:tailEnd type="none" w="med" len="med"/>
          </a:ln>
        </p:spPr>
      </p:cxnSp>
      <p:cxnSp>
        <p:nvCxnSpPr>
          <p:cNvPr id="475" name="Google Shape;475;p48"/>
          <p:cNvCxnSpPr>
            <a:stCxn id="467" idx="1"/>
            <a:endCxn id="471" idx="3"/>
          </p:cNvCxnSpPr>
          <p:nvPr/>
        </p:nvCxnSpPr>
        <p:spPr>
          <a:xfrm rot="10800000">
            <a:off x="6225964" y="3832242"/>
            <a:ext cx="459900" cy="615300"/>
          </a:xfrm>
          <a:prstGeom prst="bentConnector3">
            <a:avLst>
              <a:gd name="adj1" fmla="val 43175"/>
            </a:avLst>
          </a:prstGeom>
          <a:noFill/>
          <a:ln w="19050" cap="flat" cmpd="sng">
            <a:solidFill>
              <a:srgbClr val="FF0000"/>
            </a:solidFill>
            <a:prstDash val="solid"/>
            <a:round/>
            <a:headEnd type="none" w="med" len="med"/>
            <a:tailEnd type="none" w="med" len="med"/>
          </a:ln>
        </p:spPr>
      </p:cxnSp>
      <p:cxnSp>
        <p:nvCxnSpPr>
          <p:cNvPr id="476" name="Google Shape;476;p48"/>
          <p:cNvCxnSpPr>
            <a:stCxn id="467" idx="1"/>
            <a:endCxn id="472" idx="3"/>
          </p:cNvCxnSpPr>
          <p:nvPr/>
        </p:nvCxnSpPr>
        <p:spPr>
          <a:xfrm rot="10800000">
            <a:off x="6042364" y="4374942"/>
            <a:ext cx="643500" cy="72600"/>
          </a:xfrm>
          <a:prstGeom prst="bentConnector3">
            <a:avLst>
              <a:gd name="adj1" fmla="val 30857"/>
            </a:avLst>
          </a:prstGeom>
          <a:noFill/>
          <a:ln w="19050" cap="flat" cmpd="sng">
            <a:solidFill>
              <a:srgbClr val="FF0000"/>
            </a:solidFill>
            <a:prstDash val="solid"/>
            <a:round/>
            <a:headEnd type="none" w="med" len="med"/>
            <a:tailEnd type="none" w="med" len="med"/>
          </a:ln>
        </p:spPr>
      </p:cxnSp>
      <p:cxnSp>
        <p:nvCxnSpPr>
          <p:cNvPr id="477" name="Google Shape;477;p48"/>
          <p:cNvCxnSpPr>
            <a:stCxn id="467" idx="1"/>
            <a:endCxn id="470" idx="3"/>
          </p:cNvCxnSpPr>
          <p:nvPr/>
        </p:nvCxnSpPr>
        <p:spPr>
          <a:xfrm rot="10800000">
            <a:off x="5950564" y="3289242"/>
            <a:ext cx="735300" cy="1158300"/>
          </a:xfrm>
          <a:prstGeom prst="bentConnector3">
            <a:avLst>
              <a:gd name="adj1" fmla="val 27004"/>
            </a:avLst>
          </a:prstGeom>
          <a:noFill/>
          <a:ln w="19050" cap="flat" cmpd="sng">
            <a:solidFill>
              <a:srgbClr val="FF0000"/>
            </a:solidFill>
            <a:prstDash val="solid"/>
            <a:round/>
            <a:headEnd type="none" w="med" len="med"/>
            <a:tailEnd type="none" w="med" len="med"/>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Refactor to use switch statement</a:t>
            </a:r>
            <a:endParaRPr/>
          </a:p>
        </p:txBody>
      </p:sp>
      <p:sp>
        <p:nvSpPr>
          <p:cNvPr id="483" name="Google Shape;483;p49"/>
          <p:cNvSpPr txBox="1">
            <a:spLocks noGrp="1"/>
          </p:cNvSpPr>
          <p:nvPr>
            <p:ph type="body" idx="1"/>
          </p:nvPr>
        </p:nvSpPr>
        <p:spPr>
          <a:xfrm>
            <a:off x="65250" y="731625"/>
            <a:ext cx="8955900" cy="4311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Refactor the </a:t>
            </a:r>
            <a:r>
              <a:rPr lang="en">
                <a:latin typeface="Courier New"/>
                <a:ea typeface="Courier New"/>
                <a:cs typeface="Courier New"/>
                <a:sym typeface="Courier New"/>
              </a:rPr>
              <a:t>UserShapes</a:t>
            </a:r>
            <a:r>
              <a:rPr lang="en"/>
              <a:t> class to use a </a:t>
            </a:r>
            <a:r>
              <a:rPr lang="en">
                <a:latin typeface="Courier New"/>
                <a:ea typeface="Courier New"/>
                <a:cs typeface="Courier New"/>
                <a:sym typeface="Courier New"/>
              </a:rPr>
              <a:t>switch</a:t>
            </a:r>
            <a:r>
              <a:rPr lang="en"/>
              <a:t> statement instead of an </a:t>
            </a:r>
            <a:r>
              <a:rPr lang="en">
                <a:latin typeface="Courier New"/>
                <a:ea typeface="Courier New"/>
                <a:cs typeface="Courier New"/>
                <a:sym typeface="Courier New"/>
              </a:rPr>
              <a:t>else if</a:t>
            </a:r>
            <a:r>
              <a:rPr lang="en"/>
              <a:t> block. </a:t>
            </a:r>
            <a:endParaRPr/>
          </a:p>
        </p:txBody>
      </p:sp>
      <p:sp>
        <p:nvSpPr>
          <p:cNvPr id="484" name="Google Shape;484;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485" name="Google Shape;485;p49"/>
          <p:cNvSpPr txBox="1">
            <a:spLocks noGrp="1"/>
          </p:cNvSpPr>
          <p:nvPr>
            <p:ph type="body" idx="4"/>
          </p:nvPr>
        </p:nvSpPr>
        <p:spPr>
          <a:xfrm>
            <a:off x="127475" y="4352979"/>
            <a:ext cx="38628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Switch </a:t>
            </a:r>
            <a:r>
              <a:rPr lang="en"/>
              <a:t>statements are more </a:t>
            </a:r>
            <a:r>
              <a:rPr lang="en" b="1">
                <a:solidFill>
                  <a:srgbClr val="FF0000"/>
                </a:solidFill>
              </a:rPr>
              <a:t>efficient </a:t>
            </a:r>
            <a:r>
              <a:rPr lang="en"/>
              <a:t>than </a:t>
            </a:r>
            <a:r>
              <a:rPr lang="en">
                <a:latin typeface="Courier New"/>
                <a:ea typeface="Courier New"/>
                <a:cs typeface="Courier New"/>
                <a:sym typeface="Courier New"/>
              </a:rPr>
              <a:t>else if</a:t>
            </a:r>
            <a:r>
              <a:rPr lang="en"/>
              <a:t> statements as only the the specific </a:t>
            </a:r>
            <a:r>
              <a:rPr lang="en">
                <a:latin typeface="Courier New"/>
                <a:ea typeface="Courier New"/>
                <a:cs typeface="Courier New"/>
                <a:sym typeface="Courier New"/>
              </a:rPr>
              <a:t>case</a:t>
            </a:r>
            <a:r>
              <a:rPr lang="en"/>
              <a:t> is executed instead of checking each boolean expression.</a:t>
            </a:r>
            <a:endParaRPr/>
          </a:p>
        </p:txBody>
      </p:sp>
      <p:sp>
        <p:nvSpPr>
          <p:cNvPr id="486" name="Google Shape;486;p49"/>
          <p:cNvSpPr txBox="1">
            <a:spLocks noGrp="1"/>
          </p:cNvSpPr>
          <p:nvPr>
            <p:ph type="body" idx="2"/>
          </p:nvPr>
        </p:nvSpPr>
        <p:spPr>
          <a:xfrm>
            <a:off x="3990275" y="1289175"/>
            <a:ext cx="4885200" cy="2260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b="1" i="1">
                <a:solidFill>
                  <a:srgbClr val="FF0000"/>
                </a:solidFill>
              </a:rPr>
              <a:t>Switch</a:t>
            </a:r>
            <a:r>
              <a:rPr lang="en" i="1"/>
              <a:t> </a:t>
            </a:r>
            <a:r>
              <a:rPr lang="en"/>
              <a:t>on the user's input for shape type.</a:t>
            </a:r>
            <a:endParaRPr/>
          </a:p>
          <a:p>
            <a:pPr marL="457200" lvl="0" indent="-311150" algn="l" rtl="0">
              <a:spcBef>
                <a:spcPts val="1000"/>
              </a:spcBef>
              <a:spcAft>
                <a:spcPts val="0"/>
              </a:spcAft>
              <a:buSzPts val="1300"/>
              <a:buChar char="●"/>
            </a:pPr>
            <a:r>
              <a:rPr lang="en"/>
              <a:t>Turn each </a:t>
            </a:r>
            <a:r>
              <a:rPr lang="en">
                <a:latin typeface="Courier New"/>
                <a:ea typeface="Courier New"/>
                <a:cs typeface="Courier New"/>
                <a:sym typeface="Courier New"/>
              </a:rPr>
              <a:t>if</a:t>
            </a:r>
            <a:r>
              <a:rPr lang="en"/>
              <a:t>/</a:t>
            </a:r>
            <a:r>
              <a:rPr lang="en">
                <a:latin typeface="Courier New"/>
                <a:ea typeface="Courier New"/>
                <a:cs typeface="Courier New"/>
                <a:sym typeface="Courier New"/>
              </a:rPr>
              <a:t>else if</a:t>
            </a:r>
            <a:r>
              <a:rPr lang="en"/>
              <a:t> expression into a </a:t>
            </a:r>
            <a:r>
              <a:rPr lang="en">
                <a:solidFill>
                  <a:srgbClr val="FF0000"/>
                </a:solidFill>
                <a:latin typeface="Courier New"/>
                <a:ea typeface="Courier New"/>
                <a:cs typeface="Courier New"/>
                <a:sym typeface="Courier New"/>
              </a:rPr>
              <a:t>case</a:t>
            </a:r>
            <a:r>
              <a:rPr lang="en"/>
              <a:t> inside the new </a:t>
            </a:r>
            <a:r>
              <a:rPr lang="en">
                <a:latin typeface="Courier New"/>
                <a:ea typeface="Courier New"/>
                <a:cs typeface="Courier New"/>
                <a:sym typeface="Courier New"/>
              </a:rPr>
              <a:t>switch</a:t>
            </a:r>
            <a:r>
              <a:rPr lang="en"/>
              <a:t> statement.</a:t>
            </a:r>
            <a:endParaRPr/>
          </a:p>
          <a:p>
            <a:pPr marL="914400" lvl="1" indent="-304800" algn="l" rtl="0">
              <a:spcBef>
                <a:spcPts val="1000"/>
              </a:spcBef>
              <a:spcAft>
                <a:spcPts val="0"/>
              </a:spcAft>
              <a:buSzPts val="1200"/>
              <a:buChar char="○"/>
            </a:pPr>
            <a:r>
              <a:rPr lang="en" sz="1200"/>
              <a:t>Don't forget the </a:t>
            </a:r>
            <a:r>
              <a:rPr lang="en" sz="1200">
                <a:solidFill>
                  <a:srgbClr val="FF0000"/>
                </a:solidFill>
                <a:latin typeface="Courier New"/>
                <a:ea typeface="Courier New"/>
                <a:cs typeface="Courier New"/>
                <a:sym typeface="Courier New"/>
              </a:rPr>
              <a:t>break;</a:t>
            </a:r>
            <a:r>
              <a:rPr lang="en" sz="1200"/>
              <a:t> at the end of each </a:t>
            </a:r>
            <a:r>
              <a:rPr lang="en" sz="1200">
                <a:latin typeface="Courier New"/>
                <a:ea typeface="Courier New"/>
                <a:cs typeface="Courier New"/>
                <a:sym typeface="Courier New"/>
              </a:rPr>
              <a:t>case</a:t>
            </a:r>
            <a:r>
              <a:rPr lang="en" sz="1200"/>
              <a:t>.</a:t>
            </a:r>
            <a:endParaRPr sz="1200"/>
          </a:p>
          <a:p>
            <a:pPr marL="457200" lvl="0" indent="-311150" algn="l" rtl="0">
              <a:spcBef>
                <a:spcPts val="1000"/>
              </a:spcBef>
              <a:spcAft>
                <a:spcPts val="0"/>
              </a:spcAft>
              <a:buSzPts val="1300"/>
              <a:buChar char="●"/>
            </a:pPr>
            <a:r>
              <a:rPr lang="en"/>
              <a:t>For the </a:t>
            </a:r>
            <a:r>
              <a:rPr lang="en">
                <a:latin typeface="Courier New"/>
                <a:ea typeface="Courier New"/>
                <a:cs typeface="Courier New"/>
                <a:sym typeface="Courier New"/>
              </a:rPr>
              <a:t>default </a:t>
            </a:r>
            <a:r>
              <a:rPr lang="en"/>
              <a:t>case, print the unknown shape message and </a:t>
            </a:r>
            <a:r>
              <a:rPr lang="en">
                <a:latin typeface="Courier New"/>
                <a:ea typeface="Courier New"/>
                <a:cs typeface="Courier New"/>
                <a:sym typeface="Courier New"/>
              </a:rPr>
              <a:t>continue</a:t>
            </a:r>
            <a:r>
              <a:rPr lang="en"/>
              <a:t>.</a:t>
            </a:r>
            <a:endParaRPr/>
          </a:p>
          <a:p>
            <a:pPr marL="457200" lvl="0" indent="-311150" algn="l" rtl="0">
              <a:spcBef>
                <a:spcPts val="1000"/>
              </a:spcBef>
              <a:spcAft>
                <a:spcPts val="0"/>
              </a:spcAft>
              <a:buSzPts val="1300"/>
              <a:buChar char="●"/>
            </a:pPr>
            <a:r>
              <a:rPr lang="en"/>
              <a:t>Rerun the code to ensure the refactor works correctly.</a:t>
            </a:r>
            <a:endParaRPr/>
          </a:p>
        </p:txBody>
      </p:sp>
      <p:sp>
        <p:nvSpPr>
          <p:cNvPr id="487" name="Google Shape;487;p4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4.5</a:t>
            </a:r>
            <a:endParaRPr/>
          </a:p>
        </p:txBody>
      </p:sp>
      <p:sp>
        <p:nvSpPr>
          <p:cNvPr id="488" name="Google Shape;488;p49"/>
          <p:cNvSpPr txBox="1">
            <a:spLocks noGrp="1"/>
          </p:cNvSpPr>
          <p:nvPr>
            <p:ph type="body" idx="4"/>
          </p:nvPr>
        </p:nvSpPr>
        <p:spPr>
          <a:xfrm>
            <a:off x="127475" y="1233769"/>
            <a:ext cx="3862800" cy="30630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a:solidFill>
                  <a:srgbClr val="AF00DB"/>
                </a:solidFill>
                <a:highlight>
                  <a:srgbClr val="FFFFFF"/>
                </a:highlight>
                <a:latin typeface="Consolas"/>
                <a:ea typeface="Consolas"/>
                <a:cs typeface="Consolas"/>
                <a:sym typeface="Consolas"/>
              </a:rPr>
              <a:t>switch</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day</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"Monday"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"Go to the gym"</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"Tuesday"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"Attend coding class"</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"Wednesday"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"Thursday"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"Work on project"</a:t>
            </a:r>
            <a:r>
              <a:rPr lang="en" sz="1100">
                <a:solidFill>
                  <a:srgbClr val="000000"/>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case</a:t>
            </a:r>
            <a:r>
              <a:rPr lang="en" sz="1100">
                <a:solidFill>
                  <a:srgbClr val="000000"/>
                </a:solidFill>
                <a:highlight>
                  <a:srgbClr val="FFFFFF"/>
                </a:highlight>
                <a:latin typeface="Consolas"/>
                <a:ea typeface="Consolas"/>
                <a:cs typeface="Consolas"/>
                <a:sym typeface="Consolas"/>
              </a:rPr>
              <a:t> </a:t>
            </a:r>
            <a:r>
              <a:rPr lang="en" sz="1100">
                <a:solidFill>
                  <a:srgbClr val="A31515"/>
                </a:solidFill>
                <a:highlight>
                  <a:srgbClr val="FFFFFF"/>
                </a:highlight>
                <a:latin typeface="Consolas"/>
                <a:ea typeface="Consolas"/>
                <a:cs typeface="Consolas"/>
                <a:sym typeface="Consolas"/>
              </a:rPr>
              <a:t>"Friday"</a:t>
            </a:r>
            <a:r>
              <a:rPr lang="en" sz="1100">
                <a:solidFill>
                  <a:srgbClr val="AF00DB"/>
                </a:solidFill>
                <a:highlight>
                  <a:srgbClr val="FFFFFF"/>
                </a:highlight>
                <a:latin typeface="Consolas"/>
                <a:ea typeface="Consolas"/>
                <a:cs typeface="Consolas"/>
                <a:sym typeface="Consolas"/>
              </a:rPr>
              <a: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"Review week's work"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break</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default:</a:t>
            </a:r>
            <a:endParaRPr sz="1100">
              <a:solidFill>
                <a:srgbClr val="AF00D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activity</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"Relax and unwind"</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50"/>
          <p:cNvSpPr txBox="1">
            <a:spLocks noGrp="1"/>
          </p:cNvSpPr>
          <p:nvPr>
            <p:ph type="title"/>
          </p:nvPr>
        </p:nvSpPr>
        <p:spPr>
          <a:xfrm>
            <a:off x="5264725" y="212025"/>
            <a:ext cx="3706500" cy="92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Scope and Anonymous Classes</a:t>
            </a:r>
            <a:endParaRPr/>
          </a:p>
        </p:txBody>
      </p:sp>
      <p:sp>
        <p:nvSpPr>
          <p:cNvPr id="494" name="Google Shape;494;p50"/>
          <p:cNvSpPr txBox="1">
            <a:spLocks noGrp="1"/>
          </p:cNvSpPr>
          <p:nvPr>
            <p:ph type="body" idx="1"/>
          </p:nvPr>
        </p:nvSpPr>
        <p:spPr>
          <a:xfrm>
            <a:off x="386275" y="114750"/>
            <a:ext cx="4278000" cy="4529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Anonymous classes are inner classes so they have access to </a:t>
            </a:r>
            <a:r>
              <a:rPr lang="en" b="1" i="1" dirty="0">
                <a:solidFill>
                  <a:srgbClr val="FF0000"/>
                </a:solidFill>
              </a:rPr>
              <a:t>all of the variables</a:t>
            </a:r>
            <a:r>
              <a:rPr lang="en" dirty="0"/>
              <a:t> in the containing class</a:t>
            </a:r>
            <a:endParaRPr dirty="0"/>
          </a:p>
          <a:p>
            <a:pPr marL="457200" lvl="0" indent="-311150" algn="l" rtl="0">
              <a:spcBef>
                <a:spcPts val="0"/>
              </a:spcBef>
              <a:spcAft>
                <a:spcPts val="0"/>
              </a:spcAft>
              <a:buSzPts val="1300"/>
              <a:buChar char="●"/>
            </a:pPr>
            <a:r>
              <a:rPr lang="en" dirty="0">
                <a:highlight>
                  <a:srgbClr val="FFFF00"/>
                </a:highlight>
              </a:rPr>
              <a:t>Anonymous classes also have access to the </a:t>
            </a:r>
            <a:r>
              <a:rPr lang="en" b="1" i="1" dirty="0">
                <a:solidFill>
                  <a:srgbClr val="FF0000"/>
                </a:solidFill>
                <a:highlight>
                  <a:srgbClr val="FFFF00"/>
                </a:highlight>
              </a:rPr>
              <a:t>local variables</a:t>
            </a:r>
            <a:r>
              <a:rPr lang="en" dirty="0">
                <a:highlight>
                  <a:srgbClr val="FFFF00"/>
                </a:highlight>
              </a:rPr>
              <a:t> in the method where the anonymous class is created</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The local variables are </a:t>
            </a:r>
            <a:r>
              <a:rPr lang="en" b="1" i="1" dirty="0">
                <a:solidFill>
                  <a:srgbClr val="FF0000"/>
                </a:solidFill>
                <a:highlight>
                  <a:srgbClr val="FFFF00"/>
                </a:highlight>
              </a:rPr>
              <a:t>captured</a:t>
            </a:r>
            <a:r>
              <a:rPr lang="en" dirty="0">
                <a:solidFill>
                  <a:srgbClr val="FF0000"/>
                </a:solidFill>
                <a:highlight>
                  <a:srgbClr val="FFFF00"/>
                </a:highlight>
              </a:rPr>
              <a:t> </a:t>
            </a:r>
            <a:r>
              <a:rPr lang="en" dirty="0">
                <a:highlight>
                  <a:srgbClr val="FFFF00"/>
                </a:highlight>
              </a:rPr>
              <a:t>by the anonymous class</a:t>
            </a:r>
            <a:endParaRPr dirty="0">
              <a:highlight>
                <a:srgbClr val="FFFF00"/>
              </a:highlight>
            </a:endParaRPr>
          </a:p>
          <a:p>
            <a:pPr marL="457200" lvl="0" indent="-311150" algn="l" rtl="0">
              <a:spcBef>
                <a:spcPts val="0"/>
              </a:spcBef>
              <a:spcAft>
                <a:spcPts val="0"/>
              </a:spcAft>
              <a:buSzPts val="1300"/>
              <a:buChar char="●"/>
            </a:pPr>
            <a:r>
              <a:rPr lang="en" dirty="0"/>
              <a:t>However, any local variables that are captured must </a:t>
            </a:r>
            <a:r>
              <a:rPr lang="en" b="1" i="1" dirty="0">
                <a:solidFill>
                  <a:srgbClr val="FF0000"/>
                </a:solidFill>
                <a:highlight>
                  <a:srgbClr val="FFFF00"/>
                </a:highlight>
              </a:rPr>
              <a:t>not change</a:t>
            </a:r>
            <a:r>
              <a:rPr lang="en" dirty="0">
                <a:highlight>
                  <a:srgbClr val="FFFF00"/>
                </a:highlight>
              </a:rPr>
              <a:t> </a:t>
            </a:r>
            <a:r>
              <a:rPr lang="en" dirty="0"/>
              <a:t>after they are used in the anonymous class</a:t>
            </a:r>
            <a:endParaRPr dirty="0"/>
          </a:p>
          <a:p>
            <a:pPr marL="914400" lvl="1" indent="-304800" algn="l" rtl="0">
              <a:spcBef>
                <a:spcPts val="0"/>
              </a:spcBef>
              <a:spcAft>
                <a:spcPts val="0"/>
              </a:spcAft>
              <a:buSzPts val="1200"/>
              <a:buChar char="○"/>
            </a:pPr>
            <a:r>
              <a:rPr lang="en" sz="1200" dirty="0"/>
              <a:t>Changing them after use in the class will result in a compilation error</a:t>
            </a:r>
            <a:endParaRPr sz="1200" dirty="0"/>
          </a:p>
          <a:p>
            <a:pPr marL="914400" lvl="1" indent="-304800" algn="l" rtl="0">
              <a:spcBef>
                <a:spcPts val="0"/>
              </a:spcBef>
              <a:spcAft>
                <a:spcPts val="0"/>
              </a:spcAft>
              <a:buSzPts val="1200"/>
              <a:buFont typeface="Courier New"/>
              <a:buChar char="○"/>
            </a:pPr>
            <a:r>
              <a:rPr lang="en" sz="1200" dirty="0">
                <a:latin typeface="Courier New"/>
                <a:ea typeface="Courier New"/>
                <a:cs typeface="Courier New"/>
                <a:sym typeface="Courier New"/>
              </a:rPr>
              <a:t>Local variable must be final or effectively final</a:t>
            </a:r>
            <a:endParaRPr sz="1200" dirty="0">
              <a:latin typeface="Courier New"/>
              <a:ea typeface="Courier New"/>
              <a:cs typeface="Courier New"/>
              <a:sym typeface="Courier New"/>
            </a:endParaRPr>
          </a:p>
          <a:p>
            <a:pPr marL="457200" lvl="0" indent="-304800" algn="l" rtl="0">
              <a:spcBef>
                <a:spcPts val="0"/>
              </a:spcBef>
              <a:spcAft>
                <a:spcPts val="0"/>
              </a:spcAft>
              <a:buSzPts val="1200"/>
              <a:buChar char="●"/>
            </a:pPr>
            <a:r>
              <a:rPr lang="en" sz="1200" dirty="0">
                <a:highlight>
                  <a:srgbClr val="FFFF00"/>
                </a:highlight>
              </a:rPr>
              <a:t>Unlike inner classes it is </a:t>
            </a:r>
            <a:r>
              <a:rPr lang="en" sz="1200" b="1" i="1" dirty="0">
                <a:solidFill>
                  <a:srgbClr val="FF0000"/>
                </a:solidFill>
                <a:highlight>
                  <a:srgbClr val="FFFF00"/>
                </a:highlight>
              </a:rPr>
              <a:t>unlikely</a:t>
            </a:r>
            <a:r>
              <a:rPr lang="en" sz="1200" dirty="0">
                <a:highlight>
                  <a:srgbClr val="FFFF00"/>
                </a:highlight>
              </a:rPr>
              <a:t> that state within the anonymous class will be accessible</a:t>
            </a:r>
            <a:endParaRPr sz="1200" dirty="0">
              <a:highlight>
                <a:srgbClr val="FFFF00"/>
              </a:highlight>
            </a:endParaRPr>
          </a:p>
          <a:p>
            <a:pPr marL="457200" lvl="0" indent="-304800" algn="l" rtl="0">
              <a:spcBef>
                <a:spcPts val="0"/>
              </a:spcBef>
              <a:spcAft>
                <a:spcPts val="0"/>
              </a:spcAft>
              <a:buSzPts val="1200"/>
              <a:buChar char="●"/>
            </a:pPr>
            <a:r>
              <a:rPr lang="en" sz="1200" dirty="0"/>
              <a:t>This is because it is most often referenced through an interface or a base class that </a:t>
            </a:r>
            <a:r>
              <a:rPr lang="en" sz="1200" b="1" i="1" dirty="0">
                <a:solidFill>
                  <a:srgbClr val="FF0000"/>
                </a:solidFill>
              </a:rPr>
              <a:t>does not give</a:t>
            </a:r>
            <a:r>
              <a:rPr lang="en" sz="1200" dirty="0"/>
              <a:t> visibility to any (new) state</a:t>
            </a:r>
            <a:endParaRPr sz="1200" dirty="0"/>
          </a:p>
        </p:txBody>
      </p:sp>
      <p:sp>
        <p:nvSpPr>
          <p:cNvPr id="495" name="Google Shape;495;p50"/>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496" name="Google Shape;496;p50"/>
          <p:cNvSpPr txBox="1">
            <a:spLocks noGrp="1"/>
          </p:cNvSpPr>
          <p:nvPr>
            <p:ph type="body" idx="2"/>
          </p:nvPr>
        </p:nvSpPr>
        <p:spPr>
          <a:xfrm>
            <a:off x="5192225" y="1286175"/>
            <a:ext cx="3706500" cy="2888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interface</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cost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static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void</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main</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args</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prices</a:t>
            </a:r>
            <a:r>
              <a:rPr lang="en" sz="1000">
                <a:solidFill>
                  <a:srgbClr val="000000"/>
                </a:solidFill>
                <a:highlight>
                  <a:srgbClr val="FFFFFF"/>
                </a:highlight>
                <a:latin typeface="Consolas"/>
                <a:ea typeface="Consolas"/>
                <a:cs typeface="Consolas"/>
                <a:sym typeface="Consolas"/>
              </a:rPr>
              <a:t> = {</a:t>
            </a:r>
            <a:r>
              <a:rPr lang="en" sz="1000">
                <a:solidFill>
                  <a:srgbClr val="098658"/>
                </a:solidFill>
                <a:highlight>
                  <a:srgbClr val="FFFFFF"/>
                </a:highlight>
                <a:latin typeface="Consolas"/>
                <a:ea typeface="Consolas"/>
                <a:cs typeface="Consolas"/>
                <a:sym typeface="Consolas"/>
              </a:rPr>
              <a:t>1.25</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0.49</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2.00</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apple</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cost</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return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prices</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0</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banana</a:t>
            </a:r>
            <a:r>
              <a:rPr lang="en" sz="1000">
                <a:solidFill>
                  <a:srgbClr val="000000"/>
                </a:solidFill>
                <a:highlight>
                  <a:srgbClr val="FFFFFF"/>
                </a:highlight>
                <a:latin typeface="Consolas"/>
                <a:ea typeface="Consolas"/>
                <a:cs typeface="Consolas"/>
                <a:sym typeface="Consolas"/>
              </a:rPr>
              <a:t> = </a:t>
            </a:r>
            <a:r>
              <a:rPr lang="en" sz="1000">
                <a:solidFill>
                  <a:srgbClr val="AF00DB"/>
                </a:solidFill>
                <a:highlight>
                  <a:srgbClr val="FFFFFF"/>
                </a:highlight>
                <a:latin typeface="Consolas"/>
                <a:ea typeface="Consolas"/>
                <a:cs typeface="Consolas"/>
                <a:sym typeface="Consolas"/>
              </a:rPr>
              <a:t>new</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Fruit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00FF"/>
                </a:solidFill>
                <a:highlight>
                  <a:srgbClr val="FFFFFF"/>
                </a:highlight>
                <a:latin typeface="Consolas"/>
                <a:ea typeface="Consolas"/>
                <a:cs typeface="Consolas"/>
                <a:sym typeface="Consolas"/>
              </a:rPr>
              <a:t>public</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cost</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int</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count</a:t>
            </a:r>
            <a:r>
              <a:rPr lang="en" sz="1000">
                <a:solidFill>
                  <a:srgbClr val="000000"/>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double</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 {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AF00DB"/>
                </a:solidFill>
                <a:highlight>
                  <a:srgbClr val="FFFFFF"/>
                </a:highlight>
                <a:latin typeface="Consolas"/>
                <a:ea typeface="Consolas"/>
                <a:cs typeface="Consolas"/>
                <a:sym typeface="Consolas"/>
              </a:rPr>
              <a:t>      return</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weight</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prices</a:t>
            </a:r>
            <a:r>
              <a:rPr lang="en" sz="1000">
                <a:solidFill>
                  <a:srgbClr val="000000"/>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a:t>
            </a:r>
            <a:endParaRPr sz="1000">
              <a:solidFill>
                <a:srgbClr val="098658"/>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  </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1600"/>
              </a:spcAft>
              <a:buNone/>
            </a:pPr>
            <a:endParaRPr sz="1000"/>
          </a:p>
        </p:txBody>
      </p:sp>
      <p:sp>
        <p:nvSpPr>
          <p:cNvPr id="497" name="Google Shape;497;p50"/>
          <p:cNvSpPr txBox="1">
            <a:spLocks noGrp="1"/>
          </p:cNvSpPr>
          <p:nvPr>
            <p:ph type="body" idx="3"/>
          </p:nvPr>
        </p:nvSpPr>
        <p:spPr>
          <a:xfrm>
            <a:off x="5192225" y="4378325"/>
            <a:ext cx="3706500" cy="55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Since anonymous classes do not have constructors you can use </a:t>
            </a:r>
            <a:r>
              <a:rPr lang="en" b="1" i="1">
                <a:solidFill>
                  <a:srgbClr val="FF0000"/>
                </a:solidFill>
              </a:rPr>
              <a:t>local variables</a:t>
            </a:r>
            <a:r>
              <a:rPr lang="en"/>
              <a:t> to initialize them.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7"/>
                                        </p:tgtEl>
                                        <p:attrNameLst>
                                          <p:attrName>style.visibility</p:attrName>
                                        </p:attrNameLst>
                                      </p:cBhvr>
                                      <p:to>
                                        <p:strVal val="visible"/>
                                      </p:to>
                                    </p:set>
                                    <p:animEffect transition="in" filter="fade">
                                      <p:cBhvr>
                                        <p:cTn id="7" dur="1000"/>
                                        <p:tgtEl>
                                          <p:spTgt spid="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51"/>
          <p:cNvSpPr txBox="1">
            <a:spLocks noGrp="1"/>
          </p:cNvSpPr>
          <p:nvPr>
            <p:ph type="title"/>
          </p:nvPr>
        </p:nvSpPr>
        <p:spPr>
          <a:xfrm>
            <a:off x="311725" y="272325"/>
            <a:ext cx="3706500" cy="6381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dk2"/>
              </a:buClr>
              <a:buSzPct val="117857"/>
              <a:buFont typeface="Calibri"/>
              <a:buNone/>
            </a:pPr>
            <a:r>
              <a:rPr lang="en"/>
              <a:t>Functional Interfaces</a:t>
            </a:r>
            <a:endParaRPr/>
          </a:p>
        </p:txBody>
      </p:sp>
      <p:sp>
        <p:nvSpPr>
          <p:cNvPr id="503" name="Google Shape;503;p51"/>
          <p:cNvSpPr txBox="1">
            <a:spLocks noGrp="1"/>
          </p:cNvSpPr>
          <p:nvPr>
            <p:ph type="body" idx="1"/>
          </p:nvPr>
        </p:nvSpPr>
        <p:spPr>
          <a:xfrm>
            <a:off x="4447600" y="173250"/>
            <a:ext cx="4233000" cy="4864891"/>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dirty="0">
                <a:highlight>
                  <a:srgbClr val="FFFF00"/>
                </a:highlight>
              </a:rPr>
              <a:t>Interfaces that have only </a:t>
            </a:r>
            <a:r>
              <a:rPr lang="en" b="1" i="1" dirty="0">
                <a:solidFill>
                  <a:srgbClr val="FF0000"/>
                </a:solidFill>
                <a:highlight>
                  <a:srgbClr val="FFFF00"/>
                </a:highlight>
              </a:rPr>
              <a:t>one method</a:t>
            </a:r>
            <a:r>
              <a:rPr lang="en" dirty="0">
                <a:highlight>
                  <a:srgbClr val="FFFF00"/>
                </a:highlight>
              </a:rPr>
              <a:t> are known as </a:t>
            </a:r>
            <a:r>
              <a:rPr lang="en" b="1" i="1" dirty="0">
                <a:solidFill>
                  <a:srgbClr val="FF0000"/>
                </a:solidFill>
                <a:highlight>
                  <a:srgbClr val="FFFF00"/>
                </a:highlight>
              </a:rPr>
              <a:t>functional interfaces</a:t>
            </a:r>
            <a:r>
              <a:rPr lang="en" dirty="0">
                <a:highlight>
                  <a:srgbClr val="FFFF00"/>
                </a:highlight>
              </a:rPr>
              <a:t>.</a:t>
            </a:r>
            <a:endParaRPr b="1" i="1" dirty="0">
              <a:solidFill>
                <a:srgbClr val="FF0000"/>
              </a:solidFill>
              <a:highlight>
                <a:srgbClr val="FFFF00"/>
              </a:highlight>
            </a:endParaRPr>
          </a:p>
          <a:p>
            <a:pPr marL="457200" lvl="0" indent="-311150" algn="l" rtl="0">
              <a:spcBef>
                <a:spcPts val="1000"/>
              </a:spcBef>
              <a:spcAft>
                <a:spcPts val="0"/>
              </a:spcAft>
              <a:buSzPts val="1300"/>
              <a:buChar char="●"/>
            </a:pPr>
            <a:r>
              <a:rPr lang="en" dirty="0"/>
              <a:t>They are effectively the closest thing you can get to a traditional function in a fully object oriented language like Java.</a:t>
            </a:r>
            <a:endParaRPr dirty="0"/>
          </a:p>
          <a:p>
            <a:pPr marL="914400" lvl="1" indent="-298450" algn="l" rtl="0">
              <a:spcBef>
                <a:spcPts val="0"/>
              </a:spcBef>
              <a:spcAft>
                <a:spcPts val="0"/>
              </a:spcAft>
              <a:buSzPts val="1100"/>
              <a:buChar char="○"/>
            </a:pPr>
            <a:r>
              <a:rPr lang="en" dirty="0"/>
              <a:t>"Traditional" meaning a function like the ones we wrote in Python that are not part of a class.</a:t>
            </a:r>
            <a:endParaRPr dirty="0"/>
          </a:p>
          <a:p>
            <a:pPr marL="457200" lvl="0" indent="-311150" algn="l" rtl="0">
              <a:lnSpc>
                <a:spcPct val="115000"/>
              </a:lnSpc>
              <a:spcBef>
                <a:spcPts val="1000"/>
              </a:spcBef>
              <a:spcAft>
                <a:spcPts val="0"/>
              </a:spcAft>
              <a:buSzPts val="1300"/>
              <a:buChar char="●"/>
            </a:pPr>
            <a:r>
              <a:rPr lang="en" dirty="0">
                <a:highlight>
                  <a:srgbClr val="FFFF00"/>
                </a:highlight>
              </a:rPr>
              <a:t>Functional interfaces are often implemented as </a:t>
            </a:r>
            <a:r>
              <a:rPr lang="en" b="1" i="1" dirty="0">
                <a:solidFill>
                  <a:srgbClr val="FF0000"/>
                </a:solidFill>
                <a:highlight>
                  <a:srgbClr val="FFFF00"/>
                </a:highlight>
              </a:rPr>
              <a:t>anonymous</a:t>
            </a:r>
            <a:r>
              <a:rPr lang="en" dirty="0">
                <a:solidFill>
                  <a:srgbClr val="FF0000"/>
                </a:solidFill>
                <a:highlight>
                  <a:srgbClr val="FFFF00"/>
                </a:highlight>
              </a:rPr>
              <a:t> </a:t>
            </a:r>
            <a:r>
              <a:rPr lang="en" dirty="0">
                <a:highlight>
                  <a:srgbClr val="FFFF00"/>
                </a:highlight>
              </a:rPr>
              <a:t>classes because they are so small.</a:t>
            </a:r>
            <a:endParaRPr dirty="0">
              <a:highlight>
                <a:srgbClr val="FFFF00"/>
              </a:highlight>
            </a:endParaRPr>
          </a:p>
          <a:p>
            <a:pPr marL="914400" lvl="1" indent="-298450" algn="l" rtl="0">
              <a:lnSpc>
                <a:spcPct val="115000"/>
              </a:lnSpc>
              <a:spcBef>
                <a:spcPts val="0"/>
              </a:spcBef>
              <a:spcAft>
                <a:spcPts val="0"/>
              </a:spcAft>
              <a:buSzPts val="1100"/>
              <a:buChar char="○"/>
            </a:pPr>
            <a:r>
              <a:rPr lang="en" dirty="0"/>
              <a:t>Remember, a good anonymous class only has a small number of methods and a few lines of code.</a:t>
            </a:r>
            <a:endParaRPr dirty="0"/>
          </a:p>
          <a:p>
            <a:pPr marL="457200" lvl="0" indent="-311150" algn="l" rtl="0">
              <a:lnSpc>
                <a:spcPct val="115000"/>
              </a:lnSpc>
              <a:spcBef>
                <a:spcPts val="1000"/>
              </a:spcBef>
              <a:spcAft>
                <a:spcPts val="0"/>
              </a:spcAft>
              <a:buSzPts val="1300"/>
              <a:buChar char="●"/>
            </a:pPr>
            <a:r>
              <a:rPr lang="en" dirty="0">
                <a:highlight>
                  <a:srgbClr val="FFFF00"/>
                </a:highlight>
              </a:rPr>
              <a:t>Technically speaking, </a:t>
            </a:r>
            <a:r>
              <a:rPr lang="en" b="1" i="1" dirty="0">
                <a:solidFill>
                  <a:srgbClr val="FF0000"/>
                </a:solidFill>
                <a:highlight>
                  <a:srgbClr val="FFFF00"/>
                </a:highlight>
              </a:rPr>
              <a:t>any</a:t>
            </a:r>
            <a:r>
              <a:rPr lang="en" dirty="0">
                <a:solidFill>
                  <a:srgbClr val="FF0000"/>
                </a:solidFill>
                <a:highlight>
                  <a:srgbClr val="FFFF00"/>
                </a:highlight>
              </a:rPr>
              <a:t> </a:t>
            </a:r>
            <a:r>
              <a:rPr lang="en" dirty="0">
                <a:highlight>
                  <a:srgbClr val="FFFF00"/>
                </a:highlight>
              </a:rPr>
              <a:t>interface that has a single method can be used as a functional interface, but not all such interfaces meet the "spirit" of the definition.</a:t>
            </a:r>
            <a:endParaRPr dirty="0">
              <a:highlight>
                <a:srgbClr val="FFFF00"/>
              </a:highlight>
            </a:endParaRPr>
          </a:p>
          <a:p>
            <a:pPr marL="914400" lvl="1" indent="-298450" algn="l" rtl="0">
              <a:lnSpc>
                <a:spcPct val="115000"/>
              </a:lnSpc>
              <a:spcBef>
                <a:spcPts val="0"/>
              </a:spcBef>
              <a:spcAft>
                <a:spcPts val="0"/>
              </a:spcAft>
              <a:buSzPts val="1100"/>
              <a:buChar char="○"/>
            </a:pPr>
            <a:r>
              <a:rPr lang="en" dirty="0"/>
              <a:t>A functional interface should represent a single function, not a more complex type.</a:t>
            </a:r>
            <a:endParaRPr dirty="0"/>
          </a:p>
          <a:p>
            <a:pPr marL="914400" lvl="1" indent="-298450" algn="l" rtl="0">
              <a:lnSpc>
                <a:spcPct val="115000"/>
              </a:lnSpc>
              <a:spcBef>
                <a:spcPts val="0"/>
              </a:spcBef>
              <a:spcAft>
                <a:spcPts val="1000"/>
              </a:spcAft>
              <a:buSzPts val="1100"/>
              <a:buChar char="○"/>
            </a:pPr>
            <a:r>
              <a:rPr lang="en" dirty="0"/>
              <a:t>The designers of the Java APIs have used the </a:t>
            </a:r>
            <a:r>
              <a:rPr lang="en" u="sng" dirty="0">
                <a:solidFill>
                  <a:schemeClr val="hlink"/>
                </a:solidFill>
                <a:highlight>
                  <a:srgbClr val="FFFF00"/>
                </a:highlight>
                <a:latin typeface="Courier New"/>
                <a:ea typeface="Courier New"/>
                <a:cs typeface="Courier New"/>
                <a:sym typeface="Courier New"/>
                <a:hlinkClick r:id="rId3"/>
              </a:rPr>
              <a:t>@FunctionalInterface</a:t>
            </a:r>
            <a:r>
              <a:rPr lang="en" dirty="0">
                <a:highlight>
                  <a:srgbClr val="FFFF00"/>
                </a:highlight>
              </a:rPr>
              <a:t> </a:t>
            </a:r>
            <a:r>
              <a:rPr lang="en" dirty="0"/>
              <a:t>annotation to indicate which interfaces are meant to be used in this way.</a:t>
            </a:r>
            <a:endParaRPr dirty="0"/>
          </a:p>
        </p:txBody>
      </p:sp>
      <p:sp>
        <p:nvSpPr>
          <p:cNvPr id="504" name="Google Shape;504;p51"/>
          <p:cNvSpPr txBox="1">
            <a:spLocks noGrp="1"/>
          </p:cNvSpPr>
          <p:nvPr>
            <p:ph type="body" idx="2"/>
          </p:nvPr>
        </p:nvSpPr>
        <p:spPr>
          <a:xfrm>
            <a:off x="311725" y="979600"/>
            <a:ext cx="3706500" cy="10278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128000" rIns="68575" bIns="34275" anchor="t" anchorCtr="0">
            <a:noAutofit/>
          </a:bodyPr>
          <a:lstStyle/>
          <a:p>
            <a:pPr marL="0" lvl="0" indent="0" algn="l" rtl="0">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r>
              <a:rPr lang="en">
                <a:solidFill>
                  <a:srgbClr val="0000FF"/>
                </a:solidFill>
                <a:highlight>
                  <a:srgbClr val="FFFFFF"/>
                </a:highlight>
                <a:latin typeface="Consolas"/>
                <a:ea typeface="Consolas"/>
                <a:cs typeface="Consolas"/>
                <a:sym typeface="Consolas"/>
              </a:rPr>
              <a:t>public</a:t>
            </a:r>
            <a:r>
              <a:rPr lang="en">
                <a:solidFill>
                  <a:srgbClr val="000000"/>
                </a:solidFill>
                <a:highlight>
                  <a:srgbClr val="FFFFFF"/>
                </a:highlight>
                <a:latin typeface="Consolas"/>
                <a:ea typeface="Consolas"/>
                <a:cs typeface="Consolas"/>
                <a:sym typeface="Consolas"/>
              </a:rPr>
              <a:t> </a:t>
            </a:r>
            <a:r>
              <a:rPr lang="en">
                <a:solidFill>
                  <a:srgbClr val="0000FF"/>
                </a:solidFill>
                <a:highlight>
                  <a:srgbClr val="FFFFFF"/>
                </a:highlight>
                <a:latin typeface="Consolas"/>
                <a:ea typeface="Consolas"/>
                <a:cs typeface="Consolas"/>
                <a:sym typeface="Consolas"/>
              </a:rPr>
              <a:t>interface</a:t>
            </a: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Shape</a:t>
            </a:r>
            <a:r>
              <a:rPr lang="en">
                <a:solidFill>
                  <a:srgbClr val="000000"/>
                </a:solidFill>
                <a:highlight>
                  <a:srgbClr val="FFFFFF"/>
                </a:highlight>
                <a:latin typeface="Consolas"/>
                <a:ea typeface="Consolas"/>
                <a:cs typeface="Consolas"/>
                <a:sym typeface="Consolas"/>
              </a:rPr>
              <a:t> {</a:t>
            </a:r>
            <a:endParaRPr>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double</a:t>
            </a:r>
            <a:r>
              <a:rPr lang="en">
                <a:solidFill>
                  <a:srgbClr val="000000"/>
                </a:solidFill>
                <a:highlight>
                  <a:srgbClr val="FFFFFF"/>
                </a:highlight>
                <a:latin typeface="Consolas"/>
                <a:ea typeface="Consolas"/>
                <a:cs typeface="Consolas"/>
                <a:sym typeface="Consolas"/>
              </a:rPr>
              <a:t> </a:t>
            </a:r>
            <a:r>
              <a:rPr lang="en">
                <a:solidFill>
                  <a:srgbClr val="795E26"/>
                </a:solidFill>
                <a:highlight>
                  <a:srgbClr val="FFFFFF"/>
                </a:highlight>
                <a:latin typeface="Consolas"/>
                <a:ea typeface="Consolas"/>
                <a:cs typeface="Consolas"/>
                <a:sym typeface="Consolas"/>
              </a:rPr>
              <a:t>area</a:t>
            </a:r>
            <a:r>
              <a:rPr lang="en">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double</a:t>
            </a:r>
            <a:r>
              <a:rPr lang="en">
                <a:solidFill>
                  <a:srgbClr val="000000"/>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length</a:t>
            </a:r>
            <a:r>
              <a:rPr lang="en">
                <a:solidFill>
                  <a:srgbClr val="000000"/>
                </a:solidFill>
                <a:highlight>
                  <a:srgbClr val="FFFFFF"/>
                </a:highlight>
                <a:latin typeface="Consolas"/>
                <a:ea typeface="Consolas"/>
                <a:cs typeface="Consolas"/>
                <a:sym typeface="Consolas"/>
              </a:rPr>
              <a:t>);</a:t>
            </a:r>
            <a:endParaRPr>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a:solidFill>
                  <a:srgbClr val="000000"/>
                </a:solidFill>
                <a:highlight>
                  <a:srgbClr val="FFFFFF"/>
                </a:highlight>
                <a:latin typeface="Consolas"/>
                <a:ea typeface="Consolas"/>
                <a:cs typeface="Consolas"/>
                <a:sym typeface="Consolas"/>
              </a:rPr>
              <a:t> }</a:t>
            </a:r>
            <a:endParaRPr>
              <a:solidFill>
                <a:srgbClr val="000000"/>
              </a:solidFill>
              <a:highlight>
                <a:srgbClr val="FFFFFF"/>
              </a:highlight>
              <a:latin typeface="Consolas"/>
              <a:ea typeface="Consolas"/>
              <a:cs typeface="Consolas"/>
              <a:sym typeface="Consolas"/>
            </a:endParaRPr>
          </a:p>
          <a:p>
            <a:pPr marL="0" lvl="0" indent="0" algn="l" rtl="0">
              <a:lnSpc>
                <a:spcPct val="90000"/>
              </a:lnSpc>
              <a:spcBef>
                <a:spcPts val="0"/>
              </a:spcBef>
              <a:spcAft>
                <a:spcPts val="1600"/>
              </a:spcAft>
              <a:buClr>
                <a:schemeClr val="dk2"/>
              </a:buClr>
              <a:buSzPts val="2000"/>
              <a:buNone/>
            </a:pPr>
            <a:endParaRPr/>
          </a:p>
        </p:txBody>
      </p:sp>
      <p:sp>
        <p:nvSpPr>
          <p:cNvPr id="505" name="Google Shape;505;p5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506" name="Google Shape;506;p51"/>
          <p:cNvSpPr txBox="1">
            <a:spLocks noGrp="1"/>
          </p:cNvSpPr>
          <p:nvPr>
            <p:ph type="body" idx="3"/>
          </p:nvPr>
        </p:nvSpPr>
        <p:spPr>
          <a:xfrm>
            <a:off x="311725" y="2147083"/>
            <a:ext cx="3706500" cy="581700"/>
          </a:xfrm>
          <a:prstGeom prst="rect">
            <a:avLst/>
          </a:prstGeom>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n" dirty="0"/>
              <a:t>A </a:t>
            </a:r>
            <a:r>
              <a:rPr lang="en" b="1" i="1" dirty="0">
                <a:solidFill>
                  <a:srgbClr val="FF0000"/>
                </a:solidFill>
              </a:rPr>
              <a:t>functional interface</a:t>
            </a:r>
            <a:r>
              <a:rPr lang="en" dirty="0"/>
              <a:t> is an interface that only contains a single method…</a:t>
            </a:r>
            <a:endParaRPr sz="1200" dirty="0"/>
          </a:p>
        </p:txBody>
      </p:sp>
      <p:sp>
        <p:nvSpPr>
          <p:cNvPr id="507" name="Google Shape;507;p51"/>
          <p:cNvSpPr txBox="1">
            <a:spLocks noGrp="1"/>
          </p:cNvSpPr>
          <p:nvPr>
            <p:ph type="body" idx="3"/>
          </p:nvPr>
        </p:nvSpPr>
        <p:spPr>
          <a:xfrm>
            <a:off x="282000" y="2868458"/>
            <a:ext cx="3706500" cy="794100"/>
          </a:xfrm>
          <a:prstGeom prst="rect">
            <a:avLst/>
          </a:prstGeom>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n" dirty="0"/>
              <a:t>… but just because any such interface </a:t>
            </a:r>
            <a:r>
              <a:rPr lang="en" b="1" i="1" dirty="0">
                <a:solidFill>
                  <a:srgbClr val="FF0000"/>
                </a:solidFill>
              </a:rPr>
              <a:t>can</a:t>
            </a:r>
            <a:r>
              <a:rPr lang="en" dirty="0">
                <a:solidFill>
                  <a:srgbClr val="FF0000"/>
                </a:solidFill>
              </a:rPr>
              <a:t> </a:t>
            </a:r>
            <a:r>
              <a:rPr lang="en" dirty="0"/>
              <a:t>be used as a functional interface doesn't mean that they </a:t>
            </a:r>
            <a:r>
              <a:rPr lang="en" b="1" i="1" dirty="0">
                <a:solidFill>
                  <a:srgbClr val="FF0000"/>
                </a:solidFill>
              </a:rPr>
              <a:t>should</a:t>
            </a:r>
            <a:r>
              <a:rPr lang="en" dirty="0">
                <a:solidFill>
                  <a:srgbClr val="FF0000"/>
                </a:solidFill>
              </a:rPr>
              <a:t> </a:t>
            </a:r>
            <a:r>
              <a:rPr lang="en" dirty="0"/>
              <a:t>be.</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06"/>
                                        </p:tgtEl>
                                        <p:attrNameLst>
                                          <p:attrName>style.visibility</p:attrName>
                                        </p:attrNameLst>
                                      </p:cBhvr>
                                      <p:to>
                                        <p:strVal val="visible"/>
                                      </p:to>
                                    </p:set>
                                    <p:animEffect transition="in" filter="fade">
                                      <p:cBhvr>
                                        <p:cTn id="39" dur="1000"/>
                                        <p:tgtEl>
                                          <p:spTgt spid="506"/>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52"/>
          <p:cNvSpPr txBox="1">
            <a:spLocks noGrp="1"/>
          </p:cNvSpPr>
          <p:nvPr>
            <p:ph type="title"/>
          </p:nvPr>
        </p:nvSpPr>
        <p:spPr>
          <a:xfrm>
            <a:off x="5188525" y="11992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Basic Lambdas</a:t>
            </a:r>
            <a:endParaRPr/>
          </a:p>
        </p:txBody>
      </p:sp>
      <p:sp>
        <p:nvSpPr>
          <p:cNvPr id="513" name="Google Shape;513;p52"/>
          <p:cNvSpPr txBox="1">
            <a:spLocks noGrp="1"/>
          </p:cNvSpPr>
          <p:nvPr>
            <p:ph type="body" idx="1"/>
          </p:nvPr>
        </p:nvSpPr>
        <p:spPr>
          <a:xfrm>
            <a:off x="329425" y="119100"/>
            <a:ext cx="4347300" cy="5187800"/>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dirty="0">
                <a:highlight>
                  <a:srgbClr val="FFFF00"/>
                </a:highlight>
              </a:rPr>
              <a:t>Since functional interfaces only have a single method there is a lot of information that the compiler can </a:t>
            </a:r>
            <a:r>
              <a:rPr lang="en" b="1" i="1" dirty="0">
                <a:solidFill>
                  <a:srgbClr val="FF0000"/>
                </a:solidFill>
                <a:highlight>
                  <a:srgbClr val="FFFF00"/>
                </a:highlight>
              </a:rPr>
              <a:t>infer</a:t>
            </a:r>
            <a:r>
              <a:rPr lang="en" dirty="0">
                <a:highlight>
                  <a:srgbClr val="FFFF00"/>
                </a:highlight>
              </a:rPr>
              <a:t> about them.</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This is exploited by </a:t>
            </a:r>
            <a:r>
              <a:rPr lang="en" b="1" dirty="0">
                <a:solidFill>
                  <a:srgbClr val="FF0000"/>
                </a:solidFill>
                <a:highlight>
                  <a:srgbClr val="FFFF00"/>
                </a:highlight>
              </a:rPr>
              <a:t>lambda</a:t>
            </a:r>
            <a:r>
              <a:rPr lang="en" dirty="0"/>
              <a:t> expressions which are a </a:t>
            </a:r>
            <a:r>
              <a:rPr lang="en" dirty="0">
                <a:highlight>
                  <a:srgbClr val="FFFF00"/>
                </a:highlight>
              </a:rPr>
              <a:t>syntactic shortcut for implementing a functional interface.</a:t>
            </a:r>
            <a:endParaRPr dirty="0">
              <a:highlight>
                <a:srgbClr val="FFFF00"/>
              </a:highlight>
            </a:endParaRPr>
          </a:p>
          <a:p>
            <a:pPr marL="914400" lvl="1" indent="-298450" algn="l" rtl="0">
              <a:lnSpc>
                <a:spcPct val="115000"/>
              </a:lnSpc>
              <a:spcBef>
                <a:spcPts val="0"/>
              </a:spcBef>
              <a:spcAft>
                <a:spcPts val="0"/>
              </a:spcAft>
              <a:buSzPts val="1100"/>
              <a:buChar char="○"/>
            </a:pPr>
            <a:r>
              <a:rPr lang="en" dirty="0"/>
              <a:t>In fact, a lambda is an anonymous class with less syntax.</a:t>
            </a:r>
            <a:endParaRPr dirty="0"/>
          </a:p>
          <a:p>
            <a:pPr marL="457200" lvl="0" indent="-311150" algn="l" rtl="0">
              <a:lnSpc>
                <a:spcPct val="115000"/>
              </a:lnSpc>
              <a:spcBef>
                <a:spcPts val="1000"/>
              </a:spcBef>
              <a:spcAft>
                <a:spcPts val="0"/>
              </a:spcAft>
              <a:buSzPts val="1300"/>
              <a:buChar char="●"/>
            </a:pPr>
            <a:r>
              <a:rPr lang="en" dirty="0"/>
              <a:t>The easiest information to infer is the </a:t>
            </a:r>
            <a:r>
              <a:rPr lang="en" b="1" i="1" dirty="0">
                <a:solidFill>
                  <a:srgbClr val="FF0000"/>
                </a:solidFill>
              </a:rPr>
              <a:t>name of the method</a:t>
            </a:r>
            <a:r>
              <a:rPr lang="en" dirty="0"/>
              <a:t> in the functional interface.</a:t>
            </a:r>
            <a:endParaRPr dirty="0"/>
          </a:p>
          <a:p>
            <a:pPr marL="914400" lvl="1" indent="-298450" algn="l" rtl="0">
              <a:lnSpc>
                <a:spcPct val="115000"/>
              </a:lnSpc>
              <a:spcBef>
                <a:spcPts val="0"/>
              </a:spcBef>
              <a:spcAft>
                <a:spcPts val="0"/>
              </a:spcAft>
              <a:buSzPts val="1100"/>
              <a:buChar char="○"/>
            </a:pPr>
            <a:r>
              <a:rPr lang="en" dirty="0"/>
              <a:t>There is only one method in a functional interface, so there won't be any confusion about which method you are trying to implement using the lambda.</a:t>
            </a:r>
            <a:endParaRPr dirty="0"/>
          </a:p>
          <a:p>
            <a:pPr marL="457200" lvl="0" indent="-311150" algn="l" rtl="0">
              <a:lnSpc>
                <a:spcPct val="115000"/>
              </a:lnSpc>
              <a:spcBef>
                <a:spcPts val="1000"/>
              </a:spcBef>
              <a:spcAft>
                <a:spcPts val="0"/>
              </a:spcAft>
              <a:buSzPts val="1300"/>
              <a:buChar char="●"/>
            </a:pPr>
            <a:r>
              <a:rPr lang="en" dirty="0"/>
              <a:t>When using lambda expressions the inferred information will not be typed explicitly.</a:t>
            </a:r>
            <a:endParaRPr dirty="0"/>
          </a:p>
          <a:p>
            <a:pPr marL="914400" lvl="1" indent="-298450" algn="l" rtl="0">
              <a:lnSpc>
                <a:spcPct val="115000"/>
              </a:lnSpc>
              <a:spcBef>
                <a:spcPts val="0"/>
              </a:spcBef>
              <a:spcAft>
                <a:spcPts val="0"/>
              </a:spcAft>
              <a:buSzPts val="1100"/>
              <a:buChar char="○"/>
            </a:pPr>
            <a:r>
              <a:rPr lang="en" dirty="0"/>
              <a:t>The compiler can figure it out without requiring you to type it explicitly into your code.</a:t>
            </a:r>
            <a:endParaRPr dirty="0"/>
          </a:p>
          <a:p>
            <a:pPr marL="457200" lvl="0" indent="-311150" algn="l" rtl="0">
              <a:lnSpc>
                <a:spcPct val="115000"/>
              </a:lnSpc>
              <a:spcBef>
                <a:spcPts val="1000"/>
              </a:spcBef>
              <a:spcAft>
                <a:spcPts val="0"/>
              </a:spcAft>
              <a:buSzPts val="1300"/>
              <a:buChar char="●"/>
            </a:pPr>
            <a:r>
              <a:rPr lang="en" dirty="0"/>
              <a:t>The basic lambda syntax includes:</a:t>
            </a:r>
            <a:endParaRPr dirty="0"/>
          </a:p>
          <a:p>
            <a:pPr marL="914400" lvl="1" indent="-298450" algn="l" rtl="0">
              <a:lnSpc>
                <a:spcPct val="115000"/>
              </a:lnSpc>
              <a:spcBef>
                <a:spcPts val="0"/>
              </a:spcBef>
              <a:spcAft>
                <a:spcPts val="0"/>
              </a:spcAft>
              <a:buSzPts val="1100"/>
              <a:buChar char="○"/>
            </a:pPr>
            <a:r>
              <a:rPr lang="en" dirty="0"/>
              <a:t>The parameter list in parentheses.</a:t>
            </a:r>
            <a:endParaRPr dirty="0"/>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rPr>
              <a:t>arrow operator</a:t>
            </a:r>
            <a:r>
              <a:rPr lang="en" dirty="0"/>
              <a:t> (</a:t>
            </a:r>
            <a:r>
              <a:rPr lang="en" dirty="0">
                <a:solidFill>
                  <a:srgbClr val="FF0000"/>
                </a:solidFill>
                <a:latin typeface="Courier New"/>
                <a:ea typeface="Courier New"/>
                <a:cs typeface="Courier New"/>
                <a:sym typeface="Courier New"/>
              </a:rPr>
              <a:t>-&gt;</a:t>
            </a:r>
            <a:r>
              <a:rPr lang="en" dirty="0">
                <a:latin typeface="Courier New"/>
                <a:ea typeface="Courier New"/>
                <a:cs typeface="Courier New"/>
                <a:sym typeface="Courier New"/>
              </a:rPr>
              <a:t>).</a:t>
            </a:r>
            <a:endParaRPr dirty="0">
              <a:latin typeface="Courier New"/>
              <a:ea typeface="Courier New"/>
              <a:cs typeface="Courier New"/>
              <a:sym typeface="Courier New"/>
            </a:endParaRPr>
          </a:p>
          <a:p>
            <a:pPr marL="914400" lvl="1" indent="-298450" algn="l" rtl="0">
              <a:lnSpc>
                <a:spcPct val="115000"/>
              </a:lnSpc>
              <a:spcBef>
                <a:spcPts val="0"/>
              </a:spcBef>
              <a:spcAft>
                <a:spcPts val="1000"/>
              </a:spcAft>
              <a:buSzPts val="1100"/>
              <a:buChar char="○"/>
            </a:pPr>
            <a:r>
              <a:rPr lang="en" dirty="0"/>
              <a:t>The body of the function in curly braces ({}).</a:t>
            </a:r>
            <a:endParaRPr dirty="0"/>
          </a:p>
        </p:txBody>
      </p:sp>
      <p:sp>
        <p:nvSpPr>
          <p:cNvPr id="514" name="Google Shape;514;p52"/>
          <p:cNvSpPr txBox="1">
            <a:spLocks noGrp="1"/>
          </p:cNvSpPr>
          <p:nvPr>
            <p:ph type="body" idx="2"/>
          </p:nvPr>
        </p:nvSpPr>
        <p:spPr>
          <a:xfrm>
            <a:off x="5188525" y="2384600"/>
            <a:ext cx="3706500" cy="1523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void</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main</a:t>
            </a:r>
            <a:r>
              <a:rPr lang="en" sz="1050" dirty="0">
                <a:solidFill>
                  <a:srgbClr val="000000"/>
                </a:solidFill>
                <a:latin typeface="Consolas"/>
                <a:ea typeface="Consolas"/>
                <a:cs typeface="Consolas"/>
                <a:sym typeface="Consolas"/>
              </a:rPr>
              <a:t>(</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args</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2  </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int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x</a:t>
            </a:r>
            <a:r>
              <a:rPr lang="en" sz="1050" dirty="0">
                <a:solidFill>
                  <a:srgbClr val="000000"/>
                </a:solidFill>
                <a:latin typeface="Consolas"/>
                <a:ea typeface="Consolas"/>
                <a:cs typeface="Consolas"/>
                <a:sym typeface="Consolas"/>
              </a:rPr>
              <a:t> = </a:t>
            </a:r>
            <a:r>
              <a:rPr lang="en" sz="1050" dirty="0">
                <a:solidFill>
                  <a:srgbClr val="098658"/>
                </a:solidFill>
                <a:latin typeface="Consolas"/>
                <a:ea typeface="Consolas"/>
                <a:cs typeface="Consolas"/>
                <a:sym typeface="Consolas"/>
              </a:rPr>
              <a:t>5</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3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4  </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Shape</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circle</a:t>
            </a:r>
            <a:r>
              <a:rPr lang="en" sz="1050" dirty="0">
                <a:solidFill>
                  <a:srgbClr val="000000"/>
                </a:solidFill>
                <a:latin typeface="Consolas"/>
                <a:ea typeface="Consolas"/>
                <a:cs typeface="Consolas"/>
                <a:sym typeface="Consolas"/>
              </a:rPr>
              <a:t> = (</a:t>
            </a:r>
            <a:r>
              <a:rPr lang="en" sz="1050" dirty="0">
                <a:solidFill>
                  <a:srgbClr val="267F99"/>
                </a:solidFill>
                <a:latin typeface="Consolas"/>
                <a:ea typeface="Consolas"/>
                <a:cs typeface="Consolas"/>
                <a:sym typeface="Consolas"/>
              </a:rPr>
              <a:t>double</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dimens</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-&gt;</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5  </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Math</a:t>
            </a:r>
            <a:r>
              <a:rPr lang="en" sz="1050" dirty="0">
                <a:solidFill>
                  <a:srgbClr val="000000"/>
                </a:solidFill>
                <a:latin typeface="Consolas"/>
                <a:ea typeface="Consolas"/>
                <a:cs typeface="Consolas"/>
                <a:sym typeface="Consolas"/>
              </a:rPr>
              <a:t>.</a:t>
            </a:r>
            <a:r>
              <a:rPr lang="en" sz="1050" dirty="0">
                <a:solidFill>
                  <a:srgbClr val="0070C1"/>
                </a:solidFill>
                <a:latin typeface="Consolas"/>
                <a:ea typeface="Consolas"/>
                <a:cs typeface="Consolas"/>
                <a:sym typeface="Consolas"/>
              </a:rPr>
              <a:t>PI</a:t>
            </a:r>
            <a:r>
              <a:rPr lang="en" sz="1050" dirty="0">
                <a:solidFill>
                  <a:srgbClr val="000000"/>
                </a:solidFill>
                <a:latin typeface="Consolas"/>
                <a:ea typeface="Consolas"/>
                <a:cs typeface="Consolas"/>
                <a:sym typeface="Consolas"/>
              </a:rPr>
              <a:t> * </a:t>
            </a:r>
            <a:r>
              <a:rPr lang="en" sz="1050" dirty="0">
                <a:solidFill>
                  <a:srgbClr val="267F99"/>
                </a:solidFill>
                <a:latin typeface="Consolas"/>
                <a:ea typeface="Consolas"/>
                <a:cs typeface="Consolas"/>
                <a:sym typeface="Consolas"/>
              </a:rPr>
              <a:t>Math</a:t>
            </a:r>
            <a:r>
              <a:rPr lang="en" sz="1050" dirty="0">
                <a:solidFill>
                  <a:srgbClr val="000000"/>
                </a:solidFill>
                <a:latin typeface="Consolas"/>
                <a:ea typeface="Consolas"/>
                <a:cs typeface="Consolas"/>
                <a:sym typeface="Consolas"/>
              </a:rPr>
              <a:t>.</a:t>
            </a:r>
            <a:r>
              <a:rPr lang="en" sz="1050" dirty="0">
                <a:solidFill>
                  <a:srgbClr val="795E26"/>
                </a:solidFill>
                <a:latin typeface="Consolas"/>
                <a:ea typeface="Consolas"/>
                <a:cs typeface="Consolas"/>
                <a:sym typeface="Consolas"/>
              </a:rPr>
              <a:t>pow</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dimens[0]</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2</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6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7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8  </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System</a:t>
            </a:r>
            <a:r>
              <a:rPr lang="en" sz="1050" dirty="0">
                <a:solidFill>
                  <a:srgbClr val="000000"/>
                </a:solidFill>
                <a:latin typeface="Consolas"/>
                <a:ea typeface="Consolas"/>
                <a:cs typeface="Consolas"/>
                <a:sym typeface="Consolas"/>
              </a:rPr>
              <a:t>.</a:t>
            </a:r>
            <a:r>
              <a:rPr lang="en" sz="1050" dirty="0">
                <a:solidFill>
                  <a:srgbClr val="0070C1"/>
                </a:solidFill>
                <a:latin typeface="Consolas"/>
                <a:ea typeface="Consolas"/>
                <a:cs typeface="Consolas"/>
                <a:sym typeface="Consolas"/>
              </a:rPr>
              <a:t>out</a:t>
            </a:r>
            <a:r>
              <a:rPr lang="en" sz="1050" dirty="0">
                <a:solidFill>
                  <a:srgbClr val="000000"/>
                </a:solidFill>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circle</a:t>
            </a:r>
            <a:r>
              <a:rPr lang="en" sz="1050" dirty="0">
                <a:solidFill>
                  <a:srgbClr val="000000"/>
                </a:solidFill>
                <a:latin typeface="Consolas"/>
                <a:ea typeface="Consolas"/>
                <a:cs typeface="Consolas"/>
                <a:sym typeface="Consolas"/>
              </a:rPr>
              <a:t>.</a:t>
            </a:r>
            <a:r>
              <a:rPr lang="en" sz="1050" dirty="0">
                <a:solidFill>
                  <a:srgbClr val="795E26"/>
                </a:solidFill>
                <a:latin typeface="Consolas"/>
                <a:ea typeface="Consolas"/>
                <a:cs typeface="Consolas"/>
                <a:sym typeface="Consolas"/>
              </a:rPr>
              <a:t>area</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x</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9  </a:t>
            </a:r>
            <a:r>
              <a:rPr lang="en" sz="1050" dirty="0">
                <a:solidFill>
                  <a:srgbClr val="000000"/>
                </a:solidFill>
                <a:latin typeface="Consolas"/>
                <a:ea typeface="Consolas"/>
                <a:cs typeface="Consolas"/>
                <a:sym typeface="Consolas"/>
              </a:rPr>
              <a:t>}</a:t>
            </a:r>
            <a:endParaRPr sz="1200" dirty="0">
              <a:latin typeface="Consolas"/>
              <a:ea typeface="Consolas"/>
              <a:cs typeface="Consolas"/>
              <a:sym typeface="Consolas"/>
            </a:endParaRPr>
          </a:p>
        </p:txBody>
      </p:sp>
      <p:sp>
        <p:nvSpPr>
          <p:cNvPr id="515" name="Google Shape;515;p5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21</a:t>
            </a:fld>
            <a:endParaRPr/>
          </a:p>
        </p:txBody>
      </p:sp>
      <p:sp>
        <p:nvSpPr>
          <p:cNvPr id="516" name="Google Shape;516;p52"/>
          <p:cNvSpPr txBox="1">
            <a:spLocks noGrp="1"/>
          </p:cNvSpPr>
          <p:nvPr>
            <p:ph type="body" idx="3"/>
          </p:nvPr>
        </p:nvSpPr>
        <p:spPr>
          <a:xfrm>
            <a:off x="5188525" y="4049533"/>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dirty="0"/>
              <a:t>The arrow operator (</a:t>
            </a:r>
            <a:r>
              <a:rPr lang="en" dirty="0">
                <a:solidFill>
                  <a:srgbClr val="FF0000"/>
                </a:solidFill>
                <a:latin typeface="Courier New"/>
                <a:ea typeface="Courier New"/>
                <a:cs typeface="Courier New"/>
                <a:sym typeface="Courier New"/>
              </a:rPr>
              <a:t>-&gt;</a:t>
            </a:r>
            <a:r>
              <a:rPr lang="en" dirty="0"/>
              <a:t>) is used to separate the parameters and the method body in a </a:t>
            </a:r>
            <a:r>
              <a:rPr lang="en" b="1" i="1" dirty="0">
                <a:solidFill>
                  <a:srgbClr val="FF0000"/>
                </a:solidFill>
              </a:rPr>
              <a:t>lambda expression</a:t>
            </a:r>
            <a:r>
              <a:rPr lang="en" dirty="0"/>
              <a:t>.</a:t>
            </a:r>
            <a:endParaRPr sz="1200" dirty="0"/>
          </a:p>
        </p:txBody>
      </p:sp>
      <p:sp>
        <p:nvSpPr>
          <p:cNvPr id="517" name="Google Shape;517;p52"/>
          <p:cNvSpPr txBox="1">
            <a:spLocks noGrp="1"/>
          </p:cNvSpPr>
          <p:nvPr>
            <p:ph type="body" idx="2"/>
          </p:nvPr>
        </p:nvSpPr>
        <p:spPr>
          <a:xfrm>
            <a:off x="5192225" y="1609338"/>
            <a:ext cx="3706500" cy="62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dimensions</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518" name="Google Shape;518;p52"/>
          <p:cNvSpPr txBox="1">
            <a:spLocks noGrp="1"/>
          </p:cNvSpPr>
          <p:nvPr>
            <p:ph type="body" idx="3"/>
          </p:nvPr>
        </p:nvSpPr>
        <p:spPr>
          <a:xfrm>
            <a:off x="5188525" y="718608"/>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dirty="0"/>
              <a:t>The compiler needs to </a:t>
            </a:r>
            <a:r>
              <a:rPr lang="en" b="1" i="1" dirty="0">
                <a:solidFill>
                  <a:srgbClr val="FF0000"/>
                </a:solidFill>
              </a:rPr>
              <a:t>infer</a:t>
            </a:r>
            <a:r>
              <a:rPr lang="en" dirty="0">
                <a:solidFill>
                  <a:srgbClr val="FF0000"/>
                </a:solidFill>
              </a:rPr>
              <a:t> </a:t>
            </a:r>
            <a:r>
              <a:rPr lang="en" dirty="0"/>
              <a:t>the name of the method implemented with a lambda, so lambdas will only work with </a:t>
            </a:r>
            <a:r>
              <a:rPr lang="en" b="1" i="1" dirty="0">
                <a:solidFill>
                  <a:srgbClr val="FF0000"/>
                </a:solidFill>
              </a:rPr>
              <a:t>functional interfaces</a:t>
            </a:r>
            <a:r>
              <a:rPr lang="en" dirty="0"/>
              <a:t>.</a:t>
            </a:r>
            <a:endParaRPr sz="1200" dirty="0"/>
          </a:p>
        </p:txBody>
      </p:sp>
      <p:sp>
        <p:nvSpPr>
          <p:cNvPr id="519" name="Google Shape;519;p52"/>
          <p:cNvSpPr/>
          <p:nvPr/>
        </p:nvSpPr>
        <p:spPr>
          <a:xfrm>
            <a:off x="8130775" y="2526375"/>
            <a:ext cx="719250" cy="1523688"/>
          </a:xfrm>
          <a:custGeom>
            <a:avLst/>
            <a:gdLst/>
            <a:ahLst/>
            <a:cxnLst/>
            <a:rect l="l" t="t" r="r" b="b"/>
            <a:pathLst>
              <a:path w="28770" h="72042" extrusionOk="0">
                <a:moveTo>
                  <a:pt x="25156" y="72042"/>
                </a:moveTo>
                <a:cubicBezTo>
                  <a:pt x="25505" y="60412"/>
                  <a:pt x="31445" y="11398"/>
                  <a:pt x="27252" y="2264"/>
                </a:cubicBezTo>
                <a:cubicBezTo>
                  <a:pt x="23059" y="-6870"/>
                  <a:pt x="4542" y="14742"/>
                  <a:pt x="0" y="1723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1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1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1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18"/>
                                        </p:tgtEl>
                                        <p:attrNameLst>
                                          <p:attrName>style.visibility</p:attrName>
                                        </p:attrNameLst>
                                      </p:cBhvr>
                                      <p:to>
                                        <p:strVal val="visible"/>
                                      </p:to>
                                    </p:set>
                                    <p:animEffect transition="in" filter="fade">
                                      <p:cBhvr>
                                        <p:cTn id="51" dur="1000"/>
                                        <p:tgtEl>
                                          <p:spTgt spid="518"/>
                                        </p:tgtEl>
                                      </p:cBhvr>
                                    </p:animEffect>
                                  </p:childTnLst>
                                </p:cTn>
                              </p:par>
                              <p:par>
                                <p:cTn id="52" presetID="10" presetClass="entr" presetSubtype="0" fill="hold" nodeType="withEffect">
                                  <p:stCondLst>
                                    <p:cond delay="0"/>
                                  </p:stCondLst>
                                  <p:childTnLst>
                                    <p:set>
                                      <p:cBhvr>
                                        <p:cTn id="53" dur="1" fill="hold">
                                          <p:stCondLst>
                                            <p:cond delay="0"/>
                                          </p:stCondLst>
                                        </p:cTn>
                                        <p:tgtEl>
                                          <p:spTgt spid="517"/>
                                        </p:tgtEl>
                                        <p:attrNameLst>
                                          <p:attrName>style.visibility</p:attrName>
                                        </p:attrNameLst>
                                      </p:cBhvr>
                                      <p:to>
                                        <p:strVal val="visible"/>
                                      </p:to>
                                    </p:set>
                                    <p:animEffect transition="in" filter="fade">
                                      <p:cBhvr>
                                        <p:cTn id="54" dur="1000"/>
                                        <p:tgtEl>
                                          <p:spTgt spid="51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16"/>
                                        </p:tgtEl>
                                        <p:attrNameLst>
                                          <p:attrName>style.visibility</p:attrName>
                                        </p:attrNameLst>
                                      </p:cBhvr>
                                      <p:to>
                                        <p:strVal val="visible"/>
                                      </p:to>
                                    </p:set>
                                    <p:animEffect transition="in" filter="fade">
                                      <p:cBhvr>
                                        <p:cTn id="59" dur="1000"/>
                                        <p:tgtEl>
                                          <p:spTgt spid="516"/>
                                        </p:tgtEl>
                                      </p:cBhvr>
                                    </p:animEffect>
                                  </p:childTnLst>
                                </p:cTn>
                              </p:par>
                              <p:par>
                                <p:cTn id="60" presetID="10" presetClass="entr" presetSubtype="0" fill="hold" nodeType="withEffect">
                                  <p:stCondLst>
                                    <p:cond delay="0"/>
                                  </p:stCondLst>
                                  <p:childTnLst>
                                    <p:set>
                                      <p:cBhvr>
                                        <p:cTn id="61" dur="1" fill="hold">
                                          <p:stCondLst>
                                            <p:cond delay="0"/>
                                          </p:stCondLst>
                                        </p:cTn>
                                        <p:tgtEl>
                                          <p:spTgt spid="514"/>
                                        </p:tgtEl>
                                        <p:attrNameLst>
                                          <p:attrName>style.visibility</p:attrName>
                                        </p:attrNameLst>
                                      </p:cBhvr>
                                      <p:to>
                                        <p:strVal val="visible"/>
                                      </p:to>
                                    </p:set>
                                    <p:animEffect transition="in" filter="fade">
                                      <p:cBhvr>
                                        <p:cTn id="62" dur="1000"/>
                                        <p:tgtEl>
                                          <p:spTgt spid="514"/>
                                        </p:tgtEl>
                                      </p:cBhvr>
                                    </p:animEffect>
                                  </p:childTnLst>
                                </p:cTn>
                              </p:par>
                            </p:childTnLst>
                          </p:cTn>
                        </p:par>
                        <p:par>
                          <p:cTn id="63" fill="hold">
                            <p:stCondLst>
                              <p:cond delay="1000"/>
                            </p:stCondLst>
                            <p:childTnLst>
                              <p:par>
                                <p:cTn id="64" presetID="10" presetClass="entr" presetSubtype="0" fill="hold" nodeType="afterEffect">
                                  <p:stCondLst>
                                    <p:cond delay="0"/>
                                  </p:stCondLst>
                                  <p:childTnLst>
                                    <p:set>
                                      <p:cBhvr>
                                        <p:cTn id="65" dur="1" fill="hold">
                                          <p:stCondLst>
                                            <p:cond delay="0"/>
                                          </p:stCondLst>
                                        </p:cTn>
                                        <p:tgtEl>
                                          <p:spTgt spid="519"/>
                                        </p:tgtEl>
                                        <p:attrNameLst>
                                          <p:attrName>style.visibility</p:attrName>
                                        </p:attrNameLst>
                                      </p:cBhvr>
                                      <p:to>
                                        <p:strVal val="visible"/>
                                      </p:to>
                                    </p:set>
                                    <p:animEffect transition="in" filter="fade">
                                      <p:cBhvr>
                                        <p:cTn id="66" dur="1000"/>
                                        <p:tgtEl>
                                          <p:spTgt spid="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5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525" name="Google Shape;525;p5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Lambdas</a:t>
            </a:r>
            <a:endParaRPr/>
          </a:p>
        </p:txBody>
      </p:sp>
      <p:sp>
        <p:nvSpPr>
          <p:cNvPr id="526" name="Google Shape;526;p53"/>
          <p:cNvSpPr txBox="1">
            <a:spLocks noGrp="1"/>
          </p:cNvSpPr>
          <p:nvPr>
            <p:ph type="body" idx="4294967295"/>
          </p:nvPr>
        </p:nvSpPr>
        <p:spPr>
          <a:xfrm>
            <a:off x="2516650" y="2324450"/>
            <a:ext cx="4112100" cy="17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static</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main</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args</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int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 = </a:t>
            </a:r>
            <a:r>
              <a:rPr lang="en" sz="1200">
                <a:solidFill>
                  <a:srgbClr val="098658"/>
                </a:solidFill>
                <a:latin typeface="Consolas"/>
                <a:ea typeface="Consolas"/>
                <a:cs typeface="Consolas"/>
                <a:sym typeface="Consolas"/>
              </a:rPr>
              <a:t>5</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4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-&gt;</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5  </a:t>
            </a:r>
            <a:r>
              <a:rPr lang="en" sz="1200">
                <a:solidFill>
                  <a:srgbClr val="000000"/>
                </a:solidFill>
                <a:latin typeface="Consolas"/>
                <a:ea typeface="Consolas"/>
                <a:cs typeface="Consolas"/>
                <a:sym typeface="Consolas"/>
              </a:rPr>
              <a:t>    </a:t>
            </a:r>
            <a:r>
              <a:rPr lang="en" sz="1200">
                <a:solidFill>
                  <a:srgbClr val="AF00DB"/>
                </a:solidFill>
                <a:latin typeface="Consolas"/>
                <a:ea typeface="Consolas"/>
                <a:cs typeface="Consolas"/>
                <a:sym typeface="Consolas"/>
              </a:rPr>
              <a:t>return</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PI</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pow</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dimens[0]</a:t>
            </a:r>
            <a:r>
              <a:rPr lang="en" sz="1200">
                <a:solidFill>
                  <a:srgbClr val="000000"/>
                </a:solidFill>
                <a:latin typeface="Consolas"/>
                <a:ea typeface="Consolas"/>
                <a:cs typeface="Consolas"/>
                <a:sym typeface="Consolas"/>
              </a:rPr>
              <a:t>, </a:t>
            </a: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6  </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7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8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System</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out</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9  </a:t>
            </a:r>
            <a:r>
              <a:rPr lang="en" sz="120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527" name="Google Shape;527;p53"/>
          <p:cNvSpPr txBox="1">
            <a:spLocks noGrp="1"/>
          </p:cNvSpPr>
          <p:nvPr>
            <p:ph type="body" idx="4294967295"/>
          </p:nvPr>
        </p:nvSpPr>
        <p:spPr>
          <a:xfrm>
            <a:off x="2516700" y="1519525"/>
            <a:ext cx="4112100" cy="62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dimensions</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54"/>
          <p:cNvSpPr txBox="1">
            <a:spLocks noGrp="1"/>
          </p:cNvSpPr>
          <p:nvPr>
            <p:ph type="body" idx="4294967295"/>
          </p:nvPr>
        </p:nvSpPr>
        <p:spPr>
          <a:xfrm>
            <a:off x="2516650" y="2324450"/>
            <a:ext cx="4112100" cy="17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static</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void</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main</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args</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int</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 = </a:t>
            </a:r>
            <a:r>
              <a:rPr lang="en" sz="1200">
                <a:solidFill>
                  <a:srgbClr val="098658"/>
                </a:solidFill>
                <a:latin typeface="Consolas"/>
                <a:ea typeface="Consolas"/>
                <a:cs typeface="Consolas"/>
                <a:sym typeface="Consolas"/>
              </a:rPr>
              <a:t>5</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4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-&gt;</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5  </a:t>
            </a:r>
            <a:r>
              <a:rPr lang="en" sz="1200">
                <a:solidFill>
                  <a:srgbClr val="000000"/>
                </a:solidFill>
                <a:latin typeface="Consolas"/>
                <a:ea typeface="Consolas"/>
                <a:cs typeface="Consolas"/>
                <a:sym typeface="Consolas"/>
              </a:rPr>
              <a:t>    </a:t>
            </a:r>
            <a:r>
              <a:rPr lang="en" sz="1200">
                <a:solidFill>
                  <a:srgbClr val="AF00DB"/>
                </a:solidFill>
                <a:latin typeface="Consolas"/>
                <a:ea typeface="Consolas"/>
                <a:cs typeface="Consolas"/>
                <a:sym typeface="Consolas"/>
              </a:rPr>
              <a:t>return</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PI</a:t>
            </a:r>
            <a:r>
              <a:rPr lang="en" sz="1200">
                <a:solidFill>
                  <a:srgbClr val="000000"/>
                </a:solidFill>
                <a:latin typeface="Consolas"/>
                <a:ea typeface="Consolas"/>
                <a:cs typeface="Consolas"/>
                <a:sym typeface="Consolas"/>
              </a:rPr>
              <a:t> * </a:t>
            </a:r>
            <a:r>
              <a:rPr lang="en" sz="1200">
                <a:solidFill>
                  <a:srgbClr val="267F99"/>
                </a:solidFill>
                <a:latin typeface="Consolas"/>
                <a:ea typeface="Consolas"/>
                <a:cs typeface="Consolas"/>
                <a:sym typeface="Consolas"/>
              </a:rPr>
              <a:t>Math</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pow</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dimens[0]</a:t>
            </a:r>
            <a:r>
              <a:rPr lang="en" sz="1200">
                <a:solidFill>
                  <a:srgbClr val="000000"/>
                </a:solidFill>
                <a:latin typeface="Consolas"/>
                <a:ea typeface="Consolas"/>
                <a:cs typeface="Consolas"/>
                <a:sym typeface="Consolas"/>
              </a:rPr>
              <a:t>, </a:t>
            </a: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6  </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7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8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System</a:t>
            </a:r>
            <a:r>
              <a:rPr lang="en" sz="1200">
                <a:solidFill>
                  <a:srgbClr val="000000"/>
                </a:solidFill>
                <a:latin typeface="Consolas"/>
                <a:ea typeface="Consolas"/>
                <a:cs typeface="Consolas"/>
                <a:sym typeface="Consolas"/>
              </a:rPr>
              <a:t>.</a:t>
            </a:r>
            <a:r>
              <a:rPr lang="en" sz="1200">
                <a:solidFill>
                  <a:srgbClr val="0070C1"/>
                </a:solidFill>
                <a:latin typeface="Consolas"/>
                <a:ea typeface="Consolas"/>
                <a:cs typeface="Consolas"/>
                <a:sym typeface="Consolas"/>
              </a:rPr>
              <a:t>out</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circle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001080"/>
                </a:solidFill>
                <a:latin typeface="Consolas"/>
                <a:ea typeface="Consolas"/>
                <a:cs typeface="Consolas"/>
                <a:sym typeface="Consolas"/>
              </a:rPr>
              <a:t>x</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9  </a:t>
            </a:r>
            <a:r>
              <a:rPr lang="en" sz="1200">
                <a:solidFill>
                  <a:srgbClr val="000000"/>
                </a:solidFill>
                <a:latin typeface="Consolas"/>
                <a:ea typeface="Consolas"/>
                <a:cs typeface="Consolas"/>
                <a:sym typeface="Consolas"/>
              </a:rPr>
              <a:t>}</a:t>
            </a:r>
            <a:endParaRPr sz="1200">
              <a:latin typeface="Consolas"/>
              <a:ea typeface="Consolas"/>
              <a:cs typeface="Consolas"/>
              <a:sym typeface="Consolas"/>
            </a:endParaRPr>
          </a:p>
        </p:txBody>
      </p:sp>
      <p:sp>
        <p:nvSpPr>
          <p:cNvPr id="533" name="Google Shape;533;p54"/>
          <p:cNvSpPr txBox="1">
            <a:spLocks noGrp="1"/>
          </p:cNvSpPr>
          <p:nvPr>
            <p:ph type="body" idx="4294967295"/>
          </p:nvPr>
        </p:nvSpPr>
        <p:spPr>
          <a:xfrm>
            <a:off x="2516700" y="1519525"/>
            <a:ext cx="4112100" cy="62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1  </a:t>
            </a:r>
            <a:r>
              <a:rPr lang="en" sz="1200">
                <a:solidFill>
                  <a:srgbClr val="0000FF"/>
                </a:solidFill>
                <a:latin typeface="Consolas"/>
                <a:ea typeface="Consolas"/>
                <a:cs typeface="Consolas"/>
                <a:sym typeface="Consolas"/>
              </a:rPr>
              <a:t>public</a:t>
            </a:r>
            <a:r>
              <a:rPr lang="en" sz="1200">
                <a:solidFill>
                  <a:srgbClr val="000000"/>
                </a:solidFill>
                <a:latin typeface="Consolas"/>
                <a:ea typeface="Consolas"/>
                <a:cs typeface="Consolas"/>
                <a:sym typeface="Consolas"/>
              </a:rPr>
              <a:t> </a:t>
            </a:r>
            <a:r>
              <a:rPr lang="en" sz="1200">
                <a:solidFill>
                  <a:srgbClr val="0000FF"/>
                </a:solidFill>
                <a:latin typeface="Consolas"/>
                <a:ea typeface="Consolas"/>
                <a:cs typeface="Consolas"/>
                <a:sym typeface="Consolas"/>
              </a:rPr>
              <a:t>interface</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Shape</a:t>
            </a:r>
            <a:r>
              <a:rPr lang="en" sz="1200">
                <a:solidFill>
                  <a:srgbClr val="000000"/>
                </a:solidFill>
                <a:latin typeface="Consolas"/>
                <a:ea typeface="Consolas"/>
                <a:cs typeface="Consolas"/>
                <a:sym typeface="Consolas"/>
              </a:rPr>
              <a:t>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2  </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area</a:t>
            </a:r>
            <a:r>
              <a:rPr lang="en" sz="1200">
                <a:solidFill>
                  <a:srgbClr val="000000"/>
                </a:solidFill>
                <a:latin typeface="Consolas"/>
                <a:ea typeface="Consolas"/>
                <a:cs typeface="Consolas"/>
                <a:sym typeface="Consolas"/>
              </a:rPr>
              <a:t>(</a:t>
            </a:r>
            <a:r>
              <a:rPr lang="en" sz="1200">
                <a:solidFill>
                  <a:srgbClr val="267F99"/>
                </a:solidFill>
                <a:latin typeface="Consolas"/>
                <a:ea typeface="Consolas"/>
                <a:cs typeface="Consolas"/>
                <a:sym typeface="Consolas"/>
              </a:rPr>
              <a:t>double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dimensions</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8000"/>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534" name="Google Shape;534;p5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535" name="Google Shape;535;p5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Lambdas</a:t>
            </a:r>
            <a:endParaRPr/>
          </a:p>
        </p:txBody>
      </p:sp>
      <p:sp>
        <p:nvSpPr>
          <p:cNvPr id="536" name="Google Shape;536;p54"/>
          <p:cNvSpPr txBox="1"/>
          <p:nvPr/>
        </p:nvSpPr>
        <p:spPr>
          <a:xfrm>
            <a:off x="149750" y="1519525"/>
            <a:ext cx="2306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A </a:t>
            </a:r>
            <a:r>
              <a:rPr lang="en" sz="1200" b="1" i="1" dirty="0">
                <a:solidFill>
                  <a:srgbClr val="FF0000"/>
                </a:solidFill>
                <a:latin typeface="Roboto"/>
                <a:ea typeface="Roboto"/>
                <a:cs typeface="Roboto"/>
                <a:sym typeface="Roboto"/>
              </a:rPr>
              <a:t>lambda</a:t>
            </a:r>
            <a:r>
              <a:rPr lang="en" sz="1200" dirty="0">
                <a:solidFill>
                  <a:srgbClr val="FF0000"/>
                </a:solidFill>
                <a:latin typeface="Roboto"/>
                <a:ea typeface="Roboto"/>
                <a:cs typeface="Roboto"/>
                <a:sym typeface="Roboto"/>
              </a:rPr>
              <a:t> </a:t>
            </a:r>
            <a:r>
              <a:rPr lang="en" sz="1200" dirty="0">
                <a:latin typeface="Roboto"/>
                <a:ea typeface="Roboto"/>
                <a:cs typeface="Roboto"/>
                <a:sym typeface="Roboto"/>
              </a:rPr>
              <a:t>is a syntactic shortcut that can be used in place of a </a:t>
            </a:r>
            <a:r>
              <a:rPr lang="en" sz="1200" b="1" i="1" dirty="0">
                <a:solidFill>
                  <a:srgbClr val="FF0000"/>
                </a:solidFill>
                <a:latin typeface="Roboto"/>
                <a:ea typeface="Roboto"/>
                <a:cs typeface="Roboto"/>
                <a:sym typeface="Roboto"/>
              </a:rPr>
              <a:t>functional interface</a:t>
            </a:r>
            <a:r>
              <a:rPr lang="en" sz="1200" dirty="0">
                <a:latin typeface="Roboto"/>
                <a:ea typeface="Roboto"/>
                <a:cs typeface="Roboto"/>
                <a:sym typeface="Roboto"/>
              </a:rPr>
              <a:t>.</a:t>
            </a:r>
            <a:endParaRPr sz="1200" dirty="0">
              <a:latin typeface="Roboto"/>
              <a:ea typeface="Roboto"/>
              <a:cs typeface="Roboto"/>
              <a:sym typeface="Roboto"/>
            </a:endParaRPr>
          </a:p>
        </p:txBody>
      </p:sp>
      <p:sp>
        <p:nvSpPr>
          <p:cNvPr id="537" name="Google Shape;537;p54"/>
          <p:cNvSpPr txBox="1"/>
          <p:nvPr/>
        </p:nvSpPr>
        <p:spPr>
          <a:xfrm>
            <a:off x="149750" y="3159875"/>
            <a:ext cx="23061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Because of this, the compiler must be able to </a:t>
            </a:r>
            <a:r>
              <a:rPr lang="en" sz="1200" b="1" i="1">
                <a:solidFill>
                  <a:srgbClr val="FF0000"/>
                </a:solidFill>
                <a:latin typeface="Roboto"/>
                <a:ea typeface="Roboto"/>
                <a:cs typeface="Roboto"/>
                <a:sym typeface="Roboto"/>
              </a:rPr>
              <a:t>infer</a:t>
            </a:r>
            <a:r>
              <a:rPr lang="en" sz="1200">
                <a:solidFill>
                  <a:srgbClr val="FF0000"/>
                </a:solidFill>
                <a:latin typeface="Roboto"/>
                <a:ea typeface="Roboto"/>
                <a:cs typeface="Roboto"/>
                <a:sym typeface="Roboto"/>
              </a:rPr>
              <a:t> </a:t>
            </a:r>
            <a:r>
              <a:rPr lang="en" sz="1200">
                <a:latin typeface="Roboto"/>
                <a:ea typeface="Roboto"/>
                <a:cs typeface="Roboto"/>
                <a:sym typeface="Roboto"/>
              </a:rPr>
              <a:t>which method is being implemented by the lambda - only </a:t>
            </a:r>
            <a:r>
              <a:rPr lang="en" sz="1200" b="1" i="1">
                <a:solidFill>
                  <a:srgbClr val="FF0000"/>
                </a:solidFill>
                <a:latin typeface="Roboto"/>
                <a:ea typeface="Roboto"/>
                <a:cs typeface="Roboto"/>
                <a:sym typeface="Roboto"/>
              </a:rPr>
              <a:t>functional interfaces</a:t>
            </a:r>
            <a:r>
              <a:rPr lang="en" sz="1200">
                <a:latin typeface="Roboto"/>
                <a:ea typeface="Roboto"/>
                <a:cs typeface="Roboto"/>
                <a:sym typeface="Roboto"/>
              </a:rPr>
              <a:t> can be used.</a:t>
            </a:r>
            <a:endParaRPr sz="1200">
              <a:latin typeface="Roboto"/>
              <a:ea typeface="Roboto"/>
              <a:cs typeface="Roboto"/>
              <a:sym typeface="Roboto"/>
            </a:endParaRPr>
          </a:p>
        </p:txBody>
      </p:sp>
      <p:sp>
        <p:nvSpPr>
          <p:cNvPr id="538" name="Google Shape;538;p54"/>
          <p:cNvSpPr/>
          <p:nvPr/>
        </p:nvSpPr>
        <p:spPr>
          <a:xfrm>
            <a:off x="3421525" y="2043925"/>
            <a:ext cx="3301744" cy="928375"/>
          </a:xfrm>
          <a:custGeom>
            <a:avLst/>
            <a:gdLst/>
            <a:ahLst/>
            <a:cxnLst/>
            <a:rect l="l" t="t" r="r" b="b"/>
            <a:pathLst>
              <a:path w="105715" h="37135" extrusionOk="0">
                <a:moveTo>
                  <a:pt x="105715" y="0"/>
                </a:moveTo>
                <a:cubicBezTo>
                  <a:pt x="101223" y="4592"/>
                  <a:pt x="93936" y="23859"/>
                  <a:pt x="78763" y="27552"/>
                </a:cubicBezTo>
                <a:cubicBezTo>
                  <a:pt x="63590" y="31246"/>
                  <a:pt x="27802" y="20564"/>
                  <a:pt x="14675" y="22161"/>
                </a:cubicBezTo>
                <a:cubicBezTo>
                  <a:pt x="1548" y="23758"/>
                  <a:pt x="2446" y="34639"/>
                  <a:pt x="0" y="3713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539" name="Google Shape;539;p54"/>
          <p:cNvSpPr txBox="1"/>
          <p:nvPr/>
        </p:nvSpPr>
        <p:spPr>
          <a:xfrm>
            <a:off x="6715050" y="1519525"/>
            <a:ext cx="2306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lambda creates a new instance that can be assigned to a variable of the interface's type.</a:t>
            </a:r>
            <a:endParaRPr sz="1200">
              <a:latin typeface="Roboto"/>
              <a:ea typeface="Roboto"/>
              <a:cs typeface="Roboto"/>
              <a:sym typeface="Roboto"/>
            </a:endParaRPr>
          </a:p>
        </p:txBody>
      </p:sp>
      <p:sp>
        <p:nvSpPr>
          <p:cNvPr id="540" name="Google Shape;540;p54"/>
          <p:cNvSpPr txBox="1"/>
          <p:nvPr/>
        </p:nvSpPr>
        <p:spPr>
          <a:xfrm>
            <a:off x="149750" y="2339700"/>
            <a:ext cx="2306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name of the method is </a:t>
            </a:r>
            <a:r>
              <a:rPr lang="en" sz="1200" b="1" i="1">
                <a:solidFill>
                  <a:srgbClr val="FF0000"/>
                </a:solidFill>
                <a:latin typeface="Roboto"/>
                <a:ea typeface="Roboto"/>
                <a:cs typeface="Roboto"/>
                <a:sym typeface="Roboto"/>
              </a:rPr>
              <a:t>omitted </a:t>
            </a:r>
            <a:r>
              <a:rPr lang="en" sz="1200">
                <a:latin typeface="Roboto"/>
                <a:ea typeface="Roboto"/>
                <a:cs typeface="Roboto"/>
                <a:sym typeface="Roboto"/>
              </a:rPr>
              <a:t>when creating a lambda.</a:t>
            </a:r>
            <a:endParaRPr sz="1200">
              <a:latin typeface="Roboto"/>
              <a:ea typeface="Roboto"/>
              <a:cs typeface="Roboto"/>
              <a:sym typeface="Roboto"/>
            </a:endParaRPr>
          </a:p>
        </p:txBody>
      </p:sp>
      <p:sp>
        <p:nvSpPr>
          <p:cNvPr id="541" name="Google Shape;541;p54"/>
          <p:cNvSpPr txBox="1"/>
          <p:nvPr/>
        </p:nvSpPr>
        <p:spPr>
          <a:xfrm>
            <a:off x="6723275" y="2540400"/>
            <a:ext cx="23061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The most basic form of lambda includes a </a:t>
            </a:r>
            <a:r>
              <a:rPr lang="en" sz="1200" b="1" i="1" dirty="0">
                <a:solidFill>
                  <a:srgbClr val="FF0000"/>
                </a:solidFill>
                <a:latin typeface="Roboto"/>
                <a:ea typeface="Roboto"/>
                <a:cs typeface="Roboto"/>
                <a:sym typeface="Roboto"/>
              </a:rPr>
              <a:t>parameter list</a:t>
            </a:r>
            <a:r>
              <a:rPr lang="en" sz="1200" dirty="0">
                <a:latin typeface="Roboto"/>
                <a:ea typeface="Roboto"/>
                <a:cs typeface="Roboto"/>
                <a:sym typeface="Roboto"/>
              </a:rPr>
              <a:t> followed by the </a:t>
            </a:r>
            <a:r>
              <a:rPr lang="en" sz="1200" dirty="0">
                <a:solidFill>
                  <a:srgbClr val="FF0000"/>
                </a:solidFill>
                <a:latin typeface="Courier New"/>
                <a:ea typeface="Courier New"/>
                <a:cs typeface="Courier New"/>
                <a:sym typeface="Courier New"/>
              </a:rPr>
              <a:t>-&gt;</a:t>
            </a:r>
            <a:r>
              <a:rPr lang="en" sz="1200" dirty="0">
                <a:latin typeface="Roboto"/>
                <a:ea typeface="Roboto"/>
                <a:cs typeface="Roboto"/>
                <a:sym typeface="Roboto"/>
              </a:rPr>
              <a:t> operator and the curly braces defining the </a:t>
            </a:r>
            <a:r>
              <a:rPr lang="en" sz="1200" b="1" i="1" dirty="0">
                <a:solidFill>
                  <a:srgbClr val="FF0000"/>
                </a:solidFill>
                <a:latin typeface="Roboto"/>
                <a:ea typeface="Roboto"/>
                <a:cs typeface="Roboto"/>
                <a:sym typeface="Roboto"/>
              </a:rPr>
              <a:t>method body</a:t>
            </a:r>
            <a:r>
              <a:rPr lang="en" sz="1200" dirty="0">
                <a:latin typeface="Roboto"/>
                <a:ea typeface="Roboto"/>
                <a:cs typeface="Roboto"/>
                <a:sym typeface="Roboto"/>
              </a:rPr>
              <a:t>.</a:t>
            </a:r>
            <a:endParaRPr sz="1200" dirty="0">
              <a:latin typeface="Roboto"/>
              <a:ea typeface="Roboto"/>
              <a:cs typeface="Roboto"/>
              <a:sym typeface="Roboto"/>
            </a:endParaRPr>
          </a:p>
        </p:txBody>
      </p:sp>
      <p:grpSp>
        <p:nvGrpSpPr>
          <p:cNvPr id="542" name="Google Shape;542;p54"/>
          <p:cNvGrpSpPr/>
          <p:nvPr/>
        </p:nvGrpSpPr>
        <p:grpSpPr>
          <a:xfrm>
            <a:off x="2940667" y="2897480"/>
            <a:ext cx="3790461" cy="628912"/>
            <a:chOff x="3114550" y="2897425"/>
            <a:chExt cx="3616162" cy="628912"/>
          </a:xfrm>
        </p:grpSpPr>
        <p:grpSp>
          <p:nvGrpSpPr>
            <p:cNvPr id="543" name="Google Shape;543;p54"/>
            <p:cNvGrpSpPr/>
            <p:nvPr/>
          </p:nvGrpSpPr>
          <p:grpSpPr>
            <a:xfrm>
              <a:off x="3114550" y="2897425"/>
              <a:ext cx="3399050" cy="628912"/>
              <a:chOff x="3114550" y="2889938"/>
              <a:chExt cx="3399050" cy="628912"/>
            </a:xfrm>
          </p:grpSpPr>
          <p:sp>
            <p:nvSpPr>
              <p:cNvPr id="544" name="Google Shape;544;p54"/>
              <p:cNvSpPr/>
              <p:nvPr/>
            </p:nvSpPr>
            <p:spPr>
              <a:xfrm>
                <a:off x="3114550" y="2897425"/>
                <a:ext cx="3399050" cy="621425"/>
              </a:xfrm>
              <a:custGeom>
                <a:avLst/>
                <a:gdLst/>
                <a:ahLst/>
                <a:cxnLst/>
                <a:rect l="l" t="t" r="r" b="b"/>
                <a:pathLst>
                  <a:path w="135962" h="24857" extrusionOk="0">
                    <a:moveTo>
                      <a:pt x="50012" y="8086"/>
                    </a:moveTo>
                    <a:lnTo>
                      <a:pt x="0" y="8086"/>
                    </a:lnTo>
                    <a:lnTo>
                      <a:pt x="0" y="24857"/>
                    </a:lnTo>
                    <a:lnTo>
                      <a:pt x="135962" y="24857"/>
                    </a:lnTo>
                    <a:lnTo>
                      <a:pt x="135962" y="0"/>
                    </a:lnTo>
                    <a:lnTo>
                      <a:pt x="50312" y="0"/>
                    </a:lnTo>
                  </a:path>
                </a:pathLst>
              </a:custGeom>
              <a:noFill/>
              <a:ln w="19050" cap="flat" cmpd="sng">
                <a:solidFill>
                  <a:srgbClr val="FF0000"/>
                </a:solidFill>
                <a:prstDash val="solid"/>
                <a:round/>
                <a:headEnd type="none" w="med" len="med"/>
                <a:tailEnd type="none" w="med" len="med"/>
              </a:ln>
            </p:spPr>
            <p:txBody>
              <a:bodyPr/>
              <a:lstStyle/>
              <a:p>
                <a:endParaRPr lang="en-US"/>
              </a:p>
            </p:txBody>
          </p:sp>
          <p:cxnSp>
            <p:nvCxnSpPr>
              <p:cNvPr id="545" name="Google Shape;545;p54"/>
              <p:cNvCxnSpPr/>
              <p:nvPr/>
            </p:nvCxnSpPr>
            <p:spPr>
              <a:xfrm>
                <a:off x="4372350" y="2889938"/>
                <a:ext cx="0" cy="217200"/>
              </a:xfrm>
              <a:prstGeom prst="straightConnector1">
                <a:avLst/>
              </a:prstGeom>
              <a:noFill/>
              <a:ln w="19050" cap="flat" cmpd="sng">
                <a:solidFill>
                  <a:srgbClr val="FF0000"/>
                </a:solidFill>
                <a:prstDash val="solid"/>
                <a:round/>
                <a:headEnd type="none" w="med" len="med"/>
                <a:tailEnd type="none" w="med" len="med"/>
              </a:ln>
            </p:spPr>
          </p:cxnSp>
        </p:grpSp>
        <p:cxnSp>
          <p:nvCxnSpPr>
            <p:cNvPr id="546" name="Google Shape;546;p54"/>
            <p:cNvCxnSpPr/>
            <p:nvPr/>
          </p:nvCxnSpPr>
          <p:spPr>
            <a:xfrm rot="10800000">
              <a:off x="6506012" y="3092100"/>
              <a:ext cx="224700" cy="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6"/>
                                        </p:tgtEl>
                                        <p:attrNameLst>
                                          <p:attrName>style.visibility</p:attrName>
                                        </p:attrNameLst>
                                      </p:cBhvr>
                                      <p:to>
                                        <p:strVal val="visible"/>
                                      </p:to>
                                    </p:set>
                                    <p:animEffect transition="in" filter="fade">
                                      <p:cBhvr>
                                        <p:cTn id="7" dur="1000"/>
                                        <p:tgtEl>
                                          <p:spTgt spid="5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0"/>
                                        </p:tgtEl>
                                        <p:attrNameLst>
                                          <p:attrName>style.visibility</p:attrName>
                                        </p:attrNameLst>
                                      </p:cBhvr>
                                      <p:to>
                                        <p:strVal val="visible"/>
                                      </p:to>
                                    </p:set>
                                    <p:animEffect transition="in" filter="fade">
                                      <p:cBhvr>
                                        <p:cTn id="12" dur="1000"/>
                                        <p:tgtEl>
                                          <p:spTgt spid="5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7"/>
                                        </p:tgtEl>
                                        <p:attrNameLst>
                                          <p:attrName>style.visibility</p:attrName>
                                        </p:attrNameLst>
                                      </p:cBhvr>
                                      <p:to>
                                        <p:strVal val="visible"/>
                                      </p:to>
                                    </p:set>
                                    <p:animEffect transition="in" filter="fade">
                                      <p:cBhvr>
                                        <p:cTn id="17" dur="1000"/>
                                        <p:tgtEl>
                                          <p:spTgt spid="5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9"/>
                                        </p:tgtEl>
                                        <p:attrNameLst>
                                          <p:attrName>style.visibility</p:attrName>
                                        </p:attrNameLst>
                                      </p:cBhvr>
                                      <p:to>
                                        <p:strVal val="visible"/>
                                      </p:to>
                                    </p:set>
                                    <p:animEffect transition="in" filter="fade">
                                      <p:cBhvr>
                                        <p:cTn id="22" dur="1000"/>
                                        <p:tgtEl>
                                          <p:spTgt spid="539"/>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538"/>
                                        </p:tgtEl>
                                        <p:attrNameLst>
                                          <p:attrName>style.visibility</p:attrName>
                                        </p:attrNameLst>
                                      </p:cBhvr>
                                      <p:to>
                                        <p:strVal val="visible"/>
                                      </p:to>
                                    </p:set>
                                    <p:animEffect transition="in" filter="fade">
                                      <p:cBhvr>
                                        <p:cTn id="26" dur="1000"/>
                                        <p:tgtEl>
                                          <p:spTgt spid="5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41"/>
                                        </p:tgtEl>
                                        <p:attrNameLst>
                                          <p:attrName>style.visibility</p:attrName>
                                        </p:attrNameLst>
                                      </p:cBhvr>
                                      <p:to>
                                        <p:strVal val="visible"/>
                                      </p:to>
                                    </p:set>
                                    <p:animEffect transition="in" filter="fade">
                                      <p:cBhvr>
                                        <p:cTn id="31" dur="1000"/>
                                        <p:tgtEl>
                                          <p:spTgt spid="541"/>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542"/>
                                        </p:tgtEl>
                                        <p:attrNameLst>
                                          <p:attrName>style.visibility</p:attrName>
                                        </p:attrNameLst>
                                      </p:cBhvr>
                                      <p:to>
                                        <p:strVal val="visible"/>
                                      </p:to>
                                    </p:set>
                                    <p:animEffect transition="in" filter="fade">
                                      <p:cBhvr>
                                        <p:cTn id="35" dur="1000"/>
                                        <p:tgtEl>
                                          <p:spTgt spid="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latin typeface="Courier New"/>
                <a:ea typeface="Courier New"/>
                <a:cs typeface="Courier New"/>
                <a:sym typeface="Courier New"/>
              </a:rPr>
              <a:t>buildExpressionTree</a:t>
            </a:r>
            <a:endParaRPr>
              <a:latin typeface="Courier New"/>
              <a:ea typeface="Courier New"/>
              <a:cs typeface="Courier New"/>
              <a:sym typeface="Courier New"/>
            </a:endParaRPr>
          </a:p>
        </p:txBody>
      </p:sp>
      <p:sp>
        <p:nvSpPr>
          <p:cNvPr id="552" name="Google Shape;552;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553" name="Google Shape;553;p5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For the next few activities, we'll be adding additional mathematical expressions to the </a:t>
            </a:r>
            <a:r>
              <a:rPr lang="en" dirty="0">
                <a:latin typeface="Courier New"/>
                <a:ea typeface="Courier New"/>
                <a:cs typeface="Courier New"/>
                <a:sym typeface="Courier New"/>
              </a:rPr>
              <a:t>buildExpressionTree</a:t>
            </a:r>
            <a:r>
              <a:rPr lang="en" dirty="0"/>
              <a:t> method in the provided </a:t>
            </a:r>
            <a:r>
              <a:rPr lang="en" dirty="0">
                <a:latin typeface="Courier New"/>
                <a:ea typeface="Courier New"/>
                <a:cs typeface="Courier New"/>
                <a:sym typeface="Courier New"/>
              </a:rPr>
              <a:t>ExpressionTree</a:t>
            </a:r>
            <a:r>
              <a:rPr lang="en" dirty="0"/>
              <a:t> class. Before we start, let's take a closer look at the method first.</a:t>
            </a:r>
            <a:endParaRPr dirty="0"/>
          </a:p>
        </p:txBody>
      </p:sp>
      <p:sp>
        <p:nvSpPr>
          <p:cNvPr id="554" name="Google Shape;554;p55"/>
          <p:cNvSpPr txBox="1">
            <a:spLocks noGrp="1"/>
          </p:cNvSpPr>
          <p:nvPr>
            <p:ph type="body" idx="2"/>
          </p:nvPr>
        </p:nvSpPr>
        <p:spPr>
          <a:xfrm>
            <a:off x="3165300" y="1881550"/>
            <a:ext cx="5775900" cy="3004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ExpressionTree</a:t>
            </a:r>
            <a:r>
              <a:rPr lang="en" dirty="0"/>
              <a:t> class in the provided </a:t>
            </a:r>
            <a:r>
              <a:rPr lang="en" dirty="0">
                <a:latin typeface="Courier New"/>
                <a:ea typeface="Courier New"/>
                <a:cs typeface="Courier New"/>
                <a:sym typeface="Courier New"/>
              </a:rPr>
              <a:t>expressions</a:t>
            </a:r>
            <a:r>
              <a:rPr lang="en" dirty="0"/>
              <a:t> package.</a:t>
            </a:r>
            <a:endParaRPr dirty="0"/>
          </a:p>
          <a:p>
            <a:pPr marL="457200" lvl="0" indent="-311150" algn="l" rtl="0">
              <a:spcBef>
                <a:spcPts val="0"/>
              </a:spcBef>
              <a:spcAft>
                <a:spcPts val="0"/>
              </a:spcAft>
              <a:buSzPts val="1300"/>
              <a:buChar char="●"/>
            </a:pPr>
            <a:r>
              <a:rPr lang="en" dirty="0"/>
              <a:t>For the most part, the main function is the example that was shown earlier for anonymous classes.</a:t>
            </a:r>
            <a:endParaRPr dirty="0"/>
          </a:p>
          <a:p>
            <a:pPr marL="457200" lvl="0" indent="-311150" algn="l" rtl="0">
              <a:spcBef>
                <a:spcPts val="0"/>
              </a:spcBef>
              <a:spcAft>
                <a:spcPts val="0"/>
              </a:spcAft>
              <a:buSzPts val="1300"/>
              <a:buChar char="●"/>
            </a:pPr>
            <a:r>
              <a:rPr lang="en" dirty="0"/>
              <a:t>Focus on the </a:t>
            </a:r>
            <a:r>
              <a:rPr lang="en" dirty="0">
                <a:latin typeface="Courier New"/>
                <a:ea typeface="Courier New"/>
                <a:cs typeface="Courier New"/>
                <a:sym typeface="Courier New"/>
              </a:rPr>
              <a:t>buildExpressionTree</a:t>
            </a:r>
            <a:r>
              <a:rPr lang="en" dirty="0"/>
              <a:t> which is a more full fledged implementation.</a:t>
            </a:r>
            <a:endParaRPr dirty="0"/>
          </a:p>
          <a:p>
            <a:pPr marL="914400" lvl="1" indent="-298450" algn="l" rtl="0">
              <a:spcBef>
                <a:spcPts val="0"/>
              </a:spcBef>
              <a:spcAft>
                <a:spcPts val="0"/>
              </a:spcAft>
              <a:buSzPts val="1100"/>
              <a:buChar char="○"/>
            </a:pPr>
            <a:r>
              <a:rPr lang="en" dirty="0"/>
              <a:t>It builds a complete expression tree given a string using infix notation.</a:t>
            </a:r>
            <a:endParaRPr dirty="0"/>
          </a:p>
          <a:p>
            <a:pPr marL="914400" lvl="1" indent="-298450" algn="l" rtl="0">
              <a:spcBef>
                <a:spcPts val="0"/>
              </a:spcBef>
              <a:spcAft>
                <a:spcPts val="0"/>
              </a:spcAft>
              <a:buSzPts val="1100"/>
              <a:buChar char="○"/>
            </a:pPr>
            <a:r>
              <a:rPr lang="en" dirty="0"/>
              <a:t>I.E. </a:t>
            </a:r>
            <a:r>
              <a:rPr lang="en" dirty="0">
                <a:latin typeface="Courier New"/>
                <a:ea typeface="Courier New"/>
                <a:cs typeface="Courier New"/>
                <a:sym typeface="Courier New"/>
              </a:rPr>
              <a:t>3 + 5 -- </a:t>
            </a:r>
            <a:r>
              <a:rPr lang="en" dirty="0"/>
              <a:t>wich would evaluate to </a:t>
            </a:r>
            <a:r>
              <a:rPr lang="en" dirty="0">
                <a:latin typeface="Courier New"/>
                <a:ea typeface="Courier New"/>
                <a:cs typeface="Courier New"/>
                <a:sym typeface="Courier New"/>
              </a:rPr>
              <a:t>7 </a:t>
            </a:r>
            <a:r>
              <a:rPr lang="en" dirty="0"/>
              <a:t>(</a:t>
            </a:r>
            <a:r>
              <a:rPr lang="en" dirty="0">
                <a:latin typeface="Courier New"/>
                <a:ea typeface="Courier New"/>
                <a:cs typeface="Courier New"/>
                <a:sym typeface="Courier New"/>
              </a:rPr>
              <a:t>8--</a:t>
            </a:r>
            <a:r>
              <a:rPr lang="en" dirty="0"/>
              <a:t>). </a:t>
            </a:r>
            <a:endParaRPr dirty="0"/>
          </a:p>
          <a:p>
            <a:pPr marL="914400" lvl="1" indent="-298450" algn="l" rtl="0">
              <a:spcBef>
                <a:spcPts val="0"/>
              </a:spcBef>
              <a:spcAft>
                <a:spcPts val="0"/>
              </a:spcAft>
              <a:buSzPts val="1100"/>
              <a:buChar char="○"/>
            </a:pPr>
            <a:r>
              <a:rPr lang="en" dirty="0"/>
              <a:t>This solution does not enforce PEMDAS which requires a much more complex algorithm to parse.</a:t>
            </a:r>
            <a:endParaRPr dirty="0"/>
          </a:p>
          <a:p>
            <a:pPr marL="457200" lvl="0" indent="-311150" algn="l" rtl="0">
              <a:spcBef>
                <a:spcPts val="0"/>
              </a:spcBef>
              <a:spcAft>
                <a:spcPts val="0"/>
              </a:spcAft>
              <a:buSzPts val="1300"/>
              <a:buChar char="●"/>
            </a:pPr>
            <a:r>
              <a:rPr lang="en" dirty="0"/>
              <a:t>The algorithm itself if less important, the main area to understand is where the actual binary expressions are created.</a:t>
            </a:r>
            <a:endParaRPr dirty="0"/>
          </a:p>
          <a:p>
            <a:pPr marL="457200" lvl="0" indent="-311150" algn="l" rtl="0">
              <a:spcBef>
                <a:spcPts val="0"/>
              </a:spcBef>
              <a:spcAft>
                <a:spcPts val="0"/>
              </a:spcAft>
              <a:buSzPts val="1300"/>
              <a:buChar char="●"/>
            </a:pPr>
            <a:r>
              <a:rPr lang="en" dirty="0"/>
              <a:t>Raise your hand if you have any questions.</a:t>
            </a:r>
            <a:endParaRPr dirty="0"/>
          </a:p>
        </p:txBody>
      </p:sp>
      <p:sp>
        <p:nvSpPr>
          <p:cNvPr id="555" name="Google Shape;555;p5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4.6</a:t>
            </a:r>
            <a:endParaRPr/>
          </a:p>
        </p:txBody>
      </p:sp>
      <p:sp>
        <p:nvSpPr>
          <p:cNvPr id="556" name="Google Shape;556;p55"/>
          <p:cNvSpPr txBox="1">
            <a:spLocks noGrp="1"/>
          </p:cNvSpPr>
          <p:nvPr>
            <p:ph type="body" idx="4"/>
          </p:nvPr>
        </p:nvSpPr>
        <p:spPr>
          <a:xfrm>
            <a:off x="141600" y="4171030"/>
            <a:ext cx="3023700" cy="861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100"/>
              <a:t>Think of the </a:t>
            </a:r>
            <a:r>
              <a:rPr lang="en" sz="1100">
                <a:latin typeface="Courier New"/>
                <a:ea typeface="Courier New"/>
                <a:cs typeface="Courier New"/>
                <a:sym typeface="Courier New"/>
              </a:rPr>
              <a:t>buildExpressionTree</a:t>
            </a:r>
            <a:r>
              <a:rPr lang="en" sz="1100"/>
              <a:t> as a simple calculator that immediately performs the requested operation once the necessary operands have been entered.</a:t>
            </a:r>
            <a:endParaRPr sz="1100"/>
          </a:p>
        </p:txBody>
      </p:sp>
      <p:pic>
        <p:nvPicPr>
          <p:cNvPr id="557" name="Google Shape;557;p55"/>
          <p:cNvPicPr preferRelativeResize="0"/>
          <p:nvPr/>
        </p:nvPicPr>
        <p:blipFill>
          <a:blip r:embed="rId3">
            <a:alphaModFix/>
          </a:blip>
          <a:stretch>
            <a:fillRect/>
          </a:stretch>
        </p:blipFill>
        <p:spPr>
          <a:xfrm>
            <a:off x="585038" y="1814150"/>
            <a:ext cx="2136826" cy="2229026"/>
          </a:xfrm>
          <a:prstGeom prst="rect">
            <a:avLst/>
          </a:prstGeom>
          <a:noFill/>
          <a:ln>
            <a:noFill/>
          </a:ln>
        </p:spPr>
      </p:pic>
      <p:sp>
        <p:nvSpPr>
          <p:cNvPr id="558" name="Google Shape;558;p55"/>
          <p:cNvSpPr/>
          <p:nvPr/>
        </p:nvSpPr>
        <p:spPr>
          <a:xfrm>
            <a:off x="2092720" y="3387088"/>
            <a:ext cx="275700" cy="254400"/>
          </a:xfrm>
          <a:prstGeom prst="noSmoking">
            <a:avLst>
              <a:gd name="adj" fmla="val 825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564" name="Google Shape;564;p5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Multiplication Lambda Expression</a:t>
            </a:r>
            <a:endParaRPr/>
          </a:p>
        </p:txBody>
      </p:sp>
      <p:sp>
        <p:nvSpPr>
          <p:cNvPr id="565" name="Google Shape;565;p5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existing </a:t>
            </a:r>
            <a:r>
              <a:rPr lang="en">
                <a:latin typeface="Courier New"/>
                <a:ea typeface="Courier New"/>
                <a:cs typeface="Courier New"/>
                <a:sym typeface="Courier New"/>
              </a:rPr>
              <a:t>buildExpressionTree</a:t>
            </a:r>
            <a:r>
              <a:rPr lang="en"/>
              <a:t> only works with the binary operators "+" and "-". Add a new case for multiplication ("</a:t>
            </a:r>
            <a:r>
              <a:rPr lang="en" b="1">
                <a:solidFill>
                  <a:srgbClr val="FF0000"/>
                </a:solidFill>
              </a:rPr>
              <a:t>*</a:t>
            </a:r>
            <a:r>
              <a:rPr lang="en"/>
              <a:t>") using a </a:t>
            </a:r>
            <a:r>
              <a:rPr lang="en" b="1">
                <a:solidFill>
                  <a:srgbClr val="FF0000"/>
                </a:solidFill>
              </a:rPr>
              <a:t>lambda expression</a:t>
            </a:r>
            <a:r>
              <a:rPr lang="en"/>
              <a:t>. </a:t>
            </a:r>
            <a:endParaRPr/>
          </a:p>
        </p:txBody>
      </p:sp>
      <p:sp>
        <p:nvSpPr>
          <p:cNvPr id="566" name="Google Shape;566;p5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4.7</a:t>
            </a:r>
            <a:endParaRPr/>
          </a:p>
        </p:txBody>
      </p:sp>
      <p:sp>
        <p:nvSpPr>
          <p:cNvPr id="567" name="Google Shape;567;p56"/>
          <p:cNvSpPr txBox="1">
            <a:spLocks noGrp="1"/>
          </p:cNvSpPr>
          <p:nvPr>
            <p:ph type="body" idx="2"/>
          </p:nvPr>
        </p:nvSpPr>
        <p:spPr>
          <a:xfrm>
            <a:off x="3975600" y="1741950"/>
            <a:ext cx="4830600" cy="25839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In the </a:t>
            </a:r>
            <a:r>
              <a:rPr lang="en" sz="1600" dirty="0">
                <a:solidFill>
                  <a:srgbClr val="FF0000"/>
                </a:solidFill>
                <a:latin typeface="Courier New"/>
                <a:ea typeface="Courier New"/>
                <a:cs typeface="Courier New"/>
                <a:sym typeface="Courier New"/>
              </a:rPr>
              <a:t>ExpressionTree</a:t>
            </a:r>
            <a:r>
              <a:rPr lang="en" sz="1600" dirty="0"/>
              <a:t> class's </a:t>
            </a:r>
            <a:r>
              <a:rPr lang="en" sz="1600" dirty="0">
                <a:latin typeface="Courier New"/>
                <a:ea typeface="Courier New"/>
                <a:cs typeface="Courier New"/>
                <a:sym typeface="Courier New"/>
              </a:rPr>
              <a:t>buildExpressionTree</a:t>
            </a:r>
            <a:r>
              <a:rPr lang="en" sz="1600" dirty="0"/>
              <a:t>, use a lambda expression to handle the multiplication case.</a:t>
            </a:r>
            <a:endParaRPr sz="1600" dirty="0"/>
          </a:p>
          <a:p>
            <a:pPr marL="914400" lvl="1" indent="-323850" algn="l" rtl="0">
              <a:spcBef>
                <a:spcPts val="1000"/>
              </a:spcBef>
              <a:spcAft>
                <a:spcPts val="0"/>
              </a:spcAft>
              <a:buSzPts val="1500"/>
              <a:buChar char="○"/>
            </a:pPr>
            <a:r>
              <a:rPr lang="en" sz="1500" dirty="0"/>
              <a:t>Create a lambda expression for the </a:t>
            </a:r>
            <a:r>
              <a:rPr lang="en" sz="1500" dirty="0">
                <a:latin typeface="Courier New"/>
                <a:ea typeface="Courier New"/>
                <a:cs typeface="Courier New"/>
                <a:sym typeface="Courier New"/>
              </a:rPr>
              <a:t>Expression</a:t>
            </a:r>
            <a:r>
              <a:rPr lang="en" sz="1500" dirty="0"/>
              <a:t> interface that implements multiplication.</a:t>
            </a:r>
            <a:endParaRPr sz="1500" dirty="0"/>
          </a:p>
          <a:p>
            <a:pPr marL="914400" lvl="1" indent="-323850" algn="l" rtl="0">
              <a:spcBef>
                <a:spcPts val="1000"/>
              </a:spcBef>
              <a:spcAft>
                <a:spcPts val="1000"/>
              </a:spcAft>
              <a:buSzPts val="1500"/>
              <a:buChar char="○"/>
            </a:pPr>
            <a:r>
              <a:rPr lang="en" sz="1500" dirty="0"/>
              <a:t>Follow the format used for "+" and "-" when accessing the operands.</a:t>
            </a:r>
            <a:endParaRPr sz="1500" dirty="0"/>
          </a:p>
        </p:txBody>
      </p:sp>
      <p:sp>
        <p:nvSpPr>
          <p:cNvPr id="568" name="Google Shape;568;p56"/>
          <p:cNvSpPr txBox="1">
            <a:spLocks noGrp="1"/>
          </p:cNvSpPr>
          <p:nvPr>
            <p:ph type="body" idx="4"/>
          </p:nvPr>
        </p:nvSpPr>
        <p:spPr>
          <a:xfrm>
            <a:off x="217800" y="2699282"/>
            <a:ext cx="3757800" cy="1593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static</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main</a:t>
            </a:r>
            <a:r>
              <a:rPr lang="en" sz="1100">
                <a:solidFill>
                  <a:srgbClr val="000000"/>
                </a:solidFill>
                <a:latin typeface="Consolas"/>
                <a:ea typeface="Consolas"/>
                <a:cs typeface="Consolas"/>
                <a:sym typeface="Consolas"/>
              </a:rPr>
              <a:t>(</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args</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int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x</a:t>
            </a:r>
            <a:r>
              <a:rPr lang="en" sz="1100">
                <a:solidFill>
                  <a:srgbClr val="000000"/>
                </a:solidFill>
                <a:latin typeface="Consolas"/>
                <a:ea typeface="Consolas"/>
                <a:cs typeface="Consolas"/>
                <a:sym typeface="Consolas"/>
              </a:rPr>
              <a:t> = </a:t>
            </a:r>
            <a:r>
              <a:rPr lang="en" sz="1100">
                <a:solidFill>
                  <a:srgbClr val="098658"/>
                </a:solidFill>
                <a:latin typeface="Consolas"/>
                <a:ea typeface="Consolas"/>
                <a:cs typeface="Consolas"/>
                <a:sym typeface="Consolas"/>
              </a:rPr>
              <a:t>5</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8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Shape</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circle</a:t>
            </a:r>
            <a:r>
              <a:rPr lang="en" sz="1100">
                <a:solidFill>
                  <a:srgbClr val="000000"/>
                </a:solidFill>
                <a:latin typeface="Consolas"/>
                <a:ea typeface="Consolas"/>
                <a:cs typeface="Consolas"/>
                <a:sym typeface="Consolas"/>
              </a:rPr>
              <a:t> = </a:t>
            </a:r>
            <a:r>
              <a:rPr lang="en" sz="1100">
                <a:solidFill>
                  <a:srgbClr val="000000"/>
                </a:solidFill>
                <a:highlight>
                  <a:srgbClr val="D9EAD3"/>
                </a:highlight>
                <a:latin typeface="Consolas"/>
                <a:ea typeface="Consolas"/>
                <a:cs typeface="Consolas"/>
                <a:sym typeface="Consolas"/>
              </a:rPr>
              <a:t>(</a:t>
            </a:r>
            <a:r>
              <a:rPr lang="en" sz="1100">
                <a:solidFill>
                  <a:srgbClr val="267F99"/>
                </a:solidFill>
                <a:highlight>
                  <a:srgbClr val="D9EAD3"/>
                </a:highlight>
                <a:latin typeface="Consolas"/>
                <a:ea typeface="Consolas"/>
                <a:cs typeface="Consolas"/>
                <a:sym typeface="Consolas"/>
              </a:rPr>
              <a:t>double...</a:t>
            </a:r>
            <a:r>
              <a:rPr lang="en" sz="1100">
                <a:solidFill>
                  <a:srgbClr val="000000"/>
                </a:solidFill>
                <a:highlight>
                  <a:srgbClr val="D9EAD3"/>
                </a:highlight>
                <a:latin typeface="Consolas"/>
                <a:ea typeface="Consolas"/>
                <a:cs typeface="Consolas"/>
                <a:sym typeface="Consolas"/>
              </a:rPr>
              <a:t> </a:t>
            </a:r>
            <a:r>
              <a:rPr lang="en" sz="1100">
                <a:solidFill>
                  <a:srgbClr val="001080"/>
                </a:solidFill>
                <a:highlight>
                  <a:srgbClr val="D9EAD3"/>
                </a:highlight>
                <a:latin typeface="Consolas"/>
                <a:ea typeface="Consolas"/>
                <a:cs typeface="Consolas"/>
                <a:sym typeface="Consolas"/>
              </a:rPr>
              <a:t>dimens</a:t>
            </a:r>
            <a:r>
              <a:rPr lang="en" sz="1100">
                <a:solidFill>
                  <a:srgbClr val="000000"/>
                </a:solidFill>
                <a:highlight>
                  <a:srgbClr val="D9EAD3"/>
                </a:highlight>
                <a:latin typeface="Consolas"/>
                <a:ea typeface="Consolas"/>
                <a:cs typeface="Consolas"/>
                <a:sym typeface="Consolas"/>
              </a:rPr>
              <a:t>) </a:t>
            </a:r>
            <a:r>
              <a:rPr lang="en" sz="1100">
                <a:solidFill>
                  <a:srgbClr val="0000FF"/>
                </a:solidFill>
                <a:highlight>
                  <a:srgbClr val="D9EAD3"/>
                </a:highlight>
                <a:latin typeface="Consolas"/>
                <a:ea typeface="Consolas"/>
                <a:cs typeface="Consolas"/>
                <a:sym typeface="Consolas"/>
              </a:rPr>
              <a:t>-&gt;</a:t>
            </a:r>
            <a:r>
              <a:rPr lang="en" sz="1100">
                <a:solidFill>
                  <a:srgbClr val="000000"/>
                </a:solidFill>
                <a:highlight>
                  <a:srgbClr val="D9EAD3"/>
                </a:highlight>
                <a:latin typeface="Consolas"/>
                <a:ea typeface="Consolas"/>
                <a:cs typeface="Consolas"/>
                <a:sym typeface="Consolas"/>
              </a:rPr>
              <a:t> {</a:t>
            </a:r>
            <a:r>
              <a:rPr lang="en" sz="1100">
                <a:solidFill>
                  <a:srgbClr val="D9EAD3"/>
                </a:solidFill>
                <a:highlight>
                  <a:srgbClr val="D9EAD3"/>
                </a:highlight>
                <a:latin typeface="Consolas"/>
                <a:ea typeface="Consolas"/>
                <a:cs typeface="Consolas"/>
                <a:sym typeface="Consolas"/>
              </a:rPr>
              <a:t>-----</a:t>
            </a:r>
            <a:r>
              <a:rPr lang="en" sz="1100">
                <a:solidFill>
                  <a:srgbClr val="000000"/>
                </a:solidFill>
                <a:highlight>
                  <a:srgbClr val="D9EAD3"/>
                </a:highlight>
                <a:latin typeface="Consolas"/>
                <a:ea typeface="Consolas"/>
                <a:cs typeface="Consolas"/>
                <a:sym typeface="Consolas"/>
              </a:rPr>
              <a:t>     </a:t>
            </a:r>
            <a:endParaRPr sz="1100">
              <a:solidFill>
                <a:srgbClr val="000000"/>
              </a:solidFill>
              <a:highlight>
                <a:srgbClr val="D9EAD3"/>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00"/>
                </a:solidFill>
                <a:highlight>
                  <a:srgbClr val="D9EAD3"/>
                </a:highlight>
                <a:latin typeface="Consolas"/>
                <a:ea typeface="Consolas"/>
                <a:cs typeface="Consolas"/>
                <a:sym typeface="Consolas"/>
              </a:rPr>
              <a:t>   </a:t>
            </a:r>
            <a:r>
              <a:rPr lang="en" sz="1100">
                <a:solidFill>
                  <a:srgbClr val="AF00DB"/>
                </a:solidFill>
                <a:highlight>
                  <a:srgbClr val="D9EAD3"/>
                </a:highlight>
                <a:latin typeface="Consolas"/>
                <a:ea typeface="Consolas"/>
                <a:cs typeface="Consolas"/>
                <a:sym typeface="Consolas"/>
              </a:rPr>
              <a:t>return</a:t>
            </a:r>
            <a:r>
              <a:rPr lang="en" sz="1100">
                <a:solidFill>
                  <a:srgbClr val="000000"/>
                </a:solidFill>
                <a:highlight>
                  <a:srgbClr val="D9EAD3"/>
                </a:highlight>
                <a:latin typeface="Consolas"/>
                <a:ea typeface="Consolas"/>
                <a:cs typeface="Consolas"/>
                <a:sym typeface="Consolas"/>
              </a:rPr>
              <a:t> </a:t>
            </a:r>
            <a:r>
              <a:rPr lang="en" sz="1100">
                <a:solidFill>
                  <a:srgbClr val="267F99"/>
                </a:solidFill>
                <a:highlight>
                  <a:srgbClr val="D9EAD3"/>
                </a:highlight>
                <a:latin typeface="Consolas"/>
                <a:ea typeface="Consolas"/>
                <a:cs typeface="Consolas"/>
                <a:sym typeface="Consolas"/>
              </a:rPr>
              <a:t>Math</a:t>
            </a:r>
            <a:r>
              <a:rPr lang="en" sz="1100">
                <a:solidFill>
                  <a:srgbClr val="000000"/>
                </a:solidFill>
                <a:highlight>
                  <a:srgbClr val="D9EAD3"/>
                </a:highlight>
                <a:latin typeface="Consolas"/>
                <a:ea typeface="Consolas"/>
                <a:cs typeface="Consolas"/>
                <a:sym typeface="Consolas"/>
              </a:rPr>
              <a:t>.</a:t>
            </a:r>
            <a:r>
              <a:rPr lang="en" sz="1100">
                <a:solidFill>
                  <a:srgbClr val="0070C1"/>
                </a:solidFill>
                <a:highlight>
                  <a:srgbClr val="D9EAD3"/>
                </a:highlight>
                <a:latin typeface="Consolas"/>
                <a:ea typeface="Consolas"/>
                <a:cs typeface="Consolas"/>
                <a:sym typeface="Consolas"/>
              </a:rPr>
              <a:t>PI</a:t>
            </a:r>
            <a:r>
              <a:rPr lang="en" sz="1100">
                <a:solidFill>
                  <a:srgbClr val="000000"/>
                </a:solidFill>
                <a:highlight>
                  <a:srgbClr val="D9EAD3"/>
                </a:highlight>
                <a:latin typeface="Consolas"/>
                <a:ea typeface="Consolas"/>
                <a:cs typeface="Consolas"/>
                <a:sym typeface="Consolas"/>
              </a:rPr>
              <a:t> * </a:t>
            </a:r>
            <a:r>
              <a:rPr lang="en" sz="1100">
                <a:solidFill>
                  <a:srgbClr val="267F99"/>
                </a:solidFill>
                <a:highlight>
                  <a:srgbClr val="D9EAD3"/>
                </a:highlight>
                <a:latin typeface="Consolas"/>
                <a:ea typeface="Consolas"/>
                <a:cs typeface="Consolas"/>
                <a:sym typeface="Consolas"/>
              </a:rPr>
              <a:t>Math</a:t>
            </a:r>
            <a:r>
              <a:rPr lang="en" sz="1100">
                <a:solidFill>
                  <a:srgbClr val="000000"/>
                </a:solidFill>
                <a:highlight>
                  <a:srgbClr val="D9EAD3"/>
                </a:highlight>
                <a:latin typeface="Consolas"/>
                <a:ea typeface="Consolas"/>
                <a:cs typeface="Consolas"/>
                <a:sym typeface="Consolas"/>
              </a:rPr>
              <a:t>.</a:t>
            </a:r>
            <a:r>
              <a:rPr lang="en" sz="1100">
                <a:solidFill>
                  <a:srgbClr val="795E26"/>
                </a:solidFill>
                <a:highlight>
                  <a:srgbClr val="D9EAD3"/>
                </a:highlight>
                <a:latin typeface="Consolas"/>
                <a:ea typeface="Consolas"/>
                <a:cs typeface="Consolas"/>
                <a:sym typeface="Consolas"/>
              </a:rPr>
              <a:t>pow</a:t>
            </a:r>
            <a:r>
              <a:rPr lang="en" sz="1100">
                <a:solidFill>
                  <a:srgbClr val="000000"/>
                </a:solidFill>
                <a:highlight>
                  <a:srgbClr val="D9EAD3"/>
                </a:highlight>
                <a:latin typeface="Consolas"/>
                <a:ea typeface="Consolas"/>
                <a:cs typeface="Consolas"/>
                <a:sym typeface="Consolas"/>
              </a:rPr>
              <a:t>(</a:t>
            </a:r>
            <a:r>
              <a:rPr lang="en" sz="1100">
                <a:solidFill>
                  <a:srgbClr val="001080"/>
                </a:solidFill>
                <a:highlight>
                  <a:srgbClr val="D9EAD3"/>
                </a:highlight>
                <a:latin typeface="Consolas"/>
                <a:ea typeface="Consolas"/>
                <a:cs typeface="Consolas"/>
                <a:sym typeface="Consolas"/>
              </a:rPr>
              <a:t>dimens[0]</a:t>
            </a:r>
            <a:r>
              <a:rPr lang="en" sz="1100">
                <a:solidFill>
                  <a:srgbClr val="000000"/>
                </a:solidFill>
                <a:highlight>
                  <a:srgbClr val="D9EAD3"/>
                </a:highlight>
                <a:latin typeface="Consolas"/>
                <a:ea typeface="Consolas"/>
                <a:cs typeface="Consolas"/>
                <a:sym typeface="Consolas"/>
              </a:rPr>
              <a:t>, </a:t>
            </a:r>
            <a:r>
              <a:rPr lang="en" sz="1100">
                <a:solidFill>
                  <a:srgbClr val="098658"/>
                </a:solidFill>
                <a:highlight>
                  <a:srgbClr val="D9EAD3"/>
                </a:highlight>
                <a:latin typeface="Consolas"/>
                <a:ea typeface="Consolas"/>
                <a:cs typeface="Consolas"/>
                <a:sym typeface="Consolas"/>
              </a:rPr>
              <a:t>2</a:t>
            </a:r>
            <a:r>
              <a:rPr lang="en" sz="1100">
                <a:solidFill>
                  <a:srgbClr val="000000"/>
                </a:solidFill>
                <a:highlight>
                  <a:srgbClr val="D9EAD3"/>
                </a:highlight>
                <a:latin typeface="Consolas"/>
                <a:ea typeface="Consolas"/>
                <a:cs typeface="Consolas"/>
                <a:sym typeface="Consolas"/>
              </a:rPr>
              <a:t>);</a:t>
            </a:r>
            <a:endParaRPr sz="1100">
              <a:solidFill>
                <a:srgbClr val="000000"/>
              </a:solidFill>
              <a:highlight>
                <a:srgbClr val="D9EAD3"/>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00"/>
                </a:solidFill>
                <a:highlight>
                  <a:srgbClr val="D9EAD3"/>
                </a:highlight>
                <a:latin typeface="Consolas"/>
                <a:ea typeface="Consolas"/>
                <a:cs typeface="Consolas"/>
                <a:sym typeface="Consolas"/>
              </a:rPr>
              <a:t>};</a:t>
            </a:r>
            <a:endParaRPr sz="1100">
              <a:solidFill>
                <a:srgbClr val="000000"/>
              </a:solidFill>
              <a:highlight>
                <a:srgbClr val="D9EAD3"/>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8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System</a:t>
            </a:r>
            <a:r>
              <a:rPr lang="en" sz="1100">
                <a:solidFill>
                  <a:srgbClr val="000000"/>
                </a:solidFill>
                <a:latin typeface="Consolas"/>
                <a:ea typeface="Consolas"/>
                <a:cs typeface="Consolas"/>
                <a:sym typeface="Consolas"/>
              </a:rPr>
              <a:t>.</a:t>
            </a:r>
            <a:r>
              <a:rPr lang="en" sz="1100">
                <a:solidFill>
                  <a:srgbClr val="0070C1"/>
                </a:solidFill>
                <a:latin typeface="Consolas"/>
                <a:ea typeface="Consolas"/>
                <a:cs typeface="Consolas"/>
                <a:sym typeface="Consolas"/>
              </a:rPr>
              <a:t>out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println</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circle</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area</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x</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a:t>
            </a:r>
            <a:endParaRPr sz="1100">
              <a:latin typeface="Consolas"/>
              <a:ea typeface="Consolas"/>
              <a:cs typeface="Consolas"/>
              <a:sym typeface="Consolas"/>
            </a:endParaRPr>
          </a:p>
        </p:txBody>
      </p:sp>
      <p:sp>
        <p:nvSpPr>
          <p:cNvPr id="569" name="Google Shape;569;p56"/>
          <p:cNvSpPr txBox="1">
            <a:spLocks noGrp="1"/>
          </p:cNvSpPr>
          <p:nvPr>
            <p:ph type="body" idx="4"/>
          </p:nvPr>
        </p:nvSpPr>
        <p:spPr>
          <a:xfrm>
            <a:off x="217800" y="1894350"/>
            <a:ext cx="3757800" cy="577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interface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Shape</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double</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area</a:t>
            </a:r>
            <a:r>
              <a:rPr lang="en" sz="1100">
                <a:solidFill>
                  <a:srgbClr val="000000"/>
                </a:solidFill>
                <a:latin typeface="Consolas"/>
                <a:ea typeface="Consolas"/>
                <a:cs typeface="Consolas"/>
                <a:sym typeface="Consolas"/>
              </a:rPr>
              <a:t>(</a:t>
            </a:r>
            <a:r>
              <a:rPr lang="en" sz="1100">
                <a:solidFill>
                  <a:srgbClr val="267F99"/>
                </a:solidFill>
                <a:latin typeface="Consolas"/>
                <a:ea typeface="Consolas"/>
                <a:cs typeface="Consolas"/>
                <a:sym typeface="Consolas"/>
              </a:rPr>
              <a:t>double</a:t>
            </a:r>
            <a:r>
              <a:rPr lang="en" sz="1100">
                <a:latin typeface="Consolas"/>
                <a:ea typeface="Consolas"/>
                <a:cs typeface="Consolas"/>
                <a:sym typeface="Consolas"/>
              </a:rPr>
              <a: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length</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a:t>
            </a:r>
            <a:endParaRPr sz="1100">
              <a:latin typeface="Consolas"/>
              <a:ea typeface="Consolas"/>
              <a:cs typeface="Consolas"/>
              <a:sym typeface="Consolas"/>
            </a:endParaRPr>
          </a:p>
        </p:txBody>
      </p:sp>
      <p:sp>
        <p:nvSpPr>
          <p:cNvPr id="570" name="Google Shape;570;p56"/>
          <p:cNvSpPr txBox="1">
            <a:spLocks noGrp="1"/>
          </p:cNvSpPr>
          <p:nvPr>
            <p:ph type="body" idx="4"/>
          </p:nvPr>
        </p:nvSpPr>
        <p:spPr>
          <a:xfrm>
            <a:off x="217800" y="4449350"/>
            <a:ext cx="37578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100"/>
              <a:t>Feel free to refactor the binary operator's </a:t>
            </a:r>
            <a:r>
              <a:rPr lang="en" sz="1100">
                <a:latin typeface="Courier New"/>
                <a:ea typeface="Courier New"/>
                <a:cs typeface="Courier New"/>
                <a:sym typeface="Courier New"/>
              </a:rPr>
              <a:t>if</a:t>
            </a:r>
            <a:r>
              <a:rPr lang="en" sz="1100"/>
              <a:t> block into a </a:t>
            </a:r>
            <a:r>
              <a:rPr lang="en" sz="1100">
                <a:latin typeface="Courier New"/>
                <a:ea typeface="Courier New"/>
                <a:cs typeface="Courier New"/>
                <a:sym typeface="Courier New"/>
              </a:rPr>
              <a:t>switch</a:t>
            </a:r>
            <a:r>
              <a:rPr lang="en" sz="1100"/>
              <a:t> statement.</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57"/>
          <p:cNvSpPr txBox="1">
            <a:spLocks noGrp="1"/>
          </p:cNvSpPr>
          <p:nvPr>
            <p:ph type="title"/>
          </p:nvPr>
        </p:nvSpPr>
        <p:spPr>
          <a:xfrm>
            <a:off x="311725" y="50092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More Lambdas</a:t>
            </a:r>
            <a:endParaRPr/>
          </a:p>
        </p:txBody>
      </p:sp>
      <p:sp>
        <p:nvSpPr>
          <p:cNvPr id="576" name="Google Shape;576;p57"/>
          <p:cNvSpPr txBox="1">
            <a:spLocks noGrp="1"/>
          </p:cNvSpPr>
          <p:nvPr>
            <p:ph type="body" idx="1"/>
          </p:nvPr>
        </p:nvSpPr>
        <p:spPr>
          <a:xfrm>
            <a:off x="4388137" y="42532"/>
            <a:ext cx="4315200" cy="5187800"/>
          </a:xfrm>
          <a:prstGeom prst="rect">
            <a:avLst/>
          </a:prstGeom>
          <a:noFill/>
          <a:ln>
            <a:noFill/>
          </a:ln>
        </p:spPr>
        <p:txBody>
          <a:bodyPr spcFirstLastPara="1" wrap="square" lIns="68575" tIns="34275" rIns="68575" bIns="34275" anchor="t" anchorCtr="0">
            <a:spAutoFit/>
          </a:bodyPr>
          <a:lstStyle/>
          <a:p>
            <a:pPr marL="457200" lvl="0" indent="-311150" algn="l" rtl="0">
              <a:lnSpc>
                <a:spcPct val="115000"/>
              </a:lnSpc>
              <a:spcBef>
                <a:spcPts val="0"/>
              </a:spcBef>
              <a:spcAft>
                <a:spcPts val="0"/>
              </a:spcAft>
              <a:buSzPts val="1300"/>
              <a:buChar char="●"/>
            </a:pPr>
            <a:r>
              <a:rPr lang="en" dirty="0"/>
              <a:t>The compiler is able to infer more than just the name of the method in a functional interface.</a:t>
            </a:r>
            <a:endParaRPr sz="1200" dirty="0"/>
          </a:p>
          <a:p>
            <a:pPr marL="457200" lvl="0" indent="-311150" algn="l" rtl="0">
              <a:lnSpc>
                <a:spcPct val="115000"/>
              </a:lnSpc>
              <a:spcBef>
                <a:spcPts val="1000"/>
              </a:spcBef>
              <a:spcAft>
                <a:spcPts val="0"/>
              </a:spcAft>
              <a:buSzPts val="1300"/>
              <a:buChar char="●"/>
            </a:pPr>
            <a:r>
              <a:rPr lang="en" dirty="0"/>
              <a:t>Because there is only one method in the functional interface, the compiler can also infer the </a:t>
            </a:r>
            <a:r>
              <a:rPr lang="en" b="1" i="1" dirty="0">
                <a:solidFill>
                  <a:srgbClr val="FF0000"/>
                </a:solidFill>
              </a:rPr>
              <a:t>parameter types</a:t>
            </a:r>
            <a:r>
              <a:rPr lang="en" dirty="0"/>
              <a:t>.</a:t>
            </a:r>
            <a:endParaRPr dirty="0"/>
          </a:p>
          <a:p>
            <a:pPr marL="914400" lvl="1" indent="-298450" algn="l" rtl="0">
              <a:lnSpc>
                <a:spcPct val="115000"/>
              </a:lnSpc>
              <a:spcBef>
                <a:spcPts val="0"/>
              </a:spcBef>
              <a:spcAft>
                <a:spcPts val="0"/>
              </a:spcAft>
              <a:buSzPts val="1100"/>
              <a:buChar char="○"/>
            </a:pPr>
            <a:r>
              <a:rPr lang="en" dirty="0"/>
              <a:t>Therefore, only parameter </a:t>
            </a:r>
            <a:r>
              <a:rPr lang="en" b="1" i="1" dirty="0">
                <a:solidFill>
                  <a:srgbClr val="FF0000"/>
                </a:solidFill>
              </a:rPr>
              <a:t>names</a:t>
            </a:r>
            <a:r>
              <a:rPr lang="en" dirty="0">
                <a:solidFill>
                  <a:srgbClr val="FF0000"/>
                </a:solidFill>
              </a:rPr>
              <a:t> </a:t>
            </a:r>
            <a:r>
              <a:rPr lang="en" dirty="0"/>
              <a:t>are needed.</a:t>
            </a:r>
            <a:endParaRPr dirty="0"/>
          </a:p>
          <a:p>
            <a:pPr marL="457200" lvl="0" indent="-311150" algn="l" rtl="0">
              <a:lnSpc>
                <a:spcPct val="115000"/>
              </a:lnSpc>
              <a:spcBef>
                <a:spcPts val="1000"/>
              </a:spcBef>
              <a:spcAft>
                <a:spcPts val="0"/>
              </a:spcAft>
              <a:buSzPts val="1300"/>
              <a:buChar char="●"/>
            </a:pPr>
            <a:r>
              <a:rPr lang="en" dirty="0">
                <a:highlight>
                  <a:srgbClr val="FFFF00"/>
                </a:highlight>
              </a:rPr>
              <a:t>The </a:t>
            </a:r>
            <a:r>
              <a:rPr lang="en" b="1" i="1" dirty="0">
                <a:solidFill>
                  <a:srgbClr val="FF0000"/>
                </a:solidFill>
                <a:highlight>
                  <a:srgbClr val="FFFF00"/>
                </a:highlight>
              </a:rPr>
              <a:t>curly braces</a:t>
            </a:r>
            <a:r>
              <a:rPr lang="en" dirty="0">
                <a:highlight>
                  <a:srgbClr val="FFFF00"/>
                </a:highlight>
              </a:rPr>
              <a:t> are only necessary if the lambda includes more than one line of code.</a:t>
            </a:r>
            <a:endParaRPr dirty="0">
              <a:highlight>
                <a:srgbClr val="FFFF00"/>
              </a:highlight>
            </a:endParaRPr>
          </a:p>
          <a:p>
            <a:pPr marL="914400" lvl="1" indent="-298450" algn="l" rtl="0">
              <a:lnSpc>
                <a:spcPct val="115000"/>
              </a:lnSpc>
              <a:spcBef>
                <a:spcPts val="0"/>
              </a:spcBef>
              <a:spcAft>
                <a:spcPts val="0"/>
              </a:spcAft>
              <a:buSzPts val="1100"/>
              <a:buChar char="○"/>
            </a:pPr>
            <a:r>
              <a:rPr lang="en" dirty="0"/>
              <a:t>Otherwise, they can be omitted as well.</a:t>
            </a:r>
            <a:endParaRPr dirty="0"/>
          </a:p>
          <a:p>
            <a:pPr marL="914400" lvl="1" indent="-298450" algn="l" rtl="0">
              <a:lnSpc>
                <a:spcPct val="115000"/>
              </a:lnSpc>
              <a:spcBef>
                <a:spcPts val="0"/>
              </a:spcBef>
              <a:spcAft>
                <a:spcPts val="0"/>
              </a:spcAft>
              <a:buSzPts val="1100"/>
              <a:buChar char="○"/>
            </a:pPr>
            <a:r>
              <a:rPr lang="en" dirty="0"/>
              <a:t>If the single line of code is an expression that results in a value that matches the return type, the </a:t>
            </a:r>
            <a:r>
              <a:rPr lang="en" b="1" i="1" dirty="0">
                <a:solidFill>
                  <a:srgbClr val="FF0000"/>
                </a:solidFill>
                <a:highlight>
                  <a:srgbClr val="FFFF00"/>
                </a:highlight>
              </a:rPr>
              <a:t>return statement</a:t>
            </a:r>
            <a:r>
              <a:rPr lang="en" dirty="0">
                <a:highlight>
                  <a:srgbClr val="FFFF00"/>
                </a:highlight>
              </a:rPr>
              <a:t> may be omitted as well.</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highlight>
                  <a:srgbClr val="FFFF00"/>
                </a:highlight>
              </a:rPr>
              <a:t>Similarly, the </a:t>
            </a:r>
            <a:r>
              <a:rPr lang="en" b="1" i="1" dirty="0">
                <a:solidFill>
                  <a:srgbClr val="FF0000"/>
                </a:solidFill>
                <a:highlight>
                  <a:srgbClr val="FFFF00"/>
                </a:highlight>
              </a:rPr>
              <a:t>parentheses</a:t>
            </a:r>
            <a:r>
              <a:rPr lang="en" dirty="0">
                <a:solidFill>
                  <a:srgbClr val="FF0000"/>
                </a:solidFill>
                <a:highlight>
                  <a:srgbClr val="FFFF00"/>
                </a:highlight>
              </a:rPr>
              <a:t> </a:t>
            </a:r>
            <a:r>
              <a:rPr lang="en" dirty="0">
                <a:highlight>
                  <a:srgbClr val="FFFF00"/>
                </a:highlight>
              </a:rPr>
              <a:t>are not needed if there is only one parameter.</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They are still needed if there are </a:t>
            </a:r>
            <a:r>
              <a:rPr lang="en" b="1" i="1" dirty="0">
                <a:solidFill>
                  <a:srgbClr val="FF0000"/>
                </a:solidFill>
                <a:highlight>
                  <a:srgbClr val="FFFF00"/>
                </a:highlight>
              </a:rPr>
              <a:t>zero</a:t>
            </a:r>
            <a:r>
              <a:rPr lang="en" dirty="0">
                <a:solidFill>
                  <a:srgbClr val="FF0000"/>
                </a:solidFill>
                <a:highlight>
                  <a:srgbClr val="FFFF00"/>
                </a:highlight>
              </a:rPr>
              <a:t> </a:t>
            </a:r>
            <a:r>
              <a:rPr lang="en" dirty="0">
                <a:highlight>
                  <a:srgbClr val="FFFF00"/>
                </a:highlight>
              </a:rPr>
              <a:t>or </a:t>
            </a:r>
            <a:r>
              <a:rPr lang="en" b="1" i="1" dirty="0">
                <a:solidFill>
                  <a:srgbClr val="FF0000"/>
                </a:solidFill>
                <a:highlight>
                  <a:srgbClr val="FFFF00"/>
                </a:highlight>
              </a:rPr>
              <a:t>two or more</a:t>
            </a:r>
            <a:r>
              <a:rPr lang="en" dirty="0">
                <a:highlight>
                  <a:srgbClr val="FFFF00"/>
                </a:highlight>
              </a:rPr>
              <a:t> parameters.</a:t>
            </a:r>
            <a:endParaRPr dirty="0">
              <a:highlight>
                <a:srgbClr val="FFFF00"/>
              </a:highlight>
            </a:endParaRPr>
          </a:p>
          <a:p>
            <a:pPr marL="457200" lvl="0" indent="-311150" algn="l" rtl="0">
              <a:spcBef>
                <a:spcPts val="1000"/>
              </a:spcBef>
              <a:spcAft>
                <a:spcPts val="0"/>
              </a:spcAft>
              <a:buSzPts val="1300"/>
              <a:buChar char="●"/>
            </a:pPr>
            <a:r>
              <a:rPr lang="en" dirty="0"/>
              <a:t>Lambdas have the same scope rules as anonymous classes.</a:t>
            </a:r>
            <a:endParaRPr dirty="0"/>
          </a:p>
          <a:p>
            <a:pPr marL="914400" lvl="1" indent="-298450" algn="l" rtl="0">
              <a:spcBef>
                <a:spcPts val="0"/>
              </a:spcBef>
              <a:spcAft>
                <a:spcPts val="0"/>
              </a:spcAft>
              <a:buSzPts val="1100"/>
              <a:buChar char="○"/>
            </a:pPr>
            <a:r>
              <a:rPr lang="en" dirty="0">
                <a:highlight>
                  <a:srgbClr val="FFFF00"/>
                </a:highlight>
              </a:rPr>
              <a:t>A lambda can access the fields in its class.</a:t>
            </a:r>
            <a:endParaRPr dirty="0">
              <a:highlight>
                <a:srgbClr val="FFFF00"/>
              </a:highlight>
            </a:endParaRPr>
          </a:p>
          <a:p>
            <a:pPr marL="914400" lvl="1" indent="-298450" algn="l" rtl="0">
              <a:spcBef>
                <a:spcPts val="0"/>
              </a:spcBef>
              <a:spcAft>
                <a:spcPts val="1000"/>
              </a:spcAft>
              <a:buSzPts val="1100"/>
              <a:buChar char="○"/>
            </a:pPr>
            <a:r>
              <a:rPr lang="en" dirty="0">
                <a:highlight>
                  <a:srgbClr val="FFFF00"/>
                </a:highlight>
              </a:rPr>
              <a:t>It can also access local variables if they are </a:t>
            </a:r>
            <a:r>
              <a:rPr lang="en" b="1" i="1" dirty="0">
                <a:solidFill>
                  <a:srgbClr val="FF0000"/>
                </a:solidFill>
                <a:highlight>
                  <a:srgbClr val="FFFF00"/>
                </a:highlight>
              </a:rPr>
              <a:t>explicitly</a:t>
            </a:r>
            <a:r>
              <a:rPr lang="en" dirty="0">
                <a:solidFill>
                  <a:srgbClr val="FF0000"/>
                </a:solidFill>
                <a:highlight>
                  <a:srgbClr val="FFFF00"/>
                </a:highlight>
              </a:rPr>
              <a:t> </a:t>
            </a:r>
            <a:r>
              <a:rPr lang="en" dirty="0">
                <a:highlight>
                  <a:srgbClr val="FFFF00"/>
                </a:highlight>
              </a:rPr>
              <a:t>or </a:t>
            </a:r>
            <a:r>
              <a:rPr lang="en" b="1" i="1" dirty="0">
                <a:solidFill>
                  <a:srgbClr val="FF0000"/>
                </a:solidFill>
                <a:highlight>
                  <a:srgbClr val="FFFF00"/>
                </a:highlight>
              </a:rPr>
              <a:t>effectively final</a:t>
            </a:r>
            <a:r>
              <a:rPr lang="en" dirty="0">
                <a:highlight>
                  <a:srgbClr val="FFFF00"/>
                </a:highlight>
              </a:rPr>
              <a:t>.</a:t>
            </a:r>
            <a:endParaRPr dirty="0">
              <a:highlight>
                <a:srgbClr val="FFFF00"/>
              </a:highlight>
            </a:endParaRPr>
          </a:p>
        </p:txBody>
      </p:sp>
      <p:sp>
        <p:nvSpPr>
          <p:cNvPr id="577" name="Google Shape;577;p57"/>
          <p:cNvSpPr txBox="1">
            <a:spLocks noGrp="1"/>
          </p:cNvSpPr>
          <p:nvPr>
            <p:ph type="body" idx="2"/>
          </p:nvPr>
        </p:nvSpPr>
        <p:spPr>
          <a:xfrm>
            <a:off x="315425" y="1286175"/>
            <a:ext cx="3706500" cy="26973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0"/>
              </a:spcBef>
              <a:spcAft>
                <a:spcPts val="0"/>
              </a:spcAft>
              <a:buNone/>
            </a:pPr>
            <a:r>
              <a:rPr lang="en" sz="1200" dirty="0">
                <a:solidFill>
                  <a:srgbClr val="0000FF"/>
                </a:solidFill>
                <a:highlight>
                  <a:srgbClr val="FFFFFF"/>
                </a:highlight>
                <a:latin typeface="Consolas"/>
                <a:ea typeface="Consolas"/>
                <a:cs typeface="Consolas"/>
                <a:sym typeface="Consolas"/>
              </a:rPr>
              <a:t>public</a:t>
            </a: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interface</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Shape</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double</a:t>
            </a:r>
            <a:r>
              <a:rPr lang="en" sz="1200" dirty="0">
                <a:solidFill>
                  <a:srgbClr val="000000"/>
                </a:solidFill>
                <a:highlight>
                  <a:srgbClr val="FFFFFF"/>
                </a:highlight>
                <a:latin typeface="Consolas"/>
                <a:ea typeface="Consolas"/>
                <a:cs typeface="Consolas"/>
                <a:sym typeface="Consolas"/>
              </a:rPr>
              <a:t> </a:t>
            </a:r>
            <a:r>
              <a:rPr lang="en" sz="1200" dirty="0">
                <a:solidFill>
                  <a:srgbClr val="795E26"/>
                </a:solidFill>
                <a:highlight>
                  <a:srgbClr val="FFFFFF"/>
                </a:highlight>
                <a:latin typeface="Consolas"/>
                <a:ea typeface="Consolas"/>
                <a:cs typeface="Consolas"/>
                <a:sym typeface="Consolas"/>
              </a:rPr>
              <a:t>area</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double</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length</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rgbClr val="0000FF"/>
                </a:solidFill>
                <a:highlight>
                  <a:srgbClr val="FFFFFF"/>
                </a:highlight>
                <a:latin typeface="Consolas"/>
                <a:ea typeface="Consolas"/>
                <a:cs typeface="Consolas"/>
                <a:sym typeface="Consolas"/>
              </a:rPr>
              <a:t>public</a:t>
            </a: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static</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void</a:t>
            </a:r>
            <a:r>
              <a:rPr lang="en" sz="1200" dirty="0">
                <a:solidFill>
                  <a:srgbClr val="000000"/>
                </a:solidFill>
                <a:highlight>
                  <a:srgbClr val="FFFFFF"/>
                </a:highlight>
                <a:latin typeface="Consolas"/>
                <a:ea typeface="Consolas"/>
                <a:cs typeface="Consolas"/>
                <a:sym typeface="Consolas"/>
              </a:rPr>
              <a:t> </a:t>
            </a:r>
            <a:r>
              <a:rPr lang="en" sz="1200" dirty="0">
                <a:solidFill>
                  <a:srgbClr val="795E26"/>
                </a:solidFill>
                <a:highlight>
                  <a:srgbClr val="FFFFFF"/>
                </a:highlight>
                <a:latin typeface="Consolas"/>
                <a:ea typeface="Consolas"/>
                <a:cs typeface="Consolas"/>
                <a:sym typeface="Consolas"/>
              </a:rPr>
              <a:t>main</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String</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args</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int</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x</a:t>
            </a:r>
            <a:r>
              <a:rPr lang="en" sz="1200" dirty="0">
                <a:solidFill>
                  <a:srgbClr val="000000"/>
                </a:solidFill>
                <a:highlight>
                  <a:srgbClr val="FFFFFF"/>
                </a:highlight>
                <a:latin typeface="Consolas"/>
                <a:ea typeface="Consolas"/>
                <a:cs typeface="Consolas"/>
                <a:sym typeface="Consolas"/>
              </a:rPr>
              <a:t> = </a:t>
            </a:r>
            <a:r>
              <a:rPr lang="en" sz="1200" dirty="0">
                <a:solidFill>
                  <a:srgbClr val="098658"/>
                </a:solidFill>
                <a:highlight>
                  <a:srgbClr val="FFFFFF"/>
                </a:highlight>
                <a:latin typeface="Consolas"/>
                <a:ea typeface="Consolas"/>
                <a:cs typeface="Consolas"/>
                <a:sym typeface="Consolas"/>
              </a:rPr>
              <a:t>5</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267F99"/>
                </a:solidFill>
                <a:highlight>
                  <a:srgbClr val="FFFFFF"/>
                </a:highlight>
                <a:latin typeface="Consolas"/>
                <a:ea typeface="Consolas"/>
                <a:cs typeface="Consolas"/>
                <a:sym typeface="Consolas"/>
              </a:rPr>
              <a:t>   int</a:t>
            </a: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height</a:t>
            </a:r>
            <a:r>
              <a:rPr lang="en" sz="1150" dirty="0">
                <a:solidFill>
                  <a:srgbClr val="000000"/>
                </a:solidFill>
                <a:highlight>
                  <a:srgbClr val="FFFFFF"/>
                </a:highlight>
                <a:latin typeface="Consolas"/>
                <a:ea typeface="Consolas"/>
                <a:cs typeface="Consolas"/>
                <a:sym typeface="Consolas"/>
              </a:rPr>
              <a:t> = </a:t>
            </a:r>
            <a:r>
              <a:rPr lang="en" sz="1150" dirty="0">
                <a:solidFill>
                  <a:srgbClr val="098658"/>
                </a:solidFill>
                <a:highlight>
                  <a:srgbClr val="FFFFFF"/>
                </a:highlight>
                <a:latin typeface="Consolas"/>
                <a:ea typeface="Consolas"/>
                <a:cs typeface="Consolas"/>
                <a:sym typeface="Consolas"/>
              </a:rPr>
              <a:t>10</a:t>
            </a:r>
            <a:r>
              <a:rPr lang="en" sz="1150" dirty="0">
                <a:solidFill>
                  <a:srgbClr val="000000"/>
                </a:solidFill>
                <a:highlight>
                  <a:srgbClr val="FFFFFF"/>
                </a:highlight>
                <a:latin typeface="Consolas"/>
                <a:ea typeface="Consolas"/>
                <a:cs typeface="Consolas"/>
                <a:sym typeface="Consolas"/>
              </a:rPr>
              <a:t>;</a:t>
            </a:r>
            <a:endParaRPr sz="11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267F99"/>
                </a:solidFill>
                <a:highlight>
                  <a:srgbClr val="FFFFFF"/>
                </a:highlight>
                <a:latin typeface="Consolas"/>
                <a:ea typeface="Consolas"/>
                <a:cs typeface="Consolas"/>
                <a:sym typeface="Consolas"/>
              </a:rPr>
              <a:t>   </a:t>
            </a:r>
            <a:endParaRPr sz="115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267F99"/>
                </a:solidFill>
                <a:highlight>
                  <a:srgbClr val="FFFFFF"/>
                </a:highlight>
                <a:latin typeface="Consolas"/>
                <a:ea typeface="Consolas"/>
                <a:cs typeface="Consolas"/>
                <a:sym typeface="Consolas"/>
              </a:rPr>
              <a:t>   Shape</a:t>
            </a: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rectangle</a:t>
            </a:r>
            <a:r>
              <a:rPr lang="en" sz="1150" dirty="0">
                <a:solidFill>
                  <a:srgbClr val="000000"/>
                </a:solidFill>
                <a:highlight>
                  <a:srgbClr val="FFFFFF"/>
                </a:highlight>
                <a:latin typeface="Consolas"/>
                <a:ea typeface="Consolas"/>
                <a:cs typeface="Consolas"/>
                <a:sym typeface="Consolas"/>
              </a:rPr>
              <a:t> = </a:t>
            </a:r>
            <a:endParaRPr sz="11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00"/>
                </a:highlight>
                <a:latin typeface="Consolas"/>
                <a:ea typeface="Consolas"/>
                <a:cs typeface="Consolas"/>
                <a:sym typeface="Consolas"/>
              </a:rPr>
              <a:t>width</a:t>
            </a:r>
            <a:r>
              <a:rPr lang="en" sz="1150" dirty="0">
                <a:solidFill>
                  <a:srgbClr val="000000"/>
                </a:solidFill>
                <a:highlight>
                  <a:srgbClr val="FFFFFF"/>
                </a:highlight>
                <a:latin typeface="Consolas"/>
                <a:ea typeface="Consolas"/>
                <a:cs typeface="Consolas"/>
                <a:sym typeface="Consolas"/>
              </a:rPr>
              <a:t> </a:t>
            </a:r>
            <a:r>
              <a:rPr lang="en" sz="1150" dirty="0">
                <a:solidFill>
                  <a:srgbClr val="0000FF"/>
                </a:solidFill>
                <a:highlight>
                  <a:srgbClr val="FFFFFF"/>
                </a:highlight>
                <a:latin typeface="Consolas"/>
                <a:ea typeface="Consolas"/>
                <a:cs typeface="Consolas"/>
                <a:sym typeface="Consolas"/>
              </a:rPr>
              <a:t>-&gt;</a:t>
            </a: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width</a:t>
            </a:r>
            <a:r>
              <a:rPr lang="en" sz="1150" dirty="0">
                <a:solidFill>
                  <a:srgbClr val="000000"/>
                </a:solidFill>
                <a:highlight>
                  <a:srgbClr val="FFFFFF"/>
                </a:highlight>
                <a:latin typeface="Consolas"/>
                <a:ea typeface="Consolas"/>
                <a:cs typeface="Consolas"/>
                <a:sym typeface="Consolas"/>
              </a:rPr>
              <a:t> * </a:t>
            </a:r>
            <a:r>
              <a:rPr lang="en" sz="1150" dirty="0">
                <a:solidFill>
                  <a:srgbClr val="001080"/>
                </a:solidFill>
                <a:highlight>
                  <a:srgbClr val="FFFFFF"/>
                </a:highlight>
                <a:latin typeface="Consolas"/>
                <a:ea typeface="Consolas"/>
                <a:cs typeface="Consolas"/>
                <a:sym typeface="Consolas"/>
              </a:rPr>
              <a:t>height</a:t>
            </a:r>
            <a:r>
              <a:rPr lang="en" sz="1150" dirty="0">
                <a:solidFill>
                  <a:srgbClr val="000000"/>
                </a:solidFill>
                <a:highlight>
                  <a:srgbClr val="FFFFFF"/>
                </a:highlight>
                <a:latin typeface="Consolas"/>
                <a:ea typeface="Consolas"/>
                <a:cs typeface="Consolas"/>
                <a:sym typeface="Consolas"/>
              </a:rPr>
              <a:t>;</a:t>
            </a:r>
            <a:endParaRPr sz="11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267F99"/>
                </a:solidFill>
                <a:highlight>
                  <a:srgbClr val="FFFFFF"/>
                </a:highlight>
                <a:latin typeface="Consolas"/>
                <a:ea typeface="Consolas"/>
                <a:cs typeface="Consolas"/>
                <a:sym typeface="Consolas"/>
              </a:rPr>
              <a:t>   </a:t>
            </a:r>
            <a:endParaRPr sz="115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267F99"/>
                </a:solidFill>
                <a:highlight>
                  <a:srgbClr val="FFFFFF"/>
                </a:highlight>
                <a:latin typeface="Consolas"/>
                <a:ea typeface="Consolas"/>
                <a:cs typeface="Consolas"/>
                <a:sym typeface="Consolas"/>
              </a:rPr>
              <a:t>   System</a:t>
            </a:r>
            <a:r>
              <a:rPr lang="en" sz="1150" dirty="0">
                <a:solidFill>
                  <a:srgbClr val="000000"/>
                </a:solidFill>
                <a:highlight>
                  <a:srgbClr val="FFFFFF"/>
                </a:highlight>
                <a:latin typeface="Consolas"/>
                <a:ea typeface="Consolas"/>
                <a:cs typeface="Consolas"/>
                <a:sym typeface="Consolas"/>
              </a:rPr>
              <a:t>.</a:t>
            </a:r>
            <a:r>
              <a:rPr lang="en" sz="1150" dirty="0">
                <a:solidFill>
                  <a:srgbClr val="0070C1"/>
                </a:solidFill>
                <a:highlight>
                  <a:srgbClr val="FFFFFF"/>
                </a:highlight>
                <a:latin typeface="Consolas"/>
                <a:ea typeface="Consolas"/>
                <a:cs typeface="Consolas"/>
                <a:sym typeface="Consolas"/>
              </a:rPr>
              <a:t>out</a:t>
            </a:r>
            <a:r>
              <a:rPr lang="en" sz="1150" dirty="0">
                <a:solidFill>
                  <a:srgbClr val="000000"/>
                </a:solidFill>
                <a:highlight>
                  <a:srgbClr val="FFFFFF"/>
                </a:highlight>
                <a:latin typeface="Consolas"/>
                <a:ea typeface="Consolas"/>
                <a:cs typeface="Consolas"/>
                <a:sym typeface="Consolas"/>
              </a:rPr>
              <a:t>.</a:t>
            </a:r>
            <a:r>
              <a:rPr lang="en" sz="1150" dirty="0">
                <a:solidFill>
                  <a:srgbClr val="795E26"/>
                </a:solidFill>
                <a:highlight>
                  <a:srgbClr val="FFFFFF"/>
                </a:highlight>
                <a:latin typeface="Consolas"/>
                <a:ea typeface="Consolas"/>
                <a:cs typeface="Consolas"/>
                <a:sym typeface="Consolas"/>
              </a:rPr>
              <a:t>println</a:t>
            </a: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rectangle</a:t>
            </a:r>
            <a:r>
              <a:rPr lang="en" sz="1150" dirty="0">
                <a:solidFill>
                  <a:srgbClr val="000000"/>
                </a:solidFill>
                <a:highlight>
                  <a:srgbClr val="FFFFFF"/>
                </a:highlight>
                <a:latin typeface="Consolas"/>
                <a:ea typeface="Consolas"/>
                <a:cs typeface="Consolas"/>
                <a:sym typeface="Consolas"/>
              </a:rPr>
              <a:t>.</a:t>
            </a:r>
            <a:r>
              <a:rPr lang="en" sz="1150" dirty="0">
                <a:solidFill>
                  <a:srgbClr val="795E26"/>
                </a:solidFill>
                <a:highlight>
                  <a:srgbClr val="FFFFFF"/>
                </a:highlight>
                <a:latin typeface="Consolas"/>
                <a:ea typeface="Consolas"/>
                <a:cs typeface="Consolas"/>
                <a:sym typeface="Consolas"/>
              </a:rPr>
              <a:t>area</a:t>
            </a:r>
            <a:r>
              <a:rPr lang="en" sz="1150" dirty="0">
                <a:solidFill>
                  <a:srgbClr val="000000"/>
                </a:solidFill>
                <a:highlight>
                  <a:srgbClr val="FFFFFF"/>
                </a:highlight>
                <a:latin typeface="Consolas"/>
                <a:ea typeface="Consolas"/>
                <a:cs typeface="Consolas"/>
                <a:sym typeface="Consolas"/>
              </a:rPr>
              <a:t> (</a:t>
            </a:r>
            <a:r>
              <a:rPr lang="en" sz="1150" dirty="0">
                <a:solidFill>
                  <a:srgbClr val="001080"/>
                </a:solidFill>
                <a:highlight>
                  <a:srgbClr val="FFFFFF"/>
                </a:highlight>
                <a:latin typeface="Consolas"/>
                <a:ea typeface="Consolas"/>
                <a:cs typeface="Consolas"/>
                <a:sym typeface="Consolas"/>
              </a:rPr>
              <a:t>x</a:t>
            </a:r>
            <a:r>
              <a:rPr lang="en" sz="1150" dirty="0">
                <a:solidFill>
                  <a:srgbClr val="000000"/>
                </a:solidFill>
                <a:highlight>
                  <a:srgbClr val="FFFFFF"/>
                </a:highlight>
                <a:latin typeface="Consolas"/>
                <a:ea typeface="Consolas"/>
                <a:cs typeface="Consolas"/>
                <a:sym typeface="Consolas"/>
              </a:rPr>
              <a:t>));</a:t>
            </a:r>
            <a:endParaRPr sz="115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dirty="0">
                <a:solidFill>
                  <a:srgbClr val="000000"/>
                </a:solidFill>
                <a:highlight>
                  <a:srgbClr val="FFFFFF"/>
                </a:highlight>
                <a:latin typeface="Consolas"/>
                <a:ea typeface="Consolas"/>
                <a:cs typeface="Consolas"/>
                <a:sym typeface="Consolas"/>
              </a:rPr>
              <a:t>}</a:t>
            </a:r>
            <a:endParaRPr sz="1150" dirty="0">
              <a:solidFill>
                <a:srgbClr val="000000"/>
              </a:solidFill>
              <a:highlight>
                <a:srgbClr val="FFFFFF"/>
              </a:highlight>
              <a:latin typeface="Consolas"/>
              <a:ea typeface="Consolas"/>
              <a:cs typeface="Consolas"/>
              <a:sym typeface="Consolas"/>
            </a:endParaRPr>
          </a:p>
          <a:p>
            <a:pPr marL="0" lvl="0" indent="0" algn="l" rtl="0">
              <a:lnSpc>
                <a:spcPct val="90000"/>
              </a:lnSpc>
              <a:spcBef>
                <a:spcPts val="0"/>
              </a:spcBef>
              <a:spcAft>
                <a:spcPts val="1600"/>
              </a:spcAft>
              <a:buClr>
                <a:schemeClr val="dk2"/>
              </a:buClr>
              <a:buSzPts val="2300"/>
              <a:buNone/>
            </a:pPr>
            <a:r>
              <a:rPr lang="en" dirty="0"/>
              <a:t>}</a:t>
            </a:r>
            <a:endParaRPr dirty="0"/>
          </a:p>
        </p:txBody>
      </p:sp>
      <p:sp>
        <p:nvSpPr>
          <p:cNvPr id="578" name="Google Shape;578;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579" name="Google Shape;579;p57"/>
          <p:cNvSpPr txBox="1">
            <a:spLocks noGrp="1"/>
          </p:cNvSpPr>
          <p:nvPr>
            <p:ph type="body" idx="3"/>
          </p:nvPr>
        </p:nvSpPr>
        <p:spPr>
          <a:xfrm>
            <a:off x="311725" y="4130633"/>
            <a:ext cx="3706500" cy="7143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t>Notice the height is specified as a </a:t>
            </a:r>
            <a:r>
              <a:rPr lang="en" b="1" i="1">
                <a:solidFill>
                  <a:srgbClr val="FF0000"/>
                </a:solidFill>
              </a:rPr>
              <a:t>local variable</a:t>
            </a:r>
            <a:r>
              <a:rPr lang="en"/>
              <a:t> since it cannot be passed in without changing the interface.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7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7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7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7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79"/>
                                        </p:tgtEl>
                                        <p:attrNameLst>
                                          <p:attrName>style.visibility</p:attrName>
                                        </p:attrNameLst>
                                      </p:cBhvr>
                                      <p:to>
                                        <p:strVal val="visible"/>
                                      </p:to>
                                    </p:set>
                                    <p:animEffect transition="in" filter="fade">
                                      <p:cBhvr>
                                        <p:cTn id="51" dur="1000"/>
                                        <p:tgtEl>
                                          <p:spTgt spid="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5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Division Lambda Expression</a:t>
            </a:r>
            <a:endParaRPr/>
          </a:p>
        </p:txBody>
      </p:sp>
      <p:sp>
        <p:nvSpPr>
          <p:cNvPr id="585" name="Google Shape;585;p5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continue to practice with lambdas by creating another mathematical Expression, this time for division ("/"). Omit the parameter types, curly braces, and return statement.</a:t>
            </a:r>
            <a:endParaRPr/>
          </a:p>
        </p:txBody>
      </p:sp>
      <p:sp>
        <p:nvSpPr>
          <p:cNvPr id="586" name="Google Shape;586;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587" name="Google Shape;587;p58"/>
          <p:cNvSpPr txBox="1">
            <a:spLocks noGrp="1"/>
          </p:cNvSpPr>
          <p:nvPr>
            <p:ph type="body" idx="2"/>
          </p:nvPr>
        </p:nvSpPr>
        <p:spPr>
          <a:xfrm>
            <a:off x="3983025" y="1858400"/>
            <a:ext cx="4681200" cy="28494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In the </a:t>
            </a:r>
            <a:r>
              <a:rPr lang="en" sz="1600" dirty="0">
                <a:solidFill>
                  <a:srgbClr val="FF0000"/>
                </a:solidFill>
                <a:latin typeface="Courier New"/>
                <a:ea typeface="Courier New"/>
                <a:cs typeface="Courier New"/>
                <a:sym typeface="Courier New"/>
              </a:rPr>
              <a:t>ExpressionTree</a:t>
            </a:r>
            <a:r>
              <a:rPr lang="en" sz="1600" dirty="0"/>
              <a:t> class's </a:t>
            </a:r>
            <a:r>
              <a:rPr lang="en" sz="1600" dirty="0">
                <a:latin typeface="Courier New"/>
                <a:ea typeface="Courier New"/>
                <a:cs typeface="Courier New"/>
                <a:sym typeface="Courier New"/>
              </a:rPr>
              <a:t>buildExpressionTree</a:t>
            </a:r>
            <a:r>
              <a:rPr lang="en" sz="1600" dirty="0"/>
              <a:t>, use a lambda expression to handle the division case.</a:t>
            </a:r>
            <a:endParaRPr sz="1600" dirty="0"/>
          </a:p>
          <a:p>
            <a:pPr marL="914400" lvl="1" indent="-323850" algn="l" rtl="0">
              <a:spcBef>
                <a:spcPts val="1000"/>
              </a:spcBef>
              <a:spcAft>
                <a:spcPts val="0"/>
              </a:spcAft>
              <a:buSzPts val="1500"/>
              <a:buChar char="○"/>
            </a:pPr>
            <a:r>
              <a:rPr lang="en" sz="1500" dirty="0"/>
              <a:t>Create a lambda expression for the </a:t>
            </a:r>
            <a:r>
              <a:rPr lang="en" sz="1500" dirty="0">
                <a:latin typeface="Courier New"/>
                <a:ea typeface="Courier New"/>
                <a:cs typeface="Courier New"/>
                <a:sym typeface="Courier New"/>
              </a:rPr>
              <a:t>Expression</a:t>
            </a:r>
            <a:r>
              <a:rPr lang="en" sz="1500" dirty="0"/>
              <a:t> interface that implements division ("/").</a:t>
            </a:r>
            <a:endParaRPr sz="1400" dirty="0"/>
          </a:p>
          <a:p>
            <a:pPr marL="914400" lvl="1" indent="-323850" algn="l" rtl="0">
              <a:spcBef>
                <a:spcPts val="1000"/>
              </a:spcBef>
              <a:spcAft>
                <a:spcPts val="1000"/>
              </a:spcAft>
              <a:buSzPts val="1500"/>
              <a:buChar char="○"/>
            </a:pPr>
            <a:r>
              <a:rPr lang="en" sz="1500" dirty="0">
                <a:highlight>
                  <a:srgbClr val="FFFFFF"/>
                </a:highlight>
              </a:rPr>
              <a:t>Try and use the most compact syntax you can think of based on the previous examples.</a:t>
            </a:r>
            <a:endParaRPr sz="1500" dirty="0">
              <a:solidFill>
                <a:srgbClr val="FF0000"/>
              </a:solidFill>
            </a:endParaRPr>
          </a:p>
        </p:txBody>
      </p:sp>
      <p:sp>
        <p:nvSpPr>
          <p:cNvPr id="588" name="Google Shape;588;p5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4.8</a:t>
            </a:r>
            <a:endParaRPr/>
          </a:p>
        </p:txBody>
      </p:sp>
      <p:sp>
        <p:nvSpPr>
          <p:cNvPr id="589" name="Google Shape;589;p58"/>
          <p:cNvSpPr txBox="1">
            <a:spLocks noGrp="1"/>
          </p:cNvSpPr>
          <p:nvPr>
            <p:ph type="body" idx="4"/>
          </p:nvPr>
        </p:nvSpPr>
        <p:spPr>
          <a:xfrm>
            <a:off x="134125" y="1858400"/>
            <a:ext cx="3796500" cy="24165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interface</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Shape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area</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double</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length</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static</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void</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args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x</a:t>
            </a:r>
            <a:r>
              <a:rPr lang="en" sz="1200">
                <a:solidFill>
                  <a:srgbClr val="000000"/>
                </a:solidFill>
                <a:highlight>
                  <a:srgbClr val="FFFFFF"/>
                </a:highlight>
                <a:latin typeface="Consolas"/>
                <a:ea typeface="Consolas"/>
                <a:cs typeface="Consolas"/>
                <a:sym typeface="Consolas"/>
              </a:rPr>
              <a:t> = </a:t>
            </a:r>
            <a:r>
              <a:rPr lang="en" sz="1200">
                <a:solidFill>
                  <a:srgbClr val="098658"/>
                </a:solidFill>
                <a:highlight>
                  <a:srgbClr val="FFFFFF"/>
                </a:highlight>
                <a:latin typeface="Consolas"/>
                <a:ea typeface="Consolas"/>
                <a:cs typeface="Consolas"/>
                <a:sym typeface="Consolas"/>
              </a:rPr>
              <a:t>5</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int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height</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10</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a:t>
            </a:r>
            <a:endParaRPr sz="115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Shape</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rectangle</a:t>
            </a:r>
            <a:r>
              <a:rPr lang="en" sz="1150">
                <a:solidFill>
                  <a:srgbClr val="000000"/>
                </a:solidFill>
                <a:highlight>
                  <a:srgbClr val="FFFFFF"/>
                </a:highlight>
                <a:latin typeface="Consolas"/>
                <a:ea typeface="Consolas"/>
                <a:cs typeface="Consolas"/>
                <a:sym typeface="Consolas"/>
              </a:rPr>
              <a:t> = </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width</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-&gt;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width</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height</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a:t>
            </a:r>
            <a:endParaRPr sz="115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System</a:t>
            </a:r>
            <a:r>
              <a:rPr lang="en" sz="1150">
                <a:solidFill>
                  <a:srgbClr val="000000"/>
                </a:solidFill>
                <a:highlight>
                  <a:srgbClr val="FFFFFF"/>
                </a:highlight>
                <a:latin typeface="Consolas"/>
                <a:ea typeface="Consolas"/>
                <a:cs typeface="Consolas"/>
                <a:sym typeface="Consolas"/>
              </a:rPr>
              <a:t>.</a:t>
            </a:r>
            <a:r>
              <a:rPr lang="en" sz="1150">
                <a:solidFill>
                  <a:srgbClr val="0070C1"/>
                </a:solidFill>
                <a:highlight>
                  <a:srgbClr val="FFFFFF"/>
                </a:highlight>
                <a:latin typeface="Consolas"/>
                <a:ea typeface="Consolas"/>
                <a:cs typeface="Consolas"/>
                <a:sym typeface="Consolas"/>
              </a:rPr>
              <a:t>out</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println</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rectangle</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area</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x</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a:p>
        </p:txBody>
      </p:sp>
      <p:sp>
        <p:nvSpPr>
          <p:cNvPr id="590" name="Google Shape;590;p58"/>
          <p:cNvSpPr txBox="1">
            <a:spLocks noGrp="1"/>
          </p:cNvSpPr>
          <p:nvPr>
            <p:ph type="body" idx="4"/>
          </p:nvPr>
        </p:nvSpPr>
        <p:spPr>
          <a:xfrm>
            <a:off x="134125" y="4385750"/>
            <a:ext cx="37965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100"/>
              <a:t>You'll want to add at least one test case using the new operation in </a:t>
            </a:r>
            <a:r>
              <a:rPr lang="en" sz="1100">
                <a:latin typeface="Courier New"/>
                <a:ea typeface="Courier New"/>
                <a:cs typeface="Courier New"/>
                <a:sym typeface="Courier New"/>
              </a:rPr>
              <a:t>main</a:t>
            </a:r>
            <a:r>
              <a:rPr lang="en" sz="1100"/>
              <a:t>.</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59"/>
          <p:cNvSpPr txBox="1">
            <a:spLocks noGrp="1"/>
          </p:cNvSpPr>
          <p:nvPr>
            <p:ph type="title"/>
          </p:nvPr>
        </p:nvSpPr>
        <p:spPr>
          <a:xfrm>
            <a:off x="5192225" y="500925"/>
            <a:ext cx="3706500" cy="638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2"/>
              </a:buClr>
              <a:buSzPts val="3300"/>
              <a:buFont typeface="Calibri"/>
              <a:buNone/>
            </a:pPr>
            <a:r>
              <a:rPr lang="en"/>
              <a:t>Even More Lambdas</a:t>
            </a:r>
            <a:endParaRPr/>
          </a:p>
        </p:txBody>
      </p:sp>
      <p:sp>
        <p:nvSpPr>
          <p:cNvPr id="596" name="Google Shape;596;p59"/>
          <p:cNvSpPr txBox="1">
            <a:spLocks noGrp="1"/>
          </p:cNvSpPr>
          <p:nvPr>
            <p:ph type="body" idx="1"/>
          </p:nvPr>
        </p:nvSpPr>
        <p:spPr>
          <a:xfrm>
            <a:off x="377475" y="272325"/>
            <a:ext cx="4166400" cy="4432200"/>
          </a:xfrm>
          <a:prstGeom prst="rect">
            <a:avLst/>
          </a:prstGeom>
          <a:noFill/>
          <a:ln>
            <a:noFill/>
          </a:ln>
        </p:spPr>
        <p:txBody>
          <a:bodyPr spcFirstLastPara="1" wrap="square" lIns="68575" tIns="34275" rIns="68575" bIns="34275" anchor="t" anchorCtr="0">
            <a:normAutofit lnSpcReduction="10000"/>
          </a:bodyPr>
          <a:lstStyle/>
          <a:p>
            <a:pPr marL="457200" lvl="0" indent="-311150" algn="l" rtl="0">
              <a:lnSpc>
                <a:spcPct val="115000"/>
              </a:lnSpc>
              <a:spcBef>
                <a:spcPts val="800"/>
              </a:spcBef>
              <a:spcAft>
                <a:spcPts val="0"/>
              </a:spcAft>
              <a:buSzPts val="1300"/>
              <a:buChar char="●"/>
            </a:pPr>
            <a:r>
              <a:rPr lang="en" dirty="0"/>
              <a:t>The most compact kind of lambda is called a </a:t>
            </a:r>
            <a:r>
              <a:rPr lang="en" b="1" i="1" dirty="0">
                <a:solidFill>
                  <a:srgbClr val="FF0000"/>
                </a:solidFill>
              </a:rPr>
              <a:t>method reference</a:t>
            </a:r>
            <a:endParaRPr dirty="0">
              <a:solidFill>
                <a:srgbClr val="FF0000"/>
              </a:solidFill>
            </a:endParaRPr>
          </a:p>
          <a:p>
            <a:pPr marL="457200" lvl="0" indent="-311150" algn="l" rtl="0">
              <a:lnSpc>
                <a:spcPct val="115000"/>
              </a:lnSpc>
              <a:spcBef>
                <a:spcPts val="1000"/>
              </a:spcBef>
              <a:spcAft>
                <a:spcPts val="0"/>
              </a:spcAft>
              <a:buSzPts val="1300"/>
              <a:buChar char="●"/>
            </a:pPr>
            <a:r>
              <a:rPr lang="en" dirty="0"/>
              <a:t>A method reference is created using the </a:t>
            </a:r>
            <a:r>
              <a:rPr lang="en" b="1" i="1" dirty="0">
                <a:solidFill>
                  <a:srgbClr val="FF0000"/>
                </a:solidFill>
              </a:rPr>
              <a:t>class or variable name</a:t>
            </a:r>
            <a:r>
              <a:rPr lang="en" dirty="0"/>
              <a:t> followed by a </a:t>
            </a:r>
            <a:r>
              <a:rPr lang="en" b="1" i="1" dirty="0">
                <a:solidFill>
                  <a:srgbClr val="FF0000"/>
                </a:solidFill>
              </a:rPr>
              <a:t>double-colon</a:t>
            </a:r>
            <a:r>
              <a:rPr lang="en" dirty="0"/>
              <a:t> (</a:t>
            </a:r>
            <a:r>
              <a:rPr lang="en" dirty="0">
                <a:solidFill>
                  <a:srgbClr val="FF0000"/>
                </a:solidFill>
                <a:latin typeface="Courier New"/>
                <a:ea typeface="Courier New"/>
                <a:cs typeface="Courier New"/>
                <a:sym typeface="Courier New"/>
              </a:rPr>
              <a:t>::</a:t>
            </a:r>
            <a:r>
              <a:rPr lang="en" dirty="0"/>
              <a:t>) and the </a:t>
            </a:r>
            <a:r>
              <a:rPr lang="en" b="1" i="1" dirty="0">
                <a:solidFill>
                  <a:srgbClr val="FF0000"/>
                </a:solidFill>
              </a:rPr>
              <a:t>name</a:t>
            </a:r>
            <a:r>
              <a:rPr lang="en" dirty="0"/>
              <a:t> of the method.</a:t>
            </a:r>
            <a:endParaRPr dirty="0"/>
          </a:p>
          <a:p>
            <a:pPr marL="914400" lvl="1" indent="-298450" algn="l" rtl="0">
              <a:lnSpc>
                <a:spcPct val="115000"/>
              </a:lnSpc>
              <a:spcBef>
                <a:spcPts val="1000"/>
              </a:spcBef>
              <a:spcAft>
                <a:spcPts val="0"/>
              </a:spcAft>
              <a:buSzPts val="1100"/>
              <a:buChar char="○"/>
            </a:pPr>
            <a:r>
              <a:rPr lang="en" dirty="0"/>
              <a:t>Parentheses, parameters, return types, etc. are not included.</a:t>
            </a:r>
            <a:endParaRPr dirty="0"/>
          </a:p>
          <a:p>
            <a:pPr marL="457200" lvl="0" indent="-311150" algn="l" rtl="0">
              <a:lnSpc>
                <a:spcPct val="115000"/>
              </a:lnSpc>
              <a:spcBef>
                <a:spcPts val="1000"/>
              </a:spcBef>
              <a:spcAft>
                <a:spcPts val="0"/>
              </a:spcAft>
              <a:buSzPts val="1300"/>
              <a:buChar char="●"/>
            </a:pPr>
            <a:r>
              <a:rPr lang="en" dirty="0"/>
              <a:t>Some examples:</a:t>
            </a:r>
            <a:endParaRPr dirty="0"/>
          </a:p>
          <a:p>
            <a:pPr marL="914400" lvl="1" indent="-298450" algn="l" rtl="0">
              <a:lnSpc>
                <a:spcPct val="115000"/>
              </a:lnSpc>
              <a:spcBef>
                <a:spcPts val="1000"/>
              </a:spcBef>
              <a:spcAft>
                <a:spcPts val="0"/>
              </a:spcAft>
              <a:buSzPts val="1100"/>
              <a:buFont typeface="Courier New"/>
              <a:buChar char="○"/>
            </a:pPr>
            <a:r>
              <a:rPr lang="en" dirty="0">
                <a:latin typeface="Courier New"/>
                <a:ea typeface="Courier New"/>
                <a:cs typeface="Courier New"/>
                <a:sym typeface="Courier New"/>
              </a:rPr>
              <a:t>Math::log</a:t>
            </a:r>
            <a:endParaRPr dirty="0">
              <a:latin typeface="Courier New"/>
              <a:ea typeface="Courier New"/>
              <a:cs typeface="Courier New"/>
              <a:sym typeface="Courier New"/>
            </a:endParaRPr>
          </a:p>
          <a:p>
            <a:pPr marL="914400" lvl="1" indent="-298450" algn="l" rtl="0">
              <a:lnSpc>
                <a:spcPct val="115000"/>
              </a:lnSpc>
              <a:spcBef>
                <a:spcPts val="1000"/>
              </a:spcBef>
              <a:spcAft>
                <a:spcPts val="0"/>
              </a:spcAft>
              <a:buSzPts val="1100"/>
              <a:buFont typeface="Courier New"/>
              <a:buChar char="○"/>
            </a:pPr>
            <a:r>
              <a:rPr lang="en" dirty="0">
                <a:latin typeface="Courier New"/>
                <a:ea typeface="Courier New"/>
                <a:cs typeface="Courier New"/>
                <a:sym typeface="Courier New"/>
              </a:rPr>
              <a:t>ShapeExample::triangleArea</a:t>
            </a:r>
            <a:endParaRPr dirty="0">
              <a:latin typeface="Courier New"/>
              <a:ea typeface="Courier New"/>
              <a:cs typeface="Courier New"/>
              <a:sym typeface="Courier New"/>
            </a:endParaRPr>
          </a:p>
          <a:p>
            <a:pPr marL="457200" lvl="0" indent="-311150" algn="l" rtl="0">
              <a:lnSpc>
                <a:spcPct val="115000"/>
              </a:lnSpc>
              <a:spcBef>
                <a:spcPts val="1000"/>
              </a:spcBef>
              <a:spcAft>
                <a:spcPts val="0"/>
              </a:spcAft>
              <a:buSzPts val="1300"/>
              <a:buChar char="●"/>
            </a:pPr>
            <a:r>
              <a:rPr lang="en" dirty="0">
                <a:highlight>
                  <a:srgbClr val="FFFF00"/>
                </a:highlight>
              </a:rPr>
              <a:t>When using a method reference as a lambda, the </a:t>
            </a:r>
            <a:r>
              <a:rPr lang="en" b="1" i="1" dirty="0">
                <a:solidFill>
                  <a:srgbClr val="FF0000"/>
                </a:solidFill>
                <a:highlight>
                  <a:srgbClr val="FFFF00"/>
                </a:highlight>
              </a:rPr>
              <a:t>parameters and returns types</a:t>
            </a:r>
            <a:r>
              <a:rPr lang="en" dirty="0">
                <a:highlight>
                  <a:srgbClr val="FFFF00"/>
                </a:highlight>
              </a:rPr>
              <a:t> must match the functional interface.</a:t>
            </a:r>
            <a:endParaRPr dirty="0">
              <a:highlight>
                <a:srgbClr val="FFFF00"/>
              </a:highlight>
            </a:endParaRPr>
          </a:p>
          <a:p>
            <a:pPr marL="914400" lvl="1" indent="-298450" algn="l" rtl="0">
              <a:lnSpc>
                <a:spcPct val="115000"/>
              </a:lnSpc>
              <a:spcBef>
                <a:spcPts val="1000"/>
              </a:spcBef>
              <a:spcAft>
                <a:spcPts val="1000"/>
              </a:spcAft>
              <a:buSzPts val="1100"/>
              <a:buChar char="○"/>
            </a:pPr>
            <a:r>
              <a:rPr lang="en" dirty="0"/>
              <a:t>i.e. if the functional interface expects a </a:t>
            </a:r>
            <a:r>
              <a:rPr lang="en" dirty="0">
                <a:latin typeface="Courier New"/>
                <a:ea typeface="Courier New"/>
                <a:cs typeface="Courier New"/>
                <a:sym typeface="Courier New"/>
              </a:rPr>
              <a:t>double</a:t>
            </a:r>
            <a:r>
              <a:rPr lang="en" dirty="0"/>
              <a:t> and returns a </a:t>
            </a:r>
            <a:r>
              <a:rPr lang="en" dirty="0">
                <a:latin typeface="Courier New"/>
                <a:ea typeface="Courier New"/>
                <a:cs typeface="Courier New"/>
                <a:sym typeface="Courier New"/>
              </a:rPr>
              <a:t>String</a:t>
            </a:r>
            <a:r>
              <a:rPr lang="en" dirty="0"/>
              <a:t>, the method reference must do the same.</a:t>
            </a:r>
            <a:endParaRPr dirty="0"/>
          </a:p>
        </p:txBody>
      </p:sp>
      <p:sp>
        <p:nvSpPr>
          <p:cNvPr id="597" name="Google Shape;597;p59"/>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598" name="Google Shape;598;p59"/>
          <p:cNvSpPr txBox="1">
            <a:spLocks noGrp="1"/>
          </p:cNvSpPr>
          <p:nvPr>
            <p:ph type="body" idx="2"/>
          </p:nvPr>
        </p:nvSpPr>
        <p:spPr>
          <a:xfrm>
            <a:off x="5102525" y="1265700"/>
            <a:ext cx="3878700" cy="26973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0"/>
              </a:spcBef>
              <a:spcAft>
                <a:spcPts val="0"/>
              </a:spcAft>
              <a:buNone/>
            </a:pPr>
            <a:r>
              <a:rPr lang="en" sz="1000" dirty="0">
                <a:solidFill>
                  <a:srgbClr val="0000FF"/>
                </a:solidFill>
                <a:highlight>
                  <a:srgbClr val="FFFFFF"/>
                </a:highlight>
                <a:latin typeface="Consolas"/>
                <a:ea typeface="Consolas"/>
                <a:cs typeface="Consolas"/>
                <a:sym typeface="Consolas"/>
              </a:rPr>
              <a:t>public</a:t>
            </a:r>
            <a:r>
              <a:rPr lang="en" sz="1000" dirty="0">
                <a:solidFill>
                  <a:srgbClr val="000000"/>
                </a:solidFill>
                <a:highlight>
                  <a:srgbClr val="FFFFFF"/>
                </a:highlight>
                <a:latin typeface="Consolas"/>
                <a:ea typeface="Consolas"/>
                <a:cs typeface="Consolas"/>
                <a:sym typeface="Consolas"/>
              </a:rPr>
              <a:t> </a:t>
            </a:r>
            <a:r>
              <a:rPr lang="en" sz="1000" dirty="0">
                <a:solidFill>
                  <a:srgbClr val="0000FF"/>
                </a:solidFill>
                <a:highlight>
                  <a:srgbClr val="FFFFFF"/>
                </a:highlight>
                <a:latin typeface="Consolas"/>
                <a:ea typeface="Consolas"/>
                <a:cs typeface="Consolas"/>
                <a:sym typeface="Consolas"/>
              </a:rPr>
              <a:t>interface</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Shape</a:t>
            </a:r>
            <a:r>
              <a:rPr lang="en" sz="1000" dirty="0">
                <a:solidFill>
                  <a:srgbClr val="000000"/>
                </a:solidFill>
                <a:highlight>
                  <a:srgbClr val="FFFFFF"/>
                </a:highlight>
                <a:latin typeface="Consolas"/>
                <a:ea typeface="Consolas"/>
                <a:cs typeface="Consolas"/>
                <a:sym typeface="Consolas"/>
              </a:rPr>
              <a:t> {</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double</a:t>
            </a:r>
            <a:r>
              <a:rPr lang="en" sz="1000" dirty="0">
                <a:solidFill>
                  <a:srgbClr val="000000"/>
                </a:solidFill>
                <a:highlight>
                  <a:srgbClr val="FFFFFF"/>
                </a:highlight>
                <a:latin typeface="Consolas"/>
                <a:ea typeface="Consolas"/>
                <a:cs typeface="Consolas"/>
                <a:sym typeface="Consolas"/>
              </a:rPr>
              <a:t> </a:t>
            </a:r>
            <a:r>
              <a:rPr lang="en" sz="1000" dirty="0">
                <a:solidFill>
                  <a:srgbClr val="795E26"/>
                </a:solidFill>
                <a:highlight>
                  <a:srgbClr val="FFFFFF"/>
                </a:highlight>
                <a:latin typeface="Consolas"/>
                <a:ea typeface="Consolas"/>
                <a:cs typeface="Consolas"/>
                <a:sym typeface="Consolas"/>
              </a:rPr>
              <a:t>area</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double</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length</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dirty="0">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sz="1000" dirty="0">
                <a:solidFill>
                  <a:srgbClr val="0000FF"/>
                </a:solidFill>
                <a:highlight>
                  <a:srgbClr val="FFFFFF"/>
                </a:highlight>
                <a:latin typeface="Consolas"/>
                <a:ea typeface="Consolas"/>
                <a:cs typeface="Consolas"/>
                <a:sym typeface="Consolas"/>
              </a:rPr>
              <a:t>public</a:t>
            </a:r>
            <a:r>
              <a:rPr lang="en" sz="1000" dirty="0">
                <a:solidFill>
                  <a:srgbClr val="000000"/>
                </a:solidFill>
                <a:highlight>
                  <a:srgbClr val="FFFFFF"/>
                </a:highlight>
                <a:latin typeface="Consolas"/>
                <a:ea typeface="Consolas"/>
                <a:cs typeface="Consolas"/>
                <a:sym typeface="Consolas"/>
              </a:rPr>
              <a:t> </a:t>
            </a:r>
            <a:r>
              <a:rPr lang="en" sz="1000" dirty="0">
                <a:solidFill>
                  <a:srgbClr val="0000FF"/>
                </a:solidFill>
                <a:highlight>
                  <a:srgbClr val="FFFFFF"/>
                </a:highlight>
                <a:latin typeface="Consolas"/>
                <a:ea typeface="Consolas"/>
                <a:cs typeface="Consolas"/>
                <a:sym typeface="Consolas"/>
              </a:rPr>
              <a:t>static</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double</a:t>
            </a:r>
            <a:r>
              <a:rPr lang="en" sz="1000" dirty="0">
                <a:solidFill>
                  <a:srgbClr val="000000"/>
                </a:solidFill>
                <a:highlight>
                  <a:srgbClr val="FFFFFF"/>
                </a:highlight>
                <a:latin typeface="Consolas"/>
                <a:ea typeface="Consolas"/>
                <a:cs typeface="Consolas"/>
                <a:sym typeface="Consolas"/>
              </a:rPr>
              <a:t> </a:t>
            </a:r>
            <a:r>
              <a:rPr lang="en" sz="1000" dirty="0">
                <a:solidFill>
                  <a:srgbClr val="795E26"/>
                </a:solidFill>
                <a:highlight>
                  <a:srgbClr val="FFFFFF"/>
                </a:highlight>
                <a:latin typeface="Consolas"/>
                <a:ea typeface="Consolas"/>
                <a:cs typeface="Consolas"/>
                <a:sym typeface="Consolas"/>
              </a:rPr>
              <a:t>triangleArea</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double</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dimens</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    </a:t>
            </a:r>
            <a:r>
              <a:rPr lang="en" sz="1000" dirty="0">
                <a:solidFill>
                  <a:srgbClr val="AF00DB"/>
                </a:solidFill>
                <a:highlight>
                  <a:srgbClr val="FFFFFF"/>
                </a:highlight>
                <a:latin typeface="Consolas"/>
                <a:ea typeface="Consolas"/>
                <a:cs typeface="Consolas"/>
                <a:sym typeface="Consolas"/>
              </a:rPr>
              <a:t>return</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0.5</a:t>
            </a:r>
            <a:r>
              <a:rPr lang="en" sz="1000" dirty="0">
                <a:solidFill>
                  <a:srgbClr val="000000"/>
                </a:solidFill>
                <a:highlight>
                  <a:srgbClr val="FFFFFF"/>
                </a:highlight>
                <a:latin typeface="Consolas"/>
                <a:ea typeface="Consolas"/>
                <a:cs typeface="Consolas"/>
                <a:sym typeface="Consolas"/>
              </a:rPr>
              <a:t> * </a:t>
            </a:r>
            <a:r>
              <a:rPr lang="en" sz="1000" dirty="0">
                <a:solidFill>
                  <a:srgbClr val="001080"/>
                </a:solidFill>
                <a:highlight>
                  <a:srgbClr val="FFFFFF"/>
                </a:highlight>
                <a:latin typeface="Consolas"/>
                <a:ea typeface="Consolas"/>
                <a:cs typeface="Consolas"/>
                <a:sym typeface="Consolas"/>
              </a:rPr>
              <a:t>dimens</a:t>
            </a:r>
            <a:r>
              <a:rPr lang="en" sz="1000" dirty="0">
                <a:solidFill>
                  <a:srgbClr val="000000"/>
                </a:solidFill>
                <a:highlight>
                  <a:srgbClr val="FFFFFF"/>
                </a:highlight>
                <a:latin typeface="Consolas"/>
                <a:ea typeface="Consolas"/>
                <a:cs typeface="Consolas"/>
                <a:sym typeface="Consolas"/>
              </a:rPr>
              <a:t>[</a:t>
            </a:r>
            <a:r>
              <a:rPr lang="en" sz="1000" dirty="0">
                <a:solidFill>
                  <a:srgbClr val="267F99"/>
                </a:solidFill>
                <a:highlight>
                  <a:srgbClr val="FFFFFF"/>
                </a:highlight>
                <a:latin typeface="Consolas"/>
                <a:ea typeface="Consolas"/>
                <a:cs typeface="Consolas"/>
                <a:sym typeface="Consolas"/>
              </a:rPr>
              <a:t>0</a:t>
            </a:r>
            <a:r>
              <a:rPr lang="en" sz="1000" dirty="0">
                <a:solidFill>
                  <a:srgbClr val="000000"/>
                </a:solidFill>
                <a:highlight>
                  <a:srgbClr val="FFFFFF"/>
                </a:highlight>
                <a:latin typeface="Consolas"/>
                <a:ea typeface="Consolas"/>
                <a:cs typeface="Consolas"/>
                <a:sym typeface="Consolas"/>
              </a:rPr>
              <a:t>],</a:t>
            </a:r>
            <a:r>
              <a:rPr lang="en" sz="1000" dirty="0">
                <a:solidFill>
                  <a:srgbClr val="267F99"/>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dimens</a:t>
            </a:r>
            <a:r>
              <a:rPr lang="en" sz="1000" dirty="0">
                <a:solidFill>
                  <a:srgbClr val="000000"/>
                </a:solidFill>
                <a:highlight>
                  <a:srgbClr val="FFFFFF"/>
                </a:highlight>
                <a:latin typeface="Consolas"/>
                <a:ea typeface="Consolas"/>
                <a:cs typeface="Consolas"/>
                <a:sym typeface="Consolas"/>
              </a:rPr>
              <a:t>[</a:t>
            </a:r>
            <a:r>
              <a:rPr lang="en" sz="1000" dirty="0">
                <a:solidFill>
                  <a:srgbClr val="267F99"/>
                </a:solidFill>
                <a:highlight>
                  <a:srgbClr val="FFFFFF"/>
                </a:highlight>
                <a:latin typeface="Consolas"/>
                <a:ea typeface="Consolas"/>
                <a:cs typeface="Consolas"/>
                <a:sym typeface="Consolas"/>
              </a:rPr>
              <a:t>1</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30434"/>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FF"/>
                </a:solidFill>
                <a:highlight>
                  <a:srgbClr val="FFFFFF"/>
                </a:highlight>
                <a:latin typeface="Consolas"/>
                <a:ea typeface="Consolas"/>
                <a:cs typeface="Consolas"/>
                <a:sym typeface="Consolas"/>
              </a:rPr>
              <a:t>public</a:t>
            </a:r>
            <a:r>
              <a:rPr lang="en" sz="1000" dirty="0">
                <a:solidFill>
                  <a:srgbClr val="000000"/>
                </a:solidFill>
                <a:highlight>
                  <a:srgbClr val="FFFFFF"/>
                </a:highlight>
                <a:latin typeface="Consolas"/>
                <a:ea typeface="Consolas"/>
                <a:cs typeface="Consolas"/>
                <a:sym typeface="Consolas"/>
              </a:rPr>
              <a:t> </a:t>
            </a:r>
            <a:r>
              <a:rPr lang="en" sz="1000" dirty="0">
                <a:solidFill>
                  <a:srgbClr val="0000FF"/>
                </a:solidFill>
                <a:highlight>
                  <a:srgbClr val="FFFFFF"/>
                </a:highlight>
                <a:latin typeface="Consolas"/>
                <a:ea typeface="Consolas"/>
                <a:cs typeface="Consolas"/>
                <a:sym typeface="Consolas"/>
              </a:rPr>
              <a:t>static</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void</a:t>
            </a:r>
            <a:r>
              <a:rPr lang="en" sz="1000" dirty="0">
                <a:solidFill>
                  <a:srgbClr val="000000"/>
                </a:solidFill>
                <a:highlight>
                  <a:srgbClr val="FFFFFF"/>
                </a:highlight>
                <a:latin typeface="Consolas"/>
                <a:ea typeface="Consolas"/>
                <a:cs typeface="Consolas"/>
                <a:sym typeface="Consolas"/>
              </a:rPr>
              <a:t> </a:t>
            </a:r>
            <a:r>
              <a:rPr lang="en" sz="1000" dirty="0">
                <a:solidFill>
                  <a:srgbClr val="795E26"/>
                </a:solidFill>
                <a:highlight>
                  <a:srgbClr val="FFFFFF"/>
                </a:highlight>
                <a:latin typeface="Consolas"/>
                <a:ea typeface="Consolas"/>
                <a:cs typeface="Consolas"/>
                <a:sym typeface="Consolas"/>
              </a:rPr>
              <a:t>main</a:t>
            </a: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String</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args</a:t>
            </a:r>
            <a:r>
              <a:rPr lang="en" sz="1000" dirty="0">
                <a:solidFill>
                  <a:srgbClr val="000000"/>
                </a:solidFill>
                <a:highlight>
                  <a:srgbClr val="FFFFFF"/>
                </a:highlight>
                <a:latin typeface="Consolas"/>
                <a:ea typeface="Consolas"/>
                <a:cs typeface="Consolas"/>
                <a:sym typeface="Consolas"/>
              </a:rPr>
              <a:t>) {</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   </a:t>
            </a:r>
            <a:r>
              <a:rPr lang="en" sz="1000" dirty="0">
                <a:solidFill>
                  <a:srgbClr val="267F99"/>
                </a:solidFill>
                <a:highlight>
                  <a:srgbClr val="FFFFFF"/>
                </a:highlight>
                <a:latin typeface="Consolas"/>
                <a:ea typeface="Consolas"/>
                <a:cs typeface="Consolas"/>
                <a:sym typeface="Consolas"/>
              </a:rPr>
              <a:t>int</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base</a:t>
            </a:r>
            <a:r>
              <a:rPr lang="en" sz="1000" dirty="0">
                <a:solidFill>
                  <a:srgbClr val="000000"/>
                </a:solidFill>
                <a:highlight>
                  <a:srgbClr val="FFFFFF"/>
                </a:highlight>
                <a:latin typeface="Consolas"/>
                <a:ea typeface="Consolas"/>
                <a:cs typeface="Consolas"/>
                <a:sym typeface="Consolas"/>
              </a:rPr>
              <a:t> = </a:t>
            </a:r>
            <a:r>
              <a:rPr lang="en" sz="1000" dirty="0">
                <a:solidFill>
                  <a:srgbClr val="098658"/>
                </a:solidFill>
                <a:highlight>
                  <a:srgbClr val="FFFFFF"/>
                </a:highlight>
                <a:latin typeface="Consolas"/>
                <a:ea typeface="Consolas"/>
                <a:cs typeface="Consolas"/>
                <a:sym typeface="Consolas"/>
              </a:rPr>
              <a:t>5</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highlight>
                  <a:srgbClr val="FFFFFF"/>
                </a:highlight>
                <a:latin typeface="Consolas"/>
                <a:ea typeface="Consolas"/>
                <a:cs typeface="Consolas"/>
                <a:sym typeface="Consolas"/>
              </a:rPr>
              <a:t>   int</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height</a:t>
            </a:r>
            <a:r>
              <a:rPr lang="en" sz="1000" dirty="0">
                <a:solidFill>
                  <a:srgbClr val="000000"/>
                </a:solidFill>
                <a:highlight>
                  <a:srgbClr val="FFFFFF"/>
                </a:highlight>
                <a:latin typeface="Consolas"/>
                <a:ea typeface="Consolas"/>
                <a:cs typeface="Consolas"/>
                <a:sym typeface="Consolas"/>
              </a:rPr>
              <a:t> = </a:t>
            </a:r>
            <a:r>
              <a:rPr lang="en" sz="1000" dirty="0">
                <a:solidFill>
                  <a:srgbClr val="098658"/>
                </a:solidFill>
                <a:highlight>
                  <a:srgbClr val="FFFFFF"/>
                </a:highlight>
                <a:latin typeface="Consolas"/>
                <a:ea typeface="Consolas"/>
                <a:cs typeface="Consolas"/>
                <a:sym typeface="Consolas"/>
              </a:rPr>
              <a:t>10</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highlight>
                  <a:srgbClr val="FFFFFF"/>
                </a:highlight>
                <a:latin typeface="Consolas"/>
                <a:ea typeface="Consolas"/>
                <a:cs typeface="Consolas"/>
                <a:sym typeface="Consolas"/>
              </a:rPr>
              <a:t>   </a:t>
            </a:r>
            <a:endParaRPr sz="100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highlight>
                  <a:srgbClr val="FFFFFF"/>
                </a:highlight>
                <a:latin typeface="Consolas"/>
                <a:ea typeface="Consolas"/>
                <a:cs typeface="Consolas"/>
                <a:sym typeface="Consolas"/>
              </a:rPr>
              <a:t>   Shape</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triangle</a:t>
            </a:r>
            <a:r>
              <a:rPr lang="en" sz="1000" dirty="0">
                <a:solidFill>
                  <a:srgbClr val="000000"/>
                </a:solidFill>
                <a:highlight>
                  <a:srgbClr val="FFFFFF"/>
                </a:highlight>
                <a:latin typeface="Consolas"/>
                <a:ea typeface="Consolas"/>
                <a:cs typeface="Consolas"/>
                <a:sym typeface="Consolas"/>
              </a:rPr>
              <a:t> = </a:t>
            </a:r>
            <a:r>
              <a:rPr lang="en" sz="1000" dirty="0">
                <a:solidFill>
                  <a:srgbClr val="267F99"/>
                </a:solidFill>
                <a:highlight>
                  <a:srgbClr val="FFFFFF"/>
                </a:highlight>
                <a:latin typeface="Consolas"/>
                <a:ea typeface="Consolas"/>
                <a:cs typeface="Consolas"/>
                <a:sym typeface="Consolas"/>
              </a:rPr>
              <a:t>ShapeExample</a:t>
            </a:r>
            <a:r>
              <a:rPr lang="en" sz="1000" dirty="0">
                <a:solidFill>
                  <a:srgbClr val="AF00DB"/>
                </a:solidFill>
                <a:highlight>
                  <a:srgbClr val="FFFFFF"/>
                </a:highlight>
                <a:latin typeface="Consolas"/>
                <a:ea typeface="Consolas"/>
                <a:cs typeface="Consolas"/>
                <a:sym typeface="Consolas"/>
              </a:rPr>
              <a:t>::</a:t>
            </a:r>
            <a:r>
              <a:rPr lang="en" sz="1000" dirty="0">
                <a:solidFill>
                  <a:srgbClr val="795E26"/>
                </a:solidFill>
                <a:highlight>
                  <a:srgbClr val="FFFFFF"/>
                </a:highlight>
                <a:latin typeface="Consolas"/>
                <a:ea typeface="Consolas"/>
                <a:cs typeface="Consolas"/>
                <a:sym typeface="Consolas"/>
              </a:rPr>
              <a:t>triangleArea</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highlight>
                  <a:srgbClr val="FFFFFF"/>
                </a:highlight>
                <a:latin typeface="Consolas"/>
                <a:ea typeface="Consolas"/>
                <a:cs typeface="Consolas"/>
                <a:sym typeface="Consolas"/>
              </a:rPr>
              <a:t>   </a:t>
            </a:r>
            <a:endParaRPr sz="100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267F99"/>
                </a:solidFill>
                <a:highlight>
                  <a:srgbClr val="FFFFFF"/>
                </a:highlight>
                <a:latin typeface="Consolas"/>
                <a:ea typeface="Consolas"/>
                <a:cs typeface="Consolas"/>
                <a:sym typeface="Consolas"/>
              </a:rPr>
              <a:t>   System</a:t>
            </a:r>
            <a:r>
              <a:rPr lang="en" sz="1000" dirty="0">
                <a:solidFill>
                  <a:srgbClr val="000000"/>
                </a:solidFill>
                <a:highlight>
                  <a:srgbClr val="FFFFFF"/>
                </a:highlight>
                <a:latin typeface="Consolas"/>
                <a:ea typeface="Consolas"/>
                <a:cs typeface="Consolas"/>
                <a:sym typeface="Consolas"/>
              </a:rPr>
              <a:t>.</a:t>
            </a:r>
            <a:r>
              <a:rPr lang="en" sz="1000" dirty="0">
                <a:solidFill>
                  <a:srgbClr val="0070C1"/>
                </a:solidFill>
                <a:highlight>
                  <a:srgbClr val="FFFFFF"/>
                </a:highlight>
                <a:latin typeface="Consolas"/>
                <a:ea typeface="Consolas"/>
                <a:cs typeface="Consolas"/>
                <a:sym typeface="Consolas"/>
              </a:rPr>
              <a:t>out</a:t>
            </a:r>
            <a:r>
              <a:rPr lang="en" sz="1000" dirty="0">
                <a:solidFill>
                  <a:srgbClr val="000000"/>
                </a:solidFill>
                <a:highlight>
                  <a:srgbClr val="FFFFFF"/>
                </a:highlight>
                <a:latin typeface="Consolas"/>
                <a:ea typeface="Consolas"/>
                <a:cs typeface="Consolas"/>
                <a:sym typeface="Consolas"/>
              </a:rPr>
              <a:t>.</a:t>
            </a:r>
            <a:r>
              <a:rPr lang="en" sz="1000" dirty="0">
                <a:solidFill>
                  <a:srgbClr val="795E26"/>
                </a:solidFill>
                <a:highlight>
                  <a:srgbClr val="FFFFFF"/>
                </a:highlight>
                <a:latin typeface="Consolas"/>
                <a:ea typeface="Consolas"/>
                <a:cs typeface="Consolas"/>
                <a:sym typeface="Consolas"/>
              </a:rPr>
              <a:t>println</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triangle</a:t>
            </a:r>
            <a:r>
              <a:rPr lang="en" sz="1000" dirty="0">
                <a:solidFill>
                  <a:srgbClr val="000000"/>
                </a:solidFill>
                <a:highlight>
                  <a:srgbClr val="FFFFFF"/>
                </a:highlight>
                <a:latin typeface="Consolas"/>
                <a:ea typeface="Consolas"/>
                <a:cs typeface="Consolas"/>
                <a:sym typeface="Consolas"/>
              </a:rPr>
              <a:t>.</a:t>
            </a:r>
            <a:r>
              <a:rPr lang="en" sz="1000" dirty="0">
                <a:solidFill>
                  <a:srgbClr val="795E26"/>
                </a:solidFill>
                <a:highlight>
                  <a:srgbClr val="FFFFFF"/>
                </a:highlight>
                <a:latin typeface="Consolas"/>
                <a:ea typeface="Consolas"/>
                <a:cs typeface="Consolas"/>
                <a:sym typeface="Consolas"/>
              </a:rPr>
              <a:t>area</a:t>
            </a:r>
            <a:r>
              <a:rPr lang="en" sz="1000" dirty="0">
                <a:solidFill>
                  <a:srgbClr val="000000"/>
                </a:solidFill>
                <a:highlight>
                  <a:srgbClr val="FFFFFF"/>
                </a:highlight>
                <a:latin typeface="Consolas"/>
                <a:ea typeface="Consolas"/>
                <a:cs typeface="Consolas"/>
                <a:sym typeface="Consolas"/>
              </a:rPr>
              <a:t> (</a:t>
            </a:r>
            <a:r>
              <a:rPr lang="en" sz="1000" dirty="0">
                <a:solidFill>
                  <a:srgbClr val="001080"/>
                </a:solidFill>
                <a:highlight>
                  <a:srgbClr val="FFFFFF"/>
                </a:highlight>
                <a:latin typeface="Consolas"/>
                <a:ea typeface="Consolas"/>
                <a:cs typeface="Consolas"/>
                <a:sym typeface="Consolas"/>
              </a:rPr>
              <a:t>base, height</a:t>
            </a:r>
            <a:r>
              <a:rPr lang="en" sz="1000" dirty="0">
                <a:solidFill>
                  <a:srgbClr val="000000"/>
                </a:solidFill>
                <a:highlight>
                  <a:srgbClr val="FFFFFF"/>
                </a:highlight>
                <a:latin typeface="Consolas"/>
                <a:ea typeface="Consolas"/>
                <a:cs typeface="Consolas"/>
                <a:sym typeface="Consolas"/>
              </a:rPr>
              <a:t>));</a:t>
            </a:r>
            <a:endParaRPr sz="1000" dirty="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00000"/>
                </a:solidFill>
                <a:highlight>
                  <a:srgbClr val="FFFFFF"/>
                </a:highlight>
                <a:latin typeface="Consolas"/>
                <a:ea typeface="Consolas"/>
                <a:cs typeface="Consolas"/>
                <a:sym typeface="Consolas"/>
              </a:rPr>
              <a:t>}</a:t>
            </a:r>
            <a:endParaRPr sz="1000" dirty="0"/>
          </a:p>
        </p:txBody>
      </p:sp>
      <p:sp>
        <p:nvSpPr>
          <p:cNvPr id="599" name="Google Shape;599;p59"/>
          <p:cNvSpPr txBox="1">
            <a:spLocks noGrp="1"/>
          </p:cNvSpPr>
          <p:nvPr>
            <p:ph type="body" idx="3"/>
          </p:nvPr>
        </p:nvSpPr>
        <p:spPr>
          <a:xfrm>
            <a:off x="5102525" y="4132700"/>
            <a:ext cx="3878700" cy="581700"/>
          </a:xfrm>
          <a:prstGeom prst="rect">
            <a:avLst/>
          </a:prstGeom>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n"/>
              <a:t>The </a:t>
            </a:r>
            <a:r>
              <a:rPr lang="en">
                <a:latin typeface="Courier New"/>
                <a:ea typeface="Courier New"/>
                <a:cs typeface="Courier New"/>
                <a:sym typeface="Courier New"/>
              </a:rPr>
              <a:t>triangleArea</a:t>
            </a:r>
            <a:r>
              <a:rPr lang="en"/>
              <a:t> parameters were written using … to align with the </a:t>
            </a:r>
            <a:r>
              <a:rPr lang="en">
                <a:latin typeface="Courier New"/>
                <a:ea typeface="Courier New"/>
                <a:cs typeface="Courier New"/>
                <a:sym typeface="Courier New"/>
              </a:rPr>
              <a:t>Shape</a:t>
            </a:r>
            <a:r>
              <a:rPr lang="en"/>
              <a:t> interface's area method.</a:t>
            </a:r>
            <a:endParaRPr sz="1200"/>
          </a:p>
        </p:txBody>
      </p:sp>
      <p:sp>
        <p:nvSpPr>
          <p:cNvPr id="600" name="Google Shape;600;p59"/>
          <p:cNvSpPr txBox="1">
            <a:spLocks noGrp="1"/>
          </p:cNvSpPr>
          <p:nvPr>
            <p:ph type="body" idx="3"/>
          </p:nvPr>
        </p:nvSpPr>
        <p:spPr>
          <a:xfrm>
            <a:off x="6958706" y="2908407"/>
            <a:ext cx="1335900" cy="2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Method reference</a:t>
            </a:r>
            <a:endParaRPr sz="1100"/>
          </a:p>
        </p:txBody>
      </p:sp>
      <p:sp>
        <p:nvSpPr>
          <p:cNvPr id="601" name="Google Shape;601;p59"/>
          <p:cNvSpPr/>
          <p:nvPr/>
        </p:nvSpPr>
        <p:spPr>
          <a:xfrm>
            <a:off x="6543825" y="3245225"/>
            <a:ext cx="2048700" cy="233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2" name="Google Shape;602;p59"/>
          <p:cNvCxnSpPr>
            <a:stCxn id="600" idx="3"/>
            <a:endCxn id="601" idx="3"/>
          </p:cNvCxnSpPr>
          <p:nvPr/>
        </p:nvCxnSpPr>
        <p:spPr>
          <a:xfrm>
            <a:off x="8294606" y="3046407"/>
            <a:ext cx="297900" cy="315600"/>
          </a:xfrm>
          <a:prstGeom prst="bentConnector3">
            <a:avLst>
              <a:gd name="adj1" fmla="val 179941"/>
            </a:avLst>
          </a:prstGeom>
          <a:noFill/>
          <a:ln w="1905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9"/>
                                        </p:tgtEl>
                                        <p:attrNameLst>
                                          <p:attrName>style.visibility</p:attrName>
                                        </p:attrNameLst>
                                      </p:cBhvr>
                                      <p:to>
                                        <p:strVal val="visible"/>
                                      </p:to>
                                    </p:set>
                                    <p:animEffect transition="in" filter="fade">
                                      <p:cBhvr>
                                        <p:cTn id="7" dur="1000"/>
                                        <p:tgtEl>
                                          <p:spTgt spid="5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0"/>
                                        </p:tgtEl>
                                        <p:attrNameLst>
                                          <p:attrName>style.visibility</p:attrName>
                                        </p:attrNameLst>
                                      </p:cBhvr>
                                      <p:to>
                                        <p:strVal val="visible"/>
                                      </p:to>
                                    </p:set>
                                    <p:animEffect transition="in" filter="fade">
                                      <p:cBhvr>
                                        <p:cTn id="12" dur="1000"/>
                                        <p:tgtEl>
                                          <p:spTgt spid="600"/>
                                        </p:tgtEl>
                                      </p:cBhvr>
                                    </p:animEffect>
                                  </p:childTnLst>
                                </p:cTn>
                              </p:par>
                              <p:par>
                                <p:cTn id="13" presetID="10" presetClass="entr" presetSubtype="0" fill="hold" nodeType="withEffect">
                                  <p:stCondLst>
                                    <p:cond delay="0"/>
                                  </p:stCondLst>
                                  <p:childTnLst>
                                    <p:set>
                                      <p:cBhvr>
                                        <p:cTn id="14" dur="1" fill="hold">
                                          <p:stCondLst>
                                            <p:cond delay="0"/>
                                          </p:stCondLst>
                                        </p:cTn>
                                        <p:tgtEl>
                                          <p:spTgt spid="602"/>
                                        </p:tgtEl>
                                        <p:attrNameLst>
                                          <p:attrName>style.visibility</p:attrName>
                                        </p:attrNameLst>
                                      </p:cBhvr>
                                      <p:to>
                                        <p:strVal val="visible"/>
                                      </p:to>
                                    </p:set>
                                    <p:animEffect transition="in" filter="fade">
                                      <p:cBhvr>
                                        <p:cTn id="15" dur="1000"/>
                                        <p:tgtEl>
                                          <p:spTgt spid="602"/>
                                        </p:tgtEl>
                                      </p:cBhvr>
                                    </p:animEffect>
                                  </p:childTnLst>
                                </p:cTn>
                              </p:par>
                              <p:par>
                                <p:cTn id="16" presetID="10" presetClass="entr" presetSubtype="0" fill="hold" nodeType="withEffect">
                                  <p:stCondLst>
                                    <p:cond delay="0"/>
                                  </p:stCondLst>
                                  <p:childTnLst>
                                    <p:set>
                                      <p:cBhvr>
                                        <p:cTn id="17" dur="1" fill="hold">
                                          <p:stCondLst>
                                            <p:cond delay="0"/>
                                          </p:stCondLst>
                                        </p:cTn>
                                        <p:tgtEl>
                                          <p:spTgt spid="601"/>
                                        </p:tgtEl>
                                        <p:attrNameLst>
                                          <p:attrName>style.visibility</p:attrName>
                                        </p:attrNameLst>
                                      </p:cBhvr>
                                      <p:to>
                                        <p:strVal val="visible"/>
                                      </p:to>
                                    </p:set>
                                    <p:animEffect transition="in" filter="fade">
                                      <p:cBhvr>
                                        <p:cTn id="18" dur="1000"/>
                                        <p:tgtEl>
                                          <p:spTgt spid="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6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29</a:t>
            </a:fld>
            <a:endParaRPr/>
          </a:p>
        </p:txBody>
      </p:sp>
      <p:sp>
        <p:nvSpPr>
          <p:cNvPr id="608" name="Google Shape;608;p60"/>
          <p:cNvSpPr txBox="1">
            <a:spLocks noGrp="1"/>
          </p:cNvSpPr>
          <p:nvPr>
            <p:ph type="title"/>
          </p:nvPr>
        </p:nvSpPr>
        <p:spPr>
          <a:xfrm>
            <a:off x="311725" y="67171"/>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Method References (Part 1)</a:t>
            </a:r>
            <a:endParaRPr/>
          </a:p>
        </p:txBody>
      </p:sp>
      <p:sp>
        <p:nvSpPr>
          <p:cNvPr id="609" name="Google Shape;609;p60"/>
          <p:cNvSpPr txBox="1"/>
          <p:nvPr/>
        </p:nvSpPr>
        <p:spPr>
          <a:xfrm>
            <a:off x="4216738" y="930425"/>
            <a:ext cx="3290700" cy="78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interface</a:t>
            </a:r>
            <a:r>
              <a:rPr lang="en" sz="1050" dirty="0">
                <a:latin typeface="Consolas"/>
                <a:ea typeface="Consolas"/>
                <a:cs typeface="Consolas"/>
                <a:sym typeface="Consolas"/>
              </a:rPr>
              <a:t> Computation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2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String</a:t>
            </a:r>
            <a:r>
              <a:rPr lang="en" sz="1050" dirty="0">
                <a:latin typeface="Consolas"/>
                <a:ea typeface="Consolas"/>
                <a:cs typeface="Consolas"/>
                <a:sym typeface="Consolas"/>
              </a:rPr>
              <a:t> compute(</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x, </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y);</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3  </a:t>
            </a:r>
            <a:r>
              <a:rPr lang="en" sz="1050" dirty="0">
                <a:latin typeface="Consolas"/>
                <a:ea typeface="Consolas"/>
                <a:cs typeface="Consolas"/>
                <a:sym typeface="Consolas"/>
              </a:rPr>
              <a:t>}</a:t>
            </a:r>
            <a:endParaRPr sz="1300" dirty="0">
              <a:solidFill>
                <a:schemeClr val="dk2"/>
              </a:solidFill>
              <a:latin typeface="Roboto"/>
              <a:ea typeface="Roboto"/>
              <a:cs typeface="Roboto"/>
              <a:sym typeface="Roboto"/>
            </a:endParaRPr>
          </a:p>
        </p:txBody>
      </p:sp>
      <p:sp>
        <p:nvSpPr>
          <p:cNvPr id="610" name="Google Shape;610;p60"/>
          <p:cNvSpPr txBox="1"/>
          <p:nvPr/>
        </p:nvSpPr>
        <p:spPr>
          <a:xfrm>
            <a:off x="718563" y="861275"/>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a:latin typeface="Courier New"/>
                <a:ea typeface="Courier New"/>
                <a:cs typeface="Courier New"/>
                <a:sym typeface="Courier New"/>
              </a:rPr>
              <a:t>Computation</a:t>
            </a:r>
            <a:r>
              <a:rPr lang="en" sz="1200"/>
              <a:t> interface is a </a:t>
            </a:r>
            <a:r>
              <a:rPr lang="en" sz="1200" b="1" i="1">
                <a:solidFill>
                  <a:srgbClr val="FF0000"/>
                </a:solidFill>
              </a:rPr>
              <a:t>functional interface</a:t>
            </a:r>
            <a:r>
              <a:rPr lang="en" sz="1200"/>
              <a:t> because it only defines a single method, compute, that expects two </a:t>
            </a:r>
            <a:r>
              <a:rPr lang="en" sz="1200">
                <a:latin typeface="Courier New"/>
                <a:ea typeface="Courier New"/>
                <a:cs typeface="Courier New"/>
                <a:sym typeface="Courier New"/>
              </a:rPr>
              <a:t>double</a:t>
            </a:r>
            <a:r>
              <a:rPr lang="en" sz="1200"/>
              <a:t> parameters and returns a </a:t>
            </a:r>
            <a:r>
              <a:rPr lang="en" sz="1200">
                <a:latin typeface="Courier New"/>
                <a:ea typeface="Courier New"/>
                <a:cs typeface="Courier New"/>
                <a:sym typeface="Courier New"/>
              </a:rPr>
              <a:t>String</a:t>
            </a:r>
            <a:r>
              <a:rPr lang="en" sz="1200"/>
              <a:t>.</a:t>
            </a:r>
            <a:endParaRPr sz="1200"/>
          </a:p>
        </p:txBody>
      </p:sp>
      <p:sp>
        <p:nvSpPr>
          <p:cNvPr id="611" name="Google Shape;611;p60"/>
          <p:cNvSpPr txBox="1"/>
          <p:nvPr/>
        </p:nvSpPr>
        <p:spPr>
          <a:xfrm>
            <a:off x="718563" y="2069700"/>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The </a:t>
            </a:r>
            <a:r>
              <a:rPr lang="en" sz="1200" dirty="0">
                <a:latin typeface="Courier New"/>
                <a:ea typeface="Courier New"/>
                <a:cs typeface="Courier New"/>
                <a:sym typeface="Courier New"/>
              </a:rPr>
              <a:t>computeAndPrint</a:t>
            </a:r>
            <a:r>
              <a:rPr lang="en" sz="1200" dirty="0"/>
              <a:t> method uses an instance of the </a:t>
            </a:r>
            <a:r>
              <a:rPr lang="en" sz="1200" dirty="0">
                <a:latin typeface="Courier New"/>
                <a:ea typeface="Courier New"/>
                <a:cs typeface="Courier New"/>
                <a:sym typeface="Courier New"/>
              </a:rPr>
              <a:t>Computation</a:t>
            </a:r>
            <a:r>
              <a:rPr lang="en" sz="1200" dirty="0"/>
              <a:t> interface - it calls the </a:t>
            </a:r>
            <a:r>
              <a:rPr lang="en" sz="1200" dirty="0">
                <a:latin typeface="Courier New"/>
                <a:ea typeface="Courier New"/>
                <a:cs typeface="Courier New"/>
                <a:sym typeface="Courier New"/>
              </a:rPr>
              <a:t>compute</a:t>
            </a:r>
            <a:r>
              <a:rPr lang="en" sz="1200" dirty="0"/>
              <a:t> method and prints the results to standard output.</a:t>
            </a:r>
            <a:endParaRPr sz="1200" dirty="0"/>
          </a:p>
        </p:txBody>
      </p:sp>
      <p:sp>
        <p:nvSpPr>
          <p:cNvPr id="612" name="Google Shape;612;p60"/>
          <p:cNvSpPr txBox="1"/>
          <p:nvPr/>
        </p:nvSpPr>
        <p:spPr>
          <a:xfrm>
            <a:off x="4216738" y="2029200"/>
            <a:ext cx="4208700" cy="1004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static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void</a:t>
            </a:r>
            <a:r>
              <a:rPr lang="en" sz="1050" dirty="0">
                <a:latin typeface="Consolas"/>
                <a:ea typeface="Consolas"/>
                <a:cs typeface="Consolas"/>
                <a:sym typeface="Consolas"/>
              </a:rPr>
              <a:t> computeAndPrint(</a:t>
            </a:r>
            <a:r>
              <a:rPr lang="en" sz="1050" dirty="0">
                <a:solidFill>
                  <a:srgbClr val="0000FF"/>
                </a:solidFill>
                <a:latin typeface="Consolas"/>
                <a:ea typeface="Consolas"/>
                <a:cs typeface="Consolas"/>
                <a:sym typeface="Consolas"/>
              </a:rPr>
              <a:t>Computation</a:t>
            </a:r>
            <a:r>
              <a:rPr lang="en" sz="1050" dirty="0">
                <a:latin typeface="Consolas"/>
                <a:ea typeface="Consolas"/>
                <a:cs typeface="Consolas"/>
                <a:sym typeface="Consolas"/>
              </a:rPr>
              <a:t> c)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2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String</a:t>
            </a:r>
            <a:r>
              <a:rPr lang="en" sz="1050" dirty="0">
                <a:latin typeface="Consolas"/>
                <a:ea typeface="Consolas"/>
                <a:cs typeface="Consolas"/>
                <a:sym typeface="Consolas"/>
              </a:rPr>
              <a:t> result = c.compute(</a:t>
            </a:r>
            <a:r>
              <a:rPr lang="en" sz="1050" dirty="0">
                <a:solidFill>
                  <a:srgbClr val="098658"/>
                </a:solidFill>
                <a:latin typeface="Consolas"/>
                <a:ea typeface="Consolas"/>
                <a:cs typeface="Consolas"/>
                <a:sym typeface="Consolas"/>
              </a:rPr>
              <a:t>10.5</a:t>
            </a:r>
            <a:r>
              <a:rPr lang="en" sz="1050" dirty="0">
                <a:latin typeface="Consolas"/>
                <a:ea typeface="Consolas"/>
                <a:cs typeface="Consolas"/>
                <a:sym typeface="Consolas"/>
              </a:rPr>
              <a:t>, </a:t>
            </a:r>
            <a:r>
              <a:rPr lang="en" sz="1050" dirty="0">
                <a:solidFill>
                  <a:srgbClr val="098658"/>
                </a:solidFill>
                <a:latin typeface="Consolas"/>
                <a:ea typeface="Consolas"/>
                <a:cs typeface="Consolas"/>
                <a:sym typeface="Consolas"/>
              </a:rPr>
              <a:t>2.7</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3</a:t>
            </a:r>
            <a:r>
              <a:rPr lang="en" sz="1050" dirty="0">
                <a:latin typeface="Consolas"/>
                <a:ea typeface="Consolas"/>
                <a:cs typeface="Consolas"/>
                <a:sym typeface="Consolas"/>
              </a:rPr>
              <a:t>    System.out.println(result);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4</a:t>
            </a:r>
            <a:r>
              <a:rPr lang="en" sz="1050" dirty="0">
                <a:latin typeface="Consolas"/>
                <a:ea typeface="Consolas"/>
                <a:cs typeface="Consolas"/>
                <a:sym typeface="Consolas"/>
              </a:rPr>
              <a:t>  }</a:t>
            </a:r>
            <a:endParaRPr sz="1050" dirty="0">
              <a:solidFill>
                <a:srgbClr val="0000FF"/>
              </a:solidFill>
              <a:latin typeface="Consolas"/>
              <a:ea typeface="Consolas"/>
              <a:cs typeface="Consolas"/>
              <a:sym typeface="Consolas"/>
            </a:endParaRPr>
          </a:p>
        </p:txBody>
      </p:sp>
      <p:sp>
        <p:nvSpPr>
          <p:cNvPr id="613" name="Google Shape;613;p60"/>
          <p:cNvSpPr txBox="1"/>
          <p:nvPr/>
        </p:nvSpPr>
        <p:spPr>
          <a:xfrm>
            <a:off x="718563" y="3370375"/>
            <a:ext cx="3290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We already know that we can call the method using a lambda that uses the same parameter and return types…</a:t>
            </a:r>
            <a:endParaRPr sz="1200" dirty="0"/>
          </a:p>
        </p:txBody>
      </p:sp>
      <p:sp>
        <p:nvSpPr>
          <p:cNvPr id="614" name="Google Shape;614;p60"/>
          <p:cNvSpPr txBox="1"/>
          <p:nvPr/>
        </p:nvSpPr>
        <p:spPr>
          <a:xfrm>
            <a:off x="4236838" y="3347275"/>
            <a:ext cx="4168500" cy="78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latin typeface="Consolas"/>
                <a:ea typeface="Consolas"/>
                <a:cs typeface="Consolas"/>
                <a:sym typeface="Consolas"/>
              </a:rPr>
              <a:t>computeAndPrint((x, y) </a:t>
            </a:r>
            <a:r>
              <a:rPr lang="en" sz="1050" dirty="0">
                <a:solidFill>
                  <a:srgbClr val="0000FF"/>
                </a:solidFill>
                <a:latin typeface="Consolas"/>
                <a:ea typeface="Consolas"/>
                <a:cs typeface="Consolas"/>
                <a:sym typeface="Consolas"/>
              </a:rPr>
              <a:t>-&gt;</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2</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return</a:t>
            </a:r>
            <a:r>
              <a:rPr lang="en" sz="1050" dirty="0">
                <a:latin typeface="Consolas"/>
                <a:ea typeface="Consolas"/>
                <a:cs typeface="Consolas"/>
                <a:sym typeface="Consolas"/>
              </a:rPr>
              <a:t> </a:t>
            </a:r>
            <a:r>
              <a:rPr lang="en" sz="1050" dirty="0">
                <a:solidFill>
                  <a:srgbClr val="A31515"/>
                </a:solidFill>
                <a:latin typeface="Consolas"/>
                <a:ea typeface="Consolas"/>
                <a:cs typeface="Consolas"/>
                <a:sym typeface="Consolas"/>
              </a:rPr>
              <a:t>"("</a:t>
            </a:r>
            <a:r>
              <a:rPr lang="en" sz="1050" dirty="0">
                <a:latin typeface="Consolas"/>
                <a:ea typeface="Consolas"/>
                <a:cs typeface="Consolas"/>
                <a:sym typeface="Consolas"/>
              </a:rPr>
              <a:t> + x + </a:t>
            </a:r>
            <a:r>
              <a:rPr lang="en" sz="1050" dirty="0">
                <a:solidFill>
                  <a:srgbClr val="A31515"/>
                </a:solidFill>
                <a:latin typeface="Consolas"/>
                <a:ea typeface="Consolas"/>
                <a:cs typeface="Consolas"/>
                <a:sym typeface="Consolas"/>
              </a:rPr>
              <a:t>", "</a:t>
            </a:r>
            <a:r>
              <a:rPr lang="en" sz="1050" dirty="0">
                <a:latin typeface="Consolas"/>
                <a:ea typeface="Consolas"/>
                <a:cs typeface="Consolas"/>
                <a:sym typeface="Consolas"/>
              </a:rPr>
              <a:t> + y + </a:t>
            </a:r>
            <a:r>
              <a:rPr lang="en" sz="1050" dirty="0">
                <a:solidFill>
                  <a:srgbClr val="A31515"/>
                </a:solidFill>
                <a:latin typeface="Consolas"/>
                <a:ea typeface="Consolas"/>
                <a:cs typeface="Consolas"/>
                <a:sym typeface="Consolas"/>
              </a:rPr>
              <a:t>")"</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3</a:t>
            </a:r>
            <a:r>
              <a:rPr lang="en" sz="1050" dirty="0">
                <a:latin typeface="Consolas"/>
                <a:ea typeface="Consolas"/>
                <a:cs typeface="Consolas"/>
                <a:sym typeface="Consolas"/>
              </a:rPr>
              <a:t>  });</a:t>
            </a:r>
            <a:endParaRPr sz="1050" dirty="0">
              <a:latin typeface="Consolas"/>
              <a:ea typeface="Consolas"/>
              <a:cs typeface="Consolas"/>
              <a:sym typeface="Consolas"/>
            </a:endParaRPr>
          </a:p>
        </p:txBody>
      </p:sp>
      <p:sp>
        <p:nvSpPr>
          <p:cNvPr id="615" name="Google Shape;615;p60"/>
          <p:cNvSpPr txBox="1"/>
          <p:nvPr/>
        </p:nvSpPr>
        <p:spPr>
          <a:xfrm>
            <a:off x="5114638" y="4446050"/>
            <a:ext cx="3290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…but we can also call it using a </a:t>
            </a:r>
            <a:r>
              <a:rPr lang="en" sz="1200" b="1" i="1">
                <a:solidFill>
                  <a:srgbClr val="FF0000"/>
                </a:solidFill>
              </a:rPr>
              <a:t>method reference</a:t>
            </a:r>
            <a:r>
              <a:rPr lang="en" sz="1200"/>
              <a:t>. Let's take a look…</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61"/>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Method References (Part 2)</a:t>
            </a:r>
            <a:endParaRPr/>
          </a:p>
        </p:txBody>
      </p:sp>
      <p:sp>
        <p:nvSpPr>
          <p:cNvPr id="621" name="Google Shape;621;p6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30</a:t>
            </a:fld>
            <a:endParaRPr/>
          </a:p>
        </p:txBody>
      </p:sp>
      <p:sp>
        <p:nvSpPr>
          <p:cNvPr id="622" name="Google Shape;622;p61"/>
          <p:cNvSpPr txBox="1"/>
          <p:nvPr/>
        </p:nvSpPr>
        <p:spPr>
          <a:xfrm>
            <a:off x="4216738" y="1082825"/>
            <a:ext cx="3290700" cy="78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interface</a:t>
            </a:r>
            <a:r>
              <a:rPr lang="en" sz="1050">
                <a:latin typeface="Consolas"/>
                <a:ea typeface="Consolas"/>
                <a:cs typeface="Consolas"/>
                <a:sym typeface="Consolas"/>
              </a:rPr>
              <a:t> Computation {</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String</a:t>
            </a:r>
            <a:r>
              <a:rPr lang="en" sz="1050">
                <a:latin typeface="Consolas"/>
                <a:ea typeface="Consolas"/>
                <a:cs typeface="Consolas"/>
                <a:sym typeface="Consolas"/>
              </a:rPr>
              <a:t> compute(</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x, </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y);</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  </a:t>
            </a:r>
            <a:r>
              <a:rPr lang="en" sz="1050">
                <a:latin typeface="Consolas"/>
                <a:ea typeface="Consolas"/>
                <a:cs typeface="Consolas"/>
                <a:sym typeface="Consolas"/>
              </a:rPr>
              <a:t>}</a:t>
            </a:r>
            <a:endParaRPr sz="1300">
              <a:solidFill>
                <a:schemeClr val="dk2"/>
              </a:solidFill>
              <a:latin typeface="Roboto"/>
              <a:ea typeface="Roboto"/>
              <a:cs typeface="Roboto"/>
              <a:sym typeface="Roboto"/>
            </a:endParaRPr>
          </a:p>
        </p:txBody>
      </p:sp>
      <p:sp>
        <p:nvSpPr>
          <p:cNvPr id="623" name="Google Shape;623;p61"/>
          <p:cNvSpPr txBox="1"/>
          <p:nvPr/>
        </p:nvSpPr>
        <p:spPr>
          <a:xfrm>
            <a:off x="718563" y="1013675"/>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a:latin typeface="Courier New"/>
                <a:ea typeface="Courier New"/>
                <a:cs typeface="Courier New"/>
                <a:sym typeface="Courier New"/>
              </a:rPr>
              <a:t>Computation</a:t>
            </a:r>
            <a:r>
              <a:rPr lang="en" sz="1200"/>
              <a:t> interface is a </a:t>
            </a:r>
            <a:r>
              <a:rPr lang="en" sz="1200" b="1" i="1">
                <a:solidFill>
                  <a:srgbClr val="FF0000"/>
                </a:solidFill>
              </a:rPr>
              <a:t>functional interface</a:t>
            </a:r>
            <a:r>
              <a:rPr lang="en" sz="1200"/>
              <a:t> because it only defines a single method, </a:t>
            </a:r>
            <a:r>
              <a:rPr lang="en" sz="1200">
                <a:latin typeface="Courier New"/>
                <a:ea typeface="Courier New"/>
                <a:cs typeface="Courier New"/>
                <a:sym typeface="Courier New"/>
              </a:rPr>
              <a:t>compute</a:t>
            </a:r>
            <a:r>
              <a:rPr lang="en" sz="1200"/>
              <a:t>, that expects two </a:t>
            </a:r>
            <a:r>
              <a:rPr lang="en" sz="1200">
                <a:latin typeface="Courier New"/>
                <a:ea typeface="Courier New"/>
                <a:cs typeface="Courier New"/>
                <a:sym typeface="Courier New"/>
              </a:rPr>
              <a:t>double</a:t>
            </a:r>
            <a:r>
              <a:rPr lang="en" sz="1200"/>
              <a:t> parameters and returns a </a:t>
            </a:r>
            <a:r>
              <a:rPr lang="en" sz="1200">
                <a:latin typeface="Courier New"/>
                <a:ea typeface="Courier New"/>
                <a:cs typeface="Courier New"/>
                <a:sym typeface="Courier New"/>
              </a:rPr>
              <a:t>String</a:t>
            </a:r>
            <a:r>
              <a:rPr lang="en" sz="1200"/>
              <a:t>.</a:t>
            </a:r>
            <a:endParaRPr sz="1200"/>
          </a:p>
        </p:txBody>
      </p:sp>
      <p:sp>
        <p:nvSpPr>
          <p:cNvPr id="624" name="Google Shape;624;p61"/>
          <p:cNvSpPr txBox="1"/>
          <p:nvPr/>
        </p:nvSpPr>
        <p:spPr>
          <a:xfrm>
            <a:off x="4216750" y="2017200"/>
            <a:ext cx="4615500" cy="1639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Calculator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String</a:t>
            </a:r>
            <a:r>
              <a:rPr lang="en" sz="1050" dirty="0">
                <a:latin typeface="Consolas"/>
                <a:ea typeface="Consolas"/>
                <a:cs typeface="Consolas"/>
                <a:sym typeface="Consolas"/>
              </a:rPr>
              <a:t> add(</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op1, </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op2)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3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return</a:t>
            </a:r>
            <a:r>
              <a:rPr lang="en" sz="1050" dirty="0">
                <a:latin typeface="Consolas"/>
                <a:ea typeface="Consolas"/>
                <a:cs typeface="Consolas"/>
                <a:sym typeface="Consolas"/>
              </a:rPr>
              <a:t> op1 + </a:t>
            </a:r>
            <a:r>
              <a:rPr lang="en" sz="1050" dirty="0">
                <a:solidFill>
                  <a:srgbClr val="A31515"/>
                </a:solidFill>
                <a:latin typeface="Consolas"/>
                <a:ea typeface="Consolas"/>
                <a:cs typeface="Consolas"/>
                <a:sym typeface="Consolas"/>
              </a:rPr>
              <a:t>" + "</a:t>
            </a:r>
            <a:r>
              <a:rPr lang="en" sz="1050" dirty="0">
                <a:latin typeface="Consolas"/>
                <a:ea typeface="Consolas"/>
                <a:cs typeface="Consolas"/>
                <a:sym typeface="Consolas"/>
              </a:rPr>
              <a:t> + op2 + </a:t>
            </a:r>
            <a:r>
              <a:rPr lang="en" sz="1050" dirty="0">
                <a:solidFill>
                  <a:srgbClr val="A31515"/>
                </a:solidFill>
                <a:latin typeface="Consolas"/>
                <a:ea typeface="Consolas"/>
                <a:cs typeface="Consolas"/>
                <a:sym typeface="Consolas"/>
              </a:rPr>
              <a:t>" = "</a:t>
            </a:r>
            <a:r>
              <a:rPr lang="en" sz="1050" dirty="0">
                <a:latin typeface="Consolas"/>
                <a:ea typeface="Consolas"/>
                <a:cs typeface="Consolas"/>
                <a:sym typeface="Consolas"/>
              </a:rPr>
              <a:t> + (op1 + op2);</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4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spcBef>
                <a:spcPts val="0"/>
              </a:spcBef>
              <a:spcAft>
                <a:spcPts val="0"/>
              </a:spcAft>
              <a:buNone/>
            </a:pPr>
            <a:r>
              <a:rPr lang="en" sz="1050" dirty="0">
                <a:solidFill>
                  <a:srgbClr val="098658"/>
                </a:solidFill>
                <a:latin typeface="Consolas"/>
                <a:ea typeface="Consolas"/>
                <a:cs typeface="Consolas"/>
                <a:sym typeface="Consolas"/>
              </a:rPr>
              <a:t>5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6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String</a:t>
            </a:r>
            <a:r>
              <a:rPr lang="en" sz="1050" dirty="0">
                <a:latin typeface="Consolas"/>
                <a:ea typeface="Consolas"/>
                <a:cs typeface="Consolas"/>
                <a:sym typeface="Consolas"/>
              </a:rPr>
              <a:t> multiply(</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op1, </a:t>
            </a:r>
            <a:r>
              <a:rPr lang="en" sz="1050" dirty="0">
                <a:solidFill>
                  <a:srgbClr val="0000FF"/>
                </a:solidFill>
                <a:latin typeface="Consolas"/>
                <a:ea typeface="Consolas"/>
                <a:cs typeface="Consolas"/>
                <a:sym typeface="Consolas"/>
              </a:rPr>
              <a:t>double</a:t>
            </a:r>
            <a:r>
              <a:rPr lang="en" sz="1050" dirty="0">
                <a:latin typeface="Consolas"/>
                <a:ea typeface="Consolas"/>
                <a:cs typeface="Consolas"/>
                <a:sym typeface="Consolas"/>
              </a:rPr>
              <a:t> op2)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7  </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return</a:t>
            </a:r>
            <a:r>
              <a:rPr lang="en" sz="1050" dirty="0">
                <a:latin typeface="Consolas"/>
                <a:ea typeface="Consolas"/>
                <a:cs typeface="Consolas"/>
                <a:sym typeface="Consolas"/>
              </a:rPr>
              <a:t> op1 + </a:t>
            </a:r>
            <a:r>
              <a:rPr lang="en" sz="1050" dirty="0">
                <a:solidFill>
                  <a:srgbClr val="A31515"/>
                </a:solidFill>
                <a:latin typeface="Consolas"/>
                <a:ea typeface="Consolas"/>
                <a:cs typeface="Consolas"/>
                <a:sym typeface="Consolas"/>
              </a:rPr>
              <a:t>" * "</a:t>
            </a:r>
            <a:r>
              <a:rPr lang="en" sz="1050" dirty="0">
                <a:latin typeface="Consolas"/>
                <a:ea typeface="Consolas"/>
                <a:cs typeface="Consolas"/>
                <a:sym typeface="Consolas"/>
              </a:rPr>
              <a:t> + op2 + </a:t>
            </a:r>
            <a:r>
              <a:rPr lang="en" sz="1050" dirty="0">
                <a:solidFill>
                  <a:srgbClr val="A31515"/>
                </a:solidFill>
                <a:latin typeface="Consolas"/>
                <a:ea typeface="Consolas"/>
                <a:cs typeface="Consolas"/>
                <a:sym typeface="Consolas"/>
              </a:rPr>
              <a:t>" = "</a:t>
            </a:r>
            <a:r>
              <a:rPr lang="en" sz="1050" dirty="0">
                <a:latin typeface="Consolas"/>
                <a:ea typeface="Consolas"/>
                <a:cs typeface="Consolas"/>
                <a:sym typeface="Consolas"/>
              </a:rPr>
              <a:t> + (op1 * op2);</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8  </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9  </a:t>
            </a:r>
            <a:r>
              <a:rPr lang="en" sz="1050" dirty="0">
                <a:latin typeface="Consolas"/>
                <a:ea typeface="Consolas"/>
                <a:cs typeface="Consolas"/>
                <a:sym typeface="Consolas"/>
              </a:rPr>
              <a:t>}</a:t>
            </a:r>
            <a:endParaRPr sz="1050" dirty="0">
              <a:latin typeface="Consolas"/>
              <a:ea typeface="Consolas"/>
              <a:cs typeface="Consolas"/>
              <a:sym typeface="Consolas"/>
            </a:endParaRPr>
          </a:p>
        </p:txBody>
      </p:sp>
      <p:sp>
        <p:nvSpPr>
          <p:cNvPr id="625" name="Google Shape;625;p61"/>
          <p:cNvSpPr txBox="1"/>
          <p:nvPr/>
        </p:nvSpPr>
        <p:spPr>
          <a:xfrm>
            <a:off x="718563" y="2375100"/>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Now consider the </a:t>
            </a:r>
            <a:r>
              <a:rPr lang="en" sz="1200">
                <a:latin typeface="Courier New"/>
                <a:ea typeface="Courier New"/>
                <a:cs typeface="Courier New"/>
                <a:sym typeface="Courier New"/>
              </a:rPr>
              <a:t>Calculator</a:t>
            </a:r>
            <a:r>
              <a:rPr lang="en" sz="1200"/>
              <a:t> class that defines two methods, </a:t>
            </a:r>
            <a:r>
              <a:rPr lang="en" sz="1200">
                <a:solidFill>
                  <a:srgbClr val="FF0000"/>
                </a:solidFill>
                <a:latin typeface="Courier New"/>
                <a:ea typeface="Courier New"/>
                <a:cs typeface="Courier New"/>
                <a:sym typeface="Courier New"/>
              </a:rPr>
              <a:t>add</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multiply</a:t>
            </a:r>
            <a:r>
              <a:rPr lang="en" sz="1200"/>
              <a:t>, that </a:t>
            </a:r>
            <a:r>
              <a:rPr lang="en" sz="1200" b="1" i="1">
                <a:solidFill>
                  <a:srgbClr val="FF0000"/>
                </a:solidFill>
              </a:rPr>
              <a:t>also</a:t>
            </a:r>
            <a:r>
              <a:rPr lang="en" sz="1200" b="1">
                <a:solidFill>
                  <a:srgbClr val="FF0000"/>
                </a:solidFill>
              </a:rPr>
              <a:t> </a:t>
            </a:r>
            <a:r>
              <a:rPr lang="en" sz="1200"/>
              <a:t>expect two </a:t>
            </a:r>
            <a:r>
              <a:rPr lang="en" sz="1200">
                <a:latin typeface="Courier New"/>
                <a:ea typeface="Courier New"/>
                <a:cs typeface="Courier New"/>
                <a:sym typeface="Courier New"/>
              </a:rPr>
              <a:t>double</a:t>
            </a:r>
            <a:r>
              <a:rPr lang="en" sz="1200"/>
              <a:t> parameters and return a </a:t>
            </a:r>
            <a:r>
              <a:rPr lang="en" sz="1200">
                <a:latin typeface="Courier New"/>
                <a:ea typeface="Courier New"/>
                <a:cs typeface="Courier New"/>
                <a:sym typeface="Courier New"/>
              </a:rPr>
              <a:t>String</a:t>
            </a:r>
            <a:r>
              <a:rPr lang="en" sz="1200"/>
              <a:t>.</a:t>
            </a:r>
            <a:endParaRPr sz="1200"/>
          </a:p>
        </p:txBody>
      </p:sp>
      <p:sp>
        <p:nvSpPr>
          <p:cNvPr id="626" name="Google Shape;626;p61"/>
          <p:cNvSpPr txBox="1"/>
          <p:nvPr/>
        </p:nvSpPr>
        <p:spPr>
          <a:xfrm>
            <a:off x="718563" y="3805675"/>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Given an instance of the </a:t>
            </a:r>
            <a:r>
              <a:rPr lang="en" sz="1200" dirty="0">
                <a:latin typeface="Courier New"/>
                <a:ea typeface="Courier New"/>
                <a:cs typeface="Courier New"/>
                <a:sym typeface="Courier New"/>
              </a:rPr>
              <a:t>Calculator</a:t>
            </a:r>
            <a:r>
              <a:rPr lang="en" sz="1200" dirty="0"/>
              <a:t> class, </a:t>
            </a:r>
            <a:r>
              <a:rPr lang="en" sz="1200" dirty="0">
                <a:solidFill>
                  <a:srgbClr val="FF0000"/>
                </a:solidFill>
                <a:latin typeface="Courier New"/>
                <a:ea typeface="Courier New"/>
                <a:cs typeface="Courier New"/>
                <a:sym typeface="Courier New"/>
              </a:rPr>
              <a:t>calc</a:t>
            </a:r>
            <a:r>
              <a:rPr lang="en" sz="1200" dirty="0"/>
              <a:t>, we can use </a:t>
            </a:r>
            <a:r>
              <a:rPr lang="en" sz="1200" b="1" i="1" dirty="0">
                <a:solidFill>
                  <a:srgbClr val="FF0000"/>
                </a:solidFill>
              </a:rPr>
              <a:t>method references</a:t>
            </a:r>
            <a:r>
              <a:rPr lang="en" sz="1200" dirty="0"/>
              <a:t> to call the </a:t>
            </a:r>
            <a:r>
              <a:rPr lang="en" sz="1200" dirty="0">
                <a:latin typeface="Courier New"/>
                <a:ea typeface="Courier New"/>
                <a:cs typeface="Courier New"/>
                <a:sym typeface="Courier New"/>
              </a:rPr>
              <a:t>computeAndPrint</a:t>
            </a:r>
            <a:r>
              <a:rPr lang="en" sz="1200" dirty="0"/>
              <a:t> method using the </a:t>
            </a:r>
            <a:r>
              <a:rPr lang="en" sz="1200" dirty="0">
                <a:solidFill>
                  <a:srgbClr val="FF0000"/>
                </a:solidFill>
                <a:latin typeface="Courier New"/>
                <a:ea typeface="Courier New"/>
                <a:cs typeface="Courier New"/>
                <a:sym typeface="Courier New"/>
              </a:rPr>
              <a:t>::</a:t>
            </a:r>
            <a:r>
              <a:rPr lang="en" sz="1200" dirty="0"/>
              <a:t> operator.</a:t>
            </a:r>
            <a:endParaRPr sz="1200" dirty="0"/>
          </a:p>
        </p:txBody>
      </p:sp>
      <p:sp>
        <p:nvSpPr>
          <p:cNvPr id="627" name="Google Shape;627;p61"/>
          <p:cNvSpPr txBox="1"/>
          <p:nvPr/>
        </p:nvSpPr>
        <p:spPr>
          <a:xfrm>
            <a:off x="4216738" y="3874825"/>
            <a:ext cx="4069200" cy="7851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Calculator</a:t>
            </a:r>
            <a:r>
              <a:rPr lang="en" sz="1050" dirty="0">
                <a:latin typeface="Consolas"/>
                <a:ea typeface="Consolas"/>
                <a:cs typeface="Consolas"/>
                <a:sym typeface="Consolas"/>
              </a:rPr>
              <a:t> calc = </a:t>
            </a:r>
            <a:r>
              <a:rPr lang="en" sz="1050" dirty="0">
                <a:solidFill>
                  <a:srgbClr val="0000FF"/>
                </a:solidFill>
                <a:latin typeface="Consolas"/>
                <a:ea typeface="Consolas"/>
                <a:cs typeface="Consolas"/>
                <a:sym typeface="Consolas"/>
              </a:rPr>
              <a:t>new</a:t>
            </a:r>
            <a:r>
              <a:rPr lang="en" sz="1050" dirty="0">
                <a:latin typeface="Consolas"/>
                <a:ea typeface="Consolas"/>
                <a:cs typeface="Consolas"/>
                <a:sym typeface="Consolas"/>
              </a:rPr>
              <a:t> Calculator();</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2  </a:t>
            </a:r>
            <a:r>
              <a:rPr lang="en" sz="1050" dirty="0">
                <a:latin typeface="Consolas"/>
                <a:ea typeface="Consolas"/>
                <a:cs typeface="Consolas"/>
                <a:sym typeface="Consolas"/>
              </a:rPr>
              <a:t>computeAndPrint(</a:t>
            </a:r>
            <a:r>
              <a:rPr lang="en" sz="1050" u="sng" dirty="0">
                <a:solidFill>
                  <a:srgbClr val="FF0000"/>
                </a:solidFill>
                <a:latin typeface="Consolas"/>
                <a:ea typeface="Consolas"/>
                <a:cs typeface="Consolas"/>
                <a:sym typeface="Consolas"/>
              </a:rPr>
              <a:t>calc::add</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98658"/>
                </a:solidFill>
                <a:latin typeface="Consolas"/>
                <a:ea typeface="Consolas"/>
                <a:cs typeface="Consolas"/>
                <a:sym typeface="Consolas"/>
              </a:rPr>
              <a:t>3  </a:t>
            </a:r>
            <a:r>
              <a:rPr lang="en" sz="1050" dirty="0">
                <a:latin typeface="Consolas"/>
                <a:ea typeface="Consolas"/>
                <a:cs typeface="Consolas"/>
                <a:sym typeface="Consolas"/>
              </a:rPr>
              <a:t>computeAndPrint(</a:t>
            </a:r>
            <a:r>
              <a:rPr lang="en" sz="1050" u="sng" dirty="0">
                <a:solidFill>
                  <a:srgbClr val="FF0000"/>
                </a:solidFill>
                <a:latin typeface="Consolas"/>
                <a:ea typeface="Consolas"/>
                <a:cs typeface="Consolas"/>
                <a:sym typeface="Consolas"/>
              </a:rPr>
              <a:t>calc::multiply</a:t>
            </a:r>
            <a:r>
              <a:rPr lang="en" sz="1050" dirty="0">
                <a:latin typeface="Consolas"/>
                <a:ea typeface="Consolas"/>
                <a:cs typeface="Consolas"/>
                <a:sym typeface="Consolas"/>
              </a:rPr>
              <a:t>);</a:t>
            </a:r>
            <a:endParaRPr sz="1050" dirty="0">
              <a:latin typeface="Consolas"/>
              <a:ea typeface="Consolas"/>
              <a:cs typeface="Consolas"/>
              <a:sym typeface="Consolas"/>
            </a:endParaRPr>
          </a:p>
        </p:txBody>
      </p:sp>
      <p:sp>
        <p:nvSpPr>
          <p:cNvPr id="628" name="Google Shape;628;p61"/>
          <p:cNvSpPr/>
          <p:nvPr/>
        </p:nvSpPr>
        <p:spPr>
          <a:xfrm>
            <a:off x="6807850" y="1566375"/>
            <a:ext cx="412025" cy="730788"/>
          </a:xfrm>
          <a:custGeom>
            <a:avLst/>
            <a:gdLst/>
            <a:ahLst/>
            <a:cxnLst/>
            <a:rect l="l" t="t" r="r" b="b"/>
            <a:pathLst>
              <a:path w="16481" h="30874" extrusionOk="0">
                <a:moveTo>
                  <a:pt x="0" y="0"/>
                </a:moveTo>
                <a:cubicBezTo>
                  <a:pt x="2518" y="1752"/>
                  <a:pt x="12481" y="5364"/>
                  <a:pt x="15109" y="10510"/>
                </a:cubicBezTo>
                <a:cubicBezTo>
                  <a:pt x="17737" y="15656"/>
                  <a:pt x="15657" y="27480"/>
                  <a:pt x="15766" y="30874"/>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629" name="Google Shape;629;p61"/>
          <p:cNvSpPr/>
          <p:nvPr/>
        </p:nvSpPr>
        <p:spPr>
          <a:xfrm>
            <a:off x="4903757" y="1549950"/>
            <a:ext cx="579150" cy="747225"/>
          </a:xfrm>
          <a:custGeom>
            <a:avLst/>
            <a:gdLst/>
            <a:ahLst/>
            <a:cxnLst/>
            <a:rect l="l" t="t" r="r" b="b"/>
            <a:pathLst>
              <a:path w="23166" h="29889" extrusionOk="0">
                <a:moveTo>
                  <a:pt x="2264" y="0"/>
                </a:moveTo>
                <a:cubicBezTo>
                  <a:pt x="2100" y="1369"/>
                  <a:pt x="-1897" y="5530"/>
                  <a:pt x="1278" y="8212"/>
                </a:cubicBezTo>
                <a:cubicBezTo>
                  <a:pt x="4453" y="10894"/>
                  <a:pt x="17811" y="12481"/>
                  <a:pt x="21314" y="16094"/>
                </a:cubicBezTo>
                <a:cubicBezTo>
                  <a:pt x="24818" y="19707"/>
                  <a:pt x="22135" y="27590"/>
                  <a:pt x="22299" y="29889"/>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630" name="Google Shape;630;p61"/>
          <p:cNvSpPr/>
          <p:nvPr/>
        </p:nvSpPr>
        <p:spPr>
          <a:xfrm>
            <a:off x="5941251" y="1574600"/>
            <a:ext cx="401050" cy="730800"/>
          </a:xfrm>
          <a:custGeom>
            <a:avLst/>
            <a:gdLst/>
            <a:ahLst/>
            <a:cxnLst/>
            <a:rect l="l" t="t" r="r" b="b"/>
            <a:pathLst>
              <a:path w="16042" h="29232" extrusionOk="0">
                <a:moveTo>
                  <a:pt x="3790" y="0"/>
                </a:moveTo>
                <a:cubicBezTo>
                  <a:pt x="3243" y="1150"/>
                  <a:pt x="-1465" y="4434"/>
                  <a:pt x="506" y="6897"/>
                </a:cubicBezTo>
                <a:cubicBezTo>
                  <a:pt x="2477" y="9360"/>
                  <a:pt x="13753" y="11058"/>
                  <a:pt x="15614" y="14780"/>
                </a:cubicBezTo>
                <a:cubicBezTo>
                  <a:pt x="17475" y="18503"/>
                  <a:pt x="12330" y="26823"/>
                  <a:pt x="11673" y="29232"/>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4"/>
                                        </p:tgtEl>
                                        <p:attrNameLst>
                                          <p:attrName>style.visibility</p:attrName>
                                        </p:attrNameLst>
                                      </p:cBhvr>
                                      <p:to>
                                        <p:strVal val="visible"/>
                                      </p:to>
                                    </p:set>
                                  </p:childTnLst>
                                </p:cTn>
                              </p:par>
                            </p:childTnLst>
                          </p:cTn>
                        </p:par>
                        <p:par>
                          <p:cTn id="9" fill="hold">
                            <p:stCondLst>
                              <p:cond delay="0"/>
                            </p:stCondLst>
                            <p:childTnLst>
                              <p:par>
                                <p:cTn id="10" presetID="10" presetClass="entr" presetSubtype="0" fill="hold" nodeType="afterEffect">
                                  <p:stCondLst>
                                    <p:cond delay="0"/>
                                  </p:stCondLst>
                                  <p:childTnLst>
                                    <p:set>
                                      <p:cBhvr>
                                        <p:cTn id="11" dur="1" fill="hold">
                                          <p:stCondLst>
                                            <p:cond delay="0"/>
                                          </p:stCondLst>
                                        </p:cTn>
                                        <p:tgtEl>
                                          <p:spTgt spid="629"/>
                                        </p:tgtEl>
                                        <p:attrNameLst>
                                          <p:attrName>style.visibility</p:attrName>
                                        </p:attrNameLst>
                                      </p:cBhvr>
                                      <p:to>
                                        <p:strVal val="visible"/>
                                      </p:to>
                                    </p:set>
                                    <p:animEffect transition="in" filter="fade">
                                      <p:cBhvr>
                                        <p:cTn id="12" dur="1000"/>
                                        <p:tgtEl>
                                          <p:spTgt spid="629"/>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630"/>
                                        </p:tgtEl>
                                        <p:attrNameLst>
                                          <p:attrName>style.visibility</p:attrName>
                                        </p:attrNameLst>
                                      </p:cBhvr>
                                      <p:to>
                                        <p:strVal val="visible"/>
                                      </p:to>
                                    </p:set>
                                    <p:animEffect transition="in" filter="fade">
                                      <p:cBhvr>
                                        <p:cTn id="16" dur="1000"/>
                                        <p:tgtEl>
                                          <p:spTgt spid="630"/>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628"/>
                                        </p:tgtEl>
                                        <p:attrNameLst>
                                          <p:attrName>style.visibility</p:attrName>
                                        </p:attrNameLst>
                                      </p:cBhvr>
                                      <p:to>
                                        <p:strVal val="visible"/>
                                      </p:to>
                                    </p:set>
                                    <p:animEffect transition="in" filter="fade">
                                      <p:cBhvr>
                                        <p:cTn id="20" dur="1000"/>
                                        <p:tgtEl>
                                          <p:spTgt spid="62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62"/>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Method References (Part 3)</a:t>
            </a:r>
            <a:endParaRPr/>
          </a:p>
        </p:txBody>
      </p:sp>
      <p:sp>
        <p:nvSpPr>
          <p:cNvPr id="636" name="Google Shape;636;p6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31</a:t>
            </a:fld>
            <a:endParaRPr/>
          </a:p>
        </p:txBody>
      </p:sp>
      <p:sp>
        <p:nvSpPr>
          <p:cNvPr id="637" name="Google Shape;637;p62"/>
          <p:cNvSpPr txBox="1"/>
          <p:nvPr/>
        </p:nvSpPr>
        <p:spPr>
          <a:xfrm>
            <a:off x="3785613" y="2134900"/>
            <a:ext cx="5070900" cy="1385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008000"/>
                </a:solidFill>
                <a:latin typeface="Consolas"/>
                <a:ea typeface="Consolas"/>
                <a:cs typeface="Consolas"/>
                <a:sym typeface="Consolas"/>
              </a:rPr>
              <a:t>1  </a:t>
            </a:r>
            <a:r>
              <a:rPr lang="en" sz="1050" dirty="0">
                <a:solidFill>
                  <a:srgbClr val="0000FF"/>
                </a:solidFill>
                <a:highlight>
                  <a:srgbClr val="FFFFFF"/>
                </a:highlight>
                <a:latin typeface="Consolas"/>
                <a:ea typeface="Consolas"/>
                <a:cs typeface="Consolas"/>
                <a:sym typeface="Consolas"/>
              </a:rPr>
              <a:t>public</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static</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class</a:t>
            </a:r>
            <a:r>
              <a:rPr lang="en" sz="1050" dirty="0">
                <a:highlight>
                  <a:srgbClr val="FFFFFF"/>
                </a:highlight>
                <a:latin typeface="Consolas"/>
                <a:ea typeface="Consolas"/>
                <a:cs typeface="Consolas"/>
                <a:sym typeface="Consolas"/>
              </a:rPr>
              <a:t> Mathy {</a:t>
            </a:r>
            <a:endParaRPr sz="10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8000"/>
                </a:solidFill>
                <a:latin typeface="Consolas"/>
                <a:ea typeface="Consolas"/>
                <a:cs typeface="Consolas"/>
                <a:sym typeface="Consolas"/>
              </a:rPr>
              <a:t>2</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public</a:t>
            </a:r>
            <a:r>
              <a:rPr lang="en" sz="1050" dirty="0">
                <a:highlight>
                  <a:srgbClr val="FFFFFF"/>
                </a:highlight>
                <a:latin typeface="Consolas"/>
                <a:ea typeface="Consolas"/>
                <a:cs typeface="Consolas"/>
                <a:sym typeface="Consolas"/>
              </a:rPr>
              <a:t> </a:t>
            </a:r>
            <a:r>
              <a:rPr lang="en" sz="1050" u="sng" dirty="0">
                <a:solidFill>
                  <a:srgbClr val="FF0000"/>
                </a:solidFill>
                <a:highlight>
                  <a:srgbClr val="FFFFFF"/>
                </a:highlight>
                <a:latin typeface="Consolas"/>
                <a:ea typeface="Consolas"/>
                <a:cs typeface="Consolas"/>
                <a:sym typeface="Consolas"/>
              </a:rPr>
              <a:t>static</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String</a:t>
            </a:r>
            <a:r>
              <a:rPr lang="en" sz="1050" dirty="0">
                <a:highlight>
                  <a:srgbClr val="FFFFFF"/>
                </a:highlight>
                <a:latin typeface="Consolas"/>
                <a:ea typeface="Consolas"/>
                <a:cs typeface="Consolas"/>
                <a:sym typeface="Consolas"/>
              </a:rPr>
              <a:t> power(</a:t>
            </a:r>
            <a:r>
              <a:rPr lang="en" sz="1050" dirty="0">
                <a:solidFill>
                  <a:srgbClr val="0000FF"/>
                </a:solidFill>
                <a:highlight>
                  <a:srgbClr val="FFFFFF"/>
                </a:highlight>
                <a:latin typeface="Consolas"/>
                <a:ea typeface="Consolas"/>
                <a:cs typeface="Consolas"/>
                <a:sym typeface="Consolas"/>
              </a:rPr>
              <a:t>double</a:t>
            </a:r>
            <a:r>
              <a:rPr lang="en" sz="1050" dirty="0">
                <a:highlight>
                  <a:srgbClr val="FFFFFF"/>
                </a:highlight>
                <a:latin typeface="Consolas"/>
                <a:ea typeface="Consolas"/>
                <a:cs typeface="Consolas"/>
                <a:sym typeface="Consolas"/>
              </a:rPr>
              <a:t> base, </a:t>
            </a:r>
            <a:r>
              <a:rPr lang="en" sz="1050" dirty="0">
                <a:solidFill>
                  <a:srgbClr val="0000FF"/>
                </a:solidFill>
                <a:highlight>
                  <a:srgbClr val="FFFFFF"/>
                </a:highlight>
                <a:latin typeface="Consolas"/>
                <a:ea typeface="Consolas"/>
                <a:cs typeface="Consolas"/>
                <a:sym typeface="Consolas"/>
              </a:rPr>
              <a:t>double</a:t>
            </a:r>
            <a:r>
              <a:rPr lang="en" sz="1050" dirty="0">
                <a:highlight>
                  <a:srgbClr val="FFFFFF"/>
                </a:highlight>
                <a:latin typeface="Consolas"/>
                <a:ea typeface="Consolas"/>
                <a:cs typeface="Consolas"/>
                <a:sym typeface="Consolas"/>
              </a:rPr>
              <a:t> exponent) {</a:t>
            </a:r>
            <a:endParaRPr sz="10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8000"/>
                </a:solidFill>
                <a:latin typeface="Consolas"/>
                <a:ea typeface="Consolas"/>
                <a:cs typeface="Consolas"/>
                <a:sym typeface="Consolas"/>
              </a:rPr>
              <a:t>3  </a:t>
            </a:r>
            <a:r>
              <a:rPr lang="en" sz="1050" dirty="0">
                <a:highlight>
                  <a:srgbClr val="FFFFFF"/>
                </a:highlight>
                <a:latin typeface="Consolas"/>
                <a:ea typeface="Consolas"/>
                <a:cs typeface="Consolas"/>
                <a:sym typeface="Consolas"/>
              </a:rPr>
              <a:t>        </a:t>
            </a:r>
            <a:r>
              <a:rPr lang="en" sz="1050" dirty="0">
                <a:solidFill>
                  <a:srgbClr val="0000FF"/>
                </a:solidFill>
                <a:highlight>
                  <a:srgbClr val="FFFFFF"/>
                </a:highlight>
                <a:latin typeface="Consolas"/>
                <a:ea typeface="Consolas"/>
                <a:cs typeface="Consolas"/>
                <a:sym typeface="Consolas"/>
              </a:rPr>
              <a:t>return</a:t>
            </a:r>
            <a:r>
              <a:rPr lang="en" sz="1050" dirty="0">
                <a:highlight>
                  <a:srgbClr val="FFFFFF"/>
                </a:highlight>
                <a:latin typeface="Consolas"/>
                <a:ea typeface="Consolas"/>
                <a:cs typeface="Consolas"/>
                <a:sym typeface="Consolas"/>
              </a:rPr>
              <a:t> base + </a:t>
            </a:r>
            <a:r>
              <a:rPr lang="en" sz="1050" dirty="0">
                <a:solidFill>
                  <a:srgbClr val="A31515"/>
                </a:solidFill>
                <a:highlight>
                  <a:srgbClr val="FFFFFF"/>
                </a:highlight>
                <a:latin typeface="Consolas"/>
                <a:ea typeface="Consolas"/>
                <a:cs typeface="Consolas"/>
                <a:sym typeface="Consolas"/>
              </a:rPr>
              <a:t>"^"</a:t>
            </a:r>
            <a:r>
              <a:rPr lang="en" sz="1050" dirty="0">
                <a:highlight>
                  <a:srgbClr val="FFFFFF"/>
                </a:highlight>
                <a:latin typeface="Consolas"/>
                <a:ea typeface="Consolas"/>
                <a:cs typeface="Consolas"/>
                <a:sym typeface="Consolas"/>
              </a:rPr>
              <a:t> + exponent + </a:t>
            </a:r>
            <a:r>
              <a:rPr lang="en" sz="1050" dirty="0">
                <a:solidFill>
                  <a:srgbClr val="A31515"/>
                </a:solidFill>
                <a:highlight>
                  <a:srgbClr val="FFFFFF"/>
                </a:highlight>
                <a:latin typeface="Consolas"/>
                <a:ea typeface="Consolas"/>
                <a:cs typeface="Consolas"/>
                <a:sym typeface="Consolas"/>
              </a:rPr>
              <a:t>" = "</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8000"/>
                </a:solidFill>
                <a:latin typeface="Consolas"/>
                <a:ea typeface="Consolas"/>
                <a:cs typeface="Consolas"/>
                <a:sym typeface="Consolas"/>
              </a:rPr>
              <a:t>4  </a:t>
            </a:r>
            <a:r>
              <a:rPr lang="en" sz="1050" dirty="0">
                <a:highlight>
                  <a:srgbClr val="FFFFFF"/>
                </a:highlight>
                <a:latin typeface="Consolas"/>
                <a:ea typeface="Consolas"/>
                <a:cs typeface="Consolas"/>
                <a:sym typeface="Consolas"/>
              </a:rPr>
              <a:t>           + Math.pow(base, exponent);</a:t>
            </a:r>
            <a:endParaRPr sz="10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8000"/>
                </a:solidFill>
                <a:latin typeface="Consolas"/>
                <a:ea typeface="Consolas"/>
                <a:cs typeface="Consolas"/>
                <a:sym typeface="Consolas"/>
              </a:rPr>
              <a:t>5</a:t>
            </a:r>
            <a:r>
              <a:rPr lang="en" sz="1050" dirty="0">
                <a:highlight>
                  <a:srgbClr val="FFFFFF"/>
                </a:highlight>
                <a:latin typeface="Consolas"/>
                <a:ea typeface="Consolas"/>
                <a:cs typeface="Consolas"/>
                <a:sym typeface="Consolas"/>
              </a:rPr>
              <a:t>      }</a:t>
            </a:r>
            <a:endParaRPr sz="105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8000"/>
                </a:solidFill>
                <a:latin typeface="Consolas"/>
                <a:ea typeface="Consolas"/>
                <a:cs typeface="Consolas"/>
                <a:sym typeface="Consolas"/>
              </a:rPr>
              <a:t>6 </a:t>
            </a:r>
            <a:r>
              <a:rPr lang="en" sz="1050" dirty="0">
                <a:highlight>
                  <a:srgbClr val="FFFFFF"/>
                </a:highlight>
                <a:latin typeface="Consolas"/>
                <a:ea typeface="Consolas"/>
                <a:cs typeface="Consolas"/>
                <a:sym typeface="Consolas"/>
              </a:rPr>
              <a:t> }</a:t>
            </a:r>
            <a:endParaRPr sz="1050" dirty="0">
              <a:solidFill>
                <a:srgbClr val="0000FF"/>
              </a:solidFill>
              <a:latin typeface="Consolas"/>
              <a:ea typeface="Consolas"/>
              <a:cs typeface="Consolas"/>
              <a:sym typeface="Consolas"/>
            </a:endParaRPr>
          </a:p>
        </p:txBody>
      </p:sp>
      <p:sp>
        <p:nvSpPr>
          <p:cNvPr id="638" name="Google Shape;638;p62"/>
          <p:cNvSpPr txBox="1"/>
          <p:nvPr/>
        </p:nvSpPr>
        <p:spPr>
          <a:xfrm>
            <a:off x="3785613" y="4059450"/>
            <a:ext cx="4069200" cy="3462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highlight>
                  <a:srgbClr val="FFFFFF"/>
                </a:highlight>
                <a:latin typeface="Consolas"/>
                <a:ea typeface="Consolas"/>
                <a:cs typeface="Consolas"/>
                <a:sym typeface="Consolas"/>
              </a:rPr>
              <a:t>computeAndPrint(</a:t>
            </a:r>
            <a:r>
              <a:rPr lang="en" sz="1050" u="sng">
                <a:solidFill>
                  <a:srgbClr val="FF0000"/>
                </a:solidFill>
                <a:highlight>
                  <a:srgbClr val="FFFFFF"/>
                </a:highlight>
                <a:latin typeface="Consolas"/>
                <a:ea typeface="Consolas"/>
                <a:cs typeface="Consolas"/>
                <a:sym typeface="Consolas"/>
              </a:rPr>
              <a:t>Mathy::power</a:t>
            </a:r>
            <a:r>
              <a:rPr lang="en" sz="1050">
                <a:highlight>
                  <a:srgbClr val="FFFFFF"/>
                </a:highlight>
                <a:latin typeface="Consolas"/>
                <a:ea typeface="Consolas"/>
                <a:cs typeface="Consolas"/>
                <a:sym typeface="Consolas"/>
              </a:rPr>
              <a:t>);</a:t>
            </a:r>
            <a:endParaRPr sz="1050">
              <a:solidFill>
                <a:srgbClr val="0000FF"/>
              </a:solidFill>
              <a:latin typeface="Consolas"/>
              <a:ea typeface="Consolas"/>
              <a:cs typeface="Consolas"/>
              <a:sym typeface="Consolas"/>
            </a:endParaRPr>
          </a:p>
        </p:txBody>
      </p:sp>
      <p:sp>
        <p:nvSpPr>
          <p:cNvPr id="639" name="Google Shape;639;p62"/>
          <p:cNvSpPr txBox="1"/>
          <p:nvPr/>
        </p:nvSpPr>
        <p:spPr>
          <a:xfrm>
            <a:off x="3785625" y="1099250"/>
            <a:ext cx="3290700" cy="78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interface</a:t>
            </a:r>
            <a:r>
              <a:rPr lang="en" sz="1050">
                <a:latin typeface="Consolas"/>
                <a:ea typeface="Consolas"/>
                <a:cs typeface="Consolas"/>
                <a:sym typeface="Consolas"/>
              </a:rPr>
              <a:t> Computation {</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String</a:t>
            </a:r>
            <a:r>
              <a:rPr lang="en" sz="1050">
                <a:latin typeface="Consolas"/>
                <a:ea typeface="Consolas"/>
                <a:cs typeface="Consolas"/>
                <a:sym typeface="Consolas"/>
              </a:rPr>
              <a:t> compute(</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x, </a:t>
            </a:r>
            <a:r>
              <a:rPr lang="en" sz="1050">
                <a:solidFill>
                  <a:srgbClr val="0000FF"/>
                </a:solidFill>
                <a:latin typeface="Consolas"/>
                <a:ea typeface="Consolas"/>
                <a:cs typeface="Consolas"/>
                <a:sym typeface="Consolas"/>
              </a:rPr>
              <a:t>double</a:t>
            </a:r>
            <a:r>
              <a:rPr lang="en" sz="1050">
                <a:latin typeface="Consolas"/>
                <a:ea typeface="Consolas"/>
                <a:cs typeface="Consolas"/>
                <a:sym typeface="Consolas"/>
              </a:rPr>
              <a:t> y);</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  </a:t>
            </a:r>
            <a:r>
              <a:rPr lang="en" sz="1050">
                <a:latin typeface="Consolas"/>
                <a:ea typeface="Consolas"/>
                <a:cs typeface="Consolas"/>
                <a:sym typeface="Consolas"/>
              </a:rPr>
              <a:t>}</a:t>
            </a:r>
            <a:endParaRPr sz="1300">
              <a:solidFill>
                <a:schemeClr val="dk2"/>
              </a:solidFill>
              <a:latin typeface="Roboto"/>
              <a:ea typeface="Roboto"/>
              <a:cs typeface="Roboto"/>
              <a:sym typeface="Roboto"/>
            </a:endParaRPr>
          </a:p>
        </p:txBody>
      </p:sp>
      <p:sp>
        <p:nvSpPr>
          <p:cNvPr id="640" name="Google Shape;640;p62"/>
          <p:cNvSpPr txBox="1"/>
          <p:nvPr/>
        </p:nvSpPr>
        <p:spPr>
          <a:xfrm>
            <a:off x="287450" y="1030100"/>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a:latin typeface="Courier New"/>
                <a:ea typeface="Courier New"/>
                <a:cs typeface="Courier New"/>
                <a:sym typeface="Courier New"/>
              </a:rPr>
              <a:t>Computation</a:t>
            </a:r>
            <a:r>
              <a:rPr lang="en" sz="1200"/>
              <a:t> interface is a </a:t>
            </a:r>
            <a:r>
              <a:rPr lang="en" sz="1200" b="1" i="1">
                <a:solidFill>
                  <a:srgbClr val="FF0000"/>
                </a:solidFill>
              </a:rPr>
              <a:t>functional interface</a:t>
            </a:r>
            <a:r>
              <a:rPr lang="en" sz="1200"/>
              <a:t> because it only defines a single method, </a:t>
            </a:r>
            <a:r>
              <a:rPr lang="en" sz="1200">
                <a:latin typeface="Courier New"/>
                <a:ea typeface="Courier New"/>
                <a:cs typeface="Courier New"/>
                <a:sym typeface="Courier New"/>
              </a:rPr>
              <a:t>compute</a:t>
            </a:r>
            <a:r>
              <a:rPr lang="en" sz="1200"/>
              <a:t>, that expects two </a:t>
            </a:r>
            <a:r>
              <a:rPr lang="en" sz="1200">
                <a:latin typeface="Courier New"/>
                <a:ea typeface="Courier New"/>
                <a:cs typeface="Courier New"/>
                <a:sym typeface="Courier New"/>
              </a:rPr>
              <a:t>double</a:t>
            </a:r>
            <a:r>
              <a:rPr lang="en" sz="1200"/>
              <a:t> parameters and returns a </a:t>
            </a:r>
            <a:r>
              <a:rPr lang="en" sz="1200">
                <a:latin typeface="Courier New"/>
                <a:ea typeface="Courier New"/>
                <a:cs typeface="Courier New"/>
                <a:sym typeface="Courier New"/>
              </a:rPr>
              <a:t>String</a:t>
            </a:r>
            <a:r>
              <a:rPr lang="en" sz="1200"/>
              <a:t>.</a:t>
            </a:r>
            <a:endParaRPr sz="1200"/>
          </a:p>
        </p:txBody>
      </p:sp>
      <p:sp>
        <p:nvSpPr>
          <p:cNvPr id="641" name="Google Shape;641;p62"/>
          <p:cNvSpPr txBox="1"/>
          <p:nvPr/>
        </p:nvSpPr>
        <p:spPr>
          <a:xfrm>
            <a:off x="287438" y="2365900"/>
            <a:ext cx="3290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Now consider the </a:t>
            </a:r>
            <a:r>
              <a:rPr lang="en" sz="1200" dirty="0">
                <a:latin typeface="Courier New"/>
                <a:ea typeface="Courier New"/>
                <a:cs typeface="Courier New"/>
                <a:sym typeface="Courier New"/>
              </a:rPr>
              <a:t>Mathy</a:t>
            </a:r>
            <a:r>
              <a:rPr lang="en" sz="1200" dirty="0"/>
              <a:t> class that defines the </a:t>
            </a:r>
            <a:r>
              <a:rPr lang="en" sz="1200" dirty="0">
                <a:solidFill>
                  <a:srgbClr val="FF0000"/>
                </a:solidFill>
                <a:highlight>
                  <a:srgbClr val="FFFF00"/>
                </a:highlight>
                <a:latin typeface="Courier New"/>
                <a:ea typeface="Courier New"/>
                <a:cs typeface="Courier New"/>
                <a:sym typeface="Courier New"/>
              </a:rPr>
              <a:t>static</a:t>
            </a:r>
            <a:r>
              <a:rPr lang="en" sz="1200" dirty="0">
                <a:solidFill>
                  <a:srgbClr val="FF0000"/>
                </a:solidFill>
                <a:highlight>
                  <a:srgbClr val="FFFF00"/>
                </a:highlight>
              </a:rPr>
              <a:t> </a:t>
            </a:r>
            <a:r>
              <a:rPr lang="en" sz="1200" dirty="0">
                <a:solidFill>
                  <a:srgbClr val="FF0000"/>
                </a:solidFill>
                <a:highlight>
                  <a:srgbClr val="FFFF00"/>
                </a:highlight>
                <a:latin typeface="Courier New"/>
                <a:ea typeface="Courier New"/>
                <a:cs typeface="Courier New"/>
                <a:sym typeface="Courier New"/>
              </a:rPr>
              <a:t>power</a:t>
            </a:r>
            <a:r>
              <a:rPr lang="en" sz="1200" dirty="0">
                <a:highlight>
                  <a:srgbClr val="FFFF00"/>
                </a:highlight>
              </a:rPr>
              <a:t> </a:t>
            </a:r>
            <a:r>
              <a:rPr lang="en" sz="1200" dirty="0"/>
              <a:t>method that also matches the parameters and return type of the </a:t>
            </a:r>
            <a:r>
              <a:rPr lang="en" sz="1200" dirty="0">
                <a:latin typeface="Courier New"/>
                <a:ea typeface="Courier New"/>
                <a:cs typeface="Courier New"/>
                <a:sym typeface="Courier New"/>
              </a:rPr>
              <a:t>compute</a:t>
            </a:r>
            <a:r>
              <a:rPr lang="en" sz="1200" dirty="0"/>
              <a:t> method.</a:t>
            </a:r>
            <a:endParaRPr sz="1200" dirty="0"/>
          </a:p>
        </p:txBody>
      </p:sp>
      <p:sp>
        <p:nvSpPr>
          <p:cNvPr id="642" name="Google Shape;642;p62"/>
          <p:cNvSpPr txBox="1"/>
          <p:nvPr/>
        </p:nvSpPr>
        <p:spPr>
          <a:xfrm>
            <a:off x="287438" y="3863100"/>
            <a:ext cx="3290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A </a:t>
            </a:r>
            <a:r>
              <a:rPr lang="en" sz="1200" b="1" i="1" dirty="0">
                <a:solidFill>
                  <a:srgbClr val="FF0000"/>
                </a:solidFill>
              </a:rPr>
              <a:t>static method reference</a:t>
            </a:r>
            <a:r>
              <a:rPr lang="en" sz="1200" dirty="0">
                <a:solidFill>
                  <a:srgbClr val="FF0000"/>
                </a:solidFill>
              </a:rPr>
              <a:t> </a:t>
            </a:r>
            <a:r>
              <a:rPr lang="en" sz="1200" dirty="0"/>
              <a:t>does not need to use an object, but instead is called using the </a:t>
            </a:r>
            <a:r>
              <a:rPr lang="en" sz="1200" b="1" i="1" dirty="0">
                <a:solidFill>
                  <a:srgbClr val="FF0000"/>
                </a:solidFill>
              </a:rPr>
              <a:t>class</a:t>
            </a:r>
            <a:r>
              <a:rPr lang="en" sz="1200" dirty="0">
                <a:solidFill>
                  <a:srgbClr val="FF0000"/>
                </a:solidFill>
              </a:rPr>
              <a:t> </a:t>
            </a:r>
            <a:r>
              <a:rPr lang="en" sz="1200" dirty="0"/>
              <a:t>and the </a:t>
            </a:r>
            <a:r>
              <a:rPr lang="en" sz="1200" dirty="0">
                <a:solidFill>
                  <a:srgbClr val="FF0000"/>
                </a:solidFill>
                <a:latin typeface="Courier New"/>
                <a:ea typeface="Courier New"/>
                <a:cs typeface="Courier New"/>
                <a:sym typeface="Courier New"/>
              </a:rPr>
              <a:t>::</a:t>
            </a:r>
            <a:r>
              <a:rPr lang="en" sz="1200" dirty="0"/>
              <a:t> operator.</a:t>
            </a:r>
            <a:endParaRPr sz="1200" dirty="0"/>
          </a:p>
        </p:txBody>
      </p:sp>
      <p:sp>
        <p:nvSpPr>
          <p:cNvPr id="643" name="Google Shape;643;p62"/>
          <p:cNvSpPr/>
          <p:nvPr/>
        </p:nvSpPr>
        <p:spPr>
          <a:xfrm>
            <a:off x="4455377" y="1586425"/>
            <a:ext cx="1084975" cy="821125"/>
          </a:xfrm>
          <a:custGeom>
            <a:avLst/>
            <a:gdLst/>
            <a:ahLst/>
            <a:cxnLst/>
            <a:rect l="l" t="t" r="r" b="b"/>
            <a:pathLst>
              <a:path w="43399" h="32845" extrusionOk="0">
                <a:moveTo>
                  <a:pt x="3448" y="0"/>
                </a:moveTo>
                <a:cubicBezTo>
                  <a:pt x="3284" y="1588"/>
                  <a:pt x="-3450" y="6788"/>
                  <a:pt x="2462" y="9525"/>
                </a:cubicBezTo>
                <a:cubicBezTo>
                  <a:pt x="8374" y="12262"/>
                  <a:pt x="32132" y="12535"/>
                  <a:pt x="38920" y="16422"/>
                </a:cubicBezTo>
                <a:cubicBezTo>
                  <a:pt x="45708" y="20309"/>
                  <a:pt x="42478" y="30108"/>
                  <a:pt x="43190" y="32845"/>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644" name="Google Shape;644;p62"/>
          <p:cNvSpPr/>
          <p:nvPr/>
        </p:nvSpPr>
        <p:spPr>
          <a:xfrm>
            <a:off x="5505203" y="1578200"/>
            <a:ext cx="1076575" cy="853975"/>
          </a:xfrm>
          <a:custGeom>
            <a:avLst/>
            <a:gdLst/>
            <a:ahLst/>
            <a:cxnLst/>
            <a:rect l="l" t="t" r="r" b="b"/>
            <a:pathLst>
              <a:path w="43063" h="34159" extrusionOk="0">
                <a:moveTo>
                  <a:pt x="3496" y="0"/>
                </a:moveTo>
                <a:cubicBezTo>
                  <a:pt x="3332" y="1095"/>
                  <a:pt x="-3510" y="3832"/>
                  <a:pt x="2511" y="6569"/>
                </a:cubicBezTo>
                <a:cubicBezTo>
                  <a:pt x="8533" y="9306"/>
                  <a:pt x="33111" y="11825"/>
                  <a:pt x="39625" y="16423"/>
                </a:cubicBezTo>
                <a:cubicBezTo>
                  <a:pt x="46139" y="21021"/>
                  <a:pt x="41268" y="31203"/>
                  <a:pt x="41596" y="34159"/>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645" name="Google Shape;645;p62"/>
          <p:cNvSpPr/>
          <p:nvPr/>
        </p:nvSpPr>
        <p:spPr>
          <a:xfrm>
            <a:off x="6309089" y="1594625"/>
            <a:ext cx="1245525" cy="804700"/>
          </a:xfrm>
          <a:custGeom>
            <a:avLst/>
            <a:gdLst/>
            <a:ahLst/>
            <a:cxnLst/>
            <a:rect l="l" t="t" r="r" b="b"/>
            <a:pathLst>
              <a:path w="49821" h="32188" extrusionOk="0">
                <a:moveTo>
                  <a:pt x="5170" y="0"/>
                </a:moveTo>
                <a:cubicBezTo>
                  <a:pt x="4732" y="821"/>
                  <a:pt x="-4190" y="2847"/>
                  <a:pt x="2543" y="4927"/>
                </a:cubicBezTo>
                <a:cubicBezTo>
                  <a:pt x="9276" y="7007"/>
                  <a:pt x="37905" y="7938"/>
                  <a:pt x="45569" y="12481"/>
                </a:cubicBezTo>
                <a:cubicBezTo>
                  <a:pt x="53233" y="17025"/>
                  <a:pt x="48032" y="28904"/>
                  <a:pt x="48525" y="32188"/>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7"/>
                                        </p:tgtEl>
                                        <p:attrNameLst>
                                          <p:attrName>style.visibility</p:attrName>
                                        </p:attrNameLst>
                                      </p:cBhvr>
                                      <p:to>
                                        <p:strVal val="visible"/>
                                      </p:to>
                                    </p:set>
                                  </p:childTnLst>
                                </p:cTn>
                              </p:par>
                            </p:childTnLst>
                          </p:cTn>
                        </p:par>
                        <p:par>
                          <p:cTn id="9" fill="hold">
                            <p:stCondLst>
                              <p:cond delay="0"/>
                            </p:stCondLst>
                            <p:childTnLst>
                              <p:par>
                                <p:cTn id="10" presetID="10" presetClass="entr" presetSubtype="0" fill="hold" nodeType="afterEffect">
                                  <p:stCondLst>
                                    <p:cond delay="0"/>
                                  </p:stCondLst>
                                  <p:childTnLst>
                                    <p:set>
                                      <p:cBhvr>
                                        <p:cTn id="11" dur="1" fill="hold">
                                          <p:stCondLst>
                                            <p:cond delay="0"/>
                                          </p:stCondLst>
                                        </p:cTn>
                                        <p:tgtEl>
                                          <p:spTgt spid="643"/>
                                        </p:tgtEl>
                                        <p:attrNameLst>
                                          <p:attrName>style.visibility</p:attrName>
                                        </p:attrNameLst>
                                      </p:cBhvr>
                                      <p:to>
                                        <p:strVal val="visible"/>
                                      </p:to>
                                    </p:set>
                                    <p:animEffect transition="in" filter="fade">
                                      <p:cBhvr>
                                        <p:cTn id="12" dur="1000"/>
                                        <p:tgtEl>
                                          <p:spTgt spid="643"/>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644"/>
                                        </p:tgtEl>
                                        <p:attrNameLst>
                                          <p:attrName>style.visibility</p:attrName>
                                        </p:attrNameLst>
                                      </p:cBhvr>
                                      <p:to>
                                        <p:strVal val="visible"/>
                                      </p:to>
                                    </p:set>
                                    <p:animEffect transition="in" filter="fade">
                                      <p:cBhvr>
                                        <p:cTn id="16" dur="1000"/>
                                        <p:tgtEl>
                                          <p:spTgt spid="644"/>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645"/>
                                        </p:tgtEl>
                                        <p:attrNameLst>
                                          <p:attrName>style.visibility</p:attrName>
                                        </p:attrNameLst>
                                      </p:cBhvr>
                                      <p:to>
                                        <p:strVal val="visible"/>
                                      </p:to>
                                    </p:set>
                                    <p:animEffect transition="in" filter="fade">
                                      <p:cBhvr>
                                        <p:cTn id="20" dur="1000"/>
                                        <p:tgtEl>
                                          <p:spTgt spid="64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651" name="Google Shape;651;p6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Method Reference Comparator</a:t>
            </a:r>
            <a:endParaRPr/>
          </a:p>
        </p:txBody>
      </p:sp>
      <p:sp>
        <p:nvSpPr>
          <p:cNvPr id="652" name="Google Shape;652;p6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continue experimenting with lambdas by creating a </a:t>
            </a:r>
            <a:r>
              <a:rPr lang="en" b="1">
                <a:solidFill>
                  <a:srgbClr val="FF0000"/>
                </a:solidFill>
              </a:rPr>
              <a:t>power operator ("^")</a:t>
            </a:r>
            <a:r>
              <a:rPr lang="en"/>
              <a:t>. This time, we will use a method reference!</a:t>
            </a:r>
            <a:endParaRPr/>
          </a:p>
        </p:txBody>
      </p:sp>
      <p:sp>
        <p:nvSpPr>
          <p:cNvPr id="653" name="Google Shape;653;p63"/>
          <p:cNvSpPr txBox="1">
            <a:spLocks noGrp="1"/>
          </p:cNvSpPr>
          <p:nvPr>
            <p:ph type="body" idx="2"/>
          </p:nvPr>
        </p:nvSpPr>
        <p:spPr>
          <a:xfrm>
            <a:off x="4092150" y="1689850"/>
            <a:ext cx="4797300" cy="30861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I</a:t>
            </a:r>
            <a:r>
              <a:rPr lang="en" sz="1500" dirty="0"/>
              <a:t>n the </a:t>
            </a:r>
            <a:r>
              <a:rPr lang="en" sz="1500" dirty="0">
                <a:solidFill>
                  <a:srgbClr val="FF0000"/>
                </a:solidFill>
                <a:latin typeface="Courier New"/>
                <a:ea typeface="Courier New"/>
                <a:cs typeface="Courier New"/>
                <a:sym typeface="Courier New"/>
              </a:rPr>
              <a:t>ExpressionTree</a:t>
            </a:r>
            <a:r>
              <a:rPr lang="en" sz="1500" dirty="0"/>
              <a:t> class's </a:t>
            </a:r>
            <a:r>
              <a:rPr lang="en" sz="1500" dirty="0">
                <a:latin typeface="Courier New"/>
                <a:ea typeface="Courier New"/>
                <a:cs typeface="Courier New"/>
                <a:sym typeface="Courier New"/>
              </a:rPr>
              <a:t>buildExpressionTree</a:t>
            </a:r>
            <a:r>
              <a:rPr lang="en" sz="1500" dirty="0"/>
              <a:t>, use a method reference to handle the division case.</a:t>
            </a:r>
            <a:endParaRPr sz="1500" dirty="0"/>
          </a:p>
          <a:p>
            <a:pPr marL="914400" lvl="1" indent="-317500" algn="l" rtl="0">
              <a:spcBef>
                <a:spcPts val="1000"/>
              </a:spcBef>
              <a:spcAft>
                <a:spcPts val="0"/>
              </a:spcAft>
              <a:buSzPts val="1400"/>
              <a:buChar char="○"/>
            </a:pPr>
            <a:r>
              <a:rPr lang="en" sz="1400" dirty="0"/>
              <a:t>Create a method reference for the </a:t>
            </a:r>
            <a:r>
              <a:rPr lang="en" sz="1400" dirty="0">
                <a:latin typeface="Courier New"/>
                <a:ea typeface="Courier New"/>
                <a:cs typeface="Courier New"/>
                <a:sym typeface="Courier New"/>
              </a:rPr>
              <a:t>Expression</a:t>
            </a:r>
            <a:r>
              <a:rPr lang="en" sz="1400" dirty="0"/>
              <a:t> interface that implements power ("^").</a:t>
            </a:r>
            <a:endParaRPr sz="1300" dirty="0"/>
          </a:p>
          <a:p>
            <a:pPr marL="914400" lvl="1" indent="-317500" algn="l" rtl="0">
              <a:spcBef>
                <a:spcPts val="1000"/>
              </a:spcBef>
              <a:spcAft>
                <a:spcPts val="0"/>
              </a:spcAft>
              <a:buSzPts val="1400"/>
              <a:buChar char="○"/>
            </a:pPr>
            <a:r>
              <a:rPr lang="en" sz="1400" dirty="0">
                <a:highlight>
                  <a:schemeClr val="lt1"/>
                </a:highlight>
              </a:rPr>
              <a:t>Use the Math.pow(a, b) method for the reference.</a:t>
            </a:r>
            <a:endParaRPr sz="1400" dirty="0">
              <a:highlight>
                <a:schemeClr val="lt1"/>
              </a:highlight>
            </a:endParaRPr>
          </a:p>
          <a:p>
            <a:pPr marL="914400" lvl="1" indent="-317500" algn="l" rtl="0">
              <a:spcBef>
                <a:spcPts val="1000"/>
              </a:spcBef>
              <a:spcAft>
                <a:spcPts val="1000"/>
              </a:spcAft>
              <a:buSzPts val="1400"/>
              <a:buChar char="○"/>
            </a:pPr>
            <a:r>
              <a:rPr lang="en" sz="1400" dirty="0">
                <a:highlight>
                  <a:schemeClr val="lt1"/>
                </a:highlight>
              </a:rPr>
              <a:t>Test the code be adding a power to the expression being built </a:t>
            </a:r>
            <a:endParaRPr sz="1000" dirty="0">
              <a:highlight>
                <a:srgbClr val="FFFF00"/>
              </a:highlight>
            </a:endParaRPr>
          </a:p>
        </p:txBody>
      </p:sp>
      <p:sp>
        <p:nvSpPr>
          <p:cNvPr id="654" name="Google Shape;654;p6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4.9</a:t>
            </a:r>
            <a:endParaRPr/>
          </a:p>
        </p:txBody>
      </p:sp>
      <p:sp>
        <p:nvSpPr>
          <p:cNvPr id="655" name="Google Shape;655;p63"/>
          <p:cNvSpPr txBox="1">
            <a:spLocks noGrp="1"/>
          </p:cNvSpPr>
          <p:nvPr>
            <p:ph type="body" idx="4"/>
          </p:nvPr>
        </p:nvSpPr>
        <p:spPr>
          <a:xfrm>
            <a:off x="216450" y="1726475"/>
            <a:ext cx="3875700" cy="26727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34275" rIns="68575" bIns="34275" anchor="t" anchorCtr="0">
            <a:spAutoFit/>
          </a:bodyPr>
          <a:lstStyle/>
          <a:p>
            <a:pPr marL="0" lvl="0" indent="0" algn="l" rtl="0">
              <a:spcBef>
                <a:spcPts val="0"/>
              </a:spcBef>
              <a:spcAft>
                <a:spcPts val="0"/>
              </a:spcAft>
              <a:buNone/>
            </a:pPr>
            <a:r>
              <a:rPr lang="en" sz="1000">
                <a:solidFill>
                  <a:srgbClr val="0000FF"/>
                </a:solidFill>
                <a:highlight>
                  <a:schemeClr val="lt1"/>
                </a:highlight>
                <a:latin typeface="Consolas"/>
                <a:ea typeface="Consolas"/>
                <a:cs typeface="Consolas"/>
                <a:sym typeface="Consolas"/>
              </a:rPr>
              <a:t>public</a:t>
            </a:r>
            <a:r>
              <a:rPr lang="en" sz="1000">
                <a:highlight>
                  <a:schemeClr val="lt1"/>
                </a:highlight>
                <a:latin typeface="Consolas"/>
                <a:ea typeface="Consolas"/>
                <a:cs typeface="Consolas"/>
                <a:sym typeface="Consolas"/>
              </a:rPr>
              <a:t> </a:t>
            </a:r>
            <a:r>
              <a:rPr lang="en" sz="1000">
                <a:solidFill>
                  <a:srgbClr val="0000FF"/>
                </a:solidFill>
                <a:highlight>
                  <a:schemeClr val="lt1"/>
                </a:highlight>
                <a:latin typeface="Consolas"/>
                <a:ea typeface="Consolas"/>
                <a:cs typeface="Consolas"/>
                <a:sym typeface="Consolas"/>
              </a:rPr>
              <a:t>interface</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Shape</a:t>
            </a:r>
            <a:r>
              <a:rPr lang="en" sz="1000">
                <a:highlight>
                  <a:schemeClr val="lt1"/>
                </a:highlight>
                <a:latin typeface="Consolas"/>
                <a:ea typeface="Consolas"/>
                <a:cs typeface="Consolas"/>
                <a:sym typeface="Consolas"/>
              </a:rPr>
              <a:t> {</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795E26"/>
                </a:solidFill>
                <a:highlight>
                  <a:schemeClr val="lt1"/>
                </a:highlight>
                <a:latin typeface="Consolas"/>
                <a:ea typeface="Consolas"/>
                <a:cs typeface="Consolas"/>
                <a:sym typeface="Consolas"/>
              </a:rPr>
              <a:t>area</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length</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endParaRPr sz="1000">
              <a:highlight>
                <a:schemeClr val="lt1"/>
              </a:highlight>
              <a:latin typeface="Consolas"/>
              <a:ea typeface="Consolas"/>
              <a:cs typeface="Consolas"/>
              <a:sym typeface="Consolas"/>
            </a:endParaRPr>
          </a:p>
          <a:p>
            <a:pPr marL="0" lvl="0" indent="0" algn="l" rtl="0">
              <a:lnSpc>
                <a:spcPct val="130434"/>
              </a:lnSpc>
              <a:spcBef>
                <a:spcPts val="0"/>
              </a:spcBef>
              <a:spcAft>
                <a:spcPts val="0"/>
              </a:spcAft>
              <a:buNone/>
            </a:pPr>
            <a:r>
              <a:rPr lang="en" sz="1000">
                <a:solidFill>
                  <a:srgbClr val="0000FF"/>
                </a:solidFill>
                <a:highlight>
                  <a:schemeClr val="lt1"/>
                </a:highlight>
                <a:latin typeface="Consolas"/>
                <a:ea typeface="Consolas"/>
                <a:cs typeface="Consolas"/>
                <a:sym typeface="Consolas"/>
              </a:rPr>
              <a:t>public</a:t>
            </a:r>
            <a:r>
              <a:rPr lang="en" sz="1000">
                <a:highlight>
                  <a:schemeClr val="lt1"/>
                </a:highlight>
                <a:latin typeface="Consolas"/>
                <a:ea typeface="Consolas"/>
                <a:cs typeface="Consolas"/>
                <a:sym typeface="Consolas"/>
              </a:rPr>
              <a:t> </a:t>
            </a:r>
            <a:r>
              <a:rPr lang="en" sz="1000">
                <a:solidFill>
                  <a:srgbClr val="0000FF"/>
                </a:solidFill>
                <a:highlight>
                  <a:schemeClr val="lt1"/>
                </a:highlight>
                <a:latin typeface="Consolas"/>
                <a:ea typeface="Consolas"/>
                <a:cs typeface="Consolas"/>
                <a:sym typeface="Consolas"/>
              </a:rPr>
              <a:t>static</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795E26"/>
                </a:solidFill>
                <a:highlight>
                  <a:schemeClr val="lt1"/>
                </a:highlight>
                <a:latin typeface="Consolas"/>
                <a:ea typeface="Consolas"/>
                <a:cs typeface="Consolas"/>
                <a:sym typeface="Consolas"/>
              </a:rPr>
              <a:t>triangleArea</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double</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dimens</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lnSpc>
                <a:spcPct val="130434"/>
              </a:lnSpc>
              <a:spcBef>
                <a:spcPts val="0"/>
              </a:spcBef>
              <a:spcAft>
                <a:spcPts val="0"/>
              </a:spcAft>
              <a:buNone/>
            </a:pPr>
            <a:r>
              <a:rPr lang="en" sz="1000">
                <a:highlight>
                  <a:schemeClr val="lt1"/>
                </a:highlight>
                <a:latin typeface="Consolas"/>
                <a:ea typeface="Consolas"/>
                <a:cs typeface="Consolas"/>
                <a:sym typeface="Consolas"/>
              </a:rPr>
              <a:t>    </a:t>
            </a:r>
            <a:r>
              <a:rPr lang="en" sz="1000">
                <a:solidFill>
                  <a:srgbClr val="AF00DB"/>
                </a:solidFill>
                <a:highlight>
                  <a:schemeClr val="lt1"/>
                </a:highlight>
                <a:latin typeface="Consolas"/>
                <a:ea typeface="Consolas"/>
                <a:cs typeface="Consolas"/>
                <a:sym typeface="Consolas"/>
              </a:rPr>
              <a:t>return</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0.5</a:t>
            </a:r>
            <a:r>
              <a:rPr lang="en" sz="1000">
                <a:highlight>
                  <a:schemeClr val="lt1"/>
                </a:highlight>
                <a:latin typeface="Consolas"/>
                <a:ea typeface="Consolas"/>
                <a:cs typeface="Consolas"/>
                <a:sym typeface="Consolas"/>
              </a:rPr>
              <a:t> * </a:t>
            </a:r>
            <a:r>
              <a:rPr lang="en" sz="1000">
                <a:solidFill>
                  <a:srgbClr val="001080"/>
                </a:solidFill>
                <a:highlight>
                  <a:schemeClr val="lt1"/>
                </a:highlight>
                <a:latin typeface="Consolas"/>
                <a:ea typeface="Consolas"/>
                <a:cs typeface="Consolas"/>
                <a:sym typeface="Consolas"/>
              </a:rPr>
              <a:t>dimens</a:t>
            </a:r>
            <a:r>
              <a:rPr lang="en" sz="1000">
                <a:highlight>
                  <a:schemeClr val="lt1"/>
                </a:highlight>
                <a:latin typeface="Consolas"/>
                <a:ea typeface="Consolas"/>
                <a:cs typeface="Consolas"/>
                <a:sym typeface="Consolas"/>
              </a:rPr>
              <a:t>[</a:t>
            </a:r>
            <a:r>
              <a:rPr lang="en" sz="1000">
                <a:solidFill>
                  <a:srgbClr val="267F99"/>
                </a:solidFill>
                <a:highlight>
                  <a:schemeClr val="lt1"/>
                </a:highlight>
                <a:latin typeface="Consolas"/>
                <a:ea typeface="Consolas"/>
                <a:cs typeface="Consolas"/>
                <a:sym typeface="Consolas"/>
              </a:rPr>
              <a:t>0</a:t>
            </a:r>
            <a:r>
              <a:rPr lang="en" sz="1000">
                <a:highlight>
                  <a:schemeClr val="lt1"/>
                </a:highlight>
                <a:latin typeface="Consolas"/>
                <a:ea typeface="Consolas"/>
                <a:cs typeface="Consolas"/>
                <a:sym typeface="Consolas"/>
              </a:rPr>
              <a:t>],</a:t>
            </a:r>
            <a:r>
              <a:rPr lang="en" sz="1000">
                <a:solidFill>
                  <a:srgbClr val="267F99"/>
                </a:solidFill>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dimens</a:t>
            </a:r>
            <a:r>
              <a:rPr lang="en" sz="1000">
                <a:highlight>
                  <a:schemeClr val="lt1"/>
                </a:highlight>
                <a:latin typeface="Consolas"/>
                <a:ea typeface="Consolas"/>
                <a:cs typeface="Consolas"/>
                <a:sym typeface="Consolas"/>
              </a:rPr>
              <a:t>[</a:t>
            </a:r>
            <a:r>
              <a:rPr lang="en" sz="1000">
                <a:solidFill>
                  <a:srgbClr val="267F99"/>
                </a:solidFill>
                <a:highlight>
                  <a:schemeClr val="lt1"/>
                </a:highlight>
                <a:latin typeface="Consolas"/>
                <a:ea typeface="Consolas"/>
                <a:cs typeface="Consolas"/>
                <a:sym typeface="Consolas"/>
              </a:rPr>
              <a:t>1</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lnSpc>
                <a:spcPct val="130434"/>
              </a:lnSpc>
              <a:spcBef>
                <a:spcPts val="0"/>
              </a:spcBef>
              <a:spcAft>
                <a:spcPts val="0"/>
              </a:spcAft>
              <a:buNone/>
            </a:pP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0000FF"/>
                </a:solidFill>
                <a:highlight>
                  <a:schemeClr val="lt1"/>
                </a:highlight>
                <a:latin typeface="Consolas"/>
                <a:ea typeface="Consolas"/>
                <a:cs typeface="Consolas"/>
                <a:sym typeface="Consolas"/>
              </a:rPr>
              <a:t>public</a:t>
            </a:r>
            <a:r>
              <a:rPr lang="en" sz="1000">
                <a:highlight>
                  <a:schemeClr val="lt1"/>
                </a:highlight>
                <a:latin typeface="Consolas"/>
                <a:ea typeface="Consolas"/>
                <a:cs typeface="Consolas"/>
                <a:sym typeface="Consolas"/>
              </a:rPr>
              <a:t> </a:t>
            </a:r>
            <a:r>
              <a:rPr lang="en" sz="1000">
                <a:solidFill>
                  <a:srgbClr val="0000FF"/>
                </a:solidFill>
                <a:highlight>
                  <a:schemeClr val="lt1"/>
                </a:highlight>
                <a:latin typeface="Consolas"/>
                <a:ea typeface="Consolas"/>
                <a:cs typeface="Consolas"/>
                <a:sym typeface="Consolas"/>
              </a:rPr>
              <a:t>static</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void</a:t>
            </a:r>
            <a:r>
              <a:rPr lang="en" sz="1000">
                <a:highlight>
                  <a:schemeClr val="lt1"/>
                </a:highlight>
                <a:latin typeface="Consolas"/>
                <a:ea typeface="Consolas"/>
                <a:cs typeface="Consolas"/>
                <a:sym typeface="Consolas"/>
              </a:rPr>
              <a:t> </a:t>
            </a:r>
            <a:r>
              <a:rPr lang="en" sz="1000">
                <a:solidFill>
                  <a:srgbClr val="795E26"/>
                </a:solidFill>
                <a:highlight>
                  <a:schemeClr val="lt1"/>
                </a:highlight>
                <a:latin typeface="Consolas"/>
                <a:ea typeface="Consolas"/>
                <a:cs typeface="Consolas"/>
                <a:sym typeface="Consolas"/>
              </a:rPr>
              <a:t>main</a:t>
            </a: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String</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args</a:t>
            </a:r>
            <a:r>
              <a:rPr lang="en" sz="1000">
                <a:highlight>
                  <a:schemeClr val="lt1"/>
                </a:highlight>
                <a:latin typeface="Consolas"/>
                <a:ea typeface="Consolas"/>
                <a:cs typeface="Consolas"/>
                <a:sym typeface="Consolas"/>
              </a:rPr>
              <a:t>) {</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highlight>
                  <a:schemeClr val="lt1"/>
                </a:highlight>
                <a:latin typeface="Consolas"/>
                <a:ea typeface="Consolas"/>
                <a:cs typeface="Consolas"/>
                <a:sym typeface="Consolas"/>
              </a:rPr>
              <a:t>   </a:t>
            </a:r>
            <a:r>
              <a:rPr lang="en" sz="1000">
                <a:solidFill>
                  <a:srgbClr val="267F99"/>
                </a:solidFill>
                <a:highlight>
                  <a:schemeClr val="lt1"/>
                </a:highlight>
                <a:latin typeface="Consolas"/>
                <a:ea typeface="Consolas"/>
                <a:cs typeface="Consolas"/>
                <a:sym typeface="Consolas"/>
              </a:rPr>
              <a:t>int</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base</a:t>
            </a:r>
            <a:r>
              <a:rPr lang="en" sz="1000">
                <a:highlight>
                  <a:schemeClr val="lt1"/>
                </a:highlight>
                <a:latin typeface="Consolas"/>
                <a:ea typeface="Consolas"/>
                <a:cs typeface="Consolas"/>
                <a:sym typeface="Consolas"/>
              </a:rPr>
              <a:t> = </a:t>
            </a:r>
            <a:r>
              <a:rPr lang="en" sz="1000">
                <a:solidFill>
                  <a:srgbClr val="098658"/>
                </a:solidFill>
                <a:highlight>
                  <a:schemeClr val="lt1"/>
                </a:highlight>
                <a:latin typeface="Consolas"/>
                <a:ea typeface="Consolas"/>
                <a:cs typeface="Consolas"/>
                <a:sym typeface="Consolas"/>
              </a:rPr>
              <a:t>5</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267F99"/>
                </a:solidFill>
                <a:highlight>
                  <a:schemeClr val="lt1"/>
                </a:highlight>
                <a:latin typeface="Consolas"/>
                <a:ea typeface="Consolas"/>
                <a:cs typeface="Consolas"/>
                <a:sym typeface="Consolas"/>
              </a:rPr>
              <a:t>   int</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height</a:t>
            </a:r>
            <a:r>
              <a:rPr lang="en" sz="1000">
                <a:highlight>
                  <a:schemeClr val="lt1"/>
                </a:highlight>
                <a:latin typeface="Consolas"/>
                <a:ea typeface="Consolas"/>
                <a:cs typeface="Consolas"/>
                <a:sym typeface="Consolas"/>
              </a:rPr>
              <a:t> = </a:t>
            </a:r>
            <a:r>
              <a:rPr lang="en" sz="1000">
                <a:solidFill>
                  <a:srgbClr val="098658"/>
                </a:solidFill>
                <a:highlight>
                  <a:schemeClr val="lt1"/>
                </a:highlight>
                <a:latin typeface="Consolas"/>
                <a:ea typeface="Consolas"/>
                <a:cs typeface="Consolas"/>
                <a:sym typeface="Consolas"/>
              </a:rPr>
              <a:t>10</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267F99"/>
                </a:solidFill>
                <a:highlight>
                  <a:schemeClr val="lt1"/>
                </a:highlight>
                <a:latin typeface="Consolas"/>
                <a:ea typeface="Consolas"/>
                <a:cs typeface="Consolas"/>
                <a:sym typeface="Consolas"/>
              </a:rPr>
              <a:t>   </a:t>
            </a:r>
            <a:endParaRPr sz="1000">
              <a:solidFill>
                <a:srgbClr val="267F99"/>
              </a:solidFill>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267F99"/>
                </a:solidFill>
                <a:highlight>
                  <a:schemeClr val="lt1"/>
                </a:highlight>
                <a:latin typeface="Consolas"/>
                <a:ea typeface="Consolas"/>
                <a:cs typeface="Consolas"/>
                <a:sym typeface="Consolas"/>
              </a:rPr>
              <a:t>   Shape</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triangle</a:t>
            </a:r>
            <a:r>
              <a:rPr lang="en" sz="1000">
                <a:highlight>
                  <a:schemeClr val="lt1"/>
                </a:highlight>
                <a:latin typeface="Consolas"/>
                <a:ea typeface="Consolas"/>
                <a:cs typeface="Consolas"/>
                <a:sym typeface="Consolas"/>
              </a:rPr>
              <a:t> = </a:t>
            </a:r>
            <a:r>
              <a:rPr lang="en" sz="1000">
                <a:solidFill>
                  <a:srgbClr val="267F99"/>
                </a:solidFill>
                <a:highlight>
                  <a:schemeClr val="lt1"/>
                </a:highlight>
                <a:latin typeface="Consolas"/>
                <a:ea typeface="Consolas"/>
                <a:cs typeface="Consolas"/>
                <a:sym typeface="Consolas"/>
              </a:rPr>
              <a:t>ShapeExample</a:t>
            </a:r>
            <a:r>
              <a:rPr lang="en" sz="1000">
                <a:solidFill>
                  <a:srgbClr val="AF00DB"/>
                </a:solidFill>
                <a:highlight>
                  <a:schemeClr val="lt1"/>
                </a:highlight>
                <a:latin typeface="Consolas"/>
                <a:ea typeface="Consolas"/>
                <a:cs typeface="Consolas"/>
                <a:sym typeface="Consolas"/>
              </a:rPr>
              <a:t>::</a:t>
            </a:r>
            <a:r>
              <a:rPr lang="en" sz="1000">
                <a:solidFill>
                  <a:srgbClr val="795E26"/>
                </a:solidFill>
                <a:highlight>
                  <a:schemeClr val="lt1"/>
                </a:highlight>
                <a:latin typeface="Consolas"/>
                <a:ea typeface="Consolas"/>
                <a:cs typeface="Consolas"/>
                <a:sym typeface="Consolas"/>
              </a:rPr>
              <a:t>triangleArea</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267F99"/>
                </a:solidFill>
                <a:highlight>
                  <a:schemeClr val="lt1"/>
                </a:highlight>
                <a:latin typeface="Consolas"/>
                <a:ea typeface="Consolas"/>
                <a:cs typeface="Consolas"/>
                <a:sym typeface="Consolas"/>
              </a:rPr>
              <a:t>   </a:t>
            </a:r>
            <a:endParaRPr sz="1000">
              <a:solidFill>
                <a:srgbClr val="267F99"/>
              </a:solidFill>
              <a:highlight>
                <a:schemeClr val="lt1"/>
              </a:highlight>
              <a:latin typeface="Consolas"/>
              <a:ea typeface="Consolas"/>
              <a:cs typeface="Consolas"/>
              <a:sym typeface="Consolas"/>
            </a:endParaRPr>
          </a:p>
          <a:p>
            <a:pPr marL="0" lvl="0" indent="0" algn="l" rtl="0">
              <a:spcBef>
                <a:spcPts val="0"/>
              </a:spcBef>
              <a:spcAft>
                <a:spcPts val="0"/>
              </a:spcAft>
              <a:buNone/>
            </a:pPr>
            <a:r>
              <a:rPr lang="en" sz="1000">
                <a:solidFill>
                  <a:srgbClr val="267F99"/>
                </a:solidFill>
                <a:highlight>
                  <a:schemeClr val="lt1"/>
                </a:highlight>
                <a:latin typeface="Consolas"/>
                <a:ea typeface="Consolas"/>
                <a:cs typeface="Consolas"/>
                <a:sym typeface="Consolas"/>
              </a:rPr>
              <a:t>   System</a:t>
            </a:r>
            <a:r>
              <a:rPr lang="en" sz="1000">
                <a:highlight>
                  <a:schemeClr val="lt1"/>
                </a:highlight>
                <a:latin typeface="Consolas"/>
                <a:ea typeface="Consolas"/>
                <a:cs typeface="Consolas"/>
                <a:sym typeface="Consolas"/>
              </a:rPr>
              <a:t>.</a:t>
            </a:r>
            <a:r>
              <a:rPr lang="en" sz="1000">
                <a:solidFill>
                  <a:srgbClr val="0070C1"/>
                </a:solidFill>
                <a:highlight>
                  <a:schemeClr val="lt1"/>
                </a:highlight>
                <a:latin typeface="Consolas"/>
                <a:ea typeface="Consolas"/>
                <a:cs typeface="Consolas"/>
                <a:sym typeface="Consolas"/>
              </a:rPr>
              <a:t>out</a:t>
            </a:r>
            <a:r>
              <a:rPr lang="en" sz="1000">
                <a:highlight>
                  <a:schemeClr val="lt1"/>
                </a:highlight>
                <a:latin typeface="Consolas"/>
                <a:ea typeface="Consolas"/>
                <a:cs typeface="Consolas"/>
                <a:sym typeface="Consolas"/>
              </a:rPr>
              <a:t>.</a:t>
            </a:r>
            <a:r>
              <a:rPr lang="en" sz="1000">
                <a:solidFill>
                  <a:srgbClr val="795E26"/>
                </a:solidFill>
                <a:highlight>
                  <a:schemeClr val="lt1"/>
                </a:highlight>
                <a:latin typeface="Consolas"/>
                <a:ea typeface="Consolas"/>
                <a:cs typeface="Consolas"/>
                <a:sym typeface="Consolas"/>
              </a:rPr>
              <a:t>println</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triangle</a:t>
            </a:r>
            <a:r>
              <a:rPr lang="en" sz="1000">
                <a:highlight>
                  <a:schemeClr val="lt1"/>
                </a:highlight>
                <a:latin typeface="Consolas"/>
                <a:ea typeface="Consolas"/>
                <a:cs typeface="Consolas"/>
                <a:sym typeface="Consolas"/>
              </a:rPr>
              <a:t>.</a:t>
            </a:r>
            <a:r>
              <a:rPr lang="en" sz="1000">
                <a:solidFill>
                  <a:srgbClr val="795E26"/>
                </a:solidFill>
                <a:highlight>
                  <a:schemeClr val="lt1"/>
                </a:highlight>
                <a:latin typeface="Consolas"/>
                <a:ea typeface="Consolas"/>
                <a:cs typeface="Consolas"/>
                <a:sym typeface="Consolas"/>
              </a:rPr>
              <a:t>area</a:t>
            </a:r>
            <a:r>
              <a:rPr lang="en" sz="1000">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base, height</a:t>
            </a:r>
            <a:r>
              <a:rPr lang="en" sz="1000">
                <a:highlight>
                  <a:schemeClr val="lt1"/>
                </a:highlight>
                <a:latin typeface="Consolas"/>
                <a:ea typeface="Consolas"/>
                <a:cs typeface="Consolas"/>
                <a:sym typeface="Consolas"/>
              </a:rPr>
              <a:t>));</a:t>
            </a:r>
            <a:endParaRPr sz="1000">
              <a:highlight>
                <a:schemeClr val="lt1"/>
              </a:highlight>
              <a:latin typeface="Consolas"/>
              <a:ea typeface="Consolas"/>
              <a:cs typeface="Consolas"/>
              <a:sym typeface="Consolas"/>
            </a:endParaRPr>
          </a:p>
          <a:p>
            <a:pPr marL="0" lvl="0" indent="0" algn="l" rtl="0">
              <a:spcBef>
                <a:spcPts val="0"/>
              </a:spcBef>
              <a:spcAft>
                <a:spcPts val="0"/>
              </a:spcAft>
              <a:buNone/>
            </a:pPr>
            <a:r>
              <a:rPr lang="en" sz="1000">
                <a:highlight>
                  <a:schemeClr val="lt1"/>
                </a:highlight>
                <a:latin typeface="Consolas"/>
                <a:ea typeface="Consolas"/>
                <a:cs typeface="Consolas"/>
                <a:sym typeface="Consolas"/>
              </a:rPr>
              <a:t>}</a:t>
            </a:r>
            <a:endParaRPr sz="1000">
              <a:solidFill>
                <a:srgbClr val="0000FF"/>
              </a:solidFill>
              <a:highlight>
                <a:srgbClr val="FFFFFF"/>
              </a:highlight>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661" name="Google Shape;661;p64"/>
          <p:cNvSpPr txBox="1"/>
          <p:nvPr/>
        </p:nvSpPr>
        <p:spPr>
          <a:xfrm>
            <a:off x="3880245" y="4412086"/>
            <a:ext cx="4795800" cy="501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45700" rIns="0" bIns="45700" anchor="t" anchorCtr="0">
            <a:spAutoFit/>
          </a:bodyPr>
          <a:lstStyle/>
          <a:p>
            <a:pPr marL="0" lvl="0" indent="0" algn="l" rtl="0">
              <a:lnSpc>
                <a:spcPct val="135714"/>
              </a:lnSpc>
              <a:spcBef>
                <a:spcPts val="0"/>
              </a:spcBef>
              <a:spcAft>
                <a:spcPts val="0"/>
              </a:spcAft>
              <a:buNone/>
            </a:pPr>
            <a:r>
              <a:rPr lang="en" sz="1100" dirty="0">
                <a:solidFill>
                  <a:srgbClr val="267F99"/>
                </a:solidFill>
                <a:highlight>
                  <a:srgbClr val="FFFFFF"/>
                </a:highlight>
                <a:latin typeface="Consolas"/>
                <a:ea typeface="Consolas"/>
                <a:cs typeface="Consolas"/>
                <a:sym typeface="Consolas"/>
              </a:rPr>
              <a:t>Shape</a:t>
            </a:r>
            <a:r>
              <a:rPr lang="en" sz="1100" dirty="0">
                <a:highlight>
                  <a:srgbClr val="FFFFFF"/>
                </a:highlight>
                <a:latin typeface="Consolas"/>
                <a:ea typeface="Consolas"/>
                <a:cs typeface="Consolas"/>
                <a:sym typeface="Consolas"/>
              </a:rPr>
              <a:t> </a:t>
            </a:r>
            <a:r>
              <a:rPr lang="en" sz="1100" dirty="0">
                <a:solidFill>
                  <a:srgbClr val="001080"/>
                </a:solidFill>
                <a:latin typeface="Consolas"/>
                <a:ea typeface="Consolas"/>
                <a:cs typeface="Consolas"/>
                <a:sym typeface="Consolas"/>
              </a:rPr>
              <a:t>circle = dimens</a:t>
            </a:r>
            <a:r>
              <a:rPr lang="en" sz="1100" dirty="0">
                <a:latin typeface="Consolas"/>
                <a:ea typeface="Consolas"/>
                <a:cs typeface="Consolas"/>
                <a:sym typeface="Consolas"/>
              </a:rPr>
              <a:t> </a:t>
            </a:r>
            <a:r>
              <a:rPr lang="en" sz="1100" dirty="0">
                <a:solidFill>
                  <a:srgbClr val="0000FF"/>
                </a:solidFill>
                <a:latin typeface="Consolas"/>
                <a:ea typeface="Consolas"/>
                <a:cs typeface="Consolas"/>
                <a:sym typeface="Consolas"/>
              </a:rPr>
              <a:t>-&gt;</a:t>
            </a:r>
            <a:r>
              <a:rPr lang="en" sz="1150" dirty="0">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Math</a:t>
            </a:r>
            <a:r>
              <a:rPr lang="en" sz="1100" dirty="0">
                <a:highlight>
                  <a:srgbClr val="FFFFFF"/>
                </a:highlight>
                <a:latin typeface="Consolas"/>
                <a:ea typeface="Consolas"/>
                <a:cs typeface="Consolas"/>
                <a:sym typeface="Consolas"/>
              </a:rPr>
              <a:t>.</a:t>
            </a:r>
            <a:r>
              <a:rPr lang="en" sz="1100" dirty="0">
                <a:solidFill>
                  <a:srgbClr val="0070C1"/>
                </a:solidFill>
                <a:highlight>
                  <a:srgbClr val="FFFFFF"/>
                </a:highlight>
                <a:latin typeface="Consolas"/>
                <a:ea typeface="Consolas"/>
                <a:cs typeface="Consolas"/>
                <a:sym typeface="Consolas"/>
              </a:rPr>
              <a:t>PI</a:t>
            </a:r>
            <a:r>
              <a:rPr lang="en" sz="1100" dirty="0">
                <a:highlight>
                  <a:srgbClr val="FFFFFF"/>
                </a:highlight>
                <a:latin typeface="Consolas"/>
                <a:ea typeface="Consolas"/>
                <a:cs typeface="Consolas"/>
                <a:sym typeface="Consolas"/>
              </a:rPr>
              <a:t> * </a:t>
            </a:r>
            <a:r>
              <a:rPr lang="en" sz="1100" dirty="0">
                <a:solidFill>
                  <a:srgbClr val="001080"/>
                </a:solidFill>
                <a:highlight>
                  <a:srgbClr val="FFFFFF"/>
                </a:highlight>
                <a:latin typeface="Consolas"/>
                <a:ea typeface="Consolas"/>
                <a:cs typeface="Consolas"/>
                <a:sym typeface="Consolas"/>
              </a:rPr>
              <a:t>dimens[0] </a:t>
            </a:r>
            <a:r>
              <a:rPr lang="en" sz="1100" dirty="0">
                <a:highlight>
                  <a:srgbClr val="FFFFFF"/>
                </a:highlight>
                <a:latin typeface="Consolas"/>
                <a:ea typeface="Consolas"/>
                <a:cs typeface="Consolas"/>
                <a:sym typeface="Consolas"/>
              </a:rPr>
              <a:t>* </a:t>
            </a:r>
            <a:r>
              <a:rPr lang="en" sz="1100" dirty="0">
                <a:solidFill>
                  <a:srgbClr val="001080"/>
                </a:solidFill>
                <a:highlight>
                  <a:srgbClr val="FFFFFF"/>
                </a:highlight>
                <a:latin typeface="Consolas"/>
                <a:ea typeface="Consolas"/>
                <a:cs typeface="Consolas"/>
                <a:sym typeface="Consolas"/>
              </a:rPr>
              <a:t>dimens[0]</a:t>
            </a:r>
            <a:r>
              <a:rPr lang="en" sz="1150" dirty="0">
                <a:latin typeface="Consolas"/>
                <a:ea typeface="Consolas"/>
                <a:cs typeface="Consolas"/>
                <a:sym typeface="Consolas"/>
              </a:rPr>
              <a:t>; </a:t>
            </a:r>
            <a:endParaRPr sz="1150" dirty="0">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1080"/>
                </a:solidFill>
                <a:highlight>
                  <a:srgbClr val="FFFFFF"/>
                </a:highlight>
                <a:latin typeface="Consolas"/>
                <a:ea typeface="Consolas"/>
                <a:cs typeface="Consolas"/>
                <a:sym typeface="Consolas"/>
              </a:rPr>
              <a:t>circle</a:t>
            </a:r>
            <a:r>
              <a:rPr lang="en" sz="1100" dirty="0">
                <a:highlight>
                  <a:srgbClr val="FFFFFF"/>
                </a:highlight>
                <a:latin typeface="Consolas"/>
                <a:ea typeface="Consolas"/>
                <a:cs typeface="Consolas"/>
                <a:sym typeface="Consolas"/>
              </a:rPr>
              <a:t>.</a:t>
            </a:r>
            <a:r>
              <a:rPr lang="en" sz="1100" dirty="0">
                <a:solidFill>
                  <a:srgbClr val="795E26"/>
                </a:solidFill>
                <a:highlight>
                  <a:srgbClr val="FFFFFF"/>
                </a:highlight>
                <a:latin typeface="Consolas"/>
                <a:ea typeface="Consolas"/>
                <a:cs typeface="Consolas"/>
                <a:sym typeface="Consolas"/>
              </a:rPr>
              <a:t>area</a:t>
            </a:r>
            <a:r>
              <a:rPr lang="en" sz="1100" dirty="0">
                <a:highlight>
                  <a:srgbClr val="FFFFFF"/>
                </a:highlight>
                <a:latin typeface="Consolas"/>
                <a:ea typeface="Consolas"/>
                <a:cs typeface="Consolas"/>
                <a:sym typeface="Consolas"/>
              </a:rPr>
              <a:t>(</a:t>
            </a:r>
            <a:r>
              <a:rPr lang="en" sz="1100" dirty="0">
                <a:solidFill>
                  <a:srgbClr val="098658"/>
                </a:solidFill>
                <a:highlight>
                  <a:srgbClr val="FFFFFF"/>
                </a:highlight>
                <a:latin typeface="Consolas"/>
                <a:ea typeface="Consolas"/>
                <a:cs typeface="Consolas"/>
                <a:sym typeface="Consolas"/>
              </a:rPr>
              <a:t>10</a:t>
            </a:r>
            <a:r>
              <a:rPr lang="en" sz="1100" dirty="0">
                <a:highlight>
                  <a:srgbClr val="FFFFFF"/>
                </a:highlight>
                <a:latin typeface="Consolas"/>
                <a:ea typeface="Consolas"/>
                <a:cs typeface="Consolas"/>
                <a:sym typeface="Consolas"/>
              </a:rPr>
              <a:t>);</a:t>
            </a:r>
            <a:endParaRPr sz="1100" dirty="0">
              <a:latin typeface="Consolas"/>
              <a:ea typeface="Consolas"/>
              <a:cs typeface="Consolas"/>
              <a:sym typeface="Consolas"/>
            </a:endParaRPr>
          </a:p>
        </p:txBody>
      </p:sp>
      <p:sp>
        <p:nvSpPr>
          <p:cNvPr id="662" name="Google Shape;662;p64"/>
          <p:cNvSpPr txBox="1"/>
          <p:nvPr/>
        </p:nvSpPr>
        <p:spPr>
          <a:xfrm>
            <a:off x="4679137" y="1352207"/>
            <a:ext cx="4173600" cy="1293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dirty="0">
                <a:solidFill>
                  <a:srgbClr val="267F99"/>
                </a:solidFill>
                <a:highlight>
                  <a:srgbClr val="FFFFFF"/>
                </a:highlight>
                <a:latin typeface="Consolas"/>
                <a:ea typeface="Consolas"/>
                <a:cs typeface="Consolas"/>
                <a:sym typeface="Consolas"/>
              </a:rPr>
              <a:t>Shape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circle</a:t>
            </a:r>
            <a:r>
              <a:rPr lang="en" sz="900" dirty="0">
                <a:highlight>
                  <a:srgbClr val="FFFFFF"/>
                </a:highlight>
                <a:latin typeface="Consolas"/>
                <a:ea typeface="Consolas"/>
                <a:cs typeface="Consolas"/>
                <a:sym typeface="Consolas"/>
              </a:rPr>
              <a:t> = </a:t>
            </a:r>
            <a:r>
              <a:rPr lang="en" sz="900" dirty="0">
                <a:solidFill>
                  <a:srgbClr val="AF00DB"/>
                </a:solidFill>
                <a:highlight>
                  <a:srgbClr val="FFFFFF"/>
                </a:highlight>
                <a:latin typeface="Consolas"/>
                <a:ea typeface="Consolas"/>
                <a:cs typeface="Consolas"/>
                <a:sym typeface="Consolas"/>
              </a:rPr>
              <a:t>new</a:t>
            </a:r>
            <a:r>
              <a:rPr lang="en" sz="900" dirty="0">
                <a:highlight>
                  <a:srgbClr val="FFFFFF"/>
                </a:highlight>
                <a:latin typeface="Consolas"/>
                <a:ea typeface="Consolas"/>
                <a:cs typeface="Consolas"/>
                <a:sym typeface="Consolas"/>
              </a:rPr>
              <a:t> </a:t>
            </a:r>
            <a:r>
              <a:rPr lang="en" sz="900" dirty="0">
                <a:solidFill>
                  <a:srgbClr val="795E26"/>
                </a:solidFill>
                <a:highlight>
                  <a:srgbClr val="FFFFFF"/>
                </a:highlight>
                <a:latin typeface="Consolas"/>
                <a:ea typeface="Consolas"/>
                <a:cs typeface="Consolas"/>
                <a:sym typeface="Consolas"/>
              </a:rPr>
              <a:t>Shape</a:t>
            </a: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Override</a:t>
            </a:r>
            <a:endParaRPr sz="900" dirty="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public</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795E26"/>
                </a:solidFill>
                <a:highlight>
                  <a:srgbClr val="FFFFFF"/>
                </a:highlight>
                <a:latin typeface="Consolas"/>
                <a:ea typeface="Consolas"/>
                <a:cs typeface="Consolas"/>
                <a:sym typeface="Consolas"/>
              </a:rPr>
              <a:t>area</a:t>
            </a:r>
            <a:r>
              <a:rPr lang="en" sz="900" dirty="0">
                <a:highlight>
                  <a:srgbClr val="FFFFFF"/>
                </a:highlight>
                <a:latin typeface="Consolas"/>
                <a:ea typeface="Consolas"/>
                <a:cs typeface="Consolas"/>
                <a:sym typeface="Consolas"/>
              </a:rPr>
              <a:t>(</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dimensions</a:t>
            </a: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dimensions</a:t>
            </a:r>
            <a:r>
              <a:rPr lang="en" sz="900" dirty="0">
                <a:highlight>
                  <a:srgbClr val="FFFFFF"/>
                </a:highlight>
                <a:latin typeface="Consolas"/>
                <a:ea typeface="Consolas"/>
                <a:cs typeface="Consolas"/>
                <a:sym typeface="Consolas"/>
              </a:rPr>
              <a:t>[</a:t>
            </a:r>
            <a:r>
              <a:rPr lang="en" sz="900" dirty="0">
                <a:solidFill>
                  <a:srgbClr val="098658"/>
                </a:solidFill>
                <a:highlight>
                  <a:srgbClr val="FFFFFF"/>
                </a:highlight>
                <a:latin typeface="Consolas"/>
                <a:ea typeface="Consolas"/>
                <a:cs typeface="Consolas"/>
                <a:sym typeface="Consolas"/>
              </a:rPr>
              <a:t>0</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AF00DB"/>
                </a:solidFill>
                <a:highlight>
                  <a:srgbClr val="FFFFFF"/>
                </a:highlight>
                <a:latin typeface="Consolas"/>
                <a:ea typeface="Consolas"/>
                <a:cs typeface="Consolas"/>
                <a:sym typeface="Consolas"/>
              </a:rPr>
              <a:t>return</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Math</a:t>
            </a:r>
            <a:r>
              <a:rPr lang="en" sz="900" dirty="0">
                <a:highlight>
                  <a:srgbClr val="FFFFFF"/>
                </a:highlight>
                <a:latin typeface="Consolas"/>
                <a:ea typeface="Consolas"/>
                <a:cs typeface="Consolas"/>
                <a:sym typeface="Consolas"/>
              </a:rPr>
              <a:t>.</a:t>
            </a:r>
            <a:r>
              <a:rPr lang="en" sz="900" dirty="0">
                <a:solidFill>
                  <a:srgbClr val="0070C1"/>
                </a:solidFill>
                <a:highlight>
                  <a:srgbClr val="FFFFFF"/>
                </a:highlight>
                <a:latin typeface="Consolas"/>
                <a:ea typeface="Consolas"/>
                <a:cs typeface="Consolas"/>
                <a:sym typeface="Consolas"/>
              </a:rPr>
              <a:t>PI</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dirty="0">
                <a:solidFill>
                  <a:srgbClr val="001080"/>
                </a:solidFill>
                <a:highlight>
                  <a:srgbClr val="FFFFFF"/>
                </a:highlight>
                <a:latin typeface="Consolas"/>
                <a:ea typeface="Consolas"/>
                <a:cs typeface="Consolas"/>
                <a:sym typeface="Consolas"/>
              </a:rPr>
              <a:t>circle</a:t>
            </a:r>
            <a:r>
              <a:rPr lang="en" sz="900" dirty="0">
                <a:highlight>
                  <a:srgbClr val="FFFFFF"/>
                </a:highlight>
                <a:latin typeface="Consolas"/>
                <a:ea typeface="Consolas"/>
                <a:cs typeface="Consolas"/>
                <a:sym typeface="Consolas"/>
              </a:rPr>
              <a:t>.</a:t>
            </a:r>
            <a:r>
              <a:rPr lang="en" sz="900" dirty="0">
                <a:solidFill>
                  <a:srgbClr val="795E26"/>
                </a:solidFill>
                <a:highlight>
                  <a:srgbClr val="FFFFFF"/>
                </a:highlight>
                <a:latin typeface="Consolas"/>
                <a:ea typeface="Consolas"/>
                <a:cs typeface="Consolas"/>
                <a:sym typeface="Consolas"/>
              </a:rPr>
              <a:t>area</a:t>
            </a:r>
            <a:r>
              <a:rPr lang="en" sz="900" dirty="0">
                <a:highlight>
                  <a:srgbClr val="FFFFFF"/>
                </a:highlight>
                <a:latin typeface="Consolas"/>
                <a:ea typeface="Consolas"/>
                <a:cs typeface="Consolas"/>
                <a:sym typeface="Consolas"/>
              </a:rPr>
              <a:t>(</a:t>
            </a:r>
            <a:r>
              <a:rPr lang="en" sz="900" dirty="0">
                <a:solidFill>
                  <a:srgbClr val="098658"/>
                </a:solidFill>
                <a:highlight>
                  <a:srgbClr val="FFFFFF"/>
                </a:highlight>
                <a:latin typeface="Consolas"/>
                <a:ea typeface="Consolas"/>
                <a:cs typeface="Consolas"/>
                <a:sym typeface="Consolas"/>
              </a:rPr>
              <a:t>10</a:t>
            </a:r>
            <a:r>
              <a:rPr lang="en" sz="900" dirty="0">
                <a:highlight>
                  <a:srgbClr val="FFFFFF"/>
                </a:highlight>
                <a:latin typeface="Consolas"/>
                <a:ea typeface="Consolas"/>
                <a:cs typeface="Consolas"/>
                <a:sym typeface="Consolas"/>
              </a:rPr>
              <a:t>)</a:t>
            </a:r>
            <a:endParaRPr sz="900" dirty="0">
              <a:solidFill>
                <a:srgbClr val="001080"/>
              </a:solidFill>
              <a:latin typeface="Consolas"/>
              <a:ea typeface="Consolas"/>
              <a:cs typeface="Consolas"/>
              <a:sym typeface="Consolas"/>
            </a:endParaRPr>
          </a:p>
        </p:txBody>
      </p:sp>
      <p:sp>
        <p:nvSpPr>
          <p:cNvPr id="663" name="Google Shape;663;p64"/>
          <p:cNvSpPr txBox="1"/>
          <p:nvPr/>
        </p:nvSpPr>
        <p:spPr>
          <a:xfrm>
            <a:off x="269025" y="3033850"/>
            <a:ext cx="3300300" cy="1896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00" dirty="0">
                <a:solidFill>
                  <a:srgbClr val="0000FF"/>
                </a:solidFill>
                <a:highlight>
                  <a:srgbClr val="FFFFFF"/>
                </a:highlight>
                <a:latin typeface="Consolas"/>
                <a:ea typeface="Consolas"/>
                <a:cs typeface="Consolas"/>
                <a:sym typeface="Consolas"/>
              </a:rPr>
              <a:t>public</a:t>
            </a: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class</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Shapes</a:t>
            </a: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  </a:t>
            </a:r>
            <a:endParaRPr sz="900" dirty="0">
              <a:solidFill>
                <a:srgbClr val="0000FF"/>
              </a:solidFill>
              <a:latin typeface="Consolas"/>
              <a:ea typeface="Consolas"/>
              <a:cs typeface="Consolas"/>
              <a:sym typeface="Consolas"/>
            </a:endParaRPr>
          </a:p>
          <a:p>
            <a:pPr marL="0" lvl="0" indent="0" algn="l" rtl="0">
              <a:spcBef>
                <a:spcPts val="0"/>
              </a:spcBef>
              <a:spcAft>
                <a:spcPts val="0"/>
              </a:spcAft>
              <a:buNone/>
            </a:pPr>
            <a:r>
              <a:rPr lang="en" sz="900" dirty="0">
                <a:solidFill>
                  <a:srgbClr val="0000FF"/>
                </a:solidFill>
                <a:highlight>
                  <a:srgbClr val="FFFFFF"/>
                </a:highlight>
                <a:latin typeface="Consolas"/>
                <a:ea typeface="Consolas"/>
                <a:cs typeface="Consolas"/>
                <a:sym typeface="Consolas"/>
              </a:rPr>
              <a:t>  public</a:t>
            </a: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static</a:t>
            </a: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class</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Circle</a:t>
            </a: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implements</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Shape</a:t>
            </a: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Override</a:t>
            </a:r>
            <a:endParaRPr sz="900" dirty="0">
              <a:solidFill>
                <a:srgbClr val="267F99"/>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0000FF"/>
                </a:solidFill>
                <a:highlight>
                  <a:srgbClr val="FFFFFF"/>
                </a:highlight>
                <a:latin typeface="Consolas"/>
                <a:ea typeface="Consolas"/>
                <a:cs typeface="Consolas"/>
                <a:sym typeface="Consolas"/>
              </a:rPr>
              <a:t>public</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795E26"/>
                </a:solidFill>
                <a:highlight>
                  <a:srgbClr val="FFFFFF"/>
                </a:highlight>
                <a:latin typeface="Consolas"/>
                <a:ea typeface="Consolas"/>
                <a:cs typeface="Consolas"/>
                <a:sym typeface="Consolas"/>
              </a:rPr>
              <a:t>area</a:t>
            </a:r>
            <a:r>
              <a:rPr lang="en" sz="900" dirty="0">
                <a:highlight>
                  <a:srgbClr val="FFFFFF"/>
                </a:highlight>
                <a:latin typeface="Consolas"/>
                <a:ea typeface="Consolas"/>
                <a:cs typeface="Consolas"/>
                <a:sym typeface="Consolas"/>
              </a:rPr>
              <a:t>(</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dimensions</a:t>
            </a: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double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dimensions</a:t>
            </a:r>
            <a:r>
              <a:rPr lang="en" sz="900" dirty="0">
                <a:highlight>
                  <a:srgbClr val="FFFFFF"/>
                </a:highlight>
                <a:latin typeface="Consolas"/>
                <a:ea typeface="Consolas"/>
                <a:cs typeface="Consolas"/>
                <a:sym typeface="Consolas"/>
              </a:rPr>
              <a:t>[</a:t>
            </a:r>
            <a:r>
              <a:rPr lang="en" sz="900" dirty="0">
                <a:solidFill>
                  <a:srgbClr val="098658"/>
                </a:solidFill>
                <a:highlight>
                  <a:srgbClr val="FFFFFF"/>
                </a:highlight>
                <a:latin typeface="Consolas"/>
                <a:ea typeface="Consolas"/>
                <a:cs typeface="Consolas"/>
                <a:sym typeface="Consolas"/>
              </a:rPr>
              <a:t>0</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r>
              <a:rPr lang="en" sz="900" dirty="0">
                <a:solidFill>
                  <a:srgbClr val="AF00DB"/>
                </a:solidFill>
                <a:highlight>
                  <a:srgbClr val="FFFFFF"/>
                </a:highlight>
                <a:latin typeface="Consolas"/>
                <a:ea typeface="Consolas"/>
                <a:cs typeface="Consolas"/>
                <a:sym typeface="Consolas"/>
              </a:rPr>
              <a:t>return</a:t>
            </a:r>
            <a:r>
              <a:rPr lang="en" sz="900" dirty="0">
                <a:highlight>
                  <a:srgbClr val="FFFFFF"/>
                </a:highlight>
                <a:latin typeface="Consolas"/>
                <a:ea typeface="Consolas"/>
                <a:cs typeface="Consolas"/>
                <a:sym typeface="Consolas"/>
              </a:rPr>
              <a:t> </a:t>
            </a:r>
            <a:r>
              <a:rPr lang="en" sz="900" dirty="0">
                <a:solidFill>
                  <a:srgbClr val="267F99"/>
                </a:solidFill>
                <a:highlight>
                  <a:srgbClr val="FFFFFF"/>
                </a:highlight>
                <a:latin typeface="Consolas"/>
                <a:ea typeface="Consolas"/>
                <a:cs typeface="Consolas"/>
                <a:sym typeface="Consolas"/>
              </a:rPr>
              <a:t>Math</a:t>
            </a:r>
            <a:r>
              <a:rPr lang="en" sz="900" dirty="0">
                <a:highlight>
                  <a:srgbClr val="FFFFFF"/>
                </a:highlight>
                <a:latin typeface="Consolas"/>
                <a:ea typeface="Consolas"/>
                <a:cs typeface="Consolas"/>
                <a:sym typeface="Consolas"/>
              </a:rPr>
              <a:t>.</a:t>
            </a:r>
            <a:r>
              <a:rPr lang="en" sz="900" dirty="0">
                <a:solidFill>
                  <a:srgbClr val="0070C1"/>
                </a:solidFill>
                <a:highlight>
                  <a:srgbClr val="FFFFFF"/>
                </a:highlight>
                <a:latin typeface="Consolas"/>
                <a:ea typeface="Consolas"/>
                <a:cs typeface="Consolas"/>
                <a:sym typeface="Consolas"/>
              </a:rPr>
              <a:t>PI</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 * </a:t>
            </a:r>
            <a:r>
              <a:rPr lang="en" sz="900" dirty="0">
                <a:solidFill>
                  <a:srgbClr val="001080"/>
                </a:solidFill>
                <a:highlight>
                  <a:srgbClr val="FFFFFF"/>
                </a:highlight>
                <a:latin typeface="Consolas"/>
                <a:ea typeface="Consolas"/>
                <a:cs typeface="Consolas"/>
                <a:sym typeface="Consolas"/>
              </a:rPr>
              <a:t>radius</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highlight>
                  <a:srgbClr val="FFFFFF"/>
                </a:highlight>
                <a:latin typeface="Consolas"/>
                <a:ea typeface="Consolas"/>
                <a:cs typeface="Consolas"/>
                <a:sym typeface="Consolas"/>
              </a:rPr>
              <a:t>  }</a:t>
            </a:r>
            <a:endParaRPr sz="900" dirty="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spcBef>
                <a:spcPts val="0"/>
              </a:spcBef>
              <a:spcAft>
                <a:spcPts val="0"/>
              </a:spcAft>
              <a:buNone/>
            </a:pPr>
            <a:r>
              <a:rPr lang="en" sz="900" dirty="0">
                <a:solidFill>
                  <a:srgbClr val="267F99"/>
                </a:solidFill>
                <a:highlight>
                  <a:srgbClr val="FFFFFF"/>
                </a:highlight>
                <a:latin typeface="Consolas"/>
                <a:ea typeface="Consolas"/>
                <a:cs typeface="Consolas"/>
                <a:sym typeface="Consolas"/>
              </a:rPr>
              <a:t>Shape</a:t>
            </a:r>
            <a:r>
              <a:rPr lang="en" sz="900" dirty="0">
                <a:highlight>
                  <a:srgbClr val="FFFFFF"/>
                </a:highlight>
                <a:latin typeface="Consolas"/>
                <a:ea typeface="Consolas"/>
                <a:cs typeface="Consolas"/>
                <a:sym typeface="Consolas"/>
              </a:rPr>
              <a:t> </a:t>
            </a:r>
            <a:r>
              <a:rPr lang="en" sz="900" dirty="0">
                <a:solidFill>
                  <a:srgbClr val="001080"/>
                </a:solidFill>
                <a:highlight>
                  <a:srgbClr val="FFFFFF"/>
                </a:highlight>
                <a:latin typeface="Consolas"/>
                <a:ea typeface="Consolas"/>
                <a:cs typeface="Consolas"/>
                <a:sym typeface="Consolas"/>
              </a:rPr>
              <a:t>circle </a:t>
            </a:r>
            <a:r>
              <a:rPr lang="en" sz="900" dirty="0">
                <a:highlight>
                  <a:srgbClr val="FFFFFF"/>
                </a:highlight>
                <a:latin typeface="Consolas"/>
                <a:ea typeface="Consolas"/>
                <a:cs typeface="Consolas"/>
                <a:sym typeface="Consolas"/>
              </a:rPr>
              <a:t>=</a:t>
            </a:r>
            <a:r>
              <a:rPr lang="en" sz="900" dirty="0">
                <a:solidFill>
                  <a:srgbClr val="001080"/>
                </a:solidFill>
                <a:highlight>
                  <a:srgbClr val="FFFFFF"/>
                </a:highlight>
                <a:latin typeface="Consolas"/>
                <a:ea typeface="Consolas"/>
                <a:cs typeface="Consolas"/>
                <a:sym typeface="Consolas"/>
              </a:rPr>
              <a:t> </a:t>
            </a:r>
            <a:r>
              <a:rPr lang="en" sz="900" dirty="0">
                <a:solidFill>
                  <a:srgbClr val="AF00DB"/>
                </a:solidFill>
                <a:highlight>
                  <a:srgbClr val="FFFFFF"/>
                </a:highlight>
                <a:latin typeface="Consolas"/>
                <a:ea typeface="Consolas"/>
                <a:cs typeface="Consolas"/>
                <a:sym typeface="Consolas"/>
              </a:rPr>
              <a:t>new</a:t>
            </a:r>
            <a:r>
              <a:rPr lang="en" sz="900" dirty="0">
                <a:highlight>
                  <a:srgbClr val="FFFFFF"/>
                </a:highlight>
                <a:latin typeface="Consolas"/>
                <a:ea typeface="Consolas"/>
                <a:cs typeface="Consolas"/>
                <a:sym typeface="Consolas"/>
              </a:rPr>
              <a:t> </a:t>
            </a:r>
            <a:r>
              <a:rPr lang="en" sz="900" dirty="0">
                <a:solidFill>
                  <a:srgbClr val="267F99"/>
                </a:solidFill>
                <a:highlight>
                  <a:schemeClr val="lt1"/>
                </a:highlight>
                <a:latin typeface="Consolas"/>
                <a:ea typeface="Consolas"/>
                <a:cs typeface="Consolas"/>
                <a:sym typeface="Consolas"/>
              </a:rPr>
              <a:t>Shapes</a:t>
            </a:r>
            <a:r>
              <a:rPr lang="en" sz="900" dirty="0">
                <a:highlight>
                  <a:srgbClr val="FFFFFF"/>
                </a:highlight>
                <a:latin typeface="Consolas"/>
                <a:ea typeface="Consolas"/>
                <a:cs typeface="Consolas"/>
                <a:sym typeface="Consolas"/>
              </a:rPr>
              <a:t>.</a:t>
            </a:r>
            <a:r>
              <a:rPr lang="en" sz="900" dirty="0">
                <a:solidFill>
                  <a:srgbClr val="795E26"/>
                </a:solidFill>
                <a:highlight>
                  <a:srgbClr val="FFFFFF"/>
                </a:highlight>
                <a:latin typeface="Consolas"/>
                <a:ea typeface="Consolas"/>
                <a:cs typeface="Consolas"/>
                <a:sym typeface="Consolas"/>
              </a:rPr>
              <a:t>Circle</a:t>
            </a:r>
            <a:r>
              <a:rPr lang="en" sz="900" dirty="0">
                <a:highlight>
                  <a:srgbClr val="FFFFFF"/>
                </a:highlight>
                <a:latin typeface="Consolas"/>
                <a:ea typeface="Consolas"/>
                <a:cs typeface="Consolas"/>
                <a:sym typeface="Consolas"/>
              </a:rPr>
              <a:t>().</a:t>
            </a:r>
            <a:r>
              <a:rPr lang="en" sz="900" dirty="0">
                <a:solidFill>
                  <a:srgbClr val="795E26"/>
                </a:solidFill>
                <a:highlight>
                  <a:srgbClr val="FFFFFF"/>
                </a:highlight>
                <a:latin typeface="Consolas"/>
                <a:ea typeface="Consolas"/>
                <a:cs typeface="Consolas"/>
                <a:sym typeface="Consolas"/>
              </a:rPr>
              <a:t>area</a:t>
            </a:r>
            <a:r>
              <a:rPr lang="en" sz="900" dirty="0">
                <a:highlight>
                  <a:srgbClr val="FFFFFF"/>
                </a:highlight>
                <a:latin typeface="Consolas"/>
                <a:ea typeface="Consolas"/>
                <a:cs typeface="Consolas"/>
                <a:sym typeface="Consolas"/>
              </a:rPr>
              <a:t>(</a:t>
            </a:r>
            <a:r>
              <a:rPr lang="en" sz="900" dirty="0">
                <a:solidFill>
                  <a:srgbClr val="098658"/>
                </a:solidFill>
                <a:highlight>
                  <a:srgbClr val="FFFFFF"/>
                </a:highlight>
                <a:latin typeface="Consolas"/>
                <a:ea typeface="Consolas"/>
                <a:cs typeface="Consolas"/>
                <a:sym typeface="Consolas"/>
              </a:rPr>
              <a:t>10</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a:p>
            <a:pPr marL="0" lvl="0" indent="0" algn="l" rtl="0">
              <a:spcBef>
                <a:spcPts val="0"/>
              </a:spcBef>
              <a:spcAft>
                <a:spcPts val="0"/>
              </a:spcAft>
              <a:buNone/>
            </a:pPr>
            <a:r>
              <a:rPr lang="en" sz="900" dirty="0">
                <a:solidFill>
                  <a:srgbClr val="001080"/>
                </a:solidFill>
                <a:highlight>
                  <a:srgbClr val="FFFFFF"/>
                </a:highlight>
                <a:latin typeface="Consolas"/>
                <a:ea typeface="Consolas"/>
                <a:cs typeface="Consolas"/>
                <a:sym typeface="Consolas"/>
              </a:rPr>
              <a:t>circle</a:t>
            </a:r>
            <a:r>
              <a:rPr lang="en" sz="900" dirty="0">
                <a:highlight>
                  <a:srgbClr val="FFFFFF"/>
                </a:highlight>
                <a:latin typeface="Consolas"/>
                <a:ea typeface="Consolas"/>
                <a:cs typeface="Consolas"/>
                <a:sym typeface="Consolas"/>
              </a:rPr>
              <a:t>.</a:t>
            </a:r>
            <a:r>
              <a:rPr lang="en" sz="900" dirty="0">
                <a:solidFill>
                  <a:srgbClr val="795E26"/>
                </a:solidFill>
                <a:highlight>
                  <a:srgbClr val="FFFFFF"/>
                </a:highlight>
                <a:latin typeface="Consolas"/>
                <a:ea typeface="Consolas"/>
                <a:cs typeface="Consolas"/>
                <a:sym typeface="Consolas"/>
              </a:rPr>
              <a:t>area</a:t>
            </a:r>
            <a:r>
              <a:rPr lang="en" sz="900" dirty="0">
                <a:highlight>
                  <a:srgbClr val="FFFFFF"/>
                </a:highlight>
                <a:latin typeface="Consolas"/>
                <a:ea typeface="Consolas"/>
                <a:cs typeface="Consolas"/>
                <a:sym typeface="Consolas"/>
              </a:rPr>
              <a:t>(</a:t>
            </a:r>
            <a:r>
              <a:rPr lang="en" sz="900" dirty="0">
                <a:solidFill>
                  <a:srgbClr val="098658"/>
                </a:solidFill>
                <a:highlight>
                  <a:srgbClr val="FFFFFF"/>
                </a:highlight>
                <a:latin typeface="Consolas"/>
                <a:ea typeface="Consolas"/>
                <a:cs typeface="Consolas"/>
                <a:sym typeface="Consolas"/>
              </a:rPr>
              <a:t>10</a:t>
            </a:r>
            <a:r>
              <a:rPr lang="en" sz="900" dirty="0">
                <a:highlight>
                  <a:srgbClr val="FFFFFF"/>
                </a:highlight>
                <a:latin typeface="Consolas"/>
                <a:ea typeface="Consolas"/>
                <a:cs typeface="Consolas"/>
                <a:sym typeface="Consolas"/>
              </a:rPr>
              <a:t>);</a:t>
            </a:r>
            <a:endParaRPr sz="900" dirty="0">
              <a:highlight>
                <a:srgbClr val="FFFFFF"/>
              </a:highlight>
              <a:latin typeface="Consolas"/>
              <a:ea typeface="Consolas"/>
              <a:cs typeface="Consolas"/>
              <a:sym typeface="Consolas"/>
            </a:endParaRPr>
          </a:p>
        </p:txBody>
      </p:sp>
      <p:sp>
        <p:nvSpPr>
          <p:cNvPr id="664" name="Google Shape;664;p64"/>
          <p:cNvSpPr txBox="1"/>
          <p:nvPr/>
        </p:nvSpPr>
        <p:spPr>
          <a:xfrm>
            <a:off x="249250" y="1347824"/>
            <a:ext cx="4173600" cy="14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implements</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Shape</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Override</a:t>
            </a:r>
            <a:endParaRPr sz="900">
              <a:solidFill>
                <a:srgbClr val="267F99"/>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dimensions</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dimensions</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0</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Math</a:t>
            </a:r>
            <a:r>
              <a:rPr lang="en" sz="900">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PI</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radius</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267F99"/>
                </a:solidFill>
                <a:highlight>
                  <a:srgbClr val="FFFFFF"/>
                </a:highlight>
                <a:latin typeface="Consolas"/>
                <a:ea typeface="Consolas"/>
                <a:cs typeface="Consolas"/>
                <a:sym typeface="Consolas"/>
              </a:rPr>
              <a:t>Shape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new</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1080"/>
                </a:solidFill>
                <a:highlight>
                  <a:srgbClr val="FFFFFF"/>
                </a:highlight>
                <a:latin typeface="Consolas"/>
                <a:ea typeface="Consolas"/>
                <a:cs typeface="Consolas"/>
                <a:sym typeface="Consolas"/>
              </a:rPr>
              <a:t>circle</a:t>
            </a:r>
            <a:r>
              <a:rPr lang="en" sz="900">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area</a:t>
            </a:r>
            <a:r>
              <a:rPr lang="en" sz="900">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10</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p:txBody>
      </p:sp>
      <p:sp>
        <p:nvSpPr>
          <p:cNvPr id="665" name="Google Shape;665;p6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From Regular Classes to Lambdas</a:t>
            </a:r>
            <a:endParaRPr/>
          </a:p>
        </p:txBody>
      </p:sp>
      <p:sp>
        <p:nvSpPr>
          <p:cNvPr id="666" name="Google Shape;666;p64"/>
          <p:cNvSpPr txBox="1"/>
          <p:nvPr/>
        </p:nvSpPr>
        <p:spPr>
          <a:xfrm>
            <a:off x="7421512" y="2128339"/>
            <a:ext cx="1311900" cy="44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Anonymous Class</a:t>
            </a:r>
            <a:endParaRPr sz="1100"/>
          </a:p>
        </p:txBody>
      </p:sp>
      <p:grpSp>
        <p:nvGrpSpPr>
          <p:cNvPr id="667" name="Google Shape;667;p64"/>
          <p:cNvGrpSpPr/>
          <p:nvPr/>
        </p:nvGrpSpPr>
        <p:grpSpPr>
          <a:xfrm>
            <a:off x="6934595" y="3555094"/>
            <a:ext cx="754800" cy="852600"/>
            <a:chOff x="6786225" y="3858900"/>
            <a:chExt cx="754800" cy="852600"/>
          </a:xfrm>
        </p:grpSpPr>
        <p:sp>
          <p:nvSpPr>
            <p:cNvPr id="668" name="Google Shape;668;p64"/>
            <p:cNvSpPr txBox="1"/>
            <p:nvPr/>
          </p:nvSpPr>
          <p:spPr>
            <a:xfrm>
              <a:off x="6786225" y="3858900"/>
              <a:ext cx="754800" cy="44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Lambda</a:t>
              </a:r>
              <a:endParaRPr sz="1100"/>
            </a:p>
          </p:txBody>
        </p:sp>
        <p:cxnSp>
          <p:nvCxnSpPr>
            <p:cNvPr id="669" name="Google Shape;669;p64"/>
            <p:cNvCxnSpPr>
              <a:stCxn id="668" idx="2"/>
            </p:cNvCxnSpPr>
            <p:nvPr/>
          </p:nvCxnSpPr>
          <p:spPr>
            <a:xfrm>
              <a:off x="7163625" y="4302300"/>
              <a:ext cx="900" cy="409200"/>
            </a:xfrm>
            <a:prstGeom prst="straightConnector1">
              <a:avLst/>
            </a:prstGeom>
            <a:noFill/>
            <a:ln w="19050" cap="flat" cmpd="sng">
              <a:solidFill>
                <a:srgbClr val="FF0000"/>
              </a:solidFill>
              <a:prstDash val="solid"/>
              <a:round/>
              <a:headEnd type="none" w="med" len="med"/>
              <a:tailEnd type="triangle" w="med" len="med"/>
            </a:ln>
          </p:spPr>
        </p:cxnSp>
      </p:grpSp>
      <p:sp>
        <p:nvSpPr>
          <p:cNvPr id="670" name="Google Shape;670;p64"/>
          <p:cNvSpPr txBox="1"/>
          <p:nvPr/>
        </p:nvSpPr>
        <p:spPr>
          <a:xfrm>
            <a:off x="3776724" y="3033859"/>
            <a:ext cx="917700" cy="44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Inner Class</a:t>
            </a:r>
            <a:endParaRPr sz="1100"/>
          </a:p>
        </p:txBody>
      </p:sp>
      <p:sp>
        <p:nvSpPr>
          <p:cNvPr id="671" name="Google Shape;671;p64"/>
          <p:cNvSpPr txBox="1"/>
          <p:nvPr/>
        </p:nvSpPr>
        <p:spPr>
          <a:xfrm>
            <a:off x="3263475" y="2319733"/>
            <a:ext cx="1073100" cy="379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Regular Class</a:t>
            </a:r>
            <a:endParaRPr sz="1100"/>
          </a:p>
        </p:txBody>
      </p:sp>
      <p:cxnSp>
        <p:nvCxnSpPr>
          <p:cNvPr id="672" name="Google Shape;672;p64"/>
          <p:cNvCxnSpPr>
            <a:stCxn id="670" idx="1"/>
          </p:cNvCxnSpPr>
          <p:nvPr/>
        </p:nvCxnSpPr>
        <p:spPr>
          <a:xfrm flipH="1">
            <a:off x="3569424" y="3255559"/>
            <a:ext cx="207300" cy="1140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4"/>
                                        </p:tgtEl>
                                        <p:attrNameLst>
                                          <p:attrName>style.visibility</p:attrName>
                                        </p:attrNameLst>
                                      </p:cBhvr>
                                      <p:to>
                                        <p:strVal val="visible"/>
                                      </p:to>
                                    </p:set>
                                    <p:animEffect transition="in" filter="fade">
                                      <p:cBhvr>
                                        <p:cTn id="7" dur="1000"/>
                                        <p:tgtEl>
                                          <p:spTgt spid="6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3"/>
                                        </p:tgtEl>
                                        <p:attrNameLst>
                                          <p:attrName>style.visibility</p:attrName>
                                        </p:attrNameLst>
                                      </p:cBhvr>
                                      <p:to>
                                        <p:strVal val="visible"/>
                                      </p:to>
                                    </p:set>
                                    <p:animEffect transition="in" filter="fade">
                                      <p:cBhvr>
                                        <p:cTn id="12" dur="1000"/>
                                        <p:tgtEl>
                                          <p:spTgt spid="6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62"/>
                                        </p:tgtEl>
                                        <p:attrNameLst>
                                          <p:attrName>style.visibility</p:attrName>
                                        </p:attrNameLst>
                                      </p:cBhvr>
                                      <p:to>
                                        <p:strVal val="visible"/>
                                      </p:to>
                                    </p:set>
                                    <p:animEffect transition="in" filter="fade">
                                      <p:cBhvr>
                                        <p:cTn id="17" dur="1000"/>
                                        <p:tgtEl>
                                          <p:spTgt spid="66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61"/>
                                        </p:tgtEl>
                                        <p:attrNameLst>
                                          <p:attrName>style.visibility</p:attrName>
                                        </p:attrNameLst>
                                      </p:cBhvr>
                                      <p:to>
                                        <p:strVal val="visible"/>
                                      </p:to>
                                    </p:set>
                                    <p:animEffect transition="in" filter="fade">
                                      <p:cBhvr>
                                        <p:cTn id="22" dur="1000"/>
                                        <p:tgtEl>
                                          <p:spTgt spid="661"/>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667"/>
                                        </p:tgtEl>
                                        <p:attrNameLst>
                                          <p:attrName>style.visibility</p:attrName>
                                        </p:attrNameLst>
                                      </p:cBhvr>
                                      <p:to>
                                        <p:strVal val="visible"/>
                                      </p:to>
                                    </p:set>
                                    <p:animEffect transition="in" filter="fade">
                                      <p:cBhvr>
                                        <p:cTn id="26" dur="1000"/>
                                        <p:tgtEl>
                                          <p:spTgt spid="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6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678" name="Google Shape;678;p65"/>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Streams</a:t>
            </a:r>
            <a:endParaRPr/>
          </a:p>
        </p:txBody>
      </p:sp>
      <p:sp>
        <p:nvSpPr>
          <p:cNvPr id="679" name="Google Shape;679;p65"/>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b="1" i="1">
                <a:solidFill>
                  <a:srgbClr val="FF0000"/>
                </a:solidFill>
              </a:rPr>
              <a:t>Streams</a:t>
            </a:r>
            <a:r>
              <a:rPr lang="en"/>
              <a:t> are a sequence of elements</a:t>
            </a:r>
            <a:endParaRPr/>
          </a:p>
          <a:p>
            <a:pPr marL="914400" lvl="1" indent="-298450" algn="l" rtl="0">
              <a:spcBef>
                <a:spcPts val="0"/>
              </a:spcBef>
              <a:spcAft>
                <a:spcPts val="0"/>
              </a:spcAft>
              <a:buSzPts val="1100"/>
              <a:buChar char="○"/>
            </a:pPr>
            <a:r>
              <a:rPr lang="en"/>
              <a:t>Characters in file</a:t>
            </a:r>
            <a:endParaRPr/>
          </a:p>
          <a:p>
            <a:pPr marL="914400" lvl="1" indent="-298450" algn="l" rtl="0">
              <a:spcBef>
                <a:spcPts val="0"/>
              </a:spcBef>
              <a:spcAft>
                <a:spcPts val="0"/>
              </a:spcAft>
              <a:buSzPts val="1100"/>
              <a:buChar char="○"/>
            </a:pPr>
            <a:r>
              <a:rPr lang="en"/>
              <a:t>Bytes over the network</a:t>
            </a:r>
            <a:endParaRPr/>
          </a:p>
          <a:p>
            <a:pPr marL="914400" lvl="1" indent="-298450" algn="l" rtl="0">
              <a:spcBef>
                <a:spcPts val="0"/>
              </a:spcBef>
              <a:spcAft>
                <a:spcPts val="0"/>
              </a:spcAft>
              <a:buSzPts val="1100"/>
              <a:buChar char="○"/>
            </a:pPr>
            <a:r>
              <a:rPr lang="en"/>
              <a:t>Elements in a List</a:t>
            </a:r>
            <a:endParaRPr/>
          </a:p>
          <a:p>
            <a:pPr marL="914400" lvl="1" indent="-298450" algn="l" rtl="0">
              <a:spcBef>
                <a:spcPts val="0"/>
              </a:spcBef>
              <a:spcAft>
                <a:spcPts val="0"/>
              </a:spcAft>
              <a:buSzPts val="1100"/>
              <a:buChar char="○"/>
            </a:pPr>
            <a:r>
              <a:rPr lang="en"/>
              <a:t>etc.</a:t>
            </a:r>
            <a:endParaRPr/>
          </a:p>
          <a:p>
            <a:pPr marL="457200" lvl="0" indent="-311150" algn="l" rtl="0">
              <a:spcBef>
                <a:spcPts val="1000"/>
              </a:spcBef>
              <a:spcAft>
                <a:spcPts val="0"/>
              </a:spcAft>
              <a:buSzPts val="1300"/>
              <a:buChar char="●"/>
            </a:pPr>
            <a:r>
              <a:rPr lang="en"/>
              <a:t>Java provides a lot of support for Streams</a:t>
            </a:r>
            <a:endParaRPr/>
          </a:p>
          <a:p>
            <a:pPr marL="457200" lvl="0" indent="-311150" algn="l" rtl="0">
              <a:spcBef>
                <a:spcPts val="1000"/>
              </a:spcBef>
              <a:spcAft>
                <a:spcPts val="0"/>
              </a:spcAft>
              <a:buSzPts val="1300"/>
              <a:buChar char="●"/>
            </a:pPr>
            <a:r>
              <a:rPr lang="en"/>
              <a:t>In particular, today we are going to look as the </a:t>
            </a:r>
            <a:r>
              <a:rPr lang="en">
                <a:solidFill>
                  <a:srgbClr val="FF0000"/>
                </a:solidFill>
                <a:latin typeface="Courier New"/>
                <a:ea typeface="Courier New"/>
                <a:cs typeface="Courier New"/>
                <a:sym typeface="Courier New"/>
              </a:rPr>
              <a:t>stream</a:t>
            </a:r>
            <a:r>
              <a:rPr lang="en">
                <a:solidFill>
                  <a:srgbClr val="FF0000"/>
                </a:solidFill>
              </a:rPr>
              <a:t> </a:t>
            </a:r>
            <a:r>
              <a:rPr lang="en"/>
              <a:t>method in the </a:t>
            </a:r>
            <a:r>
              <a:rPr lang="en">
                <a:latin typeface="Courier New"/>
                <a:ea typeface="Courier New"/>
                <a:cs typeface="Courier New"/>
                <a:sym typeface="Courier New"/>
              </a:rPr>
              <a:t>Collection</a:t>
            </a:r>
            <a:r>
              <a:rPr lang="en"/>
              <a:t> interface</a:t>
            </a:r>
            <a:endParaRPr/>
          </a:p>
          <a:p>
            <a:pPr marL="914400" lvl="1" indent="-298450" algn="l" rtl="0">
              <a:spcBef>
                <a:spcPts val="0"/>
              </a:spcBef>
              <a:spcAft>
                <a:spcPts val="0"/>
              </a:spcAft>
              <a:buSzPts val="1100"/>
              <a:buChar char="○"/>
            </a:pPr>
            <a:r>
              <a:rPr lang="en"/>
              <a:t>The </a:t>
            </a:r>
            <a:r>
              <a:rPr lang="en">
                <a:latin typeface="Courier New"/>
                <a:ea typeface="Courier New"/>
                <a:cs typeface="Courier New"/>
                <a:sym typeface="Courier New"/>
              </a:rPr>
              <a:t>Collection</a:t>
            </a:r>
            <a:r>
              <a:rPr lang="en"/>
              <a:t> interface is the base interface for </a:t>
            </a:r>
            <a:r>
              <a:rPr lang="en">
                <a:latin typeface="Courier New"/>
                <a:ea typeface="Courier New"/>
                <a:cs typeface="Courier New"/>
                <a:sym typeface="Courier New"/>
              </a:rPr>
              <a:t>List</a:t>
            </a:r>
            <a:r>
              <a:rPr lang="en"/>
              <a:t>, </a:t>
            </a:r>
            <a:r>
              <a:rPr lang="en">
                <a:latin typeface="Courier New"/>
                <a:ea typeface="Courier New"/>
                <a:cs typeface="Courier New"/>
                <a:sym typeface="Courier New"/>
              </a:rPr>
              <a:t>Queue</a:t>
            </a:r>
            <a:r>
              <a:rPr lang="en"/>
              <a:t>, </a:t>
            </a:r>
            <a:r>
              <a:rPr lang="en">
                <a:latin typeface="Courier New"/>
                <a:ea typeface="Courier New"/>
                <a:cs typeface="Courier New"/>
                <a:sym typeface="Courier New"/>
              </a:rPr>
              <a:t>Set</a:t>
            </a:r>
            <a:r>
              <a:rPr lang="en"/>
              <a:t>, and others (but not </a:t>
            </a:r>
            <a:r>
              <a:rPr lang="en">
                <a:latin typeface="Courier New"/>
                <a:ea typeface="Courier New"/>
                <a:cs typeface="Courier New"/>
                <a:sym typeface="Courier New"/>
              </a:rPr>
              <a:t>Map</a:t>
            </a:r>
            <a:r>
              <a:rPr lang="en"/>
              <a:t>)</a:t>
            </a:r>
            <a:endParaRPr/>
          </a:p>
          <a:p>
            <a:pPr marL="457200" lvl="0" indent="-311150" algn="l" rtl="0">
              <a:spcBef>
                <a:spcPts val="1000"/>
              </a:spcBef>
              <a:spcAft>
                <a:spcPts val="0"/>
              </a:spcAft>
              <a:buSzPts val="1300"/>
              <a:buChar char="●"/>
            </a:pPr>
            <a:r>
              <a:rPr lang="en"/>
              <a:t>The </a:t>
            </a:r>
            <a:r>
              <a:rPr lang="en">
                <a:latin typeface="Courier New"/>
                <a:ea typeface="Courier New"/>
                <a:cs typeface="Courier New"/>
                <a:sym typeface="Courier New"/>
              </a:rPr>
              <a:t>Stream&lt;E&gt; stream()</a:t>
            </a:r>
            <a:r>
              <a:rPr lang="en"/>
              <a:t> method returns a </a:t>
            </a:r>
            <a:r>
              <a:rPr lang="en">
                <a:latin typeface="Courier New"/>
                <a:ea typeface="Courier New"/>
                <a:cs typeface="Courier New"/>
                <a:sym typeface="Courier New"/>
              </a:rPr>
              <a:t>Stream</a:t>
            </a:r>
            <a:r>
              <a:rPr lang="en"/>
              <a:t> of elements in a </a:t>
            </a:r>
            <a:r>
              <a:rPr lang="en">
                <a:latin typeface="Courier New"/>
                <a:ea typeface="Courier New"/>
                <a:cs typeface="Courier New"/>
                <a:sym typeface="Courier New"/>
              </a:rPr>
              <a:t>Collection</a:t>
            </a:r>
            <a:endParaRPr>
              <a:latin typeface="Courier New"/>
              <a:ea typeface="Courier New"/>
              <a:cs typeface="Courier New"/>
              <a:sym typeface="Courier New"/>
            </a:endParaRPr>
          </a:p>
          <a:p>
            <a:pPr marL="457200" lvl="0" indent="-311150" algn="l" rtl="0">
              <a:spcBef>
                <a:spcPts val="1000"/>
              </a:spcBef>
              <a:spcAft>
                <a:spcPts val="0"/>
              </a:spcAft>
              <a:buSzPts val="1300"/>
              <a:buChar char="●"/>
            </a:pPr>
            <a:r>
              <a:rPr lang="en"/>
              <a:t>Alone this is not exceptionally useful, but Java has </a:t>
            </a:r>
            <a:r>
              <a:rPr lang="en">
                <a:solidFill>
                  <a:srgbClr val="FF0000"/>
                </a:solidFill>
                <a:latin typeface="Courier New"/>
                <a:ea typeface="Courier New"/>
                <a:cs typeface="Courier New"/>
                <a:sym typeface="Courier New"/>
              </a:rPr>
              <a:t>several methods</a:t>
            </a:r>
            <a:r>
              <a:rPr lang="en"/>
              <a:t> that work on streams that will be useful</a:t>
            </a:r>
            <a:endParaRPr/>
          </a:p>
        </p:txBody>
      </p:sp>
      <p:sp>
        <p:nvSpPr>
          <p:cNvPr id="680" name="Google Shape;680;p65"/>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b="1" i="1">
                <a:solidFill>
                  <a:srgbClr val="FF0000"/>
                </a:solidFill>
              </a:rPr>
              <a:t>Streams </a:t>
            </a:r>
            <a:r>
              <a:rPr lang="en"/>
              <a:t>are a continuous sequence of information that can be acted on and manipulated.</a:t>
            </a:r>
            <a:endParaRPr/>
          </a:p>
        </p:txBody>
      </p:sp>
      <p:pic>
        <p:nvPicPr>
          <p:cNvPr id="681" name="Google Shape;681;p65"/>
          <p:cNvPicPr preferRelativeResize="0"/>
          <p:nvPr/>
        </p:nvPicPr>
        <p:blipFill>
          <a:blip r:embed="rId3">
            <a:alphaModFix/>
          </a:blip>
          <a:stretch>
            <a:fillRect/>
          </a:stretch>
        </p:blipFill>
        <p:spPr>
          <a:xfrm>
            <a:off x="4886075" y="1442000"/>
            <a:ext cx="4166400" cy="1959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0"/>
                                        </p:tgtEl>
                                        <p:attrNameLst>
                                          <p:attrName>style.visibility</p:attrName>
                                        </p:attrNameLst>
                                      </p:cBhvr>
                                      <p:to>
                                        <p:strVal val="visible"/>
                                      </p:to>
                                    </p:set>
                                    <p:animEffect transition="in" filter="fade">
                                      <p:cBhvr>
                                        <p:cTn id="7" dur="1000"/>
                                        <p:tgtEl>
                                          <p:spTgt spid="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66"/>
          <p:cNvSpPr txBox="1">
            <a:spLocks noGrp="1"/>
          </p:cNvSpPr>
          <p:nvPr>
            <p:ph type="title"/>
          </p:nvPr>
        </p:nvSpPr>
        <p:spPr>
          <a:xfrm>
            <a:off x="1436850" y="100"/>
            <a:ext cx="7642500" cy="596700"/>
          </a:xfrm>
          <a:prstGeom prst="rect">
            <a:avLst/>
          </a:prstGeom>
          <a:noFill/>
          <a:ln>
            <a:noFill/>
          </a:ln>
        </p:spPr>
        <p:txBody>
          <a:bodyPr spcFirstLastPara="1" wrap="square" lIns="68575" tIns="34275" rIns="68575" bIns="34275" anchor="ctr" anchorCtr="0">
            <a:normAutofit/>
          </a:bodyPr>
          <a:lstStyle/>
          <a:p>
            <a:pPr marL="0" lvl="0" indent="0" algn="l" rtl="0">
              <a:lnSpc>
                <a:spcPct val="100000"/>
              </a:lnSpc>
              <a:spcBef>
                <a:spcPts val="0"/>
              </a:spcBef>
              <a:spcAft>
                <a:spcPts val="0"/>
              </a:spcAft>
              <a:buClr>
                <a:schemeClr val="dk2"/>
              </a:buClr>
              <a:buSzPts val="3300"/>
              <a:buFont typeface="Calibri"/>
              <a:buNone/>
            </a:pPr>
            <a:r>
              <a:rPr lang="en"/>
              <a:t>Preparation</a:t>
            </a:r>
            <a:endParaRPr/>
          </a:p>
        </p:txBody>
      </p:sp>
      <p:sp>
        <p:nvSpPr>
          <p:cNvPr id="687" name="Google Shape;687;p66"/>
          <p:cNvSpPr txBox="1">
            <a:spLocks noGrp="1"/>
          </p:cNvSpPr>
          <p:nvPr>
            <p:ph type="body" idx="1"/>
          </p:nvPr>
        </p:nvSpPr>
        <p:spPr>
          <a:xfrm>
            <a:off x="65250" y="731625"/>
            <a:ext cx="8955900" cy="817200"/>
          </a:xfrm>
          <a:prstGeom prst="rect">
            <a:avLst/>
          </a:prstGeom>
          <a:noFill/>
          <a:ln>
            <a:noFill/>
          </a:ln>
        </p:spPr>
        <p:txBody>
          <a:bodyPr spcFirstLastPara="1" wrap="square" lIns="68575" tIns="34275" rIns="68575" bIns="34275" anchor="t" anchorCtr="0">
            <a:spAutoFit/>
          </a:bodyPr>
          <a:lstStyle/>
          <a:p>
            <a:pPr marL="0" lvl="0" indent="0" algn="l" rtl="0">
              <a:lnSpc>
                <a:spcPct val="90000"/>
              </a:lnSpc>
              <a:spcBef>
                <a:spcPts val="0"/>
              </a:spcBef>
              <a:spcAft>
                <a:spcPts val="1600"/>
              </a:spcAft>
              <a:buClr>
                <a:schemeClr val="dk1"/>
              </a:buClr>
              <a:buSzPts val="1800"/>
              <a:buNone/>
            </a:pPr>
            <a:r>
              <a:rPr lang="en" sz="1800"/>
              <a:t>Before we dive into Java Streams, we're going to need some data to work with. A simple student class has been provided to you. Use it to create an array of students which we'll use in the upcoming activities.</a:t>
            </a:r>
            <a:endParaRPr/>
          </a:p>
        </p:txBody>
      </p:sp>
      <p:sp>
        <p:nvSpPr>
          <p:cNvPr id="688" name="Google Shape;688;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689" name="Google Shape;689;p6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4.10</a:t>
            </a:r>
            <a:endParaRPr/>
          </a:p>
        </p:txBody>
      </p:sp>
      <p:sp>
        <p:nvSpPr>
          <p:cNvPr id="690" name="Google Shape;690;p66"/>
          <p:cNvSpPr txBox="1">
            <a:spLocks noGrp="1"/>
          </p:cNvSpPr>
          <p:nvPr>
            <p:ph type="body" idx="2"/>
          </p:nvPr>
        </p:nvSpPr>
        <p:spPr>
          <a:xfrm>
            <a:off x="3559400" y="1673200"/>
            <a:ext cx="5327700" cy="29004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A </a:t>
            </a:r>
            <a:r>
              <a:rPr lang="en" sz="1600">
                <a:solidFill>
                  <a:srgbClr val="FF0000"/>
                </a:solidFill>
                <a:latin typeface="Courier New"/>
                <a:ea typeface="Courier New"/>
                <a:cs typeface="Courier New"/>
                <a:sym typeface="Courier New"/>
              </a:rPr>
              <a:t>Student</a:t>
            </a:r>
            <a:r>
              <a:rPr lang="en" sz="1600"/>
              <a:t> class has been provided to you in the </a:t>
            </a:r>
            <a:r>
              <a:rPr lang="en" sz="1600">
                <a:solidFill>
                  <a:srgbClr val="FF0000"/>
                </a:solidFill>
                <a:latin typeface="Courier New"/>
                <a:ea typeface="Courier New"/>
                <a:cs typeface="Courier New"/>
                <a:sym typeface="Courier New"/>
              </a:rPr>
              <a:t>lambdas</a:t>
            </a:r>
            <a:r>
              <a:rPr lang="en" sz="1600"/>
              <a:t> package.</a:t>
            </a:r>
            <a:endParaRPr sz="1600"/>
          </a:p>
          <a:p>
            <a:pPr marL="914400" lvl="1" indent="-317500" algn="l" rtl="0">
              <a:spcBef>
                <a:spcPts val="0"/>
              </a:spcBef>
              <a:spcAft>
                <a:spcPts val="0"/>
              </a:spcAft>
              <a:buSzPts val="1400"/>
              <a:buChar char="○"/>
            </a:pPr>
            <a:r>
              <a:rPr lang="en" sz="1400"/>
              <a:t>Take a few moments to examine it. You should find that it matches the UML on the left.</a:t>
            </a:r>
            <a:endParaRPr sz="1400"/>
          </a:p>
          <a:p>
            <a:pPr marL="457200" lvl="0" indent="-330200" algn="l" rtl="0">
              <a:spcBef>
                <a:spcPts val="1000"/>
              </a:spcBef>
              <a:spcAft>
                <a:spcPts val="0"/>
              </a:spcAft>
              <a:buSzPts val="1600"/>
              <a:buChar char="●"/>
            </a:pPr>
            <a:r>
              <a:rPr lang="en" sz="1600"/>
              <a:t>Add a </a:t>
            </a:r>
            <a:r>
              <a:rPr lang="en" sz="1600">
                <a:latin typeface="Courier New"/>
                <a:ea typeface="Courier New"/>
                <a:cs typeface="Courier New"/>
                <a:sym typeface="Courier New"/>
              </a:rPr>
              <a:t>main</a:t>
            </a:r>
            <a:r>
              <a:rPr lang="en" sz="1600"/>
              <a:t> that creates a list of at least 5 students with names of your choice.</a:t>
            </a:r>
            <a:endParaRPr sz="1600"/>
          </a:p>
          <a:p>
            <a:pPr marL="914400" lvl="1" indent="-317500" algn="l" rtl="0">
              <a:spcBef>
                <a:spcPts val="0"/>
              </a:spcBef>
              <a:spcAft>
                <a:spcPts val="0"/>
              </a:spcAft>
              <a:buSzPts val="1400"/>
              <a:buChar char="○"/>
            </a:pPr>
            <a:r>
              <a:rPr lang="en" sz="1400"/>
              <a:t>Create an appropriately sized array (or use in initializer)</a:t>
            </a:r>
            <a:endParaRPr sz="1400"/>
          </a:p>
          <a:p>
            <a:pPr marL="914400" lvl="1" indent="-317500" algn="l" rtl="0">
              <a:spcBef>
                <a:spcPts val="0"/>
              </a:spcBef>
              <a:spcAft>
                <a:spcPts val="0"/>
              </a:spcAft>
              <a:buSzPts val="1400"/>
              <a:buChar char="○"/>
            </a:pPr>
            <a:r>
              <a:rPr lang="en" sz="1400"/>
              <a:t>Add the students.</a:t>
            </a:r>
            <a:endParaRPr sz="1400"/>
          </a:p>
          <a:p>
            <a:pPr marL="914400" lvl="1" indent="-317500" algn="l" rtl="0">
              <a:spcBef>
                <a:spcPts val="0"/>
              </a:spcBef>
              <a:spcAft>
                <a:spcPts val="0"/>
              </a:spcAft>
              <a:buSzPts val="1400"/>
              <a:buChar char="○"/>
            </a:pPr>
            <a:r>
              <a:rPr lang="en" sz="1400"/>
              <a:t>Print the array of students.</a:t>
            </a:r>
            <a:endParaRPr sz="1400"/>
          </a:p>
        </p:txBody>
      </p:sp>
      <p:pic>
        <p:nvPicPr>
          <p:cNvPr id="691" name="Google Shape;691;p66"/>
          <p:cNvPicPr preferRelativeResize="0"/>
          <p:nvPr/>
        </p:nvPicPr>
        <p:blipFill rotWithShape="1">
          <a:blip r:embed="rId3">
            <a:alphaModFix/>
          </a:blip>
          <a:srcRect l="6647" t="7381" r="6915" b="7279"/>
          <a:stretch/>
        </p:blipFill>
        <p:spPr>
          <a:xfrm>
            <a:off x="748000" y="1774525"/>
            <a:ext cx="2181450" cy="18927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67"/>
          <p:cNvSpPr txBox="1">
            <a:spLocks noGrp="1"/>
          </p:cNvSpPr>
          <p:nvPr>
            <p:ph type="title"/>
          </p:nvPr>
        </p:nvSpPr>
        <p:spPr>
          <a:xfrm>
            <a:off x="311725" y="199475"/>
            <a:ext cx="3706500" cy="93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urier New"/>
                <a:ea typeface="Courier New"/>
                <a:cs typeface="Courier New"/>
                <a:sym typeface="Courier New"/>
              </a:rPr>
              <a:t>forEach</a:t>
            </a:r>
            <a:r>
              <a:rPr lang="en"/>
              <a:t> &amp; </a:t>
            </a:r>
            <a:r>
              <a:rPr lang="en">
                <a:latin typeface="Courier New"/>
                <a:ea typeface="Courier New"/>
                <a:cs typeface="Courier New"/>
                <a:sym typeface="Courier New"/>
              </a:rPr>
              <a:t>Consumer</a:t>
            </a:r>
            <a:endParaRPr>
              <a:latin typeface="Courier New"/>
              <a:ea typeface="Courier New"/>
              <a:cs typeface="Courier New"/>
              <a:sym typeface="Courier New"/>
            </a:endParaRPr>
          </a:p>
        </p:txBody>
      </p:sp>
      <p:sp>
        <p:nvSpPr>
          <p:cNvPr id="697" name="Google Shape;697;p67"/>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To access an array as a </a:t>
            </a:r>
            <a:r>
              <a:rPr lang="en">
                <a:solidFill>
                  <a:srgbClr val="FF0000"/>
                </a:solidFill>
                <a:latin typeface="Courier New"/>
                <a:ea typeface="Courier New"/>
                <a:cs typeface="Courier New"/>
                <a:sym typeface="Courier New"/>
              </a:rPr>
              <a:t>Stream</a:t>
            </a:r>
            <a:r>
              <a:rPr lang="en"/>
              <a:t>, we can use the </a:t>
            </a:r>
            <a:r>
              <a:rPr lang="en">
                <a:latin typeface="Courier New"/>
                <a:ea typeface="Courier New"/>
                <a:cs typeface="Courier New"/>
                <a:sym typeface="Courier New"/>
              </a:rPr>
              <a:t>Arrays.stream</a:t>
            </a:r>
            <a:r>
              <a:rPr lang="en"/>
              <a:t> utility method.</a:t>
            </a:r>
            <a:endParaRPr/>
          </a:p>
          <a:p>
            <a:pPr marL="457200" lvl="0" indent="0" algn="l" rtl="0">
              <a:spcBef>
                <a:spcPts val="0"/>
              </a:spcBef>
              <a:spcAft>
                <a:spcPts val="0"/>
              </a:spcAft>
              <a:buNone/>
            </a:pPr>
            <a:r>
              <a:rPr lang="en">
                <a:latin typeface="Courier New"/>
                <a:ea typeface="Courier New"/>
                <a:cs typeface="Courier New"/>
                <a:sym typeface="Courier New"/>
              </a:rPr>
              <a:t>Arrays.stream(an_array)</a:t>
            </a:r>
            <a:endParaRPr>
              <a:latin typeface="Courier New"/>
              <a:ea typeface="Courier New"/>
              <a:cs typeface="Courier New"/>
              <a:sym typeface="Courier New"/>
            </a:endParaRPr>
          </a:p>
          <a:p>
            <a:pPr marL="457200" lvl="0" indent="-311150" algn="l" rtl="0">
              <a:spcBef>
                <a:spcPts val="1000"/>
              </a:spcBef>
              <a:spcAft>
                <a:spcPts val="0"/>
              </a:spcAft>
              <a:buSzPts val="1300"/>
              <a:buChar char="●"/>
            </a:pPr>
            <a:r>
              <a:rPr lang="en">
                <a:solidFill>
                  <a:srgbClr val="FF0000"/>
                </a:solidFill>
                <a:latin typeface="Courier New"/>
                <a:ea typeface="Courier New"/>
                <a:cs typeface="Courier New"/>
                <a:sym typeface="Courier New"/>
              </a:rPr>
              <a:t>Stream.forEach</a:t>
            </a:r>
            <a:r>
              <a:rPr lang="en"/>
              <a:t> is used to perform some operation on each element in the stream</a:t>
            </a:r>
            <a:endParaRPr/>
          </a:p>
          <a:p>
            <a:pPr marL="457200" lvl="0" indent="-311150" algn="l" rtl="0">
              <a:spcBef>
                <a:spcPts val="1000"/>
              </a:spcBef>
              <a:spcAft>
                <a:spcPts val="0"/>
              </a:spcAft>
              <a:buSzPts val="1300"/>
              <a:buChar char="●"/>
            </a:pPr>
            <a:r>
              <a:rPr lang="en"/>
              <a:t>Its funny looking parameter (</a:t>
            </a:r>
            <a:r>
              <a:rPr lang="en">
                <a:latin typeface="Courier New"/>
                <a:ea typeface="Courier New"/>
                <a:cs typeface="Courier New"/>
                <a:sym typeface="Courier New"/>
              </a:rPr>
              <a:t>Consumer &lt;? super T&gt; action</a:t>
            </a:r>
            <a:r>
              <a:rPr lang="en"/>
              <a:t>) accepts an instance of the </a:t>
            </a:r>
            <a:r>
              <a:rPr lang="en">
                <a:latin typeface="Courier New"/>
                <a:ea typeface="Courier New"/>
                <a:cs typeface="Courier New"/>
                <a:sym typeface="Courier New"/>
              </a:rPr>
              <a:t>Consumer</a:t>
            </a:r>
            <a:r>
              <a:rPr lang="en"/>
              <a:t> interface</a:t>
            </a:r>
            <a:endParaRPr/>
          </a:p>
          <a:p>
            <a:pPr marL="914400" lvl="1" indent="-304800" algn="l" rtl="0">
              <a:spcBef>
                <a:spcPts val="0"/>
              </a:spcBef>
              <a:spcAft>
                <a:spcPts val="0"/>
              </a:spcAft>
              <a:buSzPts val="1200"/>
              <a:buChar char="○"/>
            </a:pPr>
            <a:r>
              <a:rPr lang="en" sz="1200">
                <a:latin typeface="Courier New"/>
                <a:ea typeface="Courier New"/>
                <a:cs typeface="Courier New"/>
                <a:sym typeface="Courier New"/>
              </a:rPr>
              <a:t>Consumer</a:t>
            </a:r>
            <a:r>
              <a:rPr lang="en" sz="1200"/>
              <a:t> is a functional interface</a:t>
            </a:r>
            <a:endParaRPr sz="1200"/>
          </a:p>
          <a:p>
            <a:pPr marL="914400" lvl="1" indent="-304800" algn="l" rtl="0">
              <a:spcBef>
                <a:spcPts val="0"/>
              </a:spcBef>
              <a:spcAft>
                <a:spcPts val="0"/>
              </a:spcAft>
              <a:buSzPts val="1200"/>
              <a:buChar char="○"/>
            </a:pPr>
            <a:r>
              <a:rPr lang="en" sz="1200"/>
              <a:t>I bet you can see where this is going …</a:t>
            </a:r>
            <a:endParaRPr sz="1200"/>
          </a:p>
          <a:p>
            <a:pPr marL="457200" lvl="0" indent="-311150" algn="l" rtl="0">
              <a:spcBef>
                <a:spcPts val="1000"/>
              </a:spcBef>
              <a:spcAft>
                <a:spcPts val="0"/>
              </a:spcAft>
              <a:buSzPts val="1300"/>
              <a:buChar char="●"/>
            </a:pPr>
            <a:r>
              <a:rPr lang="en">
                <a:latin typeface="Courier New"/>
                <a:ea typeface="Courier New"/>
                <a:cs typeface="Courier New"/>
                <a:sym typeface="Courier New"/>
              </a:rPr>
              <a:t>Consumer</a:t>
            </a:r>
            <a:r>
              <a:rPr lang="en"/>
              <a:t>'s only method takes in an element of the stream and performs the action on it</a:t>
            </a:r>
            <a:endParaRPr/>
          </a:p>
          <a:p>
            <a:pPr marL="914400" lvl="1" indent="-304800" algn="l" rtl="0">
              <a:spcBef>
                <a:spcPts val="0"/>
              </a:spcBef>
              <a:spcAft>
                <a:spcPts val="0"/>
              </a:spcAft>
              <a:buSzPts val="1200"/>
              <a:buChar char="○"/>
            </a:pPr>
            <a:r>
              <a:rPr lang="en" sz="1200"/>
              <a:t>We can use lambdas to quickly create simple actions like:</a:t>
            </a:r>
            <a:endParaRPr sz="1200"/>
          </a:p>
          <a:p>
            <a:pPr marL="1371600" lvl="2" indent="-304800" algn="l" rtl="0">
              <a:spcBef>
                <a:spcPts val="0"/>
              </a:spcBef>
              <a:spcAft>
                <a:spcPts val="0"/>
              </a:spcAft>
              <a:buSzPts val="1200"/>
              <a:buChar char="■"/>
            </a:pPr>
            <a:r>
              <a:rPr lang="en" sz="1200"/>
              <a:t>Printing the element</a:t>
            </a:r>
            <a:endParaRPr sz="1200"/>
          </a:p>
          <a:p>
            <a:pPr marL="1371600" lvl="2" indent="-304800" algn="l" rtl="0">
              <a:spcBef>
                <a:spcPts val="0"/>
              </a:spcBef>
              <a:spcAft>
                <a:spcPts val="0"/>
              </a:spcAft>
              <a:buSzPts val="1200"/>
              <a:buChar char="■"/>
            </a:pPr>
            <a:r>
              <a:rPr lang="en" sz="1200"/>
              <a:t>Performing math on the element</a:t>
            </a:r>
            <a:endParaRPr sz="1200"/>
          </a:p>
          <a:p>
            <a:pPr marL="1371600" lvl="2" indent="-304800" algn="l" rtl="0">
              <a:spcBef>
                <a:spcPts val="0"/>
              </a:spcBef>
              <a:spcAft>
                <a:spcPts val="0"/>
              </a:spcAft>
              <a:buSzPts val="1200"/>
              <a:buChar char="■"/>
            </a:pPr>
            <a:r>
              <a:rPr lang="en" sz="1200"/>
              <a:t>Writing it to a file</a:t>
            </a:r>
            <a:endParaRPr sz="1200"/>
          </a:p>
          <a:p>
            <a:pPr marL="1371600" lvl="2" indent="-304800" algn="l" rtl="0">
              <a:spcBef>
                <a:spcPts val="0"/>
              </a:spcBef>
              <a:spcAft>
                <a:spcPts val="0"/>
              </a:spcAft>
              <a:buSzPts val="1200"/>
              <a:buChar char="■"/>
            </a:pPr>
            <a:r>
              <a:rPr lang="en" sz="1200"/>
              <a:t>etc.</a:t>
            </a:r>
            <a:endParaRPr sz="1200"/>
          </a:p>
        </p:txBody>
      </p:sp>
      <p:sp>
        <p:nvSpPr>
          <p:cNvPr id="698" name="Google Shape;698;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699" name="Google Shape;699;p67"/>
          <p:cNvSpPr txBox="1">
            <a:spLocks noGrp="1"/>
          </p:cNvSpPr>
          <p:nvPr>
            <p:ph type="body" idx="2"/>
          </p:nvPr>
        </p:nvSpPr>
        <p:spPr>
          <a:xfrm>
            <a:off x="315425" y="1286175"/>
            <a:ext cx="3706500" cy="26973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static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0</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main</a:t>
            </a:r>
            <a:r>
              <a:rPr lang="en" sz="1050">
                <a:solidFill>
                  <a:srgbClr val="000000"/>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String</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args</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4</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0</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54</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1</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85</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2</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97</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3</a:t>
            </a:r>
            <a:r>
              <a:rPr lang="en" sz="1050">
                <a:solidFill>
                  <a:srgbClr val="000000"/>
                </a:solidFill>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72</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-&gt;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solidFill>
                  <a:srgbClr val="000000"/>
                </a:solidFill>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e</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solidFill>
                  <a:srgbClr val="000000"/>
                </a:solidFill>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endParaRPr sz="1050">
              <a:solidFill>
                <a:srgbClr val="795E26"/>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000000"/>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AF00D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000000"/>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000000"/>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000000"/>
                </a:solidFill>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"Sum = "</a:t>
            </a:r>
            <a:r>
              <a:rPr lang="en" sz="1050">
                <a:solidFill>
                  <a:srgbClr val="000000"/>
                </a:solidFill>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sum</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50">
              <a:solidFill>
                <a:srgbClr val="0000FF"/>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endParaRPr/>
          </a:p>
        </p:txBody>
      </p:sp>
      <p:sp>
        <p:nvSpPr>
          <p:cNvPr id="700" name="Google Shape;700;p67"/>
          <p:cNvSpPr txBox="1">
            <a:spLocks noGrp="1"/>
          </p:cNvSpPr>
          <p:nvPr>
            <p:ph type="body" idx="3"/>
          </p:nvPr>
        </p:nvSpPr>
        <p:spPr>
          <a:xfrm>
            <a:off x="315425" y="4089650"/>
            <a:ext cx="3706500" cy="8082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a:t>Use </a:t>
            </a:r>
            <a:r>
              <a:rPr lang="en">
                <a:latin typeface="Courier New"/>
                <a:ea typeface="Courier New"/>
                <a:cs typeface="Courier New"/>
                <a:sym typeface="Courier New"/>
              </a:rPr>
              <a:t>forEach</a:t>
            </a:r>
            <a:r>
              <a:rPr lang="en"/>
              <a:t> to perform some action on each element of </a:t>
            </a:r>
            <a:r>
              <a:rPr lang="en">
                <a:latin typeface="Courier New"/>
                <a:ea typeface="Courier New"/>
                <a:cs typeface="Courier New"/>
                <a:sym typeface="Courier New"/>
              </a:rPr>
              <a:t>Stream</a:t>
            </a:r>
            <a:endParaRPr>
              <a:latin typeface="Courier New"/>
              <a:ea typeface="Courier New"/>
              <a:cs typeface="Courier New"/>
              <a:sym typeface="Courier New"/>
            </a:endParaRPr>
          </a:p>
        </p:txBody>
      </p:sp>
      <p:sp>
        <p:nvSpPr>
          <p:cNvPr id="701" name="Google Shape;701;p67"/>
          <p:cNvSpPr txBox="1">
            <a:spLocks noGrp="1"/>
          </p:cNvSpPr>
          <p:nvPr>
            <p:ph type="body" idx="3"/>
          </p:nvPr>
        </p:nvSpPr>
        <p:spPr>
          <a:xfrm>
            <a:off x="2316325" y="2005300"/>
            <a:ext cx="1933200" cy="5232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100">
                <a:latin typeface="Courier New"/>
                <a:ea typeface="Courier New"/>
                <a:cs typeface="Courier New"/>
                <a:sym typeface="Courier New"/>
              </a:rPr>
              <a:t>sum </a:t>
            </a:r>
            <a:r>
              <a:rPr lang="en" sz="1100"/>
              <a:t>cannot be local due to lambda constraints</a:t>
            </a:r>
            <a:endParaRPr sz="1100"/>
          </a:p>
        </p:txBody>
      </p:sp>
      <p:sp>
        <p:nvSpPr>
          <p:cNvPr id="702" name="Google Shape;702;p67"/>
          <p:cNvSpPr/>
          <p:nvPr/>
        </p:nvSpPr>
        <p:spPr>
          <a:xfrm>
            <a:off x="3164075" y="2701763"/>
            <a:ext cx="309000" cy="137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3" name="Google Shape;703;p67"/>
          <p:cNvCxnSpPr>
            <a:stCxn id="701" idx="2"/>
            <a:endCxn id="702" idx="0"/>
          </p:cNvCxnSpPr>
          <p:nvPr/>
        </p:nvCxnSpPr>
        <p:spPr>
          <a:xfrm rot="-5400000" flipH="1">
            <a:off x="3214075" y="2597350"/>
            <a:ext cx="173400" cy="35700"/>
          </a:xfrm>
          <a:prstGeom prst="bentConnector3">
            <a:avLst>
              <a:gd name="adj1" fmla="val 49960"/>
            </a:avLst>
          </a:prstGeom>
          <a:noFill/>
          <a:ln w="19050" cap="flat" cmpd="sng">
            <a:solidFill>
              <a:srgbClr val="FF0000"/>
            </a:solidFill>
            <a:prstDash val="solid"/>
            <a:round/>
            <a:headEnd type="none" w="med" len="med"/>
            <a:tailEnd type="triangle" w="med" len="med"/>
          </a:ln>
        </p:spPr>
      </p:cxnSp>
      <p:sp>
        <p:nvSpPr>
          <p:cNvPr id="704" name="Google Shape;704;p67"/>
          <p:cNvSpPr/>
          <p:nvPr/>
        </p:nvSpPr>
        <p:spPr>
          <a:xfrm>
            <a:off x="1194060" y="1400803"/>
            <a:ext cx="309000" cy="137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5" name="Google Shape;705;p67"/>
          <p:cNvCxnSpPr>
            <a:stCxn id="701" idx="0"/>
            <a:endCxn id="704" idx="0"/>
          </p:cNvCxnSpPr>
          <p:nvPr/>
        </p:nvCxnSpPr>
        <p:spPr>
          <a:xfrm rot="5400000" flipH="1">
            <a:off x="2013475" y="735850"/>
            <a:ext cx="604500" cy="1934400"/>
          </a:xfrm>
          <a:prstGeom prst="bentConnector3">
            <a:avLst>
              <a:gd name="adj1" fmla="val 139392"/>
            </a:avLst>
          </a:prstGeom>
          <a:noFill/>
          <a:ln w="19050" cap="flat" cmpd="sng">
            <a:solidFill>
              <a:srgbClr val="FF0000"/>
            </a:solidFill>
            <a:prstDash val="solid"/>
            <a:round/>
            <a:headEnd type="none" w="med" len="med"/>
            <a:tailEnd type="triangle" w="med" len="med"/>
          </a:ln>
        </p:spPr>
      </p:cxnSp>
      <p:sp>
        <p:nvSpPr>
          <p:cNvPr id="706" name="Google Shape;706;p67"/>
          <p:cNvSpPr txBox="1">
            <a:spLocks noGrp="1"/>
          </p:cNvSpPr>
          <p:nvPr>
            <p:ph type="body" idx="3"/>
          </p:nvPr>
        </p:nvSpPr>
        <p:spPr>
          <a:xfrm>
            <a:off x="796285" y="3180207"/>
            <a:ext cx="1365300" cy="25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Method reference</a:t>
            </a:r>
            <a:endParaRPr sz="1100"/>
          </a:p>
        </p:txBody>
      </p:sp>
      <p:sp>
        <p:nvSpPr>
          <p:cNvPr id="707" name="Google Shape;707;p67"/>
          <p:cNvSpPr/>
          <p:nvPr/>
        </p:nvSpPr>
        <p:spPr>
          <a:xfrm>
            <a:off x="2305756" y="3162286"/>
            <a:ext cx="1563900" cy="169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8" name="Google Shape;708;p67"/>
          <p:cNvCxnSpPr>
            <a:stCxn id="706" idx="2"/>
            <a:endCxn id="707" idx="2"/>
          </p:cNvCxnSpPr>
          <p:nvPr/>
        </p:nvCxnSpPr>
        <p:spPr>
          <a:xfrm rot="-5400000">
            <a:off x="2231185" y="2579157"/>
            <a:ext cx="104400" cy="1608900"/>
          </a:xfrm>
          <a:prstGeom prst="bentConnector3">
            <a:avLst>
              <a:gd name="adj1" fmla="val -53489"/>
            </a:avLst>
          </a:prstGeom>
          <a:noFill/>
          <a:ln w="1905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1"/>
                                        </p:tgtEl>
                                        <p:attrNameLst>
                                          <p:attrName>style.visibility</p:attrName>
                                        </p:attrNameLst>
                                      </p:cBhvr>
                                      <p:to>
                                        <p:strVal val="visible"/>
                                      </p:to>
                                    </p:set>
                                    <p:animEffect transition="in" filter="fade">
                                      <p:cBhvr>
                                        <p:cTn id="7" dur="1000"/>
                                        <p:tgtEl>
                                          <p:spTgt spid="701"/>
                                        </p:tgtEl>
                                      </p:cBhvr>
                                    </p:animEffect>
                                  </p:childTnLst>
                                </p:cTn>
                              </p:par>
                              <p:par>
                                <p:cTn id="8" presetID="10" presetClass="entr" presetSubtype="0" fill="hold" nodeType="withEffect">
                                  <p:stCondLst>
                                    <p:cond delay="0"/>
                                  </p:stCondLst>
                                  <p:childTnLst>
                                    <p:set>
                                      <p:cBhvr>
                                        <p:cTn id="9" dur="1" fill="hold">
                                          <p:stCondLst>
                                            <p:cond delay="0"/>
                                          </p:stCondLst>
                                        </p:cTn>
                                        <p:tgtEl>
                                          <p:spTgt spid="702"/>
                                        </p:tgtEl>
                                        <p:attrNameLst>
                                          <p:attrName>style.visibility</p:attrName>
                                        </p:attrNameLst>
                                      </p:cBhvr>
                                      <p:to>
                                        <p:strVal val="visible"/>
                                      </p:to>
                                    </p:set>
                                    <p:animEffect transition="in" filter="fade">
                                      <p:cBhvr>
                                        <p:cTn id="10" dur="1000"/>
                                        <p:tgtEl>
                                          <p:spTgt spid="702"/>
                                        </p:tgtEl>
                                      </p:cBhvr>
                                    </p:animEffect>
                                  </p:childTnLst>
                                </p:cTn>
                              </p:par>
                              <p:par>
                                <p:cTn id="11" presetID="10" presetClass="entr" presetSubtype="0" fill="hold" nodeType="withEffect">
                                  <p:stCondLst>
                                    <p:cond delay="0"/>
                                  </p:stCondLst>
                                  <p:childTnLst>
                                    <p:set>
                                      <p:cBhvr>
                                        <p:cTn id="12" dur="1" fill="hold">
                                          <p:stCondLst>
                                            <p:cond delay="0"/>
                                          </p:stCondLst>
                                        </p:cTn>
                                        <p:tgtEl>
                                          <p:spTgt spid="703"/>
                                        </p:tgtEl>
                                        <p:attrNameLst>
                                          <p:attrName>style.visibility</p:attrName>
                                        </p:attrNameLst>
                                      </p:cBhvr>
                                      <p:to>
                                        <p:strVal val="visible"/>
                                      </p:to>
                                    </p:set>
                                    <p:animEffect transition="in" filter="fade">
                                      <p:cBhvr>
                                        <p:cTn id="13" dur="1000"/>
                                        <p:tgtEl>
                                          <p:spTgt spid="703"/>
                                        </p:tgtEl>
                                      </p:cBhvr>
                                    </p:animEffect>
                                  </p:childTnLst>
                                </p:cTn>
                              </p:par>
                              <p:par>
                                <p:cTn id="14" presetID="10" presetClass="entr" presetSubtype="0" fill="hold" nodeType="withEffect">
                                  <p:stCondLst>
                                    <p:cond delay="0"/>
                                  </p:stCondLst>
                                  <p:childTnLst>
                                    <p:set>
                                      <p:cBhvr>
                                        <p:cTn id="15" dur="1" fill="hold">
                                          <p:stCondLst>
                                            <p:cond delay="0"/>
                                          </p:stCondLst>
                                        </p:cTn>
                                        <p:tgtEl>
                                          <p:spTgt spid="705"/>
                                        </p:tgtEl>
                                        <p:attrNameLst>
                                          <p:attrName>style.visibility</p:attrName>
                                        </p:attrNameLst>
                                      </p:cBhvr>
                                      <p:to>
                                        <p:strVal val="visible"/>
                                      </p:to>
                                    </p:set>
                                    <p:animEffect transition="in" filter="fade">
                                      <p:cBhvr>
                                        <p:cTn id="16" dur="1000"/>
                                        <p:tgtEl>
                                          <p:spTgt spid="705"/>
                                        </p:tgtEl>
                                      </p:cBhvr>
                                    </p:animEffect>
                                  </p:childTnLst>
                                </p:cTn>
                              </p:par>
                              <p:par>
                                <p:cTn id="17" presetID="10" presetClass="entr" presetSubtype="0" fill="hold" nodeType="withEffect">
                                  <p:stCondLst>
                                    <p:cond delay="0"/>
                                  </p:stCondLst>
                                  <p:childTnLst>
                                    <p:set>
                                      <p:cBhvr>
                                        <p:cTn id="18" dur="1" fill="hold">
                                          <p:stCondLst>
                                            <p:cond delay="0"/>
                                          </p:stCondLst>
                                        </p:cTn>
                                        <p:tgtEl>
                                          <p:spTgt spid="704"/>
                                        </p:tgtEl>
                                        <p:attrNameLst>
                                          <p:attrName>style.visibility</p:attrName>
                                        </p:attrNameLst>
                                      </p:cBhvr>
                                      <p:to>
                                        <p:strVal val="visible"/>
                                      </p:to>
                                    </p:set>
                                    <p:animEffect transition="in" filter="fade">
                                      <p:cBhvr>
                                        <p:cTn id="19" dur="1000"/>
                                        <p:tgtEl>
                                          <p:spTgt spid="70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06"/>
                                        </p:tgtEl>
                                        <p:attrNameLst>
                                          <p:attrName>style.visibility</p:attrName>
                                        </p:attrNameLst>
                                      </p:cBhvr>
                                      <p:to>
                                        <p:strVal val="visible"/>
                                      </p:to>
                                    </p:set>
                                    <p:animEffect transition="in" filter="fade">
                                      <p:cBhvr>
                                        <p:cTn id="24" dur="1000"/>
                                        <p:tgtEl>
                                          <p:spTgt spid="706"/>
                                        </p:tgtEl>
                                      </p:cBhvr>
                                    </p:animEffect>
                                  </p:childTnLst>
                                </p:cTn>
                              </p:par>
                              <p:par>
                                <p:cTn id="25" presetID="10" presetClass="entr" presetSubtype="0" fill="hold" nodeType="withEffect">
                                  <p:stCondLst>
                                    <p:cond delay="0"/>
                                  </p:stCondLst>
                                  <p:childTnLst>
                                    <p:set>
                                      <p:cBhvr>
                                        <p:cTn id="26" dur="1" fill="hold">
                                          <p:stCondLst>
                                            <p:cond delay="0"/>
                                          </p:stCondLst>
                                        </p:cTn>
                                        <p:tgtEl>
                                          <p:spTgt spid="708"/>
                                        </p:tgtEl>
                                        <p:attrNameLst>
                                          <p:attrName>style.visibility</p:attrName>
                                        </p:attrNameLst>
                                      </p:cBhvr>
                                      <p:to>
                                        <p:strVal val="visible"/>
                                      </p:to>
                                    </p:set>
                                    <p:animEffect transition="in" filter="fade">
                                      <p:cBhvr>
                                        <p:cTn id="27" dur="1000"/>
                                        <p:tgtEl>
                                          <p:spTgt spid="708"/>
                                        </p:tgtEl>
                                      </p:cBhvr>
                                    </p:animEffect>
                                  </p:childTnLst>
                                </p:cTn>
                              </p:par>
                              <p:par>
                                <p:cTn id="28" presetID="10" presetClass="entr" presetSubtype="0" fill="hold" nodeType="withEffect">
                                  <p:stCondLst>
                                    <p:cond delay="0"/>
                                  </p:stCondLst>
                                  <p:childTnLst>
                                    <p:set>
                                      <p:cBhvr>
                                        <p:cTn id="29" dur="1" fill="hold">
                                          <p:stCondLst>
                                            <p:cond delay="0"/>
                                          </p:stCondLst>
                                        </p:cTn>
                                        <p:tgtEl>
                                          <p:spTgt spid="707"/>
                                        </p:tgtEl>
                                        <p:attrNameLst>
                                          <p:attrName>style.visibility</p:attrName>
                                        </p:attrNameLst>
                                      </p:cBhvr>
                                      <p:to>
                                        <p:strVal val="visible"/>
                                      </p:to>
                                    </p:set>
                                    <p:animEffect transition="in" filter="fade">
                                      <p:cBhvr>
                                        <p:cTn id="30" dur="1000"/>
                                        <p:tgtEl>
                                          <p:spTgt spid="70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00"/>
                                        </p:tgtEl>
                                        <p:attrNameLst>
                                          <p:attrName>style.visibility</p:attrName>
                                        </p:attrNameLst>
                                      </p:cBhvr>
                                      <p:to>
                                        <p:strVal val="visible"/>
                                      </p:to>
                                    </p:set>
                                    <p:animEffect transition="in" filter="fade">
                                      <p:cBhvr>
                                        <p:cTn id="35" dur="1000"/>
                                        <p:tgtEl>
                                          <p:spTgt spid="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6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Streaming Students</a:t>
            </a:r>
            <a:endParaRPr/>
          </a:p>
        </p:txBody>
      </p:sp>
      <p:sp>
        <p:nvSpPr>
          <p:cNvPr id="714" name="Google Shape;714;p6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default string representation of a student puts the student's last name first. Let's practice using streams to print out each student in "</a:t>
            </a:r>
            <a:r>
              <a:rPr lang="en">
                <a:latin typeface="Courier New"/>
                <a:ea typeface="Courier New"/>
                <a:cs typeface="Courier New"/>
                <a:sym typeface="Courier New"/>
              </a:rPr>
              <a:t>&lt;first name&gt; &lt;last name&gt;</a:t>
            </a:r>
            <a:r>
              <a:rPr lang="en"/>
              <a:t>" format instead.</a:t>
            </a:r>
            <a:endParaRPr/>
          </a:p>
        </p:txBody>
      </p:sp>
      <p:sp>
        <p:nvSpPr>
          <p:cNvPr id="715" name="Google Shape;715;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716" name="Google Shape;716;p68"/>
          <p:cNvSpPr txBox="1">
            <a:spLocks noGrp="1"/>
          </p:cNvSpPr>
          <p:nvPr>
            <p:ph type="body" idx="2"/>
          </p:nvPr>
        </p:nvSpPr>
        <p:spPr>
          <a:xfrm>
            <a:off x="4053550" y="1530950"/>
            <a:ext cx="4848300" cy="25929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In the </a:t>
            </a:r>
            <a:r>
              <a:rPr lang="en" sz="1600">
                <a:latin typeface="Courier New"/>
                <a:ea typeface="Courier New"/>
                <a:cs typeface="Courier New"/>
                <a:sym typeface="Courier New"/>
              </a:rPr>
              <a:t>Student</a:t>
            </a:r>
            <a:r>
              <a:rPr lang="en" sz="1600"/>
              <a:t> class, using a </a:t>
            </a:r>
            <a:r>
              <a:rPr lang="en" sz="1600">
                <a:latin typeface="Courier New"/>
                <a:ea typeface="Courier New"/>
                <a:cs typeface="Courier New"/>
                <a:sym typeface="Courier New"/>
              </a:rPr>
              <a:t>Stream</a:t>
            </a:r>
            <a:r>
              <a:rPr lang="en" sz="1600"/>
              <a:t>, print out the name of each student in the </a:t>
            </a:r>
            <a:r>
              <a:rPr lang="en" sz="1600">
                <a:latin typeface="Courier New"/>
                <a:ea typeface="Courier New"/>
                <a:cs typeface="Courier New"/>
                <a:sym typeface="Courier New"/>
              </a:rPr>
              <a:t>students</a:t>
            </a:r>
            <a:r>
              <a:rPr lang="en" sz="1600"/>
              <a:t> list</a:t>
            </a:r>
            <a:endParaRPr sz="1600"/>
          </a:p>
          <a:p>
            <a:pPr marL="914400" lvl="1" indent="-323850" algn="l" rtl="0">
              <a:spcBef>
                <a:spcPts val="0"/>
              </a:spcBef>
              <a:spcAft>
                <a:spcPts val="0"/>
              </a:spcAft>
              <a:buSzPts val="1500"/>
              <a:buChar char="○"/>
            </a:pPr>
            <a:r>
              <a:rPr lang="en" sz="1500"/>
              <a:t>Use "</a:t>
            </a:r>
            <a:r>
              <a:rPr lang="en" sz="1500">
                <a:latin typeface="Courier New"/>
                <a:ea typeface="Courier New"/>
                <a:cs typeface="Courier New"/>
                <a:sym typeface="Courier New"/>
              </a:rPr>
              <a:t>&lt;first name&gt; &lt;last name&gt;</a:t>
            </a:r>
            <a:r>
              <a:rPr lang="en" sz="1500"/>
              <a:t>" format</a:t>
            </a:r>
            <a:endParaRPr sz="1500"/>
          </a:p>
          <a:p>
            <a:pPr marL="457200" lvl="0" indent="-323850" algn="l" rtl="0">
              <a:spcBef>
                <a:spcPts val="0"/>
              </a:spcBef>
              <a:spcAft>
                <a:spcPts val="0"/>
              </a:spcAft>
              <a:buSzPts val="1500"/>
              <a:buChar char="●"/>
            </a:pPr>
            <a:r>
              <a:rPr lang="en" sz="1500"/>
              <a:t>Start by getting a </a:t>
            </a:r>
            <a:r>
              <a:rPr lang="en" sz="1500">
                <a:latin typeface="Courier New"/>
                <a:ea typeface="Courier New"/>
                <a:cs typeface="Courier New"/>
                <a:sym typeface="Courier New"/>
              </a:rPr>
              <a:t>Stream</a:t>
            </a:r>
            <a:r>
              <a:rPr lang="en" sz="1500"/>
              <a:t> to the array. </a:t>
            </a:r>
            <a:endParaRPr sz="1500">
              <a:latin typeface="Courier New"/>
              <a:ea typeface="Courier New"/>
              <a:cs typeface="Courier New"/>
              <a:sym typeface="Courier New"/>
            </a:endParaRPr>
          </a:p>
          <a:p>
            <a:pPr marL="457200" lvl="0" indent="-323850" algn="l" rtl="0">
              <a:spcBef>
                <a:spcPts val="0"/>
              </a:spcBef>
              <a:spcAft>
                <a:spcPts val="0"/>
              </a:spcAft>
              <a:buSzPts val="1500"/>
              <a:buChar char="●"/>
            </a:pPr>
            <a:r>
              <a:rPr lang="en" sz="1500"/>
              <a:t>Then call </a:t>
            </a:r>
            <a:r>
              <a:rPr lang="en" sz="1500">
                <a:latin typeface="Courier New"/>
                <a:ea typeface="Courier New"/>
                <a:cs typeface="Courier New"/>
                <a:sym typeface="Courier New"/>
              </a:rPr>
              <a:t>forEach</a:t>
            </a:r>
            <a:r>
              <a:rPr lang="en" sz="1500"/>
              <a:t> on the stream and pass in a lambda expression that calls </a:t>
            </a:r>
            <a:r>
              <a:rPr lang="en" sz="1500">
                <a:latin typeface="Courier New"/>
                <a:ea typeface="Courier New"/>
                <a:cs typeface="Courier New"/>
                <a:sym typeface="Courier New"/>
              </a:rPr>
              <a:t>println</a:t>
            </a:r>
            <a:r>
              <a:rPr lang="en" sz="1500"/>
              <a:t> for an element in the array.</a:t>
            </a:r>
            <a:endParaRPr sz="1500">
              <a:latin typeface="Courier New"/>
              <a:ea typeface="Courier New"/>
              <a:cs typeface="Courier New"/>
              <a:sym typeface="Courier New"/>
            </a:endParaRPr>
          </a:p>
        </p:txBody>
      </p:sp>
      <p:sp>
        <p:nvSpPr>
          <p:cNvPr id="717" name="Google Shape;717;p6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4.11</a:t>
            </a:r>
            <a:endParaRPr/>
          </a:p>
        </p:txBody>
      </p:sp>
      <p:sp>
        <p:nvSpPr>
          <p:cNvPr id="718" name="Google Shape;718;p68"/>
          <p:cNvSpPr txBox="1">
            <a:spLocks noGrp="1"/>
          </p:cNvSpPr>
          <p:nvPr>
            <p:ph type="body" idx="4"/>
          </p:nvPr>
        </p:nvSpPr>
        <p:spPr>
          <a:xfrm>
            <a:off x="164075" y="1530950"/>
            <a:ext cx="3706800" cy="2609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50">
                <a:solidFill>
                  <a:srgbClr val="0000FF"/>
                </a:solidFill>
                <a:highlight>
                  <a:srgbClr val="FFFFFF"/>
                </a:highlight>
                <a:latin typeface="Consolas"/>
                <a:ea typeface="Consolas"/>
                <a:cs typeface="Consolas"/>
                <a:sym typeface="Consolas"/>
              </a:rPr>
              <a:t>static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0</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main</a:t>
            </a:r>
            <a:r>
              <a:rPr lang="en" sz="1050">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String</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args</a:t>
            </a:r>
            <a:r>
              <a:rPr lang="en" sz="1050">
                <a:highlight>
                  <a:srgbClr val="FFFFFF"/>
                </a:highlight>
                <a:latin typeface="Consolas"/>
                <a:ea typeface="Consolas"/>
                <a:cs typeface="Consolas"/>
                <a:sym typeface="Consolas"/>
              </a:rPr>
              <a:t>) {</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new</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4</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0</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54</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1</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85</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2</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97</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3</a:t>
            </a:r>
            <a:r>
              <a:rPr lang="en" sz="1050">
                <a:highlight>
                  <a:srgbClr val="FFFFFF"/>
                </a:highlight>
                <a:latin typeface="Consolas"/>
                <a:ea typeface="Consolas"/>
                <a:cs typeface="Consolas"/>
                <a:sym typeface="Consolas"/>
              </a:rPr>
              <a:t>] = </a:t>
            </a:r>
            <a:r>
              <a:rPr lang="en" sz="1050">
                <a:solidFill>
                  <a:srgbClr val="098658"/>
                </a:solidFill>
                <a:highlight>
                  <a:srgbClr val="FFFFFF"/>
                </a:highlight>
                <a:latin typeface="Consolas"/>
                <a:ea typeface="Consolas"/>
                <a:cs typeface="Consolas"/>
                <a:sym typeface="Consolas"/>
              </a:rPr>
              <a:t>72</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a:t>
            </a:r>
            <a:r>
              <a:rPr lang="en" sz="1050">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-&gt;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sum</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e</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Arrays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stream</a:t>
            </a:r>
            <a:r>
              <a:rPr lang="en" sz="1050">
                <a:highlight>
                  <a:srgbClr val="FFFFFF"/>
                </a:highlight>
                <a:latin typeface="Consolas"/>
                <a:ea typeface="Consolas"/>
                <a:cs typeface="Consolas"/>
                <a:sym typeface="Consolas"/>
              </a:rPr>
              <a:t>(</a:t>
            </a:r>
            <a:r>
              <a:rPr lang="en" sz="1050">
                <a:solidFill>
                  <a:srgbClr val="001080"/>
                </a:solidFill>
                <a:highlight>
                  <a:srgbClr val="FFFFFF"/>
                </a:highlight>
                <a:latin typeface="Consolas"/>
                <a:ea typeface="Consolas"/>
                <a:cs typeface="Consolas"/>
                <a:sym typeface="Consolas"/>
              </a:rPr>
              <a:t>grades</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endParaRPr sz="1050">
              <a:solidFill>
                <a:srgbClr val="795E26"/>
              </a:solidFill>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AF00D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"Sum = "</a:t>
            </a:r>
            <a:r>
              <a:rPr lang="en" sz="1050">
                <a:highlight>
                  <a:srgbClr val="FFFFFF"/>
                </a:highlight>
                <a:latin typeface="Consolas"/>
                <a:ea typeface="Consolas"/>
                <a:cs typeface="Consolas"/>
                <a:sym typeface="Consolas"/>
              </a:rPr>
              <a:t> + </a:t>
            </a:r>
            <a:r>
              <a:rPr lang="en" sz="1050">
                <a:solidFill>
                  <a:srgbClr val="001080"/>
                </a:solidFill>
                <a:highlight>
                  <a:srgbClr val="FFFFFF"/>
                </a:highlight>
                <a:latin typeface="Consolas"/>
                <a:ea typeface="Consolas"/>
                <a:cs typeface="Consolas"/>
                <a:sym typeface="Consolas"/>
              </a:rPr>
              <a:t>sum</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spcBef>
                <a:spcPts val="0"/>
              </a:spcBef>
              <a:spcAft>
                <a:spcPts val="0"/>
              </a:spcAft>
              <a:buNone/>
            </a:pPr>
            <a:r>
              <a:rPr lang="en" sz="1050">
                <a:highlight>
                  <a:srgbClr val="FFFFFF"/>
                </a:highlight>
                <a:latin typeface="Consolas"/>
                <a:ea typeface="Consolas"/>
                <a:cs typeface="Consolas"/>
                <a:sym typeface="Consolas"/>
              </a:rPr>
              <a:t>}</a:t>
            </a:r>
            <a:endParaRPr sz="1150">
              <a:solidFill>
                <a:srgbClr val="0000FF"/>
              </a:solidFill>
              <a:highlight>
                <a:srgbClr val="FFFFFF"/>
              </a:highlight>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69"/>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724" name="Google Shape;724;p69"/>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700">
                <a:latin typeface="Courier New"/>
                <a:ea typeface="Courier New"/>
                <a:cs typeface="Courier New"/>
                <a:sym typeface="Courier New"/>
              </a:rPr>
              <a:t>filter</a:t>
            </a:r>
            <a:r>
              <a:rPr lang="en" sz="2700"/>
              <a:t> &amp; </a:t>
            </a:r>
            <a:r>
              <a:rPr lang="en" sz="2700">
                <a:latin typeface="Courier New"/>
                <a:ea typeface="Courier New"/>
                <a:cs typeface="Courier New"/>
                <a:sym typeface="Courier New"/>
              </a:rPr>
              <a:t>Predicate</a:t>
            </a:r>
            <a:endParaRPr sz="2700">
              <a:latin typeface="Courier New"/>
              <a:ea typeface="Courier New"/>
              <a:cs typeface="Courier New"/>
              <a:sym typeface="Courier New"/>
            </a:endParaRPr>
          </a:p>
        </p:txBody>
      </p:sp>
      <p:sp>
        <p:nvSpPr>
          <p:cNvPr id="725" name="Google Shape;725;p69"/>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Another common stream operation is to </a:t>
            </a:r>
            <a:r>
              <a:rPr lang="en" b="1" i="1">
                <a:solidFill>
                  <a:srgbClr val="FF0000"/>
                </a:solidFill>
              </a:rPr>
              <a:t>filter data</a:t>
            </a:r>
            <a:r>
              <a:rPr lang="en"/>
              <a:t> on specific </a:t>
            </a:r>
            <a:r>
              <a:rPr lang="en" b="1" i="1">
                <a:solidFill>
                  <a:srgbClr val="FF0000"/>
                </a:solidFill>
              </a:rPr>
              <a:t>criteria</a:t>
            </a:r>
            <a:r>
              <a:rPr lang="en"/>
              <a:t> before doing other work</a:t>
            </a:r>
            <a:endParaRPr/>
          </a:p>
          <a:p>
            <a:pPr marL="457200" lvl="0" indent="-311150" algn="l" rtl="0">
              <a:spcBef>
                <a:spcPts val="400"/>
              </a:spcBef>
              <a:spcAft>
                <a:spcPts val="0"/>
              </a:spcAft>
              <a:buSzPts val="1300"/>
              <a:buChar char="●"/>
            </a:pPr>
            <a:r>
              <a:rPr lang="en"/>
              <a:t>The is accomplished using the </a:t>
            </a:r>
            <a:r>
              <a:rPr lang="en">
                <a:latin typeface="Courier New"/>
                <a:ea typeface="Courier New"/>
                <a:cs typeface="Courier New"/>
                <a:sym typeface="Courier New"/>
              </a:rPr>
              <a:t>Stream.filter</a:t>
            </a:r>
            <a:r>
              <a:rPr lang="en"/>
              <a:t> method</a:t>
            </a:r>
            <a:endParaRPr/>
          </a:p>
          <a:p>
            <a:pPr marL="457200" lvl="0" indent="-311150" algn="l" rtl="0">
              <a:spcBef>
                <a:spcPts val="400"/>
              </a:spcBef>
              <a:spcAft>
                <a:spcPts val="0"/>
              </a:spcAft>
              <a:buSzPts val="1300"/>
              <a:buChar char="●"/>
            </a:pPr>
            <a:r>
              <a:rPr lang="en">
                <a:latin typeface="Courier New"/>
                <a:ea typeface="Courier New"/>
                <a:cs typeface="Courier New"/>
                <a:sym typeface="Courier New"/>
              </a:rPr>
              <a:t>filter</a:t>
            </a:r>
            <a:r>
              <a:rPr lang="en"/>
              <a:t> accepts a single parameter which is an instance of the </a:t>
            </a:r>
            <a:r>
              <a:rPr lang="en">
                <a:latin typeface="Courier New"/>
                <a:ea typeface="Courier New"/>
                <a:cs typeface="Courier New"/>
                <a:sym typeface="Courier New"/>
              </a:rPr>
              <a:t>Predicate</a:t>
            </a:r>
            <a:r>
              <a:rPr lang="en"/>
              <a:t> interface</a:t>
            </a:r>
            <a:endParaRPr/>
          </a:p>
          <a:p>
            <a:pPr marL="914400" lvl="1" indent="-304800" algn="l" rtl="0">
              <a:spcBef>
                <a:spcPts val="400"/>
              </a:spcBef>
              <a:spcAft>
                <a:spcPts val="0"/>
              </a:spcAft>
              <a:buSzPts val="1200"/>
              <a:buChar char="○"/>
            </a:pPr>
            <a:r>
              <a:rPr lang="en" sz="1200"/>
              <a:t>You guessed it, another functional interface</a:t>
            </a:r>
            <a:endParaRPr sz="1200"/>
          </a:p>
          <a:p>
            <a:pPr marL="914400" lvl="1" indent="-304800" algn="l" rtl="0">
              <a:spcBef>
                <a:spcPts val="400"/>
              </a:spcBef>
              <a:spcAft>
                <a:spcPts val="0"/>
              </a:spcAft>
              <a:buSzPts val="1200"/>
              <a:buChar char="○"/>
            </a:pPr>
            <a:r>
              <a:rPr lang="en" sz="1200"/>
              <a:t>It's lambda time!</a:t>
            </a:r>
            <a:endParaRPr sz="1200"/>
          </a:p>
          <a:p>
            <a:pPr marL="457200" lvl="0" indent="-311150" algn="l" rtl="0">
              <a:spcBef>
                <a:spcPts val="400"/>
              </a:spcBef>
              <a:spcAft>
                <a:spcPts val="0"/>
              </a:spcAft>
              <a:buSzPts val="1300"/>
              <a:buChar char="●"/>
            </a:pPr>
            <a:r>
              <a:rPr lang="en">
                <a:latin typeface="Courier New"/>
                <a:ea typeface="Courier New"/>
                <a:cs typeface="Courier New"/>
                <a:sym typeface="Courier New"/>
              </a:rPr>
              <a:t>filter</a:t>
            </a:r>
            <a:r>
              <a:rPr lang="en"/>
              <a:t> is different from </a:t>
            </a:r>
            <a:r>
              <a:rPr lang="en">
                <a:latin typeface="Courier New"/>
                <a:ea typeface="Courier New"/>
                <a:cs typeface="Courier New"/>
                <a:sym typeface="Courier New"/>
              </a:rPr>
              <a:t>forEach</a:t>
            </a:r>
            <a:r>
              <a:rPr lang="en"/>
              <a:t> in that instead of performing an action, </a:t>
            </a:r>
            <a:r>
              <a:rPr lang="en">
                <a:latin typeface="Courier New"/>
                <a:ea typeface="Courier New"/>
                <a:cs typeface="Courier New"/>
                <a:sym typeface="Courier New"/>
              </a:rPr>
              <a:t>filter</a:t>
            </a:r>
            <a:r>
              <a:rPr lang="en"/>
              <a:t> returns a </a:t>
            </a:r>
            <a:r>
              <a:rPr lang="en" b="1" i="1">
                <a:solidFill>
                  <a:srgbClr val="FF0000"/>
                </a:solidFill>
              </a:rPr>
              <a:t>modified </a:t>
            </a:r>
            <a:r>
              <a:rPr lang="en">
                <a:latin typeface="Courier New"/>
                <a:ea typeface="Courier New"/>
                <a:cs typeface="Courier New"/>
                <a:sym typeface="Courier New"/>
              </a:rPr>
              <a:t>Stream</a:t>
            </a:r>
            <a:r>
              <a:rPr lang="en"/>
              <a:t> </a:t>
            </a:r>
            <a:endParaRPr/>
          </a:p>
          <a:p>
            <a:pPr marL="914400" lvl="1" indent="-298450" algn="l" rtl="0">
              <a:spcBef>
                <a:spcPts val="400"/>
              </a:spcBef>
              <a:spcAft>
                <a:spcPts val="0"/>
              </a:spcAft>
              <a:buSzPts val="1100"/>
              <a:buChar char="○"/>
            </a:pPr>
            <a:r>
              <a:rPr lang="en"/>
              <a:t>The returned stream only contains the elements that satisfy the </a:t>
            </a:r>
            <a:r>
              <a:rPr lang="en">
                <a:latin typeface="Courier New"/>
                <a:ea typeface="Courier New"/>
                <a:cs typeface="Courier New"/>
                <a:sym typeface="Courier New"/>
              </a:rPr>
              <a:t>Predicate</a:t>
            </a:r>
            <a:endParaRPr>
              <a:latin typeface="Courier New"/>
              <a:ea typeface="Courier New"/>
              <a:cs typeface="Courier New"/>
              <a:sym typeface="Courier New"/>
            </a:endParaRPr>
          </a:p>
          <a:p>
            <a:pPr marL="457200" lvl="0" indent="-311150" algn="l" rtl="0">
              <a:spcBef>
                <a:spcPts val="400"/>
              </a:spcBef>
              <a:spcAft>
                <a:spcPts val="400"/>
              </a:spcAft>
              <a:buSzPts val="1300"/>
              <a:buChar char="●"/>
            </a:pPr>
            <a:r>
              <a:rPr lang="en"/>
              <a:t>For this reason, </a:t>
            </a:r>
            <a:r>
              <a:rPr lang="en">
                <a:latin typeface="Courier New"/>
                <a:ea typeface="Courier New"/>
                <a:cs typeface="Courier New"/>
                <a:sym typeface="Courier New"/>
              </a:rPr>
              <a:t>filter</a:t>
            </a:r>
            <a:r>
              <a:rPr lang="en"/>
              <a:t> is often used as part of other </a:t>
            </a:r>
            <a:r>
              <a:rPr lang="en">
                <a:latin typeface="Courier New"/>
                <a:ea typeface="Courier New"/>
                <a:cs typeface="Courier New"/>
                <a:sym typeface="Courier New"/>
              </a:rPr>
              <a:t>Stream</a:t>
            </a:r>
            <a:r>
              <a:rPr lang="en"/>
              <a:t> operations which can be chained together using dot notation</a:t>
            </a:r>
            <a:endParaRPr/>
          </a:p>
        </p:txBody>
      </p:sp>
      <p:sp>
        <p:nvSpPr>
          <p:cNvPr id="726" name="Google Shape;726;p69"/>
          <p:cNvSpPr txBox="1">
            <a:spLocks noGrp="1"/>
          </p:cNvSpPr>
          <p:nvPr>
            <p:ph type="body" idx="2"/>
          </p:nvPr>
        </p:nvSpPr>
        <p:spPr>
          <a:xfrm>
            <a:off x="5192225" y="1286175"/>
            <a:ext cx="3706500" cy="2099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50">
                <a:solidFill>
                  <a:srgbClr val="0000FF"/>
                </a:solidFill>
                <a:highlight>
                  <a:srgbClr val="FFFFFF"/>
                </a:highlight>
                <a:latin typeface="Consolas"/>
                <a:ea typeface="Consolas"/>
                <a:cs typeface="Consolas"/>
                <a:sym typeface="Consolas"/>
              </a:rPr>
              <a:t>public</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static</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void</a:t>
            </a: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main</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String</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args</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 = </a:t>
            </a:r>
            <a:r>
              <a:rPr lang="en" sz="1150">
                <a:solidFill>
                  <a:srgbClr val="AF00DB"/>
                </a:solidFill>
                <a:highlight>
                  <a:srgbClr val="FFFFFF"/>
                </a:highlight>
                <a:latin typeface="Consolas"/>
                <a:ea typeface="Consolas"/>
                <a:cs typeface="Consolas"/>
                <a:sym typeface="Consolas"/>
              </a:rPr>
              <a:t>new</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4</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0</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54</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1</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85</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2</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97</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3</a:t>
            </a:r>
            <a:r>
              <a:rPr lang="en" sz="1150">
                <a:solidFill>
                  <a:srgbClr val="000000"/>
                </a:solidFill>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72</a:t>
            </a:r>
            <a:r>
              <a:rPr lang="en" sz="1150">
                <a:solidFill>
                  <a:srgbClr val="000000"/>
                </a:solidFill>
                <a:highlight>
                  <a:srgbClr val="FFFFFF"/>
                </a:highlight>
                <a:latin typeface="Consolas"/>
                <a:ea typeface="Consolas"/>
                <a:cs typeface="Consolas"/>
                <a:sym typeface="Consolas"/>
              </a:rPr>
              <a:t>;</a:t>
            </a:r>
            <a:endParaRPr sz="12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8000"/>
                </a:solidFill>
                <a:highlight>
                  <a:srgbClr val="FFFFFF"/>
                </a:highlight>
                <a:latin typeface="Consolas"/>
                <a:ea typeface="Consolas"/>
                <a:cs typeface="Consolas"/>
                <a:sym typeface="Consolas"/>
              </a:rPr>
              <a:t>// Print only passing grades</a:t>
            </a:r>
            <a:endParaRPr sz="1150">
              <a:solidFill>
                <a:srgbClr val="008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Arrays</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stream</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grades</a:t>
            </a:r>
            <a:r>
              <a:rPr lang="en" sz="1150">
                <a:solidFill>
                  <a:srgbClr val="000000"/>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filter</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e</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-&gt;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e</a:t>
            </a:r>
            <a:r>
              <a:rPr lang="en" sz="1150">
                <a:solidFill>
                  <a:srgbClr val="000000"/>
                </a:solidFill>
                <a:highlight>
                  <a:srgbClr val="FFFFFF"/>
                </a:highlight>
                <a:latin typeface="Consolas"/>
                <a:ea typeface="Consolas"/>
                <a:cs typeface="Consolas"/>
                <a:sym typeface="Consolas"/>
              </a:rPr>
              <a:t> &gt; </a:t>
            </a:r>
            <a:r>
              <a:rPr lang="en" sz="1150">
                <a:solidFill>
                  <a:srgbClr val="098658"/>
                </a:solidFill>
                <a:highlight>
                  <a:srgbClr val="FFFFFF"/>
                </a:highlight>
                <a:latin typeface="Consolas"/>
                <a:ea typeface="Consolas"/>
                <a:cs typeface="Consolas"/>
                <a:sym typeface="Consolas"/>
              </a:rPr>
              <a:t>69</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forEach</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System</a:t>
            </a:r>
            <a:r>
              <a:rPr lang="en" sz="1150">
                <a:solidFill>
                  <a:srgbClr val="000000"/>
                </a:solidFill>
                <a:highlight>
                  <a:srgbClr val="FFFFFF"/>
                </a:highlight>
                <a:latin typeface="Consolas"/>
                <a:ea typeface="Consolas"/>
                <a:cs typeface="Consolas"/>
                <a:sym typeface="Consolas"/>
              </a:rPr>
              <a:t>.</a:t>
            </a:r>
            <a:r>
              <a:rPr lang="en" sz="1150">
                <a:solidFill>
                  <a:srgbClr val="0070C1"/>
                </a:solidFill>
                <a:highlight>
                  <a:srgbClr val="FFFFFF"/>
                </a:highlight>
                <a:latin typeface="Consolas"/>
                <a:ea typeface="Consolas"/>
                <a:cs typeface="Consolas"/>
                <a:sym typeface="Consolas"/>
              </a:rPr>
              <a:t>out</a:t>
            </a:r>
            <a:r>
              <a:rPr lang="en" sz="1150">
                <a:solidFill>
                  <a:srgbClr val="AF00DB"/>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println</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1600"/>
              </a:spcAft>
              <a:buNone/>
            </a:pPr>
            <a:endParaRPr/>
          </a:p>
        </p:txBody>
      </p:sp>
      <p:sp>
        <p:nvSpPr>
          <p:cNvPr id="727" name="Google Shape;727;p69"/>
          <p:cNvSpPr txBox="1">
            <a:spLocks noGrp="1"/>
          </p:cNvSpPr>
          <p:nvPr>
            <p:ph type="body" idx="3"/>
          </p:nvPr>
        </p:nvSpPr>
        <p:spPr>
          <a:xfrm>
            <a:off x="5192225" y="4089650"/>
            <a:ext cx="3706500" cy="80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urier New"/>
                <a:ea typeface="Courier New"/>
                <a:cs typeface="Courier New"/>
                <a:sym typeface="Courier New"/>
              </a:rPr>
              <a:t>filter</a:t>
            </a:r>
            <a:r>
              <a:rPr lang="en"/>
              <a:t> is used to </a:t>
            </a:r>
            <a:r>
              <a:rPr lang="en" b="1" i="1">
                <a:solidFill>
                  <a:srgbClr val="FF0000"/>
                </a:solidFill>
              </a:rPr>
              <a:t>reduce</a:t>
            </a:r>
            <a:r>
              <a:rPr lang="en"/>
              <a:t> the amount of data in a stream based on some criteria.</a:t>
            </a:r>
            <a:endParaRPr/>
          </a:p>
        </p:txBody>
      </p:sp>
      <p:sp>
        <p:nvSpPr>
          <p:cNvPr id="728" name="Google Shape;728;p69"/>
          <p:cNvSpPr txBox="1">
            <a:spLocks noGrp="1"/>
          </p:cNvSpPr>
          <p:nvPr>
            <p:ph type="body" idx="3"/>
          </p:nvPr>
        </p:nvSpPr>
        <p:spPr>
          <a:xfrm>
            <a:off x="7339625" y="1908825"/>
            <a:ext cx="1173000" cy="44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Filter on all the passing grades</a:t>
            </a:r>
            <a:endParaRPr sz="1100"/>
          </a:p>
        </p:txBody>
      </p:sp>
      <p:sp>
        <p:nvSpPr>
          <p:cNvPr id="729" name="Google Shape;729;p69"/>
          <p:cNvSpPr/>
          <p:nvPr/>
        </p:nvSpPr>
        <p:spPr>
          <a:xfrm>
            <a:off x="7204961" y="2781026"/>
            <a:ext cx="1576200" cy="18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30" name="Google Shape;730;p69"/>
          <p:cNvCxnSpPr>
            <a:stCxn id="728" idx="2"/>
            <a:endCxn id="729" idx="0"/>
          </p:cNvCxnSpPr>
          <p:nvPr/>
        </p:nvCxnSpPr>
        <p:spPr>
          <a:xfrm rot="-5400000" flipH="1">
            <a:off x="7745225" y="2533125"/>
            <a:ext cx="428700" cy="66900"/>
          </a:xfrm>
          <a:prstGeom prst="bentConnector3">
            <a:avLst>
              <a:gd name="adj1" fmla="val 50012"/>
            </a:avLst>
          </a:prstGeom>
          <a:noFill/>
          <a:ln w="19050" cap="flat" cmpd="sng">
            <a:solidFill>
              <a:srgbClr val="FF0000"/>
            </a:solidFill>
            <a:prstDash val="solid"/>
            <a:round/>
            <a:headEnd type="none" w="med" len="med"/>
            <a:tailEnd type="triangle" w="med" len="med"/>
          </a:ln>
        </p:spPr>
      </p:cxnSp>
      <p:sp>
        <p:nvSpPr>
          <p:cNvPr id="731" name="Google Shape;731;p69"/>
          <p:cNvSpPr/>
          <p:nvPr/>
        </p:nvSpPr>
        <p:spPr>
          <a:xfrm>
            <a:off x="6325500" y="2987416"/>
            <a:ext cx="2427300" cy="18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69"/>
          <p:cNvSpPr txBox="1">
            <a:spLocks noGrp="1"/>
          </p:cNvSpPr>
          <p:nvPr>
            <p:ph type="body" idx="3"/>
          </p:nvPr>
        </p:nvSpPr>
        <p:spPr>
          <a:xfrm>
            <a:off x="5631650" y="3306188"/>
            <a:ext cx="1653000" cy="44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Print the filtered stream</a:t>
            </a:r>
            <a:endParaRPr sz="1100"/>
          </a:p>
        </p:txBody>
      </p:sp>
      <p:cxnSp>
        <p:nvCxnSpPr>
          <p:cNvPr id="733" name="Google Shape;733;p69"/>
          <p:cNvCxnSpPr>
            <a:stCxn id="732" idx="3"/>
            <a:endCxn id="731" idx="2"/>
          </p:cNvCxnSpPr>
          <p:nvPr/>
        </p:nvCxnSpPr>
        <p:spPr>
          <a:xfrm rot="10800000" flipH="1">
            <a:off x="7284650" y="3172388"/>
            <a:ext cx="254400" cy="355500"/>
          </a:xfrm>
          <a:prstGeom prst="bentConnector2">
            <a:avLst/>
          </a:prstGeom>
          <a:noFill/>
          <a:ln w="1905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8"/>
                                        </p:tgtEl>
                                        <p:attrNameLst>
                                          <p:attrName>style.visibility</p:attrName>
                                        </p:attrNameLst>
                                      </p:cBhvr>
                                      <p:to>
                                        <p:strVal val="visible"/>
                                      </p:to>
                                    </p:set>
                                    <p:animEffect transition="in" filter="fade">
                                      <p:cBhvr>
                                        <p:cTn id="7" dur="1000"/>
                                        <p:tgtEl>
                                          <p:spTgt spid="728"/>
                                        </p:tgtEl>
                                      </p:cBhvr>
                                    </p:animEffect>
                                  </p:childTnLst>
                                </p:cTn>
                              </p:par>
                              <p:par>
                                <p:cTn id="8" presetID="10" presetClass="entr" presetSubtype="0" fill="hold" nodeType="withEffect">
                                  <p:stCondLst>
                                    <p:cond delay="0"/>
                                  </p:stCondLst>
                                  <p:childTnLst>
                                    <p:set>
                                      <p:cBhvr>
                                        <p:cTn id="9" dur="1" fill="hold">
                                          <p:stCondLst>
                                            <p:cond delay="0"/>
                                          </p:stCondLst>
                                        </p:cTn>
                                        <p:tgtEl>
                                          <p:spTgt spid="730"/>
                                        </p:tgtEl>
                                        <p:attrNameLst>
                                          <p:attrName>style.visibility</p:attrName>
                                        </p:attrNameLst>
                                      </p:cBhvr>
                                      <p:to>
                                        <p:strVal val="visible"/>
                                      </p:to>
                                    </p:set>
                                    <p:animEffect transition="in" filter="fade">
                                      <p:cBhvr>
                                        <p:cTn id="10" dur="1000"/>
                                        <p:tgtEl>
                                          <p:spTgt spid="730"/>
                                        </p:tgtEl>
                                      </p:cBhvr>
                                    </p:animEffect>
                                  </p:childTnLst>
                                </p:cTn>
                              </p:par>
                              <p:par>
                                <p:cTn id="11" presetID="10" presetClass="entr" presetSubtype="0" fill="hold" nodeType="withEffect">
                                  <p:stCondLst>
                                    <p:cond delay="0"/>
                                  </p:stCondLst>
                                  <p:childTnLst>
                                    <p:set>
                                      <p:cBhvr>
                                        <p:cTn id="12" dur="1" fill="hold">
                                          <p:stCondLst>
                                            <p:cond delay="0"/>
                                          </p:stCondLst>
                                        </p:cTn>
                                        <p:tgtEl>
                                          <p:spTgt spid="729"/>
                                        </p:tgtEl>
                                        <p:attrNameLst>
                                          <p:attrName>style.visibility</p:attrName>
                                        </p:attrNameLst>
                                      </p:cBhvr>
                                      <p:to>
                                        <p:strVal val="visible"/>
                                      </p:to>
                                    </p:set>
                                    <p:animEffect transition="in" filter="fade">
                                      <p:cBhvr>
                                        <p:cTn id="13" dur="1000"/>
                                        <p:tgtEl>
                                          <p:spTgt spid="7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32"/>
                                        </p:tgtEl>
                                        <p:attrNameLst>
                                          <p:attrName>style.visibility</p:attrName>
                                        </p:attrNameLst>
                                      </p:cBhvr>
                                      <p:to>
                                        <p:strVal val="visible"/>
                                      </p:to>
                                    </p:set>
                                    <p:animEffect transition="in" filter="fade">
                                      <p:cBhvr>
                                        <p:cTn id="18" dur="1000"/>
                                        <p:tgtEl>
                                          <p:spTgt spid="732"/>
                                        </p:tgtEl>
                                      </p:cBhvr>
                                    </p:animEffect>
                                  </p:childTnLst>
                                </p:cTn>
                              </p:par>
                              <p:par>
                                <p:cTn id="19" presetID="10" presetClass="entr" presetSubtype="0" fill="hold" nodeType="withEffect">
                                  <p:stCondLst>
                                    <p:cond delay="0"/>
                                  </p:stCondLst>
                                  <p:childTnLst>
                                    <p:set>
                                      <p:cBhvr>
                                        <p:cTn id="20" dur="1" fill="hold">
                                          <p:stCondLst>
                                            <p:cond delay="0"/>
                                          </p:stCondLst>
                                        </p:cTn>
                                        <p:tgtEl>
                                          <p:spTgt spid="733"/>
                                        </p:tgtEl>
                                        <p:attrNameLst>
                                          <p:attrName>style.visibility</p:attrName>
                                        </p:attrNameLst>
                                      </p:cBhvr>
                                      <p:to>
                                        <p:strVal val="visible"/>
                                      </p:to>
                                    </p:set>
                                    <p:animEffect transition="in" filter="fade">
                                      <p:cBhvr>
                                        <p:cTn id="21" dur="1000"/>
                                        <p:tgtEl>
                                          <p:spTgt spid="733"/>
                                        </p:tgtEl>
                                      </p:cBhvr>
                                    </p:animEffect>
                                  </p:childTnLst>
                                </p:cTn>
                              </p:par>
                              <p:par>
                                <p:cTn id="22" presetID="10" presetClass="entr" presetSubtype="0" fill="hold" nodeType="withEffect">
                                  <p:stCondLst>
                                    <p:cond delay="0"/>
                                  </p:stCondLst>
                                  <p:childTnLst>
                                    <p:set>
                                      <p:cBhvr>
                                        <p:cTn id="23" dur="1" fill="hold">
                                          <p:stCondLst>
                                            <p:cond delay="0"/>
                                          </p:stCondLst>
                                        </p:cTn>
                                        <p:tgtEl>
                                          <p:spTgt spid="731"/>
                                        </p:tgtEl>
                                        <p:attrNameLst>
                                          <p:attrName>style.visibility</p:attrName>
                                        </p:attrNameLst>
                                      </p:cBhvr>
                                      <p:to>
                                        <p:strVal val="visible"/>
                                      </p:to>
                                    </p:set>
                                    <p:animEffect transition="in" filter="fade">
                                      <p:cBhvr>
                                        <p:cTn id="24" dur="1000"/>
                                        <p:tgtEl>
                                          <p:spTgt spid="73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27"/>
                                        </p:tgtEl>
                                        <p:attrNameLst>
                                          <p:attrName>style.visibility</p:attrName>
                                        </p:attrNameLst>
                                      </p:cBhvr>
                                      <p:to>
                                        <p:strVal val="visible"/>
                                      </p:to>
                                    </p:set>
                                    <p:animEffect transition="in" filter="fade">
                                      <p:cBhvr>
                                        <p:cTn id="29" dur="1000"/>
                                        <p:tgtEl>
                                          <p:spTgt spid="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739" name="Google Shape;739;p7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What’s In A Name?</a:t>
            </a:r>
            <a:endParaRPr/>
          </a:p>
        </p:txBody>
      </p:sp>
      <p:sp>
        <p:nvSpPr>
          <p:cNvPr id="740" name="Google Shape;740;p7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a:t>
            </a:r>
            <a:r>
              <a:rPr lang="en">
                <a:latin typeface="Courier New"/>
                <a:ea typeface="Courier New"/>
                <a:cs typeface="Courier New"/>
                <a:sym typeface="Courier New"/>
              </a:rPr>
              <a:t>Predicate</a:t>
            </a:r>
            <a:r>
              <a:rPr lang="en"/>
              <a:t> can be used with the </a:t>
            </a:r>
            <a:r>
              <a:rPr lang="en">
                <a:latin typeface="Courier New"/>
                <a:ea typeface="Courier New"/>
                <a:cs typeface="Courier New"/>
                <a:sym typeface="Courier New"/>
              </a:rPr>
              <a:t>filter</a:t>
            </a:r>
            <a:r>
              <a:rPr lang="en"/>
              <a:t> method on a </a:t>
            </a:r>
            <a:r>
              <a:rPr lang="en">
                <a:latin typeface="Courier New"/>
                <a:ea typeface="Courier New"/>
                <a:cs typeface="Courier New"/>
                <a:sym typeface="Courier New"/>
              </a:rPr>
              <a:t>Stream</a:t>
            </a:r>
            <a:r>
              <a:rPr lang="en"/>
              <a:t> to determine whether or not one of the values in the </a:t>
            </a:r>
            <a:r>
              <a:rPr lang="en">
                <a:latin typeface="Courier New"/>
                <a:ea typeface="Courier New"/>
                <a:cs typeface="Courier New"/>
                <a:sym typeface="Courier New"/>
              </a:rPr>
              <a:t>Stream</a:t>
            </a:r>
            <a:r>
              <a:rPr lang="en"/>
              <a:t> should be included in the next stage of the output. Use a </a:t>
            </a:r>
            <a:r>
              <a:rPr lang="en">
                <a:latin typeface="Courier New"/>
                <a:ea typeface="Courier New"/>
                <a:cs typeface="Courier New"/>
                <a:sym typeface="Courier New"/>
              </a:rPr>
              <a:t>Predicate</a:t>
            </a:r>
            <a:r>
              <a:rPr lang="en"/>
              <a:t> to include only students that have a specific first letter in their last name.</a:t>
            </a:r>
            <a:endParaRPr/>
          </a:p>
        </p:txBody>
      </p:sp>
      <p:sp>
        <p:nvSpPr>
          <p:cNvPr id="741" name="Google Shape;741;p70"/>
          <p:cNvSpPr txBox="1">
            <a:spLocks noGrp="1"/>
          </p:cNvSpPr>
          <p:nvPr>
            <p:ph type="body" idx="2"/>
          </p:nvPr>
        </p:nvSpPr>
        <p:spPr>
          <a:xfrm>
            <a:off x="4080450" y="1859075"/>
            <a:ext cx="4940700" cy="28404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Using Streams print only the students with a last name that starts with a specific letter, e.g. “t”</a:t>
            </a:r>
            <a:endParaRPr sz="1500"/>
          </a:p>
          <a:p>
            <a:pPr marL="914400" lvl="1" indent="-317500" algn="l" rtl="0">
              <a:spcBef>
                <a:spcPts val="0"/>
              </a:spcBef>
              <a:spcAft>
                <a:spcPts val="0"/>
              </a:spcAft>
              <a:buSzPts val="1400"/>
              <a:buChar char="○"/>
            </a:pPr>
            <a:r>
              <a:rPr lang="en" sz="1400"/>
              <a:t>After getting the a Stream to Students ...</a:t>
            </a:r>
            <a:endParaRPr sz="1400"/>
          </a:p>
          <a:p>
            <a:pPr marL="914400" lvl="1" indent="-317500" algn="l" rtl="0">
              <a:spcBef>
                <a:spcPts val="0"/>
              </a:spcBef>
              <a:spcAft>
                <a:spcPts val="0"/>
              </a:spcAft>
              <a:buSzPts val="1400"/>
              <a:buChar char="○"/>
            </a:pPr>
            <a:r>
              <a:rPr lang="en" sz="1400"/>
              <a:t>Apply a filter …</a:t>
            </a:r>
            <a:endParaRPr sz="1400"/>
          </a:p>
          <a:p>
            <a:pPr marL="1371600" lvl="2" indent="-317500" algn="l" rtl="0">
              <a:spcBef>
                <a:spcPts val="0"/>
              </a:spcBef>
              <a:spcAft>
                <a:spcPts val="0"/>
              </a:spcAft>
              <a:buSzPts val="1400"/>
              <a:buChar char="■"/>
            </a:pPr>
            <a:r>
              <a:rPr lang="en" sz="1400">
                <a:latin typeface="Courier New"/>
                <a:ea typeface="Courier New"/>
                <a:cs typeface="Courier New"/>
                <a:sym typeface="Courier New"/>
              </a:rPr>
              <a:t>String.contains(&lt;string&gt;) </a:t>
            </a:r>
            <a:r>
              <a:rPr lang="en" sz="1400"/>
              <a:t>returns </a:t>
            </a:r>
            <a:r>
              <a:rPr lang="en" sz="1400">
                <a:latin typeface="Courier New"/>
                <a:ea typeface="Courier New"/>
                <a:cs typeface="Courier New"/>
                <a:sym typeface="Courier New"/>
              </a:rPr>
              <a:t>true </a:t>
            </a:r>
            <a:r>
              <a:rPr lang="en" sz="1400"/>
              <a:t>if the </a:t>
            </a:r>
            <a:r>
              <a:rPr lang="en" sz="1400">
                <a:latin typeface="Courier New"/>
                <a:ea typeface="Courier New"/>
                <a:cs typeface="Courier New"/>
                <a:sym typeface="Courier New"/>
              </a:rPr>
              <a:t>String </a:t>
            </a:r>
            <a:r>
              <a:rPr lang="en" sz="1400"/>
              <a:t>contains </a:t>
            </a:r>
            <a:r>
              <a:rPr lang="en" sz="1400">
                <a:latin typeface="Courier New"/>
                <a:ea typeface="Courier New"/>
                <a:cs typeface="Courier New"/>
                <a:sym typeface="Courier New"/>
              </a:rPr>
              <a:t>&lt;string&gt;</a:t>
            </a:r>
            <a:r>
              <a:rPr lang="en" sz="1400"/>
              <a:t>, </a:t>
            </a:r>
            <a:r>
              <a:rPr lang="en" sz="1400">
                <a:latin typeface="Courier New"/>
                <a:ea typeface="Courier New"/>
                <a:cs typeface="Courier New"/>
                <a:sym typeface="Courier New"/>
              </a:rPr>
              <a:t>false </a:t>
            </a:r>
            <a:r>
              <a:rPr lang="en" sz="1400"/>
              <a:t>otherwise</a:t>
            </a:r>
            <a:endParaRPr sz="1400"/>
          </a:p>
          <a:p>
            <a:pPr marL="1371600" lvl="2" indent="-317500" algn="l" rtl="0">
              <a:spcBef>
                <a:spcPts val="0"/>
              </a:spcBef>
              <a:spcAft>
                <a:spcPts val="0"/>
              </a:spcAft>
              <a:buSzPts val="1400"/>
              <a:buChar char="■"/>
            </a:pPr>
            <a:r>
              <a:rPr lang="en" sz="1400"/>
              <a:t>Challenge: filter regardless of case</a:t>
            </a:r>
            <a:endParaRPr sz="1400"/>
          </a:p>
          <a:p>
            <a:pPr marL="914400" lvl="1" indent="-317500" algn="l" rtl="0">
              <a:spcBef>
                <a:spcPts val="0"/>
              </a:spcBef>
              <a:spcAft>
                <a:spcPts val="0"/>
              </a:spcAft>
              <a:buSzPts val="1400"/>
              <a:buChar char="○"/>
            </a:pPr>
            <a:r>
              <a:rPr lang="en" sz="1400"/>
              <a:t>And print the filtered stream</a:t>
            </a:r>
            <a:endParaRPr sz="1400"/>
          </a:p>
          <a:p>
            <a:pPr marL="0" lvl="0" indent="0" algn="l" rtl="0">
              <a:spcBef>
                <a:spcPts val="1600"/>
              </a:spcBef>
              <a:spcAft>
                <a:spcPts val="1600"/>
              </a:spcAft>
              <a:buNone/>
            </a:pPr>
            <a:endParaRPr sz="1200"/>
          </a:p>
        </p:txBody>
      </p:sp>
      <p:sp>
        <p:nvSpPr>
          <p:cNvPr id="742" name="Google Shape;742;p7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4.12</a:t>
            </a:r>
            <a:endParaRPr/>
          </a:p>
        </p:txBody>
      </p:sp>
      <p:sp>
        <p:nvSpPr>
          <p:cNvPr id="743" name="Google Shape;743;p70"/>
          <p:cNvSpPr txBox="1">
            <a:spLocks noGrp="1"/>
          </p:cNvSpPr>
          <p:nvPr>
            <p:ph type="body" idx="4"/>
          </p:nvPr>
        </p:nvSpPr>
        <p:spPr>
          <a:xfrm>
            <a:off x="231450" y="1926525"/>
            <a:ext cx="3849000" cy="22116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50">
                <a:solidFill>
                  <a:srgbClr val="0000FF"/>
                </a:solidFill>
                <a:highlight>
                  <a:schemeClr val="lt1"/>
                </a:highlight>
                <a:latin typeface="Consolas"/>
                <a:ea typeface="Consolas"/>
                <a:cs typeface="Consolas"/>
                <a:sym typeface="Consolas"/>
              </a:rPr>
              <a:t>public</a:t>
            </a:r>
            <a:r>
              <a:rPr lang="en" sz="1150">
                <a:highlight>
                  <a:schemeClr val="lt1"/>
                </a:highlight>
                <a:latin typeface="Consolas"/>
                <a:ea typeface="Consolas"/>
                <a:cs typeface="Consolas"/>
                <a:sym typeface="Consolas"/>
              </a:rPr>
              <a:t> </a:t>
            </a:r>
            <a:r>
              <a:rPr lang="en" sz="1150">
                <a:solidFill>
                  <a:srgbClr val="0000FF"/>
                </a:solidFill>
                <a:highlight>
                  <a:schemeClr val="lt1"/>
                </a:highlight>
                <a:latin typeface="Consolas"/>
                <a:ea typeface="Consolas"/>
                <a:cs typeface="Consolas"/>
                <a:sym typeface="Consolas"/>
              </a:rPr>
              <a:t>static</a:t>
            </a:r>
            <a:r>
              <a:rPr lang="en" sz="1150">
                <a:highlight>
                  <a:schemeClr val="lt1"/>
                </a:highlight>
                <a:latin typeface="Consolas"/>
                <a:ea typeface="Consolas"/>
                <a:cs typeface="Consolas"/>
                <a:sym typeface="Consolas"/>
              </a:rPr>
              <a:t> </a:t>
            </a:r>
            <a:r>
              <a:rPr lang="en" sz="1150">
                <a:solidFill>
                  <a:srgbClr val="267F99"/>
                </a:solidFill>
                <a:highlight>
                  <a:schemeClr val="lt1"/>
                </a:highlight>
                <a:latin typeface="Consolas"/>
                <a:ea typeface="Consolas"/>
                <a:cs typeface="Consolas"/>
                <a:sym typeface="Consolas"/>
              </a:rPr>
              <a:t>void</a:t>
            </a:r>
            <a:r>
              <a:rPr lang="en" sz="1150">
                <a:highlight>
                  <a:schemeClr val="lt1"/>
                </a:highlight>
                <a:latin typeface="Consolas"/>
                <a:ea typeface="Consolas"/>
                <a:cs typeface="Consolas"/>
                <a:sym typeface="Consolas"/>
              </a:rPr>
              <a:t> </a:t>
            </a:r>
            <a:r>
              <a:rPr lang="en" sz="1150">
                <a:solidFill>
                  <a:srgbClr val="795E26"/>
                </a:solidFill>
                <a:highlight>
                  <a:schemeClr val="lt1"/>
                </a:highlight>
                <a:latin typeface="Consolas"/>
                <a:ea typeface="Consolas"/>
                <a:cs typeface="Consolas"/>
                <a:sym typeface="Consolas"/>
              </a:rPr>
              <a:t>main</a:t>
            </a:r>
            <a:r>
              <a:rPr lang="en" sz="1150">
                <a:highlight>
                  <a:schemeClr val="lt1"/>
                </a:highlight>
                <a:latin typeface="Consolas"/>
                <a:ea typeface="Consolas"/>
                <a:cs typeface="Consolas"/>
                <a:sym typeface="Consolas"/>
              </a:rPr>
              <a:t>(</a:t>
            </a:r>
            <a:r>
              <a:rPr lang="en" sz="1150">
                <a:solidFill>
                  <a:srgbClr val="267F99"/>
                </a:solidFill>
                <a:highlight>
                  <a:schemeClr val="lt1"/>
                </a:highlight>
                <a:latin typeface="Consolas"/>
                <a:ea typeface="Consolas"/>
                <a:cs typeface="Consolas"/>
                <a:sym typeface="Consolas"/>
              </a:rPr>
              <a:t>String</a:t>
            </a:r>
            <a:r>
              <a:rPr lang="en" sz="1150">
                <a:highlight>
                  <a:schemeClr val="lt1"/>
                </a:highlight>
                <a:latin typeface="Consolas"/>
                <a:ea typeface="Consolas"/>
                <a:cs typeface="Consolas"/>
                <a:sym typeface="Consolas"/>
              </a:rPr>
              <a:t>[] </a:t>
            </a:r>
            <a:r>
              <a:rPr lang="en" sz="1150">
                <a:solidFill>
                  <a:srgbClr val="001080"/>
                </a:solidFill>
                <a:highlight>
                  <a:schemeClr val="lt1"/>
                </a:highlight>
                <a:latin typeface="Consolas"/>
                <a:ea typeface="Consolas"/>
                <a:cs typeface="Consolas"/>
                <a:sym typeface="Consolas"/>
              </a:rPr>
              <a:t>args</a:t>
            </a:r>
            <a:r>
              <a:rPr lang="en" sz="1150">
                <a:highlight>
                  <a:schemeClr val="lt1"/>
                </a:highlight>
                <a:latin typeface="Consolas"/>
                <a:ea typeface="Consolas"/>
                <a:cs typeface="Consolas"/>
                <a:sym typeface="Consolas"/>
              </a:rPr>
              <a:t>) {</a:t>
            </a:r>
            <a:endParaRPr sz="1150">
              <a:highlight>
                <a:schemeClr val="lt1"/>
              </a:highlight>
              <a:latin typeface="Consolas"/>
              <a:ea typeface="Consolas"/>
              <a:cs typeface="Consolas"/>
              <a:sym typeface="Consolas"/>
            </a:endParaRPr>
          </a:p>
          <a:p>
            <a:pPr marL="0" lvl="0" indent="0" algn="l" rtl="0">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 = </a:t>
            </a:r>
            <a:r>
              <a:rPr lang="en" sz="1150">
                <a:solidFill>
                  <a:srgbClr val="AF00DB"/>
                </a:solidFill>
                <a:highlight>
                  <a:srgbClr val="FFFFFF"/>
                </a:highlight>
                <a:latin typeface="Consolas"/>
                <a:ea typeface="Consolas"/>
                <a:cs typeface="Consolas"/>
                <a:sym typeface="Consolas"/>
              </a:rPr>
              <a:t>new</a:t>
            </a:r>
            <a:r>
              <a:rPr lang="en" sz="1150">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4</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marL="0" lvl="0" indent="0" algn="l" rtl="0">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0</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54</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marL="0" lvl="0" indent="0" algn="l" rtl="0">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1</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85</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marL="0" lvl="0" indent="0" algn="l" rtl="0">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2</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97</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marL="0" lvl="0" indent="0" algn="l" rtl="0">
              <a:spcBef>
                <a:spcPts val="0"/>
              </a:spcBef>
              <a:spcAft>
                <a:spcPts val="0"/>
              </a:spcAft>
              <a:buNone/>
            </a:pP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solidFill>
                  <a:srgbClr val="098658"/>
                </a:solidFill>
                <a:highlight>
                  <a:srgbClr val="FFFFFF"/>
                </a:highlight>
                <a:latin typeface="Consolas"/>
                <a:ea typeface="Consolas"/>
                <a:cs typeface="Consolas"/>
                <a:sym typeface="Consolas"/>
              </a:rPr>
              <a:t>3</a:t>
            </a:r>
            <a:r>
              <a:rPr lang="en" sz="1150">
                <a:highlight>
                  <a:srgbClr val="FFFFFF"/>
                </a:highlight>
                <a:latin typeface="Consolas"/>
                <a:ea typeface="Consolas"/>
                <a:cs typeface="Consolas"/>
                <a:sym typeface="Consolas"/>
              </a:rPr>
              <a:t>] = </a:t>
            </a:r>
            <a:r>
              <a:rPr lang="en" sz="1150">
                <a:solidFill>
                  <a:srgbClr val="098658"/>
                </a:solidFill>
                <a:highlight>
                  <a:srgbClr val="FFFFFF"/>
                </a:highlight>
                <a:latin typeface="Consolas"/>
                <a:ea typeface="Consolas"/>
                <a:cs typeface="Consolas"/>
                <a:sym typeface="Consolas"/>
              </a:rPr>
              <a:t>72</a:t>
            </a:r>
            <a:r>
              <a:rPr lang="en" sz="1150">
                <a:highlight>
                  <a:srgbClr val="FFFFFF"/>
                </a:highlight>
                <a:latin typeface="Consolas"/>
                <a:ea typeface="Consolas"/>
                <a:cs typeface="Consolas"/>
                <a:sym typeface="Consolas"/>
              </a:rPr>
              <a:t>;</a:t>
            </a:r>
            <a:endParaRPr sz="1250">
              <a:highlight>
                <a:schemeClr val="lt1"/>
              </a:highlight>
              <a:latin typeface="Consolas"/>
              <a:ea typeface="Consolas"/>
              <a:cs typeface="Consolas"/>
              <a:sym typeface="Consolas"/>
            </a:endParaRPr>
          </a:p>
          <a:p>
            <a:pPr marL="0" lvl="0" indent="0" algn="l" rtl="0">
              <a:spcBef>
                <a:spcPts val="0"/>
              </a:spcBef>
              <a:spcAft>
                <a:spcPts val="0"/>
              </a:spcAft>
              <a:buNone/>
            </a:pPr>
            <a:endParaRPr sz="1150">
              <a:highlight>
                <a:schemeClr val="lt1"/>
              </a:highlight>
              <a:latin typeface="Consolas"/>
              <a:ea typeface="Consolas"/>
              <a:cs typeface="Consolas"/>
              <a:sym typeface="Consolas"/>
            </a:endParaRPr>
          </a:p>
          <a:p>
            <a:pPr marL="0" lvl="0" indent="0" algn="l" rtl="0">
              <a:lnSpc>
                <a:spcPct val="115000"/>
              </a:lnSpc>
              <a:spcBef>
                <a:spcPts val="0"/>
              </a:spcBef>
              <a:spcAft>
                <a:spcPts val="0"/>
              </a:spcAft>
              <a:buNone/>
            </a:pPr>
            <a:r>
              <a:rPr lang="en" sz="1150">
                <a:highlight>
                  <a:schemeClr val="lt1"/>
                </a:highlight>
                <a:latin typeface="Consolas"/>
                <a:ea typeface="Consolas"/>
                <a:cs typeface="Consolas"/>
                <a:sym typeface="Consolas"/>
              </a:rPr>
              <a:t>  </a:t>
            </a:r>
            <a:r>
              <a:rPr lang="en" sz="1150">
                <a:solidFill>
                  <a:srgbClr val="008000"/>
                </a:solidFill>
                <a:highlight>
                  <a:schemeClr val="lt1"/>
                </a:highlight>
                <a:latin typeface="Consolas"/>
                <a:ea typeface="Consolas"/>
                <a:cs typeface="Consolas"/>
                <a:sym typeface="Consolas"/>
              </a:rPr>
              <a:t>// Print only passing grades</a:t>
            </a:r>
            <a:endParaRPr sz="1150">
              <a:solidFill>
                <a:srgbClr val="008000"/>
              </a:solidFill>
              <a:highlight>
                <a:schemeClr val="lt1"/>
              </a:highlight>
              <a:latin typeface="Consolas"/>
              <a:ea typeface="Consolas"/>
              <a:cs typeface="Consolas"/>
              <a:sym typeface="Consolas"/>
            </a:endParaRPr>
          </a:p>
          <a:p>
            <a:pPr marL="0" lvl="0" indent="0" algn="l" rtl="0">
              <a:lnSpc>
                <a:spcPct val="115000"/>
              </a:lnSpc>
              <a:spcBef>
                <a:spcPts val="0"/>
              </a:spcBef>
              <a:spcAft>
                <a:spcPts val="0"/>
              </a:spcAft>
              <a:buNone/>
            </a:pPr>
            <a:r>
              <a:rPr lang="en" sz="1150">
                <a:highlight>
                  <a:schemeClr val="lt1"/>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Arrays</a:t>
            </a:r>
            <a:r>
              <a:rPr lang="en" sz="1150">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stream</a:t>
            </a:r>
            <a:r>
              <a:rPr lang="en" sz="1150">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grades</a:t>
            </a:r>
            <a:r>
              <a:rPr lang="en" sz="1150">
                <a:highlight>
                  <a:srgbClr val="FFFFFF"/>
                </a:highlight>
                <a:latin typeface="Consolas"/>
                <a:ea typeface="Consolas"/>
                <a:cs typeface="Consolas"/>
                <a:sym typeface="Consolas"/>
              </a:rPr>
              <a:t>)</a:t>
            </a:r>
            <a:r>
              <a:rPr lang="en" sz="1150">
                <a:highlight>
                  <a:schemeClr val="lt1"/>
                </a:highlight>
                <a:latin typeface="Consolas"/>
                <a:ea typeface="Consolas"/>
                <a:cs typeface="Consolas"/>
                <a:sym typeface="Consolas"/>
              </a:rPr>
              <a:t>.</a:t>
            </a:r>
            <a:r>
              <a:rPr lang="en" sz="1150">
                <a:solidFill>
                  <a:srgbClr val="795E26"/>
                </a:solidFill>
                <a:highlight>
                  <a:schemeClr val="lt1"/>
                </a:highlight>
                <a:latin typeface="Consolas"/>
                <a:ea typeface="Consolas"/>
                <a:cs typeface="Consolas"/>
                <a:sym typeface="Consolas"/>
              </a:rPr>
              <a:t>filter</a:t>
            </a:r>
            <a:r>
              <a:rPr lang="en" sz="1150">
                <a:highlight>
                  <a:schemeClr val="lt1"/>
                </a:highlight>
                <a:latin typeface="Consolas"/>
                <a:ea typeface="Consolas"/>
                <a:cs typeface="Consolas"/>
                <a:sym typeface="Consolas"/>
              </a:rPr>
              <a:t>(</a:t>
            </a:r>
            <a:r>
              <a:rPr lang="en" sz="1150">
                <a:solidFill>
                  <a:srgbClr val="001080"/>
                </a:solidFill>
                <a:highlight>
                  <a:schemeClr val="lt1"/>
                </a:highlight>
                <a:latin typeface="Consolas"/>
                <a:ea typeface="Consolas"/>
                <a:cs typeface="Consolas"/>
                <a:sym typeface="Consolas"/>
              </a:rPr>
              <a:t>e</a:t>
            </a:r>
            <a:r>
              <a:rPr lang="en" sz="1150">
                <a:highlight>
                  <a:schemeClr val="lt1"/>
                </a:highlight>
                <a:latin typeface="Consolas"/>
                <a:ea typeface="Consolas"/>
                <a:cs typeface="Consolas"/>
                <a:sym typeface="Consolas"/>
              </a:rPr>
              <a:t> </a:t>
            </a:r>
            <a:r>
              <a:rPr lang="en" sz="1150">
                <a:solidFill>
                  <a:srgbClr val="0000FF"/>
                </a:solidFill>
                <a:highlight>
                  <a:schemeClr val="lt1"/>
                </a:highlight>
                <a:latin typeface="Consolas"/>
                <a:ea typeface="Consolas"/>
                <a:cs typeface="Consolas"/>
                <a:sym typeface="Consolas"/>
              </a:rPr>
              <a:t>-&gt;</a:t>
            </a:r>
            <a:r>
              <a:rPr lang="en" sz="1150">
                <a:highlight>
                  <a:schemeClr val="lt1"/>
                </a:highlight>
                <a:latin typeface="Consolas"/>
                <a:ea typeface="Consolas"/>
                <a:cs typeface="Consolas"/>
                <a:sym typeface="Consolas"/>
              </a:rPr>
              <a:t> </a:t>
            </a:r>
            <a:r>
              <a:rPr lang="en" sz="1150">
                <a:solidFill>
                  <a:srgbClr val="001080"/>
                </a:solidFill>
                <a:highlight>
                  <a:schemeClr val="lt1"/>
                </a:highlight>
                <a:latin typeface="Consolas"/>
                <a:ea typeface="Consolas"/>
                <a:cs typeface="Consolas"/>
                <a:sym typeface="Consolas"/>
              </a:rPr>
              <a:t>e</a:t>
            </a:r>
            <a:r>
              <a:rPr lang="en" sz="1150">
                <a:highlight>
                  <a:schemeClr val="lt1"/>
                </a:highlight>
                <a:latin typeface="Consolas"/>
                <a:ea typeface="Consolas"/>
                <a:cs typeface="Consolas"/>
                <a:sym typeface="Consolas"/>
              </a:rPr>
              <a:t> &gt; </a:t>
            </a:r>
            <a:r>
              <a:rPr lang="en" sz="1150">
                <a:solidFill>
                  <a:srgbClr val="098658"/>
                </a:solidFill>
                <a:highlight>
                  <a:schemeClr val="lt1"/>
                </a:highlight>
                <a:latin typeface="Consolas"/>
                <a:ea typeface="Consolas"/>
                <a:cs typeface="Consolas"/>
                <a:sym typeface="Consolas"/>
              </a:rPr>
              <a:t>69</a:t>
            </a:r>
            <a:r>
              <a:rPr lang="en" sz="1150">
                <a:highlight>
                  <a:schemeClr val="lt1"/>
                </a:highlight>
                <a:latin typeface="Consolas"/>
                <a:ea typeface="Consolas"/>
                <a:cs typeface="Consolas"/>
                <a:sym typeface="Consolas"/>
              </a:rPr>
              <a:t>)  </a:t>
            </a:r>
            <a:endParaRPr sz="1150">
              <a:highlight>
                <a:schemeClr val="lt1"/>
              </a:highlight>
              <a:latin typeface="Consolas"/>
              <a:ea typeface="Consolas"/>
              <a:cs typeface="Consolas"/>
              <a:sym typeface="Consolas"/>
            </a:endParaRPr>
          </a:p>
          <a:p>
            <a:pPr marL="0" lvl="0" indent="0" algn="l" rtl="0">
              <a:lnSpc>
                <a:spcPct val="115000"/>
              </a:lnSpc>
              <a:spcBef>
                <a:spcPts val="0"/>
              </a:spcBef>
              <a:spcAft>
                <a:spcPts val="0"/>
              </a:spcAft>
              <a:buNone/>
            </a:pPr>
            <a:r>
              <a:rPr lang="en" sz="1150">
                <a:highlight>
                  <a:schemeClr val="lt1"/>
                </a:highlight>
                <a:latin typeface="Consolas"/>
                <a:ea typeface="Consolas"/>
                <a:cs typeface="Consolas"/>
                <a:sym typeface="Consolas"/>
              </a:rPr>
              <a:t>             .</a:t>
            </a:r>
            <a:r>
              <a:rPr lang="en" sz="1150">
                <a:solidFill>
                  <a:srgbClr val="795E26"/>
                </a:solidFill>
                <a:highlight>
                  <a:schemeClr val="lt1"/>
                </a:highlight>
                <a:latin typeface="Consolas"/>
                <a:ea typeface="Consolas"/>
                <a:cs typeface="Consolas"/>
                <a:sym typeface="Consolas"/>
              </a:rPr>
              <a:t>forEach</a:t>
            </a:r>
            <a:r>
              <a:rPr lang="en" sz="1150">
                <a:highlight>
                  <a:schemeClr val="lt1"/>
                </a:highlight>
                <a:latin typeface="Consolas"/>
                <a:ea typeface="Consolas"/>
                <a:cs typeface="Consolas"/>
                <a:sym typeface="Consolas"/>
              </a:rPr>
              <a:t>(</a:t>
            </a:r>
            <a:r>
              <a:rPr lang="en" sz="1150">
                <a:solidFill>
                  <a:srgbClr val="267F99"/>
                </a:solidFill>
                <a:highlight>
                  <a:schemeClr val="lt1"/>
                </a:highlight>
                <a:latin typeface="Consolas"/>
                <a:ea typeface="Consolas"/>
                <a:cs typeface="Consolas"/>
                <a:sym typeface="Consolas"/>
              </a:rPr>
              <a:t>System</a:t>
            </a:r>
            <a:r>
              <a:rPr lang="en" sz="1150">
                <a:highlight>
                  <a:schemeClr val="lt1"/>
                </a:highlight>
                <a:latin typeface="Consolas"/>
                <a:ea typeface="Consolas"/>
                <a:cs typeface="Consolas"/>
                <a:sym typeface="Consolas"/>
              </a:rPr>
              <a:t>.</a:t>
            </a:r>
            <a:r>
              <a:rPr lang="en" sz="1150">
                <a:solidFill>
                  <a:srgbClr val="0070C1"/>
                </a:solidFill>
                <a:highlight>
                  <a:schemeClr val="lt1"/>
                </a:highlight>
                <a:latin typeface="Consolas"/>
                <a:ea typeface="Consolas"/>
                <a:cs typeface="Consolas"/>
                <a:sym typeface="Consolas"/>
              </a:rPr>
              <a:t>out</a:t>
            </a:r>
            <a:r>
              <a:rPr lang="en" sz="1150">
                <a:solidFill>
                  <a:srgbClr val="AF00DB"/>
                </a:solidFill>
                <a:highlight>
                  <a:schemeClr val="lt1"/>
                </a:highlight>
                <a:latin typeface="Consolas"/>
                <a:ea typeface="Consolas"/>
                <a:cs typeface="Consolas"/>
                <a:sym typeface="Consolas"/>
              </a:rPr>
              <a:t>::</a:t>
            </a:r>
            <a:r>
              <a:rPr lang="en" sz="1150">
                <a:solidFill>
                  <a:srgbClr val="795E26"/>
                </a:solidFill>
                <a:highlight>
                  <a:schemeClr val="lt1"/>
                </a:highlight>
                <a:latin typeface="Consolas"/>
                <a:ea typeface="Consolas"/>
                <a:cs typeface="Consolas"/>
                <a:sym typeface="Consolas"/>
              </a:rPr>
              <a:t>println</a:t>
            </a:r>
            <a:r>
              <a:rPr lang="en" sz="1150">
                <a:highlight>
                  <a:schemeClr val="lt1"/>
                </a:highlight>
                <a:latin typeface="Consolas"/>
                <a:ea typeface="Consolas"/>
                <a:cs typeface="Consolas"/>
                <a:sym typeface="Consolas"/>
              </a:rPr>
              <a:t>);</a:t>
            </a:r>
            <a:endParaRPr sz="1150">
              <a:highlight>
                <a:schemeClr val="lt1"/>
              </a:highlight>
              <a:latin typeface="Consolas"/>
              <a:ea typeface="Consolas"/>
              <a:cs typeface="Consolas"/>
              <a:sym typeface="Consolas"/>
            </a:endParaRPr>
          </a:p>
          <a:p>
            <a:pPr marL="0" lvl="0" indent="0" algn="l" rtl="0">
              <a:spcBef>
                <a:spcPts val="0"/>
              </a:spcBef>
              <a:spcAft>
                <a:spcPts val="0"/>
              </a:spcAft>
              <a:buNone/>
            </a:pPr>
            <a:r>
              <a:rPr lang="en" sz="1150">
                <a:highlight>
                  <a:schemeClr val="lt1"/>
                </a:highlight>
                <a:latin typeface="Consolas"/>
                <a:ea typeface="Consolas"/>
                <a:cs typeface="Consolas"/>
                <a:sym typeface="Consolas"/>
              </a:rPr>
              <a:t>}</a:t>
            </a:r>
            <a:endParaRPr sz="1150">
              <a:solidFill>
                <a:srgbClr val="0000FF"/>
              </a:solidFill>
              <a:highlight>
                <a:srgbClr val="FFFFFF"/>
              </a:highlight>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749" name="Google Shape;749;p71"/>
          <p:cNvSpPr txBox="1">
            <a:spLocks noGrp="1"/>
          </p:cNvSpPr>
          <p:nvPr>
            <p:ph type="title"/>
          </p:nvPr>
        </p:nvSpPr>
        <p:spPr>
          <a:xfrm>
            <a:off x="311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Stream Library</a:t>
            </a:r>
            <a:endParaRPr/>
          </a:p>
        </p:txBody>
      </p:sp>
      <p:sp>
        <p:nvSpPr>
          <p:cNvPr id="750" name="Google Shape;750;p71"/>
          <p:cNvSpPr txBox="1">
            <a:spLocks noGrp="1"/>
          </p:cNvSpPr>
          <p:nvPr>
            <p:ph type="body" idx="1"/>
          </p:nvPr>
        </p:nvSpPr>
        <p:spPr>
          <a:xfrm>
            <a:off x="4629700" y="2763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solidFill>
                  <a:srgbClr val="FF0000"/>
                </a:solidFill>
                <a:latin typeface="Consolas"/>
                <a:ea typeface="Consolas"/>
                <a:cs typeface="Consolas"/>
                <a:sym typeface="Consolas"/>
              </a:rPr>
              <a:t>Stream.filter(predicate)</a:t>
            </a:r>
            <a:r>
              <a:rPr lang="en"/>
              <a:t> - removes items from the stream that fail the predicate</a:t>
            </a:r>
            <a:endParaRPr/>
          </a:p>
          <a:p>
            <a:pPr marL="457200" lvl="0" indent="-311150" algn="l" rtl="0">
              <a:spcBef>
                <a:spcPts val="1000"/>
              </a:spcBef>
              <a:spcAft>
                <a:spcPts val="0"/>
              </a:spcAft>
              <a:buSzPts val="1300"/>
              <a:buChar char="●"/>
            </a:pPr>
            <a:r>
              <a:rPr lang="en">
                <a:solidFill>
                  <a:srgbClr val="FF0000"/>
                </a:solidFill>
                <a:latin typeface="Consolas"/>
                <a:ea typeface="Consolas"/>
                <a:cs typeface="Consolas"/>
                <a:sym typeface="Consolas"/>
              </a:rPr>
              <a:t>String.matches(regex)</a:t>
            </a:r>
            <a:r>
              <a:rPr lang="en"/>
              <a:t> - returns true if a string matches the specified regular expression</a:t>
            </a:r>
            <a:endParaRPr/>
          </a:p>
          <a:p>
            <a:pPr marL="457200" lvl="0" indent="-311150" algn="l" rtl="0">
              <a:spcBef>
                <a:spcPts val="1000"/>
              </a:spcBef>
              <a:spcAft>
                <a:spcPts val="0"/>
              </a:spcAft>
              <a:buSzPts val="1300"/>
              <a:buChar char="●"/>
            </a:pPr>
            <a:r>
              <a:rPr lang="en">
                <a:solidFill>
                  <a:srgbClr val="FF0000"/>
                </a:solidFill>
                <a:latin typeface="Consolas"/>
                <a:ea typeface="Consolas"/>
                <a:cs typeface="Consolas"/>
                <a:sym typeface="Consolas"/>
              </a:rPr>
              <a:t>Stream.foreach(action)</a:t>
            </a:r>
            <a:r>
              <a:rPr lang="en"/>
              <a:t> - performed the specified action on each element in a stream.</a:t>
            </a:r>
            <a:endParaRPr/>
          </a:p>
          <a:p>
            <a:pPr marL="914400" lvl="1" indent="-298450" algn="l" rtl="0">
              <a:spcBef>
                <a:spcPts val="0"/>
              </a:spcBef>
              <a:spcAft>
                <a:spcPts val="0"/>
              </a:spcAft>
              <a:buSzPts val="1100"/>
              <a:buChar char="○"/>
            </a:pPr>
            <a:r>
              <a:rPr lang="en"/>
              <a:t>Terminates the stream</a:t>
            </a:r>
            <a:endParaRPr/>
          </a:p>
          <a:p>
            <a:pPr marL="914400" lvl="1" indent="-298450" algn="l" rtl="0">
              <a:spcBef>
                <a:spcPts val="0"/>
              </a:spcBef>
              <a:spcAft>
                <a:spcPts val="0"/>
              </a:spcAft>
              <a:buSzPts val="1100"/>
              <a:buChar char="○"/>
            </a:pPr>
            <a:r>
              <a:rPr lang="en"/>
              <a:t>Action is often implemented as a lambda</a:t>
            </a:r>
            <a:endParaRPr/>
          </a:p>
          <a:p>
            <a:pPr marL="457200" lvl="0" indent="-311150" algn="l" rtl="0">
              <a:spcBef>
                <a:spcPts val="1000"/>
              </a:spcBef>
              <a:spcAft>
                <a:spcPts val="0"/>
              </a:spcAft>
              <a:buSzPts val="1300"/>
              <a:buChar char="●"/>
            </a:pPr>
            <a:r>
              <a:rPr lang="en">
                <a:solidFill>
                  <a:srgbClr val="FF0000"/>
                </a:solidFill>
                <a:latin typeface="Consolas"/>
                <a:ea typeface="Consolas"/>
                <a:cs typeface="Consolas"/>
                <a:sym typeface="Consolas"/>
              </a:rPr>
              <a:t>Stream.map(mapper)</a:t>
            </a:r>
            <a:r>
              <a:rPr lang="en"/>
              <a:t> - applies the mapper ‘function’ to each element in a stream</a:t>
            </a:r>
            <a:endParaRPr/>
          </a:p>
          <a:p>
            <a:pPr marL="914400" lvl="1" indent="-298450" algn="l" rtl="0">
              <a:spcBef>
                <a:spcPts val="0"/>
              </a:spcBef>
              <a:spcAft>
                <a:spcPts val="0"/>
              </a:spcAft>
              <a:buSzPts val="1100"/>
              <a:buChar char="○"/>
            </a:pPr>
            <a:r>
              <a:rPr lang="en"/>
              <a:t>Intermediate operation</a:t>
            </a:r>
            <a:endParaRPr/>
          </a:p>
          <a:p>
            <a:pPr marL="914400" lvl="1" indent="-298450" algn="l" rtl="0">
              <a:spcBef>
                <a:spcPts val="0"/>
              </a:spcBef>
              <a:spcAft>
                <a:spcPts val="0"/>
              </a:spcAft>
              <a:buSzPts val="1100"/>
              <a:buChar char="○"/>
            </a:pPr>
            <a:r>
              <a:rPr lang="en"/>
              <a:t>Mapper is often implemented as a lambda</a:t>
            </a:r>
            <a:endParaRPr/>
          </a:p>
          <a:p>
            <a:pPr marL="457200" lvl="0" indent="-311150" algn="l" rtl="0">
              <a:spcBef>
                <a:spcPts val="1000"/>
              </a:spcBef>
              <a:spcAft>
                <a:spcPts val="0"/>
              </a:spcAft>
              <a:buSzPts val="1300"/>
              <a:buChar char="●"/>
            </a:pPr>
            <a:r>
              <a:rPr lang="en">
                <a:solidFill>
                  <a:srgbClr val="FF0000"/>
                </a:solidFill>
                <a:latin typeface="Consolas"/>
                <a:ea typeface="Consolas"/>
                <a:cs typeface="Consolas"/>
                <a:sym typeface="Consolas"/>
              </a:rPr>
              <a:t>Stream.collect(collector)</a:t>
            </a:r>
            <a:r>
              <a:rPr lang="en"/>
              <a:t> - adds each element in the stream to a collection</a:t>
            </a:r>
            <a:endParaRPr/>
          </a:p>
          <a:p>
            <a:pPr marL="914400" lvl="1" indent="-298450" algn="l" rtl="0">
              <a:spcBef>
                <a:spcPts val="0"/>
              </a:spcBef>
              <a:spcAft>
                <a:spcPts val="0"/>
              </a:spcAft>
              <a:buSzPts val="1100"/>
              <a:buChar char="○"/>
            </a:pPr>
            <a:r>
              <a:rPr lang="en"/>
              <a:t>Terminates the stream</a:t>
            </a:r>
            <a:endParaRPr/>
          </a:p>
          <a:p>
            <a:pPr marL="914400" lvl="1" indent="-298450" algn="l" rtl="0">
              <a:spcBef>
                <a:spcPts val="0"/>
              </a:spcBef>
              <a:spcAft>
                <a:spcPts val="0"/>
              </a:spcAft>
              <a:buSzPts val="1100"/>
              <a:buChar char="○"/>
            </a:pPr>
            <a:r>
              <a:rPr lang="en"/>
              <a:t>May include other reductions on top of adding to the collection</a:t>
            </a:r>
            <a:endParaRPr/>
          </a:p>
          <a:p>
            <a:pPr marL="914400" lvl="1" indent="-298450" algn="l" rtl="0">
              <a:spcBef>
                <a:spcPts val="0"/>
              </a:spcBef>
              <a:spcAft>
                <a:spcPts val="0"/>
              </a:spcAft>
              <a:buSzPts val="1100"/>
              <a:buChar char="○"/>
            </a:pPr>
            <a:r>
              <a:rPr lang="en"/>
              <a:t>Often used with </a:t>
            </a:r>
            <a:r>
              <a:rPr lang="en">
                <a:solidFill>
                  <a:srgbClr val="FF0000"/>
                </a:solidFill>
                <a:latin typeface="Consolas"/>
                <a:ea typeface="Consolas"/>
                <a:cs typeface="Consolas"/>
                <a:sym typeface="Consolas"/>
              </a:rPr>
              <a:t>Collectors</a:t>
            </a:r>
            <a:endParaRPr>
              <a:solidFill>
                <a:srgbClr val="FF0000"/>
              </a:solidFill>
              <a:latin typeface="Consolas"/>
              <a:ea typeface="Consolas"/>
              <a:cs typeface="Consolas"/>
              <a:sym typeface="Consolas"/>
            </a:endParaRPr>
          </a:p>
        </p:txBody>
      </p:sp>
      <p:sp>
        <p:nvSpPr>
          <p:cNvPr id="751" name="Google Shape;751;p71"/>
          <p:cNvSpPr txBox="1">
            <a:spLocks noGrp="1"/>
          </p:cNvSpPr>
          <p:nvPr>
            <p:ph type="body" idx="3"/>
          </p:nvPr>
        </p:nvSpPr>
        <p:spPr>
          <a:xfrm>
            <a:off x="311725" y="3390575"/>
            <a:ext cx="3706500" cy="1134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0000"/>
                </a:solidFill>
              </a:rPr>
              <a:t>Functional Programming Term - </a:t>
            </a:r>
            <a:r>
              <a:rPr lang="en" b="1">
                <a:solidFill>
                  <a:srgbClr val="FF0000"/>
                </a:solidFill>
              </a:rPr>
              <a:t>Reduction</a:t>
            </a:r>
            <a:endParaRPr b="1">
              <a:solidFill>
                <a:srgbClr val="FF0000"/>
              </a:solidFill>
            </a:endParaRPr>
          </a:p>
          <a:p>
            <a:pPr marL="0" lvl="0" indent="0" algn="l" rtl="0">
              <a:spcBef>
                <a:spcPts val="0"/>
              </a:spcBef>
              <a:spcAft>
                <a:spcPts val="0"/>
              </a:spcAft>
              <a:buNone/>
            </a:pPr>
            <a:endParaRPr/>
          </a:p>
          <a:p>
            <a:pPr marL="0" lvl="0" indent="0" algn="l" rtl="0">
              <a:spcBef>
                <a:spcPts val="0"/>
              </a:spcBef>
              <a:spcAft>
                <a:spcPts val="0"/>
              </a:spcAft>
              <a:buNone/>
            </a:pPr>
            <a:r>
              <a:rPr lang="en"/>
              <a:t>The mechanism for executing </a:t>
            </a:r>
            <a:r>
              <a:rPr lang="en" b="1"/>
              <a:t>functional programs </a:t>
            </a:r>
            <a:r>
              <a:rPr lang="en"/>
              <a:t>is </a:t>
            </a:r>
            <a:r>
              <a:rPr lang="en" b="1"/>
              <a:t>reduction </a:t>
            </a:r>
            <a:r>
              <a:rPr lang="en"/>
              <a:t> </a:t>
            </a:r>
            <a:r>
              <a:rPr lang="en" b="1"/>
              <a:t>Reduction </a:t>
            </a:r>
            <a:r>
              <a:rPr lang="en"/>
              <a:t>is the process of converting an expression to a simpler form.</a:t>
            </a:r>
            <a:endParaRPr/>
          </a:p>
        </p:txBody>
      </p:sp>
      <p:sp>
        <p:nvSpPr>
          <p:cNvPr id="752" name="Google Shape;752;p71"/>
          <p:cNvSpPr/>
          <p:nvPr/>
        </p:nvSpPr>
        <p:spPr>
          <a:xfrm>
            <a:off x="311700" y="1310200"/>
            <a:ext cx="3706500" cy="1909200"/>
          </a:xfrm>
          <a:prstGeom prst="roundRect">
            <a:avLst>
              <a:gd name="adj" fmla="val 16667"/>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300">
                <a:latin typeface="Roboto"/>
                <a:ea typeface="Roboto"/>
                <a:cs typeface="Roboto"/>
                <a:sym typeface="Roboto"/>
              </a:rPr>
              <a:t>Java 8+ has extensive support for streams which use the functional programming paradigm.</a:t>
            </a:r>
            <a:endParaRPr sz="1300">
              <a:latin typeface="Roboto"/>
              <a:ea typeface="Roboto"/>
              <a:cs typeface="Roboto"/>
              <a:sym typeface="Roboto"/>
            </a:endParaRPr>
          </a:p>
          <a:p>
            <a:pPr marL="0" lvl="0" indent="0" algn="l" rtl="0">
              <a:lnSpc>
                <a:spcPct val="115000"/>
              </a:lnSpc>
              <a:spcBef>
                <a:spcPts val="1600"/>
              </a:spcBef>
              <a:spcAft>
                <a:spcPts val="1600"/>
              </a:spcAft>
              <a:buNone/>
            </a:pPr>
            <a:r>
              <a:rPr lang="en" sz="1300">
                <a:latin typeface="Roboto"/>
                <a:ea typeface="Roboto"/>
                <a:cs typeface="Roboto"/>
                <a:sym typeface="Roboto"/>
              </a:rPr>
              <a:t>A select few of the available methods are detailed on the right.</a:t>
            </a:r>
            <a:endParaRPr sz="13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72"/>
          <p:cNvSpPr txBox="1">
            <a:spLocks noGrp="1"/>
          </p:cNvSpPr>
          <p:nvPr>
            <p:ph type="title"/>
          </p:nvPr>
        </p:nvSpPr>
        <p:spPr>
          <a:xfrm>
            <a:off x="5264725" y="5009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Stream Extensions</a:t>
            </a:r>
            <a:endParaRPr/>
          </a:p>
        </p:txBody>
      </p:sp>
      <p:sp>
        <p:nvSpPr>
          <p:cNvPr id="758" name="Google Shape;758;p72"/>
          <p:cNvSpPr txBox="1">
            <a:spLocks noGrp="1"/>
          </p:cNvSpPr>
          <p:nvPr>
            <p:ph type="body" idx="1"/>
          </p:nvPr>
        </p:nvSpPr>
        <p:spPr>
          <a:xfrm>
            <a:off x="301275" y="500925"/>
            <a:ext cx="4166400" cy="3752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solidFill>
                  <a:srgbClr val="FF0000"/>
                </a:solidFill>
                <a:latin typeface="Consolas"/>
                <a:ea typeface="Consolas"/>
                <a:cs typeface="Consolas"/>
                <a:sym typeface="Consolas"/>
              </a:rPr>
              <a:t>IntStream.range(start, end)</a:t>
            </a:r>
            <a:r>
              <a:rPr lang="en"/>
              <a:t> - creates a stream of integers from start to end (exclusive)</a:t>
            </a:r>
            <a:endParaRPr/>
          </a:p>
          <a:p>
            <a:pPr marL="457200" lvl="0" indent="-311150" algn="l" rtl="0">
              <a:spcBef>
                <a:spcPts val="1000"/>
              </a:spcBef>
              <a:spcAft>
                <a:spcPts val="0"/>
              </a:spcAft>
              <a:buSzPts val="1300"/>
              <a:buChar char="●"/>
            </a:pPr>
            <a:r>
              <a:rPr lang="en">
                <a:solidFill>
                  <a:srgbClr val="FF0000"/>
                </a:solidFill>
                <a:latin typeface="Consolas"/>
                <a:ea typeface="Consolas"/>
                <a:cs typeface="Consolas"/>
                <a:sym typeface="Consolas"/>
              </a:rPr>
              <a:t>Arrays.stream(array)</a:t>
            </a:r>
            <a:r>
              <a:rPr lang="en"/>
              <a:t> - uses array as the source of a stream</a:t>
            </a:r>
            <a:endParaRPr/>
          </a:p>
          <a:p>
            <a:pPr marL="457200" lvl="0" indent="-311150" algn="l" rtl="0">
              <a:spcBef>
                <a:spcPts val="1000"/>
              </a:spcBef>
              <a:spcAft>
                <a:spcPts val="0"/>
              </a:spcAft>
              <a:buSzPts val="1300"/>
              <a:buChar char="●"/>
            </a:pPr>
            <a:r>
              <a:rPr lang="en">
                <a:solidFill>
                  <a:srgbClr val="FF0000"/>
                </a:solidFill>
                <a:latin typeface="Consolas"/>
                <a:ea typeface="Consolas"/>
                <a:cs typeface="Consolas"/>
                <a:sym typeface="Consolas"/>
              </a:rPr>
              <a:t>Arrays.stream(array, start, end)</a:t>
            </a:r>
            <a:r>
              <a:rPr lang="en"/>
              <a:t> - uses a portion of the array (end is exclusive)</a:t>
            </a:r>
            <a:endParaRPr/>
          </a:p>
          <a:p>
            <a:pPr marL="457200" lvl="0" indent="-311150" algn="l" rtl="0">
              <a:spcBef>
                <a:spcPts val="1000"/>
              </a:spcBef>
              <a:spcAft>
                <a:spcPts val="0"/>
              </a:spcAft>
              <a:buSzPts val="1300"/>
              <a:buChar char="●"/>
            </a:pPr>
            <a:r>
              <a:rPr lang="en">
                <a:solidFill>
                  <a:srgbClr val="FF0000"/>
                </a:solidFill>
                <a:latin typeface="Consolas"/>
                <a:ea typeface="Consolas"/>
                <a:cs typeface="Consolas"/>
                <a:sym typeface="Consolas"/>
              </a:rPr>
              <a:t>Files.lines(path)</a:t>
            </a:r>
            <a:r>
              <a:rPr lang="en"/>
              <a:t> - uses a file interpreted as lines as the source of a stream</a:t>
            </a:r>
            <a:endParaRPr/>
          </a:p>
          <a:p>
            <a:pPr marL="914400" lvl="1" indent="-298450" algn="l" rtl="0">
              <a:spcBef>
                <a:spcPts val="0"/>
              </a:spcBef>
              <a:spcAft>
                <a:spcPts val="0"/>
              </a:spcAft>
              <a:buSzPts val="1100"/>
              <a:buChar char="○"/>
            </a:pPr>
            <a:r>
              <a:rPr lang="en"/>
              <a:t>Can use </a:t>
            </a:r>
            <a:r>
              <a:rPr lang="en">
                <a:solidFill>
                  <a:srgbClr val="FF0000"/>
                </a:solidFill>
                <a:latin typeface="Consolas"/>
                <a:ea typeface="Consolas"/>
                <a:cs typeface="Consolas"/>
                <a:sym typeface="Consolas"/>
              </a:rPr>
              <a:t>File.toPath()</a:t>
            </a:r>
            <a:r>
              <a:rPr lang="en"/>
              <a:t> to easily get a file’s path</a:t>
            </a:r>
            <a:endParaRPr/>
          </a:p>
          <a:p>
            <a:pPr marL="457200" lvl="0" indent="-311150" algn="l" rtl="0">
              <a:spcBef>
                <a:spcPts val="1000"/>
              </a:spcBef>
              <a:spcAft>
                <a:spcPts val="0"/>
              </a:spcAft>
              <a:buSzPts val="1300"/>
              <a:buChar char="●"/>
            </a:pPr>
            <a:r>
              <a:rPr lang="en">
                <a:solidFill>
                  <a:srgbClr val="FF0000"/>
                </a:solidFill>
                <a:latin typeface="Consolas"/>
                <a:ea typeface="Consolas"/>
                <a:cs typeface="Consolas"/>
                <a:sym typeface="Consolas"/>
              </a:rPr>
              <a:t>Collection.stream()</a:t>
            </a:r>
            <a:r>
              <a:rPr lang="en"/>
              <a:t> - uses the collection as the source of a stream</a:t>
            </a:r>
            <a:endParaRPr/>
          </a:p>
          <a:p>
            <a:pPr marL="457200" lvl="0" indent="-311150" algn="l" rtl="0">
              <a:spcBef>
                <a:spcPts val="1000"/>
              </a:spcBef>
              <a:spcAft>
                <a:spcPts val="0"/>
              </a:spcAft>
              <a:buSzPts val="1300"/>
              <a:buChar char="●"/>
            </a:pPr>
            <a:r>
              <a:rPr lang="en">
                <a:solidFill>
                  <a:srgbClr val="FF0000"/>
                </a:solidFill>
                <a:latin typeface="Consolas"/>
                <a:ea typeface="Consolas"/>
                <a:cs typeface="Consolas"/>
                <a:sym typeface="Consolas"/>
              </a:rPr>
              <a:t>Collectors.toList()</a:t>
            </a:r>
            <a:r>
              <a:rPr lang="en"/>
              <a:t> - accumulates a stream into a List.</a:t>
            </a:r>
            <a:endParaRPr/>
          </a:p>
        </p:txBody>
      </p:sp>
      <p:sp>
        <p:nvSpPr>
          <p:cNvPr id="759" name="Google Shape;759;p7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760" name="Google Shape;760;p72"/>
          <p:cNvSpPr txBox="1">
            <a:spLocks noGrp="1"/>
          </p:cNvSpPr>
          <p:nvPr>
            <p:ph type="body" idx="3"/>
          </p:nvPr>
        </p:nvSpPr>
        <p:spPr>
          <a:xfrm>
            <a:off x="5192225" y="3535625"/>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Java has significantly more support for Streams than what is mentioned here. If you don’t see something, try searching for it.</a:t>
            </a:r>
            <a:endParaRPr/>
          </a:p>
        </p:txBody>
      </p:sp>
      <p:sp>
        <p:nvSpPr>
          <p:cNvPr id="761" name="Google Shape;761;p72"/>
          <p:cNvSpPr/>
          <p:nvPr/>
        </p:nvSpPr>
        <p:spPr>
          <a:xfrm>
            <a:off x="5192225" y="1459950"/>
            <a:ext cx="3706500" cy="1340100"/>
          </a:xfrm>
          <a:prstGeom prst="roundRect">
            <a:avLst>
              <a:gd name="adj" fmla="val 16667"/>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500">
                <a:latin typeface="Roboto"/>
                <a:ea typeface="Roboto"/>
                <a:cs typeface="Roboto"/>
                <a:sym typeface="Roboto"/>
              </a:rPr>
              <a:t>In addition to the stream library, there is support for creating and working with streams in many other Java libraries.</a:t>
            </a:r>
            <a:endParaRPr sz="15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0"/>
                                        </p:tgtEl>
                                        <p:attrNameLst>
                                          <p:attrName>style.visibility</p:attrName>
                                        </p:attrNameLst>
                                      </p:cBhvr>
                                      <p:to>
                                        <p:strVal val="visible"/>
                                      </p:to>
                                    </p:set>
                                    <p:animEffect transition="in" filter="fade">
                                      <p:cBhvr>
                                        <p:cTn id="7" dur="1000"/>
                                        <p:tgtEl>
                                          <p:spTgt spid="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767" name="Google Shape;767;p7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Sum Additional Practice</a:t>
            </a:r>
            <a:endParaRPr/>
          </a:p>
        </p:txBody>
      </p:sp>
      <p:sp>
        <p:nvSpPr>
          <p:cNvPr id="768" name="Google Shape;768;p7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There are a wide variety of ways to create streams and operations that can be performed on streams. Some of these operations are consumers. Let's practice with them.</a:t>
            </a:r>
            <a:endParaRPr/>
          </a:p>
        </p:txBody>
      </p:sp>
      <p:sp>
        <p:nvSpPr>
          <p:cNvPr id="769" name="Google Shape;769;p73"/>
          <p:cNvSpPr txBox="1">
            <a:spLocks noGrp="1"/>
          </p:cNvSpPr>
          <p:nvPr>
            <p:ph type="body" idx="4"/>
          </p:nvPr>
        </p:nvSpPr>
        <p:spPr>
          <a:xfrm>
            <a:off x="141600" y="3305525"/>
            <a:ext cx="35574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Stream consumers use up (</a:t>
            </a:r>
            <a:r>
              <a:rPr lang="en" b="1">
                <a:solidFill>
                  <a:srgbClr val="FF0000"/>
                </a:solidFill>
              </a:rPr>
              <a:t>consume</a:t>
            </a:r>
            <a:r>
              <a:rPr lang="en"/>
              <a:t>) the stream. After which no other operations can be performed on the Stream.</a:t>
            </a:r>
            <a:endParaRPr/>
          </a:p>
        </p:txBody>
      </p:sp>
      <p:sp>
        <p:nvSpPr>
          <p:cNvPr id="770" name="Google Shape;770;p73"/>
          <p:cNvSpPr txBox="1">
            <a:spLocks noGrp="1"/>
          </p:cNvSpPr>
          <p:nvPr>
            <p:ph type="body" idx="2"/>
          </p:nvPr>
        </p:nvSpPr>
        <p:spPr>
          <a:xfrm>
            <a:off x="3799700" y="1675025"/>
            <a:ext cx="5163000" cy="2455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a:t>
            </a:r>
            <a:r>
              <a:rPr lang="en">
                <a:latin typeface="Courier New"/>
                <a:ea typeface="Courier New"/>
                <a:cs typeface="Courier New"/>
                <a:sym typeface="Courier New"/>
              </a:rPr>
              <a:t>Sum</a:t>
            </a:r>
            <a:r>
              <a:rPr lang="en"/>
              <a:t> class. In it write a </a:t>
            </a:r>
            <a:r>
              <a:rPr lang="en">
                <a:latin typeface="Courier New"/>
                <a:ea typeface="Courier New"/>
                <a:cs typeface="Courier New"/>
                <a:sym typeface="Courier New"/>
              </a:rPr>
              <a:t>static</a:t>
            </a:r>
            <a:r>
              <a:rPr lang="en"/>
              <a:t> method called </a:t>
            </a:r>
            <a:r>
              <a:rPr lang="en">
                <a:latin typeface="Courier New"/>
                <a:ea typeface="Courier New"/>
                <a:cs typeface="Courier New"/>
                <a:sym typeface="Courier New"/>
              </a:rPr>
              <a:t>sum</a:t>
            </a:r>
            <a:r>
              <a:rPr lang="en"/>
              <a:t> that takes a singular parameter of </a:t>
            </a:r>
            <a:r>
              <a:rPr lang="en">
                <a:latin typeface="Courier New"/>
                <a:ea typeface="Courier New"/>
                <a:cs typeface="Courier New"/>
                <a:sym typeface="Courier New"/>
              </a:rPr>
              <a:t>num</a:t>
            </a:r>
            <a:endParaRPr>
              <a:latin typeface="Courier New"/>
              <a:ea typeface="Courier New"/>
              <a:cs typeface="Courier New"/>
              <a:sym typeface="Courier New"/>
            </a:endParaRPr>
          </a:p>
          <a:p>
            <a:pPr marL="457200" lvl="0" indent="-311150" algn="l" rtl="0">
              <a:spcBef>
                <a:spcPts val="0"/>
              </a:spcBef>
              <a:spcAft>
                <a:spcPts val="0"/>
              </a:spcAft>
              <a:buSzPts val="1300"/>
              <a:buChar char="●"/>
            </a:pPr>
            <a:r>
              <a:rPr lang="en"/>
              <a:t>Inside </a:t>
            </a:r>
            <a:r>
              <a:rPr lang="en">
                <a:latin typeface="Courier New"/>
                <a:ea typeface="Courier New"/>
                <a:cs typeface="Courier New"/>
                <a:sym typeface="Courier New"/>
              </a:rPr>
              <a:t>sum</a:t>
            </a:r>
            <a:r>
              <a:rPr lang="en"/>
              <a:t> create an </a:t>
            </a:r>
            <a:r>
              <a:rPr lang="en">
                <a:latin typeface="Courier New"/>
                <a:ea typeface="Courier New"/>
                <a:cs typeface="Courier New"/>
                <a:sym typeface="Courier New"/>
              </a:rPr>
              <a:t>IntStream</a:t>
            </a:r>
            <a:r>
              <a:rPr lang="en"/>
              <a:t> from </a:t>
            </a:r>
            <a:r>
              <a:rPr lang="en">
                <a:latin typeface="Courier New"/>
                <a:ea typeface="Courier New"/>
                <a:cs typeface="Courier New"/>
                <a:sym typeface="Courier New"/>
              </a:rPr>
              <a:t>1</a:t>
            </a:r>
            <a:r>
              <a:rPr lang="en"/>
              <a:t> to </a:t>
            </a:r>
            <a:r>
              <a:rPr lang="en">
                <a:latin typeface="Courier New"/>
                <a:ea typeface="Courier New"/>
                <a:cs typeface="Courier New"/>
                <a:sym typeface="Courier New"/>
              </a:rPr>
              <a:t>num</a:t>
            </a:r>
            <a:endParaRPr>
              <a:latin typeface="Courier New"/>
              <a:ea typeface="Courier New"/>
              <a:cs typeface="Courier New"/>
              <a:sym typeface="Courier New"/>
            </a:endParaRPr>
          </a:p>
          <a:p>
            <a:pPr marL="457200" lvl="0" indent="-311150" algn="l" rtl="0">
              <a:spcBef>
                <a:spcPts val="0"/>
              </a:spcBef>
              <a:spcAft>
                <a:spcPts val="0"/>
              </a:spcAft>
              <a:buSzPts val="1300"/>
              <a:buChar char="●"/>
            </a:pPr>
            <a:r>
              <a:rPr lang="en"/>
              <a:t>Use a </a:t>
            </a:r>
            <a:r>
              <a:rPr lang="en">
                <a:latin typeface="Courier New"/>
                <a:ea typeface="Courier New"/>
                <a:cs typeface="Courier New"/>
                <a:sym typeface="Courier New"/>
              </a:rPr>
              <a:t>foreach</a:t>
            </a:r>
            <a:r>
              <a:rPr lang="en"/>
              <a:t> to print out all of the values in the stream, each on their own line</a:t>
            </a:r>
            <a:endParaRPr/>
          </a:p>
          <a:p>
            <a:pPr marL="457200" lvl="0" indent="-311150" algn="l" rtl="0">
              <a:spcBef>
                <a:spcPts val="0"/>
              </a:spcBef>
              <a:spcAft>
                <a:spcPts val="0"/>
              </a:spcAft>
              <a:buSzPts val="1300"/>
              <a:buChar char="●"/>
            </a:pPr>
            <a:r>
              <a:rPr lang="en"/>
              <a:t>Use the </a:t>
            </a:r>
            <a:r>
              <a:rPr lang="en">
                <a:latin typeface="Courier New"/>
                <a:ea typeface="Courier New"/>
                <a:cs typeface="Courier New"/>
                <a:sym typeface="Courier New"/>
              </a:rPr>
              <a:t>Stream.sum</a:t>
            </a:r>
            <a:r>
              <a:rPr lang="en"/>
              <a:t> method to calculate the sum of the stream</a:t>
            </a:r>
            <a:endParaRPr/>
          </a:p>
          <a:p>
            <a:pPr marL="457200" lvl="0" indent="-311150" algn="l" rtl="0">
              <a:spcBef>
                <a:spcPts val="0"/>
              </a:spcBef>
              <a:spcAft>
                <a:spcPts val="0"/>
              </a:spcAft>
              <a:buSzPts val="1300"/>
              <a:buChar char="●"/>
            </a:pPr>
            <a:r>
              <a:rPr lang="en"/>
              <a:t>Return the sum</a:t>
            </a:r>
            <a:endParaRPr/>
          </a:p>
          <a:p>
            <a:pPr marL="457200" lvl="0" indent="-311150" algn="l" rtl="0">
              <a:spcBef>
                <a:spcPts val="0"/>
              </a:spcBef>
              <a:spcAft>
                <a:spcPts val="0"/>
              </a:spcAft>
              <a:buSzPts val="1300"/>
              <a:buChar char="●"/>
            </a:pPr>
            <a:r>
              <a:rPr lang="en"/>
              <a:t>In </a:t>
            </a:r>
            <a:r>
              <a:rPr lang="en">
                <a:latin typeface="Courier New"/>
                <a:ea typeface="Courier New"/>
                <a:cs typeface="Courier New"/>
                <a:sym typeface="Courier New"/>
              </a:rPr>
              <a:t>main</a:t>
            </a:r>
            <a:r>
              <a:rPr lang="en"/>
              <a:t>, call </a:t>
            </a:r>
            <a:r>
              <a:rPr lang="en">
                <a:latin typeface="Courier New"/>
                <a:ea typeface="Courier New"/>
                <a:cs typeface="Courier New"/>
                <a:sym typeface="Courier New"/>
              </a:rPr>
              <a:t>sum</a:t>
            </a:r>
            <a:r>
              <a:rPr lang="en"/>
              <a:t> with a </a:t>
            </a:r>
            <a:r>
              <a:rPr lang="en">
                <a:latin typeface="Courier New"/>
                <a:ea typeface="Courier New"/>
                <a:cs typeface="Courier New"/>
                <a:sym typeface="Courier New"/>
              </a:rPr>
              <a:t>num</a:t>
            </a:r>
            <a:r>
              <a:rPr lang="en"/>
              <a:t> of </a:t>
            </a:r>
            <a:r>
              <a:rPr lang="en">
                <a:latin typeface="Courier New"/>
                <a:ea typeface="Courier New"/>
                <a:cs typeface="Courier New"/>
                <a:sym typeface="Courier New"/>
              </a:rPr>
              <a:t>20</a:t>
            </a:r>
            <a:r>
              <a:rPr lang="en"/>
              <a:t> and verify the returned result was </a:t>
            </a:r>
            <a:r>
              <a:rPr lang="en">
                <a:latin typeface="Courier New"/>
                <a:ea typeface="Courier New"/>
                <a:cs typeface="Courier New"/>
                <a:sym typeface="Courier New"/>
              </a:rPr>
              <a:t>210</a:t>
            </a:r>
            <a:r>
              <a:rPr lang="en"/>
              <a:t>   </a:t>
            </a:r>
            <a:endParaRPr/>
          </a:p>
        </p:txBody>
      </p:sp>
      <p:sp>
        <p:nvSpPr>
          <p:cNvPr id="771" name="Google Shape;771;p7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4.13</a:t>
            </a:r>
            <a:endParaRPr/>
          </a:p>
        </p:txBody>
      </p:sp>
      <p:sp>
        <p:nvSpPr>
          <p:cNvPr id="772" name="Google Shape;772;p73"/>
          <p:cNvSpPr txBox="1">
            <a:spLocks noGrp="1"/>
          </p:cNvSpPr>
          <p:nvPr>
            <p:ph type="body" idx="1"/>
          </p:nvPr>
        </p:nvSpPr>
        <p:spPr>
          <a:xfrm>
            <a:off x="141600" y="1675025"/>
            <a:ext cx="3557400" cy="15198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400">
                <a:solidFill>
                  <a:srgbClr val="FF0000"/>
                </a:solidFill>
                <a:latin typeface="Consolas"/>
                <a:ea typeface="Consolas"/>
                <a:cs typeface="Consolas"/>
                <a:sym typeface="Consolas"/>
              </a:rPr>
              <a:t>IntStream.range(start, end)</a:t>
            </a:r>
            <a:r>
              <a:rPr lang="en" sz="1400"/>
              <a:t> - creates a stream of integers from start to end (exclusive)</a:t>
            </a:r>
            <a:endParaRPr sz="1400"/>
          </a:p>
          <a:p>
            <a:pPr marL="0" lvl="0" indent="0" algn="l" rtl="0">
              <a:spcBef>
                <a:spcPts val="1000"/>
              </a:spcBef>
              <a:spcAft>
                <a:spcPts val="1000"/>
              </a:spcAft>
              <a:buNone/>
            </a:pPr>
            <a:r>
              <a:rPr lang="en" sz="1400">
                <a:solidFill>
                  <a:srgbClr val="FF0000"/>
                </a:solidFill>
                <a:latin typeface="Consolas"/>
                <a:ea typeface="Consolas"/>
                <a:cs typeface="Consolas"/>
                <a:sym typeface="Consolas"/>
              </a:rPr>
              <a:t>Stream.sum()</a:t>
            </a:r>
            <a:r>
              <a:rPr lang="en" sz="1400"/>
              <a:t> - sums all of the values in the stream</a:t>
            </a:r>
            <a:endParaRPr sz="1400"/>
          </a:p>
        </p:txBody>
      </p:sp>
      <p:sp>
        <p:nvSpPr>
          <p:cNvPr id="773" name="Google Shape;773;p73"/>
          <p:cNvSpPr txBox="1">
            <a:spLocks noGrp="1"/>
          </p:cNvSpPr>
          <p:nvPr>
            <p:ph type="body" idx="4"/>
          </p:nvPr>
        </p:nvSpPr>
        <p:spPr>
          <a:xfrm>
            <a:off x="141600" y="4155125"/>
            <a:ext cx="3557400" cy="369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Both </a:t>
            </a:r>
            <a:r>
              <a:rPr lang="en">
                <a:latin typeface="Courier New"/>
                <a:ea typeface="Courier New"/>
                <a:cs typeface="Courier New"/>
                <a:sym typeface="Courier New"/>
              </a:rPr>
              <a:t>foreach</a:t>
            </a:r>
            <a:r>
              <a:rPr lang="en"/>
              <a:t> and </a:t>
            </a:r>
            <a:r>
              <a:rPr lang="en">
                <a:latin typeface="Courier New"/>
                <a:ea typeface="Courier New"/>
                <a:cs typeface="Courier New"/>
                <a:sym typeface="Courier New"/>
              </a:rPr>
              <a:t>sum</a:t>
            </a:r>
            <a:r>
              <a:rPr lang="en"/>
              <a:t> are stream consumers.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74"/>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Consumers like, </a:t>
            </a:r>
            <a:r>
              <a:rPr lang="en">
                <a:latin typeface="Courier New"/>
                <a:ea typeface="Courier New"/>
                <a:cs typeface="Courier New"/>
                <a:sym typeface="Courier New"/>
              </a:rPr>
              <a:t>forEach</a:t>
            </a:r>
            <a:r>
              <a:rPr lang="en"/>
              <a:t> and </a:t>
            </a:r>
            <a:r>
              <a:rPr lang="en">
                <a:latin typeface="Courier New"/>
                <a:ea typeface="Courier New"/>
                <a:cs typeface="Courier New"/>
                <a:sym typeface="Courier New"/>
              </a:rPr>
              <a:t>sum</a:t>
            </a:r>
            <a:r>
              <a:rPr lang="en"/>
              <a:t>, terminate a stream. However, there are other operations that can be used to modify the values in a stream, without consuming it. </a:t>
            </a:r>
            <a:r>
              <a:rPr lang="en">
                <a:latin typeface="Courier New"/>
                <a:ea typeface="Courier New"/>
                <a:cs typeface="Courier New"/>
                <a:sym typeface="Courier New"/>
              </a:rPr>
              <a:t>Stream.map</a:t>
            </a:r>
            <a:r>
              <a:rPr lang="en"/>
              <a:t> is one of these operations. It changes the value in the stream based on the provided single parameter functional interface.</a:t>
            </a:r>
            <a:endParaRPr/>
          </a:p>
        </p:txBody>
      </p:sp>
      <p:sp>
        <p:nvSpPr>
          <p:cNvPr id="779" name="Google Shape;779;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780" name="Google Shape;780;p74"/>
          <p:cNvSpPr txBox="1">
            <a:spLocks noGrp="1"/>
          </p:cNvSpPr>
          <p:nvPr>
            <p:ph type="body" idx="2"/>
          </p:nvPr>
        </p:nvSpPr>
        <p:spPr>
          <a:xfrm>
            <a:off x="3799725" y="2013125"/>
            <a:ext cx="5141100" cy="2455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In the same </a:t>
            </a:r>
            <a:r>
              <a:rPr lang="en">
                <a:latin typeface="Courier New"/>
                <a:ea typeface="Courier New"/>
                <a:cs typeface="Courier New"/>
                <a:sym typeface="Courier New"/>
              </a:rPr>
              <a:t>Sum</a:t>
            </a:r>
            <a:r>
              <a:rPr lang="en"/>
              <a:t> class, add a new </a:t>
            </a:r>
            <a:r>
              <a:rPr lang="en">
                <a:latin typeface="Courier New"/>
                <a:ea typeface="Courier New"/>
                <a:cs typeface="Courier New"/>
                <a:sym typeface="Courier New"/>
              </a:rPr>
              <a:t>static</a:t>
            </a:r>
            <a:r>
              <a:rPr lang="en"/>
              <a:t> method called </a:t>
            </a:r>
            <a:r>
              <a:rPr lang="en">
                <a:latin typeface="Courier New"/>
                <a:ea typeface="Courier New"/>
                <a:cs typeface="Courier New"/>
                <a:sym typeface="Courier New"/>
              </a:rPr>
              <a:t>shiftedSum</a:t>
            </a:r>
            <a:r>
              <a:rPr lang="en"/>
              <a:t> that takes two parameters, </a:t>
            </a:r>
            <a:r>
              <a:rPr lang="en">
                <a:latin typeface="Courier New"/>
                <a:ea typeface="Courier New"/>
                <a:cs typeface="Courier New"/>
                <a:sym typeface="Courier New"/>
              </a:rPr>
              <a:t>num</a:t>
            </a:r>
            <a:r>
              <a:rPr lang="en"/>
              <a:t> and </a:t>
            </a:r>
            <a:r>
              <a:rPr lang="en">
                <a:latin typeface="Courier New"/>
                <a:ea typeface="Courier New"/>
                <a:cs typeface="Courier New"/>
                <a:sym typeface="Courier New"/>
              </a:rPr>
              <a:t>shift</a:t>
            </a:r>
            <a:r>
              <a:rPr lang="en"/>
              <a:t> (both integers)</a:t>
            </a:r>
            <a:endParaRPr/>
          </a:p>
          <a:p>
            <a:pPr marL="457200" lvl="0" indent="-311150" algn="l" rtl="0">
              <a:spcBef>
                <a:spcPts val="0"/>
              </a:spcBef>
              <a:spcAft>
                <a:spcPts val="0"/>
              </a:spcAft>
              <a:buSzPts val="1300"/>
              <a:buChar char="●"/>
            </a:pPr>
            <a:r>
              <a:rPr lang="en"/>
              <a:t>Create an </a:t>
            </a:r>
            <a:r>
              <a:rPr lang="en">
                <a:latin typeface="Courier New"/>
                <a:ea typeface="Courier New"/>
                <a:cs typeface="Courier New"/>
                <a:sym typeface="Courier New"/>
              </a:rPr>
              <a:t>IntStream</a:t>
            </a:r>
            <a:r>
              <a:rPr lang="en"/>
              <a:t> from </a:t>
            </a:r>
            <a:r>
              <a:rPr lang="en">
                <a:latin typeface="Courier New"/>
                <a:ea typeface="Courier New"/>
                <a:cs typeface="Courier New"/>
                <a:sym typeface="Courier New"/>
              </a:rPr>
              <a:t>1</a:t>
            </a:r>
            <a:r>
              <a:rPr lang="en"/>
              <a:t> to </a:t>
            </a:r>
            <a:r>
              <a:rPr lang="en">
                <a:latin typeface="Courier New"/>
                <a:ea typeface="Courier New"/>
                <a:cs typeface="Courier New"/>
                <a:sym typeface="Courier New"/>
              </a:rPr>
              <a:t>num</a:t>
            </a:r>
            <a:endParaRPr/>
          </a:p>
          <a:p>
            <a:pPr marL="457200" lvl="0" indent="-311150" algn="l" rtl="0">
              <a:spcBef>
                <a:spcPts val="0"/>
              </a:spcBef>
              <a:spcAft>
                <a:spcPts val="0"/>
              </a:spcAft>
              <a:buSzPts val="1300"/>
              <a:buChar char="●"/>
            </a:pPr>
            <a:r>
              <a:rPr lang="en"/>
              <a:t>Use </a:t>
            </a:r>
            <a:r>
              <a:rPr lang="en">
                <a:latin typeface="Courier New"/>
                <a:ea typeface="Courier New"/>
                <a:cs typeface="Courier New"/>
                <a:sym typeface="Courier New"/>
              </a:rPr>
              <a:t>Stream.map</a:t>
            </a:r>
            <a:r>
              <a:rPr lang="en"/>
              <a:t> to add the shift value to the streams current value (you'll want to use a lambda function)</a:t>
            </a:r>
            <a:endParaRPr/>
          </a:p>
          <a:p>
            <a:pPr marL="457200" lvl="0" indent="-311150" algn="l" rtl="0">
              <a:spcBef>
                <a:spcPts val="0"/>
              </a:spcBef>
              <a:spcAft>
                <a:spcPts val="0"/>
              </a:spcAft>
              <a:buSzPts val="1300"/>
              <a:buChar char="●"/>
            </a:pPr>
            <a:r>
              <a:rPr lang="en"/>
              <a:t>Use </a:t>
            </a:r>
            <a:r>
              <a:rPr lang="en">
                <a:latin typeface="Courier New"/>
                <a:ea typeface="Courier New"/>
                <a:cs typeface="Courier New"/>
                <a:sym typeface="Courier New"/>
              </a:rPr>
              <a:t>Stream.sum</a:t>
            </a:r>
            <a:r>
              <a:rPr lang="en"/>
              <a:t> to sum all of the shifted values</a:t>
            </a:r>
            <a:endParaRPr/>
          </a:p>
          <a:p>
            <a:pPr marL="457200" lvl="0" indent="-311150" algn="l" rtl="0">
              <a:spcBef>
                <a:spcPts val="0"/>
              </a:spcBef>
              <a:spcAft>
                <a:spcPts val="0"/>
              </a:spcAft>
              <a:buSzPts val="1300"/>
              <a:buChar char="●"/>
            </a:pPr>
            <a:r>
              <a:rPr lang="en"/>
              <a:t>Return the sum</a:t>
            </a:r>
            <a:endParaRPr/>
          </a:p>
          <a:p>
            <a:pPr marL="457200" lvl="0" indent="-311150" algn="l" rtl="0">
              <a:spcBef>
                <a:spcPts val="0"/>
              </a:spcBef>
              <a:spcAft>
                <a:spcPts val="0"/>
              </a:spcAft>
              <a:buSzPts val="1300"/>
              <a:buChar char="●"/>
            </a:pPr>
            <a:r>
              <a:rPr lang="en"/>
              <a:t>In </a:t>
            </a:r>
            <a:r>
              <a:rPr lang="en">
                <a:latin typeface="Courier New"/>
                <a:ea typeface="Courier New"/>
                <a:cs typeface="Courier New"/>
                <a:sym typeface="Courier New"/>
              </a:rPr>
              <a:t>main</a:t>
            </a:r>
            <a:r>
              <a:rPr lang="en"/>
              <a:t>, call </a:t>
            </a:r>
            <a:r>
              <a:rPr lang="en">
                <a:latin typeface="Courier New"/>
                <a:ea typeface="Courier New"/>
                <a:cs typeface="Courier New"/>
                <a:sym typeface="Courier New"/>
              </a:rPr>
              <a:t>shiftedSum</a:t>
            </a:r>
            <a:r>
              <a:rPr lang="en"/>
              <a:t> and print out its result. Verify it returned the correct value.</a:t>
            </a:r>
            <a:endParaRPr/>
          </a:p>
        </p:txBody>
      </p:sp>
      <p:sp>
        <p:nvSpPr>
          <p:cNvPr id="781" name="Google Shape;781;p7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Sum More Practice</a:t>
            </a:r>
            <a:endParaRPr/>
          </a:p>
        </p:txBody>
      </p:sp>
      <p:sp>
        <p:nvSpPr>
          <p:cNvPr id="782" name="Google Shape;782;p7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4.14</a:t>
            </a:r>
            <a:endParaRPr/>
          </a:p>
        </p:txBody>
      </p:sp>
      <p:sp>
        <p:nvSpPr>
          <p:cNvPr id="783" name="Google Shape;783;p74"/>
          <p:cNvSpPr txBox="1">
            <a:spLocks noGrp="1"/>
          </p:cNvSpPr>
          <p:nvPr>
            <p:ph type="body" idx="4"/>
          </p:nvPr>
        </p:nvSpPr>
        <p:spPr>
          <a:xfrm>
            <a:off x="141600" y="4156900"/>
            <a:ext cx="35070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While the example uses an anonymous class, it is much easier to use a lambda function.</a:t>
            </a:r>
            <a:endParaRPr/>
          </a:p>
        </p:txBody>
      </p:sp>
      <p:sp>
        <p:nvSpPr>
          <p:cNvPr id="784" name="Google Shape;784;p74"/>
          <p:cNvSpPr txBox="1">
            <a:spLocks noGrp="1"/>
          </p:cNvSpPr>
          <p:nvPr>
            <p:ph type="body" idx="1"/>
          </p:nvPr>
        </p:nvSpPr>
        <p:spPr>
          <a:xfrm>
            <a:off x="141600" y="2118100"/>
            <a:ext cx="3507000" cy="1858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08000"/>
                </a:solidFill>
                <a:highlight>
                  <a:srgbClr val="FFFFFF"/>
                </a:highlight>
                <a:latin typeface="Consolas"/>
                <a:ea typeface="Consolas"/>
                <a:cs typeface="Consolas"/>
                <a:sym typeface="Consolas"/>
              </a:rPr>
              <a:t>// Map example using an anonymous class</a:t>
            </a:r>
            <a:endParaRPr sz="900">
              <a:solidFill>
                <a:srgbClr val="0000FF"/>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FF"/>
                </a:solidFill>
                <a:highlight>
                  <a:srgbClr val="FFFFFF"/>
                </a:highlight>
                <a:latin typeface="Consolas"/>
                <a:ea typeface="Consolas"/>
                <a:cs typeface="Consolas"/>
                <a:sym typeface="Consolas"/>
              </a:rPr>
              <a:t>private</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squareStream</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IntStream</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stream</a:t>
            </a:r>
            <a:r>
              <a:rPr lang="en" sz="900">
                <a:solidFill>
                  <a:srgbClr val="000000"/>
                </a:solidFill>
                <a:highlight>
                  <a:srgbClr val="FFFFFF"/>
                </a:highlight>
                <a:latin typeface="Consolas"/>
                <a:ea typeface="Consolas"/>
                <a:cs typeface="Consolas"/>
                <a:sym typeface="Consolas"/>
              </a:rPr>
              <a:t> = </a:t>
            </a:r>
            <a:r>
              <a:rPr lang="en" sz="900">
                <a:solidFill>
                  <a:srgbClr val="267F99"/>
                </a:solidFill>
                <a:highlight>
                  <a:srgbClr val="FFFFFF"/>
                </a:highlight>
                <a:latin typeface="Consolas"/>
                <a:ea typeface="Consolas"/>
                <a:cs typeface="Consolas"/>
                <a:sym typeface="Consolas"/>
              </a:rPr>
              <a:t>IntStream</a:t>
            </a:r>
            <a:r>
              <a:rPr lang="en" sz="900">
                <a:solidFill>
                  <a:srgbClr val="000000"/>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rangeClosed</a:t>
            </a:r>
            <a:r>
              <a:rPr lang="en" sz="900">
                <a:solidFill>
                  <a:srgbClr val="000000"/>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stream</a:t>
            </a:r>
            <a:r>
              <a:rPr lang="en" sz="900">
                <a:solidFill>
                  <a:srgbClr val="000000"/>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map</a:t>
            </a: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IntUnaryOperator</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applyAsInt</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value</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value</a:t>
            </a:r>
            <a:r>
              <a:rPr lang="en" sz="900">
                <a:solidFill>
                  <a:srgbClr val="000000"/>
                </a:solidFill>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value</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forEach</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System</a:t>
            </a:r>
            <a:r>
              <a:rPr lang="en" sz="900">
                <a:solidFill>
                  <a:srgbClr val="000000"/>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out</a:t>
            </a:r>
            <a:r>
              <a:rPr lang="en" sz="900">
                <a:solidFill>
                  <a:srgbClr val="AF00D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println</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a:t>
            </a:r>
            <a:endParaRPr sz="900">
              <a:solidFill>
                <a:srgbClr val="FF0000"/>
              </a:solidFill>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75"/>
          <p:cNvSpPr txBox="1">
            <a:spLocks noGrp="1"/>
          </p:cNvSpPr>
          <p:nvPr>
            <p:ph type="title"/>
          </p:nvPr>
        </p:nvSpPr>
        <p:spPr>
          <a:xfrm>
            <a:off x="5188525" y="1961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Java Files</a:t>
            </a:r>
            <a:endParaRPr/>
          </a:p>
        </p:txBody>
      </p:sp>
      <p:sp>
        <p:nvSpPr>
          <p:cNvPr id="790" name="Google Shape;790;p75"/>
          <p:cNvSpPr txBox="1">
            <a:spLocks noGrp="1"/>
          </p:cNvSpPr>
          <p:nvPr>
            <p:ph type="body" idx="1"/>
          </p:nvPr>
        </p:nvSpPr>
        <p:spPr>
          <a:xfrm>
            <a:off x="301275" y="272325"/>
            <a:ext cx="4166400" cy="44352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a:t>The </a:t>
            </a:r>
            <a:r>
              <a:rPr lang="en" u="sng">
                <a:solidFill>
                  <a:srgbClr val="FF0000"/>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java.io.File</a:t>
            </a:r>
            <a:r>
              <a:rPr lang="en"/>
              <a:t> class represents a </a:t>
            </a:r>
            <a:r>
              <a:rPr lang="en" b="1" i="1">
                <a:solidFill>
                  <a:srgbClr val="FF0000"/>
                </a:solidFill>
              </a:rPr>
              <a:t>file </a:t>
            </a:r>
            <a:r>
              <a:rPr lang="en"/>
              <a:t>or </a:t>
            </a:r>
            <a:r>
              <a:rPr lang="en" b="1" i="1">
                <a:solidFill>
                  <a:srgbClr val="FF0000"/>
                </a:solidFill>
              </a:rPr>
              <a:t>directory</a:t>
            </a:r>
            <a:r>
              <a:rPr lang="en">
                <a:solidFill>
                  <a:srgbClr val="FF0000"/>
                </a:solidFill>
              </a:rPr>
              <a:t> </a:t>
            </a:r>
            <a:r>
              <a:rPr lang="en"/>
              <a:t>in the computer's file system.</a:t>
            </a:r>
            <a:endParaRPr/>
          </a:p>
          <a:p>
            <a:pPr marL="914400" lvl="1" indent="-298450" algn="l" rtl="0">
              <a:lnSpc>
                <a:spcPct val="100000"/>
              </a:lnSpc>
              <a:spcBef>
                <a:spcPts val="0"/>
              </a:spcBef>
              <a:spcAft>
                <a:spcPts val="0"/>
              </a:spcAft>
              <a:buSzPts val="1100"/>
              <a:buChar char="○"/>
            </a:pPr>
            <a:r>
              <a:rPr lang="en" b="1" i="1">
                <a:solidFill>
                  <a:srgbClr val="FF0000"/>
                </a:solidFill>
              </a:rPr>
              <a:t>Importing</a:t>
            </a:r>
            <a:r>
              <a:rPr lang="en">
                <a:solidFill>
                  <a:srgbClr val="FF0000"/>
                </a:solidFill>
              </a:rPr>
              <a:t> </a:t>
            </a:r>
            <a:r>
              <a:rPr lang="en"/>
              <a:t>the class will allow your program to use it without specifying the full class name.</a:t>
            </a:r>
            <a:endParaRPr/>
          </a:p>
          <a:p>
            <a:pPr marL="457200" lvl="0" indent="-311150" algn="l" rtl="0">
              <a:lnSpc>
                <a:spcPct val="100000"/>
              </a:lnSpc>
              <a:spcBef>
                <a:spcPts val="0"/>
              </a:spcBef>
              <a:spcAft>
                <a:spcPts val="0"/>
              </a:spcAft>
              <a:buSzPts val="1300"/>
              <a:buChar char="●"/>
            </a:pPr>
            <a:r>
              <a:rPr lang="en"/>
              <a:t>A </a:t>
            </a:r>
            <a:r>
              <a:rPr lang="en" b="1" i="1">
                <a:solidFill>
                  <a:srgbClr val="FF0000"/>
                </a:solidFill>
              </a:rPr>
              <a:t>file object</a:t>
            </a:r>
            <a:r>
              <a:rPr lang="en">
                <a:solidFill>
                  <a:srgbClr val="FF0000"/>
                </a:solidFill>
              </a:rPr>
              <a:t> </a:t>
            </a:r>
            <a:r>
              <a:rPr lang="en"/>
              <a:t>is created by calling the </a:t>
            </a:r>
            <a:r>
              <a:rPr lang="en">
                <a:latin typeface="Courier New"/>
                <a:ea typeface="Courier New"/>
                <a:cs typeface="Courier New"/>
                <a:sym typeface="Courier New"/>
              </a:rPr>
              <a:t>File</a:t>
            </a:r>
            <a:r>
              <a:rPr lang="en"/>
              <a:t> class constructor with the path to the file.</a:t>
            </a:r>
            <a:endParaRPr/>
          </a:p>
          <a:p>
            <a:pPr marL="914400" lvl="1" indent="-298450" algn="l" rtl="0">
              <a:lnSpc>
                <a:spcPct val="100000"/>
              </a:lnSpc>
              <a:spcBef>
                <a:spcPts val="0"/>
              </a:spcBef>
              <a:spcAft>
                <a:spcPts val="0"/>
              </a:spcAft>
              <a:buSzPts val="1100"/>
              <a:buChar char="○"/>
            </a:pPr>
            <a:r>
              <a:rPr lang="en"/>
              <a:t>An </a:t>
            </a:r>
            <a:r>
              <a:rPr lang="en" b="1" i="1">
                <a:solidFill>
                  <a:srgbClr val="FF0000"/>
                </a:solidFill>
              </a:rPr>
              <a:t>absolute path</a:t>
            </a:r>
            <a:r>
              <a:rPr lang="en">
                <a:solidFill>
                  <a:srgbClr val="FF0000"/>
                </a:solidFill>
              </a:rPr>
              <a:t> </a:t>
            </a:r>
            <a:r>
              <a:rPr lang="en"/>
              <a:t>may be used.</a:t>
            </a:r>
            <a:endParaRPr/>
          </a:p>
          <a:p>
            <a:pPr marL="914400" lvl="1" indent="-298450" algn="l" rtl="0">
              <a:lnSpc>
                <a:spcPct val="100000"/>
              </a:lnSpc>
              <a:spcBef>
                <a:spcPts val="0"/>
              </a:spcBef>
              <a:spcAft>
                <a:spcPts val="0"/>
              </a:spcAft>
              <a:buSzPts val="1100"/>
              <a:buChar char="○"/>
            </a:pPr>
            <a:r>
              <a:rPr lang="en"/>
              <a:t>A </a:t>
            </a:r>
            <a:r>
              <a:rPr lang="en" b="1" i="1">
                <a:solidFill>
                  <a:srgbClr val="FF0000"/>
                </a:solidFill>
              </a:rPr>
              <a:t>relative path</a:t>
            </a:r>
            <a:r>
              <a:rPr lang="en">
                <a:solidFill>
                  <a:srgbClr val="FF0000"/>
                </a:solidFill>
              </a:rPr>
              <a:t> </a:t>
            </a:r>
            <a:r>
              <a:rPr lang="en"/>
              <a:t>may also be used; such paths are relative to the directory from which the program is executed.</a:t>
            </a:r>
            <a:endParaRPr/>
          </a:p>
          <a:p>
            <a:pPr marL="914400" lvl="1" indent="-298450" algn="l" rtl="0">
              <a:lnSpc>
                <a:spcPct val="100000"/>
              </a:lnSpc>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File f = new File("a_file.txt");</a:t>
            </a:r>
            <a:endParaRPr>
              <a:solidFill>
                <a:srgbClr val="FF0000"/>
              </a:solidFill>
              <a:latin typeface="Courier New"/>
              <a:ea typeface="Courier New"/>
              <a:cs typeface="Courier New"/>
              <a:sym typeface="Courier New"/>
            </a:endParaRPr>
          </a:p>
          <a:p>
            <a:pPr marL="457200" lvl="0" indent="-311150" algn="l" rtl="0">
              <a:lnSpc>
                <a:spcPct val="100000"/>
              </a:lnSpc>
              <a:spcBef>
                <a:spcPts val="0"/>
              </a:spcBef>
              <a:spcAft>
                <a:spcPts val="0"/>
              </a:spcAft>
              <a:buSzPts val="1300"/>
              <a:buChar char="●"/>
            </a:pPr>
            <a:r>
              <a:rPr lang="en"/>
              <a:t>An </a:t>
            </a:r>
            <a:r>
              <a:rPr lang="en">
                <a:solidFill>
                  <a:srgbClr val="FF0000"/>
                </a:solidFill>
              </a:rPr>
              <a:t>instance </a:t>
            </a:r>
            <a:r>
              <a:rPr lang="en"/>
              <a:t>of the </a:t>
            </a:r>
            <a:r>
              <a:rPr lang="en">
                <a:latin typeface="Courier New"/>
                <a:ea typeface="Courier New"/>
                <a:cs typeface="Courier New"/>
                <a:sym typeface="Courier New"/>
              </a:rPr>
              <a:t>File</a:t>
            </a:r>
            <a:r>
              <a:rPr lang="en"/>
              <a:t> class cannot be used to read from or write to the specified file, but does provide many methods that  can be used to get information about the file.</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exists()</a:t>
            </a:r>
            <a:r>
              <a:rPr lang="en"/>
              <a:t> - returns </a:t>
            </a:r>
            <a:r>
              <a:rPr lang="en">
                <a:solidFill>
                  <a:srgbClr val="FF0000"/>
                </a:solidFill>
                <a:latin typeface="Courier New"/>
                <a:ea typeface="Courier New"/>
                <a:cs typeface="Courier New"/>
                <a:sym typeface="Courier New"/>
              </a:rPr>
              <a:t>true</a:t>
            </a:r>
            <a:r>
              <a:rPr lang="en">
                <a:solidFill>
                  <a:srgbClr val="FF0000"/>
                </a:solidFill>
              </a:rPr>
              <a:t> </a:t>
            </a:r>
            <a:r>
              <a:rPr lang="en"/>
              <a:t>if a file with the specified path exists in the file system, and </a:t>
            </a:r>
            <a:r>
              <a:rPr lang="en">
                <a:solidFill>
                  <a:srgbClr val="FF0000"/>
                </a:solidFill>
                <a:latin typeface="Courier New"/>
                <a:ea typeface="Courier New"/>
                <a:cs typeface="Courier New"/>
                <a:sym typeface="Courier New"/>
              </a:rPr>
              <a:t>false</a:t>
            </a:r>
            <a:r>
              <a:rPr lang="en">
                <a:solidFill>
                  <a:srgbClr val="FF0000"/>
                </a:solidFill>
              </a:rPr>
              <a:t> </a:t>
            </a:r>
            <a:r>
              <a:rPr lang="en"/>
              <a:t>otherwise.</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isDirectory()</a:t>
            </a:r>
            <a:r>
              <a:rPr lang="en"/>
              <a:t> - returns </a:t>
            </a:r>
            <a:r>
              <a:rPr lang="en">
                <a:solidFill>
                  <a:srgbClr val="FF0000"/>
                </a:solidFill>
                <a:latin typeface="Courier New"/>
                <a:ea typeface="Courier New"/>
                <a:cs typeface="Courier New"/>
                <a:sym typeface="Courier New"/>
              </a:rPr>
              <a:t>true</a:t>
            </a:r>
            <a:r>
              <a:rPr lang="en">
                <a:solidFill>
                  <a:srgbClr val="FF0000"/>
                </a:solidFill>
              </a:rPr>
              <a:t> </a:t>
            </a:r>
            <a:r>
              <a:rPr lang="en"/>
              <a:t>if the file is a directory, and </a:t>
            </a:r>
            <a:r>
              <a:rPr lang="en">
                <a:solidFill>
                  <a:srgbClr val="FF0000"/>
                </a:solidFill>
                <a:latin typeface="Courier New"/>
                <a:ea typeface="Courier New"/>
                <a:cs typeface="Courier New"/>
                <a:sym typeface="Courier New"/>
              </a:rPr>
              <a:t>false</a:t>
            </a:r>
            <a:r>
              <a:rPr lang="en">
                <a:solidFill>
                  <a:srgbClr val="FF0000"/>
                </a:solidFill>
              </a:rPr>
              <a:t> </a:t>
            </a:r>
            <a:r>
              <a:rPr lang="en"/>
              <a:t>otherwise.</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getAbsolutePath()</a:t>
            </a:r>
            <a:r>
              <a:rPr lang="en"/>
              <a:t> - returns the absolute path to the file as a </a:t>
            </a:r>
            <a:r>
              <a:rPr lang="en">
                <a:solidFill>
                  <a:srgbClr val="FF0000"/>
                </a:solidFill>
                <a:latin typeface="Courier New"/>
                <a:ea typeface="Courier New"/>
                <a:cs typeface="Courier New"/>
                <a:sym typeface="Courier New"/>
              </a:rPr>
              <a:t>String</a:t>
            </a:r>
            <a:r>
              <a:rPr lang="en"/>
              <a:t>.</a:t>
            </a:r>
            <a:endParaRPr/>
          </a:p>
          <a:p>
            <a:pPr marL="914400" lvl="1" indent="-298450" algn="l" rtl="0">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length()</a:t>
            </a:r>
            <a:r>
              <a:rPr lang="en"/>
              <a:t> - returns the number of  bytes of data in the file as a </a:t>
            </a:r>
            <a:r>
              <a:rPr lang="en">
                <a:solidFill>
                  <a:srgbClr val="FF0000"/>
                </a:solidFill>
                <a:latin typeface="Courier New"/>
                <a:ea typeface="Courier New"/>
                <a:cs typeface="Courier New"/>
                <a:sym typeface="Courier New"/>
              </a:rPr>
              <a:t>long</a:t>
            </a:r>
            <a:r>
              <a:rPr lang="en"/>
              <a:t>.</a:t>
            </a:r>
            <a:endParaRPr/>
          </a:p>
        </p:txBody>
      </p:sp>
      <p:sp>
        <p:nvSpPr>
          <p:cNvPr id="791" name="Google Shape;791;p75"/>
          <p:cNvSpPr txBox="1">
            <a:spLocks noGrp="1"/>
          </p:cNvSpPr>
          <p:nvPr>
            <p:ph type="body" idx="2"/>
          </p:nvPr>
        </p:nvSpPr>
        <p:spPr>
          <a:xfrm>
            <a:off x="5144184" y="2657545"/>
            <a:ext cx="3706500" cy="1145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200">
                <a:solidFill>
                  <a:srgbClr val="098658"/>
                </a:solidFill>
                <a:latin typeface="Consolas"/>
                <a:ea typeface="Consolas"/>
                <a:cs typeface="Consolas"/>
                <a:sym typeface="Consolas"/>
              </a:rPr>
              <a:t>1</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File</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 = </a:t>
            </a:r>
            <a:r>
              <a:rPr lang="en" sz="1200">
                <a:solidFill>
                  <a:srgbClr val="AF00DB"/>
                </a:solidFill>
                <a:latin typeface="Consolas"/>
                <a:ea typeface="Consolas"/>
                <a:cs typeface="Consolas"/>
                <a:sym typeface="Consolas"/>
              </a:rPr>
              <a:t>new</a:t>
            </a:r>
            <a:r>
              <a:rPr lang="en" sz="1200">
                <a:solidFill>
                  <a:srgbClr val="000000"/>
                </a:solidFill>
                <a:latin typeface="Consolas"/>
                <a:ea typeface="Consolas"/>
                <a:cs typeface="Consolas"/>
                <a:sym typeface="Consolas"/>
              </a:rPr>
              <a:t> </a:t>
            </a:r>
            <a:r>
              <a:rPr lang="en" sz="1200">
                <a:solidFill>
                  <a:srgbClr val="795E26"/>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A31515"/>
                </a:solidFill>
                <a:latin typeface="Consolas"/>
                <a:ea typeface="Consolas"/>
                <a:cs typeface="Consolas"/>
                <a:sym typeface="Consolas"/>
              </a:rPr>
              <a:t>"a_file.txt"</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98658"/>
                </a:solidFill>
                <a:latin typeface="Consolas"/>
                <a:ea typeface="Consolas"/>
                <a:cs typeface="Consolas"/>
                <a:sym typeface="Consolas"/>
              </a:rPr>
              <a:t>2</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String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path</a:t>
            </a:r>
            <a:r>
              <a:rPr lang="en" sz="1200">
                <a:solidFill>
                  <a:srgbClr val="000000"/>
                </a:solidFill>
                <a:latin typeface="Consolas"/>
                <a:ea typeface="Consolas"/>
                <a:cs typeface="Consolas"/>
                <a:sym typeface="Consolas"/>
              </a:rPr>
              <a:t> =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getAbsolutePath</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98658"/>
                </a:solidFill>
                <a:latin typeface="Consolas"/>
                <a:ea typeface="Consolas"/>
                <a:cs typeface="Consolas"/>
                <a:sym typeface="Consolas"/>
              </a:rPr>
              <a:t>3</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long</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size</a:t>
            </a:r>
            <a:r>
              <a:rPr lang="en" sz="1200">
                <a:solidFill>
                  <a:srgbClr val="000000"/>
                </a:solidFill>
                <a:latin typeface="Consolas"/>
                <a:ea typeface="Consolas"/>
                <a:cs typeface="Consolas"/>
                <a:sym typeface="Consolas"/>
              </a:rPr>
              <a:t> =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length</a:t>
            </a:r>
            <a:r>
              <a:rPr lang="en"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98658"/>
                </a:solidFill>
                <a:latin typeface="Consolas"/>
                <a:ea typeface="Consolas"/>
                <a:cs typeface="Consolas"/>
                <a:sym typeface="Consolas"/>
              </a:rPr>
              <a:t>4</a:t>
            </a:r>
            <a:r>
              <a:rPr lang="en" sz="1200">
                <a:solidFill>
                  <a:srgbClr val="000000"/>
                </a:solidFill>
                <a:latin typeface="Consolas"/>
                <a:ea typeface="Consolas"/>
                <a:cs typeface="Consolas"/>
                <a:sym typeface="Consolas"/>
              </a:rPr>
              <a:t>  </a:t>
            </a:r>
            <a:r>
              <a:rPr lang="en" sz="1200">
                <a:solidFill>
                  <a:srgbClr val="267F99"/>
                </a:solidFill>
                <a:latin typeface="Consolas"/>
                <a:ea typeface="Consolas"/>
                <a:cs typeface="Consolas"/>
                <a:sym typeface="Consolas"/>
              </a:rPr>
              <a:t>boolean</a:t>
            </a:r>
            <a:r>
              <a:rPr lang="en" sz="1200">
                <a:solidFill>
                  <a:srgbClr val="000000"/>
                </a:solidFill>
                <a:latin typeface="Consolas"/>
                <a:ea typeface="Consolas"/>
                <a:cs typeface="Consolas"/>
                <a:sym typeface="Consolas"/>
              </a:rPr>
              <a:t> </a:t>
            </a:r>
            <a:r>
              <a:rPr lang="en" sz="1200">
                <a:solidFill>
                  <a:srgbClr val="001080"/>
                </a:solidFill>
                <a:latin typeface="Consolas"/>
                <a:ea typeface="Consolas"/>
                <a:cs typeface="Consolas"/>
                <a:sym typeface="Consolas"/>
              </a:rPr>
              <a:t>dir</a:t>
            </a:r>
            <a:r>
              <a:rPr lang="en" sz="1200">
                <a:solidFill>
                  <a:srgbClr val="000000"/>
                </a:solidFill>
                <a:latin typeface="Consolas"/>
                <a:ea typeface="Consolas"/>
                <a:cs typeface="Consolas"/>
                <a:sym typeface="Consolas"/>
              </a:rPr>
              <a:t> = </a:t>
            </a:r>
            <a:r>
              <a:rPr lang="en" sz="1200">
                <a:solidFill>
                  <a:srgbClr val="001080"/>
                </a:solidFill>
                <a:latin typeface="Consolas"/>
                <a:ea typeface="Consolas"/>
                <a:cs typeface="Consolas"/>
                <a:sym typeface="Consolas"/>
              </a:rPr>
              <a:t>file</a:t>
            </a:r>
            <a:r>
              <a:rPr lang="en" sz="1200">
                <a:solidFill>
                  <a:srgbClr val="000000"/>
                </a:solidFill>
                <a:latin typeface="Consolas"/>
                <a:ea typeface="Consolas"/>
                <a:cs typeface="Consolas"/>
                <a:sym typeface="Consolas"/>
              </a:rPr>
              <a:t>.</a:t>
            </a:r>
            <a:r>
              <a:rPr lang="en" sz="1200">
                <a:solidFill>
                  <a:srgbClr val="795E26"/>
                </a:solidFill>
                <a:latin typeface="Consolas"/>
                <a:ea typeface="Consolas"/>
                <a:cs typeface="Consolas"/>
                <a:sym typeface="Consolas"/>
              </a:rPr>
              <a:t>isDirectory</a:t>
            </a:r>
            <a:r>
              <a:rPr lang="en" sz="1200">
                <a:solidFill>
                  <a:srgbClr val="000000"/>
                </a:solidFill>
                <a:latin typeface="Consolas"/>
                <a:ea typeface="Consolas"/>
                <a:cs typeface="Consolas"/>
                <a:sym typeface="Consolas"/>
              </a:rPr>
              <a:t>();</a:t>
            </a:r>
            <a:endParaRPr sz="1200">
              <a:solidFill>
                <a:srgbClr val="999999"/>
              </a:solidFill>
              <a:latin typeface="Consolas"/>
              <a:ea typeface="Consolas"/>
              <a:cs typeface="Consolas"/>
              <a:sym typeface="Consolas"/>
            </a:endParaRPr>
          </a:p>
        </p:txBody>
      </p:sp>
      <p:sp>
        <p:nvSpPr>
          <p:cNvPr id="792" name="Google Shape;792;p7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sp>
        <p:nvSpPr>
          <p:cNvPr id="793" name="Google Shape;793;p75"/>
          <p:cNvSpPr txBox="1">
            <a:spLocks noGrp="1"/>
          </p:cNvSpPr>
          <p:nvPr>
            <p:ph type="body" idx="3"/>
          </p:nvPr>
        </p:nvSpPr>
        <p:spPr>
          <a:xfrm>
            <a:off x="5144184" y="1657831"/>
            <a:ext cx="3706500" cy="879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b="1" i="1">
                <a:solidFill>
                  <a:srgbClr val="FF0000"/>
                </a:solidFill>
              </a:rPr>
              <a:t>relative path</a:t>
            </a:r>
            <a:r>
              <a:rPr lang="en" sz="1200">
                <a:solidFill>
                  <a:srgbClr val="FF0000"/>
                </a:solidFill>
              </a:rPr>
              <a:t> </a:t>
            </a:r>
            <a:r>
              <a:rPr lang="en" sz="1200"/>
              <a:t>is relative to the directory in which the program was executed. For example,  </a:t>
            </a:r>
            <a:r>
              <a:rPr lang="en" sz="1200">
                <a:solidFill>
                  <a:srgbClr val="FF0000"/>
                </a:solidFill>
                <a:latin typeface="Courier New"/>
                <a:ea typeface="Courier New"/>
                <a:cs typeface="Courier New"/>
                <a:sym typeface="Courier New"/>
              </a:rPr>
              <a:t>"data/file.txt"</a:t>
            </a:r>
            <a:r>
              <a:rPr lang="en" sz="1200"/>
              <a:t> refers to a file named </a:t>
            </a:r>
            <a:r>
              <a:rPr lang="en" sz="1200">
                <a:solidFill>
                  <a:srgbClr val="FF0000"/>
                </a:solidFill>
                <a:latin typeface="Courier New"/>
                <a:ea typeface="Courier New"/>
                <a:cs typeface="Courier New"/>
                <a:sym typeface="Courier New"/>
              </a:rPr>
              <a:t>"file.txt"</a:t>
            </a:r>
            <a:r>
              <a:rPr lang="en" sz="1200"/>
              <a:t> in the </a:t>
            </a:r>
            <a:r>
              <a:rPr lang="en" sz="1200">
                <a:solidFill>
                  <a:srgbClr val="FF0000"/>
                </a:solidFill>
                <a:latin typeface="Courier New"/>
                <a:ea typeface="Courier New"/>
                <a:cs typeface="Courier New"/>
                <a:sym typeface="Courier New"/>
              </a:rPr>
              <a:t>"data"</a:t>
            </a:r>
            <a:r>
              <a:rPr lang="en" sz="1200"/>
              <a:t> subdirectory.</a:t>
            </a:r>
            <a:endParaRPr sz="1200"/>
          </a:p>
        </p:txBody>
      </p:sp>
      <p:sp>
        <p:nvSpPr>
          <p:cNvPr id="794" name="Google Shape;794;p75"/>
          <p:cNvSpPr/>
          <p:nvPr/>
        </p:nvSpPr>
        <p:spPr>
          <a:xfrm>
            <a:off x="8454250" y="953325"/>
            <a:ext cx="656325" cy="1943200"/>
          </a:xfrm>
          <a:custGeom>
            <a:avLst/>
            <a:gdLst/>
            <a:ahLst/>
            <a:cxnLst/>
            <a:rect l="l" t="t" r="r" b="b"/>
            <a:pathLst>
              <a:path w="26253" h="77728" extrusionOk="0">
                <a:moveTo>
                  <a:pt x="11529" y="0"/>
                </a:moveTo>
                <a:cubicBezTo>
                  <a:pt x="13943" y="11578"/>
                  <a:pt x="27935" y="56608"/>
                  <a:pt x="26013" y="69467"/>
                </a:cubicBezTo>
                <a:cubicBezTo>
                  <a:pt x="24092" y="82326"/>
                  <a:pt x="4336" y="75871"/>
                  <a:pt x="0" y="77152"/>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795" name="Google Shape;795;p75"/>
          <p:cNvSpPr txBox="1">
            <a:spLocks noGrp="1"/>
          </p:cNvSpPr>
          <p:nvPr>
            <p:ph type="body" idx="3"/>
          </p:nvPr>
        </p:nvSpPr>
        <p:spPr>
          <a:xfrm>
            <a:off x="5144184" y="834225"/>
            <a:ext cx="3706500" cy="702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An </a:t>
            </a:r>
            <a:r>
              <a:rPr lang="en" sz="1200" b="1" i="1">
                <a:solidFill>
                  <a:srgbClr val="FF0000"/>
                </a:solidFill>
              </a:rPr>
              <a:t>instance</a:t>
            </a:r>
            <a:r>
              <a:rPr lang="en" sz="1200">
                <a:solidFill>
                  <a:srgbClr val="FF0000"/>
                </a:solidFill>
              </a:rPr>
              <a:t> </a:t>
            </a:r>
            <a:r>
              <a:rPr lang="en" sz="1200"/>
              <a:t>of the </a:t>
            </a:r>
            <a:r>
              <a:rPr lang="en" sz="1200">
                <a:latin typeface="Courier New"/>
                <a:ea typeface="Courier New"/>
                <a:cs typeface="Courier New"/>
                <a:sym typeface="Courier New"/>
              </a:rPr>
              <a:t>java.io.File</a:t>
            </a:r>
            <a:r>
              <a:rPr lang="en" sz="1200"/>
              <a:t> class can be created with an </a:t>
            </a:r>
            <a:r>
              <a:rPr lang="en" sz="1200" b="1" i="1">
                <a:solidFill>
                  <a:srgbClr val="FF0000"/>
                </a:solidFill>
              </a:rPr>
              <a:t>absolute</a:t>
            </a:r>
            <a:r>
              <a:rPr lang="en" sz="1200">
                <a:solidFill>
                  <a:srgbClr val="FF0000"/>
                </a:solidFill>
              </a:rPr>
              <a:t> </a:t>
            </a:r>
            <a:r>
              <a:rPr lang="en" sz="1200"/>
              <a:t>or </a:t>
            </a:r>
            <a:r>
              <a:rPr lang="en" sz="1200" b="1" i="1">
                <a:solidFill>
                  <a:srgbClr val="FF0000"/>
                </a:solidFill>
              </a:rPr>
              <a:t>relative</a:t>
            </a:r>
            <a:r>
              <a:rPr lang="en" sz="1200">
                <a:solidFill>
                  <a:srgbClr val="FF0000"/>
                </a:solidFill>
              </a:rPr>
              <a:t> </a:t>
            </a:r>
            <a:r>
              <a:rPr lang="en" sz="1200"/>
              <a:t>path to a file in the file system.</a:t>
            </a:r>
            <a:endParaRPr sz="1200"/>
          </a:p>
        </p:txBody>
      </p:sp>
      <p:sp>
        <p:nvSpPr>
          <p:cNvPr id="796" name="Google Shape;796;p75"/>
          <p:cNvSpPr/>
          <p:nvPr/>
        </p:nvSpPr>
        <p:spPr>
          <a:xfrm>
            <a:off x="8180825" y="3574950"/>
            <a:ext cx="289002" cy="460025"/>
          </a:xfrm>
          <a:custGeom>
            <a:avLst/>
            <a:gdLst/>
            <a:ahLst/>
            <a:cxnLst/>
            <a:rect l="l" t="t" r="r" b="b"/>
            <a:pathLst>
              <a:path w="7717" h="18401" extrusionOk="0">
                <a:moveTo>
                  <a:pt x="0" y="18401"/>
                </a:moveTo>
                <a:cubicBezTo>
                  <a:pt x="1281" y="15691"/>
                  <a:pt x="7440" y="5198"/>
                  <a:pt x="7686" y="2143"/>
                </a:cubicBezTo>
                <a:cubicBezTo>
                  <a:pt x="7932" y="-911"/>
                  <a:pt x="2513" y="419"/>
                  <a:pt x="1478" y="7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797" name="Google Shape;797;p75"/>
          <p:cNvSpPr/>
          <p:nvPr/>
        </p:nvSpPr>
        <p:spPr>
          <a:xfrm>
            <a:off x="7707850" y="3369875"/>
            <a:ext cx="981775" cy="672500"/>
          </a:xfrm>
          <a:custGeom>
            <a:avLst/>
            <a:gdLst/>
            <a:ahLst/>
            <a:cxnLst/>
            <a:rect l="l" t="t" r="r" b="b"/>
            <a:pathLst>
              <a:path w="39271" h="26900" extrusionOk="0">
                <a:moveTo>
                  <a:pt x="22466" y="26900"/>
                </a:moveTo>
                <a:cubicBezTo>
                  <a:pt x="25176" y="23156"/>
                  <a:pt x="42468" y="8917"/>
                  <a:pt x="38724" y="4434"/>
                </a:cubicBezTo>
                <a:cubicBezTo>
                  <a:pt x="34980" y="-49"/>
                  <a:pt x="6454" y="739"/>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798" name="Google Shape;798;p75"/>
          <p:cNvSpPr/>
          <p:nvPr/>
        </p:nvSpPr>
        <p:spPr>
          <a:xfrm>
            <a:off x="8372975" y="3096450"/>
            <a:ext cx="588875" cy="975475"/>
          </a:xfrm>
          <a:custGeom>
            <a:avLst/>
            <a:gdLst/>
            <a:ahLst/>
            <a:cxnLst/>
            <a:rect l="l" t="t" r="r" b="b"/>
            <a:pathLst>
              <a:path w="23555" h="39019" extrusionOk="0">
                <a:moveTo>
                  <a:pt x="0" y="39019"/>
                </a:moveTo>
                <a:cubicBezTo>
                  <a:pt x="3892" y="34290"/>
                  <a:pt x="21726" y="17145"/>
                  <a:pt x="23352" y="10642"/>
                </a:cubicBezTo>
                <a:cubicBezTo>
                  <a:pt x="24978" y="4139"/>
                  <a:pt x="12021" y="1774"/>
                  <a:pt x="9755"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799" name="Google Shape;799;p75"/>
          <p:cNvSpPr txBox="1">
            <a:spLocks noGrp="1"/>
          </p:cNvSpPr>
          <p:nvPr>
            <p:ph type="body" idx="3"/>
          </p:nvPr>
        </p:nvSpPr>
        <p:spPr>
          <a:xfrm>
            <a:off x="5144184" y="3923350"/>
            <a:ext cx="3706500" cy="702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Once created, a file object can be used to get information about the file including its </a:t>
            </a:r>
            <a:r>
              <a:rPr lang="en" sz="1200" b="1" i="1">
                <a:solidFill>
                  <a:srgbClr val="FF0000"/>
                </a:solidFill>
              </a:rPr>
              <a:t>absolute path</a:t>
            </a:r>
            <a:r>
              <a:rPr lang="en" sz="1200"/>
              <a:t>, </a:t>
            </a:r>
            <a:r>
              <a:rPr lang="en" sz="1200" b="1" i="1">
                <a:solidFill>
                  <a:srgbClr val="FF0000"/>
                </a:solidFill>
              </a:rPr>
              <a:t>length</a:t>
            </a:r>
            <a:r>
              <a:rPr lang="en" sz="1200"/>
              <a:t>, and whether or not it is a </a:t>
            </a:r>
            <a:r>
              <a:rPr lang="en" sz="1200" b="1" i="1">
                <a:solidFill>
                  <a:srgbClr val="FF0000"/>
                </a:solidFill>
              </a:rPr>
              <a:t>directory</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9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9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9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795"/>
                                        </p:tgtEl>
                                        <p:attrNameLst>
                                          <p:attrName>style.visibility</p:attrName>
                                        </p:attrNameLst>
                                      </p:cBhvr>
                                      <p:to>
                                        <p:strVal val="visible"/>
                                      </p:to>
                                    </p:set>
                                    <p:animEffect transition="in" filter="fade">
                                      <p:cBhvr>
                                        <p:cTn id="51" dur="1000"/>
                                        <p:tgtEl>
                                          <p:spTgt spid="795"/>
                                        </p:tgtEl>
                                      </p:cBhvr>
                                    </p:animEffect>
                                  </p:childTnLst>
                                </p:cTn>
                              </p:par>
                              <p:par>
                                <p:cTn id="52" presetID="10" presetClass="entr" presetSubtype="0" fill="hold" nodeType="withEffect">
                                  <p:stCondLst>
                                    <p:cond delay="0"/>
                                  </p:stCondLst>
                                  <p:childTnLst>
                                    <p:set>
                                      <p:cBhvr>
                                        <p:cTn id="53" dur="1" fill="hold">
                                          <p:stCondLst>
                                            <p:cond delay="0"/>
                                          </p:stCondLst>
                                        </p:cTn>
                                        <p:tgtEl>
                                          <p:spTgt spid="791"/>
                                        </p:tgtEl>
                                        <p:attrNameLst>
                                          <p:attrName>style.visibility</p:attrName>
                                        </p:attrNameLst>
                                      </p:cBhvr>
                                      <p:to>
                                        <p:strVal val="visible"/>
                                      </p:to>
                                    </p:set>
                                    <p:animEffect transition="in" filter="fade">
                                      <p:cBhvr>
                                        <p:cTn id="54" dur="1000"/>
                                        <p:tgtEl>
                                          <p:spTgt spid="791"/>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794"/>
                                        </p:tgtEl>
                                        <p:attrNameLst>
                                          <p:attrName>style.visibility</p:attrName>
                                        </p:attrNameLst>
                                      </p:cBhvr>
                                      <p:to>
                                        <p:strVal val="visible"/>
                                      </p:to>
                                    </p:set>
                                    <p:animEffect transition="in" filter="fade">
                                      <p:cBhvr>
                                        <p:cTn id="58" dur="1000"/>
                                        <p:tgtEl>
                                          <p:spTgt spid="79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793"/>
                                        </p:tgtEl>
                                        <p:attrNameLst>
                                          <p:attrName>style.visibility</p:attrName>
                                        </p:attrNameLst>
                                      </p:cBhvr>
                                      <p:to>
                                        <p:strVal val="visible"/>
                                      </p:to>
                                    </p:set>
                                    <p:animEffect transition="in" filter="fade">
                                      <p:cBhvr>
                                        <p:cTn id="63" dur="1000"/>
                                        <p:tgtEl>
                                          <p:spTgt spid="79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799"/>
                                        </p:tgtEl>
                                        <p:attrNameLst>
                                          <p:attrName>style.visibility</p:attrName>
                                        </p:attrNameLst>
                                      </p:cBhvr>
                                      <p:to>
                                        <p:strVal val="visible"/>
                                      </p:to>
                                    </p:set>
                                    <p:animEffect transition="in" filter="fade">
                                      <p:cBhvr>
                                        <p:cTn id="68" dur="1000"/>
                                        <p:tgtEl>
                                          <p:spTgt spid="799"/>
                                        </p:tgtEl>
                                      </p:cBhvr>
                                    </p:animEffect>
                                  </p:childTnLst>
                                </p:cTn>
                              </p:par>
                            </p:childTnLst>
                          </p:cTn>
                        </p:par>
                        <p:par>
                          <p:cTn id="69" fill="hold">
                            <p:stCondLst>
                              <p:cond delay="1000"/>
                            </p:stCondLst>
                            <p:childTnLst>
                              <p:par>
                                <p:cTn id="70" presetID="10" presetClass="entr" presetSubtype="0" fill="hold" nodeType="afterEffect">
                                  <p:stCondLst>
                                    <p:cond delay="0"/>
                                  </p:stCondLst>
                                  <p:childTnLst>
                                    <p:set>
                                      <p:cBhvr>
                                        <p:cTn id="71" dur="1" fill="hold">
                                          <p:stCondLst>
                                            <p:cond delay="0"/>
                                          </p:stCondLst>
                                        </p:cTn>
                                        <p:tgtEl>
                                          <p:spTgt spid="796"/>
                                        </p:tgtEl>
                                        <p:attrNameLst>
                                          <p:attrName>style.visibility</p:attrName>
                                        </p:attrNameLst>
                                      </p:cBhvr>
                                      <p:to>
                                        <p:strVal val="visible"/>
                                      </p:to>
                                    </p:set>
                                    <p:animEffect transition="in" filter="fade">
                                      <p:cBhvr>
                                        <p:cTn id="72" dur="1000"/>
                                        <p:tgtEl>
                                          <p:spTgt spid="796"/>
                                        </p:tgtEl>
                                      </p:cBhvr>
                                    </p:animEffect>
                                  </p:childTnLst>
                                </p:cTn>
                              </p:par>
                            </p:childTnLst>
                          </p:cTn>
                        </p:par>
                        <p:par>
                          <p:cTn id="73" fill="hold">
                            <p:stCondLst>
                              <p:cond delay="2000"/>
                            </p:stCondLst>
                            <p:childTnLst>
                              <p:par>
                                <p:cTn id="74" presetID="10" presetClass="entr" presetSubtype="0" fill="hold" nodeType="afterEffect">
                                  <p:stCondLst>
                                    <p:cond delay="0"/>
                                  </p:stCondLst>
                                  <p:childTnLst>
                                    <p:set>
                                      <p:cBhvr>
                                        <p:cTn id="75" dur="1" fill="hold">
                                          <p:stCondLst>
                                            <p:cond delay="0"/>
                                          </p:stCondLst>
                                        </p:cTn>
                                        <p:tgtEl>
                                          <p:spTgt spid="797"/>
                                        </p:tgtEl>
                                        <p:attrNameLst>
                                          <p:attrName>style.visibility</p:attrName>
                                        </p:attrNameLst>
                                      </p:cBhvr>
                                      <p:to>
                                        <p:strVal val="visible"/>
                                      </p:to>
                                    </p:set>
                                    <p:animEffect transition="in" filter="fade">
                                      <p:cBhvr>
                                        <p:cTn id="76" dur="1000"/>
                                        <p:tgtEl>
                                          <p:spTgt spid="797"/>
                                        </p:tgtEl>
                                      </p:cBhvr>
                                    </p:animEffect>
                                  </p:childTnLst>
                                </p:cTn>
                              </p:par>
                            </p:childTnLst>
                          </p:cTn>
                        </p:par>
                        <p:par>
                          <p:cTn id="77" fill="hold">
                            <p:stCondLst>
                              <p:cond delay="3000"/>
                            </p:stCondLst>
                            <p:childTnLst>
                              <p:par>
                                <p:cTn id="78" presetID="10" presetClass="entr" presetSubtype="0" fill="hold" nodeType="afterEffect">
                                  <p:stCondLst>
                                    <p:cond delay="0"/>
                                  </p:stCondLst>
                                  <p:childTnLst>
                                    <p:set>
                                      <p:cBhvr>
                                        <p:cTn id="79" dur="1" fill="hold">
                                          <p:stCondLst>
                                            <p:cond delay="0"/>
                                          </p:stCondLst>
                                        </p:cTn>
                                        <p:tgtEl>
                                          <p:spTgt spid="798"/>
                                        </p:tgtEl>
                                        <p:attrNameLst>
                                          <p:attrName>style.visibility</p:attrName>
                                        </p:attrNameLst>
                                      </p:cBhvr>
                                      <p:to>
                                        <p:strVal val="visible"/>
                                      </p:to>
                                    </p:set>
                                    <p:animEffect transition="in" filter="fade">
                                      <p:cBhvr>
                                        <p:cTn id="80" dur="1000"/>
                                        <p:tgtEl>
                                          <p:spTgt spid="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7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In Java, </a:t>
            </a:r>
            <a:r>
              <a:rPr lang="en">
                <a:latin typeface="Courier New"/>
                <a:ea typeface="Courier New"/>
                <a:cs typeface="Courier New"/>
                <a:sym typeface="Courier New"/>
              </a:rPr>
              <a:t>File</a:t>
            </a:r>
            <a:r>
              <a:rPr lang="en"/>
              <a:t> objects can be used to get lots of different information about files and directories. Try it out now by implementing a method that uses a </a:t>
            </a:r>
            <a:r>
              <a:rPr lang="en">
                <a:latin typeface="Courier New"/>
                <a:ea typeface="Courier New"/>
                <a:cs typeface="Courier New"/>
                <a:sym typeface="Courier New"/>
              </a:rPr>
              <a:t>File</a:t>
            </a:r>
            <a:r>
              <a:rPr lang="en"/>
              <a:t> object to print detailed information about any file.</a:t>
            </a:r>
            <a:endParaRPr/>
          </a:p>
        </p:txBody>
      </p:sp>
      <p:sp>
        <p:nvSpPr>
          <p:cNvPr id="805" name="Google Shape;805;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806" name="Google Shape;806;p76"/>
          <p:cNvSpPr txBox="1">
            <a:spLocks noGrp="1"/>
          </p:cNvSpPr>
          <p:nvPr>
            <p:ph type="body" idx="2"/>
          </p:nvPr>
        </p:nvSpPr>
        <p:spPr>
          <a:xfrm>
            <a:off x="3810825" y="1747675"/>
            <a:ext cx="5122800" cy="31263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Files</a:t>
            </a:r>
            <a:r>
              <a:rPr lang="en" sz="1400"/>
              <a:t>" and define a method named "</a:t>
            </a:r>
            <a:r>
              <a:rPr lang="en" sz="1400">
                <a:solidFill>
                  <a:srgbClr val="FF0000"/>
                </a:solidFill>
                <a:latin typeface="Courier New"/>
                <a:ea typeface="Courier New"/>
                <a:cs typeface="Courier New"/>
                <a:sym typeface="Courier New"/>
              </a:rPr>
              <a:t>info</a:t>
            </a:r>
            <a:r>
              <a:rPr lang="en" sz="1400"/>
              <a:t>" that declares a parameter for a </a:t>
            </a:r>
            <a:r>
              <a:rPr lang="en" sz="1400">
                <a:solidFill>
                  <a:srgbClr val="FF0000"/>
                </a:solidFill>
                <a:latin typeface="Courier New"/>
                <a:ea typeface="Courier New"/>
                <a:cs typeface="Courier New"/>
                <a:sym typeface="Courier New"/>
              </a:rPr>
              <a:t>filename</a:t>
            </a:r>
            <a:r>
              <a:rPr lang="en" sz="1400"/>
              <a:t>.</a:t>
            </a:r>
            <a:endParaRPr sz="1400"/>
          </a:p>
          <a:p>
            <a:pPr marL="914400" lvl="1" indent="-304800" algn="l" rtl="0">
              <a:spcBef>
                <a:spcPts val="0"/>
              </a:spcBef>
              <a:spcAft>
                <a:spcPts val="0"/>
              </a:spcAft>
              <a:buSzPts val="1200"/>
              <a:buChar char="○"/>
            </a:pPr>
            <a:r>
              <a:rPr lang="en" sz="1200"/>
              <a:t>Create a </a:t>
            </a:r>
            <a:r>
              <a:rPr lang="en" sz="1200">
                <a:solidFill>
                  <a:srgbClr val="FF0000"/>
                </a:solidFill>
                <a:latin typeface="Courier New"/>
                <a:ea typeface="Courier New"/>
                <a:cs typeface="Courier New"/>
                <a:sym typeface="Courier New"/>
              </a:rPr>
              <a:t>File</a:t>
            </a:r>
            <a:r>
              <a:rPr lang="en" sz="1200">
                <a:solidFill>
                  <a:srgbClr val="FF0000"/>
                </a:solidFill>
              </a:rPr>
              <a:t> </a:t>
            </a:r>
            <a:r>
              <a:rPr lang="en" sz="1200"/>
              <a:t>using the </a:t>
            </a:r>
            <a:r>
              <a:rPr lang="en" sz="1200">
                <a:latin typeface="Courier New"/>
                <a:ea typeface="Courier New"/>
                <a:cs typeface="Courier New"/>
                <a:sym typeface="Courier New"/>
              </a:rPr>
              <a:t>filename</a:t>
            </a:r>
            <a:r>
              <a:rPr lang="en" sz="1200"/>
              <a:t>* and print the following:</a:t>
            </a:r>
            <a:endParaRPr sz="1200"/>
          </a:p>
          <a:p>
            <a:pPr marL="1371600" lvl="2" indent="-304800" algn="l" rtl="0">
              <a:spcBef>
                <a:spcPts val="0"/>
              </a:spcBef>
              <a:spcAft>
                <a:spcPts val="0"/>
              </a:spcAft>
              <a:buSzPts val="1200"/>
              <a:buChar char="■"/>
            </a:pPr>
            <a:r>
              <a:rPr lang="en" sz="1200"/>
              <a:t>The </a:t>
            </a:r>
            <a:r>
              <a:rPr lang="en" sz="1200" b="1" i="1">
                <a:solidFill>
                  <a:srgbClr val="FF0000"/>
                </a:solidFill>
              </a:rPr>
              <a:t>name </a:t>
            </a:r>
            <a:r>
              <a:rPr lang="en" sz="1200"/>
              <a:t>of the file.</a:t>
            </a:r>
            <a:endParaRPr sz="1200"/>
          </a:p>
          <a:p>
            <a:pPr marL="1371600" lvl="2" indent="-304800" algn="l" rtl="0">
              <a:spcBef>
                <a:spcPts val="0"/>
              </a:spcBef>
              <a:spcAft>
                <a:spcPts val="0"/>
              </a:spcAft>
              <a:buSzPts val="1200"/>
              <a:buChar char="■"/>
            </a:pPr>
            <a:r>
              <a:rPr lang="en" sz="1200"/>
              <a:t>The </a:t>
            </a:r>
            <a:r>
              <a:rPr lang="en" sz="1200" b="1" i="1">
                <a:solidFill>
                  <a:srgbClr val="FF0000"/>
                </a:solidFill>
              </a:rPr>
              <a:t>absolute path</a:t>
            </a:r>
            <a:r>
              <a:rPr lang="en" sz="1200"/>
              <a:t> to the file.</a:t>
            </a:r>
            <a:endParaRPr sz="1200"/>
          </a:p>
          <a:p>
            <a:pPr marL="1371600" lvl="2" indent="-304800" algn="l" rtl="0">
              <a:spcBef>
                <a:spcPts val="0"/>
              </a:spcBef>
              <a:spcAft>
                <a:spcPts val="0"/>
              </a:spcAft>
              <a:buSzPts val="1200"/>
              <a:buChar char="■"/>
            </a:pPr>
            <a:r>
              <a:rPr lang="en" sz="1200"/>
              <a:t>Whether or not the file </a:t>
            </a:r>
            <a:r>
              <a:rPr lang="en" sz="1200" b="1" i="1">
                <a:solidFill>
                  <a:srgbClr val="FF0000"/>
                </a:solidFill>
              </a:rPr>
              <a:t>exists</a:t>
            </a:r>
            <a:r>
              <a:rPr lang="en" sz="1200"/>
              <a:t>.</a:t>
            </a:r>
            <a:endParaRPr sz="1200"/>
          </a:p>
          <a:p>
            <a:pPr marL="1371600" lvl="2" indent="-304800" algn="l" rtl="0">
              <a:spcBef>
                <a:spcPts val="0"/>
              </a:spcBef>
              <a:spcAft>
                <a:spcPts val="0"/>
              </a:spcAft>
              <a:buSzPts val="1200"/>
              <a:buChar char="■"/>
            </a:pPr>
            <a:r>
              <a:rPr lang="en" sz="1200"/>
              <a:t>If the file exists, print its </a:t>
            </a:r>
            <a:r>
              <a:rPr lang="en" sz="1200" b="1" i="1">
                <a:solidFill>
                  <a:srgbClr val="FF0000"/>
                </a:solidFill>
              </a:rPr>
              <a:t>length </a:t>
            </a:r>
            <a:r>
              <a:rPr lang="en" sz="1200"/>
              <a:t>in bytes.</a:t>
            </a:r>
            <a:endParaRPr sz="1200"/>
          </a:p>
          <a:p>
            <a:pPr marL="457200" lvl="0" indent="-317500" algn="l" rtl="0">
              <a:spcBef>
                <a:spcPts val="0"/>
              </a:spcBef>
              <a:spcAft>
                <a:spcPts val="0"/>
              </a:spcAft>
              <a:buSzPts val="1400"/>
              <a:buChar char="●"/>
            </a:pPr>
            <a:r>
              <a:rPr lang="en" sz="1400"/>
              <a:t>Call your function from </a:t>
            </a:r>
            <a:r>
              <a:rPr lang="en" sz="1400">
                <a:latin typeface="Courier New"/>
                <a:ea typeface="Courier New"/>
                <a:cs typeface="Courier New"/>
                <a:sym typeface="Courier New"/>
              </a:rPr>
              <a:t>main</a:t>
            </a:r>
            <a:r>
              <a:rPr lang="en" sz="1400"/>
              <a:t> with several different filenames.</a:t>
            </a:r>
            <a:endParaRPr sz="1400"/>
          </a:p>
          <a:p>
            <a:pPr marL="914400" lvl="1" indent="-304800" algn="l" rtl="0">
              <a:spcBef>
                <a:spcPts val="0"/>
              </a:spcBef>
              <a:spcAft>
                <a:spcPts val="0"/>
              </a:spcAft>
              <a:buSzPts val="1200"/>
              <a:buChar char="○"/>
            </a:pPr>
            <a:r>
              <a:rPr lang="en" sz="1200" b="1" i="1">
                <a:solidFill>
                  <a:srgbClr val="FF0000"/>
                </a:solidFill>
              </a:rPr>
              <a:t>Hint</a:t>
            </a:r>
            <a:r>
              <a:rPr lang="en" sz="1200"/>
              <a:t>: use the names of files in your repository.</a:t>
            </a:r>
            <a:endParaRPr sz="1200"/>
          </a:p>
          <a:p>
            <a:pPr marL="457200" lvl="0" indent="-317500" algn="l" rtl="0">
              <a:spcBef>
                <a:spcPts val="0"/>
              </a:spcBef>
              <a:spcAft>
                <a:spcPts val="0"/>
              </a:spcAft>
              <a:buSzPts val="1400"/>
              <a:buChar char="●"/>
            </a:pPr>
            <a:r>
              <a:rPr lang="en" sz="1400"/>
              <a:t>Run the class.</a:t>
            </a:r>
            <a:endParaRPr sz="1400"/>
          </a:p>
        </p:txBody>
      </p:sp>
      <p:sp>
        <p:nvSpPr>
          <p:cNvPr id="807" name="Google Shape;807;p7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Getting File Info</a:t>
            </a:r>
            <a:endParaRPr/>
          </a:p>
        </p:txBody>
      </p:sp>
      <p:sp>
        <p:nvSpPr>
          <p:cNvPr id="808" name="Google Shape;808;p7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4.15</a:t>
            </a:r>
            <a:endParaRPr/>
          </a:p>
        </p:txBody>
      </p:sp>
      <p:sp>
        <p:nvSpPr>
          <p:cNvPr id="809" name="Google Shape;809;p76"/>
          <p:cNvSpPr txBox="1"/>
          <p:nvPr/>
        </p:nvSpPr>
        <p:spPr>
          <a:xfrm>
            <a:off x="112375" y="2502800"/>
            <a:ext cx="3563700" cy="8994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50">
                <a:solidFill>
                  <a:srgbClr val="267F99"/>
                </a:solidFill>
                <a:latin typeface="Consolas"/>
                <a:ea typeface="Consolas"/>
                <a:cs typeface="Consolas"/>
                <a:sym typeface="Consolas"/>
              </a:rPr>
              <a:t>File</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file</a:t>
            </a:r>
            <a:r>
              <a:rPr lang="en" sz="1250">
                <a:latin typeface="Consolas"/>
                <a:ea typeface="Consolas"/>
                <a:cs typeface="Consolas"/>
                <a:sym typeface="Consolas"/>
              </a:rPr>
              <a:t> = </a:t>
            </a:r>
            <a:r>
              <a:rPr lang="en" sz="1250">
                <a:solidFill>
                  <a:srgbClr val="AF00DB"/>
                </a:solidFill>
                <a:latin typeface="Consolas"/>
                <a:ea typeface="Consolas"/>
                <a:cs typeface="Consolas"/>
                <a:sym typeface="Consolas"/>
              </a:rPr>
              <a:t>new</a:t>
            </a:r>
            <a:r>
              <a:rPr lang="en" sz="1250">
                <a:latin typeface="Consolas"/>
                <a:ea typeface="Consolas"/>
                <a:cs typeface="Consolas"/>
                <a:sym typeface="Consolas"/>
              </a:rPr>
              <a:t> </a:t>
            </a:r>
            <a:r>
              <a:rPr lang="en" sz="1250">
                <a:solidFill>
                  <a:srgbClr val="795E26"/>
                </a:solidFill>
                <a:latin typeface="Consolas"/>
                <a:ea typeface="Consolas"/>
                <a:cs typeface="Consolas"/>
                <a:sym typeface="Consolas"/>
              </a:rPr>
              <a:t>File</a:t>
            </a:r>
            <a:r>
              <a:rPr lang="en" sz="1250">
                <a:latin typeface="Consolas"/>
                <a:ea typeface="Consolas"/>
                <a:cs typeface="Consolas"/>
                <a:sym typeface="Consolas"/>
              </a:rPr>
              <a:t>(</a:t>
            </a:r>
            <a:r>
              <a:rPr lang="en" sz="1250">
                <a:solidFill>
                  <a:srgbClr val="A31515"/>
                </a:solidFill>
                <a:latin typeface="Consolas"/>
                <a:ea typeface="Consolas"/>
                <a:cs typeface="Consolas"/>
                <a:sym typeface="Consolas"/>
              </a:rPr>
              <a:t>"some_file.txt"</a:t>
            </a:r>
            <a:r>
              <a:rPr lang="en" sz="1250">
                <a:latin typeface="Consolas"/>
                <a:ea typeface="Consolas"/>
                <a:cs typeface="Consolas"/>
                <a:sym typeface="Consolas"/>
              </a:rPr>
              <a:t>);</a:t>
            </a:r>
            <a:endParaRPr sz="1250">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267F99"/>
                </a:solidFill>
                <a:latin typeface="Consolas"/>
                <a:ea typeface="Consolas"/>
                <a:cs typeface="Consolas"/>
                <a:sym typeface="Consolas"/>
              </a:rPr>
              <a:t>String</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name</a:t>
            </a:r>
            <a:r>
              <a:rPr lang="en" sz="1250">
                <a:latin typeface="Consolas"/>
                <a:ea typeface="Consolas"/>
                <a:cs typeface="Consolas"/>
                <a:sym typeface="Consolas"/>
              </a:rPr>
              <a:t> = </a:t>
            </a:r>
            <a:r>
              <a:rPr lang="en" sz="1250">
                <a:solidFill>
                  <a:srgbClr val="001080"/>
                </a:solidFill>
                <a:latin typeface="Consolas"/>
                <a:ea typeface="Consolas"/>
                <a:cs typeface="Consolas"/>
                <a:sym typeface="Consolas"/>
              </a:rPr>
              <a:t>file</a:t>
            </a:r>
            <a:r>
              <a:rPr lang="en" sz="1250">
                <a:latin typeface="Consolas"/>
                <a:ea typeface="Consolas"/>
                <a:cs typeface="Consolas"/>
                <a:sym typeface="Consolas"/>
              </a:rPr>
              <a:t>.</a:t>
            </a:r>
            <a:r>
              <a:rPr lang="en" sz="1250">
                <a:solidFill>
                  <a:srgbClr val="795E26"/>
                </a:solidFill>
                <a:latin typeface="Consolas"/>
                <a:ea typeface="Consolas"/>
                <a:cs typeface="Consolas"/>
                <a:sym typeface="Consolas"/>
              </a:rPr>
              <a:t>getName</a:t>
            </a:r>
            <a:r>
              <a:rPr lang="en" sz="1250">
                <a:latin typeface="Consolas"/>
                <a:ea typeface="Consolas"/>
                <a:cs typeface="Consolas"/>
                <a:sym typeface="Consolas"/>
              </a:rPr>
              <a:t>();</a:t>
            </a:r>
            <a:endParaRPr sz="1250">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267F99"/>
                </a:solidFill>
                <a:latin typeface="Consolas"/>
                <a:ea typeface="Consolas"/>
                <a:cs typeface="Consolas"/>
                <a:sym typeface="Consolas"/>
              </a:rPr>
              <a:t>boolean</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exists</a:t>
            </a:r>
            <a:r>
              <a:rPr lang="en" sz="1250">
                <a:latin typeface="Consolas"/>
                <a:ea typeface="Consolas"/>
                <a:cs typeface="Consolas"/>
                <a:sym typeface="Consolas"/>
              </a:rPr>
              <a:t> = </a:t>
            </a:r>
            <a:r>
              <a:rPr lang="en" sz="1250">
                <a:solidFill>
                  <a:srgbClr val="001080"/>
                </a:solidFill>
                <a:latin typeface="Consolas"/>
                <a:ea typeface="Consolas"/>
                <a:cs typeface="Consolas"/>
                <a:sym typeface="Consolas"/>
              </a:rPr>
              <a:t>file</a:t>
            </a:r>
            <a:r>
              <a:rPr lang="en" sz="1250">
                <a:latin typeface="Consolas"/>
                <a:ea typeface="Consolas"/>
                <a:cs typeface="Consolas"/>
                <a:sym typeface="Consolas"/>
              </a:rPr>
              <a:t>.</a:t>
            </a:r>
            <a:r>
              <a:rPr lang="en" sz="1250">
                <a:solidFill>
                  <a:srgbClr val="795E26"/>
                </a:solidFill>
                <a:latin typeface="Consolas"/>
                <a:ea typeface="Consolas"/>
                <a:cs typeface="Consolas"/>
                <a:sym typeface="Consolas"/>
              </a:rPr>
              <a:t>exists</a:t>
            </a:r>
            <a:r>
              <a:rPr lang="en" sz="1250">
                <a:latin typeface="Consolas"/>
                <a:ea typeface="Consolas"/>
                <a:cs typeface="Consolas"/>
                <a:sym typeface="Consolas"/>
              </a:rPr>
              <a:t>();</a:t>
            </a:r>
            <a:endParaRPr sz="1250">
              <a:solidFill>
                <a:srgbClr val="569CD6"/>
              </a:solidFill>
              <a:latin typeface="Consolas"/>
              <a:ea typeface="Consolas"/>
              <a:cs typeface="Consolas"/>
              <a:sym typeface="Consolas"/>
            </a:endParaRPr>
          </a:p>
        </p:txBody>
      </p:sp>
      <p:sp>
        <p:nvSpPr>
          <p:cNvPr id="810" name="Google Shape;810;p76"/>
          <p:cNvSpPr txBox="1"/>
          <p:nvPr/>
        </p:nvSpPr>
        <p:spPr>
          <a:xfrm>
            <a:off x="112375" y="3557925"/>
            <a:ext cx="3563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Once you have created a file object, you can call methods on it to get information about the file.</a:t>
            </a:r>
            <a:endParaRPr sz="1100"/>
          </a:p>
        </p:txBody>
      </p:sp>
      <p:sp>
        <p:nvSpPr>
          <p:cNvPr id="811" name="Google Shape;811;p76"/>
          <p:cNvSpPr txBox="1"/>
          <p:nvPr/>
        </p:nvSpPr>
        <p:spPr>
          <a:xfrm>
            <a:off x="112375" y="1823875"/>
            <a:ext cx="3563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A </a:t>
            </a:r>
            <a:r>
              <a:rPr lang="en" sz="1100">
                <a:latin typeface="Courier New"/>
                <a:ea typeface="Courier New"/>
                <a:cs typeface="Courier New"/>
                <a:sym typeface="Courier New"/>
              </a:rPr>
              <a:t>File</a:t>
            </a:r>
            <a:r>
              <a:rPr lang="en" sz="1100"/>
              <a:t> object is created with string specifying a filename or a path to a file.</a:t>
            </a:r>
            <a:endParaRPr sz="1100"/>
          </a:p>
        </p:txBody>
      </p:sp>
      <p:sp>
        <p:nvSpPr>
          <p:cNvPr id="812" name="Google Shape;812;p76"/>
          <p:cNvSpPr txBox="1"/>
          <p:nvPr/>
        </p:nvSpPr>
        <p:spPr>
          <a:xfrm>
            <a:off x="112375" y="4236850"/>
            <a:ext cx="3563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Try using VSCode's autocomplete feature to see which methods are available.</a:t>
            </a:r>
            <a:endParaRPr sz="1100"/>
          </a:p>
        </p:txBody>
      </p:sp>
      <p:sp>
        <p:nvSpPr>
          <p:cNvPr id="813" name="Google Shape;813;p76"/>
          <p:cNvSpPr txBox="1"/>
          <p:nvPr/>
        </p:nvSpPr>
        <p:spPr>
          <a:xfrm>
            <a:off x="4528300" y="4760050"/>
            <a:ext cx="41205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latin typeface="Roboto"/>
                <a:ea typeface="Roboto"/>
                <a:cs typeface="Roboto"/>
                <a:sym typeface="Roboto"/>
              </a:rPr>
              <a:t>* On macOS you may need to use the absolute path to the file.</a:t>
            </a:r>
            <a:endParaRPr sz="8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7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819" name="Google Shape;819;p77"/>
          <p:cNvSpPr txBox="1">
            <a:spLocks noGrp="1"/>
          </p:cNvSpPr>
          <p:nvPr>
            <p:ph type="title"/>
          </p:nvPr>
        </p:nvSpPr>
        <p:spPr>
          <a:xfrm>
            <a:off x="5188525" y="6589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Reading Text Files</a:t>
            </a:r>
            <a:endParaRPr/>
          </a:p>
        </p:txBody>
      </p:sp>
      <p:sp>
        <p:nvSpPr>
          <p:cNvPr id="820" name="Google Shape;820;p77"/>
          <p:cNvSpPr txBox="1">
            <a:spLocks noGrp="1"/>
          </p:cNvSpPr>
          <p:nvPr>
            <p:ph type="body" idx="1"/>
          </p:nvPr>
        </p:nvSpPr>
        <p:spPr>
          <a:xfrm>
            <a:off x="237050" y="183150"/>
            <a:ext cx="4469700" cy="4934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A </a:t>
            </a:r>
            <a:r>
              <a:rPr lang="en" u="sng">
                <a:solidFill>
                  <a:srgbClr val="FF0000"/>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java.io.FileReader</a:t>
            </a:r>
            <a:r>
              <a:rPr lang="en"/>
              <a:t> can be used to read </a:t>
            </a:r>
            <a:r>
              <a:rPr lang="en" b="1" i="1">
                <a:solidFill>
                  <a:srgbClr val="FF0000"/>
                </a:solidFill>
              </a:rPr>
              <a:t>character data</a:t>
            </a:r>
            <a:r>
              <a:rPr lang="en">
                <a:solidFill>
                  <a:srgbClr val="FF0000"/>
                </a:solidFill>
              </a:rPr>
              <a:t> </a:t>
            </a:r>
            <a:r>
              <a:rPr lang="en"/>
              <a:t>(</a:t>
            </a:r>
            <a:r>
              <a:rPr lang="en" b="1" i="1">
                <a:solidFill>
                  <a:srgbClr val="FF0000"/>
                </a:solidFill>
              </a:rPr>
              <a:t>text</a:t>
            </a:r>
            <a:r>
              <a:rPr lang="en"/>
              <a:t>) from a file.</a:t>
            </a:r>
            <a:endParaRPr/>
          </a:p>
          <a:p>
            <a:pPr marL="914400" lvl="1" indent="-298450" algn="l" rtl="0">
              <a:spcBef>
                <a:spcPts val="0"/>
              </a:spcBef>
              <a:spcAft>
                <a:spcPts val="0"/>
              </a:spcAft>
              <a:buSzPts val="1100"/>
              <a:buChar char="○"/>
            </a:pPr>
            <a:r>
              <a:rPr lang="en"/>
              <a:t>A </a:t>
            </a:r>
            <a:r>
              <a:rPr lang="en">
                <a:latin typeface="Courier New"/>
                <a:ea typeface="Courier New"/>
                <a:cs typeface="Courier New"/>
                <a:sym typeface="Courier New"/>
              </a:rPr>
              <a:t>FileReader</a:t>
            </a:r>
            <a:r>
              <a:rPr lang="en"/>
              <a:t> can be created by passing an </a:t>
            </a:r>
            <a:r>
              <a:rPr lang="en" b="1" i="1">
                <a:solidFill>
                  <a:srgbClr val="FF0000"/>
                </a:solidFill>
              </a:rPr>
              <a:t>absolute</a:t>
            </a:r>
            <a:r>
              <a:rPr lang="en">
                <a:solidFill>
                  <a:srgbClr val="FF0000"/>
                </a:solidFill>
              </a:rPr>
              <a:t> </a:t>
            </a:r>
            <a:r>
              <a:rPr lang="en"/>
              <a:t>or </a:t>
            </a:r>
            <a:r>
              <a:rPr lang="en" b="1" i="1">
                <a:solidFill>
                  <a:srgbClr val="FF0000"/>
                </a:solidFill>
              </a:rPr>
              <a:t>relative path</a:t>
            </a:r>
            <a:r>
              <a:rPr lang="en"/>
              <a:t> into its </a:t>
            </a:r>
            <a:r>
              <a:rPr lang="en" b="1" i="1">
                <a:solidFill>
                  <a:srgbClr val="FF0000"/>
                </a:solidFill>
              </a:rPr>
              <a:t>constructor</a:t>
            </a:r>
            <a:r>
              <a:rPr lang="en"/>
              <a:t>.</a:t>
            </a:r>
            <a:endParaRPr/>
          </a:p>
          <a:p>
            <a:pPr marL="914400" lvl="1" indent="-298450" algn="l" rtl="0">
              <a:spcBef>
                <a:spcPts val="0"/>
              </a:spcBef>
              <a:spcAft>
                <a:spcPts val="0"/>
              </a:spcAft>
              <a:buSzPts val="1100"/>
              <a:buChar char="○"/>
            </a:pPr>
            <a:r>
              <a:rPr lang="en"/>
              <a:t>e.g. </a:t>
            </a:r>
            <a:r>
              <a:rPr lang="en" sz="1100">
                <a:solidFill>
                  <a:srgbClr val="FF0000"/>
                </a:solidFill>
                <a:latin typeface="Courier New"/>
                <a:ea typeface="Courier New"/>
                <a:cs typeface="Courier New"/>
                <a:sym typeface="Courier New"/>
              </a:rPr>
              <a:t>new</a:t>
            </a:r>
            <a:r>
              <a:rPr lang="en" sz="1100">
                <a:solidFill>
                  <a:srgbClr val="FF0000"/>
                </a:solidFill>
              </a:rPr>
              <a:t> </a:t>
            </a:r>
            <a:r>
              <a:rPr lang="en" sz="1100">
                <a:solidFill>
                  <a:srgbClr val="FF0000"/>
                </a:solidFill>
                <a:latin typeface="Courier New"/>
                <a:ea typeface="Courier New"/>
                <a:cs typeface="Courier New"/>
                <a:sym typeface="Courier New"/>
              </a:rPr>
              <a:t>FileReader("a_file.txt")</a:t>
            </a:r>
            <a:endParaRPr sz="1100">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a:t>Once created, a </a:t>
            </a:r>
            <a:r>
              <a:rPr lang="en">
                <a:latin typeface="Courier New"/>
                <a:ea typeface="Courier New"/>
                <a:cs typeface="Courier New"/>
                <a:sym typeface="Courier New"/>
              </a:rPr>
              <a:t>FileReader</a:t>
            </a:r>
            <a:r>
              <a:rPr lang="en"/>
              <a:t> provides several methods for reading text.</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read()</a:t>
            </a:r>
            <a:r>
              <a:rPr lang="en"/>
              <a:t> - returns the next character of data.</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read(char[] buffer)</a:t>
            </a:r>
            <a:r>
              <a:rPr lang="en"/>
              <a:t> - reads up to </a:t>
            </a:r>
            <a:r>
              <a:rPr lang="en">
                <a:solidFill>
                  <a:srgbClr val="FF0000"/>
                </a:solidFill>
                <a:latin typeface="Courier New"/>
                <a:ea typeface="Courier New"/>
                <a:cs typeface="Courier New"/>
                <a:sym typeface="Courier New"/>
              </a:rPr>
              <a:t>buffer.length</a:t>
            </a:r>
            <a:r>
              <a:rPr lang="en"/>
              <a:t> characters into the given buffer.</a:t>
            </a:r>
            <a:endParaRPr/>
          </a:p>
          <a:p>
            <a:pPr marL="457200" lvl="0" indent="-311150" algn="l" rtl="0">
              <a:spcBef>
                <a:spcPts val="0"/>
              </a:spcBef>
              <a:spcAft>
                <a:spcPts val="0"/>
              </a:spcAft>
              <a:buSzPts val="1300"/>
              <a:buChar char="●"/>
            </a:pPr>
            <a:r>
              <a:rPr lang="en"/>
              <a:t>A </a:t>
            </a:r>
            <a:r>
              <a:rPr lang="en">
                <a:latin typeface="Courier New"/>
                <a:ea typeface="Courier New"/>
                <a:cs typeface="Courier New"/>
                <a:sym typeface="Courier New"/>
              </a:rPr>
              <a:t>FileReader</a:t>
            </a:r>
            <a:r>
              <a:rPr lang="en"/>
              <a:t> is a little hard to use because it only supports reading characters.</a:t>
            </a:r>
            <a:endParaRPr/>
          </a:p>
          <a:p>
            <a:pPr marL="457200" lvl="0" indent="-311150" algn="l" rtl="0">
              <a:spcBef>
                <a:spcPts val="0"/>
              </a:spcBef>
              <a:spcAft>
                <a:spcPts val="0"/>
              </a:spcAft>
              <a:buSzPts val="1300"/>
              <a:buChar char="●"/>
            </a:pPr>
            <a:r>
              <a:rPr lang="en"/>
              <a:t>A </a:t>
            </a:r>
            <a:r>
              <a:rPr lang="en" u="sng">
                <a:solidFill>
                  <a:srgbClr val="FF0000"/>
                </a:solidFill>
                <a:latin typeface="Courier New"/>
                <a:ea typeface="Courier New"/>
                <a:cs typeface="Courier New"/>
                <a:sym typeface="Courier New"/>
                <a:hlinkClick r:id="rId4">
                  <a:extLst>
                    <a:ext uri="{A12FA001-AC4F-418D-AE19-62706E023703}">
                      <ahyp:hlinkClr xmlns:ahyp="http://schemas.microsoft.com/office/drawing/2018/hyperlinkcolor" val="tx"/>
                    </a:ext>
                  </a:extLst>
                </a:hlinkClick>
              </a:rPr>
              <a:t>java.io.BufferedReader</a:t>
            </a:r>
            <a:r>
              <a:rPr lang="en"/>
              <a:t> can be constructed with a </a:t>
            </a:r>
            <a:r>
              <a:rPr lang="en">
                <a:latin typeface="Courier New"/>
                <a:ea typeface="Courier New"/>
                <a:cs typeface="Courier New"/>
                <a:sym typeface="Courier New"/>
              </a:rPr>
              <a:t>FileReader</a:t>
            </a:r>
            <a:r>
              <a:rPr lang="en"/>
              <a:t> and its </a:t>
            </a:r>
            <a:r>
              <a:rPr lang="en">
                <a:solidFill>
                  <a:srgbClr val="FF0000"/>
                </a:solidFill>
                <a:latin typeface="Courier New"/>
                <a:ea typeface="Courier New"/>
                <a:cs typeface="Courier New"/>
                <a:sym typeface="Courier New"/>
              </a:rPr>
              <a:t>readLine()</a:t>
            </a:r>
            <a:r>
              <a:rPr lang="en"/>
              <a:t> method will read and return one line as a </a:t>
            </a:r>
            <a:r>
              <a:rPr lang="en">
                <a:latin typeface="Courier New"/>
                <a:ea typeface="Courier New"/>
                <a:cs typeface="Courier New"/>
                <a:sym typeface="Courier New"/>
              </a:rPr>
              <a:t>String</a:t>
            </a:r>
            <a:r>
              <a:rPr lang="en"/>
              <a:t>.</a:t>
            </a:r>
            <a:endParaRPr/>
          </a:p>
          <a:p>
            <a:pPr marL="914400" lvl="1" indent="-298450" algn="l" rtl="0">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String s = buffReader.readLine();</a:t>
            </a:r>
            <a:endParaRPr/>
          </a:p>
          <a:p>
            <a:pPr marL="457200" lvl="0" indent="-311150" algn="l" rtl="0">
              <a:spcBef>
                <a:spcPts val="0"/>
              </a:spcBef>
              <a:spcAft>
                <a:spcPts val="0"/>
              </a:spcAft>
              <a:buSzPts val="1300"/>
              <a:buChar char="●"/>
            </a:pPr>
            <a:r>
              <a:rPr lang="en"/>
              <a:t>Even better, the </a:t>
            </a:r>
            <a:r>
              <a:rPr lang="en">
                <a:solidFill>
                  <a:srgbClr val="FF0000"/>
                </a:solidFill>
                <a:latin typeface="Courier New"/>
                <a:ea typeface="Courier New"/>
                <a:cs typeface="Courier New"/>
                <a:sym typeface="Courier New"/>
              </a:rPr>
              <a:t>lines()</a:t>
            </a:r>
            <a:r>
              <a:rPr lang="en"/>
              <a:t> method of the </a:t>
            </a:r>
            <a:r>
              <a:rPr lang="en">
                <a:latin typeface="Courier New"/>
                <a:ea typeface="Courier New"/>
                <a:cs typeface="Courier New"/>
                <a:sym typeface="Courier New"/>
              </a:rPr>
              <a:t>BufferedReader</a:t>
            </a:r>
            <a:r>
              <a:rPr lang="en"/>
              <a:t> returns a string </a:t>
            </a:r>
            <a:r>
              <a:rPr lang="en">
                <a:latin typeface="Courier New"/>
                <a:ea typeface="Courier New"/>
                <a:cs typeface="Courier New"/>
                <a:sym typeface="Courier New"/>
              </a:rPr>
              <a:t>Stream</a:t>
            </a:r>
            <a:r>
              <a:rPr lang="en"/>
              <a:t> allowing the file to be used as a </a:t>
            </a:r>
            <a:r>
              <a:rPr lang="en">
                <a:latin typeface="Courier New"/>
                <a:ea typeface="Courier New"/>
                <a:cs typeface="Courier New"/>
                <a:sym typeface="Courier New"/>
              </a:rPr>
              <a:t>Stream</a:t>
            </a:r>
            <a:r>
              <a:rPr lang="en"/>
              <a:t>.</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Stream&lt;String&gt; s = buffReader.lines();</a:t>
            </a:r>
            <a:endParaRPr>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a:t>The </a:t>
            </a:r>
            <a:r>
              <a:rPr lang="en">
                <a:latin typeface="Courier New"/>
                <a:ea typeface="Courier New"/>
                <a:cs typeface="Courier New"/>
                <a:sym typeface="Courier New"/>
              </a:rPr>
              <a:t>BufferedReader</a:t>
            </a:r>
            <a:r>
              <a:rPr lang="en"/>
              <a:t> should be </a:t>
            </a:r>
            <a:r>
              <a:rPr lang="en" b="1" i="1">
                <a:solidFill>
                  <a:srgbClr val="FF0000"/>
                </a:solidFill>
              </a:rPr>
              <a:t>closed</a:t>
            </a:r>
            <a:r>
              <a:rPr lang="en">
                <a:solidFill>
                  <a:srgbClr val="FF0000"/>
                </a:solidFill>
              </a:rPr>
              <a:t> </a:t>
            </a:r>
            <a:r>
              <a:rPr lang="en"/>
              <a:t>when no longer needed, which will also close the file.</a:t>
            </a:r>
            <a:endParaRPr/>
          </a:p>
        </p:txBody>
      </p:sp>
      <p:sp>
        <p:nvSpPr>
          <p:cNvPr id="821" name="Google Shape;821;p77"/>
          <p:cNvSpPr txBox="1">
            <a:spLocks noGrp="1"/>
          </p:cNvSpPr>
          <p:nvPr>
            <p:ph type="body" idx="2"/>
          </p:nvPr>
        </p:nvSpPr>
        <p:spPr>
          <a:xfrm>
            <a:off x="5192225" y="1570500"/>
            <a:ext cx="3706500" cy="1640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FileReader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fileReader </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FileReader</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"a_file.txt"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BufferedReader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buffReader</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Buffered</a:t>
            </a:r>
            <a:r>
              <a:rPr lang="en" sz="1000">
                <a:solidFill>
                  <a:srgbClr val="000000"/>
                </a:solidFill>
                <a:latin typeface="Consolas"/>
                <a:ea typeface="Consolas"/>
                <a:cs typeface="Consolas"/>
                <a:sym typeface="Consolas"/>
              </a:rPr>
              <a:t>(fileReader);</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Stream&lt;</a:t>
            </a:r>
            <a:r>
              <a:rPr lang="en" sz="1000">
                <a:solidFill>
                  <a:srgbClr val="267F99"/>
                </a:solidFill>
                <a:latin typeface="Consolas"/>
                <a:ea typeface="Consolas"/>
                <a:cs typeface="Consolas"/>
                <a:sym typeface="Consolas"/>
              </a:rPr>
              <a:t>String&gt;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lines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buffReader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lines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lines</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forEach</a:t>
            </a:r>
            <a:r>
              <a:rPr lang="en" sz="1000">
                <a:solidFill>
                  <a:srgbClr val="000000"/>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System</a:t>
            </a:r>
            <a:r>
              <a:rPr lang="en" sz="1000">
                <a:solidFill>
                  <a:srgbClr val="000000"/>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AF00D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000000"/>
                </a:solidFill>
                <a:highlight>
                  <a:srgbClr val="FFFFFF"/>
                </a:highlight>
                <a:latin typeface="Consolas"/>
                <a:ea typeface="Consolas"/>
                <a:cs typeface="Consolas"/>
                <a:sym typeface="Consolas"/>
              </a:rPr>
              <a:t>)</a:t>
            </a:r>
            <a:endParaRPr sz="1000">
              <a:solidFill>
                <a:srgbClr val="00108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chemeClr val="accent5"/>
                </a:solidFill>
                <a:latin typeface="Consolas"/>
                <a:ea typeface="Consolas"/>
                <a:cs typeface="Consolas"/>
                <a:sym typeface="Consolas"/>
              </a:rPr>
              <a:t>7</a:t>
            </a:r>
            <a:r>
              <a:rPr lang="en" sz="1000">
                <a:solidFill>
                  <a:srgbClr val="001080"/>
                </a:solidFill>
                <a:latin typeface="Consolas"/>
                <a:ea typeface="Consolas"/>
                <a:cs typeface="Consolas"/>
                <a:sym typeface="Consolas"/>
              </a:rPr>
              <a:t>  buffReader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close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822" name="Google Shape;822;p77"/>
          <p:cNvSpPr/>
          <p:nvPr/>
        </p:nvSpPr>
        <p:spPr>
          <a:xfrm>
            <a:off x="7127850" y="1365250"/>
            <a:ext cx="683386" cy="393619"/>
          </a:xfrm>
          <a:custGeom>
            <a:avLst/>
            <a:gdLst/>
            <a:ahLst/>
            <a:cxnLst/>
            <a:rect l="l" t="t" r="r" b="b"/>
            <a:pathLst>
              <a:path w="18180" h="19215" extrusionOk="0">
                <a:moveTo>
                  <a:pt x="7094" y="0"/>
                </a:moveTo>
                <a:cubicBezTo>
                  <a:pt x="8917" y="1774"/>
                  <a:pt x="19214" y="7440"/>
                  <a:pt x="18032" y="10642"/>
                </a:cubicBezTo>
                <a:cubicBezTo>
                  <a:pt x="16850" y="13845"/>
                  <a:pt x="3005" y="17786"/>
                  <a:pt x="0" y="1921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23" name="Google Shape;823;p77"/>
          <p:cNvSpPr txBox="1">
            <a:spLocks noGrp="1"/>
          </p:cNvSpPr>
          <p:nvPr>
            <p:ph type="body" idx="3"/>
          </p:nvPr>
        </p:nvSpPr>
        <p:spPr>
          <a:xfrm>
            <a:off x="5192225" y="756725"/>
            <a:ext cx="3706500" cy="699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java.io.FileReader</a:t>
            </a:r>
            <a:r>
              <a:rPr lang="en" sz="1200"/>
              <a:t> can be used to read </a:t>
            </a:r>
            <a:r>
              <a:rPr lang="en" sz="1200" b="1" i="1">
                <a:solidFill>
                  <a:srgbClr val="FF0000"/>
                </a:solidFill>
              </a:rPr>
              <a:t>characters</a:t>
            </a:r>
            <a:r>
              <a:rPr lang="en" sz="1200">
                <a:solidFill>
                  <a:srgbClr val="FF0000"/>
                </a:solidFill>
              </a:rPr>
              <a:t> </a:t>
            </a:r>
            <a:r>
              <a:rPr lang="en" sz="1200"/>
              <a:t>(one at a time or in chunks) from the file with the specified </a:t>
            </a:r>
            <a:r>
              <a:rPr lang="en" sz="1200" b="1" i="1">
                <a:solidFill>
                  <a:srgbClr val="FF0000"/>
                </a:solidFill>
              </a:rPr>
              <a:t>path</a:t>
            </a:r>
            <a:r>
              <a:rPr lang="en" sz="1200"/>
              <a:t>.</a:t>
            </a:r>
            <a:endParaRPr sz="1200"/>
          </a:p>
        </p:txBody>
      </p:sp>
      <p:sp>
        <p:nvSpPr>
          <p:cNvPr id="824" name="Google Shape;824;p77"/>
          <p:cNvSpPr/>
          <p:nvPr/>
        </p:nvSpPr>
        <p:spPr>
          <a:xfrm>
            <a:off x="7409725" y="2227550"/>
            <a:ext cx="1196930" cy="1201526"/>
          </a:xfrm>
          <a:custGeom>
            <a:avLst/>
            <a:gdLst/>
            <a:ahLst/>
            <a:cxnLst/>
            <a:rect l="l" t="t" r="r" b="b"/>
            <a:pathLst>
              <a:path w="56646" h="55963" extrusionOk="0">
                <a:moveTo>
                  <a:pt x="32221" y="55963"/>
                </a:moveTo>
                <a:cubicBezTo>
                  <a:pt x="36162" y="47144"/>
                  <a:pt x="61239" y="11278"/>
                  <a:pt x="55869" y="3050"/>
                </a:cubicBezTo>
                <a:cubicBezTo>
                  <a:pt x="50499" y="-5178"/>
                  <a:pt x="9312" y="6006"/>
                  <a:pt x="0" y="659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25" name="Google Shape;825;p77"/>
          <p:cNvSpPr/>
          <p:nvPr/>
        </p:nvSpPr>
        <p:spPr>
          <a:xfrm>
            <a:off x="7737425" y="2421428"/>
            <a:ext cx="424150" cy="1000175"/>
          </a:xfrm>
          <a:custGeom>
            <a:avLst/>
            <a:gdLst/>
            <a:ahLst/>
            <a:cxnLst/>
            <a:rect l="l" t="t" r="r" b="b"/>
            <a:pathLst>
              <a:path w="16966" h="40007" extrusionOk="0">
                <a:moveTo>
                  <a:pt x="5616" y="40007"/>
                </a:moveTo>
                <a:cubicBezTo>
                  <a:pt x="7488" y="33652"/>
                  <a:pt x="17785" y="7541"/>
                  <a:pt x="16849" y="1875"/>
                </a:cubicBezTo>
                <a:cubicBezTo>
                  <a:pt x="15913" y="-3791"/>
                  <a:pt x="2808" y="5323"/>
                  <a:pt x="0" y="601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26" name="Google Shape;826;p77"/>
          <p:cNvSpPr txBox="1">
            <a:spLocks noGrp="1"/>
          </p:cNvSpPr>
          <p:nvPr>
            <p:ph type="body" idx="3"/>
          </p:nvPr>
        </p:nvSpPr>
        <p:spPr>
          <a:xfrm>
            <a:off x="5188525" y="3325675"/>
            <a:ext cx="3706500" cy="699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java.</a:t>
            </a:r>
            <a:r>
              <a:rPr lang="en">
                <a:solidFill>
                  <a:srgbClr val="FF0000"/>
                </a:solidFill>
                <a:latin typeface="Courier New"/>
                <a:ea typeface="Courier New"/>
                <a:cs typeface="Courier New"/>
                <a:sym typeface="Courier New"/>
              </a:rPr>
              <a:t>io</a:t>
            </a:r>
            <a:r>
              <a:rPr lang="en" sz="1200">
                <a:solidFill>
                  <a:srgbClr val="FF0000"/>
                </a:solidFill>
                <a:latin typeface="Courier New"/>
                <a:ea typeface="Courier New"/>
                <a:cs typeface="Courier New"/>
                <a:sym typeface="Courier New"/>
              </a:rPr>
              <a:t>.</a:t>
            </a:r>
            <a:r>
              <a:rPr lang="en">
                <a:solidFill>
                  <a:srgbClr val="FF0000"/>
                </a:solidFill>
                <a:latin typeface="Courier New"/>
                <a:ea typeface="Courier New"/>
                <a:cs typeface="Courier New"/>
                <a:sym typeface="Courier New"/>
              </a:rPr>
              <a:t>BufferedReader</a:t>
            </a:r>
            <a:r>
              <a:rPr lang="en" sz="1200"/>
              <a:t> can be created with a </a:t>
            </a:r>
            <a:r>
              <a:rPr lang="en" sz="1200">
                <a:latin typeface="Courier New"/>
                <a:ea typeface="Courier New"/>
                <a:cs typeface="Courier New"/>
                <a:sym typeface="Courier New"/>
              </a:rPr>
              <a:t>FileReader</a:t>
            </a:r>
            <a:r>
              <a:rPr lang="en" sz="1200"/>
              <a:t>. Its </a:t>
            </a:r>
            <a:r>
              <a:rPr lang="en">
                <a:solidFill>
                  <a:srgbClr val="FF0000"/>
                </a:solidFill>
                <a:latin typeface="Courier New"/>
                <a:ea typeface="Courier New"/>
                <a:cs typeface="Courier New"/>
                <a:sym typeface="Courier New"/>
              </a:rPr>
              <a:t>lines</a:t>
            </a:r>
            <a:r>
              <a:rPr lang="en" sz="1200">
                <a:solidFill>
                  <a:srgbClr val="FF0000"/>
                </a:solidFill>
                <a:latin typeface="Courier New"/>
                <a:ea typeface="Courier New"/>
                <a:cs typeface="Courier New"/>
                <a:sym typeface="Courier New"/>
              </a:rPr>
              <a:t>()</a:t>
            </a:r>
            <a:r>
              <a:rPr lang="en" sz="1200"/>
              <a:t> method can be used to read </a:t>
            </a:r>
            <a:r>
              <a:rPr lang="en"/>
              <a:t>the file</a:t>
            </a:r>
            <a:r>
              <a:rPr lang="en" b="1" i="1">
                <a:solidFill>
                  <a:srgbClr val="FF0000"/>
                </a:solidFill>
              </a:rPr>
              <a:t> as a stream of lines</a:t>
            </a:r>
            <a:r>
              <a:rPr lang="en" sz="1200"/>
              <a:t>.</a:t>
            </a:r>
            <a:endParaRPr sz="1200"/>
          </a:p>
        </p:txBody>
      </p:sp>
      <p:sp>
        <p:nvSpPr>
          <p:cNvPr id="827" name="Google Shape;827;p77"/>
          <p:cNvSpPr/>
          <p:nvPr/>
        </p:nvSpPr>
        <p:spPr>
          <a:xfrm>
            <a:off x="4947193" y="3000375"/>
            <a:ext cx="536250" cy="1566700"/>
          </a:xfrm>
          <a:custGeom>
            <a:avLst/>
            <a:gdLst/>
            <a:ahLst/>
            <a:cxnLst/>
            <a:rect l="l" t="t" r="r" b="b"/>
            <a:pathLst>
              <a:path w="21450" h="62668" extrusionOk="0">
                <a:moveTo>
                  <a:pt x="13468" y="62668"/>
                </a:moveTo>
                <a:cubicBezTo>
                  <a:pt x="11251" y="54243"/>
                  <a:pt x="-1164" y="22565"/>
                  <a:pt x="166" y="12120"/>
                </a:cubicBezTo>
                <a:cubicBezTo>
                  <a:pt x="1496" y="1675"/>
                  <a:pt x="17903" y="2020"/>
                  <a:pt x="2145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28" name="Google Shape;828;p77"/>
          <p:cNvSpPr txBox="1">
            <a:spLocks noGrp="1"/>
          </p:cNvSpPr>
          <p:nvPr>
            <p:ph type="body" idx="3"/>
          </p:nvPr>
        </p:nvSpPr>
        <p:spPr>
          <a:xfrm>
            <a:off x="5188525" y="4117235"/>
            <a:ext cx="3706500" cy="699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Opened files should always be </a:t>
            </a:r>
            <a:r>
              <a:rPr lang="en" sz="1200" b="1" i="1">
                <a:solidFill>
                  <a:srgbClr val="FF0000"/>
                </a:solidFill>
              </a:rPr>
              <a:t>closed </a:t>
            </a:r>
            <a:r>
              <a:rPr lang="en" sz="1200"/>
              <a:t>when no longer needed to avoid locking the file (and preventing other processes from using it).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2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2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2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2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2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20">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823"/>
                                        </p:tgtEl>
                                        <p:attrNameLst>
                                          <p:attrName>style.visibility</p:attrName>
                                        </p:attrNameLst>
                                      </p:cBhvr>
                                      <p:to>
                                        <p:strVal val="visible"/>
                                      </p:to>
                                    </p:set>
                                    <p:animEffect transition="in" filter="fade">
                                      <p:cBhvr>
                                        <p:cTn id="55" dur="1000"/>
                                        <p:tgtEl>
                                          <p:spTgt spid="823"/>
                                        </p:tgtEl>
                                      </p:cBhvr>
                                    </p:animEffect>
                                  </p:childTnLst>
                                </p:cTn>
                              </p:par>
                              <p:par>
                                <p:cTn id="56" presetID="10" presetClass="entr" presetSubtype="0" fill="hold" nodeType="withEffect">
                                  <p:stCondLst>
                                    <p:cond delay="0"/>
                                  </p:stCondLst>
                                  <p:childTnLst>
                                    <p:set>
                                      <p:cBhvr>
                                        <p:cTn id="57" dur="1" fill="hold">
                                          <p:stCondLst>
                                            <p:cond delay="0"/>
                                          </p:stCondLst>
                                        </p:cTn>
                                        <p:tgtEl>
                                          <p:spTgt spid="821"/>
                                        </p:tgtEl>
                                        <p:attrNameLst>
                                          <p:attrName>style.visibility</p:attrName>
                                        </p:attrNameLst>
                                      </p:cBhvr>
                                      <p:to>
                                        <p:strVal val="visible"/>
                                      </p:to>
                                    </p:set>
                                    <p:animEffect transition="in" filter="fade">
                                      <p:cBhvr>
                                        <p:cTn id="58" dur="1000"/>
                                        <p:tgtEl>
                                          <p:spTgt spid="821"/>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822"/>
                                        </p:tgtEl>
                                        <p:attrNameLst>
                                          <p:attrName>style.visibility</p:attrName>
                                        </p:attrNameLst>
                                      </p:cBhvr>
                                      <p:to>
                                        <p:strVal val="visible"/>
                                      </p:to>
                                    </p:set>
                                    <p:animEffect transition="in" filter="fade">
                                      <p:cBhvr>
                                        <p:cTn id="62" dur="1000"/>
                                        <p:tgtEl>
                                          <p:spTgt spid="8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826"/>
                                        </p:tgtEl>
                                        <p:attrNameLst>
                                          <p:attrName>style.visibility</p:attrName>
                                        </p:attrNameLst>
                                      </p:cBhvr>
                                      <p:to>
                                        <p:strVal val="visible"/>
                                      </p:to>
                                    </p:set>
                                    <p:animEffect transition="in" filter="fade">
                                      <p:cBhvr>
                                        <p:cTn id="67" dur="1000"/>
                                        <p:tgtEl>
                                          <p:spTgt spid="826"/>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824"/>
                                        </p:tgtEl>
                                        <p:attrNameLst>
                                          <p:attrName>style.visibility</p:attrName>
                                        </p:attrNameLst>
                                      </p:cBhvr>
                                      <p:to>
                                        <p:strVal val="visible"/>
                                      </p:to>
                                    </p:set>
                                    <p:animEffect transition="in" filter="fade">
                                      <p:cBhvr>
                                        <p:cTn id="71" dur="1000"/>
                                        <p:tgtEl>
                                          <p:spTgt spid="824"/>
                                        </p:tgtEl>
                                      </p:cBhvr>
                                    </p:animEffect>
                                  </p:childTnLst>
                                </p:cTn>
                              </p:par>
                            </p:childTnLst>
                          </p:cTn>
                        </p:par>
                        <p:par>
                          <p:cTn id="72" fill="hold">
                            <p:stCondLst>
                              <p:cond delay="2000"/>
                            </p:stCondLst>
                            <p:childTnLst>
                              <p:par>
                                <p:cTn id="73" presetID="10" presetClass="entr" presetSubtype="0" fill="hold" nodeType="afterEffect">
                                  <p:stCondLst>
                                    <p:cond delay="0"/>
                                  </p:stCondLst>
                                  <p:childTnLst>
                                    <p:set>
                                      <p:cBhvr>
                                        <p:cTn id="74" dur="1" fill="hold">
                                          <p:stCondLst>
                                            <p:cond delay="0"/>
                                          </p:stCondLst>
                                        </p:cTn>
                                        <p:tgtEl>
                                          <p:spTgt spid="825"/>
                                        </p:tgtEl>
                                        <p:attrNameLst>
                                          <p:attrName>style.visibility</p:attrName>
                                        </p:attrNameLst>
                                      </p:cBhvr>
                                      <p:to>
                                        <p:strVal val="visible"/>
                                      </p:to>
                                    </p:set>
                                    <p:animEffect transition="in" filter="fade">
                                      <p:cBhvr>
                                        <p:cTn id="75" dur="1000"/>
                                        <p:tgtEl>
                                          <p:spTgt spid="825"/>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828"/>
                                        </p:tgtEl>
                                        <p:attrNameLst>
                                          <p:attrName>style.visibility</p:attrName>
                                        </p:attrNameLst>
                                      </p:cBhvr>
                                      <p:to>
                                        <p:strVal val="visible"/>
                                      </p:to>
                                    </p:set>
                                    <p:animEffect transition="in" filter="fade">
                                      <p:cBhvr>
                                        <p:cTn id="80" dur="1000"/>
                                        <p:tgtEl>
                                          <p:spTgt spid="828"/>
                                        </p:tgtEl>
                                      </p:cBhvr>
                                    </p:animEffect>
                                  </p:childTnLst>
                                </p:cTn>
                              </p:par>
                            </p:childTnLst>
                          </p:cTn>
                        </p:par>
                        <p:par>
                          <p:cTn id="81" fill="hold">
                            <p:stCondLst>
                              <p:cond delay="1000"/>
                            </p:stCondLst>
                            <p:childTnLst>
                              <p:par>
                                <p:cTn id="82" presetID="10" presetClass="entr" presetSubtype="0" fill="hold" nodeType="afterEffect">
                                  <p:stCondLst>
                                    <p:cond delay="0"/>
                                  </p:stCondLst>
                                  <p:childTnLst>
                                    <p:set>
                                      <p:cBhvr>
                                        <p:cTn id="83" dur="1" fill="hold">
                                          <p:stCondLst>
                                            <p:cond delay="0"/>
                                          </p:stCondLst>
                                        </p:cTn>
                                        <p:tgtEl>
                                          <p:spTgt spid="827"/>
                                        </p:tgtEl>
                                        <p:attrNameLst>
                                          <p:attrName>style.visibility</p:attrName>
                                        </p:attrNameLst>
                                      </p:cBhvr>
                                      <p:to>
                                        <p:strVal val="visible"/>
                                      </p:to>
                                    </p:set>
                                    <p:animEffect transition="in" filter="fade">
                                      <p:cBhvr>
                                        <p:cTn id="84" dur="1000"/>
                                        <p:tgtEl>
                                          <p:spTgt spid="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7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Unfortunately, reading text files in Java is a little more complicated than it is in Python. There is a more setup </a:t>
            </a:r>
            <a:r>
              <a:rPr lang="en" i="1"/>
              <a:t>but</a:t>
            </a:r>
            <a:r>
              <a:rPr lang="en"/>
              <a:t> you can still iterate through the lines in the file when it's used as a stream. </a:t>
            </a:r>
            <a:endParaRPr/>
          </a:p>
        </p:txBody>
      </p:sp>
      <p:sp>
        <p:nvSpPr>
          <p:cNvPr id="834" name="Google Shape;834;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835" name="Google Shape;835;p78"/>
          <p:cNvSpPr txBox="1">
            <a:spLocks noGrp="1"/>
          </p:cNvSpPr>
          <p:nvPr>
            <p:ph type="body" idx="2"/>
          </p:nvPr>
        </p:nvSpPr>
        <p:spPr>
          <a:xfrm>
            <a:off x="3597625" y="1729125"/>
            <a:ext cx="5351100" cy="3287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your </a:t>
            </a:r>
            <a:r>
              <a:rPr lang="en">
                <a:latin typeface="Courier New"/>
                <a:ea typeface="Courier New"/>
                <a:cs typeface="Courier New"/>
                <a:sym typeface="Courier New"/>
              </a:rPr>
              <a:t>Files</a:t>
            </a:r>
            <a:r>
              <a:rPr lang="en"/>
              <a:t> class and define a method named "</a:t>
            </a:r>
            <a:r>
              <a:rPr lang="en">
                <a:solidFill>
                  <a:srgbClr val="FF0000"/>
                </a:solidFill>
                <a:latin typeface="Courier New"/>
                <a:ea typeface="Courier New"/>
                <a:cs typeface="Courier New"/>
                <a:sym typeface="Courier New"/>
              </a:rPr>
              <a:t>printFile</a:t>
            </a:r>
            <a:r>
              <a:rPr lang="en"/>
              <a:t>" that declares a parameter for a </a:t>
            </a:r>
            <a:r>
              <a:rPr lang="en">
                <a:solidFill>
                  <a:srgbClr val="FF0000"/>
                </a:solidFill>
                <a:latin typeface="Courier New"/>
                <a:ea typeface="Courier New"/>
                <a:cs typeface="Courier New"/>
                <a:sym typeface="Courier New"/>
              </a:rPr>
              <a:t>filename</a:t>
            </a:r>
            <a:r>
              <a:rPr lang="en"/>
              <a:t>.</a:t>
            </a:r>
            <a:endParaRPr/>
          </a:p>
          <a:p>
            <a:pPr marL="914400" lvl="1" indent="-298450" algn="l" rtl="0">
              <a:spcBef>
                <a:spcPts val="0"/>
              </a:spcBef>
              <a:spcAft>
                <a:spcPts val="0"/>
              </a:spcAft>
              <a:buSzPts val="1100"/>
              <a:buChar char="○"/>
            </a:pPr>
            <a:r>
              <a:rPr lang="en"/>
              <a:t>Create a </a:t>
            </a:r>
            <a:r>
              <a:rPr lang="en">
                <a:solidFill>
                  <a:srgbClr val="FF0000"/>
                </a:solidFill>
                <a:latin typeface="Courier New"/>
                <a:ea typeface="Courier New"/>
                <a:cs typeface="Courier New"/>
                <a:sym typeface="Courier New"/>
              </a:rPr>
              <a:t>FileReader</a:t>
            </a:r>
            <a:r>
              <a:rPr lang="en">
                <a:solidFill>
                  <a:srgbClr val="FF0000"/>
                </a:solidFill>
              </a:rPr>
              <a:t> </a:t>
            </a:r>
            <a:r>
              <a:rPr lang="en"/>
              <a:t>using the </a:t>
            </a:r>
            <a:r>
              <a:rPr lang="en">
                <a:latin typeface="Courier New"/>
                <a:ea typeface="Courier New"/>
                <a:cs typeface="Courier New"/>
                <a:sym typeface="Courier New"/>
              </a:rPr>
              <a:t>filename</a:t>
            </a:r>
            <a:r>
              <a:rPr lang="en"/>
              <a:t>.</a:t>
            </a:r>
            <a:endParaRPr/>
          </a:p>
          <a:p>
            <a:pPr marL="914400" lvl="1" indent="-298450" algn="l" rtl="0">
              <a:spcBef>
                <a:spcPts val="0"/>
              </a:spcBef>
              <a:spcAft>
                <a:spcPts val="0"/>
              </a:spcAft>
              <a:buSzPts val="1100"/>
              <a:buChar char="○"/>
            </a:pPr>
            <a:r>
              <a:rPr lang="en"/>
              <a:t>Create a </a:t>
            </a:r>
            <a:r>
              <a:rPr lang="en">
                <a:solidFill>
                  <a:srgbClr val="FF0000"/>
                </a:solidFill>
                <a:latin typeface="Courier New"/>
                <a:ea typeface="Courier New"/>
                <a:cs typeface="Courier New"/>
                <a:sym typeface="Courier New"/>
              </a:rPr>
              <a:t>BufferedReader</a:t>
            </a:r>
            <a:r>
              <a:rPr lang="en">
                <a:solidFill>
                  <a:srgbClr val="FF0000"/>
                </a:solidFill>
              </a:rPr>
              <a:t> </a:t>
            </a:r>
            <a:r>
              <a:rPr lang="en"/>
              <a:t>using the </a:t>
            </a:r>
            <a:r>
              <a:rPr lang="en">
                <a:latin typeface="Courier New"/>
                <a:ea typeface="Courier New"/>
                <a:cs typeface="Courier New"/>
                <a:sym typeface="Courier New"/>
              </a:rPr>
              <a:t>FileReader</a:t>
            </a:r>
            <a:r>
              <a:rPr lang="en"/>
              <a:t>.</a:t>
            </a:r>
            <a:endParaRPr/>
          </a:p>
          <a:p>
            <a:pPr marL="914400" lvl="1" indent="-298450" algn="l" rtl="0">
              <a:spcBef>
                <a:spcPts val="0"/>
              </a:spcBef>
              <a:spcAft>
                <a:spcPts val="0"/>
              </a:spcAft>
              <a:buSzPts val="1100"/>
              <a:buChar char="○"/>
            </a:pPr>
            <a:r>
              <a:rPr lang="en"/>
              <a:t>Use the </a:t>
            </a:r>
            <a:r>
              <a:rPr lang="en">
                <a:latin typeface="Courier New"/>
                <a:ea typeface="Courier New"/>
                <a:cs typeface="Courier New"/>
                <a:sym typeface="Courier New"/>
              </a:rPr>
              <a:t>lines()</a:t>
            </a:r>
            <a:r>
              <a:rPr lang="en"/>
              <a:t> method to get a stream from the </a:t>
            </a:r>
            <a:r>
              <a:rPr lang="en">
                <a:latin typeface="Courier New"/>
                <a:ea typeface="Courier New"/>
                <a:cs typeface="Courier New"/>
                <a:sym typeface="Courier New"/>
              </a:rPr>
              <a:t>BufferedReader</a:t>
            </a:r>
            <a:r>
              <a:rPr lang="en"/>
              <a:t>.</a:t>
            </a:r>
            <a:endParaRPr/>
          </a:p>
          <a:p>
            <a:pPr marL="1371600" lvl="2" indent="-298450" algn="l" rtl="0">
              <a:spcBef>
                <a:spcPts val="0"/>
              </a:spcBef>
              <a:spcAft>
                <a:spcPts val="0"/>
              </a:spcAft>
              <a:buSzPts val="1100"/>
              <a:buChar char="■"/>
            </a:pPr>
            <a:r>
              <a:rPr lang="en"/>
              <a:t>Use </a:t>
            </a:r>
            <a:r>
              <a:rPr lang="en">
                <a:latin typeface="Courier New"/>
                <a:ea typeface="Courier New"/>
                <a:cs typeface="Courier New"/>
                <a:sym typeface="Courier New"/>
              </a:rPr>
              <a:t>foreach</a:t>
            </a:r>
            <a:r>
              <a:rPr lang="en"/>
              <a:t> stream method to print each line in the file.</a:t>
            </a:r>
            <a:endParaRPr/>
          </a:p>
          <a:p>
            <a:pPr marL="1371600" lvl="2" indent="-298450" algn="l" rtl="0">
              <a:spcBef>
                <a:spcPts val="0"/>
              </a:spcBef>
              <a:spcAft>
                <a:spcPts val="0"/>
              </a:spcAft>
              <a:buSzPts val="1100"/>
              <a:buChar char="■"/>
            </a:pPr>
            <a:r>
              <a:rPr lang="en"/>
              <a:t>You can use the </a:t>
            </a:r>
            <a:r>
              <a:rPr lang="en" b="1">
                <a:solidFill>
                  <a:srgbClr val="FF0000"/>
                </a:solidFill>
              </a:rPr>
              <a:t>method reference</a:t>
            </a:r>
            <a:r>
              <a:rPr lang="en"/>
              <a:t> or a </a:t>
            </a:r>
            <a:r>
              <a:rPr lang="en" b="1">
                <a:solidFill>
                  <a:srgbClr val="FF0000"/>
                </a:solidFill>
              </a:rPr>
              <a:t>lambda expression</a:t>
            </a:r>
            <a:r>
              <a:rPr lang="en"/>
              <a:t>.</a:t>
            </a:r>
            <a:endParaRPr/>
          </a:p>
          <a:p>
            <a:pPr marL="1371600" lvl="2" indent="-298450" algn="l" rtl="0">
              <a:spcBef>
                <a:spcPts val="0"/>
              </a:spcBef>
              <a:spcAft>
                <a:spcPts val="0"/>
              </a:spcAft>
              <a:buSzPts val="1100"/>
              <a:buChar char="■"/>
            </a:pPr>
            <a:r>
              <a:rPr lang="en"/>
              <a:t>Don't forget to close the </a:t>
            </a:r>
            <a:r>
              <a:rPr lang="en">
                <a:latin typeface="Courier New"/>
                <a:ea typeface="Courier New"/>
                <a:cs typeface="Courier New"/>
                <a:sym typeface="Courier New"/>
              </a:rPr>
              <a:t>FileReader</a:t>
            </a:r>
            <a:r>
              <a:rPr lang="en"/>
              <a:t> and </a:t>
            </a:r>
            <a:r>
              <a:rPr lang="en">
                <a:latin typeface="Courier New"/>
                <a:ea typeface="Courier New"/>
                <a:cs typeface="Courier New"/>
                <a:sym typeface="Courier New"/>
              </a:rPr>
              <a:t>BufferedReader</a:t>
            </a:r>
            <a:r>
              <a:rPr lang="en"/>
              <a:t> when you are done!</a:t>
            </a:r>
            <a:endParaRPr/>
          </a:p>
          <a:p>
            <a:pPr marL="457200" lvl="0" indent="-311150" algn="l" rtl="0">
              <a:spcBef>
                <a:spcPts val="0"/>
              </a:spcBef>
              <a:spcAft>
                <a:spcPts val="0"/>
              </a:spcAft>
              <a:buSzPts val="1300"/>
              <a:buChar char="●"/>
            </a:pPr>
            <a:r>
              <a:rPr lang="en"/>
              <a:t>Call your method from </a:t>
            </a:r>
            <a:r>
              <a:rPr lang="en">
                <a:latin typeface="Courier New"/>
                <a:ea typeface="Courier New"/>
                <a:cs typeface="Courier New"/>
                <a:sym typeface="Courier New"/>
              </a:rPr>
              <a:t>main</a:t>
            </a:r>
            <a:r>
              <a:rPr lang="en"/>
              <a:t> using one of the provided files in the data directory in your repository.</a:t>
            </a:r>
            <a:endParaRPr/>
          </a:p>
          <a:p>
            <a:pPr marL="914400" lvl="1" indent="-298450" algn="l" rtl="0">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"data/alice.txt"</a:t>
            </a:r>
            <a:endParaRPr>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a:t>What do you notice in VSCode?</a:t>
            </a:r>
            <a:endParaRPr/>
          </a:p>
          <a:p>
            <a:pPr marL="457200" lvl="0" indent="-311150" algn="l" rtl="0">
              <a:spcBef>
                <a:spcPts val="0"/>
              </a:spcBef>
              <a:spcAft>
                <a:spcPts val="0"/>
              </a:spcAft>
              <a:buSzPts val="1300"/>
              <a:buChar char="●"/>
            </a:pPr>
            <a:r>
              <a:rPr lang="en"/>
              <a:t>What happens when you try to run your code?</a:t>
            </a:r>
            <a:endParaRPr/>
          </a:p>
        </p:txBody>
      </p:sp>
      <p:sp>
        <p:nvSpPr>
          <p:cNvPr id="836" name="Google Shape;836;p7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Reading Text Files</a:t>
            </a:r>
            <a:endParaRPr/>
          </a:p>
        </p:txBody>
      </p:sp>
      <p:sp>
        <p:nvSpPr>
          <p:cNvPr id="837" name="Google Shape;837;p7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4.16</a:t>
            </a:r>
            <a:endParaRPr/>
          </a:p>
        </p:txBody>
      </p:sp>
      <p:sp>
        <p:nvSpPr>
          <p:cNvPr id="838" name="Google Shape;838;p78"/>
          <p:cNvSpPr txBox="1">
            <a:spLocks noGrp="1"/>
          </p:cNvSpPr>
          <p:nvPr>
            <p:ph type="body" idx="4"/>
          </p:nvPr>
        </p:nvSpPr>
        <p:spPr>
          <a:xfrm>
            <a:off x="135650" y="3365925"/>
            <a:ext cx="3462000" cy="1732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00">
                <a:solidFill>
                  <a:srgbClr val="267F99"/>
                </a:solidFill>
                <a:latin typeface="Consolas"/>
                <a:ea typeface="Consolas"/>
                <a:cs typeface="Consolas"/>
                <a:sym typeface="Consolas"/>
              </a:rPr>
              <a:t>FileReader</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fileReader </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latin typeface="Consolas"/>
                <a:ea typeface="Consolas"/>
                <a:cs typeface="Consolas"/>
                <a:sym typeface="Consolas"/>
              </a:rPr>
              <a:t>   </a:t>
            </a:r>
            <a:r>
              <a:rPr lang="en" sz="1100">
                <a:solidFill>
                  <a:srgbClr val="AF00DB"/>
                </a:solidFill>
                <a:latin typeface="Consolas"/>
                <a:ea typeface="Consolas"/>
                <a:cs typeface="Consolas"/>
                <a:sym typeface="Consolas"/>
              </a:rPr>
              <a:t>new</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FileReader</a:t>
            </a:r>
            <a:r>
              <a:rPr lang="en" sz="1100">
                <a:latin typeface="Consolas"/>
                <a:ea typeface="Consolas"/>
                <a:cs typeface="Consolas"/>
                <a:sym typeface="Consolas"/>
              </a:rPr>
              <a:t>(</a:t>
            </a:r>
            <a:r>
              <a:rPr lang="en" sz="1100">
                <a:solidFill>
                  <a:srgbClr val="A31515"/>
                </a:solidFill>
                <a:latin typeface="Consolas"/>
                <a:ea typeface="Consolas"/>
                <a:cs typeface="Consolas"/>
                <a:sym typeface="Consolas"/>
              </a:rPr>
              <a:t>"a_file.txt"</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267F99"/>
                </a:solidFill>
                <a:latin typeface="Consolas"/>
                <a:ea typeface="Consolas"/>
                <a:cs typeface="Consolas"/>
                <a:sym typeface="Consolas"/>
              </a:rPr>
              <a:t>BufferedReader</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buffReader</a:t>
            </a:r>
            <a:r>
              <a:rPr lang="en" sz="1100">
                <a:latin typeface="Consolas"/>
                <a:ea typeface="Consolas"/>
                <a:cs typeface="Consolas"/>
                <a:sym typeface="Consolas"/>
              </a:rPr>
              <a:t> =</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latin typeface="Consolas"/>
                <a:ea typeface="Consolas"/>
                <a:cs typeface="Consolas"/>
                <a:sym typeface="Consolas"/>
              </a:rPr>
              <a:t>   </a:t>
            </a:r>
            <a:r>
              <a:rPr lang="en" sz="1100">
                <a:solidFill>
                  <a:srgbClr val="AF00DB"/>
                </a:solidFill>
                <a:latin typeface="Consolas"/>
                <a:ea typeface="Consolas"/>
                <a:cs typeface="Consolas"/>
                <a:sym typeface="Consolas"/>
              </a:rPr>
              <a:t>new</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BufferedReader</a:t>
            </a:r>
            <a:r>
              <a:rPr lang="en" sz="1100">
                <a:latin typeface="Consolas"/>
                <a:ea typeface="Consolas"/>
                <a:cs typeface="Consolas"/>
                <a:sym typeface="Consolas"/>
              </a:rPr>
              <a:t>(fileReader);</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latin typeface="Consolas"/>
                <a:ea typeface="Consolas"/>
                <a:cs typeface="Consolas"/>
                <a:sym typeface="Consolas"/>
              </a:rPr>
              <a:t>Stream&lt;</a:t>
            </a:r>
            <a:r>
              <a:rPr lang="en" sz="1100">
                <a:solidFill>
                  <a:srgbClr val="267F99"/>
                </a:solidFill>
                <a:latin typeface="Consolas"/>
                <a:ea typeface="Consolas"/>
                <a:cs typeface="Consolas"/>
                <a:sym typeface="Consolas"/>
              </a:rPr>
              <a:t>String&gt;</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lines</a:t>
            </a:r>
            <a:r>
              <a:rPr lang="en" sz="1100">
                <a:latin typeface="Consolas"/>
                <a:ea typeface="Consolas"/>
                <a:cs typeface="Consolas"/>
                <a:sym typeface="Consolas"/>
              </a:rPr>
              <a:t> = </a:t>
            </a:r>
            <a:r>
              <a:rPr lang="en" sz="1100">
                <a:solidFill>
                  <a:srgbClr val="001080"/>
                </a:solidFill>
                <a:latin typeface="Consolas"/>
                <a:ea typeface="Consolas"/>
                <a:cs typeface="Consolas"/>
                <a:sym typeface="Consolas"/>
              </a:rPr>
              <a:t>buffReader</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lines</a:t>
            </a:r>
            <a:r>
              <a:rPr lang="en" sz="1100">
                <a:latin typeface="Consolas"/>
                <a:ea typeface="Consolas"/>
                <a:cs typeface="Consolas"/>
                <a:sym typeface="Consolas"/>
              </a:rPr>
              <a:t>();</a:t>
            </a:r>
            <a:endParaRPr sz="1100">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1080"/>
                </a:solidFill>
                <a:latin typeface="Consolas"/>
                <a:ea typeface="Consolas"/>
                <a:cs typeface="Consolas"/>
                <a:sym typeface="Consolas"/>
              </a:rPr>
              <a:t>lines</a:t>
            </a:r>
            <a:r>
              <a:rPr lang="en" sz="1100">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forEach</a:t>
            </a:r>
            <a:r>
              <a:rPr lang="en" sz="1100">
                <a:highlight>
                  <a:srgbClr val="FFFFFF"/>
                </a:highlight>
                <a:latin typeface="Consolas"/>
                <a:ea typeface="Consolas"/>
                <a:cs typeface="Consolas"/>
                <a:sym typeface="Consolas"/>
              </a:rPr>
              <a:t>(</a:t>
            </a:r>
            <a:r>
              <a:rPr lang="en" sz="1100">
                <a:solidFill>
                  <a:srgbClr val="267F99"/>
                </a:solidFill>
                <a:highlight>
                  <a:srgbClr val="FFFFFF"/>
                </a:highlight>
                <a:latin typeface="Consolas"/>
                <a:ea typeface="Consolas"/>
                <a:cs typeface="Consolas"/>
                <a:sym typeface="Consolas"/>
              </a:rPr>
              <a:t>System</a:t>
            </a:r>
            <a:r>
              <a:rPr lang="en" sz="1100">
                <a:highlight>
                  <a:srgbClr val="FFFFFF"/>
                </a:highlight>
                <a:latin typeface="Consolas"/>
                <a:ea typeface="Consolas"/>
                <a:cs typeface="Consolas"/>
                <a:sym typeface="Consolas"/>
              </a:rPr>
              <a:t>.</a:t>
            </a:r>
            <a:r>
              <a:rPr lang="en" sz="1100">
                <a:solidFill>
                  <a:srgbClr val="0070C1"/>
                </a:solidFill>
                <a:highlight>
                  <a:srgbClr val="FFFFFF"/>
                </a:highlight>
                <a:latin typeface="Consolas"/>
                <a:ea typeface="Consolas"/>
                <a:cs typeface="Consolas"/>
                <a:sym typeface="Consolas"/>
              </a:rPr>
              <a:t>out</a:t>
            </a:r>
            <a:r>
              <a:rPr lang="en" sz="1100">
                <a:solidFill>
                  <a:srgbClr val="AF00D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println</a:t>
            </a:r>
            <a:r>
              <a:rPr lang="en" sz="1100">
                <a:highlight>
                  <a:srgbClr val="FFFFFF"/>
                </a:highlight>
                <a:latin typeface="Consolas"/>
                <a:ea typeface="Consolas"/>
                <a:cs typeface="Consolas"/>
                <a:sym typeface="Consolas"/>
              </a:rPr>
              <a:t>)</a:t>
            </a:r>
            <a:endParaRPr sz="1100">
              <a:solidFill>
                <a:srgbClr val="00108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1080"/>
                </a:solidFill>
                <a:latin typeface="Consolas"/>
                <a:ea typeface="Consolas"/>
                <a:cs typeface="Consolas"/>
                <a:sym typeface="Consolas"/>
              </a:rPr>
              <a:t>buffReader</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close</a:t>
            </a:r>
            <a:r>
              <a:rPr lang="en" sz="1100">
                <a:latin typeface="Consolas"/>
                <a:ea typeface="Consolas"/>
                <a:cs typeface="Consolas"/>
                <a:sym typeface="Consolas"/>
              </a:rPr>
              <a:t>();</a:t>
            </a:r>
            <a:endParaRPr sz="1150">
              <a:solidFill>
                <a:srgbClr val="267F99"/>
              </a:solidFill>
              <a:latin typeface="Consolas"/>
              <a:ea typeface="Consolas"/>
              <a:cs typeface="Consolas"/>
              <a:sym typeface="Consolas"/>
            </a:endParaRPr>
          </a:p>
        </p:txBody>
      </p:sp>
      <p:pic>
        <p:nvPicPr>
          <p:cNvPr id="839" name="Google Shape;839;p78"/>
          <p:cNvPicPr preferRelativeResize="0"/>
          <p:nvPr/>
        </p:nvPicPr>
        <p:blipFill rotWithShape="1">
          <a:blip r:embed="rId3">
            <a:alphaModFix/>
          </a:blip>
          <a:srcRect b="24727"/>
          <a:stretch/>
        </p:blipFill>
        <p:spPr>
          <a:xfrm>
            <a:off x="166225" y="1560329"/>
            <a:ext cx="3431400" cy="1719471"/>
          </a:xfrm>
          <a:prstGeom prst="rect">
            <a:avLst/>
          </a:prstGeom>
          <a:noFill/>
          <a:ln w="19050" cap="flat" cmpd="sng">
            <a:solidFill>
              <a:schemeClr val="dk2"/>
            </a:solidFill>
            <a:prstDash val="solid"/>
            <a:round/>
            <a:headEnd type="none" w="sm" len="sm"/>
            <a:tailEnd type="none" w="sm" len="sm"/>
          </a:ln>
        </p:spPr>
      </p:pic>
      <p:pic>
        <p:nvPicPr>
          <p:cNvPr id="840" name="Google Shape;840;p78"/>
          <p:cNvPicPr preferRelativeResize="0"/>
          <p:nvPr/>
        </p:nvPicPr>
        <p:blipFill>
          <a:blip r:embed="rId4">
            <a:alphaModFix/>
          </a:blip>
          <a:stretch>
            <a:fillRect/>
          </a:stretch>
        </p:blipFill>
        <p:spPr>
          <a:xfrm>
            <a:off x="7135025" y="87075"/>
            <a:ext cx="1886124" cy="4833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79"/>
          <p:cNvSpPr txBox="1">
            <a:spLocks noGrp="1"/>
          </p:cNvSpPr>
          <p:nvPr>
            <p:ph type="title"/>
          </p:nvPr>
        </p:nvSpPr>
        <p:spPr>
          <a:xfrm>
            <a:off x="333895" y="1961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Checked Exceptions</a:t>
            </a:r>
            <a:endParaRPr/>
          </a:p>
        </p:txBody>
      </p:sp>
      <p:sp>
        <p:nvSpPr>
          <p:cNvPr id="846" name="Google Shape;846;p79"/>
          <p:cNvSpPr txBox="1">
            <a:spLocks noGrp="1"/>
          </p:cNvSpPr>
          <p:nvPr>
            <p:ph type="body" idx="1"/>
          </p:nvPr>
        </p:nvSpPr>
        <p:spPr>
          <a:xfrm>
            <a:off x="4416075" y="43725"/>
            <a:ext cx="4629900" cy="50448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a:t>Up until this point, we have had to deal with </a:t>
            </a:r>
            <a:r>
              <a:rPr lang="en" b="1" i="1">
                <a:solidFill>
                  <a:srgbClr val="FF0000"/>
                </a:solidFill>
              </a:rPr>
              <a:t>unchecked exceptions</a:t>
            </a:r>
            <a:r>
              <a:rPr lang="en"/>
              <a:t> like </a:t>
            </a:r>
            <a:r>
              <a:rPr lang="en">
                <a:latin typeface="Courier New"/>
                <a:ea typeface="Courier New"/>
                <a:cs typeface="Courier New"/>
                <a:sym typeface="Courier New"/>
              </a:rPr>
              <a:t>InputMismatchException</a:t>
            </a:r>
            <a:r>
              <a:rPr lang="en"/>
              <a:t>.</a:t>
            </a:r>
            <a:endParaRPr/>
          </a:p>
          <a:p>
            <a:pPr marL="914400" lvl="1" indent="-298450" algn="l" rtl="0">
              <a:spcBef>
                <a:spcPts val="0"/>
              </a:spcBef>
              <a:spcAft>
                <a:spcPts val="0"/>
              </a:spcAft>
              <a:buSzPts val="1100"/>
              <a:buChar char="○"/>
            </a:pPr>
            <a:r>
              <a:rPr lang="en"/>
              <a:t>You are </a:t>
            </a:r>
            <a:r>
              <a:rPr lang="en" b="1" i="1">
                <a:solidFill>
                  <a:srgbClr val="FF0000"/>
                </a:solidFill>
              </a:rPr>
              <a:t>not </a:t>
            </a:r>
            <a:r>
              <a:rPr lang="en"/>
              <a:t>explicitly required to handle an unchecked exception in any way.</a:t>
            </a:r>
            <a:endParaRPr/>
          </a:p>
          <a:p>
            <a:pPr marL="914400" lvl="1" indent="-298450" algn="l" rtl="0">
              <a:spcBef>
                <a:spcPts val="0"/>
              </a:spcBef>
              <a:spcAft>
                <a:spcPts val="0"/>
              </a:spcAft>
              <a:buSzPts val="1100"/>
              <a:buChar char="○"/>
            </a:pPr>
            <a:r>
              <a:rPr lang="en"/>
              <a:t>Of course, in the event that an unchecked exception is thrown, it will crash your program if it is not handled.</a:t>
            </a:r>
            <a:endParaRPr/>
          </a:p>
          <a:p>
            <a:pPr marL="457200" lvl="0" indent="-311150" algn="l" rtl="0">
              <a:spcBef>
                <a:spcPts val="0"/>
              </a:spcBef>
              <a:spcAft>
                <a:spcPts val="0"/>
              </a:spcAft>
              <a:buSzPts val="1300"/>
              <a:buChar char="●"/>
            </a:pPr>
            <a:r>
              <a:rPr lang="en"/>
              <a:t>Java also includes </a:t>
            </a:r>
            <a:r>
              <a:rPr lang="en" b="1" i="1">
                <a:solidFill>
                  <a:srgbClr val="FF0000"/>
                </a:solidFill>
              </a:rPr>
              <a:t>checked exceptions</a:t>
            </a:r>
            <a:r>
              <a:rPr lang="en"/>
              <a:t>.</a:t>
            </a:r>
            <a:endParaRPr/>
          </a:p>
          <a:p>
            <a:pPr marL="914400" lvl="1" indent="-298450" algn="l" rtl="0">
              <a:spcBef>
                <a:spcPts val="0"/>
              </a:spcBef>
              <a:spcAft>
                <a:spcPts val="0"/>
              </a:spcAft>
              <a:buSzPts val="1100"/>
              <a:buChar char="○"/>
            </a:pPr>
            <a:r>
              <a:rPr lang="en"/>
              <a:t>If a program calls a method that throws a checked exception, the programmer </a:t>
            </a:r>
            <a:r>
              <a:rPr lang="en" b="1" i="1">
                <a:solidFill>
                  <a:srgbClr val="FF0000"/>
                </a:solidFill>
              </a:rPr>
              <a:t>must</a:t>
            </a:r>
            <a:r>
              <a:rPr lang="en">
                <a:solidFill>
                  <a:srgbClr val="FF0000"/>
                </a:solidFill>
              </a:rPr>
              <a:t> </a:t>
            </a:r>
            <a:r>
              <a:rPr lang="en"/>
              <a:t>handle the exception in some way.</a:t>
            </a:r>
            <a:endParaRPr/>
          </a:p>
          <a:p>
            <a:pPr marL="914400" lvl="1" indent="-298450" algn="l" rtl="0">
              <a:spcBef>
                <a:spcPts val="0"/>
              </a:spcBef>
              <a:spcAft>
                <a:spcPts val="0"/>
              </a:spcAft>
              <a:buSzPts val="1100"/>
              <a:buChar char="○"/>
            </a:pPr>
            <a:r>
              <a:rPr lang="en"/>
              <a:t>Failure to handle a checked exception will cause a </a:t>
            </a:r>
            <a:r>
              <a:rPr lang="en" b="1" i="1">
                <a:solidFill>
                  <a:srgbClr val="FF0000"/>
                </a:solidFill>
              </a:rPr>
              <a:t>compiler error</a:t>
            </a:r>
            <a:r>
              <a:rPr lang="en"/>
              <a:t>.</a:t>
            </a:r>
            <a:endParaRPr/>
          </a:p>
          <a:p>
            <a:pPr marL="914400" lvl="1" indent="-298450" algn="l" rtl="0">
              <a:spcBef>
                <a:spcPts val="0"/>
              </a:spcBef>
              <a:spcAft>
                <a:spcPts val="0"/>
              </a:spcAft>
              <a:buSzPts val="1100"/>
              <a:buChar char="○"/>
            </a:pPr>
            <a:r>
              <a:rPr lang="en"/>
              <a:t>In a way, this can be very good - checked exceptions do not "sneak through" and crash your program like unchecked exceptions can sometimes do.</a:t>
            </a:r>
            <a:endParaRPr/>
          </a:p>
          <a:p>
            <a:pPr marL="457200" lvl="0" indent="-311150" algn="l" rtl="0">
              <a:spcBef>
                <a:spcPts val="0"/>
              </a:spcBef>
              <a:spcAft>
                <a:spcPts val="0"/>
              </a:spcAft>
              <a:buSzPts val="1300"/>
              <a:buChar char="●"/>
            </a:pPr>
            <a:r>
              <a:rPr lang="en"/>
              <a:t>A checked exception can be handled in two ways.</a:t>
            </a:r>
            <a:endParaRPr/>
          </a:p>
          <a:p>
            <a:pPr marL="914400" lvl="1" indent="-298450" algn="l" rtl="0">
              <a:spcBef>
                <a:spcPts val="0"/>
              </a:spcBef>
              <a:spcAft>
                <a:spcPts val="0"/>
              </a:spcAft>
              <a:buSzPts val="1100"/>
              <a:buChar char="○"/>
            </a:pPr>
            <a:r>
              <a:rPr lang="en"/>
              <a:t>Using a </a:t>
            </a:r>
            <a:r>
              <a:rPr lang="en">
                <a:latin typeface="Courier New"/>
                <a:ea typeface="Courier New"/>
                <a:cs typeface="Courier New"/>
                <a:sym typeface="Courier New"/>
              </a:rPr>
              <a:t>try</a:t>
            </a:r>
            <a:r>
              <a:rPr lang="en"/>
              <a:t>/</a:t>
            </a:r>
            <a:r>
              <a:rPr lang="en">
                <a:latin typeface="Courier New"/>
                <a:ea typeface="Courier New"/>
                <a:cs typeface="Courier New"/>
                <a:sym typeface="Courier New"/>
              </a:rPr>
              <a:t>catch</a:t>
            </a:r>
            <a:r>
              <a:rPr lang="en"/>
              <a:t> in the same way as we did previously with unchecked exceptions.</a:t>
            </a:r>
            <a:endParaRPr/>
          </a:p>
          <a:p>
            <a:pPr marL="914400" lvl="1" indent="-298450" algn="l" rtl="0">
              <a:spcBef>
                <a:spcPts val="0"/>
              </a:spcBef>
              <a:spcAft>
                <a:spcPts val="0"/>
              </a:spcAft>
              <a:buSzPts val="1100"/>
              <a:buChar char="○"/>
            </a:pPr>
            <a:r>
              <a:rPr lang="en" b="1" i="1">
                <a:solidFill>
                  <a:srgbClr val="FF0000"/>
                </a:solidFill>
              </a:rPr>
              <a:t>Rethrowing</a:t>
            </a:r>
            <a:r>
              <a:rPr lang="en">
                <a:solidFill>
                  <a:srgbClr val="FF0000"/>
                </a:solidFill>
              </a:rPr>
              <a:t> </a:t>
            </a:r>
            <a:r>
              <a:rPr lang="en"/>
              <a:t>the exception by adding a </a:t>
            </a:r>
            <a:r>
              <a:rPr lang="en">
                <a:solidFill>
                  <a:srgbClr val="FF0000"/>
                </a:solidFill>
                <a:latin typeface="Courier New"/>
                <a:ea typeface="Courier New"/>
                <a:cs typeface="Courier New"/>
                <a:sym typeface="Courier New"/>
              </a:rPr>
              <a:t>throws</a:t>
            </a:r>
            <a:r>
              <a:rPr lang="en">
                <a:solidFill>
                  <a:srgbClr val="FF0000"/>
                </a:solidFill>
              </a:rPr>
              <a:t> </a:t>
            </a:r>
            <a:r>
              <a:rPr lang="en" b="1" i="1">
                <a:solidFill>
                  <a:srgbClr val="FF0000"/>
                </a:solidFill>
              </a:rPr>
              <a:t>declaration</a:t>
            </a:r>
            <a:r>
              <a:rPr lang="en"/>
              <a:t> to the method, e.g.</a:t>
            </a:r>
            <a:endParaRPr/>
          </a:p>
          <a:p>
            <a:pPr marL="1371600" lvl="2"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void method() throws IOException</a:t>
            </a:r>
            <a:endParaRPr>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a:t>Nearly every method used to read data from files can throw a </a:t>
            </a:r>
            <a:r>
              <a:rPr lang="en" u="sng">
                <a:solidFill>
                  <a:srgbClr val="FF0000"/>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java.io.IOException</a:t>
            </a:r>
            <a:r>
              <a:rPr lang="en"/>
              <a:t>.</a:t>
            </a:r>
            <a:endParaRPr/>
          </a:p>
          <a:p>
            <a:pPr marL="914400" lvl="1" indent="-298450" algn="l" rtl="0">
              <a:spcBef>
                <a:spcPts val="0"/>
              </a:spcBef>
              <a:spcAft>
                <a:spcPts val="0"/>
              </a:spcAft>
              <a:buSzPts val="1100"/>
              <a:buChar char="○"/>
            </a:pPr>
            <a:r>
              <a:rPr lang="en">
                <a:latin typeface="Courier New"/>
                <a:ea typeface="Courier New"/>
                <a:cs typeface="Courier New"/>
                <a:sym typeface="Courier New"/>
              </a:rPr>
              <a:t>IOException</a:t>
            </a:r>
            <a:r>
              <a:rPr lang="en"/>
              <a:t> is </a:t>
            </a:r>
            <a:r>
              <a:rPr lang="en" b="1" i="1">
                <a:solidFill>
                  <a:srgbClr val="FF0000"/>
                </a:solidFill>
              </a:rPr>
              <a:t>checked</a:t>
            </a:r>
            <a:r>
              <a:rPr lang="en"/>
              <a:t>, and so </a:t>
            </a:r>
            <a:r>
              <a:rPr lang="en" b="1" i="1">
                <a:solidFill>
                  <a:srgbClr val="FF0000"/>
                </a:solidFill>
              </a:rPr>
              <a:t>must </a:t>
            </a:r>
            <a:r>
              <a:rPr lang="en"/>
              <a:t>be handled.</a:t>
            </a:r>
            <a:endParaRPr/>
          </a:p>
        </p:txBody>
      </p:sp>
      <p:sp>
        <p:nvSpPr>
          <p:cNvPr id="847" name="Google Shape;847;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848" name="Google Shape;848;p79"/>
          <p:cNvSpPr txBox="1">
            <a:spLocks noGrp="1"/>
          </p:cNvSpPr>
          <p:nvPr>
            <p:ph type="body" idx="2"/>
          </p:nvPr>
        </p:nvSpPr>
        <p:spPr>
          <a:xfrm>
            <a:off x="336194" y="2165280"/>
            <a:ext cx="3706500" cy="1854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solidFill>
                  <a:srgbClr val="000000"/>
                </a:solidFill>
                <a:latin typeface="Consolas"/>
                <a:ea typeface="Consolas"/>
                <a:cs typeface="Consolas"/>
                <a:sym typeface="Consolas"/>
              </a:rPr>
              <a:t>(String[] args)</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throws IOException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FileReader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reader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FileReader</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"a_file.txt"</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3</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BufferedReader</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bReader</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4</a:t>
            </a:r>
            <a:r>
              <a:rPr lang="en" sz="1100">
                <a:solidFill>
                  <a:srgbClr val="000000"/>
                </a:solidFill>
                <a:latin typeface="Consolas"/>
                <a:ea typeface="Consolas"/>
                <a:cs typeface="Consolas"/>
                <a:sym typeface="Consolas"/>
              </a:rPr>
              <a:t>       </a:t>
            </a:r>
            <a:r>
              <a:rPr lang="en" sz="1100">
                <a:solidFill>
                  <a:srgbClr val="AF00DB"/>
                </a:solidFill>
                <a:latin typeface="Consolas"/>
                <a:ea typeface="Consolas"/>
                <a:cs typeface="Consolas"/>
                <a:sym typeface="Consolas"/>
              </a:rPr>
              <a:t>new</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Buffered</a:t>
            </a:r>
            <a:r>
              <a:rPr lang="en" sz="1100">
                <a:solidFill>
                  <a:srgbClr val="000000"/>
                </a:solidFill>
                <a:latin typeface="Consolas"/>
                <a:ea typeface="Consolas"/>
                <a:cs typeface="Consolas"/>
                <a:sym typeface="Consolas"/>
              </a:rPr>
              <a:t>(fileReader);</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5</a:t>
            </a:r>
            <a:r>
              <a:rPr lang="en" sz="1100">
                <a:solidFill>
                  <a:srgbClr val="000000"/>
                </a:solidFill>
                <a:latin typeface="Consolas"/>
                <a:ea typeface="Consolas"/>
                <a:cs typeface="Consolas"/>
                <a:sym typeface="Consolas"/>
              </a:rPr>
              <a:t>    Stream&lt;</a:t>
            </a:r>
            <a:r>
              <a:rPr lang="en" sz="1100">
                <a:solidFill>
                  <a:srgbClr val="267F99"/>
                </a:solidFill>
                <a:latin typeface="Consolas"/>
                <a:ea typeface="Consolas"/>
                <a:cs typeface="Consolas"/>
                <a:sym typeface="Consolas"/>
              </a:rPr>
              <a:t>String&gt;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lines</a:t>
            </a:r>
            <a:r>
              <a:rPr lang="en" sz="1100">
                <a:solidFill>
                  <a:srgbClr val="000000"/>
                </a:solidFill>
                <a:latin typeface="Consolas"/>
                <a:ea typeface="Consolas"/>
                <a:cs typeface="Consolas"/>
                <a:sym typeface="Consolas"/>
              </a:rPr>
              <a:t> = </a:t>
            </a:r>
            <a:r>
              <a:rPr lang="en" sz="1100">
                <a:solidFill>
                  <a:srgbClr val="001080"/>
                </a:solidFill>
                <a:latin typeface="Consolas"/>
                <a:ea typeface="Consolas"/>
                <a:cs typeface="Consolas"/>
                <a:sym typeface="Consolas"/>
              </a:rPr>
              <a:t>bReader</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lines</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98658"/>
                </a:solidFill>
                <a:latin typeface="Consolas"/>
                <a:ea typeface="Consolas"/>
                <a:cs typeface="Consolas"/>
                <a:sym typeface="Consolas"/>
              </a:rPr>
              <a:t>6</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lines</a:t>
            </a:r>
            <a:r>
              <a:rPr lang="en" sz="1100">
                <a:solidFill>
                  <a:srgbClr val="000000"/>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forEach</a:t>
            </a:r>
            <a:r>
              <a:rPr lang="en" sz="1100">
                <a:solidFill>
                  <a:srgbClr val="000000"/>
                </a:solidFill>
                <a:highlight>
                  <a:srgbClr val="FFFFFF"/>
                </a:highlight>
                <a:latin typeface="Consolas"/>
                <a:ea typeface="Consolas"/>
                <a:cs typeface="Consolas"/>
                <a:sym typeface="Consolas"/>
              </a:rPr>
              <a:t>(</a:t>
            </a:r>
            <a:r>
              <a:rPr lang="en" sz="1100">
                <a:solidFill>
                  <a:srgbClr val="267F99"/>
                </a:solidFill>
                <a:highlight>
                  <a:srgbClr val="FFFFFF"/>
                </a:highlight>
                <a:latin typeface="Consolas"/>
                <a:ea typeface="Consolas"/>
                <a:cs typeface="Consolas"/>
                <a:sym typeface="Consolas"/>
              </a:rPr>
              <a:t>System</a:t>
            </a:r>
            <a:r>
              <a:rPr lang="en" sz="1100">
                <a:solidFill>
                  <a:srgbClr val="000000"/>
                </a:solidFill>
                <a:highlight>
                  <a:srgbClr val="FFFFFF"/>
                </a:highlight>
                <a:latin typeface="Consolas"/>
                <a:ea typeface="Consolas"/>
                <a:cs typeface="Consolas"/>
                <a:sym typeface="Consolas"/>
              </a:rPr>
              <a:t>.</a:t>
            </a:r>
            <a:r>
              <a:rPr lang="en" sz="1100">
                <a:solidFill>
                  <a:srgbClr val="0070C1"/>
                </a:solidFill>
                <a:highlight>
                  <a:srgbClr val="FFFFFF"/>
                </a:highlight>
                <a:latin typeface="Consolas"/>
                <a:ea typeface="Consolas"/>
                <a:cs typeface="Consolas"/>
                <a:sym typeface="Consolas"/>
              </a:rPr>
              <a:t>out</a:t>
            </a:r>
            <a:r>
              <a:rPr lang="en" sz="1100">
                <a:solidFill>
                  <a:srgbClr val="AF00D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println</a:t>
            </a:r>
            <a:r>
              <a:rPr lang="en" sz="1100">
                <a:solidFill>
                  <a:srgbClr val="000000"/>
                </a:solidFill>
                <a:highlight>
                  <a:srgbClr val="FFFFFF"/>
                </a:highlight>
                <a:latin typeface="Consolas"/>
                <a:ea typeface="Consolas"/>
                <a:cs typeface="Consolas"/>
                <a:sym typeface="Consolas"/>
              </a:rPr>
              <a:t>)</a:t>
            </a:r>
            <a:endParaRPr sz="1100">
              <a:solidFill>
                <a:srgbClr val="00108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chemeClr val="accent5"/>
                </a:solidFill>
                <a:latin typeface="Consolas"/>
                <a:ea typeface="Consolas"/>
                <a:cs typeface="Consolas"/>
                <a:sym typeface="Consolas"/>
              </a:rPr>
              <a:t>7</a:t>
            </a:r>
            <a:r>
              <a:rPr lang="en" sz="1100">
                <a:solidFill>
                  <a:srgbClr val="001080"/>
                </a:solidFill>
                <a:latin typeface="Consolas"/>
                <a:ea typeface="Consolas"/>
                <a:cs typeface="Consolas"/>
                <a:sym typeface="Consolas"/>
              </a:rPr>
              <a:t>    bReader</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close</a:t>
            </a:r>
            <a:r>
              <a:rPr lang="en" sz="1100">
                <a:solidFill>
                  <a:srgbClr val="000000"/>
                </a:solidFill>
                <a:latin typeface="Consolas"/>
                <a:ea typeface="Consolas"/>
                <a:cs typeface="Consolas"/>
                <a:sym typeface="Consolas"/>
              </a:rPr>
              <a:t>();</a:t>
            </a:r>
            <a:endParaRPr sz="1150">
              <a:solidFill>
                <a:srgbClr val="098658"/>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 }</a:t>
            </a:r>
            <a:endParaRPr sz="1050">
              <a:solidFill>
                <a:srgbClr val="999999"/>
              </a:solidFill>
              <a:latin typeface="Consolas"/>
              <a:ea typeface="Consolas"/>
              <a:cs typeface="Consolas"/>
              <a:sym typeface="Consolas"/>
            </a:endParaRPr>
          </a:p>
        </p:txBody>
      </p:sp>
      <p:sp>
        <p:nvSpPr>
          <p:cNvPr id="849" name="Google Shape;849;p79"/>
          <p:cNvSpPr txBox="1">
            <a:spLocks noGrp="1"/>
          </p:cNvSpPr>
          <p:nvPr>
            <p:ph type="body" idx="3"/>
          </p:nvPr>
        </p:nvSpPr>
        <p:spPr>
          <a:xfrm>
            <a:off x="336194" y="797063"/>
            <a:ext cx="3706500" cy="638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Because </a:t>
            </a:r>
            <a:r>
              <a:rPr lang="en" sz="1200">
                <a:latin typeface="Courier New"/>
                <a:ea typeface="Courier New"/>
                <a:cs typeface="Courier New"/>
                <a:sym typeface="Courier New"/>
              </a:rPr>
              <a:t>IOException</a:t>
            </a:r>
            <a:r>
              <a:rPr lang="en" sz="1200"/>
              <a:t> is a </a:t>
            </a:r>
            <a:r>
              <a:rPr lang="en" sz="1200" b="1" i="1">
                <a:solidFill>
                  <a:srgbClr val="FF0000"/>
                </a:solidFill>
              </a:rPr>
              <a:t>checked exception</a:t>
            </a:r>
            <a:r>
              <a:rPr lang="en" sz="1200"/>
              <a:t>, it must be explicitly handled using a </a:t>
            </a:r>
            <a:r>
              <a:rPr lang="en" sz="1200">
                <a:solidFill>
                  <a:srgbClr val="FF0000"/>
                </a:solidFill>
                <a:latin typeface="Courier New"/>
                <a:ea typeface="Courier New"/>
                <a:cs typeface="Courier New"/>
                <a:sym typeface="Courier New"/>
              </a:rPr>
              <a:t>try</a:t>
            </a:r>
            <a:r>
              <a:rPr lang="en" sz="1200">
                <a:solidFill>
                  <a:srgbClr val="FF0000"/>
                </a:solidFill>
              </a:rPr>
              <a:t>/</a:t>
            </a:r>
            <a:r>
              <a:rPr lang="en" sz="1200">
                <a:solidFill>
                  <a:srgbClr val="FF0000"/>
                </a:solidFill>
                <a:latin typeface="Courier New"/>
                <a:ea typeface="Courier New"/>
                <a:cs typeface="Courier New"/>
                <a:sym typeface="Courier New"/>
              </a:rPr>
              <a:t>catch</a:t>
            </a:r>
            <a:r>
              <a:rPr lang="en" sz="1200"/>
              <a:t> or by </a:t>
            </a:r>
            <a:r>
              <a:rPr lang="en" sz="1200" b="1" i="1">
                <a:solidFill>
                  <a:srgbClr val="FF0000"/>
                </a:solidFill>
              </a:rPr>
              <a:t>rethrowing </a:t>
            </a:r>
            <a:r>
              <a:rPr lang="en" sz="1200"/>
              <a:t>the exception.</a:t>
            </a:r>
            <a:endParaRPr sz="1200"/>
          </a:p>
        </p:txBody>
      </p:sp>
      <p:sp>
        <p:nvSpPr>
          <p:cNvPr id="850" name="Google Shape;850;p79"/>
          <p:cNvSpPr/>
          <p:nvPr/>
        </p:nvSpPr>
        <p:spPr>
          <a:xfrm>
            <a:off x="2786069" y="2593925"/>
            <a:ext cx="1014350" cy="1684925"/>
          </a:xfrm>
          <a:custGeom>
            <a:avLst/>
            <a:gdLst/>
            <a:ahLst/>
            <a:cxnLst/>
            <a:rect l="l" t="t" r="r" b="b"/>
            <a:pathLst>
              <a:path w="40574" h="67397" extrusionOk="0">
                <a:moveTo>
                  <a:pt x="0" y="67397"/>
                </a:moveTo>
                <a:cubicBezTo>
                  <a:pt x="6750" y="61337"/>
                  <a:pt x="39265" y="42271"/>
                  <a:pt x="40497" y="31038"/>
                </a:cubicBezTo>
                <a:cubicBezTo>
                  <a:pt x="41729" y="19805"/>
                  <a:pt x="12908" y="5173"/>
                  <a:pt x="739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51" name="Google Shape;851;p79"/>
          <p:cNvSpPr txBox="1">
            <a:spLocks noGrp="1"/>
          </p:cNvSpPr>
          <p:nvPr>
            <p:ph type="body" idx="3"/>
          </p:nvPr>
        </p:nvSpPr>
        <p:spPr>
          <a:xfrm>
            <a:off x="336194" y="4140376"/>
            <a:ext cx="3706500" cy="6855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throws</a:t>
            </a:r>
            <a:r>
              <a:rPr lang="en" sz="1200">
                <a:solidFill>
                  <a:srgbClr val="FF0000"/>
                </a:solidFill>
              </a:rPr>
              <a:t> </a:t>
            </a:r>
            <a:r>
              <a:rPr lang="en" sz="1200" b="1" i="1">
                <a:solidFill>
                  <a:srgbClr val="FF0000"/>
                </a:solidFill>
              </a:rPr>
              <a:t>declaration</a:t>
            </a:r>
            <a:r>
              <a:rPr lang="en" sz="1200" b="1" i="1"/>
              <a:t> </a:t>
            </a:r>
            <a:r>
              <a:rPr lang="en" sz="1200"/>
              <a:t>is added to the method signature. In the event that the specified type of exception occurs, it is automatically </a:t>
            </a:r>
            <a:r>
              <a:rPr lang="en" sz="1200" b="1" i="1">
                <a:solidFill>
                  <a:srgbClr val="FF0000"/>
                </a:solidFill>
              </a:rPr>
              <a:t>rethrown</a:t>
            </a:r>
            <a:r>
              <a:rPr lang="en" sz="1200"/>
              <a:t>.</a:t>
            </a:r>
            <a:endParaRPr sz="1200"/>
          </a:p>
        </p:txBody>
      </p:sp>
      <p:sp>
        <p:nvSpPr>
          <p:cNvPr id="852" name="Google Shape;852;p79"/>
          <p:cNvSpPr/>
          <p:nvPr/>
        </p:nvSpPr>
        <p:spPr>
          <a:xfrm>
            <a:off x="470338" y="1973150"/>
            <a:ext cx="364750" cy="679900"/>
          </a:xfrm>
          <a:custGeom>
            <a:avLst/>
            <a:gdLst/>
            <a:ahLst/>
            <a:cxnLst/>
            <a:rect l="l" t="t" r="r" b="b"/>
            <a:pathLst>
              <a:path w="14590" h="27196" extrusionOk="0">
                <a:moveTo>
                  <a:pt x="9565" y="0"/>
                </a:moveTo>
                <a:cubicBezTo>
                  <a:pt x="7988" y="3104"/>
                  <a:pt x="-732" y="14090"/>
                  <a:pt x="105" y="18623"/>
                </a:cubicBezTo>
                <a:cubicBezTo>
                  <a:pt x="943" y="23156"/>
                  <a:pt x="12176" y="25767"/>
                  <a:pt x="14590" y="27196"/>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53" name="Google Shape;853;p79"/>
          <p:cNvSpPr txBox="1">
            <a:spLocks noGrp="1"/>
          </p:cNvSpPr>
          <p:nvPr>
            <p:ph type="body" idx="3"/>
          </p:nvPr>
        </p:nvSpPr>
        <p:spPr>
          <a:xfrm>
            <a:off x="339894" y="1526475"/>
            <a:ext cx="3706500" cy="521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b="1" i="1">
                <a:solidFill>
                  <a:srgbClr val="FF0000"/>
                </a:solidFill>
              </a:rPr>
              <a:t>Many</a:t>
            </a:r>
            <a:r>
              <a:rPr lang="en" sz="1200">
                <a:solidFill>
                  <a:srgbClr val="FF0000"/>
                </a:solidFill>
              </a:rPr>
              <a:t> </a:t>
            </a:r>
            <a:r>
              <a:rPr lang="en" sz="1200"/>
              <a:t>of the methods on the various I/O classes throw</a:t>
            </a:r>
            <a:r>
              <a:rPr lang="en" sz="1200">
                <a:latin typeface="Courier New"/>
                <a:ea typeface="Courier New"/>
                <a:cs typeface="Courier New"/>
                <a:sym typeface="Courier New"/>
              </a:rPr>
              <a:t> </a:t>
            </a:r>
            <a:r>
              <a:rPr lang="en" sz="1200">
                <a:solidFill>
                  <a:srgbClr val="FF0000"/>
                </a:solidFill>
                <a:latin typeface="Courier New"/>
                <a:ea typeface="Courier New"/>
                <a:cs typeface="Courier New"/>
                <a:sym typeface="Courier New"/>
              </a:rPr>
              <a:t>IOException</a:t>
            </a:r>
            <a:r>
              <a:rPr lang="en" sz="1200">
                <a:solidFill>
                  <a:srgbClr val="FF0000"/>
                </a:solidFill>
              </a:rPr>
              <a:t> </a:t>
            </a:r>
            <a:r>
              <a:rPr lang="en" sz="1200"/>
              <a:t>(including the </a:t>
            </a:r>
            <a:r>
              <a:rPr lang="en" sz="1200" b="1" i="1">
                <a:solidFill>
                  <a:srgbClr val="FF0000"/>
                </a:solidFill>
              </a:rPr>
              <a:t>constructors</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4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4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4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4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4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4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4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849"/>
                                        </p:tgtEl>
                                        <p:attrNameLst>
                                          <p:attrName>style.visibility</p:attrName>
                                        </p:attrNameLst>
                                      </p:cBhvr>
                                      <p:to>
                                        <p:strVal val="visible"/>
                                      </p:to>
                                    </p:set>
                                    <p:animEffect transition="in" filter="fade">
                                      <p:cBhvr>
                                        <p:cTn id="59" dur="1000"/>
                                        <p:tgtEl>
                                          <p:spTgt spid="84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53"/>
                                        </p:tgtEl>
                                        <p:attrNameLst>
                                          <p:attrName>style.visibility</p:attrName>
                                        </p:attrNameLst>
                                      </p:cBhvr>
                                      <p:to>
                                        <p:strVal val="visible"/>
                                      </p:to>
                                    </p:set>
                                    <p:animEffect transition="in" filter="fade">
                                      <p:cBhvr>
                                        <p:cTn id="64" dur="1000"/>
                                        <p:tgtEl>
                                          <p:spTgt spid="853"/>
                                        </p:tgtEl>
                                      </p:cBhvr>
                                    </p:animEffect>
                                  </p:childTnLst>
                                </p:cTn>
                              </p:par>
                              <p:par>
                                <p:cTn id="65" presetID="10" presetClass="entr" presetSubtype="0" fill="hold" nodeType="withEffect">
                                  <p:stCondLst>
                                    <p:cond delay="0"/>
                                  </p:stCondLst>
                                  <p:childTnLst>
                                    <p:set>
                                      <p:cBhvr>
                                        <p:cTn id="66" dur="1" fill="hold">
                                          <p:stCondLst>
                                            <p:cond delay="0"/>
                                          </p:stCondLst>
                                        </p:cTn>
                                        <p:tgtEl>
                                          <p:spTgt spid="848"/>
                                        </p:tgtEl>
                                        <p:attrNameLst>
                                          <p:attrName>style.visibility</p:attrName>
                                        </p:attrNameLst>
                                      </p:cBhvr>
                                      <p:to>
                                        <p:strVal val="visible"/>
                                      </p:to>
                                    </p:set>
                                    <p:animEffect transition="in" filter="fade">
                                      <p:cBhvr>
                                        <p:cTn id="67" dur="1000"/>
                                        <p:tgtEl>
                                          <p:spTgt spid="848"/>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852"/>
                                        </p:tgtEl>
                                        <p:attrNameLst>
                                          <p:attrName>style.visibility</p:attrName>
                                        </p:attrNameLst>
                                      </p:cBhvr>
                                      <p:to>
                                        <p:strVal val="visible"/>
                                      </p:to>
                                    </p:set>
                                    <p:animEffect transition="in" filter="fade">
                                      <p:cBhvr>
                                        <p:cTn id="71" dur="1000"/>
                                        <p:tgtEl>
                                          <p:spTgt spid="85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851"/>
                                        </p:tgtEl>
                                        <p:attrNameLst>
                                          <p:attrName>style.visibility</p:attrName>
                                        </p:attrNameLst>
                                      </p:cBhvr>
                                      <p:to>
                                        <p:strVal val="visible"/>
                                      </p:to>
                                    </p:set>
                                    <p:animEffect transition="in" filter="fade">
                                      <p:cBhvr>
                                        <p:cTn id="76" dur="1000"/>
                                        <p:tgtEl>
                                          <p:spTgt spid="851"/>
                                        </p:tgtEl>
                                      </p:cBhvr>
                                    </p:animEffect>
                                  </p:childTnLst>
                                </p:cTn>
                              </p:par>
                            </p:childTnLst>
                          </p:cTn>
                        </p:par>
                        <p:par>
                          <p:cTn id="77" fill="hold">
                            <p:stCondLst>
                              <p:cond delay="1000"/>
                            </p:stCondLst>
                            <p:childTnLst>
                              <p:par>
                                <p:cTn id="78" presetID="10" presetClass="entr" presetSubtype="0" fill="hold" nodeType="afterEffect">
                                  <p:stCondLst>
                                    <p:cond delay="0"/>
                                  </p:stCondLst>
                                  <p:childTnLst>
                                    <p:set>
                                      <p:cBhvr>
                                        <p:cTn id="79" dur="1" fill="hold">
                                          <p:stCondLst>
                                            <p:cond delay="0"/>
                                          </p:stCondLst>
                                        </p:cTn>
                                        <p:tgtEl>
                                          <p:spTgt spid="850"/>
                                        </p:tgtEl>
                                        <p:attrNameLst>
                                          <p:attrName>style.visibility</p:attrName>
                                        </p:attrNameLst>
                                      </p:cBhvr>
                                      <p:to>
                                        <p:strVal val="visible"/>
                                      </p:to>
                                    </p:set>
                                    <p:animEffect transition="in" filter="fade">
                                      <p:cBhvr>
                                        <p:cTn id="80" dur="1000"/>
                                        <p:tgtEl>
                                          <p:spTgt spid="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80"/>
          <p:cNvSpPr txBox="1">
            <a:spLocks noGrp="1"/>
          </p:cNvSpPr>
          <p:nvPr>
            <p:ph type="body" idx="1"/>
          </p:nvPr>
        </p:nvSpPr>
        <p:spPr>
          <a:xfrm>
            <a:off x="3151975" y="731625"/>
            <a:ext cx="57126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Nearly every Java I/O operation may throw an </a:t>
            </a:r>
            <a:r>
              <a:rPr lang="en">
                <a:latin typeface="Courier New"/>
                <a:ea typeface="Courier New"/>
                <a:cs typeface="Courier New"/>
                <a:sym typeface="Courier New"/>
              </a:rPr>
              <a:t>IOException</a:t>
            </a:r>
            <a:r>
              <a:rPr lang="en"/>
              <a:t> if something goes wrong. </a:t>
            </a:r>
            <a:r>
              <a:rPr lang="en">
                <a:latin typeface="Courier New"/>
                <a:ea typeface="Courier New"/>
                <a:cs typeface="Courier New"/>
                <a:sym typeface="Courier New"/>
              </a:rPr>
              <a:t>IOException</a:t>
            </a:r>
            <a:r>
              <a:rPr lang="en"/>
              <a:t> is checked, and so must be handled in some way. Update your </a:t>
            </a:r>
            <a:r>
              <a:rPr lang="en">
                <a:latin typeface="Courier New"/>
                <a:ea typeface="Courier New"/>
                <a:cs typeface="Courier New"/>
                <a:sym typeface="Courier New"/>
              </a:rPr>
              <a:t>Files</a:t>
            </a:r>
            <a:r>
              <a:rPr lang="en"/>
              <a:t> class to better handle checked exceptions if and when they occur.</a:t>
            </a:r>
            <a:endParaRPr/>
          </a:p>
        </p:txBody>
      </p:sp>
      <p:sp>
        <p:nvSpPr>
          <p:cNvPr id="859" name="Google Shape;859;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860" name="Google Shape;860;p80"/>
          <p:cNvSpPr txBox="1">
            <a:spLocks noGrp="1"/>
          </p:cNvSpPr>
          <p:nvPr>
            <p:ph type="body" idx="2"/>
          </p:nvPr>
        </p:nvSpPr>
        <p:spPr>
          <a:xfrm>
            <a:off x="3113725" y="2253725"/>
            <a:ext cx="5789100" cy="2168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your </a:t>
            </a:r>
            <a:r>
              <a:rPr lang="en" sz="1500">
                <a:latin typeface="Courier New"/>
                <a:ea typeface="Courier New"/>
                <a:cs typeface="Courier New"/>
                <a:sym typeface="Courier New"/>
              </a:rPr>
              <a:t>Files</a:t>
            </a:r>
            <a:r>
              <a:rPr lang="en" sz="1500"/>
              <a:t> class and navigate to the </a:t>
            </a:r>
            <a:r>
              <a:rPr lang="en" sz="1500">
                <a:solidFill>
                  <a:srgbClr val="FF0000"/>
                </a:solidFill>
                <a:latin typeface="Courier New"/>
                <a:ea typeface="Courier New"/>
                <a:cs typeface="Courier New"/>
                <a:sym typeface="Courier New"/>
              </a:rPr>
              <a:t>printFile</a:t>
            </a:r>
            <a:r>
              <a:rPr lang="en" sz="1500">
                <a:solidFill>
                  <a:srgbClr val="FF0000"/>
                </a:solidFill>
              </a:rPr>
              <a:t> </a:t>
            </a:r>
            <a:r>
              <a:rPr lang="en" sz="1500"/>
              <a:t>method.</a:t>
            </a:r>
            <a:endParaRPr sz="1500"/>
          </a:p>
          <a:p>
            <a:pPr marL="914400" lvl="1" indent="-311150" algn="l" rtl="0">
              <a:spcBef>
                <a:spcPts val="0"/>
              </a:spcBef>
              <a:spcAft>
                <a:spcPts val="0"/>
              </a:spcAft>
              <a:buSzPts val="1300"/>
              <a:buChar char="○"/>
            </a:pPr>
            <a:r>
              <a:rPr lang="en" sz="1300"/>
              <a:t>Update the method signature to declare that it </a:t>
            </a:r>
            <a:r>
              <a:rPr lang="en" sz="1300">
                <a:solidFill>
                  <a:srgbClr val="FF0000"/>
                </a:solidFill>
                <a:latin typeface="Courier New"/>
                <a:ea typeface="Courier New"/>
                <a:cs typeface="Courier New"/>
                <a:sym typeface="Courier New"/>
              </a:rPr>
              <a:t>throws</a:t>
            </a:r>
            <a:r>
              <a:rPr lang="en" sz="1300">
                <a:solidFill>
                  <a:srgbClr val="FF0000"/>
                </a:solidFill>
              </a:rPr>
              <a:t> </a:t>
            </a:r>
            <a:r>
              <a:rPr lang="en" sz="1300">
                <a:solidFill>
                  <a:srgbClr val="FF0000"/>
                </a:solidFill>
                <a:latin typeface="Courier New"/>
                <a:ea typeface="Courier New"/>
                <a:cs typeface="Courier New"/>
                <a:sym typeface="Courier New"/>
              </a:rPr>
              <a:t>IOException</a:t>
            </a:r>
            <a:r>
              <a:rPr lang="en" sz="1300"/>
              <a:t>.</a:t>
            </a:r>
            <a:endParaRPr sz="1300"/>
          </a:p>
          <a:p>
            <a:pPr marL="457200" lvl="0" indent="-323850" algn="l" rtl="0">
              <a:spcBef>
                <a:spcPts val="0"/>
              </a:spcBef>
              <a:spcAft>
                <a:spcPts val="0"/>
              </a:spcAft>
              <a:buSzPts val="1500"/>
              <a:buChar char="●"/>
            </a:pPr>
            <a:r>
              <a:rPr lang="en" sz="1500"/>
              <a:t>Use a </a:t>
            </a:r>
            <a:r>
              <a:rPr lang="en" sz="1500">
                <a:solidFill>
                  <a:srgbClr val="FF0000"/>
                </a:solidFill>
                <a:latin typeface="Courier New"/>
                <a:ea typeface="Courier New"/>
                <a:cs typeface="Courier New"/>
                <a:sym typeface="Courier New"/>
              </a:rPr>
              <a:t>try</a:t>
            </a:r>
            <a:r>
              <a:rPr lang="en" sz="1500"/>
              <a:t>/</a:t>
            </a:r>
            <a:r>
              <a:rPr lang="en" sz="1500">
                <a:solidFill>
                  <a:srgbClr val="FF0000"/>
                </a:solidFill>
                <a:latin typeface="Courier New"/>
                <a:ea typeface="Courier New"/>
                <a:cs typeface="Courier New"/>
                <a:sym typeface="Courier New"/>
              </a:rPr>
              <a:t>catch</a:t>
            </a:r>
            <a:r>
              <a:rPr lang="en" sz="1500"/>
              <a:t> in your </a:t>
            </a:r>
            <a:r>
              <a:rPr lang="en" sz="1500">
                <a:latin typeface="Courier New"/>
                <a:ea typeface="Courier New"/>
                <a:cs typeface="Courier New"/>
                <a:sym typeface="Courier New"/>
              </a:rPr>
              <a:t>main</a:t>
            </a:r>
            <a:r>
              <a:rPr lang="en" sz="1500"/>
              <a:t> method to handle the exception.</a:t>
            </a:r>
            <a:endParaRPr sz="1500"/>
          </a:p>
          <a:p>
            <a:pPr marL="914400" lvl="1" indent="-311150" algn="l" rtl="0">
              <a:spcBef>
                <a:spcPts val="0"/>
              </a:spcBef>
              <a:spcAft>
                <a:spcPts val="0"/>
              </a:spcAft>
              <a:buSzPts val="1300"/>
              <a:buChar char="○"/>
            </a:pPr>
            <a:r>
              <a:rPr lang="en" sz="1300"/>
              <a:t>If an </a:t>
            </a:r>
            <a:r>
              <a:rPr lang="en" sz="1300">
                <a:solidFill>
                  <a:srgbClr val="FF0000"/>
                </a:solidFill>
                <a:latin typeface="Courier New"/>
                <a:ea typeface="Courier New"/>
                <a:cs typeface="Courier New"/>
                <a:sym typeface="Courier New"/>
              </a:rPr>
              <a:t>IOException</a:t>
            </a:r>
            <a:r>
              <a:rPr lang="en" sz="1300">
                <a:solidFill>
                  <a:srgbClr val="FF0000"/>
                </a:solidFill>
              </a:rPr>
              <a:t> </a:t>
            </a:r>
            <a:r>
              <a:rPr lang="en" sz="1300"/>
              <a:t>occurs, print an error message and exit.</a:t>
            </a:r>
            <a:endParaRPr sz="1300"/>
          </a:p>
          <a:p>
            <a:pPr marL="457200" lvl="0" indent="-323850" algn="l" rtl="0">
              <a:spcBef>
                <a:spcPts val="0"/>
              </a:spcBef>
              <a:spcAft>
                <a:spcPts val="0"/>
              </a:spcAft>
              <a:buSzPts val="1500"/>
              <a:buChar char="●"/>
            </a:pPr>
            <a:r>
              <a:rPr lang="en" sz="1500"/>
              <a:t>Run the class.</a:t>
            </a:r>
            <a:endParaRPr sz="1500"/>
          </a:p>
        </p:txBody>
      </p:sp>
      <p:sp>
        <p:nvSpPr>
          <p:cNvPr id="861" name="Google Shape;861;p80"/>
          <p:cNvSpPr txBox="1">
            <a:spLocks noGrp="1"/>
          </p:cNvSpPr>
          <p:nvPr>
            <p:ph type="title"/>
          </p:nvPr>
        </p:nvSpPr>
        <p:spPr>
          <a:xfrm>
            <a:off x="1436850" y="100"/>
            <a:ext cx="7642500" cy="6312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2900"/>
              <a:t>Handling Checked Exceptions</a:t>
            </a:r>
            <a:endParaRPr sz="2900"/>
          </a:p>
        </p:txBody>
      </p:sp>
      <p:sp>
        <p:nvSpPr>
          <p:cNvPr id="862" name="Google Shape;862;p8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4.17</a:t>
            </a:r>
            <a:endParaRPr/>
          </a:p>
        </p:txBody>
      </p:sp>
      <p:sp>
        <p:nvSpPr>
          <p:cNvPr id="863" name="Google Shape;863;p80"/>
          <p:cNvSpPr txBox="1"/>
          <p:nvPr/>
        </p:nvSpPr>
        <p:spPr>
          <a:xfrm>
            <a:off x="243850" y="1545975"/>
            <a:ext cx="2727000" cy="989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throws</a:t>
            </a:r>
            <a:r>
              <a:rPr lang="en" sz="1050">
                <a:latin typeface="Consolas"/>
                <a:ea typeface="Consolas"/>
                <a:cs typeface="Consolas"/>
                <a:sym typeface="Consolas"/>
              </a:rPr>
              <a:t> AnException {</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x</a:t>
            </a:r>
            <a:r>
              <a:rPr lang="en" sz="1050">
                <a:latin typeface="Consolas"/>
                <a:ea typeface="Consolas"/>
                <a:cs typeface="Consolas"/>
                <a:sym typeface="Consolas"/>
              </a:rPr>
              <a:t> = </a:t>
            </a:r>
            <a:r>
              <a:rPr lang="en" sz="1050">
                <a:solidFill>
                  <a:srgbClr val="795E26"/>
                </a:solidFill>
                <a:latin typeface="Consolas"/>
                <a:ea typeface="Consolas"/>
                <a:cs typeface="Consolas"/>
                <a:sym typeface="Consolas"/>
              </a:rPr>
              <a:t>aMethod</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864" name="Google Shape;864;p80"/>
          <p:cNvSpPr txBox="1"/>
          <p:nvPr/>
        </p:nvSpPr>
        <p:spPr>
          <a:xfrm>
            <a:off x="243850" y="886050"/>
            <a:ext cx="2727000" cy="531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One way to handle a checked exception is to </a:t>
            </a:r>
            <a:r>
              <a:rPr lang="en" sz="1200" b="1" i="1">
                <a:solidFill>
                  <a:srgbClr val="FF0000"/>
                </a:solidFill>
              </a:rPr>
              <a:t>rethrow it</a:t>
            </a:r>
            <a:r>
              <a:rPr lang="en" sz="1200"/>
              <a:t>.</a:t>
            </a:r>
            <a:endParaRPr sz="1200"/>
          </a:p>
        </p:txBody>
      </p:sp>
      <p:sp>
        <p:nvSpPr>
          <p:cNvPr id="865" name="Google Shape;865;p80"/>
          <p:cNvSpPr txBox="1"/>
          <p:nvPr/>
        </p:nvSpPr>
        <p:spPr>
          <a:xfrm>
            <a:off x="243850" y="3100125"/>
            <a:ext cx="2727000" cy="1290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try</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catch</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RuntimeException</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doSomethingElse</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00000"/>
              </a:lnSpc>
              <a:spcBef>
                <a:spcPts val="0"/>
              </a:spcBef>
              <a:spcAft>
                <a:spcPts val="0"/>
              </a:spcAft>
              <a:buNone/>
            </a:pPr>
            <a:r>
              <a:rPr lang="en" sz="1050">
                <a:latin typeface="Consolas"/>
                <a:ea typeface="Consolas"/>
                <a:cs typeface="Consolas"/>
                <a:sym typeface="Consolas"/>
              </a:rPr>
              <a:t> }</a:t>
            </a:r>
            <a:endParaRPr sz="1000">
              <a:solidFill>
                <a:srgbClr val="569CD6"/>
              </a:solidFill>
              <a:latin typeface="Consolas"/>
              <a:ea typeface="Consolas"/>
              <a:cs typeface="Consolas"/>
              <a:sym typeface="Consolas"/>
            </a:endParaRPr>
          </a:p>
        </p:txBody>
      </p:sp>
      <p:sp>
        <p:nvSpPr>
          <p:cNvPr id="866" name="Google Shape;866;p80"/>
          <p:cNvSpPr txBox="1"/>
          <p:nvPr/>
        </p:nvSpPr>
        <p:spPr>
          <a:xfrm>
            <a:off x="243850" y="2638650"/>
            <a:ext cx="2727000" cy="35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Another is to </a:t>
            </a:r>
            <a:r>
              <a:rPr lang="en" sz="1200">
                <a:solidFill>
                  <a:srgbClr val="FF0000"/>
                </a:solidFill>
                <a:latin typeface="Courier New"/>
                <a:ea typeface="Courier New"/>
                <a:cs typeface="Courier New"/>
                <a:sym typeface="Courier New"/>
              </a:rPr>
              <a:t>try</a:t>
            </a:r>
            <a:r>
              <a:rPr lang="en" sz="1200">
                <a:solidFill>
                  <a:srgbClr val="FF0000"/>
                </a:solidFill>
              </a:rPr>
              <a:t>/</a:t>
            </a:r>
            <a:r>
              <a:rPr lang="en" sz="1200">
                <a:solidFill>
                  <a:srgbClr val="FF0000"/>
                </a:solidFill>
                <a:latin typeface="Courier New"/>
                <a:ea typeface="Courier New"/>
                <a:cs typeface="Courier New"/>
                <a:sym typeface="Courier New"/>
              </a:rPr>
              <a:t>catch</a:t>
            </a:r>
            <a:r>
              <a:rPr lang="en" sz="1200"/>
              <a:t> it.</a:t>
            </a:r>
            <a:endParaRPr sz="1200"/>
          </a:p>
        </p:txBody>
      </p:sp>
      <p:pic>
        <p:nvPicPr>
          <p:cNvPr id="867" name="Google Shape;867;p80"/>
          <p:cNvPicPr preferRelativeResize="0"/>
          <p:nvPr/>
        </p:nvPicPr>
        <p:blipFill>
          <a:blip r:embed="rId3">
            <a:alphaModFix/>
          </a:blip>
          <a:stretch>
            <a:fillRect/>
          </a:stretch>
        </p:blipFill>
        <p:spPr>
          <a:xfrm>
            <a:off x="7623240" y="136600"/>
            <a:ext cx="1397911" cy="3582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81"/>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873" name="Google Shape;873;p81"/>
          <p:cNvSpPr txBox="1">
            <a:spLocks noGrp="1"/>
          </p:cNvSpPr>
          <p:nvPr>
            <p:ph type="title"/>
          </p:nvPr>
        </p:nvSpPr>
        <p:spPr>
          <a:xfrm>
            <a:off x="5188525" y="437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Writing Text Files</a:t>
            </a:r>
            <a:endParaRPr/>
          </a:p>
        </p:txBody>
      </p:sp>
      <p:sp>
        <p:nvSpPr>
          <p:cNvPr id="874" name="Google Shape;874;p81"/>
          <p:cNvSpPr txBox="1">
            <a:spLocks noGrp="1"/>
          </p:cNvSpPr>
          <p:nvPr>
            <p:ph type="body" idx="1"/>
          </p:nvPr>
        </p:nvSpPr>
        <p:spPr>
          <a:xfrm>
            <a:off x="90450" y="119925"/>
            <a:ext cx="4587600" cy="47262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a:t>The </a:t>
            </a:r>
            <a:r>
              <a:rPr lang="en" u="sng">
                <a:solidFill>
                  <a:srgbClr val="FF0000"/>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java.io.FileWriter</a:t>
            </a:r>
            <a:r>
              <a:rPr lang="en"/>
              <a:t> class provides methods for writing </a:t>
            </a:r>
            <a:r>
              <a:rPr lang="en" b="1" i="1">
                <a:solidFill>
                  <a:srgbClr val="FF0000"/>
                </a:solidFill>
              </a:rPr>
              <a:t>character data</a:t>
            </a:r>
            <a:r>
              <a:rPr lang="en"/>
              <a:t> to a file.</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write(char c)</a:t>
            </a:r>
            <a:r>
              <a:rPr lang="en"/>
              <a:t> - writes a single character.</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write(char[] buffer)</a:t>
            </a:r>
            <a:r>
              <a:rPr lang="en"/>
              <a:t> - writes an entire array of characters all at once.</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flush()</a:t>
            </a:r>
            <a:r>
              <a:rPr lang="en"/>
              <a:t> - forces any data that has been </a:t>
            </a:r>
            <a:r>
              <a:rPr lang="en" b="1" i="1">
                <a:solidFill>
                  <a:srgbClr val="FF0000"/>
                </a:solidFill>
              </a:rPr>
              <a:t>buffered in memory</a:t>
            </a:r>
            <a:r>
              <a:rPr lang="en"/>
              <a:t> to be written to the file. If you do not </a:t>
            </a:r>
            <a:r>
              <a:rPr lang="en" b="1" i="1">
                <a:solidFill>
                  <a:srgbClr val="FF0000"/>
                </a:solidFill>
              </a:rPr>
              <a:t>flush</a:t>
            </a:r>
            <a:r>
              <a:rPr lang="en">
                <a:solidFill>
                  <a:srgbClr val="FF0000"/>
                </a:solidFill>
              </a:rPr>
              <a:t> </a:t>
            </a:r>
            <a:r>
              <a:rPr lang="en"/>
              <a:t>before closing the file, your data may not be written!</a:t>
            </a:r>
            <a:endParaRPr/>
          </a:p>
          <a:p>
            <a:pPr marL="457200" lvl="0" indent="-311150" algn="l" rtl="0">
              <a:spcBef>
                <a:spcPts val="0"/>
              </a:spcBef>
              <a:spcAft>
                <a:spcPts val="0"/>
              </a:spcAft>
              <a:buSzPts val="1300"/>
              <a:buChar char="●"/>
            </a:pPr>
            <a:r>
              <a:rPr lang="en"/>
              <a:t>A </a:t>
            </a:r>
            <a:r>
              <a:rPr lang="en">
                <a:latin typeface="Courier New"/>
                <a:ea typeface="Courier New"/>
                <a:cs typeface="Courier New"/>
                <a:sym typeface="Courier New"/>
              </a:rPr>
              <a:t>FileWriter</a:t>
            </a:r>
            <a:r>
              <a:rPr lang="en"/>
              <a:t> is a little hard to use because it only supports writing characters (one at a time or in chunks). The </a:t>
            </a:r>
            <a:r>
              <a:rPr lang="en" u="sng">
                <a:solidFill>
                  <a:srgbClr val="FF0000"/>
                </a:solidFill>
                <a:latin typeface="Courier New"/>
                <a:ea typeface="Courier New"/>
                <a:cs typeface="Courier New"/>
                <a:sym typeface="Courier New"/>
                <a:hlinkClick r:id="rId4">
                  <a:extLst>
                    <a:ext uri="{A12FA001-AC4F-418D-AE19-62706E023703}">
                      <ahyp:hlinkClr xmlns:ahyp="http://schemas.microsoft.com/office/drawing/2018/hyperlinkcolor" val="tx"/>
                    </a:ext>
                  </a:extLst>
                </a:hlinkClick>
              </a:rPr>
              <a:t>java.io.PrintWriter</a:t>
            </a:r>
            <a:r>
              <a:rPr lang="en">
                <a:solidFill>
                  <a:srgbClr val="FF0000"/>
                </a:solidFill>
              </a:rPr>
              <a:t> </a:t>
            </a:r>
            <a:r>
              <a:rPr lang="en"/>
              <a:t>class can be constructed </a:t>
            </a:r>
            <a:r>
              <a:rPr lang="en" b="1" i="1">
                <a:solidFill>
                  <a:srgbClr val="FF0000"/>
                </a:solidFill>
              </a:rPr>
              <a:t>with</a:t>
            </a:r>
            <a:r>
              <a:rPr lang="en"/>
              <a:t> a </a:t>
            </a:r>
            <a:r>
              <a:rPr lang="en">
                <a:latin typeface="Courier New"/>
                <a:ea typeface="Courier New"/>
                <a:cs typeface="Courier New"/>
                <a:sym typeface="Courier New"/>
              </a:rPr>
              <a:t>FileWriter</a:t>
            </a:r>
            <a:r>
              <a:rPr lang="en"/>
              <a:t> and provides methods that are easier to use. Anything </a:t>
            </a:r>
            <a:r>
              <a:rPr lang="en" b="1" i="1">
                <a:solidFill>
                  <a:srgbClr val="FF0000"/>
                </a:solidFill>
              </a:rPr>
              <a:t>printed</a:t>
            </a:r>
            <a:r>
              <a:rPr lang="en"/>
              <a:t> to the </a:t>
            </a:r>
            <a:r>
              <a:rPr lang="en">
                <a:latin typeface="Courier New"/>
                <a:ea typeface="Courier New"/>
                <a:cs typeface="Courier New"/>
                <a:sym typeface="Courier New"/>
              </a:rPr>
              <a:t>PrintWriter</a:t>
            </a:r>
            <a:r>
              <a:rPr lang="en"/>
              <a:t> is </a:t>
            </a:r>
            <a:r>
              <a:rPr lang="en" b="1" i="1">
                <a:solidFill>
                  <a:srgbClr val="FF0000"/>
                </a:solidFill>
              </a:rPr>
              <a:t>written</a:t>
            </a:r>
            <a:r>
              <a:rPr lang="en"/>
              <a:t> out to the </a:t>
            </a:r>
            <a:r>
              <a:rPr lang="en">
                <a:latin typeface="Courier New"/>
                <a:ea typeface="Courier New"/>
                <a:cs typeface="Courier New"/>
                <a:sym typeface="Courier New"/>
              </a:rPr>
              <a:t>FileWriter</a:t>
            </a:r>
            <a:r>
              <a:rPr lang="en"/>
              <a:t>. </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print(String s)</a:t>
            </a:r>
            <a:r>
              <a:rPr lang="en"/>
              <a:t> - writes the string to the FileWriter.</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println(String s)</a:t>
            </a:r>
            <a:r>
              <a:rPr lang="en"/>
              <a:t> - writes the string followed by a newline.</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print(int i)</a:t>
            </a:r>
            <a:r>
              <a:rPr lang="en"/>
              <a:t> - prints the integer as a string, e.g. </a:t>
            </a:r>
            <a:r>
              <a:rPr lang="en">
                <a:solidFill>
                  <a:srgbClr val="FF0000"/>
                </a:solidFill>
                <a:latin typeface="Courier New"/>
                <a:ea typeface="Courier New"/>
                <a:cs typeface="Courier New"/>
                <a:sym typeface="Courier New"/>
              </a:rPr>
              <a:t>"123"</a:t>
            </a:r>
            <a:r>
              <a:rPr lang="en"/>
              <a:t>. There is a similar methods for each primitive type.</a:t>
            </a:r>
            <a:endParaRPr/>
          </a:p>
          <a:p>
            <a:pPr marL="914400" lvl="1" indent="-298450" algn="l" rtl="0">
              <a:spcBef>
                <a:spcPts val="0"/>
              </a:spcBef>
              <a:spcAft>
                <a:spcPts val="0"/>
              </a:spcAft>
              <a:buSzPts val="1100"/>
              <a:buChar char="○"/>
            </a:pPr>
            <a:r>
              <a:rPr lang="en">
                <a:solidFill>
                  <a:srgbClr val="FF0000"/>
                </a:solidFill>
                <a:latin typeface="Courier New"/>
                <a:ea typeface="Courier New"/>
                <a:cs typeface="Courier New"/>
                <a:sym typeface="Courier New"/>
              </a:rPr>
              <a:t>flush()</a:t>
            </a:r>
            <a:r>
              <a:rPr lang="en"/>
              <a:t> - flushes any buffered data out to the file. Again, data that is not flushed may not be written!</a:t>
            </a:r>
            <a:endParaRPr/>
          </a:p>
        </p:txBody>
      </p:sp>
      <p:sp>
        <p:nvSpPr>
          <p:cNvPr id="875" name="Google Shape;875;p81"/>
          <p:cNvSpPr txBox="1">
            <a:spLocks noGrp="1"/>
          </p:cNvSpPr>
          <p:nvPr>
            <p:ph type="body" idx="2"/>
          </p:nvPr>
        </p:nvSpPr>
        <p:spPr>
          <a:xfrm>
            <a:off x="5171646" y="1906575"/>
            <a:ext cx="3825600" cy="1596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FileWriter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fw</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FileWriter</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"a_file.txt"</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PrintWriter</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 =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PrintWriter</a:t>
            </a:r>
            <a:r>
              <a:rPr lang="en" sz="1000">
                <a:solidFill>
                  <a:srgbClr val="000000"/>
                </a:solidFill>
                <a:latin typeface="Consolas"/>
                <a:ea typeface="Consolas"/>
                <a:cs typeface="Consolas"/>
                <a:sym typeface="Consolas"/>
              </a:rPr>
              <a:t>(fw);</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"Your age is: "</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18</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 years old."</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flush</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writer</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close</a:t>
            </a:r>
            <a:r>
              <a:rPr lang="en" sz="1000">
                <a:solidFill>
                  <a:srgbClr val="000000"/>
                </a:solidFill>
                <a:latin typeface="Consolas"/>
                <a:ea typeface="Consolas"/>
                <a:cs typeface="Consolas"/>
                <a:sym typeface="Consolas"/>
              </a:rPr>
              <a:t>();</a:t>
            </a:r>
            <a:endParaRPr sz="1000">
              <a:solidFill>
                <a:srgbClr val="999999"/>
              </a:solidFill>
              <a:latin typeface="Consolas"/>
              <a:ea typeface="Consolas"/>
              <a:cs typeface="Consolas"/>
              <a:sym typeface="Consolas"/>
            </a:endParaRPr>
          </a:p>
        </p:txBody>
      </p:sp>
      <p:sp>
        <p:nvSpPr>
          <p:cNvPr id="876" name="Google Shape;876;p81"/>
          <p:cNvSpPr/>
          <p:nvPr/>
        </p:nvSpPr>
        <p:spPr>
          <a:xfrm>
            <a:off x="5011506" y="947300"/>
            <a:ext cx="439825" cy="1139700"/>
          </a:xfrm>
          <a:custGeom>
            <a:avLst/>
            <a:gdLst/>
            <a:ahLst/>
            <a:cxnLst/>
            <a:rect l="l" t="t" r="r" b="b"/>
            <a:pathLst>
              <a:path w="17593" h="45588" extrusionOk="0">
                <a:moveTo>
                  <a:pt x="9008" y="0"/>
                </a:moveTo>
                <a:cubicBezTo>
                  <a:pt x="7577" y="2960"/>
                  <a:pt x="1410" y="11841"/>
                  <a:pt x="423" y="17761"/>
                </a:cubicBezTo>
                <a:cubicBezTo>
                  <a:pt x="-564" y="23682"/>
                  <a:pt x="225" y="30885"/>
                  <a:pt x="3087" y="35523"/>
                </a:cubicBezTo>
                <a:cubicBezTo>
                  <a:pt x="5949" y="40161"/>
                  <a:pt x="15175" y="43911"/>
                  <a:pt x="17593" y="4558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77" name="Google Shape;877;p81"/>
          <p:cNvSpPr txBox="1">
            <a:spLocks noGrp="1"/>
          </p:cNvSpPr>
          <p:nvPr>
            <p:ph type="body" idx="3"/>
          </p:nvPr>
        </p:nvSpPr>
        <p:spPr>
          <a:xfrm>
            <a:off x="5171646" y="670575"/>
            <a:ext cx="3825600" cy="6918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FileWriter</a:t>
            </a:r>
            <a:r>
              <a:rPr lang="en" sz="1200">
                <a:solidFill>
                  <a:srgbClr val="FF0000"/>
                </a:solidFill>
              </a:rPr>
              <a:t> </a:t>
            </a:r>
            <a:r>
              <a:rPr lang="en" sz="1200"/>
              <a:t>can be created with a </a:t>
            </a:r>
            <a:r>
              <a:rPr lang="en" sz="1200" b="1" i="1">
                <a:solidFill>
                  <a:srgbClr val="FF0000"/>
                </a:solidFill>
              </a:rPr>
              <a:t>filename </a:t>
            </a:r>
            <a:r>
              <a:rPr lang="en" sz="1200"/>
              <a:t>to write </a:t>
            </a:r>
            <a:r>
              <a:rPr lang="en" sz="1200" b="1" i="1">
                <a:solidFill>
                  <a:srgbClr val="FF0000"/>
                </a:solidFill>
              </a:rPr>
              <a:t>character data</a:t>
            </a:r>
            <a:r>
              <a:rPr lang="en" sz="1200"/>
              <a:t> out to the file, but a </a:t>
            </a:r>
            <a:r>
              <a:rPr lang="en" sz="1200">
                <a:latin typeface="Courier New"/>
                <a:ea typeface="Courier New"/>
                <a:cs typeface="Courier New"/>
                <a:sym typeface="Courier New"/>
              </a:rPr>
              <a:t>FileWriter</a:t>
            </a:r>
            <a:r>
              <a:rPr lang="en" sz="1200"/>
              <a:t> can be a little </a:t>
            </a:r>
            <a:r>
              <a:rPr lang="en" sz="1200" b="1" i="1">
                <a:solidFill>
                  <a:srgbClr val="FF0000"/>
                </a:solidFill>
              </a:rPr>
              <a:t>clunky </a:t>
            </a:r>
            <a:r>
              <a:rPr lang="en" sz="1200"/>
              <a:t>to use.</a:t>
            </a:r>
            <a:endParaRPr sz="1200"/>
          </a:p>
        </p:txBody>
      </p:sp>
      <p:sp>
        <p:nvSpPr>
          <p:cNvPr id="878" name="Google Shape;878;p81"/>
          <p:cNvSpPr/>
          <p:nvPr/>
        </p:nvSpPr>
        <p:spPr>
          <a:xfrm>
            <a:off x="8488625" y="1665150"/>
            <a:ext cx="422400" cy="636475"/>
          </a:xfrm>
          <a:custGeom>
            <a:avLst/>
            <a:gdLst/>
            <a:ahLst/>
            <a:cxnLst/>
            <a:rect l="l" t="t" r="r" b="b"/>
            <a:pathLst>
              <a:path w="16896" h="25459" extrusionOk="0">
                <a:moveTo>
                  <a:pt x="13321" y="0"/>
                </a:moveTo>
                <a:cubicBezTo>
                  <a:pt x="13815" y="3503"/>
                  <a:pt x="18502" y="16776"/>
                  <a:pt x="16282" y="21019"/>
                </a:cubicBezTo>
                <a:cubicBezTo>
                  <a:pt x="14062" y="25262"/>
                  <a:pt x="2714" y="24719"/>
                  <a:pt x="0" y="2545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79" name="Google Shape;879;p81"/>
          <p:cNvSpPr txBox="1">
            <a:spLocks noGrp="1"/>
          </p:cNvSpPr>
          <p:nvPr>
            <p:ph type="body" idx="3"/>
          </p:nvPr>
        </p:nvSpPr>
        <p:spPr>
          <a:xfrm>
            <a:off x="5171646" y="1458525"/>
            <a:ext cx="3825600" cy="3519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PrintWriter</a:t>
            </a:r>
            <a:r>
              <a:rPr lang="en" sz="1200">
                <a:solidFill>
                  <a:srgbClr val="FF0000"/>
                </a:solidFill>
              </a:rPr>
              <a:t> </a:t>
            </a:r>
            <a:r>
              <a:rPr lang="en" sz="1200"/>
              <a:t>can be created with a </a:t>
            </a:r>
            <a:r>
              <a:rPr lang="en" sz="1200">
                <a:latin typeface="Courier New"/>
                <a:ea typeface="Courier New"/>
                <a:cs typeface="Courier New"/>
                <a:sym typeface="Courier New"/>
              </a:rPr>
              <a:t>FileWriter</a:t>
            </a:r>
            <a:r>
              <a:rPr lang="en" sz="1200"/>
              <a:t>.</a:t>
            </a:r>
            <a:endParaRPr sz="1200"/>
          </a:p>
        </p:txBody>
      </p:sp>
      <p:grpSp>
        <p:nvGrpSpPr>
          <p:cNvPr id="880" name="Google Shape;880;p81"/>
          <p:cNvGrpSpPr/>
          <p:nvPr/>
        </p:nvGrpSpPr>
        <p:grpSpPr>
          <a:xfrm>
            <a:off x="6722050" y="2501450"/>
            <a:ext cx="1859725" cy="1176700"/>
            <a:chOff x="6722050" y="2501450"/>
            <a:chExt cx="1859725" cy="1176700"/>
          </a:xfrm>
        </p:grpSpPr>
        <p:sp>
          <p:nvSpPr>
            <p:cNvPr id="881" name="Google Shape;881;p81"/>
            <p:cNvSpPr/>
            <p:nvPr/>
          </p:nvSpPr>
          <p:spPr>
            <a:xfrm>
              <a:off x="7536124" y="2923276"/>
              <a:ext cx="370659" cy="747475"/>
            </a:xfrm>
            <a:custGeom>
              <a:avLst/>
              <a:gdLst/>
              <a:ahLst/>
              <a:cxnLst/>
              <a:rect l="l" t="t" r="r" b="b"/>
              <a:pathLst>
                <a:path w="9498" h="29899" extrusionOk="0">
                  <a:moveTo>
                    <a:pt x="0" y="29899"/>
                  </a:moveTo>
                  <a:cubicBezTo>
                    <a:pt x="1579" y="25656"/>
                    <a:pt x="9276" y="9424"/>
                    <a:pt x="9473" y="4441"/>
                  </a:cubicBezTo>
                  <a:cubicBezTo>
                    <a:pt x="9670" y="-542"/>
                    <a:pt x="2566" y="740"/>
                    <a:pt x="1184"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82" name="Google Shape;882;p81"/>
            <p:cNvSpPr/>
            <p:nvPr/>
          </p:nvSpPr>
          <p:spPr>
            <a:xfrm>
              <a:off x="6722050" y="2705742"/>
              <a:ext cx="1462675" cy="972400"/>
            </a:xfrm>
            <a:custGeom>
              <a:avLst/>
              <a:gdLst/>
              <a:ahLst/>
              <a:cxnLst/>
              <a:rect l="l" t="t" r="r" b="b"/>
              <a:pathLst>
                <a:path w="58507" h="38896" extrusionOk="0">
                  <a:moveTo>
                    <a:pt x="37299" y="38896"/>
                  </a:moveTo>
                  <a:cubicBezTo>
                    <a:pt x="40654" y="33074"/>
                    <a:pt x="63646" y="10379"/>
                    <a:pt x="57429" y="3965"/>
                  </a:cubicBezTo>
                  <a:cubicBezTo>
                    <a:pt x="51213" y="-2449"/>
                    <a:pt x="9572" y="1005"/>
                    <a:pt x="0" y="41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83" name="Google Shape;883;p81"/>
            <p:cNvSpPr/>
            <p:nvPr/>
          </p:nvSpPr>
          <p:spPr>
            <a:xfrm>
              <a:off x="7610125" y="2501450"/>
              <a:ext cx="971650" cy="1176700"/>
            </a:xfrm>
            <a:custGeom>
              <a:avLst/>
              <a:gdLst/>
              <a:ahLst/>
              <a:cxnLst/>
              <a:rect l="l" t="t" r="r" b="b"/>
              <a:pathLst>
                <a:path w="38866" h="47068" extrusionOk="0">
                  <a:moveTo>
                    <a:pt x="8289" y="47068"/>
                  </a:moveTo>
                  <a:cubicBezTo>
                    <a:pt x="13371" y="40259"/>
                    <a:pt x="40162" y="14061"/>
                    <a:pt x="38780" y="6216"/>
                  </a:cubicBezTo>
                  <a:cubicBezTo>
                    <a:pt x="37399" y="-1629"/>
                    <a:pt x="6463" y="1036"/>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grpSp>
      <p:sp>
        <p:nvSpPr>
          <p:cNvPr id="884" name="Google Shape;884;p81"/>
          <p:cNvSpPr txBox="1">
            <a:spLocks noGrp="1"/>
          </p:cNvSpPr>
          <p:nvPr>
            <p:ph type="body" idx="3"/>
          </p:nvPr>
        </p:nvSpPr>
        <p:spPr>
          <a:xfrm>
            <a:off x="5171646" y="3598725"/>
            <a:ext cx="3825600" cy="8352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A </a:t>
            </a:r>
            <a:r>
              <a:rPr lang="en" sz="1200">
                <a:solidFill>
                  <a:srgbClr val="FF0000"/>
                </a:solidFill>
                <a:latin typeface="Courier New"/>
                <a:ea typeface="Courier New"/>
                <a:cs typeface="Courier New"/>
                <a:sym typeface="Courier New"/>
              </a:rPr>
              <a:t>PrintWriter</a:t>
            </a:r>
            <a:r>
              <a:rPr lang="en" sz="1200">
                <a:solidFill>
                  <a:srgbClr val="FF0000"/>
                </a:solidFill>
              </a:rPr>
              <a:t> </a:t>
            </a:r>
            <a:r>
              <a:rPr lang="en" sz="1200"/>
              <a:t>provides many </a:t>
            </a:r>
            <a:r>
              <a:rPr lang="en" sz="1200" b="1" i="1">
                <a:solidFill>
                  <a:srgbClr val="FF0000"/>
                </a:solidFill>
              </a:rPr>
              <a:t>convenience methods</a:t>
            </a:r>
            <a:r>
              <a:rPr lang="en" sz="1200"/>
              <a:t> for printing data. Anything </a:t>
            </a:r>
            <a:r>
              <a:rPr lang="en" sz="1200" b="1" i="1">
                <a:solidFill>
                  <a:srgbClr val="FF0000"/>
                </a:solidFill>
              </a:rPr>
              <a:t>printed </a:t>
            </a:r>
            <a:r>
              <a:rPr lang="en" sz="1200"/>
              <a:t>using the </a:t>
            </a:r>
            <a:r>
              <a:rPr lang="en" sz="1200">
                <a:latin typeface="Courier New"/>
                <a:ea typeface="Courier New"/>
                <a:cs typeface="Courier New"/>
                <a:sym typeface="Courier New"/>
              </a:rPr>
              <a:t>PrintWriter</a:t>
            </a:r>
            <a:r>
              <a:rPr lang="en" sz="1200"/>
              <a:t> is </a:t>
            </a:r>
            <a:r>
              <a:rPr lang="en" sz="1200" b="1" i="1">
                <a:solidFill>
                  <a:srgbClr val="FF0000"/>
                </a:solidFill>
              </a:rPr>
              <a:t>written </a:t>
            </a:r>
            <a:r>
              <a:rPr lang="en" sz="1200"/>
              <a:t>to the </a:t>
            </a:r>
            <a:r>
              <a:rPr lang="en" sz="1200">
                <a:latin typeface="Courier New"/>
                <a:ea typeface="Courier New"/>
                <a:cs typeface="Courier New"/>
                <a:sym typeface="Courier New"/>
              </a:rPr>
              <a:t>FileWriter</a:t>
            </a:r>
            <a:r>
              <a:rPr lang="en" sz="1200"/>
              <a:t> as character data.</a:t>
            </a:r>
            <a:endParaRPr sz="1200"/>
          </a:p>
        </p:txBody>
      </p:sp>
      <p:sp>
        <p:nvSpPr>
          <p:cNvPr id="885" name="Google Shape;885;p81"/>
          <p:cNvSpPr/>
          <p:nvPr/>
        </p:nvSpPr>
        <p:spPr>
          <a:xfrm>
            <a:off x="4902051" y="3191896"/>
            <a:ext cx="559675" cy="1628175"/>
          </a:xfrm>
          <a:custGeom>
            <a:avLst/>
            <a:gdLst/>
            <a:ahLst/>
            <a:cxnLst/>
            <a:rect l="l" t="t" r="r" b="b"/>
            <a:pathLst>
              <a:path w="22387" h="65127" extrusionOk="0">
                <a:moveTo>
                  <a:pt x="13506" y="65127"/>
                </a:moveTo>
                <a:cubicBezTo>
                  <a:pt x="11286" y="56542"/>
                  <a:pt x="-1295" y="24473"/>
                  <a:pt x="185" y="13618"/>
                </a:cubicBezTo>
                <a:cubicBezTo>
                  <a:pt x="1665" y="2764"/>
                  <a:pt x="18687" y="2270"/>
                  <a:pt x="22387"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886" name="Google Shape;886;p81"/>
          <p:cNvSpPr txBox="1">
            <a:spLocks noGrp="1"/>
          </p:cNvSpPr>
          <p:nvPr>
            <p:ph type="body" idx="3"/>
          </p:nvPr>
        </p:nvSpPr>
        <p:spPr>
          <a:xfrm>
            <a:off x="5171646" y="4506525"/>
            <a:ext cx="38256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Data should be </a:t>
            </a:r>
            <a:r>
              <a:rPr lang="en" sz="1200" b="1" i="1">
                <a:solidFill>
                  <a:srgbClr val="FF0000"/>
                </a:solidFill>
              </a:rPr>
              <a:t>flushed</a:t>
            </a:r>
            <a:r>
              <a:rPr lang="en" sz="1200">
                <a:solidFill>
                  <a:srgbClr val="FF0000"/>
                </a:solidFill>
              </a:rPr>
              <a:t> </a:t>
            </a:r>
            <a:r>
              <a:rPr lang="en" sz="1200"/>
              <a:t>and the </a:t>
            </a:r>
            <a:r>
              <a:rPr lang="en" sz="1200">
                <a:latin typeface="Courier New"/>
                <a:ea typeface="Courier New"/>
                <a:cs typeface="Courier New"/>
                <a:sym typeface="Courier New"/>
              </a:rPr>
              <a:t>PrintWriter</a:t>
            </a:r>
            <a:r>
              <a:rPr lang="en" sz="1200"/>
              <a:t> should be </a:t>
            </a:r>
            <a:r>
              <a:rPr lang="en" sz="1200" b="1" i="1">
                <a:solidFill>
                  <a:srgbClr val="FF0000"/>
                </a:solidFill>
              </a:rPr>
              <a:t>closed</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7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7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7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77"/>
                                        </p:tgtEl>
                                        <p:attrNameLst>
                                          <p:attrName>style.visibility</p:attrName>
                                        </p:attrNameLst>
                                      </p:cBhvr>
                                      <p:to>
                                        <p:strVal val="visible"/>
                                      </p:to>
                                    </p:set>
                                    <p:animEffect transition="in" filter="fade">
                                      <p:cBhvr>
                                        <p:cTn id="43" dur="1000"/>
                                        <p:tgtEl>
                                          <p:spTgt spid="877"/>
                                        </p:tgtEl>
                                      </p:cBhvr>
                                    </p:animEffect>
                                  </p:childTnLst>
                                </p:cTn>
                              </p:par>
                              <p:par>
                                <p:cTn id="44" presetID="10" presetClass="entr" presetSubtype="0" fill="hold" nodeType="withEffect">
                                  <p:stCondLst>
                                    <p:cond delay="0"/>
                                  </p:stCondLst>
                                  <p:childTnLst>
                                    <p:set>
                                      <p:cBhvr>
                                        <p:cTn id="45" dur="1" fill="hold">
                                          <p:stCondLst>
                                            <p:cond delay="0"/>
                                          </p:stCondLst>
                                        </p:cTn>
                                        <p:tgtEl>
                                          <p:spTgt spid="875"/>
                                        </p:tgtEl>
                                        <p:attrNameLst>
                                          <p:attrName>style.visibility</p:attrName>
                                        </p:attrNameLst>
                                      </p:cBhvr>
                                      <p:to>
                                        <p:strVal val="visible"/>
                                      </p:to>
                                    </p:set>
                                    <p:animEffect transition="in" filter="fade">
                                      <p:cBhvr>
                                        <p:cTn id="46" dur="1000"/>
                                        <p:tgtEl>
                                          <p:spTgt spid="875"/>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876"/>
                                        </p:tgtEl>
                                        <p:attrNameLst>
                                          <p:attrName>style.visibility</p:attrName>
                                        </p:attrNameLst>
                                      </p:cBhvr>
                                      <p:to>
                                        <p:strVal val="visible"/>
                                      </p:to>
                                    </p:set>
                                    <p:animEffect transition="in" filter="fade">
                                      <p:cBhvr>
                                        <p:cTn id="50" dur="1000"/>
                                        <p:tgtEl>
                                          <p:spTgt spid="87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879"/>
                                        </p:tgtEl>
                                        <p:attrNameLst>
                                          <p:attrName>style.visibility</p:attrName>
                                        </p:attrNameLst>
                                      </p:cBhvr>
                                      <p:to>
                                        <p:strVal val="visible"/>
                                      </p:to>
                                    </p:set>
                                    <p:animEffect transition="in" filter="fade">
                                      <p:cBhvr>
                                        <p:cTn id="55" dur="1000"/>
                                        <p:tgtEl>
                                          <p:spTgt spid="879"/>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878"/>
                                        </p:tgtEl>
                                        <p:attrNameLst>
                                          <p:attrName>style.visibility</p:attrName>
                                        </p:attrNameLst>
                                      </p:cBhvr>
                                      <p:to>
                                        <p:strVal val="visible"/>
                                      </p:to>
                                    </p:set>
                                    <p:animEffect transition="in" filter="fade">
                                      <p:cBhvr>
                                        <p:cTn id="59" dur="1000"/>
                                        <p:tgtEl>
                                          <p:spTgt spid="87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84"/>
                                        </p:tgtEl>
                                        <p:attrNameLst>
                                          <p:attrName>style.visibility</p:attrName>
                                        </p:attrNameLst>
                                      </p:cBhvr>
                                      <p:to>
                                        <p:strVal val="visible"/>
                                      </p:to>
                                    </p:set>
                                    <p:animEffect transition="in" filter="fade">
                                      <p:cBhvr>
                                        <p:cTn id="64" dur="1000"/>
                                        <p:tgtEl>
                                          <p:spTgt spid="884"/>
                                        </p:tgtEl>
                                      </p:cBhvr>
                                    </p:animEffect>
                                  </p:childTnLst>
                                </p:cTn>
                              </p:par>
                            </p:childTnLst>
                          </p:cTn>
                        </p:par>
                        <p:par>
                          <p:cTn id="65" fill="hold">
                            <p:stCondLst>
                              <p:cond delay="1000"/>
                            </p:stCondLst>
                            <p:childTnLst>
                              <p:par>
                                <p:cTn id="66" presetID="10" presetClass="entr" presetSubtype="0" fill="hold" nodeType="afterEffect">
                                  <p:stCondLst>
                                    <p:cond delay="0"/>
                                  </p:stCondLst>
                                  <p:childTnLst>
                                    <p:set>
                                      <p:cBhvr>
                                        <p:cTn id="67" dur="1" fill="hold">
                                          <p:stCondLst>
                                            <p:cond delay="0"/>
                                          </p:stCondLst>
                                        </p:cTn>
                                        <p:tgtEl>
                                          <p:spTgt spid="880"/>
                                        </p:tgtEl>
                                        <p:attrNameLst>
                                          <p:attrName>style.visibility</p:attrName>
                                        </p:attrNameLst>
                                      </p:cBhvr>
                                      <p:to>
                                        <p:strVal val="visible"/>
                                      </p:to>
                                    </p:set>
                                    <p:animEffect transition="in" filter="fade">
                                      <p:cBhvr>
                                        <p:cTn id="68" dur="1000"/>
                                        <p:tgtEl>
                                          <p:spTgt spid="88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886"/>
                                        </p:tgtEl>
                                        <p:attrNameLst>
                                          <p:attrName>style.visibility</p:attrName>
                                        </p:attrNameLst>
                                      </p:cBhvr>
                                      <p:to>
                                        <p:strVal val="visible"/>
                                      </p:to>
                                    </p:set>
                                    <p:animEffect transition="in" filter="fade">
                                      <p:cBhvr>
                                        <p:cTn id="73" dur="1000"/>
                                        <p:tgtEl>
                                          <p:spTgt spid="886"/>
                                        </p:tgtEl>
                                      </p:cBhvr>
                                    </p:animEffect>
                                  </p:childTnLst>
                                </p:cTn>
                              </p:par>
                            </p:childTnLst>
                          </p:cTn>
                        </p:par>
                        <p:par>
                          <p:cTn id="74" fill="hold">
                            <p:stCondLst>
                              <p:cond delay="1000"/>
                            </p:stCondLst>
                            <p:childTnLst>
                              <p:par>
                                <p:cTn id="75" presetID="10" presetClass="entr" presetSubtype="0" fill="hold" nodeType="afterEffect">
                                  <p:stCondLst>
                                    <p:cond delay="0"/>
                                  </p:stCondLst>
                                  <p:childTnLst>
                                    <p:set>
                                      <p:cBhvr>
                                        <p:cTn id="76" dur="1" fill="hold">
                                          <p:stCondLst>
                                            <p:cond delay="0"/>
                                          </p:stCondLst>
                                        </p:cTn>
                                        <p:tgtEl>
                                          <p:spTgt spid="885"/>
                                        </p:tgtEl>
                                        <p:attrNameLst>
                                          <p:attrName>style.visibility</p:attrName>
                                        </p:attrNameLst>
                                      </p:cBhvr>
                                      <p:to>
                                        <p:strVal val="visible"/>
                                      </p:to>
                                    </p:set>
                                    <p:animEffect transition="in" filter="fade">
                                      <p:cBhvr>
                                        <p:cTn id="77" dur="1000"/>
                                        <p:tgtEl>
                                          <p:spTgt spid="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82"/>
          <p:cNvSpPr txBox="1">
            <a:spLocks noGrp="1"/>
          </p:cNvSpPr>
          <p:nvPr>
            <p:ph type="body" idx="1"/>
          </p:nvPr>
        </p:nvSpPr>
        <p:spPr>
          <a:xfrm>
            <a:off x="65250" y="6554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Using Java to write to text files is just as complicated as reading files. It will take lots of practice for you to get used to it. Using the code examples below and the code you wrote for previous activities in this unit, write a command-line text editing tool that saves text that the user types to a file.</a:t>
            </a:r>
            <a:endParaRPr/>
          </a:p>
        </p:txBody>
      </p:sp>
      <p:sp>
        <p:nvSpPr>
          <p:cNvPr id="892" name="Google Shape;892;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893" name="Google Shape;893;p82"/>
          <p:cNvSpPr txBox="1">
            <a:spLocks noGrp="1"/>
          </p:cNvSpPr>
          <p:nvPr>
            <p:ph type="body" idx="2"/>
          </p:nvPr>
        </p:nvSpPr>
        <p:spPr>
          <a:xfrm>
            <a:off x="3279250" y="1936925"/>
            <a:ext cx="5661900" cy="28074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TextEdit</a:t>
            </a:r>
            <a:r>
              <a:rPr lang="en" sz="1400"/>
              <a:t>" and define a </a:t>
            </a:r>
            <a:r>
              <a:rPr lang="en" sz="1400">
                <a:solidFill>
                  <a:srgbClr val="FF0000"/>
                </a:solidFill>
                <a:latin typeface="Courier New"/>
                <a:ea typeface="Courier New"/>
                <a:cs typeface="Courier New"/>
                <a:sym typeface="Courier New"/>
              </a:rPr>
              <a:t>main</a:t>
            </a:r>
            <a:r>
              <a:rPr lang="en" sz="1400">
                <a:solidFill>
                  <a:srgbClr val="FF0000"/>
                </a:solidFill>
              </a:rPr>
              <a:t> </a:t>
            </a:r>
            <a:r>
              <a:rPr lang="en" sz="1400"/>
              <a:t>method with the appropriate signature.</a:t>
            </a:r>
            <a:endParaRPr sz="1400"/>
          </a:p>
          <a:p>
            <a:pPr marL="914400" lvl="1" indent="-304800" algn="l" rtl="0">
              <a:spcBef>
                <a:spcPts val="0"/>
              </a:spcBef>
              <a:spcAft>
                <a:spcPts val="0"/>
              </a:spcAft>
              <a:buSzPts val="1200"/>
              <a:buChar char="○"/>
            </a:pPr>
            <a:r>
              <a:rPr lang="en" sz="1200"/>
              <a:t>Prompt the user to enter a </a:t>
            </a:r>
            <a:r>
              <a:rPr lang="en" sz="1200" b="1" i="1">
                <a:solidFill>
                  <a:srgbClr val="FF0000"/>
                </a:solidFill>
              </a:rPr>
              <a:t>filename </a:t>
            </a:r>
            <a:r>
              <a:rPr lang="en" sz="1200"/>
              <a:t>and use it to create a </a:t>
            </a:r>
            <a:r>
              <a:rPr lang="en" sz="1200">
                <a:solidFill>
                  <a:srgbClr val="FF0000"/>
                </a:solidFill>
                <a:latin typeface="Courier New"/>
                <a:ea typeface="Courier New"/>
                <a:cs typeface="Courier New"/>
                <a:sym typeface="Courier New"/>
              </a:rPr>
              <a:t>FileWriter</a:t>
            </a:r>
            <a:r>
              <a:rPr lang="en" sz="1200"/>
              <a:t>.</a:t>
            </a:r>
            <a:endParaRPr sz="1200"/>
          </a:p>
          <a:p>
            <a:pPr marL="914400" lvl="1" indent="-304800" algn="l" rtl="0">
              <a:spcBef>
                <a:spcPts val="0"/>
              </a:spcBef>
              <a:spcAft>
                <a:spcPts val="0"/>
              </a:spcAft>
              <a:buSzPts val="1200"/>
              <a:buChar char="○"/>
            </a:pPr>
            <a:r>
              <a:rPr lang="en" sz="1200"/>
              <a:t>Use the </a:t>
            </a:r>
            <a:r>
              <a:rPr lang="en" sz="1200">
                <a:latin typeface="Courier New"/>
                <a:ea typeface="Courier New"/>
                <a:cs typeface="Courier New"/>
                <a:sym typeface="Courier New"/>
              </a:rPr>
              <a:t>FileWriter</a:t>
            </a:r>
            <a:r>
              <a:rPr lang="en" sz="1200"/>
              <a:t> to create a </a:t>
            </a:r>
            <a:r>
              <a:rPr lang="en" sz="1200">
                <a:solidFill>
                  <a:srgbClr val="FF0000"/>
                </a:solidFill>
                <a:latin typeface="Courier New"/>
                <a:ea typeface="Courier New"/>
                <a:cs typeface="Courier New"/>
                <a:sym typeface="Courier New"/>
              </a:rPr>
              <a:t>PrintWriter</a:t>
            </a:r>
            <a:r>
              <a:rPr lang="en" sz="1200">
                <a:solidFill>
                  <a:srgbClr val="FF0000"/>
                </a:solidFill>
              </a:rPr>
              <a:t> </a:t>
            </a:r>
            <a:r>
              <a:rPr lang="en" sz="1200"/>
              <a:t>that you will use to </a:t>
            </a:r>
            <a:r>
              <a:rPr lang="en" sz="1200" b="1" i="1">
                <a:solidFill>
                  <a:srgbClr val="FF0000"/>
                </a:solidFill>
              </a:rPr>
              <a:t>print lines to the file</a:t>
            </a:r>
            <a:r>
              <a:rPr lang="en" sz="1200"/>
              <a:t>.</a:t>
            </a:r>
            <a:endParaRPr sz="1200"/>
          </a:p>
          <a:p>
            <a:pPr marL="914400" lvl="1" indent="-304800" algn="l" rtl="0">
              <a:spcBef>
                <a:spcPts val="0"/>
              </a:spcBef>
              <a:spcAft>
                <a:spcPts val="0"/>
              </a:spcAft>
              <a:buSzPts val="1200"/>
              <a:buChar char="○"/>
            </a:pPr>
            <a:r>
              <a:rPr lang="en" sz="1200"/>
              <a:t>Use a </a:t>
            </a:r>
            <a:r>
              <a:rPr lang="en" sz="1200">
                <a:solidFill>
                  <a:srgbClr val="FF0000"/>
                </a:solidFill>
                <a:latin typeface="Courier New"/>
                <a:ea typeface="Courier New"/>
                <a:cs typeface="Courier New"/>
                <a:sym typeface="Courier New"/>
              </a:rPr>
              <a:t>Scanner</a:t>
            </a:r>
            <a:r>
              <a:rPr lang="en" sz="1200">
                <a:solidFill>
                  <a:srgbClr val="FF0000"/>
                </a:solidFill>
              </a:rPr>
              <a:t> </a:t>
            </a:r>
            <a:r>
              <a:rPr lang="en" sz="1200"/>
              <a:t>and a </a:t>
            </a:r>
            <a:r>
              <a:rPr lang="en" sz="1200" b="1" i="1">
                <a:solidFill>
                  <a:srgbClr val="FF0000"/>
                </a:solidFill>
              </a:rPr>
              <a:t>loop </a:t>
            </a:r>
            <a:r>
              <a:rPr lang="en" sz="1200"/>
              <a:t>to allow the user to enter text into </a:t>
            </a:r>
            <a:r>
              <a:rPr lang="en" sz="1200" b="1" i="1">
                <a:solidFill>
                  <a:srgbClr val="FF0000"/>
                </a:solidFill>
              </a:rPr>
              <a:t>standard input</a:t>
            </a:r>
            <a:r>
              <a:rPr lang="en" sz="1200"/>
              <a:t>. Use the </a:t>
            </a:r>
            <a:r>
              <a:rPr lang="en" sz="1200">
                <a:latin typeface="Courier New"/>
                <a:ea typeface="Courier New"/>
                <a:cs typeface="Courier New"/>
                <a:sym typeface="Courier New"/>
              </a:rPr>
              <a:t>PrintWriter</a:t>
            </a:r>
            <a:r>
              <a:rPr lang="en" sz="1200"/>
              <a:t> to write each line of text to the file. Stop if the user enters a </a:t>
            </a:r>
            <a:r>
              <a:rPr lang="en" sz="1200" b="1" i="1">
                <a:solidFill>
                  <a:srgbClr val="FF0000"/>
                </a:solidFill>
              </a:rPr>
              <a:t>blank line</a:t>
            </a:r>
            <a:r>
              <a:rPr lang="en" sz="1200"/>
              <a:t>.</a:t>
            </a:r>
            <a:endParaRPr sz="1200"/>
          </a:p>
          <a:p>
            <a:pPr marL="914400" lvl="1" indent="-304800" algn="l" rtl="0">
              <a:spcBef>
                <a:spcPts val="0"/>
              </a:spcBef>
              <a:spcAft>
                <a:spcPts val="0"/>
              </a:spcAft>
              <a:buSzPts val="1200"/>
              <a:buChar char="○"/>
            </a:pPr>
            <a:r>
              <a:rPr lang="en" sz="1200"/>
              <a:t>Don't forget to </a:t>
            </a:r>
            <a:r>
              <a:rPr lang="en" sz="1200" b="1" i="1">
                <a:solidFill>
                  <a:srgbClr val="FF0000"/>
                </a:solidFill>
              </a:rPr>
              <a:t>close </a:t>
            </a:r>
            <a:r>
              <a:rPr lang="en" sz="1200"/>
              <a:t>your </a:t>
            </a:r>
            <a:r>
              <a:rPr lang="en" sz="1200">
                <a:latin typeface="Courier New"/>
                <a:ea typeface="Courier New"/>
                <a:cs typeface="Courier New"/>
                <a:sym typeface="Courier New"/>
              </a:rPr>
              <a:t>Scanner</a:t>
            </a:r>
            <a:r>
              <a:rPr lang="en" sz="1200"/>
              <a:t> and </a:t>
            </a:r>
            <a:r>
              <a:rPr lang="en" sz="1200">
                <a:latin typeface="Courier New"/>
                <a:ea typeface="Courier New"/>
                <a:cs typeface="Courier New"/>
                <a:sym typeface="Courier New"/>
              </a:rPr>
              <a:t>FileReader</a:t>
            </a:r>
            <a:r>
              <a:rPr lang="en" sz="1200"/>
              <a:t>!</a:t>
            </a:r>
            <a:endParaRPr sz="1200"/>
          </a:p>
          <a:p>
            <a:pPr marL="914400" lvl="1" indent="-304800" algn="l" rtl="0">
              <a:spcBef>
                <a:spcPts val="0"/>
              </a:spcBef>
              <a:spcAft>
                <a:spcPts val="0"/>
              </a:spcAft>
              <a:buSzPts val="1200"/>
              <a:buChar char="○"/>
            </a:pPr>
            <a:r>
              <a:rPr lang="en" sz="1200"/>
              <a:t>Use a </a:t>
            </a:r>
            <a:r>
              <a:rPr lang="en" sz="1200">
                <a:latin typeface="Courier New"/>
                <a:ea typeface="Courier New"/>
                <a:cs typeface="Courier New"/>
                <a:sym typeface="Courier New"/>
              </a:rPr>
              <a:t>try</a:t>
            </a:r>
            <a:r>
              <a:rPr lang="en" sz="1200"/>
              <a:t>/</a:t>
            </a:r>
            <a:r>
              <a:rPr lang="en" sz="1200">
                <a:latin typeface="Courier New"/>
                <a:ea typeface="Courier New"/>
                <a:cs typeface="Courier New"/>
                <a:sym typeface="Courier New"/>
              </a:rPr>
              <a:t>catch</a:t>
            </a:r>
            <a:r>
              <a:rPr lang="en" sz="1200"/>
              <a:t> to handle any exceptions and exit gracefully.</a:t>
            </a:r>
            <a:endParaRPr sz="1200"/>
          </a:p>
          <a:p>
            <a:pPr marL="457200" lvl="0" indent="-317500" algn="l" rtl="0">
              <a:spcBef>
                <a:spcPts val="0"/>
              </a:spcBef>
              <a:spcAft>
                <a:spcPts val="0"/>
              </a:spcAft>
              <a:buSzPts val="1400"/>
              <a:buChar char="●"/>
            </a:pPr>
            <a:r>
              <a:rPr lang="en" sz="1400"/>
              <a:t>Run the class.</a:t>
            </a:r>
            <a:endParaRPr sz="1400"/>
          </a:p>
        </p:txBody>
      </p:sp>
      <p:sp>
        <p:nvSpPr>
          <p:cNvPr id="894" name="Google Shape;894;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Writing Text Files</a:t>
            </a:r>
            <a:endParaRPr/>
          </a:p>
        </p:txBody>
      </p:sp>
      <p:sp>
        <p:nvSpPr>
          <p:cNvPr id="895" name="Google Shape;895;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4.18</a:t>
            </a:r>
            <a:endParaRPr/>
          </a:p>
        </p:txBody>
      </p:sp>
      <p:sp>
        <p:nvSpPr>
          <p:cNvPr id="896" name="Google Shape;896;p82"/>
          <p:cNvSpPr txBox="1">
            <a:spLocks noGrp="1"/>
          </p:cNvSpPr>
          <p:nvPr>
            <p:ph type="body" idx="4"/>
          </p:nvPr>
        </p:nvSpPr>
        <p:spPr>
          <a:xfrm>
            <a:off x="174100" y="1985100"/>
            <a:ext cx="3000300" cy="21009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fw</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"a_file.txt"</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(fw);</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"Your age is: "</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18</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 years old."</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flush</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close</a:t>
            </a:r>
            <a:r>
              <a:rPr lang="en" sz="1050">
                <a:solidFill>
                  <a:srgbClr val="000000"/>
                </a:solidFill>
                <a:latin typeface="Consolas"/>
                <a:ea typeface="Consolas"/>
                <a:cs typeface="Consolas"/>
                <a:sym typeface="Consolas"/>
              </a:rPr>
              <a:t>();</a:t>
            </a:r>
            <a:endParaRPr sz="1000">
              <a:solidFill>
                <a:srgbClr val="999999"/>
              </a:solidFill>
              <a:latin typeface="Consolas"/>
              <a:ea typeface="Consolas"/>
              <a:cs typeface="Consolas"/>
              <a:sym typeface="Consolas"/>
            </a:endParaRPr>
          </a:p>
        </p:txBody>
      </p:sp>
      <p:sp>
        <p:nvSpPr>
          <p:cNvPr id="897" name="Google Shape;897;p82"/>
          <p:cNvSpPr txBox="1">
            <a:spLocks noGrp="1"/>
          </p:cNvSpPr>
          <p:nvPr>
            <p:ph type="body" idx="2"/>
          </p:nvPr>
        </p:nvSpPr>
        <p:spPr>
          <a:xfrm>
            <a:off x="150700" y="4221600"/>
            <a:ext cx="3047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 </a:t>
            </a:r>
            <a:r>
              <a:rPr lang="en" sz="1200">
                <a:solidFill>
                  <a:srgbClr val="FF0000"/>
                </a:solidFill>
                <a:latin typeface="Courier New"/>
                <a:ea typeface="Courier New"/>
                <a:cs typeface="Courier New"/>
                <a:sym typeface="Courier New"/>
              </a:rPr>
              <a:t>FileWriter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a:t>
            </a:r>
            <a:r>
              <a:rPr lang="en" sz="1200">
                <a:solidFill>
                  <a:srgbClr val="FF0000"/>
                </a:solidFill>
                <a:latin typeface="Courier New"/>
                <a:ea typeface="Courier New"/>
                <a:cs typeface="Courier New"/>
                <a:sym typeface="Courier New"/>
              </a:rPr>
              <a:t>PrintWriter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can be used in conjunction to make writing text fairly easy. </a:t>
            </a:r>
            <a:endParaRPr sz="1200">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903" name="Google Shape;903;p83"/>
          <p:cNvSpPr txBox="1">
            <a:spLocks noGrp="1"/>
          </p:cNvSpPr>
          <p:nvPr>
            <p:ph type="title"/>
          </p:nvPr>
        </p:nvSpPr>
        <p:spPr>
          <a:xfrm>
            <a:off x="311725" y="43725"/>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700">
                <a:latin typeface="Courier New"/>
                <a:ea typeface="Courier New"/>
                <a:cs typeface="Courier New"/>
                <a:sym typeface="Courier New"/>
              </a:rPr>
              <a:t>try</a:t>
            </a:r>
            <a:r>
              <a:rPr lang="en" sz="2700"/>
              <a:t>-with-resources</a:t>
            </a:r>
            <a:endParaRPr sz="2700"/>
          </a:p>
        </p:txBody>
      </p:sp>
      <p:sp>
        <p:nvSpPr>
          <p:cNvPr id="904" name="Google Shape;904;p83"/>
          <p:cNvSpPr txBox="1">
            <a:spLocks noGrp="1"/>
          </p:cNvSpPr>
          <p:nvPr>
            <p:ph type="body" idx="1"/>
          </p:nvPr>
        </p:nvSpPr>
        <p:spPr>
          <a:xfrm>
            <a:off x="4384625" y="43725"/>
            <a:ext cx="4595100" cy="4991700"/>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a:t>A process that opens a file maintains a </a:t>
            </a:r>
            <a:r>
              <a:rPr lang="en" b="1" i="1">
                <a:solidFill>
                  <a:srgbClr val="FF0000"/>
                </a:solidFill>
              </a:rPr>
              <a:t>lock </a:t>
            </a:r>
            <a:r>
              <a:rPr lang="en"/>
              <a:t>on that file until it is </a:t>
            </a:r>
            <a:r>
              <a:rPr lang="en" b="1" i="1">
                <a:solidFill>
                  <a:srgbClr val="FF0000"/>
                </a:solidFill>
              </a:rPr>
              <a:t>closed</a:t>
            </a:r>
            <a:r>
              <a:rPr lang="en"/>
              <a:t>.</a:t>
            </a:r>
            <a:endParaRPr/>
          </a:p>
          <a:p>
            <a:pPr marL="914400" lvl="1" indent="-298450" algn="l" rtl="0">
              <a:spcBef>
                <a:spcPts val="0"/>
              </a:spcBef>
              <a:spcAft>
                <a:spcPts val="0"/>
              </a:spcAft>
              <a:buSzPts val="1100"/>
              <a:buChar char="○"/>
            </a:pPr>
            <a:r>
              <a:rPr lang="en"/>
              <a:t>This lock will prevent other processes from interacting with the file.</a:t>
            </a:r>
            <a:endParaRPr/>
          </a:p>
          <a:p>
            <a:pPr marL="457200" lvl="0" indent="-311150" algn="l" rtl="0">
              <a:spcBef>
                <a:spcPts val="0"/>
              </a:spcBef>
              <a:spcAft>
                <a:spcPts val="0"/>
              </a:spcAft>
              <a:buSzPts val="1300"/>
              <a:buChar char="●"/>
            </a:pPr>
            <a:r>
              <a:rPr lang="en"/>
              <a:t>However, </a:t>
            </a:r>
            <a:r>
              <a:rPr lang="en" b="1" i="1">
                <a:solidFill>
                  <a:srgbClr val="FF0000"/>
                </a:solidFill>
              </a:rPr>
              <a:t>properly </a:t>
            </a:r>
            <a:r>
              <a:rPr lang="en"/>
              <a:t>closing a file can be challenging under some circumstances.</a:t>
            </a:r>
            <a:endParaRPr/>
          </a:p>
          <a:p>
            <a:pPr marL="914400" lvl="1" indent="-298450" algn="l" rtl="0">
              <a:spcBef>
                <a:spcPts val="0"/>
              </a:spcBef>
              <a:spcAft>
                <a:spcPts val="0"/>
              </a:spcAft>
              <a:buSzPts val="1100"/>
              <a:buChar char="○"/>
            </a:pPr>
            <a:r>
              <a:rPr lang="en"/>
              <a:t>What if there is an exception?</a:t>
            </a:r>
            <a:endParaRPr/>
          </a:p>
          <a:p>
            <a:pPr marL="914400" lvl="1" indent="-298450" algn="l" rtl="0">
              <a:spcBef>
                <a:spcPts val="0"/>
              </a:spcBef>
              <a:spcAft>
                <a:spcPts val="0"/>
              </a:spcAft>
              <a:buSzPts val="1100"/>
              <a:buChar char="○"/>
            </a:pPr>
            <a:r>
              <a:rPr lang="en"/>
              <a:t>What if the file fails to open at all?</a:t>
            </a:r>
            <a:endParaRPr/>
          </a:p>
          <a:p>
            <a:pPr marL="914400" lvl="1" indent="-298450" algn="l" rtl="0">
              <a:spcBef>
                <a:spcPts val="0"/>
              </a:spcBef>
              <a:spcAft>
                <a:spcPts val="0"/>
              </a:spcAft>
              <a:buSzPts val="1100"/>
              <a:buChar char="○"/>
            </a:pPr>
            <a:r>
              <a:rPr lang="en"/>
              <a:t>What if closing the file throws an exception?!</a:t>
            </a:r>
            <a:endParaRPr/>
          </a:p>
          <a:p>
            <a:pPr marL="457200" lvl="0" indent="-311150" algn="l" rtl="0">
              <a:spcBef>
                <a:spcPts val="0"/>
              </a:spcBef>
              <a:spcAft>
                <a:spcPts val="0"/>
              </a:spcAft>
              <a:buSzPts val="1300"/>
              <a:buChar char="●"/>
            </a:pPr>
            <a:r>
              <a:rPr lang="en"/>
              <a:t>You should remember that Python includes a </a:t>
            </a:r>
            <a:r>
              <a:rPr lang="en">
                <a:solidFill>
                  <a:srgbClr val="FF0000"/>
                </a:solidFill>
                <a:latin typeface="Courier New"/>
                <a:ea typeface="Courier New"/>
                <a:cs typeface="Courier New"/>
                <a:sym typeface="Courier New"/>
              </a:rPr>
              <a:t>with-as</a:t>
            </a:r>
            <a:r>
              <a:rPr lang="en"/>
              <a:t> statement that ensures that a file is always closed, regardless of whether an error is raised.</a:t>
            </a:r>
            <a:endParaRPr/>
          </a:p>
          <a:p>
            <a:pPr marL="457200" lvl="0" indent="-311150" algn="l" rtl="0">
              <a:spcBef>
                <a:spcPts val="0"/>
              </a:spcBef>
              <a:spcAft>
                <a:spcPts val="0"/>
              </a:spcAft>
              <a:buSzPts val="1300"/>
              <a:buChar char="●"/>
            </a:pPr>
            <a:r>
              <a:rPr lang="en"/>
              <a:t>Java includes a similar feature: </a:t>
            </a:r>
            <a:r>
              <a:rPr lang="en">
                <a:solidFill>
                  <a:srgbClr val="FF0000"/>
                </a:solidFill>
                <a:latin typeface="Courier New"/>
                <a:ea typeface="Courier New"/>
                <a:cs typeface="Courier New"/>
                <a:sym typeface="Courier New"/>
              </a:rPr>
              <a:t>try</a:t>
            </a:r>
            <a:r>
              <a:rPr lang="en" b="1" i="1">
                <a:solidFill>
                  <a:srgbClr val="FF0000"/>
                </a:solidFill>
              </a:rPr>
              <a:t>-with-resources</a:t>
            </a:r>
            <a:r>
              <a:rPr lang="en"/>
              <a:t>.</a:t>
            </a:r>
            <a:endParaRPr/>
          </a:p>
          <a:p>
            <a:pPr marL="914400" lvl="1" indent="-298450" algn="l" rtl="0">
              <a:spcBef>
                <a:spcPts val="0"/>
              </a:spcBef>
              <a:spcAft>
                <a:spcPts val="0"/>
              </a:spcAft>
              <a:buSzPts val="1100"/>
              <a:buChar char="○"/>
            </a:pPr>
            <a:r>
              <a:rPr lang="en"/>
              <a:t>Resources like </a:t>
            </a:r>
            <a:r>
              <a:rPr lang="en">
                <a:latin typeface="Courier New"/>
                <a:ea typeface="Courier New"/>
                <a:cs typeface="Courier New"/>
                <a:sym typeface="Courier New"/>
              </a:rPr>
              <a:t>FileReader</a:t>
            </a:r>
            <a:r>
              <a:rPr lang="en"/>
              <a:t> or </a:t>
            </a:r>
            <a:r>
              <a:rPr lang="en">
                <a:latin typeface="Courier New"/>
                <a:ea typeface="Courier New"/>
                <a:cs typeface="Courier New"/>
                <a:sym typeface="Courier New"/>
              </a:rPr>
              <a:t>PrintWriter</a:t>
            </a:r>
            <a:r>
              <a:rPr lang="en"/>
              <a:t> are initialized in </a:t>
            </a:r>
            <a:r>
              <a:rPr lang="en" b="1" i="1">
                <a:solidFill>
                  <a:srgbClr val="FF0000"/>
                </a:solidFill>
              </a:rPr>
              <a:t>parentheses</a:t>
            </a:r>
            <a:r>
              <a:rPr lang="en"/>
              <a:t> after the </a:t>
            </a:r>
            <a:r>
              <a:rPr lang="en">
                <a:latin typeface="Courier New"/>
                <a:ea typeface="Courier New"/>
                <a:cs typeface="Courier New"/>
                <a:sym typeface="Courier New"/>
              </a:rPr>
              <a:t>try</a:t>
            </a:r>
            <a:r>
              <a:rPr lang="en"/>
              <a:t>.</a:t>
            </a:r>
            <a:endParaRPr/>
          </a:p>
          <a:p>
            <a:pPr marL="914400" lvl="1" indent="-298450" algn="l" rtl="0">
              <a:spcBef>
                <a:spcPts val="0"/>
              </a:spcBef>
              <a:spcAft>
                <a:spcPts val="0"/>
              </a:spcAft>
              <a:buSzPts val="1100"/>
              <a:buChar char="○"/>
            </a:pPr>
            <a:r>
              <a:rPr lang="en"/>
              <a:t>Any such resources are </a:t>
            </a:r>
            <a:r>
              <a:rPr lang="en" b="1" i="1">
                <a:solidFill>
                  <a:srgbClr val="FF0000"/>
                </a:solidFill>
              </a:rPr>
              <a:t>automatically closed</a:t>
            </a:r>
            <a:r>
              <a:rPr lang="en"/>
              <a:t> when the body of the try exits (after the closing curly brace).</a:t>
            </a:r>
            <a:endParaRPr/>
          </a:p>
          <a:p>
            <a:pPr marL="457200" lvl="0" indent="-311150" algn="l" rtl="0">
              <a:spcBef>
                <a:spcPts val="0"/>
              </a:spcBef>
              <a:spcAft>
                <a:spcPts val="0"/>
              </a:spcAft>
              <a:buSzPts val="1300"/>
              <a:buChar char="●"/>
            </a:pPr>
            <a:r>
              <a:rPr lang="en"/>
              <a:t>A </a:t>
            </a:r>
            <a:r>
              <a:rPr lang="en">
                <a:latin typeface="Courier New"/>
                <a:ea typeface="Courier New"/>
                <a:cs typeface="Courier New"/>
                <a:sym typeface="Courier New"/>
              </a:rPr>
              <a:t>try</a:t>
            </a:r>
            <a:r>
              <a:rPr lang="en"/>
              <a:t>-with-resources </a:t>
            </a:r>
            <a:r>
              <a:rPr lang="en" b="1" i="1">
                <a:solidFill>
                  <a:srgbClr val="FF0000"/>
                </a:solidFill>
              </a:rPr>
              <a:t>does not</a:t>
            </a:r>
            <a:r>
              <a:rPr lang="en"/>
              <a:t> need to be followed by a </a:t>
            </a:r>
            <a:r>
              <a:rPr lang="en">
                <a:latin typeface="Courier New"/>
                <a:ea typeface="Courier New"/>
                <a:cs typeface="Courier New"/>
                <a:sym typeface="Courier New"/>
              </a:rPr>
              <a:t>catch</a:t>
            </a:r>
            <a:r>
              <a:rPr lang="en"/>
              <a:t> block.</a:t>
            </a:r>
            <a:endParaRPr/>
          </a:p>
          <a:p>
            <a:pPr marL="914400" lvl="1" indent="-298450" algn="l" rtl="0">
              <a:spcBef>
                <a:spcPts val="0"/>
              </a:spcBef>
              <a:spcAft>
                <a:spcPts val="0"/>
              </a:spcAft>
              <a:buSzPts val="1100"/>
              <a:buChar char="○"/>
            </a:pPr>
            <a:r>
              <a:rPr lang="en"/>
              <a:t>If a </a:t>
            </a:r>
            <a:r>
              <a:rPr lang="en">
                <a:latin typeface="Courier New"/>
                <a:ea typeface="Courier New"/>
                <a:cs typeface="Courier New"/>
                <a:sym typeface="Courier New"/>
              </a:rPr>
              <a:t>catch</a:t>
            </a:r>
            <a:r>
              <a:rPr lang="en"/>
              <a:t> block </a:t>
            </a:r>
            <a:r>
              <a:rPr lang="en" b="1" i="1">
                <a:solidFill>
                  <a:srgbClr val="FF0000"/>
                </a:solidFill>
              </a:rPr>
              <a:t>is </a:t>
            </a:r>
            <a:r>
              <a:rPr lang="en"/>
              <a:t>used, the resources will be closed </a:t>
            </a:r>
            <a:r>
              <a:rPr lang="en" b="1" i="1">
                <a:solidFill>
                  <a:srgbClr val="FF0000"/>
                </a:solidFill>
              </a:rPr>
              <a:t>after</a:t>
            </a:r>
            <a:r>
              <a:rPr lang="en">
                <a:solidFill>
                  <a:srgbClr val="FF0000"/>
                </a:solidFill>
              </a:rPr>
              <a:t> </a:t>
            </a:r>
            <a:r>
              <a:rPr lang="en"/>
              <a:t>it is executed.</a:t>
            </a:r>
            <a:endParaRPr/>
          </a:p>
          <a:p>
            <a:pPr marL="914400" lvl="1" indent="-298450" algn="l" rtl="0">
              <a:spcBef>
                <a:spcPts val="0"/>
              </a:spcBef>
              <a:spcAft>
                <a:spcPts val="0"/>
              </a:spcAft>
              <a:buSzPts val="1100"/>
              <a:buChar char="○"/>
            </a:pPr>
            <a:r>
              <a:rPr lang="en"/>
              <a:t>If you </a:t>
            </a:r>
            <a:r>
              <a:rPr lang="en" b="1" i="1">
                <a:solidFill>
                  <a:srgbClr val="FF0000"/>
                </a:solidFill>
              </a:rPr>
              <a:t>do</a:t>
            </a:r>
            <a:r>
              <a:rPr lang="en">
                <a:solidFill>
                  <a:srgbClr val="FF0000"/>
                </a:solidFill>
              </a:rPr>
              <a:t> </a:t>
            </a:r>
            <a:r>
              <a:rPr lang="en"/>
              <a:t>omit the catch block, a checked exception (like </a:t>
            </a:r>
            <a:r>
              <a:rPr lang="en">
                <a:latin typeface="Courier New"/>
                <a:ea typeface="Courier New"/>
                <a:cs typeface="Courier New"/>
                <a:sym typeface="Courier New"/>
              </a:rPr>
              <a:t>IOException</a:t>
            </a:r>
            <a:r>
              <a:rPr lang="en"/>
              <a:t>) will need to be </a:t>
            </a:r>
            <a:r>
              <a:rPr lang="en" b="1" i="1">
                <a:solidFill>
                  <a:srgbClr val="FF0000"/>
                </a:solidFill>
              </a:rPr>
              <a:t>rethrown</a:t>
            </a:r>
            <a:r>
              <a:rPr lang="en"/>
              <a:t>.</a:t>
            </a:r>
            <a:endParaRPr/>
          </a:p>
        </p:txBody>
      </p:sp>
      <p:sp>
        <p:nvSpPr>
          <p:cNvPr id="905" name="Google Shape;905;p83"/>
          <p:cNvSpPr txBox="1">
            <a:spLocks noGrp="1"/>
          </p:cNvSpPr>
          <p:nvPr>
            <p:ph type="body" idx="2"/>
          </p:nvPr>
        </p:nvSpPr>
        <p:spPr>
          <a:xfrm>
            <a:off x="315425" y="1480650"/>
            <a:ext cx="3706500" cy="1813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try</a:t>
            </a:r>
            <a:r>
              <a:rPr lang="en" sz="1050" b="1">
                <a:solidFill>
                  <a:srgbClr val="FF9900"/>
                </a:solidFill>
                <a:latin typeface="Consolas"/>
                <a:ea typeface="Consolas"/>
                <a:cs typeface="Consolas"/>
                <a:sym typeface="Consolas"/>
              </a:rPr>
              <a:t>(</a:t>
            </a:r>
            <a:r>
              <a:rPr lang="en" sz="1050">
                <a:solidFill>
                  <a:srgbClr val="267F99"/>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out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FileWriter</a:t>
            </a:r>
            <a:r>
              <a:rPr lang="en" sz="1050">
                <a:solidFill>
                  <a:srgbClr val="000000"/>
                </a:solidFill>
                <a:latin typeface="Consolas"/>
                <a:ea typeface="Consolas"/>
                <a:cs typeface="Consolas"/>
                <a:sym typeface="Consolas"/>
              </a:rPr>
              <a:t>(name);</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PrintWriter</a:t>
            </a:r>
            <a:r>
              <a:rPr lang="en" sz="1050">
                <a:solidFill>
                  <a:srgbClr val="000000"/>
                </a:solidFill>
                <a:latin typeface="Consolas"/>
                <a:ea typeface="Consolas"/>
                <a:cs typeface="Consolas"/>
                <a:sym typeface="Consolas"/>
              </a:rPr>
              <a:t>(out)</a:t>
            </a:r>
            <a:r>
              <a:rPr lang="en" sz="1050" b="1">
                <a:solidFill>
                  <a:srgbClr val="FF9900"/>
                </a:solidFill>
                <a:latin typeface="Consolas"/>
                <a:ea typeface="Consolas"/>
                <a:cs typeface="Consolas"/>
                <a:sym typeface="Consolas"/>
              </a:rPr>
              <a: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"Hello, File!"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writer</a:t>
            </a:r>
            <a:r>
              <a:rPr lang="en" sz="1050">
                <a:solidFill>
                  <a:srgbClr val="000000"/>
                </a:solidFill>
                <a:latin typeface="Consolas"/>
                <a:ea typeface="Consolas"/>
                <a:cs typeface="Consolas"/>
                <a:sym typeface="Consolas"/>
              </a:rPr>
              <a:t>.</a:t>
            </a:r>
            <a:r>
              <a:rPr lang="en" sz="1050">
                <a:solidFill>
                  <a:srgbClr val="795E26"/>
                </a:solidFill>
                <a:latin typeface="Consolas"/>
                <a:ea typeface="Consolas"/>
                <a:cs typeface="Consolas"/>
                <a:sym typeface="Consolas"/>
              </a:rPr>
              <a:t>flush</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endParaRPr sz="1050">
              <a:solidFill>
                <a:srgbClr val="999999"/>
              </a:solidFill>
              <a:latin typeface="Consolas"/>
              <a:ea typeface="Consolas"/>
              <a:cs typeface="Consolas"/>
              <a:sym typeface="Consolas"/>
            </a:endParaRPr>
          </a:p>
        </p:txBody>
      </p:sp>
      <p:sp>
        <p:nvSpPr>
          <p:cNvPr id="906" name="Google Shape;906;p83"/>
          <p:cNvSpPr/>
          <p:nvPr/>
        </p:nvSpPr>
        <p:spPr>
          <a:xfrm>
            <a:off x="2703450" y="1271600"/>
            <a:ext cx="438500" cy="569025"/>
          </a:xfrm>
          <a:custGeom>
            <a:avLst/>
            <a:gdLst/>
            <a:ahLst/>
            <a:cxnLst/>
            <a:rect l="l" t="t" r="r" b="b"/>
            <a:pathLst>
              <a:path w="17540" h="22761" extrusionOk="0">
                <a:moveTo>
                  <a:pt x="4730" y="0"/>
                </a:moveTo>
                <a:cubicBezTo>
                  <a:pt x="6849" y="2217"/>
                  <a:pt x="18229" y="9509"/>
                  <a:pt x="17441" y="13302"/>
                </a:cubicBezTo>
                <a:cubicBezTo>
                  <a:pt x="16653" y="17096"/>
                  <a:pt x="2907" y="21185"/>
                  <a:pt x="0" y="22761"/>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07" name="Google Shape;907;p83"/>
          <p:cNvSpPr/>
          <p:nvPr/>
        </p:nvSpPr>
        <p:spPr>
          <a:xfrm>
            <a:off x="762114" y="1271585"/>
            <a:ext cx="250325" cy="280825"/>
          </a:xfrm>
          <a:custGeom>
            <a:avLst/>
            <a:gdLst/>
            <a:ahLst/>
            <a:cxnLst/>
            <a:rect l="l" t="t" r="r" b="b"/>
            <a:pathLst>
              <a:path w="10013" h="11233" extrusionOk="0">
                <a:moveTo>
                  <a:pt x="10013" y="0"/>
                </a:moveTo>
                <a:cubicBezTo>
                  <a:pt x="8387" y="345"/>
                  <a:pt x="1294" y="197"/>
                  <a:pt x="259" y="2069"/>
                </a:cubicBezTo>
                <a:cubicBezTo>
                  <a:pt x="-775" y="3941"/>
                  <a:pt x="3215" y="9706"/>
                  <a:pt x="3806" y="1123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08" name="Google Shape;908;p83"/>
          <p:cNvSpPr/>
          <p:nvPr/>
        </p:nvSpPr>
        <p:spPr>
          <a:xfrm>
            <a:off x="2665530" y="1195395"/>
            <a:ext cx="1088700" cy="1019825"/>
          </a:xfrm>
          <a:custGeom>
            <a:avLst/>
            <a:gdLst/>
            <a:ahLst/>
            <a:cxnLst/>
            <a:rect l="l" t="t" r="r" b="b"/>
            <a:pathLst>
              <a:path w="43548" h="40793" extrusionOk="0">
                <a:moveTo>
                  <a:pt x="29560" y="0"/>
                </a:moveTo>
                <a:cubicBezTo>
                  <a:pt x="31728" y="3597"/>
                  <a:pt x="47494" y="14780"/>
                  <a:pt x="42567" y="21579"/>
                </a:cubicBezTo>
                <a:cubicBezTo>
                  <a:pt x="37640" y="28378"/>
                  <a:pt x="7095" y="37591"/>
                  <a:pt x="0" y="40793"/>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09" name="Google Shape;909;p83"/>
          <p:cNvSpPr txBox="1">
            <a:spLocks noGrp="1"/>
          </p:cNvSpPr>
          <p:nvPr>
            <p:ph type="body" idx="3"/>
          </p:nvPr>
        </p:nvSpPr>
        <p:spPr>
          <a:xfrm>
            <a:off x="311725" y="653750"/>
            <a:ext cx="3706500" cy="714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When using </a:t>
            </a:r>
            <a:r>
              <a:rPr lang="en" sz="1200">
                <a:solidFill>
                  <a:srgbClr val="FF0000"/>
                </a:solidFill>
                <a:latin typeface="Courier New"/>
                <a:ea typeface="Courier New"/>
                <a:cs typeface="Courier New"/>
                <a:sym typeface="Courier New"/>
              </a:rPr>
              <a:t>try</a:t>
            </a:r>
            <a:r>
              <a:rPr lang="en" sz="1200" b="1" i="1">
                <a:solidFill>
                  <a:srgbClr val="FF0000"/>
                </a:solidFill>
              </a:rPr>
              <a:t>-with-resources</a:t>
            </a:r>
            <a:r>
              <a:rPr lang="en" sz="1200"/>
              <a:t>, resources are allocated in a </a:t>
            </a:r>
            <a:r>
              <a:rPr lang="en" sz="1200" b="1" i="1">
                <a:solidFill>
                  <a:srgbClr val="FF0000"/>
                </a:solidFill>
              </a:rPr>
              <a:t>semicolon-delimited list</a:t>
            </a:r>
            <a:r>
              <a:rPr lang="en" sz="1200"/>
              <a:t> inside parentheses (shown in </a:t>
            </a:r>
            <a:r>
              <a:rPr lang="en" sz="1200" b="1" i="1">
                <a:solidFill>
                  <a:srgbClr val="FF9900"/>
                </a:solidFill>
              </a:rPr>
              <a:t>orange</a:t>
            </a:r>
            <a:r>
              <a:rPr lang="en" sz="1200"/>
              <a:t> for emphasis).</a:t>
            </a:r>
            <a:endParaRPr sz="1200"/>
          </a:p>
        </p:txBody>
      </p:sp>
      <p:sp>
        <p:nvSpPr>
          <p:cNvPr id="910" name="Google Shape;910;p83"/>
          <p:cNvSpPr/>
          <p:nvPr/>
        </p:nvSpPr>
        <p:spPr>
          <a:xfrm>
            <a:off x="1936200" y="2837800"/>
            <a:ext cx="910825" cy="702050"/>
          </a:xfrm>
          <a:custGeom>
            <a:avLst/>
            <a:gdLst/>
            <a:ahLst/>
            <a:cxnLst/>
            <a:rect l="l" t="t" r="r" b="b"/>
            <a:pathLst>
              <a:path w="36433" h="28082" extrusionOk="0">
                <a:moveTo>
                  <a:pt x="7095" y="28082"/>
                </a:moveTo>
                <a:cubicBezTo>
                  <a:pt x="11972" y="26308"/>
                  <a:pt x="37542" y="22120"/>
                  <a:pt x="36359" y="17440"/>
                </a:cubicBezTo>
                <a:cubicBezTo>
                  <a:pt x="35177" y="12760"/>
                  <a:pt x="6060" y="2907"/>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11" name="Google Shape;911;p83"/>
          <p:cNvSpPr txBox="1">
            <a:spLocks noGrp="1"/>
          </p:cNvSpPr>
          <p:nvPr>
            <p:ph type="body" idx="3"/>
          </p:nvPr>
        </p:nvSpPr>
        <p:spPr>
          <a:xfrm>
            <a:off x="311725" y="3412959"/>
            <a:ext cx="3706500" cy="714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The </a:t>
            </a:r>
            <a:r>
              <a:rPr lang="en" sz="1200" b="1" i="1">
                <a:solidFill>
                  <a:srgbClr val="FF0000"/>
                </a:solidFill>
              </a:rPr>
              <a:t>scope</a:t>
            </a:r>
            <a:r>
              <a:rPr lang="en" sz="1200">
                <a:solidFill>
                  <a:srgbClr val="FF0000"/>
                </a:solidFill>
              </a:rPr>
              <a:t> </a:t>
            </a:r>
            <a:r>
              <a:rPr lang="en" sz="1200"/>
              <a:t>of any resources that are opened is the </a:t>
            </a:r>
            <a:r>
              <a:rPr lang="en" sz="1200">
                <a:solidFill>
                  <a:srgbClr val="FF0000"/>
                </a:solidFill>
                <a:latin typeface="Courier New"/>
                <a:ea typeface="Courier New"/>
                <a:cs typeface="Courier New"/>
                <a:sym typeface="Courier New"/>
              </a:rPr>
              <a:t>try</a:t>
            </a:r>
            <a:r>
              <a:rPr lang="en" sz="1200">
                <a:solidFill>
                  <a:srgbClr val="FF0000"/>
                </a:solidFill>
              </a:rPr>
              <a:t> </a:t>
            </a:r>
            <a:r>
              <a:rPr lang="en" sz="1200" b="1" i="1">
                <a:solidFill>
                  <a:srgbClr val="FF0000"/>
                </a:solidFill>
              </a:rPr>
              <a:t>block</a:t>
            </a:r>
            <a:r>
              <a:rPr lang="en" sz="1200"/>
              <a:t> - they can be used normally anywhere between the curly braces.</a:t>
            </a:r>
            <a:endParaRPr sz="1200"/>
          </a:p>
        </p:txBody>
      </p:sp>
      <p:sp>
        <p:nvSpPr>
          <p:cNvPr id="912" name="Google Shape;912;p83"/>
          <p:cNvSpPr/>
          <p:nvPr/>
        </p:nvSpPr>
        <p:spPr>
          <a:xfrm>
            <a:off x="105134" y="3102182"/>
            <a:ext cx="493475" cy="1642250"/>
          </a:xfrm>
          <a:custGeom>
            <a:avLst/>
            <a:gdLst/>
            <a:ahLst/>
            <a:cxnLst/>
            <a:rect l="l" t="t" r="r" b="b"/>
            <a:pathLst>
              <a:path w="19739" h="65690" extrusionOk="0">
                <a:moveTo>
                  <a:pt x="9984" y="65690"/>
                </a:moveTo>
                <a:cubicBezTo>
                  <a:pt x="8358" y="55787"/>
                  <a:pt x="-1397" y="17014"/>
                  <a:pt x="229" y="6274"/>
                </a:cubicBezTo>
                <a:cubicBezTo>
                  <a:pt x="1855" y="-4466"/>
                  <a:pt x="16487" y="2087"/>
                  <a:pt x="19739" y="124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13" name="Google Shape;913;p83"/>
          <p:cNvSpPr txBox="1">
            <a:spLocks noGrp="1"/>
          </p:cNvSpPr>
          <p:nvPr>
            <p:ph type="body" idx="3"/>
          </p:nvPr>
        </p:nvSpPr>
        <p:spPr>
          <a:xfrm>
            <a:off x="315425" y="4205169"/>
            <a:ext cx="3706500" cy="714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The resources are </a:t>
            </a:r>
            <a:r>
              <a:rPr lang="en" sz="1200" b="1" i="1">
                <a:solidFill>
                  <a:srgbClr val="FF0000"/>
                </a:solidFill>
              </a:rPr>
              <a:t>automatically closed</a:t>
            </a:r>
            <a:r>
              <a:rPr lang="en" sz="1200">
                <a:solidFill>
                  <a:srgbClr val="FF0000"/>
                </a:solidFill>
              </a:rPr>
              <a:t> </a:t>
            </a:r>
            <a:r>
              <a:rPr lang="en" sz="1200"/>
              <a:t>when execution exits the </a:t>
            </a:r>
            <a:r>
              <a:rPr lang="en" sz="1200">
                <a:latin typeface="Courier New"/>
                <a:ea typeface="Courier New"/>
                <a:cs typeface="Courier New"/>
                <a:sym typeface="Courier New"/>
              </a:rPr>
              <a:t>try</a:t>
            </a:r>
            <a:r>
              <a:rPr lang="en" sz="1200"/>
              <a:t> block, even if an exception is thrown in the block. </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0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0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0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0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0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0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0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0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909"/>
                                        </p:tgtEl>
                                        <p:attrNameLst>
                                          <p:attrName>style.visibility</p:attrName>
                                        </p:attrNameLst>
                                      </p:cBhvr>
                                      <p:to>
                                        <p:strVal val="visible"/>
                                      </p:to>
                                    </p:set>
                                    <p:animEffect transition="in" filter="fade">
                                      <p:cBhvr>
                                        <p:cTn id="59" dur="1000"/>
                                        <p:tgtEl>
                                          <p:spTgt spid="909"/>
                                        </p:tgtEl>
                                      </p:cBhvr>
                                    </p:animEffect>
                                  </p:childTnLst>
                                </p:cTn>
                              </p:par>
                              <p:par>
                                <p:cTn id="60" presetID="10" presetClass="entr" presetSubtype="0" fill="hold" nodeType="withEffect">
                                  <p:stCondLst>
                                    <p:cond delay="0"/>
                                  </p:stCondLst>
                                  <p:childTnLst>
                                    <p:set>
                                      <p:cBhvr>
                                        <p:cTn id="61" dur="1" fill="hold">
                                          <p:stCondLst>
                                            <p:cond delay="0"/>
                                          </p:stCondLst>
                                        </p:cTn>
                                        <p:tgtEl>
                                          <p:spTgt spid="905"/>
                                        </p:tgtEl>
                                        <p:attrNameLst>
                                          <p:attrName>style.visibility</p:attrName>
                                        </p:attrNameLst>
                                      </p:cBhvr>
                                      <p:to>
                                        <p:strVal val="visible"/>
                                      </p:to>
                                    </p:set>
                                    <p:animEffect transition="in" filter="fade">
                                      <p:cBhvr>
                                        <p:cTn id="62" dur="1000"/>
                                        <p:tgtEl>
                                          <p:spTgt spid="905"/>
                                        </p:tgtEl>
                                      </p:cBhvr>
                                    </p:animEffect>
                                  </p:childTnLst>
                                </p:cTn>
                              </p:par>
                            </p:childTnLst>
                          </p:cTn>
                        </p:par>
                        <p:par>
                          <p:cTn id="63" fill="hold">
                            <p:stCondLst>
                              <p:cond delay="1000"/>
                            </p:stCondLst>
                            <p:childTnLst>
                              <p:par>
                                <p:cTn id="64" presetID="10" presetClass="entr" presetSubtype="0" fill="hold" nodeType="afterEffect">
                                  <p:stCondLst>
                                    <p:cond delay="0"/>
                                  </p:stCondLst>
                                  <p:childTnLst>
                                    <p:set>
                                      <p:cBhvr>
                                        <p:cTn id="65" dur="1" fill="hold">
                                          <p:stCondLst>
                                            <p:cond delay="0"/>
                                          </p:stCondLst>
                                        </p:cTn>
                                        <p:tgtEl>
                                          <p:spTgt spid="907"/>
                                        </p:tgtEl>
                                        <p:attrNameLst>
                                          <p:attrName>style.visibility</p:attrName>
                                        </p:attrNameLst>
                                      </p:cBhvr>
                                      <p:to>
                                        <p:strVal val="visible"/>
                                      </p:to>
                                    </p:set>
                                    <p:animEffect transition="in" filter="fade">
                                      <p:cBhvr>
                                        <p:cTn id="66" dur="1000"/>
                                        <p:tgtEl>
                                          <p:spTgt spid="907"/>
                                        </p:tgtEl>
                                      </p:cBhvr>
                                    </p:animEffect>
                                  </p:childTnLst>
                                </p:cTn>
                              </p:par>
                            </p:childTnLst>
                          </p:cTn>
                        </p:par>
                        <p:par>
                          <p:cTn id="67" fill="hold">
                            <p:stCondLst>
                              <p:cond delay="2000"/>
                            </p:stCondLst>
                            <p:childTnLst>
                              <p:par>
                                <p:cTn id="68" presetID="10" presetClass="entr" presetSubtype="0" fill="hold" nodeType="afterEffect">
                                  <p:stCondLst>
                                    <p:cond delay="0"/>
                                  </p:stCondLst>
                                  <p:childTnLst>
                                    <p:set>
                                      <p:cBhvr>
                                        <p:cTn id="69" dur="1" fill="hold">
                                          <p:stCondLst>
                                            <p:cond delay="0"/>
                                          </p:stCondLst>
                                        </p:cTn>
                                        <p:tgtEl>
                                          <p:spTgt spid="906"/>
                                        </p:tgtEl>
                                        <p:attrNameLst>
                                          <p:attrName>style.visibility</p:attrName>
                                        </p:attrNameLst>
                                      </p:cBhvr>
                                      <p:to>
                                        <p:strVal val="visible"/>
                                      </p:to>
                                    </p:set>
                                    <p:animEffect transition="in" filter="fade">
                                      <p:cBhvr>
                                        <p:cTn id="70" dur="1000"/>
                                        <p:tgtEl>
                                          <p:spTgt spid="906"/>
                                        </p:tgtEl>
                                      </p:cBhvr>
                                    </p:animEffect>
                                  </p:childTnLst>
                                </p:cTn>
                              </p:par>
                              <p:par>
                                <p:cTn id="71" presetID="10" presetClass="entr" presetSubtype="0" fill="hold" nodeType="withEffect">
                                  <p:stCondLst>
                                    <p:cond delay="0"/>
                                  </p:stCondLst>
                                  <p:childTnLst>
                                    <p:set>
                                      <p:cBhvr>
                                        <p:cTn id="72" dur="1" fill="hold">
                                          <p:stCondLst>
                                            <p:cond delay="0"/>
                                          </p:stCondLst>
                                        </p:cTn>
                                        <p:tgtEl>
                                          <p:spTgt spid="908"/>
                                        </p:tgtEl>
                                        <p:attrNameLst>
                                          <p:attrName>style.visibility</p:attrName>
                                        </p:attrNameLst>
                                      </p:cBhvr>
                                      <p:to>
                                        <p:strVal val="visible"/>
                                      </p:to>
                                    </p:set>
                                    <p:animEffect transition="in" filter="fade">
                                      <p:cBhvr>
                                        <p:cTn id="73" dur="1000"/>
                                        <p:tgtEl>
                                          <p:spTgt spid="90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911"/>
                                        </p:tgtEl>
                                        <p:attrNameLst>
                                          <p:attrName>style.visibility</p:attrName>
                                        </p:attrNameLst>
                                      </p:cBhvr>
                                      <p:to>
                                        <p:strVal val="visible"/>
                                      </p:to>
                                    </p:set>
                                    <p:animEffect transition="in" filter="fade">
                                      <p:cBhvr>
                                        <p:cTn id="78" dur="1000"/>
                                        <p:tgtEl>
                                          <p:spTgt spid="911"/>
                                        </p:tgtEl>
                                      </p:cBhvr>
                                    </p:animEffect>
                                  </p:childTnLst>
                                </p:cTn>
                              </p:par>
                            </p:childTnLst>
                          </p:cTn>
                        </p:par>
                        <p:par>
                          <p:cTn id="79" fill="hold">
                            <p:stCondLst>
                              <p:cond delay="1000"/>
                            </p:stCondLst>
                            <p:childTnLst>
                              <p:par>
                                <p:cTn id="80" presetID="10" presetClass="entr" presetSubtype="0" fill="hold" nodeType="afterEffect">
                                  <p:stCondLst>
                                    <p:cond delay="0"/>
                                  </p:stCondLst>
                                  <p:childTnLst>
                                    <p:set>
                                      <p:cBhvr>
                                        <p:cTn id="81" dur="1" fill="hold">
                                          <p:stCondLst>
                                            <p:cond delay="0"/>
                                          </p:stCondLst>
                                        </p:cTn>
                                        <p:tgtEl>
                                          <p:spTgt spid="910"/>
                                        </p:tgtEl>
                                        <p:attrNameLst>
                                          <p:attrName>style.visibility</p:attrName>
                                        </p:attrNameLst>
                                      </p:cBhvr>
                                      <p:to>
                                        <p:strVal val="visible"/>
                                      </p:to>
                                    </p:set>
                                    <p:animEffect transition="in" filter="fade">
                                      <p:cBhvr>
                                        <p:cTn id="82" dur="1000"/>
                                        <p:tgtEl>
                                          <p:spTgt spid="910"/>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913"/>
                                        </p:tgtEl>
                                        <p:attrNameLst>
                                          <p:attrName>style.visibility</p:attrName>
                                        </p:attrNameLst>
                                      </p:cBhvr>
                                      <p:to>
                                        <p:strVal val="visible"/>
                                      </p:to>
                                    </p:set>
                                    <p:animEffect transition="in" filter="fade">
                                      <p:cBhvr>
                                        <p:cTn id="87" dur="1000"/>
                                        <p:tgtEl>
                                          <p:spTgt spid="913"/>
                                        </p:tgtEl>
                                      </p:cBhvr>
                                    </p:animEffect>
                                  </p:childTnLst>
                                </p:cTn>
                              </p:par>
                            </p:childTnLst>
                          </p:cTn>
                        </p:par>
                        <p:par>
                          <p:cTn id="88" fill="hold">
                            <p:stCondLst>
                              <p:cond delay="1000"/>
                            </p:stCondLst>
                            <p:childTnLst>
                              <p:par>
                                <p:cTn id="89" presetID="10" presetClass="entr" presetSubtype="0" fill="hold" nodeType="afterEffect">
                                  <p:stCondLst>
                                    <p:cond delay="0"/>
                                  </p:stCondLst>
                                  <p:childTnLst>
                                    <p:set>
                                      <p:cBhvr>
                                        <p:cTn id="90" dur="1" fill="hold">
                                          <p:stCondLst>
                                            <p:cond delay="0"/>
                                          </p:stCondLst>
                                        </p:cTn>
                                        <p:tgtEl>
                                          <p:spTgt spid="912"/>
                                        </p:tgtEl>
                                        <p:attrNameLst>
                                          <p:attrName>style.visibility</p:attrName>
                                        </p:attrNameLst>
                                      </p:cBhvr>
                                      <p:to>
                                        <p:strVal val="visible"/>
                                      </p:to>
                                    </p:set>
                                    <p:animEffect transition="in" filter="fade">
                                      <p:cBhvr>
                                        <p:cTn id="91" dur="1000"/>
                                        <p:tgtEl>
                                          <p:spTgt spid="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8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 Python we used with-as to open files and make sure that the file was closed (even if an error occurred). Using </a:t>
            </a:r>
            <a:r>
              <a:rPr lang="en">
                <a:latin typeface="Courier New"/>
                <a:ea typeface="Courier New"/>
                <a:cs typeface="Courier New"/>
                <a:sym typeface="Courier New"/>
              </a:rPr>
              <a:t>try</a:t>
            </a:r>
            <a:r>
              <a:rPr lang="en"/>
              <a:t>-with-resources in Java works exactly the same way. Practice using it by updating your </a:t>
            </a:r>
            <a:r>
              <a:rPr lang="en">
                <a:latin typeface="Courier New"/>
                <a:ea typeface="Courier New"/>
                <a:cs typeface="Courier New"/>
                <a:sym typeface="Courier New"/>
              </a:rPr>
              <a:t>TextEdit</a:t>
            </a:r>
            <a:r>
              <a:rPr lang="en"/>
              <a:t> class to use try-with-resources to insure that the output file is closed.</a:t>
            </a:r>
            <a:endParaRPr/>
          </a:p>
        </p:txBody>
      </p:sp>
      <p:sp>
        <p:nvSpPr>
          <p:cNvPr id="919" name="Google Shape;919;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920" name="Google Shape;920;p84"/>
          <p:cNvSpPr txBox="1">
            <a:spLocks noGrp="1"/>
          </p:cNvSpPr>
          <p:nvPr>
            <p:ph type="body" idx="2"/>
          </p:nvPr>
        </p:nvSpPr>
        <p:spPr>
          <a:xfrm>
            <a:off x="3735975" y="1778775"/>
            <a:ext cx="5212800" cy="24843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Open your </a:t>
            </a:r>
            <a:r>
              <a:rPr lang="en" sz="1600">
                <a:latin typeface="Courier New"/>
                <a:ea typeface="Courier New"/>
                <a:cs typeface="Courier New"/>
                <a:sym typeface="Courier New"/>
              </a:rPr>
              <a:t>TextEdit</a:t>
            </a:r>
            <a:r>
              <a:rPr lang="en" sz="1600"/>
              <a:t> class and navigate to the </a:t>
            </a:r>
            <a:r>
              <a:rPr lang="en" sz="1600">
                <a:latin typeface="Courier New"/>
                <a:ea typeface="Courier New"/>
                <a:cs typeface="Courier New"/>
                <a:sym typeface="Courier New"/>
              </a:rPr>
              <a:t>main</a:t>
            </a:r>
            <a:r>
              <a:rPr lang="en" sz="1600"/>
              <a:t> method.</a:t>
            </a:r>
            <a:endParaRPr sz="1600"/>
          </a:p>
          <a:p>
            <a:pPr marL="914400" lvl="1" indent="-317500" algn="l" rtl="0">
              <a:spcBef>
                <a:spcPts val="0"/>
              </a:spcBef>
              <a:spcAft>
                <a:spcPts val="0"/>
              </a:spcAft>
              <a:buSzPts val="1400"/>
              <a:buChar char="○"/>
            </a:pPr>
            <a:r>
              <a:rPr lang="en" sz="1400"/>
              <a:t>Modify your implementation so that it uses </a:t>
            </a:r>
            <a:r>
              <a:rPr lang="en" sz="1400">
                <a:solidFill>
                  <a:srgbClr val="FF0000"/>
                </a:solidFill>
                <a:latin typeface="Courier New"/>
                <a:ea typeface="Courier New"/>
                <a:cs typeface="Courier New"/>
                <a:sym typeface="Courier New"/>
              </a:rPr>
              <a:t>try</a:t>
            </a:r>
            <a:r>
              <a:rPr lang="en" sz="1400" b="1" i="1">
                <a:solidFill>
                  <a:srgbClr val="FF0000"/>
                </a:solidFill>
              </a:rPr>
              <a:t>-with-resources</a:t>
            </a:r>
            <a:r>
              <a:rPr lang="en" sz="1400"/>
              <a:t> to open </a:t>
            </a:r>
            <a:r>
              <a:rPr lang="en" sz="1400" b="1" i="1">
                <a:solidFill>
                  <a:srgbClr val="FF0000"/>
                </a:solidFill>
              </a:rPr>
              <a:t>both </a:t>
            </a:r>
            <a:r>
              <a:rPr lang="en" sz="1400"/>
              <a:t>the </a:t>
            </a:r>
            <a:r>
              <a:rPr lang="en" sz="1400">
                <a:latin typeface="Courier New"/>
                <a:ea typeface="Courier New"/>
                <a:cs typeface="Courier New"/>
                <a:sym typeface="Courier New"/>
              </a:rPr>
              <a:t>FileWriter</a:t>
            </a:r>
            <a:r>
              <a:rPr lang="en" sz="1400"/>
              <a:t> and the </a:t>
            </a:r>
            <a:r>
              <a:rPr lang="en" sz="1400">
                <a:latin typeface="Courier New"/>
                <a:ea typeface="Courier New"/>
                <a:cs typeface="Courier New"/>
                <a:sym typeface="Courier New"/>
              </a:rPr>
              <a:t>PrintWriter</a:t>
            </a:r>
            <a:r>
              <a:rPr lang="en" sz="1400"/>
              <a:t>.</a:t>
            </a:r>
            <a:endParaRPr sz="1400"/>
          </a:p>
          <a:p>
            <a:pPr marL="914400" lvl="1" indent="-317500" algn="l" rtl="0">
              <a:spcBef>
                <a:spcPts val="0"/>
              </a:spcBef>
              <a:spcAft>
                <a:spcPts val="0"/>
              </a:spcAft>
              <a:buSzPts val="1400"/>
              <a:buChar char="○"/>
            </a:pPr>
            <a:r>
              <a:rPr lang="en" sz="1400"/>
              <a:t>You may delete the explicit calls to close both.</a:t>
            </a:r>
            <a:endParaRPr sz="1400"/>
          </a:p>
          <a:p>
            <a:pPr marL="914400" lvl="1" indent="-317500" algn="l" rtl="0">
              <a:spcBef>
                <a:spcPts val="0"/>
              </a:spcBef>
              <a:spcAft>
                <a:spcPts val="0"/>
              </a:spcAft>
              <a:buSzPts val="1400"/>
              <a:buChar char="○"/>
            </a:pPr>
            <a:r>
              <a:rPr lang="en" sz="1400"/>
              <a:t>You will still need to make sure that the </a:t>
            </a:r>
            <a:r>
              <a:rPr lang="en" sz="1400">
                <a:latin typeface="Courier New"/>
                <a:ea typeface="Courier New"/>
                <a:cs typeface="Courier New"/>
                <a:sym typeface="Courier New"/>
              </a:rPr>
              <a:t>Scanner</a:t>
            </a:r>
            <a:r>
              <a:rPr lang="en" sz="1400"/>
              <a:t> is closed.</a:t>
            </a:r>
            <a:endParaRPr sz="1400"/>
          </a:p>
          <a:p>
            <a:pPr marL="457200" lvl="0" indent="-330200" algn="l" rtl="0">
              <a:spcBef>
                <a:spcPts val="0"/>
              </a:spcBef>
              <a:spcAft>
                <a:spcPts val="0"/>
              </a:spcAft>
              <a:buSzPts val="1600"/>
              <a:buChar char="●"/>
            </a:pPr>
            <a:r>
              <a:rPr lang="en" sz="1600"/>
              <a:t>Run the class.</a:t>
            </a:r>
            <a:endParaRPr sz="1600"/>
          </a:p>
        </p:txBody>
      </p:sp>
      <p:sp>
        <p:nvSpPr>
          <p:cNvPr id="921" name="Google Shape;921;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Using </a:t>
            </a:r>
            <a:r>
              <a:rPr lang="en">
                <a:latin typeface="Courier New"/>
                <a:ea typeface="Courier New"/>
                <a:cs typeface="Courier New"/>
                <a:sym typeface="Courier New"/>
              </a:rPr>
              <a:t>try</a:t>
            </a:r>
            <a:r>
              <a:rPr lang="en"/>
              <a:t>-with-resources in Java</a:t>
            </a:r>
            <a:endParaRPr/>
          </a:p>
        </p:txBody>
      </p:sp>
      <p:sp>
        <p:nvSpPr>
          <p:cNvPr id="922" name="Google Shape;922;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4.19</a:t>
            </a:r>
            <a:endParaRPr/>
          </a:p>
        </p:txBody>
      </p:sp>
      <p:sp>
        <p:nvSpPr>
          <p:cNvPr id="923" name="Google Shape;923;p84"/>
          <p:cNvSpPr txBox="1">
            <a:spLocks noGrp="1"/>
          </p:cNvSpPr>
          <p:nvPr>
            <p:ph type="body" idx="4"/>
          </p:nvPr>
        </p:nvSpPr>
        <p:spPr>
          <a:xfrm>
            <a:off x="141600" y="1854975"/>
            <a:ext cx="3519600" cy="220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1</a:t>
            </a:r>
            <a:r>
              <a:rPr lang="en" sz="1250">
                <a:solidFill>
                  <a:srgbClr val="000000"/>
                </a:solidFill>
                <a:latin typeface="Consolas"/>
                <a:ea typeface="Consolas"/>
                <a:cs typeface="Consolas"/>
                <a:sym typeface="Consolas"/>
              </a:rPr>
              <a:t>  </a:t>
            </a:r>
            <a:r>
              <a:rPr lang="en" sz="1250">
                <a:solidFill>
                  <a:srgbClr val="AF00DB"/>
                </a:solidFill>
                <a:latin typeface="Consolas"/>
                <a:ea typeface="Consolas"/>
                <a:cs typeface="Consolas"/>
                <a:sym typeface="Consolas"/>
              </a:rPr>
              <a:t>try</a:t>
            </a:r>
            <a:r>
              <a:rPr lang="en" sz="1250">
                <a:solidFill>
                  <a:srgbClr val="000000"/>
                </a:solidFill>
                <a:latin typeface="Consolas"/>
                <a:ea typeface="Consolas"/>
                <a:cs typeface="Consolas"/>
                <a:sym typeface="Consolas"/>
              </a:rPr>
              <a:t>(</a:t>
            </a:r>
            <a:r>
              <a:rPr lang="en" sz="1250">
                <a:solidFill>
                  <a:srgbClr val="267F99"/>
                </a:solidFill>
                <a:latin typeface="Consolas"/>
                <a:ea typeface="Consolas"/>
                <a:cs typeface="Consolas"/>
                <a:sym typeface="Consolas"/>
              </a:rPr>
              <a:t>FileWriter</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out</a:t>
            </a:r>
            <a:r>
              <a:rPr lang="en" sz="1250">
                <a:solidFill>
                  <a:srgbClr val="000000"/>
                </a:solidFill>
                <a:latin typeface="Consolas"/>
                <a:ea typeface="Consolas"/>
                <a:cs typeface="Consolas"/>
                <a:sym typeface="Consolas"/>
              </a:rPr>
              <a:t> =</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2</a:t>
            </a:r>
            <a:r>
              <a:rPr lang="en" sz="1250">
                <a:solidFill>
                  <a:srgbClr val="000000"/>
                </a:solidFill>
                <a:latin typeface="Consolas"/>
                <a:ea typeface="Consolas"/>
                <a:cs typeface="Consolas"/>
                <a:sym typeface="Consolas"/>
              </a:rPr>
              <a:t>         </a:t>
            </a:r>
            <a:r>
              <a:rPr lang="en" sz="1250">
                <a:solidFill>
                  <a:srgbClr val="AF00DB"/>
                </a:solidFill>
                <a:latin typeface="Consolas"/>
                <a:ea typeface="Consolas"/>
                <a:cs typeface="Consolas"/>
                <a:sym typeface="Consolas"/>
              </a:rPr>
              <a:t>new</a:t>
            </a:r>
            <a:r>
              <a:rPr lang="en" sz="1250">
                <a:solidFill>
                  <a:srgbClr val="000000"/>
                </a:solidFill>
                <a:latin typeface="Consolas"/>
                <a:ea typeface="Consolas"/>
                <a:cs typeface="Consolas"/>
                <a:sym typeface="Consolas"/>
              </a:rPr>
              <a:t> </a:t>
            </a:r>
            <a:r>
              <a:rPr lang="en" sz="1250">
                <a:solidFill>
                  <a:srgbClr val="795E26"/>
                </a:solidFill>
                <a:latin typeface="Consolas"/>
                <a:ea typeface="Consolas"/>
                <a:cs typeface="Consolas"/>
                <a:sym typeface="Consolas"/>
              </a:rPr>
              <a:t>FileWriter</a:t>
            </a:r>
            <a:r>
              <a:rPr lang="en" sz="1250">
                <a:solidFill>
                  <a:srgbClr val="000000"/>
                </a:solidFill>
                <a:latin typeface="Consolas"/>
                <a:ea typeface="Consolas"/>
                <a:cs typeface="Consolas"/>
                <a:sym typeface="Consolas"/>
              </a:rPr>
              <a:t>(name);</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3</a:t>
            </a:r>
            <a:r>
              <a:rPr lang="en" sz="1250">
                <a:solidFill>
                  <a:srgbClr val="000000"/>
                </a:solidFill>
                <a:latin typeface="Consolas"/>
                <a:ea typeface="Consolas"/>
                <a:cs typeface="Consolas"/>
                <a:sym typeface="Consolas"/>
              </a:rPr>
              <a:t>      </a:t>
            </a:r>
            <a:r>
              <a:rPr lang="en" sz="1250">
                <a:solidFill>
                  <a:srgbClr val="267F99"/>
                </a:solidFill>
                <a:latin typeface="Consolas"/>
                <a:ea typeface="Consolas"/>
                <a:cs typeface="Consolas"/>
                <a:sym typeface="Consolas"/>
              </a:rPr>
              <a:t>PrintWriter</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writer</a:t>
            </a:r>
            <a:r>
              <a:rPr lang="en" sz="1250">
                <a:solidFill>
                  <a:srgbClr val="000000"/>
                </a:solidFill>
                <a:latin typeface="Consolas"/>
                <a:ea typeface="Consolas"/>
                <a:cs typeface="Consolas"/>
                <a:sym typeface="Consolas"/>
              </a:rPr>
              <a:t> =</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4</a:t>
            </a:r>
            <a:r>
              <a:rPr lang="en" sz="1250">
                <a:solidFill>
                  <a:srgbClr val="000000"/>
                </a:solidFill>
                <a:latin typeface="Consolas"/>
                <a:ea typeface="Consolas"/>
                <a:cs typeface="Consolas"/>
                <a:sym typeface="Consolas"/>
              </a:rPr>
              <a:t>         </a:t>
            </a:r>
            <a:r>
              <a:rPr lang="en" sz="1250">
                <a:solidFill>
                  <a:srgbClr val="AF00DB"/>
                </a:solidFill>
                <a:latin typeface="Consolas"/>
                <a:ea typeface="Consolas"/>
                <a:cs typeface="Consolas"/>
                <a:sym typeface="Consolas"/>
              </a:rPr>
              <a:t>new</a:t>
            </a:r>
            <a:r>
              <a:rPr lang="en" sz="1250">
                <a:solidFill>
                  <a:srgbClr val="000000"/>
                </a:solidFill>
                <a:latin typeface="Consolas"/>
                <a:ea typeface="Consolas"/>
                <a:cs typeface="Consolas"/>
                <a:sym typeface="Consolas"/>
              </a:rPr>
              <a:t> </a:t>
            </a:r>
            <a:r>
              <a:rPr lang="en" sz="1250">
                <a:solidFill>
                  <a:srgbClr val="795E26"/>
                </a:solidFill>
                <a:latin typeface="Consolas"/>
                <a:ea typeface="Consolas"/>
                <a:cs typeface="Consolas"/>
                <a:sym typeface="Consolas"/>
              </a:rPr>
              <a:t>PrintWriter</a:t>
            </a:r>
            <a:r>
              <a:rPr lang="en" sz="1250">
                <a:solidFill>
                  <a:srgbClr val="000000"/>
                </a:solidFill>
                <a:latin typeface="Consolas"/>
                <a:ea typeface="Consolas"/>
                <a:cs typeface="Consolas"/>
                <a:sym typeface="Consolas"/>
              </a:rPr>
              <a:t>(out)) {</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5</a:t>
            </a:r>
            <a:r>
              <a:rPr lang="en" sz="1250">
                <a:solidFill>
                  <a:srgbClr val="000000"/>
                </a:solidFill>
                <a:latin typeface="Consolas"/>
                <a:ea typeface="Consolas"/>
                <a:cs typeface="Consolas"/>
                <a:sym typeface="Consolas"/>
              </a:rPr>
              <a:t>  </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6</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writer</a:t>
            </a:r>
            <a:r>
              <a:rPr lang="en" sz="1250">
                <a:solidFill>
                  <a:srgbClr val="000000"/>
                </a:solidFill>
                <a:latin typeface="Consolas"/>
                <a:ea typeface="Consolas"/>
                <a:cs typeface="Consolas"/>
                <a:sym typeface="Consolas"/>
              </a:rPr>
              <a:t>.</a:t>
            </a:r>
            <a:r>
              <a:rPr lang="en" sz="1250">
                <a:solidFill>
                  <a:srgbClr val="795E26"/>
                </a:solidFill>
                <a:latin typeface="Consolas"/>
                <a:ea typeface="Consolas"/>
                <a:cs typeface="Consolas"/>
                <a:sym typeface="Consolas"/>
              </a:rPr>
              <a:t>println</a:t>
            </a:r>
            <a:r>
              <a:rPr lang="en" sz="1250">
                <a:solidFill>
                  <a:srgbClr val="000000"/>
                </a:solidFill>
                <a:latin typeface="Consolas"/>
                <a:ea typeface="Consolas"/>
                <a:cs typeface="Consolas"/>
                <a:sym typeface="Consolas"/>
              </a:rPr>
              <a:t>(</a:t>
            </a:r>
            <a:r>
              <a:rPr lang="en" sz="1250">
                <a:solidFill>
                  <a:srgbClr val="A31515"/>
                </a:solidFill>
                <a:latin typeface="Consolas"/>
                <a:ea typeface="Consolas"/>
                <a:cs typeface="Consolas"/>
                <a:sym typeface="Consolas"/>
              </a:rPr>
              <a:t>"Hello, File!"</a:t>
            </a:r>
            <a:r>
              <a:rPr lang="en" sz="1250">
                <a:solidFill>
                  <a:srgbClr val="000000"/>
                </a:solidFill>
                <a:latin typeface="Consolas"/>
                <a:ea typeface="Consolas"/>
                <a:cs typeface="Consolas"/>
                <a:sym typeface="Consolas"/>
              </a:rPr>
              <a:t>);</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7</a:t>
            </a:r>
            <a:r>
              <a:rPr lang="en" sz="1250">
                <a:solidFill>
                  <a:srgbClr val="000000"/>
                </a:solidFill>
                <a:latin typeface="Consolas"/>
                <a:ea typeface="Consolas"/>
                <a:cs typeface="Consolas"/>
                <a:sym typeface="Consolas"/>
              </a:rPr>
              <a:t>     </a:t>
            </a:r>
            <a:r>
              <a:rPr lang="en" sz="1250">
                <a:solidFill>
                  <a:srgbClr val="001080"/>
                </a:solidFill>
                <a:latin typeface="Consolas"/>
                <a:ea typeface="Consolas"/>
                <a:cs typeface="Consolas"/>
                <a:sym typeface="Consolas"/>
              </a:rPr>
              <a:t>writer</a:t>
            </a:r>
            <a:r>
              <a:rPr lang="en" sz="1250">
                <a:solidFill>
                  <a:srgbClr val="000000"/>
                </a:solidFill>
                <a:latin typeface="Consolas"/>
                <a:ea typeface="Consolas"/>
                <a:cs typeface="Consolas"/>
                <a:sym typeface="Consolas"/>
              </a:rPr>
              <a:t>.</a:t>
            </a:r>
            <a:r>
              <a:rPr lang="en" sz="1250">
                <a:solidFill>
                  <a:srgbClr val="795E26"/>
                </a:solidFill>
                <a:latin typeface="Consolas"/>
                <a:ea typeface="Consolas"/>
                <a:cs typeface="Consolas"/>
                <a:sym typeface="Consolas"/>
              </a:rPr>
              <a:t>flush</a:t>
            </a:r>
            <a:r>
              <a:rPr lang="en" sz="1250">
                <a:solidFill>
                  <a:srgbClr val="000000"/>
                </a:solidFill>
                <a:latin typeface="Consolas"/>
                <a:ea typeface="Consolas"/>
                <a:cs typeface="Consolas"/>
                <a:sym typeface="Consolas"/>
              </a:rPr>
              <a:t>();</a:t>
            </a:r>
            <a:endParaRPr sz="12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98658"/>
                </a:solidFill>
                <a:latin typeface="Consolas"/>
                <a:ea typeface="Consolas"/>
                <a:cs typeface="Consolas"/>
                <a:sym typeface="Consolas"/>
              </a:rPr>
              <a:t>8</a:t>
            </a:r>
            <a:r>
              <a:rPr lang="en" sz="1250">
                <a:solidFill>
                  <a:srgbClr val="000000"/>
                </a:solidFill>
                <a:latin typeface="Consolas"/>
                <a:ea typeface="Consolas"/>
                <a:cs typeface="Consolas"/>
                <a:sym typeface="Consolas"/>
              </a:rPr>
              <a:t>  }</a:t>
            </a:r>
            <a:endParaRPr sz="1250">
              <a:solidFill>
                <a:srgbClr val="999999"/>
              </a:solidFill>
              <a:latin typeface="Consolas"/>
              <a:ea typeface="Consolas"/>
              <a:cs typeface="Consolas"/>
              <a:sym typeface="Consolas"/>
            </a:endParaRPr>
          </a:p>
        </p:txBody>
      </p:sp>
      <p:sp>
        <p:nvSpPr>
          <p:cNvPr id="924" name="Google Shape;924;p84"/>
          <p:cNvSpPr txBox="1">
            <a:spLocks noGrp="1"/>
          </p:cNvSpPr>
          <p:nvPr>
            <p:ph type="body" idx="2"/>
          </p:nvPr>
        </p:nvSpPr>
        <p:spPr>
          <a:xfrm>
            <a:off x="141600" y="4205500"/>
            <a:ext cx="3519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Any resources opened between the parentheses after the </a:t>
            </a:r>
            <a:r>
              <a:rPr lang="en" sz="1200">
                <a:solidFill>
                  <a:srgbClr val="000000"/>
                </a:solidFill>
                <a:latin typeface="Courier New"/>
                <a:ea typeface="Courier New"/>
                <a:cs typeface="Courier New"/>
                <a:sym typeface="Courier New"/>
              </a:rPr>
              <a:t>try</a:t>
            </a:r>
            <a:r>
              <a:rPr lang="en" sz="1200">
                <a:solidFill>
                  <a:srgbClr val="000000"/>
                </a:solidFill>
                <a:latin typeface="Arial"/>
                <a:ea typeface="Arial"/>
                <a:cs typeface="Arial"/>
                <a:sym typeface="Arial"/>
              </a:rPr>
              <a:t>-with-resources are </a:t>
            </a:r>
            <a:r>
              <a:rPr lang="en" sz="1200" b="1" i="1">
                <a:solidFill>
                  <a:srgbClr val="FF0000"/>
                </a:solidFill>
                <a:latin typeface="Arial"/>
                <a:ea typeface="Arial"/>
                <a:cs typeface="Arial"/>
                <a:sym typeface="Arial"/>
              </a:rPr>
              <a:t>automatically closed</a:t>
            </a:r>
            <a:r>
              <a:rPr lang="en" sz="1200">
                <a:solidFill>
                  <a:srgbClr val="000000"/>
                </a:solidFill>
                <a:latin typeface="Arial"/>
                <a:ea typeface="Arial"/>
                <a:cs typeface="Arial"/>
                <a:sym typeface="Arial"/>
              </a:rPr>
              <a:t> when the try block exits.</a:t>
            </a:r>
            <a:endParaRPr sz="1200">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graphicFrame>
        <p:nvGraphicFramePr>
          <p:cNvPr id="929" name="Google Shape;929;p85"/>
          <p:cNvGraphicFramePr/>
          <p:nvPr/>
        </p:nvGraphicFramePr>
        <p:xfrm>
          <a:off x="-22785" y="-9"/>
          <a:ext cx="3000000" cy="3000000"/>
        </p:xfrm>
        <a:graphic>
          <a:graphicData uri="http://schemas.openxmlformats.org/drawingml/2006/table">
            <a:tbl>
              <a:tblPr>
                <a:noFill/>
                <a:tableStyleId>{D69D149B-3B2E-4EDA-BF98-D3530D9AB1DA}</a:tableStyleId>
              </a:tblPr>
              <a:tblGrid>
                <a:gridCol w="276325">
                  <a:extLst>
                    <a:ext uri="{9D8B030D-6E8A-4147-A177-3AD203B41FA5}">
                      <a16:colId xmlns:a16="http://schemas.microsoft.com/office/drawing/2014/main" val="20000"/>
                    </a:ext>
                  </a:extLst>
                </a:gridCol>
                <a:gridCol w="3860325">
                  <a:extLst>
                    <a:ext uri="{9D8B030D-6E8A-4147-A177-3AD203B41FA5}">
                      <a16:colId xmlns:a16="http://schemas.microsoft.com/office/drawing/2014/main" val="20001"/>
                    </a:ext>
                  </a:extLst>
                </a:gridCol>
                <a:gridCol w="1571225">
                  <a:extLst>
                    <a:ext uri="{9D8B030D-6E8A-4147-A177-3AD203B41FA5}">
                      <a16:colId xmlns:a16="http://schemas.microsoft.com/office/drawing/2014/main" val="20002"/>
                    </a:ext>
                  </a:extLst>
                </a:gridCol>
                <a:gridCol w="770625">
                  <a:extLst>
                    <a:ext uri="{9D8B030D-6E8A-4147-A177-3AD203B41FA5}">
                      <a16:colId xmlns:a16="http://schemas.microsoft.com/office/drawing/2014/main" val="20003"/>
                    </a:ext>
                  </a:extLst>
                </a:gridCol>
                <a:gridCol w="2688250">
                  <a:extLst>
                    <a:ext uri="{9D8B030D-6E8A-4147-A177-3AD203B41FA5}">
                      <a16:colId xmlns:a16="http://schemas.microsoft.com/office/drawing/2014/main" val="20004"/>
                    </a:ext>
                  </a:extLst>
                </a:gridCol>
              </a:tblGrid>
              <a:tr h="1228950">
                <a:tc rowSpan="3">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rowSpan="3">
                  <a:txBody>
                    <a:bodyPr/>
                    <a:lstStyle/>
                    <a:p>
                      <a:pPr marL="0" lvl="0" indent="0" algn="l" rtl="0">
                        <a:spcBef>
                          <a:spcPts val="0"/>
                        </a:spcBef>
                        <a:spcAft>
                          <a:spcPts val="0"/>
                        </a:spcAft>
                        <a:buNone/>
                      </a:pPr>
                      <a:r>
                        <a:rPr lang="en" sz="1000" u="sng">
                          <a:solidFill>
                            <a:schemeClr val="hlink"/>
                          </a:solidFill>
                          <a:hlinkClick r:id="rId3" action="ppaction://hlinksldjump"/>
                        </a:rPr>
                        <a:t>Inner Classes</a:t>
                      </a:r>
                      <a:endParaRPr sz="1000"/>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public class Outer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private final int x;</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public Outer(int x)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this.x = x;</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public class Inner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private String name;</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public Inner(String name)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this.name = name;</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@Override</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public String toString()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return name + ": " + x;</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Outer outer = new Outer(5);</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Inner inner = outer.new Inner("Joe");</a:t>
                      </a:r>
                      <a:endParaRPr sz="1000">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1000">
                          <a:solidFill>
                            <a:schemeClr val="dk1"/>
                          </a:solidFill>
                          <a:latin typeface="Courier New"/>
                          <a:ea typeface="Courier New"/>
                          <a:cs typeface="Courier New"/>
                          <a:sym typeface="Courier New"/>
                        </a:rPr>
                        <a:t>System.out.println(inner);</a:t>
                      </a:r>
                      <a:endParaRPr sz="1000">
                        <a:solidFill>
                          <a:schemeClr val="dk1"/>
                        </a:solidFill>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gridSpan="3">
                  <a:txBody>
                    <a:bodyPr/>
                    <a:lstStyle/>
                    <a:p>
                      <a:pPr marL="0" lvl="0" indent="0" algn="l" rtl="0">
                        <a:spcBef>
                          <a:spcPts val="0"/>
                        </a:spcBef>
                        <a:spcAft>
                          <a:spcPts val="0"/>
                        </a:spcAft>
                        <a:buNone/>
                      </a:pPr>
                      <a:r>
                        <a:rPr lang="en" sz="1000" u="sng">
                          <a:solidFill>
                            <a:schemeClr val="accent5"/>
                          </a:solidFill>
                          <a:hlinkClick r:id="rId4" action="ppaction://hlinksldjump">
                            <a:extLst>
                              <a:ext uri="{A12FA001-AC4F-418D-AE19-62706E023703}">
                                <ahyp:hlinkClr xmlns:ahyp="http://schemas.microsoft.com/office/drawing/2018/hyperlinkcolor" val="tx"/>
                              </a:ext>
                            </a:extLst>
                          </a:hlinkClick>
                        </a:rPr>
                        <a:t>Anonymous Classes</a:t>
                      </a:r>
                      <a:endParaRPr sz="1000"/>
                    </a:p>
                    <a:p>
                      <a:pPr marL="0" lvl="0" indent="0" algn="l" rtl="0">
                        <a:spcBef>
                          <a:spcPts val="0"/>
                        </a:spcBef>
                        <a:spcAft>
                          <a:spcPts val="0"/>
                        </a:spcAft>
                        <a:buNone/>
                      </a:pPr>
                      <a:r>
                        <a:rPr lang="en" sz="1000">
                          <a:latin typeface="Courier New"/>
                          <a:ea typeface="Courier New"/>
                          <a:cs typeface="Courier New"/>
                          <a:sym typeface="Courier New"/>
                        </a:rPr>
                        <a:t>Expresion mul = new Expression()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double evaluate()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sub * addition;</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855850">
                <a:tc vMerge="1">
                  <a:txBody>
                    <a:bodyPr/>
                    <a:lstStyle/>
                    <a:p>
                      <a:endParaRPr lang="en-US"/>
                    </a:p>
                  </a:txBody>
                  <a:tcPr/>
                </a:tc>
                <a:tc vMerge="1">
                  <a:txBody>
                    <a:bodyPr/>
                    <a:lstStyle/>
                    <a:p>
                      <a:endParaRPr lang="en-US"/>
                    </a:p>
                  </a:txBody>
                  <a:tcPr/>
                </a:tc>
                <a:tc gridSpan="3">
                  <a:txBody>
                    <a:bodyPr/>
                    <a:lstStyle/>
                    <a:p>
                      <a:pPr marL="0" lvl="0" indent="0" algn="l" rtl="0">
                        <a:spcBef>
                          <a:spcPts val="0"/>
                        </a:spcBef>
                        <a:spcAft>
                          <a:spcPts val="0"/>
                        </a:spcAft>
                        <a:buNone/>
                      </a:pPr>
                      <a:r>
                        <a:rPr lang="en" sz="1000" u="sng">
                          <a:solidFill>
                            <a:schemeClr val="accent5"/>
                          </a:solidFill>
                          <a:hlinkClick r:id="rId5" action="ppaction://hlinksldjump">
                            <a:extLst>
                              <a:ext uri="{A12FA001-AC4F-418D-AE19-62706E023703}">
                                <ahyp:hlinkClr xmlns:ahyp="http://schemas.microsoft.com/office/drawing/2018/hyperlinkcolor" val="tx"/>
                              </a:ext>
                            </a:extLst>
                          </a:hlinkClick>
                        </a:rPr>
                        <a:t>Basic Lambdas</a:t>
                      </a:r>
                      <a:endParaRPr sz="1000"/>
                    </a:p>
                    <a:p>
                      <a:pPr marL="0" lvl="0" indent="0" algn="l" rtl="0">
                        <a:spcBef>
                          <a:spcPts val="0"/>
                        </a:spcBef>
                        <a:spcAft>
                          <a:spcPts val="0"/>
                        </a:spcAft>
                        <a:buNone/>
                      </a:pPr>
                      <a:r>
                        <a:rPr lang="en" sz="1000" b="1">
                          <a:latin typeface="Courier New"/>
                          <a:ea typeface="Courier New"/>
                          <a:cs typeface="Courier New"/>
                          <a:sym typeface="Courier New"/>
                        </a:rPr>
                        <a:t>Without Lambda</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class EvenChecker implements Checker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boolean isEven(int num)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num % 2 == 0;</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Checker even = new EvenChecket();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b="1">
                          <a:latin typeface="Courier New"/>
                          <a:ea typeface="Courier New"/>
                          <a:cs typeface="Courier New"/>
                          <a:sym typeface="Courier New"/>
                        </a:rPr>
                        <a:t>With Lambda</a:t>
                      </a:r>
                      <a:endParaRPr sz="1000" b="1">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Checker even = num -&gt; num % 2 == 0;</a:t>
                      </a:r>
                      <a:endParaRPr sz="9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154575">
                <a:tc vMerge="1">
                  <a:txBody>
                    <a:bodyPr/>
                    <a:lstStyle/>
                    <a:p>
                      <a:endParaRPr lang="en-US"/>
                    </a:p>
                  </a:txBody>
                  <a:tcPr/>
                </a:tc>
                <a:tc vMerge="1">
                  <a:txBody>
                    <a:bodyPr/>
                    <a:lstStyle/>
                    <a:p>
                      <a:endParaRPr lang="en-US"/>
                    </a:p>
                  </a:txBody>
                  <a:tcPr/>
                </a:tc>
                <a:tc gridSpan="3">
                  <a:txBody>
                    <a:bodyPr/>
                    <a:lstStyle/>
                    <a:p>
                      <a:pPr marL="0" lvl="0" indent="0" algn="l" rtl="0">
                        <a:spcBef>
                          <a:spcPts val="0"/>
                        </a:spcBef>
                        <a:spcAft>
                          <a:spcPts val="0"/>
                        </a:spcAft>
                        <a:buNone/>
                      </a:pPr>
                      <a:r>
                        <a:rPr lang="en" sz="1000" u="sng">
                          <a:solidFill>
                            <a:schemeClr val="accent5"/>
                          </a:solidFill>
                          <a:hlinkClick r:id="rId6" action="ppaction://hlinksldjump">
                            <a:extLst>
                              <a:ext uri="{A12FA001-AC4F-418D-AE19-62706E023703}">
                                <ahyp:hlinkClr xmlns:ahyp="http://schemas.microsoft.com/office/drawing/2018/hyperlinkcolor" val="tx"/>
                              </a:ext>
                            </a:extLst>
                          </a:hlinkClick>
                        </a:rPr>
                        <a:t>More lambdas</a:t>
                      </a:r>
                      <a:endParaRPr sz="1000" u="sng">
                        <a:solidFill>
                          <a:schemeClr val="accent5"/>
                        </a:solidFill>
                      </a:endParaRPr>
                    </a:p>
                    <a:p>
                      <a:pPr marL="0" lvl="0" indent="0" algn="l" rtl="0">
                        <a:spcBef>
                          <a:spcPts val="0"/>
                        </a:spcBef>
                        <a:spcAft>
                          <a:spcPts val="0"/>
                        </a:spcAft>
                        <a:buNone/>
                      </a:pPr>
                      <a:r>
                        <a:rPr lang="en" sz="1000">
                          <a:latin typeface="Courier New"/>
                          <a:ea typeface="Courier New"/>
                          <a:cs typeface="Courier New"/>
                          <a:sym typeface="Courier New"/>
                        </a:rPr>
                        <a:t>public interface Shape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double area (double length);</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static void main(String[] args)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int x = 5;</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int height = 10;</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Shape rectangle = width -&gt; width * height;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System.out.println(rectangle.area(x));</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930" name="Google Shape;930;p85"/>
          <p:cNvSpPr txBox="1"/>
          <p:nvPr/>
        </p:nvSpPr>
        <p:spPr>
          <a:xfrm rot="-5400000">
            <a:off x="-2467975" y="23792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4 : Inner Classes, Anonymous Classes, &amp; Lambdas</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graphicFrame>
        <p:nvGraphicFramePr>
          <p:cNvPr id="935" name="Google Shape;935;p86"/>
          <p:cNvGraphicFramePr/>
          <p:nvPr/>
        </p:nvGraphicFramePr>
        <p:xfrm>
          <a:off x="-10" y="-9"/>
          <a:ext cx="3000000" cy="3000000"/>
        </p:xfrm>
        <a:graphic>
          <a:graphicData uri="http://schemas.openxmlformats.org/drawingml/2006/table">
            <a:tbl>
              <a:tblPr>
                <a:noFill/>
                <a:tableStyleId>{D69D149B-3B2E-4EDA-BF98-D3530D9AB1DA}</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527250">
                <a:tc rowSpan="7">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rowSpan="7">
                  <a:txBody>
                    <a:bodyPr/>
                    <a:lstStyle/>
                    <a:p>
                      <a:pPr marL="0" lvl="0" indent="0" algn="l" rtl="0">
                        <a:spcBef>
                          <a:spcPts val="0"/>
                        </a:spcBef>
                        <a:spcAft>
                          <a:spcPts val="0"/>
                        </a:spcAft>
                        <a:buNone/>
                      </a:pPr>
                      <a:r>
                        <a:rPr lang="en" sz="1000" u="sng">
                          <a:solidFill>
                            <a:schemeClr val="hlink"/>
                          </a:solidFill>
                          <a:hlinkClick r:id="rId3" action="ppaction://hlinksldjump"/>
                        </a:rPr>
                        <a:t>Method References</a:t>
                      </a:r>
                      <a:endParaRPr sz="1000"/>
                    </a:p>
                    <a:p>
                      <a:pPr marL="0" lvl="0" indent="0" algn="l" rtl="0">
                        <a:spcBef>
                          <a:spcPts val="0"/>
                        </a:spcBef>
                        <a:spcAft>
                          <a:spcPts val="0"/>
                        </a:spcAft>
                        <a:buNone/>
                      </a:pPr>
                      <a:r>
                        <a:rPr lang="en" sz="1000">
                          <a:latin typeface="Courier New"/>
                          <a:ea typeface="Courier New"/>
                          <a:cs typeface="Courier New"/>
                          <a:sym typeface="Courier New"/>
                        </a:rPr>
                        <a:t>public class ShapeExample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interface Shape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double area (double length);</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static double triangleArea (double side)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Math.sqrt(3) * Math.pow (side, 2) / 4;</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static void main (String[] args)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int x = 5;</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int height = 10;</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Shape triangle = ShapeExample::triangleArea;</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 (triangle.area (x));</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hlink"/>
                          </a:solidFill>
                          <a:hlinkClick r:id="rId4" action="ppaction://hlinksldjump"/>
                        </a:rPr>
                        <a:t>Streams</a:t>
                      </a:r>
                      <a:endParaRPr sz="1000"/>
                    </a:p>
                    <a:p>
                      <a:pPr marL="0" lvl="0" indent="0" algn="l" rtl="0">
                        <a:spcBef>
                          <a:spcPts val="0"/>
                        </a:spcBef>
                        <a:spcAft>
                          <a:spcPts val="0"/>
                        </a:spcAft>
                        <a:buNone/>
                      </a:pPr>
                      <a:r>
                        <a:rPr lang="en" sz="1000">
                          <a:latin typeface="Courier New"/>
                          <a:ea typeface="Courier New"/>
                          <a:cs typeface="Courier New"/>
                          <a:sym typeface="Courier New"/>
                        </a:rPr>
                        <a:t>Stream&lt;E&gt; stream()</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91975">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5" action="ppaction://hlinksldjump"/>
                        </a:rPr>
                        <a:t>forEach &amp; Consumer</a:t>
                      </a:r>
                      <a:endParaRPr sz="1000"/>
                    </a:p>
                    <a:p>
                      <a:pPr marL="0" lvl="0" indent="0" algn="l" rtl="0">
                        <a:spcBef>
                          <a:spcPts val="0"/>
                        </a:spcBef>
                        <a:spcAft>
                          <a:spcPts val="0"/>
                        </a:spcAft>
                        <a:buNone/>
                      </a:pPr>
                      <a:r>
                        <a:rPr lang="en" sz="1000">
                          <a:latin typeface="Courier New"/>
                          <a:ea typeface="Courier New"/>
                          <a:cs typeface="Courier New"/>
                          <a:sym typeface="Courier New"/>
                        </a:rPr>
                        <a:t>grades.stream().forEach (e -&gt; sum += 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grades.stream().forEach(System.out::println);</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91975">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6" action="ppaction://hlinksldjump"/>
                        </a:rPr>
                        <a:t>filter &amp; Predicate</a:t>
                      </a:r>
                      <a:endParaRPr sz="1000"/>
                    </a:p>
                    <a:p>
                      <a:pPr marL="0" lvl="0" indent="0" algn="l" rtl="0">
                        <a:spcBef>
                          <a:spcPts val="0"/>
                        </a:spcBef>
                        <a:spcAft>
                          <a:spcPts val="0"/>
                        </a:spcAft>
                        <a:buNone/>
                      </a:pPr>
                      <a:r>
                        <a:rPr lang="en" sz="1000">
                          <a:latin typeface="Courier New"/>
                          <a:ea typeface="Courier New"/>
                          <a:cs typeface="Courier New"/>
                          <a:sym typeface="Courier New"/>
                        </a:rPr>
                        <a:t>grades.stream().filter(e -&gt; e &gt; 69)                                              </a:t>
                      </a:r>
                      <a:br>
                        <a:rPr lang="en" sz="1000">
                          <a:latin typeface="Courier New"/>
                          <a:ea typeface="Courier New"/>
                          <a:cs typeface="Courier New"/>
                          <a:sym typeface="Courier New"/>
                        </a:rPr>
                      </a:br>
                      <a:r>
                        <a:rPr lang="en" sz="1000">
                          <a:latin typeface="Courier New"/>
                          <a:ea typeface="Courier New"/>
                          <a:cs typeface="Courier New"/>
                          <a:sym typeface="Courier New"/>
                        </a:rPr>
                        <a:t>           .forEach(System.out::println);</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286175">
                <a:tc vMerge="1">
                  <a:txBody>
                    <a:bodyPr/>
                    <a:lstStyle/>
                    <a:p>
                      <a:endParaRPr lang="en-US"/>
                    </a:p>
                  </a:txBody>
                  <a:tcPr/>
                </a:tc>
                <a:tc vMerge="1">
                  <a:txBody>
                    <a:bodyPr/>
                    <a:lstStyle/>
                    <a:p>
                      <a:endParaRPr lang="en-US"/>
                    </a:p>
                  </a:txBody>
                  <a:tcPr/>
                </a:tc>
                <a:tc rowSpan="4">
                  <a:txBody>
                    <a:bodyPr/>
                    <a:lstStyle/>
                    <a:p>
                      <a:pPr marL="0" lvl="0" indent="0" algn="l" rtl="0">
                        <a:spcBef>
                          <a:spcPts val="0"/>
                        </a:spcBef>
                        <a:spcAft>
                          <a:spcPts val="0"/>
                        </a:spcAft>
                        <a:buNone/>
                      </a:pPr>
                      <a:r>
                        <a:rPr lang="en" sz="1000" u="sng">
                          <a:solidFill>
                            <a:schemeClr val="hlink"/>
                          </a:solidFill>
                          <a:hlinkClick r:id="rId7" action="ppaction://hlinksldjump"/>
                        </a:rPr>
                        <a:t>Stream Library</a:t>
                      </a:r>
                      <a:r>
                        <a:rPr lang="en" sz="1000"/>
                        <a:t> &amp; </a:t>
                      </a:r>
                      <a:r>
                        <a:rPr lang="en" sz="1000" u="sng">
                          <a:solidFill>
                            <a:schemeClr val="hlink"/>
                          </a:solidFill>
                          <a:hlinkClick r:id="rId8" action="ppaction://hlinksldjump"/>
                        </a:rPr>
                        <a:t>Stream Extensions</a:t>
                      </a:r>
                      <a:endParaRPr sz="1000"/>
                    </a:p>
                    <a:p>
                      <a:pPr marL="0" lvl="0" indent="0" algn="l" rtl="0">
                        <a:lnSpc>
                          <a:spcPct val="150000"/>
                        </a:lnSpc>
                        <a:spcBef>
                          <a:spcPts val="0"/>
                        </a:spcBef>
                        <a:spcAft>
                          <a:spcPts val="0"/>
                        </a:spcAft>
                        <a:buNone/>
                      </a:pPr>
                      <a:r>
                        <a:rPr lang="en" sz="1000">
                          <a:latin typeface="Courier New"/>
                          <a:ea typeface="Courier New"/>
                          <a:cs typeface="Courier New"/>
                          <a:sym typeface="Courier New"/>
                        </a:rPr>
                        <a:t>Stream.filter(predicate)</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String.matches(regex)</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Stream.foreach(action)</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Stream.map(mapper)</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Stream.collect(collector)</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IntStream.range(start, end)</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Arrays.stream(array)</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Arrays.stream(array, start, end)</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Files.line(path)</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Collection.stream()</a:t>
                      </a:r>
                      <a:endParaRPr sz="1000">
                        <a:latin typeface="Courier New"/>
                        <a:ea typeface="Courier New"/>
                        <a:cs typeface="Courier New"/>
                        <a:sym typeface="Courier New"/>
                      </a:endParaRPr>
                    </a:p>
                    <a:p>
                      <a:pPr marL="0" lvl="0" indent="0" algn="l" rtl="0">
                        <a:lnSpc>
                          <a:spcPct val="150000"/>
                        </a:lnSpc>
                        <a:spcBef>
                          <a:spcPts val="0"/>
                        </a:spcBef>
                        <a:spcAft>
                          <a:spcPts val="0"/>
                        </a:spcAft>
                        <a:buNone/>
                      </a:pPr>
                      <a:r>
                        <a:rPr lang="en" sz="1000">
                          <a:latin typeface="Courier New"/>
                          <a:ea typeface="Courier New"/>
                          <a:cs typeface="Courier New"/>
                          <a:sym typeface="Courier New"/>
                        </a:rPr>
                        <a:t>Collection.toList()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81575">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102275">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5"/>
                  </a:ext>
                </a:extLst>
              </a:tr>
              <a:tr h="1762275">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6"/>
                  </a:ext>
                </a:extLst>
              </a:tr>
            </a:tbl>
          </a:graphicData>
        </a:graphic>
      </p:graphicFrame>
      <p:sp>
        <p:nvSpPr>
          <p:cNvPr id="936" name="Google Shape;936;p86"/>
          <p:cNvSpPr txBox="1"/>
          <p:nvPr/>
        </p:nvSpPr>
        <p:spPr>
          <a:xfrm rot="-5400000">
            <a:off x="-2278300" y="2277638"/>
            <a:ext cx="51513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4: Inner Classes, Anonymous Classes, &amp; Lambdas</a:t>
            </a:r>
            <a:endParaRPr sz="1300">
              <a:solidFill>
                <a:schemeClr val="lt1"/>
              </a:solidFill>
              <a:latin typeface="Merriweather"/>
              <a:ea typeface="Merriweather"/>
              <a:cs typeface="Merriweather"/>
              <a:sym typeface="Merriweather"/>
            </a:endParaRPr>
          </a:p>
          <a:p>
            <a:pPr marL="0" lvl="0" indent="0" algn="ctr" rtl="0">
              <a:spcBef>
                <a:spcPts val="0"/>
              </a:spcBef>
              <a:spcAft>
                <a:spcPts val="0"/>
              </a:spcAft>
              <a:buNone/>
            </a:pPr>
            <a:endParaRPr sz="1300">
              <a:solidFill>
                <a:schemeClr val="lt1"/>
              </a:solidFill>
              <a:latin typeface="Merriweather"/>
              <a:ea typeface="Merriweather"/>
              <a:cs typeface="Merriweather"/>
              <a:sym typeface="Merriweathe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87"/>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942" name="Google Shape;942;p87"/>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943" name="Google Shape;943;p8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944" name="Google Shape;944;p87"/>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945" name="Google Shape;945;p87"/>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946" name="Google Shape;946;p87"/>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947" name="Google Shape;947;p8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948" name="Google Shape;948;p87"/>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Inner Classes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Static Initialization</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Anonymous Classes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Scope</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Functional Interfaces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Lambda Expressions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Simplification</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Method Reference</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Streams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forEach</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Consumer, filter, Predicate</a:t>
            </a:r>
            <a:endParaRPr sz="1600">
              <a:solidFill>
                <a:srgbClr val="FF0000"/>
              </a:solidFill>
              <a:latin typeface="Shadows Into Light"/>
              <a:ea typeface="Shadows Into Light"/>
              <a:cs typeface="Shadows Into Light"/>
              <a:sym typeface="Shadows Into Light"/>
            </a:endParaRPr>
          </a:p>
        </p:txBody>
      </p:sp>
      <p:sp>
        <p:nvSpPr>
          <p:cNvPr id="949" name="Google Shape;949;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977</TotalTime>
  <Words>11769</Words>
  <Application>Microsoft Office PowerPoint</Application>
  <PresentationFormat>On-screen Show (16:9)</PresentationFormat>
  <Paragraphs>1350</Paragraphs>
  <Slides>56</Slides>
  <Notes>56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56</vt:i4>
      </vt:variant>
    </vt:vector>
  </HeadingPairs>
  <TitlesOfParts>
    <vt:vector size="66" baseType="lpstr">
      <vt:lpstr>Arial</vt:lpstr>
      <vt:lpstr>Calibri</vt:lpstr>
      <vt:lpstr>Consolas</vt:lpstr>
      <vt:lpstr>Courier New</vt:lpstr>
      <vt:lpstr>Merriweather</vt:lpstr>
      <vt:lpstr>Noto Sans Symbols</vt:lpstr>
      <vt:lpstr>Roboto</vt:lpstr>
      <vt:lpstr>Shadows Into Light</vt:lpstr>
      <vt:lpstr>Paradigm</vt:lpstr>
      <vt:lpstr>Paradigm</vt:lpstr>
      <vt:lpstr>GCIS-124 Software Development &amp; Problem Solving</vt:lpstr>
      <vt:lpstr>Lambdas, Streams, &amp; Files</vt:lpstr>
      <vt:lpstr>Inner Classes</vt:lpstr>
      <vt:lpstr>A Closer Look at Inner Classes…</vt:lpstr>
      <vt:lpstr>A Closer Look at Inner Classes</vt:lpstr>
      <vt:lpstr>When To Use Them?</vt:lpstr>
      <vt:lpstr>Simply Star Wars Battle</vt:lpstr>
      <vt:lpstr>Anonymous Classes</vt:lpstr>
      <vt:lpstr>An Anonymous Class Example</vt:lpstr>
      <vt:lpstr>An Anonymous Class Example</vt:lpstr>
      <vt:lpstr>Shape Class</vt:lpstr>
      <vt:lpstr>ShapeFactory</vt:lpstr>
      <vt:lpstr>User Shapes</vt:lpstr>
      <vt:lpstr>Switch Statement</vt:lpstr>
      <vt:lpstr>Switch Statement</vt:lpstr>
      <vt:lpstr>Switch Statement</vt:lpstr>
      <vt:lpstr>Switch Statement</vt:lpstr>
      <vt:lpstr>Refactor to use switch statement</vt:lpstr>
      <vt:lpstr>Scope and Anonymous Classes</vt:lpstr>
      <vt:lpstr>Functional Interfaces</vt:lpstr>
      <vt:lpstr>Basic Lambdas</vt:lpstr>
      <vt:lpstr>A Closer Look at Lambdas</vt:lpstr>
      <vt:lpstr>A Closer Look at Lambdas</vt:lpstr>
      <vt:lpstr>buildExpressionTree</vt:lpstr>
      <vt:lpstr>Multiplication Lambda Expression</vt:lpstr>
      <vt:lpstr>More Lambdas</vt:lpstr>
      <vt:lpstr>Division Lambda Expression</vt:lpstr>
      <vt:lpstr>Even More Lambdas</vt:lpstr>
      <vt:lpstr>A Closer Look at Method References (Part 1)</vt:lpstr>
      <vt:lpstr>A Closer Look at Method References (Part 2)</vt:lpstr>
      <vt:lpstr>A Closer Look at Method References (Part 3)</vt:lpstr>
      <vt:lpstr>Method Reference Comparator</vt:lpstr>
      <vt:lpstr>From Regular Classes to Lambdas</vt:lpstr>
      <vt:lpstr>Streams</vt:lpstr>
      <vt:lpstr>Preparation</vt:lpstr>
      <vt:lpstr>forEach &amp; Consumer</vt:lpstr>
      <vt:lpstr>Streaming Students</vt:lpstr>
      <vt:lpstr>filter &amp; Predicate</vt:lpstr>
      <vt:lpstr>What’s In A Name?</vt:lpstr>
      <vt:lpstr>Stream Library</vt:lpstr>
      <vt:lpstr>Stream Extensions</vt:lpstr>
      <vt:lpstr>Sum Additional Practice</vt:lpstr>
      <vt:lpstr>Sum More Practice</vt:lpstr>
      <vt:lpstr>Java Files</vt:lpstr>
      <vt:lpstr>Getting File Info</vt:lpstr>
      <vt:lpstr>Reading Text Files</vt:lpstr>
      <vt:lpstr>Reading Text Files</vt:lpstr>
      <vt:lpstr>Checked Exceptions</vt:lpstr>
      <vt:lpstr>Handling Checked Exceptions</vt:lpstr>
      <vt:lpstr>Writing Text Files</vt:lpstr>
      <vt:lpstr>Writing Text Files</vt:lpstr>
      <vt:lpstr>try-with-resources</vt:lpstr>
      <vt:lpstr>Using try-with-resources in Java</vt:lpstr>
      <vt:lpstr>PowerPoint Presentation</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18</cp:revision>
  <dcterms:modified xsi:type="dcterms:W3CDTF">2026-02-03T20:59:44Z</dcterms:modified>
</cp:coreProperties>
</file>