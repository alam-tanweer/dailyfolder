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y="5143500" cx="9144000"/>
  <p:notesSz cx="6858000" cy="9144000"/>
  <p:embeddedFontLst>
    <p:embeddedFont>
      <p:font typeface="Roboto"/>
      <p:regular r:id="rId64"/>
      <p:bold r:id="rId65"/>
      <p:italic r:id="rId66"/>
      <p:boldItalic r:id="rId67"/>
    </p:embeddedFont>
    <p:embeddedFont>
      <p:font typeface="Shadows Into Light"/>
      <p:regular r:id="rId68"/>
    </p:embeddedFont>
    <p:embeddedFont>
      <p:font typeface="Merriweather"/>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9D149B-3B2E-4EDA-BF98-D3530D9AB1DA}">
  <a:tblStyle styleId="{D69D149B-3B2E-4EDA-BF98-D3530D9AB1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2" Type="http://schemas.openxmlformats.org/officeDocument/2006/relationships/font" Target="fonts/Merriweather-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Merriweather-italic.fntdata"/><Relationship Id="rId70" Type="http://schemas.openxmlformats.org/officeDocument/2006/relationships/font" Target="fonts/Merriweather-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oboto-regular.fntdata"/><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Roboto-italic.fntdata"/><Relationship Id="rId21" Type="http://schemas.openxmlformats.org/officeDocument/2006/relationships/slide" Target="slides/slide14.xml"/><Relationship Id="rId65" Type="http://schemas.openxmlformats.org/officeDocument/2006/relationships/font" Target="fonts/Roboto-bold.fntdata"/><Relationship Id="rId24" Type="http://schemas.openxmlformats.org/officeDocument/2006/relationships/slide" Target="slides/slide17.xml"/><Relationship Id="rId68" Type="http://schemas.openxmlformats.org/officeDocument/2006/relationships/font" Target="fonts/ShadowsIntoLight-regular.fntdata"/><Relationship Id="rId23" Type="http://schemas.openxmlformats.org/officeDocument/2006/relationships/slide" Target="slides/slide16.xml"/><Relationship Id="rId67" Type="http://schemas.openxmlformats.org/officeDocument/2006/relationships/font" Target="fonts/Roboto-bold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erriweather-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3d365e4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3d365e4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1f5a37ac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c1f5a37ac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443f40e88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443f40e88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443f40e88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443f40e88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b330bb6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b330bb6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b330bb62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ab330bb62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c54442f42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c54442f42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1b4ee6056f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1b4ee6056f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1b4ee6056f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1b4ee6056f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c741dfc9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c741dfc9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ab330bb62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ab330bb62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30e3afb3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930e3afb3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30e3afb35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30e3afb3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30e3afb35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930e3afb35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930e3afb35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930e3afb35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30e3afb35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30e3afb35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30e3afb35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930e3afb35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c54442f42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c54442f42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1b4ee6056f_0_950: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21b4ee6056f_0_950: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435897835d_26_2: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435897835d_26_2: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435897835d_26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435897835d_26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435897835d_26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435897835d_26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b45766e24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b45766e24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1b4ee6056f_0_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1b4ee6056f_0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1b4ee6056f_0_975: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g21b4ee6056f_0_975: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1b4ee6056f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1b4ee6056f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1b4ee6056f_0_992: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21b4ee6056f_0_992: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c52e85cc8a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c52e85cc8a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c52e85cc8a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c52e85cc8a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c52e85cc8a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2c52e85cc8a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1b4ee6056f_0_10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1b4ee6056f_0_10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1b4ee6056f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1b4ee6056f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1b4ee6056f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1b4ee6056f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922cfbf4ee_1_7: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g3922cfbf4ee_1_7:notes"/>
          <p:cNvSpPr txBox="1"/>
          <p:nvPr>
            <p:ph idx="1" type="body"/>
          </p:nvPr>
        </p:nvSpPr>
        <p:spPr>
          <a:xfrm>
            <a:off x="686099" y="4401155"/>
            <a:ext cx="5485800" cy="35997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1b4ee6056f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1b4ee6056f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1b4ee6056f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21b4ee6056f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21b4ee6056f_0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21b4ee6056f_0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21b4ee6056f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21b4ee6056f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21b4ee6056f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21b4ee6056f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1b4ee6056f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1b4ee6056f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f9f92410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f9f92410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skip if short on time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1f9f92410a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1f9f92410a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skip if short on time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ab330bb623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ab330bb623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ab330bb623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ab330bb623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ab330bb623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ab330bb623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ab330bb623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ab330bb623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ab330bb623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ab330bb623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ab330bb623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ab330bb623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ab330bb623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ab330bb623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ab330bb623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ab330bb623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ab330bb623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ab330bb623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ab330bb623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ab330bb623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447cd4901f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447cd4901f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447cd4901f_1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447cd4901f_1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8b6744271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8b6744271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4"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8" name="Google Shape;6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9" name="Shape 69"/>
        <p:cNvGrpSpPr/>
        <p:nvPr/>
      </p:nvGrpSpPr>
      <p:grpSpPr>
        <a:xfrm>
          <a:off x="0" y="0"/>
          <a:ext cx="0" cy="0"/>
          <a:chOff x="0" y="0"/>
          <a:chExt cx="0" cy="0"/>
        </a:xfrm>
      </p:grpSpPr>
      <p:sp>
        <p:nvSpPr>
          <p:cNvPr id="70" name="Google Shape;7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2" name="Google Shape;7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rgbClr val="FFFFFF"/>
        </a:solidFill>
      </p:bgPr>
    </p:bg>
    <p:spTree>
      <p:nvGrpSpPr>
        <p:cNvPr id="73" name="Shape 73"/>
        <p:cNvGrpSpPr/>
        <p:nvPr/>
      </p:nvGrpSpPr>
      <p:grpSpPr>
        <a:xfrm>
          <a:off x="0" y="0"/>
          <a:ext cx="0" cy="0"/>
          <a:chOff x="0" y="0"/>
          <a:chExt cx="0" cy="0"/>
        </a:xfrm>
      </p:grpSpPr>
      <p:sp>
        <p:nvSpPr>
          <p:cNvPr id="74" name="Google Shape;74;p15"/>
          <p:cNvSpPr txBox="1"/>
          <p:nvPr>
            <p:ph type="title"/>
          </p:nvPr>
        </p:nvSpPr>
        <p:spPr>
          <a:xfrm>
            <a:off x="340660" y="30698"/>
            <a:ext cx="8449200" cy="6360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5"/>
          <p:cNvSpPr txBox="1"/>
          <p:nvPr>
            <p:ph idx="1" type="body"/>
          </p:nvPr>
        </p:nvSpPr>
        <p:spPr>
          <a:xfrm>
            <a:off x="340660" y="884286"/>
            <a:ext cx="8449200" cy="4156800"/>
          </a:xfrm>
          <a:prstGeom prst="rect">
            <a:avLst/>
          </a:prstGeom>
          <a:noFill/>
          <a:ln>
            <a:noFill/>
          </a:ln>
        </p:spPr>
        <p:txBody>
          <a:bodyPr anchorCtr="0" anchor="t" bIns="34275" lIns="68575" spcFirstLastPara="1" rIns="68575" wrap="square" tIns="34275">
            <a:normAutofit/>
          </a:bodyPr>
          <a:lstStyle>
            <a:lvl1pPr indent="-349250" lvl="0" marL="457200" rtl="0" algn="l">
              <a:lnSpc>
                <a:spcPct val="90000"/>
              </a:lnSpc>
              <a:spcBef>
                <a:spcPts val="800"/>
              </a:spcBef>
              <a:spcAft>
                <a:spcPts val="0"/>
              </a:spcAft>
              <a:buClr>
                <a:schemeClr val="dk1"/>
              </a:buClr>
              <a:buSzPts val="1900"/>
              <a:buFont typeface="Calibri"/>
              <a:buChar char="●"/>
              <a:defRPr sz="2100"/>
            </a:lvl1pPr>
            <a:lvl2pPr indent="-330200" lvl="1" marL="914400" rtl="0" algn="l">
              <a:lnSpc>
                <a:spcPct val="90000"/>
              </a:lnSpc>
              <a:spcBef>
                <a:spcPts val="1600"/>
              </a:spcBef>
              <a:spcAft>
                <a:spcPts val="0"/>
              </a:spcAft>
              <a:buClr>
                <a:schemeClr val="dk1"/>
              </a:buClr>
              <a:buSzPts val="1600"/>
              <a:buFont typeface="Courier New"/>
              <a:buChar char="o"/>
              <a:defRPr sz="1800"/>
            </a:lvl2pPr>
            <a:lvl3pPr indent="-323850" lvl="2" marL="1371600" rtl="0" algn="l">
              <a:lnSpc>
                <a:spcPct val="90000"/>
              </a:lnSpc>
              <a:spcBef>
                <a:spcPts val="1600"/>
              </a:spcBef>
              <a:spcAft>
                <a:spcPts val="0"/>
              </a:spcAft>
              <a:buClr>
                <a:schemeClr val="dk1"/>
              </a:buClr>
              <a:buSzPts val="1500"/>
              <a:buFont typeface="Noto Sans Symbols"/>
              <a:buChar char="▪"/>
              <a:defRPr sz="1500"/>
            </a:lvl3pPr>
            <a:lvl4pPr indent="-317500" lvl="3" marL="1828800" rtl="0" algn="l">
              <a:lnSpc>
                <a:spcPct val="90000"/>
              </a:lnSpc>
              <a:spcBef>
                <a:spcPts val="1600"/>
              </a:spcBef>
              <a:spcAft>
                <a:spcPts val="0"/>
              </a:spcAft>
              <a:buClr>
                <a:schemeClr val="dk1"/>
              </a:buClr>
              <a:buSzPts val="1400"/>
              <a:buFont typeface="Calibri"/>
              <a:buChar char="▫"/>
              <a:defRPr sz="1400"/>
            </a:lvl4pPr>
            <a:lvl5pPr indent="-298450" lvl="4" marL="2286000" rtl="0" algn="l">
              <a:lnSpc>
                <a:spcPct val="90000"/>
              </a:lnSpc>
              <a:spcBef>
                <a:spcPts val="1600"/>
              </a:spcBef>
              <a:spcAft>
                <a:spcPts val="0"/>
              </a:spcAft>
              <a:buClr>
                <a:schemeClr val="dk1"/>
              </a:buClr>
              <a:buSzPts val="1100"/>
              <a:buChar char="○"/>
              <a:defRPr sz="1100"/>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76" name="Google Shape;76;p15"/>
          <p:cNvCxnSpPr/>
          <p:nvPr/>
        </p:nvCxnSpPr>
        <p:spPr>
          <a:xfrm>
            <a:off x="340660" y="690167"/>
            <a:ext cx="8449200" cy="0"/>
          </a:xfrm>
          <a:prstGeom prst="straightConnector1">
            <a:avLst/>
          </a:prstGeom>
          <a:noFill/>
          <a:ln cap="flat" cmpd="thickThin" w="63500">
            <a:solidFill>
              <a:schemeClr val="lt2"/>
            </a:solidFill>
            <a:prstDash val="solid"/>
            <a:miter lim="800000"/>
            <a:headEnd len="sm" w="sm" type="none"/>
            <a:tailEnd len="sm" w="sm" type="none"/>
          </a:ln>
        </p:spPr>
      </p:cxnSp>
      <p:sp>
        <p:nvSpPr>
          <p:cNvPr id="77" name="Google Shape;77;p15"/>
          <p:cNvSpPr txBox="1"/>
          <p:nvPr>
            <p:ph idx="2" type="body"/>
          </p:nvPr>
        </p:nvSpPr>
        <p:spPr>
          <a:xfrm>
            <a:off x="915543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78" name="Google Shape;78;p15"/>
          <p:cNvSpPr txBox="1"/>
          <p:nvPr>
            <p:ph idx="3" type="body"/>
          </p:nvPr>
        </p:nvSpPr>
        <p:spPr>
          <a:xfrm>
            <a:off x="915543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79" name="Google Shape;79;p15"/>
          <p:cNvSpPr txBox="1"/>
          <p:nvPr>
            <p:ph idx="4" type="body"/>
          </p:nvPr>
        </p:nvSpPr>
        <p:spPr>
          <a:xfrm>
            <a:off x="915543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0" name="Google Shape;80;p15"/>
          <p:cNvSpPr txBox="1"/>
          <p:nvPr>
            <p:ph idx="5" type="body"/>
          </p:nvPr>
        </p:nvSpPr>
        <p:spPr>
          <a:xfrm>
            <a:off x="915543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1" name="Google Shape;81;p15"/>
          <p:cNvSpPr txBox="1"/>
          <p:nvPr>
            <p:ph idx="6" type="body"/>
          </p:nvPr>
        </p:nvSpPr>
        <p:spPr>
          <a:xfrm>
            <a:off x="915543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2" name="Google Shape;82;p15"/>
          <p:cNvSpPr txBox="1"/>
          <p:nvPr>
            <p:ph idx="7" type="body"/>
          </p:nvPr>
        </p:nvSpPr>
        <p:spPr>
          <a:xfrm>
            <a:off x="915543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3" name="Google Shape;83;p15"/>
          <p:cNvSpPr txBox="1"/>
          <p:nvPr>
            <p:ph idx="8" type="body"/>
          </p:nvPr>
        </p:nvSpPr>
        <p:spPr>
          <a:xfrm>
            <a:off x="915543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4" name="Google Shape;84;p15"/>
          <p:cNvSpPr txBox="1"/>
          <p:nvPr>
            <p:ph idx="9" type="body"/>
          </p:nvPr>
        </p:nvSpPr>
        <p:spPr>
          <a:xfrm>
            <a:off x="915543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5" name="Google Shape;85;p15"/>
          <p:cNvSpPr txBox="1"/>
          <p:nvPr>
            <p:ph idx="13" type="body"/>
          </p:nvPr>
        </p:nvSpPr>
        <p:spPr>
          <a:xfrm>
            <a:off x="915543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6" name="Google Shape;86;p15"/>
          <p:cNvSpPr txBox="1"/>
          <p:nvPr>
            <p:ph idx="14" type="body"/>
          </p:nvPr>
        </p:nvSpPr>
        <p:spPr>
          <a:xfrm>
            <a:off x="915543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7" name="Google Shape;87;p15"/>
          <p:cNvSpPr txBox="1"/>
          <p:nvPr>
            <p:ph idx="15" type="body"/>
          </p:nvPr>
        </p:nvSpPr>
        <p:spPr>
          <a:xfrm>
            <a:off x="915543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8" name="Google Shape;88;p15"/>
          <p:cNvSpPr txBox="1"/>
          <p:nvPr>
            <p:ph idx="16" type="body"/>
          </p:nvPr>
        </p:nvSpPr>
        <p:spPr>
          <a:xfrm>
            <a:off x="915543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9" name="Google Shape;89;p15"/>
          <p:cNvSpPr txBox="1"/>
          <p:nvPr>
            <p:ph idx="17" type="body"/>
          </p:nvPr>
        </p:nvSpPr>
        <p:spPr>
          <a:xfrm>
            <a:off x="915543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0" name="Google Shape;90;p15"/>
          <p:cNvSpPr txBox="1"/>
          <p:nvPr>
            <p:ph idx="18" type="body"/>
          </p:nvPr>
        </p:nvSpPr>
        <p:spPr>
          <a:xfrm>
            <a:off x="915543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1" name="Google Shape;91;p15"/>
          <p:cNvSpPr txBox="1"/>
          <p:nvPr>
            <p:ph idx="19" type="body"/>
          </p:nvPr>
        </p:nvSpPr>
        <p:spPr>
          <a:xfrm>
            <a:off x="915543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2" name="Google Shape;92;p15"/>
          <p:cNvSpPr txBox="1"/>
          <p:nvPr>
            <p:ph idx="20" type="body"/>
          </p:nvPr>
        </p:nvSpPr>
        <p:spPr>
          <a:xfrm>
            <a:off x="915543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3" name="Google Shape;93;p15"/>
          <p:cNvSpPr txBox="1"/>
          <p:nvPr>
            <p:ph idx="21" type="body"/>
          </p:nvPr>
        </p:nvSpPr>
        <p:spPr>
          <a:xfrm>
            <a:off x="915543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4" name="Google Shape;94;p15"/>
          <p:cNvSpPr txBox="1"/>
          <p:nvPr>
            <p:ph idx="22" type="body"/>
          </p:nvPr>
        </p:nvSpPr>
        <p:spPr>
          <a:xfrm>
            <a:off x="915543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5" name="Google Shape;95;p15"/>
          <p:cNvSpPr txBox="1"/>
          <p:nvPr>
            <p:ph idx="23" type="body"/>
          </p:nvPr>
        </p:nvSpPr>
        <p:spPr>
          <a:xfrm>
            <a:off x="915543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6" name="Google Shape;96;p15"/>
          <p:cNvSpPr txBox="1"/>
          <p:nvPr>
            <p:ph idx="24" type="body"/>
          </p:nvPr>
        </p:nvSpPr>
        <p:spPr>
          <a:xfrm>
            <a:off x="915543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7" name="Google Shape;97;p15"/>
          <p:cNvSpPr txBox="1"/>
          <p:nvPr>
            <p:ph idx="25" type="body"/>
          </p:nvPr>
        </p:nvSpPr>
        <p:spPr>
          <a:xfrm>
            <a:off x="915543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8" name="Google Shape;98;p15"/>
          <p:cNvSpPr txBox="1"/>
          <p:nvPr>
            <p:ph idx="26" type="body"/>
          </p:nvPr>
        </p:nvSpPr>
        <p:spPr>
          <a:xfrm>
            <a:off x="-281178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9" name="Google Shape;99;p15"/>
          <p:cNvSpPr txBox="1"/>
          <p:nvPr>
            <p:ph idx="27" type="body"/>
          </p:nvPr>
        </p:nvSpPr>
        <p:spPr>
          <a:xfrm>
            <a:off x="-281178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0" name="Google Shape;100;p15"/>
          <p:cNvSpPr txBox="1"/>
          <p:nvPr>
            <p:ph idx="28" type="body"/>
          </p:nvPr>
        </p:nvSpPr>
        <p:spPr>
          <a:xfrm>
            <a:off x="-281178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1" name="Google Shape;101;p15"/>
          <p:cNvSpPr txBox="1"/>
          <p:nvPr>
            <p:ph idx="29" type="body"/>
          </p:nvPr>
        </p:nvSpPr>
        <p:spPr>
          <a:xfrm>
            <a:off x="-281178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2" name="Google Shape;102;p15"/>
          <p:cNvSpPr txBox="1"/>
          <p:nvPr>
            <p:ph idx="30" type="body"/>
          </p:nvPr>
        </p:nvSpPr>
        <p:spPr>
          <a:xfrm>
            <a:off x="-281178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3" name="Google Shape;103;p15"/>
          <p:cNvSpPr txBox="1"/>
          <p:nvPr>
            <p:ph idx="31" type="body"/>
          </p:nvPr>
        </p:nvSpPr>
        <p:spPr>
          <a:xfrm>
            <a:off x="-281178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4" name="Google Shape;104;p15"/>
          <p:cNvSpPr txBox="1"/>
          <p:nvPr>
            <p:ph idx="32" type="body"/>
          </p:nvPr>
        </p:nvSpPr>
        <p:spPr>
          <a:xfrm>
            <a:off x="-281178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5" name="Google Shape;105;p15"/>
          <p:cNvSpPr txBox="1"/>
          <p:nvPr>
            <p:ph idx="33" type="body"/>
          </p:nvPr>
        </p:nvSpPr>
        <p:spPr>
          <a:xfrm>
            <a:off x="-281178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6" name="Google Shape;106;p15"/>
          <p:cNvSpPr txBox="1"/>
          <p:nvPr>
            <p:ph idx="34" type="body"/>
          </p:nvPr>
        </p:nvSpPr>
        <p:spPr>
          <a:xfrm>
            <a:off x="-281178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7" name="Google Shape;107;p15"/>
          <p:cNvSpPr txBox="1"/>
          <p:nvPr>
            <p:ph idx="35" type="body"/>
          </p:nvPr>
        </p:nvSpPr>
        <p:spPr>
          <a:xfrm>
            <a:off x="-281178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8" name="Google Shape;108;p15"/>
          <p:cNvSpPr txBox="1"/>
          <p:nvPr>
            <p:ph idx="36" type="body"/>
          </p:nvPr>
        </p:nvSpPr>
        <p:spPr>
          <a:xfrm>
            <a:off x="-281178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9" name="Google Shape;109;p15"/>
          <p:cNvSpPr txBox="1"/>
          <p:nvPr>
            <p:ph idx="37" type="body"/>
          </p:nvPr>
        </p:nvSpPr>
        <p:spPr>
          <a:xfrm>
            <a:off x="-281178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0" name="Google Shape;110;p15"/>
          <p:cNvSpPr txBox="1"/>
          <p:nvPr>
            <p:ph idx="38" type="body"/>
          </p:nvPr>
        </p:nvSpPr>
        <p:spPr>
          <a:xfrm>
            <a:off x="-281178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1" name="Google Shape;111;p15"/>
          <p:cNvSpPr txBox="1"/>
          <p:nvPr>
            <p:ph idx="39" type="body"/>
          </p:nvPr>
        </p:nvSpPr>
        <p:spPr>
          <a:xfrm>
            <a:off x="-281178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2" name="Google Shape;112;p15"/>
          <p:cNvSpPr txBox="1"/>
          <p:nvPr>
            <p:ph idx="40" type="body"/>
          </p:nvPr>
        </p:nvSpPr>
        <p:spPr>
          <a:xfrm>
            <a:off x="-281178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3" name="Google Shape;113;p15"/>
          <p:cNvSpPr txBox="1"/>
          <p:nvPr>
            <p:ph idx="41" type="body"/>
          </p:nvPr>
        </p:nvSpPr>
        <p:spPr>
          <a:xfrm>
            <a:off x="-281178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4" name="Google Shape;114;p15"/>
          <p:cNvSpPr txBox="1"/>
          <p:nvPr>
            <p:ph idx="42" type="body"/>
          </p:nvPr>
        </p:nvSpPr>
        <p:spPr>
          <a:xfrm>
            <a:off x="-281178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5" name="Google Shape;115;p15"/>
          <p:cNvSpPr txBox="1"/>
          <p:nvPr>
            <p:ph idx="43" type="body"/>
          </p:nvPr>
        </p:nvSpPr>
        <p:spPr>
          <a:xfrm>
            <a:off x="-281178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6" name="Google Shape;116;p15"/>
          <p:cNvSpPr txBox="1"/>
          <p:nvPr>
            <p:ph idx="44" type="body"/>
          </p:nvPr>
        </p:nvSpPr>
        <p:spPr>
          <a:xfrm>
            <a:off x="-281178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7" name="Google Shape;117;p15"/>
          <p:cNvSpPr txBox="1"/>
          <p:nvPr>
            <p:ph idx="45" type="body"/>
          </p:nvPr>
        </p:nvSpPr>
        <p:spPr>
          <a:xfrm>
            <a:off x="-281178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8" name="Google Shape;118;p15"/>
          <p:cNvSpPr txBox="1"/>
          <p:nvPr>
            <p:ph idx="46" type="body"/>
          </p:nvPr>
        </p:nvSpPr>
        <p:spPr>
          <a:xfrm>
            <a:off x="-281178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ctivity">
    <p:spTree>
      <p:nvGrpSpPr>
        <p:cNvPr id="119" name="Shape 119"/>
        <p:cNvGrpSpPr/>
        <p:nvPr/>
      </p:nvGrpSpPr>
      <p:grpSpPr>
        <a:xfrm>
          <a:off x="0" y="0"/>
          <a:ext cx="0" cy="0"/>
          <a:chOff x="0" y="0"/>
          <a:chExt cx="0" cy="0"/>
        </a:xfrm>
      </p:grpSpPr>
      <p:sp>
        <p:nvSpPr>
          <p:cNvPr id="120" name="Google Shape;120;p16"/>
          <p:cNvSpPr txBox="1"/>
          <p:nvPr>
            <p:ph type="title"/>
          </p:nvPr>
        </p:nvSpPr>
        <p:spPr>
          <a:xfrm>
            <a:off x="1039579" y="119975"/>
            <a:ext cx="7795200" cy="577200"/>
          </a:xfrm>
          <a:prstGeom prst="rect">
            <a:avLst/>
          </a:prstGeom>
          <a:noFill/>
          <a:ln>
            <a:noFill/>
          </a:ln>
        </p:spPr>
        <p:txBody>
          <a:bodyPr anchorCtr="0" anchor="ctr" bIns="34275" lIns="68575" spcFirstLastPara="1" rIns="68575" wrap="square" tIns="34275">
            <a:normAutofit/>
          </a:bodyPr>
          <a:lstStyle>
            <a:lvl1pPr lvl="0" rtl="0" algn="l">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6"/>
          <p:cNvSpPr txBox="1"/>
          <p:nvPr>
            <p:ph idx="1" type="body"/>
          </p:nvPr>
        </p:nvSpPr>
        <p:spPr>
          <a:xfrm>
            <a:off x="300382" y="768629"/>
            <a:ext cx="3399300" cy="3864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sz="1800"/>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122" name="Google Shape;122;p16"/>
          <p:cNvCxnSpPr/>
          <p:nvPr/>
        </p:nvCxnSpPr>
        <p:spPr>
          <a:xfrm>
            <a:off x="300382" y="736560"/>
            <a:ext cx="8534400" cy="0"/>
          </a:xfrm>
          <a:prstGeom prst="straightConnector1">
            <a:avLst/>
          </a:prstGeom>
          <a:noFill/>
          <a:ln cap="flat" cmpd="thickThin" w="63500">
            <a:solidFill>
              <a:schemeClr val="lt2"/>
            </a:solidFill>
            <a:prstDash val="solid"/>
            <a:miter lim="800000"/>
            <a:headEnd len="sm" w="sm" type="none"/>
            <a:tailEnd len="sm" w="sm" type="none"/>
          </a:ln>
        </p:spPr>
      </p:cxnSp>
      <p:sp>
        <p:nvSpPr>
          <p:cNvPr id="123" name="Google Shape;123;p16"/>
          <p:cNvSpPr txBox="1"/>
          <p:nvPr>
            <p:ph idx="2" type="body"/>
          </p:nvPr>
        </p:nvSpPr>
        <p:spPr>
          <a:xfrm>
            <a:off x="3699710" y="784668"/>
            <a:ext cx="5135100" cy="4258500"/>
          </a:xfrm>
          <a:prstGeom prst="rect">
            <a:avLst/>
          </a:prstGeom>
          <a:noFill/>
          <a:ln cap="flat" cmpd="sng" w="38100">
            <a:solidFill>
              <a:schemeClr val="dk1"/>
            </a:solidFill>
            <a:prstDash val="solid"/>
            <a:round/>
            <a:headEnd len="sm" w="sm" type="none"/>
            <a:tailEnd len="sm" w="sm" type="none"/>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SzPts val="1800"/>
              <a:buNone/>
              <a:defRPr b="1" sz="1800">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4" name="Google Shape;124;p16"/>
          <p:cNvSpPr txBox="1"/>
          <p:nvPr>
            <p:ph idx="3" type="body"/>
          </p:nvPr>
        </p:nvSpPr>
        <p:spPr>
          <a:xfrm>
            <a:off x="-2811780" y="23094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5" name="Google Shape;125;p16"/>
          <p:cNvSpPr txBox="1"/>
          <p:nvPr>
            <p:ph idx="4" type="body"/>
          </p:nvPr>
        </p:nvSpPr>
        <p:spPr>
          <a:xfrm>
            <a:off x="-2811780" y="4671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6" name="Google Shape;126;p16"/>
          <p:cNvSpPr txBox="1"/>
          <p:nvPr>
            <p:ph idx="5" type="body"/>
          </p:nvPr>
        </p:nvSpPr>
        <p:spPr>
          <a:xfrm>
            <a:off x="-2811780" y="692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7" name="Google Shape;127;p16"/>
          <p:cNvSpPr txBox="1"/>
          <p:nvPr>
            <p:ph idx="6" type="body"/>
          </p:nvPr>
        </p:nvSpPr>
        <p:spPr>
          <a:xfrm>
            <a:off x="-2811780" y="9172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8" name="Google Shape;128;p16"/>
          <p:cNvSpPr txBox="1"/>
          <p:nvPr>
            <p:ph idx="7" type="body"/>
          </p:nvPr>
        </p:nvSpPr>
        <p:spPr>
          <a:xfrm>
            <a:off x="-2811780" y="114021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9" name="Google Shape;129;p16"/>
          <p:cNvSpPr txBox="1"/>
          <p:nvPr>
            <p:ph idx="8" type="body"/>
          </p:nvPr>
        </p:nvSpPr>
        <p:spPr>
          <a:xfrm>
            <a:off x="-2811780" y="137082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0" name="Google Shape;130;p16"/>
          <p:cNvSpPr txBox="1"/>
          <p:nvPr>
            <p:ph idx="9" type="body"/>
          </p:nvPr>
        </p:nvSpPr>
        <p:spPr>
          <a:xfrm>
            <a:off x="-2811780" y="159516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1" name="Google Shape;131;p16"/>
          <p:cNvSpPr txBox="1"/>
          <p:nvPr>
            <p:ph idx="13" type="body"/>
          </p:nvPr>
        </p:nvSpPr>
        <p:spPr>
          <a:xfrm>
            <a:off x="-2811780" y="18263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2" name="Google Shape;132;p16"/>
          <p:cNvSpPr txBox="1"/>
          <p:nvPr>
            <p:ph idx="14" type="body"/>
          </p:nvPr>
        </p:nvSpPr>
        <p:spPr>
          <a:xfrm>
            <a:off x="-2811780" y="207015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3" name="Google Shape;133;p16"/>
          <p:cNvSpPr txBox="1"/>
          <p:nvPr>
            <p:ph idx="15" type="body"/>
          </p:nvPr>
        </p:nvSpPr>
        <p:spPr>
          <a:xfrm>
            <a:off x="-2811780" y="23070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4" name="Google Shape;134;p16"/>
          <p:cNvSpPr txBox="1"/>
          <p:nvPr>
            <p:ph idx="16" type="body"/>
          </p:nvPr>
        </p:nvSpPr>
        <p:spPr>
          <a:xfrm>
            <a:off x="-2811780" y="253135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5" name="Google Shape;135;p16"/>
          <p:cNvSpPr txBox="1"/>
          <p:nvPr>
            <p:ph idx="17" type="body"/>
          </p:nvPr>
        </p:nvSpPr>
        <p:spPr>
          <a:xfrm>
            <a:off x="-2811780" y="275021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6" name="Google Shape;136;p16"/>
          <p:cNvSpPr/>
          <p:nvPr/>
        </p:nvSpPr>
        <p:spPr>
          <a:xfrm>
            <a:off x="277239" y="109654"/>
            <a:ext cx="633000" cy="578700"/>
          </a:xfrm>
          <a:prstGeom prst="roundRect">
            <a:avLst>
              <a:gd fmla="val 16667" name="adj"/>
            </a:avLst>
          </a:prstGeom>
          <a:gradFill>
            <a:gsLst>
              <a:gs pos="0">
                <a:srgbClr val="FFFFFF"/>
              </a:gs>
              <a:gs pos="66000">
                <a:srgbClr val="FFFFFF"/>
              </a:gs>
              <a:gs pos="100000">
                <a:schemeClr val="dk2"/>
              </a:gs>
            </a:gsLst>
            <a:path path="circle">
              <a:fillToRect b="50%" l="50%" r="50%" t="50%"/>
            </a:path>
            <a:tileRect/>
          </a:gradFill>
          <a:ln cap="flat" cmpd="sng" w="12700">
            <a:solidFill>
              <a:srgbClr val="A246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7" name="Google Shape;137;p16"/>
          <p:cNvSpPr/>
          <p:nvPr/>
        </p:nvSpPr>
        <p:spPr>
          <a:xfrm>
            <a:off x="412441" y="97590"/>
            <a:ext cx="394800" cy="577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3300" cap="none">
                <a:solidFill>
                  <a:schemeClr val="dk2"/>
                </a:solidFill>
                <a:latin typeface="Calibri"/>
                <a:ea typeface="Calibri"/>
                <a:cs typeface="Calibri"/>
                <a:sym typeface="Calibri"/>
              </a:rPr>
              <a:t>A</a:t>
            </a:r>
            <a:endParaRPr sz="1100"/>
          </a:p>
        </p:txBody>
      </p:sp>
      <p:sp>
        <p:nvSpPr>
          <p:cNvPr id="138" name="Google Shape;138;p16"/>
          <p:cNvSpPr txBox="1"/>
          <p:nvPr>
            <p:ph idx="18" type="body"/>
          </p:nvPr>
        </p:nvSpPr>
        <p:spPr>
          <a:xfrm>
            <a:off x="-2811780" y="30367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9" name="Google Shape;139;p16"/>
          <p:cNvSpPr txBox="1"/>
          <p:nvPr>
            <p:ph idx="19" type="body"/>
          </p:nvPr>
        </p:nvSpPr>
        <p:spPr>
          <a:xfrm>
            <a:off x="-2811780" y="326764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0" name="Google Shape;140;p16"/>
          <p:cNvSpPr txBox="1"/>
          <p:nvPr>
            <p:ph idx="20" type="body"/>
          </p:nvPr>
        </p:nvSpPr>
        <p:spPr>
          <a:xfrm>
            <a:off x="-2811780" y="350389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1" name="Google Shape;141;p16"/>
          <p:cNvSpPr txBox="1"/>
          <p:nvPr>
            <p:ph idx="21" type="body"/>
          </p:nvPr>
        </p:nvSpPr>
        <p:spPr>
          <a:xfrm>
            <a:off x="-2811780" y="37295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2" name="Google Shape;142;p16"/>
          <p:cNvSpPr txBox="1"/>
          <p:nvPr>
            <p:ph idx="22" type="body"/>
          </p:nvPr>
        </p:nvSpPr>
        <p:spPr>
          <a:xfrm>
            <a:off x="-2811780" y="39539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3" name="Google Shape;143;p16"/>
          <p:cNvSpPr txBox="1"/>
          <p:nvPr>
            <p:ph idx="23" type="body"/>
          </p:nvPr>
        </p:nvSpPr>
        <p:spPr>
          <a:xfrm>
            <a:off x="-2811780" y="41769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4" name="Google Shape;144;p16"/>
          <p:cNvSpPr txBox="1"/>
          <p:nvPr>
            <p:ph idx="24" type="body"/>
          </p:nvPr>
        </p:nvSpPr>
        <p:spPr>
          <a:xfrm>
            <a:off x="-2811780" y="4407526"/>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5" name="Google Shape;145;p16"/>
          <p:cNvSpPr txBox="1"/>
          <p:nvPr>
            <p:ph idx="25" type="body"/>
          </p:nvPr>
        </p:nvSpPr>
        <p:spPr>
          <a:xfrm>
            <a:off x="-2811780" y="4631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146"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49" name="Google Shape;149;p17"/>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7"/>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1" name="Google Shape;151;p17"/>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53" name="Google Shape;153;p17"/>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55" name="Google Shape;155;p17"/>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60" name="Shape 160"/>
        <p:cNvGrpSpPr/>
        <p:nvPr/>
      </p:nvGrpSpPr>
      <p:grpSpPr>
        <a:xfrm>
          <a:off x="0" y="0"/>
          <a:ext cx="0" cy="0"/>
          <a:chOff x="0" y="0"/>
          <a:chExt cx="0" cy="0"/>
        </a:xfrm>
      </p:grpSpPr>
      <p:sp>
        <p:nvSpPr>
          <p:cNvPr id="161" name="Google Shape;161;p19"/>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2" name="Google Shape;162;p19"/>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3" name="Google Shape;163;p19"/>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64" name="Google Shape;164;p1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65" name="Shape 165"/>
        <p:cNvGrpSpPr/>
        <p:nvPr/>
      </p:nvGrpSpPr>
      <p:grpSpPr>
        <a:xfrm>
          <a:off x="0" y="0"/>
          <a:ext cx="0" cy="0"/>
          <a:chOff x="0" y="0"/>
          <a:chExt cx="0" cy="0"/>
        </a:xfrm>
      </p:grpSpPr>
      <p:sp>
        <p:nvSpPr>
          <p:cNvPr id="166" name="Google Shape;166;p20"/>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68" name="Google Shape;168;p20"/>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9" name="Google Shape;169;p2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0" name="Shape 170"/>
        <p:cNvGrpSpPr/>
        <p:nvPr/>
      </p:nvGrpSpPr>
      <p:grpSpPr>
        <a:xfrm>
          <a:off x="0" y="0"/>
          <a:ext cx="0" cy="0"/>
          <a:chOff x="0" y="0"/>
          <a:chExt cx="0" cy="0"/>
        </a:xfrm>
      </p:grpSpPr>
      <p:sp>
        <p:nvSpPr>
          <p:cNvPr id="171" name="Google Shape;171;p21"/>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74" name="Google Shape;174;p21"/>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5" name="Google Shape;175;p2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21"/>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77" name="Google Shape;177;p21"/>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8"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2"/>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2" name="Google Shape;182;p22"/>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3" name="Google Shape;183;p2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7" name="Google Shape;187;p2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8"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91" name="Google Shape;191;p24"/>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24"/>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3" name="Google Shape;193;p24"/>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4" name="Google Shape;194;p24"/>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95" name="Google Shape;195;p24"/>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96" name="Shape 196"/>
        <p:cNvGrpSpPr/>
        <p:nvPr/>
      </p:nvGrpSpPr>
      <p:grpSpPr>
        <a:xfrm>
          <a:off x="0" y="0"/>
          <a:ext cx="0" cy="0"/>
          <a:chOff x="0" y="0"/>
          <a:chExt cx="0" cy="0"/>
        </a:xfrm>
      </p:grpSpPr>
      <p:sp>
        <p:nvSpPr>
          <p:cNvPr id="197" name="Google Shape;197;p25"/>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8" name="Google Shape;198;p2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9"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2" name="Google Shape;202;p26"/>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203" name="Google Shape;203;p26"/>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4" name="Google Shape;204;p2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5"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08" name="Google Shape;208;p2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09" name="Shape 209"/>
        <p:cNvGrpSpPr/>
        <p:nvPr/>
      </p:nvGrpSpPr>
      <p:grpSpPr>
        <a:xfrm>
          <a:off x="0" y="0"/>
          <a:ext cx="0" cy="0"/>
          <a:chOff x="0" y="0"/>
          <a:chExt cx="0" cy="0"/>
        </a:xfrm>
      </p:grpSpPr>
      <p:sp>
        <p:nvSpPr>
          <p:cNvPr id="210" name="Google Shape;210;p28"/>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212" name="Google Shape;212;p2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2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5"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0"/>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 name="Google Shape;218;p30"/>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19" name="Google Shape;219;p3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20" name="Shape 220"/>
        <p:cNvGrpSpPr/>
        <p:nvPr/>
      </p:nvGrpSpPr>
      <p:grpSpPr>
        <a:xfrm>
          <a:off x="0" y="0"/>
          <a:ext cx="0" cy="0"/>
          <a:chOff x="0" y="0"/>
          <a:chExt cx="0" cy="0"/>
        </a:xfrm>
      </p:grpSpPr>
      <p:sp>
        <p:nvSpPr>
          <p:cNvPr id="221" name="Google Shape;221;p3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 name="Google Shape;222;p31"/>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23" name="Google Shape;223;p3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1.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56" name="Shape 156"/>
        <p:cNvGrpSpPr/>
        <p:nvPr/>
      </p:nvGrpSpPr>
      <p:grpSpPr>
        <a:xfrm>
          <a:off x="0" y="0"/>
          <a:ext cx="0" cy="0"/>
          <a:chOff x="0" y="0"/>
          <a:chExt cx="0" cy="0"/>
        </a:xfrm>
      </p:grpSpPr>
      <p:sp>
        <p:nvSpPr>
          <p:cNvPr id="157" name="Google Shape;15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58" name="Google Shape;15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59" name="Google Shape;159;p18"/>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cs.oracle.com/en/java/javase/21/docs/api/java.base/java/lang/FunctionalInterface.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hyperlink" Target="https://docs.oracle.com/en/java/javase/15/docs/api/java.base/java/io/File.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hyperlink" Target="https://docs.oracle.com/en/java/javase/15/docs/api/java.base/java/io/FileReader.html" TargetMode="External"/><Relationship Id="rId4" Type="http://schemas.openxmlformats.org/officeDocument/2006/relationships/hyperlink" Target="https://docs.oracle.com/en/java/javase/21/docs/api//java.base/java/io/BufferedReader.html" TargetMode="External"/><Relationship Id="rId5" Type="http://schemas.openxmlformats.org/officeDocument/2006/relationships/hyperlink" Target="https://docs.oracle.com/en/java/javase/21/docs/api//java.base/java/io/BufferedReader.htm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8.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docs.oracle.com/en/java/javase/15/docs/api/java.base/java/io/IOException.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hyperlink" Target="https://docs.oracle.com/en/java/javase/15/docs/api/java.base/java/io/FileWriter.html" TargetMode="External"/><Relationship Id="rId4" Type="http://schemas.openxmlformats.org/officeDocument/2006/relationships/hyperlink" Target="https://docs.oracle.com/en/java/javase/15/docs/api/java.base/java/io/PrintWriter.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4.xml"/><Relationship Id="rId3" Type="http://schemas.openxmlformats.org/officeDocument/2006/relationships/slide" Target="/ppt/slides/slide3.xml"/><Relationship Id="rId4" Type="http://schemas.openxmlformats.org/officeDocument/2006/relationships/slide" Target="/ppt/slides/slide8.xml"/><Relationship Id="rId5" Type="http://schemas.openxmlformats.org/officeDocument/2006/relationships/slide" Target="/ppt/slides/slide21.xml"/><Relationship Id="rId6" Type="http://schemas.openxmlformats.org/officeDocument/2006/relationships/slide" Target="/ppt/slides/slide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5.xml"/><Relationship Id="rId3" Type="http://schemas.openxmlformats.org/officeDocument/2006/relationships/slide" Target="/ppt/slides/slide32.xml"/><Relationship Id="rId4" Type="http://schemas.openxmlformats.org/officeDocument/2006/relationships/slide" Target="/ppt/slides/slide34.xml"/><Relationship Id="rId5" Type="http://schemas.openxmlformats.org/officeDocument/2006/relationships/slide" Target="/ppt/slides/slide36.xml"/><Relationship Id="rId6" Type="http://schemas.openxmlformats.org/officeDocument/2006/relationships/slide" Target="/ppt/slides/slide38.xml"/><Relationship Id="rId7" Type="http://schemas.openxmlformats.org/officeDocument/2006/relationships/slide" Target="/ppt/slides/slide40.xml"/><Relationship Id="rId8" Type="http://schemas.openxmlformats.org/officeDocument/2006/relationships/slide" Target="/ppt/slides/slide4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7.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229" name="Google Shape;229;p32"/>
          <p:cNvSpPr txBox="1"/>
          <p:nvPr>
            <p:ph idx="1" type="subTitle"/>
          </p:nvPr>
        </p:nvSpPr>
        <p:spPr>
          <a:xfrm>
            <a:off x="311700" y="1878550"/>
            <a:ext cx="4741200" cy="9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4</a:t>
            </a:r>
            <a:r>
              <a:rPr i="1" lang="en" sz="2600"/>
              <a:t>: Lambdas</a:t>
            </a:r>
            <a:r>
              <a:rPr i="1" lang="en" sz="2600"/>
              <a:t>, Streams &amp; Files</a:t>
            </a:r>
            <a:endParaRPr i="1" sz="2600">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311725" y="119925"/>
            <a:ext cx="3706500" cy="82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Lambdas, Streams, &amp; Files</a:t>
            </a:r>
            <a:endParaRPr/>
          </a:p>
        </p:txBody>
      </p:sp>
      <p:sp>
        <p:nvSpPr>
          <p:cNvPr id="238" name="Google Shape;238;p33"/>
          <p:cNvSpPr txBox="1"/>
          <p:nvPr>
            <p:ph idx="1" type="body"/>
          </p:nvPr>
        </p:nvSpPr>
        <p:spPr>
          <a:xfrm>
            <a:off x="4644675" y="466275"/>
            <a:ext cx="4166400" cy="4079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Up until this point in the course, whenever we needed a new class, interface, or enumeration, we would create it in its own, separate file.</a:t>
            </a:r>
            <a:endParaRPr/>
          </a:p>
          <a:p>
            <a:pPr indent="-311150" lvl="0" marL="457200" rtl="0" algn="l">
              <a:spcBef>
                <a:spcPts val="1000"/>
              </a:spcBef>
              <a:spcAft>
                <a:spcPts val="0"/>
              </a:spcAft>
              <a:buSzPts val="1300"/>
              <a:buChar char="●"/>
            </a:pPr>
            <a:r>
              <a:rPr lang="en"/>
              <a:t>Java provides alternative mechanisms for creating and using multiple classes within the same file.</a:t>
            </a:r>
            <a:endParaRPr/>
          </a:p>
          <a:p>
            <a:pPr indent="-311150" lvl="0" marL="457200" rtl="0" algn="l">
              <a:spcBef>
                <a:spcPts val="1000"/>
              </a:spcBef>
              <a:spcAft>
                <a:spcPts val="0"/>
              </a:spcAft>
              <a:buSzPts val="1300"/>
              <a:buChar char="●"/>
            </a:pPr>
            <a:r>
              <a:rPr lang="en"/>
              <a:t>We will be exploring several different ways to generate and use classes, including:</a:t>
            </a:r>
            <a:endParaRPr/>
          </a:p>
          <a:p>
            <a:pPr indent="-298450" lvl="1" marL="914400" rtl="0" algn="l">
              <a:spcBef>
                <a:spcPts val="0"/>
              </a:spcBef>
              <a:spcAft>
                <a:spcPts val="0"/>
              </a:spcAft>
              <a:buSzPts val="1100"/>
              <a:buChar char="○"/>
            </a:pPr>
            <a:r>
              <a:rPr lang="en"/>
              <a:t>Inner Classes - classes inside of other classes.</a:t>
            </a:r>
            <a:endParaRPr/>
          </a:p>
          <a:p>
            <a:pPr indent="-298450" lvl="1" marL="914400" rtl="0" algn="l">
              <a:spcBef>
                <a:spcPts val="0"/>
              </a:spcBef>
              <a:spcAft>
                <a:spcPts val="0"/>
              </a:spcAft>
              <a:buSzPts val="1100"/>
              <a:buChar char="○"/>
            </a:pPr>
            <a:r>
              <a:rPr lang="en"/>
              <a:t>Anonymous Classes - classes created on the fly.</a:t>
            </a:r>
            <a:endParaRPr/>
          </a:p>
          <a:p>
            <a:pPr indent="-298450" lvl="1" marL="914400" rtl="0" algn="l">
              <a:spcBef>
                <a:spcPts val="0"/>
              </a:spcBef>
              <a:spcAft>
                <a:spcPts val="0"/>
              </a:spcAft>
              <a:buSzPts val="1100"/>
              <a:buChar char="○"/>
            </a:pPr>
            <a:r>
              <a:rPr lang="en"/>
              <a:t>More Advanced Lambda Expressions.</a:t>
            </a:r>
            <a:endParaRPr/>
          </a:p>
          <a:p>
            <a:pPr indent="-298450" lvl="1" marL="914400" rtl="0" algn="l">
              <a:spcBef>
                <a:spcPts val="0"/>
              </a:spcBef>
              <a:spcAft>
                <a:spcPts val="0"/>
              </a:spcAft>
              <a:buSzPts val="1100"/>
              <a:buChar char="○"/>
            </a:pPr>
            <a:r>
              <a:rPr lang="en"/>
              <a:t>Streams - a powerful API for data processing.</a:t>
            </a:r>
            <a:endParaRPr/>
          </a:p>
          <a:p>
            <a:pPr indent="-311150" lvl="0" marL="457200" rtl="0" algn="l">
              <a:spcBef>
                <a:spcPts val="1000"/>
              </a:spcBef>
              <a:spcAft>
                <a:spcPts val="0"/>
              </a:spcAft>
              <a:buSzPts val="1300"/>
              <a:buChar char="●"/>
            </a:pPr>
            <a:r>
              <a:rPr lang="en"/>
              <a:t>To begin, we will specifically focus on </a:t>
            </a:r>
            <a:r>
              <a:rPr i="1" lang="en"/>
              <a:t>inner classes</a:t>
            </a:r>
            <a:r>
              <a:rPr lang="en"/>
              <a:t> and </a:t>
            </a:r>
            <a:r>
              <a:rPr i="1" lang="en"/>
              <a:t>anonymous classes</a:t>
            </a:r>
            <a:r>
              <a:rPr lang="en"/>
              <a:t>. Both of which will allow us to keep </a:t>
            </a:r>
            <a:r>
              <a:rPr lang="en"/>
              <a:t>interrelated</a:t>
            </a:r>
            <a:r>
              <a:rPr lang="en"/>
              <a:t> code closer together.</a:t>
            </a:r>
            <a:endParaRPr/>
          </a:p>
        </p:txBody>
      </p:sp>
      <p:sp>
        <p:nvSpPr>
          <p:cNvPr id="239" name="Google Shape;23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3"/>
          <p:cNvSpPr txBox="1"/>
          <p:nvPr>
            <p:ph idx="3" type="body"/>
          </p:nvPr>
        </p:nvSpPr>
        <p:spPr>
          <a:xfrm>
            <a:off x="234775" y="4069525"/>
            <a:ext cx="3757800" cy="9234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Inner Classes allow us to create a class inside of another class while Anonymous Classes allow us to create single-use classes at the time that they are needed.</a:t>
            </a:r>
            <a:endParaRPr sz="1200"/>
          </a:p>
        </p:txBody>
      </p:sp>
      <p:sp>
        <p:nvSpPr>
          <p:cNvPr id="241" name="Google Shape;241;p33"/>
          <p:cNvSpPr txBox="1"/>
          <p:nvPr>
            <p:ph idx="2" type="body"/>
          </p:nvPr>
        </p:nvSpPr>
        <p:spPr>
          <a:xfrm>
            <a:off x="234775" y="1062575"/>
            <a:ext cx="3757800" cy="2886900"/>
          </a:xfrm>
          <a:prstGeom prst="rect">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p1</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Fighter</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"Thurstwig"</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p2</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Mage</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"Dandylion"</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p3</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Fighter</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"Player123456"</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p4</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Mage</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"MagesRock"</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Set</a:t>
            </a:r>
            <a:r>
              <a:rPr lang="en" sz="1000">
                <a:solidFill>
                  <a:srgbClr val="000000"/>
                </a:solidFill>
                <a:highlight>
                  <a:srgbClr val="FFFFFF"/>
                </a:highlight>
                <a:latin typeface="Consolas"/>
                <a:ea typeface="Consolas"/>
                <a:cs typeface="Consolas"/>
                <a:sym typeface="Consolas"/>
              </a:rPr>
              <a:t> &lt;</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&gt; </a:t>
            </a: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TreeSet</a:t>
            </a:r>
            <a:r>
              <a:rPr lang="en" sz="1000">
                <a:solidFill>
                  <a:srgbClr val="000000"/>
                </a:solidFill>
                <a:highlight>
                  <a:srgbClr val="FFFFFF"/>
                </a:highlight>
                <a:latin typeface="Consolas"/>
                <a:ea typeface="Consolas"/>
                <a:cs typeface="Consolas"/>
                <a:sym typeface="Consolas"/>
              </a:rPr>
              <a:t>&lt;&gt;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AF00DB"/>
                </a:solidFill>
                <a:highlight>
                  <a:srgbClr val="FFFFFF"/>
                </a:highlight>
                <a:latin typeface="Consolas"/>
                <a:ea typeface="Consolas"/>
                <a:cs typeface="Consolas"/>
                <a:sym typeface="Consolas"/>
              </a:rPr>
              <a:t>  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Comparator</a:t>
            </a:r>
            <a:r>
              <a:rPr lang="en" sz="1000">
                <a:solidFill>
                  <a:srgbClr val="000000"/>
                </a:solidFill>
                <a:highlight>
                  <a:srgbClr val="FFFFFF"/>
                </a:highlight>
                <a:latin typeface="Consolas"/>
                <a:ea typeface="Consolas"/>
                <a:cs typeface="Consolas"/>
                <a:sym typeface="Consolas"/>
              </a:rPr>
              <a:t> &lt;</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&gt;(){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getName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compareTo</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getName</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p1</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p2</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p3</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p4</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title"/>
          </p:nvPr>
        </p:nvSpPr>
        <p:spPr>
          <a:xfrm>
            <a:off x="5188525" y="119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Inner Classes</a:t>
            </a:r>
            <a:endParaRPr/>
          </a:p>
        </p:txBody>
      </p:sp>
      <p:sp>
        <p:nvSpPr>
          <p:cNvPr id="247" name="Google Shape;247;p34"/>
          <p:cNvSpPr txBox="1"/>
          <p:nvPr>
            <p:ph idx="1" type="body"/>
          </p:nvPr>
        </p:nvSpPr>
        <p:spPr>
          <a:xfrm>
            <a:off x="90450" y="95425"/>
            <a:ext cx="4696200" cy="49029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Clr>
                <a:schemeClr val="lt2"/>
              </a:buClr>
              <a:buSzPts val="1200"/>
              <a:buChar char="●"/>
            </a:pPr>
            <a:r>
              <a:rPr lang="en" sz="1200">
                <a:solidFill>
                  <a:schemeClr val="lt2"/>
                </a:solidFill>
              </a:rPr>
              <a:t>An </a:t>
            </a:r>
            <a:r>
              <a:rPr b="1" i="1" lang="en" sz="1200">
                <a:solidFill>
                  <a:srgbClr val="FF0000"/>
                </a:solidFill>
              </a:rPr>
              <a:t>inner class</a:t>
            </a:r>
            <a:r>
              <a:rPr lang="en" sz="1200">
                <a:solidFill>
                  <a:schemeClr val="lt2"/>
                </a:solidFill>
              </a:rPr>
              <a:t> is a class that is declared inside of the body of another class.</a:t>
            </a:r>
            <a:endParaRPr sz="1200">
              <a:solidFill>
                <a:schemeClr val="lt2"/>
              </a:solidFill>
            </a:endParaRPr>
          </a:p>
          <a:p>
            <a:pPr indent="-298450" lvl="1" marL="914400" rtl="0" algn="l">
              <a:spcBef>
                <a:spcPts val="0"/>
              </a:spcBef>
              <a:spcAft>
                <a:spcPts val="0"/>
              </a:spcAft>
              <a:buClr>
                <a:schemeClr val="lt2"/>
              </a:buClr>
              <a:buSzPts val="1100"/>
              <a:buChar char="○"/>
            </a:pPr>
            <a:r>
              <a:rPr lang="en">
                <a:solidFill>
                  <a:schemeClr val="lt2"/>
                </a:solidFill>
              </a:rPr>
              <a:t>The containing class is referred to as the "</a:t>
            </a:r>
            <a:r>
              <a:rPr b="1" i="1" lang="en">
                <a:solidFill>
                  <a:srgbClr val="FF0000"/>
                </a:solidFill>
              </a:rPr>
              <a:t>outer class</a:t>
            </a:r>
            <a:r>
              <a:rPr lang="en">
                <a:solidFill>
                  <a:schemeClr val="lt2"/>
                </a:solidFill>
              </a:rPr>
              <a:t>" or "</a:t>
            </a:r>
            <a:r>
              <a:rPr b="1" i="1" lang="en">
                <a:solidFill>
                  <a:srgbClr val="FF0000"/>
                </a:solidFill>
              </a:rPr>
              <a:t>enclosing class</a:t>
            </a:r>
            <a:r>
              <a:rPr lang="en">
                <a:solidFill>
                  <a:schemeClr val="lt2"/>
                </a:solidFill>
              </a:rPr>
              <a:t>."</a:t>
            </a:r>
            <a:endParaRPr>
              <a:solidFill>
                <a:schemeClr val="lt2"/>
              </a:solidFill>
            </a:endParaRPr>
          </a:p>
          <a:p>
            <a:pPr indent="-304800" lvl="0" marL="457200" rtl="0" algn="l">
              <a:spcBef>
                <a:spcPts val="1000"/>
              </a:spcBef>
              <a:spcAft>
                <a:spcPts val="0"/>
              </a:spcAft>
              <a:buClr>
                <a:schemeClr val="lt2"/>
              </a:buClr>
              <a:buSzPts val="1200"/>
              <a:buChar char="●"/>
            </a:pPr>
            <a:r>
              <a:rPr lang="en" sz="1200">
                <a:solidFill>
                  <a:schemeClr val="lt2"/>
                </a:solidFill>
              </a:rPr>
              <a:t>An instance of the inner class must be created using an instance of the </a:t>
            </a:r>
            <a:r>
              <a:rPr lang="en" sz="1200">
                <a:solidFill>
                  <a:schemeClr val="lt2"/>
                </a:solidFill>
              </a:rPr>
              <a:t>outer</a:t>
            </a:r>
            <a:r>
              <a:rPr lang="en" sz="1200">
                <a:solidFill>
                  <a:schemeClr val="lt2"/>
                </a:solidFill>
              </a:rPr>
              <a:t> class.</a:t>
            </a:r>
            <a:endParaRPr sz="1200">
              <a:solidFill>
                <a:schemeClr val="lt2"/>
              </a:solidFill>
            </a:endParaRPr>
          </a:p>
          <a:p>
            <a:pPr indent="-298450" lvl="1" marL="914400" rtl="0" algn="l">
              <a:spcBef>
                <a:spcPts val="0"/>
              </a:spcBef>
              <a:spcAft>
                <a:spcPts val="0"/>
              </a:spcAft>
              <a:buClr>
                <a:schemeClr val="lt2"/>
              </a:buClr>
              <a:buSzPts val="1100"/>
              <a:buChar char="○"/>
            </a:pPr>
            <a:r>
              <a:rPr lang="en">
                <a:solidFill>
                  <a:schemeClr val="lt2"/>
                </a:solidFill>
              </a:rPr>
              <a:t>Within an instance of the outer class, this is as simple as invoking the constructor, e.g.</a:t>
            </a:r>
            <a:endParaRPr>
              <a:solidFill>
                <a:schemeClr val="lt2"/>
              </a:solidFill>
            </a:endParaRPr>
          </a:p>
          <a:p>
            <a:pPr indent="0" lvl="0" marL="914400" rtl="0" algn="l">
              <a:spcBef>
                <a:spcPts val="0"/>
              </a:spcBef>
              <a:spcAft>
                <a:spcPts val="0"/>
              </a:spcAft>
              <a:buNone/>
            </a:pPr>
            <a:r>
              <a:rPr lang="en" sz="1100">
                <a:solidFill>
                  <a:srgbClr val="FF0000"/>
                </a:solidFill>
                <a:latin typeface="Courier New"/>
                <a:ea typeface="Courier New"/>
                <a:cs typeface="Courier New"/>
                <a:sym typeface="Courier New"/>
              </a:rPr>
              <a:t>Inner in = new Inner();</a:t>
            </a:r>
            <a:endParaRPr sz="1100">
              <a:solidFill>
                <a:srgbClr val="FF0000"/>
              </a:solidFill>
              <a:latin typeface="Courier New"/>
              <a:ea typeface="Courier New"/>
              <a:cs typeface="Courier New"/>
              <a:sym typeface="Courier New"/>
            </a:endParaRPr>
          </a:p>
          <a:p>
            <a:pPr indent="-298450" lvl="1" marL="914400" rtl="0" algn="l">
              <a:spcBef>
                <a:spcPts val="1000"/>
              </a:spcBef>
              <a:spcAft>
                <a:spcPts val="0"/>
              </a:spcAft>
              <a:buClr>
                <a:schemeClr val="lt2"/>
              </a:buClr>
              <a:buSzPts val="1100"/>
              <a:buChar char="○"/>
            </a:pPr>
            <a:r>
              <a:rPr lang="en">
                <a:solidFill>
                  <a:schemeClr val="lt2"/>
                </a:solidFill>
              </a:rPr>
              <a:t>From outside of the outer class, the syntax gets a little… </a:t>
            </a:r>
            <a:r>
              <a:rPr i="1" lang="en">
                <a:solidFill>
                  <a:schemeClr val="lt2"/>
                </a:solidFill>
              </a:rPr>
              <a:t>weird</a:t>
            </a:r>
            <a:r>
              <a:rPr lang="en">
                <a:solidFill>
                  <a:schemeClr val="lt2"/>
                </a:solidFill>
              </a:rPr>
              <a:t>, e.g.</a:t>
            </a:r>
            <a:endParaRPr>
              <a:solidFill>
                <a:schemeClr val="lt2"/>
              </a:solidFill>
            </a:endParaRPr>
          </a:p>
          <a:p>
            <a:pPr indent="0" lvl="0" marL="914400" rtl="0" algn="l">
              <a:spcBef>
                <a:spcPts val="0"/>
              </a:spcBef>
              <a:spcAft>
                <a:spcPts val="0"/>
              </a:spcAft>
              <a:buNone/>
            </a:pPr>
            <a:r>
              <a:rPr lang="en" sz="1100">
                <a:solidFill>
                  <a:srgbClr val="FF0000"/>
                </a:solidFill>
                <a:latin typeface="Courier New"/>
                <a:ea typeface="Courier New"/>
                <a:cs typeface="Courier New"/>
                <a:sym typeface="Courier New"/>
              </a:rPr>
              <a:t>Outer out = new Outer();</a:t>
            </a:r>
            <a:endParaRPr sz="1100">
              <a:solidFill>
                <a:srgbClr val="FF0000"/>
              </a:solidFill>
              <a:latin typeface="Courier New"/>
              <a:ea typeface="Courier New"/>
              <a:cs typeface="Courier New"/>
              <a:sym typeface="Courier New"/>
            </a:endParaRPr>
          </a:p>
          <a:p>
            <a:pPr indent="0" lvl="0" marL="914400" rtl="0" algn="l">
              <a:spcBef>
                <a:spcPts val="0"/>
              </a:spcBef>
              <a:spcAft>
                <a:spcPts val="0"/>
              </a:spcAft>
              <a:buNone/>
            </a:pPr>
            <a:r>
              <a:rPr lang="en" sz="1100">
                <a:solidFill>
                  <a:srgbClr val="FF0000"/>
                </a:solidFill>
                <a:latin typeface="Courier New"/>
                <a:ea typeface="Courier New"/>
                <a:cs typeface="Courier New"/>
                <a:sym typeface="Courier New"/>
              </a:rPr>
              <a:t>Outer.Inner in = new out.Inner();</a:t>
            </a:r>
            <a:endParaRPr sz="1100">
              <a:solidFill>
                <a:srgbClr val="FF0000"/>
              </a:solidFill>
              <a:latin typeface="Courier New"/>
              <a:ea typeface="Courier New"/>
              <a:cs typeface="Courier New"/>
              <a:sym typeface="Courier New"/>
            </a:endParaRPr>
          </a:p>
          <a:p>
            <a:pPr indent="-304800" lvl="0" marL="457200" rtl="0" algn="l">
              <a:spcBef>
                <a:spcPts val="1000"/>
              </a:spcBef>
              <a:spcAft>
                <a:spcPts val="0"/>
              </a:spcAft>
              <a:buClr>
                <a:schemeClr val="lt2"/>
              </a:buClr>
              <a:buSzPts val="1200"/>
              <a:buChar char="●"/>
            </a:pPr>
            <a:r>
              <a:rPr lang="en" sz="1200">
                <a:solidFill>
                  <a:schemeClr val="lt2"/>
                </a:solidFill>
              </a:rPr>
              <a:t>Once created, instances of both classes have </a:t>
            </a:r>
            <a:r>
              <a:rPr b="1" i="1" lang="en" sz="1200">
                <a:solidFill>
                  <a:srgbClr val="FF0000"/>
                </a:solidFill>
              </a:rPr>
              <a:t>full access</a:t>
            </a:r>
            <a:r>
              <a:rPr lang="en" sz="1200">
                <a:solidFill>
                  <a:schemeClr val="lt2"/>
                </a:solidFill>
              </a:rPr>
              <a:t> to each other's state and behavior.</a:t>
            </a:r>
            <a:endParaRPr sz="1200">
              <a:solidFill>
                <a:schemeClr val="lt2"/>
              </a:solidFill>
            </a:endParaRPr>
          </a:p>
          <a:p>
            <a:pPr indent="-298450" lvl="1" marL="914400" rtl="0" algn="l">
              <a:spcBef>
                <a:spcPts val="0"/>
              </a:spcBef>
              <a:spcAft>
                <a:spcPts val="0"/>
              </a:spcAft>
              <a:buClr>
                <a:schemeClr val="lt2"/>
              </a:buClr>
              <a:buSzPts val="1100"/>
              <a:buChar char="○"/>
            </a:pPr>
            <a:r>
              <a:rPr lang="en">
                <a:solidFill>
                  <a:schemeClr val="lt2"/>
                </a:solidFill>
              </a:rPr>
              <a:t>This is regardless of the access modifiers that are used; even </a:t>
            </a:r>
            <a:r>
              <a:rPr lang="en">
                <a:solidFill>
                  <a:srgbClr val="FF0000"/>
                </a:solidFill>
                <a:latin typeface="Courier New"/>
                <a:ea typeface="Courier New"/>
                <a:cs typeface="Courier New"/>
                <a:sym typeface="Courier New"/>
              </a:rPr>
              <a:t>private</a:t>
            </a:r>
            <a:r>
              <a:rPr lang="en">
                <a:solidFill>
                  <a:srgbClr val="FF0000"/>
                </a:solidFill>
              </a:rPr>
              <a:t> </a:t>
            </a:r>
            <a:r>
              <a:rPr lang="en">
                <a:solidFill>
                  <a:schemeClr val="lt2"/>
                </a:solidFill>
              </a:rPr>
              <a:t>fields and methods are accessible.</a:t>
            </a:r>
            <a:endParaRPr>
              <a:solidFill>
                <a:schemeClr val="lt2"/>
              </a:solidFill>
            </a:endParaRPr>
          </a:p>
          <a:p>
            <a:pPr indent="-304800" lvl="0" marL="457200" rtl="0" algn="l">
              <a:spcBef>
                <a:spcPts val="1000"/>
              </a:spcBef>
              <a:spcAft>
                <a:spcPts val="0"/>
              </a:spcAft>
              <a:buClr>
                <a:schemeClr val="lt2"/>
              </a:buClr>
              <a:buSzPts val="1200"/>
              <a:buChar char="●"/>
            </a:pPr>
            <a:r>
              <a:rPr lang="en" sz="1200">
                <a:solidFill>
                  <a:schemeClr val="lt2"/>
                </a:solidFill>
              </a:rPr>
              <a:t>Inner classes are often declared </a:t>
            </a:r>
            <a:r>
              <a:rPr lang="en" sz="1200">
                <a:solidFill>
                  <a:srgbClr val="FF0000"/>
                </a:solidFill>
                <a:latin typeface="Courier New"/>
                <a:ea typeface="Courier New"/>
                <a:cs typeface="Courier New"/>
                <a:sym typeface="Courier New"/>
              </a:rPr>
              <a:t>private</a:t>
            </a:r>
            <a:r>
              <a:rPr lang="en" sz="1200">
                <a:solidFill>
                  <a:schemeClr val="lt2"/>
                </a:solidFill>
              </a:rPr>
              <a:t>, meaning that they are not accessible from outside of the enclosing class.</a:t>
            </a:r>
            <a:endParaRPr sz="1200">
              <a:solidFill>
                <a:schemeClr val="lt2"/>
              </a:solidFill>
            </a:endParaRPr>
          </a:p>
          <a:p>
            <a:pPr indent="-298450" lvl="1" marL="914400" rtl="0" algn="l">
              <a:spcBef>
                <a:spcPts val="0"/>
              </a:spcBef>
              <a:spcAft>
                <a:spcPts val="0"/>
              </a:spcAft>
              <a:buClr>
                <a:schemeClr val="lt2"/>
              </a:buClr>
              <a:buSzPts val="1100"/>
              <a:buChar char="○"/>
            </a:pPr>
            <a:r>
              <a:rPr lang="en">
                <a:solidFill>
                  <a:schemeClr val="lt2"/>
                </a:solidFill>
              </a:rPr>
              <a:t>A private inner class can only be used inside of its enclosing class as a sort of helper class.</a:t>
            </a:r>
            <a:endParaRPr>
              <a:solidFill>
                <a:schemeClr val="lt2"/>
              </a:solidFill>
            </a:endParaRPr>
          </a:p>
        </p:txBody>
      </p:sp>
      <p:sp>
        <p:nvSpPr>
          <p:cNvPr id="248" name="Google Shape;248;p3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49" name="Google Shape;249;p34"/>
          <p:cNvSpPr txBox="1"/>
          <p:nvPr>
            <p:ph idx="2" type="body"/>
          </p:nvPr>
        </p:nvSpPr>
        <p:spPr>
          <a:xfrm>
            <a:off x="5192225" y="728975"/>
            <a:ext cx="3706500" cy="34170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Outer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2</a:t>
            </a:r>
            <a:r>
              <a:rPr lang="en" sz="1050">
                <a:solidFill>
                  <a:srgbClr val="6AA84F"/>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x</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3</a:t>
            </a:r>
            <a:r>
              <a:rPr lang="en" sz="1050">
                <a:solidFill>
                  <a:srgbClr val="6AA84F"/>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4</a:t>
            </a:r>
            <a:r>
              <a:rPr lang="en" sz="1050">
                <a:solidFill>
                  <a:srgbClr val="6AA84F"/>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Outer</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5</a:t>
            </a:r>
            <a:r>
              <a:rPr lang="en" sz="1050">
                <a:solidFill>
                  <a:srgbClr val="6AA84F"/>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70C1"/>
                </a:solidFill>
                <a:latin typeface="Consolas"/>
                <a:ea typeface="Consolas"/>
                <a:cs typeface="Consolas"/>
                <a:sym typeface="Consolas"/>
              </a:rPr>
              <a:t>x</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x</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6</a:t>
            </a:r>
            <a:r>
              <a:rPr lang="en" sz="1050">
                <a:solidFill>
                  <a:srgbClr val="6AA84F"/>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7</a:t>
            </a:r>
            <a:r>
              <a:rPr lang="en" sz="1050">
                <a:solidFill>
                  <a:srgbClr val="6AA84F"/>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8</a:t>
            </a:r>
            <a:r>
              <a:rPr lang="en" sz="1050">
                <a:solidFill>
                  <a:srgbClr val="6AA84F"/>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Inner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9</a:t>
            </a:r>
            <a:r>
              <a:rPr lang="en" sz="1050">
                <a:solidFill>
                  <a:srgbClr val="6AA84F"/>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10</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11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Inner</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12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13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14</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15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16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toString</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17  </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 </a:t>
            </a:r>
            <a:r>
              <a:rPr lang="en" sz="1050">
                <a:solidFill>
                  <a:srgbClr val="A31515"/>
                </a:solidFill>
                <a:latin typeface="Consolas"/>
                <a:ea typeface="Consolas"/>
                <a:cs typeface="Consolas"/>
                <a:sym typeface="Consolas"/>
              </a:rPr>
              <a:t>": "</a:t>
            </a:r>
            <a:r>
              <a:rPr lang="en" sz="1050">
                <a:solidFill>
                  <a:srgbClr val="000000"/>
                </a:solidFill>
                <a:latin typeface="Consolas"/>
                <a:ea typeface="Consolas"/>
                <a:cs typeface="Consolas"/>
                <a:sym typeface="Consolas"/>
              </a:rPr>
              <a:t> + </a:t>
            </a:r>
            <a:r>
              <a:rPr lang="en" sz="1050">
                <a:solidFill>
                  <a:srgbClr val="0070C1"/>
                </a:solidFill>
                <a:latin typeface="Consolas"/>
                <a:ea typeface="Consolas"/>
                <a:cs typeface="Consolas"/>
                <a:sym typeface="Consolas"/>
              </a:rPr>
              <a:t>x</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18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19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6AA84F"/>
                </a:solidFill>
                <a:latin typeface="Consolas"/>
                <a:ea typeface="Consolas"/>
                <a:cs typeface="Consolas"/>
                <a:sym typeface="Consolas"/>
              </a:rPr>
              <a:t>20</a:t>
            </a:r>
            <a:r>
              <a:rPr lang="en" sz="1050">
                <a:solidFill>
                  <a:srgbClr val="6AA84F"/>
                </a:solidFill>
                <a:latin typeface="Consolas"/>
                <a:ea typeface="Consolas"/>
                <a:cs typeface="Consolas"/>
                <a:sym typeface="Consolas"/>
              </a:rPr>
              <a:t> </a:t>
            </a:r>
            <a:r>
              <a:rPr lang="en" sz="1050">
                <a:solidFill>
                  <a:srgbClr val="000000"/>
                </a:solidFill>
                <a:latin typeface="Consolas"/>
                <a:ea typeface="Consolas"/>
                <a:cs typeface="Consolas"/>
                <a:sym typeface="Consolas"/>
              </a:rPr>
              <a:t>}</a:t>
            </a:r>
            <a:endParaRPr sz="1050"/>
          </a:p>
        </p:txBody>
      </p:sp>
      <p:sp>
        <p:nvSpPr>
          <p:cNvPr id="250" name="Google Shape;250;p34"/>
          <p:cNvSpPr txBox="1"/>
          <p:nvPr>
            <p:ph idx="3" type="body"/>
          </p:nvPr>
        </p:nvSpPr>
        <p:spPr>
          <a:xfrm>
            <a:off x="5188525" y="4259425"/>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Inner classes are declared inside of a containing class but may be referenced from anywhere through the outer class</a:t>
            </a:r>
            <a:r>
              <a:rPr lang="en"/>
              <a:t> (if not declared </a:t>
            </a:r>
            <a:r>
              <a:rPr lang="en">
                <a:solidFill>
                  <a:srgbClr val="FF0000"/>
                </a:solidFill>
                <a:latin typeface="Courier New"/>
                <a:ea typeface="Courier New"/>
                <a:cs typeface="Courier New"/>
                <a:sym typeface="Courier New"/>
              </a:rPr>
              <a:t>private</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Inner Classes…</a:t>
            </a:r>
            <a:endParaRPr/>
          </a:p>
        </p:txBody>
      </p:sp>
      <p:sp>
        <p:nvSpPr>
          <p:cNvPr id="257" name="Google Shape;257;p35"/>
          <p:cNvSpPr txBox="1"/>
          <p:nvPr/>
        </p:nvSpPr>
        <p:spPr>
          <a:xfrm>
            <a:off x="3264775" y="1380750"/>
            <a:ext cx="2614500" cy="3578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Outer</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Outer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Inner</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Inner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toString</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A31515"/>
                </a:solidFill>
                <a:latin typeface="Consolas"/>
                <a:ea typeface="Consolas"/>
                <a:cs typeface="Consolas"/>
                <a:sym typeface="Consolas"/>
              </a:rPr>
              <a:t>": "</a:t>
            </a:r>
            <a:r>
              <a:rPr lang="en" sz="1050">
                <a:latin typeface="Consolas"/>
                <a:ea typeface="Consolas"/>
                <a:cs typeface="Consolas"/>
                <a:sym typeface="Consolas"/>
              </a:rPr>
              <a:t> +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a:t>
            </a:r>
            <a:endParaRPr sz="1050">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Inner Classes</a:t>
            </a:r>
            <a:endParaRPr/>
          </a:p>
        </p:txBody>
      </p:sp>
      <p:sp>
        <p:nvSpPr>
          <p:cNvPr id="264" name="Google Shape;264;p36"/>
          <p:cNvSpPr txBox="1"/>
          <p:nvPr/>
        </p:nvSpPr>
        <p:spPr>
          <a:xfrm>
            <a:off x="3264775" y="1380750"/>
            <a:ext cx="2614500" cy="3578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Outer</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Outer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Inner</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Inner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toString</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A31515"/>
                </a:solidFill>
                <a:latin typeface="Consolas"/>
                <a:ea typeface="Consolas"/>
                <a:cs typeface="Consolas"/>
                <a:sym typeface="Consolas"/>
              </a:rPr>
              <a:t>": "</a:t>
            </a:r>
            <a:r>
              <a:rPr lang="en" sz="1050">
                <a:latin typeface="Consolas"/>
                <a:ea typeface="Consolas"/>
                <a:cs typeface="Consolas"/>
                <a:sym typeface="Consolas"/>
              </a:rPr>
              <a:t> +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265" name="Google Shape;265;p36"/>
          <p:cNvSpPr txBox="1"/>
          <p:nvPr/>
        </p:nvSpPr>
        <p:spPr>
          <a:xfrm>
            <a:off x="188375" y="1383657"/>
            <a:ext cx="2938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 </a:t>
            </a:r>
            <a:r>
              <a:rPr b="1" i="1" lang="en" sz="1200">
                <a:solidFill>
                  <a:srgbClr val="FF0000"/>
                </a:solidFill>
              </a:rPr>
              <a:t>inner class</a:t>
            </a:r>
            <a:r>
              <a:rPr lang="en" sz="1200"/>
              <a:t> is declared within the body of its enclosing class.</a:t>
            </a:r>
            <a:endParaRPr sz="1200"/>
          </a:p>
        </p:txBody>
      </p:sp>
      <p:grpSp>
        <p:nvGrpSpPr>
          <p:cNvPr id="266" name="Google Shape;266;p36"/>
          <p:cNvGrpSpPr/>
          <p:nvPr/>
        </p:nvGrpSpPr>
        <p:grpSpPr>
          <a:xfrm>
            <a:off x="3126575" y="1660707"/>
            <a:ext cx="1815375" cy="1116668"/>
            <a:chOff x="3126575" y="1660707"/>
            <a:chExt cx="1815375" cy="1116668"/>
          </a:xfrm>
        </p:grpSpPr>
        <p:sp>
          <p:nvSpPr>
            <p:cNvPr id="267" name="Google Shape;267;p36"/>
            <p:cNvSpPr/>
            <p:nvPr/>
          </p:nvSpPr>
          <p:spPr>
            <a:xfrm>
              <a:off x="3475550" y="2562875"/>
              <a:ext cx="1466400" cy="214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68" name="Google Shape;268;p36"/>
            <p:cNvCxnSpPr>
              <a:stCxn id="265" idx="3"/>
              <a:endCxn id="267" idx="1"/>
            </p:cNvCxnSpPr>
            <p:nvPr/>
          </p:nvCxnSpPr>
          <p:spPr>
            <a:xfrm>
              <a:off x="3126575" y="1660707"/>
              <a:ext cx="348900" cy="1009500"/>
            </a:xfrm>
            <a:prstGeom prst="bentConnector3">
              <a:avLst>
                <a:gd fmla="val 50011" name="adj1"/>
              </a:avLst>
            </a:prstGeom>
            <a:noFill/>
            <a:ln cap="flat" cmpd="sng" w="19050">
              <a:solidFill>
                <a:srgbClr val="FF0000"/>
              </a:solidFill>
              <a:prstDash val="solid"/>
              <a:round/>
              <a:headEnd len="med" w="med" type="none"/>
              <a:tailEnd len="med" w="med" type="none"/>
            </a:ln>
          </p:spPr>
        </p:cxnSp>
      </p:grpSp>
      <p:sp>
        <p:nvSpPr>
          <p:cNvPr id="269" name="Google Shape;269;p36"/>
          <p:cNvSpPr txBox="1"/>
          <p:nvPr/>
        </p:nvSpPr>
        <p:spPr>
          <a:xfrm>
            <a:off x="188375" y="2892707"/>
            <a:ext cx="2938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Inner classes are full blown classes that can have their own fields…</a:t>
            </a:r>
            <a:endParaRPr sz="1200"/>
          </a:p>
        </p:txBody>
      </p:sp>
      <p:grpSp>
        <p:nvGrpSpPr>
          <p:cNvPr id="270" name="Google Shape;270;p36"/>
          <p:cNvGrpSpPr/>
          <p:nvPr/>
        </p:nvGrpSpPr>
        <p:grpSpPr>
          <a:xfrm>
            <a:off x="3126575" y="2898700"/>
            <a:ext cx="1998850" cy="271057"/>
            <a:chOff x="3126575" y="2898700"/>
            <a:chExt cx="1998850" cy="271057"/>
          </a:xfrm>
        </p:grpSpPr>
        <p:sp>
          <p:nvSpPr>
            <p:cNvPr id="271" name="Google Shape;271;p36"/>
            <p:cNvSpPr/>
            <p:nvPr/>
          </p:nvSpPr>
          <p:spPr>
            <a:xfrm>
              <a:off x="3607425" y="2898700"/>
              <a:ext cx="1518000" cy="214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2" name="Google Shape;272;p36"/>
            <p:cNvCxnSpPr>
              <a:stCxn id="269" idx="3"/>
              <a:endCxn id="271" idx="1"/>
            </p:cNvCxnSpPr>
            <p:nvPr/>
          </p:nvCxnSpPr>
          <p:spPr>
            <a:xfrm flipH="1" rot="10800000">
              <a:off x="3126575" y="3005957"/>
              <a:ext cx="480900" cy="163800"/>
            </a:xfrm>
            <a:prstGeom prst="bentConnector3">
              <a:avLst>
                <a:gd fmla="val 49995" name="adj1"/>
              </a:avLst>
            </a:prstGeom>
            <a:noFill/>
            <a:ln cap="flat" cmpd="sng" w="19050">
              <a:solidFill>
                <a:srgbClr val="FF0000"/>
              </a:solidFill>
              <a:prstDash val="solid"/>
              <a:round/>
              <a:headEnd len="med" w="med" type="none"/>
              <a:tailEnd len="med" w="med" type="none"/>
            </a:ln>
          </p:spPr>
        </p:cxnSp>
      </p:grpSp>
      <p:sp>
        <p:nvSpPr>
          <p:cNvPr id="273" name="Google Shape;273;p36"/>
          <p:cNvSpPr txBox="1"/>
          <p:nvPr/>
        </p:nvSpPr>
        <p:spPr>
          <a:xfrm>
            <a:off x="188375" y="3554832"/>
            <a:ext cx="29382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…constructors…</a:t>
            </a:r>
            <a:endParaRPr sz="1200"/>
          </a:p>
        </p:txBody>
      </p:sp>
      <p:sp>
        <p:nvSpPr>
          <p:cNvPr id="274" name="Google Shape;274;p36"/>
          <p:cNvSpPr txBox="1"/>
          <p:nvPr/>
        </p:nvSpPr>
        <p:spPr>
          <a:xfrm>
            <a:off x="188375" y="2045782"/>
            <a:ext cx="2938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Inner classes are often declared to be private so that they are only accessible within the enclosing class.</a:t>
            </a:r>
            <a:endParaRPr sz="1200"/>
          </a:p>
        </p:txBody>
      </p:sp>
      <p:grpSp>
        <p:nvGrpSpPr>
          <p:cNvPr id="275" name="Google Shape;275;p36"/>
          <p:cNvGrpSpPr/>
          <p:nvPr/>
        </p:nvGrpSpPr>
        <p:grpSpPr>
          <a:xfrm>
            <a:off x="3126575" y="3218675"/>
            <a:ext cx="2567650" cy="554100"/>
            <a:chOff x="3126575" y="3218675"/>
            <a:chExt cx="2567650" cy="554100"/>
          </a:xfrm>
        </p:grpSpPr>
        <p:sp>
          <p:nvSpPr>
            <p:cNvPr id="276" name="Google Shape;276;p36"/>
            <p:cNvSpPr/>
            <p:nvPr/>
          </p:nvSpPr>
          <p:spPr>
            <a:xfrm>
              <a:off x="3607425" y="3218675"/>
              <a:ext cx="2086800" cy="554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7" name="Google Shape;277;p36"/>
            <p:cNvCxnSpPr>
              <a:stCxn id="273" idx="3"/>
              <a:endCxn id="276" idx="1"/>
            </p:cNvCxnSpPr>
            <p:nvPr/>
          </p:nvCxnSpPr>
          <p:spPr>
            <a:xfrm flipH="1" rot="10800000">
              <a:off x="3126575" y="3495582"/>
              <a:ext cx="480900" cy="243900"/>
            </a:xfrm>
            <a:prstGeom prst="bentConnector3">
              <a:avLst>
                <a:gd fmla="val 49995" name="adj1"/>
              </a:avLst>
            </a:prstGeom>
            <a:noFill/>
            <a:ln cap="flat" cmpd="sng" w="19050">
              <a:solidFill>
                <a:srgbClr val="FF0000"/>
              </a:solidFill>
              <a:prstDash val="solid"/>
              <a:round/>
              <a:headEnd len="med" w="med" type="none"/>
              <a:tailEnd len="med" w="med" type="none"/>
            </a:ln>
          </p:spPr>
        </p:cxnSp>
      </p:grpSp>
      <p:sp>
        <p:nvSpPr>
          <p:cNvPr id="278" name="Google Shape;278;p36"/>
          <p:cNvSpPr txBox="1"/>
          <p:nvPr/>
        </p:nvSpPr>
        <p:spPr>
          <a:xfrm>
            <a:off x="188375" y="4032157"/>
            <a:ext cx="29382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…and methods.</a:t>
            </a:r>
            <a:endParaRPr sz="1200"/>
          </a:p>
        </p:txBody>
      </p:sp>
      <p:grpSp>
        <p:nvGrpSpPr>
          <p:cNvPr id="279" name="Google Shape;279;p36"/>
          <p:cNvGrpSpPr/>
          <p:nvPr/>
        </p:nvGrpSpPr>
        <p:grpSpPr>
          <a:xfrm>
            <a:off x="3126575" y="3882300"/>
            <a:ext cx="2567700" cy="670800"/>
            <a:chOff x="3126575" y="3882300"/>
            <a:chExt cx="2567700" cy="670800"/>
          </a:xfrm>
        </p:grpSpPr>
        <p:sp>
          <p:nvSpPr>
            <p:cNvPr id="280" name="Google Shape;280;p36"/>
            <p:cNvSpPr/>
            <p:nvPr/>
          </p:nvSpPr>
          <p:spPr>
            <a:xfrm>
              <a:off x="3607475" y="3882300"/>
              <a:ext cx="2086800" cy="670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1" name="Google Shape;281;p36"/>
            <p:cNvCxnSpPr>
              <a:stCxn id="278" idx="3"/>
              <a:endCxn id="280" idx="1"/>
            </p:cNvCxnSpPr>
            <p:nvPr/>
          </p:nvCxnSpPr>
          <p:spPr>
            <a:xfrm>
              <a:off x="3126575" y="4216807"/>
              <a:ext cx="480900" cy="900"/>
            </a:xfrm>
            <a:prstGeom prst="bentConnector3">
              <a:avLst>
                <a:gd fmla="val 50000" name="adj1"/>
              </a:avLst>
            </a:prstGeom>
            <a:noFill/>
            <a:ln cap="flat" cmpd="sng" w="19050">
              <a:solidFill>
                <a:srgbClr val="FF0000"/>
              </a:solidFill>
              <a:prstDash val="solid"/>
              <a:round/>
              <a:headEnd len="med" w="med" type="none"/>
              <a:tailEnd len="med" w="med" type="none"/>
            </a:ln>
          </p:spPr>
        </p:cxnSp>
      </p:grpSp>
      <p:sp>
        <p:nvSpPr>
          <p:cNvPr id="282" name="Google Shape;282;p36"/>
          <p:cNvSpPr txBox="1"/>
          <p:nvPr/>
        </p:nvSpPr>
        <p:spPr>
          <a:xfrm>
            <a:off x="6017475" y="2989894"/>
            <a:ext cx="2938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Once created, an instance of the inner class may also access the </a:t>
            </a:r>
            <a:r>
              <a:rPr lang="en" sz="1200">
                <a:solidFill>
                  <a:srgbClr val="FF0000"/>
                </a:solidFill>
                <a:latin typeface="Courier New"/>
                <a:ea typeface="Courier New"/>
                <a:cs typeface="Courier New"/>
                <a:sym typeface="Courier New"/>
              </a:rPr>
              <a:t>private</a:t>
            </a:r>
            <a:r>
              <a:rPr lang="en" sz="1200"/>
              <a:t> fields and methods in its enclosing class.</a:t>
            </a:r>
            <a:endParaRPr sz="1200"/>
          </a:p>
        </p:txBody>
      </p:sp>
      <p:sp>
        <p:nvSpPr>
          <p:cNvPr id="283" name="Google Shape;283;p36"/>
          <p:cNvSpPr/>
          <p:nvPr/>
        </p:nvSpPr>
        <p:spPr>
          <a:xfrm>
            <a:off x="5283151" y="4181525"/>
            <a:ext cx="225000" cy="219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84" name="Google Shape;284;p36"/>
          <p:cNvGrpSpPr/>
          <p:nvPr/>
        </p:nvGrpSpPr>
        <p:grpSpPr>
          <a:xfrm>
            <a:off x="4459523" y="1610899"/>
            <a:ext cx="936000" cy="2570550"/>
            <a:chOff x="4459523" y="1610899"/>
            <a:chExt cx="936000" cy="2570550"/>
          </a:xfrm>
        </p:grpSpPr>
        <p:sp>
          <p:nvSpPr>
            <p:cNvPr id="285" name="Google Shape;285;p36"/>
            <p:cNvSpPr/>
            <p:nvPr/>
          </p:nvSpPr>
          <p:spPr>
            <a:xfrm>
              <a:off x="4459523" y="1610899"/>
              <a:ext cx="548700" cy="219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86" name="Google Shape;286;p36"/>
            <p:cNvCxnSpPr>
              <a:stCxn id="285" idx="6"/>
              <a:endCxn id="283" idx="0"/>
            </p:cNvCxnSpPr>
            <p:nvPr/>
          </p:nvCxnSpPr>
          <p:spPr>
            <a:xfrm>
              <a:off x="5008223" y="1720849"/>
              <a:ext cx="387300" cy="2460600"/>
            </a:xfrm>
            <a:prstGeom prst="curvedConnector2">
              <a:avLst/>
            </a:prstGeom>
            <a:noFill/>
            <a:ln cap="flat" cmpd="sng" w="19050">
              <a:solidFill>
                <a:srgbClr val="0000FF"/>
              </a:solidFill>
              <a:prstDash val="solid"/>
              <a:round/>
              <a:headEnd len="med" w="med" type="none"/>
              <a:tailEnd len="med" w="med" type="none"/>
            </a:ln>
          </p:spPr>
        </p:cxnSp>
      </p:grpSp>
      <p:sp>
        <p:nvSpPr>
          <p:cNvPr id="287" name="Google Shape;287;p36"/>
          <p:cNvSpPr txBox="1"/>
          <p:nvPr/>
        </p:nvSpPr>
        <p:spPr>
          <a:xfrm>
            <a:off x="6017475" y="1380757"/>
            <a:ext cx="2938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Creating an instance of an inner class requires an instance of the outer class.</a:t>
            </a:r>
            <a:endParaRPr sz="1200"/>
          </a:p>
        </p:txBody>
      </p:sp>
      <p:sp>
        <p:nvSpPr>
          <p:cNvPr id="288" name="Google Shape;288;p36"/>
          <p:cNvSpPr txBox="1"/>
          <p:nvPr/>
        </p:nvSpPr>
        <p:spPr>
          <a:xfrm>
            <a:off x="6017475" y="2069825"/>
            <a:ext cx="2938200" cy="785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267F99"/>
                </a:solidFill>
                <a:latin typeface="Consolas"/>
                <a:ea typeface="Consolas"/>
                <a:cs typeface="Consolas"/>
                <a:sym typeface="Consolas"/>
              </a:rPr>
              <a:t>Outer</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outer</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Outer</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5</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267F99"/>
                </a:solidFill>
                <a:latin typeface="Consolas"/>
                <a:ea typeface="Consolas"/>
                <a:cs typeface="Consolas"/>
                <a:sym typeface="Consolas"/>
              </a:rPr>
              <a:t>Inner</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inner</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outer</a:t>
            </a:r>
            <a:r>
              <a:rPr lang="en" sz="1050">
                <a:latin typeface="Consolas"/>
                <a:ea typeface="Consolas"/>
                <a:cs typeface="Consolas"/>
                <a:sym typeface="Consolas"/>
              </a:rPr>
              <a:t>.</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Inner</a:t>
            </a:r>
            <a:r>
              <a:rPr lang="en" sz="1050">
                <a:latin typeface="Consolas"/>
                <a:ea typeface="Consolas"/>
                <a:cs typeface="Consolas"/>
                <a:sym typeface="Consolas"/>
              </a:rPr>
              <a:t>(</a:t>
            </a:r>
            <a:r>
              <a:rPr lang="en" sz="1050">
                <a:solidFill>
                  <a:srgbClr val="A31515"/>
                </a:solidFill>
                <a:latin typeface="Consolas"/>
                <a:ea typeface="Consolas"/>
                <a:cs typeface="Consolas"/>
                <a:sym typeface="Consolas"/>
              </a:rPr>
              <a:t>"Joe"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inner</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289" name="Google Shape;289;p36"/>
          <p:cNvSpPr txBox="1"/>
          <p:nvPr/>
        </p:nvSpPr>
        <p:spPr>
          <a:xfrm>
            <a:off x="6017475" y="3826557"/>
            <a:ext cx="2938200" cy="369300"/>
          </a:xfrm>
          <a:prstGeom prst="rect">
            <a:avLst/>
          </a:prstGeom>
          <a:solidFill>
            <a:srgbClr val="000000"/>
          </a:solidFill>
          <a:ln cap="flat" cmpd="sng" w="19050">
            <a:solidFill>
              <a:srgbClr val="B7B7B7"/>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solidFill>
                  <a:srgbClr val="FFE599"/>
                </a:solidFill>
                <a:latin typeface="Consolas"/>
                <a:ea typeface="Consolas"/>
                <a:cs typeface="Consolas"/>
                <a:sym typeface="Consolas"/>
              </a:rPr>
              <a:t>Joe: 5</a:t>
            </a:r>
            <a:endParaRPr sz="1200">
              <a:solidFill>
                <a:srgbClr val="FFE599"/>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311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When To Use Them?</a:t>
            </a:r>
            <a:endParaRPr/>
          </a:p>
        </p:txBody>
      </p:sp>
      <p:sp>
        <p:nvSpPr>
          <p:cNvPr id="295" name="Google Shape;295;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6" name="Google Shape;296;p37"/>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Now that we've seen we can write multiple classes inside a single file, the initial </a:t>
            </a:r>
            <a:r>
              <a:rPr lang="en"/>
              <a:t>temptation</a:t>
            </a:r>
            <a:r>
              <a:rPr lang="en"/>
              <a:t> might be to put everything in one file</a:t>
            </a:r>
            <a:endParaRPr/>
          </a:p>
          <a:p>
            <a:pPr indent="-311150" lvl="0" marL="457200" rtl="0" algn="l">
              <a:spcBef>
                <a:spcPts val="1000"/>
              </a:spcBef>
              <a:spcAft>
                <a:spcPts val="0"/>
              </a:spcAft>
              <a:buClr>
                <a:srgbClr val="FF0000"/>
              </a:buClr>
              <a:buSzPts val="1300"/>
              <a:buChar char="●"/>
            </a:pPr>
            <a:r>
              <a:rPr b="1" lang="en">
                <a:solidFill>
                  <a:srgbClr val="FF0000"/>
                </a:solidFill>
              </a:rPr>
              <a:t>Avoid this </a:t>
            </a:r>
            <a:r>
              <a:rPr b="1" lang="en">
                <a:solidFill>
                  <a:srgbClr val="FF0000"/>
                </a:solidFill>
              </a:rPr>
              <a:t>temptation</a:t>
            </a:r>
            <a:endParaRPr b="1">
              <a:solidFill>
                <a:srgbClr val="FF0000"/>
              </a:solidFill>
            </a:endParaRPr>
          </a:p>
          <a:p>
            <a:pPr indent="-311150" lvl="0" marL="457200" rtl="0" algn="l">
              <a:spcBef>
                <a:spcPts val="1000"/>
              </a:spcBef>
              <a:spcAft>
                <a:spcPts val="0"/>
              </a:spcAft>
              <a:buSzPts val="1300"/>
              <a:buChar char="●"/>
            </a:pPr>
            <a:r>
              <a:rPr lang="en"/>
              <a:t>So when should you use inner classes?</a:t>
            </a:r>
            <a:endParaRPr/>
          </a:p>
          <a:p>
            <a:pPr indent="-311150" lvl="0" marL="457200" rtl="0" algn="l">
              <a:spcBef>
                <a:spcPts val="1000"/>
              </a:spcBef>
              <a:spcAft>
                <a:spcPts val="0"/>
              </a:spcAft>
              <a:buSzPts val="1300"/>
              <a:buChar char="●"/>
            </a:pPr>
            <a:r>
              <a:rPr lang="en"/>
              <a:t>The class exists only to support its outer class</a:t>
            </a:r>
            <a:endParaRPr/>
          </a:p>
          <a:p>
            <a:pPr indent="-311150" lvl="0" marL="457200" rtl="0" algn="l">
              <a:spcBef>
                <a:spcPts val="1000"/>
              </a:spcBef>
              <a:spcAft>
                <a:spcPts val="0"/>
              </a:spcAft>
              <a:buSzPts val="1300"/>
              <a:buChar char="●"/>
            </a:pPr>
            <a:r>
              <a:rPr lang="en"/>
              <a:t>The inner class needs direct access to the outer class's members</a:t>
            </a:r>
            <a:endParaRPr/>
          </a:p>
          <a:p>
            <a:pPr indent="-311150" lvl="0" marL="457200" rtl="0" algn="l">
              <a:spcBef>
                <a:spcPts val="1000"/>
              </a:spcBef>
              <a:spcAft>
                <a:spcPts val="0"/>
              </a:spcAft>
              <a:buSzPts val="1300"/>
              <a:buChar char="●"/>
            </a:pPr>
            <a:r>
              <a:rPr lang="en"/>
              <a:t>You want to logically group small, simple classes</a:t>
            </a:r>
            <a:endParaRPr/>
          </a:p>
          <a:p>
            <a:pPr indent="-311150" lvl="0" marL="457200" rtl="0" algn="l">
              <a:spcBef>
                <a:spcPts val="1000"/>
              </a:spcBef>
              <a:spcAft>
                <a:spcPts val="1000"/>
              </a:spcAft>
              <a:buSzPts val="1300"/>
              <a:buChar char="●"/>
            </a:pPr>
            <a:r>
              <a:rPr lang="en"/>
              <a:t>Creating one-off behaviors (though there are potentially better way for this one)</a:t>
            </a:r>
            <a:endParaRPr/>
          </a:p>
        </p:txBody>
      </p:sp>
      <p:sp>
        <p:nvSpPr>
          <p:cNvPr id="297" name="Google Shape;297;p37"/>
          <p:cNvSpPr txBox="1"/>
          <p:nvPr>
            <p:ph idx="3" type="body"/>
          </p:nvPr>
        </p:nvSpPr>
        <p:spPr>
          <a:xfrm>
            <a:off x="3154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You should </a:t>
            </a:r>
            <a:r>
              <a:rPr b="1" lang="en">
                <a:solidFill>
                  <a:srgbClr val="FF0000"/>
                </a:solidFill>
              </a:rPr>
              <a:t>not</a:t>
            </a:r>
            <a:r>
              <a:rPr lang="en"/>
              <a:t> use inner classes if the inner class would be large or used by multiple other classes.</a:t>
            </a:r>
            <a:endParaRPr/>
          </a:p>
        </p:txBody>
      </p:sp>
      <p:pic>
        <p:nvPicPr>
          <p:cNvPr id="298" name="Google Shape;298;p37"/>
          <p:cNvPicPr preferRelativeResize="0"/>
          <p:nvPr/>
        </p:nvPicPr>
        <p:blipFill rotWithShape="1">
          <a:blip r:embed="rId3">
            <a:alphaModFix/>
          </a:blip>
          <a:srcRect b="7441" l="0" r="0" t="0"/>
          <a:stretch/>
        </p:blipFill>
        <p:spPr>
          <a:xfrm>
            <a:off x="786900" y="1139013"/>
            <a:ext cx="2763550" cy="2762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Simply Star Wars Battle</a:t>
            </a:r>
            <a:endParaRPr/>
          </a:p>
        </p:txBody>
      </p:sp>
      <p:sp>
        <p:nvSpPr>
          <p:cNvPr id="304" name="Google Shape;304;p3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 the Classes Unit, we created a Star Wars Battle game (or at least part of it). Some of the classes in it were small and only used by one other class. These could be a good place to use an inner class instead of two </a:t>
            </a:r>
            <a:r>
              <a:rPr lang="en"/>
              <a:t>separate</a:t>
            </a:r>
            <a:r>
              <a:rPr lang="en"/>
              <a:t> classes.</a:t>
            </a:r>
            <a:endParaRPr/>
          </a:p>
        </p:txBody>
      </p:sp>
      <p:sp>
        <p:nvSpPr>
          <p:cNvPr id="305" name="Google Shape;305;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38"/>
          <p:cNvSpPr txBox="1"/>
          <p:nvPr>
            <p:ph idx="2" type="body"/>
          </p:nvPr>
        </p:nvSpPr>
        <p:spPr>
          <a:xfrm>
            <a:off x="3165300" y="1814150"/>
            <a:ext cx="5775900" cy="1730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 simple implementation of the game has been provided in the repo.</a:t>
            </a:r>
            <a:endParaRPr/>
          </a:p>
          <a:p>
            <a:pPr indent="-311150" lvl="0" marL="457200" rtl="0" algn="l">
              <a:spcBef>
                <a:spcPts val="0"/>
              </a:spcBef>
              <a:spcAft>
                <a:spcPts val="0"/>
              </a:spcAft>
              <a:buSzPts val="1300"/>
              <a:buChar char="●"/>
            </a:pPr>
            <a:r>
              <a:rPr lang="en"/>
              <a:t>Look through the files and consider which classes fall into the reasons for being used as an inner class:</a:t>
            </a:r>
            <a:endParaRPr/>
          </a:p>
          <a:p>
            <a:pPr indent="-298450" lvl="1" marL="914400" rtl="0" algn="l">
              <a:spcBef>
                <a:spcPts val="0"/>
              </a:spcBef>
              <a:spcAft>
                <a:spcPts val="0"/>
              </a:spcAft>
              <a:buSzPts val="1100"/>
              <a:buChar char="○"/>
            </a:pPr>
            <a:r>
              <a:rPr lang="en"/>
              <a:t>Small, used only by one other class, high coupling, etc.</a:t>
            </a:r>
            <a:endParaRPr/>
          </a:p>
          <a:p>
            <a:pPr indent="-311150" lvl="0" marL="457200" rtl="0" algn="l">
              <a:spcBef>
                <a:spcPts val="0"/>
              </a:spcBef>
              <a:spcAft>
                <a:spcPts val="0"/>
              </a:spcAft>
              <a:buSzPts val="1300"/>
              <a:buChar char="●"/>
            </a:pPr>
            <a:r>
              <a:rPr lang="en"/>
              <a:t>Refactor the </a:t>
            </a:r>
            <a:r>
              <a:rPr lang="en">
                <a:latin typeface="Courier New"/>
                <a:ea typeface="Courier New"/>
                <a:cs typeface="Courier New"/>
                <a:sym typeface="Courier New"/>
              </a:rPr>
              <a:t>DamageType</a:t>
            </a:r>
            <a:r>
              <a:rPr lang="en"/>
              <a:t> enum to be an inner class of </a:t>
            </a:r>
            <a:r>
              <a:rPr lang="en"/>
              <a:t>the </a:t>
            </a:r>
            <a:r>
              <a:rPr lang="en">
                <a:latin typeface="Courier New"/>
                <a:ea typeface="Courier New"/>
                <a:cs typeface="Courier New"/>
                <a:sym typeface="Courier New"/>
              </a:rPr>
              <a:t>Weapon</a:t>
            </a:r>
            <a:r>
              <a:rPr lang="en"/>
              <a:t> class</a:t>
            </a:r>
            <a:r>
              <a:rPr lang="en"/>
              <a:t>.</a:t>
            </a:r>
            <a:endParaRPr/>
          </a:p>
          <a:p>
            <a:pPr indent="-311150" lvl="0" marL="457200" rtl="0" algn="l">
              <a:spcBef>
                <a:spcPts val="0"/>
              </a:spcBef>
              <a:spcAft>
                <a:spcPts val="0"/>
              </a:spcAft>
              <a:buSzPts val="1300"/>
              <a:buChar char="●"/>
            </a:pPr>
            <a:r>
              <a:rPr lang="en"/>
              <a:t>Rerun the sample program to make sure everything still works.</a:t>
            </a:r>
            <a:endParaRPr/>
          </a:p>
        </p:txBody>
      </p:sp>
      <p:sp>
        <p:nvSpPr>
          <p:cNvPr id="307" name="Google Shape;307;p3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a:t>
            </a:r>
            <a:endParaRPr/>
          </a:p>
        </p:txBody>
      </p:sp>
      <p:sp>
        <p:nvSpPr>
          <p:cNvPr id="308" name="Google Shape;308;p38"/>
          <p:cNvSpPr txBox="1"/>
          <p:nvPr/>
        </p:nvSpPr>
        <p:spPr>
          <a:xfrm>
            <a:off x="346200" y="1764450"/>
            <a:ext cx="2614500" cy="3263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Outer</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Outer</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Inner</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Inner</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 </a:t>
            </a:r>
            <a:r>
              <a:rPr lang="en" sz="1000">
                <a:solidFill>
                  <a:srgbClr val="A31515"/>
                </a:solidFill>
                <a:latin typeface="Consolas"/>
                <a:ea typeface="Consolas"/>
                <a:cs typeface="Consolas"/>
                <a:sym typeface="Consolas"/>
              </a:rPr>
              <a:t>": "</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type="title"/>
          </p:nvPr>
        </p:nvSpPr>
        <p:spPr>
          <a:xfrm>
            <a:off x="300800" y="352300"/>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Anonymous Classes</a:t>
            </a:r>
            <a:endParaRPr/>
          </a:p>
        </p:txBody>
      </p:sp>
      <p:sp>
        <p:nvSpPr>
          <p:cNvPr id="314" name="Google Shape;314;p39"/>
          <p:cNvSpPr txBox="1"/>
          <p:nvPr>
            <p:ph idx="1" type="body"/>
          </p:nvPr>
        </p:nvSpPr>
        <p:spPr>
          <a:xfrm>
            <a:off x="4354850" y="97575"/>
            <a:ext cx="4590000" cy="4668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Writing classes is easy but a program can become cumbersome when creating lots of small specialized classes that are only used once.</a:t>
            </a:r>
            <a:endParaRPr/>
          </a:p>
          <a:p>
            <a:pPr indent="-311150" lvl="0" marL="457200" rtl="0" algn="l">
              <a:spcBef>
                <a:spcPts val="1000"/>
              </a:spcBef>
              <a:spcAft>
                <a:spcPts val="0"/>
              </a:spcAft>
              <a:buSzPts val="1300"/>
              <a:buChar char="●"/>
            </a:pPr>
            <a:r>
              <a:rPr lang="en"/>
              <a:t>To address this, Java allows on-the-fly </a:t>
            </a:r>
            <a:r>
              <a:rPr b="1" i="1" lang="en">
                <a:solidFill>
                  <a:srgbClr val="FF0000"/>
                </a:solidFill>
              </a:rPr>
              <a:t>one-time classes</a:t>
            </a:r>
            <a:r>
              <a:rPr lang="en"/>
              <a:t> to be created inside of another class.</a:t>
            </a:r>
            <a:endParaRPr/>
          </a:p>
          <a:p>
            <a:pPr indent="-311150" lvl="0" marL="457200" rtl="0" algn="l">
              <a:spcBef>
                <a:spcPts val="1000"/>
              </a:spcBef>
              <a:spcAft>
                <a:spcPts val="0"/>
              </a:spcAft>
              <a:buSzPts val="1300"/>
              <a:buChar char="●"/>
            </a:pPr>
            <a:r>
              <a:rPr lang="en"/>
              <a:t>These classes are called </a:t>
            </a:r>
            <a:r>
              <a:rPr b="1" i="1" lang="en">
                <a:solidFill>
                  <a:srgbClr val="FF0000"/>
                </a:solidFill>
              </a:rPr>
              <a:t>anonymous classes</a:t>
            </a:r>
            <a:r>
              <a:rPr lang="en"/>
              <a:t> because they are not given a name.</a:t>
            </a:r>
            <a:endParaRPr/>
          </a:p>
          <a:p>
            <a:pPr indent="-311150" lvl="0" marL="457200" rtl="0" algn="l">
              <a:spcBef>
                <a:spcPts val="1000"/>
              </a:spcBef>
              <a:spcAft>
                <a:spcPts val="0"/>
              </a:spcAft>
              <a:buSzPts val="1300"/>
              <a:buChar char="●"/>
            </a:pPr>
            <a:r>
              <a:rPr lang="en"/>
              <a:t>When declaring a new anonymous class, a </a:t>
            </a:r>
            <a:r>
              <a:rPr b="1" i="1" lang="en">
                <a:solidFill>
                  <a:srgbClr val="FF0000"/>
                </a:solidFill>
              </a:rPr>
              <a:t>base class</a:t>
            </a:r>
            <a:r>
              <a:rPr lang="en"/>
              <a:t> or </a:t>
            </a:r>
            <a:r>
              <a:rPr b="1" i="1" lang="en">
                <a:solidFill>
                  <a:srgbClr val="FF0000"/>
                </a:solidFill>
              </a:rPr>
              <a:t>interface</a:t>
            </a:r>
            <a:r>
              <a:rPr lang="en"/>
              <a:t> must be specified, then any necessary additions or customizations can be added to a </a:t>
            </a:r>
            <a:r>
              <a:rPr b="1" i="1" lang="en">
                <a:solidFill>
                  <a:srgbClr val="FF0000"/>
                </a:solidFill>
              </a:rPr>
              <a:t>one-time </a:t>
            </a:r>
            <a:r>
              <a:rPr lang="en"/>
              <a:t>subclass instance.</a:t>
            </a:r>
            <a:endParaRPr/>
          </a:p>
          <a:p>
            <a:pPr indent="-298450" lvl="1" marL="914400" rtl="0" algn="l">
              <a:spcBef>
                <a:spcPts val="0"/>
              </a:spcBef>
              <a:spcAft>
                <a:spcPts val="0"/>
              </a:spcAft>
              <a:buSzPts val="1100"/>
              <a:buChar char="○"/>
            </a:pPr>
            <a:r>
              <a:rPr lang="en"/>
              <a:t>An anonymous class </a:t>
            </a:r>
            <a:r>
              <a:rPr b="1" i="1" lang="en">
                <a:solidFill>
                  <a:srgbClr val="FF0000"/>
                </a:solidFill>
              </a:rPr>
              <a:t>must</a:t>
            </a:r>
            <a:r>
              <a:rPr lang="en"/>
              <a:t> override any inherited abstract methods at the time of creation.</a:t>
            </a:r>
            <a:endParaRPr/>
          </a:p>
          <a:p>
            <a:pPr indent="-298450" lvl="1" marL="914400" rtl="0" algn="l">
              <a:spcBef>
                <a:spcPts val="0"/>
              </a:spcBef>
              <a:spcAft>
                <a:spcPts val="0"/>
              </a:spcAft>
              <a:buSzPts val="1100"/>
              <a:buChar char="○"/>
            </a:pPr>
            <a:r>
              <a:rPr lang="en"/>
              <a:t>An anonymous class </a:t>
            </a:r>
            <a:r>
              <a:rPr b="1" i="1" lang="en">
                <a:solidFill>
                  <a:srgbClr val="FF0000"/>
                </a:solidFill>
              </a:rPr>
              <a:t>may</a:t>
            </a:r>
            <a:r>
              <a:rPr lang="en"/>
              <a:t> override other methods as well.</a:t>
            </a:r>
            <a:endParaRPr/>
          </a:p>
          <a:p>
            <a:pPr indent="-311150" lvl="0" marL="457200" rtl="0" algn="l">
              <a:spcBef>
                <a:spcPts val="1000"/>
              </a:spcBef>
              <a:spcAft>
                <a:spcPts val="0"/>
              </a:spcAft>
              <a:buSzPts val="1300"/>
              <a:buChar char="●"/>
            </a:pPr>
            <a:r>
              <a:rPr lang="en"/>
              <a:t>The anonymous class will be stored in a variable of the base class type and </a:t>
            </a:r>
            <a:r>
              <a:rPr b="1" i="1" lang="en">
                <a:solidFill>
                  <a:srgbClr val="FF0000"/>
                </a:solidFill>
              </a:rPr>
              <a:t>polymorphism </a:t>
            </a:r>
            <a:r>
              <a:rPr lang="en"/>
              <a:t>will be used to access the state and behavior.</a:t>
            </a:r>
            <a:endParaRPr/>
          </a:p>
        </p:txBody>
      </p:sp>
      <p:sp>
        <p:nvSpPr>
          <p:cNvPr id="315" name="Google Shape;315;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39"/>
          <p:cNvSpPr txBox="1"/>
          <p:nvPr>
            <p:ph idx="2" type="body"/>
          </p:nvPr>
        </p:nvSpPr>
        <p:spPr>
          <a:xfrm>
            <a:off x="252375" y="1096575"/>
            <a:ext cx="3873000" cy="2886900"/>
          </a:xfrm>
          <a:prstGeom prst="rect">
            <a:avLst/>
          </a:prstGeom>
          <a:solidFill>
            <a:srgbClr val="FFFFFF"/>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Constant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c3</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Constant</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Increment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inc</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Increment</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c3</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Constant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c5</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Constant</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5</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Decrement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dec</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Decrement</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c5</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Subtraction</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sub</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Subtraction</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inc</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dec</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Addition</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addition</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Addition</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sub</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sqrt</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 What about </a:t>
            </a:r>
            <a:r>
              <a:rPr lang="en" sz="1050">
                <a:solidFill>
                  <a:schemeClr val="accent5"/>
                </a:solidFill>
                <a:highlight>
                  <a:srgbClr val="FFFFFF"/>
                </a:highlight>
                <a:latin typeface="Consolas"/>
                <a:ea typeface="Consolas"/>
                <a:cs typeface="Consolas"/>
                <a:sym typeface="Consolas"/>
              </a:rPr>
              <a:t>multiplication</a:t>
            </a:r>
            <a:r>
              <a:rPr lang="en" sz="1050">
                <a:solidFill>
                  <a:schemeClr val="accent5"/>
                </a:solidFill>
                <a:highlight>
                  <a:srgbClr val="FFFFFF"/>
                </a:highlight>
                <a:latin typeface="Consolas"/>
                <a:ea typeface="Consolas"/>
                <a:cs typeface="Consolas"/>
                <a:sym typeface="Consolas"/>
              </a:rPr>
              <a:t>?</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 Or </a:t>
            </a:r>
            <a:r>
              <a:rPr lang="en" sz="1050">
                <a:solidFill>
                  <a:schemeClr val="accent5"/>
                </a:solidFill>
                <a:highlight>
                  <a:srgbClr val="FFFFFF"/>
                </a:highlight>
                <a:latin typeface="Consolas"/>
                <a:ea typeface="Consolas"/>
                <a:cs typeface="Consolas"/>
                <a:sym typeface="Consolas"/>
              </a:rPr>
              <a:t>division</a:t>
            </a:r>
            <a:r>
              <a:rPr lang="en" sz="1050">
                <a:solidFill>
                  <a:schemeClr val="accent5"/>
                </a:solidFill>
                <a:highlight>
                  <a:srgbClr val="FFFFFF"/>
                </a:highlight>
                <a:latin typeface="Consolas"/>
                <a:ea typeface="Consolas"/>
                <a:cs typeface="Consolas"/>
                <a:sym typeface="Consolas"/>
              </a:rPr>
              <a:t>?</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addition</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evaluate</a:t>
            </a:r>
            <a:r>
              <a:rPr lang="en" sz="1050">
                <a:solidFill>
                  <a:srgbClr val="000000"/>
                </a:solidFill>
                <a:highlight>
                  <a:srgbClr val="FFFFFF"/>
                </a:highlight>
                <a:latin typeface="Consolas"/>
                <a:ea typeface="Consolas"/>
                <a:cs typeface="Consolas"/>
                <a:sym typeface="Consolas"/>
              </a:rPr>
              <a:t>());</a:t>
            </a:r>
            <a:endParaRPr sz="1200">
              <a:solidFill>
                <a:srgbClr val="267F99"/>
              </a:solidFill>
              <a:highlight>
                <a:srgbClr val="FFFFFF"/>
              </a:highlight>
              <a:latin typeface="Consolas"/>
              <a:ea typeface="Consolas"/>
              <a:cs typeface="Consolas"/>
              <a:sym typeface="Consolas"/>
            </a:endParaRPr>
          </a:p>
        </p:txBody>
      </p:sp>
      <p:sp>
        <p:nvSpPr>
          <p:cNvPr id="317" name="Google Shape;317;p39"/>
          <p:cNvSpPr txBox="1"/>
          <p:nvPr>
            <p:ph idx="3" type="body"/>
          </p:nvPr>
        </p:nvSpPr>
        <p:spPr>
          <a:xfrm>
            <a:off x="252400" y="4089650"/>
            <a:ext cx="3873000" cy="7941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
              <a:t>Previously</a:t>
            </a:r>
            <a:r>
              <a:rPr lang="en"/>
              <a:t> we started work on creating an expression calculator but adding simple operations can feel overly </a:t>
            </a:r>
            <a:r>
              <a:rPr lang="en"/>
              <a:t>cumbersome</a:t>
            </a:r>
            <a:r>
              <a:rPr lang="en"/>
              <a:t> when they are a </a:t>
            </a:r>
            <a:r>
              <a:rPr lang="en"/>
              <a:t>separate</a:t>
            </a:r>
            <a:r>
              <a:rPr lang="en"/>
              <a:t> class.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Anonymous Class Example</a:t>
            </a:r>
            <a:endParaRPr/>
          </a:p>
        </p:txBody>
      </p:sp>
      <p:sp>
        <p:nvSpPr>
          <p:cNvPr id="323" name="Google Shape;323;p40"/>
          <p:cNvSpPr txBox="1"/>
          <p:nvPr>
            <p:ph idx="12" type="sldNum"/>
          </p:nvPr>
        </p:nvSpPr>
        <p:spPr>
          <a:xfrm>
            <a:off x="8602397"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40"/>
          <p:cNvSpPr txBox="1"/>
          <p:nvPr/>
        </p:nvSpPr>
        <p:spPr>
          <a:xfrm>
            <a:off x="2513725" y="1549800"/>
            <a:ext cx="4116600" cy="2932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1  </a:t>
            </a:r>
            <a:r>
              <a:rPr lang="en" sz="1050">
                <a:solidFill>
                  <a:srgbClr val="267F99"/>
                </a:solidFill>
                <a:highlight>
                  <a:srgbClr val="FFFFFF"/>
                </a:highlight>
                <a:latin typeface="Consolas"/>
                <a:ea typeface="Consolas"/>
                <a:cs typeface="Consolas"/>
                <a:sym typeface="Consolas"/>
              </a:rPr>
              <a:t>Constant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c3</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Constant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2  Increment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inc</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Increment</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c3</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endParaRPr sz="1050">
              <a:solidFill>
                <a:schemeClr val="accent5"/>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4  Constant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c5</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Constant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5  Decrement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dec</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Decrement</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c5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7  Subtraction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sub</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Subtraction</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inc</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dec</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8  Addition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addition</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Addition</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sub</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sqrt</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Expression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mul</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Expression</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Override</a:t>
            </a:r>
            <a:endParaRPr sz="105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double</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evaluate</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sub</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addition</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16</a:t>
            </a:r>
            <a:endParaRPr sz="1050">
              <a:solidFill>
                <a:srgbClr val="267F99"/>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17 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multiplication</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evaluate</a:t>
            </a:r>
            <a:r>
              <a:rPr lang="en" sz="1050">
                <a:highlight>
                  <a:srgbClr val="FFFFFF"/>
                </a:highlight>
                <a:latin typeface="Consolas"/>
                <a:ea typeface="Consolas"/>
                <a:cs typeface="Consolas"/>
                <a:sym typeface="Consolas"/>
              </a:rPr>
              <a:t>());</a:t>
            </a:r>
            <a:endParaRPr sz="1000">
              <a:solidFill>
                <a:srgbClr val="008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Anonymous Class Example</a:t>
            </a:r>
            <a:endParaRPr/>
          </a:p>
        </p:txBody>
      </p:sp>
      <p:sp>
        <p:nvSpPr>
          <p:cNvPr id="330" name="Google Shape;330;p41"/>
          <p:cNvSpPr txBox="1"/>
          <p:nvPr>
            <p:ph idx="12" type="sldNum"/>
          </p:nvPr>
        </p:nvSpPr>
        <p:spPr>
          <a:xfrm>
            <a:off x="8602397"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1"/>
          <p:cNvSpPr txBox="1"/>
          <p:nvPr/>
        </p:nvSpPr>
        <p:spPr>
          <a:xfrm>
            <a:off x="2513725" y="1549800"/>
            <a:ext cx="4116600" cy="2932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1  Constant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c3</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Constant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2  Increment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inc</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Increment</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c3</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endParaRPr sz="1050">
              <a:solidFill>
                <a:schemeClr val="accent5"/>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4  Constant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c5</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Constant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5  Decrement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dec</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Decrement</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c5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7  Subtraction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sub</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Subtraction</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inc</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dec</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8  Addition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addition</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Addition</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sub</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sqrt</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Expression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mul</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Expression</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Override</a:t>
            </a:r>
            <a:endParaRPr sz="1050">
              <a:solidFill>
                <a:srgbClr val="267F99"/>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double</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evaluate</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sub</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addition</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16</a:t>
            </a:r>
            <a:endParaRPr sz="1050">
              <a:solidFill>
                <a:srgbClr val="267F99"/>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267F99"/>
                </a:solidFill>
                <a:highlight>
                  <a:srgbClr val="FFFFFF"/>
                </a:highlight>
                <a:latin typeface="Consolas"/>
                <a:ea typeface="Consolas"/>
                <a:cs typeface="Consolas"/>
                <a:sym typeface="Consolas"/>
              </a:rPr>
              <a:t>17 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multiplication</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evaluate</a:t>
            </a:r>
            <a:r>
              <a:rPr lang="en" sz="1050">
                <a:highlight>
                  <a:srgbClr val="FFFFFF"/>
                </a:highlight>
                <a:latin typeface="Consolas"/>
                <a:ea typeface="Consolas"/>
                <a:cs typeface="Consolas"/>
                <a:sym typeface="Consolas"/>
              </a:rPr>
              <a:t>());</a:t>
            </a:r>
            <a:endParaRPr sz="1000">
              <a:solidFill>
                <a:srgbClr val="008000"/>
              </a:solidFill>
              <a:latin typeface="Consolas"/>
              <a:ea typeface="Consolas"/>
              <a:cs typeface="Consolas"/>
              <a:sym typeface="Consolas"/>
            </a:endParaRPr>
          </a:p>
        </p:txBody>
      </p:sp>
      <p:sp>
        <p:nvSpPr>
          <p:cNvPr id="332" name="Google Shape;332;p41"/>
          <p:cNvSpPr txBox="1"/>
          <p:nvPr/>
        </p:nvSpPr>
        <p:spPr>
          <a:xfrm>
            <a:off x="142375" y="1549800"/>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An </a:t>
            </a:r>
            <a:r>
              <a:rPr b="1" i="1" lang="en" sz="1100">
                <a:solidFill>
                  <a:srgbClr val="FF0000"/>
                </a:solidFill>
                <a:latin typeface="Roboto"/>
                <a:ea typeface="Roboto"/>
                <a:cs typeface="Roboto"/>
                <a:sym typeface="Roboto"/>
              </a:rPr>
              <a:t>anonymous class</a:t>
            </a:r>
            <a:r>
              <a:rPr lang="en" sz="1100">
                <a:solidFill>
                  <a:srgbClr val="FF0000"/>
                </a:solidFill>
                <a:latin typeface="Roboto"/>
                <a:ea typeface="Roboto"/>
                <a:cs typeface="Roboto"/>
                <a:sym typeface="Roboto"/>
              </a:rPr>
              <a:t> </a:t>
            </a:r>
            <a:r>
              <a:rPr lang="en" sz="1100">
                <a:latin typeface="Roboto"/>
                <a:ea typeface="Roboto"/>
                <a:cs typeface="Roboto"/>
                <a:sym typeface="Roboto"/>
              </a:rPr>
              <a:t>is created </a:t>
            </a:r>
            <a:r>
              <a:rPr b="1" i="1" lang="en" sz="1100">
                <a:solidFill>
                  <a:srgbClr val="FF0000"/>
                </a:solidFill>
                <a:latin typeface="Roboto"/>
                <a:ea typeface="Roboto"/>
                <a:cs typeface="Roboto"/>
                <a:sym typeface="Roboto"/>
              </a:rPr>
              <a:t>inline</a:t>
            </a:r>
            <a:r>
              <a:rPr lang="en" sz="1100">
                <a:solidFill>
                  <a:srgbClr val="FF0000"/>
                </a:solidFill>
                <a:latin typeface="Roboto"/>
                <a:ea typeface="Roboto"/>
                <a:cs typeface="Roboto"/>
                <a:sym typeface="Roboto"/>
              </a:rPr>
              <a:t> </a:t>
            </a:r>
            <a:r>
              <a:rPr lang="en" sz="1100">
                <a:latin typeface="Roboto"/>
                <a:ea typeface="Roboto"/>
                <a:cs typeface="Roboto"/>
                <a:sym typeface="Roboto"/>
              </a:rPr>
              <a:t>and assigned to a variable of the same type.</a:t>
            </a:r>
            <a:endParaRPr sz="1100">
              <a:latin typeface="Roboto"/>
              <a:ea typeface="Roboto"/>
              <a:cs typeface="Roboto"/>
              <a:sym typeface="Roboto"/>
            </a:endParaRPr>
          </a:p>
        </p:txBody>
      </p:sp>
      <p:grpSp>
        <p:nvGrpSpPr>
          <p:cNvPr id="333" name="Google Shape;333;p41"/>
          <p:cNvGrpSpPr/>
          <p:nvPr/>
        </p:nvGrpSpPr>
        <p:grpSpPr>
          <a:xfrm>
            <a:off x="2425675" y="1896150"/>
            <a:ext cx="3971988" cy="2179425"/>
            <a:chOff x="2489262" y="1189625"/>
            <a:chExt cx="3971988" cy="2179425"/>
          </a:xfrm>
        </p:grpSpPr>
        <p:sp>
          <p:nvSpPr>
            <p:cNvPr id="334" name="Google Shape;334;p41"/>
            <p:cNvSpPr/>
            <p:nvPr/>
          </p:nvSpPr>
          <p:spPr>
            <a:xfrm>
              <a:off x="2830050" y="2373350"/>
              <a:ext cx="3631200" cy="995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5" name="Google Shape;335;p41"/>
            <p:cNvCxnSpPr>
              <a:stCxn id="332" idx="3"/>
              <a:endCxn id="334" idx="0"/>
            </p:cNvCxnSpPr>
            <p:nvPr/>
          </p:nvCxnSpPr>
          <p:spPr>
            <a:xfrm>
              <a:off x="2489262" y="1189625"/>
              <a:ext cx="2156400" cy="1183800"/>
            </a:xfrm>
            <a:prstGeom prst="bentConnector2">
              <a:avLst/>
            </a:prstGeom>
            <a:noFill/>
            <a:ln cap="flat" cmpd="sng" w="19050">
              <a:solidFill>
                <a:srgbClr val="FF0000"/>
              </a:solidFill>
              <a:prstDash val="solid"/>
              <a:round/>
              <a:headEnd len="med" w="med" type="none"/>
              <a:tailEnd len="med" w="med" type="none"/>
            </a:ln>
          </p:spPr>
        </p:cxnSp>
      </p:grpSp>
      <p:sp>
        <p:nvSpPr>
          <p:cNvPr id="336" name="Google Shape;336;p41"/>
          <p:cNvSpPr txBox="1"/>
          <p:nvPr/>
        </p:nvSpPr>
        <p:spPr>
          <a:xfrm>
            <a:off x="142250" y="2355713"/>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a:t>
            </a:r>
            <a:r>
              <a:rPr lang="en" sz="1100">
                <a:solidFill>
                  <a:srgbClr val="FF0000"/>
                </a:solidFill>
                <a:latin typeface="Courier New"/>
                <a:ea typeface="Courier New"/>
                <a:cs typeface="Courier New"/>
                <a:sym typeface="Courier New"/>
              </a:rPr>
              <a:t>new</a:t>
            </a:r>
            <a:r>
              <a:rPr lang="en" sz="1100">
                <a:latin typeface="Roboto"/>
                <a:ea typeface="Roboto"/>
                <a:cs typeface="Roboto"/>
                <a:sym typeface="Roboto"/>
              </a:rPr>
              <a:t> operator is used to create the new instance and can even be used with interfaces!</a:t>
            </a:r>
            <a:endParaRPr sz="1100">
              <a:latin typeface="Roboto"/>
              <a:ea typeface="Roboto"/>
              <a:cs typeface="Roboto"/>
              <a:sym typeface="Roboto"/>
            </a:endParaRPr>
          </a:p>
        </p:txBody>
      </p:sp>
      <p:sp>
        <p:nvSpPr>
          <p:cNvPr id="337" name="Google Shape;337;p41"/>
          <p:cNvSpPr txBox="1"/>
          <p:nvPr/>
        </p:nvSpPr>
        <p:spPr>
          <a:xfrm>
            <a:off x="142250" y="3161638"/>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i="1" lang="en" sz="1100">
                <a:solidFill>
                  <a:srgbClr val="FF0000"/>
                </a:solidFill>
                <a:latin typeface="Roboto"/>
                <a:ea typeface="Roboto"/>
                <a:cs typeface="Roboto"/>
                <a:sym typeface="Roboto"/>
              </a:rPr>
              <a:t>brand new</a:t>
            </a:r>
            <a:r>
              <a:rPr lang="en" sz="1100">
                <a:latin typeface="Roboto"/>
                <a:ea typeface="Roboto"/>
                <a:cs typeface="Roboto"/>
                <a:sym typeface="Roboto"/>
              </a:rPr>
              <a:t>, </a:t>
            </a:r>
            <a:r>
              <a:rPr b="1" i="1" lang="en" sz="1100">
                <a:solidFill>
                  <a:srgbClr val="FF0000"/>
                </a:solidFill>
                <a:latin typeface="Roboto"/>
                <a:ea typeface="Roboto"/>
                <a:cs typeface="Roboto"/>
                <a:sym typeface="Roboto"/>
              </a:rPr>
              <a:t>single-use class</a:t>
            </a:r>
            <a:r>
              <a:rPr lang="en" sz="1100">
                <a:latin typeface="Roboto"/>
                <a:ea typeface="Roboto"/>
                <a:cs typeface="Roboto"/>
                <a:sym typeface="Roboto"/>
              </a:rPr>
              <a:t> is created that extends or implements the specified type.</a:t>
            </a:r>
            <a:endParaRPr sz="1100">
              <a:latin typeface="Roboto"/>
              <a:ea typeface="Roboto"/>
              <a:cs typeface="Roboto"/>
              <a:sym typeface="Roboto"/>
            </a:endParaRPr>
          </a:p>
        </p:txBody>
      </p:sp>
      <p:sp>
        <p:nvSpPr>
          <p:cNvPr id="338" name="Google Shape;338;p41"/>
          <p:cNvSpPr txBox="1"/>
          <p:nvPr/>
        </p:nvSpPr>
        <p:spPr>
          <a:xfrm>
            <a:off x="6718375" y="1527325"/>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new class </a:t>
            </a:r>
            <a:r>
              <a:rPr b="1" i="1" lang="en" sz="1100">
                <a:solidFill>
                  <a:srgbClr val="FF0000"/>
                </a:solidFill>
                <a:latin typeface="Roboto"/>
                <a:ea typeface="Roboto"/>
                <a:cs typeface="Roboto"/>
                <a:sym typeface="Roboto"/>
              </a:rPr>
              <a:t>must</a:t>
            </a:r>
            <a:r>
              <a:rPr lang="en" sz="1100">
                <a:solidFill>
                  <a:srgbClr val="FF0000"/>
                </a:solidFill>
                <a:latin typeface="Roboto"/>
                <a:ea typeface="Roboto"/>
                <a:cs typeface="Roboto"/>
                <a:sym typeface="Roboto"/>
              </a:rPr>
              <a:t> </a:t>
            </a:r>
            <a:r>
              <a:rPr lang="en" sz="1100">
                <a:latin typeface="Roboto"/>
                <a:ea typeface="Roboto"/>
                <a:cs typeface="Roboto"/>
                <a:sym typeface="Roboto"/>
              </a:rPr>
              <a:t>override any inherited abstract methods.</a:t>
            </a:r>
            <a:endParaRPr sz="1100">
              <a:latin typeface="Roboto"/>
              <a:ea typeface="Roboto"/>
              <a:cs typeface="Roboto"/>
              <a:sym typeface="Roboto"/>
            </a:endParaRPr>
          </a:p>
        </p:txBody>
      </p:sp>
      <p:sp>
        <p:nvSpPr>
          <p:cNvPr id="339" name="Google Shape;339;p41"/>
          <p:cNvSpPr txBox="1"/>
          <p:nvPr/>
        </p:nvSpPr>
        <p:spPr>
          <a:xfrm>
            <a:off x="6718375" y="2201650"/>
            <a:ext cx="22833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new class </a:t>
            </a:r>
            <a:r>
              <a:rPr b="1" i="1" lang="en" sz="1100">
                <a:solidFill>
                  <a:srgbClr val="FF0000"/>
                </a:solidFill>
                <a:latin typeface="Roboto"/>
                <a:ea typeface="Roboto"/>
                <a:cs typeface="Roboto"/>
                <a:sym typeface="Roboto"/>
              </a:rPr>
              <a:t>may </a:t>
            </a:r>
            <a:r>
              <a:rPr lang="en" sz="1100">
                <a:latin typeface="Roboto"/>
                <a:ea typeface="Roboto"/>
                <a:cs typeface="Roboto"/>
                <a:sym typeface="Roboto"/>
              </a:rPr>
              <a:t>override other inherited methods, declare its own fields and methods, and so on.</a:t>
            </a:r>
            <a:endParaRPr sz="1100">
              <a:latin typeface="Roboto"/>
              <a:ea typeface="Roboto"/>
              <a:cs typeface="Roboto"/>
              <a:sym typeface="Roboto"/>
            </a:endParaRPr>
          </a:p>
        </p:txBody>
      </p:sp>
      <p:sp>
        <p:nvSpPr>
          <p:cNvPr id="340" name="Google Shape;340;p41"/>
          <p:cNvSpPr txBox="1"/>
          <p:nvPr/>
        </p:nvSpPr>
        <p:spPr>
          <a:xfrm>
            <a:off x="142250" y="3951000"/>
            <a:ext cx="22833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Anonymous classes are useful if they are needed in only </a:t>
            </a:r>
            <a:r>
              <a:rPr b="1" i="1" lang="en" sz="1100">
                <a:solidFill>
                  <a:srgbClr val="FF0000"/>
                </a:solidFill>
                <a:latin typeface="Roboto"/>
                <a:ea typeface="Roboto"/>
                <a:cs typeface="Roboto"/>
                <a:sym typeface="Roboto"/>
              </a:rPr>
              <a:t>one place</a:t>
            </a:r>
            <a:r>
              <a:rPr lang="en" sz="1100">
                <a:latin typeface="Roboto"/>
                <a:ea typeface="Roboto"/>
                <a:cs typeface="Roboto"/>
                <a:sym typeface="Roboto"/>
              </a:rPr>
              <a:t> in the program and they contain a </a:t>
            </a:r>
            <a:r>
              <a:rPr b="1" i="1" lang="en" sz="1100">
                <a:solidFill>
                  <a:srgbClr val="FF0000"/>
                </a:solidFill>
                <a:latin typeface="Roboto"/>
                <a:ea typeface="Roboto"/>
                <a:cs typeface="Roboto"/>
                <a:sym typeface="Roboto"/>
              </a:rPr>
              <a:t>small amount of code</a:t>
            </a:r>
            <a:r>
              <a:rPr lang="en" sz="1100">
                <a:latin typeface="Roboto"/>
                <a:ea typeface="Roboto"/>
                <a:cs typeface="Roboto"/>
                <a:sym typeface="Roboto"/>
              </a:rPr>
              <a:t>.</a:t>
            </a:r>
            <a:endParaRPr sz="1100">
              <a:latin typeface="Roboto"/>
              <a:ea typeface="Roboto"/>
              <a:cs typeface="Roboto"/>
              <a:sym typeface="Roboto"/>
            </a:endParaRPr>
          </a:p>
        </p:txBody>
      </p:sp>
      <p:sp>
        <p:nvSpPr>
          <p:cNvPr id="341" name="Google Shape;341;p41"/>
          <p:cNvSpPr txBox="1"/>
          <p:nvPr/>
        </p:nvSpPr>
        <p:spPr>
          <a:xfrm>
            <a:off x="6718500" y="3214675"/>
            <a:ext cx="2283300" cy="1031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Anonymous classes should be avoided if the code inside the class is long or complicated - consider using an inner class instead.</a:t>
            </a:r>
            <a:endParaRPr sz="11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Shape Class</a:t>
            </a:r>
            <a:endParaRPr/>
          </a:p>
        </p:txBody>
      </p:sp>
      <p:sp>
        <p:nvSpPr>
          <p:cNvPr id="347" name="Google Shape;347;p42"/>
          <p:cNvSpPr txBox="1"/>
          <p:nvPr>
            <p:ph idx="1" type="body"/>
          </p:nvPr>
        </p:nvSpPr>
        <p:spPr>
          <a:xfrm>
            <a:off x="65250" y="655425"/>
            <a:ext cx="8955900" cy="6771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Shapes are a </a:t>
            </a:r>
            <a:r>
              <a:rPr lang="en"/>
              <a:t>common</a:t>
            </a:r>
            <a:r>
              <a:rPr lang="en"/>
              <a:t> inheritance example which involve small operations. This makes them a perfect illustration for anonymous classes.</a:t>
            </a:r>
            <a:endParaRPr/>
          </a:p>
        </p:txBody>
      </p:sp>
      <p:sp>
        <p:nvSpPr>
          <p:cNvPr id="348" name="Google Shape;348;p42"/>
          <p:cNvSpPr txBox="1"/>
          <p:nvPr>
            <p:ph idx="12" type="sldNum"/>
          </p:nvPr>
        </p:nvSpPr>
        <p:spPr>
          <a:xfrm>
            <a:off x="8578605"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42"/>
          <p:cNvSpPr txBox="1"/>
          <p:nvPr>
            <p:ph idx="2" type="body"/>
          </p:nvPr>
        </p:nvSpPr>
        <p:spPr>
          <a:xfrm>
            <a:off x="3750925" y="1585550"/>
            <a:ext cx="5166000" cy="1385400"/>
          </a:xfrm>
          <a:prstGeom prst="rect">
            <a:avLst/>
          </a:prstGeom>
        </p:spPr>
        <p:txBody>
          <a:bodyPr anchorCtr="0" anchor="t" bIns="91425" lIns="91425" spcFirstLastPara="1" rIns="91425" wrap="square" tIns="91425">
            <a:spAutoFit/>
          </a:bodyPr>
          <a:lstStyle/>
          <a:p>
            <a:pPr indent="-311150" lvl="0" marL="457200" rtl="0" algn="l">
              <a:lnSpc>
                <a:spcPct val="125000"/>
              </a:lnSpc>
              <a:spcBef>
                <a:spcPts val="0"/>
              </a:spcBef>
              <a:spcAft>
                <a:spcPts val="0"/>
              </a:spcAft>
              <a:buSzPts val="1300"/>
              <a:buChar char="●"/>
            </a:pPr>
            <a:r>
              <a:rPr lang="en"/>
              <a:t>Start by creating a new file for the </a:t>
            </a:r>
            <a:r>
              <a:rPr lang="en">
                <a:solidFill>
                  <a:srgbClr val="FF0000"/>
                </a:solidFill>
                <a:latin typeface="Courier New"/>
                <a:ea typeface="Courier New"/>
                <a:cs typeface="Courier New"/>
                <a:sym typeface="Courier New"/>
              </a:rPr>
              <a:t>Shape</a:t>
            </a:r>
            <a:r>
              <a:rPr lang="en">
                <a:solidFill>
                  <a:srgbClr val="FF0000"/>
                </a:solidFill>
              </a:rPr>
              <a:t> </a:t>
            </a:r>
            <a:r>
              <a:rPr lang="en"/>
              <a:t>interface.</a:t>
            </a:r>
            <a:endParaRPr/>
          </a:p>
          <a:p>
            <a:pPr indent="-311150" lvl="0" marL="457200" rtl="0" algn="l">
              <a:lnSpc>
                <a:spcPct val="125000"/>
              </a:lnSpc>
              <a:spcBef>
                <a:spcPts val="0"/>
              </a:spcBef>
              <a:spcAft>
                <a:spcPts val="0"/>
              </a:spcAft>
              <a:buSzPts val="1300"/>
              <a:buChar char="●"/>
            </a:pPr>
            <a:r>
              <a:rPr lang="en"/>
              <a:t>The interface should </a:t>
            </a:r>
            <a:r>
              <a:rPr lang="en"/>
              <a:t>have</a:t>
            </a:r>
            <a:r>
              <a:rPr lang="en"/>
              <a:t> two methods as described by the UML on the left.</a:t>
            </a:r>
            <a:endParaRPr/>
          </a:p>
          <a:p>
            <a:pPr indent="-311150" lvl="0" marL="457200" rtl="0" algn="l">
              <a:lnSpc>
                <a:spcPct val="125000"/>
              </a:lnSpc>
              <a:spcBef>
                <a:spcPts val="0"/>
              </a:spcBef>
              <a:spcAft>
                <a:spcPts val="0"/>
              </a:spcAft>
              <a:buSzPts val="1300"/>
              <a:buChar char="●"/>
            </a:pPr>
            <a:r>
              <a:rPr lang="en"/>
              <a:t>Ensure there are no problems (red squiggles) before moving on.</a:t>
            </a:r>
            <a:endParaRPr/>
          </a:p>
        </p:txBody>
      </p:sp>
      <p:sp>
        <p:nvSpPr>
          <p:cNvPr id="350" name="Google Shape;350;p4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4.3</a:t>
            </a:r>
            <a:endParaRPr/>
          </a:p>
        </p:txBody>
      </p:sp>
      <p:sp>
        <p:nvSpPr>
          <p:cNvPr id="351" name="Google Shape;351;p42"/>
          <p:cNvSpPr txBox="1"/>
          <p:nvPr>
            <p:ph idx="4" type="body"/>
          </p:nvPr>
        </p:nvSpPr>
        <p:spPr>
          <a:xfrm>
            <a:off x="295100" y="3771532"/>
            <a:ext cx="3188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Only implement the </a:t>
            </a:r>
            <a:r>
              <a:rPr lang="en">
                <a:solidFill>
                  <a:srgbClr val="FF0000"/>
                </a:solidFill>
                <a:latin typeface="Courier New"/>
                <a:ea typeface="Courier New"/>
                <a:cs typeface="Courier New"/>
                <a:sym typeface="Courier New"/>
              </a:rPr>
              <a:t>Shape</a:t>
            </a:r>
            <a:r>
              <a:rPr lang="en"/>
              <a:t> interface at this time. We'll get to the subclasses later.</a:t>
            </a:r>
            <a:endParaRPr>
              <a:latin typeface="Courier New"/>
              <a:ea typeface="Courier New"/>
              <a:cs typeface="Courier New"/>
              <a:sym typeface="Courier New"/>
            </a:endParaRPr>
          </a:p>
        </p:txBody>
      </p:sp>
      <p:pic>
        <p:nvPicPr>
          <p:cNvPr id="352" name="Google Shape;352;p42"/>
          <p:cNvPicPr preferRelativeResize="0"/>
          <p:nvPr/>
        </p:nvPicPr>
        <p:blipFill>
          <a:blip r:embed="rId3">
            <a:alphaModFix/>
          </a:blip>
          <a:stretch>
            <a:fillRect/>
          </a:stretch>
        </p:blipFill>
        <p:spPr>
          <a:xfrm>
            <a:off x="188350" y="1653782"/>
            <a:ext cx="3692265" cy="186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Instead of making a bunch of tiny classes to represent different shapes, let's implement a new class that will create the Shape for us using static methods. Each method will return a new specialized shape (circle, rectangle, or right </a:t>
            </a:r>
            <a:r>
              <a:rPr lang="en"/>
              <a:t>triangle</a:t>
            </a:r>
            <a:r>
              <a:rPr lang="en"/>
              <a:t>) using anonymous classes.</a:t>
            </a:r>
            <a:endParaRPr/>
          </a:p>
        </p:txBody>
      </p:sp>
      <p:sp>
        <p:nvSpPr>
          <p:cNvPr id="358" name="Google Shape;358;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3"/>
          <p:cNvSpPr txBox="1"/>
          <p:nvPr>
            <p:ph idx="2" type="body"/>
          </p:nvPr>
        </p:nvSpPr>
        <p:spPr>
          <a:xfrm>
            <a:off x="3379775" y="1911548"/>
            <a:ext cx="5699700" cy="2703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To keep the math simple, assume all </a:t>
            </a:r>
            <a:r>
              <a:rPr lang="en"/>
              <a:t>triangles are right triangles.</a:t>
            </a:r>
            <a:endParaRPr/>
          </a:p>
          <a:p>
            <a:pPr indent="-311150" lvl="0" marL="457200" rtl="0" algn="l">
              <a:spcBef>
                <a:spcPts val="0"/>
              </a:spcBef>
              <a:spcAft>
                <a:spcPts val="0"/>
              </a:spcAft>
              <a:buSzPts val="1300"/>
              <a:buChar char="●"/>
            </a:pPr>
            <a:r>
              <a:rPr lang="en"/>
              <a:t>Create a new class named </a:t>
            </a:r>
            <a:r>
              <a:rPr lang="en">
                <a:solidFill>
                  <a:srgbClr val="FF0000"/>
                </a:solidFill>
                <a:latin typeface="Courier New"/>
                <a:ea typeface="Courier New"/>
                <a:cs typeface="Courier New"/>
                <a:sym typeface="Courier New"/>
              </a:rPr>
              <a:t>ShapeFactory</a:t>
            </a:r>
            <a:r>
              <a:rPr lang="en"/>
              <a:t>.</a:t>
            </a:r>
            <a:endParaRPr/>
          </a:p>
          <a:p>
            <a:pPr indent="-311150" lvl="0" marL="457200" rtl="0" algn="l">
              <a:spcBef>
                <a:spcPts val="0"/>
              </a:spcBef>
              <a:spcAft>
                <a:spcPts val="0"/>
              </a:spcAft>
              <a:buSzPts val="1300"/>
              <a:buChar char="●"/>
            </a:pPr>
            <a:r>
              <a:rPr lang="en"/>
              <a:t>It should have one static method for creating each shape. </a:t>
            </a:r>
            <a:endParaRPr/>
          </a:p>
          <a:p>
            <a:pPr indent="-311150" lvl="0" marL="457200" rtl="0" algn="l">
              <a:spcBef>
                <a:spcPts val="0"/>
              </a:spcBef>
              <a:spcAft>
                <a:spcPts val="0"/>
              </a:spcAft>
              <a:buSzPts val="1300"/>
              <a:buChar char="●"/>
            </a:pPr>
            <a:r>
              <a:rPr lang="en"/>
              <a:t>For example, the signature for creating a circle would look like:</a:t>
            </a:r>
            <a:endParaRPr/>
          </a:p>
          <a:p>
            <a:pPr indent="0" lvl="0" marL="457200" rtl="0" algn="l">
              <a:spcBef>
                <a:spcPts val="0"/>
              </a:spcBef>
              <a:spcAft>
                <a:spcPts val="0"/>
              </a:spcAft>
              <a:buNone/>
            </a:pPr>
            <a:r>
              <a:rPr lang="en">
                <a:latin typeface="Courier New"/>
                <a:ea typeface="Courier New"/>
                <a:cs typeface="Courier New"/>
                <a:sym typeface="Courier New"/>
              </a:rPr>
              <a:t>public static Shape createCircle(double radius)</a:t>
            </a:r>
            <a:endParaRPr>
              <a:latin typeface="Courier New"/>
              <a:ea typeface="Courier New"/>
              <a:cs typeface="Courier New"/>
              <a:sym typeface="Courier New"/>
            </a:endParaRPr>
          </a:p>
          <a:p>
            <a:pPr indent="-304800" lvl="0" marL="457200" rtl="0" algn="l">
              <a:spcBef>
                <a:spcPts val="1000"/>
              </a:spcBef>
              <a:spcAft>
                <a:spcPts val="0"/>
              </a:spcAft>
              <a:buSzPts val="1200"/>
              <a:buChar char="●"/>
            </a:pPr>
            <a:r>
              <a:rPr lang="en" sz="1200"/>
              <a:t>Each method should return a new anonymous </a:t>
            </a:r>
            <a:r>
              <a:rPr lang="en" sz="1200">
                <a:latin typeface="Courier New"/>
                <a:ea typeface="Courier New"/>
                <a:cs typeface="Courier New"/>
                <a:sym typeface="Courier New"/>
              </a:rPr>
              <a:t>Shape</a:t>
            </a:r>
            <a:r>
              <a:rPr lang="en" sz="1200"/>
              <a:t> instance of the correct shape. </a:t>
            </a:r>
            <a:endParaRPr sz="1200"/>
          </a:p>
          <a:p>
            <a:pPr indent="0" lvl="0" marL="457200" rtl="0" algn="l">
              <a:spcBef>
                <a:spcPts val="0"/>
              </a:spcBef>
              <a:spcAft>
                <a:spcPts val="0"/>
              </a:spcAft>
              <a:buNone/>
            </a:pPr>
            <a:r>
              <a:rPr lang="en" sz="1200"/>
              <a:t>I.E. </a:t>
            </a:r>
            <a:r>
              <a:rPr lang="en" sz="1200">
                <a:latin typeface="Courier New"/>
                <a:ea typeface="Courier New"/>
                <a:cs typeface="Courier New"/>
                <a:sym typeface="Courier New"/>
              </a:rPr>
              <a:t>return new Shape {/* implementation details */};</a:t>
            </a:r>
            <a:endParaRPr sz="1200">
              <a:latin typeface="Courier New"/>
              <a:ea typeface="Courier New"/>
              <a:cs typeface="Courier New"/>
              <a:sym typeface="Courier New"/>
            </a:endParaRPr>
          </a:p>
          <a:p>
            <a:pPr indent="-304800" lvl="0" marL="457200" rtl="0" algn="l">
              <a:spcBef>
                <a:spcPts val="1600"/>
              </a:spcBef>
              <a:spcAft>
                <a:spcPts val="0"/>
              </a:spcAft>
              <a:buSzPts val="1200"/>
              <a:buChar char="●"/>
            </a:pPr>
            <a:r>
              <a:rPr lang="en" sz="1200"/>
              <a:t>In </a:t>
            </a:r>
            <a:r>
              <a:rPr lang="en" sz="1200">
                <a:solidFill>
                  <a:srgbClr val="FF0000"/>
                </a:solidFill>
                <a:latin typeface="Courier New"/>
                <a:ea typeface="Courier New"/>
                <a:cs typeface="Courier New"/>
                <a:sym typeface="Courier New"/>
              </a:rPr>
              <a:t>Main</a:t>
            </a:r>
            <a:r>
              <a:rPr lang="en" sz="1200"/>
              <a:t>, create at least one instance of each shape and print it's </a:t>
            </a:r>
            <a:r>
              <a:rPr lang="en" sz="1200">
                <a:latin typeface="Courier New"/>
                <a:ea typeface="Courier New"/>
                <a:cs typeface="Courier New"/>
                <a:sym typeface="Courier New"/>
              </a:rPr>
              <a:t>area</a:t>
            </a:r>
            <a:r>
              <a:rPr lang="en" sz="1200"/>
              <a:t> and </a:t>
            </a:r>
            <a:r>
              <a:rPr lang="en" sz="1200">
                <a:latin typeface="Courier New"/>
                <a:ea typeface="Courier New"/>
                <a:cs typeface="Courier New"/>
                <a:sym typeface="Courier New"/>
              </a:rPr>
              <a:t>perimeter</a:t>
            </a:r>
            <a:r>
              <a:rPr lang="en" sz="1200"/>
              <a:t>.</a:t>
            </a:r>
            <a:endParaRPr sz="1200"/>
          </a:p>
        </p:txBody>
      </p:sp>
      <p:sp>
        <p:nvSpPr>
          <p:cNvPr id="360" name="Google Shape;360;p4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ShapeFactory</a:t>
            </a:r>
            <a:endParaRPr/>
          </a:p>
        </p:txBody>
      </p:sp>
      <p:sp>
        <p:nvSpPr>
          <p:cNvPr id="361" name="Google Shape;361;p4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4.4</a:t>
            </a:r>
            <a:endParaRPr/>
          </a:p>
        </p:txBody>
      </p:sp>
      <p:sp>
        <p:nvSpPr>
          <p:cNvPr id="362" name="Google Shape;362;p43"/>
          <p:cNvSpPr txBox="1"/>
          <p:nvPr>
            <p:ph idx="4" type="body"/>
          </p:nvPr>
        </p:nvSpPr>
        <p:spPr>
          <a:xfrm>
            <a:off x="191075" y="3921826"/>
            <a:ext cx="3188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 this example, the interface </a:t>
            </a:r>
            <a:r>
              <a:rPr lang="en">
                <a:latin typeface="Courier New"/>
                <a:ea typeface="Courier New"/>
                <a:cs typeface="Courier New"/>
                <a:sym typeface="Courier New"/>
              </a:rPr>
              <a:t>Expression</a:t>
            </a:r>
            <a:r>
              <a:rPr lang="en"/>
              <a:t> only has a single method. The </a:t>
            </a:r>
            <a:r>
              <a:rPr lang="en">
                <a:latin typeface="Courier New"/>
                <a:ea typeface="Courier New"/>
                <a:cs typeface="Courier New"/>
                <a:sym typeface="Courier New"/>
              </a:rPr>
              <a:t>Shape</a:t>
            </a:r>
            <a:r>
              <a:rPr lang="en"/>
              <a:t> interface in this activity has two and both will go inside the </a:t>
            </a:r>
            <a:r>
              <a:rPr lang="en">
                <a:latin typeface="Courier New"/>
                <a:ea typeface="Courier New"/>
                <a:cs typeface="Courier New"/>
                <a:sym typeface="Courier New"/>
              </a:rPr>
              <a:t>{};</a:t>
            </a:r>
            <a:r>
              <a:rPr lang="en"/>
              <a:t> block. </a:t>
            </a:r>
            <a:endParaRPr>
              <a:latin typeface="Courier New"/>
              <a:ea typeface="Courier New"/>
              <a:cs typeface="Courier New"/>
              <a:sym typeface="Courier New"/>
            </a:endParaRPr>
          </a:p>
        </p:txBody>
      </p:sp>
      <p:sp>
        <p:nvSpPr>
          <p:cNvPr id="363" name="Google Shape;363;p43"/>
          <p:cNvSpPr txBox="1"/>
          <p:nvPr/>
        </p:nvSpPr>
        <p:spPr>
          <a:xfrm>
            <a:off x="191075" y="1924961"/>
            <a:ext cx="3188700" cy="1847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67F99"/>
                </a:solidFill>
                <a:highlight>
                  <a:srgbClr val="FFFFFF"/>
                </a:highlight>
                <a:latin typeface="Consolas"/>
                <a:ea typeface="Consolas"/>
                <a:cs typeface="Consolas"/>
                <a:sym typeface="Consolas"/>
              </a:rPr>
              <a:t>Expression</a:t>
            </a:r>
            <a:r>
              <a:rPr lang="en" sz="1200">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mul</a:t>
            </a:r>
            <a:r>
              <a:rPr lang="en" sz="1200">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new</a:t>
            </a:r>
            <a:r>
              <a:rPr lang="en" sz="1200">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Expression</a:t>
            </a: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indent="0" lvl="0" marL="0" rtl="0" algn="l">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Override</a:t>
            </a:r>
            <a:endParaRPr sz="1200">
              <a:solidFill>
                <a:srgbClr val="267F99"/>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evaluate</a:t>
            </a: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indent="0" lvl="0" marL="0" rtl="0" algn="l">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return</a:t>
            </a:r>
            <a:r>
              <a:rPr lang="en" sz="1200">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sub</a:t>
            </a:r>
            <a:r>
              <a:rPr lang="en" sz="1200">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addition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indent="0" lvl="0" marL="0" rtl="0" algn="l">
              <a:spcBef>
                <a:spcPts val="0"/>
              </a:spcBef>
              <a:spcAft>
                <a:spcPts val="0"/>
              </a:spcAft>
              <a:buNone/>
            </a:pP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indent="0" lvl="0" marL="0" rtl="0" algn="l">
              <a:spcBef>
                <a:spcPts val="0"/>
              </a:spcBef>
              <a:spcAft>
                <a:spcPts val="0"/>
              </a:spcAft>
              <a:buNone/>
            </a:pP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indent="0" lvl="0" marL="0" rtl="0" algn="l">
              <a:spcBef>
                <a:spcPts val="0"/>
              </a:spcBef>
              <a:spcAft>
                <a:spcPts val="0"/>
              </a:spcAft>
              <a:buNone/>
            </a:pPr>
            <a:r>
              <a:t/>
            </a:r>
            <a:endParaRPr sz="1200">
              <a:solidFill>
                <a:srgbClr val="267F99"/>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267F99"/>
                </a:solidFill>
                <a:highlight>
                  <a:srgbClr val="FFFFFF"/>
                </a:highlight>
                <a:latin typeface="Consolas"/>
                <a:ea typeface="Consolas"/>
                <a:cs typeface="Consolas"/>
                <a:sym typeface="Consolas"/>
              </a:rPr>
              <a:t>System</a:t>
            </a:r>
            <a:r>
              <a:rPr lang="en" sz="1200">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00108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multiplication</a:t>
            </a:r>
            <a:r>
              <a:rPr lang="en" sz="1200">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evaluate</a:t>
            </a:r>
            <a:r>
              <a:rPr lang="en" sz="1200">
                <a:highlight>
                  <a:srgbClr val="FFFFFF"/>
                </a:highlight>
                <a:latin typeface="Consolas"/>
                <a:ea typeface="Consolas"/>
                <a:cs typeface="Consolas"/>
                <a:sym typeface="Consolas"/>
              </a:rPr>
              <a:t>());</a:t>
            </a:r>
            <a:endParaRPr sz="1200">
              <a:solidFill>
                <a:srgbClr val="008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idx="1" type="body"/>
          </p:nvPr>
        </p:nvSpPr>
        <p:spPr>
          <a:xfrm>
            <a:off x="65250" y="731625"/>
            <a:ext cx="89559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have our various shapes, let's do a small activity that </a:t>
            </a:r>
            <a:r>
              <a:rPr lang="en"/>
              <a:t>uses them.</a:t>
            </a:r>
            <a:endParaRPr/>
          </a:p>
        </p:txBody>
      </p:sp>
      <p:sp>
        <p:nvSpPr>
          <p:cNvPr id="369" name="Google Shape;369;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44"/>
          <p:cNvSpPr txBox="1"/>
          <p:nvPr>
            <p:ph idx="2" type="body"/>
          </p:nvPr>
        </p:nvSpPr>
        <p:spPr>
          <a:xfrm>
            <a:off x="4110075" y="1405523"/>
            <a:ext cx="4737300" cy="3517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class named </a:t>
            </a:r>
            <a:r>
              <a:rPr lang="en">
                <a:solidFill>
                  <a:srgbClr val="FF0000"/>
                </a:solidFill>
                <a:latin typeface="Courier New"/>
                <a:ea typeface="Courier New"/>
                <a:cs typeface="Courier New"/>
                <a:sym typeface="Courier New"/>
              </a:rPr>
              <a:t>UserShapes</a:t>
            </a:r>
            <a:r>
              <a:rPr lang="en"/>
              <a:t>.</a:t>
            </a:r>
            <a:endParaRPr/>
          </a:p>
          <a:p>
            <a:pPr indent="-311150" lvl="0" marL="457200" rtl="0" algn="l">
              <a:spcBef>
                <a:spcPts val="1000"/>
              </a:spcBef>
              <a:spcAft>
                <a:spcPts val="0"/>
              </a:spcAft>
              <a:buSzPts val="1300"/>
              <a:buChar char="●"/>
            </a:pPr>
            <a:r>
              <a:rPr lang="en"/>
              <a:t>In </a:t>
            </a:r>
            <a:r>
              <a:rPr lang="en">
                <a:latin typeface="Courier New"/>
                <a:ea typeface="Courier New"/>
                <a:cs typeface="Courier New"/>
                <a:sym typeface="Courier New"/>
              </a:rPr>
              <a:t>main</a:t>
            </a:r>
            <a:r>
              <a:rPr lang="en"/>
              <a:t>, continuously prompt the user to enter a shape and its associated parameters.</a:t>
            </a:r>
            <a:endParaRPr/>
          </a:p>
          <a:p>
            <a:pPr indent="-298450" lvl="1" marL="914400" rtl="0" algn="l">
              <a:spcBef>
                <a:spcPts val="0"/>
              </a:spcBef>
              <a:spcAft>
                <a:spcPts val="0"/>
              </a:spcAft>
              <a:buSzPts val="1100"/>
              <a:buChar char="○"/>
            </a:pPr>
            <a:r>
              <a:rPr lang="en"/>
              <a:t>Depending on how you process the user input, you may be left with a </a:t>
            </a:r>
            <a:r>
              <a:rPr b="1" i="1" lang="en"/>
              <a:t>blank newline</a:t>
            </a:r>
            <a:r>
              <a:rPr lang="en"/>
              <a:t> after reading the parameters.</a:t>
            </a:r>
            <a:endParaRPr/>
          </a:p>
          <a:p>
            <a:pPr indent="-298450" lvl="1" marL="914400" rtl="0" algn="l">
              <a:spcBef>
                <a:spcPts val="0"/>
              </a:spcBef>
              <a:spcAft>
                <a:spcPts val="0"/>
              </a:spcAft>
              <a:buSzPts val="1100"/>
              <a:buChar char="○"/>
            </a:pPr>
            <a:r>
              <a:rPr lang="en"/>
              <a:t>You can use </a:t>
            </a:r>
            <a:r>
              <a:rPr lang="en">
                <a:latin typeface="Courier New"/>
                <a:ea typeface="Courier New"/>
                <a:cs typeface="Courier New"/>
                <a:sym typeface="Courier New"/>
              </a:rPr>
              <a:t>scanner.nextLine()</a:t>
            </a:r>
            <a:r>
              <a:rPr lang="en"/>
              <a:t> to remove it before going through the loop again.</a:t>
            </a:r>
            <a:endParaRPr/>
          </a:p>
          <a:p>
            <a:pPr indent="-311150" lvl="0" marL="457200" rtl="0" algn="l">
              <a:spcBef>
                <a:spcPts val="1000"/>
              </a:spcBef>
              <a:spcAft>
                <a:spcPts val="0"/>
              </a:spcAft>
              <a:buSzPts val="1300"/>
              <a:buChar char="●"/>
            </a:pPr>
            <a:r>
              <a:rPr lang="en"/>
              <a:t>If the user enters an invalid shape, print a message letting the user know but continue to allow them to enter new shapes.</a:t>
            </a:r>
            <a:endParaRPr/>
          </a:p>
          <a:p>
            <a:pPr indent="-311150" lvl="0" marL="457200" rtl="0" algn="l">
              <a:spcBef>
                <a:spcPts val="1000"/>
              </a:spcBef>
              <a:spcAft>
                <a:spcPts val="0"/>
              </a:spcAft>
              <a:buSzPts val="1300"/>
              <a:buChar char="●"/>
            </a:pPr>
            <a:r>
              <a:rPr lang="en"/>
              <a:t>If the string </a:t>
            </a:r>
            <a:r>
              <a:rPr b="1" i="1" lang="en"/>
              <a:t>"exit"</a:t>
            </a:r>
            <a:r>
              <a:rPr lang="en"/>
              <a:t> is entered for the shape type, exit the loop.</a:t>
            </a:r>
            <a:endParaRPr/>
          </a:p>
          <a:p>
            <a:pPr indent="-311150" lvl="0" marL="457200" rtl="0" algn="l">
              <a:spcBef>
                <a:spcPts val="1000"/>
              </a:spcBef>
              <a:spcAft>
                <a:spcPts val="0"/>
              </a:spcAft>
              <a:buSzPts val="1300"/>
              <a:buChar char="●"/>
            </a:pPr>
            <a:r>
              <a:rPr lang="en"/>
              <a:t>Run your program and ensure it works for all cases.</a:t>
            </a:r>
            <a:endParaRPr/>
          </a:p>
        </p:txBody>
      </p:sp>
      <p:sp>
        <p:nvSpPr>
          <p:cNvPr id="371" name="Google Shape;371;p4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User Shapes</a:t>
            </a:r>
            <a:endParaRPr/>
          </a:p>
        </p:txBody>
      </p:sp>
      <p:sp>
        <p:nvSpPr>
          <p:cNvPr id="372" name="Google Shape;372;p4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4.X</a:t>
            </a:r>
            <a:endParaRPr/>
          </a:p>
        </p:txBody>
      </p:sp>
      <p:sp>
        <p:nvSpPr>
          <p:cNvPr id="373" name="Google Shape;373;p44"/>
          <p:cNvSpPr txBox="1"/>
          <p:nvPr>
            <p:ph idx="4" type="body"/>
          </p:nvPr>
        </p:nvSpPr>
        <p:spPr>
          <a:xfrm>
            <a:off x="167175" y="4417579"/>
            <a:ext cx="39429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Sample output. Your prompts </a:t>
            </a:r>
            <a:r>
              <a:rPr lang="en"/>
              <a:t>should</a:t>
            </a:r>
            <a:r>
              <a:rPr lang="en"/>
              <a:t> specify the possibly options (left off here due to size constraints).</a:t>
            </a:r>
            <a:endParaRPr/>
          </a:p>
        </p:txBody>
      </p:sp>
      <p:sp>
        <p:nvSpPr>
          <p:cNvPr id="374" name="Google Shape;374;p44"/>
          <p:cNvSpPr txBox="1"/>
          <p:nvPr/>
        </p:nvSpPr>
        <p:spPr>
          <a:xfrm>
            <a:off x="167181" y="1377829"/>
            <a:ext cx="3942900" cy="29826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circle</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Enter radius: 10</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Area: 314.1592653589793</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Perimeter: 62.83185307179586</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triangle</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Enter side A: 3</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Enter side B: 4</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Enter side C: 5</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Area: 6.0</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Perimeter: 12.0</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rhombus</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Unknown shape type. Please try again.</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exit</a:t>
            </a:r>
            <a:endParaRPr sz="16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4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Statement</a:t>
            </a:r>
            <a:endParaRPr/>
          </a:p>
        </p:txBody>
      </p:sp>
      <p:sp>
        <p:nvSpPr>
          <p:cNvPr id="381" name="Google Shape;381;p45"/>
          <p:cNvSpPr txBox="1"/>
          <p:nvPr>
            <p:ph idx="2" type="body"/>
          </p:nvPr>
        </p:nvSpPr>
        <p:spPr>
          <a:xfrm>
            <a:off x="2668975" y="1468554"/>
            <a:ext cx="3757800" cy="3416700"/>
          </a:xfrm>
          <a:prstGeom prst="rect">
            <a:avLst/>
          </a:prstGeom>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382" name="Google Shape;382;p45"/>
          <p:cNvSpPr txBox="1"/>
          <p:nvPr/>
        </p:nvSpPr>
        <p:spPr>
          <a:xfrm>
            <a:off x="115050" y="161355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switch</a:t>
            </a:r>
            <a:r>
              <a:rPr b="1" lang="en" sz="1100">
                <a:latin typeface="Roboto"/>
                <a:ea typeface="Roboto"/>
                <a:cs typeface="Roboto"/>
                <a:sym typeface="Roboto"/>
              </a:rPr>
              <a:t> </a:t>
            </a:r>
            <a:r>
              <a:rPr lang="en" sz="1100">
                <a:latin typeface="Roboto"/>
                <a:ea typeface="Roboto"/>
                <a:cs typeface="Roboto"/>
                <a:sym typeface="Roboto"/>
              </a:rPr>
              <a:t>statement compares against a </a:t>
            </a:r>
            <a:r>
              <a:rPr b="1" lang="en" sz="1100">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383" name="Google Shape;383;p45"/>
          <p:cNvSpPr/>
          <p:nvPr/>
        </p:nvSpPr>
        <p:spPr>
          <a:xfrm>
            <a:off x="2980000" y="1551929"/>
            <a:ext cx="10656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84" name="Google Shape;384;p45"/>
          <p:cNvCxnSpPr>
            <a:stCxn id="382" idx="3"/>
            <a:endCxn id="383" idx="1"/>
          </p:cNvCxnSpPr>
          <p:nvPr/>
        </p:nvCxnSpPr>
        <p:spPr>
          <a:xfrm flipH="1" rot="10800000">
            <a:off x="2398350" y="1661404"/>
            <a:ext cx="581700" cy="298500"/>
          </a:xfrm>
          <a:prstGeom prst="bentConnector3">
            <a:avLst>
              <a:gd fmla="val 49996" name="adj1"/>
            </a:avLst>
          </a:prstGeom>
          <a:noFill/>
          <a:ln cap="flat" cmpd="sng" w="19050">
            <a:solidFill>
              <a:srgbClr val="FF0000"/>
            </a:solidFill>
            <a:prstDash val="solid"/>
            <a:round/>
            <a:headEnd len="med" w="med" type="none"/>
            <a:tailEnd len="med" w="med" type="none"/>
          </a:ln>
        </p:spPr>
      </p:cxnSp>
      <p:sp>
        <p:nvSpPr>
          <p:cNvPr id="385" name="Google Shape;385;p45"/>
          <p:cNvSpPr txBox="1"/>
          <p:nvPr/>
        </p:nvSpPr>
        <p:spPr>
          <a:xfrm>
            <a:off x="115050" y="24672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Each recognized value forms a different </a:t>
            </a:r>
            <a:r>
              <a:rPr b="1" lang="en" sz="1100">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386" name="Google Shape;386;p45"/>
          <p:cNvSpPr/>
          <p:nvPr/>
        </p:nvSpPr>
        <p:spPr>
          <a:xfrm>
            <a:off x="3250815" y="1734198"/>
            <a:ext cx="11136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87" name="Google Shape;387;p45"/>
          <p:cNvSpPr/>
          <p:nvPr/>
        </p:nvSpPr>
        <p:spPr>
          <a:xfrm>
            <a:off x="3239275" y="2278221"/>
            <a:ext cx="12072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88" name="Google Shape;388;p45"/>
          <p:cNvSpPr/>
          <p:nvPr/>
        </p:nvSpPr>
        <p:spPr>
          <a:xfrm>
            <a:off x="3239277" y="2831346"/>
            <a:ext cx="13710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89" name="Google Shape;389;p45"/>
          <p:cNvSpPr/>
          <p:nvPr/>
        </p:nvSpPr>
        <p:spPr>
          <a:xfrm>
            <a:off x="3241717" y="3011058"/>
            <a:ext cx="12774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90" name="Google Shape;390;p45"/>
          <p:cNvSpPr/>
          <p:nvPr/>
        </p:nvSpPr>
        <p:spPr>
          <a:xfrm>
            <a:off x="3250815" y="3545980"/>
            <a:ext cx="11136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91" name="Google Shape;391;p45"/>
          <p:cNvCxnSpPr>
            <a:stCxn id="385" idx="3"/>
            <a:endCxn id="386" idx="1"/>
          </p:cNvCxnSpPr>
          <p:nvPr/>
        </p:nvCxnSpPr>
        <p:spPr>
          <a:xfrm flipH="1" rot="10800000">
            <a:off x="2398350" y="1843554"/>
            <a:ext cx="852600" cy="885300"/>
          </a:xfrm>
          <a:prstGeom prst="bentConnector3">
            <a:avLst>
              <a:gd fmla="val 61811" name="adj1"/>
            </a:avLst>
          </a:prstGeom>
          <a:noFill/>
          <a:ln cap="flat" cmpd="sng" w="19050">
            <a:solidFill>
              <a:srgbClr val="FF0000"/>
            </a:solidFill>
            <a:prstDash val="solid"/>
            <a:round/>
            <a:headEnd len="med" w="med" type="none"/>
            <a:tailEnd len="med" w="med" type="none"/>
          </a:ln>
        </p:spPr>
      </p:cxnSp>
      <p:cxnSp>
        <p:nvCxnSpPr>
          <p:cNvPr id="392" name="Google Shape;392;p45"/>
          <p:cNvCxnSpPr>
            <a:endCxn id="387" idx="1"/>
          </p:cNvCxnSpPr>
          <p:nvPr/>
        </p:nvCxnSpPr>
        <p:spPr>
          <a:xfrm flipH="1" rot="10800000">
            <a:off x="2415475" y="2387571"/>
            <a:ext cx="823800" cy="357600"/>
          </a:xfrm>
          <a:prstGeom prst="bentConnector3">
            <a:avLst>
              <a:gd fmla="val 61893" name="adj1"/>
            </a:avLst>
          </a:prstGeom>
          <a:noFill/>
          <a:ln cap="flat" cmpd="sng" w="19050">
            <a:solidFill>
              <a:srgbClr val="FF0000"/>
            </a:solidFill>
            <a:prstDash val="solid"/>
            <a:round/>
            <a:headEnd len="med" w="med" type="none"/>
            <a:tailEnd len="med" w="med" type="none"/>
          </a:ln>
        </p:spPr>
      </p:cxnSp>
      <p:cxnSp>
        <p:nvCxnSpPr>
          <p:cNvPr id="393" name="Google Shape;393;p45"/>
          <p:cNvCxnSpPr>
            <a:stCxn id="385" idx="3"/>
            <a:endCxn id="388" idx="1"/>
          </p:cNvCxnSpPr>
          <p:nvPr/>
        </p:nvCxnSpPr>
        <p:spPr>
          <a:xfrm>
            <a:off x="2398350" y="2728854"/>
            <a:ext cx="840900" cy="211800"/>
          </a:xfrm>
          <a:prstGeom prst="bentConnector3">
            <a:avLst>
              <a:gd fmla="val 62671" name="adj1"/>
            </a:avLst>
          </a:prstGeom>
          <a:noFill/>
          <a:ln cap="flat" cmpd="sng" w="19050">
            <a:solidFill>
              <a:srgbClr val="FF0000"/>
            </a:solidFill>
            <a:prstDash val="solid"/>
            <a:round/>
            <a:headEnd len="med" w="med" type="none"/>
            <a:tailEnd len="med" w="med" type="none"/>
          </a:ln>
        </p:spPr>
      </p:cxnSp>
      <p:cxnSp>
        <p:nvCxnSpPr>
          <p:cNvPr id="394" name="Google Shape;394;p45"/>
          <p:cNvCxnSpPr>
            <a:stCxn id="385" idx="3"/>
            <a:endCxn id="389" idx="1"/>
          </p:cNvCxnSpPr>
          <p:nvPr/>
        </p:nvCxnSpPr>
        <p:spPr>
          <a:xfrm>
            <a:off x="2398350" y="2728854"/>
            <a:ext cx="843300" cy="391500"/>
          </a:xfrm>
          <a:prstGeom prst="bentConnector3">
            <a:avLst>
              <a:gd fmla="val 62493" name="adj1"/>
            </a:avLst>
          </a:prstGeom>
          <a:noFill/>
          <a:ln cap="flat" cmpd="sng" w="19050">
            <a:solidFill>
              <a:srgbClr val="FF0000"/>
            </a:solidFill>
            <a:prstDash val="solid"/>
            <a:round/>
            <a:headEnd len="med" w="med" type="none"/>
            <a:tailEnd len="med" w="med" type="none"/>
          </a:ln>
        </p:spPr>
      </p:cxnSp>
      <p:cxnSp>
        <p:nvCxnSpPr>
          <p:cNvPr id="395" name="Google Shape;395;p45"/>
          <p:cNvCxnSpPr>
            <a:stCxn id="385" idx="3"/>
            <a:endCxn id="390" idx="1"/>
          </p:cNvCxnSpPr>
          <p:nvPr/>
        </p:nvCxnSpPr>
        <p:spPr>
          <a:xfrm>
            <a:off x="2398350" y="2728854"/>
            <a:ext cx="852600" cy="926400"/>
          </a:xfrm>
          <a:prstGeom prst="bentConnector3">
            <a:avLst>
              <a:gd fmla="val 61811" name="adj1"/>
            </a:avLst>
          </a:prstGeom>
          <a:noFill/>
          <a:ln cap="flat" cmpd="sng" w="19050">
            <a:solidFill>
              <a:srgbClr val="FF0000"/>
            </a:solidFill>
            <a:prstDash val="solid"/>
            <a:round/>
            <a:headEnd len="med" w="med" type="none"/>
            <a:tailEnd len="med" w="med" type="none"/>
          </a:ln>
        </p:spPr>
      </p:cxnSp>
      <p:sp>
        <p:nvSpPr>
          <p:cNvPr id="396" name="Google Shape;396;p45"/>
          <p:cNvSpPr txBox="1"/>
          <p:nvPr/>
        </p:nvSpPr>
        <p:spPr>
          <a:xfrm>
            <a:off x="115050" y="321400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397" name="Google Shape;397;p45"/>
          <p:cNvSpPr txBox="1"/>
          <p:nvPr/>
        </p:nvSpPr>
        <p:spPr>
          <a:xfrm>
            <a:off x="115050" y="4106139"/>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398" name="Google Shape;398;p45"/>
          <p:cNvSpPr/>
          <p:nvPr/>
        </p:nvSpPr>
        <p:spPr>
          <a:xfrm>
            <a:off x="3250821" y="4080900"/>
            <a:ext cx="7128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99" name="Google Shape;399;p45"/>
          <p:cNvCxnSpPr>
            <a:stCxn id="396" idx="3"/>
            <a:endCxn id="398" idx="1"/>
          </p:cNvCxnSpPr>
          <p:nvPr/>
        </p:nvCxnSpPr>
        <p:spPr>
          <a:xfrm>
            <a:off x="2398350" y="3560354"/>
            <a:ext cx="852600" cy="630000"/>
          </a:xfrm>
          <a:prstGeom prst="bentConnector3">
            <a:avLst>
              <a:gd fmla="val 61811" name="adj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4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Statement</a:t>
            </a:r>
            <a:endParaRPr/>
          </a:p>
        </p:txBody>
      </p:sp>
      <p:sp>
        <p:nvSpPr>
          <p:cNvPr id="406" name="Google Shape;406;p46"/>
          <p:cNvSpPr txBox="1"/>
          <p:nvPr>
            <p:ph idx="2" type="body"/>
          </p:nvPr>
        </p:nvSpPr>
        <p:spPr>
          <a:xfrm>
            <a:off x="2668975" y="1468554"/>
            <a:ext cx="3757800" cy="3416700"/>
          </a:xfrm>
          <a:prstGeom prst="rect">
            <a:avLst/>
          </a:prstGeom>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07" name="Google Shape;407;p46"/>
          <p:cNvSpPr txBox="1"/>
          <p:nvPr/>
        </p:nvSpPr>
        <p:spPr>
          <a:xfrm>
            <a:off x="115050" y="161355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switch</a:t>
            </a:r>
            <a:r>
              <a:rPr b="1" lang="en" sz="1100">
                <a:latin typeface="Roboto"/>
                <a:ea typeface="Roboto"/>
                <a:cs typeface="Roboto"/>
                <a:sym typeface="Roboto"/>
              </a:rPr>
              <a:t> </a:t>
            </a:r>
            <a:r>
              <a:rPr lang="en" sz="1100">
                <a:latin typeface="Roboto"/>
                <a:ea typeface="Roboto"/>
                <a:cs typeface="Roboto"/>
                <a:sym typeface="Roboto"/>
              </a:rPr>
              <a:t>statement compares against a </a:t>
            </a:r>
            <a:r>
              <a:rPr b="1" lang="en" sz="1100">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08" name="Google Shape;408;p46"/>
          <p:cNvSpPr txBox="1"/>
          <p:nvPr/>
        </p:nvSpPr>
        <p:spPr>
          <a:xfrm>
            <a:off x="6697400" y="16135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09" name="Google Shape;409;p46"/>
          <p:cNvSpPr txBox="1"/>
          <p:nvPr/>
        </p:nvSpPr>
        <p:spPr>
          <a:xfrm>
            <a:off x="115050" y="24672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Each recognized value forms a different </a:t>
            </a:r>
            <a:r>
              <a:rPr b="1" lang="en" sz="1100">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10" name="Google Shape;410;p46"/>
          <p:cNvSpPr txBox="1"/>
          <p:nvPr/>
        </p:nvSpPr>
        <p:spPr>
          <a:xfrm>
            <a:off x="6697400" y="22344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Instead they use a </a:t>
            </a:r>
            <a:r>
              <a:rPr b="1" lang="en" sz="1100">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b="1" lang="en" sz="1100">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b="1" lang="en" sz="1100">
                <a:solidFill>
                  <a:srgbClr val="FF0000"/>
                </a:solidFill>
                <a:latin typeface="Roboto"/>
                <a:ea typeface="Roboto"/>
                <a:cs typeface="Roboto"/>
                <a:sym typeface="Roboto"/>
              </a:rPr>
              <a:t>start </a:t>
            </a:r>
            <a:r>
              <a:rPr lang="en" sz="1100">
                <a:latin typeface="Roboto"/>
                <a:ea typeface="Roboto"/>
                <a:cs typeface="Roboto"/>
                <a:sym typeface="Roboto"/>
              </a:rPr>
              <a:t>and </a:t>
            </a:r>
            <a:r>
              <a:rPr b="1" lang="en" sz="1100">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11" name="Google Shape;411;p46"/>
          <p:cNvSpPr/>
          <p:nvPr/>
        </p:nvSpPr>
        <p:spPr>
          <a:xfrm>
            <a:off x="4343220" y="1734211"/>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2" name="Google Shape;412;p46"/>
          <p:cNvSpPr/>
          <p:nvPr/>
        </p:nvSpPr>
        <p:spPr>
          <a:xfrm>
            <a:off x="3490017" y="2087554"/>
            <a:ext cx="5487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3" name="Google Shape;413;p46"/>
          <p:cNvSpPr/>
          <p:nvPr/>
        </p:nvSpPr>
        <p:spPr>
          <a:xfrm>
            <a:off x="4425268" y="2282766"/>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4" name="Google Shape;414;p46"/>
          <p:cNvSpPr/>
          <p:nvPr/>
        </p:nvSpPr>
        <p:spPr>
          <a:xfrm>
            <a:off x="3481871" y="2644874"/>
            <a:ext cx="5487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5" name="Google Shape;415;p46"/>
          <p:cNvSpPr/>
          <p:nvPr/>
        </p:nvSpPr>
        <p:spPr>
          <a:xfrm>
            <a:off x="4586775" y="2826792"/>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6" name="Google Shape;416;p46"/>
          <p:cNvSpPr/>
          <p:nvPr/>
        </p:nvSpPr>
        <p:spPr>
          <a:xfrm>
            <a:off x="4511486" y="3006514"/>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7" name="Google Shape;417;p46"/>
          <p:cNvSpPr/>
          <p:nvPr/>
        </p:nvSpPr>
        <p:spPr>
          <a:xfrm>
            <a:off x="4345121" y="3550540"/>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8" name="Google Shape;418;p46"/>
          <p:cNvSpPr/>
          <p:nvPr/>
        </p:nvSpPr>
        <p:spPr>
          <a:xfrm>
            <a:off x="3479443" y="3361943"/>
            <a:ext cx="5487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9" name="Google Shape;419;p46"/>
          <p:cNvSpPr/>
          <p:nvPr/>
        </p:nvSpPr>
        <p:spPr>
          <a:xfrm>
            <a:off x="3486122" y="3905969"/>
            <a:ext cx="5487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420" name="Google Shape;420;p46"/>
          <p:cNvCxnSpPr>
            <a:stCxn id="410" idx="1"/>
            <a:endCxn id="411" idx="3"/>
          </p:cNvCxnSpPr>
          <p:nvPr/>
        </p:nvCxnSpPr>
        <p:spPr>
          <a:xfrm rot="10800000">
            <a:off x="4460600" y="1843554"/>
            <a:ext cx="2236800" cy="652500"/>
          </a:xfrm>
          <a:prstGeom prst="bentConnector3">
            <a:avLst>
              <a:gd fmla="val 37504" name="adj1"/>
            </a:avLst>
          </a:prstGeom>
          <a:noFill/>
          <a:ln cap="flat" cmpd="sng" w="19050">
            <a:solidFill>
              <a:srgbClr val="FF0000"/>
            </a:solidFill>
            <a:prstDash val="solid"/>
            <a:round/>
            <a:headEnd len="med" w="med" type="none"/>
            <a:tailEnd len="med" w="med" type="none"/>
          </a:ln>
        </p:spPr>
      </p:cxnSp>
      <p:cxnSp>
        <p:nvCxnSpPr>
          <p:cNvPr id="421" name="Google Shape;421;p46"/>
          <p:cNvCxnSpPr>
            <a:stCxn id="410" idx="1"/>
            <a:endCxn id="412" idx="3"/>
          </p:cNvCxnSpPr>
          <p:nvPr/>
        </p:nvCxnSpPr>
        <p:spPr>
          <a:xfrm rot="10800000">
            <a:off x="4038800" y="2196954"/>
            <a:ext cx="2658600" cy="299100"/>
          </a:xfrm>
          <a:prstGeom prst="bentConnector3">
            <a:avLst>
              <a:gd fmla="val 31573" name="adj1"/>
            </a:avLst>
          </a:prstGeom>
          <a:noFill/>
          <a:ln cap="flat" cmpd="sng" w="19050">
            <a:solidFill>
              <a:srgbClr val="FF0000"/>
            </a:solidFill>
            <a:prstDash val="solid"/>
            <a:round/>
            <a:headEnd len="med" w="med" type="none"/>
            <a:tailEnd len="med" w="med" type="none"/>
          </a:ln>
        </p:spPr>
      </p:cxnSp>
      <p:cxnSp>
        <p:nvCxnSpPr>
          <p:cNvPr id="422" name="Google Shape;422;p46"/>
          <p:cNvCxnSpPr>
            <a:stCxn id="410" idx="1"/>
            <a:endCxn id="413" idx="3"/>
          </p:cNvCxnSpPr>
          <p:nvPr/>
        </p:nvCxnSpPr>
        <p:spPr>
          <a:xfrm rot="10800000">
            <a:off x="4542500" y="2392254"/>
            <a:ext cx="2154900" cy="103800"/>
          </a:xfrm>
          <a:prstGeom prst="bentConnector3">
            <a:avLst>
              <a:gd fmla="val 39257" name="adj1"/>
            </a:avLst>
          </a:prstGeom>
          <a:noFill/>
          <a:ln cap="flat" cmpd="sng" w="19050">
            <a:solidFill>
              <a:srgbClr val="FF0000"/>
            </a:solidFill>
            <a:prstDash val="solid"/>
            <a:round/>
            <a:headEnd len="med" w="med" type="none"/>
            <a:tailEnd len="med" w="med" type="none"/>
          </a:ln>
        </p:spPr>
      </p:cxnSp>
      <p:cxnSp>
        <p:nvCxnSpPr>
          <p:cNvPr id="423" name="Google Shape;423;p46"/>
          <p:cNvCxnSpPr>
            <a:stCxn id="410" idx="1"/>
            <a:endCxn id="414" idx="3"/>
          </p:cNvCxnSpPr>
          <p:nvPr/>
        </p:nvCxnSpPr>
        <p:spPr>
          <a:xfrm flipH="1">
            <a:off x="4030700" y="2496054"/>
            <a:ext cx="2666700" cy="258300"/>
          </a:xfrm>
          <a:prstGeom prst="bentConnector3">
            <a:avLst>
              <a:gd fmla="val 31477" name="adj1"/>
            </a:avLst>
          </a:prstGeom>
          <a:noFill/>
          <a:ln cap="flat" cmpd="sng" w="19050">
            <a:solidFill>
              <a:srgbClr val="FF0000"/>
            </a:solidFill>
            <a:prstDash val="solid"/>
            <a:round/>
            <a:headEnd len="med" w="med" type="none"/>
            <a:tailEnd len="med" w="med" type="none"/>
          </a:ln>
        </p:spPr>
      </p:cxnSp>
      <p:cxnSp>
        <p:nvCxnSpPr>
          <p:cNvPr id="424" name="Google Shape;424;p46"/>
          <p:cNvCxnSpPr>
            <a:stCxn id="410" idx="1"/>
            <a:endCxn id="415" idx="3"/>
          </p:cNvCxnSpPr>
          <p:nvPr/>
        </p:nvCxnSpPr>
        <p:spPr>
          <a:xfrm flipH="1">
            <a:off x="4704200" y="2496054"/>
            <a:ext cx="1993200" cy="440100"/>
          </a:xfrm>
          <a:prstGeom prst="bentConnector3">
            <a:avLst>
              <a:gd fmla="val 42442" name="adj1"/>
            </a:avLst>
          </a:prstGeom>
          <a:noFill/>
          <a:ln cap="flat" cmpd="sng" w="19050">
            <a:solidFill>
              <a:srgbClr val="FF0000"/>
            </a:solidFill>
            <a:prstDash val="solid"/>
            <a:round/>
            <a:headEnd len="med" w="med" type="none"/>
            <a:tailEnd len="med" w="med" type="none"/>
          </a:ln>
        </p:spPr>
      </p:cxnSp>
      <p:cxnSp>
        <p:nvCxnSpPr>
          <p:cNvPr id="425" name="Google Shape;425;p46"/>
          <p:cNvCxnSpPr>
            <a:stCxn id="410" idx="1"/>
            <a:endCxn id="416" idx="3"/>
          </p:cNvCxnSpPr>
          <p:nvPr/>
        </p:nvCxnSpPr>
        <p:spPr>
          <a:xfrm flipH="1">
            <a:off x="4628900" y="2496054"/>
            <a:ext cx="2068500" cy="619800"/>
          </a:xfrm>
          <a:prstGeom prst="bentConnector3">
            <a:avLst>
              <a:gd fmla="val 40556" name="adj1"/>
            </a:avLst>
          </a:prstGeom>
          <a:noFill/>
          <a:ln cap="flat" cmpd="sng" w="19050">
            <a:solidFill>
              <a:srgbClr val="FF0000"/>
            </a:solidFill>
            <a:prstDash val="solid"/>
            <a:round/>
            <a:headEnd len="med" w="med" type="none"/>
            <a:tailEnd len="med" w="med" type="none"/>
          </a:ln>
        </p:spPr>
      </p:cxnSp>
      <p:cxnSp>
        <p:nvCxnSpPr>
          <p:cNvPr id="426" name="Google Shape;426;p46"/>
          <p:cNvCxnSpPr>
            <a:stCxn id="410" idx="1"/>
            <a:endCxn id="418" idx="3"/>
          </p:cNvCxnSpPr>
          <p:nvPr/>
        </p:nvCxnSpPr>
        <p:spPr>
          <a:xfrm flipH="1">
            <a:off x="4028000" y="2496054"/>
            <a:ext cx="2669400" cy="975300"/>
          </a:xfrm>
          <a:prstGeom prst="bentConnector3">
            <a:avLst>
              <a:gd fmla="val 31445" name="adj1"/>
            </a:avLst>
          </a:prstGeom>
          <a:noFill/>
          <a:ln cap="flat" cmpd="sng" w="19050">
            <a:solidFill>
              <a:srgbClr val="FF0000"/>
            </a:solidFill>
            <a:prstDash val="solid"/>
            <a:round/>
            <a:headEnd len="med" w="med" type="none"/>
            <a:tailEnd len="med" w="med" type="none"/>
          </a:ln>
        </p:spPr>
      </p:cxnSp>
      <p:cxnSp>
        <p:nvCxnSpPr>
          <p:cNvPr id="427" name="Google Shape;427;p46"/>
          <p:cNvCxnSpPr>
            <a:stCxn id="410" idx="1"/>
            <a:endCxn id="417" idx="3"/>
          </p:cNvCxnSpPr>
          <p:nvPr/>
        </p:nvCxnSpPr>
        <p:spPr>
          <a:xfrm flipH="1">
            <a:off x="4462400" y="2496054"/>
            <a:ext cx="2235000" cy="1163700"/>
          </a:xfrm>
          <a:prstGeom prst="bentConnector3">
            <a:avLst>
              <a:gd fmla="val 37850" name="adj1"/>
            </a:avLst>
          </a:prstGeom>
          <a:noFill/>
          <a:ln cap="flat" cmpd="sng" w="19050">
            <a:solidFill>
              <a:srgbClr val="FF0000"/>
            </a:solidFill>
            <a:prstDash val="solid"/>
            <a:round/>
            <a:headEnd len="med" w="med" type="none"/>
            <a:tailEnd len="med" w="med" type="none"/>
          </a:ln>
        </p:spPr>
      </p:cxnSp>
      <p:cxnSp>
        <p:nvCxnSpPr>
          <p:cNvPr id="428" name="Google Shape;428;p46"/>
          <p:cNvCxnSpPr>
            <a:stCxn id="410" idx="1"/>
            <a:endCxn id="419" idx="3"/>
          </p:cNvCxnSpPr>
          <p:nvPr/>
        </p:nvCxnSpPr>
        <p:spPr>
          <a:xfrm flipH="1">
            <a:off x="4034900" y="2496054"/>
            <a:ext cx="2662500" cy="1519200"/>
          </a:xfrm>
          <a:prstGeom prst="bentConnector3">
            <a:avLst>
              <a:gd fmla="val 31869" name="adj1"/>
            </a:avLst>
          </a:prstGeom>
          <a:noFill/>
          <a:ln cap="flat" cmpd="sng" w="19050">
            <a:solidFill>
              <a:srgbClr val="FF0000"/>
            </a:solidFill>
            <a:prstDash val="solid"/>
            <a:round/>
            <a:headEnd len="med" w="med" type="none"/>
            <a:tailEnd len="med" w="med" type="none"/>
          </a:ln>
        </p:spPr>
      </p:cxnSp>
      <p:sp>
        <p:nvSpPr>
          <p:cNvPr id="429" name="Google Shape;429;p46"/>
          <p:cNvSpPr txBox="1"/>
          <p:nvPr/>
        </p:nvSpPr>
        <p:spPr>
          <a:xfrm>
            <a:off x="115050" y="321400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30" name="Google Shape;430;p46"/>
          <p:cNvSpPr txBox="1"/>
          <p:nvPr/>
        </p:nvSpPr>
        <p:spPr>
          <a:xfrm>
            <a:off x="115050" y="4106139"/>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4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Statement</a:t>
            </a:r>
            <a:endParaRPr/>
          </a:p>
        </p:txBody>
      </p:sp>
      <p:sp>
        <p:nvSpPr>
          <p:cNvPr id="437" name="Google Shape;437;p47"/>
          <p:cNvSpPr txBox="1"/>
          <p:nvPr>
            <p:ph idx="2" type="body"/>
          </p:nvPr>
        </p:nvSpPr>
        <p:spPr>
          <a:xfrm>
            <a:off x="2668975" y="1468554"/>
            <a:ext cx="3757800" cy="3416700"/>
          </a:xfrm>
          <a:prstGeom prst="rect">
            <a:avLst/>
          </a:prstGeom>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38" name="Google Shape;438;p47"/>
          <p:cNvSpPr txBox="1"/>
          <p:nvPr/>
        </p:nvSpPr>
        <p:spPr>
          <a:xfrm>
            <a:off x="115050" y="161355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switch</a:t>
            </a:r>
            <a:r>
              <a:rPr b="1" lang="en" sz="1100">
                <a:latin typeface="Roboto"/>
                <a:ea typeface="Roboto"/>
                <a:cs typeface="Roboto"/>
                <a:sym typeface="Roboto"/>
              </a:rPr>
              <a:t> </a:t>
            </a:r>
            <a:r>
              <a:rPr lang="en" sz="1100">
                <a:latin typeface="Roboto"/>
                <a:ea typeface="Roboto"/>
                <a:cs typeface="Roboto"/>
                <a:sym typeface="Roboto"/>
              </a:rPr>
              <a:t>statement compares against a </a:t>
            </a:r>
            <a:r>
              <a:rPr b="1" lang="en" sz="1100">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39" name="Google Shape;439;p47"/>
          <p:cNvSpPr txBox="1"/>
          <p:nvPr/>
        </p:nvSpPr>
        <p:spPr>
          <a:xfrm>
            <a:off x="6697400" y="16135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40" name="Google Shape;440;p47"/>
          <p:cNvSpPr txBox="1"/>
          <p:nvPr/>
        </p:nvSpPr>
        <p:spPr>
          <a:xfrm>
            <a:off x="115050" y="24672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Each recognized value forms a different </a:t>
            </a:r>
            <a:r>
              <a:rPr b="1" lang="en" sz="1100">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41" name="Google Shape;441;p47"/>
          <p:cNvSpPr txBox="1"/>
          <p:nvPr/>
        </p:nvSpPr>
        <p:spPr>
          <a:xfrm>
            <a:off x="6697400" y="22344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Instead they use a </a:t>
            </a:r>
            <a:r>
              <a:rPr b="1" lang="en" sz="1100">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b="1" lang="en" sz="1100">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b="1" lang="en" sz="1100">
                <a:solidFill>
                  <a:srgbClr val="FF0000"/>
                </a:solidFill>
                <a:latin typeface="Roboto"/>
                <a:ea typeface="Roboto"/>
                <a:cs typeface="Roboto"/>
                <a:sym typeface="Roboto"/>
              </a:rPr>
              <a:t>start </a:t>
            </a:r>
            <a:r>
              <a:rPr lang="en" sz="1100">
                <a:latin typeface="Roboto"/>
                <a:ea typeface="Roboto"/>
                <a:cs typeface="Roboto"/>
                <a:sym typeface="Roboto"/>
              </a:rPr>
              <a:t>and </a:t>
            </a:r>
            <a:r>
              <a:rPr b="1" lang="en" sz="1100">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42" name="Google Shape;442;p47"/>
          <p:cNvSpPr/>
          <p:nvPr/>
        </p:nvSpPr>
        <p:spPr>
          <a:xfrm>
            <a:off x="4586775" y="2826792"/>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43" name="Google Shape;443;p47"/>
          <p:cNvSpPr/>
          <p:nvPr/>
        </p:nvSpPr>
        <p:spPr>
          <a:xfrm>
            <a:off x="4511486" y="3006514"/>
            <a:ext cx="117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44" name="Google Shape;444;p47"/>
          <p:cNvSpPr/>
          <p:nvPr/>
        </p:nvSpPr>
        <p:spPr>
          <a:xfrm>
            <a:off x="3479443" y="3361943"/>
            <a:ext cx="5487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445" name="Google Shape;445;p47"/>
          <p:cNvCxnSpPr>
            <a:stCxn id="446" idx="1"/>
            <a:endCxn id="442" idx="3"/>
          </p:cNvCxnSpPr>
          <p:nvPr/>
        </p:nvCxnSpPr>
        <p:spPr>
          <a:xfrm rot="10800000">
            <a:off x="4704200" y="2936154"/>
            <a:ext cx="1993200" cy="314400"/>
          </a:xfrm>
          <a:prstGeom prst="bentConnector3">
            <a:avLst>
              <a:gd fmla="val 33227" name="adj1"/>
            </a:avLst>
          </a:prstGeom>
          <a:noFill/>
          <a:ln cap="flat" cmpd="sng" w="19050">
            <a:solidFill>
              <a:srgbClr val="FF0000"/>
            </a:solidFill>
            <a:prstDash val="solid"/>
            <a:round/>
            <a:headEnd len="med" w="med" type="none"/>
            <a:tailEnd len="med" w="med" type="none"/>
          </a:ln>
        </p:spPr>
      </p:cxnSp>
      <p:cxnSp>
        <p:nvCxnSpPr>
          <p:cNvPr id="447" name="Google Shape;447;p47"/>
          <p:cNvCxnSpPr>
            <a:stCxn id="446" idx="1"/>
            <a:endCxn id="443" idx="3"/>
          </p:cNvCxnSpPr>
          <p:nvPr/>
        </p:nvCxnSpPr>
        <p:spPr>
          <a:xfrm rot="10800000">
            <a:off x="4628900" y="3115854"/>
            <a:ext cx="2068500" cy="134700"/>
          </a:xfrm>
          <a:prstGeom prst="bentConnector3">
            <a:avLst>
              <a:gd fmla="val 32017" name="adj1"/>
            </a:avLst>
          </a:prstGeom>
          <a:noFill/>
          <a:ln cap="flat" cmpd="sng" w="19050">
            <a:solidFill>
              <a:srgbClr val="FF0000"/>
            </a:solidFill>
            <a:prstDash val="solid"/>
            <a:round/>
            <a:headEnd len="med" w="med" type="none"/>
            <a:tailEnd len="med" w="med" type="none"/>
          </a:ln>
        </p:spPr>
      </p:cxnSp>
      <p:cxnSp>
        <p:nvCxnSpPr>
          <p:cNvPr id="448" name="Google Shape;448;p47"/>
          <p:cNvCxnSpPr>
            <a:stCxn id="446" idx="1"/>
            <a:endCxn id="444" idx="3"/>
          </p:cNvCxnSpPr>
          <p:nvPr/>
        </p:nvCxnSpPr>
        <p:spPr>
          <a:xfrm flipH="1">
            <a:off x="4028000" y="3250554"/>
            <a:ext cx="2669400" cy="220800"/>
          </a:xfrm>
          <a:prstGeom prst="bentConnector3">
            <a:avLst>
              <a:gd fmla="val 24810" name="adj1"/>
            </a:avLst>
          </a:prstGeom>
          <a:noFill/>
          <a:ln cap="flat" cmpd="sng" w="19050">
            <a:solidFill>
              <a:srgbClr val="FF0000"/>
            </a:solidFill>
            <a:prstDash val="solid"/>
            <a:round/>
            <a:headEnd len="med" w="med" type="none"/>
            <a:tailEnd len="med" w="med" type="none"/>
          </a:ln>
        </p:spPr>
      </p:cxnSp>
      <p:sp>
        <p:nvSpPr>
          <p:cNvPr id="449" name="Google Shape;449;p47"/>
          <p:cNvSpPr txBox="1"/>
          <p:nvPr/>
        </p:nvSpPr>
        <p:spPr>
          <a:xfrm>
            <a:off x="115050" y="321400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50" name="Google Shape;450;p47"/>
          <p:cNvSpPr txBox="1"/>
          <p:nvPr/>
        </p:nvSpPr>
        <p:spPr>
          <a:xfrm>
            <a:off x="115050" y="4106139"/>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446" name="Google Shape;446;p47"/>
          <p:cNvSpPr txBox="1"/>
          <p:nvPr/>
        </p:nvSpPr>
        <p:spPr>
          <a:xfrm>
            <a:off x="6697400" y="290420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Without the </a:t>
            </a:r>
            <a:r>
              <a:rPr b="1" lang="en" sz="1100">
                <a:solidFill>
                  <a:srgbClr val="FF0000"/>
                </a:solidFill>
                <a:latin typeface="Courier New"/>
                <a:ea typeface="Courier New"/>
                <a:cs typeface="Courier New"/>
                <a:sym typeface="Courier New"/>
              </a:rPr>
              <a:t>break</a:t>
            </a:r>
            <a:r>
              <a:rPr lang="en" sz="1100">
                <a:latin typeface="Roboto"/>
                <a:ea typeface="Roboto"/>
                <a:cs typeface="Roboto"/>
                <a:sym typeface="Roboto"/>
              </a:rPr>
              <a:t> statement the code executes any following cases until it reaches a </a:t>
            </a:r>
            <a:r>
              <a:rPr lang="en" sz="1100">
                <a:latin typeface="Courier New"/>
                <a:ea typeface="Courier New"/>
                <a:cs typeface="Courier New"/>
                <a:sym typeface="Courier New"/>
              </a:rPr>
              <a:t>break</a:t>
            </a:r>
            <a:r>
              <a:rPr lang="en" sz="1100">
                <a:latin typeface="Roboto"/>
                <a:ea typeface="Roboto"/>
                <a:cs typeface="Roboto"/>
                <a:sym typeface="Roboto"/>
              </a:rPr>
              <a:t>.</a:t>
            </a:r>
            <a:endParaRPr sz="1100">
              <a:latin typeface="Roboto"/>
              <a:ea typeface="Roboto"/>
              <a:cs typeface="Roboto"/>
              <a:sym typeface="Roboto"/>
            </a:endParaRPr>
          </a:p>
        </p:txBody>
      </p:sp>
      <p:sp>
        <p:nvSpPr>
          <p:cNvPr id="451" name="Google Shape;451;p47"/>
          <p:cNvSpPr txBox="1"/>
          <p:nvPr/>
        </p:nvSpPr>
        <p:spPr>
          <a:xfrm>
            <a:off x="6697400" y="3729843"/>
            <a:ext cx="2283300" cy="354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This is known as a </a:t>
            </a:r>
            <a:r>
              <a:rPr b="1" lang="en" sz="1100">
                <a:solidFill>
                  <a:srgbClr val="FF0000"/>
                </a:solidFill>
                <a:latin typeface="Roboto"/>
                <a:ea typeface="Roboto"/>
                <a:cs typeface="Roboto"/>
                <a:sym typeface="Roboto"/>
              </a:rPr>
              <a:t>fallthrough</a:t>
            </a:r>
            <a:r>
              <a:rPr lang="en" sz="1100">
                <a:latin typeface="Roboto"/>
                <a:ea typeface="Roboto"/>
                <a:cs typeface="Roboto"/>
                <a:sym typeface="Roboto"/>
              </a:rPr>
              <a:t>.</a:t>
            </a:r>
            <a:endParaRPr sz="1100">
              <a:latin typeface="Roboto"/>
              <a:ea typeface="Roboto"/>
              <a:cs typeface="Roboto"/>
              <a:sym typeface="Roboto"/>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7" name="Google Shape;457;p4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Statement</a:t>
            </a:r>
            <a:endParaRPr/>
          </a:p>
        </p:txBody>
      </p:sp>
      <p:sp>
        <p:nvSpPr>
          <p:cNvPr id="458" name="Google Shape;458;p48"/>
          <p:cNvSpPr txBox="1"/>
          <p:nvPr>
            <p:ph idx="2" type="body"/>
          </p:nvPr>
        </p:nvSpPr>
        <p:spPr>
          <a:xfrm>
            <a:off x="2668975" y="1468554"/>
            <a:ext cx="3757800" cy="3416700"/>
          </a:xfrm>
          <a:prstGeom prst="rect">
            <a:avLst/>
          </a:prstGeom>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59" name="Google Shape;459;p48"/>
          <p:cNvSpPr txBox="1"/>
          <p:nvPr/>
        </p:nvSpPr>
        <p:spPr>
          <a:xfrm>
            <a:off x="115050" y="161355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switch</a:t>
            </a:r>
            <a:r>
              <a:rPr b="1" lang="en" sz="1100">
                <a:latin typeface="Roboto"/>
                <a:ea typeface="Roboto"/>
                <a:cs typeface="Roboto"/>
                <a:sym typeface="Roboto"/>
              </a:rPr>
              <a:t> </a:t>
            </a:r>
            <a:r>
              <a:rPr lang="en" sz="1100">
                <a:latin typeface="Roboto"/>
                <a:ea typeface="Roboto"/>
                <a:cs typeface="Roboto"/>
                <a:sym typeface="Roboto"/>
              </a:rPr>
              <a:t>statement compares against a </a:t>
            </a:r>
            <a:r>
              <a:rPr b="1" lang="en" sz="1100">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60" name="Google Shape;460;p48"/>
          <p:cNvSpPr txBox="1"/>
          <p:nvPr/>
        </p:nvSpPr>
        <p:spPr>
          <a:xfrm>
            <a:off x="6697400" y="16135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61" name="Google Shape;461;p48"/>
          <p:cNvSpPr txBox="1"/>
          <p:nvPr/>
        </p:nvSpPr>
        <p:spPr>
          <a:xfrm>
            <a:off x="115050" y="24672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Each recognized value forms a different </a:t>
            </a:r>
            <a:r>
              <a:rPr b="1" lang="en" sz="1100">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62" name="Google Shape;462;p48"/>
          <p:cNvSpPr txBox="1"/>
          <p:nvPr/>
        </p:nvSpPr>
        <p:spPr>
          <a:xfrm>
            <a:off x="6697400" y="2234454"/>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Instead they use a </a:t>
            </a:r>
            <a:r>
              <a:rPr b="1" lang="en" sz="1100">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b="1" lang="en" sz="1100">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b="1" lang="en" sz="1100">
                <a:solidFill>
                  <a:srgbClr val="FF0000"/>
                </a:solidFill>
                <a:latin typeface="Roboto"/>
                <a:ea typeface="Roboto"/>
                <a:cs typeface="Roboto"/>
                <a:sym typeface="Roboto"/>
              </a:rPr>
              <a:t>start </a:t>
            </a:r>
            <a:r>
              <a:rPr lang="en" sz="1100">
                <a:latin typeface="Roboto"/>
                <a:ea typeface="Roboto"/>
                <a:cs typeface="Roboto"/>
                <a:sym typeface="Roboto"/>
              </a:rPr>
              <a:t>and </a:t>
            </a:r>
            <a:r>
              <a:rPr b="1" lang="en" sz="1100">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63" name="Google Shape;463;p48"/>
          <p:cNvSpPr txBox="1"/>
          <p:nvPr/>
        </p:nvSpPr>
        <p:spPr>
          <a:xfrm>
            <a:off x="115050" y="321400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64" name="Google Shape;464;p48"/>
          <p:cNvSpPr txBox="1"/>
          <p:nvPr/>
        </p:nvSpPr>
        <p:spPr>
          <a:xfrm>
            <a:off x="115050" y="4106139"/>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a:t>
            </a:r>
            <a:r>
              <a:rPr b="1" lang="en" sz="1100">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465" name="Google Shape;465;p48"/>
          <p:cNvSpPr txBox="1"/>
          <p:nvPr/>
        </p:nvSpPr>
        <p:spPr>
          <a:xfrm>
            <a:off x="6697400" y="2904204"/>
            <a:ext cx="22833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Without the </a:t>
            </a:r>
            <a:r>
              <a:rPr b="1" lang="en" sz="1100">
                <a:solidFill>
                  <a:srgbClr val="FF0000"/>
                </a:solidFill>
                <a:latin typeface="Courier New"/>
                <a:ea typeface="Courier New"/>
                <a:cs typeface="Courier New"/>
                <a:sym typeface="Courier New"/>
              </a:rPr>
              <a:t>break</a:t>
            </a:r>
            <a:r>
              <a:rPr lang="en" sz="1100">
                <a:latin typeface="Roboto"/>
                <a:ea typeface="Roboto"/>
                <a:cs typeface="Roboto"/>
                <a:sym typeface="Roboto"/>
              </a:rPr>
              <a:t> statement the code executes any following cases until it reaches a </a:t>
            </a:r>
            <a:r>
              <a:rPr lang="en" sz="1100">
                <a:latin typeface="Courier New"/>
                <a:ea typeface="Courier New"/>
                <a:cs typeface="Courier New"/>
                <a:sym typeface="Courier New"/>
              </a:rPr>
              <a:t>break</a:t>
            </a:r>
            <a:r>
              <a:rPr lang="en" sz="1100">
                <a:latin typeface="Roboto"/>
                <a:ea typeface="Roboto"/>
                <a:cs typeface="Roboto"/>
                <a:sym typeface="Roboto"/>
              </a:rPr>
              <a:t>.</a:t>
            </a:r>
            <a:endParaRPr sz="1100">
              <a:latin typeface="Roboto"/>
              <a:ea typeface="Roboto"/>
              <a:cs typeface="Roboto"/>
              <a:sym typeface="Roboto"/>
            </a:endParaRPr>
          </a:p>
        </p:txBody>
      </p:sp>
      <p:sp>
        <p:nvSpPr>
          <p:cNvPr id="466" name="Google Shape;466;p48"/>
          <p:cNvSpPr txBox="1"/>
          <p:nvPr/>
        </p:nvSpPr>
        <p:spPr>
          <a:xfrm>
            <a:off x="6697400" y="3729843"/>
            <a:ext cx="2283300" cy="354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This is known as a </a:t>
            </a:r>
            <a:r>
              <a:rPr b="1" lang="en" sz="1100">
                <a:solidFill>
                  <a:srgbClr val="FF0000"/>
                </a:solidFill>
                <a:latin typeface="Roboto"/>
                <a:ea typeface="Roboto"/>
                <a:cs typeface="Roboto"/>
                <a:sym typeface="Roboto"/>
              </a:rPr>
              <a:t>fallthrough</a:t>
            </a:r>
            <a:r>
              <a:rPr lang="en" sz="1100">
                <a:latin typeface="Roboto"/>
                <a:ea typeface="Roboto"/>
                <a:cs typeface="Roboto"/>
                <a:sym typeface="Roboto"/>
              </a:rPr>
              <a:t>.</a:t>
            </a:r>
            <a:endParaRPr sz="1100">
              <a:latin typeface="Roboto"/>
              <a:ea typeface="Roboto"/>
              <a:cs typeface="Roboto"/>
              <a:sym typeface="Roboto"/>
            </a:endParaRPr>
          </a:p>
        </p:txBody>
      </p:sp>
      <p:sp>
        <p:nvSpPr>
          <p:cNvPr id="467" name="Google Shape;467;p48"/>
          <p:cNvSpPr txBox="1"/>
          <p:nvPr/>
        </p:nvSpPr>
        <p:spPr>
          <a:xfrm>
            <a:off x="6685864" y="4185942"/>
            <a:ext cx="22833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Execution code is located </a:t>
            </a:r>
            <a:r>
              <a:rPr b="1" lang="en" sz="1100">
                <a:solidFill>
                  <a:srgbClr val="FF0000"/>
                </a:solidFill>
                <a:latin typeface="Roboto"/>
                <a:ea typeface="Roboto"/>
                <a:cs typeface="Roboto"/>
                <a:sym typeface="Roboto"/>
              </a:rPr>
              <a:t>after </a:t>
            </a:r>
            <a:r>
              <a:rPr lang="en" sz="1100">
                <a:latin typeface="Roboto"/>
                <a:ea typeface="Roboto"/>
                <a:cs typeface="Roboto"/>
                <a:sym typeface="Roboto"/>
              </a:rPr>
              <a:t>each case statement.</a:t>
            </a:r>
            <a:endParaRPr sz="1100">
              <a:latin typeface="Roboto"/>
              <a:ea typeface="Roboto"/>
              <a:cs typeface="Roboto"/>
              <a:sym typeface="Roboto"/>
            </a:endParaRPr>
          </a:p>
        </p:txBody>
      </p:sp>
      <p:sp>
        <p:nvSpPr>
          <p:cNvPr id="468" name="Google Shape;468;p48"/>
          <p:cNvSpPr/>
          <p:nvPr/>
        </p:nvSpPr>
        <p:spPr>
          <a:xfrm>
            <a:off x="3493625" y="1910985"/>
            <a:ext cx="2283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69" name="Google Shape;469;p48"/>
          <p:cNvSpPr/>
          <p:nvPr/>
        </p:nvSpPr>
        <p:spPr>
          <a:xfrm>
            <a:off x="3486560" y="2455335"/>
            <a:ext cx="27960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70" name="Google Shape;470;p48"/>
          <p:cNvSpPr/>
          <p:nvPr/>
        </p:nvSpPr>
        <p:spPr>
          <a:xfrm>
            <a:off x="3486551" y="3180000"/>
            <a:ext cx="24639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71" name="Google Shape;471;p48"/>
          <p:cNvSpPr/>
          <p:nvPr/>
        </p:nvSpPr>
        <p:spPr>
          <a:xfrm>
            <a:off x="3486550" y="3722785"/>
            <a:ext cx="27393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72" name="Google Shape;472;p48"/>
          <p:cNvSpPr/>
          <p:nvPr/>
        </p:nvSpPr>
        <p:spPr>
          <a:xfrm>
            <a:off x="3486551" y="4265550"/>
            <a:ext cx="2555700" cy="21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473" name="Google Shape;473;p48"/>
          <p:cNvCxnSpPr>
            <a:stCxn id="467" idx="1"/>
            <a:endCxn id="468" idx="3"/>
          </p:cNvCxnSpPr>
          <p:nvPr/>
        </p:nvCxnSpPr>
        <p:spPr>
          <a:xfrm rot="10800000">
            <a:off x="5776864" y="2020242"/>
            <a:ext cx="909000" cy="2427300"/>
          </a:xfrm>
          <a:prstGeom prst="bentConnector3">
            <a:avLst>
              <a:gd fmla="val 22620" name="adj1"/>
            </a:avLst>
          </a:prstGeom>
          <a:noFill/>
          <a:ln cap="flat" cmpd="sng" w="19050">
            <a:solidFill>
              <a:srgbClr val="FF0000"/>
            </a:solidFill>
            <a:prstDash val="solid"/>
            <a:round/>
            <a:headEnd len="med" w="med" type="none"/>
            <a:tailEnd len="med" w="med" type="none"/>
          </a:ln>
        </p:spPr>
      </p:cxnSp>
      <p:cxnSp>
        <p:nvCxnSpPr>
          <p:cNvPr id="474" name="Google Shape;474;p48"/>
          <p:cNvCxnSpPr>
            <a:stCxn id="467" idx="1"/>
            <a:endCxn id="469" idx="3"/>
          </p:cNvCxnSpPr>
          <p:nvPr/>
        </p:nvCxnSpPr>
        <p:spPr>
          <a:xfrm rot="10800000">
            <a:off x="6282664" y="2564742"/>
            <a:ext cx="403200" cy="1882800"/>
          </a:xfrm>
          <a:prstGeom prst="bentConnector3">
            <a:avLst>
              <a:gd fmla="val 49247" name="adj1"/>
            </a:avLst>
          </a:prstGeom>
          <a:noFill/>
          <a:ln cap="flat" cmpd="sng" w="19050">
            <a:solidFill>
              <a:srgbClr val="FF0000"/>
            </a:solidFill>
            <a:prstDash val="solid"/>
            <a:round/>
            <a:headEnd len="med" w="med" type="none"/>
            <a:tailEnd len="med" w="med" type="none"/>
          </a:ln>
        </p:spPr>
      </p:cxnSp>
      <p:cxnSp>
        <p:nvCxnSpPr>
          <p:cNvPr id="475" name="Google Shape;475;p48"/>
          <p:cNvCxnSpPr>
            <a:stCxn id="467" idx="1"/>
            <a:endCxn id="471" idx="3"/>
          </p:cNvCxnSpPr>
          <p:nvPr/>
        </p:nvCxnSpPr>
        <p:spPr>
          <a:xfrm rot="10800000">
            <a:off x="6225964" y="3832242"/>
            <a:ext cx="459900" cy="615300"/>
          </a:xfrm>
          <a:prstGeom prst="bentConnector3">
            <a:avLst>
              <a:gd fmla="val 43175" name="adj1"/>
            </a:avLst>
          </a:prstGeom>
          <a:noFill/>
          <a:ln cap="flat" cmpd="sng" w="19050">
            <a:solidFill>
              <a:srgbClr val="FF0000"/>
            </a:solidFill>
            <a:prstDash val="solid"/>
            <a:round/>
            <a:headEnd len="med" w="med" type="none"/>
            <a:tailEnd len="med" w="med" type="none"/>
          </a:ln>
        </p:spPr>
      </p:cxnSp>
      <p:cxnSp>
        <p:nvCxnSpPr>
          <p:cNvPr id="476" name="Google Shape;476;p48"/>
          <p:cNvCxnSpPr>
            <a:stCxn id="467" idx="1"/>
            <a:endCxn id="472" idx="3"/>
          </p:cNvCxnSpPr>
          <p:nvPr/>
        </p:nvCxnSpPr>
        <p:spPr>
          <a:xfrm rot="10800000">
            <a:off x="6042364" y="4374942"/>
            <a:ext cx="643500" cy="72600"/>
          </a:xfrm>
          <a:prstGeom prst="bentConnector3">
            <a:avLst>
              <a:gd fmla="val 30857" name="adj1"/>
            </a:avLst>
          </a:prstGeom>
          <a:noFill/>
          <a:ln cap="flat" cmpd="sng" w="19050">
            <a:solidFill>
              <a:srgbClr val="FF0000"/>
            </a:solidFill>
            <a:prstDash val="solid"/>
            <a:round/>
            <a:headEnd len="med" w="med" type="none"/>
            <a:tailEnd len="med" w="med" type="none"/>
          </a:ln>
        </p:spPr>
      </p:cxnSp>
      <p:cxnSp>
        <p:nvCxnSpPr>
          <p:cNvPr id="477" name="Google Shape;477;p48"/>
          <p:cNvCxnSpPr>
            <a:stCxn id="467" idx="1"/>
            <a:endCxn id="470" idx="3"/>
          </p:cNvCxnSpPr>
          <p:nvPr/>
        </p:nvCxnSpPr>
        <p:spPr>
          <a:xfrm rot="10800000">
            <a:off x="5950564" y="3289242"/>
            <a:ext cx="735300" cy="1158300"/>
          </a:xfrm>
          <a:prstGeom prst="bentConnector3">
            <a:avLst>
              <a:gd fmla="val 27004" name="adj1"/>
            </a:avLst>
          </a:prstGeom>
          <a:noFill/>
          <a:ln cap="flat" cmpd="sng" w="19050">
            <a:solidFill>
              <a:srgbClr val="FF0000"/>
            </a:solidFill>
            <a:prstDash val="solid"/>
            <a:round/>
            <a:headEnd len="med" w="med" type="none"/>
            <a:tailEnd len="med" w="med" type="none"/>
          </a:ln>
        </p:spPr>
      </p:cxn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Refactor to use switch statement</a:t>
            </a:r>
            <a:endParaRPr/>
          </a:p>
        </p:txBody>
      </p:sp>
      <p:sp>
        <p:nvSpPr>
          <p:cNvPr id="483" name="Google Shape;483;p49"/>
          <p:cNvSpPr txBox="1"/>
          <p:nvPr>
            <p:ph idx="1" type="body"/>
          </p:nvPr>
        </p:nvSpPr>
        <p:spPr>
          <a:xfrm>
            <a:off x="65250" y="731625"/>
            <a:ext cx="89559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Refactor the </a:t>
            </a:r>
            <a:r>
              <a:rPr lang="en">
                <a:latin typeface="Courier New"/>
                <a:ea typeface="Courier New"/>
                <a:cs typeface="Courier New"/>
                <a:sym typeface="Courier New"/>
              </a:rPr>
              <a:t>UserShapes</a:t>
            </a:r>
            <a:r>
              <a:rPr lang="en"/>
              <a:t> class to use a </a:t>
            </a:r>
            <a:r>
              <a:rPr lang="en">
                <a:latin typeface="Courier New"/>
                <a:ea typeface="Courier New"/>
                <a:cs typeface="Courier New"/>
                <a:sym typeface="Courier New"/>
              </a:rPr>
              <a:t>switch</a:t>
            </a:r>
            <a:r>
              <a:rPr lang="en"/>
              <a:t> statement instead of an </a:t>
            </a:r>
            <a:r>
              <a:rPr lang="en">
                <a:latin typeface="Courier New"/>
                <a:ea typeface="Courier New"/>
                <a:cs typeface="Courier New"/>
                <a:sym typeface="Courier New"/>
              </a:rPr>
              <a:t>else if</a:t>
            </a:r>
            <a:r>
              <a:rPr lang="en"/>
              <a:t> block. </a:t>
            </a:r>
            <a:endParaRPr/>
          </a:p>
        </p:txBody>
      </p:sp>
      <p:sp>
        <p:nvSpPr>
          <p:cNvPr id="484" name="Google Shape;484;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49"/>
          <p:cNvSpPr txBox="1"/>
          <p:nvPr>
            <p:ph idx="4" type="body"/>
          </p:nvPr>
        </p:nvSpPr>
        <p:spPr>
          <a:xfrm>
            <a:off x="127475" y="4352979"/>
            <a:ext cx="38628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rPr>
              <a:t>Switch </a:t>
            </a:r>
            <a:r>
              <a:rPr lang="en"/>
              <a:t>statements are more </a:t>
            </a:r>
            <a:r>
              <a:rPr b="1" lang="en">
                <a:solidFill>
                  <a:srgbClr val="FF0000"/>
                </a:solidFill>
              </a:rPr>
              <a:t>efficient </a:t>
            </a:r>
            <a:r>
              <a:rPr lang="en"/>
              <a:t>than </a:t>
            </a:r>
            <a:r>
              <a:rPr lang="en">
                <a:latin typeface="Courier New"/>
                <a:ea typeface="Courier New"/>
                <a:cs typeface="Courier New"/>
                <a:sym typeface="Courier New"/>
              </a:rPr>
              <a:t>else if</a:t>
            </a:r>
            <a:r>
              <a:rPr lang="en"/>
              <a:t> statements as only the the specific </a:t>
            </a:r>
            <a:r>
              <a:rPr lang="en">
                <a:latin typeface="Courier New"/>
                <a:ea typeface="Courier New"/>
                <a:cs typeface="Courier New"/>
                <a:sym typeface="Courier New"/>
              </a:rPr>
              <a:t>case</a:t>
            </a:r>
            <a:r>
              <a:rPr lang="en"/>
              <a:t> is executed instead of checking each boolean expression.</a:t>
            </a:r>
            <a:endParaRPr/>
          </a:p>
        </p:txBody>
      </p:sp>
      <p:sp>
        <p:nvSpPr>
          <p:cNvPr id="486" name="Google Shape;486;p49"/>
          <p:cNvSpPr txBox="1"/>
          <p:nvPr>
            <p:ph idx="2" type="body"/>
          </p:nvPr>
        </p:nvSpPr>
        <p:spPr>
          <a:xfrm>
            <a:off x="3990275" y="1289175"/>
            <a:ext cx="4885200" cy="2260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b="1" i="1" lang="en">
                <a:solidFill>
                  <a:srgbClr val="FF0000"/>
                </a:solidFill>
              </a:rPr>
              <a:t>Switch</a:t>
            </a:r>
            <a:r>
              <a:rPr i="1" lang="en"/>
              <a:t> </a:t>
            </a:r>
            <a:r>
              <a:rPr lang="en"/>
              <a:t>on the user's input for shape type.</a:t>
            </a:r>
            <a:endParaRPr/>
          </a:p>
          <a:p>
            <a:pPr indent="-311150" lvl="0" marL="457200" rtl="0" algn="l">
              <a:spcBef>
                <a:spcPts val="1000"/>
              </a:spcBef>
              <a:spcAft>
                <a:spcPts val="0"/>
              </a:spcAft>
              <a:buSzPts val="1300"/>
              <a:buChar char="●"/>
            </a:pPr>
            <a:r>
              <a:rPr lang="en"/>
              <a:t>Turn each </a:t>
            </a:r>
            <a:r>
              <a:rPr lang="en">
                <a:latin typeface="Courier New"/>
                <a:ea typeface="Courier New"/>
                <a:cs typeface="Courier New"/>
                <a:sym typeface="Courier New"/>
              </a:rPr>
              <a:t>if</a:t>
            </a:r>
            <a:r>
              <a:rPr lang="en"/>
              <a:t>/</a:t>
            </a:r>
            <a:r>
              <a:rPr lang="en">
                <a:latin typeface="Courier New"/>
                <a:ea typeface="Courier New"/>
                <a:cs typeface="Courier New"/>
                <a:sym typeface="Courier New"/>
              </a:rPr>
              <a:t>else if</a:t>
            </a:r>
            <a:r>
              <a:rPr lang="en"/>
              <a:t> expression into a </a:t>
            </a:r>
            <a:r>
              <a:rPr lang="en">
                <a:solidFill>
                  <a:srgbClr val="FF0000"/>
                </a:solidFill>
                <a:latin typeface="Courier New"/>
                <a:ea typeface="Courier New"/>
                <a:cs typeface="Courier New"/>
                <a:sym typeface="Courier New"/>
              </a:rPr>
              <a:t>case</a:t>
            </a:r>
            <a:r>
              <a:rPr lang="en"/>
              <a:t> inside the new </a:t>
            </a:r>
            <a:r>
              <a:rPr lang="en">
                <a:latin typeface="Courier New"/>
                <a:ea typeface="Courier New"/>
                <a:cs typeface="Courier New"/>
                <a:sym typeface="Courier New"/>
              </a:rPr>
              <a:t>switch</a:t>
            </a:r>
            <a:r>
              <a:rPr lang="en"/>
              <a:t> statement.</a:t>
            </a:r>
            <a:endParaRPr/>
          </a:p>
          <a:p>
            <a:pPr indent="-304800" lvl="1" marL="914400" rtl="0" algn="l">
              <a:spcBef>
                <a:spcPts val="1000"/>
              </a:spcBef>
              <a:spcAft>
                <a:spcPts val="0"/>
              </a:spcAft>
              <a:buSzPts val="1200"/>
              <a:buChar char="○"/>
            </a:pPr>
            <a:r>
              <a:rPr lang="en" sz="1200"/>
              <a:t>Don't forget the </a:t>
            </a:r>
            <a:r>
              <a:rPr lang="en" sz="1200">
                <a:solidFill>
                  <a:srgbClr val="FF0000"/>
                </a:solidFill>
                <a:latin typeface="Courier New"/>
                <a:ea typeface="Courier New"/>
                <a:cs typeface="Courier New"/>
                <a:sym typeface="Courier New"/>
              </a:rPr>
              <a:t>break;</a:t>
            </a:r>
            <a:r>
              <a:rPr lang="en" sz="1200"/>
              <a:t> at the end of each </a:t>
            </a:r>
            <a:r>
              <a:rPr lang="en" sz="1200">
                <a:latin typeface="Courier New"/>
                <a:ea typeface="Courier New"/>
                <a:cs typeface="Courier New"/>
                <a:sym typeface="Courier New"/>
              </a:rPr>
              <a:t>case</a:t>
            </a:r>
            <a:r>
              <a:rPr lang="en" sz="1200"/>
              <a:t>.</a:t>
            </a:r>
            <a:endParaRPr sz="1200"/>
          </a:p>
          <a:p>
            <a:pPr indent="-311150" lvl="0" marL="457200" rtl="0" algn="l">
              <a:spcBef>
                <a:spcPts val="1000"/>
              </a:spcBef>
              <a:spcAft>
                <a:spcPts val="0"/>
              </a:spcAft>
              <a:buSzPts val="1300"/>
              <a:buChar char="●"/>
            </a:pPr>
            <a:r>
              <a:rPr lang="en"/>
              <a:t>For the </a:t>
            </a:r>
            <a:r>
              <a:rPr lang="en">
                <a:latin typeface="Courier New"/>
                <a:ea typeface="Courier New"/>
                <a:cs typeface="Courier New"/>
                <a:sym typeface="Courier New"/>
              </a:rPr>
              <a:t>default </a:t>
            </a:r>
            <a:r>
              <a:rPr lang="en"/>
              <a:t>case, print the unknown shape message and </a:t>
            </a:r>
            <a:r>
              <a:rPr lang="en">
                <a:latin typeface="Courier New"/>
                <a:ea typeface="Courier New"/>
                <a:cs typeface="Courier New"/>
                <a:sym typeface="Courier New"/>
              </a:rPr>
              <a:t>continue</a:t>
            </a:r>
            <a:r>
              <a:rPr lang="en"/>
              <a:t>.</a:t>
            </a:r>
            <a:endParaRPr/>
          </a:p>
          <a:p>
            <a:pPr indent="-311150" lvl="0" marL="457200" rtl="0" algn="l">
              <a:spcBef>
                <a:spcPts val="1000"/>
              </a:spcBef>
              <a:spcAft>
                <a:spcPts val="0"/>
              </a:spcAft>
              <a:buSzPts val="1300"/>
              <a:buChar char="●"/>
            </a:pPr>
            <a:r>
              <a:rPr lang="en"/>
              <a:t>Rerun the code to ensure the refactor works correctly.</a:t>
            </a:r>
            <a:endParaRPr/>
          </a:p>
        </p:txBody>
      </p:sp>
      <p:sp>
        <p:nvSpPr>
          <p:cNvPr id="487" name="Google Shape;487;p4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4.5</a:t>
            </a:r>
            <a:endParaRPr/>
          </a:p>
        </p:txBody>
      </p:sp>
      <p:sp>
        <p:nvSpPr>
          <p:cNvPr id="488" name="Google Shape;488;p49"/>
          <p:cNvSpPr txBox="1"/>
          <p:nvPr>
            <p:ph idx="4" type="body"/>
          </p:nvPr>
        </p:nvSpPr>
        <p:spPr>
          <a:xfrm>
            <a:off x="127475" y="1233769"/>
            <a:ext cx="3862800" cy="30630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100">
                <a:solidFill>
                  <a:srgbClr val="AF00DB"/>
                </a:solidFill>
                <a:highlight>
                  <a:srgbClr val="FFFFFF"/>
                </a:highlight>
                <a:latin typeface="Consolas"/>
                <a:ea typeface="Consolas"/>
                <a:cs typeface="Consolas"/>
                <a:sym typeface="Consolas"/>
              </a:rPr>
              <a:t>switch</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day</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"Monday"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"Go to the gym"</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"Tuesday"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"Attend coding class"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"Wednesday"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"Thursday"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"Work on project"</a:t>
            </a:r>
            <a:r>
              <a:rPr lang="en" sz="1100">
                <a:solidFill>
                  <a:srgbClr val="000000"/>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"Friday"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"Review week's work"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default:</a:t>
            </a:r>
            <a:endParaRPr sz="1100">
              <a:solidFill>
                <a:srgbClr val="AF00D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"Relax and unwind"</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0"/>
          <p:cNvSpPr txBox="1"/>
          <p:nvPr>
            <p:ph type="title"/>
          </p:nvPr>
        </p:nvSpPr>
        <p:spPr>
          <a:xfrm>
            <a:off x="5264725" y="212025"/>
            <a:ext cx="3706500" cy="92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Scope and Anonymous Classes</a:t>
            </a:r>
            <a:endParaRPr/>
          </a:p>
        </p:txBody>
      </p:sp>
      <p:sp>
        <p:nvSpPr>
          <p:cNvPr id="494" name="Google Shape;494;p50"/>
          <p:cNvSpPr txBox="1"/>
          <p:nvPr>
            <p:ph idx="1" type="body"/>
          </p:nvPr>
        </p:nvSpPr>
        <p:spPr>
          <a:xfrm>
            <a:off x="386275" y="114750"/>
            <a:ext cx="4278000" cy="4529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Anonymous classes are inner classes so they have access to </a:t>
            </a:r>
            <a:r>
              <a:rPr b="1" i="1" lang="en">
                <a:solidFill>
                  <a:srgbClr val="FF0000"/>
                </a:solidFill>
              </a:rPr>
              <a:t>all of the variables</a:t>
            </a:r>
            <a:r>
              <a:rPr lang="en"/>
              <a:t> in the containing class</a:t>
            </a:r>
            <a:endParaRPr/>
          </a:p>
          <a:p>
            <a:pPr indent="-311150" lvl="0" marL="457200" rtl="0" algn="l">
              <a:spcBef>
                <a:spcPts val="0"/>
              </a:spcBef>
              <a:spcAft>
                <a:spcPts val="0"/>
              </a:spcAft>
              <a:buSzPts val="1300"/>
              <a:buChar char="●"/>
            </a:pPr>
            <a:r>
              <a:rPr lang="en"/>
              <a:t>Anonymous classes also have access to the </a:t>
            </a:r>
            <a:r>
              <a:rPr b="1" i="1" lang="en">
                <a:solidFill>
                  <a:srgbClr val="FF0000"/>
                </a:solidFill>
              </a:rPr>
              <a:t>local variables</a:t>
            </a:r>
            <a:r>
              <a:rPr lang="en"/>
              <a:t> in the method where the anonymous class is created</a:t>
            </a:r>
            <a:endParaRPr/>
          </a:p>
          <a:p>
            <a:pPr indent="-298450" lvl="1" marL="914400" rtl="0" algn="l">
              <a:spcBef>
                <a:spcPts val="0"/>
              </a:spcBef>
              <a:spcAft>
                <a:spcPts val="0"/>
              </a:spcAft>
              <a:buSzPts val="1100"/>
              <a:buChar char="○"/>
            </a:pPr>
            <a:r>
              <a:rPr lang="en"/>
              <a:t>The local variables are </a:t>
            </a:r>
            <a:r>
              <a:rPr b="1" i="1" lang="en">
                <a:solidFill>
                  <a:srgbClr val="FF0000"/>
                </a:solidFill>
              </a:rPr>
              <a:t>captured</a:t>
            </a:r>
            <a:r>
              <a:rPr lang="en">
                <a:solidFill>
                  <a:srgbClr val="FF0000"/>
                </a:solidFill>
              </a:rPr>
              <a:t> </a:t>
            </a:r>
            <a:r>
              <a:rPr lang="en"/>
              <a:t>by the anonymous class</a:t>
            </a:r>
            <a:endParaRPr/>
          </a:p>
          <a:p>
            <a:pPr indent="-311150" lvl="0" marL="457200" rtl="0" algn="l">
              <a:spcBef>
                <a:spcPts val="0"/>
              </a:spcBef>
              <a:spcAft>
                <a:spcPts val="0"/>
              </a:spcAft>
              <a:buSzPts val="1300"/>
              <a:buChar char="●"/>
            </a:pPr>
            <a:r>
              <a:rPr lang="en"/>
              <a:t>However, any local variables that are captured must </a:t>
            </a:r>
            <a:r>
              <a:rPr b="1" i="1" lang="en">
                <a:solidFill>
                  <a:srgbClr val="FF0000"/>
                </a:solidFill>
              </a:rPr>
              <a:t>not change</a:t>
            </a:r>
            <a:r>
              <a:rPr lang="en"/>
              <a:t> after they are used in the anonymous class</a:t>
            </a:r>
            <a:endParaRPr/>
          </a:p>
          <a:p>
            <a:pPr indent="-304800" lvl="1" marL="914400" rtl="0" algn="l">
              <a:spcBef>
                <a:spcPts val="0"/>
              </a:spcBef>
              <a:spcAft>
                <a:spcPts val="0"/>
              </a:spcAft>
              <a:buSzPts val="1200"/>
              <a:buChar char="○"/>
            </a:pPr>
            <a:r>
              <a:rPr lang="en" sz="1200"/>
              <a:t>Changing them after use in the class will result in a compilation error</a:t>
            </a:r>
            <a:endParaRPr sz="1200"/>
          </a:p>
          <a:p>
            <a:pPr indent="-304800" lvl="1" marL="914400" rtl="0" algn="l">
              <a:spcBef>
                <a:spcPts val="0"/>
              </a:spcBef>
              <a:spcAft>
                <a:spcPts val="0"/>
              </a:spcAft>
              <a:buSzPts val="1200"/>
              <a:buFont typeface="Courier New"/>
              <a:buChar char="○"/>
            </a:pPr>
            <a:r>
              <a:rPr lang="en" sz="1200">
                <a:latin typeface="Courier New"/>
                <a:ea typeface="Courier New"/>
                <a:cs typeface="Courier New"/>
                <a:sym typeface="Courier New"/>
              </a:rPr>
              <a:t>Local variable must be final or effectively final</a:t>
            </a:r>
            <a:endParaRPr sz="1200">
              <a:latin typeface="Courier New"/>
              <a:ea typeface="Courier New"/>
              <a:cs typeface="Courier New"/>
              <a:sym typeface="Courier New"/>
            </a:endParaRPr>
          </a:p>
          <a:p>
            <a:pPr indent="-304800" lvl="0" marL="457200" rtl="0" algn="l">
              <a:spcBef>
                <a:spcPts val="0"/>
              </a:spcBef>
              <a:spcAft>
                <a:spcPts val="0"/>
              </a:spcAft>
              <a:buSzPts val="1200"/>
              <a:buChar char="●"/>
            </a:pPr>
            <a:r>
              <a:rPr lang="en" sz="1200"/>
              <a:t>Unlike inner classes it is </a:t>
            </a:r>
            <a:r>
              <a:rPr b="1" i="1" lang="en" sz="1200">
                <a:solidFill>
                  <a:srgbClr val="FF0000"/>
                </a:solidFill>
              </a:rPr>
              <a:t>unlikely</a:t>
            </a:r>
            <a:r>
              <a:rPr lang="en" sz="1200"/>
              <a:t> that state within the anonymous class will be </a:t>
            </a:r>
            <a:r>
              <a:rPr lang="en" sz="1200"/>
              <a:t>accessible</a:t>
            </a:r>
            <a:endParaRPr sz="1200"/>
          </a:p>
          <a:p>
            <a:pPr indent="-304800" lvl="0" marL="457200" rtl="0" algn="l">
              <a:spcBef>
                <a:spcPts val="0"/>
              </a:spcBef>
              <a:spcAft>
                <a:spcPts val="0"/>
              </a:spcAft>
              <a:buSzPts val="1200"/>
              <a:buChar char="●"/>
            </a:pPr>
            <a:r>
              <a:rPr lang="en" sz="1200"/>
              <a:t>This is because it is most </a:t>
            </a:r>
            <a:r>
              <a:rPr lang="en" sz="1200"/>
              <a:t>often referenced through an interface or a base class that </a:t>
            </a:r>
            <a:r>
              <a:rPr b="1" i="1" lang="en" sz="1200">
                <a:solidFill>
                  <a:srgbClr val="FF0000"/>
                </a:solidFill>
              </a:rPr>
              <a:t>does not give</a:t>
            </a:r>
            <a:r>
              <a:rPr lang="en" sz="1200"/>
              <a:t> visibility to any (new) state</a:t>
            </a:r>
            <a:endParaRPr sz="1200"/>
          </a:p>
        </p:txBody>
      </p:sp>
      <p:sp>
        <p:nvSpPr>
          <p:cNvPr id="495" name="Google Shape;495;p50"/>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50"/>
          <p:cNvSpPr txBox="1"/>
          <p:nvPr>
            <p:ph idx="2" type="body"/>
          </p:nvPr>
        </p:nvSpPr>
        <p:spPr>
          <a:xfrm>
            <a:off x="5192225" y="1286175"/>
            <a:ext cx="3706500" cy="28881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void</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main</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args</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 {</a:t>
            </a:r>
            <a:r>
              <a:rPr lang="en" sz="1000">
                <a:solidFill>
                  <a:srgbClr val="098658"/>
                </a:solidFill>
                <a:highlight>
                  <a:srgbClr val="FFFFFF"/>
                </a:highlight>
                <a:latin typeface="Consolas"/>
                <a:ea typeface="Consolas"/>
                <a:cs typeface="Consolas"/>
                <a:sym typeface="Consolas"/>
              </a:rPr>
              <a:t>1.25</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0.49</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2.00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apple</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banana</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AF00DB"/>
                </a:solidFill>
                <a:highlight>
                  <a:srgbClr val="FFFFFF"/>
                </a:highlight>
                <a:latin typeface="Consolas"/>
                <a:ea typeface="Consolas"/>
                <a:cs typeface="Consolas"/>
                <a:sym typeface="Consolas"/>
              </a:rPr>
              <a:t>      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endParaRPr sz="1000">
              <a:solidFill>
                <a:srgbClr val="098658"/>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1600"/>
              </a:spcAft>
              <a:buNone/>
            </a:pPr>
            <a:r>
              <a:t/>
            </a:r>
            <a:endParaRPr sz="1000"/>
          </a:p>
        </p:txBody>
      </p:sp>
      <p:sp>
        <p:nvSpPr>
          <p:cNvPr id="497" name="Google Shape;497;p50"/>
          <p:cNvSpPr txBox="1"/>
          <p:nvPr>
            <p:ph idx="3" type="body"/>
          </p:nvPr>
        </p:nvSpPr>
        <p:spPr>
          <a:xfrm>
            <a:off x="5192225" y="4378325"/>
            <a:ext cx="3706500" cy="55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Since anonymous classes do not have </a:t>
            </a:r>
            <a:r>
              <a:rPr lang="en"/>
              <a:t>constructors</a:t>
            </a:r>
            <a:r>
              <a:rPr lang="en"/>
              <a:t> you can use </a:t>
            </a:r>
            <a:r>
              <a:rPr b="1" i="1" lang="en">
                <a:solidFill>
                  <a:srgbClr val="FF0000"/>
                </a:solidFill>
              </a:rPr>
              <a:t>local variables</a:t>
            </a:r>
            <a:r>
              <a:rPr lang="en"/>
              <a:t> to initialize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1"/>
          <p:cNvSpPr txBox="1"/>
          <p:nvPr>
            <p:ph type="title"/>
          </p:nvPr>
        </p:nvSpPr>
        <p:spPr>
          <a:xfrm>
            <a:off x="311725" y="272325"/>
            <a:ext cx="3706500" cy="6381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2"/>
              </a:buClr>
              <a:buSzPct val="117857"/>
              <a:buFont typeface="Calibri"/>
              <a:buNone/>
            </a:pPr>
            <a:r>
              <a:rPr lang="en"/>
              <a:t>Functional Interfaces</a:t>
            </a:r>
            <a:endParaRPr/>
          </a:p>
        </p:txBody>
      </p:sp>
      <p:sp>
        <p:nvSpPr>
          <p:cNvPr id="503" name="Google Shape;503;p51"/>
          <p:cNvSpPr txBox="1"/>
          <p:nvPr>
            <p:ph idx="1" type="body"/>
          </p:nvPr>
        </p:nvSpPr>
        <p:spPr>
          <a:xfrm>
            <a:off x="4447600" y="173250"/>
            <a:ext cx="4233000" cy="4712400"/>
          </a:xfrm>
          <a:prstGeom prst="rect">
            <a:avLst/>
          </a:prstGeom>
          <a:noFill/>
          <a:ln>
            <a:noFill/>
          </a:ln>
        </p:spPr>
        <p:txBody>
          <a:bodyPr anchorCtr="0" anchor="t" bIns="34275" lIns="68575" spcFirstLastPara="1" rIns="68575" wrap="square" tIns="34275">
            <a:spAutoFit/>
          </a:bodyPr>
          <a:lstStyle/>
          <a:p>
            <a:pPr indent="-311150" lvl="0" marL="457200" rtl="0" algn="l">
              <a:lnSpc>
                <a:spcPct val="115000"/>
              </a:lnSpc>
              <a:spcBef>
                <a:spcPts val="0"/>
              </a:spcBef>
              <a:spcAft>
                <a:spcPts val="0"/>
              </a:spcAft>
              <a:buSzPts val="1300"/>
              <a:buChar char="●"/>
            </a:pPr>
            <a:r>
              <a:rPr lang="en"/>
              <a:t>Interfaces that have only </a:t>
            </a:r>
            <a:r>
              <a:rPr b="1" i="1" lang="en">
                <a:solidFill>
                  <a:srgbClr val="FF0000"/>
                </a:solidFill>
              </a:rPr>
              <a:t>one method</a:t>
            </a:r>
            <a:r>
              <a:rPr lang="en"/>
              <a:t> are known as </a:t>
            </a:r>
            <a:r>
              <a:rPr b="1" i="1" lang="en">
                <a:solidFill>
                  <a:srgbClr val="FF0000"/>
                </a:solidFill>
              </a:rPr>
              <a:t>functional interfaces</a:t>
            </a:r>
            <a:r>
              <a:rPr lang="en"/>
              <a:t>.</a:t>
            </a:r>
            <a:endParaRPr b="1" i="1">
              <a:solidFill>
                <a:srgbClr val="FF0000"/>
              </a:solidFill>
            </a:endParaRPr>
          </a:p>
          <a:p>
            <a:pPr indent="-311150" lvl="0" marL="457200" rtl="0" algn="l">
              <a:spcBef>
                <a:spcPts val="1000"/>
              </a:spcBef>
              <a:spcAft>
                <a:spcPts val="0"/>
              </a:spcAft>
              <a:buSzPts val="1300"/>
              <a:buChar char="●"/>
            </a:pPr>
            <a:r>
              <a:rPr lang="en"/>
              <a:t>They are effectively the closest thing you can get to a</a:t>
            </a:r>
            <a:r>
              <a:rPr lang="en"/>
              <a:t> traditional </a:t>
            </a:r>
            <a:r>
              <a:rPr lang="en"/>
              <a:t>function in a fully object oriented language like Java.</a:t>
            </a:r>
            <a:endParaRPr/>
          </a:p>
          <a:p>
            <a:pPr indent="-298450" lvl="1" marL="914400" rtl="0" algn="l">
              <a:spcBef>
                <a:spcPts val="0"/>
              </a:spcBef>
              <a:spcAft>
                <a:spcPts val="0"/>
              </a:spcAft>
              <a:buSzPts val="1100"/>
              <a:buChar char="○"/>
            </a:pPr>
            <a:r>
              <a:rPr lang="en"/>
              <a:t>"Traditional" meaning a function like the ones we wrote in Python that are not part of a class.</a:t>
            </a:r>
            <a:endParaRPr/>
          </a:p>
          <a:p>
            <a:pPr indent="-311150" lvl="0" marL="457200" rtl="0" algn="l">
              <a:lnSpc>
                <a:spcPct val="115000"/>
              </a:lnSpc>
              <a:spcBef>
                <a:spcPts val="1000"/>
              </a:spcBef>
              <a:spcAft>
                <a:spcPts val="0"/>
              </a:spcAft>
              <a:buSzPts val="1300"/>
              <a:buChar char="●"/>
            </a:pPr>
            <a:r>
              <a:rPr lang="en"/>
              <a:t>Functional interfaces are often implemented as</a:t>
            </a:r>
            <a:r>
              <a:rPr lang="en"/>
              <a:t> </a:t>
            </a:r>
            <a:r>
              <a:rPr b="1" i="1" lang="en">
                <a:solidFill>
                  <a:srgbClr val="FF0000"/>
                </a:solidFill>
              </a:rPr>
              <a:t>anonymous</a:t>
            </a:r>
            <a:r>
              <a:rPr lang="en">
                <a:solidFill>
                  <a:srgbClr val="FF0000"/>
                </a:solidFill>
              </a:rPr>
              <a:t> </a:t>
            </a:r>
            <a:r>
              <a:rPr lang="en"/>
              <a:t>classes because they are so small.</a:t>
            </a:r>
            <a:endParaRPr/>
          </a:p>
          <a:p>
            <a:pPr indent="-298450" lvl="1" marL="914400" rtl="0" algn="l">
              <a:lnSpc>
                <a:spcPct val="115000"/>
              </a:lnSpc>
              <a:spcBef>
                <a:spcPts val="0"/>
              </a:spcBef>
              <a:spcAft>
                <a:spcPts val="0"/>
              </a:spcAft>
              <a:buSzPts val="1100"/>
              <a:buChar char="○"/>
            </a:pPr>
            <a:r>
              <a:rPr lang="en"/>
              <a:t>Remember, a good anonymous class only has a small number of methods and a few lines of code.</a:t>
            </a:r>
            <a:endParaRPr/>
          </a:p>
          <a:p>
            <a:pPr indent="-311150" lvl="0" marL="457200" rtl="0" algn="l">
              <a:lnSpc>
                <a:spcPct val="115000"/>
              </a:lnSpc>
              <a:spcBef>
                <a:spcPts val="1000"/>
              </a:spcBef>
              <a:spcAft>
                <a:spcPts val="0"/>
              </a:spcAft>
              <a:buSzPts val="1300"/>
              <a:buChar char="●"/>
            </a:pPr>
            <a:r>
              <a:rPr lang="en"/>
              <a:t>Technically speaking, </a:t>
            </a:r>
            <a:r>
              <a:rPr b="1" i="1" lang="en">
                <a:solidFill>
                  <a:srgbClr val="FF0000"/>
                </a:solidFill>
              </a:rPr>
              <a:t>any</a:t>
            </a:r>
            <a:r>
              <a:rPr lang="en">
                <a:solidFill>
                  <a:srgbClr val="FF0000"/>
                </a:solidFill>
              </a:rPr>
              <a:t> </a:t>
            </a:r>
            <a:r>
              <a:rPr lang="en"/>
              <a:t>interface that has a single method can be used as a functional interface, but not all such interfaces meet the "spirit" of the definition.</a:t>
            </a:r>
            <a:endParaRPr/>
          </a:p>
          <a:p>
            <a:pPr indent="-298450" lvl="1" marL="914400" rtl="0" algn="l">
              <a:lnSpc>
                <a:spcPct val="115000"/>
              </a:lnSpc>
              <a:spcBef>
                <a:spcPts val="0"/>
              </a:spcBef>
              <a:spcAft>
                <a:spcPts val="0"/>
              </a:spcAft>
              <a:buSzPts val="1100"/>
              <a:buChar char="○"/>
            </a:pPr>
            <a:r>
              <a:rPr lang="en"/>
              <a:t>A functional interface should represent a single function, not a more complex type.</a:t>
            </a:r>
            <a:endParaRPr/>
          </a:p>
          <a:p>
            <a:pPr indent="-298450" lvl="1" marL="914400" rtl="0" algn="l">
              <a:lnSpc>
                <a:spcPct val="115000"/>
              </a:lnSpc>
              <a:spcBef>
                <a:spcPts val="0"/>
              </a:spcBef>
              <a:spcAft>
                <a:spcPts val="1000"/>
              </a:spcAft>
              <a:buSzPts val="1100"/>
              <a:buChar char="○"/>
            </a:pPr>
            <a:r>
              <a:rPr lang="en"/>
              <a:t>The designers of the Java APIs have used the </a:t>
            </a:r>
            <a:r>
              <a:rPr lang="en" u="sng">
                <a:solidFill>
                  <a:schemeClr val="hlink"/>
                </a:solidFill>
                <a:latin typeface="Courier New"/>
                <a:ea typeface="Courier New"/>
                <a:cs typeface="Courier New"/>
                <a:sym typeface="Courier New"/>
                <a:hlinkClick r:id="rId3"/>
              </a:rPr>
              <a:t>@FunctionalInterface</a:t>
            </a:r>
            <a:r>
              <a:rPr lang="en"/>
              <a:t> annotation to indicate which interfaces are meant to be used in this way.</a:t>
            </a:r>
            <a:endParaRPr/>
          </a:p>
        </p:txBody>
      </p:sp>
      <p:sp>
        <p:nvSpPr>
          <p:cNvPr id="504" name="Google Shape;504;p51"/>
          <p:cNvSpPr txBox="1"/>
          <p:nvPr>
            <p:ph idx="2" type="body"/>
          </p:nvPr>
        </p:nvSpPr>
        <p:spPr>
          <a:xfrm>
            <a:off x="311725" y="979600"/>
            <a:ext cx="3706500" cy="10278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34275" lIns="68575" spcFirstLastPara="1" rIns="68575" wrap="square" tIns="128000">
            <a:noAutofit/>
          </a:bodyPr>
          <a:lstStyle/>
          <a:p>
            <a:pPr indent="0" lvl="0" marL="0" rtl="0" algn="l">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public</a:t>
            </a: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interface</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Shape</a:t>
            </a: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795E26"/>
                </a:solidFill>
                <a:highlight>
                  <a:srgbClr val="FFFFFF"/>
                </a:highlight>
                <a:latin typeface="Consolas"/>
                <a:ea typeface="Consolas"/>
                <a:cs typeface="Consolas"/>
                <a:sym typeface="Consolas"/>
              </a:rPr>
              <a:t>area</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length</a:t>
            </a:r>
            <a:r>
              <a:rPr lang="en">
                <a:solidFill>
                  <a:srgbClr val="000000"/>
                </a:solidFill>
                <a:highlight>
                  <a:srgbClr val="FFFFFF"/>
                </a:highlight>
                <a:latin typeface="Consolas"/>
                <a:ea typeface="Consolas"/>
                <a:cs typeface="Consolas"/>
                <a:sym typeface="Consolas"/>
              </a:rPr>
              <a:t>);</a:t>
            </a:r>
            <a:endParaRPr>
              <a:solidFill>
                <a:srgbClr val="000000"/>
              </a:solidFill>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indent="0" lvl="0" marL="0" rtl="0" algn="l">
              <a:lnSpc>
                <a:spcPct val="90000"/>
              </a:lnSpc>
              <a:spcBef>
                <a:spcPts val="0"/>
              </a:spcBef>
              <a:spcAft>
                <a:spcPts val="1600"/>
              </a:spcAft>
              <a:buClr>
                <a:schemeClr val="dk2"/>
              </a:buClr>
              <a:buSzPts val="2000"/>
              <a:buNone/>
            </a:pPr>
            <a:r>
              <a:t/>
            </a:r>
            <a:endParaRPr/>
          </a:p>
        </p:txBody>
      </p:sp>
      <p:sp>
        <p:nvSpPr>
          <p:cNvPr id="505" name="Google Shape;505;p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51"/>
          <p:cNvSpPr txBox="1"/>
          <p:nvPr>
            <p:ph idx="3" type="body"/>
          </p:nvPr>
        </p:nvSpPr>
        <p:spPr>
          <a:xfrm>
            <a:off x="311725" y="2147083"/>
            <a:ext cx="3706500" cy="5817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
              <a:t>A </a:t>
            </a:r>
            <a:r>
              <a:rPr b="1" i="1" lang="en">
                <a:solidFill>
                  <a:srgbClr val="FF0000"/>
                </a:solidFill>
              </a:rPr>
              <a:t>functional interface</a:t>
            </a:r>
            <a:r>
              <a:rPr lang="en"/>
              <a:t> is an interface that only contains a single method…</a:t>
            </a:r>
            <a:endParaRPr sz="1200"/>
          </a:p>
        </p:txBody>
      </p:sp>
      <p:sp>
        <p:nvSpPr>
          <p:cNvPr id="507" name="Google Shape;507;p51"/>
          <p:cNvSpPr txBox="1"/>
          <p:nvPr>
            <p:ph idx="3" type="body"/>
          </p:nvPr>
        </p:nvSpPr>
        <p:spPr>
          <a:xfrm>
            <a:off x="282000" y="2868458"/>
            <a:ext cx="3706500" cy="7941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
              <a:t>… but just </a:t>
            </a:r>
            <a:r>
              <a:rPr lang="en"/>
              <a:t>because</a:t>
            </a:r>
            <a:r>
              <a:rPr lang="en"/>
              <a:t> any such interface </a:t>
            </a:r>
            <a:r>
              <a:rPr b="1" i="1" lang="en">
                <a:solidFill>
                  <a:srgbClr val="FF0000"/>
                </a:solidFill>
              </a:rPr>
              <a:t>can</a:t>
            </a:r>
            <a:r>
              <a:rPr lang="en">
                <a:solidFill>
                  <a:srgbClr val="FF0000"/>
                </a:solidFill>
              </a:rPr>
              <a:t> </a:t>
            </a:r>
            <a:r>
              <a:rPr lang="en"/>
              <a:t>be used as a functional interface doesn't mean that they </a:t>
            </a:r>
            <a:r>
              <a:rPr b="1" i="1" lang="en">
                <a:solidFill>
                  <a:srgbClr val="FF0000"/>
                </a:solidFill>
              </a:rPr>
              <a:t>should</a:t>
            </a:r>
            <a:r>
              <a:rPr lang="en">
                <a:solidFill>
                  <a:srgbClr val="FF0000"/>
                </a:solidFill>
              </a:rPr>
              <a:t> </a:t>
            </a:r>
            <a:r>
              <a:rPr lang="en"/>
              <a:t>be.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2"/>
          <p:cNvSpPr txBox="1"/>
          <p:nvPr>
            <p:ph type="title"/>
          </p:nvPr>
        </p:nvSpPr>
        <p:spPr>
          <a:xfrm>
            <a:off x="5188525" y="11992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Basic Lambdas</a:t>
            </a:r>
            <a:endParaRPr/>
          </a:p>
        </p:txBody>
      </p:sp>
      <p:sp>
        <p:nvSpPr>
          <p:cNvPr id="513" name="Google Shape;513;p52"/>
          <p:cNvSpPr txBox="1"/>
          <p:nvPr>
            <p:ph idx="1" type="body"/>
          </p:nvPr>
        </p:nvSpPr>
        <p:spPr>
          <a:xfrm>
            <a:off x="329425" y="119100"/>
            <a:ext cx="4347300" cy="5035200"/>
          </a:xfrm>
          <a:prstGeom prst="rect">
            <a:avLst/>
          </a:prstGeom>
          <a:noFill/>
          <a:ln>
            <a:noFill/>
          </a:ln>
        </p:spPr>
        <p:txBody>
          <a:bodyPr anchorCtr="0" anchor="t" bIns="34275" lIns="68575" spcFirstLastPara="1" rIns="68575" wrap="square" tIns="34275">
            <a:spAutoFit/>
          </a:bodyPr>
          <a:lstStyle/>
          <a:p>
            <a:pPr indent="-311150" lvl="0" marL="457200" rtl="0" algn="l">
              <a:lnSpc>
                <a:spcPct val="115000"/>
              </a:lnSpc>
              <a:spcBef>
                <a:spcPts val="0"/>
              </a:spcBef>
              <a:spcAft>
                <a:spcPts val="0"/>
              </a:spcAft>
              <a:buSzPts val="1300"/>
              <a:buChar char="●"/>
            </a:pPr>
            <a:r>
              <a:rPr lang="en"/>
              <a:t>Since functional interfaces only have a single method there is a lot of information that the compiler can </a:t>
            </a:r>
            <a:r>
              <a:rPr b="1" i="1" lang="en">
                <a:solidFill>
                  <a:srgbClr val="FF0000"/>
                </a:solidFill>
              </a:rPr>
              <a:t>infer</a:t>
            </a:r>
            <a:r>
              <a:rPr lang="en"/>
              <a:t> about them.</a:t>
            </a:r>
            <a:endParaRPr/>
          </a:p>
          <a:p>
            <a:pPr indent="-311150" lvl="0" marL="457200" rtl="0" algn="l">
              <a:lnSpc>
                <a:spcPct val="115000"/>
              </a:lnSpc>
              <a:spcBef>
                <a:spcPts val="1000"/>
              </a:spcBef>
              <a:spcAft>
                <a:spcPts val="0"/>
              </a:spcAft>
              <a:buSzPts val="1300"/>
              <a:buChar char="●"/>
            </a:pPr>
            <a:r>
              <a:rPr lang="en"/>
              <a:t>This is exploited by </a:t>
            </a:r>
            <a:r>
              <a:rPr b="1" lang="en">
                <a:solidFill>
                  <a:srgbClr val="FF0000"/>
                </a:solidFill>
              </a:rPr>
              <a:t>lambda</a:t>
            </a:r>
            <a:r>
              <a:rPr lang="en"/>
              <a:t> expressions which are a syntactic shortcut for implementing a functional interface.</a:t>
            </a:r>
            <a:endParaRPr/>
          </a:p>
          <a:p>
            <a:pPr indent="-298450" lvl="1" marL="914400" rtl="0" algn="l">
              <a:lnSpc>
                <a:spcPct val="115000"/>
              </a:lnSpc>
              <a:spcBef>
                <a:spcPts val="0"/>
              </a:spcBef>
              <a:spcAft>
                <a:spcPts val="0"/>
              </a:spcAft>
              <a:buSzPts val="1100"/>
              <a:buChar char="○"/>
            </a:pPr>
            <a:r>
              <a:rPr lang="en"/>
              <a:t>In fact, a lambda is an anonymous class with less syntax.</a:t>
            </a:r>
            <a:endParaRPr/>
          </a:p>
          <a:p>
            <a:pPr indent="-311150" lvl="0" marL="457200" rtl="0" algn="l">
              <a:lnSpc>
                <a:spcPct val="115000"/>
              </a:lnSpc>
              <a:spcBef>
                <a:spcPts val="1000"/>
              </a:spcBef>
              <a:spcAft>
                <a:spcPts val="0"/>
              </a:spcAft>
              <a:buSzPts val="1300"/>
              <a:buChar char="●"/>
            </a:pPr>
            <a:r>
              <a:rPr lang="en"/>
              <a:t>The easiest information to infer is the </a:t>
            </a:r>
            <a:r>
              <a:rPr b="1" i="1" lang="en">
                <a:solidFill>
                  <a:srgbClr val="FF0000"/>
                </a:solidFill>
              </a:rPr>
              <a:t>name of the method</a:t>
            </a:r>
            <a:r>
              <a:rPr lang="en"/>
              <a:t> in the functional interface.</a:t>
            </a:r>
            <a:endParaRPr/>
          </a:p>
          <a:p>
            <a:pPr indent="-298450" lvl="1" marL="914400" rtl="0" algn="l">
              <a:lnSpc>
                <a:spcPct val="115000"/>
              </a:lnSpc>
              <a:spcBef>
                <a:spcPts val="0"/>
              </a:spcBef>
              <a:spcAft>
                <a:spcPts val="0"/>
              </a:spcAft>
              <a:buSzPts val="1100"/>
              <a:buChar char="○"/>
            </a:pPr>
            <a:r>
              <a:rPr lang="en"/>
              <a:t>There is only one method in a functional interface, so there won't be any confusion about which method you are trying to implement using the lambda.</a:t>
            </a:r>
            <a:endParaRPr/>
          </a:p>
          <a:p>
            <a:pPr indent="-311150" lvl="0" marL="457200" rtl="0" algn="l">
              <a:lnSpc>
                <a:spcPct val="115000"/>
              </a:lnSpc>
              <a:spcBef>
                <a:spcPts val="1000"/>
              </a:spcBef>
              <a:spcAft>
                <a:spcPts val="0"/>
              </a:spcAft>
              <a:buSzPts val="1300"/>
              <a:buChar char="●"/>
            </a:pPr>
            <a:r>
              <a:rPr lang="en"/>
              <a:t>When using lambda expressions the inferred information will not be typed explicitly.</a:t>
            </a:r>
            <a:endParaRPr/>
          </a:p>
          <a:p>
            <a:pPr indent="-298450" lvl="1" marL="914400" rtl="0" algn="l">
              <a:lnSpc>
                <a:spcPct val="115000"/>
              </a:lnSpc>
              <a:spcBef>
                <a:spcPts val="0"/>
              </a:spcBef>
              <a:spcAft>
                <a:spcPts val="0"/>
              </a:spcAft>
              <a:buSzPts val="1100"/>
              <a:buChar char="○"/>
            </a:pPr>
            <a:r>
              <a:rPr lang="en"/>
              <a:t>The compiler can figure it out without requiring you to type it explicitly into your code.</a:t>
            </a:r>
            <a:endParaRPr/>
          </a:p>
          <a:p>
            <a:pPr indent="-311150" lvl="0" marL="457200" rtl="0" algn="l">
              <a:lnSpc>
                <a:spcPct val="115000"/>
              </a:lnSpc>
              <a:spcBef>
                <a:spcPts val="1000"/>
              </a:spcBef>
              <a:spcAft>
                <a:spcPts val="0"/>
              </a:spcAft>
              <a:buSzPts val="1300"/>
              <a:buChar char="●"/>
            </a:pPr>
            <a:r>
              <a:rPr lang="en"/>
              <a:t>The basic lambda syntax includes:</a:t>
            </a:r>
            <a:endParaRPr/>
          </a:p>
          <a:p>
            <a:pPr indent="-298450" lvl="1" marL="914400" rtl="0" algn="l">
              <a:lnSpc>
                <a:spcPct val="115000"/>
              </a:lnSpc>
              <a:spcBef>
                <a:spcPts val="0"/>
              </a:spcBef>
              <a:spcAft>
                <a:spcPts val="0"/>
              </a:spcAft>
              <a:buSzPts val="1100"/>
              <a:buChar char="○"/>
            </a:pPr>
            <a:r>
              <a:rPr lang="en"/>
              <a:t>The parameter list in parentheses.</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arrow operator</a:t>
            </a:r>
            <a:r>
              <a:rPr lang="en"/>
              <a:t> (</a:t>
            </a:r>
            <a:r>
              <a:rPr lang="en">
                <a:solidFill>
                  <a:srgbClr val="FF0000"/>
                </a:solidFill>
                <a:latin typeface="Courier New"/>
                <a:ea typeface="Courier New"/>
                <a:cs typeface="Courier New"/>
                <a:sym typeface="Courier New"/>
              </a:rPr>
              <a:t>-&gt;</a:t>
            </a:r>
            <a:r>
              <a:rPr lang="en">
                <a:latin typeface="Courier New"/>
                <a:ea typeface="Courier New"/>
                <a:cs typeface="Courier New"/>
                <a:sym typeface="Courier New"/>
              </a:rPr>
              <a:t>).</a:t>
            </a:r>
            <a:endParaRPr>
              <a:latin typeface="Courier New"/>
              <a:ea typeface="Courier New"/>
              <a:cs typeface="Courier New"/>
              <a:sym typeface="Courier New"/>
            </a:endParaRPr>
          </a:p>
          <a:p>
            <a:pPr indent="-298450" lvl="1" marL="914400" rtl="0" algn="l">
              <a:lnSpc>
                <a:spcPct val="115000"/>
              </a:lnSpc>
              <a:spcBef>
                <a:spcPts val="0"/>
              </a:spcBef>
              <a:spcAft>
                <a:spcPts val="1000"/>
              </a:spcAft>
              <a:buSzPts val="1100"/>
              <a:buChar char="○"/>
            </a:pPr>
            <a:r>
              <a:rPr lang="en"/>
              <a:t>The body of the function in curly braces ({}).</a:t>
            </a:r>
            <a:endParaRPr/>
          </a:p>
        </p:txBody>
      </p:sp>
      <p:sp>
        <p:nvSpPr>
          <p:cNvPr id="514" name="Google Shape;514;p52"/>
          <p:cNvSpPr txBox="1"/>
          <p:nvPr>
            <p:ph idx="2" type="body"/>
          </p:nvPr>
        </p:nvSpPr>
        <p:spPr>
          <a:xfrm>
            <a:off x="5188525" y="2384600"/>
            <a:ext cx="3706500" cy="1523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solidFill>
                  <a:srgbClr val="000000"/>
                </a:solidFill>
                <a:latin typeface="Consolas"/>
                <a:ea typeface="Consolas"/>
                <a:cs typeface="Consolas"/>
                <a:sym typeface="Consolas"/>
              </a:rPr>
              <a:t> = </a:t>
            </a: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3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4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Shape</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circle</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double</a:t>
            </a:r>
            <a:r>
              <a:rPr lang="en" sz="1050">
                <a:solidFill>
                  <a:srgbClr val="000000"/>
                </a:solidFill>
                <a:latin typeface="Consolas"/>
                <a:ea typeface="Consolas"/>
                <a:cs typeface="Consolas"/>
                <a:sym typeface="Consolas"/>
              </a:rPr>
              <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dimens</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-&gt;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Math</a:t>
            </a:r>
            <a:r>
              <a:rPr lang="en" sz="1050">
                <a:solidFill>
                  <a:srgbClr val="000000"/>
                </a:solidFill>
                <a:latin typeface="Consolas"/>
                <a:ea typeface="Consolas"/>
                <a:cs typeface="Consolas"/>
                <a:sym typeface="Consolas"/>
              </a:rPr>
              <a:t>.</a:t>
            </a:r>
            <a:r>
              <a:rPr lang="en" sz="1050">
                <a:solidFill>
                  <a:srgbClr val="0070C1"/>
                </a:solidFill>
                <a:latin typeface="Consolas"/>
                <a:ea typeface="Consolas"/>
                <a:cs typeface="Consolas"/>
                <a:sym typeface="Consolas"/>
              </a:rPr>
              <a:t>PI</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Math</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pow</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dimen</a:t>
            </a:r>
            <a:r>
              <a:rPr lang="en" sz="1050">
                <a:solidFill>
                  <a:srgbClr val="001080"/>
                </a:solidFill>
                <a:latin typeface="Consolas"/>
                <a:ea typeface="Consolas"/>
                <a:cs typeface="Consolas"/>
                <a:sym typeface="Consolas"/>
              </a:rPr>
              <a:t>s[0]</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7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8  </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solidFill>
                  <a:srgbClr val="000000"/>
                </a:solidFill>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circle</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area</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x</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15" name="Google Shape;515;p5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16" name="Google Shape;516;p52"/>
          <p:cNvSpPr txBox="1"/>
          <p:nvPr>
            <p:ph idx="3" type="body"/>
          </p:nvPr>
        </p:nvSpPr>
        <p:spPr>
          <a:xfrm>
            <a:off x="5188525" y="4049533"/>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The arrow operator (</a:t>
            </a:r>
            <a:r>
              <a:rPr lang="en">
                <a:solidFill>
                  <a:srgbClr val="FF0000"/>
                </a:solidFill>
                <a:latin typeface="Courier New"/>
                <a:ea typeface="Courier New"/>
                <a:cs typeface="Courier New"/>
                <a:sym typeface="Courier New"/>
              </a:rPr>
              <a:t>-&gt;</a:t>
            </a:r>
            <a:r>
              <a:rPr lang="en"/>
              <a:t>) is used to separate the parameters and the method body in a </a:t>
            </a:r>
            <a:r>
              <a:rPr b="1" i="1" lang="en">
                <a:solidFill>
                  <a:srgbClr val="FF0000"/>
                </a:solidFill>
              </a:rPr>
              <a:t>lambda expression</a:t>
            </a:r>
            <a:r>
              <a:rPr lang="en"/>
              <a:t>.</a:t>
            </a:r>
            <a:endParaRPr sz="1200"/>
          </a:p>
        </p:txBody>
      </p:sp>
      <p:sp>
        <p:nvSpPr>
          <p:cNvPr id="517" name="Google Shape;517;p52"/>
          <p:cNvSpPr txBox="1"/>
          <p:nvPr>
            <p:ph idx="2" type="body"/>
          </p:nvPr>
        </p:nvSpPr>
        <p:spPr>
          <a:xfrm>
            <a:off x="5192225" y="1609338"/>
            <a:ext cx="3706500" cy="623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267F99"/>
                </a:solidFill>
                <a:latin typeface="Consolas"/>
                <a:ea typeface="Consolas"/>
                <a:cs typeface="Consolas"/>
                <a:sym typeface="Consolas"/>
              </a:rPr>
              <a: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518" name="Google Shape;518;p52"/>
          <p:cNvSpPr txBox="1"/>
          <p:nvPr>
            <p:ph idx="3" type="body"/>
          </p:nvPr>
        </p:nvSpPr>
        <p:spPr>
          <a:xfrm>
            <a:off x="5188525" y="718608"/>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The compiler needs to </a:t>
            </a:r>
            <a:r>
              <a:rPr b="1" i="1" lang="en">
                <a:solidFill>
                  <a:srgbClr val="FF0000"/>
                </a:solidFill>
              </a:rPr>
              <a:t>infer</a:t>
            </a:r>
            <a:r>
              <a:rPr lang="en">
                <a:solidFill>
                  <a:srgbClr val="FF0000"/>
                </a:solidFill>
              </a:rPr>
              <a:t> </a:t>
            </a:r>
            <a:r>
              <a:rPr lang="en"/>
              <a:t>the name of the method implemented with a lambda, so lambdas will only work with </a:t>
            </a:r>
            <a:r>
              <a:rPr b="1" i="1" lang="en">
                <a:solidFill>
                  <a:srgbClr val="FF0000"/>
                </a:solidFill>
              </a:rPr>
              <a:t>functional interfaces</a:t>
            </a:r>
            <a:r>
              <a:rPr lang="en"/>
              <a:t>.</a:t>
            </a:r>
            <a:endParaRPr sz="1200"/>
          </a:p>
        </p:txBody>
      </p:sp>
      <p:sp>
        <p:nvSpPr>
          <p:cNvPr id="519" name="Google Shape;519;p52"/>
          <p:cNvSpPr/>
          <p:nvPr/>
        </p:nvSpPr>
        <p:spPr>
          <a:xfrm>
            <a:off x="8130775" y="2526375"/>
            <a:ext cx="719250" cy="1523688"/>
          </a:xfrm>
          <a:custGeom>
            <a:rect b="b" l="l" r="r" t="t"/>
            <a:pathLst>
              <a:path extrusionOk="0" h="72042" w="28770">
                <a:moveTo>
                  <a:pt x="25156" y="72042"/>
                </a:moveTo>
                <a:cubicBezTo>
                  <a:pt x="25505" y="60412"/>
                  <a:pt x="31445" y="11398"/>
                  <a:pt x="27252" y="2264"/>
                </a:cubicBezTo>
                <a:cubicBezTo>
                  <a:pt x="23059" y="-6870"/>
                  <a:pt x="4542" y="14742"/>
                  <a:pt x="0" y="17238"/>
                </a:cubicBezTo>
              </a:path>
            </a:pathLst>
          </a:custGeom>
          <a:noFill/>
          <a:ln cap="flat" cmpd="sng" w="19050">
            <a:solidFill>
              <a:srgbClr val="FF0000"/>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5" name="Google Shape;525;p5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Lambdas</a:t>
            </a:r>
            <a:endParaRPr/>
          </a:p>
        </p:txBody>
      </p:sp>
      <p:sp>
        <p:nvSpPr>
          <p:cNvPr id="526" name="Google Shape;526;p53"/>
          <p:cNvSpPr txBox="1"/>
          <p:nvPr>
            <p:ph idx="4294967295" type="body"/>
          </p:nvPr>
        </p:nvSpPr>
        <p:spPr>
          <a:xfrm>
            <a:off x="2516650" y="2324450"/>
            <a:ext cx="4112100" cy="17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dimens[0]</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27" name="Google Shape;527;p53"/>
          <p:cNvSpPr txBox="1"/>
          <p:nvPr>
            <p:ph idx="4294967295" type="body"/>
          </p:nvPr>
        </p:nvSpPr>
        <p:spPr>
          <a:xfrm>
            <a:off x="2516700" y="1519525"/>
            <a:ext cx="4112100" cy="623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4"/>
          <p:cNvSpPr txBox="1"/>
          <p:nvPr>
            <p:ph idx="4294967295" type="body"/>
          </p:nvPr>
        </p:nvSpPr>
        <p:spPr>
          <a:xfrm>
            <a:off x="2516650" y="2324450"/>
            <a:ext cx="4112100" cy="17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dimens[0]</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33" name="Google Shape;533;p54"/>
          <p:cNvSpPr txBox="1"/>
          <p:nvPr>
            <p:ph idx="4294967295" type="body"/>
          </p:nvPr>
        </p:nvSpPr>
        <p:spPr>
          <a:xfrm>
            <a:off x="2516700" y="1519525"/>
            <a:ext cx="4112100" cy="623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534" name="Google Shape;534;p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5" name="Google Shape;535;p5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Lambdas</a:t>
            </a:r>
            <a:endParaRPr/>
          </a:p>
        </p:txBody>
      </p:sp>
      <p:sp>
        <p:nvSpPr>
          <p:cNvPr id="536" name="Google Shape;536;p54"/>
          <p:cNvSpPr txBox="1"/>
          <p:nvPr/>
        </p:nvSpPr>
        <p:spPr>
          <a:xfrm>
            <a:off x="149750" y="1519525"/>
            <a:ext cx="2306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 </a:t>
            </a:r>
            <a:r>
              <a:rPr b="1" i="1" lang="en" sz="1200">
                <a:solidFill>
                  <a:srgbClr val="FF0000"/>
                </a:solidFill>
                <a:latin typeface="Roboto"/>
                <a:ea typeface="Roboto"/>
                <a:cs typeface="Roboto"/>
                <a:sym typeface="Roboto"/>
              </a:rPr>
              <a:t>lambda</a:t>
            </a:r>
            <a:r>
              <a:rPr lang="en" sz="1200">
                <a:solidFill>
                  <a:srgbClr val="FF0000"/>
                </a:solidFill>
                <a:latin typeface="Roboto"/>
                <a:ea typeface="Roboto"/>
                <a:cs typeface="Roboto"/>
                <a:sym typeface="Roboto"/>
              </a:rPr>
              <a:t> </a:t>
            </a:r>
            <a:r>
              <a:rPr lang="en" sz="1200">
                <a:latin typeface="Roboto"/>
                <a:ea typeface="Roboto"/>
                <a:cs typeface="Roboto"/>
                <a:sym typeface="Roboto"/>
              </a:rPr>
              <a:t>is a syntactic shortcut that can be used in place of a </a:t>
            </a:r>
            <a:r>
              <a:rPr b="1" i="1" lang="en" sz="1200">
                <a:solidFill>
                  <a:srgbClr val="FF0000"/>
                </a:solidFill>
                <a:latin typeface="Roboto"/>
                <a:ea typeface="Roboto"/>
                <a:cs typeface="Roboto"/>
                <a:sym typeface="Roboto"/>
              </a:rPr>
              <a:t>functional interface</a:t>
            </a:r>
            <a:r>
              <a:rPr lang="en" sz="1200">
                <a:latin typeface="Roboto"/>
                <a:ea typeface="Roboto"/>
                <a:cs typeface="Roboto"/>
                <a:sym typeface="Roboto"/>
              </a:rPr>
              <a:t>.</a:t>
            </a:r>
            <a:endParaRPr sz="1200">
              <a:latin typeface="Roboto"/>
              <a:ea typeface="Roboto"/>
              <a:cs typeface="Roboto"/>
              <a:sym typeface="Roboto"/>
            </a:endParaRPr>
          </a:p>
        </p:txBody>
      </p:sp>
      <p:sp>
        <p:nvSpPr>
          <p:cNvPr id="537" name="Google Shape;537;p54"/>
          <p:cNvSpPr txBox="1"/>
          <p:nvPr/>
        </p:nvSpPr>
        <p:spPr>
          <a:xfrm>
            <a:off x="149750" y="3159875"/>
            <a:ext cx="23061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Because of this, the compiler must be able to </a:t>
            </a:r>
            <a:r>
              <a:rPr b="1" i="1" lang="en" sz="1200">
                <a:solidFill>
                  <a:srgbClr val="FF0000"/>
                </a:solidFill>
                <a:latin typeface="Roboto"/>
                <a:ea typeface="Roboto"/>
                <a:cs typeface="Roboto"/>
                <a:sym typeface="Roboto"/>
              </a:rPr>
              <a:t>infer</a:t>
            </a:r>
            <a:r>
              <a:rPr lang="en" sz="1200">
                <a:solidFill>
                  <a:srgbClr val="FF0000"/>
                </a:solidFill>
                <a:latin typeface="Roboto"/>
                <a:ea typeface="Roboto"/>
                <a:cs typeface="Roboto"/>
                <a:sym typeface="Roboto"/>
              </a:rPr>
              <a:t> </a:t>
            </a:r>
            <a:r>
              <a:rPr lang="en" sz="1200">
                <a:latin typeface="Roboto"/>
                <a:ea typeface="Roboto"/>
                <a:cs typeface="Roboto"/>
                <a:sym typeface="Roboto"/>
              </a:rPr>
              <a:t>which method is being implemented by the lambda - only </a:t>
            </a:r>
            <a:r>
              <a:rPr b="1" i="1" lang="en" sz="1200">
                <a:solidFill>
                  <a:srgbClr val="FF0000"/>
                </a:solidFill>
                <a:latin typeface="Roboto"/>
                <a:ea typeface="Roboto"/>
                <a:cs typeface="Roboto"/>
                <a:sym typeface="Roboto"/>
              </a:rPr>
              <a:t>functional interfaces</a:t>
            </a:r>
            <a:r>
              <a:rPr lang="en" sz="1200">
                <a:latin typeface="Roboto"/>
                <a:ea typeface="Roboto"/>
                <a:cs typeface="Roboto"/>
                <a:sym typeface="Roboto"/>
              </a:rPr>
              <a:t> can be used.</a:t>
            </a:r>
            <a:endParaRPr sz="1200">
              <a:latin typeface="Roboto"/>
              <a:ea typeface="Roboto"/>
              <a:cs typeface="Roboto"/>
              <a:sym typeface="Roboto"/>
            </a:endParaRPr>
          </a:p>
        </p:txBody>
      </p:sp>
      <p:sp>
        <p:nvSpPr>
          <p:cNvPr id="538" name="Google Shape;538;p54"/>
          <p:cNvSpPr/>
          <p:nvPr/>
        </p:nvSpPr>
        <p:spPr>
          <a:xfrm>
            <a:off x="3421525" y="2043925"/>
            <a:ext cx="3301744" cy="928375"/>
          </a:xfrm>
          <a:custGeom>
            <a:rect b="b" l="l" r="r" t="t"/>
            <a:pathLst>
              <a:path extrusionOk="0" h="37135" w="105715">
                <a:moveTo>
                  <a:pt x="105715" y="0"/>
                </a:moveTo>
                <a:cubicBezTo>
                  <a:pt x="101223" y="4592"/>
                  <a:pt x="93936" y="23859"/>
                  <a:pt x="78763" y="27552"/>
                </a:cubicBezTo>
                <a:cubicBezTo>
                  <a:pt x="63590" y="31246"/>
                  <a:pt x="27802" y="20564"/>
                  <a:pt x="14675" y="22161"/>
                </a:cubicBezTo>
                <a:cubicBezTo>
                  <a:pt x="1548" y="23758"/>
                  <a:pt x="2446" y="34639"/>
                  <a:pt x="0" y="37135"/>
                </a:cubicBezTo>
              </a:path>
            </a:pathLst>
          </a:custGeom>
          <a:noFill/>
          <a:ln cap="flat" cmpd="sng" w="19050">
            <a:solidFill>
              <a:srgbClr val="FF0000"/>
            </a:solidFill>
            <a:prstDash val="solid"/>
            <a:round/>
            <a:headEnd len="med" w="med" type="none"/>
            <a:tailEnd len="med" w="med" type="triangle"/>
          </a:ln>
        </p:spPr>
      </p:sp>
      <p:sp>
        <p:nvSpPr>
          <p:cNvPr id="539" name="Google Shape;539;p54"/>
          <p:cNvSpPr txBox="1"/>
          <p:nvPr/>
        </p:nvSpPr>
        <p:spPr>
          <a:xfrm>
            <a:off x="6715050" y="1519525"/>
            <a:ext cx="2306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lambda creates a new instance that can be assigned to a variable of the interface's type.</a:t>
            </a:r>
            <a:endParaRPr sz="1200">
              <a:latin typeface="Roboto"/>
              <a:ea typeface="Roboto"/>
              <a:cs typeface="Roboto"/>
              <a:sym typeface="Roboto"/>
            </a:endParaRPr>
          </a:p>
        </p:txBody>
      </p:sp>
      <p:sp>
        <p:nvSpPr>
          <p:cNvPr id="540" name="Google Shape;540;p54"/>
          <p:cNvSpPr txBox="1"/>
          <p:nvPr/>
        </p:nvSpPr>
        <p:spPr>
          <a:xfrm>
            <a:off x="149750" y="2339700"/>
            <a:ext cx="2306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name of the method is </a:t>
            </a:r>
            <a:r>
              <a:rPr b="1" i="1" lang="en" sz="1200">
                <a:solidFill>
                  <a:srgbClr val="FF0000"/>
                </a:solidFill>
                <a:latin typeface="Roboto"/>
                <a:ea typeface="Roboto"/>
                <a:cs typeface="Roboto"/>
                <a:sym typeface="Roboto"/>
              </a:rPr>
              <a:t>omitted </a:t>
            </a:r>
            <a:r>
              <a:rPr lang="en" sz="1200">
                <a:latin typeface="Roboto"/>
                <a:ea typeface="Roboto"/>
                <a:cs typeface="Roboto"/>
                <a:sym typeface="Roboto"/>
              </a:rPr>
              <a:t>when creating a lambda.</a:t>
            </a:r>
            <a:endParaRPr sz="1200">
              <a:latin typeface="Roboto"/>
              <a:ea typeface="Roboto"/>
              <a:cs typeface="Roboto"/>
              <a:sym typeface="Roboto"/>
            </a:endParaRPr>
          </a:p>
        </p:txBody>
      </p:sp>
      <p:sp>
        <p:nvSpPr>
          <p:cNvPr id="541" name="Google Shape;541;p54"/>
          <p:cNvSpPr txBox="1"/>
          <p:nvPr/>
        </p:nvSpPr>
        <p:spPr>
          <a:xfrm>
            <a:off x="6723275" y="2540400"/>
            <a:ext cx="23061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most basic form of lambda includes a </a:t>
            </a:r>
            <a:r>
              <a:rPr b="1" i="1" lang="en" sz="1200">
                <a:solidFill>
                  <a:srgbClr val="FF0000"/>
                </a:solidFill>
                <a:latin typeface="Roboto"/>
                <a:ea typeface="Roboto"/>
                <a:cs typeface="Roboto"/>
                <a:sym typeface="Roboto"/>
              </a:rPr>
              <a:t>parameter list</a:t>
            </a:r>
            <a:r>
              <a:rPr lang="en" sz="1200">
                <a:latin typeface="Roboto"/>
                <a:ea typeface="Roboto"/>
                <a:cs typeface="Roboto"/>
                <a:sym typeface="Roboto"/>
              </a:rPr>
              <a:t> followed by the </a:t>
            </a:r>
            <a:r>
              <a:rPr lang="en" sz="1200">
                <a:solidFill>
                  <a:srgbClr val="FF0000"/>
                </a:solidFill>
                <a:latin typeface="Courier New"/>
                <a:ea typeface="Courier New"/>
                <a:cs typeface="Courier New"/>
                <a:sym typeface="Courier New"/>
              </a:rPr>
              <a:t>-&gt;</a:t>
            </a:r>
            <a:r>
              <a:rPr lang="en" sz="1200">
                <a:latin typeface="Roboto"/>
                <a:ea typeface="Roboto"/>
                <a:cs typeface="Roboto"/>
                <a:sym typeface="Roboto"/>
              </a:rPr>
              <a:t> operator and the curly braces defining the </a:t>
            </a:r>
            <a:r>
              <a:rPr b="1" i="1" lang="en" sz="1200">
                <a:solidFill>
                  <a:srgbClr val="FF0000"/>
                </a:solidFill>
                <a:latin typeface="Roboto"/>
                <a:ea typeface="Roboto"/>
                <a:cs typeface="Roboto"/>
                <a:sym typeface="Roboto"/>
              </a:rPr>
              <a:t>method body</a:t>
            </a:r>
            <a:r>
              <a:rPr lang="en" sz="1200">
                <a:latin typeface="Roboto"/>
                <a:ea typeface="Roboto"/>
                <a:cs typeface="Roboto"/>
                <a:sym typeface="Roboto"/>
              </a:rPr>
              <a:t>.</a:t>
            </a:r>
            <a:endParaRPr sz="1200">
              <a:latin typeface="Roboto"/>
              <a:ea typeface="Roboto"/>
              <a:cs typeface="Roboto"/>
              <a:sym typeface="Roboto"/>
            </a:endParaRPr>
          </a:p>
        </p:txBody>
      </p:sp>
      <p:grpSp>
        <p:nvGrpSpPr>
          <p:cNvPr id="542" name="Google Shape;542;p54"/>
          <p:cNvGrpSpPr/>
          <p:nvPr/>
        </p:nvGrpSpPr>
        <p:grpSpPr>
          <a:xfrm>
            <a:off x="2940667" y="2897480"/>
            <a:ext cx="3790461" cy="628912"/>
            <a:chOff x="3114550" y="2897425"/>
            <a:chExt cx="3616162" cy="628912"/>
          </a:xfrm>
        </p:grpSpPr>
        <p:grpSp>
          <p:nvGrpSpPr>
            <p:cNvPr id="543" name="Google Shape;543;p54"/>
            <p:cNvGrpSpPr/>
            <p:nvPr/>
          </p:nvGrpSpPr>
          <p:grpSpPr>
            <a:xfrm>
              <a:off x="3114550" y="2897425"/>
              <a:ext cx="3399050" cy="628912"/>
              <a:chOff x="3114550" y="2889938"/>
              <a:chExt cx="3399050" cy="628912"/>
            </a:xfrm>
          </p:grpSpPr>
          <p:sp>
            <p:nvSpPr>
              <p:cNvPr id="544" name="Google Shape;544;p54"/>
              <p:cNvSpPr/>
              <p:nvPr/>
            </p:nvSpPr>
            <p:spPr>
              <a:xfrm>
                <a:off x="3114550" y="2897425"/>
                <a:ext cx="3399050" cy="621425"/>
              </a:xfrm>
              <a:custGeom>
                <a:rect b="b" l="l" r="r" t="t"/>
                <a:pathLst>
                  <a:path extrusionOk="0" h="24857" w="135962">
                    <a:moveTo>
                      <a:pt x="50012" y="8086"/>
                    </a:moveTo>
                    <a:lnTo>
                      <a:pt x="0" y="8086"/>
                    </a:lnTo>
                    <a:lnTo>
                      <a:pt x="0" y="24857"/>
                    </a:lnTo>
                    <a:lnTo>
                      <a:pt x="135962" y="24857"/>
                    </a:lnTo>
                    <a:lnTo>
                      <a:pt x="135962" y="0"/>
                    </a:lnTo>
                    <a:lnTo>
                      <a:pt x="50312" y="0"/>
                    </a:lnTo>
                  </a:path>
                </a:pathLst>
              </a:custGeom>
              <a:noFill/>
              <a:ln cap="flat" cmpd="sng" w="19050">
                <a:solidFill>
                  <a:srgbClr val="FF0000"/>
                </a:solidFill>
                <a:prstDash val="solid"/>
                <a:round/>
                <a:headEnd len="med" w="med" type="none"/>
                <a:tailEnd len="med" w="med" type="none"/>
              </a:ln>
            </p:spPr>
          </p:sp>
          <p:cxnSp>
            <p:nvCxnSpPr>
              <p:cNvPr id="545" name="Google Shape;545;p54"/>
              <p:cNvCxnSpPr/>
              <p:nvPr/>
            </p:nvCxnSpPr>
            <p:spPr>
              <a:xfrm>
                <a:off x="4372350" y="2889938"/>
                <a:ext cx="0" cy="217200"/>
              </a:xfrm>
              <a:prstGeom prst="straightConnector1">
                <a:avLst/>
              </a:prstGeom>
              <a:noFill/>
              <a:ln cap="flat" cmpd="sng" w="19050">
                <a:solidFill>
                  <a:srgbClr val="FF0000"/>
                </a:solidFill>
                <a:prstDash val="solid"/>
                <a:round/>
                <a:headEnd len="med" w="med" type="none"/>
                <a:tailEnd len="med" w="med" type="none"/>
              </a:ln>
            </p:spPr>
          </p:cxnSp>
        </p:grpSp>
        <p:cxnSp>
          <p:nvCxnSpPr>
            <p:cNvPr id="546" name="Google Shape;546;p54"/>
            <p:cNvCxnSpPr/>
            <p:nvPr/>
          </p:nvCxnSpPr>
          <p:spPr>
            <a:xfrm rot="10800000">
              <a:off x="6506012" y="3092100"/>
              <a:ext cx="224700" cy="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0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buildExpressionTree</a:t>
            </a:r>
            <a:endParaRPr>
              <a:latin typeface="Courier New"/>
              <a:ea typeface="Courier New"/>
              <a:cs typeface="Courier New"/>
              <a:sym typeface="Courier New"/>
            </a:endParaRPr>
          </a:p>
        </p:txBody>
      </p:sp>
      <p:sp>
        <p:nvSpPr>
          <p:cNvPr id="552" name="Google Shape;552;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55"/>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For the next few activities, we'll be adding additional mathematical expressions to the </a:t>
            </a:r>
            <a:r>
              <a:rPr lang="en">
                <a:latin typeface="Courier New"/>
                <a:ea typeface="Courier New"/>
                <a:cs typeface="Courier New"/>
                <a:sym typeface="Courier New"/>
              </a:rPr>
              <a:t>buildExpressionTree</a:t>
            </a:r>
            <a:r>
              <a:rPr lang="en"/>
              <a:t> method in the provided </a:t>
            </a:r>
            <a:r>
              <a:rPr lang="en">
                <a:latin typeface="Courier New"/>
                <a:ea typeface="Courier New"/>
                <a:cs typeface="Courier New"/>
                <a:sym typeface="Courier New"/>
              </a:rPr>
              <a:t>ExpressionTree</a:t>
            </a:r>
            <a:r>
              <a:rPr lang="en"/>
              <a:t> class. Before we start, let's take a closer look at the method first.</a:t>
            </a:r>
            <a:endParaRPr/>
          </a:p>
        </p:txBody>
      </p:sp>
      <p:sp>
        <p:nvSpPr>
          <p:cNvPr id="554" name="Google Shape;554;p55"/>
          <p:cNvSpPr txBox="1"/>
          <p:nvPr>
            <p:ph idx="2" type="body"/>
          </p:nvPr>
        </p:nvSpPr>
        <p:spPr>
          <a:xfrm>
            <a:off x="3165300" y="1881550"/>
            <a:ext cx="5775900" cy="3004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ExpressionTree</a:t>
            </a:r>
            <a:r>
              <a:rPr lang="en"/>
              <a:t> class in the provided </a:t>
            </a:r>
            <a:r>
              <a:rPr lang="en">
                <a:latin typeface="Courier New"/>
                <a:ea typeface="Courier New"/>
                <a:cs typeface="Courier New"/>
                <a:sym typeface="Courier New"/>
              </a:rPr>
              <a:t>expressions</a:t>
            </a:r>
            <a:r>
              <a:rPr lang="en"/>
              <a:t> package.</a:t>
            </a:r>
            <a:endParaRPr/>
          </a:p>
          <a:p>
            <a:pPr indent="-311150" lvl="0" marL="457200" rtl="0" algn="l">
              <a:spcBef>
                <a:spcPts val="0"/>
              </a:spcBef>
              <a:spcAft>
                <a:spcPts val="0"/>
              </a:spcAft>
              <a:buSzPts val="1300"/>
              <a:buChar char="●"/>
            </a:pPr>
            <a:r>
              <a:rPr lang="en"/>
              <a:t>For the most part, the main function is the example that was shown earlier for anonymous classes.</a:t>
            </a:r>
            <a:endParaRPr/>
          </a:p>
          <a:p>
            <a:pPr indent="-311150" lvl="0" marL="457200" rtl="0" algn="l">
              <a:spcBef>
                <a:spcPts val="0"/>
              </a:spcBef>
              <a:spcAft>
                <a:spcPts val="0"/>
              </a:spcAft>
              <a:buSzPts val="1300"/>
              <a:buChar char="●"/>
            </a:pPr>
            <a:r>
              <a:rPr lang="en"/>
              <a:t>Focus on the </a:t>
            </a:r>
            <a:r>
              <a:rPr lang="en">
                <a:latin typeface="Courier New"/>
                <a:ea typeface="Courier New"/>
                <a:cs typeface="Courier New"/>
                <a:sym typeface="Courier New"/>
              </a:rPr>
              <a:t>buildExpressionTree</a:t>
            </a:r>
            <a:r>
              <a:rPr lang="en"/>
              <a:t> which is a more full fledged </a:t>
            </a:r>
            <a:r>
              <a:rPr lang="en"/>
              <a:t>implementation.</a:t>
            </a:r>
            <a:endParaRPr/>
          </a:p>
          <a:p>
            <a:pPr indent="-298450" lvl="1" marL="914400" rtl="0" algn="l">
              <a:spcBef>
                <a:spcPts val="0"/>
              </a:spcBef>
              <a:spcAft>
                <a:spcPts val="0"/>
              </a:spcAft>
              <a:buSzPts val="1100"/>
              <a:buChar char="○"/>
            </a:pPr>
            <a:r>
              <a:rPr lang="en"/>
              <a:t>It builds a complete expression tree given a string using infix notation.</a:t>
            </a:r>
            <a:endParaRPr/>
          </a:p>
          <a:p>
            <a:pPr indent="-298450" lvl="1" marL="914400" rtl="0" algn="l">
              <a:spcBef>
                <a:spcPts val="0"/>
              </a:spcBef>
              <a:spcAft>
                <a:spcPts val="0"/>
              </a:spcAft>
              <a:buSzPts val="1100"/>
              <a:buChar char="○"/>
            </a:pPr>
            <a:r>
              <a:rPr lang="en"/>
              <a:t>I.E. </a:t>
            </a:r>
            <a:r>
              <a:rPr lang="en">
                <a:latin typeface="Courier New"/>
                <a:ea typeface="Courier New"/>
                <a:cs typeface="Courier New"/>
                <a:sym typeface="Courier New"/>
              </a:rPr>
              <a:t>3 + 5 -- </a:t>
            </a:r>
            <a:r>
              <a:rPr lang="en"/>
              <a:t>wich would evaluate to </a:t>
            </a:r>
            <a:r>
              <a:rPr lang="en">
                <a:latin typeface="Courier New"/>
                <a:ea typeface="Courier New"/>
                <a:cs typeface="Courier New"/>
                <a:sym typeface="Courier New"/>
              </a:rPr>
              <a:t>7 </a:t>
            </a:r>
            <a:r>
              <a:rPr lang="en"/>
              <a:t>(</a:t>
            </a:r>
            <a:r>
              <a:rPr lang="en">
                <a:latin typeface="Courier New"/>
                <a:ea typeface="Courier New"/>
                <a:cs typeface="Courier New"/>
                <a:sym typeface="Courier New"/>
              </a:rPr>
              <a:t>8--</a:t>
            </a:r>
            <a:r>
              <a:rPr lang="en"/>
              <a:t>). </a:t>
            </a:r>
            <a:endParaRPr/>
          </a:p>
          <a:p>
            <a:pPr indent="-298450" lvl="1" marL="914400" rtl="0" algn="l">
              <a:spcBef>
                <a:spcPts val="0"/>
              </a:spcBef>
              <a:spcAft>
                <a:spcPts val="0"/>
              </a:spcAft>
              <a:buSzPts val="1100"/>
              <a:buChar char="○"/>
            </a:pPr>
            <a:r>
              <a:rPr lang="en"/>
              <a:t>This solution does not enforce PEMDAS which requires a much more complex algorithm to parse.</a:t>
            </a:r>
            <a:endParaRPr/>
          </a:p>
          <a:p>
            <a:pPr indent="-311150" lvl="0" marL="457200" rtl="0" algn="l">
              <a:spcBef>
                <a:spcPts val="0"/>
              </a:spcBef>
              <a:spcAft>
                <a:spcPts val="0"/>
              </a:spcAft>
              <a:buSzPts val="1300"/>
              <a:buChar char="●"/>
            </a:pPr>
            <a:r>
              <a:rPr lang="en"/>
              <a:t>The algorithm itself if less important, the main area to understand is where the actual binary expressions are created.</a:t>
            </a:r>
            <a:endParaRPr/>
          </a:p>
          <a:p>
            <a:pPr indent="-311150" lvl="0" marL="457200" rtl="0" algn="l">
              <a:spcBef>
                <a:spcPts val="0"/>
              </a:spcBef>
              <a:spcAft>
                <a:spcPts val="0"/>
              </a:spcAft>
              <a:buSzPts val="1300"/>
              <a:buChar char="●"/>
            </a:pPr>
            <a:r>
              <a:rPr lang="en"/>
              <a:t>Raise your hand if you have any questions.</a:t>
            </a:r>
            <a:endParaRPr/>
          </a:p>
        </p:txBody>
      </p:sp>
      <p:sp>
        <p:nvSpPr>
          <p:cNvPr id="555" name="Google Shape;555;p5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4.6</a:t>
            </a:r>
            <a:endParaRPr/>
          </a:p>
        </p:txBody>
      </p:sp>
      <p:sp>
        <p:nvSpPr>
          <p:cNvPr id="556" name="Google Shape;556;p55"/>
          <p:cNvSpPr txBox="1"/>
          <p:nvPr>
            <p:ph idx="4" type="body"/>
          </p:nvPr>
        </p:nvSpPr>
        <p:spPr>
          <a:xfrm>
            <a:off x="141600" y="4171030"/>
            <a:ext cx="3023700" cy="861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100"/>
              <a:t>Think of the </a:t>
            </a:r>
            <a:r>
              <a:rPr lang="en" sz="1100">
                <a:latin typeface="Courier New"/>
                <a:ea typeface="Courier New"/>
                <a:cs typeface="Courier New"/>
                <a:sym typeface="Courier New"/>
              </a:rPr>
              <a:t>buildExpressionTree</a:t>
            </a:r>
            <a:r>
              <a:rPr lang="en" sz="1100"/>
              <a:t> as a simple </a:t>
            </a:r>
            <a:r>
              <a:rPr lang="en" sz="1100"/>
              <a:t>calculator that immediately performs the requested operation once the necessary operands have been entered.</a:t>
            </a:r>
            <a:endParaRPr sz="1100"/>
          </a:p>
        </p:txBody>
      </p:sp>
      <p:pic>
        <p:nvPicPr>
          <p:cNvPr id="557" name="Google Shape;557;p55"/>
          <p:cNvPicPr preferRelativeResize="0"/>
          <p:nvPr/>
        </p:nvPicPr>
        <p:blipFill>
          <a:blip r:embed="rId3">
            <a:alphaModFix/>
          </a:blip>
          <a:stretch>
            <a:fillRect/>
          </a:stretch>
        </p:blipFill>
        <p:spPr>
          <a:xfrm>
            <a:off x="585038" y="1814150"/>
            <a:ext cx="2136826" cy="2229026"/>
          </a:xfrm>
          <a:prstGeom prst="rect">
            <a:avLst/>
          </a:prstGeom>
          <a:noFill/>
          <a:ln>
            <a:noFill/>
          </a:ln>
        </p:spPr>
      </p:pic>
      <p:sp>
        <p:nvSpPr>
          <p:cNvPr id="558" name="Google Shape;558;p55"/>
          <p:cNvSpPr/>
          <p:nvPr/>
        </p:nvSpPr>
        <p:spPr>
          <a:xfrm>
            <a:off x="2092720" y="3387088"/>
            <a:ext cx="275700" cy="254400"/>
          </a:xfrm>
          <a:prstGeom prst="noSmoking">
            <a:avLst>
              <a:gd fmla="val 8250"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4" name="Google Shape;564;p5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Multiplication Lambda Expression</a:t>
            </a:r>
            <a:endParaRPr/>
          </a:p>
        </p:txBody>
      </p:sp>
      <p:sp>
        <p:nvSpPr>
          <p:cNvPr id="565" name="Google Shape;565;p5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existing </a:t>
            </a:r>
            <a:r>
              <a:rPr lang="en">
                <a:latin typeface="Courier New"/>
                <a:ea typeface="Courier New"/>
                <a:cs typeface="Courier New"/>
                <a:sym typeface="Courier New"/>
              </a:rPr>
              <a:t>buildExpressionTree</a:t>
            </a:r>
            <a:r>
              <a:rPr lang="en"/>
              <a:t> only works with the binary operators "+" and "-". Add a new case for multiplication ("</a:t>
            </a:r>
            <a:r>
              <a:rPr b="1" lang="en">
                <a:solidFill>
                  <a:srgbClr val="FF0000"/>
                </a:solidFill>
              </a:rPr>
              <a:t>*</a:t>
            </a:r>
            <a:r>
              <a:rPr lang="en"/>
              <a:t>") using a </a:t>
            </a:r>
            <a:r>
              <a:rPr b="1" lang="en">
                <a:solidFill>
                  <a:srgbClr val="FF0000"/>
                </a:solidFill>
              </a:rPr>
              <a:t>lambda expression</a:t>
            </a:r>
            <a:r>
              <a:rPr lang="en"/>
              <a:t>.</a:t>
            </a:r>
            <a:r>
              <a:rPr lang="en"/>
              <a:t> </a:t>
            </a:r>
            <a:endParaRPr/>
          </a:p>
        </p:txBody>
      </p:sp>
      <p:sp>
        <p:nvSpPr>
          <p:cNvPr id="566" name="Google Shape;566;p5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a:t>
            </a:r>
            <a:r>
              <a:rPr lang="en"/>
              <a:t>.7</a:t>
            </a:r>
            <a:endParaRPr/>
          </a:p>
        </p:txBody>
      </p:sp>
      <p:sp>
        <p:nvSpPr>
          <p:cNvPr id="567" name="Google Shape;567;p56"/>
          <p:cNvSpPr txBox="1"/>
          <p:nvPr>
            <p:ph idx="2" type="body"/>
          </p:nvPr>
        </p:nvSpPr>
        <p:spPr>
          <a:xfrm>
            <a:off x="3975600" y="1741950"/>
            <a:ext cx="4830600" cy="2583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In the </a:t>
            </a:r>
            <a:r>
              <a:rPr lang="en" sz="1600">
                <a:solidFill>
                  <a:srgbClr val="FF0000"/>
                </a:solidFill>
                <a:latin typeface="Courier New"/>
                <a:ea typeface="Courier New"/>
                <a:cs typeface="Courier New"/>
                <a:sym typeface="Courier New"/>
              </a:rPr>
              <a:t>ExpressionTree</a:t>
            </a:r>
            <a:r>
              <a:rPr lang="en" sz="1600"/>
              <a:t> class's </a:t>
            </a:r>
            <a:r>
              <a:rPr lang="en" sz="1600">
                <a:latin typeface="Courier New"/>
                <a:ea typeface="Courier New"/>
                <a:cs typeface="Courier New"/>
                <a:sym typeface="Courier New"/>
              </a:rPr>
              <a:t>buildExpressionTree</a:t>
            </a:r>
            <a:r>
              <a:rPr lang="en" sz="1600"/>
              <a:t>, use a lambda expression to handle the </a:t>
            </a:r>
            <a:r>
              <a:rPr lang="en" sz="1600"/>
              <a:t>multiplication</a:t>
            </a:r>
            <a:r>
              <a:rPr lang="en" sz="1600"/>
              <a:t> case.</a:t>
            </a:r>
            <a:endParaRPr sz="1600"/>
          </a:p>
          <a:p>
            <a:pPr indent="-323850" lvl="1" marL="914400" rtl="0" algn="l">
              <a:spcBef>
                <a:spcPts val="1000"/>
              </a:spcBef>
              <a:spcAft>
                <a:spcPts val="0"/>
              </a:spcAft>
              <a:buSzPts val="1500"/>
              <a:buChar char="○"/>
            </a:pPr>
            <a:r>
              <a:rPr lang="en" sz="1500"/>
              <a:t>Create a lambda expression for the </a:t>
            </a:r>
            <a:r>
              <a:rPr lang="en" sz="1500">
                <a:latin typeface="Courier New"/>
                <a:ea typeface="Courier New"/>
                <a:cs typeface="Courier New"/>
                <a:sym typeface="Courier New"/>
              </a:rPr>
              <a:t>Expression</a:t>
            </a:r>
            <a:r>
              <a:rPr lang="en" sz="1500"/>
              <a:t> </a:t>
            </a:r>
            <a:r>
              <a:rPr lang="en" sz="1500"/>
              <a:t>interface</a:t>
            </a:r>
            <a:r>
              <a:rPr lang="en" sz="1500"/>
              <a:t> that implements multiplication.</a:t>
            </a:r>
            <a:endParaRPr sz="1500"/>
          </a:p>
          <a:p>
            <a:pPr indent="-323850" lvl="1" marL="914400" rtl="0" algn="l">
              <a:spcBef>
                <a:spcPts val="1000"/>
              </a:spcBef>
              <a:spcAft>
                <a:spcPts val="1000"/>
              </a:spcAft>
              <a:buSzPts val="1500"/>
              <a:buChar char="○"/>
            </a:pPr>
            <a:r>
              <a:rPr lang="en" sz="1500"/>
              <a:t>Follow the format used for "+" and "-" when accessing the operands.</a:t>
            </a:r>
            <a:endParaRPr sz="1500"/>
          </a:p>
        </p:txBody>
      </p:sp>
      <p:sp>
        <p:nvSpPr>
          <p:cNvPr id="568" name="Google Shape;568;p56"/>
          <p:cNvSpPr txBox="1"/>
          <p:nvPr>
            <p:ph idx="4" type="body"/>
          </p:nvPr>
        </p:nvSpPr>
        <p:spPr>
          <a:xfrm>
            <a:off x="217800" y="2699282"/>
            <a:ext cx="3757800" cy="1593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static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main</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args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int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x</a:t>
            </a:r>
            <a:r>
              <a:rPr lang="en" sz="1100">
                <a:solidFill>
                  <a:srgbClr val="000000"/>
                </a:solidFill>
                <a:latin typeface="Consolas"/>
                <a:ea typeface="Consolas"/>
                <a:cs typeface="Consolas"/>
                <a:sym typeface="Consolas"/>
              </a:rPr>
              <a:t> = </a:t>
            </a: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8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Shape</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circle</a:t>
            </a:r>
            <a:r>
              <a:rPr lang="en" sz="1100">
                <a:solidFill>
                  <a:srgbClr val="000000"/>
                </a:solidFill>
                <a:latin typeface="Consolas"/>
                <a:ea typeface="Consolas"/>
                <a:cs typeface="Consolas"/>
                <a:sym typeface="Consolas"/>
              </a:rPr>
              <a:t> = </a:t>
            </a:r>
            <a:r>
              <a:rPr lang="en" sz="1100">
                <a:solidFill>
                  <a:srgbClr val="000000"/>
                </a:solidFill>
                <a:highlight>
                  <a:srgbClr val="D9EAD3"/>
                </a:highlight>
                <a:latin typeface="Consolas"/>
                <a:ea typeface="Consolas"/>
                <a:cs typeface="Consolas"/>
                <a:sym typeface="Consolas"/>
              </a:rPr>
              <a:t>(</a:t>
            </a:r>
            <a:r>
              <a:rPr lang="en" sz="1100">
                <a:solidFill>
                  <a:srgbClr val="267F99"/>
                </a:solidFill>
                <a:highlight>
                  <a:srgbClr val="D9EAD3"/>
                </a:highlight>
                <a:latin typeface="Consolas"/>
                <a:ea typeface="Consolas"/>
                <a:cs typeface="Consolas"/>
                <a:sym typeface="Consolas"/>
              </a:rPr>
              <a:t>double</a:t>
            </a:r>
            <a:r>
              <a:rPr lang="en" sz="1100">
                <a:solidFill>
                  <a:srgbClr val="267F99"/>
                </a:solidFill>
                <a:highlight>
                  <a:srgbClr val="D9EAD3"/>
                </a:highlight>
                <a:latin typeface="Consolas"/>
                <a:ea typeface="Consolas"/>
                <a:cs typeface="Consolas"/>
                <a:sym typeface="Consolas"/>
              </a:rPr>
              <a:t>...</a:t>
            </a:r>
            <a:r>
              <a:rPr lang="en" sz="1100">
                <a:solidFill>
                  <a:srgbClr val="000000"/>
                </a:solidFill>
                <a:highlight>
                  <a:srgbClr val="D9EAD3"/>
                </a:highlight>
                <a:latin typeface="Consolas"/>
                <a:ea typeface="Consolas"/>
                <a:cs typeface="Consolas"/>
                <a:sym typeface="Consolas"/>
              </a:rPr>
              <a:t> </a:t>
            </a:r>
            <a:r>
              <a:rPr lang="en" sz="1100">
                <a:solidFill>
                  <a:srgbClr val="001080"/>
                </a:solidFill>
                <a:highlight>
                  <a:srgbClr val="D9EAD3"/>
                </a:highlight>
                <a:latin typeface="Consolas"/>
                <a:ea typeface="Consolas"/>
                <a:cs typeface="Consolas"/>
                <a:sym typeface="Consolas"/>
              </a:rPr>
              <a:t>dimens</a:t>
            </a:r>
            <a:r>
              <a:rPr lang="en" sz="1100">
                <a:solidFill>
                  <a:srgbClr val="000000"/>
                </a:solidFill>
                <a:highlight>
                  <a:srgbClr val="D9EAD3"/>
                </a:highlight>
                <a:latin typeface="Consolas"/>
                <a:ea typeface="Consolas"/>
                <a:cs typeface="Consolas"/>
                <a:sym typeface="Consolas"/>
              </a:rPr>
              <a:t>) </a:t>
            </a:r>
            <a:r>
              <a:rPr lang="en" sz="1100">
                <a:solidFill>
                  <a:srgbClr val="0000FF"/>
                </a:solidFill>
                <a:highlight>
                  <a:srgbClr val="D9EAD3"/>
                </a:highlight>
                <a:latin typeface="Consolas"/>
                <a:ea typeface="Consolas"/>
                <a:cs typeface="Consolas"/>
                <a:sym typeface="Consolas"/>
              </a:rPr>
              <a:t>-&gt;</a:t>
            </a:r>
            <a:r>
              <a:rPr lang="en" sz="1100">
                <a:solidFill>
                  <a:srgbClr val="000000"/>
                </a:solidFill>
                <a:highlight>
                  <a:srgbClr val="D9EAD3"/>
                </a:highlight>
                <a:latin typeface="Consolas"/>
                <a:ea typeface="Consolas"/>
                <a:cs typeface="Consolas"/>
                <a:sym typeface="Consolas"/>
              </a:rPr>
              <a:t> {</a:t>
            </a:r>
            <a:r>
              <a:rPr lang="en" sz="1100">
                <a:solidFill>
                  <a:srgbClr val="D9EAD3"/>
                </a:solidFill>
                <a:highlight>
                  <a:srgbClr val="D9EAD3"/>
                </a:highlight>
                <a:latin typeface="Consolas"/>
                <a:ea typeface="Consolas"/>
                <a:cs typeface="Consolas"/>
                <a:sym typeface="Consolas"/>
              </a:rPr>
              <a:t>-----</a:t>
            </a:r>
            <a:r>
              <a:rPr lang="en" sz="1100">
                <a:solidFill>
                  <a:srgbClr val="000000"/>
                </a:solidFill>
                <a:highlight>
                  <a:srgbClr val="D9EAD3"/>
                </a:highlight>
                <a:latin typeface="Consolas"/>
                <a:ea typeface="Consolas"/>
                <a:cs typeface="Consolas"/>
                <a:sym typeface="Consolas"/>
              </a:rPr>
              <a:t>     </a:t>
            </a:r>
            <a:endParaRPr sz="1100">
              <a:solidFill>
                <a:srgbClr val="000000"/>
              </a:solidFill>
              <a:highlight>
                <a:srgbClr val="D9EAD3"/>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00"/>
                </a:solidFill>
                <a:highlight>
                  <a:srgbClr val="D9EAD3"/>
                </a:highlight>
                <a:latin typeface="Consolas"/>
                <a:ea typeface="Consolas"/>
                <a:cs typeface="Consolas"/>
                <a:sym typeface="Consolas"/>
              </a:rPr>
              <a:t>   </a:t>
            </a:r>
            <a:r>
              <a:rPr lang="en" sz="1100">
                <a:solidFill>
                  <a:srgbClr val="AF00DB"/>
                </a:solidFill>
                <a:highlight>
                  <a:srgbClr val="D9EAD3"/>
                </a:highlight>
                <a:latin typeface="Consolas"/>
                <a:ea typeface="Consolas"/>
                <a:cs typeface="Consolas"/>
                <a:sym typeface="Consolas"/>
              </a:rPr>
              <a:t>return</a:t>
            </a:r>
            <a:r>
              <a:rPr lang="en" sz="1100">
                <a:solidFill>
                  <a:srgbClr val="000000"/>
                </a:solidFill>
                <a:highlight>
                  <a:srgbClr val="D9EAD3"/>
                </a:highlight>
                <a:latin typeface="Consolas"/>
                <a:ea typeface="Consolas"/>
                <a:cs typeface="Consolas"/>
                <a:sym typeface="Consolas"/>
              </a:rPr>
              <a:t> </a:t>
            </a:r>
            <a:r>
              <a:rPr lang="en" sz="1100">
                <a:solidFill>
                  <a:srgbClr val="267F99"/>
                </a:solidFill>
                <a:highlight>
                  <a:srgbClr val="D9EAD3"/>
                </a:highlight>
                <a:latin typeface="Consolas"/>
                <a:ea typeface="Consolas"/>
                <a:cs typeface="Consolas"/>
                <a:sym typeface="Consolas"/>
              </a:rPr>
              <a:t>Math</a:t>
            </a:r>
            <a:r>
              <a:rPr lang="en" sz="1100">
                <a:solidFill>
                  <a:srgbClr val="000000"/>
                </a:solidFill>
                <a:highlight>
                  <a:srgbClr val="D9EAD3"/>
                </a:highlight>
                <a:latin typeface="Consolas"/>
                <a:ea typeface="Consolas"/>
                <a:cs typeface="Consolas"/>
                <a:sym typeface="Consolas"/>
              </a:rPr>
              <a:t>.</a:t>
            </a:r>
            <a:r>
              <a:rPr lang="en" sz="1100">
                <a:solidFill>
                  <a:srgbClr val="0070C1"/>
                </a:solidFill>
                <a:highlight>
                  <a:srgbClr val="D9EAD3"/>
                </a:highlight>
                <a:latin typeface="Consolas"/>
                <a:ea typeface="Consolas"/>
                <a:cs typeface="Consolas"/>
                <a:sym typeface="Consolas"/>
              </a:rPr>
              <a:t>PI</a:t>
            </a:r>
            <a:r>
              <a:rPr lang="en" sz="1100">
                <a:solidFill>
                  <a:srgbClr val="000000"/>
                </a:solidFill>
                <a:highlight>
                  <a:srgbClr val="D9EAD3"/>
                </a:highlight>
                <a:latin typeface="Consolas"/>
                <a:ea typeface="Consolas"/>
                <a:cs typeface="Consolas"/>
                <a:sym typeface="Consolas"/>
              </a:rPr>
              <a:t> * </a:t>
            </a:r>
            <a:r>
              <a:rPr lang="en" sz="1100">
                <a:solidFill>
                  <a:srgbClr val="267F99"/>
                </a:solidFill>
                <a:highlight>
                  <a:srgbClr val="D9EAD3"/>
                </a:highlight>
                <a:latin typeface="Consolas"/>
                <a:ea typeface="Consolas"/>
                <a:cs typeface="Consolas"/>
                <a:sym typeface="Consolas"/>
              </a:rPr>
              <a:t>Math</a:t>
            </a:r>
            <a:r>
              <a:rPr lang="en" sz="1100">
                <a:solidFill>
                  <a:srgbClr val="000000"/>
                </a:solidFill>
                <a:highlight>
                  <a:srgbClr val="D9EAD3"/>
                </a:highlight>
                <a:latin typeface="Consolas"/>
                <a:ea typeface="Consolas"/>
                <a:cs typeface="Consolas"/>
                <a:sym typeface="Consolas"/>
              </a:rPr>
              <a:t>.</a:t>
            </a:r>
            <a:r>
              <a:rPr lang="en" sz="1100">
                <a:solidFill>
                  <a:srgbClr val="795E26"/>
                </a:solidFill>
                <a:highlight>
                  <a:srgbClr val="D9EAD3"/>
                </a:highlight>
                <a:latin typeface="Consolas"/>
                <a:ea typeface="Consolas"/>
                <a:cs typeface="Consolas"/>
                <a:sym typeface="Consolas"/>
              </a:rPr>
              <a:t>pow</a:t>
            </a:r>
            <a:r>
              <a:rPr lang="en" sz="1100">
                <a:solidFill>
                  <a:srgbClr val="000000"/>
                </a:solidFill>
                <a:highlight>
                  <a:srgbClr val="D9EAD3"/>
                </a:highlight>
                <a:latin typeface="Consolas"/>
                <a:ea typeface="Consolas"/>
                <a:cs typeface="Consolas"/>
                <a:sym typeface="Consolas"/>
              </a:rPr>
              <a:t>(</a:t>
            </a:r>
            <a:r>
              <a:rPr lang="en" sz="1100">
                <a:solidFill>
                  <a:srgbClr val="001080"/>
                </a:solidFill>
                <a:highlight>
                  <a:srgbClr val="D9EAD3"/>
                </a:highlight>
                <a:latin typeface="Consolas"/>
                <a:ea typeface="Consolas"/>
                <a:cs typeface="Consolas"/>
                <a:sym typeface="Consolas"/>
              </a:rPr>
              <a:t>dimens[0]</a:t>
            </a:r>
            <a:r>
              <a:rPr lang="en" sz="1100">
                <a:solidFill>
                  <a:srgbClr val="000000"/>
                </a:solidFill>
                <a:highlight>
                  <a:srgbClr val="D9EAD3"/>
                </a:highlight>
                <a:latin typeface="Consolas"/>
                <a:ea typeface="Consolas"/>
                <a:cs typeface="Consolas"/>
                <a:sym typeface="Consolas"/>
              </a:rPr>
              <a:t>, </a:t>
            </a:r>
            <a:r>
              <a:rPr lang="en" sz="1100">
                <a:solidFill>
                  <a:srgbClr val="098658"/>
                </a:solidFill>
                <a:highlight>
                  <a:srgbClr val="D9EAD3"/>
                </a:highlight>
                <a:latin typeface="Consolas"/>
                <a:ea typeface="Consolas"/>
                <a:cs typeface="Consolas"/>
                <a:sym typeface="Consolas"/>
              </a:rPr>
              <a:t>2</a:t>
            </a:r>
            <a:r>
              <a:rPr lang="en" sz="1100">
                <a:solidFill>
                  <a:srgbClr val="000000"/>
                </a:solidFill>
                <a:highlight>
                  <a:srgbClr val="D9EAD3"/>
                </a:highlight>
                <a:latin typeface="Consolas"/>
                <a:ea typeface="Consolas"/>
                <a:cs typeface="Consolas"/>
                <a:sym typeface="Consolas"/>
              </a:rPr>
              <a:t>);</a:t>
            </a:r>
            <a:endParaRPr sz="1100">
              <a:solidFill>
                <a:srgbClr val="000000"/>
              </a:solidFill>
              <a:highlight>
                <a:srgbClr val="D9EAD3"/>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00"/>
                </a:solidFill>
                <a:highlight>
                  <a:srgbClr val="D9EAD3"/>
                </a:highlight>
                <a:latin typeface="Consolas"/>
                <a:ea typeface="Consolas"/>
                <a:cs typeface="Consolas"/>
                <a:sym typeface="Consolas"/>
              </a:rPr>
              <a:t>};</a:t>
            </a:r>
            <a:endParaRPr sz="1100">
              <a:solidFill>
                <a:srgbClr val="000000"/>
              </a:solidFill>
              <a:highlight>
                <a:srgbClr val="D9EAD3"/>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8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System</a:t>
            </a:r>
            <a:r>
              <a:rPr lang="en" sz="1100">
                <a:solidFill>
                  <a:srgbClr val="000000"/>
                </a:solidFill>
                <a:latin typeface="Consolas"/>
                <a:ea typeface="Consolas"/>
                <a:cs typeface="Consolas"/>
                <a:sym typeface="Consolas"/>
              </a:rPr>
              <a:t>.</a:t>
            </a:r>
            <a:r>
              <a:rPr lang="en" sz="1100">
                <a:solidFill>
                  <a:srgbClr val="0070C1"/>
                </a:solidFill>
                <a:latin typeface="Consolas"/>
                <a:ea typeface="Consolas"/>
                <a:cs typeface="Consolas"/>
                <a:sym typeface="Consolas"/>
              </a:rPr>
              <a:t>out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circle</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area</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x</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sp>
        <p:nvSpPr>
          <p:cNvPr id="569" name="Google Shape;569;p56"/>
          <p:cNvSpPr txBox="1"/>
          <p:nvPr>
            <p:ph idx="4" type="body"/>
          </p:nvPr>
        </p:nvSpPr>
        <p:spPr>
          <a:xfrm>
            <a:off x="217800" y="1894350"/>
            <a:ext cx="3757800" cy="577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interface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Shape</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double</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area</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double</a:t>
            </a:r>
            <a:r>
              <a:rPr lang="en" sz="1100">
                <a:latin typeface="Consolas"/>
                <a:ea typeface="Consolas"/>
                <a:cs typeface="Consolas"/>
                <a:sym typeface="Consolas"/>
              </a:rPr>
              <a: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length</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sp>
        <p:nvSpPr>
          <p:cNvPr id="570" name="Google Shape;570;p56"/>
          <p:cNvSpPr txBox="1"/>
          <p:nvPr>
            <p:ph idx="4" type="body"/>
          </p:nvPr>
        </p:nvSpPr>
        <p:spPr>
          <a:xfrm>
            <a:off x="217800" y="4449350"/>
            <a:ext cx="3757800" cy="52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100"/>
              <a:t>Feel free to refactor the binary operator's </a:t>
            </a:r>
            <a:r>
              <a:rPr lang="en" sz="1100">
                <a:latin typeface="Courier New"/>
                <a:ea typeface="Courier New"/>
                <a:cs typeface="Courier New"/>
                <a:sym typeface="Courier New"/>
              </a:rPr>
              <a:t>if</a:t>
            </a:r>
            <a:r>
              <a:rPr lang="en" sz="1100"/>
              <a:t> block into a </a:t>
            </a:r>
            <a:r>
              <a:rPr lang="en" sz="1100">
                <a:latin typeface="Courier New"/>
                <a:ea typeface="Courier New"/>
                <a:cs typeface="Courier New"/>
                <a:sym typeface="Courier New"/>
              </a:rPr>
              <a:t>switch</a:t>
            </a:r>
            <a:r>
              <a:rPr lang="en" sz="1100"/>
              <a:t> statement.</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7"/>
          <p:cNvSpPr txBox="1"/>
          <p:nvPr>
            <p:ph type="title"/>
          </p:nvPr>
        </p:nvSpPr>
        <p:spPr>
          <a:xfrm>
            <a:off x="311725" y="50092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More </a:t>
            </a:r>
            <a:r>
              <a:rPr lang="en"/>
              <a:t>Lambdas</a:t>
            </a:r>
            <a:endParaRPr/>
          </a:p>
        </p:txBody>
      </p:sp>
      <p:sp>
        <p:nvSpPr>
          <p:cNvPr id="576" name="Google Shape;576;p57"/>
          <p:cNvSpPr txBox="1"/>
          <p:nvPr>
            <p:ph idx="1" type="body"/>
          </p:nvPr>
        </p:nvSpPr>
        <p:spPr>
          <a:xfrm>
            <a:off x="4388137" y="42532"/>
            <a:ext cx="4315200" cy="5035200"/>
          </a:xfrm>
          <a:prstGeom prst="rect">
            <a:avLst/>
          </a:prstGeom>
          <a:noFill/>
          <a:ln>
            <a:noFill/>
          </a:ln>
        </p:spPr>
        <p:txBody>
          <a:bodyPr anchorCtr="0" anchor="t" bIns="34275" lIns="68575" spcFirstLastPara="1" rIns="68575" wrap="square" tIns="34275">
            <a:spAutoFit/>
          </a:bodyPr>
          <a:lstStyle/>
          <a:p>
            <a:pPr indent="-311150" lvl="0" marL="457200" rtl="0" algn="l">
              <a:lnSpc>
                <a:spcPct val="115000"/>
              </a:lnSpc>
              <a:spcBef>
                <a:spcPts val="0"/>
              </a:spcBef>
              <a:spcAft>
                <a:spcPts val="0"/>
              </a:spcAft>
              <a:buSzPts val="1300"/>
              <a:buChar char="●"/>
            </a:pPr>
            <a:r>
              <a:rPr lang="en"/>
              <a:t>The compiler is able to infer more than just the name of the method in a functional interface.</a:t>
            </a:r>
            <a:endParaRPr sz="1200"/>
          </a:p>
          <a:p>
            <a:pPr indent="-311150" lvl="0" marL="457200" rtl="0" algn="l">
              <a:lnSpc>
                <a:spcPct val="115000"/>
              </a:lnSpc>
              <a:spcBef>
                <a:spcPts val="1000"/>
              </a:spcBef>
              <a:spcAft>
                <a:spcPts val="0"/>
              </a:spcAft>
              <a:buSzPts val="1300"/>
              <a:buChar char="●"/>
            </a:pPr>
            <a:r>
              <a:rPr lang="en"/>
              <a:t>Because there is only one method in the functional interface, the compiler can also infer the </a:t>
            </a:r>
            <a:r>
              <a:rPr b="1" i="1" lang="en">
                <a:solidFill>
                  <a:srgbClr val="FF0000"/>
                </a:solidFill>
              </a:rPr>
              <a:t>parameter types</a:t>
            </a:r>
            <a:r>
              <a:rPr lang="en"/>
              <a:t>.</a:t>
            </a:r>
            <a:endParaRPr/>
          </a:p>
          <a:p>
            <a:pPr indent="-298450" lvl="1" marL="914400" rtl="0" algn="l">
              <a:lnSpc>
                <a:spcPct val="115000"/>
              </a:lnSpc>
              <a:spcBef>
                <a:spcPts val="0"/>
              </a:spcBef>
              <a:spcAft>
                <a:spcPts val="0"/>
              </a:spcAft>
              <a:buSzPts val="1100"/>
              <a:buChar char="○"/>
            </a:pPr>
            <a:r>
              <a:rPr lang="en"/>
              <a:t>Therefore, only parameter </a:t>
            </a:r>
            <a:r>
              <a:rPr b="1" i="1" lang="en">
                <a:solidFill>
                  <a:srgbClr val="FF0000"/>
                </a:solidFill>
              </a:rPr>
              <a:t>names</a:t>
            </a:r>
            <a:r>
              <a:rPr lang="en">
                <a:solidFill>
                  <a:srgbClr val="FF0000"/>
                </a:solidFill>
              </a:rPr>
              <a:t> </a:t>
            </a:r>
            <a:r>
              <a:rPr lang="en"/>
              <a:t>are needed.</a:t>
            </a:r>
            <a:endParaRPr/>
          </a:p>
          <a:p>
            <a:pPr indent="-311150" lvl="0" marL="457200" rtl="0" algn="l">
              <a:lnSpc>
                <a:spcPct val="115000"/>
              </a:lnSpc>
              <a:spcBef>
                <a:spcPts val="1000"/>
              </a:spcBef>
              <a:spcAft>
                <a:spcPts val="0"/>
              </a:spcAft>
              <a:buSzPts val="1300"/>
              <a:buChar char="●"/>
            </a:pPr>
            <a:r>
              <a:rPr lang="en"/>
              <a:t>The </a:t>
            </a:r>
            <a:r>
              <a:rPr b="1" i="1" lang="en">
                <a:solidFill>
                  <a:srgbClr val="FF0000"/>
                </a:solidFill>
              </a:rPr>
              <a:t>curly braces</a:t>
            </a:r>
            <a:r>
              <a:rPr lang="en"/>
              <a:t> are only necessary if the lambda includes more than one line of code.</a:t>
            </a:r>
            <a:endParaRPr/>
          </a:p>
          <a:p>
            <a:pPr indent="-298450" lvl="1" marL="914400" rtl="0" algn="l">
              <a:lnSpc>
                <a:spcPct val="115000"/>
              </a:lnSpc>
              <a:spcBef>
                <a:spcPts val="0"/>
              </a:spcBef>
              <a:spcAft>
                <a:spcPts val="0"/>
              </a:spcAft>
              <a:buSzPts val="1100"/>
              <a:buChar char="○"/>
            </a:pPr>
            <a:r>
              <a:rPr lang="en"/>
              <a:t>Otherwise, they can be omitted as well.</a:t>
            </a:r>
            <a:endParaRPr/>
          </a:p>
          <a:p>
            <a:pPr indent="-298450" lvl="1" marL="914400" rtl="0" algn="l">
              <a:lnSpc>
                <a:spcPct val="115000"/>
              </a:lnSpc>
              <a:spcBef>
                <a:spcPts val="0"/>
              </a:spcBef>
              <a:spcAft>
                <a:spcPts val="0"/>
              </a:spcAft>
              <a:buSzPts val="1100"/>
              <a:buChar char="○"/>
            </a:pPr>
            <a:r>
              <a:rPr lang="en"/>
              <a:t>If the single line of code is an expression that results in a value that matches the return type, the </a:t>
            </a:r>
            <a:r>
              <a:rPr b="1" i="1" lang="en">
                <a:solidFill>
                  <a:srgbClr val="FF0000"/>
                </a:solidFill>
              </a:rPr>
              <a:t>return statement</a:t>
            </a:r>
            <a:r>
              <a:rPr lang="en"/>
              <a:t> may be omitted as well.</a:t>
            </a:r>
            <a:endParaRPr/>
          </a:p>
          <a:p>
            <a:pPr indent="-311150" lvl="0" marL="457200" rtl="0" algn="l">
              <a:lnSpc>
                <a:spcPct val="115000"/>
              </a:lnSpc>
              <a:spcBef>
                <a:spcPts val="1000"/>
              </a:spcBef>
              <a:spcAft>
                <a:spcPts val="0"/>
              </a:spcAft>
              <a:buSzPts val="1300"/>
              <a:buChar char="●"/>
            </a:pPr>
            <a:r>
              <a:rPr lang="en"/>
              <a:t>Similarly, the </a:t>
            </a:r>
            <a:r>
              <a:rPr b="1" i="1" lang="en">
                <a:solidFill>
                  <a:srgbClr val="FF0000"/>
                </a:solidFill>
              </a:rPr>
              <a:t>parentheses</a:t>
            </a:r>
            <a:r>
              <a:rPr lang="en">
                <a:solidFill>
                  <a:srgbClr val="FF0000"/>
                </a:solidFill>
              </a:rPr>
              <a:t> </a:t>
            </a:r>
            <a:r>
              <a:rPr lang="en"/>
              <a:t>are not needed if there is only one parameter.</a:t>
            </a:r>
            <a:endParaRPr/>
          </a:p>
          <a:p>
            <a:pPr indent="-298450" lvl="1" marL="914400" rtl="0" algn="l">
              <a:lnSpc>
                <a:spcPct val="115000"/>
              </a:lnSpc>
              <a:spcBef>
                <a:spcPts val="0"/>
              </a:spcBef>
              <a:spcAft>
                <a:spcPts val="0"/>
              </a:spcAft>
              <a:buSzPts val="1100"/>
              <a:buChar char="○"/>
            </a:pPr>
            <a:r>
              <a:rPr lang="en"/>
              <a:t>They are still needed if there are </a:t>
            </a:r>
            <a:r>
              <a:rPr b="1" i="1" lang="en">
                <a:solidFill>
                  <a:srgbClr val="FF0000"/>
                </a:solidFill>
              </a:rPr>
              <a:t>zero</a:t>
            </a:r>
            <a:r>
              <a:rPr lang="en">
                <a:solidFill>
                  <a:srgbClr val="FF0000"/>
                </a:solidFill>
              </a:rPr>
              <a:t> </a:t>
            </a:r>
            <a:r>
              <a:rPr lang="en"/>
              <a:t>or </a:t>
            </a:r>
            <a:r>
              <a:rPr b="1" i="1" lang="en">
                <a:solidFill>
                  <a:srgbClr val="FF0000"/>
                </a:solidFill>
              </a:rPr>
              <a:t>two or more</a:t>
            </a:r>
            <a:r>
              <a:rPr lang="en"/>
              <a:t> parameters.</a:t>
            </a:r>
            <a:endParaRPr/>
          </a:p>
          <a:p>
            <a:pPr indent="-311150" lvl="0" marL="457200" rtl="0" algn="l">
              <a:spcBef>
                <a:spcPts val="1000"/>
              </a:spcBef>
              <a:spcAft>
                <a:spcPts val="0"/>
              </a:spcAft>
              <a:buSzPts val="1300"/>
              <a:buChar char="●"/>
            </a:pPr>
            <a:r>
              <a:rPr lang="en"/>
              <a:t>Lambdas have the same scope rules as anonymous classes.</a:t>
            </a:r>
            <a:endParaRPr/>
          </a:p>
          <a:p>
            <a:pPr indent="-298450" lvl="1" marL="914400" rtl="0" algn="l">
              <a:spcBef>
                <a:spcPts val="0"/>
              </a:spcBef>
              <a:spcAft>
                <a:spcPts val="0"/>
              </a:spcAft>
              <a:buSzPts val="1100"/>
              <a:buChar char="○"/>
            </a:pPr>
            <a:r>
              <a:rPr lang="en"/>
              <a:t>A lambda can access the fields in its class.</a:t>
            </a:r>
            <a:endParaRPr/>
          </a:p>
          <a:p>
            <a:pPr indent="-298450" lvl="1" marL="914400" rtl="0" algn="l">
              <a:spcBef>
                <a:spcPts val="0"/>
              </a:spcBef>
              <a:spcAft>
                <a:spcPts val="1000"/>
              </a:spcAft>
              <a:buSzPts val="1100"/>
              <a:buChar char="○"/>
            </a:pPr>
            <a:r>
              <a:rPr lang="en"/>
              <a:t>It can also access local variables if they are </a:t>
            </a:r>
            <a:r>
              <a:rPr b="1" i="1" lang="en">
                <a:solidFill>
                  <a:srgbClr val="FF0000"/>
                </a:solidFill>
              </a:rPr>
              <a:t>explicitly</a:t>
            </a:r>
            <a:r>
              <a:rPr lang="en">
                <a:solidFill>
                  <a:srgbClr val="FF0000"/>
                </a:solidFill>
              </a:rPr>
              <a:t> </a:t>
            </a:r>
            <a:r>
              <a:rPr lang="en"/>
              <a:t>or </a:t>
            </a:r>
            <a:r>
              <a:rPr b="1" i="1" lang="en">
                <a:solidFill>
                  <a:srgbClr val="FF0000"/>
                </a:solidFill>
              </a:rPr>
              <a:t>effectively final</a:t>
            </a:r>
            <a:r>
              <a:rPr lang="en"/>
              <a:t>.</a:t>
            </a:r>
            <a:endParaRPr/>
          </a:p>
        </p:txBody>
      </p:sp>
      <p:sp>
        <p:nvSpPr>
          <p:cNvPr id="577" name="Google Shape;577;p57"/>
          <p:cNvSpPr txBox="1"/>
          <p:nvPr>
            <p:ph idx="2" type="body"/>
          </p:nvPr>
        </p:nvSpPr>
        <p:spPr>
          <a:xfrm>
            <a:off x="315425" y="1286175"/>
            <a:ext cx="3706500" cy="26973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interface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Shape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area</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length</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rgbClr val="000000"/>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10</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Shape</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 = </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area</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x</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90000"/>
              </a:lnSpc>
              <a:spcBef>
                <a:spcPts val="0"/>
              </a:spcBef>
              <a:spcAft>
                <a:spcPts val="1600"/>
              </a:spcAft>
              <a:buClr>
                <a:schemeClr val="dk2"/>
              </a:buClr>
              <a:buSzPts val="2300"/>
              <a:buNone/>
            </a:pPr>
            <a:r>
              <a:rPr lang="en"/>
              <a:t>}</a:t>
            </a:r>
            <a:endParaRPr/>
          </a:p>
        </p:txBody>
      </p:sp>
      <p:sp>
        <p:nvSpPr>
          <p:cNvPr id="578" name="Google Shape;578;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9" name="Google Shape;579;p57"/>
          <p:cNvSpPr txBox="1"/>
          <p:nvPr>
            <p:ph idx="3" type="body"/>
          </p:nvPr>
        </p:nvSpPr>
        <p:spPr>
          <a:xfrm>
            <a:off x="311725" y="4130633"/>
            <a:ext cx="3706500" cy="714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t>Notice the height is specified as a </a:t>
            </a:r>
            <a:r>
              <a:rPr b="1" i="1" lang="en">
                <a:solidFill>
                  <a:srgbClr val="FF0000"/>
                </a:solidFill>
              </a:rPr>
              <a:t>local variable</a:t>
            </a:r>
            <a:r>
              <a:rPr lang="en"/>
              <a:t> since it cannot be passed in without changing the interface.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1000"/>
                                        <p:tgtEl>
                                          <p:spTgt spid="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Division</a:t>
            </a:r>
            <a:r>
              <a:rPr lang="en"/>
              <a:t> Lambda Expression</a:t>
            </a:r>
            <a:endParaRPr/>
          </a:p>
        </p:txBody>
      </p:sp>
      <p:sp>
        <p:nvSpPr>
          <p:cNvPr id="585" name="Google Shape;585;p5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continue to practice with lambdas by creating another mathematical Expression, this time for division ("/")</a:t>
            </a:r>
            <a:r>
              <a:rPr lang="en"/>
              <a:t>. Omit the parameter types, curly braces, and return statement.</a:t>
            </a:r>
            <a:endParaRPr/>
          </a:p>
        </p:txBody>
      </p:sp>
      <p:sp>
        <p:nvSpPr>
          <p:cNvPr id="586" name="Google Shape;586;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7" name="Google Shape;587;p58"/>
          <p:cNvSpPr txBox="1"/>
          <p:nvPr>
            <p:ph idx="2" type="body"/>
          </p:nvPr>
        </p:nvSpPr>
        <p:spPr>
          <a:xfrm>
            <a:off x="3983025" y="1858400"/>
            <a:ext cx="4681200" cy="28494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In the </a:t>
            </a:r>
            <a:r>
              <a:rPr lang="en" sz="1600">
                <a:solidFill>
                  <a:srgbClr val="FF0000"/>
                </a:solidFill>
                <a:latin typeface="Courier New"/>
                <a:ea typeface="Courier New"/>
                <a:cs typeface="Courier New"/>
                <a:sym typeface="Courier New"/>
              </a:rPr>
              <a:t>ExpressionTree</a:t>
            </a:r>
            <a:r>
              <a:rPr lang="en" sz="1600"/>
              <a:t> class's </a:t>
            </a:r>
            <a:r>
              <a:rPr lang="en" sz="1600">
                <a:latin typeface="Courier New"/>
                <a:ea typeface="Courier New"/>
                <a:cs typeface="Courier New"/>
                <a:sym typeface="Courier New"/>
              </a:rPr>
              <a:t>buildExpressionTree</a:t>
            </a:r>
            <a:r>
              <a:rPr lang="en" sz="1600"/>
              <a:t>, use a lambda expression to handle the division case.</a:t>
            </a:r>
            <a:endParaRPr sz="1600"/>
          </a:p>
          <a:p>
            <a:pPr indent="-323850" lvl="1" marL="914400" rtl="0" algn="l">
              <a:spcBef>
                <a:spcPts val="1000"/>
              </a:spcBef>
              <a:spcAft>
                <a:spcPts val="0"/>
              </a:spcAft>
              <a:buSzPts val="1500"/>
              <a:buChar char="○"/>
            </a:pPr>
            <a:r>
              <a:rPr lang="en" sz="1500"/>
              <a:t>Create a lambda expression for the </a:t>
            </a:r>
            <a:r>
              <a:rPr lang="en" sz="1500">
                <a:latin typeface="Courier New"/>
                <a:ea typeface="Courier New"/>
                <a:cs typeface="Courier New"/>
                <a:sym typeface="Courier New"/>
              </a:rPr>
              <a:t>Expression</a:t>
            </a:r>
            <a:r>
              <a:rPr lang="en" sz="1500"/>
              <a:t> </a:t>
            </a:r>
            <a:r>
              <a:rPr lang="en" sz="1500"/>
              <a:t>interface</a:t>
            </a:r>
            <a:r>
              <a:rPr lang="en" sz="1500"/>
              <a:t> that implements division ("/").</a:t>
            </a:r>
            <a:endParaRPr sz="1400"/>
          </a:p>
          <a:p>
            <a:pPr indent="-323850" lvl="1" marL="914400" rtl="0" algn="l">
              <a:spcBef>
                <a:spcPts val="1000"/>
              </a:spcBef>
              <a:spcAft>
                <a:spcPts val="1000"/>
              </a:spcAft>
              <a:buSzPts val="1500"/>
              <a:buChar char="○"/>
            </a:pPr>
            <a:r>
              <a:rPr lang="en" sz="1500">
                <a:highlight>
                  <a:srgbClr val="FFFFFF"/>
                </a:highlight>
              </a:rPr>
              <a:t>Try and use the most compact syntax you can think of based on the previous examples.</a:t>
            </a:r>
            <a:endParaRPr sz="1500">
              <a:solidFill>
                <a:srgbClr val="FF0000"/>
              </a:solidFill>
            </a:endParaRPr>
          </a:p>
        </p:txBody>
      </p:sp>
      <p:sp>
        <p:nvSpPr>
          <p:cNvPr id="588" name="Google Shape;588;p5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a:t>
            </a:r>
            <a:r>
              <a:rPr lang="en"/>
              <a:t>.8</a:t>
            </a:r>
            <a:endParaRPr/>
          </a:p>
        </p:txBody>
      </p:sp>
      <p:sp>
        <p:nvSpPr>
          <p:cNvPr id="589" name="Google Shape;589;p58"/>
          <p:cNvSpPr txBox="1"/>
          <p:nvPr>
            <p:ph idx="4" type="body"/>
          </p:nvPr>
        </p:nvSpPr>
        <p:spPr>
          <a:xfrm>
            <a:off x="134125" y="1858400"/>
            <a:ext cx="3796500" cy="24165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34275" lIns="68575" spcFirstLastPara="1" rIns="68575" wrap="square" tIns="34275">
            <a:spAutoFit/>
          </a:bodyPr>
          <a:lstStyle/>
          <a:p>
            <a:pPr indent="0" lvl="0" marL="0" rtl="0" algn="l">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interface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Shape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area</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length</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rgbClr val="000000"/>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10</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Shape</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 = </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area</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x</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a:p>
        </p:txBody>
      </p:sp>
      <p:sp>
        <p:nvSpPr>
          <p:cNvPr id="590" name="Google Shape;590;p58"/>
          <p:cNvSpPr txBox="1"/>
          <p:nvPr>
            <p:ph idx="4" type="body"/>
          </p:nvPr>
        </p:nvSpPr>
        <p:spPr>
          <a:xfrm>
            <a:off x="134125" y="4385750"/>
            <a:ext cx="3796500" cy="52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100"/>
              <a:t>You'll want to add at least one test case using the new operation in </a:t>
            </a:r>
            <a:r>
              <a:rPr lang="en" sz="1100">
                <a:latin typeface="Courier New"/>
                <a:ea typeface="Courier New"/>
                <a:cs typeface="Courier New"/>
                <a:sym typeface="Courier New"/>
              </a:rPr>
              <a:t>main</a:t>
            </a:r>
            <a:r>
              <a:rPr lang="en" sz="1100"/>
              <a:t>.</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9"/>
          <p:cNvSpPr txBox="1"/>
          <p:nvPr>
            <p:ph type="title"/>
          </p:nvPr>
        </p:nvSpPr>
        <p:spPr>
          <a:xfrm>
            <a:off x="5192225" y="50092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Even More </a:t>
            </a:r>
            <a:r>
              <a:rPr lang="en"/>
              <a:t>Lambdas</a:t>
            </a:r>
            <a:endParaRPr/>
          </a:p>
        </p:txBody>
      </p:sp>
      <p:sp>
        <p:nvSpPr>
          <p:cNvPr id="596" name="Google Shape;596;p59"/>
          <p:cNvSpPr txBox="1"/>
          <p:nvPr>
            <p:ph idx="1" type="body"/>
          </p:nvPr>
        </p:nvSpPr>
        <p:spPr>
          <a:xfrm>
            <a:off x="377475" y="272325"/>
            <a:ext cx="4166400" cy="4432200"/>
          </a:xfrm>
          <a:prstGeom prst="rect">
            <a:avLst/>
          </a:prstGeom>
          <a:noFill/>
          <a:ln>
            <a:noFill/>
          </a:ln>
        </p:spPr>
        <p:txBody>
          <a:bodyPr anchorCtr="0" anchor="t" bIns="34275" lIns="68575" spcFirstLastPara="1" rIns="68575" wrap="square" tIns="34275">
            <a:normAutofit/>
          </a:bodyPr>
          <a:lstStyle/>
          <a:p>
            <a:pPr indent="-311150" lvl="0" marL="457200" rtl="0" algn="l">
              <a:lnSpc>
                <a:spcPct val="115000"/>
              </a:lnSpc>
              <a:spcBef>
                <a:spcPts val="800"/>
              </a:spcBef>
              <a:spcAft>
                <a:spcPts val="0"/>
              </a:spcAft>
              <a:buSzPts val="1300"/>
              <a:buChar char="●"/>
            </a:pPr>
            <a:r>
              <a:rPr lang="en"/>
              <a:t>The most compact kind of lambda is called a </a:t>
            </a:r>
            <a:r>
              <a:rPr b="1" i="1" lang="en">
                <a:solidFill>
                  <a:srgbClr val="FF0000"/>
                </a:solidFill>
              </a:rPr>
              <a:t>method reference</a:t>
            </a:r>
            <a:endParaRPr>
              <a:solidFill>
                <a:srgbClr val="FF0000"/>
              </a:solidFill>
            </a:endParaRPr>
          </a:p>
          <a:p>
            <a:pPr indent="-311150" lvl="0" marL="457200" rtl="0" algn="l">
              <a:lnSpc>
                <a:spcPct val="115000"/>
              </a:lnSpc>
              <a:spcBef>
                <a:spcPts val="1000"/>
              </a:spcBef>
              <a:spcAft>
                <a:spcPts val="0"/>
              </a:spcAft>
              <a:buSzPts val="1300"/>
              <a:buChar char="●"/>
            </a:pPr>
            <a:r>
              <a:rPr lang="en"/>
              <a:t>A method reference is created using the </a:t>
            </a:r>
            <a:r>
              <a:rPr b="1" i="1" lang="en">
                <a:solidFill>
                  <a:srgbClr val="FF0000"/>
                </a:solidFill>
              </a:rPr>
              <a:t>class or variable name</a:t>
            </a:r>
            <a:r>
              <a:rPr lang="en"/>
              <a:t> followed by a </a:t>
            </a:r>
            <a:r>
              <a:rPr b="1" i="1" lang="en">
                <a:solidFill>
                  <a:srgbClr val="FF0000"/>
                </a:solidFill>
              </a:rPr>
              <a:t>double-colon</a:t>
            </a:r>
            <a:r>
              <a:rPr lang="en"/>
              <a:t> (</a:t>
            </a:r>
            <a:r>
              <a:rPr lang="en">
                <a:solidFill>
                  <a:srgbClr val="FF0000"/>
                </a:solidFill>
                <a:latin typeface="Courier New"/>
                <a:ea typeface="Courier New"/>
                <a:cs typeface="Courier New"/>
                <a:sym typeface="Courier New"/>
              </a:rPr>
              <a:t>::</a:t>
            </a:r>
            <a:r>
              <a:rPr lang="en"/>
              <a:t>) and the </a:t>
            </a:r>
            <a:r>
              <a:rPr b="1" i="1" lang="en">
                <a:solidFill>
                  <a:srgbClr val="FF0000"/>
                </a:solidFill>
              </a:rPr>
              <a:t>name</a:t>
            </a:r>
            <a:r>
              <a:rPr lang="en"/>
              <a:t> of the method.</a:t>
            </a:r>
            <a:endParaRPr/>
          </a:p>
          <a:p>
            <a:pPr indent="-298450" lvl="1" marL="914400" rtl="0" algn="l">
              <a:lnSpc>
                <a:spcPct val="115000"/>
              </a:lnSpc>
              <a:spcBef>
                <a:spcPts val="1000"/>
              </a:spcBef>
              <a:spcAft>
                <a:spcPts val="0"/>
              </a:spcAft>
              <a:buSzPts val="1100"/>
              <a:buChar char="○"/>
            </a:pPr>
            <a:r>
              <a:rPr lang="en"/>
              <a:t>Parentheses, parameters, return types, etc. are not included.</a:t>
            </a:r>
            <a:endParaRPr/>
          </a:p>
          <a:p>
            <a:pPr indent="-311150" lvl="0" marL="457200" rtl="0" algn="l">
              <a:lnSpc>
                <a:spcPct val="115000"/>
              </a:lnSpc>
              <a:spcBef>
                <a:spcPts val="1000"/>
              </a:spcBef>
              <a:spcAft>
                <a:spcPts val="0"/>
              </a:spcAft>
              <a:buSzPts val="1300"/>
              <a:buChar char="●"/>
            </a:pPr>
            <a:r>
              <a:rPr lang="en"/>
              <a:t>Some examples:</a:t>
            </a:r>
            <a:endParaRPr/>
          </a:p>
          <a:p>
            <a:pPr indent="-298450" lvl="1" marL="914400" rtl="0" algn="l">
              <a:lnSpc>
                <a:spcPct val="115000"/>
              </a:lnSpc>
              <a:spcBef>
                <a:spcPts val="1000"/>
              </a:spcBef>
              <a:spcAft>
                <a:spcPts val="0"/>
              </a:spcAft>
              <a:buSzPts val="1100"/>
              <a:buFont typeface="Courier New"/>
              <a:buChar char="○"/>
            </a:pPr>
            <a:r>
              <a:rPr lang="en">
                <a:latin typeface="Courier New"/>
                <a:ea typeface="Courier New"/>
                <a:cs typeface="Courier New"/>
                <a:sym typeface="Courier New"/>
              </a:rPr>
              <a:t>Math::log</a:t>
            </a:r>
            <a:endParaRPr>
              <a:latin typeface="Courier New"/>
              <a:ea typeface="Courier New"/>
              <a:cs typeface="Courier New"/>
              <a:sym typeface="Courier New"/>
            </a:endParaRPr>
          </a:p>
          <a:p>
            <a:pPr indent="-298450" lvl="1" marL="914400" rtl="0" algn="l">
              <a:lnSpc>
                <a:spcPct val="115000"/>
              </a:lnSpc>
              <a:spcBef>
                <a:spcPts val="1000"/>
              </a:spcBef>
              <a:spcAft>
                <a:spcPts val="0"/>
              </a:spcAft>
              <a:buSzPts val="1100"/>
              <a:buFont typeface="Courier New"/>
              <a:buChar char="○"/>
            </a:pPr>
            <a:r>
              <a:rPr lang="en">
                <a:latin typeface="Courier New"/>
                <a:ea typeface="Courier New"/>
                <a:cs typeface="Courier New"/>
                <a:sym typeface="Courier New"/>
              </a:rPr>
              <a:t>ShapeExample::triangleArea</a:t>
            </a:r>
            <a:endParaRPr>
              <a:latin typeface="Courier New"/>
              <a:ea typeface="Courier New"/>
              <a:cs typeface="Courier New"/>
              <a:sym typeface="Courier New"/>
            </a:endParaRPr>
          </a:p>
          <a:p>
            <a:pPr indent="-311150" lvl="0" marL="457200" rtl="0" algn="l">
              <a:lnSpc>
                <a:spcPct val="115000"/>
              </a:lnSpc>
              <a:spcBef>
                <a:spcPts val="1000"/>
              </a:spcBef>
              <a:spcAft>
                <a:spcPts val="0"/>
              </a:spcAft>
              <a:buSzPts val="1300"/>
              <a:buChar char="●"/>
            </a:pPr>
            <a:r>
              <a:rPr lang="en"/>
              <a:t>When using a method reference as a lambda, the </a:t>
            </a:r>
            <a:r>
              <a:rPr b="1" i="1" lang="en">
                <a:solidFill>
                  <a:srgbClr val="FF0000"/>
                </a:solidFill>
              </a:rPr>
              <a:t>parameters and returns types</a:t>
            </a:r>
            <a:r>
              <a:rPr lang="en"/>
              <a:t> must match the functional interface.</a:t>
            </a:r>
            <a:endParaRPr/>
          </a:p>
          <a:p>
            <a:pPr indent="-298450" lvl="1" marL="914400" rtl="0" algn="l">
              <a:lnSpc>
                <a:spcPct val="115000"/>
              </a:lnSpc>
              <a:spcBef>
                <a:spcPts val="1000"/>
              </a:spcBef>
              <a:spcAft>
                <a:spcPts val="1000"/>
              </a:spcAft>
              <a:buSzPts val="1100"/>
              <a:buChar char="○"/>
            </a:pPr>
            <a:r>
              <a:rPr lang="en"/>
              <a:t>i.e. if the functional interface expects a </a:t>
            </a:r>
            <a:r>
              <a:rPr lang="en">
                <a:latin typeface="Courier New"/>
                <a:ea typeface="Courier New"/>
                <a:cs typeface="Courier New"/>
                <a:sym typeface="Courier New"/>
              </a:rPr>
              <a:t>double</a:t>
            </a:r>
            <a:r>
              <a:rPr lang="en"/>
              <a:t> and returns a </a:t>
            </a:r>
            <a:r>
              <a:rPr lang="en">
                <a:latin typeface="Courier New"/>
                <a:ea typeface="Courier New"/>
                <a:cs typeface="Courier New"/>
                <a:sym typeface="Courier New"/>
              </a:rPr>
              <a:t>String</a:t>
            </a:r>
            <a:r>
              <a:rPr lang="en"/>
              <a:t>, the method reference must do the same.</a:t>
            </a:r>
            <a:endParaRPr/>
          </a:p>
        </p:txBody>
      </p:sp>
      <p:sp>
        <p:nvSpPr>
          <p:cNvPr id="597" name="Google Shape;597;p59"/>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8" name="Google Shape;598;p59"/>
          <p:cNvSpPr txBox="1"/>
          <p:nvPr>
            <p:ph idx="2" type="body"/>
          </p:nvPr>
        </p:nvSpPr>
        <p:spPr>
          <a:xfrm>
            <a:off x="5102525" y="1265700"/>
            <a:ext cx="3878700" cy="26973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Shape</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area</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length</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triangleArea</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dimens</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0.5</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dimens</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0</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dimens</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1</a:t>
            </a:r>
            <a:r>
              <a:rPr lang="en" sz="1000">
                <a:solidFill>
                  <a:srgbClr val="000000"/>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void</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main</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args</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base</a:t>
            </a:r>
            <a:r>
              <a:rPr lang="en" sz="1000">
                <a:solidFill>
                  <a:srgbClr val="000000"/>
                </a:solidFill>
                <a:highlight>
                  <a:srgbClr val="FFFFFF"/>
                </a:highlight>
                <a:latin typeface="Consolas"/>
                <a:ea typeface="Consolas"/>
                <a:cs typeface="Consolas"/>
                <a:sym typeface="Consolas"/>
              </a:rPr>
              <a:t> = </a:t>
            </a:r>
            <a:r>
              <a:rPr lang="en" sz="1000">
                <a:solidFill>
                  <a:srgbClr val="098658"/>
                </a:solidFill>
                <a:highlight>
                  <a:srgbClr val="FFFFFF"/>
                </a:highlight>
                <a:latin typeface="Consolas"/>
                <a:ea typeface="Consolas"/>
                <a:cs typeface="Consolas"/>
                <a:sym typeface="Consolas"/>
              </a:rPr>
              <a:t>5</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   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height</a:t>
            </a:r>
            <a:r>
              <a:rPr lang="en" sz="1000">
                <a:solidFill>
                  <a:srgbClr val="000000"/>
                </a:solidFill>
                <a:highlight>
                  <a:srgbClr val="FFFFFF"/>
                </a:highlight>
                <a:latin typeface="Consolas"/>
                <a:ea typeface="Consolas"/>
                <a:cs typeface="Consolas"/>
                <a:sym typeface="Consolas"/>
              </a:rPr>
              <a:t> = </a:t>
            </a:r>
            <a:r>
              <a:rPr lang="en" sz="1000">
                <a:solidFill>
                  <a:srgbClr val="098658"/>
                </a:solidFill>
                <a:highlight>
                  <a:srgbClr val="FFFFFF"/>
                </a:highlight>
                <a:latin typeface="Consolas"/>
                <a:ea typeface="Consolas"/>
                <a:cs typeface="Consolas"/>
                <a:sym typeface="Consolas"/>
              </a:rPr>
              <a:t>10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   </a:t>
            </a:r>
            <a:endParaRPr sz="10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   Shape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triangle</a:t>
            </a:r>
            <a:r>
              <a:rPr lang="en" sz="1000">
                <a:solidFill>
                  <a:srgbClr val="000000"/>
                </a:solidFill>
                <a:highlight>
                  <a:srgbClr val="FFFFFF"/>
                </a:highlight>
                <a:latin typeface="Consolas"/>
                <a:ea typeface="Consolas"/>
                <a:cs typeface="Consolas"/>
                <a:sym typeface="Consolas"/>
              </a:rPr>
              <a:t> = </a:t>
            </a:r>
            <a:r>
              <a:rPr lang="en" sz="1000">
                <a:solidFill>
                  <a:srgbClr val="267F99"/>
                </a:solidFill>
                <a:highlight>
                  <a:srgbClr val="FFFFFF"/>
                </a:highlight>
                <a:latin typeface="Consolas"/>
                <a:ea typeface="Consolas"/>
                <a:cs typeface="Consolas"/>
                <a:sym typeface="Consolas"/>
              </a:rPr>
              <a:t>ShapeExample</a:t>
            </a:r>
            <a:r>
              <a:rPr lang="en" sz="1000">
                <a:solidFill>
                  <a:srgbClr val="AF00D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triangleArea</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   </a:t>
            </a:r>
            <a:endParaRPr sz="10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   System</a:t>
            </a:r>
            <a:r>
              <a:rPr lang="en" sz="1000">
                <a:solidFill>
                  <a:srgbClr val="000000"/>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triangle</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area</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base</a:t>
            </a:r>
            <a:r>
              <a:rPr lang="en" sz="1000">
                <a:solidFill>
                  <a:srgbClr val="001080"/>
                </a:solidFill>
                <a:highlight>
                  <a:srgbClr val="FFFFFF"/>
                </a:highlight>
                <a:latin typeface="Consolas"/>
                <a:ea typeface="Consolas"/>
                <a:cs typeface="Consolas"/>
                <a:sym typeface="Consolas"/>
              </a:rPr>
              <a:t>, height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p>
        </p:txBody>
      </p:sp>
      <p:sp>
        <p:nvSpPr>
          <p:cNvPr id="599" name="Google Shape;599;p59"/>
          <p:cNvSpPr txBox="1"/>
          <p:nvPr>
            <p:ph idx="3" type="body"/>
          </p:nvPr>
        </p:nvSpPr>
        <p:spPr>
          <a:xfrm>
            <a:off x="5102525" y="4132700"/>
            <a:ext cx="3878700" cy="5817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
              <a:t>The </a:t>
            </a:r>
            <a:r>
              <a:rPr lang="en">
                <a:latin typeface="Courier New"/>
                <a:ea typeface="Courier New"/>
                <a:cs typeface="Courier New"/>
                <a:sym typeface="Courier New"/>
              </a:rPr>
              <a:t>triangleArea</a:t>
            </a:r>
            <a:r>
              <a:rPr lang="en"/>
              <a:t> parameters were </a:t>
            </a:r>
            <a:r>
              <a:rPr lang="en"/>
              <a:t>written using … to align with the </a:t>
            </a:r>
            <a:r>
              <a:rPr lang="en">
                <a:latin typeface="Courier New"/>
                <a:ea typeface="Courier New"/>
                <a:cs typeface="Courier New"/>
                <a:sym typeface="Courier New"/>
              </a:rPr>
              <a:t>Shape</a:t>
            </a:r>
            <a:r>
              <a:rPr lang="en"/>
              <a:t> interface's area method.</a:t>
            </a:r>
            <a:endParaRPr sz="1200"/>
          </a:p>
        </p:txBody>
      </p:sp>
      <p:sp>
        <p:nvSpPr>
          <p:cNvPr id="600" name="Google Shape;600;p59"/>
          <p:cNvSpPr txBox="1"/>
          <p:nvPr>
            <p:ph idx="3" type="body"/>
          </p:nvPr>
        </p:nvSpPr>
        <p:spPr>
          <a:xfrm>
            <a:off x="6958706" y="2908407"/>
            <a:ext cx="1335900" cy="27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Method reference</a:t>
            </a:r>
            <a:endParaRPr sz="1100"/>
          </a:p>
        </p:txBody>
      </p:sp>
      <p:sp>
        <p:nvSpPr>
          <p:cNvPr id="601" name="Google Shape;601;p59"/>
          <p:cNvSpPr/>
          <p:nvPr/>
        </p:nvSpPr>
        <p:spPr>
          <a:xfrm>
            <a:off x="6543825" y="3245225"/>
            <a:ext cx="2048700" cy="233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2" name="Google Shape;602;p59"/>
          <p:cNvCxnSpPr>
            <a:stCxn id="600" idx="3"/>
            <a:endCxn id="601" idx="3"/>
          </p:cNvCxnSpPr>
          <p:nvPr/>
        </p:nvCxnSpPr>
        <p:spPr>
          <a:xfrm>
            <a:off x="8294606" y="3046407"/>
            <a:ext cx="297900" cy="315600"/>
          </a:xfrm>
          <a:prstGeom prst="bentConnector3">
            <a:avLst>
              <a:gd fmla="val 179941" name="adj1"/>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1000"/>
                                        <p:tgtEl>
                                          <p:spTgt spid="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1000"/>
                                        <p:tgtEl>
                                          <p:spTgt spid="600"/>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608" name="Google Shape;608;p60"/>
          <p:cNvSpPr txBox="1"/>
          <p:nvPr>
            <p:ph type="title"/>
          </p:nvPr>
        </p:nvSpPr>
        <p:spPr>
          <a:xfrm>
            <a:off x="311725" y="67171"/>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Method References (Part 1)</a:t>
            </a:r>
            <a:endParaRPr/>
          </a:p>
        </p:txBody>
      </p:sp>
      <p:sp>
        <p:nvSpPr>
          <p:cNvPr id="609" name="Google Shape;609;p60"/>
          <p:cNvSpPr txBox="1"/>
          <p:nvPr/>
        </p:nvSpPr>
        <p:spPr>
          <a:xfrm>
            <a:off x="4216738" y="930425"/>
            <a:ext cx="3290700" cy="785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98658"/>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98658"/>
                </a:solidFill>
                <a:latin typeface="Consolas"/>
                <a:ea typeface="Consolas"/>
                <a:cs typeface="Consolas"/>
                <a:sym typeface="Consolas"/>
              </a:rPr>
              <a:t>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10" name="Google Shape;610;p60"/>
          <p:cNvSpPr txBox="1"/>
          <p:nvPr/>
        </p:nvSpPr>
        <p:spPr>
          <a:xfrm>
            <a:off x="718563" y="861275"/>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b="1" i="1" lang="en" sz="1200">
                <a:solidFill>
                  <a:srgbClr val="FF0000"/>
                </a:solidFill>
              </a:rPr>
              <a:t>functional interface</a:t>
            </a:r>
            <a:r>
              <a:rPr lang="en" sz="1200"/>
              <a:t> because it only defines a single method, compute,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11" name="Google Shape;611;p60"/>
          <p:cNvSpPr txBox="1"/>
          <p:nvPr/>
        </p:nvSpPr>
        <p:spPr>
          <a:xfrm>
            <a:off x="718563" y="2069700"/>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lang="en" sz="1200">
                <a:latin typeface="Courier New"/>
                <a:ea typeface="Courier New"/>
                <a:cs typeface="Courier New"/>
                <a:sym typeface="Courier New"/>
              </a:rPr>
              <a:t>computeAndPrint</a:t>
            </a:r>
            <a:r>
              <a:rPr lang="en" sz="1200"/>
              <a:t> method uses an instance of the </a:t>
            </a:r>
            <a:r>
              <a:rPr lang="en" sz="1200">
                <a:latin typeface="Courier New"/>
                <a:ea typeface="Courier New"/>
                <a:cs typeface="Courier New"/>
                <a:sym typeface="Courier New"/>
              </a:rPr>
              <a:t>Comput</a:t>
            </a:r>
            <a:r>
              <a:rPr lang="en" sz="1200">
                <a:latin typeface="Courier New"/>
                <a:ea typeface="Courier New"/>
                <a:cs typeface="Courier New"/>
                <a:sym typeface="Courier New"/>
              </a:rPr>
              <a:t>ation</a:t>
            </a:r>
            <a:r>
              <a:rPr lang="en" sz="1200"/>
              <a:t> interface - it calls the </a:t>
            </a:r>
            <a:r>
              <a:rPr lang="en" sz="1200">
                <a:latin typeface="Courier New"/>
                <a:ea typeface="Courier New"/>
                <a:cs typeface="Courier New"/>
                <a:sym typeface="Courier New"/>
              </a:rPr>
              <a:t>compute</a:t>
            </a:r>
            <a:r>
              <a:rPr lang="en" sz="1200"/>
              <a:t> method and prints the results to standard output.</a:t>
            </a:r>
            <a:endParaRPr sz="1200"/>
          </a:p>
        </p:txBody>
      </p:sp>
      <p:sp>
        <p:nvSpPr>
          <p:cNvPr id="612" name="Google Shape;612;p60"/>
          <p:cNvSpPr txBox="1"/>
          <p:nvPr/>
        </p:nvSpPr>
        <p:spPr>
          <a:xfrm>
            <a:off x="4216738" y="2029200"/>
            <a:ext cx="4208700" cy="1004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void</a:t>
            </a:r>
            <a:r>
              <a:rPr lang="en" sz="1050">
                <a:latin typeface="Consolas"/>
                <a:ea typeface="Consolas"/>
                <a:cs typeface="Consolas"/>
                <a:sym typeface="Consolas"/>
              </a:rPr>
              <a:t> computeAndPrint(</a:t>
            </a:r>
            <a:r>
              <a:rPr lang="en" sz="1050">
                <a:solidFill>
                  <a:srgbClr val="0000FF"/>
                </a:solidFill>
                <a:latin typeface="Consolas"/>
                <a:ea typeface="Consolas"/>
                <a:cs typeface="Consolas"/>
                <a:sym typeface="Consolas"/>
              </a:rPr>
              <a:t>Computation</a:t>
            </a:r>
            <a:r>
              <a:rPr lang="en" sz="1050">
                <a:latin typeface="Consolas"/>
                <a:ea typeface="Consolas"/>
                <a:cs typeface="Consolas"/>
                <a:sym typeface="Consolas"/>
              </a:rPr>
              <a:t> c)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result = c.compute(</a:t>
            </a:r>
            <a:r>
              <a:rPr lang="en" sz="1050">
                <a:solidFill>
                  <a:srgbClr val="098658"/>
                </a:solidFill>
                <a:latin typeface="Consolas"/>
                <a:ea typeface="Consolas"/>
                <a:cs typeface="Consolas"/>
                <a:sym typeface="Consolas"/>
              </a:rPr>
              <a:t>10.5</a:t>
            </a:r>
            <a:r>
              <a:rPr lang="en" sz="1050">
                <a:latin typeface="Consolas"/>
                <a:ea typeface="Consolas"/>
                <a:cs typeface="Consolas"/>
                <a:sym typeface="Consolas"/>
              </a:rPr>
              <a:t>, </a:t>
            </a:r>
            <a:r>
              <a:rPr lang="en" sz="1050">
                <a:solidFill>
                  <a:srgbClr val="098658"/>
                </a:solidFill>
                <a:latin typeface="Consolas"/>
                <a:ea typeface="Consolas"/>
                <a:cs typeface="Consolas"/>
                <a:sym typeface="Consolas"/>
              </a:rPr>
              <a:t>2.7</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latin typeface="Consolas"/>
                <a:ea typeface="Consolas"/>
                <a:cs typeface="Consolas"/>
                <a:sym typeface="Consolas"/>
              </a:rPr>
              <a:t>    System.out.println(result);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latin typeface="Consolas"/>
                <a:ea typeface="Consolas"/>
                <a:cs typeface="Consolas"/>
                <a:sym typeface="Consolas"/>
              </a:rPr>
              <a:t>  }</a:t>
            </a:r>
            <a:endParaRPr sz="1050">
              <a:solidFill>
                <a:srgbClr val="0000FF"/>
              </a:solidFill>
              <a:latin typeface="Consolas"/>
              <a:ea typeface="Consolas"/>
              <a:cs typeface="Consolas"/>
              <a:sym typeface="Consolas"/>
            </a:endParaRPr>
          </a:p>
        </p:txBody>
      </p:sp>
      <p:sp>
        <p:nvSpPr>
          <p:cNvPr id="613" name="Google Shape;613;p60"/>
          <p:cNvSpPr txBox="1"/>
          <p:nvPr/>
        </p:nvSpPr>
        <p:spPr>
          <a:xfrm>
            <a:off x="718563" y="3370375"/>
            <a:ext cx="3290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We already know that we can call the method using a lambda that uses the same parameter and return types…</a:t>
            </a:r>
            <a:endParaRPr sz="1200"/>
          </a:p>
        </p:txBody>
      </p:sp>
      <p:sp>
        <p:nvSpPr>
          <p:cNvPr id="614" name="Google Shape;614;p60"/>
          <p:cNvSpPr txBox="1"/>
          <p:nvPr/>
        </p:nvSpPr>
        <p:spPr>
          <a:xfrm>
            <a:off x="4236838" y="3347275"/>
            <a:ext cx="4168500" cy="785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latin typeface="Consolas"/>
                <a:ea typeface="Consolas"/>
                <a:cs typeface="Consolas"/>
                <a:sym typeface="Consolas"/>
              </a:rPr>
              <a:t>computeAndPrint((x, y) </a:t>
            </a:r>
            <a:r>
              <a:rPr lang="en" sz="1050">
                <a:solidFill>
                  <a:srgbClr val="0000FF"/>
                </a:solidFill>
                <a:latin typeface="Consolas"/>
                <a:ea typeface="Consolas"/>
                <a:cs typeface="Consolas"/>
                <a:sym typeface="Consolas"/>
              </a:rPr>
              <a:t>-&gt;</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return</a:t>
            </a:r>
            <a:r>
              <a:rPr lang="en" sz="1050">
                <a:latin typeface="Consolas"/>
                <a:ea typeface="Consolas"/>
                <a:cs typeface="Consolas"/>
                <a:sym typeface="Consolas"/>
              </a:rPr>
              <a:t> </a:t>
            </a:r>
            <a:r>
              <a:rPr lang="en" sz="1050">
                <a:solidFill>
                  <a:srgbClr val="A31515"/>
                </a:solidFill>
                <a:latin typeface="Consolas"/>
                <a:ea typeface="Consolas"/>
                <a:cs typeface="Consolas"/>
                <a:sym typeface="Consolas"/>
              </a:rPr>
              <a:t>"("</a:t>
            </a:r>
            <a:r>
              <a:rPr lang="en" sz="1050">
                <a:latin typeface="Consolas"/>
                <a:ea typeface="Consolas"/>
                <a:cs typeface="Consolas"/>
                <a:sym typeface="Consolas"/>
              </a:rPr>
              <a:t> + x + </a:t>
            </a:r>
            <a:r>
              <a:rPr lang="en" sz="1050">
                <a:solidFill>
                  <a:srgbClr val="A31515"/>
                </a:solidFill>
                <a:latin typeface="Consolas"/>
                <a:ea typeface="Consolas"/>
                <a:cs typeface="Consolas"/>
                <a:sym typeface="Consolas"/>
              </a:rPr>
              <a:t>", "</a:t>
            </a:r>
            <a:r>
              <a:rPr lang="en" sz="1050">
                <a:latin typeface="Consolas"/>
                <a:ea typeface="Consolas"/>
                <a:cs typeface="Consolas"/>
                <a:sym typeface="Consolas"/>
              </a:rPr>
              <a:t> + y + </a:t>
            </a:r>
            <a:r>
              <a:rPr lang="en" sz="1050">
                <a:solidFill>
                  <a:srgbClr val="A31515"/>
                </a:solidFill>
                <a:latin typeface="Consolas"/>
                <a:ea typeface="Consolas"/>
                <a:cs typeface="Consolas"/>
                <a:sym typeface="Consolas"/>
              </a:rPr>
              <a: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latin typeface="Consolas"/>
                <a:ea typeface="Consolas"/>
                <a:cs typeface="Consolas"/>
                <a:sym typeface="Consolas"/>
              </a:rPr>
              <a:t>  });</a:t>
            </a:r>
            <a:endParaRPr sz="1050">
              <a:latin typeface="Consolas"/>
              <a:ea typeface="Consolas"/>
              <a:cs typeface="Consolas"/>
              <a:sym typeface="Consolas"/>
            </a:endParaRPr>
          </a:p>
        </p:txBody>
      </p:sp>
      <p:sp>
        <p:nvSpPr>
          <p:cNvPr id="615" name="Google Shape;615;p60"/>
          <p:cNvSpPr txBox="1"/>
          <p:nvPr/>
        </p:nvSpPr>
        <p:spPr>
          <a:xfrm>
            <a:off x="5114638" y="4446050"/>
            <a:ext cx="3290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…but we can also call it using a </a:t>
            </a:r>
            <a:r>
              <a:rPr b="1" i="1" lang="en" sz="1200">
                <a:solidFill>
                  <a:srgbClr val="FF0000"/>
                </a:solidFill>
              </a:rPr>
              <a:t>method reference</a:t>
            </a:r>
            <a:r>
              <a:rPr lang="en" sz="1200"/>
              <a:t>. Let's take a look…</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1"/>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Method References (Part 2)</a:t>
            </a:r>
            <a:endParaRPr/>
          </a:p>
        </p:txBody>
      </p:sp>
      <p:sp>
        <p:nvSpPr>
          <p:cNvPr id="621" name="Google Shape;621;p6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622" name="Google Shape;622;p61"/>
          <p:cNvSpPr txBox="1"/>
          <p:nvPr/>
        </p:nvSpPr>
        <p:spPr>
          <a:xfrm>
            <a:off x="4216738" y="1082825"/>
            <a:ext cx="3290700" cy="785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23" name="Google Shape;623;p61"/>
          <p:cNvSpPr txBox="1"/>
          <p:nvPr/>
        </p:nvSpPr>
        <p:spPr>
          <a:xfrm>
            <a:off x="718563" y="1013675"/>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b="1" i="1" lang="en" sz="1200">
                <a:solidFill>
                  <a:srgbClr val="FF0000"/>
                </a:solidFill>
              </a:rPr>
              <a:t>functional interface</a:t>
            </a:r>
            <a:r>
              <a:rPr lang="en" sz="1200"/>
              <a:t> because it only defines a single method, </a:t>
            </a:r>
            <a:r>
              <a:rPr lang="en" sz="1200">
                <a:latin typeface="Courier New"/>
                <a:ea typeface="Courier New"/>
                <a:cs typeface="Courier New"/>
                <a:sym typeface="Courier New"/>
              </a:rPr>
              <a:t>compute</a:t>
            </a:r>
            <a:r>
              <a:rPr lang="en" sz="1200"/>
              <a:t>,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24" name="Google Shape;624;p61"/>
          <p:cNvSpPr txBox="1"/>
          <p:nvPr/>
        </p:nvSpPr>
        <p:spPr>
          <a:xfrm>
            <a:off x="4216750" y="2017200"/>
            <a:ext cx="4615500" cy="1639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Calculator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add(</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op1,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op2)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return</a:t>
            </a:r>
            <a:r>
              <a:rPr lang="en" sz="1050">
                <a:latin typeface="Consolas"/>
                <a:ea typeface="Consolas"/>
                <a:cs typeface="Consolas"/>
                <a:sym typeface="Consolas"/>
              </a:rPr>
              <a:t> op1 + </a:t>
            </a:r>
            <a:r>
              <a:rPr lang="en" sz="1050">
                <a:solidFill>
                  <a:srgbClr val="A31515"/>
                </a:solidFill>
                <a:latin typeface="Consolas"/>
                <a:ea typeface="Consolas"/>
                <a:cs typeface="Consolas"/>
                <a:sym typeface="Consolas"/>
              </a:rPr>
              <a:t>" + "</a:t>
            </a:r>
            <a:r>
              <a:rPr lang="en" sz="1050">
                <a:latin typeface="Consolas"/>
                <a:ea typeface="Consolas"/>
                <a:cs typeface="Consolas"/>
                <a:sym typeface="Consolas"/>
              </a:rPr>
              <a:t> + op2 + </a:t>
            </a:r>
            <a:r>
              <a:rPr lang="en" sz="1050">
                <a:solidFill>
                  <a:srgbClr val="A31515"/>
                </a:solidFill>
                <a:latin typeface="Consolas"/>
                <a:ea typeface="Consolas"/>
                <a:cs typeface="Consolas"/>
                <a:sym typeface="Consolas"/>
              </a:rPr>
              <a:t>" = "</a:t>
            </a:r>
            <a:r>
              <a:rPr lang="en" sz="1050">
                <a:latin typeface="Consolas"/>
                <a:ea typeface="Consolas"/>
                <a:cs typeface="Consolas"/>
                <a:sym typeface="Consolas"/>
              </a:rPr>
              <a:t> + (op1 + op2);</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4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98658"/>
                </a:solidFill>
                <a:latin typeface="Consolas"/>
                <a:ea typeface="Consolas"/>
                <a:cs typeface="Consolas"/>
                <a:sym typeface="Consolas"/>
              </a:rPr>
              <a:t>5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6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multiply(</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op1,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op2)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7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return</a:t>
            </a:r>
            <a:r>
              <a:rPr lang="en" sz="1050">
                <a:latin typeface="Consolas"/>
                <a:ea typeface="Consolas"/>
                <a:cs typeface="Consolas"/>
                <a:sym typeface="Consolas"/>
              </a:rPr>
              <a:t> op1 + </a:t>
            </a:r>
            <a:r>
              <a:rPr lang="en" sz="1050">
                <a:solidFill>
                  <a:srgbClr val="A31515"/>
                </a:solidFill>
                <a:latin typeface="Consolas"/>
                <a:ea typeface="Consolas"/>
                <a:cs typeface="Consolas"/>
                <a:sym typeface="Consolas"/>
              </a:rPr>
              <a:t>" * "</a:t>
            </a:r>
            <a:r>
              <a:rPr lang="en" sz="1050">
                <a:latin typeface="Consolas"/>
                <a:ea typeface="Consolas"/>
                <a:cs typeface="Consolas"/>
                <a:sym typeface="Consolas"/>
              </a:rPr>
              <a:t> + op2 + </a:t>
            </a:r>
            <a:r>
              <a:rPr lang="en" sz="1050">
                <a:solidFill>
                  <a:srgbClr val="A31515"/>
                </a:solidFill>
                <a:latin typeface="Consolas"/>
                <a:ea typeface="Consolas"/>
                <a:cs typeface="Consolas"/>
                <a:sym typeface="Consolas"/>
              </a:rPr>
              <a:t>" = "</a:t>
            </a:r>
            <a:r>
              <a:rPr lang="en" sz="1050">
                <a:latin typeface="Consolas"/>
                <a:ea typeface="Consolas"/>
                <a:cs typeface="Consolas"/>
                <a:sym typeface="Consolas"/>
              </a:rPr>
              <a:t> + (op1 * op2);</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8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9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625" name="Google Shape;625;p61"/>
          <p:cNvSpPr txBox="1"/>
          <p:nvPr/>
        </p:nvSpPr>
        <p:spPr>
          <a:xfrm>
            <a:off x="718563" y="2375100"/>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Now consider the</a:t>
            </a:r>
            <a:r>
              <a:rPr lang="en" sz="1200"/>
              <a:t> </a:t>
            </a:r>
            <a:r>
              <a:rPr lang="en" sz="1200">
                <a:latin typeface="Courier New"/>
                <a:ea typeface="Courier New"/>
                <a:cs typeface="Courier New"/>
                <a:sym typeface="Courier New"/>
              </a:rPr>
              <a:t>Calculator</a:t>
            </a:r>
            <a:r>
              <a:rPr lang="en" sz="1200"/>
              <a:t> class that defines two methods, </a:t>
            </a:r>
            <a:r>
              <a:rPr lang="en" sz="1200">
                <a:solidFill>
                  <a:srgbClr val="FF0000"/>
                </a:solidFill>
                <a:latin typeface="Courier New"/>
                <a:ea typeface="Courier New"/>
                <a:cs typeface="Courier New"/>
                <a:sym typeface="Courier New"/>
              </a:rPr>
              <a:t>add</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multiply</a:t>
            </a:r>
            <a:r>
              <a:rPr lang="en" sz="1200"/>
              <a:t>, that </a:t>
            </a:r>
            <a:r>
              <a:rPr b="1" i="1" lang="en" sz="1200">
                <a:solidFill>
                  <a:srgbClr val="FF0000"/>
                </a:solidFill>
              </a:rPr>
              <a:t>also</a:t>
            </a:r>
            <a:r>
              <a:rPr b="1" lang="en" sz="1200">
                <a:solidFill>
                  <a:srgbClr val="FF0000"/>
                </a:solidFill>
              </a:rPr>
              <a:t> </a:t>
            </a:r>
            <a:r>
              <a:rPr lang="en" sz="1200"/>
              <a:t>expect two </a:t>
            </a:r>
            <a:r>
              <a:rPr lang="en" sz="1200">
                <a:latin typeface="Courier New"/>
                <a:ea typeface="Courier New"/>
                <a:cs typeface="Courier New"/>
                <a:sym typeface="Courier New"/>
              </a:rPr>
              <a:t>double</a:t>
            </a:r>
            <a:r>
              <a:rPr lang="en" sz="1200"/>
              <a:t> parameters and return a </a:t>
            </a:r>
            <a:r>
              <a:rPr lang="en" sz="1200">
                <a:latin typeface="Courier New"/>
                <a:ea typeface="Courier New"/>
                <a:cs typeface="Courier New"/>
                <a:sym typeface="Courier New"/>
              </a:rPr>
              <a:t>String</a:t>
            </a:r>
            <a:r>
              <a:rPr lang="en" sz="1200"/>
              <a:t>.</a:t>
            </a:r>
            <a:endParaRPr sz="1200"/>
          </a:p>
        </p:txBody>
      </p:sp>
      <p:sp>
        <p:nvSpPr>
          <p:cNvPr id="626" name="Google Shape;626;p61"/>
          <p:cNvSpPr txBox="1"/>
          <p:nvPr/>
        </p:nvSpPr>
        <p:spPr>
          <a:xfrm>
            <a:off x="718563" y="3805675"/>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Given an instance of the </a:t>
            </a:r>
            <a:r>
              <a:rPr lang="en" sz="1200">
                <a:latin typeface="Courier New"/>
                <a:ea typeface="Courier New"/>
                <a:cs typeface="Courier New"/>
                <a:sym typeface="Courier New"/>
              </a:rPr>
              <a:t>Calculator</a:t>
            </a:r>
            <a:r>
              <a:rPr lang="en" sz="1200"/>
              <a:t> class, </a:t>
            </a:r>
            <a:r>
              <a:rPr lang="en" sz="1200">
                <a:solidFill>
                  <a:srgbClr val="FF0000"/>
                </a:solidFill>
                <a:latin typeface="Courier New"/>
                <a:ea typeface="Courier New"/>
                <a:cs typeface="Courier New"/>
                <a:sym typeface="Courier New"/>
              </a:rPr>
              <a:t>calc</a:t>
            </a:r>
            <a:r>
              <a:rPr lang="en" sz="1200"/>
              <a:t>, we can use </a:t>
            </a:r>
            <a:r>
              <a:rPr b="1" i="1" lang="en" sz="1200">
                <a:solidFill>
                  <a:srgbClr val="FF0000"/>
                </a:solidFill>
              </a:rPr>
              <a:t>method references</a:t>
            </a:r>
            <a:r>
              <a:rPr lang="en" sz="1200"/>
              <a:t> to call the </a:t>
            </a:r>
            <a:r>
              <a:rPr lang="en" sz="1200">
                <a:latin typeface="Courier New"/>
                <a:ea typeface="Courier New"/>
                <a:cs typeface="Courier New"/>
                <a:sym typeface="Courier New"/>
              </a:rPr>
              <a:t>computeAndPrint</a:t>
            </a:r>
            <a:r>
              <a:rPr lang="en" sz="1200"/>
              <a:t> method using the </a:t>
            </a:r>
            <a:r>
              <a:rPr lang="en" sz="1200">
                <a:solidFill>
                  <a:srgbClr val="FF0000"/>
                </a:solidFill>
                <a:latin typeface="Courier New"/>
                <a:ea typeface="Courier New"/>
                <a:cs typeface="Courier New"/>
                <a:sym typeface="Courier New"/>
              </a:rPr>
              <a:t>::</a:t>
            </a:r>
            <a:r>
              <a:rPr lang="en" sz="1200"/>
              <a:t> operator.</a:t>
            </a:r>
            <a:endParaRPr sz="1200"/>
          </a:p>
        </p:txBody>
      </p:sp>
      <p:sp>
        <p:nvSpPr>
          <p:cNvPr id="627" name="Google Shape;627;p61"/>
          <p:cNvSpPr txBox="1"/>
          <p:nvPr/>
        </p:nvSpPr>
        <p:spPr>
          <a:xfrm>
            <a:off x="4216738" y="3874825"/>
            <a:ext cx="4069200" cy="7851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Calculator</a:t>
            </a:r>
            <a:r>
              <a:rPr lang="en" sz="1050">
                <a:latin typeface="Consolas"/>
                <a:ea typeface="Consolas"/>
                <a:cs typeface="Consolas"/>
                <a:sym typeface="Consolas"/>
              </a:rPr>
              <a:t> calc = </a:t>
            </a:r>
            <a:r>
              <a:rPr lang="en" sz="1050">
                <a:solidFill>
                  <a:srgbClr val="0000FF"/>
                </a:solidFill>
                <a:latin typeface="Consolas"/>
                <a:ea typeface="Consolas"/>
                <a:cs typeface="Consolas"/>
                <a:sym typeface="Consolas"/>
              </a:rPr>
              <a:t>new</a:t>
            </a:r>
            <a:r>
              <a:rPr lang="en" sz="1050">
                <a:latin typeface="Consolas"/>
                <a:ea typeface="Consolas"/>
                <a:cs typeface="Consolas"/>
                <a:sym typeface="Consolas"/>
              </a:rPr>
              <a:t> Calculator();</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computeAndPrint(</a:t>
            </a:r>
            <a:r>
              <a:rPr lang="en" sz="1050" u="sng">
                <a:solidFill>
                  <a:srgbClr val="FF0000"/>
                </a:solidFill>
                <a:latin typeface="Consolas"/>
                <a:ea typeface="Consolas"/>
                <a:cs typeface="Consolas"/>
                <a:sym typeface="Consolas"/>
              </a:rPr>
              <a:t>calc::add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computeAndPrint(</a:t>
            </a:r>
            <a:r>
              <a:rPr lang="en" sz="1050" u="sng">
                <a:solidFill>
                  <a:srgbClr val="FF0000"/>
                </a:solidFill>
                <a:latin typeface="Consolas"/>
                <a:ea typeface="Consolas"/>
                <a:cs typeface="Consolas"/>
                <a:sym typeface="Consolas"/>
              </a:rPr>
              <a:t>calc::multiply</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628" name="Google Shape;628;p61"/>
          <p:cNvSpPr/>
          <p:nvPr/>
        </p:nvSpPr>
        <p:spPr>
          <a:xfrm>
            <a:off x="6807850" y="1566375"/>
            <a:ext cx="412025" cy="730788"/>
          </a:xfrm>
          <a:custGeom>
            <a:rect b="b" l="l" r="r" t="t"/>
            <a:pathLst>
              <a:path extrusionOk="0" h="30874" w="16481">
                <a:moveTo>
                  <a:pt x="0" y="0"/>
                </a:moveTo>
                <a:cubicBezTo>
                  <a:pt x="2518" y="1752"/>
                  <a:pt x="12481" y="5364"/>
                  <a:pt x="15109" y="10510"/>
                </a:cubicBezTo>
                <a:cubicBezTo>
                  <a:pt x="17737" y="15656"/>
                  <a:pt x="15657" y="27480"/>
                  <a:pt x="15766" y="30874"/>
                </a:cubicBezTo>
              </a:path>
            </a:pathLst>
          </a:custGeom>
          <a:noFill/>
          <a:ln cap="flat" cmpd="sng" w="19050">
            <a:solidFill>
              <a:srgbClr val="FF0000"/>
            </a:solidFill>
            <a:prstDash val="solid"/>
            <a:round/>
            <a:headEnd len="med" w="med" type="none"/>
            <a:tailEnd len="med" w="med" type="stealth"/>
          </a:ln>
        </p:spPr>
      </p:sp>
      <p:sp>
        <p:nvSpPr>
          <p:cNvPr id="629" name="Google Shape;629;p61"/>
          <p:cNvSpPr/>
          <p:nvPr/>
        </p:nvSpPr>
        <p:spPr>
          <a:xfrm>
            <a:off x="4903757" y="1549950"/>
            <a:ext cx="579150" cy="747225"/>
          </a:xfrm>
          <a:custGeom>
            <a:rect b="b" l="l" r="r" t="t"/>
            <a:pathLst>
              <a:path extrusionOk="0" h="29889" w="23166">
                <a:moveTo>
                  <a:pt x="2264" y="0"/>
                </a:moveTo>
                <a:cubicBezTo>
                  <a:pt x="2100" y="1369"/>
                  <a:pt x="-1897" y="5530"/>
                  <a:pt x="1278" y="8212"/>
                </a:cubicBezTo>
                <a:cubicBezTo>
                  <a:pt x="4453" y="10894"/>
                  <a:pt x="17811" y="12481"/>
                  <a:pt x="21314" y="16094"/>
                </a:cubicBezTo>
                <a:cubicBezTo>
                  <a:pt x="24818" y="19707"/>
                  <a:pt x="22135" y="27590"/>
                  <a:pt x="22299" y="29889"/>
                </a:cubicBezTo>
              </a:path>
            </a:pathLst>
          </a:custGeom>
          <a:noFill/>
          <a:ln cap="flat" cmpd="sng" w="19050">
            <a:solidFill>
              <a:srgbClr val="FF0000"/>
            </a:solidFill>
            <a:prstDash val="solid"/>
            <a:round/>
            <a:headEnd len="med" w="med" type="none"/>
            <a:tailEnd len="med" w="med" type="stealth"/>
          </a:ln>
        </p:spPr>
      </p:sp>
      <p:sp>
        <p:nvSpPr>
          <p:cNvPr id="630" name="Google Shape;630;p61"/>
          <p:cNvSpPr/>
          <p:nvPr/>
        </p:nvSpPr>
        <p:spPr>
          <a:xfrm>
            <a:off x="5941251" y="1574600"/>
            <a:ext cx="401050" cy="730800"/>
          </a:xfrm>
          <a:custGeom>
            <a:rect b="b" l="l" r="r" t="t"/>
            <a:pathLst>
              <a:path extrusionOk="0" h="29232" w="16042">
                <a:moveTo>
                  <a:pt x="3790" y="0"/>
                </a:moveTo>
                <a:cubicBezTo>
                  <a:pt x="3243" y="1150"/>
                  <a:pt x="-1465" y="4434"/>
                  <a:pt x="506" y="6897"/>
                </a:cubicBezTo>
                <a:cubicBezTo>
                  <a:pt x="2477" y="9360"/>
                  <a:pt x="13753" y="11058"/>
                  <a:pt x="15614" y="14780"/>
                </a:cubicBezTo>
                <a:cubicBezTo>
                  <a:pt x="17475" y="18503"/>
                  <a:pt x="12330" y="26823"/>
                  <a:pt x="11673" y="29232"/>
                </a:cubicBezTo>
              </a:path>
            </a:pathLst>
          </a:custGeom>
          <a:noFill/>
          <a:ln cap="flat" cmpd="sng" w="19050">
            <a:solidFill>
              <a:srgbClr val="FF0000"/>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1000"/>
                                        <p:tgtEl>
                                          <p:spTgt spid="6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10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2"/>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Method References (Part 3)</a:t>
            </a:r>
            <a:endParaRPr/>
          </a:p>
        </p:txBody>
      </p:sp>
      <p:sp>
        <p:nvSpPr>
          <p:cNvPr id="636" name="Google Shape;636;p6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637" name="Google Shape;637;p62"/>
          <p:cNvSpPr txBox="1"/>
          <p:nvPr/>
        </p:nvSpPr>
        <p:spPr>
          <a:xfrm>
            <a:off x="3785613" y="2134900"/>
            <a:ext cx="5070900" cy="1385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highlight>
                  <a:srgbClr val="FFFFFF"/>
                </a:highlight>
                <a:latin typeface="Consolas"/>
                <a:ea typeface="Consolas"/>
                <a:cs typeface="Consolas"/>
                <a:sym typeface="Consolas"/>
              </a:rPr>
              <a:t> Mathy {</a:t>
            </a:r>
            <a:endParaRPr sz="10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8000"/>
                </a:solidFill>
                <a:latin typeface="Consolas"/>
                <a:ea typeface="Consolas"/>
                <a:cs typeface="Consolas"/>
                <a:sym typeface="Consolas"/>
              </a:rPr>
              <a:t>2</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u="sng">
                <a:solidFill>
                  <a:srgbClr val="FF0000"/>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power(</a:t>
            </a:r>
            <a:r>
              <a:rPr lang="en" sz="1050">
                <a:solidFill>
                  <a:srgbClr val="0000FF"/>
                </a:solidFill>
                <a:highlight>
                  <a:srgbClr val="FFFFFF"/>
                </a:highlight>
                <a:latin typeface="Consolas"/>
                <a:ea typeface="Consolas"/>
                <a:cs typeface="Consolas"/>
                <a:sym typeface="Consolas"/>
              </a:rPr>
              <a:t>double</a:t>
            </a:r>
            <a:r>
              <a:rPr lang="en" sz="1050">
                <a:highlight>
                  <a:srgbClr val="FFFFFF"/>
                </a:highlight>
                <a:latin typeface="Consolas"/>
                <a:ea typeface="Consolas"/>
                <a:cs typeface="Consolas"/>
                <a:sym typeface="Consolas"/>
              </a:rPr>
              <a:t> base, </a:t>
            </a:r>
            <a:r>
              <a:rPr lang="en" sz="1050">
                <a:solidFill>
                  <a:srgbClr val="0000FF"/>
                </a:solidFill>
                <a:highlight>
                  <a:srgbClr val="FFFFFF"/>
                </a:highlight>
                <a:latin typeface="Consolas"/>
                <a:ea typeface="Consolas"/>
                <a:cs typeface="Consolas"/>
                <a:sym typeface="Consolas"/>
              </a:rPr>
              <a:t>double</a:t>
            </a:r>
            <a:r>
              <a:rPr lang="en" sz="1050">
                <a:highlight>
                  <a:srgbClr val="FFFFFF"/>
                </a:highlight>
                <a:latin typeface="Consolas"/>
                <a:ea typeface="Consolas"/>
                <a:cs typeface="Consolas"/>
                <a:sym typeface="Consolas"/>
              </a:rPr>
              <a:t> exponent) {</a:t>
            </a:r>
            <a:endParaRPr sz="10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8000"/>
                </a:solidFill>
                <a:latin typeface="Consolas"/>
                <a:ea typeface="Consolas"/>
                <a:cs typeface="Consolas"/>
                <a:sym typeface="Consolas"/>
              </a:rPr>
              <a:t>3</a:t>
            </a:r>
            <a:r>
              <a:rPr lang="en" sz="1050">
                <a:solidFill>
                  <a:srgbClr val="008000"/>
                </a:solidFill>
                <a:latin typeface="Consolas"/>
                <a:ea typeface="Consolas"/>
                <a:cs typeface="Consolas"/>
                <a:sym typeface="Consolas"/>
              </a:rPr>
              <a:t>  </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return</a:t>
            </a:r>
            <a:r>
              <a:rPr lang="en" sz="1050">
                <a:highlight>
                  <a:srgbClr val="FFFFFF"/>
                </a:highlight>
                <a:latin typeface="Consolas"/>
                <a:ea typeface="Consolas"/>
                <a:cs typeface="Consolas"/>
                <a:sym typeface="Consolas"/>
              </a:rPr>
              <a:t> base + </a:t>
            </a:r>
            <a:r>
              <a:rPr lang="en" sz="1050">
                <a:solidFill>
                  <a:srgbClr val="A31515"/>
                </a:solidFill>
                <a:highlight>
                  <a:srgbClr val="FFFFFF"/>
                </a:highlight>
                <a:latin typeface="Consolas"/>
                <a:ea typeface="Consolas"/>
                <a:cs typeface="Consolas"/>
                <a:sym typeface="Consolas"/>
              </a:rPr>
              <a:t>"^"</a:t>
            </a:r>
            <a:r>
              <a:rPr lang="en" sz="1050">
                <a:highlight>
                  <a:srgbClr val="FFFFFF"/>
                </a:highlight>
                <a:latin typeface="Consolas"/>
                <a:ea typeface="Consolas"/>
                <a:cs typeface="Consolas"/>
                <a:sym typeface="Consolas"/>
              </a:rPr>
              <a:t> + exponent + </a:t>
            </a:r>
            <a:r>
              <a:rPr lang="en" sz="1050">
                <a:solidFill>
                  <a:srgbClr val="A31515"/>
                </a:solidFill>
                <a:highlight>
                  <a:srgbClr val="FFFFFF"/>
                </a:highlight>
                <a:latin typeface="Consolas"/>
                <a:ea typeface="Consolas"/>
                <a:cs typeface="Consolas"/>
                <a:sym typeface="Consolas"/>
              </a:rPr>
              <a:t>" = "</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8000"/>
                </a:solidFill>
                <a:latin typeface="Consolas"/>
                <a:ea typeface="Consolas"/>
                <a:cs typeface="Consolas"/>
                <a:sym typeface="Consolas"/>
              </a:rPr>
              <a:t>4</a:t>
            </a:r>
            <a:r>
              <a:rPr lang="en" sz="1050">
                <a:solidFill>
                  <a:srgbClr val="008000"/>
                </a:solidFill>
                <a:latin typeface="Consolas"/>
                <a:ea typeface="Consolas"/>
                <a:cs typeface="Consolas"/>
                <a:sym typeface="Consolas"/>
              </a:rPr>
              <a:t>  </a:t>
            </a:r>
            <a:r>
              <a:rPr lang="en" sz="1050">
                <a:highlight>
                  <a:srgbClr val="FFFFFF"/>
                </a:highlight>
                <a:latin typeface="Consolas"/>
                <a:ea typeface="Consolas"/>
                <a:cs typeface="Consolas"/>
                <a:sym typeface="Consolas"/>
              </a:rPr>
              <a:t>           + Math.pow(base, exponent);</a:t>
            </a:r>
            <a:endParaRPr sz="10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8000"/>
                </a:solidFill>
                <a:latin typeface="Consolas"/>
                <a:ea typeface="Consolas"/>
                <a:cs typeface="Consolas"/>
                <a:sym typeface="Consolas"/>
              </a:rPr>
              <a:t>5</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8000"/>
                </a:solidFill>
                <a:latin typeface="Consolas"/>
                <a:ea typeface="Consolas"/>
                <a:cs typeface="Consolas"/>
                <a:sym typeface="Consolas"/>
              </a:rPr>
              <a:t>6</a:t>
            </a:r>
            <a:r>
              <a:rPr lang="en" sz="1050">
                <a:solidFill>
                  <a:srgbClr val="008000"/>
                </a:solidFill>
                <a:latin typeface="Consolas"/>
                <a:ea typeface="Consolas"/>
                <a:cs typeface="Consolas"/>
                <a:sym typeface="Consolas"/>
              </a:rPr>
              <a:t> </a:t>
            </a:r>
            <a:r>
              <a:rPr lang="en" sz="1050">
                <a:highlight>
                  <a:srgbClr val="FFFFFF"/>
                </a:highlight>
                <a:latin typeface="Consolas"/>
                <a:ea typeface="Consolas"/>
                <a:cs typeface="Consolas"/>
                <a:sym typeface="Consolas"/>
              </a:rPr>
              <a:t> }</a:t>
            </a:r>
            <a:endParaRPr sz="1050">
              <a:solidFill>
                <a:srgbClr val="0000FF"/>
              </a:solidFill>
              <a:latin typeface="Consolas"/>
              <a:ea typeface="Consolas"/>
              <a:cs typeface="Consolas"/>
              <a:sym typeface="Consolas"/>
            </a:endParaRPr>
          </a:p>
        </p:txBody>
      </p:sp>
      <p:sp>
        <p:nvSpPr>
          <p:cNvPr id="638" name="Google Shape;638;p62"/>
          <p:cNvSpPr txBox="1"/>
          <p:nvPr/>
        </p:nvSpPr>
        <p:spPr>
          <a:xfrm>
            <a:off x="3785613" y="4059450"/>
            <a:ext cx="4069200" cy="3462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highlight>
                  <a:srgbClr val="FFFFFF"/>
                </a:highlight>
                <a:latin typeface="Consolas"/>
                <a:ea typeface="Consolas"/>
                <a:cs typeface="Consolas"/>
                <a:sym typeface="Consolas"/>
              </a:rPr>
              <a:t>computeAndPrint(</a:t>
            </a:r>
            <a:r>
              <a:rPr lang="en" sz="1050" u="sng">
                <a:solidFill>
                  <a:srgbClr val="FF0000"/>
                </a:solidFill>
                <a:highlight>
                  <a:srgbClr val="FFFFFF"/>
                </a:highlight>
                <a:latin typeface="Consolas"/>
                <a:ea typeface="Consolas"/>
                <a:cs typeface="Consolas"/>
                <a:sym typeface="Consolas"/>
              </a:rPr>
              <a:t>Mathy::power</a:t>
            </a:r>
            <a:r>
              <a:rPr lang="en" sz="1050">
                <a:highlight>
                  <a:srgbClr val="FFFFFF"/>
                </a:highlight>
                <a:latin typeface="Consolas"/>
                <a:ea typeface="Consolas"/>
                <a:cs typeface="Consolas"/>
                <a:sym typeface="Consolas"/>
              </a:rPr>
              <a:t>);</a:t>
            </a:r>
            <a:endParaRPr sz="1050">
              <a:solidFill>
                <a:srgbClr val="0000FF"/>
              </a:solidFill>
              <a:latin typeface="Consolas"/>
              <a:ea typeface="Consolas"/>
              <a:cs typeface="Consolas"/>
              <a:sym typeface="Consolas"/>
            </a:endParaRPr>
          </a:p>
        </p:txBody>
      </p:sp>
      <p:sp>
        <p:nvSpPr>
          <p:cNvPr id="639" name="Google Shape;639;p62"/>
          <p:cNvSpPr txBox="1"/>
          <p:nvPr/>
        </p:nvSpPr>
        <p:spPr>
          <a:xfrm>
            <a:off x="3785625" y="1099250"/>
            <a:ext cx="3290700" cy="785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40" name="Google Shape;640;p62"/>
          <p:cNvSpPr txBox="1"/>
          <p:nvPr/>
        </p:nvSpPr>
        <p:spPr>
          <a:xfrm>
            <a:off x="287450" y="1030100"/>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b="1" i="1" lang="en" sz="1200">
                <a:solidFill>
                  <a:srgbClr val="FF0000"/>
                </a:solidFill>
              </a:rPr>
              <a:t>functional interface</a:t>
            </a:r>
            <a:r>
              <a:rPr lang="en" sz="1200"/>
              <a:t> because it only defines a single method, </a:t>
            </a:r>
            <a:r>
              <a:rPr lang="en" sz="1200">
                <a:latin typeface="Courier New"/>
                <a:ea typeface="Courier New"/>
                <a:cs typeface="Courier New"/>
                <a:sym typeface="Courier New"/>
              </a:rPr>
              <a:t>compute</a:t>
            </a:r>
            <a:r>
              <a:rPr lang="en" sz="1200"/>
              <a:t>,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41" name="Google Shape;641;p62"/>
          <p:cNvSpPr txBox="1"/>
          <p:nvPr/>
        </p:nvSpPr>
        <p:spPr>
          <a:xfrm>
            <a:off x="287438" y="2365900"/>
            <a:ext cx="3290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Now consider the </a:t>
            </a:r>
            <a:r>
              <a:rPr lang="en" sz="1200">
                <a:latin typeface="Courier New"/>
                <a:ea typeface="Courier New"/>
                <a:cs typeface="Courier New"/>
                <a:sym typeface="Courier New"/>
              </a:rPr>
              <a:t>Mathy</a:t>
            </a:r>
            <a:r>
              <a:rPr lang="en" sz="1200"/>
              <a:t> class that defines the </a:t>
            </a:r>
            <a:r>
              <a:rPr lang="en" sz="1200">
                <a:solidFill>
                  <a:srgbClr val="FF0000"/>
                </a:solidFill>
                <a:latin typeface="Courier New"/>
                <a:ea typeface="Courier New"/>
                <a:cs typeface="Courier New"/>
                <a:sym typeface="Courier New"/>
              </a:rPr>
              <a:t>static</a:t>
            </a:r>
            <a:r>
              <a:rPr lang="en" sz="1200">
                <a:solidFill>
                  <a:srgbClr val="FF0000"/>
                </a:solidFill>
              </a:rPr>
              <a:t> </a:t>
            </a:r>
            <a:r>
              <a:rPr lang="en" sz="1200">
                <a:solidFill>
                  <a:srgbClr val="FF0000"/>
                </a:solidFill>
                <a:latin typeface="Courier New"/>
                <a:ea typeface="Courier New"/>
                <a:cs typeface="Courier New"/>
                <a:sym typeface="Courier New"/>
              </a:rPr>
              <a:t>power</a:t>
            </a:r>
            <a:r>
              <a:rPr lang="en" sz="1200"/>
              <a:t> method that also matches </a:t>
            </a:r>
            <a:r>
              <a:rPr lang="en" sz="1200"/>
              <a:t>the</a:t>
            </a:r>
            <a:r>
              <a:rPr lang="en" sz="1200"/>
              <a:t> parameters and return type of the </a:t>
            </a:r>
            <a:r>
              <a:rPr lang="en" sz="1200">
                <a:latin typeface="Courier New"/>
                <a:ea typeface="Courier New"/>
                <a:cs typeface="Courier New"/>
                <a:sym typeface="Courier New"/>
              </a:rPr>
              <a:t>compute</a:t>
            </a:r>
            <a:r>
              <a:rPr lang="en" sz="1200"/>
              <a:t> method.</a:t>
            </a:r>
            <a:endParaRPr sz="1200"/>
          </a:p>
        </p:txBody>
      </p:sp>
      <p:sp>
        <p:nvSpPr>
          <p:cNvPr id="642" name="Google Shape;642;p62"/>
          <p:cNvSpPr txBox="1"/>
          <p:nvPr/>
        </p:nvSpPr>
        <p:spPr>
          <a:xfrm>
            <a:off x="287438" y="3863100"/>
            <a:ext cx="3290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 </a:t>
            </a:r>
            <a:r>
              <a:rPr b="1" i="1" lang="en" sz="1200">
                <a:solidFill>
                  <a:srgbClr val="FF0000"/>
                </a:solidFill>
              </a:rPr>
              <a:t>static method reference</a:t>
            </a:r>
            <a:r>
              <a:rPr lang="en" sz="1200">
                <a:solidFill>
                  <a:srgbClr val="FF0000"/>
                </a:solidFill>
              </a:rPr>
              <a:t> </a:t>
            </a:r>
            <a:r>
              <a:rPr lang="en" sz="1200"/>
              <a:t>does not need to use an object, but instead is called using the </a:t>
            </a:r>
            <a:r>
              <a:rPr b="1" i="1" lang="en" sz="1200">
                <a:solidFill>
                  <a:srgbClr val="FF0000"/>
                </a:solidFill>
              </a:rPr>
              <a:t>class</a:t>
            </a:r>
            <a:r>
              <a:rPr lang="en" sz="1200">
                <a:solidFill>
                  <a:srgbClr val="FF0000"/>
                </a:solidFill>
              </a:rPr>
              <a:t> </a:t>
            </a:r>
            <a:r>
              <a:rPr lang="en" sz="1200"/>
              <a:t>and the </a:t>
            </a:r>
            <a:r>
              <a:rPr lang="en" sz="1200">
                <a:solidFill>
                  <a:srgbClr val="FF0000"/>
                </a:solidFill>
                <a:latin typeface="Courier New"/>
                <a:ea typeface="Courier New"/>
                <a:cs typeface="Courier New"/>
                <a:sym typeface="Courier New"/>
              </a:rPr>
              <a:t>::</a:t>
            </a:r>
            <a:r>
              <a:rPr lang="en" sz="1200"/>
              <a:t> operator.</a:t>
            </a:r>
            <a:endParaRPr sz="1200"/>
          </a:p>
        </p:txBody>
      </p:sp>
      <p:sp>
        <p:nvSpPr>
          <p:cNvPr id="643" name="Google Shape;643;p62"/>
          <p:cNvSpPr/>
          <p:nvPr/>
        </p:nvSpPr>
        <p:spPr>
          <a:xfrm>
            <a:off x="4455377" y="1586425"/>
            <a:ext cx="1084975" cy="821125"/>
          </a:xfrm>
          <a:custGeom>
            <a:rect b="b" l="l" r="r" t="t"/>
            <a:pathLst>
              <a:path extrusionOk="0" h="32845" w="43399">
                <a:moveTo>
                  <a:pt x="3448" y="0"/>
                </a:moveTo>
                <a:cubicBezTo>
                  <a:pt x="3284" y="1588"/>
                  <a:pt x="-3450" y="6788"/>
                  <a:pt x="2462" y="9525"/>
                </a:cubicBezTo>
                <a:cubicBezTo>
                  <a:pt x="8374" y="12262"/>
                  <a:pt x="32132" y="12535"/>
                  <a:pt x="38920" y="16422"/>
                </a:cubicBezTo>
                <a:cubicBezTo>
                  <a:pt x="45708" y="20309"/>
                  <a:pt x="42478" y="30108"/>
                  <a:pt x="43190" y="32845"/>
                </a:cubicBezTo>
              </a:path>
            </a:pathLst>
          </a:custGeom>
          <a:noFill/>
          <a:ln cap="flat" cmpd="sng" w="19050">
            <a:solidFill>
              <a:srgbClr val="FF0000"/>
            </a:solidFill>
            <a:prstDash val="solid"/>
            <a:round/>
            <a:headEnd len="med" w="med" type="none"/>
            <a:tailEnd len="med" w="med" type="stealth"/>
          </a:ln>
        </p:spPr>
      </p:sp>
      <p:sp>
        <p:nvSpPr>
          <p:cNvPr id="644" name="Google Shape;644;p62"/>
          <p:cNvSpPr/>
          <p:nvPr/>
        </p:nvSpPr>
        <p:spPr>
          <a:xfrm>
            <a:off x="5505203" y="1578200"/>
            <a:ext cx="1076575" cy="853975"/>
          </a:xfrm>
          <a:custGeom>
            <a:rect b="b" l="l" r="r" t="t"/>
            <a:pathLst>
              <a:path extrusionOk="0" h="34159" w="43063">
                <a:moveTo>
                  <a:pt x="3496" y="0"/>
                </a:moveTo>
                <a:cubicBezTo>
                  <a:pt x="3332" y="1095"/>
                  <a:pt x="-3510" y="3832"/>
                  <a:pt x="2511" y="6569"/>
                </a:cubicBezTo>
                <a:cubicBezTo>
                  <a:pt x="8533" y="9306"/>
                  <a:pt x="33111" y="11825"/>
                  <a:pt x="39625" y="16423"/>
                </a:cubicBezTo>
                <a:cubicBezTo>
                  <a:pt x="46139" y="21021"/>
                  <a:pt x="41268" y="31203"/>
                  <a:pt x="41596" y="34159"/>
                </a:cubicBezTo>
              </a:path>
            </a:pathLst>
          </a:custGeom>
          <a:noFill/>
          <a:ln cap="flat" cmpd="sng" w="19050">
            <a:solidFill>
              <a:srgbClr val="FF0000"/>
            </a:solidFill>
            <a:prstDash val="solid"/>
            <a:round/>
            <a:headEnd len="med" w="med" type="none"/>
            <a:tailEnd len="med" w="med" type="stealth"/>
          </a:ln>
        </p:spPr>
      </p:sp>
      <p:sp>
        <p:nvSpPr>
          <p:cNvPr id="645" name="Google Shape;645;p62"/>
          <p:cNvSpPr/>
          <p:nvPr/>
        </p:nvSpPr>
        <p:spPr>
          <a:xfrm>
            <a:off x="6309089" y="1594625"/>
            <a:ext cx="1245525" cy="804700"/>
          </a:xfrm>
          <a:custGeom>
            <a:rect b="b" l="l" r="r" t="t"/>
            <a:pathLst>
              <a:path extrusionOk="0" h="32188" w="49821">
                <a:moveTo>
                  <a:pt x="5170" y="0"/>
                </a:moveTo>
                <a:cubicBezTo>
                  <a:pt x="4732" y="821"/>
                  <a:pt x="-4190" y="2847"/>
                  <a:pt x="2543" y="4927"/>
                </a:cubicBezTo>
                <a:cubicBezTo>
                  <a:pt x="9276" y="7007"/>
                  <a:pt x="37905" y="7938"/>
                  <a:pt x="45569" y="12481"/>
                </a:cubicBezTo>
                <a:cubicBezTo>
                  <a:pt x="53233" y="17025"/>
                  <a:pt x="48032" y="28904"/>
                  <a:pt x="48525" y="32188"/>
                </a:cubicBezTo>
              </a:path>
            </a:pathLst>
          </a:custGeom>
          <a:noFill/>
          <a:ln cap="flat" cmpd="sng" w="19050">
            <a:solidFill>
              <a:srgbClr val="FF0000"/>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1" name="Google Shape;651;p6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Method Reference Comparator</a:t>
            </a:r>
            <a:endParaRPr/>
          </a:p>
        </p:txBody>
      </p:sp>
      <p:sp>
        <p:nvSpPr>
          <p:cNvPr id="652" name="Google Shape;652;p6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continue experimenting with lambdas by creating a </a:t>
            </a:r>
            <a:r>
              <a:rPr b="1" lang="en">
                <a:solidFill>
                  <a:srgbClr val="FF0000"/>
                </a:solidFill>
              </a:rPr>
              <a:t>power operator ("^")</a:t>
            </a:r>
            <a:r>
              <a:rPr lang="en"/>
              <a:t>. This time, we will use a method reference!</a:t>
            </a:r>
            <a:endParaRPr/>
          </a:p>
        </p:txBody>
      </p:sp>
      <p:sp>
        <p:nvSpPr>
          <p:cNvPr id="653" name="Google Shape;653;p63"/>
          <p:cNvSpPr txBox="1"/>
          <p:nvPr>
            <p:ph idx="2" type="body"/>
          </p:nvPr>
        </p:nvSpPr>
        <p:spPr>
          <a:xfrm>
            <a:off x="4092150" y="1689850"/>
            <a:ext cx="4797300" cy="30861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a:t>
            </a:r>
            <a:r>
              <a:rPr lang="en" sz="1500"/>
              <a:t>n the </a:t>
            </a:r>
            <a:r>
              <a:rPr lang="en" sz="1500">
                <a:solidFill>
                  <a:srgbClr val="FF0000"/>
                </a:solidFill>
                <a:latin typeface="Courier New"/>
                <a:ea typeface="Courier New"/>
                <a:cs typeface="Courier New"/>
                <a:sym typeface="Courier New"/>
              </a:rPr>
              <a:t>ExpressionTree</a:t>
            </a:r>
            <a:r>
              <a:rPr lang="en" sz="1500"/>
              <a:t> class's </a:t>
            </a:r>
            <a:r>
              <a:rPr lang="en" sz="1500">
                <a:latin typeface="Courier New"/>
                <a:ea typeface="Courier New"/>
                <a:cs typeface="Courier New"/>
                <a:sym typeface="Courier New"/>
              </a:rPr>
              <a:t>buildExpressionTree</a:t>
            </a:r>
            <a:r>
              <a:rPr lang="en" sz="1500"/>
              <a:t>, use a method reference to handle the division case.</a:t>
            </a:r>
            <a:endParaRPr sz="1500"/>
          </a:p>
          <a:p>
            <a:pPr indent="-317500" lvl="1" marL="914400" rtl="0" algn="l">
              <a:spcBef>
                <a:spcPts val="1000"/>
              </a:spcBef>
              <a:spcAft>
                <a:spcPts val="0"/>
              </a:spcAft>
              <a:buSzPts val="1400"/>
              <a:buChar char="○"/>
            </a:pPr>
            <a:r>
              <a:rPr lang="en" sz="1400"/>
              <a:t>Create a method reference for the </a:t>
            </a:r>
            <a:r>
              <a:rPr lang="en" sz="1400">
                <a:latin typeface="Courier New"/>
                <a:ea typeface="Courier New"/>
                <a:cs typeface="Courier New"/>
                <a:sym typeface="Courier New"/>
              </a:rPr>
              <a:t>Expression</a:t>
            </a:r>
            <a:r>
              <a:rPr lang="en" sz="1400"/>
              <a:t> </a:t>
            </a:r>
            <a:r>
              <a:rPr lang="en" sz="1400"/>
              <a:t>interface</a:t>
            </a:r>
            <a:r>
              <a:rPr lang="en" sz="1400"/>
              <a:t> that implements power ("^").</a:t>
            </a:r>
            <a:endParaRPr sz="1300"/>
          </a:p>
          <a:p>
            <a:pPr indent="-317500" lvl="1" marL="914400" rtl="0" algn="l">
              <a:spcBef>
                <a:spcPts val="1000"/>
              </a:spcBef>
              <a:spcAft>
                <a:spcPts val="0"/>
              </a:spcAft>
              <a:buSzPts val="1400"/>
              <a:buChar char="○"/>
            </a:pPr>
            <a:r>
              <a:rPr lang="en" sz="1400">
                <a:highlight>
                  <a:schemeClr val="lt1"/>
                </a:highlight>
              </a:rPr>
              <a:t>Use the Math.pow(a, b) method for the reference.</a:t>
            </a:r>
            <a:endParaRPr sz="1400">
              <a:highlight>
                <a:schemeClr val="lt1"/>
              </a:highlight>
            </a:endParaRPr>
          </a:p>
          <a:p>
            <a:pPr indent="-317500" lvl="1" marL="914400" rtl="0" algn="l">
              <a:spcBef>
                <a:spcPts val="1000"/>
              </a:spcBef>
              <a:spcAft>
                <a:spcPts val="1000"/>
              </a:spcAft>
              <a:buSzPts val="1400"/>
              <a:buChar char="○"/>
            </a:pPr>
            <a:r>
              <a:rPr lang="en" sz="1400">
                <a:highlight>
                  <a:schemeClr val="lt1"/>
                </a:highlight>
              </a:rPr>
              <a:t>Test the code be adding a power to the expression being built </a:t>
            </a:r>
            <a:endParaRPr sz="1000">
              <a:highlight>
                <a:srgbClr val="FFFF00"/>
              </a:highlight>
            </a:endParaRPr>
          </a:p>
        </p:txBody>
      </p:sp>
      <p:sp>
        <p:nvSpPr>
          <p:cNvPr id="654" name="Google Shape;654;p6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a:t>
            </a:r>
            <a:r>
              <a:rPr lang="en"/>
              <a:t>.9</a:t>
            </a:r>
            <a:endParaRPr/>
          </a:p>
        </p:txBody>
      </p:sp>
      <p:sp>
        <p:nvSpPr>
          <p:cNvPr id="655" name="Google Shape;655;p63"/>
          <p:cNvSpPr txBox="1"/>
          <p:nvPr>
            <p:ph idx="4" type="body"/>
          </p:nvPr>
        </p:nvSpPr>
        <p:spPr>
          <a:xfrm>
            <a:off x="216450" y="1726475"/>
            <a:ext cx="3875700" cy="26727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34275" lIns="68575" spcFirstLastPara="1" rIns="68575" wrap="square" tIns="34275">
            <a:spAutoFit/>
          </a:bodyPr>
          <a:lstStyle/>
          <a:p>
            <a:pPr indent="0" lvl="0" marL="0" rtl="0" algn="l">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interface</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Shape</a:t>
            </a:r>
            <a:r>
              <a:rPr lang="en" sz="1000">
                <a:highlight>
                  <a:schemeClr val="lt1"/>
                </a:highlight>
                <a:latin typeface="Consolas"/>
                <a:ea typeface="Consolas"/>
                <a:cs typeface="Consolas"/>
                <a:sym typeface="Consolas"/>
              </a:rPr>
              <a:t> {</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area</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length</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t/>
            </a:r>
            <a:endParaRPr sz="1000">
              <a:highlight>
                <a:schemeClr val="lt1"/>
              </a:highlight>
              <a:latin typeface="Consolas"/>
              <a:ea typeface="Consolas"/>
              <a:cs typeface="Consolas"/>
              <a:sym typeface="Consolas"/>
            </a:endParaRPr>
          </a:p>
          <a:p>
            <a:pPr indent="0" lvl="0" marL="0" rtl="0" algn="l">
              <a:lnSpc>
                <a:spcPct val="130434"/>
              </a:lnSpc>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static</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triangleArea</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lnSpc>
                <a:spcPct val="130434"/>
              </a:lnSpc>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AF00DB"/>
                </a:solidFill>
                <a:highlight>
                  <a:schemeClr val="lt1"/>
                </a:highlight>
                <a:latin typeface="Consolas"/>
                <a:ea typeface="Consolas"/>
                <a:cs typeface="Consolas"/>
                <a:sym typeface="Consolas"/>
              </a:rPr>
              <a:t>return</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0.5</a:t>
            </a:r>
            <a:r>
              <a:rPr lang="en" sz="1000">
                <a:highlight>
                  <a:schemeClr val="lt1"/>
                </a:highlight>
                <a:latin typeface="Consolas"/>
                <a:ea typeface="Consolas"/>
                <a:cs typeface="Consolas"/>
                <a:sym typeface="Consolas"/>
              </a:rPr>
              <a:t> *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0</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1</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lnSpc>
                <a:spcPct val="130434"/>
              </a:lnSpc>
              <a:spcBef>
                <a:spcPts val="0"/>
              </a:spcBef>
              <a:spcAft>
                <a:spcPts val="0"/>
              </a:spcAft>
              <a:buNone/>
            </a:pP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static</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void</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main</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String</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args</a:t>
            </a:r>
            <a:r>
              <a:rPr lang="en" sz="1000">
                <a:highlight>
                  <a:schemeClr val="lt1"/>
                </a:highlight>
                <a:latin typeface="Consolas"/>
                <a:ea typeface="Consolas"/>
                <a:cs typeface="Consolas"/>
                <a:sym typeface="Consolas"/>
              </a:rPr>
              <a:t>) {</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int</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base</a:t>
            </a:r>
            <a:r>
              <a:rPr lang="en" sz="1000">
                <a:highlight>
                  <a:schemeClr val="lt1"/>
                </a:highlight>
                <a:latin typeface="Consolas"/>
                <a:ea typeface="Consolas"/>
                <a:cs typeface="Consolas"/>
                <a:sym typeface="Consolas"/>
              </a:rPr>
              <a:t> = </a:t>
            </a:r>
            <a:r>
              <a:rPr lang="en" sz="1000">
                <a:solidFill>
                  <a:srgbClr val="098658"/>
                </a:solidFill>
                <a:highlight>
                  <a:schemeClr val="lt1"/>
                </a:highlight>
                <a:latin typeface="Consolas"/>
                <a:ea typeface="Consolas"/>
                <a:cs typeface="Consolas"/>
                <a:sym typeface="Consolas"/>
              </a:rPr>
              <a:t>5</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solidFill>
                  <a:srgbClr val="267F99"/>
                </a:solidFill>
                <a:highlight>
                  <a:schemeClr val="lt1"/>
                </a:highlight>
                <a:latin typeface="Consolas"/>
                <a:ea typeface="Consolas"/>
                <a:cs typeface="Consolas"/>
                <a:sym typeface="Consolas"/>
              </a:rPr>
              <a:t>   int</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height</a:t>
            </a:r>
            <a:r>
              <a:rPr lang="en" sz="1000">
                <a:highlight>
                  <a:schemeClr val="lt1"/>
                </a:highlight>
                <a:latin typeface="Consolas"/>
                <a:ea typeface="Consolas"/>
                <a:cs typeface="Consolas"/>
                <a:sym typeface="Consolas"/>
              </a:rPr>
              <a:t> = </a:t>
            </a:r>
            <a:r>
              <a:rPr lang="en" sz="1000">
                <a:solidFill>
                  <a:srgbClr val="098658"/>
                </a:solidFill>
                <a:highlight>
                  <a:schemeClr val="lt1"/>
                </a:highlight>
                <a:latin typeface="Consolas"/>
                <a:ea typeface="Consolas"/>
                <a:cs typeface="Consolas"/>
                <a:sym typeface="Consolas"/>
              </a:rPr>
              <a:t>10</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solidFill>
                  <a:srgbClr val="267F99"/>
                </a:solidFill>
                <a:highlight>
                  <a:schemeClr val="lt1"/>
                </a:highlight>
                <a:latin typeface="Consolas"/>
                <a:ea typeface="Consolas"/>
                <a:cs typeface="Consolas"/>
                <a:sym typeface="Consolas"/>
              </a:rPr>
              <a:t>   </a:t>
            </a:r>
            <a:endParaRPr sz="1000">
              <a:solidFill>
                <a:srgbClr val="267F99"/>
              </a:solidFill>
              <a:highlight>
                <a:schemeClr val="lt1"/>
              </a:highlight>
              <a:latin typeface="Consolas"/>
              <a:ea typeface="Consolas"/>
              <a:cs typeface="Consolas"/>
              <a:sym typeface="Consolas"/>
            </a:endParaRPr>
          </a:p>
          <a:p>
            <a:pPr indent="0" lvl="0" marL="0" rtl="0" algn="l">
              <a:spcBef>
                <a:spcPts val="0"/>
              </a:spcBef>
              <a:spcAft>
                <a:spcPts val="0"/>
              </a:spcAft>
              <a:buNone/>
            </a:pPr>
            <a:r>
              <a:rPr lang="en" sz="1000">
                <a:solidFill>
                  <a:srgbClr val="267F99"/>
                </a:solidFill>
                <a:highlight>
                  <a:schemeClr val="lt1"/>
                </a:highlight>
                <a:latin typeface="Consolas"/>
                <a:ea typeface="Consolas"/>
                <a:cs typeface="Consolas"/>
                <a:sym typeface="Consolas"/>
              </a:rPr>
              <a:t>   Shape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triangle</a:t>
            </a:r>
            <a:r>
              <a:rPr lang="en" sz="1000">
                <a:highlight>
                  <a:schemeClr val="lt1"/>
                </a:highlight>
                <a:latin typeface="Consolas"/>
                <a:ea typeface="Consolas"/>
                <a:cs typeface="Consolas"/>
                <a:sym typeface="Consolas"/>
              </a:rPr>
              <a:t> = </a:t>
            </a:r>
            <a:r>
              <a:rPr lang="en" sz="1000">
                <a:solidFill>
                  <a:srgbClr val="267F99"/>
                </a:solidFill>
                <a:highlight>
                  <a:schemeClr val="lt1"/>
                </a:highlight>
                <a:latin typeface="Consolas"/>
                <a:ea typeface="Consolas"/>
                <a:cs typeface="Consolas"/>
                <a:sym typeface="Consolas"/>
              </a:rPr>
              <a:t>ShapeExample</a:t>
            </a:r>
            <a:r>
              <a:rPr lang="en" sz="1000">
                <a:solidFill>
                  <a:srgbClr val="AF00DB"/>
                </a:solidFill>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triangleArea</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solidFill>
                  <a:srgbClr val="267F99"/>
                </a:solidFill>
                <a:highlight>
                  <a:schemeClr val="lt1"/>
                </a:highlight>
                <a:latin typeface="Consolas"/>
                <a:ea typeface="Consolas"/>
                <a:cs typeface="Consolas"/>
                <a:sym typeface="Consolas"/>
              </a:rPr>
              <a:t>   </a:t>
            </a:r>
            <a:endParaRPr sz="1000">
              <a:solidFill>
                <a:srgbClr val="267F99"/>
              </a:solidFill>
              <a:highlight>
                <a:schemeClr val="lt1"/>
              </a:highlight>
              <a:latin typeface="Consolas"/>
              <a:ea typeface="Consolas"/>
              <a:cs typeface="Consolas"/>
              <a:sym typeface="Consolas"/>
            </a:endParaRPr>
          </a:p>
          <a:p>
            <a:pPr indent="0" lvl="0" marL="0" rtl="0" algn="l">
              <a:spcBef>
                <a:spcPts val="0"/>
              </a:spcBef>
              <a:spcAft>
                <a:spcPts val="0"/>
              </a:spcAft>
              <a:buNone/>
            </a:pPr>
            <a:r>
              <a:rPr lang="en" sz="1000">
                <a:solidFill>
                  <a:srgbClr val="267F99"/>
                </a:solidFill>
                <a:highlight>
                  <a:schemeClr val="lt1"/>
                </a:highlight>
                <a:latin typeface="Consolas"/>
                <a:ea typeface="Consolas"/>
                <a:cs typeface="Consolas"/>
                <a:sym typeface="Consolas"/>
              </a:rPr>
              <a:t>   System</a:t>
            </a:r>
            <a:r>
              <a:rPr lang="en" sz="1000">
                <a:highlight>
                  <a:schemeClr val="lt1"/>
                </a:highlight>
                <a:latin typeface="Consolas"/>
                <a:ea typeface="Consolas"/>
                <a:cs typeface="Consolas"/>
                <a:sym typeface="Consolas"/>
              </a:rPr>
              <a:t>.</a:t>
            </a:r>
            <a:r>
              <a:rPr lang="en" sz="1000">
                <a:solidFill>
                  <a:srgbClr val="0070C1"/>
                </a:solidFill>
                <a:highlight>
                  <a:schemeClr val="lt1"/>
                </a:highlight>
                <a:latin typeface="Consolas"/>
                <a:ea typeface="Consolas"/>
                <a:cs typeface="Consolas"/>
                <a:sym typeface="Consolas"/>
              </a:rPr>
              <a:t>out</a:t>
            </a:r>
            <a:r>
              <a:rPr lang="en" sz="1000">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println</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triangle</a:t>
            </a:r>
            <a:r>
              <a:rPr lang="en" sz="1000">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area</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base, height</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indent="0" lvl="0" marL="0" rtl="0" algn="l">
              <a:spcBef>
                <a:spcPts val="0"/>
              </a:spcBef>
              <a:spcAft>
                <a:spcPts val="0"/>
              </a:spcAft>
              <a:buNone/>
            </a:pPr>
            <a:r>
              <a:rPr lang="en" sz="1000">
                <a:highlight>
                  <a:schemeClr val="lt1"/>
                </a:highlight>
                <a:latin typeface="Consolas"/>
                <a:ea typeface="Consolas"/>
                <a:cs typeface="Consolas"/>
                <a:sym typeface="Consolas"/>
              </a:rPr>
              <a:t>}</a:t>
            </a:r>
            <a:endParaRPr sz="100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1" name="Google Shape;661;p64"/>
          <p:cNvSpPr txBox="1"/>
          <p:nvPr/>
        </p:nvSpPr>
        <p:spPr>
          <a:xfrm>
            <a:off x="3880245" y="4412086"/>
            <a:ext cx="4795800" cy="501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0" wrap="square" tIns="45700">
            <a:spAutoFit/>
          </a:bodyPr>
          <a:lstStyle/>
          <a:p>
            <a:pPr indent="0" lvl="0" marL="0" rtl="0" algn="l">
              <a:lnSpc>
                <a:spcPct val="135714"/>
              </a:lnSpc>
              <a:spcBef>
                <a:spcPts val="0"/>
              </a:spcBef>
              <a:spcAft>
                <a:spcPts val="0"/>
              </a:spcAft>
              <a:buNone/>
            </a:pPr>
            <a:r>
              <a:rPr lang="en" sz="1100">
                <a:solidFill>
                  <a:srgbClr val="267F99"/>
                </a:solidFill>
                <a:highlight>
                  <a:srgbClr val="FFFFFF"/>
                </a:highlight>
                <a:latin typeface="Consolas"/>
                <a:ea typeface="Consolas"/>
                <a:cs typeface="Consolas"/>
                <a:sym typeface="Consolas"/>
              </a:rPr>
              <a:t>Shape</a:t>
            </a:r>
            <a:r>
              <a:rPr lang="en" sz="1100">
                <a:highlight>
                  <a:srgbClr val="FFFFFF"/>
                </a:highlight>
                <a:latin typeface="Consolas"/>
                <a:ea typeface="Consolas"/>
                <a:cs typeface="Consolas"/>
                <a:sym typeface="Consolas"/>
              </a:rPr>
              <a:t> </a:t>
            </a:r>
            <a:r>
              <a:rPr lang="en" sz="1100">
                <a:solidFill>
                  <a:srgbClr val="001080"/>
                </a:solidFill>
                <a:latin typeface="Consolas"/>
                <a:ea typeface="Consolas"/>
                <a:cs typeface="Consolas"/>
                <a:sym typeface="Consolas"/>
              </a:rPr>
              <a:t>circle = </a:t>
            </a:r>
            <a:r>
              <a:rPr lang="en" sz="1100">
                <a:solidFill>
                  <a:srgbClr val="001080"/>
                </a:solidFill>
                <a:latin typeface="Consolas"/>
                <a:ea typeface="Consolas"/>
                <a:cs typeface="Consolas"/>
                <a:sym typeface="Consolas"/>
              </a:rPr>
              <a:t>dimens</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-&gt;</a:t>
            </a:r>
            <a:r>
              <a:rPr lang="en" sz="1150">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Math</a:t>
            </a:r>
            <a:r>
              <a:rPr lang="en" sz="1100">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PI</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dimens[0] </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dimens[0]</a:t>
            </a:r>
            <a:r>
              <a:rPr lang="en" sz="1150">
                <a:latin typeface="Consolas"/>
                <a:ea typeface="Consolas"/>
                <a:cs typeface="Consolas"/>
                <a:sym typeface="Consolas"/>
              </a:rPr>
              <a:t>; </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1080"/>
                </a:solidFill>
                <a:highlight>
                  <a:srgbClr val="FFFFFF"/>
                </a:highlight>
                <a:latin typeface="Consolas"/>
                <a:ea typeface="Consolas"/>
                <a:cs typeface="Consolas"/>
                <a:sym typeface="Consolas"/>
              </a:rPr>
              <a:t>circle</a:t>
            </a:r>
            <a:r>
              <a:rPr lang="en" sz="1100">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area</a:t>
            </a:r>
            <a:r>
              <a:rPr lang="en" sz="1100">
                <a:highlight>
                  <a:srgbClr val="FFFFFF"/>
                </a:highlight>
                <a:latin typeface="Consolas"/>
                <a:ea typeface="Consolas"/>
                <a:cs typeface="Consolas"/>
                <a:sym typeface="Consolas"/>
              </a:rPr>
              <a:t>(</a:t>
            </a:r>
            <a:r>
              <a:rPr lang="en" sz="1100">
                <a:solidFill>
                  <a:srgbClr val="098658"/>
                </a:solidFill>
                <a:highlight>
                  <a:srgbClr val="FFFFFF"/>
                </a:highlight>
                <a:latin typeface="Consolas"/>
                <a:ea typeface="Consolas"/>
                <a:cs typeface="Consolas"/>
                <a:sym typeface="Consolas"/>
              </a:rPr>
              <a:t>10</a:t>
            </a:r>
            <a:r>
              <a:rPr lang="en" sz="1100">
                <a:highlight>
                  <a:srgbClr val="FFFFFF"/>
                </a:highlight>
                <a:latin typeface="Consolas"/>
                <a:ea typeface="Consolas"/>
                <a:cs typeface="Consolas"/>
                <a:sym typeface="Consolas"/>
              </a:rPr>
              <a:t>);</a:t>
            </a:r>
            <a:endParaRPr sz="1100">
              <a:latin typeface="Consolas"/>
              <a:ea typeface="Consolas"/>
              <a:cs typeface="Consolas"/>
              <a:sym typeface="Consolas"/>
            </a:endParaRPr>
          </a:p>
        </p:txBody>
      </p:sp>
      <p:sp>
        <p:nvSpPr>
          <p:cNvPr id="662" name="Google Shape;662;p64"/>
          <p:cNvSpPr txBox="1"/>
          <p:nvPr/>
        </p:nvSpPr>
        <p:spPr>
          <a:xfrm>
            <a:off x="4679137" y="1352207"/>
            <a:ext cx="4173600" cy="1293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Override</a:t>
            </a:r>
            <a:endParaRPr sz="9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Math</a:t>
            </a:r>
            <a:r>
              <a:rPr lang="en" sz="900">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PI</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10</a:t>
            </a:r>
            <a:r>
              <a:rPr lang="en" sz="900">
                <a:highlight>
                  <a:srgbClr val="FFFFFF"/>
                </a:highlight>
                <a:latin typeface="Consolas"/>
                <a:ea typeface="Consolas"/>
                <a:cs typeface="Consolas"/>
                <a:sym typeface="Consolas"/>
              </a:rPr>
              <a:t>)</a:t>
            </a:r>
            <a:endParaRPr sz="900">
              <a:solidFill>
                <a:srgbClr val="001080"/>
              </a:solidFill>
              <a:latin typeface="Consolas"/>
              <a:ea typeface="Consolas"/>
              <a:cs typeface="Consolas"/>
              <a:sym typeface="Consolas"/>
            </a:endParaRPr>
          </a:p>
        </p:txBody>
      </p:sp>
      <p:sp>
        <p:nvSpPr>
          <p:cNvPr id="663" name="Google Shape;663;p64"/>
          <p:cNvSpPr txBox="1"/>
          <p:nvPr/>
        </p:nvSpPr>
        <p:spPr>
          <a:xfrm>
            <a:off x="269025" y="3033850"/>
            <a:ext cx="3300300" cy="1896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Shapes</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  </a:t>
            </a:r>
            <a:endParaRPr sz="900">
              <a:solidFill>
                <a:srgbClr val="0000FF"/>
              </a:solidFill>
              <a:latin typeface="Consolas"/>
              <a:ea typeface="Consolas"/>
              <a:cs typeface="Consolas"/>
              <a:sym typeface="Consolas"/>
            </a:endParaRPr>
          </a:p>
          <a:p>
            <a:pPr indent="0" lvl="0" marL="0" rtl="0" algn="l">
              <a:spcBef>
                <a:spcPts val="0"/>
              </a:spcBef>
              <a:spcAft>
                <a:spcPts val="0"/>
              </a:spcAft>
              <a:buNone/>
            </a:pPr>
            <a:r>
              <a:rPr lang="en" sz="900">
                <a:solidFill>
                  <a:srgbClr val="0000FF"/>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implements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Override</a:t>
            </a:r>
            <a:endParaRPr sz="900">
              <a:solidFill>
                <a:srgbClr val="267F99"/>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Math</a:t>
            </a:r>
            <a:r>
              <a:rPr lang="en" sz="900">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PI</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spcBef>
                <a:spcPts val="0"/>
              </a:spcBef>
              <a:spcAft>
                <a:spcPts val="0"/>
              </a:spcAft>
              <a:buNone/>
            </a:pP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spcBef>
                <a:spcPts val="0"/>
              </a:spcBef>
              <a:spcAft>
                <a:spcPts val="0"/>
              </a:spcAft>
              <a:buNone/>
            </a:pP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circle </a:t>
            </a:r>
            <a:r>
              <a:rPr lang="en" sz="900">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highlight>
                  <a:srgbClr val="FFFFFF"/>
                </a:highlight>
                <a:latin typeface="Consolas"/>
                <a:ea typeface="Consolas"/>
                <a:cs typeface="Consolas"/>
                <a:sym typeface="Consolas"/>
              </a:rPr>
              <a:t> </a:t>
            </a:r>
            <a:r>
              <a:rPr lang="en" sz="900">
                <a:solidFill>
                  <a:srgbClr val="267F99"/>
                </a:solidFill>
                <a:highlight>
                  <a:schemeClr val="lt1"/>
                </a:highlight>
                <a:latin typeface="Consolas"/>
                <a:ea typeface="Consolas"/>
                <a:cs typeface="Consolas"/>
                <a:sym typeface="Consolas"/>
              </a:rPr>
              <a:t>Shapes</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spcBef>
                <a:spcPts val="0"/>
              </a:spcBef>
              <a:spcAft>
                <a:spcPts val="0"/>
              </a:spcAft>
              <a:buNone/>
            </a:pP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p:txBody>
      </p:sp>
      <p:sp>
        <p:nvSpPr>
          <p:cNvPr id="664" name="Google Shape;664;p64"/>
          <p:cNvSpPr txBox="1"/>
          <p:nvPr/>
        </p:nvSpPr>
        <p:spPr>
          <a:xfrm>
            <a:off x="249250" y="1347824"/>
            <a:ext cx="4173600" cy="1431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implements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Override</a:t>
            </a:r>
            <a:endParaRPr sz="9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Math</a:t>
            </a:r>
            <a:r>
              <a:rPr lang="en" sz="900">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PI</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p:txBody>
      </p:sp>
      <p:sp>
        <p:nvSpPr>
          <p:cNvPr id="665" name="Google Shape;665;p6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Regular Classes to Lambdas</a:t>
            </a:r>
            <a:endParaRPr/>
          </a:p>
        </p:txBody>
      </p:sp>
      <p:sp>
        <p:nvSpPr>
          <p:cNvPr id="666" name="Google Shape;666;p64"/>
          <p:cNvSpPr txBox="1"/>
          <p:nvPr/>
        </p:nvSpPr>
        <p:spPr>
          <a:xfrm>
            <a:off x="7421512" y="2128339"/>
            <a:ext cx="1311900" cy="44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Anonymous Class</a:t>
            </a:r>
            <a:endParaRPr sz="1100"/>
          </a:p>
        </p:txBody>
      </p:sp>
      <p:grpSp>
        <p:nvGrpSpPr>
          <p:cNvPr id="667" name="Google Shape;667;p64"/>
          <p:cNvGrpSpPr/>
          <p:nvPr/>
        </p:nvGrpSpPr>
        <p:grpSpPr>
          <a:xfrm>
            <a:off x="6934595" y="3555094"/>
            <a:ext cx="754800" cy="852600"/>
            <a:chOff x="6786225" y="3858900"/>
            <a:chExt cx="754800" cy="852600"/>
          </a:xfrm>
        </p:grpSpPr>
        <p:sp>
          <p:nvSpPr>
            <p:cNvPr id="668" name="Google Shape;668;p64"/>
            <p:cNvSpPr txBox="1"/>
            <p:nvPr/>
          </p:nvSpPr>
          <p:spPr>
            <a:xfrm>
              <a:off x="6786225" y="3858900"/>
              <a:ext cx="754800" cy="44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Lambda</a:t>
              </a:r>
              <a:endParaRPr sz="1100"/>
            </a:p>
          </p:txBody>
        </p:sp>
        <p:cxnSp>
          <p:nvCxnSpPr>
            <p:cNvPr id="669" name="Google Shape;669;p64"/>
            <p:cNvCxnSpPr>
              <a:stCxn id="668" idx="2"/>
            </p:cNvCxnSpPr>
            <p:nvPr/>
          </p:nvCxnSpPr>
          <p:spPr>
            <a:xfrm>
              <a:off x="7163625" y="4302300"/>
              <a:ext cx="900" cy="409200"/>
            </a:xfrm>
            <a:prstGeom prst="straightConnector1">
              <a:avLst/>
            </a:prstGeom>
            <a:noFill/>
            <a:ln cap="flat" cmpd="sng" w="19050">
              <a:solidFill>
                <a:srgbClr val="FF0000"/>
              </a:solidFill>
              <a:prstDash val="solid"/>
              <a:round/>
              <a:headEnd len="med" w="med" type="none"/>
              <a:tailEnd len="med" w="med" type="triangle"/>
            </a:ln>
          </p:spPr>
        </p:cxnSp>
      </p:grpSp>
      <p:sp>
        <p:nvSpPr>
          <p:cNvPr id="670" name="Google Shape;670;p64"/>
          <p:cNvSpPr txBox="1"/>
          <p:nvPr/>
        </p:nvSpPr>
        <p:spPr>
          <a:xfrm>
            <a:off x="3776724" y="3033859"/>
            <a:ext cx="917700" cy="44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Inner Class</a:t>
            </a:r>
            <a:endParaRPr sz="1100"/>
          </a:p>
        </p:txBody>
      </p:sp>
      <p:sp>
        <p:nvSpPr>
          <p:cNvPr id="671" name="Google Shape;671;p64"/>
          <p:cNvSpPr txBox="1"/>
          <p:nvPr/>
        </p:nvSpPr>
        <p:spPr>
          <a:xfrm>
            <a:off x="3263475" y="2319733"/>
            <a:ext cx="1073100" cy="379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Regular Class</a:t>
            </a:r>
            <a:endParaRPr sz="1100"/>
          </a:p>
        </p:txBody>
      </p:sp>
      <p:cxnSp>
        <p:nvCxnSpPr>
          <p:cNvPr id="672" name="Google Shape;672;p64"/>
          <p:cNvCxnSpPr>
            <a:stCxn id="670" idx="1"/>
          </p:cNvCxnSpPr>
          <p:nvPr/>
        </p:nvCxnSpPr>
        <p:spPr>
          <a:xfrm flipH="1">
            <a:off x="3569424" y="3255559"/>
            <a:ext cx="207300" cy="114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000"/>
                                        <p:tgtEl>
                                          <p:spTgt spid="6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65"/>
          <p:cNvSpPr txBox="1"/>
          <p:nvPr>
            <p:ph type="title"/>
          </p:nvPr>
        </p:nvSpPr>
        <p:spPr>
          <a:xfrm>
            <a:off x="5264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Streams</a:t>
            </a:r>
            <a:endParaRPr/>
          </a:p>
        </p:txBody>
      </p:sp>
      <p:sp>
        <p:nvSpPr>
          <p:cNvPr id="679" name="Google Shape;679;p65"/>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a:solidFill>
                  <a:srgbClr val="FF0000"/>
                </a:solidFill>
              </a:rPr>
              <a:t>Streams</a:t>
            </a:r>
            <a:r>
              <a:rPr lang="en"/>
              <a:t> are a sequence of elements</a:t>
            </a:r>
            <a:endParaRPr/>
          </a:p>
          <a:p>
            <a:pPr indent="-298450" lvl="1" marL="914400" rtl="0" algn="l">
              <a:spcBef>
                <a:spcPts val="0"/>
              </a:spcBef>
              <a:spcAft>
                <a:spcPts val="0"/>
              </a:spcAft>
              <a:buSzPts val="1100"/>
              <a:buChar char="○"/>
            </a:pPr>
            <a:r>
              <a:rPr lang="en"/>
              <a:t>Characters in file</a:t>
            </a:r>
            <a:endParaRPr/>
          </a:p>
          <a:p>
            <a:pPr indent="-298450" lvl="1" marL="914400" rtl="0" algn="l">
              <a:spcBef>
                <a:spcPts val="0"/>
              </a:spcBef>
              <a:spcAft>
                <a:spcPts val="0"/>
              </a:spcAft>
              <a:buSzPts val="1100"/>
              <a:buChar char="○"/>
            </a:pPr>
            <a:r>
              <a:rPr lang="en"/>
              <a:t>Bytes over the network</a:t>
            </a:r>
            <a:endParaRPr/>
          </a:p>
          <a:p>
            <a:pPr indent="-298450" lvl="1" marL="914400" rtl="0" algn="l">
              <a:spcBef>
                <a:spcPts val="0"/>
              </a:spcBef>
              <a:spcAft>
                <a:spcPts val="0"/>
              </a:spcAft>
              <a:buSzPts val="1100"/>
              <a:buChar char="○"/>
            </a:pPr>
            <a:r>
              <a:rPr lang="en"/>
              <a:t>Elements in a List</a:t>
            </a:r>
            <a:endParaRPr/>
          </a:p>
          <a:p>
            <a:pPr indent="-298450" lvl="1" marL="914400" rtl="0" algn="l">
              <a:spcBef>
                <a:spcPts val="0"/>
              </a:spcBef>
              <a:spcAft>
                <a:spcPts val="0"/>
              </a:spcAft>
              <a:buSzPts val="1100"/>
              <a:buChar char="○"/>
            </a:pPr>
            <a:r>
              <a:rPr lang="en"/>
              <a:t>etc.</a:t>
            </a:r>
            <a:endParaRPr/>
          </a:p>
          <a:p>
            <a:pPr indent="-311150" lvl="0" marL="457200" rtl="0" algn="l">
              <a:spcBef>
                <a:spcPts val="1000"/>
              </a:spcBef>
              <a:spcAft>
                <a:spcPts val="0"/>
              </a:spcAft>
              <a:buSzPts val="1300"/>
              <a:buChar char="●"/>
            </a:pPr>
            <a:r>
              <a:rPr lang="en"/>
              <a:t>Java provides a lot of support for Streams</a:t>
            </a:r>
            <a:endParaRPr/>
          </a:p>
          <a:p>
            <a:pPr indent="-311150" lvl="0" marL="457200" rtl="0" algn="l">
              <a:spcBef>
                <a:spcPts val="1000"/>
              </a:spcBef>
              <a:spcAft>
                <a:spcPts val="0"/>
              </a:spcAft>
              <a:buSzPts val="1300"/>
              <a:buChar char="●"/>
            </a:pPr>
            <a:r>
              <a:rPr lang="en"/>
              <a:t>In particular, today we are going to look as the </a:t>
            </a:r>
            <a:r>
              <a:rPr lang="en">
                <a:solidFill>
                  <a:srgbClr val="FF0000"/>
                </a:solidFill>
                <a:latin typeface="Courier New"/>
                <a:ea typeface="Courier New"/>
                <a:cs typeface="Courier New"/>
                <a:sym typeface="Courier New"/>
              </a:rPr>
              <a:t>stream</a:t>
            </a:r>
            <a:r>
              <a:rPr lang="en">
                <a:solidFill>
                  <a:srgbClr val="FF0000"/>
                </a:solidFill>
              </a:rPr>
              <a:t> </a:t>
            </a:r>
            <a:r>
              <a:rPr lang="en"/>
              <a:t>method in the </a:t>
            </a:r>
            <a:r>
              <a:rPr lang="en">
                <a:latin typeface="Courier New"/>
                <a:ea typeface="Courier New"/>
                <a:cs typeface="Courier New"/>
                <a:sym typeface="Courier New"/>
              </a:rPr>
              <a:t>Collection</a:t>
            </a:r>
            <a:r>
              <a:rPr lang="en"/>
              <a:t> interface</a:t>
            </a:r>
            <a:endParaRPr/>
          </a:p>
          <a:p>
            <a:pPr indent="-298450" lvl="1" marL="914400" rtl="0" algn="l">
              <a:spcBef>
                <a:spcPts val="0"/>
              </a:spcBef>
              <a:spcAft>
                <a:spcPts val="0"/>
              </a:spcAft>
              <a:buSzPts val="1100"/>
              <a:buChar char="○"/>
            </a:pPr>
            <a:r>
              <a:rPr lang="en"/>
              <a:t>The </a:t>
            </a:r>
            <a:r>
              <a:rPr lang="en">
                <a:latin typeface="Courier New"/>
                <a:ea typeface="Courier New"/>
                <a:cs typeface="Courier New"/>
                <a:sym typeface="Courier New"/>
              </a:rPr>
              <a:t>Collection</a:t>
            </a:r>
            <a:r>
              <a:rPr lang="en"/>
              <a:t> interface is the base interface for </a:t>
            </a:r>
            <a:r>
              <a:rPr lang="en">
                <a:latin typeface="Courier New"/>
                <a:ea typeface="Courier New"/>
                <a:cs typeface="Courier New"/>
                <a:sym typeface="Courier New"/>
              </a:rPr>
              <a:t>List</a:t>
            </a:r>
            <a:r>
              <a:rPr lang="en"/>
              <a:t>, </a:t>
            </a:r>
            <a:r>
              <a:rPr lang="en">
                <a:latin typeface="Courier New"/>
                <a:ea typeface="Courier New"/>
                <a:cs typeface="Courier New"/>
                <a:sym typeface="Courier New"/>
              </a:rPr>
              <a:t>Queue</a:t>
            </a:r>
            <a:r>
              <a:rPr lang="en"/>
              <a:t>, </a:t>
            </a:r>
            <a:r>
              <a:rPr lang="en">
                <a:latin typeface="Courier New"/>
                <a:ea typeface="Courier New"/>
                <a:cs typeface="Courier New"/>
                <a:sym typeface="Courier New"/>
              </a:rPr>
              <a:t>Set</a:t>
            </a:r>
            <a:r>
              <a:rPr lang="en"/>
              <a:t>, and others (but not </a:t>
            </a:r>
            <a:r>
              <a:rPr lang="en">
                <a:latin typeface="Courier New"/>
                <a:ea typeface="Courier New"/>
                <a:cs typeface="Courier New"/>
                <a:sym typeface="Courier New"/>
              </a:rPr>
              <a:t>Map</a:t>
            </a:r>
            <a:r>
              <a:rPr lang="en"/>
              <a:t>)</a:t>
            </a:r>
            <a:endParaRPr/>
          </a:p>
          <a:p>
            <a:pPr indent="-311150" lvl="0" marL="457200" rtl="0" algn="l">
              <a:spcBef>
                <a:spcPts val="1000"/>
              </a:spcBef>
              <a:spcAft>
                <a:spcPts val="0"/>
              </a:spcAft>
              <a:buSzPts val="1300"/>
              <a:buChar char="●"/>
            </a:pPr>
            <a:r>
              <a:rPr lang="en"/>
              <a:t>The </a:t>
            </a:r>
            <a:r>
              <a:rPr lang="en">
                <a:latin typeface="Courier New"/>
                <a:ea typeface="Courier New"/>
                <a:cs typeface="Courier New"/>
                <a:sym typeface="Courier New"/>
              </a:rPr>
              <a:t>Stream&lt;E&gt; stream()</a:t>
            </a:r>
            <a:r>
              <a:rPr lang="en"/>
              <a:t> method returns a </a:t>
            </a:r>
            <a:r>
              <a:rPr lang="en">
                <a:latin typeface="Courier New"/>
                <a:ea typeface="Courier New"/>
                <a:cs typeface="Courier New"/>
                <a:sym typeface="Courier New"/>
              </a:rPr>
              <a:t>Stream</a:t>
            </a:r>
            <a:r>
              <a:rPr lang="en"/>
              <a:t> of elements in a </a:t>
            </a:r>
            <a:r>
              <a:rPr lang="en">
                <a:latin typeface="Courier New"/>
                <a:ea typeface="Courier New"/>
                <a:cs typeface="Courier New"/>
                <a:sym typeface="Courier New"/>
              </a:rPr>
              <a:t>Collection</a:t>
            </a:r>
            <a:endParaRPr>
              <a:latin typeface="Courier New"/>
              <a:ea typeface="Courier New"/>
              <a:cs typeface="Courier New"/>
              <a:sym typeface="Courier New"/>
            </a:endParaRPr>
          </a:p>
          <a:p>
            <a:pPr indent="-311150" lvl="0" marL="457200" rtl="0" algn="l">
              <a:spcBef>
                <a:spcPts val="1000"/>
              </a:spcBef>
              <a:spcAft>
                <a:spcPts val="0"/>
              </a:spcAft>
              <a:buSzPts val="1300"/>
              <a:buChar char="●"/>
            </a:pPr>
            <a:r>
              <a:rPr lang="en"/>
              <a:t>Alone this is not exceptionally useful, but Java has </a:t>
            </a:r>
            <a:r>
              <a:rPr lang="en">
                <a:solidFill>
                  <a:srgbClr val="FF0000"/>
                </a:solidFill>
                <a:latin typeface="Courier New"/>
                <a:ea typeface="Courier New"/>
                <a:cs typeface="Courier New"/>
                <a:sym typeface="Courier New"/>
              </a:rPr>
              <a:t>several methods</a:t>
            </a:r>
            <a:r>
              <a:rPr lang="en"/>
              <a:t> that work on streams that will be useful</a:t>
            </a:r>
            <a:endParaRPr/>
          </a:p>
        </p:txBody>
      </p:sp>
      <p:sp>
        <p:nvSpPr>
          <p:cNvPr id="680" name="Google Shape;680;p65"/>
          <p:cNvSpPr txBox="1"/>
          <p:nvPr>
            <p:ph idx="3" type="body"/>
          </p:nvPr>
        </p:nvSpPr>
        <p:spPr>
          <a:xfrm>
            <a:off x="5192225" y="4089650"/>
            <a:ext cx="3706500" cy="80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i="1" lang="en">
                <a:solidFill>
                  <a:srgbClr val="FF0000"/>
                </a:solidFill>
              </a:rPr>
              <a:t>Streams </a:t>
            </a:r>
            <a:r>
              <a:rPr lang="en"/>
              <a:t>are a continuous sequence of information that can be acted on and manipulated.</a:t>
            </a:r>
            <a:endParaRPr/>
          </a:p>
        </p:txBody>
      </p:sp>
      <p:pic>
        <p:nvPicPr>
          <p:cNvPr id="681" name="Google Shape;681;p65"/>
          <p:cNvPicPr preferRelativeResize="0"/>
          <p:nvPr/>
        </p:nvPicPr>
        <p:blipFill>
          <a:blip r:embed="rId3">
            <a:alphaModFix/>
          </a:blip>
          <a:stretch>
            <a:fillRect/>
          </a:stretch>
        </p:blipFill>
        <p:spPr>
          <a:xfrm>
            <a:off x="4886075" y="1442000"/>
            <a:ext cx="4166400" cy="195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1000"/>
                                        <p:tgtEl>
                                          <p:spTgt spid="6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66"/>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Preparation</a:t>
            </a:r>
            <a:endParaRPr/>
          </a:p>
        </p:txBody>
      </p:sp>
      <p:sp>
        <p:nvSpPr>
          <p:cNvPr id="687" name="Google Shape;687;p66"/>
          <p:cNvSpPr txBox="1"/>
          <p:nvPr>
            <p:ph idx="1" type="body"/>
          </p:nvPr>
        </p:nvSpPr>
        <p:spPr>
          <a:xfrm>
            <a:off x="65250" y="731625"/>
            <a:ext cx="8955900" cy="8172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sz="1800"/>
              <a:t>Before we dive into Java Streams, we're going to need some data to work with. A simple student class has been provided to you. Use it to create an array of students which we'll use in the </a:t>
            </a:r>
            <a:r>
              <a:rPr lang="en" sz="1800"/>
              <a:t>upcoming</a:t>
            </a:r>
            <a:r>
              <a:rPr lang="en" sz="1800"/>
              <a:t> activities.</a:t>
            </a:r>
            <a:endParaRPr/>
          </a:p>
        </p:txBody>
      </p:sp>
      <p:sp>
        <p:nvSpPr>
          <p:cNvPr id="688" name="Google Shape;688;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9" name="Google Shape;689;p6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4.10</a:t>
            </a:r>
            <a:endParaRPr/>
          </a:p>
        </p:txBody>
      </p:sp>
      <p:sp>
        <p:nvSpPr>
          <p:cNvPr id="690" name="Google Shape;690;p66"/>
          <p:cNvSpPr txBox="1"/>
          <p:nvPr>
            <p:ph idx="2" type="body"/>
          </p:nvPr>
        </p:nvSpPr>
        <p:spPr>
          <a:xfrm>
            <a:off x="3559400" y="1673200"/>
            <a:ext cx="5327700" cy="29004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A</a:t>
            </a:r>
            <a:r>
              <a:rPr lang="en" sz="1600"/>
              <a:t> </a:t>
            </a:r>
            <a:r>
              <a:rPr lang="en" sz="1600">
                <a:solidFill>
                  <a:srgbClr val="FF0000"/>
                </a:solidFill>
                <a:latin typeface="Courier New"/>
                <a:ea typeface="Courier New"/>
                <a:cs typeface="Courier New"/>
                <a:sym typeface="Courier New"/>
              </a:rPr>
              <a:t>Student</a:t>
            </a:r>
            <a:r>
              <a:rPr lang="en" sz="1600"/>
              <a:t> class</a:t>
            </a:r>
            <a:r>
              <a:rPr lang="en" sz="1600"/>
              <a:t> has been provided to you in the </a:t>
            </a:r>
            <a:r>
              <a:rPr lang="en" sz="1600">
                <a:solidFill>
                  <a:srgbClr val="FF0000"/>
                </a:solidFill>
                <a:latin typeface="Courier New"/>
                <a:ea typeface="Courier New"/>
                <a:cs typeface="Courier New"/>
                <a:sym typeface="Courier New"/>
              </a:rPr>
              <a:t>lambdas</a:t>
            </a:r>
            <a:r>
              <a:rPr lang="en" sz="1600"/>
              <a:t> package.</a:t>
            </a:r>
            <a:endParaRPr sz="1600"/>
          </a:p>
          <a:p>
            <a:pPr indent="-317500" lvl="1" marL="914400" rtl="0" algn="l">
              <a:spcBef>
                <a:spcPts val="0"/>
              </a:spcBef>
              <a:spcAft>
                <a:spcPts val="0"/>
              </a:spcAft>
              <a:buSzPts val="1400"/>
              <a:buChar char="○"/>
            </a:pPr>
            <a:r>
              <a:rPr lang="en" sz="1400"/>
              <a:t>Take a few moments to examine it. You should find that it matches the UML on the left.</a:t>
            </a:r>
            <a:endParaRPr sz="1400"/>
          </a:p>
          <a:p>
            <a:pPr indent="-330200" lvl="0" marL="457200" rtl="0" algn="l">
              <a:spcBef>
                <a:spcPts val="1000"/>
              </a:spcBef>
              <a:spcAft>
                <a:spcPts val="0"/>
              </a:spcAft>
              <a:buSzPts val="1600"/>
              <a:buChar char="●"/>
            </a:pPr>
            <a:r>
              <a:rPr lang="en" sz="1600"/>
              <a:t>Add a </a:t>
            </a:r>
            <a:r>
              <a:rPr lang="en" sz="1600">
                <a:latin typeface="Courier New"/>
                <a:ea typeface="Courier New"/>
                <a:cs typeface="Courier New"/>
                <a:sym typeface="Courier New"/>
              </a:rPr>
              <a:t>main</a:t>
            </a:r>
            <a:r>
              <a:rPr lang="en" sz="1600"/>
              <a:t> that creates a list of at least 5 students with names of your choice.</a:t>
            </a:r>
            <a:endParaRPr sz="1600"/>
          </a:p>
          <a:p>
            <a:pPr indent="-317500" lvl="1" marL="914400" rtl="0" algn="l">
              <a:spcBef>
                <a:spcPts val="0"/>
              </a:spcBef>
              <a:spcAft>
                <a:spcPts val="0"/>
              </a:spcAft>
              <a:buSzPts val="1400"/>
              <a:buChar char="○"/>
            </a:pPr>
            <a:r>
              <a:rPr lang="en" sz="1400"/>
              <a:t>Create an appropriately sized array (or use in initializer)</a:t>
            </a:r>
            <a:endParaRPr sz="1400"/>
          </a:p>
          <a:p>
            <a:pPr indent="-317500" lvl="1" marL="914400" rtl="0" algn="l">
              <a:spcBef>
                <a:spcPts val="0"/>
              </a:spcBef>
              <a:spcAft>
                <a:spcPts val="0"/>
              </a:spcAft>
              <a:buSzPts val="1400"/>
              <a:buChar char="○"/>
            </a:pPr>
            <a:r>
              <a:rPr lang="en" sz="1400"/>
              <a:t>Add the students.</a:t>
            </a:r>
            <a:endParaRPr sz="1400"/>
          </a:p>
          <a:p>
            <a:pPr indent="-317500" lvl="1" marL="914400" rtl="0" algn="l">
              <a:spcBef>
                <a:spcPts val="0"/>
              </a:spcBef>
              <a:spcAft>
                <a:spcPts val="0"/>
              </a:spcAft>
              <a:buSzPts val="1400"/>
              <a:buChar char="○"/>
            </a:pPr>
            <a:r>
              <a:rPr lang="en" sz="1400"/>
              <a:t>Print the array of students.</a:t>
            </a:r>
            <a:endParaRPr sz="1400"/>
          </a:p>
        </p:txBody>
      </p:sp>
      <p:pic>
        <p:nvPicPr>
          <p:cNvPr id="691" name="Google Shape;691;p66"/>
          <p:cNvPicPr preferRelativeResize="0"/>
          <p:nvPr/>
        </p:nvPicPr>
        <p:blipFill rotWithShape="1">
          <a:blip r:embed="rId3">
            <a:alphaModFix/>
          </a:blip>
          <a:srcRect b="7279" l="6647" r="6915" t="7381"/>
          <a:stretch/>
        </p:blipFill>
        <p:spPr>
          <a:xfrm>
            <a:off x="748000" y="1774525"/>
            <a:ext cx="2181450" cy="18927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7"/>
          <p:cNvSpPr txBox="1"/>
          <p:nvPr>
            <p:ph type="title"/>
          </p:nvPr>
        </p:nvSpPr>
        <p:spPr>
          <a:xfrm>
            <a:off x="311725" y="199475"/>
            <a:ext cx="37065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forEach</a:t>
            </a:r>
            <a:r>
              <a:rPr lang="en"/>
              <a:t> &amp; </a:t>
            </a:r>
            <a:r>
              <a:rPr lang="en">
                <a:latin typeface="Courier New"/>
                <a:ea typeface="Courier New"/>
                <a:cs typeface="Courier New"/>
                <a:sym typeface="Courier New"/>
              </a:rPr>
              <a:t>Consumer</a:t>
            </a:r>
            <a:endParaRPr>
              <a:latin typeface="Courier New"/>
              <a:ea typeface="Courier New"/>
              <a:cs typeface="Courier New"/>
              <a:sym typeface="Courier New"/>
            </a:endParaRPr>
          </a:p>
        </p:txBody>
      </p:sp>
      <p:sp>
        <p:nvSpPr>
          <p:cNvPr id="697" name="Google Shape;697;p67"/>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To access an array as a </a:t>
            </a:r>
            <a:r>
              <a:rPr lang="en">
                <a:solidFill>
                  <a:srgbClr val="FF0000"/>
                </a:solidFill>
                <a:latin typeface="Courier New"/>
                <a:ea typeface="Courier New"/>
                <a:cs typeface="Courier New"/>
                <a:sym typeface="Courier New"/>
              </a:rPr>
              <a:t>Stream</a:t>
            </a:r>
            <a:r>
              <a:rPr lang="en"/>
              <a:t>, we can use the </a:t>
            </a:r>
            <a:r>
              <a:rPr lang="en">
                <a:latin typeface="Courier New"/>
                <a:ea typeface="Courier New"/>
                <a:cs typeface="Courier New"/>
                <a:sym typeface="Courier New"/>
              </a:rPr>
              <a:t>Arrays.stream</a:t>
            </a:r>
            <a:r>
              <a:rPr lang="en"/>
              <a:t> utility method.</a:t>
            </a:r>
            <a:endParaRPr/>
          </a:p>
          <a:p>
            <a:pPr indent="0" lvl="0" marL="457200" rtl="0" algn="l">
              <a:spcBef>
                <a:spcPts val="0"/>
              </a:spcBef>
              <a:spcAft>
                <a:spcPts val="0"/>
              </a:spcAft>
              <a:buNone/>
            </a:pPr>
            <a:r>
              <a:rPr lang="en">
                <a:latin typeface="Courier New"/>
                <a:ea typeface="Courier New"/>
                <a:cs typeface="Courier New"/>
                <a:sym typeface="Courier New"/>
              </a:rPr>
              <a:t>Arrays.stream(an_array)</a:t>
            </a:r>
            <a:endParaRPr>
              <a:latin typeface="Courier New"/>
              <a:ea typeface="Courier New"/>
              <a:cs typeface="Courier New"/>
              <a:sym typeface="Courier New"/>
            </a:endParaRPr>
          </a:p>
          <a:p>
            <a:pPr indent="-311150" lvl="0" marL="457200" rtl="0" algn="l">
              <a:spcBef>
                <a:spcPts val="1000"/>
              </a:spcBef>
              <a:spcAft>
                <a:spcPts val="0"/>
              </a:spcAft>
              <a:buSzPts val="1300"/>
              <a:buChar char="●"/>
            </a:pPr>
            <a:r>
              <a:rPr lang="en">
                <a:solidFill>
                  <a:srgbClr val="FF0000"/>
                </a:solidFill>
                <a:latin typeface="Courier New"/>
                <a:ea typeface="Courier New"/>
                <a:cs typeface="Courier New"/>
                <a:sym typeface="Courier New"/>
              </a:rPr>
              <a:t>Stream.forEach</a:t>
            </a:r>
            <a:r>
              <a:rPr lang="en"/>
              <a:t> is used to perform some operation on each element in the stream</a:t>
            </a:r>
            <a:endParaRPr/>
          </a:p>
          <a:p>
            <a:pPr indent="-311150" lvl="0" marL="457200" rtl="0" algn="l">
              <a:spcBef>
                <a:spcPts val="1000"/>
              </a:spcBef>
              <a:spcAft>
                <a:spcPts val="0"/>
              </a:spcAft>
              <a:buSzPts val="1300"/>
              <a:buChar char="●"/>
            </a:pPr>
            <a:r>
              <a:rPr lang="en"/>
              <a:t>Its funny looking parameter (</a:t>
            </a:r>
            <a:r>
              <a:rPr lang="en">
                <a:latin typeface="Courier New"/>
                <a:ea typeface="Courier New"/>
                <a:cs typeface="Courier New"/>
                <a:sym typeface="Courier New"/>
              </a:rPr>
              <a:t>Consumer &lt;? super T&gt; action</a:t>
            </a:r>
            <a:r>
              <a:rPr lang="en"/>
              <a:t>) accepts an instance of the </a:t>
            </a:r>
            <a:r>
              <a:rPr lang="en">
                <a:latin typeface="Courier New"/>
                <a:ea typeface="Courier New"/>
                <a:cs typeface="Courier New"/>
                <a:sym typeface="Courier New"/>
              </a:rPr>
              <a:t>Consumer</a:t>
            </a:r>
            <a:r>
              <a:rPr lang="en"/>
              <a:t> interface</a:t>
            </a:r>
            <a:endParaRPr/>
          </a:p>
          <a:p>
            <a:pPr indent="-304800" lvl="1" marL="914400" rtl="0" algn="l">
              <a:spcBef>
                <a:spcPts val="0"/>
              </a:spcBef>
              <a:spcAft>
                <a:spcPts val="0"/>
              </a:spcAft>
              <a:buSzPts val="1200"/>
              <a:buChar char="○"/>
            </a:pPr>
            <a:r>
              <a:rPr lang="en" sz="1200">
                <a:latin typeface="Courier New"/>
                <a:ea typeface="Courier New"/>
                <a:cs typeface="Courier New"/>
                <a:sym typeface="Courier New"/>
              </a:rPr>
              <a:t>Consumer</a:t>
            </a:r>
            <a:r>
              <a:rPr lang="en" sz="1200"/>
              <a:t> is a functional interface</a:t>
            </a:r>
            <a:endParaRPr sz="1200"/>
          </a:p>
          <a:p>
            <a:pPr indent="-304800" lvl="1" marL="914400" rtl="0" algn="l">
              <a:spcBef>
                <a:spcPts val="0"/>
              </a:spcBef>
              <a:spcAft>
                <a:spcPts val="0"/>
              </a:spcAft>
              <a:buSzPts val="1200"/>
              <a:buChar char="○"/>
            </a:pPr>
            <a:r>
              <a:rPr lang="en" sz="1200"/>
              <a:t>I bet you can see where this is going …</a:t>
            </a:r>
            <a:endParaRPr sz="1200"/>
          </a:p>
          <a:p>
            <a:pPr indent="-311150" lvl="0" marL="457200" rtl="0" algn="l">
              <a:spcBef>
                <a:spcPts val="1000"/>
              </a:spcBef>
              <a:spcAft>
                <a:spcPts val="0"/>
              </a:spcAft>
              <a:buSzPts val="1300"/>
              <a:buChar char="●"/>
            </a:pPr>
            <a:r>
              <a:rPr lang="en">
                <a:latin typeface="Courier New"/>
                <a:ea typeface="Courier New"/>
                <a:cs typeface="Courier New"/>
                <a:sym typeface="Courier New"/>
              </a:rPr>
              <a:t>Consumer</a:t>
            </a:r>
            <a:r>
              <a:rPr lang="en"/>
              <a:t>'s only method takes in an element of the stream and performs the action on it</a:t>
            </a:r>
            <a:endParaRPr/>
          </a:p>
          <a:p>
            <a:pPr indent="-304800" lvl="1" marL="914400" rtl="0" algn="l">
              <a:spcBef>
                <a:spcPts val="0"/>
              </a:spcBef>
              <a:spcAft>
                <a:spcPts val="0"/>
              </a:spcAft>
              <a:buSzPts val="1200"/>
              <a:buChar char="○"/>
            </a:pPr>
            <a:r>
              <a:rPr lang="en" sz="1200"/>
              <a:t>We can use lambdas to quickly create simple actions like:</a:t>
            </a:r>
            <a:endParaRPr sz="1200"/>
          </a:p>
          <a:p>
            <a:pPr indent="-304800" lvl="2" marL="1371600" rtl="0" algn="l">
              <a:spcBef>
                <a:spcPts val="0"/>
              </a:spcBef>
              <a:spcAft>
                <a:spcPts val="0"/>
              </a:spcAft>
              <a:buSzPts val="1200"/>
              <a:buChar char="■"/>
            </a:pPr>
            <a:r>
              <a:rPr lang="en" sz="1200"/>
              <a:t>Printing the element</a:t>
            </a:r>
            <a:endParaRPr sz="1200"/>
          </a:p>
          <a:p>
            <a:pPr indent="-304800" lvl="2" marL="1371600" rtl="0" algn="l">
              <a:spcBef>
                <a:spcPts val="0"/>
              </a:spcBef>
              <a:spcAft>
                <a:spcPts val="0"/>
              </a:spcAft>
              <a:buSzPts val="1200"/>
              <a:buChar char="■"/>
            </a:pPr>
            <a:r>
              <a:rPr lang="en" sz="1200"/>
              <a:t>Performing math on the element</a:t>
            </a:r>
            <a:endParaRPr sz="1200"/>
          </a:p>
          <a:p>
            <a:pPr indent="-304800" lvl="2" marL="1371600" rtl="0" algn="l">
              <a:spcBef>
                <a:spcPts val="0"/>
              </a:spcBef>
              <a:spcAft>
                <a:spcPts val="0"/>
              </a:spcAft>
              <a:buSzPts val="1200"/>
              <a:buChar char="■"/>
            </a:pPr>
            <a:r>
              <a:rPr lang="en" sz="1200"/>
              <a:t>Writing it to a file</a:t>
            </a:r>
            <a:endParaRPr sz="1200"/>
          </a:p>
          <a:p>
            <a:pPr indent="-304800" lvl="2" marL="1371600" rtl="0" algn="l">
              <a:spcBef>
                <a:spcPts val="0"/>
              </a:spcBef>
              <a:spcAft>
                <a:spcPts val="0"/>
              </a:spcAft>
              <a:buSzPts val="1200"/>
              <a:buChar char="■"/>
            </a:pPr>
            <a:r>
              <a:rPr lang="en" sz="1200"/>
              <a:t>etc.</a:t>
            </a:r>
            <a:endParaRPr sz="1200"/>
          </a:p>
        </p:txBody>
      </p:sp>
      <p:sp>
        <p:nvSpPr>
          <p:cNvPr id="698" name="Google Shape;698;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9" name="Google Shape;699;p67"/>
          <p:cNvSpPr txBox="1"/>
          <p:nvPr>
            <p:ph idx="2" type="body"/>
          </p:nvPr>
        </p:nvSpPr>
        <p:spPr>
          <a:xfrm>
            <a:off x="315425" y="1286175"/>
            <a:ext cx="3706500" cy="26973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static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0</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solidFill>
                  <a:srgbClr val="000000"/>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4</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0</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54</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85</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2</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97</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72</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endParaRPr sz="1050">
              <a:solidFill>
                <a:srgbClr val="795E26"/>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"Sum = "</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150">
              <a:solidFill>
                <a:srgbClr val="0000FF"/>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endParaRPr/>
          </a:p>
        </p:txBody>
      </p:sp>
      <p:sp>
        <p:nvSpPr>
          <p:cNvPr id="700" name="Google Shape;700;p67"/>
          <p:cNvSpPr txBox="1"/>
          <p:nvPr>
            <p:ph idx="3" type="body"/>
          </p:nvPr>
        </p:nvSpPr>
        <p:spPr>
          <a:xfrm>
            <a:off x="315425" y="4089650"/>
            <a:ext cx="3706500" cy="80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t>Use </a:t>
            </a:r>
            <a:r>
              <a:rPr lang="en">
                <a:latin typeface="Courier New"/>
                <a:ea typeface="Courier New"/>
                <a:cs typeface="Courier New"/>
                <a:sym typeface="Courier New"/>
              </a:rPr>
              <a:t>forEach</a:t>
            </a:r>
            <a:r>
              <a:rPr lang="en"/>
              <a:t> to perform some action on each element of </a:t>
            </a:r>
            <a:r>
              <a:rPr lang="en">
                <a:latin typeface="Courier New"/>
                <a:ea typeface="Courier New"/>
                <a:cs typeface="Courier New"/>
                <a:sym typeface="Courier New"/>
              </a:rPr>
              <a:t>Stream</a:t>
            </a:r>
            <a:endParaRPr>
              <a:latin typeface="Courier New"/>
              <a:ea typeface="Courier New"/>
              <a:cs typeface="Courier New"/>
              <a:sym typeface="Courier New"/>
            </a:endParaRPr>
          </a:p>
        </p:txBody>
      </p:sp>
      <p:sp>
        <p:nvSpPr>
          <p:cNvPr id="701" name="Google Shape;701;p67"/>
          <p:cNvSpPr txBox="1"/>
          <p:nvPr>
            <p:ph idx="3" type="body"/>
          </p:nvPr>
        </p:nvSpPr>
        <p:spPr>
          <a:xfrm>
            <a:off x="2316325" y="2005300"/>
            <a:ext cx="1933200" cy="5232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1100">
                <a:latin typeface="Courier New"/>
                <a:ea typeface="Courier New"/>
                <a:cs typeface="Courier New"/>
                <a:sym typeface="Courier New"/>
              </a:rPr>
              <a:t>sum </a:t>
            </a:r>
            <a:r>
              <a:rPr lang="en" sz="1100"/>
              <a:t>cannot be local due to </a:t>
            </a:r>
            <a:r>
              <a:rPr lang="en" sz="1100"/>
              <a:t>lambda constraints</a:t>
            </a:r>
            <a:endParaRPr sz="1100"/>
          </a:p>
        </p:txBody>
      </p:sp>
      <p:sp>
        <p:nvSpPr>
          <p:cNvPr id="702" name="Google Shape;702;p67"/>
          <p:cNvSpPr/>
          <p:nvPr/>
        </p:nvSpPr>
        <p:spPr>
          <a:xfrm>
            <a:off x="3164075" y="2701763"/>
            <a:ext cx="309000" cy="137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3" name="Google Shape;703;p67"/>
          <p:cNvCxnSpPr>
            <a:stCxn id="701" idx="2"/>
            <a:endCxn id="702" idx="0"/>
          </p:cNvCxnSpPr>
          <p:nvPr/>
        </p:nvCxnSpPr>
        <p:spPr>
          <a:xfrm flipH="1" rot="-5400000">
            <a:off x="3214075" y="2597350"/>
            <a:ext cx="173400" cy="35700"/>
          </a:xfrm>
          <a:prstGeom prst="bentConnector3">
            <a:avLst>
              <a:gd fmla="val 49960" name="adj1"/>
            </a:avLst>
          </a:prstGeom>
          <a:noFill/>
          <a:ln cap="flat" cmpd="sng" w="19050">
            <a:solidFill>
              <a:srgbClr val="FF0000"/>
            </a:solidFill>
            <a:prstDash val="solid"/>
            <a:round/>
            <a:headEnd len="med" w="med" type="none"/>
            <a:tailEnd len="med" w="med" type="triangle"/>
          </a:ln>
        </p:spPr>
      </p:cxnSp>
      <p:sp>
        <p:nvSpPr>
          <p:cNvPr id="704" name="Google Shape;704;p67"/>
          <p:cNvSpPr/>
          <p:nvPr/>
        </p:nvSpPr>
        <p:spPr>
          <a:xfrm>
            <a:off x="1194060" y="1400803"/>
            <a:ext cx="309000" cy="137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5" name="Google Shape;705;p67"/>
          <p:cNvCxnSpPr>
            <a:stCxn id="701" idx="0"/>
            <a:endCxn id="704" idx="0"/>
          </p:cNvCxnSpPr>
          <p:nvPr/>
        </p:nvCxnSpPr>
        <p:spPr>
          <a:xfrm flipH="1" rot="5400000">
            <a:off x="2013475" y="735850"/>
            <a:ext cx="604500" cy="1934400"/>
          </a:xfrm>
          <a:prstGeom prst="bentConnector3">
            <a:avLst>
              <a:gd fmla="val 139392" name="adj1"/>
            </a:avLst>
          </a:prstGeom>
          <a:noFill/>
          <a:ln cap="flat" cmpd="sng" w="19050">
            <a:solidFill>
              <a:srgbClr val="FF0000"/>
            </a:solidFill>
            <a:prstDash val="solid"/>
            <a:round/>
            <a:headEnd len="med" w="med" type="none"/>
            <a:tailEnd len="med" w="med" type="triangle"/>
          </a:ln>
        </p:spPr>
      </p:cxnSp>
      <p:sp>
        <p:nvSpPr>
          <p:cNvPr id="706" name="Google Shape;706;p67"/>
          <p:cNvSpPr txBox="1"/>
          <p:nvPr>
            <p:ph idx="3" type="body"/>
          </p:nvPr>
        </p:nvSpPr>
        <p:spPr>
          <a:xfrm>
            <a:off x="796285" y="3180207"/>
            <a:ext cx="1365300" cy="255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Method reference</a:t>
            </a:r>
            <a:endParaRPr sz="1100"/>
          </a:p>
        </p:txBody>
      </p:sp>
      <p:sp>
        <p:nvSpPr>
          <p:cNvPr id="707" name="Google Shape;707;p67"/>
          <p:cNvSpPr/>
          <p:nvPr/>
        </p:nvSpPr>
        <p:spPr>
          <a:xfrm>
            <a:off x="2305756" y="3162286"/>
            <a:ext cx="1563900" cy="169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8" name="Google Shape;708;p67"/>
          <p:cNvCxnSpPr>
            <a:stCxn id="706" idx="2"/>
            <a:endCxn id="707" idx="2"/>
          </p:cNvCxnSpPr>
          <p:nvPr/>
        </p:nvCxnSpPr>
        <p:spPr>
          <a:xfrm rot="-5400000">
            <a:off x="2231185" y="2579157"/>
            <a:ext cx="104400" cy="1608900"/>
          </a:xfrm>
          <a:prstGeom prst="bentConnector3">
            <a:avLst>
              <a:gd fmla="val -53489" name="adj1"/>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1000"/>
                                        <p:tgtEl>
                                          <p:spTgt spid="701"/>
                                        </p:tgtEl>
                                      </p:cBhvr>
                                    </p:animEffect>
                                  </p:childTnLst>
                                </p:cTn>
                              </p:par>
                              <p:par>
                                <p:cTn fill="hold" nodeType="with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1000"/>
                                        <p:tgtEl>
                                          <p:spTgt spid="702"/>
                                        </p:tgtEl>
                                      </p:cBhvr>
                                    </p:animEffect>
                                  </p:childTnLst>
                                </p:cTn>
                              </p:par>
                              <p:par>
                                <p:cTn fill="hold" nodeType="with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1000"/>
                                        <p:tgtEl>
                                          <p:spTgt spid="703"/>
                                        </p:tgtEl>
                                      </p:cBhvr>
                                    </p:animEffect>
                                  </p:childTnLst>
                                </p:cTn>
                              </p:par>
                              <p:par>
                                <p:cTn fill="hold" nodeType="with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0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10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1000"/>
                                        <p:tgtEl>
                                          <p:spTgt spid="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Streaming Students</a:t>
            </a:r>
            <a:endParaRPr/>
          </a:p>
        </p:txBody>
      </p:sp>
      <p:sp>
        <p:nvSpPr>
          <p:cNvPr id="714" name="Google Shape;714;p6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default string representation of a student puts the student's last name first. Let's practice using streams to print</a:t>
            </a:r>
            <a:r>
              <a:rPr lang="en"/>
              <a:t> out each student in "</a:t>
            </a:r>
            <a:r>
              <a:rPr lang="en">
                <a:latin typeface="Courier New"/>
                <a:ea typeface="Courier New"/>
                <a:cs typeface="Courier New"/>
                <a:sym typeface="Courier New"/>
              </a:rPr>
              <a:t>&lt;first name&gt; &lt;last name&gt;</a:t>
            </a:r>
            <a:r>
              <a:rPr lang="en"/>
              <a:t>" format instead.</a:t>
            </a:r>
            <a:endParaRPr/>
          </a:p>
        </p:txBody>
      </p:sp>
      <p:sp>
        <p:nvSpPr>
          <p:cNvPr id="715" name="Google Shape;715;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6" name="Google Shape;716;p68"/>
          <p:cNvSpPr txBox="1"/>
          <p:nvPr>
            <p:ph idx="2" type="body"/>
          </p:nvPr>
        </p:nvSpPr>
        <p:spPr>
          <a:xfrm>
            <a:off x="4053550" y="1530950"/>
            <a:ext cx="4848300" cy="2592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In the </a:t>
            </a:r>
            <a:r>
              <a:rPr lang="en" sz="1600">
                <a:latin typeface="Courier New"/>
                <a:ea typeface="Courier New"/>
                <a:cs typeface="Courier New"/>
                <a:sym typeface="Courier New"/>
              </a:rPr>
              <a:t>Student</a:t>
            </a:r>
            <a:r>
              <a:rPr lang="en" sz="1600"/>
              <a:t> class, using a </a:t>
            </a:r>
            <a:r>
              <a:rPr lang="en" sz="1600">
                <a:latin typeface="Courier New"/>
                <a:ea typeface="Courier New"/>
                <a:cs typeface="Courier New"/>
                <a:sym typeface="Courier New"/>
              </a:rPr>
              <a:t>Stream</a:t>
            </a:r>
            <a:r>
              <a:rPr lang="en" sz="1600"/>
              <a:t>, print out the name of each student in the </a:t>
            </a:r>
            <a:r>
              <a:rPr lang="en" sz="1600">
                <a:latin typeface="Courier New"/>
                <a:ea typeface="Courier New"/>
                <a:cs typeface="Courier New"/>
                <a:sym typeface="Courier New"/>
              </a:rPr>
              <a:t>students</a:t>
            </a:r>
            <a:r>
              <a:rPr lang="en" sz="1600"/>
              <a:t> list</a:t>
            </a:r>
            <a:endParaRPr sz="1600"/>
          </a:p>
          <a:p>
            <a:pPr indent="-323850" lvl="1" marL="914400" rtl="0" algn="l">
              <a:spcBef>
                <a:spcPts val="0"/>
              </a:spcBef>
              <a:spcAft>
                <a:spcPts val="0"/>
              </a:spcAft>
              <a:buSzPts val="1500"/>
              <a:buChar char="○"/>
            </a:pPr>
            <a:r>
              <a:rPr lang="en" sz="1500"/>
              <a:t>Use </a:t>
            </a:r>
            <a:r>
              <a:rPr lang="en" sz="1500"/>
              <a:t>"</a:t>
            </a:r>
            <a:r>
              <a:rPr lang="en" sz="1500">
                <a:latin typeface="Courier New"/>
                <a:ea typeface="Courier New"/>
                <a:cs typeface="Courier New"/>
                <a:sym typeface="Courier New"/>
              </a:rPr>
              <a:t>&lt;first name&gt; &lt;last name&gt;</a:t>
            </a:r>
            <a:r>
              <a:rPr lang="en" sz="1500"/>
              <a:t>"</a:t>
            </a:r>
            <a:r>
              <a:rPr lang="en" sz="1500"/>
              <a:t> format</a:t>
            </a:r>
            <a:endParaRPr sz="1500"/>
          </a:p>
          <a:p>
            <a:pPr indent="-323850" lvl="0" marL="457200" rtl="0" algn="l">
              <a:spcBef>
                <a:spcPts val="0"/>
              </a:spcBef>
              <a:spcAft>
                <a:spcPts val="0"/>
              </a:spcAft>
              <a:buSzPts val="1500"/>
              <a:buChar char="●"/>
            </a:pPr>
            <a:r>
              <a:rPr lang="en" sz="1500"/>
              <a:t>Start by getting a </a:t>
            </a:r>
            <a:r>
              <a:rPr lang="en" sz="1500">
                <a:latin typeface="Courier New"/>
                <a:ea typeface="Courier New"/>
                <a:cs typeface="Courier New"/>
                <a:sym typeface="Courier New"/>
              </a:rPr>
              <a:t>Stream</a:t>
            </a:r>
            <a:r>
              <a:rPr lang="en" sz="1500"/>
              <a:t> to the array. </a:t>
            </a:r>
            <a:endParaRPr sz="1500">
              <a:latin typeface="Courier New"/>
              <a:ea typeface="Courier New"/>
              <a:cs typeface="Courier New"/>
              <a:sym typeface="Courier New"/>
            </a:endParaRPr>
          </a:p>
          <a:p>
            <a:pPr indent="-323850" lvl="0" marL="457200" rtl="0" algn="l">
              <a:spcBef>
                <a:spcPts val="0"/>
              </a:spcBef>
              <a:spcAft>
                <a:spcPts val="0"/>
              </a:spcAft>
              <a:buSzPts val="1500"/>
              <a:buChar char="●"/>
            </a:pPr>
            <a:r>
              <a:rPr lang="en" sz="1500"/>
              <a:t>Then call </a:t>
            </a:r>
            <a:r>
              <a:rPr lang="en" sz="1500">
                <a:latin typeface="Courier New"/>
                <a:ea typeface="Courier New"/>
                <a:cs typeface="Courier New"/>
                <a:sym typeface="Courier New"/>
              </a:rPr>
              <a:t>forEach</a:t>
            </a:r>
            <a:r>
              <a:rPr lang="en" sz="1500"/>
              <a:t> on the stream and pass in a lambda expression that calls </a:t>
            </a:r>
            <a:r>
              <a:rPr lang="en" sz="1500">
                <a:latin typeface="Courier New"/>
                <a:ea typeface="Courier New"/>
                <a:cs typeface="Courier New"/>
                <a:sym typeface="Courier New"/>
              </a:rPr>
              <a:t>println</a:t>
            </a:r>
            <a:r>
              <a:rPr lang="en" sz="1500"/>
              <a:t> for an element in the array.</a:t>
            </a:r>
            <a:endParaRPr sz="1500">
              <a:latin typeface="Courier New"/>
              <a:ea typeface="Courier New"/>
              <a:cs typeface="Courier New"/>
              <a:sym typeface="Courier New"/>
            </a:endParaRPr>
          </a:p>
        </p:txBody>
      </p:sp>
      <p:sp>
        <p:nvSpPr>
          <p:cNvPr id="717" name="Google Shape;717;p6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a:t>
            </a:r>
            <a:r>
              <a:rPr lang="en"/>
              <a:t>.11</a:t>
            </a:r>
            <a:endParaRPr/>
          </a:p>
        </p:txBody>
      </p:sp>
      <p:sp>
        <p:nvSpPr>
          <p:cNvPr id="718" name="Google Shape;718;p68"/>
          <p:cNvSpPr txBox="1"/>
          <p:nvPr>
            <p:ph idx="4" type="body"/>
          </p:nvPr>
        </p:nvSpPr>
        <p:spPr>
          <a:xfrm>
            <a:off x="164075" y="1530950"/>
            <a:ext cx="3706800" cy="26091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0</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4</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0</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54</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85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2</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97</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72</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e</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endParaRPr sz="1050">
              <a:solidFill>
                <a:srgbClr val="795E26"/>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"Sum = "</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spcBef>
                <a:spcPts val="0"/>
              </a:spcBef>
              <a:spcAft>
                <a:spcPts val="0"/>
              </a:spcAft>
              <a:buNone/>
            </a:pPr>
            <a:r>
              <a:rPr lang="en" sz="1050">
                <a:highlight>
                  <a:srgbClr val="FFFFFF"/>
                </a:highlight>
                <a:latin typeface="Consolas"/>
                <a:ea typeface="Consolas"/>
                <a:cs typeface="Consolas"/>
                <a:sym typeface="Consolas"/>
              </a:rPr>
              <a:t>}</a:t>
            </a:r>
            <a:endParaRPr sz="115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9"/>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4" name="Google Shape;724;p69"/>
          <p:cNvSpPr txBox="1"/>
          <p:nvPr>
            <p:ph type="title"/>
          </p:nvPr>
        </p:nvSpPr>
        <p:spPr>
          <a:xfrm>
            <a:off x="5264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latin typeface="Courier New"/>
                <a:ea typeface="Courier New"/>
                <a:cs typeface="Courier New"/>
                <a:sym typeface="Courier New"/>
              </a:rPr>
              <a:t>filter</a:t>
            </a:r>
            <a:r>
              <a:rPr lang="en" sz="2700"/>
              <a:t> &amp; </a:t>
            </a:r>
            <a:r>
              <a:rPr lang="en" sz="2700">
                <a:latin typeface="Courier New"/>
                <a:ea typeface="Courier New"/>
                <a:cs typeface="Courier New"/>
                <a:sym typeface="Courier New"/>
              </a:rPr>
              <a:t>Predicate</a:t>
            </a:r>
            <a:endParaRPr sz="2700">
              <a:latin typeface="Courier New"/>
              <a:ea typeface="Courier New"/>
              <a:cs typeface="Courier New"/>
              <a:sym typeface="Courier New"/>
            </a:endParaRPr>
          </a:p>
        </p:txBody>
      </p:sp>
      <p:sp>
        <p:nvSpPr>
          <p:cNvPr id="725" name="Google Shape;725;p69"/>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Another common stream operation is to </a:t>
            </a:r>
            <a:r>
              <a:rPr b="1" i="1" lang="en">
                <a:solidFill>
                  <a:srgbClr val="FF0000"/>
                </a:solidFill>
              </a:rPr>
              <a:t>filter data</a:t>
            </a:r>
            <a:r>
              <a:rPr lang="en"/>
              <a:t> on specific </a:t>
            </a:r>
            <a:r>
              <a:rPr b="1" i="1" lang="en">
                <a:solidFill>
                  <a:srgbClr val="FF0000"/>
                </a:solidFill>
              </a:rPr>
              <a:t>criteria</a:t>
            </a:r>
            <a:r>
              <a:rPr lang="en"/>
              <a:t> before doing other work</a:t>
            </a:r>
            <a:endParaRPr/>
          </a:p>
          <a:p>
            <a:pPr indent="-311150" lvl="0" marL="457200" rtl="0" algn="l">
              <a:spcBef>
                <a:spcPts val="400"/>
              </a:spcBef>
              <a:spcAft>
                <a:spcPts val="0"/>
              </a:spcAft>
              <a:buSzPts val="1300"/>
              <a:buChar char="●"/>
            </a:pPr>
            <a:r>
              <a:rPr lang="en"/>
              <a:t>The is accomplished using the </a:t>
            </a:r>
            <a:r>
              <a:rPr lang="en">
                <a:latin typeface="Courier New"/>
                <a:ea typeface="Courier New"/>
                <a:cs typeface="Courier New"/>
                <a:sym typeface="Courier New"/>
              </a:rPr>
              <a:t>Stream.filter</a:t>
            </a:r>
            <a:r>
              <a:rPr lang="en"/>
              <a:t> method</a:t>
            </a:r>
            <a:endParaRPr/>
          </a:p>
          <a:p>
            <a:pPr indent="-311150" lvl="0" marL="457200" rtl="0" algn="l">
              <a:spcBef>
                <a:spcPts val="400"/>
              </a:spcBef>
              <a:spcAft>
                <a:spcPts val="0"/>
              </a:spcAft>
              <a:buSzPts val="1300"/>
              <a:buChar char="●"/>
            </a:pPr>
            <a:r>
              <a:rPr lang="en">
                <a:latin typeface="Courier New"/>
                <a:ea typeface="Courier New"/>
                <a:cs typeface="Courier New"/>
                <a:sym typeface="Courier New"/>
              </a:rPr>
              <a:t>filter</a:t>
            </a:r>
            <a:r>
              <a:rPr lang="en"/>
              <a:t> accepts a single parameter which is an instance of the </a:t>
            </a:r>
            <a:r>
              <a:rPr lang="en">
                <a:latin typeface="Courier New"/>
                <a:ea typeface="Courier New"/>
                <a:cs typeface="Courier New"/>
                <a:sym typeface="Courier New"/>
              </a:rPr>
              <a:t>Predicate</a:t>
            </a:r>
            <a:r>
              <a:rPr lang="en"/>
              <a:t> interface</a:t>
            </a:r>
            <a:endParaRPr/>
          </a:p>
          <a:p>
            <a:pPr indent="-304800" lvl="1" marL="914400" rtl="0" algn="l">
              <a:spcBef>
                <a:spcPts val="400"/>
              </a:spcBef>
              <a:spcAft>
                <a:spcPts val="0"/>
              </a:spcAft>
              <a:buSzPts val="1200"/>
              <a:buChar char="○"/>
            </a:pPr>
            <a:r>
              <a:rPr lang="en" sz="1200"/>
              <a:t>You guessed it, another functional interface</a:t>
            </a:r>
            <a:endParaRPr sz="1200"/>
          </a:p>
          <a:p>
            <a:pPr indent="-304800" lvl="1" marL="914400" rtl="0" algn="l">
              <a:spcBef>
                <a:spcPts val="400"/>
              </a:spcBef>
              <a:spcAft>
                <a:spcPts val="0"/>
              </a:spcAft>
              <a:buSzPts val="1200"/>
              <a:buChar char="○"/>
            </a:pPr>
            <a:r>
              <a:rPr lang="en" sz="1200"/>
              <a:t>It's lambda time!</a:t>
            </a:r>
            <a:endParaRPr sz="1200"/>
          </a:p>
          <a:p>
            <a:pPr indent="-311150" lvl="0" marL="457200" rtl="0" algn="l">
              <a:spcBef>
                <a:spcPts val="400"/>
              </a:spcBef>
              <a:spcAft>
                <a:spcPts val="0"/>
              </a:spcAft>
              <a:buSzPts val="1300"/>
              <a:buChar char="●"/>
            </a:pPr>
            <a:r>
              <a:rPr lang="en">
                <a:latin typeface="Courier New"/>
                <a:ea typeface="Courier New"/>
                <a:cs typeface="Courier New"/>
                <a:sym typeface="Courier New"/>
              </a:rPr>
              <a:t>filter</a:t>
            </a:r>
            <a:r>
              <a:rPr lang="en"/>
              <a:t> is different from </a:t>
            </a:r>
            <a:r>
              <a:rPr lang="en">
                <a:latin typeface="Courier New"/>
                <a:ea typeface="Courier New"/>
                <a:cs typeface="Courier New"/>
                <a:sym typeface="Courier New"/>
              </a:rPr>
              <a:t>forEach</a:t>
            </a:r>
            <a:r>
              <a:rPr lang="en"/>
              <a:t> in that instead of performing an action, </a:t>
            </a:r>
            <a:r>
              <a:rPr lang="en">
                <a:latin typeface="Courier New"/>
                <a:ea typeface="Courier New"/>
                <a:cs typeface="Courier New"/>
                <a:sym typeface="Courier New"/>
              </a:rPr>
              <a:t>filter</a:t>
            </a:r>
            <a:r>
              <a:rPr lang="en"/>
              <a:t> returns a </a:t>
            </a:r>
            <a:r>
              <a:rPr b="1" i="1" lang="en">
                <a:solidFill>
                  <a:srgbClr val="FF0000"/>
                </a:solidFill>
              </a:rPr>
              <a:t>modified </a:t>
            </a:r>
            <a:r>
              <a:rPr lang="en">
                <a:latin typeface="Courier New"/>
                <a:ea typeface="Courier New"/>
                <a:cs typeface="Courier New"/>
                <a:sym typeface="Courier New"/>
              </a:rPr>
              <a:t>Stream</a:t>
            </a:r>
            <a:r>
              <a:rPr lang="en"/>
              <a:t> </a:t>
            </a:r>
            <a:endParaRPr/>
          </a:p>
          <a:p>
            <a:pPr indent="-298450" lvl="1" marL="914400" rtl="0" algn="l">
              <a:spcBef>
                <a:spcPts val="400"/>
              </a:spcBef>
              <a:spcAft>
                <a:spcPts val="0"/>
              </a:spcAft>
              <a:buSzPts val="1100"/>
              <a:buChar char="○"/>
            </a:pPr>
            <a:r>
              <a:rPr lang="en"/>
              <a:t>The returned stream only contains the elements that satisfy the </a:t>
            </a:r>
            <a:r>
              <a:rPr lang="en">
                <a:latin typeface="Courier New"/>
                <a:ea typeface="Courier New"/>
                <a:cs typeface="Courier New"/>
                <a:sym typeface="Courier New"/>
              </a:rPr>
              <a:t>Predicate</a:t>
            </a:r>
            <a:endParaRPr>
              <a:latin typeface="Courier New"/>
              <a:ea typeface="Courier New"/>
              <a:cs typeface="Courier New"/>
              <a:sym typeface="Courier New"/>
            </a:endParaRPr>
          </a:p>
          <a:p>
            <a:pPr indent="-311150" lvl="0" marL="457200" rtl="0" algn="l">
              <a:spcBef>
                <a:spcPts val="400"/>
              </a:spcBef>
              <a:spcAft>
                <a:spcPts val="400"/>
              </a:spcAft>
              <a:buSzPts val="1300"/>
              <a:buChar char="●"/>
            </a:pPr>
            <a:r>
              <a:rPr lang="en"/>
              <a:t>For this reason, </a:t>
            </a:r>
            <a:r>
              <a:rPr lang="en">
                <a:latin typeface="Courier New"/>
                <a:ea typeface="Courier New"/>
                <a:cs typeface="Courier New"/>
                <a:sym typeface="Courier New"/>
              </a:rPr>
              <a:t>filter</a:t>
            </a:r>
            <a:r>
              <a:rPr lang="en"/>
              <a:t> is often used as part of other </a:t>
            </a:r>
            <a:r>
              <a:rPr lang="en">
                <a:latin typeface="Courier New"/>
                <a:ea typeface="Courier New"/>
                <a:cs typeface="Courier New"/>
                <a:sym typeface="Courier New"/>
              </a:rPr>
              <a:t>Stream</a:t>
            </a:r>
            <a:r>
              <a:rPr lang="en"/>
              <a:t> operations which can be chained together using dot notation</a:t>
            </a:r>
            <a:endParaRPr/>
          </a:p>
        </p:txBody>
      </p:sp>
      <p:sp>
        <p:nvSpPr>
          <p:cNvPr id="726" name="Google Shape;726;p69"/>
          <p:cNvSpPr txBox="1"/>
          <p:nvPr>
            <p:ph idx="2" type="body"/>
          </p:nvPr>
        </p:nvSpPr>
        <p:spPr>
          <a:xfrm>
            <a:off x="5192225" y="1286175"/>
            <a:ext cx="3706500" cy="20991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static</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void</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main</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args</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new</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4</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0</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54</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1</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85</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2</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97</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3</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72</a:t>
            </a:r>
            <a:r>
              <a:rPr lang="en" sz="1150">
                <a:solidFill>
                  <a:srgbClr val="000000"/>
                </a:solidFill>
                <a:highlight>
                  <a:srgbClr val="FFFFFF"/>
                </a:highlight>
                <a:latin typeface="Consolas"/>
                <a:ea typeface="Consolas"/>
                <a:cs typeface="Consolas"/>
                <a:sym typeface="Consolas"/>
              </a:rPr>
              <a:t>;</a:t>
            </a:r>
            <a:endParaRPr sz="12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8000"/>
                </a:solidFill>
                <a:highlight>
                  <a:srgbClr val="FFFFFF"/>
                </a:highlight>
                <a:latin typeface="Consolas"/>
                <a:ea typeface="Consolas"/>
                <a:cs typeface="Consolas"/>
                <a:sym typeface="Consolas"/>
              </a:rPr>
              <a:t>// Print only passing grades</a:t>
            </a:r>
            <a:endParaRPr sz="1150">
              <a:solidFill>
                <a:srgbClr val="008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Arrays</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stream</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filter</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e</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e</a:t>
            </a:r>
            <a:r>
              <a:rPr lang="en" sz="1150">
                <a:solidFill>
                  <a:srgbClr val="000000"/>
                </a:solidFill>
                <a:highlight>
                  <a:srgbClr val="FFFFFF"/>
                </a:highlight>
                <a:latin typeface="Consolas"/>
                <a:ea typeface="Consolas"/>
                <a:cs typeface="Consolas"/>
                <a:sym typeface="Consolas"/>
              </a:rPr>
              <a:t> &gt; </a:t>
            </a:r>
            <a:r>
              <a:rPr lang="en" sz="1150">
                <a:solidFill>
                  <a:srgbClr val="098658"/>
                </a:solidFill>
                <a:highlight>
                  <a:srgbClr val="FFFFFF"/>
                </a:highlight>
                <a:latin typeface="Consolas"/>
                <a:ea typeface="Consolas"/>
                <a:cs typeface="Consolas"/>
                <a:sym typeface="Consolas"/>
              </a:rPr>
              <a:t>69</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forEach</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AF00DB"/>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1600"/>
              </a:spcAft>
              <a:buNone/>
            </a:pPr>
            <a:r>
              <a:t/>
            </a:r>
            <a:endParaRPr/>
          </a:p>
        </p:txBody>
      </p:sp>
      <p:sp>
        <p:nvSpPr>
          <p:cNvPr id="727" name="Google Shape;727;p69"/>
          <p:cNvSpPr txBox="1"/>
          <p:nvPr>
            <p:ph idx="3" type="body"/>
          </p:nvPr>
        </p:nvSpPr>
        <p:spPr>
          <a:xfrm>
            <a:off x="51922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filter</a:t>
            </a:r>
            <a:r>
              <a:rPr lang="en"/>
              <a:t> is used to </a:t>
            </a:r>
            <a:r>
              <a:rPr b="1" i="1" lang="en">
                <a:solidFill>
                  <a:srgbClr val="FF0000"/>
                </a:solidFill>
              </a:rPr>
              <a:t>reduce</a:t>
            </a:r>
            <a:r>
              <a:rPr lang="en"/>
              <a:t> the amount of data in a stream based on some criteria.</a:t>
            </a:r>
            <a:endParaRPr/>
          </a:p>
        </p:txBody>
      </p:sp>
      <p:sp>
        <p:nvSpPr>
          <p:cNvPr id="728" name="Google Shape;728;p69"/>
          <p:cNvSpPr txBox="1"/>
          <p:nvPr>
            <p:ph idx="3" type="body"/>
          </p:nvPr>
        </p:nvSpPr>
        <p:spPr>
          <a:xfrm>
            <a:off x="7339625" y="1908825"/>
            <a:ext cx="1173000" cy="4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Filter on all the passing grades</a:t>
            </a:r>
            <a:endParaRPr sz="1100"/>
          </a:p>
        </p:txBody>
      </p:sp>
      <p:sp>
        <p:nvSpPr>
          <p:cNvPr id="729" name="Google Shape;729;p69"/>
          <p:cNvSpPr/>
          <p:nvPr/>
        </p:nvSpPr>
        <p:spPr>
          <a:xfrm>
            <a:off x="7204961" y="2781026"/>
            <a:ext cx="1576200" cy="185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0" name="Google Shape;730;p69"/>
          <p:cNvCxnSpPr>
            <a:stCxn id="728" idx="2"/>
            <a:endCxn id="729" idx="0"/>
          </p:cNvCxnSpPr>
          <p:nvPr/>
        </p:nvCxnSpPr>
        <p:spPr>
          <a:xfrm flipH="1" rot="-5400000">
            <a:off x="7745225" y="2533125"/>
            <a:ext cx="428700" cy="66900"/>
          </a:xfrm>
          <a:prstGeom prst="bentConnector3">
            <a:avLst>
              <a:gd fmla="val 50012" name="adj1"/>
            </a:avLst>
          </a:prstGeom>
          <a:noFill/>
          <a:ln cap="flat" cmpd="sng" w="19050">
            <a:solidFill>
              <a:srgbClr val="FF0000"/>
            </a:solidFill>
            <a:prstDash val="solid"/>
            <a:round/>
            <a:headEnd len="med" w="med" type="none"/>
            <a:tailEnd len="med" w="med" type="triangle"/>
          </a:ln>
        </p:spPr>
      </p:cxnSp>
      <p:sp>
        <p:nvSpPr>
          <p:cNvPr id="731" name="Google Shape;731;p69"/>
          <p:cNvSpPr/>
          <p:nvPr/>
        </p:nvSpPr>
        <p:spPr>
          <a:xfrm>
            <a:off x="6325500" y="2987416"/>
            <a:ext cx="2427300" cy="185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69"/>
          <p:cNvSpPr txBox="1"/>
          <p:nvPr>
            <p:ph idx="3" type="body"/>
          </p:nvPr>
        </p:nvSpPr>
        <p:spPr>
          <a:xfrm>
            <a:off x="5631650" y="3306188"/>
            <a:ext cx="1653000" cy="4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Print the filtered stream</a:t>
            </a:r>
            <a:endParaRPr sz="1100"/>
          </a:p>
        </p:txBody>
      </p:sp>
      <p:cxnSp>
        <p:nvCxnSpPr>
          <p:cNvPr id="733" name="Google Shape;733;p69"/>
          <p:cNvCxnSpPr>
            <a:stCxn id="732" idx="3"/>
            <a:endCxn id="731" idx="2"/>
          </p:cNvCxnSpPr>
          <p:nvPr/>
        </p:nvCxnSpPr>
        <p:spPr>
          <a:xfrm flipH="1" rot="10800000">
            <a:off x="7284650" y="3172388"/>
            <a:ext cx="254400" cy="355500"/>
          </a:xfrm>
          <a:prstGeom prst="bentConnector2">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1000"/>
                                        <p:tgtEl>
                                          <p:spTgt spid="728"/>
                                        </p:tgtEl>
                                      </p:cBhvr>
                                    </p:animEffect>
                                  </p:childTnLst>
                                </p:cTn>
                              </p:par>
                              <p:par>
                                <p:cTn fill="hold" nodeType="with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1000"/>
                                        <p:tgtEl>
                                          <p:spTgt spid="730"/>
                                        </p:tgtEl>
                                      </p:cBhvr>
                                    </p:animEffect>
                                  </p:childTnLst>
                                </p:cTn>
                              </p:par>
                              <p:par>
                                <p:cTn fill="hold" nodeType="with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1000"/>
                                        <p:tgtEl>
                                          <p:spTgt spid="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1000"/>
                                        <p:tgtEl>
                                          <p:spTgt spid="732"/>
                                        </p:tgtEl>
                                      </p:cBhvr>
                                    </p:animEffect>
                                  </p:childTnLst>
                                </p:cTn>
                              </p:par>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1000"/>
                                        <p:tgtEl>
                                          <p:spTgt spid="733"/>
                                        </p:tgtEl>
                                      </p:cBhvr>
                                    </p:animEffect>
                                  </p:childTnLst>
                                </p:cTn>
                              </p:par>
                              <p:par>
                                <p:cTn fill="hold" nodeType="with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1000"/>
                                        <p:tgtEl>
                                          <p:spTgt spid="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10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9" name="Google Shape;739;p7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What’s In A Name?</a:t>
            </a:r>
            <a:endParaRPr/>
          </a:p>
        </p:txBody>
      </p:sp>
      <p:sp>
        <p:nvSpPr>
          <p:cNvPr id="740" name="Google Shape;740;p7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a:t>
            </a:r>
            <a:r>
              <a:rPr lang="en">
                <a:latin typeface="Courier New"/>
                <a:ea typeface="Courier New"/>
                <a:cs typeface="Courier New"/>
                <a:sym typeface="Courier New"/>
              </a:rPr>
              <a:t>Predicate</a:t>
            </a:r>
            <a:r>
              <a:rPr lang="en"/>
              <a:t> can be used with the </a:t>
            </a:r>
            <a:r>
              <a:rPr lang="en">
                <a:latin typeface="Courier New"/>
                <a:ea typeface="Courier New"/>
                <a:cs typeface="Courier New"/>
                <a:sym typeface="Courier New"/>
              </a:rPr>
              <a:t>filter</a:t>
            </a:r>
            <a:r>
              <a:rPr lang="en"/>
              <a:t> method on a </a:t>
            </a:r>
            <a:r>
              <a:rPr lang="en">
                <a:latin typeface="Courier New"/>
                <a:ea typeface="Courier New"/>
                <a:cs typeface="Courier New"/>
                <a:sym typeface="Courier New"/>
              </a:rPr>
              <a:t>Stream</a:t>
            </a:r>
            <a:r>
              <a:rPr lang="en"/>
              <a:t> to determine whether or not one of the values in the </a:t>
            </a:r>
            <a:r>
              <a:rPr lang="en">
                <a:latin typeface="Courier New"/>
                <a:ea typeface="Courier New"/>
                <a:cs typeface="Courier New"/>
                <a:sym typeface="Courier New"/>
              </a:rPr>
              <a:t>Stream</a:t>
            </a:r>
            <a:r>
              <a:rPr lang="en"/>
              <a:t> should be included in the next stage of the output. Use a </a:t>
            </a:r>
            <a:r>
              <a:rPr lang="en">
                <a:latin typeface="Courier New"/>
                <a:ea typeface="Courier New"/>
                <a:cs typeface="Courier New"/>
                <a:sym typeface="Courier New"/>
              </a:rPr>
              <a:t>Predicate</a:t>
            </a:r>
            <a:r>
              <a:rPr lang="en"/>
              <a:t> to include only students that have </a:t>
            </a:r>
            <a:r>
              <a:rPr lang="en"/>
              <a:t>a specific first letter in their last name.</a:t>
            </a:r>
            <a:endParaRPr/>
          </a:p>
        </p:txBody>
      </p:sp>
      <p:sp>
        <p:nvSpPr>
          <p:cNvPr id="741" name="Google Shape;741;p70"/>
          <p:cNvSpPr txBox="1"/>
          <p:nvPr>
            <p:ph idx="2" type="body"/>
          </p:nvPr>
        </p:nvSpPr>
        <p:spPr>
          <a:xfrm>
            <a:off x="4080450" y="1859075"/>
            <a:ext cx="4940700" cy="28404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Using Streams print only the students with a last name that starts with a specific letter, e.g. “t”</a:t>
            </a:r>
            <a:endParaRPr sz="1500"/>
          </a:p>
          <a:p>
            <a:pPr indent="-317500" lvl="1" marL="914400" rtl="0" algn="l">
              <a:spcBef>
                <a:spcPts val="0"/>
              </a:spcBef>
              <a:spcAft>
                <a:spcPts val="0"/>
              </a:spcAft>
              <a:buSzPts val="1400"/>
              <a:buChar char="○"/>
            </a:pPr>
            <a:r>
              <a:rPr lang="en" sz="1400"/>
              <a:t>After getting the a Stream to Students ...</a:t>
            </a:r>
            <a:endParaRPr sz="1400"/>
          </a:p>
          <a:p>
            <a:pPr indent="-317500" lvl="1" marL="914400" rtl="0" algn="l">
              <a:spcBef>
                <a:spcPts val="0"/>
              </a:spcBef>
              <a:spcAft>
                <a:spcPts val="0"/>
              </a:spcAft>
              <a:buSzPts val="1400"/>
              <a:buChar char="○"/>
            </a:pPr>
            <a:r>
              <a:rPr lang="en" sz="1400"/>
              <a:t>Apply a filter …</a:t>
            </a:r>
            <a:endParaRPr sz="1400"/>
          </a:p>
          <a:p>
            <a:pPr indent="-317500" lvl="2" marL="1371600" rtl="0" algn="l">
              <a:spcBef>
                <a:spcPts val="0"/>
              </a:spcBef>
              <a:spcAft>
                <a:spcPts val="0"/>
              </a:spcAft>
              <a:buSzPts val="1400"/>
              <a:buChar char="■"/>
            </a:pPr>
            <a:r>
              <a:rPr lang="en" sz="1400">
                <a:latin typeface="Courier New"/>
                <a:ea typeface="Courier New"/>
                <a:cs typeface="Courier New"/>
                <a:sym typeface="Courier New"/>
              </a:rPr>
              <a:t>String.contains(&lt;string&gt;) </a:t>
            </a:r>
            <a:r>
              <a:rPr lang="en" sz="1400"/>
              <a:t>returns </a:t>
            </a:r>
            <a:r>
              <a:rPr lang="en" sz="1400">
                <a:latin typeface="Courier New"/>
                <a:ea typeface="Courier New"/>
                <a:cs typeface="Courier New"/>
                <a:sym typeface="Courier New"/>
              </a:rPr>
              <a:t>true </a:t>
            </a:r>
            <a:r>
              <a:rPr lang="en" sz="1400"/>
              <a:t>if the </a:t>
            </a:r>
            <a:r>
              <a:rPr lang="en" sz="1400">
                <a:latin typeface="Courier New"/>
                <a:ea typeface="Courier New"/>
                <a:cs typeface="Courier New"/>
                <a:sym typeface="Courier New"/>
              </a:rPr>
              <a:t>String </a:t>
            </a:r>
            <a:r>
              <a:rPr lang="en" sz="1400"/>
              <a:t>contains </a:t>
            </a:r>
            <a:r>
              <a:rPr lang="en" sz="1400">
                <a:latin typeface="Courier New"/>
                <a:ea typeface="Courier New"/>
                <a:cs typeface="Courier New"/>
                <a:sym typeface="Courier New"/>
              </a:rPr>
              <a:t>&lt;string&gt;</a:t>
            </a:r>
            <a:r>
              <a:rPr lang="en" sz="1400"/>
              <a:t>, </a:t>
            </a:r>
            <a:r>
              <a:rPr lang="en" sz="1400">
                <a:latin typeface="Courier New"/>
                <a:ea typeface="Courier New"/>
                <a:cs typeface="Courier New"/>
                <a:sym typeface="Courier New"/>
              </a:rPr>
              <a:t>false </a:t>
            </a:r>
            <a:r>
              <a:rPr lang="en" sz="1400"/>
              <a:t>otherwise</a:t>
            </a:r>
            <a:endParaRPr sz="1400"/>
          </a:p>
          <a:p>
            <a:pPr indent="-317500" lvl="2" marL="1371600" rtl="0" algn="l">
              <a:spcBef>
                <a:spcPts val="0"/>
              </a:spcBef>
              <a:spcAft>
                <a:spcPts val="0"/>
              </a:spcAft>
              <a:buSzPts val="1400"/>
              <a:buChar char="■"/>
            </a:pPr>
            <a:r>
              <a:rPr lang="en" sz="1400"/>
              <a:t>Challenge: filter regardless of case</a:t>
            </a:r>
            <a:endParaRPr sz="1400"/>
          </a:p>
          <a:p>
            <a:pPr indent="-317500" lvl="1" marL="914400" rtl="0" algn="l">
              <a:spcBef>
                <a:spcPts val="0"/>
              </a:spcBef>
              <a:spcAft>
                <a:spcPts val="0"/>
              </a:spcAft>
              <a:buSzPts val="1400"/>
              <a:buChar char="○"/>
            </a:pPr>
            <a:r>
              <a:rPr lang="en" sz="1400"/>
              <a:t>And print the filtered stream</a:t>
            </a:r>
            <a:endParaRPr sz="1400"/>
          </a:p>
          <a:p>
            <a:pPr indent="0" lvl="0" marL="0" rtl="0" algn="l">
              <a:spcBef>
                <a:spcPts val="1600"/>
              </a:spcBef>
              <a:spcAft>
                <a:spcPts val="1600"/>
              </a:spcAft>
              <a:buNone/>
            </a:pPr>
            <a:r>
              <a:t/>
            </a:r>
            <a:endParaRPr sz="1200"/>
          </a:p>
        </p:txBody>
      </p:sp>
      <p:sp>
        <p:nvSpPr>
          <p:cNvPr id="742" name="Google Shape;742;p7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a:t>
            </a:r>
            <a:r>
              <a:rPr lang="en"/>
              <a:t>.12</a:t>
            </a:r>
            <a:endParaRPr/>
          </a:p>
        </p:txBody>
      </p:sp>
      <p:sp>
        <p:nvSpPr>
          <p:cNvPr id="743" name="Google Shape;743;p70"/>
          <p:cNvSpPr txBox="1"/>
          <p:nvPr>
            <p:ph idx="4" type="body"/>
          </p:nvPr>
        </p:nvSpPr>
        <p:spPr>
          <a:xfrm>
            <a:off x="231450" y="1926525"/>
            <a:ext cx="3849000" cy="22116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0000FF"/>
                </a:solidFill>
                <a:highlight>
                  <a:schemeClr val="lt1"/>
                </a:highlight>
                <a:latin typeface="Consolas"/>
                <a:ea typeface="Consolas"/>
                <a:cs typeface="Consolas"/>
                <a:sym typeface="Consolas"/>
              </a:rPr>
              <a:t>public</a:t>
            </a:r>
            <a:r>
              <a:rPr lang="en" sz="1150">
                <a:highlight>
                  <a:schemeClr val="lt1"/>
                </a:highlight>
                <a:latin typeface="Consolas"/>
                <a:ea typeface="Consolas"/>
                <a:cs typeface="Consolas"/>
                <a:sym typeface="Consolas"/>
              </a:rPr>
              <a:t> </a:t>
            </a:r>
            <a:r>
              <a:rPr lang="en" sz="1150">
                <a:solidFill>
                  <a:srgbClr val="0000FF"/>
                </a:solidFill>
                <a:highlight>
                  <a:schemeClr val="lt1"/>
                </a:highlight>
                <a:latin typeface="Consolas"/>
                <a:ea typeface="Consolas"/>
                <a:cs typeface="Consolas"/>
                <a:sym typeface="Consolas"/>
              </a:rPr>
              <a:t>static</a:t>
            </a:r>
            <a:r>
              <a:rPr lang="en" sz="1150">
                <a:highlight>
                  <a:schemeClr val="lt1"/>
                </a:highlight>
                <a:latin typeface="Consolas"/>
                <a:ea typeface="Consolas"/>
                <a:cs typeface="Consolas"/>
                <a:sym typeface="Consolas"/>
              </a:rPr>
              <a:t> </a:t>
            </a:r>
            <a:r>
              <a:rPr lang="en" sz="1150">
                <a:solidFill>
                  <a:srgbClr val="267F99"/>
                </a:solidFill>
                <a:highlight>
                  <a:schemeClr val="lt1"/>
                </a:highlight>
                <a:latin typeface="Consolas"/>
                <a:ea typeface="Consolas"/>
                <a:cs typeface="Consolas"/>
                <a:sym typeface="Consolas"/>
              </a:rPr>
              <a:t>void</a:t>
            </a:r>
            <a:r>
              <a:rPr lang="en" sz="1150">
                <a:highlight>
                  <a:schemeClr val="lt1"/>
                </a:highlight>
                <a:latin typeface="Consolas"/>
                <a:ea typeface="Consolas"/>
                <a:cs typeface="Consolas"/>
                <a:sym typeface="Consolas"/>
              </a:rPr>
              <a:t> </a:t>
            </a:r>
            <a:r>
              <a:rPr lang="en" sz="1150">
                <a:solidFill>
                  <a:srgbClr val="795E26"/>
                </a:solidFill>
                <a:highlight>
                  <a:schemeClr val="lt1"/>
                </a:highlight>
                <a:latin typeface="Consolas"/>
                <a:ea typeface="Consolas"/>
                <a:cs typeface="Consolas"/>
                <a:sym typeface="Consolas"/>
              </a:rPr>
              <a:t>main</a:t>
            </a:r>
            <a:r>
              <a:rPr lang="en" sz="1150">
                <a:highlight>
                  <a:schemeClr val="lt1"/>
                </a:highlight>
                <a:latin typeface="Consolas"/>
                <a:ea typeface="Consolas"/>
                <a:cs typeface="Consolas"/>
                <a:sym typeface="Consolas"/>
              </a:rPr>
              <a:t>(</a:t>
            </a:r>
            <a:r>
              <a:rPr lang="en" sz="1150">
                <a:solidFill>
                  <a:srgbClr val="267F99"/>
                </a:solidFill>
                <a:highlight>
                  <a:schemeClr val="lt1"/>
                </a:highlight>
                <a:latin typeface="Consolas"/>
                <a:ea typeface="Consolas"/>
                <a:cs typeface="Consolas"/>
                <a:sym typeface="Consolas"/>
              </a:rPr>
              <a:t>String</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args</a:t>
            </a:r>
            <a:r>
              <a:rPr lang="en" sz="1150">
                <a:highlight>
                  <a:schemeClr val="lt1"/>
                </a:highlight>
                <a:latin typeface="Consolas"/>
                <a:ea typeface="Consolas"/>
                <a:cs typeface="Consolas"/>
                <a:sym typeface="Consolas"/>
              </a:rPr>
              <a:t>) {</a:t>
            </a:r>
            <a:endParaRPr sz="1150">
              <a:highlight>
                <a:schemeClr val="lt1"/>
              </a:highlight>
              <a:latin typeface="Consolas"/>
              <a:ea typeface="Consolas"/>
              <a:cs typeface="Consolas"/>
              <a:sym typeface="Consolas"/>
            </a:endParaRPr>
          </a:p>
          <a:p>
            <a:pPr indent="0" lvl="0" marL="0" rtl="0" algn="l">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new</a:t>
            </a:r>
            <a:r>
              <a:rPr lang="en" sz="1150">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4</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indent="0" lvl="0" marL="0" rtl="0" algn="l">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0</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54</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indent="0" lvl="0" marL="0" rtl="0" algn="l">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1</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85</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indent="0" lvl="0" marL="0" rtl="0" algn="l">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2</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97</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indent="0" lvl="0" marL="0" rtl="0" algn="l">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3</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72</a:t>
            </a:r>
            <a:r>
              <a:rPr lang="en" sz="1150">
                <a:highlight>
                  <a:srgbClr val="FFFFFF"/>
                </a:highlight>
                <a:latin typeface="Consolas"/>
                <a:ea typeface="Consolas"/>
                <a:cs typeface="Consolas"/>
                <a:sym typeface="Consolas"/>
              </a:rPr>
              <a:t>;</a:t>
            </a:r>
            <a:endParaRPr sz="1250">
              <a:highlight>
                <a:schemeClr val="lt1"/>
              </a:highlight>
              <a:latin typeface="Consolas"/>
              <a:ea typeface="Consolas"/>
              <a:cs typeface="Consolas"/>
              <a:sym typeface="Consolas"/>
            </a:endParaRPr>
          </a:p>
          <a:p>
            <a:pPr indent="0" lvl="0" marL="0" rtl="0" algn="l">
              <a:spcBef>
                <a:spcPts val="0"/>
              </a:spcBef>
              <a:spcAft>
                <a:spcPts val="0"/>
              </a:spcAft>
              <a:buNone/>
            </a:pPr>
            <a:r>
              <a:t/>
            </a:r>
            <a:endParaRPr sz="1150">
              <a:highlight>
                <a:schemeClr val="lt1"/>
              </a:highlight>
              <a:latin typeface="Consolas"/>
              <a:ea typeface="Consolas"/>
              <a:cs typeface="Consolas"/>
              <a:sym typeface="Consolas"/>
            </a:endParaRPr>
          </a:p>
          <a:p>
            <a:pPr indent="0" lvl="0" marL="0" rtl="0" algn="l">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008000"/>
                </a:solidFill>
                <a:highlight>
                  <a:schemeClr val="lt1"/>
                </a:highlight>
                <a:latin typeface="Consolas"/>
                <a:ea typeface="Consolas"/>
                <a:cs typeface="Consolas"/>
                <a:sym typeface="Consolas"/>
              </a:rPr>
              <a:t>// Print only passing grades</a:t>
            </a:r>
            <a:endParaRPr sz="1150">
              <a:solidFill>
                <a:srgbClr val="008000"/>
              </a:solidFill>
              <a:highlight>
                <a:schemeClr val="lt1"/>
              </a:highlight>
              <a:latin typeface="Consolas"/>
              <a:ea typeface="Consolas"/>
              <a:cs typeface="Consolas"/>
              <a:sym typeface="Consolas"/>
            </a:endParaRPr>
          </a:p>
          <a:p>
            <a:pPr indent="0" lvl="0" marL="0" rtl="0" algn="l">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Arrays</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stream</a:t>
            </a:r>
            <a:r>
              <a:rPr lang="en" sz="1150">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filter</a:t>
            </a:r>
            <a:r>
              <a:rPr lang="en" sz="1150">
                <a:highlight>
                  <a:schemeClr val="lt1"/>
                </a:highlight>
                <a:latin typeface="Consolas"/>
                <a:ea typeface="Consolas"/>
                <a:cs typeface="Consolas"/>
                <a:sym typeface="Consolas"/>
              </a:rPr>
              <a:t>(</a:t>
            </a:r>
            <a:r>
              <a:rPr lang="en" sz="1150">
                <a:solidFill>
                  <a:srgbClr val="001080"/>
                </a:solidFill>
                <a:highlight>
                  <a:schemeClr val="lt1"/>
                </a:highlight>
                <a:latin typeface="Consolas"/>
                <a:ea typeface="Consolas"/>
                <a:cs typeface="Consolas"/>
                <a:sym typeface="Consolas"/>
              </a:rPr>
              <a:t>e</a:t>
            </a:r>
            <a:r>
              <a:rPr lang="en" sz="1150">
                <a:highlight>
                  <a:schemeClr val="lt1"/>
                </a:highlight>
                <a:latin typeface="Consolas"/>
                <a:ea typeface="Consolas"/>
                <a:cs typeface="Consolas"/>
                <a:sym typeface="Consolas"/>
              </a:rPr>
              <a:t> </a:t>
            </a:r>
            <a:r>
              <a:rPr lang="en" sz="1150">
                <a:solidFill>
                  <a:srgbClr val="0000FF"/>
                </a:solidFill>
                <a:highlight>
                  <a:schemeClr val="lt1"/>
                </a:highlight>
                <a:latin typeface="Consolas"/>
                <a:ea typeface="Consolas"/>
                <a:cs typeface="Consolas"/>
                <a:sym typeface="Consolas"/>
              </a:rPr>
              <a:t>-&gt;</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e</a:t>
            </a:r>
            <a:r>
              <a:rPr lang="en" sz="1150">
                <a:highlight>
                  <a:schemeClr val="lt1"/>
                </a:highlight>
                <a:latin typeface="Consolas"/>
                <a:ea typeface="Consolas"/>
                <a:cs typeface="Consolas"/>
                <a:sym typeface="Consolas"/>
              </a:rPr>
              <a:t> &gt; </a:t>
            </a:r>
            <a:r>
              <a:rPr lang="en" sz="1150">
                <a:solidFill>
                  <a:srgbClr val="098658"/>
                </a:solidFill>
                <a:highlight>
                  <a:schemeClr val="lt1"/>
                </a:highlight>
                <a:latin typeface="Consolas"/>
                <a:ea typeface="Consolas"/>
                <a:cs typeface="Consolas"/>
                <a:sym typeface="Consolas"/>
              </a:rPr>
              <a:t>69</a:t>
            </a:r>
            <a:r>
              <a:rPr lang="en" sz="1150">
                <a:highlight>
                  <a:schemeClr val="lt1"/>
                </a:highlight>
                <a:latin typeface="Consolas"/>
                <a:ea typeface="Consolas"/>
                <a:cs typeface="Consolas"/>
                <a:sym typeface="Consolas"/>
              </a:rPr>
              <a:t>)  </a:t>
            </a:r>
            <a:endParaRPr sz="1150">
              <a:highlight>
                <a:schemeClr val="lt1"/>
              </a:highlight>
              <a:latin typeface="Consolas"/>
              <a:ea typeface="Consolas"/>
              <a:cs typeface="Consolas"/>
              <a:sym typeface="Consolas"/>
            </a:endParaRPr>
          </a:p>
          <a:p>
            <a:pPr indent="0" lvl="0" marL="0" rtl="0" algn="l">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795E26"/>
                </a:solidFill>
                <a:highlight>
                  <a:schemeClr val="lt1"/>
                </a:highlight>
                <a:latin typeface="Consolas"/>
                <a:ea typeface="Consolas"/>
                <a:cs typeface="Consolas"/>
                <a:sym typeface="Consolas"/>
              </a:rPr>
              <a:t>forEach</a:t>
            </a:r>
            <a:r>
              <a:rPr lang="en" sz="1150">
                <a:highlight>
                  <a:schemeClr val="lt1"/>
                </a:highlight>
                <a:latin typeface="Consolas"/>
                <a:ea typeface="Consolas"/>
                <a:cs typeface="Consolas"/>
                <a:sym typeface="Consolas"/>
              </a:rPr>
              <a:t>(</a:t>
            </a:r>
            <a:r>
              <a:rPr lang="en" sz="1150">
                <a:solidFill>
                  <a:srgbClr val="267F99"/>
                </a:solidFill>
                <a:highlight>
                  <a:schemeClr val="lt1"/>
                </a:highlight>
                <a:latin typeface="Consolas"/>
                <a:ea typeface="Consolas"/>
                <a:cs typeface="Consolas"/>
                <a:sym typeface="Consolas"/>
              </a:rPr>
              <a:t>System</a:t>
            </a:r>
            <a:r>
              <a:rPr lang="en" sz="1150">
                <a:highlight>
                  <a:schemeClr val="lt1"/>
                </a:highlight>
                <a:latin typeface="Consolas"/>
                <a:ea typeface="Consolas"/>
                <a:cs typeface="Consolas"/>
                <a:sym typeface="Consolas"/>
              </a:rPr>
              <a:t>.</a:t>
            </a:r>
            <a:r>
              <a:rPr lang="en" sz="1150">
                <a:solidFill>
                  <a:srgbClr val="0070C1"/>
                </a:solidFill>
                <a:highlight>
                  <a:schemeClr val="lt1"/>
                </a:highlight>
                <a:latin typeface="Consolas"/>
                <a:ea typeface="Consolas"/>
                <a:cs typeface="Consolas"/>
                <a:sym typeface="Consolas"/>
              </a:rPr>
              <a:t>out</a:t>
            </a:r>
            <a:r>
              <a:rPr lang="en" sz="1150">
                <a:solidFill>
                  <a:srgbClr val="AF00DB"/>
                </a:solidFill>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println</a:t>
            </a:r>
            <a:r>
              <a:rPr lang="en" sz="1150">
                <a:highlight>
                  <a:schemeClr val="lt1"/>
                </a:highlight>
                <a:latin typeface="Consolas"/>
                <a:ea typeface="Consolas"/>
                <a:cs typeface="Consolas"/>
                <a:sym typeface="Consolas"/>
              </a:rPr>
              <a:t>);</a:t>
            </a:r>
            <a:endParaRPr sz="1150">
              <a:highlight>
                <a:schemeClr val="lt1"/>
              </a:highlight>
              <a:latin typeface="Consolas"/>
              <a:ea typeface="Consolas"/>
              <a:cs typeface="Consolas"/>
              <a:sym typeface="Consolas"/>
            </a:endParaRPr>
          </a:p>
          <a:p>
            <a:pPr indent="0" lvl="0" marL="0" rtl="0" algn="l">
              <a:spcBef>
                <a:spcPts val="0"/>
              </a:spcBef>
              <a:spcAft>
                <a:spcPts val="0"/>
              </a:spcAft>
              <a:buNone/>
            </a:pPr>
            <a:r>
              <a:rPr lang="en" sz="1150">
                <a:highlight>
                  <a:schemeClr val="lt1"/>
                </a:highlight>
                <a:latin typeface="Consolas"/>
                <a:ea typeface="Consolas"/>
                <a:cs typeface="Consolas"/>
                <a:sym typeface="Consolas"/>
              </a:rPr>
              <a:t>}</a:t>
            </a:r>
            <a:endParaRPr sz="115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9" name="Google Shape;749;p71"/>
          <p:cNvSpPr txBox="1"/>
          <p:nvPr>
            <p:ph type="title"/>
          </p:nvPr>
        </p:nvSpPr>
        <p:spPr>
          <a:xfrm>
            <a:off x="311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Stream Library</a:t>
            </a:r>
            <a:endParaRPr/>
          </a:p>
        </p:txBody>
      </p:sp>
      <p:sp>
        <p:nvSpPr>
          <p:cNvPr id="750" name="Google Shape;750;p71"/>
          <p:cNvSpPr txBox="1"/>
          <p:nvPr>
            <p:ph idx="1" type="body"/>
          </p:nvPr>
        </p:nvSpPr>
        <p:spPr>
          <a:xfrm>
            <a:off x="4629700" y="2763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solidFill>
                  <a:srgbClr val="FF0000"/>
                </a:solidFill>
                <a:latin typeface="Consolas"/>
                <a:ea typeface="Consolas"/>
                <a:cs typeface="Consolas"/>
                <a:sym typeface="Consolas"/>
              </a:rPr>
              <a:t>Stream.filter(predicate)</a:t>
            </a:r>
            <a:r>
              <a:rPr lang="en"/>
              <a:t> - removes items from the stream that fail the predicate</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String.matches(regex)</a:t>
            </a:r>
            <a:r>
              <a:rPr lang="en"/>
              <a:t> - returns true if a string matches the specified regular expression</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Stream.foreach(action)</a:t>
            </a:r>
            <a:r>
              <a:rPr lang="en"/>
              <a:t> - performed the specified action on each element in a stream.</a:t>
            </a:r>
            <a:endParaRPr/>
          </a:p>
          <a:p>
            <a:pPr indent="-298450" lvl="1" marL="914400" rtl="0" algn="l">
              <a:spcBef>
                <a:spcPts val="0"/>
              </a:spcBef>
              <a:spcAft>
                <a:spcPts val="0"/>
              </a:spcAft>
              <a:buSzPts val="1100"/>
              <a:buChar char="○"/>
            </a:pPr>
            <a:r>
              <a:rPr lang="en"/>
              <a:t>Terminates the stream</a:t>
            </a:r>
            <a:endParaRPr/>
          </a:p>
          <a:p>
            <a:pPr indent="-298450" lvl="1" marL="914400" rtl="0" algn="l">
              <a:spcBef>
                <a:spcPts val="0"/>
              </a:spcBef>
              <a:spcAft>
                <a:spcPts val="0"/>
              </a:spcAft>
              <a:buSzPts val="1100"/>
              <a:buChar char="○"/>
            </a:pPr>
            <a:r>
              <a:rPr lang="en"/>
              <a:t>Action is often implemented as a lambda</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Stream.map(mapper)</a:t>
            </a:r>
            <a:r>
              <a:rPr lang="en"/>
              <a:t> - applies the mapper ‘function’ to each element in a stream</a:t>
            </a:r>
            <a:endParaRPr/>
          </a:p>
          <a:p>
            <a:pPr indent="-298450" lvl="1" marL="914400" rtl="0" algn="l">
              <a:spcBef>
                <a:spcPts val="0"/>
              </a:spcBef>
              <a:spcAft>
                <a:spcPts val="0"/>
              </a:spcAft>
              <a:buSzPts val="1100"/>
              <a:buChar char="○"/>
            </a:pPr>
            <a:r>
              <a:rPr lang="en"/>
              <a:t>Intermediate operation</a:t>
            </a:r>
            <a:endParaRPr/>
          </a:p>
          <a:p>
            <a:pPr indent="-298450" lvl="1" marL="914400" rtl="0" algn="l">
              <a:spcBef>
                <a:spcPts val="0"/>
              </a:spcBef>
              <a:spcAft>
                <a:spcPts val="0"/>
              </a:spcAft>
              <a:buSzPts val="1100"/>
              <a:buChar char="○"/>
            </a:pPr>
            <a:r>
              <a:rPr lang="en"/>
              <a:t>Mapper is often implemented as a lambda</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Stream.collect(collector)</a:t>
            </a:r>
            <a:r>
              <a:rPr lang="en"/>
              <a:t> - adds each element in the stream to a collection</a:t>
            </a:r>
            <a:endParaRPr/>
          </a:p>
          <a:p>
            <a:pPr indent="-298450" lvl="1" marL="914400" rtl="0" algn="l">
              <a:spcBef>
                <a:spcPts val="0"/>
              </a:spcBef>
              <a:spcAft>
                <a:spcPts val="0"/>
              </a:spcAft>
              <a:buSzPts val="1100"/>
              <a:buChar char="○"/>
            </a:pPr>
            <a:r>
              <a:rPr lang="en"/>
              <a:t>Terminates the stream</a:t>
            </a:r>
            <a:endParaRPr/>
          </a:p>
          <a:p>
            <a:pPr indent="-298450" lvl="1" marL="914400" rtl="0" algn="l">
              <a:spcBef>
                <a:spcPts val="0"/>
              </a:spcBef>
              <a:spcAft>
                <a:spcPts val="0"/>
              </a:spcAft>
              <a:buSzPts val="1100"/>
              <a:buChar char="○"/>
            </a:pPr>
            <a:r>
              <a:rPr lang="en"/>
              <a:t>May include other reductions on top of adding to the collection</a:t>
            </a:r>
            <a:endParaRPr/>
          </a:p>
          <a:p>
            <a:pPr indent="-298450" lvl="1" marL="914400" rtl="0" algn="l">
              <a:spcBef>
                <a:spcPts val="0"/>
              </a:spcBef>
              <a:spcAft>
                <a:spcPts val="0"/>
              </a:spcAft>
              <a:buSzPts val="1100"/>
              <a:buChar char="○"/>
            </a:pPr>
            <a:r>
              <a:rPr lang="en"/>
              <a:t>Often used with </a:t>
            </a:r>
            <a:r>
              <a:rPr lang="en">
                <a:solidFill>
                  <a:srgbClr val="FF0000"/>
                </a:solidFill>
                <a:latin typeface="Consolas"/>
                <a:ea typeface="Consolas"/>
                <a:cs typeface="Consolas"/>
                <a:sym typeface="Consolas"/>
              </a:rPr>
              <a:t>Collectors</a:t>
            </a:r>
            <a:endParaRPr>
              <a:solidFill>
                <a:srgbClr val="FF0000"/>
              </a:solidFill>
              <a:latin typeface="Consolas"/>
              <a:ea typeface="Consolas"/>
              <a:cs typeface="Consolas"/>
              <a:sym typeface="Consolas"/>
            </a:endParaRPr>
          </a:p>
        </p:txBody>
      </p:sp>
      <p:sp>
        <p:nvSpPr>
          <p:cNvPr id="751" name="Google Shape;751;p71"/>
          <p:cNvSpPr txBox="1"/>
          <p:nvPr>
            <p:ph idx="3" type="body"/>
          </p:nvPr>
        </p:nvSpPr>
        <p:spPr>
          <a:xfrm>
            <a:off x="311725" y="3390575"/>
            <a:ext cx="3706500" cy="11343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0000"/>
                </a:solidFill>
              </a:rPr>
              <a:t>Functional Programming Term - </a:t>
            </a:r>
            <a:r>
              <a:rPr b="1" lang="en">
                <a:solidFill>
                  <a:srgbClr val="FF0000"/>
                </a:solidFill>
              </a:rPr>
              <a:t>Reduction</a:t>
            </a:r>
            <a:endParaRPr b="1">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mechanism for executing </a:t>
            </a:r>
            <a:r>
              <a:rPr b="1" lang="en"/>
              <a:t>functional programs </a:t>
            </a:r>
            <a:r>
              <a:rPr lang="en"/>
              <a:t>is </a:t>
            </a:r>
            <a:r>
              <a:rPr b="1" lang="en"/>
              <a:t>reduction </a:t>
            </a:r>
            <a:r>
              <a:rPr lang="en"/>
              <a:t> </a:t>
            </a:r>
            <a:r>
              <a:rPr b="1" lang="en"/>
              <a:t>Reduction </a:t>
            </a:r>
            <a:r>
              <a:rPr lang="en"/>
              <a:t>is the process of converting an expression to a simpler form.</a:t>
            </a:r>
            <a:endParaRPr/>
          </a:p>
        </p:txBody>
      </p:sp>
      <p:sp>
        <p:nvSpPr>
          <p:cNvPr id="752" name="Google Shape;752;p71"/>
          <p:cNvSpPr/>
          <p:nvPr/>
        </p:nvSpPr>
        <p:spPr>
          <a:xfrm>
            <a:off x="311700" y="1310200"/>
            <a:ext cx="3706500" cy="19092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latin typeface="Roboto"/>
                <a:ea typeface="Roboto"/>
                <a:cs typeface="Roboto"/>
                <a:sym typeface="Roboto"/>
              </a:rPr>
              <a:t>Java 8+ has extensive support for streams which use the functional programming paradigm.</a:t>
            </a:r>
            <a:endParaRPr sz="1300">
              <a:latin typeface="Roboto"/>
              <a:ea typeface="Roboto"/>
              <a:cs typeface="Roboto"/>
              <a:sym typeface="Roboto"/>
            </a:endParaRPr>
          </a:p>
          <a:p>
            <a:pPr indent="0" lvl="0" marL="0" rtl="0" algn="l">
              <a:lnSpc>
                <a:spcPct val="115000"/>
              </a:lnSpc>
              <a:spcBef>
                <a:spcPts val="1600"/>
              </a:spcBef>
              <a:spcAft>
                <a:spcPts val="1600"/>
              </a:spcAft>
              <a:buNone/>
            </a:pPr>
            <a:r>
              <a:rPr lang="en" sz="1300">
                <a:latin typeface="Roboto"/>
                <a:ea typeface="Roboto"/>
                <a:cs typeface="Roboto"/>
                <a:sym typeface="Roboto"/>
              </a:rPr>
              <a:t>A select few of the available methods are detailed on the right.</a:t>
            </a:r>
            <a:endParaRPr sz="13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title"/>
          </p:nvPr>
        </p:nvSpPr>
        <p:spPr>
          <a:xfrm>
            <a:off x="5264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Stream Extensions</a:t>
            </a:r>
            <a:endParaRPr/>
          </a:p>
        </p:txBody>
      </p:sp>
      <p:sp>
        <p:nvSpPr>
          <p:cNvPr id="758" name="Google Shape;758;p72"/>
          <p:cNvSpPr txBox="1"/>
          <p:nvPr>
            <p:ph idx="1" type="body"/>
          </p:nvPr>
        </p:nvSpPr>
        <p:spPr>
          <a:xfrm>
            <a:off x="301275" y="500925"/>
            <a:ext cx="4166400" cy="3752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solidFill>
                  <a:srgbClr val="FF0000"/>
                </a:solidFill>
                <a:latin typeface="Consolas"/>
                <a:ea typeface="Consolas"/>
                <a:cs typeface="Consolas"/>
                <a:sym typeface="Consolas"/>
              </a:rPr>
              <a:t>IntStream.range(start, end)</a:t>
            </a:r>
            <a:r>
              <a:rPr lang="en"/>
              <a:t> - creates a stream of integers from start to end (exclusive)</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Arrays.stream(array)</a:t>
            </a:r>
            <a:r>
              <a:rPr lang="en"/>
              <a:t> - uses array as the source of a stream</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Arrays.stream(array, start, end)</a:t>
            </a:r>
            <a:r>
              <a:rPr lang="en"/>
              <a:t> - uses a portion of the array (end is exclusive)</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Files.lines(path)</a:t>
            </a:r>
            <a:r>
              <a:rPr lang="en"/>
              <a:t> - uses a file interpreted as lines as the source of a stream</a:t>
            </a:r>
            <a:endParaRPr/>
          </a:p>
          <a:p>
            <a:pPr indent="-298450" lvl="1" marL="914400" rtl="0" algn="l">
              <a:spcBef>
                <a:spcPts val="0"/>
              </a:spcBef>
              <a:spcAft>
                <a:spcPts val="0"/>
              </a:spcAft>
              <a:buSzPts val="1100"/>
              <a:buChar char="○"/>
            </a:pPr>
            <a:r>
              <a:rPr lang="en"/>
              <a:t>Can use </a:t>
            </a:r>
            <a:r>
              <a:rPr lang="en">
                <a:solidFill>
                  <a:srgbClr val="FF0000"/>
                </a:solidFill>
                <a:latin typeface="Consolas"/>
                <a:ea typeface="Consolas"/>
                <a:cs typeface="Consolas"/>
                <a:sym typeface="Consolas"/>
              </a:rPr>
              <a:t>File.toPath()</a:t>
            </a:r>
            <a:r>
              <a:rPr lang="en"/>
              <a:t> to easily get a file’s path</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Collection.stream()</a:t>
            </a:r>
            <a:r>
              <a:rPr lang="en"/>
              <a:t> - uses the collection as the source of a stream</a:t>
            </a:r>
            <a:endParaRPr/>
          </a:p>
          <a:p>
            <a:pPr indent="-311150" lvl="0" marL="457200" rtl="0" algn="l">
              <a:spcBef>
                <a:spcPts val="1000"/>
              </a:spcBef>
              <a:spcAft>
                <a:spcPts val="0"/>
              </a:spcAft>
              <a:buSzPts val="1300"/>
              <a:buChar char="●"/>
            </a:pPr>
            <a:r>
              <a:rPr lang="en">
                <a:solidFill>
                  <a:srgbClr val="FF0000"/>
                </a:solidFill>
                <a:latin typeface="Consolas"/>
                <a:ea typeface="Consolas"/>
                <a:cs typeface="Consolas"/>
                <a:sym typeface="Consolas"/>
              </a:rPr>
              <a:t>Collectors.toList()</a:t>
            </a:r>
            <a:r>
              <a:rPr lang="en"/>
              <a:t> - accumulates a stream into a List.</a:t>
            </a:r>
            <a:endParaRPr/>
          </a:p>
        </p:txBody>
      </p:sp>
      <p:sp>
        <p:nvSpPr>
          <p:cNvPr id="759" name="Google Shape;759;p7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0" name="Google Shape;760;p72"/>
          <p:cNvSpPr txBox="1"/>
          <p:nvPr>
            <p:ph idx="3" type="body"/>
          </p:nvPr>
        </p:nvSpPr>
        <p:spPr>
          <a:xfrm>
            <a:off x="5192225" y="3535625"/>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Java has significantly more support for Streams than what is mentioned here. If you don’t see something, try searching for it.</a:t>
            </a:r>
            <a:endParaRPr/>
          </a:p>
        </p:txBody>
      </p:sp>
      <p:sp>
        <p:nvSpPr>
          <p:cNvPr id="761" name="Google Shape;761;p72"/>
          <p:cNvSpPr/>
          <p:nvPr/>
        </p:nvSpPr>
        <p:spPr>
          <a:xfrm>
            <a:off x="5192225" y="1459950"/>
            <a:ext cx="3706500" cy="13401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latin typeface="Roboto"/>
                <a:ea typeface="Roboto"/>
                <a:cs typeface="Roboto"/>
                <a:sym typeface="Roboto"/>
              </a:rPr>
              <a:t>In addition to the stream library, there is support for creating and working with streams in many other Java libraries.</a:t>
            </a:r>
            <a:endParaRPr sz="15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10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7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Sum Additional Practice</a:t>
            </a:r>
            <a:endParaRPr/>
          </a:p>
        </p:txBody>
      </p:sp>
      <p:sp>
        <p:nvSpPr>
          <p:cNvPr id="768" name="Google Shape;768;p7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There are a wide variety of ways to create streams and operations that can be performed on streams. Some of these operations are consumers. Let's practice with them.</a:t>
            </a:r>
            <a:endParaRPr/>
          </a:p>
        </p:txBody>
      </p:sp>
      <p:sp>
        <p:nvSpPr>
          <p:cNvPr id="769" name="Google Shape;769;p73"/>
          <p:cNvSpPr txBox="1"/>
          <p:nvPr>
            <p:ph idx="4" type="body"/>
          </p:nvPr>
        </p:nvSpPr>
        <p:spPr>
          <a:xfrm>
            <a:off x="141600" y="3305525"/>
            <a:ext cx="3557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Stream consumers use up (</a:t>
            </a:r>
            <a:r>
              <a:rPr b="1" lang="en">
                <a:solidFill>
                  <a:srgbClr val="FF0000"/>
                </a:solidFill>
              </a:rPr>
              <a:t>consume</a:t>
            </a:r>
            <a:r>
              <a:rPr lang="en"/>
              <a:t>) the stream. After which no other operations can be </a:t>
            </a:r>
            <a:r>
              <a:rPr lang="en"/>
              <a:t>performed</a:t>
            </a:r>
            <a:r>
              <a:rPr lang="en"/>
              <a:t> on the Stream.</a:t>
            </a:r>
            <a:endParaRPr/>
          </a:p>
        </p:txBody>
      </p:sp>
      <p:sp>
        <p:nvSpPr>
          <p:cNvPr id="770" name="Google Shape;770;p73"/>
          <p:cNvSpPr txBox="1"/>
          <p:nvPr>
            <p:ph idx="2" type="body"/>
          </p:nvPr>
        </p:nvSpPr>
        <p:spPr>
          <a:xfrm>
            <a:off x="3799700" y="1675025"/>
            <a:ext cx="5163000" cy="2455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a:t>
            </a:r>
            <a:r>
              <a:rPr lang="en">
                <a:latin typeface="Courier New"/>
                <a:ea typeface="Courier New"/>
                <a:cs typeface="Courier New"/>
                <a:sym typeface="Courier New"/>
              </a:rPr>
              <a:t>Sum</a:t>
            </a:r>
            <a:r>
              <a:rPr lang="en"/>
              <a:t> class. In it </a:t>
            </a:r>
            <a:r>
              <a:rPr lang="en"/>
              <a:t>write a </a:t>
            </a:r>
            <a:r>
              <a:rPr lang="en">
                <a:latin typeface="Courier New"/>
                <a:ea typeface="Courier New"/>
                <a:cs typeface="Courier New"/>
                <a:sym typeface="Courier New"/>
              </a:rPr>
              <a:t>static</a:t>
            </a:r>
            <a:r>
              <a:rPr lang="en"/>
              <a:t> method called </a:t>
            </a:r>
            <a:r>
              <a:rPr lang="en">
                <a:latin typeface="Courier New"/>
                <a:ea typeface="Courier New"/>
                <a:cs typeface="Courier New"/>
                <a:sym typeface="Courier New"/>
              </a:rPr>
              <a:t>sum</a:t>
            </a:r>
            <a:r>
              <a:rPr lang="en"/>
              <a:t> that takes a singular parameter of </a:t>
            </a:r>
            <a:r>
              <a:rPr lang="en">
                <a:latin typeface="Courier New"/>
                <a:ea typeface="Courier New"/>
                <a:cs typeface="Courier New"/>
                <a:sym typeface="Courier New"/>
              </a:rPr>
              <a:t>num</a:t>
            </a:r>
            <a:endParaRPr>
              <a:latin typeface="Courier New"/>
              <a:ea typeface="Courier New"/>
              <a:cs typeface="Courier New"/>
              <a:sym typeface="Courier New"/>
            </a:endParaRPr>
          </a:p>
          <a:p>
            <a:pPr indent="-311150" lvl="0" marL="457200" rtl="0" algn="l">
              <a:spcBef>
                <a:spcPts val="0"/>
              </a:spcBef>
              <a:spcAft>
                <a:spcPts val="0"/>
              </a:spcAft>
              <a:buSzPts val="1300"/>
              <a:buChar char="●"/>
            </a:pPr>
            <a:r>
              <a:rPr lang="en"/>
              <a:t>Inside </a:t>
            </a:r>
            <a:r>
              <a:rPr lang="en">
                <a:latin typeface="Courier New"/>
                <a:ea typeface="Courier New"/>
                <a:cs typeface="Courier New"/>
                <a:sym typeface="Courier New"/>
              </a:rPr>
              <a:t>sum</a:t>
            </a:r>
            <a:r>
              <a:rPr lang="en"/>
              <a:t> create an </a:t>
            </a:r>
            <a:r>
              <a:rPr lang="en">
                <a:latin typeface="Courier New"/>
                <a:ea typeface="Courier New"/>
                <a:cs typeface="Courier New"/>
                <a:sym typeface="Courier New"/>
              </a:rPr>
              <a:t>IntStream</a:t>
            </a:r>
            <a:r>
              <a:rPr lang="en"/>
              <a:t> from </a:t>
            </a:r>
            <a:r>
              <a:rPr lang="en">
                <a:latin typeface="Courier New"/>
                <a:ea typeface="Courier New"/>
                <a:cs typeface="Courier New"/>
                <a:sym typeface="Courier New"/>
              </a:rPr>
              <a:t>1</a:t>
            </a:r>
            <a:r>
              <a:rPr lang="en"/>
              <a:t> to </a:t>
            </a:r>
            <a:r>
              <a:rPr lang="en">
                <a:latin typeface="Courier New"/>
                <a:ea typeface="Courier New"/>
                <a:cs typeface="Courier New"/>
                <a:sym typeface="Courier New"/>
              </a:rPr>
              <a:t>num</a:t>
            </a:r>
            <a:endParaRPr>
              <a:latin typeface="Courier New"/>
              <a:ea typeface="Courier New"/>
              <a:cs typeface="Courier New"/>
              <a:sym typeface="Courier New"/>
            </a:endParaRPr>
          </a:p>
          <a:p>
            <a:pPr indent="-311150" lvl="0" marL="457200" rtl="0" algn="l">
              <a:spcBef>
                <a:spcPts val="0"/>
              </a:spcBef>
              <a:spcAft>
                <a:spcPts val="0"/>
              </a:spcAft>
              <a:buSzPts val="1300"/>
              <a:buChar char="●"/>
            </a:pPr>
            <a:r>
              <a:rPr lang="en"/>
              <a:t>Use a </a:t>
            </a:r>
            <a:r>
              <a:rPr lang="en">
                <a:latin typeface="Courier New"/>
                <a:ea typeface="Courier New"/>
                <a:cs typeface="Courier New"/>
                <a:sym typeface="Courier New"/>
              </a:rPr>
              <a:t>foreach</a:t>
            </a:r>
            <a:r>
              <a:rPr lang="en"/>
              <a:t> to print out all of the values in the stream, each on their own line</a:t>
            </a:r>
            <a:endParaRPr/>
          </a:p>
          <a:p>
            <a:pPr indent="-311150" lvl="0" marL="457200" rtl="0" algn="l">
              <a:spcBef>
                <a:spcPts val="0"/>
              </a:spcBef>
              <a:spcAft>
                <a:spcPts val="0"/>
              </a:spcAft>
              <a:buSzPts val="1300"/>
              <a:buChar char="●"/>
            </a:pPr>
            <a:r>
              <a:rPr lang="en"/>
              <a:t>Use the </a:t>
            </a:r>
            <a:r>
              <a:rPr lang="en">
                <a:latin typeface="Courier New"/>
                <a:ea typeface="Courier New"/>
                <a:cs typeface="Courier New"/>
                <a:sym typeface="Courier New"/>
              </a:rPr>
              <a:t>Stream.sum</a:t>
            </a:r>
            <a:r>
              <a:rPr lang="en"/>
              <a:t> method to calculate the sum of the stream</a:t>
            </a:r>
            <a:endParaRPr/>
          </a:p>
          <a:p>
            <a:pPr indent="-311150" lvl="0" marL="457200" rtl="0" algn="l">
              <a:spcBef>
                <a:spcPts val="0"/>
              </a:spcBef>
              <a:spcAft>
                <a:spcPts val="0"/>
              </a:spcAft>
              <a:buSzPts val="1300"/>
              <a:buChar char="●"/>
            </a:pPr>
            <a:r>
              <a:rPr lang="en"/>
              <a:t>Return the sum</a:t>
            </a:r>
            <a:endParaRPr/>
          </a:p>
          <a:p>
            <a:pPr indent="-311150" lvl="0" marL="457200" rtl="0" algn="l">
              <a:spcBef>
                <a:spcPts val="0"/>
              </a:spcBef>
              <a:spcAft>
                <a:spcPts val="0"/>
              </a:spcAft>
              <a:buSzPts val="1300"/>
              <a:buChar char="●"/>
            </a:pPr>
            <a:r>
              <a:rPr lang="en"/>
              <a:t>In </a:t>
            </a:r>
            <a:r>
              <a:rPr lang="en">
                <a:latin typeface="Courier New"/>
                <a:ea typeface="Courier New"/>
                <a:cs typeface="Courier New"/>
                <a:sym typeface="Courier New"/>
              </a:rPr>
              <a:t>main</a:t>
            </a:r>
            <a:r>
              <a:rPr lang="en"/>
              <a:t>, call </a:t>
            </a:r>
            <a:r>
              <a:rPr lang="en">
                <a:latin typeface="Courier New"/>
                <a:ea typeface="Courier New"/>
                <a:cs typeface="Courier New"/>
                <a:sym typeface="Courier New"/>
              </a:rPr>
              <a:t>sum</a:t>
            </a:r>
            <a:r>
              <a:rPr lang="en"/>
              <a:t> with a </a:t>
            </a:r>
            <a:r>
              <a:rPr lang="en">
                <a:latin typeface="Courier New"/>
                <a:ea typeface="Courier New"/>
                <a:cs typeface="Courier New"/>
                <a:sym typeface="Courier New"/>
              </a:rPr>
              <a:t>num</a:t>
            </a:r>
            <a:r>
              <a:rPr lang="en"/>
              <a:t> of </a:t>
            </a:r>
            <a:r>
              <a:rPr lang="en">
                <a:latin typeface="Courier New"/>
                <a:ea typeface="Courier New"/>
                <a:cs typeface="Courier New"/>
                <a:sym typeface="Courier New"/>
              </a:rPr>
              <a:t>20</a:t>
            </a:r>
            <a:r>
              <a:rPr lang="en"/>
              <a:t> and verify the returned result was </a:t>
            </a:r>
            <a:r>
              <a:rPr lang="en">
                <a:latin typeface="Courier New"/>
                <a:ea typeface="Courier New"/>
                <a:cs typeface="Courier New"/>
                <a:sym typeface="Courier New"/>
              </a:rPr>
              <a:t>210</a:t>
            </a:r>
            <a:r>
              <a:rPr lang="en"/>
              <a:t>  </a:t>
            </a:r>
            <a:r>
              <a:rPr lang="en"/>
              <a:t> </a:t>
            </a:r>
            <a:endParaRPr/>
          </a:p>
        </p:txBody>
      </p:sp>
      <p:sp>
        <p:nvSpPr>
          <p:cNvPr id="771" name="Google Shape;771;p7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4.13</a:t>
            </a:r>
            <a:endParaRPr/>
          </a:p>
        </p:txBody>
      </p:sp>
      <p:sp>
        <p:nvSpPr>
          <p:cNvPr id="772" name="Google Shape;772;p73"/>
          <p:cNvSpPr txBox="1"/>
          <p:nvPr>
            <p:ph idx="1" type="body"/>
          </p:nvPr>
        </p:nvSpPr>
        <p:spPr>
          <a:xfrm>
            <a:off x="141600" y="1675025"/>
            <a:ext cx="3557400" cy="1519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400">
                <a:solidFill>
                  <a:srgbClr val="FF0000"/>
                </a:solidFill>
                <a:latin typeface="Consolas"/>
                <a:ea typeface="Consolas"/>
                <a:cs typeface="Consolas"/>
                <a:sym typeface="Consolas"/>
              </a:rPr>
              <a:t>IntStream.range(start, end)</a:t>
            </a:r>
            <a:r>
              <a:rPr lang="en" sz="1400"/>
              <a:t> - creates a stream of integers from start to end (exclusive)</a:t>
            </a:r>
            <a:endParaRPr sz="1400"/>
          </a:p>
          <a:p>
            <a:pPr indent="0" lvl="0" marL="0" rtl="0" algn="l">
              <a:spcBef>
                <a:spcPts val="1000"/>
              </a:spcBef>
              <a:spcAft>
                <a:spcPts val="1000"/>
              </a:spcAft>
              <a:buNone/>
            </a:pPr>
            <a:r>
              <a:rPr lang="en" sz="1400">
                <a:solidFill>
                  <a:srgbClr val="FF0000"/>
                </a:solidFill>
                <a:latin typeface="Consolas"/>
                <a:ea typeface="Consolas"/>
                <a:cs typeface="Consolas"/>
                <a:sym typeface="Consolas"/>
              </a:rPr>
              <a:t>Stream.sum()</a:t>
            </a:r>
            <a:r>
              <a:rPr lang="en" sz="1400"/>
              <a:t> - sums all of the values in the stream</a:t>
            </a:r>
            <a:endParaRPr sz="1400"/>
          </a:p>
        </p:txBody>
      </p:sp>
      <p:sp>
        <p:nvSpPr>
          <p:cNvPr id="773" name="Google Shape;773;p73"/>
          <p:cNvSpPr txBox="1"/>
          <p:nvPr>
            <p:ph idx="4" type="body"/>
          </p:nvPr>
        </p:nvSpPr>
        <p:spPr>
          <a:xfrm>
            <a:off x="141600" y="4155125"/>
            <a:ext cx="3557400" cy="369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Both </a:t>
            </a:r>
            <a:r>
              <a:rPr lang="en">
                <a:latin typeface="Courier New"/>
                <a:ea typeface="Courier New"/>
                <a:cs typeface="Courier New"/>
                <a:sym typeface="Courier New"/>
              </a:rPr>
              <a:t>foreach</a:t>
            </a:r>
            <a:r>
              <a:rPr lang="en"/>
              <a:t> and </a:t>
            </a:r>
            <a:r>
              <a:rPr lang="en">
                <a:latin typeface="Courier New"/>
                <a:ea typeface="Courier New"/>
                <a:cs typeface="Courier New"/>
                <a:sym typeface="Courier New"/>
              </a:rPr>
              <a:t>sum</a:t>
            </a:r>
            <a:r>
              <a:rPr lang="en"/>
              <a:t> are stream consumers.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74"/>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Consumers like, </a:t>
            </a:r>
            <a:r>
              <a:rPr lang="en">
                <a:latin typeface="Courier New"/>
                <a:ea typeface="Courier New"/>
                <a:cs typeface="Courier New"/>
                <a:sym typeface="Courier New"/>
              </a:rPr>
              <a:t>forEach</a:t>
            </a:r>
            <a:r>
              <a:rPr lang="en"/>
              <a:t> and </a:t>
            </a:r>
            <a:r>
              <a:rPr lang="en">
                <a:latin typeface="Courier New"/>
                <a:ea typeface="Courier New"/>
                <a:cs typeface="Courier New"/>
                <a:sym typeface="Courier New"/>
              </a:rPr>
              <a:t>sum</a:t>
            </a:r>
            <a:r>
              <a:rPr lang="en"/>
              <a:t>, terminate a stream. However, there are other operations that can be used to modify the values in a stream, without consuming it. </a:t>
            </a:r>
            <a:r>
              <a:rPr lang="en">
                <a:latin typeface="Courier New"/>
                <a:ea typeface="Courier New"/>
                <a:cs typeface="Courier New"/>
                <a:sym typeface="Courier New"/>
              </a:rPr>
              <a:t>Stream.map</a:t>
            </a:r>
            <a:r>
              <a:rPr lang="en"/>
              <a:t> is one of these operations. It changes the value in the stream based on the provided single parameter functional interface.</a:t>
            </a:r>
            <a:endParaRPr/>
          </a:p>
        </p:txBody>
      </p:sp>
      <p:sp>
        <p:nvSpPr>
          <p:cNvPr id="779" name="Google Shape;779;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0" name="Google Shape;780;p74"/>
          <p:cNvSpPr txBox="1"/>
          <p:nvPr>
            <p:ph idx="2" type="body"/>
          </p:nvPr>
        </p:nvSpPr>
        <p:spPr>
          <a:xfrm>
            <a:off x="3799725" y="2013125"/>
            <a:ext cx="5141100" cy="2455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the same </a:t>
            </a:r>
            <a:r>
              <a:rPr lang="en">
                <a:latin typeface="Courier New"/>
                <a:ea typeface="Courier New"/>
                <a:cs typeface="Courier New"/>
                <a:sym typeface="Courier New"/>
              </a:rPr>
              <a:t>Sum</a:t>
            </a:r>
            <a:r>
              <a:rPr lang="en"/>
              <a:t> class, add a new </a:t>
            </a:r>
            <a:r>
              <a:rPr lang="en">
                <a:latin typeface="Courier New"/>
                <a:ea typeface="Courier New"/>
                <a:cs typeface="Courier New"/>
                <a:sym typeface="Courier New"/>
              </a:rPr>
              <a:t>static</a:t>
            </a:r>
            <a:r>
              <a:rPr lang="en"/>
              <a:t> method called </a:t>
            </a:r>
            <a:r>
              <a:rPr lang="en">
                <a:latin typeface="Courier New"/>
                <a:ea typeface="Courier New"/>
                <a:cs typeface="Courier New"/>
                <a:sym typeface="Courier New"/>
              </a:rPr>
              <a:t>shiftedSum</a:t>
            </a:r>
            <a:r>
              <a:rPr lang="en"/>
              <a:t> that takes two parameters, </a:t>
            </a:r>
            <a:r>
              <a:rPr lang="en">
                <a:latin typeface="Courier New"/>
                <a:ea typeface="Courier New"/>
                <a:cs typeface="Courier New"/>
                <a:sym typeface="Courier New"/>
              </a:rPr>
              <a:t>num</a:t>
            </a:r>
            <a:r>
              <a:rPr lang="en"/>
              <a:t> and </a:t>
            </a:r>
            <a:r>
              <a:rPr lang="en">
                <a:latin typeface="Courier New"/>
                <a:ea typeface="Courier New"/>
                <a:cs typeface="Courier New"/>
                <a:sym typeface="Courier New"/>
              </a:rPr>
              <a:t>shift</a:t>
            </a:r>
            <a:r>
              <a:rPr lang="en"/>
              <a:t> (both integers)</a:t>
            </a:r>
            <a:endParaRPr/>
          </a:p>
          <a:p>
            <a:pPr indent="-311150" lvl="0" marL="457200" rtl="0" algn="l">
              <a:spcBef>
                <a:spcPts val="0"/>
              </a:spcBef>
              <a:spcAft>
                <a:spcPts val="0"/>
              </a:spcAft>
              <a:buSzPts val="1300"/>
              <a:buChar char="●"/>
            </a:pPr>
            <a:r>
              <a:rPr lang="en"/>
              <a:t>C</a:t>
            </a:r>
            <a:r>
              <a:rPr lang="en"/>
              <a:t>reate an </a:t>
            </a:r>
            <a:r>
              <a:rPr lang="en">
                <a:latin typeface="Courier New"/>
                <a:ea typeface="Courier New"/>
                <a:cs typeface="Courier New"/>
                <a:sym typeface="Courier New"/>
              </a:rPr>
              <a:t>IntStream</a:t>
            </a:r>
            <a:r>
              <a:rPr lang="en"/>
              <a:t> from </a:t>
            </a:r>
            <a:r>
              <a:rPr lang="en">
                <a:latin typeface="Courier New"/>
                <a:ea typeface="Courier New"/>
                <a:cs typeface="Courier New"/>
                <a:sym typeface="Courier New"/>
              </a:rPr>
              <a:t>1</a:t>
            </a:r>
            <a:r>
              <a:rPr lang="en"/>
              <a:t> to </a:t>
            </a:r>
            <a:r>
              <a:rPr lang="en">
                <a:latin typeface="Courier New"/>
                <a:ea typeface="Courier New"/>
                <a:cs typeface="Courier New"/>
                <a:sym typeface="Courier New"/>
              </a:rPr>
              <a:t>num</a:t>
            </a:r>
            <a:endParaRPr/>
          </a:p>
          <a:p>
            <a:pPr indent="-311150" lvl="0" marL="457200" rtl="0" algn="l">
              <a:spcBef>
                <a:spcPts val="0"/>
              </a:spcBef>
              <a:spcAft>
                <a:spcPts val="0"/>
              </a:spcAft>
              <a:buSzPts val="1300"/>
              <a:buChar char="●"/>
            </a:pPr>
            <a:r>
              <a:rPr lang="en"/>
              <a:t>Use </a:t>
            </a:r>
            <a:r>
              <a:rPr lang="en">
                <a:latin typeface="Courier New"/>
                <a:ea typeface="Courier New"/>
                <a:cs typeface="Courier New"/>
                <a:sym typeface="Courier New"/>
              </a:rPr>
              <a:t>Stream.map</a:t>
            </a:r>
            <a:r>
              <a:rPr lang="en"/>
              <a:t> to add the shift value to the streams current value (you'll want to use a lambda function)</a:t>
            </a:r>
            <a:endParaRPr/>
          </a:p>
          <a:p>
            <a:pPr indent="-311150" lvl="0" marL="457200" rtl="0" algn="l">
              <a:spcBef>
                <a:spcPts val="0"/>
              </a:spcBef>
              <a:spcAft>
                <a:spcPts val="0"/>
              </a:spcAft>
              <a:buSzPts val="1300"/>
              <a:buChar char="●"/>
            </a:pPr>
            <a:r>
              <a:rPr lang="en"/>
              <a:t>Use </a:t>
            </a:r>
            <a:r>
              <a:rPr lang="en">
                <a:latin typeface="Courier New"/>
                <a:ea typeface="Courier New"/>
                <a:cs typeface="Courier New"/>
                <a:sym typeface="Courier New"/>
              </a:rPr>
              <a:t>Stream.sum</a:t>
            </a:r>
            <a:r>
              <a:rPr lang="en"/>
              <a:t> to sum all of the shifted values</a:t>
            </a:r>
            <a:endParaRPr/>
          </a:p>
          <a:p>
            <a:pPr indent="-311150" lvl="0" marL="457200" rtl="0" algn="l">
              <a:spcBef>
                <a:spcPts val="0"/>
              </a:spcBef>
              <a:spcAft>
                <a:spcPts val="0"/>
              </a:spcAft>
              <a:buSzPts val="1300"/>
              <a:buChar char="●"/>
            </a:pPr>
            <a:r>
              <a:rPr lang="en"/>
              <a:t>Return the sum</a:t>
            </a:r>
            <a:endParaRPr/>
          </a:p>
          <a:p>
            <a:pPr indent="-311150" lvl="0" marL="457200" rtl="0" algn="l">
              <a:spcBef>
                <a:spcPts val="0"/>
              </a:spcBef>
              <a:spcAft>
                <a:spcPts val="0"/>
              </a:spcAft>
              <a:buSzPts val="1300"/>
              <a:buChar char="●"/>
            </a:pPr>
            <a:r>
              <a:rPr lang="en"/>
              <a:t>In </a:t>
            </a:r>
            <a:r>
              <a:rPr lang="en">
                <a:latin typeface="Courier New"/>
                <a:ea typeface="Courier New"/>
                <a:cs typeface="Courier New"/>
                <a:sym typeface="Courier New"/>
              </a:rPr>
              <a:t>main</a:t>
            </a:r>
            <a:r>
              <a:rPr lang="en"/>
              <a:t>, call </a:t>
            </a:r>
            <a:r>
              <a:rPr lang="en">
                <a:latin typeface="Courier New"/>
                <a:ea typeface="Courier New"/>
                <a:cs typeface="Courier New"/>
                <a:sym typeface="Courier New"/>
              </a:rPr>
              <a:t>shiftedSum</a:t>
            </a:r>
            <a:r>
              <a:rPr lang="en"/>
              <a:t> and print out its result. Verify it returned the correct value.</a:t>
            </a:r>
            <a:endParaRPr/>
          </a:p>
        </p:txBody>
      </p:sp>
      <p:sp>
        <p:nvSpPr>
          <p:cNvPr id="781" name="Google Shape;781;p7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Sum More Practice</a:t>
            </a:r>
            <a:endParaRPr/>
          </a:p>
        </p:txBody>
      </p:sp>
      <p:sp>
        <p:nvSpPr>
          <p:cNvPr id="782" name="Google Shape;782;p7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4.14</a:t>
            </a:r>
            <a:endParaRPr/>
          </a:p>
        </p:txBody>
      </p:sp>
      <p:sp>
        <p:nvSpPr>
          <p:cNvPr id="783" name="Google Shape;783;p74"/>
          <p:cNvSpPr txBox="1"/>
          <p:nvPr>
            <p:ph idx="4" type="body"/>
          </p:nvPr>
        </p:nvSpPr>
        <p:spPr>
          <a:xfrm>
            <a:off x="141600" y="4156900"/>
            <a:ext cx="35070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While the example uses an anonymous class, it is much easier to use a lambda function.</a:t>
            </a:r>
            <a:endParaRPr/>
          </a:p>
        </p:txBody>
      </p:sp>
      <p:sp>
        <p:nvSpPr>
          <p:cNvPr id="784" name="Google Shape;784;p74"/>
          <p:cNvSpPr txBox="1"/>
          <p:nvPr>
            <p:ph idx="1" type="body"/>
          </p:nvPr>
        </p:nvSpPr>
        <p:spPr>
          <a:xfrm>
            <a:off x="141600" y="2118100"/>
            <a:ext cx="3507000" cy="1858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8000"/>
                </a:solidFill>
                <a:highlight>
                  <a:srgbClr val="FFFFFF"/>
                </a:highlight>
                <a:latin typeface="Consolas"/>
                <a:ea typeface="Consolas"/>
                <a:cs typeface="Consolas"/>
                <a:sym typeface="Consolas"/>
              </a:rPr>
              <a:t>// Map example using an anonymous class</a:t>
            </a:r>
            <a:endParaRPr sz="900">
              <a:solidFill>
                <a:srgbClr val="0000F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private</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squareStream</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IntStream</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stream</a:t>
            </a:r>
            <a:r>
              <a:rPr lang="en" sz="900">
                <a:solidFill>
                  <a:srgbClr val="000000"/>
                </a:solidFill>
                <a:highlight>
                  <a:srgbClr val="FFFFFF"/>
                </a:highlight>
                <a:latin typeface="Consolas"/>
                <a:ea typeface="Consolas"/>
                <a:cs typeface="Consolas"/>
                <a:sym typeface="Consolas"/>
              </a:rPr>
              <a:t> = </a:t>
            </a:r>
            <a:r>
              <a:rPr lang="en" sz="900">
                <a:solidFill>
                  <a:srgbClr val="267F99"/>
                </a:solidFill>
                <a:highlight>
                  <a:srgbClr val="FFFFFF"/>
                </a:highlight>
                <a:latin typeface="Consolas"/>
                <a:ea typeface="Consolas"/>
                <a:cs typeface="Consolas"/>
                <a:sym typeface="Consolas"/>
              </a:rPr>
              <a:t>IntStream</a:t>
            </a:r>
            <a:r>
              <a:rPr lang="en" sz="900">
                <a:solidFill>
                  <a:srgbClr val="000000"/>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rangeClosed</a:t>
            </a:r>
            <a:r>
              <a:rPr lang="en" sz="900">
                <a:solidFill>
                  <a:srgbClr val="000000"/>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stream</a:t>
            </a:r>
            <a:r>
              <a:rPr lang="en" sz="900">
                <a:solidFill>
                  <a:srgbClr val="000000"/>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map</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IntUnaryOperator</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applyAsInt</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forEach</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000000"/>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AF00D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900">
              <a:solidFill>
                <a:srgbClr val="FF0000"/>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5"/>
          <p:cNvSpPr txBox="1"/>
          <p:nvPr>
            <p:ph type="title"/>
          </p:nvPr>
        </p:nvSpPr>
        <p:spPr>
          <a:xfrm>
            <a:off x="5188525" y="1961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Java Files</a:t>
            </a:r>
            <a:endParaRPr/>
          </a:p>
        </p:txBody>
      </p:sp>
      <p:sp>
        <p:nvSpPr>
          <p:cNvPr id="790" name="Google Shape;790;p75"/>
          <p:cNvSpPr txBox="1"/>
          <p:nvPr>
            <p:ph idx="1" type="body"/>
          </p:nvPr>
        </p:nvSpPr>
        <p:spPr>
          <a:xfrm>
            <a:off x="301275" y="272325"/>
            <a:ext cx="4166400" cy="44352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The </a:t>
            </a:r>
            <a:r>
              <a:rPr lang="en" u="sng">
                <a:solidFill>
                  <a:srgbClr val="FF0000"/>
                </a:solidFill>
                <a:latin typeface="Courier New"/>
                <a:ea typeface="Courier New"/>
                <a:cs typeface="Courier New"/>
                <a:sym typeface="Courier New"/>
                <a:hlinkClick r:id="rId3">
                  <a:extLst>
                    <a:ext uri="{A12FA001-AC4F-418D-AE19-62706E023703}">
                      <ahyp:hlinkClr val="tx"/>
                    </a:ext>
                  </a:extLst>
                </a:hlinkClick>
              </a:rPr>
              <a:t>java.io.File</a:t>
            </a:r>
            <a:r>
              <a:rPr lang="en"/>
              <a:t> class represents a </a:t>
            </a:r>
            <a:r>
              <a:rPr b="1" i="1" lang="en">
                <a:solidFill>
                  <a:srgbClr val="FF0000"/>
                </a:solidFill>
              </a:rPr>
              <a:t>file </a:t>
            </a:r>
            <a:r>
              <a:rPr lang="en"/>
              <a:t>or </a:t>
            </a:r>
            <a:r>
              <a:rPr b="1" i="1" lang="en">
                <a:solidFill>
                  <a:srgbClr val="FF0000"/>
                </a:solidFill>
              </a:rPr>
              <a:t>directory</a:t>
            </a:r>
            <a:r>
              <a:rPr lang="en">
                <a:solidFill>
                  <a:srgbClr val="FF0000"/>
                </a:solidFill>
              </a:rPr>
              <a:t> </a:t>
            </a:r>
            <a:r>
              <a:rPr lang="en"/>
              <a:t>in the computer's file system.</a:t>
            </a:r>
            <a:endParaRPr/>
          </a:p>
          <a:p>
            <a:pPr indent="-298450" lvl="1" marL="914400" rtl="0" algn="l">
              <a:lnSpc>
                <a:spcPct val="100000"/>
              </a:lnSpc>
              <a:spcBef>
                <a:spcPts val="0"/>
              </a:spcBef>
              <a:spcAft>
                <a:spcPts val="0"/>
              </a:spcAft>
              <a:buSzPts val="1100"/>
              <a:buChar char="○"/>
            </a:pPr>
            <a:r>
              <a:rPr b="1" i="1" lang="en">
                <a:solidFill>
                  <a:srgbClr val="FF0000"/>
                </a:solidFill>
              </a:rPr>
              <a:t>Importing</a:t>
            </a:r>
            <a:r>
              <a:rPr lang="en">
                <a:solidFill>
                  <a:srgbClr val="FF0000"/>
                </a:solidFill>
              </a:rPr>
              <a:t> </a:t>
            </a:r>
            <a:r>
              <a:rPr lang="en"/>
              <a:t>the class will allow your program to use it without specifying the full class name.</a:t>
            </a:r>
            <a:endParaRPr/>
          </a:p>
          <a:p>
            <a:pPr indent="-311150" lvl="0" marL="457200" rtl="0" algn="l">
              <a:lnSpc>
                <a:spcPct val="100000"/>
              </a:lnSpc>
              <a:spcBef>
                <a:spcPts val="0"/>
              </a:spcBef>
              <a:spcAft>
                <a:spcPts val="0"/>
              </a:spcAft>
              <a:buSzPts val="1300"/>
              <a:buChar char="●"/>
            </a:pPr>
            <a:r>
              <a:rPr lang="en"/>
              <a:t>A </a:t>
            </a:r>
            <a:r>
              <a:rPr b="1" i="1" lang="en">
                <a:solidFill>
                  <a:srgbClr val="FF0000"/>
                </a:solidFill>
              </a:rPr>
              <a:t>file object</a:t>
            </a:r>
            <a:r>
              <a:rPr lang="en">
                <a:solidFill>
                  <a:srgbClr val="FF0000"/>
                </a:solidFill>
              </a:rPr>
              <a:t> </a:t>
            </a:r>
            <a:r>
              <a:rPr lang="en"/>
              <a:t>is created by calling the </a:t>
            </a:r>
            <a:r>
              <a:rPr lang="en">
                <a:latin typeface="Courier New"/>
                <a:ea typeface="Courier New"/>
                <a:cs typeface="Courier New"/>
                <a:sym typeface="Courier New"/>
              </a:rPr>
              <a:t>File</a:t>
            </a:r>
            <a:r>
              <a:rPr lang="en"/>
              <a:t> class constructor with the path to the file.</a:t>
            </a:r>
            <a:endParaRPr/>
          </a:p>
          <a:p>
            <a:pPr indent="-298450" lvl="1" marL="914400" rtl="0" algn="l">
              <a:lnSpc>
                <a:spcPct val="100000"/>
              </a:lnSpc>
              <a:spcBef>
                <a:spcPts val="0"/>
              </a:spcBef>
              <a:spcAft>
                <a:spcPts val="0"/>
              </a:spcAft>
              <a:buSzPts val="1100"/>
              <a:buChar char="○"/>
            </a:pPr>
            <a:r>
              <a:rPr lang="en"/>
              <a:t>An </a:t>
            </a:r>
            <a:r>
              <a:rPr b="1" i="1" lang="en">
                <a:solidFill>
                  <a:srgbClr val="FF0000"/>
                </a:solidFill>
              </a:rPr>
              <a:t>absolute path</a:t>
            </a:r>
            <a:r>
              <a:rPr lang="en">
                <a:solidFill>
                  <a:srgbClr val="FF0000"/>
                </a:solidFill>
              </a:rPr>
              <a:t> </a:t>
            </a:r>
            <a:r>
              <a:rPr lang="en"/>
              <a:t>may be used.</a:t>
            </a:r>
            <a:endParaRPr/>
          </a:p>
          <a:p>
            <a:pPr indent="-298450" lvl="1" marL="914400" rtl="0" algn="l">
              <a:lnSpc>
                <a:spcPct val="100000"/>
              </a:lnSpc>
              <a:spcBef>
                <a:spcPts val="0"/>
              </a:spcBef>
              <a:spcAft>
                <a:spcPts val="0"/>
              </a:spcAft>
              <a:buSzPts val="1100"/>
              <a:buChar char="○"/>
            </a:pPr>
            <a:r>
              <a:rPr lang="en"/>
              <a:t>A </a:t>
            </a:r>
            <a:r>
              <a:rPr b="1" i="1" lang="en">
                <a:solidFill>
                  <a:srgbClr val="FF0000"/>
                </a:solidFill>
              </a:rPr>
              <a:t>relative path</a:t>
            </a:r>
            <a:r>
              <a:rPr lang="en">
                <a:solidFill>
                  <a:srgbClr val="FF0000"/>
                </a:solidFill>
              </a:rPr>
              <a:t> </a:t>
            </a:r>
            <a:r>
              <a:rPr lang="en"/>
              <a:t>may also be used; such paths are relative to the directory from which the program is executed.</a:t>
            </a:r>
            <a:endParaRPr/>
          </a:p>
          <a:p>
            <a:pPr indent="-298450" lvl="1" marL="914400" rtl="0" algn="l">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File f = new File("a_file.txt");</a:t>
            </a:r>
            <a:endParaRPr>
              <a:solidFill>
                <a:srgbClr val="FF0000"/>
              </a:solidFill>
              <a:latin typeface="Courier New"/>
              <a:ea typeface="Courier New"/>
              <a:cs typeface="Courier New"/>
              <a:sym typeface="Courier New"/>
            </a:endParaRPr>
          </a:p>
          <a:p>
            <a:pPr indent="-311150" lvl="0" marL="457200" rtl="0" algn="l">
              <a:lnSpc>
                <a:spcPct val="100000"/>
              </a:lnSpc>
              <a:spcBef>
                <a:spcPts val="0"/>
              </a:spcBef>
              <a:spcAft>
                <a:spcPts val="0"/>
              </a:spcAft>
              <a:buSzPts val="1300"/>
              <a:buChar char="●"/>
            </a:pPr>
            <a:r>
              <a:rPr lang="en"/>
              <a:t>An </a:t>
            </a:r>
            <a:r>
              <a:rPr lang="en">
                <a:solidFill>
                  <a:srgbClr val="FF0000"/>
                </a:solidFill>
              </a:rPr>
              <a:t>instance </a:t>
            </a:r>
            <a:r>
              <a:rPr lang="en"/>
              <a:t>of the </a:t>
            </a:r>
            <a:r>
              <a:rPr lang="en">
                <a:latin typeface="Courier New"/>
                <a:ea typeface="Courier New"/>
                <a:cs typeface="Courier New"/>
                <a:sym typeface="Courier New"/>
              </a:rPr>
              <a:t>File</a:t>
            </a:r>
            <a:r>
              <a:rPr lang="en"/>
              <a:t> class cannot be used to read from or write to the specified file, but does provide many methods that  can be used to get information about the file.</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exists()</a:t>
            </a:r>
            <a:r>
              <a:rPr lang="en"/>
              <a:t> - returns </a:t>
            </a:r>
            <a:r>
              <a:rPr lang="en">
                <a:solidFill>
                  <a:srgbClr val="FF0000"/>
                </a:solidFill>
                <a:latin typeface="Courier New"/>
                <a:ea typeface="Courier New"/>
                <a:cs typeface="Courier New"/>
                <a:sym typeface="Courier New"/>
              </a:rPr>
              <a:t>true</a:t>
            </a:r>
            <a:r>
              <a:rPr lang="en">
                <a:solidFill>
                  <a:srgbClr val="FF0000"/>
                </a:solidFill>
              </a:rPr>
              <a:t> </a:t>
            </a:r>
            <a:r>
              <a:rPr lang="en"/>
              <a:t>if a file with the specified path exists in the file system, and </a:t>
            </a:r>
            <a:r>
              <a:rPr lang="en">
                <a:solidFill>
                  <a:srgbClr val="FF0000"/>
                </a:solidFill>
                <a:latin typeface="Courier New"/>
                <a:ea typeface="Courier New"/>
                <a:cs typeface="Courier New"/>
                <a:sym typeface="Courier New"/>
              </a:rPr>
              <a:t>false</a:t>
            </a:r>
            <a:r>
              <a:rPr lang="en">
                <a:solidFill>
                  <a:srgbClr val="FF0000"/>
                </a:solidFill>
              </a:rPr>
              <a:t> </a:t>
            </a:r>
            <a:r>
              <a:rPr lang="en"/>
              <a:t>otherwise.</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isDirectory()</a:t>
            </a:r>
            <a:r>
              <a:rPr lang="en"/>
              <a:t> -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file is a directory, and </a:t>
            </a:r>
            <a:r>
              <a:rPr lang="en">
                <a:solidFill>
                  <a:srgbClr val="FF0000"/>
                </a:solidFill>
                <a:latin typeface="Courier New"/>
                <a:ea typeface="Courier New"/>
                <a:cs typeface="Courier New"/>
                <a:sym typeface="Courier New"/>
              </a:rPr>
              <a:t>false</a:t>
            </a:r>
            <a:r>
              <a:rPr lang="en">
                <a:solidFill>
                  <a:srgbClr val="FF0000"/>
                </a:solidFill>
              </a:rPr>
              <a:t> </a:t>
            </a:r>
            <a:r>
              <a:rPr lang="en"/>
              <a:t>otherwise.</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getAbsolutePath()</a:t>
            </a:r>
            <a:r>
              <a:rPr lang="en"/>
              <a:t> - returns the absolute path to the file as a </a:t>
            </a:r>
            <a:r>
              <a:rPr lang="en">
                <a:solidFill>
                  <a:srgbClr val="FF0000"/>
                </a:solidFill>
                <a:latin typeface="Courier New"/>
                <a:ea typeface="Courier New"/>
                <a:cs typeface="Courier New"/>
                <a:sym typeface="Courier New"/>
              </a:rPr>
              <a:t>String</a:t>
            </a:r>
            <a:r>
              <a:rPr lang="en"/>
              <a:t>.</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length()</a:t>
            </a:r>
            <a:r>
              <a:rPr lang="en"/>
              <a:t> - returns the number of  bytes of data in the file as a </a:t>
            </a:r>
            <a:r>
              <a:rPr lang="en">
                <a:solidFill>
                  <a:srgbClr val="FF0000"/>
                </a:solidFill>
                <a:latin typeface="Courier New"/>
                <a:ea typeface="Courier New"/>
                <a:cs typeface="Courier New"/>
                <a:sym typeface="Courier New"/>
              </a:rPr>
              <a:t>long</a:t>
            </a:r>
            <a:r>
              <a:rPr lang="en"/>
              <a:t>.</a:t>
            </a:r>
            <a:endParaRPr/>
          </a:p>
        </p:txBody>
      </p:sp>
      <p:sp>
        <p:nvSpPr>
          <p:cNvPr id="791" name="Google Shape;791;p75"/>
          <p:cNvSpPr txBox="1"/>
          <p:nvPr>
            <p:ph idx="2" type="body"/>
          </p:nvPr>
        </p:nvSpPr>
        <p:spPr>
          <a:xfrm>
            <a:off x="5144184" y="2657545"/>
            <a:ext cx="3706500" cy="1145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1</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File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A31515"/>
                </a:solidFill>
                <a:latin typeface="Consolas"/>
                <a:ea typeface="Consolas"/>
                <a:cs typeface="Consolas"/>
                <a:sym typeface="Consolas"/>
              </a:rPr>
              <a:t>"a_file.txt"</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path</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getAbsolutePath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3</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long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size</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length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4</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boolean</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dir</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isDirectory</a:t>
            </a:r>
            <a:r>
              <a:rPr lang="en" sz="1200">
                <a:solidFill>
                  <a:srgbClr val="000000"/>
                </a:solidFill>
                <a:latin typeface="Consolas"/>
                <a:ea typeface="Consolas"/>
                <a:cs typeface="Consolas"/>
                <a:sym typeface="Consolas"/>
              </a:rPr>
              <a:t>();</a:t>
            </a:r>
            <a:endParaRPr sz="1200">
              <a:solidFill>
                <a:srgbClr val="999999"/>
              </a:solidFill>
              <a:latin typeface="Consolas"/>
              <a:ea typeface="Consolas"/>
              <a:cs typeface="Consolas"/>
              <a:sym typeface="Consolas"/>
            </a:endParaRPr>
          </a:p>
        </p:txBody>
      </p:sp>
      <p:sp>
        <p:nvSpPr>
          <p:cNvPr id="792" name="Google Shape;792;p7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3" name="Google Shape;793;p75"/>
          <p:cNvSpPr txBox="1"/>
          <p:nvPr>
            <p:ph idx="3" type="body"/>
          </p:nvPr>
        </p:nvSpPr>
        <p:spPr>
          <a:xfrm>
            <a:off x="5144184" y="1657831"/>
            <a:ext cx="3706500" cy="87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b="1" i="1" lang="en" sz="1200">
                <a:solidFill>
                  <a:srgbClr val="FF0000"/>
                </a:solidFill>
              </a:rPr>
              <a:t>relative path</a:t>
            </a:r>
            <a:r>
              <a:rPr lang="en" sz="1200">
                <a:solidFill>
                  <a:srgbClr val="FF0000"/>
                </a:solidFill>
              </a:rPr>
              <a:t> </a:t>
            </a:r>
            <a:r>
              <a:rPr lang="en" sz="1200"/>
              <a:t>is relative to the directory in which the program was executed. For example,  </a:t>
            </a:r>
            <a:r>
              <a:rPr lang="en" sz="1200">
                <a:solidFill>
                  <a:srgbClr val="FF0000"/>
                </a:solidFill>
                <a:latin typeface="Courier New"/>
                <a:ea typeface="Courier New"/>
                <a:cs typeface="Courier New"/>
                <a:sym typeface="Courier New"/>
              </a:rPr>
              <a:t>"data/file.txt"</a:t>
            </a:r>
            <a:r>
              <a:rPr lang="en" sz="1200"/>
              <a:t> refers to a file named </a:t>
            </a:r>
            <a:r>
              <a:rPr lang="en" sz="1200">
                <a:solidFill>
                  <a:srgbClr val="FF0000"/>
                </a:solidFill>
                <a:latin typeface="Courier New"/>
                <a:ea typeface="Courier New"/>
                <a:cs typeface="Courier New"/>
                <a:sym typeface="Courier New"/>
              </a:rPr>
              <a:t>"file.txt"</a:t>
            </a:r>
            <a:r>
              <a:rPr lang="en" sz="1200"/>
              <a:t> in the </a:t>
            </a:r>
            <a:r>
              <a:rPr lang="en" sz="1200">
                <a:solidFill>
                  <a:srgbClr val="FF0000"/>
                </a:solidFill>
                <a:latin typeface="Courier New"/>
                <a:ea typeface="Courier New"/>
                <a:cs typeface="Courier New"/>
                <a:sym typeface="Courier New"/>
              </a:rPr>
              <a:t>"data"</a:t>
            </a:r>
            <a:r>
              <a:rPr lang="en" sz="1200"/>
              <a:t> subdirectory.</a:t>
            </a:r>
            <a:endParaRPr sz="1200"/>
          </a:p>
        </p:txBody>
      </p:sp>
      <p:sp>
        <p:nvSpPr>
          <p:cNvPr id="794" name="Google Shape;794;p75"/>
          <p:cNvSpPr/>
          <p:nvPr/>
        </p:nvSpPr>
        <p:spPr>
          <a:xfrm>
            <a:off x="8454250" y="953325"/>
            <a:ext cx="656325" cy="1943200"/>
          </a:xfrm>
          <a:custGeom>
            <a:rect b="b" l="l" r="r" t="t"/>
            <a:pathLst>
              <a:path extrusionOk="0" h="77728" w="26253">
                <a:moveTo>
                  <a:pt x="11529" y="0"/>
                </a:moveTo>
                <a:cubicBezTo>
                  <a:pt x="13943" y="11578"/>
                  <a:pt x="27935" y="56608"/>
                  <a:pt x="26013" y="69467"/>
                </a:cubicBezTo>
                <a:cubicBezTo>
                  <a:pt x="24092" y="82326"/>
                  <a:pt x="4336" y="75871"/>
                  <a:pt x="0" y="77152"/>
                </a:cubicBezTo>
              </a:path>
            </a:pathLst>
          </a:custGeom>
          <a:noFill/>
          <a:ln cap="flat" cmpd="sng" w="19050">
            <a:solidFill>
              <a:srgbClr val="FF0000"/>
            </a:solidFill>
            <a:prstDash val="solid"/>
            <a:round/>
            <a:headEnd len="med" w="med" type="none"/>
            <a:tailEnd len="med" w="med" type="triangle"/>
          </a:ln>
        </p:spPr>
      </p:sp>
      <p:sp>
        <p:nvSpPr>
          <p:cNvPr id="795" name="Google Shape;795;p75"/>
          <p:cNvSpPr txBox="1"/>
          <p:nvPr>
            <p:ph idx="3" type="body"/>
          </p:nvPr>
        </p:nvSpPr>
        <p:spPr>
          <a:xfrm>
            <a:off x="5144184" y="834225"/>
            <a:ext cx="3706500" cy="702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An </a:t>
            </a:r>
            <a:r>
              <a:rPr b="1" i="1" lang="en" sz="1200">
                <a:solidFill>
                  <a:srgbClr val="FF0000"/>
                </a:solidFill>
              </a:rPr>
              <a:t>instance</a:t>
            </a:r>
            <a:r>
              <a:rPr lang="en" sz="1200">
                <a:solidFill>
                  <a:srgbClr val="FF0000"/>
                </a:solidFill>
              </a:rPr>
              <a:t> </a:t>
            </a:r>
            <a:r>
              <a:rPr lang="en" sz="1200"/>
              <a:t>of the </a:t>
            </a:r>
            <a:r>
              <a:rPr lang="en" sz="1200">
                <a:latin typeface="Courier New"/>
                <a:ea typeface="Courier New"/>
                <a:cs typeface="Courier New"/>
                <a:sym typeface="Courier New"/>
              </a:rPr>
              <a:t>java.io.File</a:t>
            </a:r>
            <a:r>
              <a:rPr lang="en" sz="1200"/>
              <a:t> class can be created with an </a:t>
            </a:r>
            <a:r>
              <a:rPr b="1" i="1" lang="en" sz="1200">
                <a:solidFill>
                  <a:srgbClr val="FF0000"/>
                </a:solidFill>
              </a:rPr>
              <a:t>absolute</a:t>
            </a:r>
            <a:r>
              <a:rPr lang="en" sz="1200">
                <a:solidFill>
                  <a:srgbClr val="FF0000"/>
                </a:solidFill>
              </a:rPr>
              <a:t> </a:t>
            </a:r>
            <a:r>
              <a:rPr lang="en" sz="1200"/>
              <a:t>or </a:t>
            </a:r>
            <a:r>
              <a:rPr b="1" i="1" lang="en" sz="1200">
                <a:solidFill>
                  <a:srgbClr val="FF0000"/>
                </a:solidFill>
              </a:rPr>
              <a:t>relative</a:t>
            </a:r>
            <a:r>
              <a:rPr lang="en" sz="1200">
                <a:solidFill>
                  <a:srgbClr val="FF0000"/>
                </a:solidFill>
              </a:rPr>
              <a:t> </a:t>
            </a:r>
            <a:r>
              <a:rPr lang="en" sz="1200"/>
              <a:t>path to a file in the file system.</a:t>
            </a:r>
            <a:endParaRPr sz="1200"/>
          </a:p>
        </p:txBody>
      </p:sp>
      <p:sp>
        <p:nvSpPr>
          <p:cNvPr id="796" name="Google Shape;796;p75"/>
          <p:cNvSpPr/>
          <p:nvPr/>
        </p:nvSpPr>
        <p:spPr>
          <a:xfrm>
            <a:off x="8180825" y="3574950"/>
            <a:ext cx="289002" cy="460025"/>
          </a:xfrm>
          <a:custGeom>
            <a:rect b="b" l="l" r="r" t="t"/>
            <a:pathLst>
              <a:path extrusionOk="0" h="18401" w="7717">
                <a:moveTo>
                  <a:pt x="0" y="18401"/>
                </a:moveTo>
                <a:cubicBezTo>
                  <a:pt x="1281" y="15691"/>
                  <a:pt x="7440" y="5198"/>
                  <a:pt x="7686" y="2143"/>
                </a:cubicBezTo>
                <a:cubicBezTo>
                  <a:pt x="7932" y="-911"/>
                  <a:pt x="2513" y="419"/>
                  <a:pt x="1478" y="74"/>
                </a:cubicBezTo>
              </a:path>
            </a:pathLst>
          </a:custGeom>
          <a:noFill/>
          <a:ln cap="flat" cmpd="sng" w="19050">
            <a:solidFill>
              <a:srgbClr val="FF0000"/>
            </a:solidFill>
            <a:prstDash val="solid"/>
            <a:round/>
            <a:headEnd len="med" w="med" type="none"/>
            <a:tailEnd len="med" w="med" type="triangle"/>
          </a:ln>
        </p:spPr>
      </p:sp>
      <p:sp>
        <p:nvSpPr>
          <p:cNvPr id="797" name="Google Shape;797;p75"/>
          <p:cNvSpPr/>
          <p:nvPr/>
        </p:nvSpPr>
        <p:spPr>
          <a:xfrm>
            <a:off x="7707850" y="3369875"/>
            <a:ext cx="981775" cy="672500"/>
          </a:xfrm>
          <a:custGeom>
            <a:rect b="b" l="l" r="r" t="t"/>
            <a:pathLst>
              <a:path extrusionOk="0" h="26900" w="39271">
                <a:moveTo>
                  <a:pt x="22466" y="26900"/>
                </a:moveTo>
                <a:cubicBezTo>
                  <a:pt x="25176" y="23156"/>
                  <a:pt x="42468" y="8917"/>
                  <a:pt x="38724" y="4434"/>
                </a:cubicBezTo>
                <a:cubicBezTo>
                  <a:pt x="34980" y="-49"/>
                  <a:pt x="6454" y="739"/>
                  <a:pt x="0" y="0"/>
                </a:cubicBezTo>
              </a:path>
            </a:pathLst>
          </a:custGeom>
          <a:noFill/>
          <a:ln cap="flat" cmpd="sng" w="19050">
            <a:solidFill>
              <a:srgbClr val="FF0000"/>
            </a:solidFill>
            <a:prstDash val="solid"/>
            <a:round/>
            <a:headEnd len="med" w="med" type="none"/>
            <a:tailEnd len="med" w="med" type="triangle"/>
          </a:ln>
        </p:spPr>
      </p:sp>
      <p:sp>
        <p:nvSpPr>
          <p:cNvPr id="798" name="Google Shape;798;p75"/>
          <p:cNvSpPr/>
          <p:nvPr/>
        </p:nvSpPr>
        <p:spPr>
          <a:xfrm>
            <a:off x="8372975" y="3096450"/>
            <a:ext cx="588875" cy="975475"/>
          </a:xfrm>
          <a:custGeom>
            <a:rect b="b" l="l" r="r" t="t"/>
            <a:pathLst>
              <a:path extrusionOk="0" h="39019" w="23555">
                <a:moveTo>
                  <a:pt x="0" y="39019"/>
                </a:moveTo>
                <a:cubicBezTo>
                  <a:pt x="3892" y="34290"/>
                  <a:pt x="21726" y="17145"/>
                  <a:pt x="23352" y="10642"/>
                </a:cubicBezTo>
                <a:cubicBezTo>
                  <a:pt x="24978" y="4139"/>
                  <a:pt x="12021" y="1774"/>
                  <a:pt x="9755" y="0"/>
                </a:cubicBezTo>
              </a:path>
            </a:pathLst>
          </a:custGeom>
          <a:noFill/>
          <a:ln cap="flat" cmpd="sng" w="19050">
            <a:solidFill>
              <a:srgbClr val="FF0000"/>
            </a:solidFill>
            <a:prstDash val="solid"/>
            <a:round/>
            <a:headEnd len="med" w="med" type="none"/>
            <a:tailEnd len="med" w="med" type="triangle"/>
          </a:ln>
        </p:spPr>
      </p:sp>
      <p:sp>
        <p:nvSpPr>
          <p:cNvPr id="799" name="Google Shape;799;p75"/>
          <p:cNvSpPr txBox="1"/>
          <p:nvPr>
            <p:ph idx="3" type="body"/>
          </p:nvPr>
        </p:nvSpPr>
        <p:spPr>
          <a:xfrm>
            <a:off x="5144184" y="3923350"/>
            <a:ext cx="3706500" cy="702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Once created, a file object can be used to get information about the file including its </a:t>
            </a:r>
            <a:r>
              <a:rPr b="1" i="1" lang="en" sz="1200">
                <a:solidFill>
                  <a:srgbClr val="FF0000"/>
                </a:solidFill>
              </a:rPr>
              <a:t>absolute path</a:t>
            </a:r>
            <a:r>
              <a:rPr lang="en" sz="1200"/>
              <a:t>, </a:t>
            </a:r>
            <a:r>
              <a:rPr b="1" i="1" lang="en" sz="1200">
                <a:solidFill>
                  <a:srgbClr val="FF0000"/>
                </a:solidFill>
              </a:rPr>
              <a:t>length</a:t>
            </a:r>
            <a:r>
              <a:rPr lang="en" sz="1200"/>
              <a:t>, and whether or not it is a </a:t>
            </a:r>
            <a:r>
              <a:rPr b="1" i="1" lang="en" sz="1200">
                <a:solidFill>
                  <a:srgbClr val="FF0000"/>
                </a:solidFill>
              </a:rPr>
              <a:t>directory</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1000"/>
                                        <p:tgtEl>
                                          <p:spTgt spid="795"/>
                                        </p:tgtEl>
                                      </p:cBhvr>
                                    </p:animEffect>
                                  </p:childTnLst>
                                </p:cTn>
                              </p:par>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10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1000"/>
                                        <p:tgtEl>
                                          <p:spTgt spid="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1000"/>
                                        <p:tgtEl>
                                          <p:spTgt spid="7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1000"/>
                                        <p:tgtEl>
                                          <p:spTgt spid="7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1000"/>
                                        <p:tgtEl>
                                          <p:spTgt spid="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7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In Java, </a:t>
            </a:r>
            <a:r>
              <a:rPr lang="en">
                <a:latin typeface="Courier New"/>
                <a:ea typeface="Courier New"/>
                <a:cs typeface="Courier New"/>
                <a:sym typeface="Courier New"/>
              </a:rPr>
              <a:t>File</a:t>
            </a:r>
            <a:r>
              <a:rPr lang="en"/>
              <a:t> objects can be used to get lots of different information about files and directories. Try it out now by implementing a method that uses a </a:t>
            </a:r>
            <a:r>
              <a:rPr lang="en">
                <a:latin typeface="Courier New"/>
                <a:ea typeface="Courier New"/>
                <a:cs typeface="Courier New"/>
                <a:sym typeface="Courier New"/>
              </a:rPr>
              <a:t>File</a:t>
            </a:r>
            <a:r>
              <a:rPr lang="en"/>
              <a:t> object to print detailed information about any file.</a:t>
            </a:r>
            <a:endParaRPr/>
          </a:p>
        </p:txBody>
      </p:sp>
      <p:sp>
        <p:nvSpPr>
          <p:cNvPr id="805" name="Google Shape;805;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6" name="Google Shape;806;p76"/>
          <p:cNvSpPr txBox="1"/>
          <p:nvPr>
            <p:ph idx="2" type="body"/>
          </p:nvPr>
        </p:nvSpPr>
        <p:spPr>
          <a:xfrm>
            <a:off x="3810825" y="1747675"/>
            <a:ext cx="5122800" cy="31263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Files</a:t>
            </a:r>
            <a:r>
              <a:rPr lang="en" sz="1400"/>
              <a:t>" and define a method named "</a:t>
            </a:r>
            <a:r>
              <a:rPr lang="en" sz="1400">
                <a:solidFill>
                  <a:srgbClr val="FF0000"/>
                </a:solidFill>
                <a:latin typeface="Courier New"/>
                <a:ea typeface="Courier New"/>
                <a:cs typeface="Courier New"/>
                <a:sym typeface="Courier New"/>
              </a:rPr>
              <a:t>info</a:t>
            </a:r>
            <a:r>
              <a:rPr lang="en" sz="1400"/>
              <a:t>" that declares a parameter for a </a:t>
            </a:r>
            <a:r>
              <a:rPr lang="en" sz="1400">
                <a:solidFill>
                  <a:srgbClr val="FF0000"/>
                </a:solidFill>
                <a:latin typeface="Courier New"/>
                <a:ea typeface="Courier New"/>
                <a:cs typeface="Courier New"/>
                <a:sym typeface="Courier New"/>
              </a:rPr>
              <a:t>filename</a:t>
            </a:r>
            <a:r>
              <a:rPr lang="en" sz="1400"/>
              <a:t>.</a:t>
            </a:r>
            <a:endParaRPr sz="1400"/>
          </a:p>
          <a:p>
            <a:pPr indent="-304800" lvl="1" marL="914400" rtl="0" algn="l">
              <a:spcBef>
                <a:spcPts val="0"/>
              </a:spcBef>
              <a:spcAft>
                <a:spcPts val="0"/>
              </a:spcAft>
              <a:buSzPts val="1200"/>
              <a:buChar char="○"/>
            </a:pPr>
            <a:r>
              <a:rPr lang="en" sz="1200"/>
              <a:t>Create a </a:t>
            </a:r>
            <a:r>
              <a:rPr lang="en" sz="1200">
                <a:solidFill>
                  <a:srgbClr val="FF0000"/>
                </a:solidFill>
                <a:latin typeface="Courier New"/>
                <a:ea typeface="Courier New"/>
                <a:cs typeface="Courier New"/>
                <a:sym typeface="Courier New"/>
              </a:rPr>
              <a:t>File</a:t>
            </a:r>
            <a:r>
              <a:rPr lang="en" sz="1200">
                <a:solidFill>
                  <a:srgbClr val="FF0000"/>
                </a:solidFill>
              </a:rPr>
              <a:t> </a:t>
            </a:r>
            <a:r>
              <a:rPr lang="en" sz="1200"/>
              <a:t>using the </a:t>
            </a:r>
            <a:r>
              <a:rPr lang="en" sz="1200">
                <a:latin typeface="Courier New"/>
                <a:ea typeface="Courier New"/>
                <a:cs typeface="Courier New"/>
                <a:sym typeface="Courier New"/>
              </a:rPr>
              <a:t>filename</a:t>
            </a:r>
            <a:r>
              <a:rPr lang="en" sz="1200"/>
              <a:t>* and print the following:</a:t>
            </a:r>
            <a:endParaRPr sz="1200"/>
          </a:p>
          <a:p>
            <a:pPr indent="-304800" lvl="2" marL="1371600" rtl="0" algn="l">
              <a:spcBef>
                <a:spcPts val="0"/>
              </a:spcBef>
              <a:spcAft>
                <a:spcPts val="0"/>
              </a:spcAft>
              <a:buSzPts val="1200"/>
              <a:buChar char="■"/>
            </a:pPr>
            <a:r>
              <a:rPr lang="en" sz="1200"/>
              <a:t>The </a:t>
            </a:r>
            <a:r>
              <a:rPr b="1" i="1" lang="en" sz="1200">
                <a:solidFill>
                  <a:srgbClr val="FF0000"/>
                </a:solidFill>
              </a:rPr>
              <a:t>name </a:t>
            </a:r>
            <a:r>
              <a:rPr lang="en" sz="1200"/>
              <a:t>of the file.</a:t>
            </a:r>
            <a:endParaRPr sz="1200"/>
          </a:p>
          <a:p>
            <a:pPr indent="-304800" lvl="2" marL="1371600" rtl="0" algn="l">
              <a:spcBef>
                <a:spcPts val="0"/>
              </a:spcBef>
              <a:spcAft>
                <a:spcPts val="0"/>
              </a:spcAft>
              <a:buSzPts val="1200"/>
              <a:buChar char="■"/>
            </a:pPr>
            <a:r>
              <a:rPr lang="en" sz="1200"/>
              <a:t>The </a:t>
            </a:r>
            <a:r>
              <a:rPr b="1" i="1" lang="en" sz="1200">
                <a:solidFill>
                  <a:srgbClr val="FF0000"/>
                </a:solidFill>
              </a:rPr>
              <a:t>absolute path</a:t>
            </a:r>
            <a:r>
              <a:rPr lang="en" sz="1200"/>
              <a:t> to the file.</a:t>
            </a:r>
            <a:endParaRPr sz="1200"/>
          </a:p>
          <a:p>
            <a:pPr indent="-304800" lvl="2" marL="1371600" rtl="0" algn="l">
              <a:spcBef>
                <a:spcPts val="0"/>
              </a:spcBef>
              <a:spcAft>
                <a:spcPts val="0"/>
              </a:spcAft>
              <a:buSzPts val="1200"/>
              <a:buChar char="■"/>
            </a:pPr>
            <a:r>
              <a:rPr lang="en" sz="1200"/>
              <a:t>Whether or not the file </a:t>
            </a:r>
            <a:r>
              <a:rPr b="1" i="1" lang="en" sz="1200">
                <a:solidFill>
                  <a:srgbClr val="FF0000"/>
                </a:solidFill>
              </a:rPr>
              <a:t>exists</a:t>
            </a:r>
            <a:r>
              <a:rPr lang="en" sz="1200"/>
              <a:t>.</a:t>
            </a:r>
            <a:endParaRPr sz="1200"/>
          </a:p>
          <a:p>
            <a:pPr indent="-304800" lvl="2" marL="1371600" rtl="0" algn="l">
              <a:spcBef>
                <a:spcPts val="0"/>
              </a:spcBef>
              <a:spcAft>
                <a:spcPts val="0"/>
              </a:spcAft>
              <a:buSzPts val="1200"/>
              <a:buChar char="■"/>
            </a:pPr>
            <a:r>
              <a:rPr lang="en" sz="1200"/>
              <a:t>If the file exists, print its </a:t>
            </a:r>
            <a:r>
              <a:rPr b="1" i="1" lang="en" sz="1200">
                <a:solidFill>
                  <a:srgbClr val="FF0000"/>
                </a:solidFill>
              </a:rPr>
              <a:t>length </a:t>
            </a:r>
            <a:r>
              <a:rPr lang="en" sz="1200"/>
              <a:t>in bytes.</a:t>
            </a:r>
            <a:endParaRPr sz="1200"/>
          </a:p>
          <a:p>
            <a:pPr indent="-317500" lvl="0" marL="457200" rtl="0" algn="l">
              <a:spcBef>
                <a:spcPts val="0"/>
              </a:spcBef>
              <a:spcAft>
                <a:spcPts val="0"/>
              </a:spcAft>
              <a:buSzPts val="1400"/>
              <a:buChar char="●"/>
            </a:pPr>
            <a:r>
              <a:rPr lang="en" sz="1400"/>
              <a:t>Call your function from </a:t>
            </a:r>
            <a:r>
              <a:rPr lang="en" sz="1400">
                <a:latin typeface="Courier New"/>
                <a:ea typeface="Courier New"/>
                <a:cs typeface="Courier New"/>
                <a:sym typeface="Courier New"/>
              </a:rPr>
              <a:t>main</a:t>
            </a:r>
            <a:r>
              <a:rPr lang="en" sz="1400"/>
              <a:t> with several different filenames.</a:t>
            </a:r>
            <a:endParaRPr sz="1400"/>
          </a:p>
          <a:p>
            <a:pPr indent="-304800" lvl="1" marL="914400" rtl="0" algn="l">
              <a:spcBef>
                <a:spcPts val="0"/>
              </a:spcBef>
              <a:spcAft>
                <a:spcPts val="0"/>
              </a:spcAft>
              <a:buSzPts val="1200"/>
              <a:buChar char="○"/>
            </a:pPr>
            <a:r>
              <a:rPr b="1" i="1" lang="en" sz="1200">
                <a:solidFill>
                  <a:srgbClr val="FF0000"/>
                </a:solidFill>
              </a:rPr>
              <a:t>Hint</a:t>
            </a:r>
            <a:r>
              <a:rPr lang="en" sz="1200"/>
              <a:t>: use the names of files in your repository.</a:t>
            </a:r>
            <a:endParaRPr sz="1200"/>
          </a:p>
          <a:p>
            <a:pPr indent="-317500" lvl="0" marL="457200" rtl="0" algn="l">
              <a:spcBef>
                <a:spcPts val="0"/>
              </a:spcBef>
              <a:spcAft>
                <a:spcPts val="0"/>
              </a:spcAft>
              <a:buSzPts val="1400"/>
              <a:buChar char="●"/>
            </a:pPr>
            <a:r>
              <a:rPr lang="en" sz="1400"/>
              <a:t>Run the class.</a:t>
            </a:r>
            <a:endParaRPr sz="1400"/>
          </a:p>
        </p:txBody>
      </p:sp>
      <p:sp>
        <p:nvSpPr>
          <p:cNvPr id="807" name="Google Shape;807;p7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Getting File Info</a:t>
            </a:r>
            <a:endParaRPr/>
          </a:p>
        </p:txBody>
      </p:sp>
      <p:sp>
        <p:nvSpPr>
          <p:cNvPr id="808" name="Google Shape;808;p7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4.15</a:t>
            </a:r>
            <a:endParaRPr/>
          </a:p>
        </p:txBody>
      </p:sp>
      <p:sp>
        <p:nvSpPr>
          <p:cNvPr id="809" name="Google Shape;809;p76"/>
          <p:cNvSpPr txBox="1"/>
          <p:nvPr/>
        </p:nvSpPr>
        <p:spPr>
          <a:xfrm>
            <a:off x="112375" y="2502800"/>
            <a:ext cx="3563700" cy="8994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267F99"/>
                </a:solidFill>
                <a:latin typeface="Consolas"/>
                <a:ea typeface="Consolas"/>
                <a:cs typeface="Consolas"/>
                <a:sym typeface="Consolas"/>
              </a:rPr>
              <a:t>File</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 = </a:t>
            </a:r>
            <a:r>
              <a:rPr lang="en" sz="1250">
                <a:solidFill>
                  <a:srgbClr val="AF00DB"/>
                </a:solidFill>
                <a:latin typeface="Consolas"/>
                <a:ea typeface="Consolas"/>
                <a:cs typeface="Consolas"/>
                <a:sym typeface="Consolas"/>
              </a:rPr>
              <a:t>new</a:t>
            </a:r>
            <a:r>
              <a:rPr lang="en" sz="1250">
                <a:latin typeface="Consolas"/>
                <a:ea typeface="Consolas"/>
                <a:cs typeface="Consolas"/>
                <a:sym typeface="Consolas"/>
              </a:rPr>
              <a:t> </a:t>
            </a:r>
            <a:r>
              <a:rPr lang="en" sz="1250">
                <a:solidFill>
                  <a:srgbClr val="795E26"/>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A31515"/>
                </a:solidFill>
                <a:latin typeface="Consolas"/>
                <a:ea typeface="Consolas"/>
                <a:cs typeface="Consolas"/>
                <a:sym typeface="Consolas"/>
              </a:rPr>
              <a:t>"some_file.txt"</a:t>
            </a:r>
            <a:r>
              <a:rPr lang="en" sz="1250">
                <a:latin typeface="Consolas"/>
                <a:ea typeface="Consolas"/>
                <a:cs typeface="Consolas"/>
                <a:sym typeface="Consolas"/>
              </a:rPr>
              <a:t>);</a:t>
            </a:r>
            <a:endParaRPr sz="1250">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267F99"/>
                </a:solidFill>
                <a:latin typeface="Consolas"/>
                <a:ea typeface="Consolas"/>
                <a:cs typeface="Consolas"/>
                <a:sym typeface="Consolas"/>
              </a:rPr>
              <a:t>String</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name</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getName</a:t>
            </a:r>
            <a:r>
              <a:rPr lang="en" sz="1250">
                <a:latin typeface="Consolas"/>
                <a:ea typeface="Consolas"/>
                <a:cs typeface="Consolas"/>
                <a:sym typeface="Consolas"/>
              </a:rPr>
              <a:t>();</a:t>
            </a:r>
            <a:endParaRPr sz="1250">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267F99"/>
                </a:solidFill>
                <a:latin typeface="Consolas"/>
                <a:ea typeface="Consolas"/>
                <a:cs typeface="Consolas"/>
                <a:sym typeface="Consolas"/>
              </a:rPr>
              <a:t>boolean</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exists</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exists</a:t>
            </a:r>
            <a:r>
              <a:rPr lang="en" sz="1250">
                <a:latin typeface="Consolas"/>
                <a:ea typeface="Consolas"/>
                <a:cs typeface="Consolas"/>
                <a:sym typeface="Consolas"/>
              </a:rPr>
              <a:t>();</a:t>
            </a:r>
            <a:endParaRPr sz="1250">
              <a:solidFill>
                <a:srgbClr val="569CD6"/>
              </a:solidFill>
              <a:latin typeface="Consolas"/>
              <a:ea typeface="Consolas"/>
              <a:cs typeface="Consolas"/>
              <a:sym typeface="Consolas"/>
            </a:endParaRPr>
          </a:p>
        </p:txBody>
      </p:sp>
      <p:sp>
        <p:nvSpPr>
          <p:cNvPr id="810" name="Google Shape;810;p76"/>
          <p:cNvSpPr txBox="1"/>
          <p:nvPr/>
        </p:nvSpPr>
        <p:spPr>
          <a:xfrm>
            <a:off x="112375" y="3557925"/>
            <a:ext cx="3563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Once you have created a file object, you can call methods on it to get information about the file.</a:t>
            </a:r>
            <a:endParaRPr sz="1100"/>
          </a:p>
        </p:txBody>
      </p:sp>
      <p:sp>
        <p:nvSpPr>
          <p:cNvPr id="811" name="Google Shape;811;p76"/>
          <p:cNvSpPr txBox="1"/>
          <p:nvPr/>
        </p:nvSpPr>
        <p:spPr>
          <a:xfrm>
            <a:off x="112375" y="1823875"/>
            <a:ext cx="3563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A </a:t>
            </a:r>
            <a:r>
              <a:rPr lang="en" sz="1100">
                <a:latin typeface="Courier New"/>
                <a:ea typeface="Courier New"/>
                <a:cs typeface="Courier New"/>
                <a:sym typeface="Courier New"/>
              </a:rPr>
              <a:t>File</a:t>
            </a:r>
            <a:r>
              <a:rPr lang="en" sz="1100"/>
              <a:t> object is created with string specifying a filename or a path to a file.</a:t>
            </a:r>
            <a:endParaRPr sz="1100"/>
          </a:p>
        </p:txBody>
      </p:sp>
      <p:sp>
        <p:nvSpPr>
          <p:cNvPr id="812" name="Google Shape;812;p76"/>
          <p:cNvSpPr txBox="1"/>
          <p:nvPr/>
        </p:nvSpPr>
        <p:spPr>
          <a:xfrm>
            <a:off x="112375" y="4236850"/>
            <a:ext cx="3563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Try using VSCode's autocomplete feature to see which methods are available.</a:t>
            </a:r>
            <a:endParaRPr sz="1100"/>
          </a:p>
        </p:txBody>
      </p:sp>
      <p:sp>
        <p:nvSpPr>
          <p:cNvPr id="813" name="Google Shape;813;p76"/>
          <p:cNvSpPr txBox="1"/>
          <p:nvPr/>
        </p:nvSpPr>
        <p:spPr>
          <a:xfrm>
            <a:off x="4528300" y="4760050"/>
            <a:ext cx="4120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Roboto"/>
                <a:ea typeface="Roboto"/>
                <a:cs typeface="Roboto"/>
                <a:sym typeface="Roboto"/>
              </a:rPr>
              <a:t>* On macOS you may need to use the absolute path to the file.</a:t>
            </a:r>
            <a:endParaRPr sz="8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9" name="Google Shape;819;p77"/>
          <p:cNvSpPr txBox="1"/>
          <p:nvPr>
            <p:ph type="title"/>
          </p:nvPr>
        </p:nvSpPr>
        <p:spPr>
          <a:xfrm>
            <a:off x="5188525" y="6589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Reading Text Files</a:t>
            </a:r>
            <a:endParaRPr/>
          </a:p>
        </p:txBody>
      </p:sp>
      <p:sp>
        <p:nvSpPr>
          <p:cNvPr id="820" name="Google Shape;820;p77"/>
          <p:cNvSpPr txBox="1"/>
          <p:nvPr>
            <p:ph idx="1" type="body"/>
          </p:nvPr>
        </p:nvSpPr>
        <p:spPr>
          <a:xfrm>
            <a:off x="237050" y="183150"/>
            <a:ext cx="4469700" cy="4934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 </a:t>
            </a:r>
            <a:r>
              <a:rPr lang="en" u="sng">
                <a:solidFill>
                  <a:srgbClr val="FF0000"/>
                </a:solidFill>
                <a:latin typeface="Courier New"/>
                <a:ea typeface="Courier New"/>
                <a:cs typeface="Courier New"/>
                <a:sym typeface="Courier New"/>
                <a:hlinkClick r:id="rId3">
                  <a:extLst>
                    <a:ext uri="{A12FA001-AC4F-418D-AE19-62706E023703}">
                      <ahyp:hlinkClr val="tx"/>
                    </a:ext>
                  </a:extLst>
                </a:hlinkClick>
              </a:rPr>
              <a:t>java.io.FileReader</a:t>
            </a:r>
            <a:r>
              <a:rPr lang="en"/>
              <a:t> can be used to read </a:t>
            </a:r>
            <a:r>
              <a:rPr b="1" i="1" lang="en">
                <a:solidFill>
                  <a:srgbClr val="FF0000"/>
                </a:solidFill>
              </a:rPr>
              <a:t>character data</a:t>
            </a:r>
            <a:r>
              <a:rPr lang="en">
                <a:solidFill>
                  <a:srgbClr val="FF0000"/>
                </a:solidFill>
              </a:rPr>
              <a:t> </a:t>
            </a:r>
            <a:r>
              <a:rPr lang="en"/>
              <a:t>(</a:t>
            </a:r>
            <a:r>
              <a:rPr b="1" i="1" lang="en">
                <a:solidFill>
                  <a:srgbClr val="FF0000"/>
                </a:solidFill>
              </a:rPr>
              <a:t>text</a:t>
            </a:r>
            <a:r>
              <a:rPr lang="en"/>
              <a:t>) from a file.</a:t>
            </a:r>
            <a:endParaRPr/>
          </a:p>
          <a:p>
            <a:pPr indent="-298450" lvl="1" marL="914400" rtl="0" algn="l">
              <a:spcBef>
                <a:spcPts val="0"/>
              </a:spcBef>
              <a:spcAft>
                <a:spcPts val="0"/>
              </a:spcAft>
              <a:buSzPts val="1100"/>
              <a:buChar char="○"/>
            </a:pPr>
            <a:r>
              <a:rPr lang="en"/>
              <a:t>A </a:t>
            </a:r>
            <a:r>
              <a:rPr lang="en">
                <a:latin typeface="Courier New"/>
                <a:ea typeface="Courier New"/>
                <a:cs typeface="Courier New"/>
                <a:sym typeface="Courier New"/>
              </a:rPr>
              <a:t>FileReader</a:t>
            </a:r>
            <a:r>
              <a:rPr lang="en"/>
              <a:t> can be created by passing an </a:t>
            </a:r>
            <a:r>
              <a:rPr b="1" i="1" lang="en">
                <a:solidFill>
                  <a:srgbClr val="FF0000"/>
                </a:solidFill>
              </a:rPr>
              <a:t>absolute</a:t>
            </a:r>
            <a:r>
              <a:rPr lang="en">
                <a:solidFill>
                  <a:srgbClr val="FF0000"/>
                </a:solidFill>
              </a:rPr>
              <a:t> </a:t>
            </a:r>
            <a:r>
              <a:rPr lang="en"/>
              <a:t>or </a:t>
            </a:r>
            <a:r>
              <a:rPr b="1" i="1" lang="en">
                <a:solidFill>
                  <a:srgbClr val="FF0000"/>
                </a:solidFill>
              </a:rPr>
              <a:t>relative path</a:t>
            </a:r>
            <a:r>
              <a:rPr lang="en"/>
              <a:t> into its </a:t>
            </a:r>
            <a:r>
              <a:rPr b="1" i="1" lang="en">
                <a:solidFill>
                  <a:srgbClr val="FF0000"/>
                </a:solidFill>
              </a:rPr>
              <a:t>constructor</a:t>
            </a:r>
            <a:r>
              <a:rPr lang="en"/>
              <a:t>.</a:t>
            </a:r>
            <a:endParaRPr/>
          </a:p>
          <a:p>
            <a:pPr indent="-298450" lvl="1" marL="914400" rtl="0" algn="l">
              <a:spcBef>
                <a:spcPts val="0"/>
              </a:spcBef>
              <a:spcAft>
                <a:spcPts val="0"/>
              </a:spcAft>
              <a:buSzPts val="1100"/>
              <a:buChar char="○"/>
            </a:pPr>
            <a:r>
              <a:rPr lang="en"/>
              <a:t>e.g. </a:t>
            </a:r>
            <a:r>
              <a:rPr lang="en" sz="1100">
                <a:solidFill>
                  <a:srgbClr val="FF0000"/>
                </a:solidFill>
                <a:latin typeface="Courier New"/>
                <a:ea typeface="Courier New"/>
                <a:cs typeface="Courier New"/>
                <a:sym typeface="Courier New"/>
              </a:rPr>
              <a:t>new</a:t>
            </a:r>
            <a:r>
              <a:rPr lang="en" sz="1100">
                <a:solidFill>
                  <a:srgbClr val="FF0000"/>
                </a:solidFill>
              </a:rPr>
              <a:t> </a:t>
            </a:r>
            <a:r>
              <a:rPr lang="en" sz="1100">
                <a:solidFill>
                  <a:srgbClr val="FF0000"/>
                </a:solidFill>
                <a:latin typeface="Courier New"/>
                <a:ea typeface="Courier New"/>
                <a:cs typeface="Courier New"/>
                <a:sym typeface="Courier New"/>
              </a:rPr>
              <a:t>FileReader("a_file.txt")</a:t>
            </a:r>
            <a:endParaRPr sz="1100">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lang="en"/>
              <a:t>Once created, a </a:t>
            </a:r>
            <a:r>
              <a:rPr lang="en">
                <a:latin typeface="Courier New"/>
                <a:ea typeface="Courier New"/>
                <a:cs typeface="Courier New"/>
                <a:sym typeface="Courier New"/>
              </a:rPr>
              <a:t>FileReader</a:t>
            </a:r>
            <a:r>
              <a:rPr lang="en"/>
              <a:t> provides several methods for reading text.</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read()</a:t>
            </a:r>
            <a:r>
              <a:rPr lang="en"/>
              <a:t> - returns the next character of data.</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read(char[] buffer)</a:t>
            </a:r>
            <a:r>
              <a:rPr lang="en"/>
              <a:t> - reads up to </a:t>
            </a:r>
            <a:r>
              <a:rPr lang="en">
                <a:solidFill>
                  <a:srgbClr val="FF0000"/>
                </a:solidFill>
                <a:latin typeface="Courier New"/>
                <a:ea typeface="Courier New"/>
                <a:cs typeface="Courier New"/>
                <a:sym typeface="Courier New"/>
              </a:rPr>
              <a:t>buffer.length</a:t>
            </a:r>
            <a:r>
              <a:rPr lang="en"/>
              <a:t> characters into the given buffer.</a:t>
            </a:r>
            <a:endParaRPr/>
          </a:p>
          <a:p>
            <a:pPr indent="-311150" lvl="0" marL="457200" rtl="0" algn="l">
              <a:spcBef>
                <a:spcPts val="0"/>
              </a:spcBef>
              <a:spcAft>
                <a:spcPts val="0"/>
              </a:spcAft>
              <a:buSzPts val="1300"/>
              <a:buChar char="●"/>
            </a:pPr>
            <a:r>
              <a:rPr lang="en"/>
              <a:t>A </a:t>
            </a:r>
            <a:r>
              <a:rPr lang="en">
                <a:latin typeface="Courier New"/>
                <a:ea typeface="Courier New"/>
                <a:cs typeface="Courier New"/>
                <a:sym typeface="Courier New"/>
              </a:rPr>
              <a:t>FileReader</a:t>
            </a:r>
            <a:r>
              <a:rPr lang="en"/>
              <a:t> is a little hard to use because it only supports reading characters.</a:t>
            </a:r>
            <a:endParaRPr/>
          </a:p>
          <a:p>
            <a:pPr indent="-311150" lvl="0" marL="457200" rtl="0" algn="l">
              <a:spcBef>
                <a:spcPts val="0"/>
              </a:spcBef>
              <a:spcAft>
                <a:spcPts val="0"/>
              </a:spcAft>
              <a:buSzPts val="1300"/>
              <a:buChar char="●"/>
            </a:pPr>
            <a:r>
              <a:rPr lang="en"/>
              <a:t>A </a:t>
            </a:r>
            <a:r>
              <a:rPr lang="en" u="sng">
                <a:solidFill>
                  <a:srgbClr val="FF0000"/>
                </a:solidFill>
                <a:latin typeface="Courier New"/>
                <a:ea typeface="Courier New"/>
                <a:cs typeface="Courier New"/>
                <a:sym typeface="Courier New"/>
                <a:hlinkClick r:id="rId4">
                  <a:extLst>
                    <a:ext uri="{A12FA001-AC4F-418D-AE19-62706E023703}">
                      <ahyp:hlinkClr val="tx"/>
                    </a:ext>
                  </a:extLst>
                </a:hlinkClick>
              </a:rPr>
              <a:t>java.</a:t>
            </a:r>
            <a:r>
              <a:rPr lang="en" u="sng">
                <a:solidFill>
                  <a:srgbClr val="FF0000"/>
                </a:solidFill>
                <a:latin typeface="Courier New"/>
                <a:ea typeface="Courier New"/>
                <a:cs typeface="Courier New"/>
                <a:sym typeface="Courier New"/>
                <a:hlinkClick r:id="rId5">
                  <a:extLst>
                    <a:ext uri="{A12FA001-AC4F-418D-AE19-62706E023703}">
                      <ahyp:hlinkClr val="tx"/>
                    </a:ext>
                  </a:extLst>
                </a:hlinkClick>
              </a:rPr>
              <a:t>io.BufferedReader</a:t>
            </a:r>
            <a:r>
              <a:rPr lang="en"/>
              <a:t> can be constructed with a </a:t>
            </a:r>
            <a:r>
              <a:rPr lang="en">
                <a:latin typeface="Courier New"/>
                <a:ea typeface="Courier New"/>
                <a:cs typeface="Courier New"/>
                <a:sym typeface="Courier New"/>
              </a:rPr>
              <a:t>FileReader</a:t>
            </a:r>
            <a:r>
              <a:rPr lang="en"/>
              <a:t> and its </a:t>
            </a:r>
            <a:r>
              <a:rPr lang="en">
                <a:solidFill>
                  <a:srgbClr val="FF0000"/>
                </a:solidFill>
                <a:latin typeface="Courier New"/>
                <a:ea typeface="Courier New"/>
                <a:cs typeface="Courier New"/>
                <a:sym typeface="Courier New"/>
              </a:rPr>
              <a:t>read</a:t>
            </a:r>
            <a:r>
              <a:rPr lang="en">
                <a:solidFill>
                  <a:srgbClr val="FF0000"/>
                </a:solidFill>
                <a:latin typeface="Courier New"/>
                <a:ea typeface="Courier New"/>
                <a:cs typeface="Courier New"/>
                <a:sym typeface="Courier New"/>
              </a:rPr>
              <a:t>Line()</a:t>
            </a:r>
            <a:r>
              <a:rPr lang="en"/>
              <a:t> method will read and return one line as a </a:t>
            </a:r>
            <a:r>
              <a:rPr lang="en">
                <a:latin typeface="Courier New"/>
                <a:ea typeface="Courier New"/>
                <a:cs typeface="Courier New"/>
                <a:sym typeface="Courier New"/>
              </a:rPr>
              <a:t>String</a:t>
            </a:r>
            <a:r>
              <a:rPr lang="en"/>
              <a:t>.</a:t>
            </a:r>
            <a:endParaRPr/>
          </a:p>
          <a:p>
            <a:pPr indent="-298450" lvl="1" marL="914400" rtl="0" algn="l">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String s = buffReader.readLine();</a:t>
            </a:r>
            <a:endParaRPr/>
          </a:p>
          <a:p>
            <a:pPr indent="-311150" lvl="0" marL="457200" rtl="0" algn="l">
              <a:spcBef>
                <a:spcPts val="0"/>
              </a:spcBef>
              <a:spcAft>
                <a:spcPts val="0"/>
              </a:spcAft>
              <a:buSzPts val="1300"/>
              <a:buChar char="●"/>
            </a:pPr>
            <a:r>
              <a:rPr lang="en"/>
              <a:t>Even better, the </a:t>
            </a:r>
            <a:r>
              <a:rPr lang="en">
                <a:solidFill>
                  <a:srgbClr val="FF0000"/>
                </a:solidFill>
                <a:latin typeface="Courier New"/>
                <a:ea typeface="Courier New"/>
                <a:cs typeface="Courier New"/>
                <a:sym typeface="Courier New"/>
              </a:rPr>
              <a:t>lines()</a:t>
            </a:r>
            <a:r>
              <a:rPr lang="en"/>
              <a:t> method of the </a:t>
            </a:r>
            <a:r>
              <a:rPr lang="en">
                <a:latin typeface="Courier New"/>
                <a:ea typeface="Courier New"/>
                <a:cs typeface="Courier New"/>
                <a:sym typeface="Courier New"/>
              </a:rPr>
              <a:t>BufferedReader</a:t>
            </a:r>
            <a:r>
              <a:rPr lang="en"/>
              <a:t> returns a s</a:t>
            </a:r>
            <a:r>
              <a:rPr lang="en"/>
              <a:t>tring</a:t>
            </a:r>
            <a:r>
              <a:rPr lang="en"/>
              <a:t> </a:t>
            </a:r>
            <a:r>
              <a:rPr lang="en">
                <a:latin typeface="Courier New"/>
                <a:ea typeface="Courier New"/>
                <a:cs typeface="Courier New"/>
                <a:sym typeface="Courier New"/>
              </a:rPr>
              <a:t>Stream</a:t>
            </a:r>
            <a:r>
              <a:rPr lang="en"/>
              <a:t> allowing the file to be used as a </a:t>
            </a:r>
            <a:r>
              <a:rPr lang="en">
                <a:latin typeface="Courier New"/>
                <a:ea typeface="Courier New"/>
                <a:cs typeface="Courier New"/>
                <a:sym typeface="Courier New"/>
              </a:rPr>
              <a:t>Stream</a:t>
            </a:r>
            <a:r>
              <a:rPr lang="en"/>
              <a:t>.</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Stream&lt;String&gt; s = buffReader.lines();</a:t>
            </a:r>
            <a:endParaRPr>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lang="en"/>
              <a:t>The </a:t>
            </a:r>
            <a:r>
              <a:rPr lang="en">
                <a:latin typeface="Courier New"/>
                <a:ea typeface="Courier New"/>
                <a:cs typeface="Courier New"/>
                <a:sym typeface="Courier New"/>
              </a:rPr>
              <a:t>BufferedReader</a:t>
            </a:r>
            <a:r>
              <a:rPr lang="en"/>
              <a:t> should be </a:t>
            </a:r>
            <a:r>
              <a:rPr b="1" i="1" lang="en">
                <a:solidFill>
                  <a:srgbClr val="FF0000"/>
                </a:solidFill>
              </a:rPr>
              <a:t>closed</a:t>
            </a:r>
            <a:r>
              <a:rPr lang="en">
                <a:solidFill>
                  <a:srgbClr val="FF0000"/>
                </a:solidFill>
              </a:rPr>
              <a:t> </a:t>
            </a:r>
            <a:r>
              <a:rPr lang="en"/>
              <a:t>when no longer needed, which will also close the file.</a:t>
            </a:r>
            <a:endParaRPr/>
          </a:p>
        </p:txBody>
      </p:sp>
      <p:sp>
        <p:nvSpPr>
          <p:cNvPr id="821" name="Google Shape;821;p77"/>
          <p:cNvSpPr txBox="1"/>
          <p:nvPr>
            <p:ph idx="2" type="body"/>
          </p:nvPr>
        </p:nvSpPr>
        <p:spPr>
          <a:xfrm>
            <a:off x="5192225" y="1570500"/>
            <a:ext cx="3706500" cy="1640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FileReader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fileReader </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FileReader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"a_file.txt"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BufferedReader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buffReader</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Buffered</a:t>
            </a:r>
            <a:r>
              <a:rPr lang="en" sz="1000">
                <a:solidFill>
                  <a:srgbClr val="000000"/>
                </a:solidFill>
                <a:latin typeface="Consolas"/>
                <a:ea typeface="Consolas"/>
                <a:cs typeface="Consolas"/>
                <a:sym typeface="Consolas"/>
              </a:rPr>
              <a:t>(fileReader);</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Stream&lt;</a:t>
            </a:r>
            <a:r>
              <a:rPr lang="en" sz="1000">
                <a:solidFill>
                  <a:srgbClr val="267F99"/>
                </a:solidFill>
                <a:latin typeface="Consolas"/>
                <a:ea typeface="Consolas"/>
                <a:cs typeface="Consolas"/>
                <a:sym typeface="Consolas"/>
              </a:rPr>
              <a:t>String&gt;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lines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buffReader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lines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lines</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forEach</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AF00D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a:t>
            </a:r>
            <a:endParaRPr sz="1000">
              <a:solidFill>
                <a:srgbClr val="00108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chemeClr val="accent5"/>
                </a:solidFill>
                <a:latin typeface="Consolas"/>
                <a:ea typeface="Consolas"/>
                <a:cs typeface="Consolas"/>
                <a:sym typeface="Consolas"/>
              </a:rPr>
              <a:t>7</a:t>
            </a:r>
            <a:r>
              <a:rPr lang="en" sz="1000">
                <a:solidFill>
                  <a:srgbClr val="001080"/>
                </a:solidFill>
                <a:latin typeface="Consolas"/>
                <a:ea typeface="Consolas"/>
                <a:cs typeface="Consolas"/>
                <a:sym typeface="Consolas"/>
              </a:rPr>
              <a:t>  buffReader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close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822" name="Google Shape;822;p77"/>
          <p:cNvSpPr/>
          <p:nvPr/>
        </p:nvSpPr>
        <p:spPr>
          <a:xfrm>
            <a:off x="7127850" y="1365250"/>
            <a:ext cx="683386" cy="393619"/>
          </a:xfrm>
          <a:custGeom>
            <a:rect b="b" l="l" r="r" t="t"/>
            <a:pathLst>
              <a:path extrusionOk="0" h="19215" w="18180">
                <a:moveTo>
                  <a:pt x="7094" y="0"/>
                </a:moveTo>
                <a:cubicBezTo>
                  <a:pt x="8917" y="1774"/>
                  <a:pt x="19214" y="7440"/>
                  <a:pt x="18032" y="10642"/>
                </a:cubicBezTo>
                <a:cubicBezTo>
                  <a:pt x="16850" y="13845"/>
                  <a:pt x="3005" y="17786"/>
                  <a:pt x="0" y="19215"/>
                </a:cubicBezTo>
              </a:path>
            </a:pathLst>
          </a:custGeom>
          <a:noFill/>
          <a:ln cap="flat" cmpd="sng" w="19050">
            <a:solidFill>
              <a:srgbClr val="FF0000"/>
            </a:solidFill>
            <a:prstDash val="solid"/>
            <a:round/>
            <a:headEnd len="med" w="med" type="none"/>
            <a:tailEnd len="med" w="med" type="triangle"/>
          </a:ln>
        </p:spPr>
      </p:sp>
      <p:sp>
        <p:nvSpPr>
          <p:cNvPr id="823" name="Google Shape;823;p77"/>
          <p:cNvSpPr txBox="1"/>
          <p:nvPr>
            <p:ph idx="3" type="body"/>
          </p:nvPr>
        </p:nvSpPr>
        <p:spPr>
          <a:xfrm>
            <a:off x="5192225" y="756725"/>
            <a:ext cx="3706500" cy="69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java.io.FileReader</a:t>
            </a:r>
            <a:r>
              <a:rPr lang="en" sz="1200"/>
              <a:t> can be used to read </a:t>
            </a:r>
            <a:r>
              <a:rPr b="1" i="1" lang="en" sz="1200">
                <a:solidFill>
                  <a:srgbClr val="FF0000"/>
                </a:solidFill>
              </a:rPr>
              <a:t>characters</a:t>
            </a:r>
            <a:r>
              <a:rPr lang="en" sz="1200">
                <a:solidFill>
                  <a:srgbClr val="FF0000"/>
                </a:solidFill>
              </a:rPr>
              <a:t> </a:t>
            </a:r>
            <a:r>
              <a:rPr lang="en" sz="1200"/>
              <a:t>(one at a time or in chunks) from the file with the specified </a:t>
            </a:r>
            <a:r>
              <a:rPr b="1" i="1" lang="en" sz="1200">
                <a:solidFill>
                  <a:srgbClr val="FF0000"/>
                </a:solidFill>
              </a:rPr>
              <a:t>path</a:t>
            </a:r>
            <a:r>
              <a:rPr lang="en" sz="1200"/>
              <a:t>.</a:t>
            </a:r>
            <a:endParaRPr sz="1200"/>
          </a:p>
        </p:txBody>
      </p:sp>
      <p:sp>
        <p:nvSpPr>
          <p:cNvPr id="824" name="Google Shape;824;p77"/>
          <p:cNvSpPr/>
          <p:nvPr/>
        </p:nvSpPr>
        <p:spPr>
          <a:xfrm>
            <a:off x="7409725" y="2227550"/>
            <a:ext cx="1196930" cy="1201526"/>
          </a:xfrm>
          <a:custGeom>
            <a:rect b="b" l="l" r="r" t="t"/>
            <a:pathLst>
              <a:path extrusionOk="0" h="55963" w="56646">
                <a:moveTo>
                  <a:pt x="32221" y="55963"/>
                </a:moveTo>
                <a:cubicBezTo>
                  <a:pt x="36162" y="47144"/>
                  <a:pt x="61239" y="11278"/>
                  <a:pt x="55869" y="3050"/>
                </a:cubicBezTo>
                <a:cubicBezTo>
                  <a:pt x="50499" y="-5178"/>
                  <a:pt x="9312" y="6006"/>
                  <a:pt x="0" y="6597"/>
                </a:cubicBezTo>
              </a:path>
            </a:pathLst>
          </a:custGeom>
          <a:noFill/>
          <a:ln cap="flat" cmpd="sng" w="19050">
            <a:solidFill>
              <a:srgbClr val="FF0000"/>
            </a:solidFill>
            <a:prstDash val="solid"/>
            <a:round/>
            <a:headEnd len="med" w="med" type="none"/>
            <a:tailEnd len="med" w="med" type="triangle"/>
          </a:ln>
        </p:spPr>
      </p:sp>
      <p:sp>
        <p:nvSpPr>
          <p:cNvPr id="825" name="Google Shape;825;p77"/>
          <p:cNvSpPr/>
          <p:nvPr/>
        </p:nvSpPr>
        <p:spPr>
          <a:xfrm>
            <a:off x="7737425" y="2421428"/>
            <a:ext cx="424150" cy="1000175"/>
          </a:xfrm>
          <a:custGeom>
            <a:rect b="b" l="l" r="r" t="t"/>
            <a:pathLst>
              <a:path extrusionOk="0" h="40007" w="16966">
                <a:moveTo>
                  <a:pt x="5616" y="40007"/>
                </a:moveTo>
                <a:cubicBezTo>
                  <a:pt x="7488" y="33652"/>
                  <a:pt x="17785" y="7541"/>
                  <a:pt x="16849" y="1875"/>
                </a:cubicBezTo>
                <a:cubicBezTo>
                  <a:pt x="15913" y="-3791"/>
                  <a:pt x="2808" y="5323"/>
                  <a:pt x="0" y="6013"/>
                </a:cubicBezTo>
              </a:path>
            </a:pathLst>
          </a:custGeom>
          <a:noFill/>
          <a:ln cap="flat" cmpd="sng" w="19050">
            <a:solidFill>
              <a:srgbClr val="FF0000"/>
            </a:solidFill>
            <a:prstDash val="solid"/>
            <a:round/>
            <a:headEnd len="med" w="med" type="none"/>
            <a:tailEnd len="med" w="med" type="triangle"/>
          </a:ln>
        </p:spPr>
      </p:sp>
      <p:sp>
        <p:nvSpPr>
          <p:cNvPr id="826" name="Google Shape;826;p77"/>
          <p:cNvSpPr txBox="1"/>
          <p:nvPr>
            <p:ph idx="3" type="body"/>
          </p:nvPr>
        </p:nvSpPr>
        <p:spPr>
          <a:xfrm>
            <a:off x="5188525" y="3325675"/>
            <a:ext cx="3706500" cy="69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java.</a:t>
            </a:r>
            <a:r>
              <a:rPr lang="en">
                <a:solidFill>
                  <a:srgbClr val="FF0000"/>
                </a:solidFill>
                <a:latin typeface="Courier New"/>
                <a:ea typeface="Courier New"/>
                <a:cs typeface="Courier New"/>
                <a:sym typeface="Courier New"/>
              </a:rPr>
              <a:t>io</a:t>
            </a:r>
            <a:r>
              <a:rPr lang="en" sz="1200">
                <a:solidFill>
                  <a:srgbClr val="FF0000"/>
                </a:solidFill>
                <a:latin typeface="Courier New"/>
                <a:ea typeface="Courier New"/>
                <a:cs typeface="Courier New"/>
                <a:sym typeface="Courier New"/>
              </a:rPr>
              <a:t>.</a:t>
            </a:r>
            <a:r>
              <a:rPr lang="en">
                <a:solidFill>
                  <a:srgbClr val="FF0000"/>
                </a:solidFill>
                <a:latin typeface="Courier New"/>
                <a:ea typeface="Courier New"/>
                <a:cs typeface="Courier New"/>
                <a:sym typeface="Courier New"/>
              </a:rPr>
              <a:t>BufferedReader</a:t>
            </a:r>
            <a:r>
              <a:rPr lang="en" sz="1200"/>
              <a:t> can be created with a </a:t>
            </a:r>
            <a:r>
              <a:rPr lang="en" sz="1200">
                <a:latin typeface="Courier New"/>
                <a:ea typeface="Courier New"/>
                <a:cs typeface="Courier New"/>
                <a:sym typeface="Courier New"/>
              </a:rPr>
              <a:t>FileReader</a:t>
            </a:r>
            <a:r>
              <a:rPr lang="en" sz="1200"/>
              <a:t>. </a:t>
            </a:r>
            <a:r>
              <a:rPr lang="en" sz="1200"/>
              <a:t>Its</a:t>
            </a:r>
            <a:r>
              <a:rPr lang="en" sz="1200"/>
              <a:t> </a:t>
            </a:r>
            <a:r>
              <a:rPr lang="en">
                <a:solidFill>
                  <a:srgbClr val="FF0000"/>
                </a:solidFill>
                <a:latin typeface="Courier New"/>
                <a:ea typeface="Courier New"/>
                <a:cs typeface="Courier New"/>
                <a:sym typeface="Courier New"/>
              </a:rPr>
              <a:t>lines</a:t>
            </a:r>
            <a:r>
              <a:rPr lang="en" sz="1200">
                <a:solidFill>
                  <a:srgbClr val="FF0000"/>
                </a:solidFill>
                <a:latin typeface="Courier New"/>
                <a:ea typeface="Courier New"/>
                <a:cs typeface="Courier New"/>
                <a:sym typeface="Courier New"/>
              </a:rPr>
              <a:t>()</a:t>
            </a:r>
            <a:r>
              <a:rPr lang="en" sz="1200"/>
              <a:t> method can be used to read </a:t>
            </a:r>
            <a:r>
              <a:rPr lang="en"/>
              <a:t>the file</a:t>
            </a:r>
            <a:r>
              <a:rPr b="1" i="1" lang="en">
                <a:solidFill>
                  <a:srgbClr val="FF0000"/>
                </a:solidFill>
              </a:rPr>
              <a:t> as a stream of lines</a:t>
            </a:r>
            <a:r>
              <a:rPr lang="en" sz="1200"/>
              <a:t>.</a:t>
            </a:r>
            <a:endParaRPr sz="1200"/>
          </a:p>
        </p:txBody>
      </p:sp>
      <p:sp>
        <p:nvSpPr>
          <p:cNvPr id="827" name="Google Shape;827;p77"/>
          <p:cNvSpPr/>
          <p:nvPr/>
        </p:nvSpPr>
        <p:spPr>
          <a:xfrm>
            <a:off x="4947193" y="3000375"/>
            <a:ext cx="536250" cy="1566700"/>
          </a:xfrm>
          <a:custGeom>
            <a:rect b="b" l="l" r="r" t="t"/>
            <a:pathLst>
              <a:path extrusionOk="0" h="62668" w="21450">
                <a:moveTo>
                  <a:pt x="13468" y="62668"/>
                </a:moveTo>
                <a:cubicBezTo>
                  <a:pt x="11251" y="54243"/>
                  <a:pt x="-1164" y="22565"/>
                  <a:pt x="166" y="12120"/>
                </a:cubicBezTo>
                <a:cubicBezTo>
                  <a:pt x="1496" y="1675"/>
                  <a:pt x="17903" y="2020"/>
                  <a:pt x="21450" y="0"/>
                </a:cubicBezTo>
              </a:path>
            </a:pathLst>
          </a:custGeom>
          <a:noFill/>
          <a:ln cap="flat" cmpd="sng" w="19050">
            <a:solidFill>
              <a:srgbClr val="FF0000"/>
            </a:solidFill>
            <a:prstDash val="solid"/>
            <a:round/>
            <a:headEnd len="med" w="med" type="none"/>
            <a:tailEnd len="med" w="med" type="triangle"/>
          </a:ln>
        </p:spPr>
      </p:sp>
      <p:sp>
        <p:nvSpPr>
          <p:cNvPr id="828" name="Google Shape;828;p77"/>
          <p:cNvSpPr txBox="1"/>
          <p:nvPr>
            <p:ph idx="3" type="body"/>
          </p:nvPr>
        </p:nvSpPr>
        <p:spPr>
          <a:xfrm>
            <a:off x="5188525" y="4117235"/>
            <a:ext cx="3706500" cy="69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Opened files should always be </a:t>
            </a:r>
            <a:r>
              <a:rPr b="1" i="1" lang="en" sz="1200">
                <a:solidFill>
                  <a:srgbClr val="FF0000"/>
                </a:solidFill>
              </a:rPr>
              <a:t>closed </a:t>
            </a:r>
            <a:r>
              <a:rPr lang="en" sz="1200"/>
              <a:t>when no longer needed to avoid locking the file (and preventing other processes from using it).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par>
                                <p:cTn fill="hold" nodeType="with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1000"/>
                                        <p:tgtEl>
                                          <p:spTgt spid="8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1000"/>
                                        <p:tgtEl>
                                          <p:spTgt spid="82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1000"/>
                                        <p:tgtEl>
                                          <p:spTgt spid="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1000"/>
                                        <p:tgtEl>
                                          <p:spTgt spid="8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7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Unfortunately, reading text files in Java is a little more complicated than it is in Python. There is a more setup </a:t>
            </a:r>
            <a:r>
              <a:rPr i="1" lang="en"/>
              <a:t>but</a:t>
            </a:r>
            <a:r>
              <a:rPr lang="en"/>
              <a:t> you can still iterate through the lines in the file when it's used as a stream. </a:t>
            </a:r>
            <a:endParaRPr/>
          </a:p>
        </p:txBody>
      </p:sp>
      <p:sp>
        <p:nvSpPr>
          <p:cNvPr id="834" name="Google Shape;834;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5" name="Google Shape;835;p78"/>
          <p:cNvSpPr txBox="1"/>
          <p:nvPr>
            <p:ph idx="2" type="body"/>
          </p:nvPr>
        </p:nvSpPr>
        <p:spPr>
          <a:xfrm>
            <a:off x="3597625" y="1729125"/>
            <a:ext cx="5351100" cy="3287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your </a:t>
            </a:r>
            <a:r>
              <a:rPr lang="en">
                <a:latin typeface="Courier New"/>
                <a:ea typeface="Courier New"/>
                <a:cs typeface="Courier New"/>
                <a:sym typeface="Courier New"/>
              </a:rPr>
              <a:t>Files</a:t>
            </a:r>
            <a:r>
              <a:rPr lang="en"/>
              <a:t> class and define a method named "</a:t>
            </a:r>
            <a:r>
              <a:rPr lang="en">
                <a:solidFill>
                  <a:srgbClr val="FF0000"/>
                </a:solidFill>
                <a:latin typeface="Courier New"/>
                <a:ea typeface="Courier New"/>
                <a:cs typeface="Courier New"/>
                <a:sym typeface="Courier New"/>
              </a:rPr>
              <a:t>printFile</a:t>
            </a:r>
            <a:r>
              <a:rPr lang="en"/>
              <a:t>" that declares a parameter for a </a:t>
            </a:r>
            <a:r>
              <a:rPr lang="en">
                <a:solidFill>
                  <a:srgbClr val="FF0000"/>
                </a:solidFill>
                <a:latin typeface="Courier New"/>
                <a:ea typeface="Courier New"/>
                <a:cs typeface="Courier New"/>
                <a:sym typeface="Courier New"/>
              </a:rPr>
              <a:t>filename</a:t>
            </a:r>
            <a:r>
              <a:rPr lang="en"/>
              <a:t>.</a:t>
            </a:r>
            <a:endParaRPr/>
          </a:p>
          <a:p>
            <a:pPr indent="-298450" lvl="1" marL="914400" rtl="0" algn="l">
              <a:spcBef>
                <a:spcPts val="0"/>
              </a:spcBef>
              <a:spcAft>
                <a:spcPts val="0"/>
              </a:spcAft>
              <a:buSzPts val="1100"/>
              <a:buChar char="○"/>
            </a:pPr>
            <a:r>
              <a:rPr lang="en"/>
              <a:t>Create a </a:t>
            </a:r>
            <a:r>
              <a:rPr lang="en">
                <a:solidFill>
                  <a:srgbClr val="FF0000"/>
                </a:solidFill>
                <a:latin typeface="Courier New"/>
                <a:ea typeface="Courier New"/>
                <a:cs typeface="Courier New"/>
                <a:sym typeface="Courier New"/>
              </a:rPr>
              <a:t>FileReader</a:t>
            </a:r>
            <a:r>
              <a:rPr lang="en">
                <a:solidFill>
                  <a:srgbClr val="FF0000"/>
                </a:solidFill>
              </a:rPr>
              <a:t> </a:t>
            </a:r>
            <a:r>
              <a:rPr lang="en"/>
              <a:t>using the </a:t>
            </a:r>
            <a:r>
              <a:rPr lang="en">
                <a:latin typeface="Courier New"/>
                <a:ea typeface="Courier New"/>
                <a:cs typeface="Courier New"/>
                <a:sym typeface="Courier New"/>
              </a:rPr>
              <a:t>filename</a:t>
            </a:r>
            <a:r>
              <a:rPr lang="en"/>
              <a:t>.</a:t>
            </a:r>
            <a:endParaRPr/>
          </a:p>
          <a:p>
            <a:pPr indent="-298450" lvl="1" marL="914400" rtl="0" algn="l">
              <a:spcBef>
                <a:spcPts val="0"/>
              </a:spcBef>
              <a:spcAft>
                <a:spcPts val="0"/>
              </a:spcAft>
              <a:buSzPts val="1100"/>
              <a:buChar char="○"/>
            </a:pPr>
            <a:r>
              <a:rPr lang="en"/>
              <a:t>Create a </a:t>
            </a:r>
            <a:r>
              <a:rPr lang="en">
                <a:solidFill>
                  <a:srgbClr val="FF0000"/>
                </a:solidFill>
                <a:latin typeface="Courier New"/>
                <a:ea typeface="Courier New"/>
                <a:cs typeface="Courier New"/>
                <a:sym typeface="Courier New"/>
              </a:rPr>
              <a:t>BufferedReader</a:t>
            </a:r>
            <a:r>
              <a:rPr lang="en">
                <a:solidFill>
                  <a:srgbClr val="FF0000"/>
                </a:solidFill>
              </a:rPr>
              <a:t> </a:t>
            </a:r>
            <a:r>
              <a:rPr lang="en"/>
              <a:t>using the </a:t>
            </a:r>
            <a:r>
              <a:rPr lang="en">
                <a:latin typeface="Courier New"/>
                <a:ea typeface="Courier New"/>
                <a:cs typeface="Courier New"/>
                <a:sym typeface="Courier New"/>
              </a:rPr>
              <a:t>FileReader</a:t>
            </a:r>
            <a:r>
              <a:rPr lang="en"/>
              <a:t>.</a:t>
            </a:r>
            <a:endParaRPr/>
          </a:p>
          <a:p>
            <a:pPr indent="-298450" lvl="1" marL="914400" rtl="0" algn="l">
              <a:spcBef>
                <a:spcPts val="0"/>
              </a:spcBef>
              <a:spcAft>
                <a:spcPts val="0"/>
              </a:spcAft>
              <a:buSzPts val="1100"/>
              <a:buChar char="○"/>
            </a:pPr>
            <a:r>
              <a:rPr lang="en"/>
              <a:t>Use </a:t>
            </a:r>
            <a:r>
              <a:rPr lang="en"/>
              <a:t>the </a:t>
            </a:r>
            <a:r>
              <a:rPr lang="en">
                <a:latin typeface="Courier New"/>
                <a:ea typeface="Courier New"/>
                <a:cs typeface="Courier New"/>
                <a:sym typeface="Courier New"/>
              </a:rPr>
              <a:t>lines()</a:t>
            </a:r>
            <a:r>
              <a:rPr lang="en"/>
              <a:t> method to get a stream from the </a:t>
            </a:r>
            <a:r>
              <a:rPr lang="en">
                <a:latin typeface="Courier New"/>
                <a:ea typeface="Courier New"/>
                <a:cs typeface="Courier New"/>
                <a:sym typeface="Courier New"/>
              </a:rPr>
              <a:t>BufferedReader</a:t>
            </a:r>
            <a:r>
              <a:rPr lang="en"/>
              <a:t>.</a:t>
            </a:r>
            <a:endParaRPr/>
          </a:p>
          <a:p>
            <a:pPr indent="-298450" lvl="2" marL="1371600" rtl="0" algn="l">
              <a:spcBef>
                <a:spcPts val="0"/>
              </a:spcBef>
              <a:spcAft>
                <a:spcPts val="0"/>
              </a:spcAft>
              <a:buSzPts val="1100"/>
              <a:buChar char="■"/>
            </a:pPr>
            <a:r>
              <a:rPr lang="en"/>
              <a:t>Use </a:t>
            </a:r>
            <a:r>
              <a:rPr lang="en">
                <a:latin typeface="Courier New"/>
                <a:ea typeface="Courier New"/>
                <a:cs typeface="Courier New"/>
                <a:sym typeface="Courier New"/>
              </a:rPr>
              <a:t>foreach</a:t>
            </a:r>
            <a:r>
              <a:rPr lang="en"/>
              <a:t> stream method to print each line in the file.</a:t>
            </a:r>
            <a:endParaRPr/>
          </a:p>
          <a:p>
            <a:pPr indent="-298450" lvl="2" marL="1371600" rtl="0" algn="l">
              <a:spcBef>
                <a:spcPts val="0"/>
              </a:spcBef>
              <a:spcAft>
                <a:spcPts val="0"/>
              </a:spcAft>
              <a:buSzPts val="1100"/>
              <a:buChar char="■"/>
            </a:pPr>
            <a:r>
              <a:rPr lang="en"/>
              <a:t>You can use the </a:t>
            </a:r>
            <a:r>
              <a:rPr b="1" lang="en">
                <a:solidFill>
                  <a:srgbClr val="FF0000"/>
                </a:solidFill>
              </a:rPr>
              <a:t>method reference</a:t>
            </a:r>
            <a:r>
              <a:rPr lang="en"/>
              <a:t> or a </a:t>
            </a:r>
            <a:r>
              <a:rPr b="1" lang="en">
                <a:solidFill>
                  <a:srgbClr val="FF0000"/>
                </a:solidFill>
              </a:rPr>
              <a:t>lambda expression</a:t>
            </a:r>
            <a:r>
              <a:rPr lang="en"/>
              <a:t>.</a:t>
            </a:r>
            <a:endParaRPr/>
          </a:p>
          <a:p>
            <a:pPr indent="-298450" lvl="2" marL="1371600" rtl="0" algn="l">
              <a:spcBef>
                <a:spcPts val="0"/>
              </a:spcBef>
              <a:spcAft>
                <a:spcPts val="0"/>
              </a:spcAft>
              <a:buSzPts val="1100"/>
              <a:buChar char="■"/>
            </a:pPr>
            <a:r>
              <a:rPr lang="en"/>
              <a:t>Don't forget to close the </a:t>
            </a:r>
            <a:r>
              <a:rPr lang="en">
                <a:latin typeface="Courier New"/>
                <a:ea typeface="Courier New"/>
                <a:cs typeface="Courier New"/>
                <a:sym typeface="Courier New"/>
              </a:rPr>
              <a:t>FileReader</a:t>
            </a:r>
            <a:r>
              <a:rPr lang="en"/>
              <a:t> and </a:t>
            </a:r>
            <a:r>
              <a:rPr lang="en">
                <a:latin typeface="Courier New"/>
                <a:ea typeface="Courier New"/>
                <a:cs typeface="Courier New"/>
                <a:sym typeface="Courier New"/>
              </a:rPr>
              <a:t>BufferedReader</a:t>
            </a:r>
            <a:r>
              <a:rPr lang="en"/>
              <a:t> when you are done!</a:t>
            </a:r>
            <a:endParaRPr/>
          </a:p>
          <a:p>
            <a:pPr indent="-311150" lvl="0" marL="457200" rtl="0" algn="l">
              <a:spcBef>
                <a:spcPts val="0"/>
              </a:spcBef>
              <a:spcAft>
                <a:spcPts val="0"/>
              </a:spcAft>
              <a:buSzPts val="1300"/>
              <a:buChar char="●"/>
            </a:pPr>
            <a:r>
              <a:rPr lang="en"/>
              <a:t>Call your method from </a:t>
            </a:r>
            <a:r>
              <a:rPr lang="en">
                <a:latin typeface="Courier New"/>
                <a:ea typeface="Courier New"/>
                <a:cs typeface="Courier New"/>
                <a:sym typeface="Courier New"/>
              </a:rPr>
              <a:t>main</a:t>
            </a:r>
            <a:r>
              <a:rPr lang="en"/>
              <a:t> using one of the provided files in the data directory in your repository.</a:t>
            </a:r>
            <a:endParaRPr/>
          </a:p>
          <a:p>
            <a:pPr indent="-298450" lvl="1" marL="914400" rtl="0" algn="l">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"data/alice.txt"</a:t>
            </a:r>
            <a:endParaRPr>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lang="en"/>
              <a:t>What do you notice in VSCode?</a:t>
            </a:r>
            <a:endParaRPr/>
          </a:p>
          <a:p>
            <a:pPr indent="-311150" lvl="0" marL="457200" rtl="0" algn="l">
              <a:spcBef>
                <a:spcPts val="0"/>
              </a:spcBef>
              <a:spcAft>
                <a:spcPts val="0"/>
              </a:spcAft>
              <a:buSzPts val="1300"/>
              <a:buChar char="●"/>
            </a:pPr>
            <a:r>
              <a:rPr lang="en"/>
              <a:t>What happens when you try to run your code?</a:t>
            </a:r>
            <a:endParaRPr/>
          </a:p>
        </p:txBody>
      </p:sp>
      <p:sp>
        <p:nvSpPr>
          <p:cNvPr id="836" name="Google Shape;836;p7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Reading Text Files</a:t>
            </a:r>
            <a:endParaRPr/>
          </a:p>
        </p:txBody>
      </p:sp>
      <p:sp>
        <p:nvSpPr>
          <p:cNvPr id="837" name="Google Shape;837;p7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4.16</a:t>
            </a:r>
            <a:endParaRPr/>
          </a:p>
        </p:txBody>
      </p:sp>
      <p:sp>
        <p:nvSpPr>
          <p:cNvPr id="838" name="Google Shape;838;p78"/>
          <p:cNvSpPr txBox="1"/>
          <p:nvPr>
            <p:ph idx="4" type="body"/>
          </p:nvPr>
        </p:nvSpPr>
        <p:spPr>
          <a:xfrm>
            <a:off x="135650" y="3365925"/>
            <a:ext cx="3462000" cy="1732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00">
                <a:solidFill>
                  <a:srgbClr val="267F99"/>
                </a:solidFill>
                <a:latin typeface="Consolas"/>
                <a:ea typeface="Consolas"/>
                <a:cs typeface="Consolas"/>
                <a:sym typeface="Consolas"/>
              </a:rPr>
              <a:t>FileReader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fileReader </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FileReader</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"a_file.txt"</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267F99"/>
                </a:solidFill>
                <a:latin typeface="Consolas"/>
                <a:ea typeface="Consolas"/>
                <a:cs typeface="Consolas"/>
                <a:sym typeface="Consolas"/>
              </a:rPr>
              <a:t>BufferedReader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 =</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BufferedReader</a:t>
            </a:r>
            <a:r>
              <a:rPr lang="en" sz="1100">
                <a:latin typeface="Consolas"/>
                <a:ea typeface="Consolas"/>
                <a:cs typeface="Consolas"/>
                <a:sym typeface="Consolas"/>
              </a:rPr>
              <a:t>(fileReader);</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latin typeface="Consolas"/>
                <a:ea typeface="Consolas"/>
                <a:cs typeface="Consolas"/>
                <a:sym typeface="Consolas"/>
              </a:rPr>
              <a:t>Stream&lt;</a:t>
            </a:r>
            <a:r>
              <a:rPr lang="en" sz="1100">
                <a:solidFill>
                  <a:srgbClr val="267F99"/>
                </a:solidFill>
                <a:latin typeface="Consolas"/>
                <a:ea typeface="Consolas"/>
                <a:cs typeface="Consolas"/>
                <a:sym typeface="Consolas"/>
              </a:rPr>
              <a:t>String&gt;</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latin typeface="Consolas"/>
                <a:ea typeface="Consolas"/>
                <a:cs typeface="Consolas"/>
                <a:sym typeface="Consolas"/>
              </a:rPr>
              <a:t> = </a:t>
            </a: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lines</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1080"/>
                </a:solidFill>
                <a:latin typeface="Consolas"/>
                <a:ea typeface="Consolas"/>
                <a:cs typeface="Consolas"/>
                <a:sym typeface="Consolas"/>
              </a:rPr>
              <a:t>lines</a:t>
            </a:r>
            <a:r>
              <a:rPr lang="en" sz="1100">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forEach</a:t>
            </a:r>
            <a:r>
              <a:rPr lang="en" sz="1100">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System</a:t>
            </a:r>
            <a:r>
              <a:rPr lang="en" sz="1100">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out</a:t>
            </a:r>
            <a:r>
              <a:rPr lang="en" sz="1100">
                <a:solidFill>
                  <a:srgbClr val="AF00D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println</a:t>
            </a:r>
            <a:r>
              <a:rPr lang="en" sz="1100">
                <a:highlight>
                  <a:srgbClr val="FFFFFF"/>
                </a:highlight>
                <a:latin typeface="Consolas"/>
                <a:ea typeface="Consolas"/>
                <a:cs typeface="Consolas"/>
                <a:sym typeface="Consolas"/>
              </a:rPr>
              <a:t>)</a:t>
            </a:r>
            <a:endParaRPr sz="1100">
              <a:solidFill>
                <a:srgbClr val="00108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close</a:t>
            </a:r>
            <a:r>
              <a:rPr lang="en" sz="1100">
                <a:latin typeface="Consolas"/>
                <a:ea typeface="Consolas"/>
                <a:cs typeface="Consolas"/>
                <a:sym typeface="Consolas"/>
              </a:rPr>
              <a:t>();</a:t>
            </a:r>
            <a:endParaRPr sz="1150">
              <a:solidFill>
                <a:srgbClr val="267F99"/>
              </a:solidFill>
              <a:latin typeface="Consolas"/>
              <a:ea typeface="Consolas"/>
              <a:cs typeface="Consolas"/>
              <a:sym typeface="Consolas"/>
            </a:endParaRPr>
          </a:p>
        </p:txBody>
      </p:sp>
      <p:pic>
        <p:nvPicPr>
          <p:cNvPr id="839" name="Google Shape;839;p78"/>
          <p:cNvPicPr preferRelativeResize="0"/>
          <p:nvPr/>
        </p:nvPicPr>
        <p:blipFill rotWithShape="1">
          <a:blip r:embed="rId3">
            <a:alphaModFix/>
          </a:blip>
          <a:srcRect b="24727" l="0" r="0" t="0"/>
          <a:stretch/>
        </p:blipFill>
        <p:spPr>
          <a:xfrm>
            <a:off x="166225" y="1560329"/>
            <a:ext cx="3431400" cy="1719471"/>
          </a:xfrm>
          <a:prstGeom prst="rect">
            <a:avLst/>
          </a:prstGeom>
          <a:noFill/>
          <a:ln cap="flat" cmpd="sng" w="19050">
            <a:solidFill>
              <a:schemeClr val="dk2"/>
            </a:solidFill>
            <a:prstDash val="solid"/>
            <a:round/>
            <a:headEnd len="sm" w="sm" type="none"/>
            <a:tailEnd len="sm" w="sm" type="none"/>
          </a:ln>
        </p:spPr>
      </p:pic>
      <p:pic>
        <p:nvPicPr>
          <p:cNvPr id="840" name="Google Shape;840;p78"/>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79"/>
          <p:cNvSpPr txBox="1"/>
          <p:nvPr>
            <p:ph type="title"/>
          </p:nvPr>
        </p:nvSpPr>
        <p:spPr>
          <a:xfrm>
            <a:off x="333895" y="1961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Checked Exceptions</a:t>
            </a:r>
            <a:endParaRPr/>
          </a:p>
        </p:txBody>
      </p:sp>
      <p:sp>
        <p:nvSpPr>
          <p:cNvPr id="846" name="Google Shape;846;p79"/>
          <p:cNvSpPr txBox="1"/>
          <p:nvPr>
            <p:ph idx="1" type="body"/>
          </p:nvPr>
        </p:nvSpPr>
        <p:spPr>
          <a:xfrm>
            <a:off x="4416075" y="43725"/>
            <a:ext cx="4629900" cy="50448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Up until this point, we have had to deal with </a:t>
            </a:r>
            <a:r>
              <a:rPr b="1" i="1" lang="en">
                <a:solidFill>
                  <a:srgbClr val="FF0000"/>
                </a:solidFill>
              </a:rPr>
              <a:t>unchecked exceptions</a:t>
            </a:r>
            <a:r>
              <a:rPr lang="en"/>
              <a:t> like </a:t>
            </a:r>
            <a:r>
              <a:rPr lang="en">
                <a:latin typeface="Courier New"/>
                <a:ea typeface="Courier New"/>
                <a:cs typeface="Courier New"/>
                <a:sym typeface="Courier New"/>
              </a:rPr>
              <a:t>InputMismatchException</a:t>
            </a:r>
            <a:r>
              <a:rPr lang="en"/>
              <a:t>.</a:t>
            </a:r>
            <a:endParaRPr/>
          </a:p>
          <a:p>
            <a:pPr indent="-298450" lvl="1" marL="914400" rtl="0" algn="l">
              <a:spcBef>
                <a:spcPts val="0"/>
              </a:spcBef>
              <a:spcAft>
                <a:spcPts val="0"/>
              </a:spcAft>
              <a:buSzPts val="1100"/>
              <a:buChar char="○"/>
            </a:pPr>
            <a:r>
              <a:rPr lang="en"/>
              <a:t>You are </a:t>
            </a:r>
            <a:r>
              <a:rPr b="1" i="1" lang="en">
                <a:solidFill>
                  <a:srgbClr val="FF0000"/>
                </a:solidFill>
              </a:rPr>
              <a:t>not </a:t>
            </a:r>
            <a:r>
              <a:rPr lang="en"/>
              <a:t>explicitly required to handle an unchecked exception in any way.</a:t>
            </a:r>
            <a:endParaRPr/>
          </a:p>
          <a:p>
            <a:pPr indent="-298450" lvl="1" marL="914400" rtl="0" algn="l">
              <a:spcBef>
                <a:spcPts val="0"/>
              </a:spcBef>
              <a:spcAft>
                <a:spcPts val="0"/>
              </a:spcAft>
              <a:buSzPts val="1100"/>
              <a:buChar char="○"/>
            </a:pPr>
            <a:r>
              <a:rPr lang="en"/>
              <a:t>Of course, in the event that an unchecked exception is thrown, it will crash your program if it is not handled.</a:t>
            </a:r>
            <a:endParaRPr/>
          </a:p>
          <a:p>
            <a:pPr indent="-311150" lvl="0" marL="457200" rtl="0" algn="l">
              <a:spcBef>
                <a:spcPts val="0"/>
              </a:spcBef>
              <a:spcAft>
                <a:spcPts val="0"/>
              </a:spcAft>
              <a:buSzPts val="1300"/>
              <a:buChar char="●"/>
            </a:pPr>
            <a:r>
              <a:rPr lang="en"/>
              <a:t>Java also includes </a:t>
            </a:r>
            <a:r>
              <a:rPr b="1" i="1" lang="en">
                <a:solidFill>
                  <a:srgbClr val="FF0000"/>
                </a:solidFill>
              </a:rPr>
              <a:t>checked exceptions</a:t>
            </a:r>
            <a:r>
              <a:rPr lang="en"/>
              <a:t>.</a:t>
            </a:r>
            <a:endParaRPr/>
          </a:p>
          <a:p>
            <a:pPr indent="-298450" lvl="1" marL="914400" rtl="0" algn="l">
              <a:spcBef>
                <a:spcPts val="0"/>
              </a:spcBef>
              <a:spcAft>
                <a:spcPts val="0"/>
              </a:spcAft>
              <a:buSzPts val="1100"/>
              <a:buChar char="○"/>
            </a:pPr>
            <a:r>
              <a:rPr lang="en"/>
              <a:t>If a program calls a method that throws a checked exception, the programmer </a:t>
            </a:r>
            <a:r>
              <a:rPr b="1" i="1" lang="en">
                <a:solidFill>
                  <a:srgbClr val="FF0000"/>
                </a:solidFill>
              </a:rPr>
              <a:t>must</a:t>
            </a:r>
            <a:r>
              <a:rPr lang="en">
                <a:solidFill>
                  <a:srgbClr val="FF0000"/>
                </a:solidFill>
              </a:rPr>
              <a:t> </a:t>
            </a:r>
            <a:r>
              <a:rPr lang="en"/>
              <a:t>handle the exception in some way.</a:t>
            </a:r>
            <a:endParaRPr/>
          </a:p>
          <a:p>
            <a:pPr indent="-298450" lvl="1" marL="914400" rtl="0" algn="l">
              <a:spcBef>
                <a:spcPts val="0"/>
              </a:spcBef>
              <a:spcAft>
                <a:spcPts val="0"/>
              </a:spcAft>
              <a:buSzPts val="1100"/>
              <a:buChar char="○"/>
            </a:pPr>
            <a:r>
              <a:rPr lang="en"/>
              <a:t>Failure to handle a checked exception will cause a </a:t>
            </a:r>
            <a:r>
              <a:rPr b="1" i="1" lang="en">
                <a:solidFill>
                  <a:srgbClr val="FF0000"/>
                </a:solidFill>
              </a:rPr>
              <a:t>compiler error</a:t>
            </a:r>
            <a:r>
              <a:rPr lang="en"/>
              <a:t>.</a:t>
            </a:r>
            <a:endParaRPr/>
          </a:p>
          <a:p>
            <a:pPr indent="-298450" lvl="1" marL="914400" rtl="0" algn="l">
              <a:spcBef>
                <a:spcPts val="0"/>
              </a:spcBef>
              <a:spcAft>
                <a:spcPts val="0"/>
              </a:spcAft>
              <a:buSzPts val="1100"/>
              <a:buChar char="○"/>
            </a:pPr>
            <a:r>
              <a:rPr lang="en"/>
              <a:t>In a way, this can be very good - checked exceptions do not "sneak through" </a:t>
            </a:r>
            <a:r>
              <a:rPr lang="en"/>
              <a:t>and </a:t>
            </a:r>
            <a:r>
              <a:rPr lang="en"/>
              <a:t>crash your program like unchecked exceptions can sometimes do.</a:t>
            </a:r>
            <a:endParaRPr/>
          </a:p>
          <a:p>
            <a:pPr indent="-311150" lvl="0" marL="457200" rtl="0" algn="l">
              <a:spcBef>
                <a:spcPts val="0"/>
              </a:spcBef>
              <a:spcAft>
                <a:spcPts val="0"/>
              </a:spcAft>
              <a:buSzPts val="1300"/>
              <a:buChar char="●"/>
            </a:pPr>
            <a:r>
              <a:rPr lang="en"/>
              <a:t>A checked exception can be handled in two ways.</a:t>
            </a:r>
            <a:endParaRPr/>
          </a:p>
          <a:p>
            <a:pPr indent="-298450" lvl="1" marL="914400" rtl="0" algn="l">
              <a:spcBef>
                <a:spcPts val="0"/>
              </a:spcBef>
              <a:spcAft>
                <a:spcPts val="0"/>
              </a:spcAft>
              <a:buSzPts val="1100"/>
              <a:buChar char="○"/>
            </a:pPr>
            <a:r>
              <a:rPr lang="en"/>
              <a:t>Using a </a:t>
            </a:r>
            <a:r>
              <a:rPr lang="en">
                <a:latin typeface="Courier New"/>
                <a:ea typeface="Courier New"/>
                <a:cs typeface="Courier New"/>
                <a:sym typeface="Courier New"/>
              </a:rPr>
              <a:t>try</a:t>
            </a:r>
            <a:r>
              <a:rPr lang="en"/>
              <a:t>/</a:t>
            </a:r>
            <a:r>
              <a:rPr lang="en">
                <a:latin typeface="Courier New"/>
                <a:ea typeface="Courier New"/>
                <a:cs typeface="Courier New"/>
                <a:sym typeface="Courier New"/>
              </a:rPr>
              <a:t>catch</a:t>
            </a:r>
            <a:r>
              <a:rPr lang="en"/>
              <a:t> in the same way as we did previously with unchecked exceptions.</a:t>
            </a:r>
            <a:endParaRPr/>
          </a:p>
          <a:p>
            <a:pPr indent="-298450" lvl="1" marL="914400" rtl="0" algn="l">
              <a:spcBef>
                <a:spcPts val="0"/>
              </a:spcBef>
              <a:spcAft>
                <a:spcPts val="0"/>
              </a:spcAft>
              <a:buSzPts val="1100"/>
              <a:buChar char="○"/>
            </a:pPr>
            <a:r>
              <a:rPr b="1" i="1" lang="en">
                <a:solidFill>
                  <a:srgbClr val="FF0000"/>
                </a:solidFill>
              </a:rPr>
              <a:t>Rethrowing</a:t>
            </a:r>
            <a:r>
              <a:rPr lang="en">
                <a:solidFill>
                  <a:srgbClr val="FF0000"/>
                </a:solidFill>
              </a:rPr>
              <a:t> </a:t>
            </a:r>
            <a:r>
              <a:rPr lang="en"/>
              <a:t>the exception by adding a </a:t>
            </a:r>
            <a:r>
              <a:rPr lang="en">
                <a:solidFill>
                  <a:srgbClr val="FF0000"/>
                </a:solidFill>
                <a:latin typeface="Courier New"/>
                <a:ea typeface="Courier New"/>
                <a:cs typeface="Courier New"/>
                <a:sym typeface="Courier New"/>
              </a:rPr>
              <a:t>throws</a:t>
            </a:r>
            <a:r>
              <a:rPr lang="en">
                <a:solidFill>
                  <a:srgbClr val="FF0000"/>
                </a:solidFill>
              </a:rPr>
              <a:t> </a:t>
            </a:r>
            <a:r>
              <a:rPr b="1" i="1" lang="en">
                <a:solidFill>
                  <a:srgbClr val="FF0000"/>
                </a:solidFill>
              </a:rPr>
              <a:t>declaration</a:t>
            </a:r>
            <a:r>
              <a:rPr lang="en"/>
              <a:t> to the method, e.g.</a:t>
            </a:r>
            <a:endParaRPr/>
          </a:p>
          <a:p>
            <a:pPr indent="-298450" lvl="2" marL="1371600" rtl="0" algn="l">
              <a:spcBef>
                <a:spcPts val="0"/>
              </a:spcBef>
              <a:spcAft>
                <a:spcPts val="0"/>
              </a:spcAft>
              <a:buSzPts val="1100"/>
              <a:buChar char="■"/>
            </a:pPr>
            <a:r>
              <a:rPr lang="en">
                <a:solidFill>
                  <a:srgbClr val="FF0000"/>
                </a:solidFill>
                <a:latin typeface="Courier New"/>
                <a:ea typeface="Courier New"/>
                <a:cs typeface="Courier New"/>
                <a:sym typeface="Courier New"/>
              </a:rPr>
              <a:t>void method() throws IOException</a:t>
            </a:r>
            <a:endParaRPr>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lang="en"/>
              <a:t>Nearly every method used to read data from files can throw a </a:t>
            </a:r>
            <a:r>
              <a:rPr lang="en" u="sng">
                <a:solidFill>
                  <a:srgbClr val="FF0000"/>
                </a:solidFill>
                <a:latin typeface="Courier New"/>
                <a:ea typeface="Courier New"/>
                <a:cs typeface="Courier New"/>
                <a:sym typeface="Courier New"/>
                <a:hlinkClick r:id="rId3">
                  <a:extLst>
                    <a:ext uri="{A12FA001-AC4F-418D-AE19-62706E023703}">
                      <ahyp:hlinkClr val="tx"/>
                    </a:ext>
                  </a:extLst>
                </a:hlinkClick>
              </a:rPr>
              <a:t>java.io.IOException</a:t>
            </a:r>
            <a:r>
              <a:rPr lang="en"/>
              <a:t>.</a:t>
            </a:r>
            <a:endParaRPr/>
          </a:p>
          <a:p>
            <a:pPr indent="-298450" lvl="1" marL="914400" rtl="0" algn="l">
              <a:spcBef>
                <a:spcPts val="0"/>
              </a:spcBef>
              <a:spcAft>
                <a:spcPts val="0"/>
              </a:spcAft>
              <a:buSzPts val="1100"/>
              <a:buChar char="○"/>
            </a:pPr>
            <a:r>
              <a:rPr lang="en">
                <a:latin typeface="Courier New"/>
                <a:ea typeface="Courier New"/>
                <a:cs typeface="Courier New"/>
                <a:sym typeface="Courier New"/>
              </a:rPr>
              <a:t>IOException</a:t>
            </a:r>
            <a:r>
              <a:rPr lang="en"/>
              <a:t> is </a:t>
            </a:r>
            <a:r>
              <a:rPr b="1" i="1" lang="en">
                <a:solidFill>
                  <a:srgbClr val="FF0000"/>
                </a:solidFill>
              </a:rPr>
              <a:t>checked</a:t>
            </a:r>
            <a:r>
              <a:rPr lang="en"/>
              <a:t>, and so </a:t>
            </a:r>
            <a:r>
              <a:rPr b="1" i="1" lang="en">
                <a:solidFill>
                  <a:srgbClr val="FF0000"/>
                </a:solidFill>
              </a:rPr>
              <a:t>must </a:t>
            </a:r>
            <a:r>
              <a:rPr lang="en"/>
              <a:t>be handled.</a:t>
            </a:r>
            <a:endParaRPr/>
          </a:p>
        </p:txBody>
      </p:sp>
      <p:sp>
        <p:nvSpPr>
          <p:cNvPr id="847" name="Google Shape;847;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8" name="Google Shape;848;p79"/>
          <p:cNvSpPr txBox="1"/>
          <p:nvPr>
            <p:ph idx="2" type="body"/>
          </p:nvPr>
        </p:nvSpPr>
        <p:spPr>
          <a:xfrm>
            <a:off x="336194" y="2165280"/>
            <a:ext cx="3706500" cy="1854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solidFill>
                  <a:srgbClr val="000000"/>
                </a:solidFill>
                <a:latin typeface="Consolas"/>
                <a:ea typeface="Consolas"/>
                <a:cs typeface="Consolas"/>
                <a:sym typeface="Consolas"/>
              </a:rPr>
              <a:t>(String[] args)</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throws IOException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FileReader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reader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FileReader</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"a_file.txt"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BufferedReader</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bReader</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Buffered</a:t>
            </a:r>
            <a:r>
              <a:rPr lang="en" sz="1100">
                <a:solidFill>
                  <a:srgbClr val="000000"/>
                </a:solidFill>
                <a:latin typeface="Consolas"/>
                <a:ea typeface="Consolas"/>
                <a:cs typeface="Consolas"/>
                <a:sym typeface="Consolas"/>
              </a:rPr>
              <a:t>(fileReader);</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Stream&lt;</a:t>
            </a:r>
            <a:r>
              <a:rPr lang="en" sz="1100">
                <a:solidFill>
                  <a:srgbClr val="267F99"/>
                </a:solidFill>
                <a:latin typeface="Consolas"/>
                <a:ea typeface="Consolas"/>
                <a:cs typeface="Consolas"/>
                <a:sym typeface="Consolas"/>
              </a:rPr>
              <a:t>String&gt;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solidFill>
                  <a:srgbClr val="000000"/>
                </a:solidFill>
                <a:latin typeface="Consolas"/>
                <a:ea typeface="Consolas"/>
                <a:cs typeface="Consolas"/>
                <a:sym typeface="Consolas"/>
              </a:rPr>
              <a:t> = </a:t>
            </a:r>
            <a:r>
              <a:rPr lang="en" sz="1100">
                <a:solidFill>
                  <a:srgbClr val="001080"/>
                </a:solidFill>
                <a:latin typeface="Consolas"/>
                <a:ea typeface="Consolas"/>
                <a:cs typeface="Consolas"/>
                <a:sym typeface="Consolas"/>
              </a:rPr>
              <a:t>bReader</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lines</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solidFill>
                  <a:srgbClr val="000000"/>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forEach</a:t>
            </a:r>
            <a:r>
              <a:rPr lang="en" sz="1100">
                <a:solidFill>
                  <a:srgbClr val="000000"/>
                </a:solidFill>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System</a:t>
            </a:r>
            <a:r>
              <a:rPr lang="en" sz="1100">
                <a:solidFill>
                  <a:srgbClr val="000000"/>
                </a:solidFill>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out</a:t>
            </a:r>
            <a:r>
              <a:rPr lang="en" sz="1100">
                <a:solidFill>
                  <a:srgbClr val="AF00D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println</a:t>
            </a:r>
            <a:r>
              <a:rPr lang="en" sz="1100">
                <a:solidFill>
                  <a:srgbClr val="000000"/>
                </a:solidFill>
                <a:highlight>
                  <a:srgbClr val="FFFFFF"/>
                </a:highlight>
                <a:latin typeface="Consolas"/>
                <a:ea typeface="Consolas"/>
                <a:cs typeface="Consolas"/>
                <a:sym typeface="Consolas"/>
              </a:rPr>
              <a:t>)</a:t>
            </a:r>
            <a:endParaRPr sz="1100">
              <a:solidFill>
                <a:srgbClr val="00108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chemeClr val="accent5"/>
                </a:solidFill>
                <a:latin typeface="Consolas"/>
                <a:ea typeface="Consolas"/>
                <a:cs typeface="Consolas"/>
                <a:sym typeface="Consolas"/>
              </a:rPr>
              <a:t>7</a:t>
            </a:r>
            <a:r>
              <a:rPr lang="en" sz="1100">
                <a:solidFill>
                  <a:srgbClr val="001080"/>
                </a:solidFill>
                <a:latin typeface="Consolas"/>
                <a:ea typeface="Consolas"/>
                <a:cs typeface="Consolas"/>
                <a:sym typeface="Consolas"/>
              </a:rPr>
              <a:t>    bReader</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close</a:t>
            </a:r>
            <a:r>
              <a:rPr lang="en" sz="1100">
                <a:solidFill>
                  <a:srgbClr val="000000"/>
                </a:solidFill>
                <a:latin typeface="Consolas"/>
                <a:ea typeface="Consolas"/>
                <a:cs typeface="Consolas"/>
                <a:sym typeface="Consolas"/>
              </a:rPr>
              <a:t>();</a:t>
            </a:r>
            <a:endParaRPr sz="1150">
              <a:solidFill>
                <a:srgbClr val="098658"/>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endParaRPr sz="1050">
              <a:solidFill>
                <a:srgbClr val="999999"/>
              </a:solidFill>
              <a:latin typeface="Consolas"/>
              <a:ea typeface="Consolas"/>
              <a:cs typeface="Consolas"/>
              <a:sym typeface="Consolas"/>
            </a:endParaRPr>
          </a:p>
        </p:txBody>
      </p:sp>
      <p:sp>
        <p:nvSpPr>
          <p:cNvPr id="849" name="Google Shape;849;p79"/>
          <p:cNvSpPr txBox="1"/>
          <p:nvPr>
            <p:ph idx="3" type="body"/>
          </p:nvPr>
        </p:nvSpPr>
        <p:spPr>
          <a:xfrm>
            <a:off x="336194" y="797063"/>
            <a:ext cx="3706500" cy="638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Because </a:t>
            </a:r>
            <a:r>
              <a:rPr lang="en" sz="1200">
                <a:latin typeface="Courier New"/>
                <a:ea typeface="Courier New"/>
                <a:cs typeface="Courier New"/>
                <a:sym typeface="Courier New"/>
              </a:rPr>
              <a:t>IOException</a:t>
            </a:r>
            <a:r>
              <a:rPr lang="en" sz="1200"/>
              <a:t> is a </a:t>
            </a:r>
            <a:r>
              <a:rPr b="1" i="1" lang="en" sz="1200">
                <a:solidFill>
                  <a:srgbClr val="FF0000"/>
                </a:solidFill>
              </a:rPr>
              <a:t>checked exception</a:t>
            </a:r>
            <a:r>
              <a:rPr lang="en" sz="1200"/>
              <a:t>, it must be explicitly handled using a </a:t>
            </a:r>
            <a:r>
              <a:rPr lang="en" sz="1200">
                <a:solidFill>
                  <a:srgbClr val="FF0000"/>
                </a:solidFill>
                <a:latin typeface="Courier New"/>
                <a:ea typeface="Courier New"/>
                <a:cs typeface="Courier New"/>
                <a:sym typeface="Courier New"/>
              </a:rPr>
              <a:t>try</a:t>
            </a:r>
            <a:r>
              <a:rPr lang="en" sz="1200">
                <a:solidFill>
                  <a:srgbClr val="FF0000"/>
                </a:solidFill>
              </a:rPr>
              <a:t>/</a:t>
            </a:r>
            <a:r>
              <a:rPr lang="en" sz="1200">
                <a:solidFill>
                  <a:srgbClr val="FF0000"/>
                </a:solidFill>
                <a:latin typeface="Courier New"/>
                <a:ea typeface="Courier New"/>
                <a:cs typeface="Courier New"/>
                <a:sym typeface="Courier New"/>
              </a:rPr>
              <a:t>catch</a:t>
            </a:r>
            <a:r>
              <a:rPr lang="en" sz="1200"/>
              <a:t> or by </a:t>
            </a:r>
            <a:r>
              <a:rPr b="1" i="1" lang="en" sz="1200">
                <a:solidFill>
                  <a:srgbClr val="FF0000"/>
                </a:solidFill>
              </a:rPr>
              <a:t>rethrowing </a:t>
            </a:r>
            <a:r>
              <a:rPr lang="en" sz="1200"/>
              <a:t>the exception.</a:t>
            </a:r>
            <a:endParaRPr sz="1200"/>
          </a:p>
        </p:txBody>
      </p:sp>
      <p:sp>
        <p:nvSpPr>
          <p:cNvPr id="850" name="Google Shape;850;p79"/>
          <p:cNvSpPr/>
          <p:nvPr/>
        </p:nvSpPr>
        <p:spPr>
          <a:xfrm>
            <a:off x="2786069" y="2593925"/>
            <a:ext cx="1014350" cy="1684925"/>
          </a:xfrm>
          <a:custGeom>
            <a:rect b="b" l="l" r="r" t="t"/>
            <a:pathLst>
              <a:path extrusionOk="0" h="67397" w="40574">
                <a:moveTo>
                  <a:pt x="0" y="67397"/>
                </a:moveTo>
                <a:cubicBezTo>
                  <a:pt x="6750" y="61337"/>
                  <a:pt x="39265" y="42271"/>
                  <a:pt x="40497" y="31038"/>
                </a:cubicBezTo>
                <a:cubicBezTo>
                  <a:pt x="41729" y="19805"/>
                  <a:pt x="12908" y="5173"/>
                  <a:pt x="7390" y="0"/>
                </a:cubicBezTo>
              </a:path>
            </a:pathLst>
          </a:custGeom>
          <a:noFill/>
          <a:ln cap="flat" cmpd="sng" w="19050">
            <a:solidFill>
              <a:srgbClr val="FF0000"/>
            </a:solidFill>
            <a:prstDash val="solid"/>
            <a:round/>
            <a:headEnd len="med" w="med" type="none"/>
            <a:tailEnd len="med" w="med" type="triangle"/>
          </a:ln>
        </p:spPr>
      </p:sp>
      <p:sp>
        <p:nvSpPr>
          <p:cNvPr id="851" name="Google Shape;851;p79"/>
          <p:cNvSpPr txBox="1"/>
          <p:nvPr>
            <p:ph idx="3" type="body"/>
          </p:nvPr>
        </p:nvSpPr>
        <p:spPr>
          <a:xfrm>
            <a:off x="336194" y="4140376"/>
            <a:ext cx="3706500" cy="685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throws</a:t>
            </a:r>
            <a:r>
              <a:rPr lang="en" sz="1200">
                <a:solidFill>
                  <a:srgbClr val="FF0000"/>
                </a:solidFill>
              </a:rPr>
              <a:t> </a:t>
            </a:r>
            <a:r>
              <a:rPr b="1" i="1" lang="en" sz="1200">
                <a:solidFill>
                  <a:srgbClr val="FF0000"/>
                </a:solidFill>
              </a:rPr>
              <a:t>declaration</a:t>
            </a:r>
            <a:r>
              <a:rPr b="1" i="1" lang="en" sz="1200"/>
              <a:t> </a:t>
            </a:r>
            <a:r>
              <a:rPr lang="en" sz="1200"/>
              <a:t>is added to the method signature. In the event that the specified type of exception occurs, it is automatically </a:t>
            </a:r>
            <a:r>
              <a:rPr b="1" i="1" lang="en" sz="1200">
                <a:solidFill>
                  <a:srgbClr val="FF0000"/>
                </a:solidFill>
              </a:rPr>
              <a:t>rethrown</a:t>
            </a:r>
            <a:r>
              <a:rPr lang="en" sz="1200"/>
              <a:t>.</a:t>
            </a:r>
            <a:endParaRPr sz="1200"/>
          </a:p>
        </p:txBody>
      </p:sp>
      <p:sp>
        <p:nvSpPr>
          <p:cNvPr id="852" name="Google Shape;852;p79"/>
          <p:cNvSpPr/>
          <p:nvPr/>
        </p:nvSpPr>
        <p:spPr>
          <a:xfrm>
            <a:off x="470338" y="1973150"/>
            <a:ext cx="364750" cy="679900"/>
          </a:xfrm>
          <a:custGeom>
            <a:rect b="b" l="l" r="r" t="t"/>
            <a:pathLst>
              <a:path extrusionOk="0" h="27196" w="14590">
                <a:moveTo>
                  <a:pt x="9565" y="0"/>
                </a:moveTo>
                <a:cubicBezTo>
                  <a:pt x="7988" y="3104"/>
                  <a:pt x="-732" y="14090"/>
                  <a:pt x="105" y="18623"/>
                </a:cubicBezTo>
                <a:cubicBezTo>
                  <a:pt x="943" y="23156"/>
                  <a:pt x="12176" y="25767"/>
                  <a:pt x="14590" y="27196"/>
                </a:cubicBezTo>
              </a:path>
            </a:pathLst>
          </a:custGeom>
          <a:noFill/>
          <a:ln cap="flat" cmpd="sng" w="19050">
            <a:solidFill>
              <a:srgbClr val="FF0000"/>
            </a:solidFill>
            <a:prstDash val="solid"/>
            <a:round/>
            <a:headEnd len="med" w="med" type="none"/>
            <a:tailEnd len="med" w="med" type="triangle"/>
          </a:ln>
        </p:spPr>
      </p:sp>
      <p:sp>
        <p:nvSpPr>
          <p:cNvPr id="853" name="Google Shape;853;p79"/>
          <p:cNvSpPr txBox="1"/>
          <p:nvPr>
            <p:ph idx="3" type="body"/>
          </p:nvPr>
        </p:nvSpPr>
        <p:spPr>
          <a:xfrm>
            <a:off x="339894" y="1526475"/>
            <a:ext cx="3706500" cy="521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i="1" lang="en" sz="1200">
                <a:solidFill>
                  <a:srgbClr val="FF0000"/>
                </a:solidFill>
              </a:rPr>
              <a:t>Many</a:t>
            </a:r>
            <a:r>
              <a:rPr lang="en" sz="1200">
                <a:solidFill>
                  <a:srgbClr val="FF0000"/>
                </a:solidFill>
              </a:rPr>
              <a:t> </a:t>
            </a:r>
            <a:r>
              <a:rPr lang="en" sz="1200"/>
              <a:t>of the methods on the various I/O classes throw</a:t>
            </a:r>
            <a:r>
              <a:rPr lang="en" sz="1200">
                <a:latin typeface="Courier New"/>
                <a:ea typeface="Courier New"/>
                <a:cs typeface="Courier New"/>
                <a:sym typeface="Courier New"/>
              </a:rPr>
              <a:t> </a:t>
            </a:r>
            <a:r>
              <a:rPr lang="en" sz="1200">
                <a:solidFill>
                  <a:srgbClr val="FF0000"/>
                </a:solidFill>
                <a:latin typeface="Courier New"/>
                <a:ea typeface="Courier New"/>
                <a:cs typeface="Courier New"/>
                <a:sym typeface="Courier New"/>
              </a:rPr>
              <a:t>IOException</a:t>
            </a:r>
            <a:r>
              <a:rPr lang="en" sz="1200">
                <a:solidFill>
                  <a:srgbClr val="FF0000"/>
                </a:solidFill>
              </a:rPr>
              <a:t> </a:t>
            </a:r>
            <a:r>
              <a:rPr lang="en" sz="1200"/>
              <a:t>(including the </a:t>
            </a:r>
            <a:r>
              <a:rPr b="1" i="1" lang="en" sz="1200">
                <a:solidFill>
                  <a:srgbClr val="FF0000"/>
                </a:solidFill>
              </a:rPr>
              <a:t>constructors</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9"/>
                                        </p:tgtEl>
                                        <p:attrNameLst>
                                          <p:attrName>style.visibility</p:attrName>
                                        </p:attrNameLst>
                                      </p:cBhvr>
                                      <p:to>
                                        <p:strVal val="visible"/>
                                      </p:to>
                                    </p:set>
                                    <p:animEffect filter="fade" transition="in">
                                      <p:cBhvr>
                                        <p:cTn dur="1000"/>
                                        <p:tgtEl>
                                          <p:spTgt spid="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1000"/>
                                        <p:tgtEl>
                                          <p:spTgt spid="853"/>
                                        </p:tgtEl>
                                      </p:cBhvr>
                                    </p:animEffect>
                                  </p:childTnLst>
                                </p:cTn>
                              </p:par>
                              <p:par>
                                <p:cTn fill="hold" nodeType="with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1000"/>
                                        <p:tgtEl>
                                          <p:spTgt spid="8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1000"/>
                                        <p:tgtEl>
                                          <p:spTgt spid="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1000"/>
                                        <p:tgtEl>
                                          <p:spTgt spid="8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0"/>
          <p:cNvSpPr txBox="1"/>
          <p:nvPr>
            <p:ph idx="1" type="body"/>
          </p:nvPr>
        </p:nvSpPr>
        <p:spPr>
          <a:xfrm>
            <a:off x="3151975" y="731625"/>
            <a:ext cx="57126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Nearly every Java I/O operation may throw an </a:t>
            </a:r>
            <a:r>
              <a:rPr lang="en">
                <a:latin typeface="Courier New"/>
                <a:ea typeface="Courier New"/>
                <a:cs typeface="Courier New"/>
                <a:sym typeface="Courier New"/>
              </a:rPr>
              <a:t>IOException</a:t>
            </a:r>
            <a:r>
              <a:rPr lang="en"/>
              <a:t> if something goes wrong. </a:t>
            </a:r>
            <a:r>
              <a:rPr lang="en">
                <a:latin typeface="Courier New"/>
                <a:ea typeface="Courier New"/>
                <a:cs typeface="Courier New"/>
                <a:sym typeface="Courier New"/>
              </a:rPr>
              <a:t>IOException</a:t>
            </a:r>
            <a:r>
              <a:rPr lang="en"/>
              <a:t> is checked, and so must be handled in some way. Update your </a:t>
            </a:r>
            <a:r>
              <a:rPr lang="en">
                <a:latin typeface="Courier New"/>
                <a:ea typeface="Courier New"/>
                <a:cs typeface="Courier New"/>
                <a:sym typeface="Courier New"/>
              </a:rPr>
              <a:t>Files</a:t>
            </a:r>
            <a:r>
              <a:rPr lang="en"/>
              <a:t> class to better handle checked exceptions if and when they occur.</a:t>
            </a:r>
            <a:endParaRPr/>
          </a:p>
        </p:txBody>
      </p:sp>
      <p:sp>
        <p:nvSpPr>
          <p:cNvPr id="859" name="Google Shape;859;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0" name="Google Shape;860;p80"/>
          <p:cNvSpPr txBox="1"/>
          <p:nvPr>
            <p:ph idx="2" type="body"/>
          </p:nvPr>
        </p:nvSpPr>
        <p:spPr>
          <a:xfrm>
            <a:off x="3113725" y="2253725"/>
            <a:ext cx="5789100" cy="2168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your </a:t>
            </a:r>
            <a:r>
              <a:rPr lang="en" sz="1500">
                <a:latin typeface="Courier New"/>
                <a:ea typeface="Courier New"/>
                <a:cs typeface="Courier New"/>
                <a:sym typeface="Courier New"/>
              </a:rPr>
              <a:t>Files</a:t>
            </a:r>
            <a:r>
              <a:rPr lang="en" sz="1500"/>
              <a:t> class and navigate to the </a:t>
            </a:r>
            <a:r>
              <a:rPr lang="en" sz="1500">
                <a:solidFill>
                  <a:srgbClr val="FF0000"/>
                </a:solidFill>
                <a:latin typeface="Courier New"/>
                <a:ea typeface="Courier New"/>
                <a:cs typeface="Courier New"/>
                <a:sym typeface="Courier New"/>
              </a:rPr>
              <a:t>printFile</a:t>
            </a:r>
            <a:r>
              <a:rPr lang="en" sz="1500">
                <a:solidFill>
                  <a:srgbClr val="FF0000"/>
                </a:solidFill>
              </a:rPr>
              <a:t> </a:t>
            </a:r>
            <a:r>
              <a:rPr lang="en" sz="1500"/>
              <a:t>method.</a:t>
            </a:r>
            <a:endParaRPr sz="1500"/>
          </a:p>
          <a:p>
            <a:pPr indent="-311150" lvl="1" marL="914400" rtl="0" algn="l">
              <a:spcBef>
                <a:spcPts val="0"/>
              </a:spcBef>
              <a:spcAft>
                <a:spcPts val="0"/>
              </a:spcAft>
              <a:buSzPts val="1300"/>
              <a:buChar char="○"/>
            </a:pPr>
            <a:r>
              <a:rPr lang="en" sz="1300"/>
              <a:t>Update the method signature to declare that it </a:t>
            </a:r>
            <a:r>
              <a:rPr lang="en" sz="1300">
                <a:solidFill>
                  <a:srgbClr val="FF0000"/>
                </a:solidFill>
                <a:latin typeface="Courier New"/>
                <a:ea typeface="Courier New"/>
                <a:cs typeface="Courier New"/>
                <a:sym typeface="Courier New"/>
              </a:rPr>
              <a:t>throws</a:t>
            </a:r>
            <a:r>
              <a:rPr lang="en" sz="1300">
                <a:solidFill>
                  <a:srgbClr val="FF0000"/>
                </a:solidFill>
              </a:rPr>
              <a:t> </a:t>
            </a:r>
            <a:r>
              <a:rPr lang="en" sz="1300">
                <a:solidFill>
                  <a:srgbClr val="FF0000"/>
                </a:solidFill>
                <a:latin typeface="Courier New"/>
                <a:ea typeface="Courier New"/>
                <a:cs typeface="Courier New"/>
                <a:sym typeface="Courier New"/>
              </a:rPr>
              <a:t>IOException</a:t>
            </a:r>
            <a:r>
              <a:rPr lang="en" sz="1300"/>
              <a:t>.</a:t>
            </a:r>
            <a:endParaRPr sz="1300"/>
          </a:p>
          <a:p>
            <a:pPr indent="-323850" lvl="0" marL="457200" rtl="0" algn="l">
              <a:spcBef>
                <a:spcPts val="0"/>
              </a:spcBef>
              <a:spcAft>
                <a:spcPts val="0"/>
              </a:spcAft>
              <a:buSzPts val="1500"/>
              <a:buChar char="●"/>
            </a:pPr>
            <a:r>
              <a:rPr lang="en" sz="1500"/>
              <a:t>Use a </a:t>
            </a:r>
            <a:r>
              <a:rPr lang="en" sz="1500">
                <a:solidFill>
                  <a:srgbClr val="FF0000"/>
                </a:solidFill>
                <a:latin typeface="Courier New"/>
                <a:ea typeface="Courier New"/>
                <a:cs typeface="Courier New"/>
                <a:sym typeface="Courier New"/>
              </a:rPr>
              <a:t>try</a:t>
            </a:r>
            <a:r>
              <a:rPr lang="en" sz="1500"/>
              <a:t>/</a:t>
            </a:r>
            <a:r>
              <a:rPr lang="en" sz="1500">
                <a:solidFill>
                  <a:srgbClr val="FF0000"/>
                </a:solidFill>
                <a:latin typeface="Courier New"/>
                <a:ea typeface="Courier New"/>
                <a:cs typeface="Courier New"/>
                <a:sym typeface="Courier New"/>
              </a:rPr>
              <a:t>catch</a:t>
            </a:r>
            <a:r>
              <a:rPr lang="en" sz="1500"/>
              <a:t> in your </a:t>
            </a:r>
            <a:r>
              <a:rPr lang="en" sz="1500">
                <a:latin typeface="Courier New"/>
                <a:ea typeface="Courier New"/>
                <a:cs typeface="Courier New"/>
                <a:sym typeface="Courier New"/>
              </a:rPr>
              <a:t>main</a:t>
            </a:r>
            <a:r>
              <a:rPr lang="en" sz="1500"/>
              <a:t> method to handle the exception.</a:t>
            </a:r>
            <a:endParaRPr sz="1500"/>
          </a:p>
          <a:p>
            <a:pPr indent="-311150" lvl="1" marL="914400" rtl="0" algn="l">
              <a:spcBef>
                <a:spcPts val="0"/>
              </a:spcBef>
              <a:spcAft>
                <a:spcPts val="0"/>
              </a:spcAft>
              <a:buSzPts val="1300"/>
              <a:buChar char="○"/>
            </a:pPr>
            <a:r>
              <a:rPr lang="en" sz="1300"/>
              <a:t>If an </a:t>
            </a:r>
            <a:r>
              <a:rPr lang="en" sz="1300">
                <a:solidFill>
                  <a:srgbClr val="FF0000"/>
                </a:solidFill>
                <a:latin typeface="Courier New"/>
                <a:ea typeface="Courier New"/>
                <a:cs typeface="Courier New"/>
                <a:sym typeface="Courier New"/>
              </a:rPr>
              <a:t>IOException</a:t>
            </a:r>
            <a:r>
              <a:rPr lang="en" sz="1300">
                <a:solidFill>
                  <a:srgbClr val="FF0000"/>
                </a:solidFill>
              </a:rPr>
              <a:t> </a:t>
            </a:r>
            <a:r>
              <a:rPr lang="en" sz="1300"/>
              <a:t>occurs, print an error message and exit.</a:t>
            </a:r>
            <a:endParaRPr sz="1300"/>
          </a:p>
          <a:p>
            <a:pPr indent="-323850" lvl="0" marL="457200" rtl="0" algn="l">
              <a:spcBef>
                <a:spcPts val="0"/>
              </a:spcBef>
              <a:spcAft>
                <a:spcPts val="0"/>
              </a:spcAft>
              <a:buSzPts val="1500"/>
              <a:buChar char="●"/>
            </a:pPr>
            <a:r>
              <a:rPr lang="en" sz="1500"/>
              <a:t>Run the class.</a:t>
            </a:r>
            <a:endParaRPr sz="1500"/>
          </a:p>
        </p:txBody>
      </p:sp>
      <p:sp>
        <p:nvSpPr>
          <p:cNvPr id="861" name="Google Shape;861;p80"/>
          <p:cNvSpPr txBox="1"/>
          <p:nvPr>
            <p:ph type="title"/>
          </p:nvPr>
        </p:nvSpPr>
        <p:spPr>
          <a:xfrm>
            <a:off x="1436850" y="100"/>
            <a:ext cx="7642500" cy="6312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900"/>
              <a:t>Handling Checked Exceptions</a:t>
            </a:r>
            <a:endParaRPr sz="2900"/>
          </a:p>
        </p:txBody>
      </p:sp>
      <p:sp>
        <p:nvSpPr>
          <p:cNvPr id="862" name="Google Shape;862;p8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4.17</a:t>
            </a:r>
            <a:endParaRPr/>
          </a:p>
        </p:txBody>
      </p:sp>
      <p:sp>
        <p:nvSpPr>
          <p:cNvPr id="863" name="Google Shape;863;p80"/>
          <p:cNvSpPr txBox="1"/>
          <p:nvPr/>
        </p:nvSpPr>
        <p:spPr>
          <a:xfrm>
            <a:off x="243850" y="1545975"/>
            <a:ext cx="2727000" cy="989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throws</a:t>
            </a:r>
            <a:r>
              <a:rPr lang="en" sz="1050">
                <a:latin typeface="Consolas"/>
                <a:ea typeface="Consolas"/>
                <a:cs typeface="Consolas"/>
                <a:sym typeface="Consolas"/>
              </a:rPr>
              <a:t> AnException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795E26"/>
                </a:solidFill>
                <a:latin typeface="Consolas"/>
                <a:ea typeface="Consolas"/>
                <a:cs typeface="Consolas"/>
                <a:sym typeface="Consolas"/>
              </a:rPr>
              <a:t>aMethod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864" name="Google Shape;864;p80"/>
          <p:cNvSpPr txBox="1"/>
          <p:nvPr/>
        </p:nvSpPr>
        <p:spPr>
          <a:xfrm>
            <a:off x="243850" y="886050"/>
            <a:ext cx="2727000" cy="531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One way to handle a checked exception is to </a:t>
            </a:r>
            <a:r>
              <a:rPr b="1" i="1" lang="en" sz="1200">
                <a:solidFill>
                  <a:srgbClr val="FF0000"/>
                </a:solidFill>
              </a:rPr>
              <a:t>rethrow it</a:t>
            </a:r>
            <a:r>
              <a:rPr lang="en" sz="1200"/>
              <a:t>.</a:t>
            </a:r>
            <a:endParaRPr sz="1200"/>
          </a:p>
        </p:txBody>
      </p:sp>
      <p:sp>
        <p:nvSpPr>
          <p:cNvPr id="865" name="Google Shape;865;p80"/>
          <p:cNvSpPr txBox="1"/>
          <p:nvPr/>
        </p:nvSpPr>
        <p:spPr>
          <a:xfrm>
            <a:off x="243850" y="3100125"/>
            <a:ext cx="2727000" cy="1290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try</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catch</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RuntimeException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doSomethingElse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866" name="Google Shape;866;p80"/>
          <p:cNvSpPr txBox="1"/>
          <p:nvPr/>
        </p:nvSpPr>
        <p:spPr>
          <a:xfrm>
            <a:off x="243850" y="2638650"/>
            <a:ext cx="2727000" cy="35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Another is to </a:t>
            </a:r>
            <a:r>
              <a:rPr lang="en" sz="1200">
                <a:solidFill>
                  <a:srgbClr val="FF0000"/>
                </a:solidFill>
                <a:latin typeface="Courier New"/>
                <a:ea typeface="Courier New"/>
                <a:cs typeface="Courier New"/>
                <a:sym typeface="Courier New"/>
              </a:rPr>
              <a:t>try</a:t>
            </a:r>
            <a:r>
              <a:rPr lang="en" sz="1200">
                <a:solidFill>
                  <a:srgbClr val="FF0000"/>
                </a:solidFill>
              </a:rPr>
              <a:t>/</a:t>
            </a:r>
            <a:r>
              <a:rPr lang="en" sz="1200">
                <a:solidFill>
                  <a:srgbClr val="FF0000"/>
                </a:solidFill>
                <a:latin typeface="Courier New"/>
                <a:ea typeface="Courier New"/>
                <a:cs typeface="Courier New"/>
                <a:sym typeface="Courier New"/>
              </a:rPr>
              <a:t>catch</a:t>
            </a:r>
            <a:r>
              <a:rPr lang="en" sz="1200"/>
              <a:t> it.</a:t>
            </a:r>
            <a:endParaRPr sz="1200"/>
          </a:p>
        </p:txBody>
      </p:sp>
      <p:pic>
        <p:nvPicPr>
          <p:cNvPr id="867" name="Google Shape;867;p80"/>
          <p:cNvPicPr preferRelativeResize="0"/>
          <p:nvPr/>
        </p:nvPicPr>
        <p:blipFill>
          <a:blip r:embed="rId3">
            <a:alphaModFix/>
          </a:blip>
          <a:stretch>
            <a:fillRect/>
          </a:stretch>
        </p:blipFill>
        <p:spPr>
          <a:xfrm>
            <a:off x="7623240" y="136600"/>
            <a:ext cx="1397911" cy="3582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8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3" name="Google Shape;873;p81"/>
          <p:cNvSpPr txBox="1"/>
          <p:nvPr>
            <p:ph type="title"/>
          </p:nvPr>
        </p:nvSpPr>
        <p:spPr>
          <a:xfrm>
            <a:off x="5188525" y="437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Writing Text Files</a:t>
            </a:r>
            <a:endParaRPr/>
          </a:p>
        </p:txBody>
      </p:sp>
      <p:sp>
        <p:nvSpPr>
          <p:cNvPr id="874" name="Google Shape;874;p81"/>
          <p:cNvSpPr txBox="1"/>
          <p:nvPr>
            <p:ph idx="1" type="body"/>
          </p:nvPr>
        </p:nvSpPr>
        <p:spPr>
          <a:xfrm>
            <a:off x="90450" y="119925"/>
            <a:ext cx="4587600" cy="47262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The </a:t>
            </a:r>
            <a:r>
              <a:rPr lang="en" u="sng">
                <a:solidFill>
                  <a:srgbClr val="FF0000"/>
                </a:solidFill>
                <a:latin typeface="Courier New"/>
                <a:ea typeface="Courier New"/>
                <a:cs typeface="Courier New"/>
                <a:sym typeface="Courier New"/>
                <a:hlinkClick r:id="rId3">
                  <a:extLst>
                    <a:ext uri="{A12FA001-AC4F-418D-AE19-62706E023703}">
                      <ahyp:hlinkClr val="tx"/>
                    </a:ext>
                  </a:extLst>
                </a:hlinkClick>
              </a:rPr>
              <a:t>java.io.FileWriter</a:t>
            </a:r>
            <a:r>
              <a:rPr lang="en"/>
              <a:t> class provides methods for writing </a:t>
            </a:r>
            <a:r>
              <a:rPr b="1" i="1" lang="en">
                <a:solidFill>
                  <a:srgbClr val="FF0000"/>
                </a:solidFill>
              </a:rPr>
              <a:t>character data</a:t>
            </a:r>
            <a:r>
              <a:rPr lang="en"/>
              <a:t> to a file.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write(char c)</a:t>
            </a:r>
            <a:r>
              <a:rPr lang="en"/>
              <a:t> - writes a single character.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write(char[] buffer)</a:t>
            </a:r>
            <a:r>
              <a:rPr lang="en"/>
              <a:t> - writes an entire array of characters all at once.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flush()</a:t>
            </a:r>
            <a:r>
              <a:rPr lang="en"/>
              <a:t> - forces any data that has been </a:t>
            </a:r>
            <a:r>
              <a:rPr b="1" i="1" lang="en">
                <a:solidFill>
                  <a:srgbClr val="FF0000"/>
                </a:solidFill>
              </a:rPr>
              <a:t>buffered in memory</a:t>
            </a:r>
            <a:r>
              <a:rPr lang="en"/>
              <a:t> to be written to the file. If you do not </a:t>
            </a:r>
            <a:r>
              <a:rPr b="1" i="1" lang="en">
                <a:solidFill>
                  <a:srgbClr val="FF0000"/>
                </a:solidFill>
              </a:rPr>
              <a:t>flush</a:t>
            </a:r>
            <a:r>
              <a:rPr lang="en">
                <a:solidFill>
                  <a:srgbClr val="FF0000"/>
                </a:solidFill>
              </a:rPr>
              <a:t> </a:t>
            </a:r>
            <a:r>
              <a:rPr lang="en"/>
              <a:t>before closing the file, your data may not be written!</a:t>
            </a:r>
            <a:endParaRPr/>
          </a:p>
          <a:p>
            <a:pPr indent="-311150" lvl="0" marL="457200" rtl="0" algn="l">
              <a:spcBef>
                <a:spcPts val="0"/>
              </a:spcBef>
              <a:spcAft>
                <a:spcPts val="0"/>
              </a:spcAft>
              <a:buSzPts val="1300"/>
              <a:buChar char="●"/>
            </a:pPr>
            <a:r>
              <a:rPr lang="en"/>
              <a:t>A </a:t>
            </a:r>
            <a:r>
              <a:rPr lang="en">
                <a:latin typeface="Courier New"/>
                <a:ea typeface="Courier New"/>
                <a:cs typeface="Courier New"/>
                <a:sym typeface="Courier New"/>
              </a:rPr>
              <a:t>FileWriter</a:t>
            </a:r>
            <a:r>
              <a:rPr lang="en"/>
              <a:t> is a little hard to use because it only supports writing characters (one at a time or in chunks). The </a:t>
            </a:r>
            <a:r>
              <a:rPr lang="en" u="sng">
                <a:solidFill>
                  <a:srgbClr val="FF0000"/>
                </a:solidFill>
                <a:latin typeface="Courier New"/>
                <a:ea typeface="Courier New"/>
                <a:cs typeface="Courier New"/>
                <a:sym typeface="Courier New"/>
                <a:hlinkClick r:id="rId4">
                  <a:extLst>
                    <a:ext uri="{A12FA001-AC4F-418D-AE19-62706E023703}">
                      <ahyp:hlinkClr val="tx"/>
                    </a:ext>
                  </a:extLst>
                </a:hlinkClick>
              </a:rPr>
              <a:t>java.io.PrintWriter</a:t>
            </a:r>
            <a:r>
              <a:rPr lang="en">
                <a:solidFill>
                  <a:srgbClr val="FF0000"/>
                </a:solidFill>
              </a:rPr>
              <a:t> </a:t>
            </a:r>
            <a:r>
              <a:rPr lang="en"/>
              <a:t>class can be constructed </a:t>
            </a:r>
            <a:r>
              <a:rPr b="1" i="1" lang="en">
                <a:solidFill>
                  <a:srgbClr val="FF0000"/>
                </a:solidFill>
              </a:rPr>
              <a:t>with</a:t>
            </a:r>
            <a:r>
              <a:rPr lang="en"/>
              <a:t> a </a:t>
            </a:r>
            <a:r>
              <a:rPr lang="en">
                <a:latin typeface="Courier New"/>
                <a:ea typeface="Courier New"/>
                <a:cs typeface="Courier New"/>
                <a:sym typeface="Courier New"/>
              </a:rPr>
              <a:t>FileWriter</a:t>
            </a:r>
            <a:r>
              <a:rPr lang="en"/>
              <a:t> and provides methods that are easier to use. Anything </a:t>
            </a:r>
            <a:r>
              <a:rPr b="1" i="1" lang="en">
                <a:solidFill>
                  <a:srgbClr val="FF0000"/>
                </a:solidFill>
              </a:rPr>
              <a:t>printed</a:t>
            </a:r>
            <a:r>
              <a:rPr lang="en"/>
              <a:t> to the </a:t>
            </a:r>
            <a:r>
              <a:rPr lang="en">
                <a:latin typeface="Courier New"/>
                <a:ea typeface="Courier New"/>
                <a:cs typeface="Courier New"/>
                <a:sym typeface="Courier New"/>
              </a:rPr>
              <a:t>PrintWriter</a:t>
            </a:r>
            <a:r>
              <a:rPr lang="en"/>
              <a:t> is </a:t>
            </a:r>
            <a:r>
              <a:rPr b="1" i="1" lang="en">
                <a:solidFill>
                  <a:srgbClr val="FF0000"/>
                </a:solidFill>
              </a:rPr>
              <a:t>written</a:t>
            </a:r>
            <a:r>
              <a:rPr lang="en"/>
              <a:t> out to the </a:t>
            </a:r>
            <a:r>
              <a:rPr lang="en">
                <a:latin typeface="Courier New"/>
                <a:ea typeface="Courier New"/>
                <a:cs typeface="Courier New"/>
                <a:sym typeface="Courier New"/>
              </a:rPr>
              <a:t>FileWriter</a:t>
            </a:r>
            <a:r>
              <a:rPr lang="en"/>
              <a:t>. </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print(String s)</a:t>
            </a:r>
            <a:r>
              <a:rPr lang="en"/>
              <a:t> - writes the string to the FileWriter.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println(String s)</a:t>
            </a:r>
            <a:r>
              <a:rPr lang="en"/>
              <a:t> - writes the string followed by a newline.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print(int i)</a:t>
            </a:r>
            <a:r>
              <a:rPr lang="en"/>
              <a:t> - prints the integer as a string, e.g. </a:t>
            </a:r>
            <a:r>
              <a:rPr lang="en">
                <a:solidFill>
                  <a:srgbClr val="FF0000"/>
                </a:solidFill>
                <a:latin typeface="Courier New"/>
                <a:ea typeface="Courier New"/>
                <a:cs typeface="Courier New"/>
                <a:sym typeface="Courier New"/>
              </a:rPr>
              <a:t>"123"</a:t>
            </a:r>
            <a:r>
              <a:rPr lang="en"/>
              <a:t>. There is a similar methods for each primitive type.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flush()</a:t>
            </a:r>
            <a:r>
              <a:rPr lang="en"/>
              <a:t> - flushes any buffered data out to the file. Again, data that is not flushed may not be written!</a:t>
            </a:r>
            <a:endParaRPr/>
          </a:p>
        </p:txBody>
      </p:sp>
      <p:sp>
        <p:nvSpPr>
          <p:cNvPr id="875" name="Google Shape;875;p81"/>
          <p:cNvSpPr txBox="1"/>
          <p:nvPr>
            <p:ph idx="2" type="body"/>
          </p:nvPr>
        </p:nvSpPr>
        <p:spPr>
          <a:xfrm>
            <a:off x="5171646" y="1906575"/>
            <a:ext cx="3825600" cy="1596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FileWriter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fw</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FileWriter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"a_file.txt"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PrintWriter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PrintWriter</a:t>
            </a:r>
            <a:r>
              <a:rPr lang="en" sz="1000">
                <a:solidFill>
                  <a:srgbClr val="000000"/>
                </a:solidFill>
                <a:latin typeface="Consolas"/>
                <a:ea typeface="Consolas"/>
                <a:cs typeface="Consolas"/>
                <a:sym typeface="Consolas"/>
              </a:rPr>
              <a:t>(fw);</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"Your age is: "</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18</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 years old."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flush</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close</a:t>
            </a:r>
            <a:r>
              <a:rPr lang="en" sz="100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76" name="Google Shape;876;p81"/>
          <p:cNvSpPr/>
          <p:nvPr/>
        </p:nvSpPr>
        <p:spPr>
          <a:xfrm>
            <a:off x="5011506" y="947300"/>
            <a:ext cx="439825" cy="1139700"/>
          </a:xfrm>
          <a:custGeom>
            <a:rect b="b" l="l" r="r" t="t"/>
            <a:pathLst>
              <a:path extrusionOk="0" h="45588" w="17593">
                <a:moveTo>
                  <a:pt x="9008" y="0"/>
                </a:moveTo>
                <a:cubicBezTo>
                  <a:pt x="7577" y="2960"/>
                  <a:pt x="1410" y="11841"/>
                  <a:pt x="423" y="17761"/>
                </a:cubicBezTo>
                <a:cubicBezTo>
                  <a:pt x="-564" y="23682"/>
                  <a:pt x="225" y="30885"/>
                  <a:pt x="3087" y="35523"/>
                </a:cubicBezTo>
                <a:cubicBezTo>
                  <a:pt x="5949" y="40161"/>
                  <a:pt x="15175" y="43911"/>
                  <a:pt x="17593" y="45588"/>
                </a:cubicBezTo>
              </a:path>
            </a:pathLst>
          </a:custGeom>
          <a:noFill/>
          <a:ln cap="flat" cmpd="sng" w="19050">
            <a:solidFill>
              <a:srgbClr val="FF0000"/>
            </a:solidFill>
            <a:prstDash val="solid"/>
            <a:round/>
            <a:headEnd len="med" w="med" type="none"/>
            <a:tailEnd len="med" w="med" type="triangle"/>
          </a:ln>
        </p:spPr>
      </p:sp>
      <p:sp>
        <p:nvSpPr>
          <p:cNvPr id="877" name="Google Shape;877;p81"/>
          <p:cNvSpPr txBox="1"/>
          <p:nvPr>
            <p:ph idx="3" type="body"/>
          </p:nvPr>
        </p:nvSpPr>
        <p:spPr>
          <a:xfrm>
            <a:off x="5171646" y="670575"/>
            <a:ext cx="3825600" cy="691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FileWriter</a:t>
            </a:r>
            <a:r>
              <a:rPr lang="en" sz="1200">
                <a:solidFill>
                  <a:srgbClr val="FF0000"/>
                </a:solidFill>
              </a:rPr>
              <a:t> </a:t>
            </a:r>
            <a:r>
              <a:rPr lang="en" sz="1200"/>
              <a:t>can be created with a </a:t>
            </a:r>
            <a:r>
              <a:rPr b="1" i="1" lang="en" sz="1200">
                <a:solidFill>
                  <a:srgbClr val="FF0000"/>
                </a:solidFill>
              </a:rPr>
              <a:t>filename </a:t>
            </a:r>
            <a:r>
              <a:rPr lang="en" sz="1200"/>
              <a:t>to write </a:t>
            </a:r>
            <a:r>
              <a:rPr b="1" i="1" lang="en" sz="1200">
                <a:solidFill>
                  <a:srgbClr val="FF0000"/>
                </a:solidFill>
              </a:rPr>
              <a:t>character data</a:t>
            </a:r>
            <a:r>
              <a:rPr lang="en" sz="1200"/>
              <a:t> out to the file, but a </a:t>
            </a:r>
            <a:r>
              <a:rPr lang="en" sz="1200">
                <a:latin typeface="Courier New"/>
                <a:ea typeface="Courier New"/>
                <a:cs typeface="Courier New"/>
                <a:sym typeface="Courier New"/>
              </a:rPr>
              <a:t>FileWriter</a:t>
            </a:r>
            <a:r>
              <a:rPr lang="en" sz="1200"/>
              <a:t> can be a little </a:t>
            </a:r>
            <a:r>
              <a:rPr b="1" i="1" lang="en" sz="1200">
                <a:solidFill>
                  <a:srgbClr val="FF0000"/>
                </a:solidFill>
              </a:rPr>
              <a:t>clunky </a:t>
            </a:r>
            <a:r>
              <a:rPr lang="en" sz="1200"/>
              <a:t>to use.</a:t>
            </a:r>
            <a:endParaRPr sz="1200"/>
          </a:p>
        </p:txBody>
      </p:sp>
      <p:sp>
        <p:nvSpPr>
          <p:cNvPr id="878" name="Google Shape;878;p81"/>
          <p:cNvSpPr/>
          <p:nvPr/>
        </p:nvSpPr>
        <p:spPr>
          <a:xfrm>
            <a:off x="8488625" y="1665150"/>
            <a:ext cx="422400" cy="636475"/>
          </a:xfrm>
          <a:custGeom>
            <a:rect b="b" l="l" r="r" t="t"/>
            <a:pathLst>
              <a:path extrusionOk="0" h="25459" w="16896">
                <a:moveTo>
                  <a:pt x="13321" y="0"/>
                </a:moveTo>
                <a:cubicBezTo>
                  <a:pt x="13815" y="3503"/>
                  <a:pt x="18502" y="16776"/>
                  <a:pt x="16282" y="21019"/>
                </a:cubicBezTo>
                <a:cubicBezTo>
                  <a:pt x="14062" y="25262"/>
                  <a:pt x="2714" y="24719"/>
                  <a:pt x="0" y="25459"/>
                </a:cubicBezTo>
              </a:path>
            </a:pathLst>
          </a:custGeom>
          <a:noFill/>
          <a:ln cap="flat" cmpd="sng" w="19050">
            <a:solidFill>
              <a:srgbClr val="FF0000"/>
            </a:solidFill>
            <a:prstDash val="solid"/>
            <a:round/>
            <a:headEnd len="med" w="med" type="none"/>
            <a:tailEnd len="med" w="med" type="triangle"/>
          </a:ln>
        </p:spPr>
      </p:sp>
      <p:sp>
        <p:nvSpPr>
          <p:cNvPr id="879" name="Google Shape;879;p81"/>
          <p:cNvSpPr txBox="1"/>
          <p:nvPr>
            <p:ph idx="3" type="body"/>
          </p:nvPr>
        </p:nvSpPr>
        <p:spPr>
          <a:xfrm>
            <a:off x="5171646" y="1458525"/>
            <a:ext cx="3825600" cy="351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can be created with a </a:t>
            </a:r>
            <a:r>
              <a:rPr lang="en" sz="1200">
                <a:latin typeface="Courier New"/>
                <a:ea typeface="Courier New"/>
                <a:cs typeface="Courier New"/>
                <a:sym typeface="Courier New"/>
              </a:rPr>
              <a:t>FileWriter</a:t>
            </a:r>
            <a:r>
              <a:rPr lang="en" sz="1200"/>
              <a:t>.</a:t>
            </a:r>
            <a:endParaRPr sz="1200"/>
          </a:p>
        </p:txBody>
      </p:sp>
      <p:grpSp>
        <p:nvGrpSpPr>
          <p:cNvPr id="880" name="Google Shape;880;p81"/>
          <p:cNvGrpSpPr/>
          <p:nvPr/>
        </p:nvGrpSpPr>
        <p:grpSpPr>
          <a:xfrm>
            <a:off x="6722050" y="2501450"/>
            <a:ext cx="1859725" cy="1176700"/>
            <a:chOff x="6722050" y="2501450"/>
            <a:chExt cx="1859725" cy="1176700"/>
          </a:xfrm>
        </p:grpSpPr>
        <p:sp>
          <p:nvSpPr>
            <p:cNvPr id="881" name="Google Shape;881;p81"/>
            <p:cNvSpPr/>
            <p:nvPr/>
          </p:nvSpPr>
          <p:spPr>
            <a:xfrm>
              <a:off x="7536124" y="2923276"/>
              <a:ext cx="370659" cy="747475"/>
            </a:xfrm>
            <a:custGeom>
              <a:rect b="b" l="l" r="r" t="t"/>
              <a:pathLst>
                <a:path extrusionOk="0" h="29899" w="9498">
                  <a:moveTo>
                    <a:pt x="0" y="29899"/>
                  </a:moveTo>
                  <a:cubicBezTo>
                    <a:pt x="1579" y="25656"/>
                    <a:pt x="9276" y="9424"/>
                    <a:pt x="9473" y="4441"/>
                  </a:cubicBezTo>
                  <a:cubicBezTo>
                    <a:pt x="9670" y="-542"/>
                    <a:pt x="2566" y="740"/>
                    <a:pt x="1184" y="0"/>
                  </a:cubicBezTo>
                </a:path>
              </a:pathLst>
            </a:custGeom>
            <a:noFill/>
            <a:ln cap="flat" cmpd="sng" w="19050">
              <a:solidFill>
                <a:srgbClr val="FF0000"/>
              </a:solidFill>
              <a:prstDash val="solid"/>
              <a:round/>
              <a:headEnd len="med" w="med" type="none"/>
              <a:tailEnd len="med" w="med" type="triangle"/>
            </a:ln>
          </p:spPr>
        </p:sp>
        <p:sp>
          <p:nvSpPr>
            <p:cNvPr id="882" name="Google Shape;882;p81"/>
            <p:cNvSpPr/>
            <p:nvPr/>
          </p:nvSpPr>
          <p:spPr>
            <a:xfrm>
              <a:off x="6722050" y="2705742"/>
              <a:ext cx="1462675" cy="972400"/>
            </a:xfrm>
            <a:custGeom>
              <a:rect b="b" l="l" r="r" t="t"/>
              <a:pathLst>
                <a:path extrusionOk="0" h="38896" w="58507">
                  <a:moveTo>
                    <a:pt x="37299" y="38896"/>
                  </a:moveTo>
                  <a:cubicBezTo>
                    <a:pt x="40654" y="33074"/>
                    <a:pt x="63646" y="10379"/>
                    <a:pt x="57429" y="3965"/>
                  </a:cubicBezTo>
                  <a:cubicBezTo>
                    <a:pt x="51213" y="-2449"/>
                    <a:pt x="9572" y="1005"/>
                    <a:pt x="0" y="413"/>
                  </a:cubicBezTo>
                </a:path>
              </a:pathLst>
            </a:custGeom>
            <a:noFill/>
            <a:ln cap="flat" cmpd="sng" w="19050">
              <a:solidFill>
                <a:srgbClr val="FF0000"/>
              </a:solidFill>
              <a:prstDash val="solid"/>
              <a:round/>
              <a:headEnd len="med" w="med" type="none"/>
              <a:tailEnd len="med" w="med" type="triangle"/>
            </a:ln>
          </p:spPr>
        </p:sp>
        <p:sp>
          <p:nvSpPr>
            <p:cNvPr id="883" name="Google Shape;883;p81"/>
            <p:cNvSpPr/>
            <p:nvPr/>
          </p:nvSpPr>
          <p:spPr>
            <a:xfrm>
              <a:off x="7610125" y="2501450"/>
              <a:ext cx="971650" cy="1176700"/>
            </a:xfrm>
            <a:custGeom>
              <a:rect b="b" l="l" r="r" t="t"/>
              <a:pathLst>
                <a:path extrusionOk="0" h="47068" w="38866">
                  <a:moveTo>
                    <a:pt x="8289" y="47068"/>
                  </a:moveTo>
                  <a:cubicBezTo>
                    <a:pt x="13371" y="40259"/>
                    <a:pt x="40162" y="14061"/>
                    <a:pt x="38780" y="6216"/>
                  </a:cubicBezTo>
                  <a:cubicBezTo>
                    <a:pt x="37399" y="-1629"/>
                    <a:pt x="6463" y="1036"/>
                    <a:pt x="0" y="0"/>
                  </a:cubicBezTo>
                </a:path>
              </a:pathLst>
            </a:custGeom>
            <a:noFill/>
            <a:ln cap="flat" cmpd="sng" w="19050">
              <a:solidFill>
                <a:srgbClr val="FF0000"/>
              </a:solidFill>
              <a:prstDash val="solid"/>
              <a:round/>
              <a:headEnd len="med" w="med" type="none"/>
              <a:tailEnd len="med" w="med" type="triangle"/>
            </a:ln>
          </p:spPr>
        </p:sp>
      </p:grpSp>
      <p:sp>
        <p:nvSpPr>
          <p:cNvPr id="884" name="Google Shape;884;p81"/>
          <p:cNvSpPr txBox="1"/>
          <p:nvPr>
            <p:ph idx="3" type="body"/>
          </p:nvPr>
        </p:nvSpPr>
        <p:spPr>
          <a:xfrm>
            <a:off x="5171646" y="3598725"/>
            <a:ext cx="3825600" cy="835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provides many </a:t>
            </a:r>
            <a:r>
              <a:rPr b="1" i="1" lang="en" sz="1200">
                <a:solidFill>
                  <a:srgbClr val="FF0000"/>
                </a:solidFill>
              </a:rPr>
              <a:t>convenience methods</a:t>
            </a:r>
            <a:r>
              <a:rPr lang="en" sz="1200"/>
              <a:t> for printing data. Anything </a:t>
            </a:r>
            <a:r>
              <a:rPr b="1" i="1" lang="en" sz="1200">
                <a:solidFill>
                  <a:srgbClr val="FF0000"/>
                </a:solidFill>
              </a:rPr>
              <a:t>printed </a:t>
            </a:r>
            <a:r>
              <a:rPr lang="en" sz="1200"/>
              <a:t>using the </a:t>
            </a:r>
            <a:r>
              <a:rPr lang="en" sz="1200">
                <a:latin typeface="Courier New"/>
                <a:ea typeface="Courier New"/>
                <a:cs typeface="Courier New"/>
                <a:sym typeface="Courier New"/>
              </a:rPr>
              <a:t>PrintWriter</a:t>
            </a:r>
            <a:r>
              <a:rPr lang="en" sz="1200"/>
              <a:t> is </a:t>
            </a:r>
            <a:r>
              <a:rPr b="1" i="1" lang="en" sz="1200">
                <a:solidFill>
                  <a:srgbClr val="FF0000"/>
                </a:solidFill>
              </a:rPr>
              <a:t>written </a:t>
            </a:r>
            <a:r>
              <a:rPr lang="en" sz="1200"/>
              <a:t>to the </a:t>
            </a:r>
            <a:r>
              <a:rPr lang="en" sz="1200">
                <a:latin typeface="Courier New"/>
                <a:ea typeface="Courier New"/>
                <a:cs typeface="Courier New"/>
                <a:sym typeface="Courier New"/>
              </a:rPr>
              <a:t>FileWriter</a:t>
            </a:r>
            <a:r>
              <a:rPr lang="en" sz="1200"/>
              <a:t> as character data.</a:t>
            </a:r>
            <a:endParaRPr sz="1200"/>
          </a:p>
        </p:txBody>
      </p:sp>
      <p:sp>
        <p:nvSpPr>
          <p:cNvPr id="885" name="Google Shape;885;p81"/>
          <p:cNvSpPr/>
          <p:nvPr/>
        </p:nvSpPr>
        <p:spPr>
          <a:xfrm>
            <a:off x="4902051" y="3191896"/>
            <a:ext cx="559675" cy="1628175"/>
          </a:xfrm>
          <a:custGeom>
            <a:rect b="b" l="l" r="r" t="t"/>
            <a:pathLst>
              <a:path extrusionOk="0" h="65127" w="22387">
                <a:moveTo>
                  <a:pt x="13506" y="65127"/>
                </a:moveTo>
                <a:cubicBezTo>
                  <a:pt x="11286" y="56542"/>
                  <a:pt x="-1295" y="24473"/>
                  <a:pt x="185" y="13618"/>
                </a:cubicBezTo>
                <a:cubicBezTo>
                  <a:pt x="1665" y="2764"/>
                  <a:pt x="18687" y="2270"/>
                  <a:pt x="22387" y="0"/>
                </a:cubicBezTo>
              </a:path>
            </a:pathLst>
          </a:custGeom>
          <a:noFill/>
          <a:ln cap="flat" cmpd="sng" w="19050">
            <a:solidFill>
              <a:srgbClr val="FF0000"/>
            </a:solidFill>
            <a:prstDash val="solid"/>
            <a:round/>
            <a:headEnd len="med" w="med" type="none"/>
            <a:tailEnd len="med" w="med" type="triangle"/>
          </a:ln>
        </p:spPr>
      </p:sp>
      <p:sp>
        <p:nvSpPr>
          <p:cNvPr id="886" name="Google Shape;886;p81"/>
          <p:cNvSpPr txBox="1"/>
          <p:nvPr>
            <p:ph idx="3" type="body"/>
          </p:nvPr>
        </p:nvSpPr>
        <p:spPr>
          <a:xfrm>
            <a:off x="5171646" y="4506525"/>
            <a:ext cx="38256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Data should be </a:t>
            </a:r>
            <a:r>
              <a:rPr b="1" i="1" lang="en" sz="1200">
                <a:solidFill>
                  <a:srgbClr val="FF0000"/>
                </a:solidFill>
              </a:rPr>
              <a:t>flushed</a:t>
            </a:r>
            <a:r>
              <a:rPr lang="en" sz="1200">
                <a:solidFill>
                  <a:srgbClr val="FF0000"/>
                </a:solidFill>
              </a:rPr>
              <a:t> </a:t>
            </a:r>
            <a:r>
              <a:rPr lang="en" sz="1200"/>
              <a:t>and the </a:t>
            </a:r>
            <a:r>
              <a:rPr lang="en" sz="1200">
                <a:latin typeface="Courier New"/>
                <a:ea typeface="Courier New"/>
                <a:cs typeface="Courier New"/>
                <a:sym typeface="Courier New"/>
              </a:rPr>
              <a:t>PrintWriter</a:t>
            </a:r>
            <a:r>
              <a:rPr lang="en" sz="1200"/>
              <a:t> should be </a:t>
            </a:r>
            <a:r>
              <a:rPr b="1" i="1" lang="en" sz="1200">
                <a:solidFill>
                  <a:srgbClr val="FF0000"/>
                </a:solidFill>
              </a:rPr>
              <a:t>closed</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1000"/>
                                        <p:tgtEl>
                                          <p:spTgt spid="877"/>
                                        </p:tgtEl>
                                      </p:cBhvr>
                                    </p:animEffect>
                                  </p:childTnLst>
                                </p:cTn>
                              </p:par>
                              <p:par>
                                <p:cTn fill="hold" nodeType="with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1000"/>
                                        <p:tgtEl>
                                          <p:spTgt spid="8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10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1000"/>
                                        <p:tgtEl>
                                          <p:spTgt spid="8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1000"/>
                                        <p:tgtEl>
                                          <p:spTgt spid="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82"/>
          <p:cNvSpPr txBox="1"/>
          <p:nvPr>
            <p:ph idx="1" type="body"/>
          </p:nvPr>
        </p:nvSpPr>
        <p:spPr>
          <a:xfrm>
            <a:off x="65250" y="6554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Using Java to write to text files is just as complicated as reading files. It will take lots of practice for you to get used to it. Using the code examples below and the code you wrote for previous activities in this unit, write a command-line text editing tool that saves text that the user types to a file.</a:t>
            </a:r>
            <a:endParaRPr/>
          </a:p>
        </p:txBody>
      </p:sp>
      <p:sp>
        <p:nvSpPr>
          <p:cNvPr id="892" name="Google Shape;892;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3" name="Google Shape;893;p82"/>
          <p:cNvSpPr txBox="1"/>
          <p:nvPr>
            <p:ph idx="2" type="body"/>
          </p:nvPr>
        </p:nvSpPr>
        <p:spPr>
          <a:xfrm>
            <a:off x="3279250" y="1936925"/>
            <a:ext cx="5661900" cy="28074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TextEdit</a:t>
            </a:r>
            <a:r>
              <a:rPr lang="en" sz="1400"/>
              <a:t>" and define a </a:t>
            </a:r>
            <a:r>
              <a:rPr lang="en" sz="1400">
                <a:solidFill>
                  <a:srgbClr val="FF0000"/>
                </a:solidFill>
                <a:latin typeface="Courier New"/>
                <a:ea typeface="Courier New"/>
                <a:cs typeface="Courier New"/>
                <a:sym typeface="Courier New"/>
              </a:rPr>
              <a:t>main</a:t>
            </a:r>
            <a:r>
              <a:rPr lang="en" sz="1400">
                <a:solidFill>
                  <a:srgbClr val="FF0000"/>
                </a:solidFill>
              </a:rPr>
              <a:t> </a:t>
            </a:r>
            <a:r>
              <a:rPr lang="en" sz="1400"/>
              <a:t>method with the appropriate signature.</a:t>
            </a:r>
            <a:endParaRPr sz="1400"/>
          </a:p>
          <a:p>
            <a:pPr indent="-304800" lvl="1" marL="914400" rtl="0" algn="l">
              <a:spcBef>
                <a:spcPts val="0"/>
              </a:spcBef>
              <a:spcAft>
                <a:spcPts val="0"/>
              </a:spcAft>
              <a:buSzPts val="1200"/>
              <a:buChar char="○"/>
            </a:pPr>
            <a:r>
              <a:rPr lang="en" sz="1200"/>
              <a:t>Prompt the user to enter a </a:t>
            </a:r>
            <a:r>
              <a:rPr b="1" i="1" lang="en" sz="1200">
                <a:solidFill>
                  <a:srgbClr val="FF0000"/>
                </a:solidFill>
              </a:rPr>
              <a:t>filename </a:t>
            </a:r>
            <a:r>
              <a:rPr lang="en" sz="1200"/>
              <a:t>and use it to create a </a:t>
            </a:r>
            <a:r>
              <a:rPr lang="en" sz="1200">
                <a:solidFill>
                  <a:srgbClr val="FF0000"/>
                </a:solidFill>
                <a:latin typeface="Courier New"/>
                <a:ea typeface="Courier New"/>
                <a:cs typeface="Courier New"/>
                <a:sym typeface="Courier New"/>
              </a:rPr>
              <a:t>FileWriter</a:t>
            </a:r>
            <a:r>
              <a:rPr lang="en" sz="1200"/>
              <a:t>.</a:t>
            </a:r>
            <a:endParaRPr sz="1200"/>
          </a:p>
          <a:p>
            <a:pPr indent="-304800" lvl="1" marL="914400" rtl="0" algn="l">
              <a:spcBef>
                <a:spcPts val="0"/>
              </a:spcBef>
              <a:spcAft>
                <a:spcPts val="0"/>
              </a:spcAft>
              <a:buSzPts val="1200"/>
              <a:buChar char="○"/>
            </a:pPr>
            <a:r>
              <a:rPr lang="en" sz="1200"/>
              <a:t>Use the </a:t>
            </a:r>
            <a:r>
              <a:rPr lang="en" sz="1200">
                <a:latin typeface="Courier New"/>
                <a:ea typeface="Courier New"/>
                <a:cs typeface="Courier New"/>
                <a:sym typeface="Courier New"/>
              </a:rPr>
              <a:t>FileWriter</a:t>
            </a:r>
            <a:r>
              <a:rPr lang="en" sz="1200"/>
              <a:t> to create a </a:t>
            </a:r>
            <a:r>
              <a:rPr lang="en" sz="1200">
                <a:solidFill>
                  <a:srgbClr val="FF0000"/>
                </a:solidFill>
                <a:latin typeface="Courier New"/>
                <a:ea typeface="Courier New"/>
                <a:cs typeface="Courier New"/>
                <a:sym typeface="Courier New"/>
              </a:rPr>
              <a:t>Print</a:t>
            </a:r>
            <a:r>
              <a:rPr lang="en" sz="1200">
                <a:solidFill>
                  <a:srgbClr val="FF0000"/>
                </a:solidFill>
                <a:latin typeface="Courier New"/>
                <a:ea typeface="Courier New"/>
                <a:cs typeface="Courier New"/>
                <a:sym typeface="Courier New"/>
              </a:rPr>
              <a:t>Writer</a:t>
            </a:r>
            <a:r>
              <a:rPr lang="en" sz="1200">
                <a:solidFill>
                  <a:srgbClr val="FF0000"/>
                </a:solidFill>
              </a:rPr>
              <a:t> </a:t>
            </a:r>
            <a:r>
              <a:rPr lang="en" sz="1200"/>
              <a:t>that you will use to </a:t>
            </a:r>
            <a:r>
              <a:rPr b="1" i="1" lang="en" sz="1200">
                <a:solidFill>
                  <a:srgbClr val="FF0000"/>
                </a:solidFill>
              </a:rPr>
              <a:t>print lines to the file</a:t>
            </a:r>
            <a:r>
              <a:rPr lang="en" sz="1200"/>
              <a:t>.</a:t>
            </a:r>
            <a:endParaRPr sz="1200"/>
          </a:p>
          <a:p>
            <a:pPr indent="-304800" lvl="1" marL="914400" rtl="0" algn="l">
              <a:spcBef>
                <a:spcPts val="0"/>
              </a:spcBef>
              <a:spcAft>
                <a:spcPts val="0"/>
              </a:spcAft>
              <a:buSzPts val="1200"/>
              <a:buChar char="○"/>
            </a:pPr>
            <a:r>
              <a:rPr lang="en" sz="1200"/>
              <a:t>Use a </a:t>
            </a:r>
            <a:r>
              <a:rPr lang="en" sz="1200">
                <a:solidFill>
                  <a:srgbClr val="FF0000"/>
                </a:solidFill>
                <a:latin typeface="Courier New"/>
                <a:ea typeface="Courier New"/>
                <a:cs typeface="Courier New"/>
                <a:sym typeface="Courier New"/>
              </a:rPr>
              <a:t>Scanner</a:t>
            </a:r>
            <a:r>
              <a:rPr lang="en" sz="1200">
                <a:solidFill>
                  <a:srgbClr val="FF0000"/>
                </a:solidFill>
              </a:rPr>
              <a:t> </a:t>
            </a:r>
            <a:r>
              <a:rPr lang="en" sz="1200"/>
              <a:t>and a </a:t>
            </a:r>
            <a:r>
              <a:rPr b="1" i="1" lang="en" sz="1200">
                <a:solidFill>
                  <a:srgbClr val="FF0000"/>
                </a:solidFill>
              </a:rPr>
              <a:t>loop </a:t>
            </a:r>
            <a:r>
              <a:rPr lang="en" sz="1200"/>
              <a:t>to allow the user to enter text into </a:t>
            </a:r>
            <a:r>
              <a:rPr b="1" i="1" lang="en" sz="1200">
                <a:solidFill>
                  <a:srgbClr val="FF0000"/>
                </a:solidFill>
              </a:rPr>
              <a:t>standard input</a:t>
            </a:r>
            <a:r>
              <a:rPr lang="en" sz="1200"/>
              <a:t>. Use the </a:t>
            </a:r>
            <a:r>
              <a:rPr lang="en" sz="1200">
                <a:latin typeface="Courier New"/>
                <a:ea typeface="Courier New"/>
                <a:cs typeface="Courier New"/>
                <a:sym typeface="Courier New"/>
              </a:rPr>
              <a:t>PrintWriter</a:t>
            </a:r>
            <a:r>
              <a:rPr lang="en" sz="1200"/>
              <a:t> </a:t>
            </a:r>
            <a:r>
              <a:rPr lang="en" sz="1200"/>
              <a:t>to write each line of text to the file. Stop if the user enters a </a:t>
            </a:r>
            <a:r>
              <a:rPr b="1" i="1" lang="en" sz="1200">
                <a:solidFill>
                  <a:srgbClr val="FF0000"/>
                </a:solidFill>
              </a:rPr>
              <a:t>blank line</a:t>
            </a:r>
            <a:r>
              <a:rPr lang="en" sz="1200"/>
              <a:t>.</a:t>
            </a:r>
            <a:endParaRPr sz="1200"/>
          </a:p>
          <a:p>
            <a:pPr indent="-304800" lvl="1" marL="914400" rtl="0" algn="l">
              <a:spcBef>
                <a:spcPts val="0"/>
              </a:spcBef>
              <a:spcAft>
                <a:spcPts val="0"/>
              </a:spcAft>
              <a:buSzPts val="1200"/>
              <a:buChar char="○"/>
            </a:pPr>
            <a:r>
              <a:rPr lang="en" sz="1200"/>
              <a:t>Don't forget to </a:t>
            </a:r>
            <a:r>
              <a:rPr b="1" i="1" lang="en" sz="1200">
                <a:solidFill>
                  <a:srgbClr val="FF0000"/>
                </a:solidFill>
              </a:rPr>
              <a:t>close </a:t>
            </a:r>
            <a:r>
              <a:rPr lang="en" sz="1200"/>
              <a:t>your </a:t>
            </a:r>
            <a:r>
              <a:rPr lang="en" sz="1200">
                <a:latin typeface="Courier New"/>
                <a:ea typeface="Courier New"/>
                <a:cs typeface="Courier New"/>
                <a:sym typeface="Courier New"/>
              </a:rPr>
              <a:t>Scanner</a:t>
            </a:r>
            <a:r>
              <a:rPr lang="en" sz="1200"/>
              <a:t> and </a:t>
            </a:r>
            <a:r>
              <a:rPr lang="en" sz="1200">
                <a:latin typeface="Courier New"/>
                <a:ea typeface="Courier New"/>
                <a:cs typeface="Courier New"/>
                <a:sym typeface="Courier New"/>
              </a:rPr>
              <a:t>FileReader</a:t>
            </a:r>
            <a:r>
              <a:rPr lang="en" sz="1200"/>
              <a:t>!</a:t>
            </a:r>
            <a:endParaRPr sz="1200"/>
          </a:p>
          <a:p>
            <a:pPr indent="-304800" lvl="1" marL="914400" rtl="0" algn="l">
              <a:spcBef>
                <a:spcPts val="0"/>
              </a:spcBef>
              <a:spcAft>
                <a:spcPts val="0"/>
              </a:spcAft>
              <a:buSzPts val="1200"/>
              <a:buChar char="○"/>
            </a:pPr>
            <a:r>
              <a:rPr lang="en" sz="1200"/>
              <a:t>Use a </a:t>
            </a:r>
            <a:r>
              <a:rPr lang="en" sz="1200">
                <a:latin typeface="Courier New"/>
                <a:ea typeface="Courier New"/>
                <a:cs typeface="Courier New"/>
                <a:sym typeface="Courier New"/>
              </a:rPr>
              <a:t>try</a:t>
            </a:r>
            <a:r>
              <a:rPr lang="en" sz="1200"/>
              <a:t>/</a:t>
            </a:r>
            <a:r>
              <a:rPr lang="en" sz="1200">
                <a:latin typeface="Courier New"/>
                <a:ea typeface="Courier New"/>
                <a:cs typeface="Courier New"/>
                <a:sym typeface="Courier New"/>
              </a:rPr>
              <a:t>catch</a:t>
            </a:r>
            <a:r>
              <a:rPr lang="en" sz="1200"/>
              <a:t> to handle any exceptions and exit gracefully.</a:t>
            </a:r>
            <a:endParaRPr sz="1200"/>
          </a:p>
          <a:p>
            <a:pPr indent="-317500" lvl="0" marL="457200" rtl="0" algn="l">
              <a:spcBef>
                <a:spcPts val="0"/>
              </a:spcBef>
              <a:spcAft>
                <a:spcPts val="0"/>
              </a:spcAft>
              <a:buSzPts val="1400"/>
              <a:buChar char="●"/>
            </a:pPr>
            <a:r>
              <a:rPr lang="en" sz="1400"/>
              <a:t>Run the class.</a:t>
            </a:r>
            <a:endParaRPr sz="1400"/>
          </a:p>
        </p:txBody>
      </p:sp>
      <p:sp>
        <p:nvSpPr>
          <p:cNvPr id="894" name="Google Shape;894;p8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Writing Text Files</a:t>
            </a:r>
            <a:endParaRPr/>
          </a:p>
        </p:txBody>
      </p:sp>
      <p:sp>
        <p:nvSpPr>
          <p:cNvPr id="895" name="Google Shape;895;p8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4.18</a:t>
            </a:r>
            <a:endParaRPr/>
          </a:p>
        </p:txBody>
      </p:sp>
      <p:sp>
        <p:nvSpPr>
          <p:cNvPr id="896" name="Google Shape;896;p82"/>
          <p:cNvSpPr txBox="1"/>
          <p:nvPr>
            <p:ph idx="4" type="body"/>
          </p:nvPr>
        </p:nvSpPr>
        <p:spPr>
          <a:xfrm>
            <a:off x="174100" y="1985100"/>
            <a:ext cx="3000300" cy="2100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fw</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"a_file.txt"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(fw);</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"Your age is: "</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 years old."</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flush</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close</a:t>
            </a:r>
            <a:r>
              <a:rPr lang="en" sz="105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97" name="Google Shape;897;p82"/>
          <p:cNvSpPr txBox="1"/>
          <p:nvPr>
            <p:ph idx="2" type="body"/>
          </p:nvPr>
        </p:nvSpPr>
        <p:spPr>
          <a:xfrm>
            <a:off x="150700" y="4221600"/>
            <a:ext cx="3047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 </a:t>
            </a:r>
            <a:r>
              <a:rPr lang="en" sz="1200">
                <a:solidFill>
                  <a:srgbClr val="FF0000"/>
                </a:solidFill>
                <a:latin typeface="Courier New"/>
                <a:ea typeface="Courier New"/>
                <a:cs typeface="Courier New"/>
                <a:sym typeface="Courier New"/>
              </a:rPr>
              <a:t>FileWriter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lang="en" sz="1200">
                <a:solidFill>
                  <a:srgbClr val="FF0000"/>
                </a:solidFill>
                <a:latin typeface="Courier New"/>
                <a:ea typeface="Courier New"/>
                <a:cs typeface="Courier New"/>
                <a:sym typeface="Courier New"/>
              </a:rPr>
              <a:t>PrintWriter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can be used in conjunction to make writing text fairly easy. </a:t>
            </a:r>
            <a:endParaRPr sz="120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3" name="Google Shape;903;p83"/>
          <p:cNvSpPr txBox="1"/>
          <p:nvPr>
            <p:ph type="title"/>
          </p:nvPr>
        </p:nvSpPr>
        <p:spPr>
          <a:xfrm>
            <a:off x="311725" y="437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latin typeface="Courier New"/>
                <a:ea typeface="Courier New"/>
                <a:cs typeface="Courier New"/>
                <a:sym typeface="Courier New"/>
              </a:rPr>
              <a:t>try</a:t>
            </a:r>
            <a:r>
              <a:rPr lang="en" sz="2700"/>
              <a:t>-with-resources</a:t>
            </a:r>
            <a:endParaRPr sz="2700"/>
          </a:p>
        </p:txBody>
      </p:sp>
      <p:sp>
        <p:nvSpPr>
          <p:cNvPr id="904" name="Google Shape;904;p83"/>
          <p:cNvSpPr txBox="1"/>
          <p:nvPr>
            <p:ph idx="1" type="body"/>
          </p:nvPr>
        </p:nvSpPr>
        <p:spPr>
          <a:xfrm>
            <a:off x="4384625" y="43725"/>
            <a:ext cx="4595100" cy="49917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A process that opens a file maintains a </a:t>
            </a:r>
            <a:r>
              <a:rPr b="1" i="1" lang="en">
                <a:solidFill>
                  <a:srgbClr val="FF0000"/>
                </a:solidFill>
              </a:rPr>
              <a:t>lock </a:t>
            </a:r>
            <a:r>
              <a:rPr lang="en"/>
              <a:t>on that file until it is </a:t>
            </a:r>
            <a:r>
              <a:rPr b="1" i="1" lang="en">
                <a:solidFill>
                  <a:srgbClr val="FF0000"/>
                </a:solidFill>
              </a:rPr>
              <a:t>closed</a:t>
            </a:r>
            <a:r>
              <a:rPr lang="en"/>
              <a:t>.</a:t>
            </a:r>
            <a:endParaRPr/>
          </a:p>
          <a:p>
            <a:pPr indent="-298450" lvl="1" marL="914400" rtl="0" algn="l">
              <a:spcBef>
                <a:spcPts val="0"/>
              </a:spcBef>
              <a:spcAft>
                <a:spcPts val="0"/>
              </a:spcAft>
              <a:buSzPts val="1100"/>
              <a:buChar char="○"/>
            </a:pPr>
            <a:r>
              <a:rPr lang="en"/>
              <a:t>This lock will prevent other processes from interacting with the file.</a:t>
            </a:r>
            <a:endParaRPr/>
          </a:p>
          <a:p>
            <a:pPr indent="-311150" lvl="0" marL="457200" rtl="0" algn="l">
              <a:spcBef>
                <a:spcPts val="0"/>
              </a:spcBef>
              <a:spcAft>
                <a:spcPts val="0"/>
              </a:spcAft>
              <a:buSzPts val="1300"/>
              <a:buChar char="●"/>
            </a:pPr>
            <a:r>
              <a:rPr lang="en"/>
              <a:t>However, </a:t>
            </a:r>
            <a:r>
              <a:rPr b="1" i="1" lang="en">
                <a:solidFill>
                  <a:srgbClr val="FF0000"/>
                </a:solidFill>
              </a:rPr>
              <a:t>properly </a:t>
            </a:r>
            <a:r>
              <a:rPr lang="en"/>
              <a:t>closing a file can be challenging under some circumstances.</a:t>
            </a:r>
            <a:endParaRPr/>
          </a:p>
          <a:p>
            <a:pPr indent="-298450" lvl="1" marL="914400" rtl="0" algn="l">
              <a:spcBef>
                <a:spcPts val="0"/>
              </a:spcBef>
              <a:spcAft>
                <a:spcPts val="0"/>
              </a:spcAft>
              <a:buSzPts val="1100"/>
              <a:buChar char="○"/>
            </a:pPr>
            <a:r>
              <a:rPr lang="en"/>
              <a:t>What if there is an exception?</a:t>
            </a:r>
            <a:endParaRPr/>
          </a:p>
          <a:p>
            <a:pPr indent="-298450" lvl="1" marL="914400" rtl="0" algn="l">
              <a:spcBef>
                <a:spcPts val="0"/>
              </a:spcBef>
              <a:spcAft>
                <a:spcPts val="0"/>
              </a:spcAft>
              <a:buSzPts val="1100"/>
              <a:buChar char="○"/>
            </a:pPr>
            <a:r>
              <a:rPr lang="en"/>
              <a:t>What if the file fails to open at all?</a:t>
            </a:r>
            <a:endParaRPr/>
          </a:p>
          <a:p>
            <a:pPr indent="-298450" lvl="1" marL="914400" rtl="0" algn="l">
              <a:spcBef>
                <a:spcPts val="0"/>
              </a:spcBef>
              <a:spcAft>
                <a:spcPts val="0"/>
              </a:spcAft>
              <a:buSzPts val="1100"/>
              <a:buChar char="○"/>
            </a:pPr>
            <a:r>
              <a:rPr lang="en"/>
              <a:t>What if closing the file throws an exception?!</a:t>
            </a:r>
            <a:endParaRPr/>
          </a:p>
          <a:p>
            <a:pPr indent="-311150" lvl="0" marL="457200" rtl="0" algn="l">
              <a:spcBef>
                <a:spcPts val="0"/>
              </a:spcBef>
              <a:spcAft>
                <a:spcPts val="0"/>
              </a:spcAft>
              <a:buSzPts val="1300"/>
              <a:buChar char="●"/>
            </a:pPr>
            <a:r>
              <a:rPr lang="en"/>
              <a:t>You should remember that Python includes a </a:t>
            </a:r>
            <a:r>
              <a:rPr lang="en">
                <a:solidFill>
                  <a:srgbClr val="FF0000"/>
                </a:solidFill>
                <a:latin typeface="Courier New"/>
                <a:ea typeface="Courier New"/>
                <a:cs typeface="Courier New"/>
                <a:sym typeface="Courier New"/>
              </a:rPr>
              <a:t>with-as</a:t>
            </a:r>
            <a:r>
              <a:rPr lang="en"/>
              <a:t> statement that ensures that a file is always closed, regardless of whether an error is raised.</a:t>
            </a:r>
            <a:endParaRPr/>
          </a:p>
          <a:p>
            <a:pPr indent="-311150" lvl="0" marL="457200" rtl="0" algn="l">
              <a:spcBef>
                <a:spcPts val="0"/>
              </a:spcBef>
              <a:spcAft>
                <a:spcPts val="0"/>
              </a:spcAft>
              <a:buSzPts val="1300"/>
              <a:buChar char="●"/>
            </a:pPr>
            <a:r>
              <a:rPr lang="en"/>
              <a:t>Java includes a similar feature: </a:t>
            </a:r>
            <a:r>
              <a:rPr lang="en">
                <a:solidFill>
                  <a:srgbClr val="FF0000"/>
                </a:solidFill>
                <a:latin typeface="Courier New"/>
                <a:ea typeface="Courier New"/>
                <a:cs typeface="Courier New"/>
                <a:sym typeface="Courier New"/>
              </a:rPr>
              <a:t>try</a:t>
            </a:r>
            <a:r>
              <a:rPr b="1" i="1" lang="en">
                <a:solidFill>
                  <a:srgbClr val="FF0000"/>
                </a:solidFill>
              </a:rPr>
              <a:t>-with-resources</a:t>
            </a:r>
            <a:r>
              <a:rPr lang="en"/>
              <a:t>.</a:t>
            </a:r>
            <a:endParaRPr/>
          </a:p>
          <a:p>
            <a:pPr indent="-298450" lvl="1" marL="914400" rtl="0" algn="l">
              <a:spcBef>
                <a:spcPts val="0"/>
              </a:spcBef>
              <a:spcAft>
                <a:spcPts val="0"/>
              </a:spcAft>
              <a:buSzPts val="1100"/>
              <a:buChar char="○"/>
            </a:pPr>
            <a:r>
              <a:rPr lang="en"/>
              <a:t>Resources like </a:t>
            </a:r>
            <a:r>
              <a:rPr lang="en">
                <a:latin typeface="Courier New"/>
                <a:ea typeface="Courier New"/>
                <a:cs typeface="Courier New"/>
                <a:sym typeface="Courier New"/>
              </a:rPr>
              <a:t>FileReader</a:t>
            </a:r>
            <a:r>
              <a:rPr lang="en"/>
              <a:t> or </a:t>
            </a:r>
            <a:r>
              <a:rPr lang="en">
                <a:latin typeface="Courier New"/>
                <a:ea typeface="Courier New"/>
                <a:cs typeface="Courier New"/>
                <a:sym typeface="Courier New"/>
              </a:rPr>
              <a:t>PrintWriter</a:t>
            </a:r>
            <a:r>
              <a:rPr lang="en"/>
              <a:t> are initialized in </a:t>
            </a:r>
            <a:r>
              <a:rPr b="1" i="1" lang="en">
                <a:solidFill>
                  <a:srgbClr val="FF0000"/>
                </a:solidFill>
              </a:rPr>
              <a:t>parentheses</a:t>
            </a:r>
            <a:r>
              <a:rPr lang="en"/>
              <a:t> after the </a:t>
            </a:r>
            <a:r>
              <a:rPr lang="en">
                <a:latin typeface="Courier New"/>
                <a:ea typeface="Courier New"/>
                <a:cs typeface="Courier New"/>
                <a:sym typeface="Courier New"/>
              </a:rPr>
              <a:t>try</a:t>
            </a:r>
            <a:r>
              <a:rPr lang="en"/>
              <a:t>.</a:t>
            </a:r>
            <a:endParaRPr/>
          </a:p>
          <a:p>
            <a:pPr indent="-298450" lvl="1" marL="914400" rtl="0" algn="l">
              <a:spcBef>
                <a:spcPts val="0"/>
              </a:spcBef>
              <a:spcAft>
                <a:spcPts val="0"/>
              </a:spcAft>
              <a:buSzPts val="1100"/>
              <a:buChar char="○"/>
            </a:pPr>
            <a:r>
              <a:rPr lang="en"/>
              <a:t>Any such resources are </a:t>
            </a:r>
            <a:r>
              <a:rPr b="1" i="1" lang="en">
                <a:solidFill>
                  <a:srgbClr val="FF0000"/>
                </a:solidFill>
              </a:rPr>
              <a:t>automatically closed</a:t>
            </a:r>
            <a:r>
              <a:rPr lang="en"/>
              <a:t> when the body of the try exits (after the closing curly brace).</a:t>
            </a:r>
            <a:endParaRPr/>
          </a:p>
          <a:p>
            <a:pPr indent="-311150" lvl="0" marL="457200" rtl="0" algn="l">
              <a:spcBef>
                <a:spcPts val="0"/>
              </a:spcBef>
              <a:spcAft>
                <a:spcPts val="0"/>
              </a:spcAft>
              <a:buSzPts val="1300"/>
              <a:buChar char="●"/>
            </a:pPr>
            <a:r>
              <a:rPr lang="en"/>
              <a:t>A </a:t>
            </a:r>
            <a:r>
              <a:rPr lang="en">
                <a:latin typeface="Courier New"/>
                <a:ea typeface="Courier New"/>
                <a:cs typeface="Courier New"/>
                <a:sym typeface="Courier New"/>
              </a:rPr>
              <a:t>try</a:t>
            </a:r>
            <a:r>
              <a:rPr lang="en"/>
              <a:t>-with-resources </a:t>
            </a:r>
            <a:r>
              <a:rPr b="1" i="1" lang="en">
                <a:solidFill>
                  <a:srgbClr val="FF0000"/>
                </a:solidFill>
              </a:rPr>
              <a:t>does not</a:t>
            </a:r>
            <a:r>
              <a:rPr lang="en"/>
              <a:t> need to be followed by a </a:t>
            </a:r>
            <a:r>
              <a:rPr lang="en">
                <a:latin typeface="Courier New"/>
                <a:ea typeface="Courier New"/>
                <a:cs typeface="Courier New"/>
                <a:sym typeface="Courier New"/>
              </a:rPr>
              <a:t>catch</a:t>
            </a:r>
            <a:r>
              <a:rPr lang="en"/>
              <a:t> block.</a:t>
            </a:r>
            <a:endParaRPr/>
          </a:p>
          <a:p>
            <a:pPr indent="-298450" lvl="1" marL="914400" rtl="0" algn="l">
              <a:spcBef>
                <a:spcPts val="0"/>
              </a:spcBef>
              <a:spcAft>
                <a:spcPts val="0"/>
              </a:spcAft>
              <a:buSzPts val="1100"/>
              <a:buChar char="○"/>
            </a:pPr>
            <a:r>
              <a:rPr lang="en"/>
              <a:t>If a </a:t>
            </a:r>
            <a:r>
              <a:rPr lang="en">
                <a:latin typeface="Courier New"/>
                <a:ea typeface="Courier New"/>
                <a:cs typeface="Courier New"/>
                <a:sym typeface="Courier New"/>
              </a:rPr>
              <a:t>catch</a:t>
            </a:r>
            <a:r>
              <a:rPr lang="en"/>
              <a:t> block </a:t>
            </a:r>
            <a:r>
              <a:rPr b="1" i="1" lang="en">
                <a:solidFill>
                  <a:srgbClr val="FF0000"/>
                </a:solidFill>
              </a:rPr>
              <a:t>is </a:t>
            </a:r>
            <a:r>
              <a:rPr lang="en"/>
              <a:t>used, the resources will be closed </a:t>
            </a:r>
            <a:r>
              <a:rPr b="1" i="1" lang="en">
                <a:solidFill>
                  <a:srgbClr val="FF0000"/>
                </a:solidFill>
              </a:rPr>
              <a:t>after</a:t>
            </a:r>
            <a:r>
              <a:rPr lang="en">
                <a:solidFill>
                  <a:srgbClr val="FF0000"/>
                </a:solidFill>
              </a:rPr>
              <a:t> </a:t>
            </a:r>
            <a:r>
              <a:rPr lang="en"/>
              <a:t>it is executed.</a:t>
            </a:r>
            <a:endParaRPr/>
          </a:p>
          <a:p>
            <a:pPr indent="-298450" lvl="1" marL="914400" rtl="0" algn="l">
              <a:spcBef>
                <a:spcPts val="0"/>
              </a:spcBef>
              <a:spcAft>
                <a:spcPts val="0"/>
              </a:spcAft>
              <a:buSzPts val="1100"/>
              <a:buChar char="○"/>
            </a:pPr>
            <a:r>
              <a:rPr lang="en"/>
              <a:t>If you </a:t>
            </a:r>
            <a:r>
              <a:rPr b="1" i="1" lang="en">
                <a:solidFill>
                  <a:srgbClr val="FF0000"/>
                </a:solidFill>
              </a:rPr>
              <a:t>do</a:t>
            </a:r>
            <a:r>
              <a:rPr lang="en">
                <a:solidFill>
                  <a:srgbClr val="FF0000"/>
                </a:solidFill>
              </a:rPr>
              <a:t> </a:t>
            </a:r>
            <a:r>
              <a:rPr lang="en"/>
              <a:t>omit the catch block, a checked exception (like </a:t>
            </a:r>
            <a:r>
              <a:rPr lang="en">
                <a:latin typeface="Courier New"/>
                <a:ea typeface="Courier New"/>
                <a:cs typeface="Courier New"/>
                <a:sym typeface="Courier New"/>
              </a:rPr>
              <a:t>IOException</a:t>
            </a:r>
            <a:r>
              <a:rPr lang="en"/>
              <a:t>) will need to be </a:t>
            </a:r>
            <a:r>
              <a:rPr b="1" i="1" lang="en">
                <a:solidFill>
                  <a:srgbClr val="FF0000"/>
                </a:solidFill>
              </a:rPr>
              <a:t>rethrown</a:t>
            </a:r>
            <a:r>
              <a:rPr lang="en"/>
              <a:t>.</a:t>
            </a:r>
            <a:endParaRPr/>
          </a:p>
        </p:txBody>
      </p:sp>
      <p:sp>
        <p:nvSpPr>
          <p:cNvPr id="905" name="Google Shape;905;p83"/>
          <p:cNvSpPr txBox="1"/>
          <p:nvPr>
            <p:ph idx="2" type="body"/>
          </p:nvPr>
        </p:nvSpPr>
        <p:spPr>
          <a:xfrm>
            <a:off x="315425" y="1480650"/>
            <a:ext cx="3706500" cy="1813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try</a:t>
            </a:r>
            <a:r>
              <a:rPr b="1" lang="en" sz="1050">
                <a:solidFill>
                  <a:srgbClr val="FF9900"/>
                </a:solidFill>
                <a:latin typeface="Consolas"/>
                <a:ea typeface="Consolas"/>
                <a:cs typeface="Consolas"/>
                <a:sym typeface="Consolas"/>
              </a:rPr>
              <a:t>(</a:t>
            </a:r>
            <a:r>
              <a:rPr lang="en" sz="1050">
                <a:solidFill>
                  <a:srgbClr val="267F99"/>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out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(name);</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(out)</a:t>
            </a:r>
            <a:r>
              <a:rPr b="1" lang="en" sz="1050">
                <a:solidFill>
                  <a:srgbClr val="FF9900"/>
                </a:solidFill>
                <a:latin typeface="Consolas"/>
                <a:ea typeface="Consolas"/>
                <a:cs typeface="Consolas"/>
                <a:sym typeface="Consolas"/>
              </a:rPr>
              <a: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"Hello, File!"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flush</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999999"/>
              </a:solidFill>
              <a:latin typeface="Consolas"/>
              <a:ea typeface="Consolas"/>
              <a:cs typeface="Consolas"/>
              <a:sym typeface="Consolas"/>
            </a:endParaRPr>
          </a:p>
        </p:txBody>
      </p:sp>
      <p:sp>
        <p:nvSpPr>
          <p:cNvPr id="906" name="Google Shape;906;p83"/>
          <p:cNvSpPr/>
          <p:nvPr/>
        </p:nvSpPr>
        <p:spPr>
          <a:xfrm>
            <a:off x="2703450" y="1271600"/>
            <a:ext cx="438500" cy="569025"/>
          </a:xfrm>
          <a:custGeom>
            <a:rect b="b" l="l" r="r" t="t"/>
            <a:pathLst>
              <a:path extrusionOk="0" h="22761" w="17540">
                <a:moveTo>
                  <a:pt x="4730" y="0"/>
                </a:moveTo>
                <a:cubicBezTo>
                  <a:pt x="6849" y="2217"/>
                  <a:pt x="18229" y="9509"/>
                  <a:pt x="17441" y="13302"/>
                </a:cubicBezTo>
                <a:cubicBezTo>
                  <a:pt x="16653" y="17096"/>
                  <a:pt x="2907" y="21185"/>
                  <a:pt x="0" y="22761"/>
                </a:cubicBezTo>
              </a:path>
            </a:pathLst>
          </a:custGeom>
          <a:noFill/>
          <a:ln cap="flat" cmpd="sng" w="19050">
            <a:solidFill>
              <a:srgbClr val="FF0000"/>
            </a:solidFill>
            <a:prstDash val="solid"/>
            <a:round/>
            <a:headEnd len="med" w="med" type="none"/>
            <a:tailEnd len="med" w="med" type="triangle"/>
          </a:ln>
        </p:spPr>
      </p:sp>
      <p:sp>
        <p:nvSpPr>
          <p:cNvPr id="907" name="Google Shape;907;p83"/>
          <p:cNvSpPr/>
          <p:nvPr/>
        </p:nvSpPr>
        <p:spPr>
          <a:xfrm>
            <a:off x="762114" y="1271585"/>
            <a:ext cx="250325" cy="280825"/>
          </a:xfrm>
          <a:custGeom>
            <a:rect b="b" l="l" r="r" t="t"/>
            <a:pathLst>
              <a:path extrusionOk="0" h="11233" w="10013">
                <a:moveTo>
                  <a:pt x="10013" y="0"/>
                </a:moveTo>
                <a:cubicBezTo>
                  <a:pt x="8387" y="345"/>
                  <a:pt x="1294" y="197"/>
                  <a:pt x="259" y="2069"/>
                </a:cubicBezTo>
                <a:cubicBezTo>
                  <a:pt x="-775" y="3941"/>
                  <a:pt x="3215" y="9706"/>
                  <a:pt x="3806" y="11233"/>
                </a:cubicBezTo>
              </a:path>
            </a:pathLst>
          </a:custGeom>
          <a:noFill/>
          <a:ln cap="flat" cmpd="sng" w="19050">
            <a:solidFill>
              <a:srgbClr val="FF0000"/>
            </a:solidFill>
            <a:prstDash val="solid"/>
            <a:round/>
            <a:headEnd len="med" w="med" type="none"/>
            <a:tailEnd len="med" w="med" type="triangle"/>
          </a:ln>
        </p:spPr>
      </p:sp>
      <p:sp>
        <p:nvSpPr>
          <p:cNvPr id="908" name="Google Shape;908;p83"/>
          <p:cNvSpPr/>
          <p:nvPr/>
        </p:nvSpPr>
        <p:spPr>
          <a:xfrm>
            <a:off x="2665530" y="1195395"/>
            <a:ext cx="1088700" cy="1019825"/>
          </a:xfrm>
          <a:custGeom>
            <a:rect b="b" l="l" r="r" t="t"/>
            <a:pathLst>
              <a:path extrusionOk="0" h="40793" w="43548">
                <a:moveTo>
                  <a:pt x="29560" y="0"/>
                </a:moveTo>
                <a:cubicBezTo>
                  <a:pt x="31728" y="3597"/>
                  <a:pt x="47494" y="14780"/>
                  <a:pt x="42567" y="21579"/>
                </a:cubicBezTo>
                <a:cubicBezTo>
                  <a:pt x="37640" y="28378"/>
                  <a:pt x="7095" y="37591"/>
                  <a:pt x="0" y="40793"/>
                </a:cubicBezTo>
              </a:path>
            </a:pathLst>
          </a:custGeom>
          <a:noFill/>
          <a:ln cap="flat" cmpd="sng" w="19050">
            <a:solidFill>
              <a:srgbClr val="FF0000"/>
            </a:solidFill>
            <a:prstDash val="solid"/>
            <a:round/>
            <a:headEnd len="med" w="med" type="none"/>
            <a:tailEnd len="med" w="med" type="triangle"/>
          </a:ln>
        </p:spPr>
      </p:sp>
      <p:sp>
        <p:nvSpPr>
          <p:cNvPr id="909" name="Google Shape;909;p83"/>
          <p:cNvSpPr txBox="1"/>
          <p:nvPr>
            <p:ph idx="3" type="body"/>
          </p:nvPr>
        </p:nvSpPr>
        <p:spPr>
          <a:xfrm>
            <a:off x="311725" y="653750"/>
            <a:ext cx="3706500" cy="714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When using </a:t>
            </a:r>
            <a:r>
              <a:rPr lang="en" sz="1200">
                <a:solidFill>
                  <a:srgbClr val="FF0000"/>
                </a:solidFill>
                <a:latin typeface="Courier New"/>
                <a:ea typeface="Courier New"/>
                <a:cs typeface="Courier New"/>
                <a:sym typeface="Courier New"/>
              </a:rPr>
              <a:t>try</a:t>
            </a:r>
            <a:r>
              <a:rPr b="1" i="1" lang="en" sz="1200">
                <a:solidFill>
                  <a:srgbClr val="FF0000"/>
                </a:solidFill>
              </a:rPr>
              <a:t>-with-resources</a:t>
            </a:r>
            <a:r>
              <a:rPr lang="en" sz="1200"/>
              <a:t>, resources are allocated in a </a:t>
            </a:r>
            <a:r>
              <a:rPr b="1" i="1" lang="en" sz="1200">
                <a:solidFill>
                  <a:srgbClr val="FF0000"/>
                </a:solidFill>
              </a:rPr>
              <a:t>semicolon-delimited list</a:t>
            </a:r>
            <a:r>
              <a:rPr lang="en" sz="1200"/>
              <a:t> inside parentheses</a:t>
            </a:r>
            <a:r>
              <a:rPr lang="en" sz="1200"/>
              <a:t> (shown in </a:t>
            </a:r>
            <a:r>
              <a:rPr b="1" i="1" lang="en" sz="1200">
                <a:solidFill>
                  <a:srgbClr val="FF9900"/>
                </a:solidFill>
              </a:rPr>
              <a:t>orange</a:t>
            </a:r>
            <a:r>
              <a:rPr lang="en" sz="1200"/>
              <a:t> for emphasis).</a:t>
            </a:r>
            <a:endParaRPr sz="1200"/>
          </a:p>
        </p:txBody>
      </p:sp>
      <p:sp>
        <p:nvSpPr>
          <p:cNvPr id="910" name="Google Shape;910;p83"/>
          <p:cNvSpPr/>
          <p:nvPr/>
        </p:nvSpPr>
        <p:spPr>
          <a:xfrm>
            <a:off x="1936200" y="2837800"/>
            <a:ext cx="910825" cy="702050"/>
          </a:xfrm>
          <a:custGeom>
            <a:rect b="b" l="l" r="r" t="t"/>
            <a:pathLst>
              <a:path extrusionOk="0" h="28082" w="36433">
                <a:moveTo>
                  <a:pt x="7095" y="28082"/>
                </a:moveTo>
                <a:cubicBezTo>
                  <a:pt x="11972" y="26308"/>
                  <a:pt x="37542" y="22120"/>
                  <a:pt x="36359" y="17440"/>
                </a:cubicBezTo>
                <a:cubicBezTo>
                  <a:pt x="35177" y="12760"/>
                  <a:pt x="6060" y="2907"/>
                  <a:pt x="0" y="0"/>
                </a:cubicBezTo>
              </a:path>
            </a:pathLst>
          </a:custGeom>
          <a:noFill/>
          <a:ln cap="flat" cmpd="sng" w="19050">
            <a:solidFill>
              <a:srgbClr val="FF0000"/>
            </a:solidFill>
            <a:prstDash val="solid"/>
            <a:round/>
            <a:headEnd len="med" w="med" type="none"/>
            <a:tailEnd len="med" w="med" type="triangle"/>
          </a:ln>
        </p:spPr>
      </p:sp>
      <p:sp>
        <p:nvSpPr>
          <p:cNvPr id="911" name="Google Shape;911;p83"/>
          <p:cNvSpPr txBox="1"/>
          <p:nvPr>
            <p:ph idx="3" type="body"/>
          </p:nvPr>
        </p:nvSpPr>
        <p:spPr>
          <a:xfrm>
            <a:off x="311725" y="3412959"/>
            <a:ext cx="3706500" cy="714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The </a:t>
            </a:r>
            <a:r>
              <a:rPr b="1" i="1" lang="en" sz="1200">
                <a:solidFill>
                  <a:srgbClr val="FF0000"/>
                </a:solidFill>
              </a:rPr>
              <a:t>scope</a:t>
            </a:r>
            <a:r>
              <a:rPr lang="en" sz="1200">
                <a:solidFill>
                  <a:srgbClr val="FF0000"/>
                </a:solidFill>
              </a:rPr>
              <a:t> </a:t>
            </a:r>
            <a:r>
              <a:rPr lang="en" sz="1200"/>
              <a:t>of any resources that are opened is the </a:t>
            </a:r>
            <a:r>
              <a:rPr lang="en" sz="1200">
                <a:solidFill>
                  <a:srgbClr val="FF0000"/>
                </a:solidFill>
                <a:latin typeface="Courier New"/>
                <a:ea typeface="Courier New"/>
                <a:cs typeface="Courier New"/>
                <a:sym typeface="Courier New"/>
              </a:rPr>
              <a:t>try</a:t>
            </a:r>
            <a:r>
              <a:rPr lang="en" sz="1200">
                <a:solidFill>
                  <a:srgbClr val="FF0000"/>
                </a:solidFill>
              </a:rPr>
              <a:t> </a:t>
            </a:r>
            <a:r>
              <a:rPr b="1" i="1" lang="en" sz="1200">
                <a:solidFill>
                  <a:srgbClr val="FF0000"/>
                </a:solidFill>
              </a:rPr>
              <a:t>block</a:t>
            </a:r>
            <a:r>
              <a:rPr lang="en" sz="1200"/>
              <a:t> - they can be used normally anywhere between the curly braces.</a:t>
            </a:r>
            <a:endParaRPr sz="1200"/>
          </a:p>
        </p:txBody>
      </p:sp>
      <p:sp>
        <p:nvSpPr>
          <p:cNvPr id="912" name="Google Shape;912;p83"/>
          <p:cNvSpPr/>
          <p:nvPr/>
        </p:nvSpPr>
        <p:spPr>
          <a:xfrm>
            <a:off x="105134" y="3102182"/>
            <a:ext cx="493475" cy="1642250"/>
          </a:xfrm>
          <a:custGeom>
            <a:rect b="b" l="l" r="r" t="t"/>
            <a:pathLst>
              <a:path extrusionOk="0" h="65690" w="19739">
                <a:moveTo>
                  <a:pt x="9984" y="65690"/>
                </a:moveTo>
                <a:cubicBezTo>
                  <a:pt x="8358" y="55787"/>
                  <a:pt x="-1397" y="17014"/>
                  <a:pt x="229" y="6274"/>
                </a:cubicBezTo>
                <a:cubicBezTo>
                  <a:pt x="1855" y="-4466"/>
                  <a:pt x="16487" y="2087"/>
                  <a:pt x="19739" y="1249"/>
                </a:cubicBezTo>
              </a:path>
            </a:pathLst>
          </a:custGeom>
          <a:noFill/>
          <a:ln cap="flat" cmpd="sng" w="19050">
            <a:solidFill>
              <a:srgbClr val="FF0000"/>
            </a:solidFill>
            <a:prstDash val="solid"/>
            <a:round/>
            <a:headEnd len="med" w="med" type="none"/>
            <a:tailEnd len="med" w="med" type="triangle"/>
          </a:ln>
        </p:spPr>
      </p:sp>
      <p:sp>
        <p:nvSpPr>
          <p:cNvPr id="913" name="Google Shape;913;p83"/>
          <p:cNvSpPr txBox="1"/>
          <p:nvPr>
            <p:ph idx="3" type="body"/>
          </p:nvPr>
        </p:nvSpPr>
        <p:spPr>
          <a:xfrm>
            <a:off x="315425" y="4205169"/>
            <a:ext cx="3706500" cy="714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The resources are </a:t>
            </a:r>
            <a:r>
              <a:rPr b="1" i="1" lang="en" sz="1200">
                <a:solidFill>
                  <a:srgbClr val="FF0000"/>
                </a:solidFill>
              </a:rPr>
              <a:t>automatically closed</a:t>
            </a:r>
            <a:r>
              <a:rPr lang="en" sz="1200">
                <a:solidFill>
                  <a:srgbClr val="FF0000"/>
                </a:solidFill>
              </a:rPr>
              <a:t> </a:t>
            </a:r>
            <a:r>
              <a:rPr lang="en" sz="1200"/>
              <a:t>when execution exits the </a:t>
            </a:r>
            <a:r>
              <a:rPr lang="en" sz="1200">
                <a:latin typeface="Courier New"/>
                <a:ea typeface="Courier New"/>
                <a:cs typeface="Courier New"/>
                <a:sym typeface="Courier New"/>
              </a:rPr>
              <a:t>try</a:t>
            </a:r>
            <a:r>
              <a:rPr lang="en" sz="1200"/>
              <a:t> block, even if an exception is thrown in the block.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1000"/>
                                        <p:tgtEl>
                                          <p:spTgt spid="909"/>
                                        </p:tgtEl>
                                      </p:cBhvr>
                                    </p:animEffect>
                                  </p:childTnLst>
                                </p:cTn>
                              </p:par>
                              <p:par>
                                <p:cTn fill="hold" nodeType="with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1000"/>
                                        <p:tgtEl>
                                          <p:spTgt spid="9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1000"/>
                                        <p:tgtEl>
                                          <p:spTgt spid="90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10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1000"/>
                                        <p:tgtEl>
                                          <p:spTgt spid="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1000"/>
                                        <p:tgtEl>
                                          <p:spTgt spid="9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1000"/>
                                        <p:tgtEl>
                                          <p:spTgt spid="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1000"/>
                                        <p:tgtEl>
                                          <p:spTgt spid="9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8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 Python we used with-as to open files and make sure that the file was closed (even if an error occurred). Using </a:t>
            </a:r>
            <a:r>
              <a:rPr lang="en">
                <a:latin typeface="Courier New"/>
                <a:ea typeface="Courier New"/>
                <a:cs typeface="Courier New"/>
                <a:sym typeface="Courier New"/>
              </a:rPr>
              <a:t>try</a:t>
            </a:r>
            <a:r>
              <a:rPr lang="en"/>
              <a:t>-with-resources in Java works exactly the same way. Practice using it by updating your </a:t>
            </a:r>
            <a:r>
              <a:rPr lang="en">
                <a:latin typeface="Courier New"/>
                <a:ea typeface="Courier New"/>
                <a:cs typeface="Courier New"/>
                <a:sym typeface="Courier New"/>
              </a:rPr>
              <a:t>TextEdit</a:t>
            </a:r>
            <a:r>
              <a:rPr lang="en"/>
              <a:t> class to use try-with-resources to insure that the output file is closed.</a:t>
            </a:r>
            <a:endParaRPr/>
          </a:p>
        </p:txBody>
      </p:sp>
      <p:sp>
        <p:nvSpPr>
          <p:cNvPr id="919" name="Google Shape;919;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0" name="Google Shape;920;p84"/>
          <p:cNvSpPr txBox="1"/>
          <p:nvPr>
            <p:ph idx="2" type="body"/>
          </p:nvPr>
        </p:nvSpPr>
        <p:spPr>
          <a:xfrm>
            <a:off x="3735975" y="1778775"/>
            <a:ext cx="5212800" cy="24843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your </a:t>
            </a:r>
            <a:r>
              <a:rPr lang="en" sz="1600">
                <a:latin typeface="Courier New"/>
                <a:ea typeface="Courier New"/>
                <a:cs typeface="Courier New"/>
                <a:sym typeface="Courier New"/>
              </a:rPr>
              <a:t>TextEdit</a:t>
            </a:r>
            <a:r>
              <a:rPr lang="en" sz="1600"/>
              <a:t> class and navigate to the </a:t>
            </a:r>
            <a:r>
              <a:rPr lang="en" sz="1600">
                <a:latin typeface="Courier New"/>
                <a:ea typeface="Courier New"/>
                <a:cs typeface="Courier New"/>
                <a:sym typeface="Courier New"/>
              </a:rPr>
              <a:t>main</a:t>
            </a:r>
            <a:r>
              <a:rPr lang="en" sz="1600"/>
              <a:t> method.</a:t>
            </a:r>
            <a:endParaRPr sz="1600"/>
          </a:p>
          <a:p>
            <a:pPr indent="-317500" lvl="1" marL="914400" rtl="0" algn="l">
              <a:spcBef>
                <a:spcPts val="0"/>
              </a:spcBef>
              <a:spcAft>
                <a:spcPts val="0"/>
              </a:spcAft>
              <a:buSzPts val="1400"/>
              <a:buChar char="○"/>
            </a:pPr>
            <a:r>
              <a:rPr lang="en" sz="1400"/>
              <a:t>Modify your implementation so that it uses </a:t>
            </a:r>
            <a:r>
              <a:rPr lang="en" sz="1400">
                <a:solidFill>
                  <a:srgbClr val="FF0000"/>
                </a:solidFill>
                <a:latin typeface="Courier New"/>
                <a:ea typeface="Courier New"/>
                <a:cs typeface="Courier New"/>
                <a:sym typeface="Courier New"/>
              </a:rPr>
              <a:t>try</a:t>
            </a:r>
            <a:r>
              <a:rPr b="1" i="1" lang="en" sz="1400">
                <a:solidFill>
                  <a:srgbClr val="FF0000"/>
                </a:solidFill>
              </a:rPr>
              <a:t>-with-resources</a:t>
            </a:r>
            <a:r>
              <a:rPr lang="en" sz="1400"/>
              <a:t> to open </a:t>
            </a:r>
            <a:r>
              <a:rPr b="1" i="1" lang="en" sz="1400">
                <a:solidFill>
                  <a:srgbClr val="FF0000"/>
                </a:solidFill>
              </a:rPr>
              <a:t>both </a:t>
            </a:r>
            <a:r>
              <a:rPr lang="en" sz="1400"/>
              <a:t>the </a:t>
            </a:r>
            <a:r>
              <a:rPr lang="en" sz="1400">
                <a:latin typeface="Courier New"/>
                <a:ea typeface="Courier New"/>
                <a:cs typeface="Courier New"/>
                <a:sym typeface="Courier New"/>
              </a:rPr>
              <a:t>FileWriter</a:t>
            </a:r>
            <a:r>
              <a:rPr lang="en" sz="1400"/>
              <a:t> and the </a:t>
            </a:r>
            <a:r>
              <a:rPr lang="en" sz="1400">
                <a:latin typeface="Courier New"/>
                <a:ea typeface="Courier New"/>
                <a:cs typeface="Courier New"/>
                <a:sym typeface="Courier New"/>
              </a:rPr>
              <a:t>PrintWriter</a:t>
            </a:r>
            <a:r>
              <a:rPr lang="en" sz="1400"/>
              <a:t>.</a:t>
            </a:r>
            <a:endParaRPr sz="1400"/>
          </a:p>
          <a:p>
            <a:pPr indent="-317500" lvl="1" marL="914400" rtl="0" algn="l">
              <a:spcBef>
                <a:spcPts val="0"/>
              </a:spcBef>
              <a:spcAft>
                <a:spcPts val="0"/>
              </a:spcAft>
              <a:buSzPts val="1400"/>
              <a:buChar char="○"/>
            </a:pPr>
            <a:r>
              <a:rPr lang="en" sz="1400"/>
              <a:t>You may delete the explicit calls to close both.</a:t>
            </a:r>
            <a:endParaRPr sz="1400"/>
          </a:p>
          <a:p>
            <a:pPr indent="-317500" lvl="1" marL="914400" rtl="0" algn="l">
              <a:spcBef>
                <a:spcPts val="0"/>
              </a:spcBef>
              <a:spcAft>
                <a:spcPts val="0"/>
              </a:spcAft>
              <a:buSzPts val="1400"/>
              <a:buChar char="○"/>
            </a:pPr>
            <a:r>
              <a:rPr lang="en" sz="1400"/>
              <a:t>You will still need to make sure that the </a:t>
            </a:r>
            <a:r>
              <a:rPr lang="en" sz="1400">
                <a:latin typeface="Courier New"/>
                <a:ea typeface="Courier New"/>
                <a:cs typeface="Courier New"/>
                <a:sym typeface="Courier New"/>
              </a:rPr>
              <a:t>Scanner</a:t>
            </a:r>
            <a:r>
              <a:rPr lang="en" sz="1400"/>
              <a:t> is closed.</a:t>
            </a:r>
            <a:endParaRPr sz="1400"/>
          </a:p>
          <a:p>
            <a:pPr indent="-330200" lvl="0" marL="457200" rtl="0" algn="l">
              <a:spcBef>
                <a:spcPts val="0"/>
              </a:spcBef>
              <a:spcAft>
                <a:spcPts val="0"/>
              </a:spcAft>
              <a:buSzPts val="1600"/>
              <a:buChar char="●"/>
            </a:pPr>
            <a:r>
              <a:rPr lang="en" sz="1600"/>
              <a:t>Run the class.</a:t>
            </a:r>
            <a:endParaRPr sz="1600"/>
          </a:p>
        </p:txBody>
      </p:sp>
      <p:sp>
        <p:nvSpPr>
          <p:cNvPr id="921" name="Google Shape;921;p8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Using </a:t>
            </a:r>
            <a:r>
              <a:rPr lang="en">
                <a:latin typeface="Courier New"/>
                <a:ea typeface="Courier New"/>
                <a:cs typeface="Courier New"/>
                <a:sym typeface="Courier New"/>
              </a:rPr>
              <a:t>try</a:t>
            </a:r>
            <a:r>
              <a:rPr lang="en"/>
              <a:t>-with-resources in Java</a:t>
            </a:r>
            <a:endParaRPr/>
          </a:p>
        </p:txBody>
      </p:sp>
      <p:sp>
        <p:nvSpPr>
          <p:cNvPr id="922" name="Google Shape;922;p8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4.19</a:t>
            </a:r>
            <a:endParaRPr/>
          </a:p>
        </p:txBody>
      </p:sp>
      <p:sp>
        <p:nvSpPr>
          <p:cNvPr id="923" name="Google Shape;923;p84"/>
          <p:cNvSpPr txBox="1"/>
          <p:nvPr>
            <p:ph idx="4" type="body"/>
          </p:nvPr>
        </p:nvSpPr>
        <p:spPr>
          <a:xfrm>
            <a:off x="141600" y="1854975"/>
            <a:ext cx="3519600" cy="220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1</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try</a:t>
            </a:r>
            <a:r>
              <a:rPr lang="en" sz="1250">
                <a:solidFill>
                  <a:srgbClr val="000000"/>
                </a:solidFill>
                <a:latin typeface="Consolas"/>
                <a:ea typeface="Consolas"/>
                <a:cs typeface="Consolas"/>
                <a:sym typeface="Consolas"/>
              </a:rPr>
              <a:t>(</a:t>
            </a:r>
            <a:r>
              <a:rPr lang="en" sz="1250">
                <a:solidFill>
                  <a:srgbClr val="267F99"/>
                </a:solidFill>
                <a:latin typeface="Consolas"/>
                <a:ea typeface="Consolas"/>
                <a:cs typeface="Consolas"/>
                <a:sym typeface="Consolas"/>
              </a:rPr>
              <a:t>FileWriter</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out</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2</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new</a:t>
            </a:r>
            <a:r>
              <a:rPr lang="en" sz="1250">
                <a:solidFill>
                  <a:srgbClr val="000000"/>
                </a:solidFill>
                <a:latin typeface="Consolas"/>
                <a:ea typeface="Consolas"/>
                <a:cs typeface="Consolas"/>
                <a:sym typeface="Consolas"/>
              </a:rPr>
              <a:t> </a:t>
            </a:r>
            <a:r>
              <a:rPr lang="en" sz="1250">
                <a:solidFill>
                  <a:srgbClr val="795E26"/>
                </a:solidFill>
                <a:latin typeface="Consolas"/>
                <a:ea typeface="Consolas"/>
                <a:cs typeface="Consolas"/>
                <a:sym typeface="Consolas"/>
              </a:rPr>
              <a:t>FileWriter</a:t>
            </a:r>
            <a:r>
              <a:rPr lang="en" sz="1250">
                <a:solidFill>
                  <a:srgbClr val="000000"/>
                </a:solidFill>
                <a:latin typeface="Consolas"/>
                <a:ea typeface="Consolas"/>
                <a:cs typeface="Consolas"/>
                <a:sym typeface="Consolas"/>
              </a:rPr>
              <a:t>(name);</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3</a:t>
            </a:r>
            <a:r>
              <a:rPr lang="en" sz="1250">
                <a:solidFill>
                  <a:srgbClr val="000000"/>
                </a:solidFill>
                <a:latin typeface="Consolas"/>
                <a:ea typeface="Consolas"/>
                <a:cs typeface="Consolas"/>
                <a:sym typeface="Consolas"/>
              </a:rPr>
              <a:t>      </a:t>
            </a:r>
            <a:r>
              <a:rPr lang="en" sz="1250">
                <a:solidFill>
                  <a:srgbClr val="267F99"/>
                </a:solidFill>
                <a:latin typeface="Consolas"/>
                <a:ea typeface="Consolas"/>
                <a:cs typeface="Consolas"/>
                <a:sym typeface="Consolas"/>
              </a:rPr>
              <a:t>PrintWriter</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4</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new</a:t>
            </a:r>
            <a:r>
              <a:rPr lang="en" sz="1250">
                <a:solidFill>
                  <a:srgbClr val="000000"/>
                </a:solidFill>
                <a:latin typeface="Consolas"/>
                <a:ea typeface="Consolas"/>
                <a:cs typeface="Consolas"/>
                <a:sym typeface="Consolas"/>
              </a:rPr>
              <a:t> </a:t>
            </a:r>
            <a:r>
              <a:rPr lang="en" sz="1250">
                <a:solidFill>
                  <a:srgbClr val="795E26"/>
                </a:solidFill>
                <a:latin typeface="Consolas"/>
                <a:ea typeface="Consolas"/>
                <a:cs typeface="Consolas"/>
                <a:sym typeface="Consolas"/>
              </a:rPr>
              <a:t>PrintWriter</a:t>
            </a:r>
            <a:r>
              <a:rPr lang="en" sz="1250">
                <a:solidFill>
                  <a:srgbClr val="000000"/>
                </a:solidFill>
                <a:latin typeface="Consolas"/>
                <a:ea typeface="Consolas"/>
                <a:cs typeface="Consolas"/>
                <a:sym typeface="Consolas"/>
              </a:rPr>
              <a:t>(out)) {</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5</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6</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a:t>
            </a:r>
            <a:r>
              <a:rPr lang="en" sz="1250">
                <a:solidFill>
                  <a:srgbClr val="795E26"/>
                </a:solidFill>
                <a:latin typeface="Consolas"/>
                <a:ea typeface="Consolas"/>
                <a:cs typeface="Consolas"/>
                <a:sym typeface="Consolas"/>
              </a:rPr>
              <a:t>println</a:t>
            </a:r>
            <a:r>
              <a:rPr lang="en" sz="1250">
                <a:solidFill>
                  <a:srgbClr val="000000"/>
                </a:solidFill>
                <a:latin typeface="Consolas"/>
                <a:ea typeface="Consolas"/>
                <a:cs typeface="Consolas"/>
                <a:sym typeface="Consolas"/>
              </a:rPr>
              <a:t>(</a:t>
            </a:r>
            <a:r>
              <a:rPr lang="en" sz="1250">
                <a:solidFill>
                  <a:srgbClr val="A31515"/>
                </a:solidFill>
                <a:latin typeface="Consolas"/>
                <a:ea typeface="Consolas"/>
                <a:cs typeface="Consolas"/>
                <a:sym typeface="Consolas"/>
              </a:rPr>
              <a:t>"Hello, File!"</a:t>
            </a:r>
            <a:r>
              <a:rPr lang="en" sz="1250">
                <a:solidFill>
                  <a:srgbClr val="000000"/>
                </a:solidFill>
                <a:latin typeface="Consolas"/>
                <a:ea typeface="Consolas"/>
                <a:cs typeface="Consolas"/>
                <a:sym typeface="Consolas"/>
              </a:rPr>
              <a:t>);</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7</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a:t>
            </a:r>
            <a:r>
              <a:rPr lang="en" sz="1250">
                <a:solidFill>
                  <a:srgbClr val="795E26"/>
                </a:solidFill>
                <a:latin typeface="Consolas"/>
                <a:ea typeface="Consolas"/>
                <a:cs typeface="Consolas"/>
                <a:sym typeface="Consolas"/>
              </a:rPr>
              <a:t>flush</a:t>
            </a:r>
            <a:r>
              <a:rPr lang="en" sz="1250">
                <a:solidFill>
                  <a:srgbClr val="000000"/>
                </a:solidFill>
                <a:latin typeface="Consolas"/>
                <a:ea typeface="Consolas"/>
                <a:cs typeface="Consolas"/>
                <a:sym typeface="Consolas"/>
              </a:rPr>
              <a:t>();</a:t>
            </a:r>
            <a:endParaRPr sz="12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98658"/>
                </a:solidFill>
                <a:latin typeface="Consolas"/>
                <a:ea typeface="Consolas"/>
                <a:cs typeface="Consolas"/>
                <a:sym typeface="Consolas"/>
              </a:rPr>
              <a:t>8</a:t>
            </a:r>
            <a:r>
              <a:rPr lang="en" sz="1250">
                <a:solidFill>
                  <a:srgbClr val="000000"/>
                </a:solidFill>
                <a:latin typeface="Consolas"/>
                <a:ea typeface="Consolas"/>
                <a:cs typeface="Consolas"/>
                <a:sym typeface="Consolas"/>
              </a:rPr>
              <a:t>  }</a:t>
            </a:r>
            <a:endParaRPr sz="1250">
              <a:solidFill>
                <a:srgbClr val="999999"/>
              </a:solidFill>
              <a:latin typeface="Consolas"/>
              <a:ea typeface="Consolas"/>
              <a:cs typeface="Consolas"/>
              <a:sym typeface="Consolas"/>
            </a:endParaRPr>
          </a:p>
        </p:txBody>
      </p:sp>
      <p:sp>
        <p:nvSpPr>
          <p:cNvPr id="924" name="Google Shape;924;p84"/>
          <p:cNvSpPr txBox="1"/>
          <p:nvPr>
            <p:ph idx="2" type="body"/>
          </p:nvPr>
        </p:nvSpPr>
        <p:spPr>
          <a:xfrm>
            <a:off x="141600" y="4205500"/>
            <a:ext cx="3519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Any resources opened between the parentheses after the </a:t>
            </a:r>
            <a:r>
              <a:rPr lang="en" sz="1200">
                <a:solidFill>
                  <a:srgbClr val="000000"/>
                </a:solidFill>
                <a:latin typeface="Courier New"/>
                <a:ea typeface="Courier New"/>
                <a:cs typeface="Courier New"/>
                <a:sym typeface="Courier New"/>
              </a:rPr>
              <a:t>try</a:t>
            </a:r>
            <a:r>
              <a:rPr lang="en" sz="1200">
                <a:solidFill>
                  <a:srgbClr val="000000"/>
                </a:solidFill>
                <a:latin typeface="Arial"/>
                <a:ea typeface="Arial"/>
                <a:cs typeface="Arial"/>
                <a:sym typeface="Arial"/>
              </a:rPr>
              <a:t>-with-resources are </a:t>
            </a:r>
            <a:r>
              <a:rPr b="1" i="1" lang="en" sz="1200">
                <a:solidFill>
                  <a:srgbClr val="FF0000"/>
                </a:solidFill>
                <a:latin typeface="Arial"/>
                <a:ea typeface="Arial"/>
                <a:cs typeface="Arial"/>
                <a:sym typeface="Arial"/>
              </a:rPr>
              <a:t>automatically closed</a:t>
            </a:r>
            <a:r>
              <a:rPr lang="en" sz="1200">
                <a:solidFill>
                  <a:srgbClr val="000000"/>
                </a:solidFill>
                <a:latin typeface="Arial"/>
                <a:ea typeface="Arial"/>
                <a:cs typeface="Arial"/>
                <a:sym typeface="Arial"/>
              </a:rPr>
              <a:t> when the try block exits.</a:t>
            </a:r>
            <a:endParaRPr sz="1200">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graphicFrame>
        <p:nvGraphicFramePr>
          <p:cNvPr id="929" name="Google Shape;929;p85"/>
          <p:cNvGraphicFramePr/>
          <p:nvPr/>
        </p:nvGraphicFramePr>
        <p:xfrm>
          <a:off x="-22785" y="-9"/>
          <a:ext cx="3000000" cy="3000000"/>
        </p:xfrm>
        <a:graphic>
          <a:graphicData uri="http://schemas.openxmlformats.org/drawingml/2006/table">
            <a:tbl>
              <a:tblPr>
                <a:noFill/>
                <a:tableStyleId>{D69D149B-3B2E-4EDA-BF98-D3530D9AB1DA}</a:tableStyleId>
              </a:tblPr>
              <a:tblGrid>
                <a:gridCol w="276325"/>
                <a:gridCol w="3860325"/>
                <a:gridCol w="1571225"/>
                <a:gridCol w="770625"/>
                <a:gridCol w="2688250"/>
              </a:tblGrid>
              <a:tr h="1228950">
                <a:tc rowSpan="3">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rowSpan="3">
                  <a:txBody>
                    <a:bodyPr/>
                    <a:lstStyle/>
                    <a:p>
                      <a:pPr indent="0" lvl="0" marL="0" rtl="0" algn="l">
                        <a:spcBef>
                          <a:spcPts val="0"/>
                        </a:spcBef>
                        <a:spcAft>
                          <a:spcPts val="0"/>
                        </a:spcAft>
                        <a:buNone/>
                      </a:pPr>
                      <a:r>
                        <a:rPr lang="en" sz="1000" u="sng">
                          <a:solidFill>
                            <a:schemeClr val="hlink"/>
                          </a:solidFill>
                          <a:hlinkClick action="ppaction://hlinksldjump" r:id="rId3"/>
                        </a:rPr>
                        <a:t>Inner Classes</a:t>
                      </a:r>
                      <a:endParaRPr sz="1000"/>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public class Outer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private final int x;</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public Outer(int x)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this.x = x;</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public class Inner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private String name;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public Inner(String name)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this.name = name;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@Override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public String toString()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return name + ": " + x;</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Outer outer = new Outer(5);</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Inner inner = outer.new Inner("Joe");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System.out.println(inner);</a:t>
                      </a:r>
                      <a:endParaRPr sz="1000">
                        <a:solidFill>
                          <a:schemeClr val="dk1"/>
                        </a:solidFill>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gridSpan="3">
                  <a:txBody>
                    <a:bodyPr/>
                    <a:lstStyle/>
                    <a:p>
                      <a:pPr indent="0" lvl="0" marL="0" rtl="0" algn="l">
                        <a:spcBef>
                          <a:spcPts val="0"/>
                        </a:spcBef>
                        <a:spcAft>
                          <a:spcPts val="0"/>
                        </a:spcAft>
                        <a:buNone/>
                      </a:pPr>
                      <a:r>
                        <a:rPr lang="en" sz="1000" u="sng">
                          <a:solidFill>
                            <a:schemeClr val="accent5"/>
                          </a:solidFill>
                          <a:hlinkClick action="ppaction://hlinksldjump" r:id="rId4">
                            <a:extLst>
                              <a:ext uri="{A12FA001-AC4F-418D-AE19-62706E023703}">
                                <ahyp:hlinkClr val="tx"/>
                              </a:ext>
                            </a:extLst>
                          </a:hlinkClick>
                        </a:rPr>
                        <a:t>Anonymous Classes</a:t>
                      </a:r>
                      <a:endParaRPr sz="1000"/>
                    </a:p>
                    <a:p>
                      <a:pPr indent="0" lvl="0" marL="0" rtl="0" algn="l">
                        <a:spcBef>
                          <a:spcPts val="0"/>
                        </a:spcBef>
                        <a:spcAft>
                          <a:spcPts val="0"/>
                        </a:spcAft>
                        <a:buNone/>
                      </a:pPr>
                      <a:r>
                        <a:rPr lang="en" sz="1000">
                          <a:latin typeface="Courier New"/>
                          <a:ea typeface="Courier New"/>
                          <a:cs typeface="Courier New"/>
                          <a:sym typeface="Courier New"/>
                        </a:rPr>
                        <a:t>Expresion mul = new Expression()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double evaluate()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sub * addition;</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r>
              <a:tr h="1855850">
                <a:tc vMerge="1"/>
                <a:tc vMerge="1"/>
                <a:tc gridSpan="3">
                  <a:txBody>
                    <a:bodyPr/>
                    <a:lstStyle/>
                    <a:p>
                      <a:pPr indent="0" lvl="0" marL="0" rtl="0" algn="l">
                        <a:spcBef>
                          <a:spcPts val="0"/>
                        </a:spcBef>
                        <a:spcAft>
                          <a:spcPts val="0"/>
                        </a:spcAft>
                        <a:buNone/>
                      </a:pPr>
                      <a:r>
                        <a:rPr lang="en" sz="1000" u="sng">
                          <a:solidFill>
                            <a:schemeClr val="accent5"/>
                          </a:solidFill>
                          <a:hlinkClick action="ppaction://hlinksldjump" r:id="rId5">
                            <a:extLst>
                              <a:ext uri="{A12FA001-AC4F-418D-AE19-62706E023703}">
                                <ahyp:hlinkClr val="tx"/>
                              </a:ext>
                            </a:extLst>
                          </a:hlinkClick>
                        </a:rPr>
                        <a:t>Basic Lambdas</a:t>
                      </a:r>
                      <a:endParaRPr sz="1000"/>
                    </a:p>
                    <a:p>
                      <a:pPr indent="0" lvl="0" marL="0" rtl="0" algn="l">
                        <a:spcBef>
                          <a:spcPts val="0"/>
                        </a:spcBef>
                        <a:spcAft>
                          <a:spcPts val="0"/>
                        </a:spcAft>
                        <a:buNone/>
                      </a:pPr>
                      <a:r>
                        <a:rPr b="1" lang="en" sz="1000">
                          <a:latin typeface="Courier New"/>
                          <a:ea typeface="Courier New"/>
                          <a:cs typeface="Courier New"/>
                          <a:sym typeface="Courier New"/>
                        </a:rPr>
                        <a:t>Without Lambda</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class EvenChecker implements Checker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boolean isEven(int num)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num % 2 == 0;</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Checker even = new EvenChecket();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With Lambda</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Checker even = num -&gt; num % 2 == 0;</a:t>
                      </a:r>
                      <a:endParaRPr sz="9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r>
              <a:tr h="1154575">
                <a:tc vMerge="1"/>
                <a:tc vMerge="1"/>
                <a:tc gridSpan="3">
                  <a:txBody>
                    <a:bodyPr/>
                    <a:lstStyle/>
                    <a:p>
                      <a:pPr indent="0" lvl="0" marL="0" rtl="0" algn="l">
                        <a:spcBef>
                          <a:spcPts val="0"/>
                        </a:spcBef>
                        <a:spcAft>
                          <a:spcPts val="0"/>
                        </a:spcAft>
                        <a:buNone/>
                      </a:pPr>
                      <a:r>
                        <a:rPr lang="en" sz="1000" u="sng">
                          <a:solidFill>
                            <a:schemeClr val="accent5"/>
                          </a:solidFill>
                          <a:hlinkClick action="ppaction://hlinksldjump" r:id="rId6">
                            <a:extLst>
                              <a:ext uri="{A12FA001-AC4F-418D-AE19-62706E023703}">
                                <ahyp:hlinkClr val="tx"/>
                              </a:ext>
                            </a:extLst>
                          </a:hlinkClick>
                        </a:rPr>
                        <a:t>More lambdas</a:t>
                      </a:r>
                      <a:endParaRPr sz="1000" u="sng">
                        <a:solidFill>
                          <a:schemeClr val="accent5"/>
                        </a:solidFill>
                      </a:endParaRPr>
                    </a:p>
                    <a:p>
                      <a:pPr indent="0" lvl="0" marL="0" rtl="0" algn="l">
                        <a:spcBef>
                          <a:spcPts val="0"/>
                        </a:spcBef>
                        <a:spcAft>
                          <a:spcPts val="0"/>
                        </a:spcAft>
                        <a:buNone/>
                      </a:pPr>
                      <a:r>
                        <a:rPr lang="en" sz="1000">
                          <a:latin typeface="Courier New"/>
                          <a:ea typeface="Courier New"/>
                          <a:cs typeface="Courier New"/>
                          <a:sym typeface="Courier New"/>
                        </a:rPr>
                        <a:t>public interface Shape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double area (double length);</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static void main(String[] args)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int x = 5;</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int height = 10;</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Shape rectangle = width -&gt; width * height;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System.out.println(rectangle.area(x));</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r>
            </a:tbl>
          </a:graphicData>
        </a:graphic>
      </p:graphicFrame>
      <p:sp>
        <p:nvSpPr>
          <p:cNvPr id="930" name="Google Shape;930;p85"/>
          <p:cNvSpPr txBox="1"/>
          <p:nvPr/>
        </p:nvSpPr>
        <p:spPr>
          <a:xfrm rot="-5400000">
            <a:off x="-2467975" y="23792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4 : Inner Classes, Anonymous Classes, &amp; Lambdas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graphicFrame>
        <p:nvGraphicFramePr>
          <p:cNvPr id="935" name="Google Shape;935;p86"/>
          <p:cNvGraphicFramePr/>
          <p:nvPr/>
        </p:nvGraphicFramePr>
        <p:xfrm>
          <a:off x="-10" y="-9"/>
          <a:ext cx="3000000" cy="3000000"/>
        </p:xfrm>
        <a:graphic>
          <a:graphicData uri="http://schemas.openxmlformats.org/drawingml/2006/table">
            <a:tbl>
              <a:tblPr>
                <a:noFill/>
                <a:tableStyleId>{D69D149B-3B2E-4EDA-BF98-D3530D9AB1DA}</a:tableStyleId>
              </a:tblPr>
              <a:tblGrid>
                <a:gridCol w="388675"/>
                <a:gridCol w="4377650"/>
                <a:gridCol w="4377650"/>
              </a:tblGrid>
              <a:tr h="527250">
                <a:tc rowSpan="7">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rowSpan="7">
                  <a:txBody>
                    <a:bodyPr/>
                    <a:lstStyle/>
                    <a:p>
                      <a:pPr indent="0" lvl="0" marL="0" rtl="0" algn="l">
                        <a:spcBef>
                          <a:spcPts val="0"/>
                        </a:spcBef>
                        <a:spcAft>
                          <a:spcPts val="0"/>
                        </a:spcAft>
                        <a:buNone/>
                      </a:pPr>
                      <a:r>
                        <a:rPr lang="en" sz="1000" u="sng">
                          <a:solidFill>
                            <a:schemeClr val="hlink"/>
                          </a:solidFill>
                          <a:hlinkClick action="ppaction://hlinksldjump" r:id="rId3"/>
                        </a:rPr>
                        <a:t>Method References</a:t>
                      </a:r>
                      <a:endParaRPr sz="1000"/>
                    </a:p>
                    <a:p>
                      <a:pPr indent="0" lvl="0" marL="0" rtl="0" algn="l">
                        <a:spcBef>
                          <a:spcPts val="0"/>
                        </a:spcBef>
                        <a:spcAft>
                          <a:spcPts val="0"/>
                        </a:spcAft>
                        <a:buNone/>
                      </a:pPr>
                      <a:r>
                        <a:rPr lang="en" sz="1000">
                          <a:latin typeface="Courier New"/>
                          <a:ea typeface="Courier New"/>
                          <a:cs typeface="Courier New"/>
                          <a:sym typeface="Courier New"/>
                        </a:rPr>
                        <a:t>public class ShapeExample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interface Shape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double area (double length);</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static double triangleArea (double side)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Math.sqrt(3) * Math.pow (side, 2) / 4;</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static void main (String[] args)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int x = 5;</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int height = 10;</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Shape triangle = ShapeExample::triangleArea;</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 (triangle.area (x));</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hlink"/>
                          </a:solidFill>
                          <a:hlinkClick action="ppaction://hlinksldjump" r:id="rId4"/>
                        </a:rPr>
                        <a:t>Streams</a:t>
                      </a:r>
                      <a:endParaRPr sz="1000"/>
                    </a:p>
                    <a:p>
                      <a:pPr indent="0" lvl="0" marL="0" rtl="0" algn="l">
                        <a:spcBef>
                          <a:spcPts val="0"/>
                        </a:spcBef>
                        <a:spcAft>
                          <a:spcPts val="0"/>
                        </a:spcAft>
                        <a:buNone/>
                      </a:pPr>
                      <a:r>
                        <a:rPr lang="en" sz="1000">
                          <a:latin typeface="Courier New"/>
                          <a:ea typeface="Courier New"/>
                          <a:cs typeface="Courier New"/>
                          <a:sym typeface="Courier New"/>
                        </a:rPr>
                        <a:t>Stream&lt;E&gt; stream()</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91975">
                <a:tc vMerge="1"/>
                <a:tc vMerge="1"/>
                <a:tc>
                  <a:txBody>
                    <a:bodyPr/>
                    <a:lstStyle/>
                    <a:p>
                      <a:pPr indent="0" lvl="0" marL="0" rtl="0" algn="l">
                        <a:spcBef>
                          <a:spcPts val="0"/>
                        </a:spcBef>
                        <a:spcAft>
                          <a:spcPts val="0"/>
                        </a:spcAft>
                        <a:buNone/>
                      </a:pPr>
                      <a:r>
                        <a:rPr lang="en" sz="1000" u="sng">
                          <a:solidFill>
                            <a:schemeClr val="hlink"/>
                          </a:solidFill>
                          <a:hlinkClick action="ppaction://hlinksldjump" r:id="rId5"/>
                        </a:rPr>
                        <a:t>forEach &amp; Consumer</a:t>
                      </a:r>
                      <a:endParaRPr sz="1000"/>
                    </a:p>
                    <a:p>
                      <a:pPr indent="0" lvl="0" marL="0" rtl="0" algn="l">
                        <a:spcBef>
                          <a:spcPts val="0"/>
                        </a:spcBef>
                        <a:spcAft>
                          <a:spcPts val="0"/>
                        </a:spcAft>
                        <a:buNone/>
                      </a:pPr>
                      <a:r>
                        <a:rPr lang="en" sz="1000">
                          <a:latin typeface="Courier New"/>
                          <a:ea typeface="Courier New"/>
                          <a:cs typeface="Courier New"/>
                          <a:sym typeface="Courier New"/>
                        </a:rPr>
                        <a:t>grades.stream().forEach (e -&gt; sum += 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grades.stream().forEach(System.out::println);</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91975">
                <a:tc vMerge="1"/>
                <a:tc vMerge="1"/>
                <a:tc>
                  <a:txBody>
                    <a:bodyPr/>
                    <a:lstStyle/>
                    <a:p>
                      <a:pPr indent="0" lvl="0" marL="0" rtl="0" algn="l">
                        <a:spcBef>
                          <a:spcPts val="0"/>
                        </a:spcBef>
                        <a:spcAft>
                          <a:spcPts val="0"/>
                        </a:spcAft>
                        <a:buNone/>
                      </a:pPr>
                      <a:r>
                        <a:rPr lang="en" sz="1000" u="sng">
                          <a:solidFill>
                            <a:schemeClr val="hlink"/>
                          </a:solidFill>
                          <a:hlinkClick action="ppaction://hlinksldjump" r:id="rId6"/>
                        </a:rPr>
                        <a:t>filter &amp; Predicate</a:t>
                      </a:r>
                      <a:endParaRPr sz="1000"/>
                    </a:p>
                    <a:p>
                      <a:pPr indent="0" lvl="0" marL="0" rtl="0" algn="l">
                        <a:spcBef>
                          <a:spcPts val="0"/>
                        </a:spcBef>
                        <a:spcAft>
                          <a:spcPts val="0"/>
                        </a:spcAft>
                        <a:buNone/>
                      </a:pPr>
                      <a:r>
                        <a:rPr lang="en" sz="1000">
                          <a:latin typeface="Courier New"/>
                          <a:ea typeface="Courier New"/>
                          <a:cs typeface="Courier New"/>
                          <a:sym typeface="Courier New"/>
                        </a:rPr>
                        <a:t>grades.stream().filter(e -&gt; e &gt; 69)                                              </a:t>
                      </a:r>
                      <a:br>
                        <a:rPr lang="en" sz="1000">
                          <a:latin typeface="Courier New"/>
                          <a:ea typeface="Courier New"/>
                          <a:cs typeface="Courier New"/>
                          <a:sym typeface="Courier New"/>
                        </a:rPr>
                      </a:br>
                      <a:r>
                        <a:rPr lang="en" sz="1000">
                          <a:latin typeface="Courier New"/>
                          <a:ea typeface="Courier New"/>
                          <a:cs typeface="Courier New"/>
                          <a:sym typeface="Courier New"/>
                        </a:rPr>
                        <a:t>           .forEach(System.out::println);</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286175">
                <a:tc vMerge="1"/>
                <a:tc vMerge="1"/>
                <a:tc rowSpan="4">
                  <a:txBody>
                    <a:bodyPr/>
                    <a:lstStyle/>
                    <a:p>
                      <a:pPr indent="0" lvl="0" marL="0" rtl="0" algn="l">
                        <a:spcBef>
                          <a:spcPts val="0"/>
                        </a:spcBef>
                        <a:spcAft>
                          <a:spcPts val="0"/>
                        </a:spcAft>
                        <a:buNone/>
                      </a:pPr>
                      <a:r>
                        <a:rPr lang="en" sz="1000" u="sng">
                          <a:solidFill>
                            <a:schemeClr val="hlink"/>
                          </a:solidFill>
                          <a:hlinkClick action="ppaction://hlinksldjump" r:id="rId7"/>
                        </a:rPr>
                        <a:t>Stream Library</a:t>
                      </a:r>
                      <a:r>
                        <a:rPr lang="en" sz="1000"/>
                        <a:t> &amp; </a:t>
                      </a:r>
                      <a:r>
                        <a:rPr lang="en" sz="1000" u="sng">
                          <a:solidFill>
                            <a:schemeClr val="hlink"/>
                          </a:solidFill>
                          <a:hlinkClick action="ppaction://hlinksldjump" r:id="rId8"/>
                        </a:rPr>
                        <a:t>Stream Extensions</a:t>
                      </a:r>
                      <a:endParaRPr sz="1000"/>
                    </a:p>
                    <a:p>
                      <a:pPr indent="0" lvl="0" marL="0" rtl="0" algn="l">
                        <a:lnSpc>
                          <a:spcPct val="150000"/>
                        </a:lnSpc>
                        <a:spcBef>
                          <a:spcPts val="0"/>
                        </a:spcBef>
                        <a:spcAft>
                          <a:spcPts val="0"/>
                        </a:spcAft>
                        <a:buNone/>
                      </a:pPr>
                      <a:r>
                        <a:rPr lang="en" sz="1000">
                          <a:latin typeface="Courier New"/>
                          <a:ea typeface="Courier New"/>
                          <a:cs typeface="Courier New"/>
                          <a:sym typeface="Courier New"/>
                        </a:rPr>
                        <a:t>Stream.filter(predicate)</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String.matches(regex)</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Stream.foreach(action)</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Stream.map(mapper)</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Stream.collect(collector)</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IntStream.range(start, end)</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Arrays.stream(array)</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Arrays.stream(array, start, end)</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Files.line(path)</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Collection.stream()</a:t>
                      </a:r>
                      <a:endParaRPr sz="1000">
                        <a:latin typeface="Courier New"/>
                        <a:ea typeface="Courier New"/>
                        <a:cs typeface="Courier New"/>
                        <a:sym typeface="Courier New"/>
                      </a:endParaRPr>
                    </a:p>
                    <a:p>
                      <a:pPr indent="0" lvl="0" marL="0" rtl="0" algn="l">
                        <a:lnSpc>
                          <a:spcPct val="150000"/>
                        </a:lnSpc>
                        <a:spcBef>
                          <a:spcPts val="0"/>
                        </a:spcBef>
                        <a:spcAft>
                          <a:spcPts val="0"/>
                        </a:spcAft>
                        <a:buNone/>
                      </a:pPr>
                      <a:r>
                        <a:rPr lang="en" sz="1000">
                          <a:latin typeface="Courier New"/>
                          <a:ea typeface="Courier New"/>
                          <a:cs typeface="Courier New"/>
                          <a:sym typeface="Courier New"/>
                        </a:rPr>
                        <a:t>Collection.toList()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1575">
                <a:tc vMerge="1"/>
                <a:tc vMerge="1"/>
                <a:tc vMerge="1"/>
              </a:tr>
              <a:tr h="102275">
                <a:tc vMerge="1"/>
                <a:tc vMerge="1"/>
                <a:tc vMerge="1"/>
              </a:tr>
              <a:tr h="1762275">
                <a:tc vMerge="1"/>
                <a:tc vMerge="1"/>
                <a:tc vMerge="1"/>
              </a:tr>
            </a:tbl>
          </a:graphicData>
        </a:graphic>
      </p:graphicFrame>
      <p:sp>
        <p:nvSpPr>
          <p:cNvPr id="936" name="Google Shape;936;p86"/>
          <p:cNvSpPr txBox="1"/>
          <p:nvPr/>
        </p:nvSpPr>
        <p:spPr>
          <a:xfrm rot="-5400000">
            <a:off x="-2278300" y="2277638"/>
            <a:ext cx="51513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4: Inner Classes, Anonymous Classes, &amp; Lambdas</a:t>
            </a:r>
            <a:endParaRPr sz="1300">
              <a:solidFill>
                <a:schemeClr val="lt1"/>
              </a:solidFill>
              <a:latin typeface="Merriweather"/>
              <a:ea typeface="Merriweather"/>
              <a:cs typeface="Merriweather"/>
              <a:sym typeface="Merriweather"/>
            </a:endParaRPr>
          </a:p>
          <a:p>
            <a:pPr indent="0" lvl="0" marL="0" rtl="0" algn="ctr">
              <a:spcBef>
                <a:spcPts val="0"/>
              </a:spcBef>
              <a:spcAft>
                <a:spcPts val="0"/>
              </a:spcAft>
              <a:buNone/>
            </a:pPr>
            <a:r>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87"/>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942" name="Google Shape;942;p87"/>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943" name="Google Shape;943;p8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44" name="Google Shape;944;p87"/>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945" name="Google Shape;945;p87"/>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946" name="Google Shape;946;p87"/>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47" name="Google Shape;947;p8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48" name="Google Shape;948;p87"/>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Inner Classes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Static Initialization</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Anonymous Classes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Scope</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Functional Interfaces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Lambda Expressions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Simplification</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Method Reference</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Streams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forEach</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Consumer, filter, Predicate</a:t>
            </a:r>
            <a:endParaRPr sz="1600">
              <a:solidFill>
                <a:srgbClr val="FF0000"/>
              </a:solidFill>
              <a:latin typeface="Shadows Into Light"/>
              <a:ea typeface="Shadows Into Light"/>
              <a:cs typeface="Shadows Into Light"/>
              <a:sym typeface="Shadows Into Light"/>
            </a:endParaRPr>
          </a:p>
        </p:txBody>
      </p:sp>
      <p:sp>
        <p:nvSpPr>
          <p:cNvPr id="949" name="Google Shape;949;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